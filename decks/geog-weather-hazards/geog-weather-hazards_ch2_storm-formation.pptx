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491d5c3e-ed9a-f5c2-d103-148c19ac6971}">
          <p14:sldIdLst>
            <p14:sldId id="256"/>
          </p14:sldIdLst>
        </p14:section>
        <p14:section name="Gate" id="{5796e259-6463-92cd-6b75-fa5e1b4ac0c0}">
          <p14:sldIdLst>
            <p14:sldId id="257"/>
            <p14:sldId id="258"/>
          </p14:sldIdLst>
        </p14:section>
        <p14:section name="Pre-teach" id="{5fd1059f-974e-4a49-34a0-354a3c106cc6}">
          <p14:sldIdLst>
            <p14:sldId id="259"/>
            <p14:sldId id="260"/>
          </p14:sldIdLst>
        </p14:section>
        <p14:section name="Read-along" id="{f8ebf501-69f7-c38d-0494-bff407419209}">
          <p14:sldIdLst>
            <p14:sldId id="261"/>
            <p14:sldId id="262"/>
          </p14:sldIdLst>
        </p14:section>
        <p14:section name="Teach" id="{723a1f0b-e5ce-d6a7-faea-44e860627c61}">
          <p14:sldIdLst>
            <p14:sldId id="263"/>
            <p14:sldId id="264"/>
            <p14:sldId id="265"/>
          </p14:sldIdLst>
        </p14:section>
        <p14:section name="Routes" id="{fd0ac7c7-f84b-de67-240a-5cd4d6e80047}">
          <p14:sldIdLst>
            <p14:sldId id="266"/>
            <p14:sldId id="267"/>
            <p14:sldId id="268"/>
            <p14:sldId id="269"/>
          </p14:sldIdLst>
        </p14:section>
        <p14:section name="Close" id="{2f06d8ec-999e-eeca-8d72-37a0b924cd10}">
          <p14:sldIdLst>
            <p14:sldId id="270"/>
          </p14:sldIdLst>
        </p14:section>
        <p14:section name="Answers" id="{9abdf4ad-6bd3-29ea-2109-62f128d54bc2}">
          <p14:sldIdLst>
            <p14:sldId id="271"/>
            <p14:sldId id="272"/>
            <p14:sldId id="273"/>
            <p14:sldId id="27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2 of 6: Anatomy of a tropical storm. The eight-step sequence that builds a tropical storm, what a cross-section of one shows, and what the weather does as a storm passes overhead.
This deck covers the department's lessons: 3 (How do tropical storms form?: What is the sequence of events that turns warm, moist air over a tropical ocean into a tropical storm?); 4 (Structure and features of tropical storms: What does a cross-section of a tropical storm show, and what is it like when one passes overhead?).
Read the big question aloud: "Why do tropical storms form where they do, why do they hurt some places more than others, and is the UK's own weather becoming more extreme?" We come back to it at the exit ticket.
Before this lesson the pre-teach group has heard the read-along and met the key words; today they lead the reading. Lesson shape: do now (recall before any help), key words, read-along, teach, then the same task three ways in (Support, Core, Stretch), exit ticket, answers. Every pupil works towards the same destination.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 retrieval. Silent, no notes, no help: recall comes before any support. Give about four minutes.
1. The eye of a tropical storm is between 16 and 48 kilometres across. How much wider, in kilometres, is the widest eye than the narrowest?  →  32 km
2. In the eye of a tropical storm the air ___, so there is no cloud and the weather is calm.  →  sinks
3. What provides the energy that powers a tropical storm once it has started?  →  D   Heat released when water vapour condenses into cloud
Circulate: who gets 3/3 (Stretch route), 2/3 (Core), 0–1 (Support)? Use this to route pupils later in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pupils mark their own in a different colour, then hands up for 3/3, 2/3, 1/3.
1. 32 km. 48 − 16 = 32 km. The eye can be three times wider in one storm than another.
2. sinks. Air that has risen to the top of the storm cools and sinks back down inside the eye. Sinking air cannot form cloud, so the eye is dry and calm.
3. D   Heat released when water vapour condenses into cloud. Warm sea water evaporates, the vapour rises and condenses, and condensation releases heat. That released heat keeps the air rising and the storm growing.
Say the route each score points to: 3/3 Stretch, 2/3 Core, 0–1 Support. Pupils may choose to move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evaporation: water turning into water vapour. Example: "Warm seas cause a lot of evaporation, which feeds the storm with moisture."
• condensation: water vapour turning back into liquid water droplets. Example: "Condensation in the rising air builds the storm clouds."
• cumulonimbus: a towering storm cloud that brings heavy rain. Example: "Cumulonimbus clouds tower more than 13 kilometres into the sky."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eye: the calm, clear centre of a tropical storm. Example: "In the eye the wind drops and the Sun comes out."
• Coriolis effect: the bending of winds caused by the spin of the Earth. Example: "The Coriolis effect makes the storm rotate."
• landfall: the moment a storm moves from the sea onto the land. Example: "After landfall the storm loses its supply of warm water and weakens."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1–6 of 12:
1. A tropical storm begins over a warm ocean.
2. The sea heats the air above it, and water evaporates.
3. The warm, moist air rises fast, making low pressure.
4. Air rushes in from all around to fill the gap.
5. This makes strong winds.
6. The spin of the Earth bends the winds, so the storm starts to rotate.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7–12 of 12:
7. The rising air cools, and water vapour condenses into huge clouds.
8. Condensing water gives out heat, and that heat powers the storm.
9. In the middle, cold air sinks and forms a calm, clear eye.
10. The storm drifts across the ocean on the prevailing wind.
11. When it reaches land it loses its fuel and dies away.
12. A storm can be more than 300 kilometres across.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Eight steps to a storm. Say it in your own words, then check understanding with a quick question: ask a pupil from the pre-teach group first, since they met these words and ideas before the lesson. Pupils try to recall before you re-explain.
In class you sorted eight statements into the sequence that explains how a tropical storm forms. Here is that sequence, in your own words. Step one: air is heated above the surface of a warm tropical ocean. Once the sea reaches around 27 degrees Celsius, evaporation increases sharply. Step two: the evaporation and heating make the warm, moist air rise rapidly, and this creates low pressure at the surface. Step three: the atmosphere tries to even out the pressure, so air rushes in from the surrounding areas of higher pressure towards the centre of the storm. This inrushing air is the storm's strong wind.
Step four: the Coriolis effect, caused by the spin of the Earth, bends the inrushing winds so that they spiral upwards and around the low-pressure centre. A calm eye forms in the middle. Step five: as the air rises it cools, and its water vapour condenses to form huge, towering cumulonimbus clouds that release torrential rain. Condensation gives out heat (the heat that was taken in when the water evaporated), and this released heat is what powers the storm and keeps it growing. Step six: the air reaches its highest point around the eye, where it becomes cold and sinks back down inside the eye. Sinking air cannot form cloud, so the eye is dry, clear and much calmer.
Step seven: the whole storm travels slowly across the ocean in the direction of the prevailing wind, usually westwards, picking up more moisture as it goes. Step eight: when the storm meets land it loses its source of moisture and heat from the ocean, so it loses power and weakens. The key words an examiner looks for are evaporation, rising air, low pressure, condensation, cumulonimbus, Coriolis effect, eye and landfall.
Tip: Learn the sequence as a chain of causes: warm sea makes evaporation; evaporation makes rising air; rising air makes low pressure; low pressure pulls in wind; the Earth's spin makes it rotate; condensation releases the heat that powers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Inside the storm: the cross-section. Say it in your own words, then check understanding with a quick question: ask a pupil from the pre-teach group first, since they met these words and ideas before the lesson. Pupils try to recall before you re-explain.
A cross-section of a tropical storm is a slice through it from side to side. Across the middle is the eye, a cloud-free area 16 to 48 kilometres wide where dry air flows down from the upper atmosphere. Around the eye is the eye wall, a ring of the tallest cloud where the winds and rain are at their most intense. Beyond the eye wall are the rain bands, spiralling arms of cumulonimbus cloud that bring bursts of torrential rain. The whole storm is typically 240 to 320 kilometres across and its clouds may tower more than 13 kilometres high.
At the surface the winds spiral in anticlockwise (in the northern hemisphere) towards the low pressure of the eye. The storm sits over water warmer than 27 degrees Celsius, which is its fuel supply, and the whole system moves slowly across the ocean at about 16 to 24 kilometres per hour. Some storms are so powerful that their energy registers on the seismographs used to record earthquakes.
When you draw the cross-section, label five things: the eye, the eye wall, the rain bands, the flow of dry air sinking into the eye, and the direction of movement with its speed. Add the two measurements the deck gives: the width of the storm and the width of the eye.
Worked example — model it step by step, thinking aloud: A tropical storm is moving at 24 kilometres per hour, the top of the usual range. How far will it travel in 10 hours? (1) Distance = speed × time. (2) 24 km/h × 10 h = 240 km. (3) Check the sense: 240 km is about the width of a whole storm, so in ten hours the storm has moved roughly its own width. Answer: 240 km.
Tip: Learn four numbers: eye 16 to 48 km across, storm 240 to 320 km across, cloud more than 13 km high, movement 16 to 24 km/h.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Living through the passage of a storm. Say it in your own words, then check understanding with a quick question: ask a pupil from the pre-teach group first, since they met these words and ideas before the lesson. Pupils try to recall before you re-explain.
Imagine standing still while a tropical storm passes over you. First the temperature and the air pressure start to fall, air rises, clouds begin to form and it becomes windy. Then the pressure falls more and more rapidly, the wind increases, cumulonimbus cloud builds and heavy rain begins. Next comes the eye: a strange period of calm with no wind or rain, the Sun appears and it gets warmer, and the pressure is at its very lowest.
The calm does not last. The other side of the eye wall arrives, so wind and heavy rain increase dramatically again, the temperature drops and the pressure begins to rise. Finally, as the storm moves away, the pressure and temperature rise back to normal and the wind and rain subside. A barometer trace of the passage looks like a deep V: falling, falling, lowest in the eye, then rising.
Tip: The eye is the trap in exam questions: it is the calmest moment but the lowest pressure. Do not confuse calm with high pressure.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Build the storm.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Put these stages in the correct order to explain how a tropical storm forms.
Support — work through the steps with the group: (1) Start with the fuel: a warm sea and evaporation. Nothing happens before that. (2) Then follow the air upwards: rising air, low pressure, air rushing in. (3) Now the storm takes shape: the Coriolis effect makes it spin and the eye forms; the rising air condenses into cloud; air sinks in the eye. (4) Finish with the journey: the storm travels on the prevailing wind and finally dies over land.
Parallel worked example for Support (model it, do not give the task answer): Put in order the three stages of a simple thunderstorm forming on a hot afternoon: cloud builds and rain falls; the ground heats the air above it; the warm air rises and cools. Heating comes first.; Rising comes next.; Cloud and rain come last.. Answer: The ground heats the air above it; the warm air rises and cools; cloud builds and rain falls..
Core — reveal the hint only on request: Fuel first (warm sea, evaporation), then rising air and low pressure, then wind, spin and cloud, then the eye, then the journey and the landfall.
Stretch — no help; when finished: Explain why a tropical storm weakens over land but can strengthen again if it moves back out over warm sea.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Build the storm.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Put these stages in the correct order to explain how a tropical storm forms.
Support — work through the steps with the group: (1) Start with the fuel: a warm sea and evaporation. Nothing happens before that. (2) Then follow the air upwards: rising air, low pressure, air rushing in. (3) Now the storm takes shape: the Coriolis effect makes it spin and the eye forms; the rising air condenses into cloud; air sinks in the eye. (4) Finish with the journey: the storm travels on the prevailing wind and finally dies over land.
Parallel worked example for Support (model it, do not give the task answer): Put in order the three stages of a simple thunderstorm forming on a hot afternoon: cloud builds and rain falls; the ground heats the air above it; the warm air rises and cools. Heating comes first.; Rising comes next.; Cloud and rain come last.. Answer: The ground heats the air above it; the warm air rises and cools; cloud builds and rain falls..
Core — reveal the hint only on request: Fuel first (warm sea, evaporation), then rising air and low pressure, then wind, spin and cloud, then the eye, then the journey and the landfall.
Stretch — no help; when finished: Explain why a tropical storm weakens over land but can strengthen again if it moves back out over warm sea.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The storm passes over.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Put these five descriptions in order to show the changes as a tropical storm passes over a place.
Support — work through the steps with the group: (1) Follow the pressure: it falls, falls faster, reaches its lowest, then starts to rise, then returns to normal. (2) The lowest pressure is the eye, which is the calm stage in the middle. (3) The two stormy stages sit either side of the calm eye: one before it, one after it. (4) The gentle stages are the first and the last.
Parallel worked example for Support (model it, do not give the task answer): Put in order these three stages of walking through a tunnel: daylight fades; it is completely dark; daylight returns. Fading comes first.; Darkness is the middle.; Returning light is last.. Answer: Daylight fades; it is completely dark; daylight returns..
Core — reveal the hint only on request: Think of the pressure as a V shape: falling, falling fast, lowest in the calm eye, rising, back to normal.
Stretch — no help; when finished: Explain why the temperature rises in the eye even though the pressure is at its lowest there.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The storm passes over.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Put these five descriptions in order to show the changes as a tropical storm passes over a place.
Support — work through the steps with the group: (1) Follow the pressure: it falls, falls faster, reaches its lowest, then starts to rise, then returns to normal. (2) The lowest pressure is the eye, which is the calm stage in the middle. (3) The two stormy stages sit either side of the calm eye: one before it, one after it. (4) The gentle stages are the first and the last.
Parallel worked example for Support (model it, do not give the task answer): Put in order these three stages of walking through a tunnel: daylight fades; it is completely dark; daylight returns. Fading comes first.; Darkness is the middle.; Returning light is last.. Answer: Daylight fades; it is completely dark; daylight returns..
Core — reveal the hint only on request: Think of the pressure as a V shape: falling, falling fast, lowest in the calm eye, rising, back to normal.
Stretch — no help; when finished: Explain why the temperature rises in the eye even though the pressure is at its lowest there.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 individual, silent, on a slip or mini-whiteboard. Recall before help: no notes, no lanes, no hints. Collect before pupils leave.
Question: In which part of a tropical storm are the winds strongest and the rain heaviest?
Answer: C   The eye wall, the ring of cloud around the eye. The eye wall is the ring of the tallest cumulonimbus cloud surrounding the calm eye; the air rises fastest there, so it has the most intense wind and rain. The eye itself is calm because air sinks in it.
Source of this question: module 3 task ("Where is the worst weather?") from the manifest.
Sort the slips: correct → ready to move on; incorrect → start next lesson in the pre-teach group, with the read-along and the Support lane. Same destination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1: Build the storm. Reveal the answer; pupils mark their own work in a different colour, then read the "why" together. Same destination for every lane, so one answer serves the whole class.
Answer: Air is heated above a warm tropical ocean (around 27 degrees Celsius) and evaporation increases  (C); The warm, moist air rises rapidly and low pressure forms at the surface  (B); Air rushes in from the surrounding higher-pressure areas, causing strong winds  (G); The Coriolis effect makes the winds spiral upwards around the low pressure, and a calm eye forms  (D); The rising air cools and condenses into towering cumulonimbus clouds, releasing torrential rain and the heat that powers the storm  (A); Air at the top cools and sinks back down in the eye, which stays clear, dry and calm  (H); The storm travels across the ocean in the direction of the prevailing wind  (F); The storm reaches land, loses its supply of moisture and heat, and weakens  (E)
Why: Warm sea, evaporation and rising air come first, creating low pressure that pulls in wind. The Coriolis effect spins the storm and forms the eye, condensation builds the clouds and releases the heat that powers it, air sinks in the eye, and the storm travels on the prevailing wind until landfall cuts off its fuel.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1: Build the storm. Reveal the answer; pupils mark their own work in a different colour, then read the "why" together. Same destination for every lane, so one answer serves the whole class.
Answer: Air is heated above a warm tropical ocean (around 27 degrees Celsius) and evaporation increases  (C); The warm, moist air rises rapidly and low pressure forms at the surface  (B); Air rushes in from the surrounding higher-pressure areas, causing strong winds  (G); The Coriolis effect makes the winds spiral upwards around the low pressure, and a calm eye forms  (D); The rising air cools and condenses into towering cumulonimbus clouds, releasing torrential rain and the heat that powers the storm  (A); Air at the top cools and sinks back down in the eye, which stays clear, dry and calm  (H); The storm travels across the ocean in the direction of the prevailing wind  (F); The storm reaches land, loses its supply of moisture and heat, and weakens  (E)
Why: Warm sea, evaporation and rising air come first, creating low pressure that pulls in wind. The Coriolis effect spins the storm and forms the eye, condensation builds the clouds and releases the heat that powers it, air sinks in the eye, and the storm travels on the prevailing wind until landfall cuts off its fuel.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2: The storm passes over. Reveal the answer; pupils mark their own work in a different colour, then read the "why" together. Same destination for every lane, so one answer serves the whole class.
Answer: Temperature and air pressure start to fall, air rises, clouds begin to form and it becomes windy  (D); Pressure falls more rapidly, the wind increases, cumulonimbus cloud forms and there is heavy rain  (C); A period of calm with no wind or rain: the Sun appears, it gets warmer and the pressure is very low  (E); Wind and heavy rain increase dramatically again, the temperature drops and the pressure begins to rise  (B); The pressure and temperature rise, and the wind and rainfall subside as the storm ends  (A)
Why: The passage is symmetrical around the eye: pressure and temperature fall and wind builds; the storm intensifies; the eye brings calm, sun and the lowest pressure; the second half of the storm brings the wind and rain back as pressure starts to rise; then everything subsides.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exit ticket: Exit ticket. Reveal the answer; pupils mark their own work in a different colour, then read the "why" together. Same destination for every lane, so one answer serves the whole class.
Answer: C   The eye wall, the ring of cloud around the eye
Why: The eye wall is the ring of the tallest cumulonimbus cloud surrounding the calm eye; the air rises fastest there, so it has the most intense wind and rain. The eye itself is calm because air sinks in it.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STRA_TITLE">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CFDAD2"/>
          </a:solidFill>
          <a:ln w="12700">
            <a:solidFill>
              <a:srgbClr val="CFDAD2"/>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Geography · Year 10 · The Challenge of Natural Hazards: Weather Hazards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ASTRA_CONTENT">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CFDAD2"/>
          </a:solidFill>
          <a:ln w="12700">
            <a:solidFill>
              <a:srgbClr val="CFDAD2"/>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Geography · Year 10 · The Challenge of Natural Hazards: Weather Hazards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band-hue"/>
          <p:cNvSpPr/>
          <p:nvPr/>
        </p:nvSpPr>
        <p:spPr>
          <a:xfrm>
            <a:off x="0" y="5989320"/>
            <a:ext cx="12191695" cy="164592"/>
          </a:xfrm>
          <a:prstGeom prst="rect">
            <a:avLst/>
          </a:prstGeom>
          <a:solidFill>
            <a:srgbClr val="3F6B4A"/>
          </a:solidFill>
          <a:ln/>
        </p:spPr>
      </p:sp>
      <p:sp>
        <p:nvSpPr>
          <p:cNvPr id="4" name="band-gold"/>
          <p:cNvSpPr/>
          <p:nvPr/>
        </p:nvSpPr>
        <p:spPr>
          <a:xfrm>
            <a:off x="0" y="6208776"/>
            <a:ext cx="12191695" cy="64008"/>
          </a:xfrm>
          <a:prstGeom prst="rect">
            <a:avLst/>
          </a:prstGeom>
          <a:solidFill>
            <a:srgbClr val="B8862B"/>
          </a:solidFill>
          <a:ln/>
        </p:spPr>
      </p:sp>
      <p:sp>
        <p:nvSpPr>
          <p:cNvPr id="5" name="hex-deco1"/>
          <p:cNvSpPr/>
          <p:nvPr/>
        </p:nvSpPr>
        <p:spPr>
          <a:xfrm>
            <a:off x="1373886" y="276195"/>
            <a:ext cx="525780" cy="455325"/>
          </a:xfrm>
          <a:prstGeom prst="hexagon">
            <a:avLst/>
          </a:prstGeom>
          <a:solidFill>
            <a:srgbClr val="D3DDD5"/>
          </a:solidFill>
          <a:ln/>
        </p:spPr>
      </p:sp>
      <p:sp>
        <p:nvSpPr>
          <p:cNvPr id="6" name="hex-deco2"/>
          <p:cNvSpPr/>
          <p:nvPr/>
        </p:nvSpPr>
        <p:spPr>
          <a:xfrm>
            <a:off x="1373886" y="1168557"/>
            <a:ext cx="525780" cy="455325"/>
          </a:xfrm>
          <a:prstGeom prst="hexagon">
            <a:avLst/>
          </a:prstGeom>
          <a:ln w="19050">
            <a:solidFill>
              <a:srgbClr val="B8862B"/>
            </a:solidFill>
            <a:prstDash val="solid"/>
          </a:ln>
        </p:spPr>
      </p:sp>
      <p:sp>
        <p:nvSpPr>
          <p:cNvPr id="7" name="hex-chapter"/>
          <p:cNvSpPr/>
          <p:nvPr/>
        </p:nvSpPr>
        <p:spPr>
          <a:xfrm>
            <a:off x="548640" y="457200"/>
            <a:ext cx="1051560" cy="910651"/>
          </a:xfrm>
          <a:prstGeom prst="hexagon">
            <a:avLst/>
          </a:prstGeom>
          <a:solidFill>
            <a:srgbClr val="3F6B4A"/>
          </a:solidFill>
          <a:ln/>
        </p:spPr>
      </p:sp>
      <p:sp>
        <p:nvSpPr>
          <p:cNvPr id="8" name="hex-chapter-label"/>
          <p:cNvSpPr txBox="1"/>
          <p:nvPr/>
        </p:nvSpPr>
        <p:spPr>
          <a:xfrm>
            <a:off x="548640" y="457200"/>
            <a:ext cx="1051560" cy="910651"/>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2</a:t>
            </a:r>
            <a:endParaRPr lang="en-US" sz="4000" dirty="0"/>
          </a:p>
        </p:txBody>
      </p:sp>
      <p:sp>
        <p:nvSpPr>
          <p:cNvPr id="9" name="kicker"/>
          <p:cNvSpPr txBox="1"/>
          <p:nvPr/>
        </p:nvSpPr>
        <p:spPr>
          <a:xfrm>
            <a:off x="2331720" y="256032"/>
            <a:ext cx="3504895" cy="1298448"/>
          </a:xfrm>
          <a:prstGeom prst="rect">
            <a:avLst/>
          </a:prstGeom>
          <a:noFill/>
          <a:ln/>
        </p:spPr>
        <p:txBody>
          <a:bodyPr wrap="square" lIns="63500" tIns="63500" rIns="63500" bIns="63500" rtlCol="0" anchor="ctr"/>
          <a:lstStyle/>
          <a:p>
            <a:pPr algn="l" indent="0" marL="0">
              <a:spcAft>
                <a:spcPts val="200"/>
              </a:spcAft>
              <a:buNone/>
            </a:pPr>
            <a:r>
              <a:rPr lang="en-US" sz="1800" b="1" dirty="0">
                <a:solidFill>
                  <a:srgbClr val="3F6B4A"/>
                </a:solidFill>
                <a:latin typeface="Calibri" pitchFamily="34" charset="0"/>
                <a:ea typeface="Calibri" pitchFamily="34" charset="-122"/>
                <a:cs typeface="Calibri" pitchFamily="34" charset="-120"/>
              </a:rPr>
              <a:t>Geography · Year 10</a:t>
            </a:r>
            <a:endParaRPr lang="en-US" sz="1800" dirty="0"/>
          </a:p>
          <a:p>
            <a:pPr algn="l" indent="0" marL="0">
              <a:spcAft>
                <a:spcPts val="200"/>
              </a:spcAft>
              <a:buNone/>
            </a:pPr>
            <a:r>
              <a:rPr lang="en-US" sz="1800" b="1" dirty="0">
                <a:solidFill>
                  <a:srgbClr val="936B22"/>
                </a:solidFill>
                <a:latin typeface="Calibri" pitchFamily="34" charset="0"/>
                <a:ea typeface="Calibri" pitchFamily="34" charset="-122"/>
                <a:cs typeface="Calibri" pitchFamily="34" charset="-120"/>
              </a:rPr>
              <a:t>Chapter 2/6</a:t>
            </a:r>
            <a:endParaRPr lang="en-US" sz="1800" dirty="0"/>
          </a:p>
          <a:p>
            <a:pPr algn="l" indent="0" marL="0">
              <a:buNone/>
            </a:pPr>
            <a:r>
              <a:rPr lang="en-US" sz="1800" dirty="0">
                <a:solidFill>
                  <a:srgbClr val="4A505C"/>
                </a:solidFill>
                <a:latin typeface="Calibri" pitchFamily="34" charset="0"/>
                <a:ea typeface="Calibri" pitchFamily="34" charset="-122"/>
                <a:cs typeface="Calibri" pitchFamily="34" charset="-120"/>
              </a:rPr>
              <a:t>The Challenge of Natural Hazards: Weather Hazards · AQA 8035</a:t>
            </a:r>
            <a:endParaRPr lang="en-US" sz="1800" dirty="0"/>
          </a:p>
        </p:txBody>
      </p:sp>
      <p:sp>
        <p:nvSpPr>
          <p:cNvPr id="10" name="deck-title"/>
          <p:cNvSpPr txBox="1"/>
          <p:nvPr/>
        </p:nvSpPr>
        <p:spPr>
          <a:xfrm>
            <a:off x="548640" y="2219198"/>
            <a:ext cx="5287975" cy="1447800"/>
          </a:xfrm>
          <a:prstGeom prst="rect">
            <a:avLst/>
          </a:prstGeom>
          <a:noFill/>
          <a:ln/>
        </p:spPr>
        <p:txBody>
          <a:bodyPr wrap="square" lIns="63500" tIns="63500" rIns="63500" bIns="63500" rtlCol="0" anchor="t"/>
          <a:lstStyle/>
          <a:p>
            <a:pPr algn="l" indent="0" marL="0">
              <a:buNone/>
            </a:pPr>
            <a:r>
              <a:rPr lang="en-US" sz="4000" b="1" dirty="0">
                <a:solidFill>
                  <a:srgbClr val="1E2229"/>
                </a:solidFill>
                <a:latin typeface="Cambria" pitchFamily="34" charset="0"/>
                <a:ea typeface="Cambria" pitchFamily="34" charset="-122"/>
                <a:cs typeface="Cambria" pitchFamily="34" charset="-120"/>
              </a:rPr>
              <a:t>Anatomy of a tropical storm</a:t>
            </a:r>
            <a:endParaRPr lang="en-US" sz="4000" dirty="0"/>
          </a:p>
        </p:txBody>
      </p:sp>
      <p:sp>
        <p:nvSpPr>
          <p:cNvPr id="11" name="lessons-card"/>
          <p:cNvSpPr/>
          <p:nvPr/>
        </p:nvSpPr>
        <p:spPr>
          <a:xfrm>
            <a:off x="548640" y="3895598"/>
            <a:ext cx="5287975" cy="1328420"/>
          </a:xfrm>
          <a:prstGeom prst="roundRect">
            <a:avLst>
              <a:gd name="adj" fmla="val 5507"/>
            </a:avLst>
          </a:prstGeom>
          <a:solidFill>
            <a:srgbClr val="E6ECE7"/>
          </a:solidFill>
          <a:ln/>
        </p:spPr>
      </p:sp>
      <p:sp>
        <p:nvSpPr>
          <p:cNvPr id="12" name="lessons"/>
          <p:cNvSpPr txBox="1"/>
          <p:nvPr/>
        </p:nvSpPr>
        <p:spPr>
          <a:xfrm>
            <a:off x="685800" y="3987038"/>
            <a:ext cx="5013655" cy="1145540"/>
          </a:xfrm>
          <a:prstGeom prst="rect">
            <a:avLst/>
          </a:prstGeom>
          <a:noFill/>
          <a:ln/>
        </p:spPr>
        <p:txBody>
          <a:bodyPr wrap="square" lIns="63500" tIns="63500" rIns="63500" bIns="63500" rtlCol="0" anchor="t"/>
          <a:lstStyle/>
          <a:p>
            <a:pPr algn="l" indent="0" marL="0">
              <a:spcAft>
                <a:spcPts val="400"/>
              </a:spcAft>
              <a:buNone/>
            </a:pPr>
            <a:r>
              <a:rPr lang="en-US" sz="2000" b="1" dirty="0">
                <a:solidFill>
                  <a:srgbClr val="3F6B4A"/>
                </a:solidFill>
                <a:latin typeface="Calibri" pitchFamily="34" charset="0"/>
                <a:ea typeface="Calibri" pitchFamily="34" charset="-122"/>
                <a:cs typeface="Calibri" pitchFamily="34" charset="-120"/>
              </a:rPr>
              <a:t>Lessons covered</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3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How do tropical storms form?</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4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Structure and features of tropical storms</a:t>
            </a:r>
            <a:endParaRPr lang="en-US" sz="2000" dirty="0"/>
          </a:p>
        </p:txBody>
      </p:sp>
      <p:sp>
        <p:nvSpPr>
          <p:cNvPr id="13" name="plate-frame"/>
          <p:cNvSpPr/>
          <p:nvPr/>
        </p:nvSpPr>
        <p:spPr>
          <a:xfrm>
            <a:off x="6248095" y="411480"/>
            <a:ext cx="5394960" cy="3130677"/>
          </a:xfrm>
          <a:prstGeom prst="rect">
            <a:avLst/>
          </a:prstGeom>
          <a:solidFill>
            <a:srgbClr val="F0E6D2"/>
          </a:solidFill>
          <a:ln w="19050">
            <a:solidFill>
              <a:srgbClr val="B8862B"/>
            </a:solidFill>
            <a:prstDash val="solid"/>
          </a:ln>
          <a:effectLst>
            <a:outerShdw sx="100000" sy="100000" kx="0" ky="0" algn="bl" rotWithShape="0" blurRad="76200" dist="25400" dir="5400000">
              <a:srgbClr val="000000">
                <a:alpha val="12000"/>
              </a:srgbClr>
            </a:outerShdw>
          </a:effectLst>
        </p:spPr>
      </p:sp>
      <p:pic>
        <p:nvPicPr>
          <p:cNvPr id="14" name="plate" descr="Ad Astra engraved plate for Geography, Year 10">    </p:cNvPr>
          <p:cNvPicPr>
            <a:picLocks noChangeAspect="1"/>
          </p:cNvPicPr>
          <p:nvPr/>
        </p:nvPicPr>
        <p:blipFill>
          <a:blip r:embed="rId1"/>
          <a:stretch>
            <a:fillRect/>
          </a:stretch>
        </p:blipFill>
        <p:spPr>
          <a:xfrm>
            <a:off x="6357823" y="521208"/>
            <a:ext cx="5175504" cy="2911221"/>
          </a:xfrm>
          <a:prstGeom prst="rect">
            <a:avLst/>
          </a:prstGeom>
        </p:spPr>
      </p:pic>
      <p:sp>
        <p:nvSpPr>
          <p:cNvPr id="15" name="plate-inner"/>
          <p:cNvSpPr/>
          <p:nvPr/>
        </p:nvSpPr>
        <p:spPr>
          <a:xfrm>
            <a:off x="6357823" y="521208"/>
            <a:ext cx="5175504" cy="2911221"/>
          </a:xfrm>
          <a:prstGeom prst="rect">
            <a:avLst/>
          </a:prstGeom>
          <a:ln w="9525">
            <a:solidFill>
              <a:srgbClr val="B8862B"/>
            </a:solidFill>
            <a:prstDash val="solid"/>
          </a:ln>
        </p:spPr>
      </p:sp>
      <p:sp>
        <p:nvSpPr>
          <p:cNvPr id="16" name="stud0"/>
          <p:cNvSpPr/>
          <p:nvPr/>
        </p:nvSpPr>
        <p:spPr>
          <a:xfrm>
            <a:off x="6138367" y="316456"/>
            <a:ext cx="219456" cy="190049"/>
          </a:xfrm>
          <a:prstGeom prst="hexagon">
            <a:avLst/>
          </a:prstGeom>
          <a:solidFill>
            <a:srgbClr val="B8862B"/>
          </a:solidFill>
          <a:ln w="12700">
            <a:solidFill>
              <a:srgbClr val="FFFFFF"/>
            </a:solidFill>
            <a:prstDash val="solid"/>
          </a:ln>
        </p:spPr>
      </p:sp>
      <p:sp>
        <p:nvSpPr>
          <p:cNvPr id="17" name="stud1"/>
          <p:cNvSpPr/>
          <p:nvPr/>
        </p:nvSpPr>
        <p:spPr>
          <a:xfrm>
            <a:off x="11533327" y="316456"/>
            <a:ext cx="219456" cy="190049"/>
          </a:xfrm>
          <a:prstGeom prst="hexagon">
            <a:avLst/>
          </a:prstGeom>
          <a:solidFill>
            <a:srgbClr val="B8862B"/>
          </a:solidFill>
          <a:ln w="12700">
            <a:solidFill>
              <a:srgbClr val="FFFFFF"/>
            </a:solidFill>
            <a:prstDash val="solid"/>
          </a:ln>
        </p:spPr>
      </p:sp>
      <p:sp>
        <p:nvSpPr>
          <p:cNvPr id="18" name="stud2"/>
          <p:cNvSpPr/>
          <p:nvPr/>
        </p:nvSpPr>
        <p:spPr>
          <a:xfrm>
            <a:off x="6138367" y="3447133"/>
            <a:ext cx="219456" cy="190049"/>
          </a:xfrm>
          <a:prstGeom prst="hexagon">
            <a:avLst/>
          </a:prstGeom>
          <a:solidFill>
            <a:srgbClr val="B8862B"/>
          </a:solidFill>
          <a:ln w="12700">
            <a:solidFill>
              <a:srgbClr val="FFFFFF"/>
            </a:solidFill>
            <a:prstDash val="solid"/>
          </a:ln>
        </p:spPr>
      </p:sp>
      <p:sp>
        <p:nvSpPr>
          <p:cNvPr id="19" name="stud3"/>
          <p:cNvSpPr/>
          <p:nvPr/>
        </p:nvSpPr>
        <p:spPr>
          <a:xfrm>
            <a:off x="11533327" y="3447133"/>
            <a:ext cx="219456" cy="190049"/>
          </a:xfrm>
          <a:prstGeom prst="hexagon">
            <a:avLst/>
          </a:prstGeom>
          <a:solidFill>
            <a:srgbClr val="B8862B"/>
          </a:solidFill>
          <a:ln w="12700">
            <a:solidFill>
              <a:srgbClr val="FFFFFF"/>
            </a:solidFill>
            <a:prstDash val="solid"/>
          </a:ln>
        </p:spPr>
      </p:sp>
      <p:sp>
        <p:nvSpPr>
          <p:cNvPr id="20" name="bq-card"/>
          <p:cNvSpPr/>
          <p:nvPr/>
        </p:nvSpPr>
        <p:spPr>
          <a:xfrm>
            <a:off x="6248095" y="3816477"/>
            <a:ext cx="5394960" cy="2053971"/>
          </a:xfrm>
          <a:prstGeom prst="roundRect">
            <a:avLst>
              <a:gd name="adj" fmla="val 3561"/>
            </a:avLst>
          </a:prstGeom>
          <a:solidFill>
            <a:srgbClr val="E6ECE7"/>
          </a:solidFill>
          <a:ln w="12700">
            <a:solidFill>
              <a:srgbClr val="ACBFB1"/>
            </a:solidFill>
            <a:prstDash val="solid"/>
          </a:ln>
        </p:spPr>
      </p:sp>
      <p:sp>
        <p:nvSpPr>
          <p:cNvPr id="21" name="bq-hex"/>
          <p:cNvSpPr/>
          <p:nvPr/>
        </p:nvSpPr>
        <p:spPr>
          <a:xfrm>
            <a:off x="6412687" y="3999357"/>
            <a:ext cx="621792" cy="538472"/>
          </a:xfrm>
          <a:prstGeom prst="hexagon">
            <a:avLst/>
          </a:prstGeom>
          <a:solidFill>
            <a:srgbClr val="B8862B"/>
          </a:solidFill>
          <a:ln/>
        </p:spPr>
      </p:sp>
      <p:sp>
        <p:nvSpPr>
          <p:cNvPr id="22" name="bq-hex-label"/>
          <p:cNvSpPr txBox="1"/>
          <p:nvPr/>
        </p:nvSpPr>
        <p:spPr>
          <a:xfrm>
            <a:off x="6412687" y="3999357"/>
            <a:ext cx="621792" cy="538472"/>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a:t>
            </a:r>
            <a:endParaRPr lang="en-US" sz="2600" dirty="0"/>
          </a:p>
        </p:txBody>
      </p:sp>
      <p:sp>
        <p:nvSpPr>
          <p:cNvPr id="23" name="bq"/>
          <p:cNvSpPr txBox="1"/>
          <p:nvPr/>
        </p:nvSpPr>
        <p:spPr>
          <a:xfrm>
            <a:off x="7144207" y="3907917"/>
            <a:ext cx="4389120" cy="1871091"/>
          </a:xfrm>
          <a:prstGeom prst="rect">
            <a:avLst/>
          </a:prstGeom>
          <a:noFill/>
          <a:ln/>
        </p:spPr>
        <p:txBody>
          <a:bodyPr wrap="square" lIns="63500" tIns="63500" rIns="63500" bIns="63500" rtlCol="0" anchor="ctr"/>
          <a:lstStyle/>
          <a:p>
            <a:pPr algn="l" indent="0" marL="0">
              <a:spcAft>
                <a:spcPts val="400"/>
              </a:spcAft>
              <a:buNone/>
            </a:pPr>
            <a:r>
              <a:rPr lang="en-US" sz="1800" b="1" dirty="0">
                <a:solidFill>
                  <a:srgbClr val="3F6B4A"/>
                </a:solidFill>
                <a:latin typeface="Calibri" pitchFamily="34" charset="0"/>
                <a:ea typeface="Calibri" pitchFamily="34" charset="-122"/>
                <a:cs typeface="Calibri" pitchFamily="34" charset="-120"/>
              </a:rPr>
              <a:t>Big question</a:t>
            </a:r>
            <a:endParaRPr lang="en-US" sz="1800" dirty="0"/>
          </a:p>
          <a:p>
            <a:pPr algn="l" indent="0" marL="0">
              <a:buNone/>
            </a:pPr>
            <a:r>
              <a:rPr lang="en-US" sz="2000" i="1" dirty="0">
                <a:solidFill>
                  <a:srgbClr val="1E2229"/>
                </a:solidFill>
                <a:latin typeface="Cambria" pitchFamily="34" charset="0"/>
                <a:ea typeface="Cambria" pitchFamily="34" charset="-122"/>
                <a:cs typeface="Cambria" pitchFamily="34" charset="-120"/>
              </a:rPr>
              <a:t>Why do tropical storms form where they do, why do they hurt some places more than others, and is the UK's own weather becoming more extreme?</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Do now: three from memory</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2636444" cy="4754880"/>
          </a:xfrm>
          <a:prstGeom prst="roundRect">
            <a:avLst>
              <a:gd name="adj" fmla="val 2081"/>
            </a:avLst>
          </a:prstGeom>
          <a:solidFill>
            <a:srgbClr val="ECF0ED"/>
          </a:solidFill>
          <a:ln w="12700">
            <a:solidFill>
              <a:srgbClr val="B6C7BA"/>
            </a:solidFill>
            <a:prstDash val="solid"/>
          </a:ln>
        </p:spPr>
      </p:sp>
      <p:sp>
        <p:nvSpPr>
          <p:cNvPr id="8" name="card-hex"/>
          <p:cNvSpPr/>
          <p:nvPr/>
        </p:nvSpPr>
        <p:spPr>
          <a:xfrm>
            <a:off x="731520" y="1572768"/>
            <a:ext cx="640080" cy="554309"/>
          </a:xfrm>
          <a:prstGeom prst="hexagon">
            <a:avLst/>
          </a:prstGeom>
          <a:solidFill>
            <a:srgbClr val="3F6B4A"/>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1630604"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Work it out</a:t>
            </a:r>
            <a:endParaRPr lang="en-US" sz="1800" dirty="0"/>
          </a:p>
        </p:txBody>
      </p:sp>
      <p:sp>
        <p:nvSpPr>
          <p:cNvPr id="11" name="card-body"/>
          <p:cNvSpPr txBox="1"/>
          <p:nvPr/>
        </p:nvSpPr>
        <p:spPr>
          <a:xfrm>
            <a:off x="731520" y="2355677"/>
            <a:ext cx="2270684" cy="3651931"/>
          </a:xfrm>
          <a:prstGeom prst="rect">
            <a:avLst/>
          </a:prstGeom>
          <a:noFill/>
          <a:ln/>
        </p:spPr>
        <p:txBody>
          <a:bodyPr wrap="square" lIns="63500" tIns="63500" rIns="63500" bIns="63500" rtlCol="0" anchor="t"/>
          <a:lstStyle/>
          <a:p>
            <a:pPr algn="l" indent="0" marL="0">
              <a:spcAft>
                <a:spcPts val="1000"/>
              </a:spcAft>
              <a:buNone/>
            </a:pPr>
            <a:r>
              <a:rPr lang="en-US" sz="1800" b="1" dirty="0">
                <a:solidFill>
                  <a:srgbClr val="1E2229"/>
                </a:solidFill>
                <a:latin typeface="Calibri" pitchFamily="34" charset="0"/>
                <a:ea typeface="Calibri" pitchFamily="34" charset="-122"/>
                <a:cs typeface="Calibri" pitchFamily="34" charset="-120"/>
              </a:rPr>
              <a:t>The eye of a tropical storm is between 16 and 48 kilometres across. How much wider, in kilometres, is the widest eye than the narrowest?</a:t>
            </a:r>
            <a:endParaRPr lang="en-US" sz="1800" dirty="0"/>
          </a:p>
          <a:p>
            <a:pPr algn="l" indent="0" marL="0">
              <a:buNone/>
            </a:pPr>
            <a:r>
              <a:rPr lang="en-US" sz="1800" b="1" dirty="0">
                <a:solidFill>
                  <a:srgbClr val="3F6B4A"/>
                </a:solidFill>
                <a:latin typeface="Calibri" pitchFamily="34" charset="0"/>
                <a:ea typeface="Calibri" pitchFamily="34" charset="-122"/>
                <a:cs typeface="Calibri" pitchFamily="34" charset="-120"/>
              </a:rPr>
              <a:t>Answer:  </a:t>
            </a:r>
            <a:pPr algn="l" indent="0" marL="0">
              <a:buNone/>
            </a:pPr>
            <a:r>
              <a:rPr lang="en-US" sz="1800" dirty="0">
                <a:solidFill>
                  <a:srgbClr val="1E2229"/>
                </a:solidFill>
                <a:latin typeface="Calibri" pitchFamily="34" charset="0"/>
                <a:ea typeface="Calibri" pitchFamily="34" charset="-122"/>
                <a:cs typeface="Calibri" pitchFamily="34" charset="-120"/>
              </a:rPr>
              <a:t>________ km</a:t>
            </a:r>
            <a:endParaRPr lang="en-US" sz="1800" dirty="0"/>
          </a:p>
        </p:txBody>
      </p:sp>
      <p:sp>
        <p:nvSpPr>
          <p:cNvPr id="12" name="card"/>
          <p:cNvSpPr/>
          <p:nvPr/>
        </p:nvSpPr>
        <p:spPr>
          <a:xfrm>
            <a:off x="3459404" y="1389888"/>
            <a:ext cx="2636444" cy="4754880"/>
          </a:xfrm>
          <a:prstGeom prst="roundRect">
            <a:avLst>
              <a:gd name="adj" fmla="val 2081"/>
            </a:avLst>
          </a:prstGeom>
          <a:solidFill>
            <a:srgbClr val="ECF0ED"/>
          </a:solidFill>
          <a:ln w="12700">
            <a:solidFill>
              <a:srgbClr val="B6C7BA"/>
            </a:solidFill>
            <a:prstDash val="solid"/>
          </a:ln>
        </p:spPr>
      </p:sp>
      <p:sp>
        <p:nvSpPr>
          <p:cNvPr id="13" name="card-hex"/>
          <p:cNvSpPr/>
          <p:nvPr/>
        </p:nvSpPr>
        <p:spPr>
          <a:xfrm>
            <a:off x="3642284" y="1572768"/>
            <a:ext cx="640080" cy="554309"/>
          </a:xfrm>
          <a:prstGeom prst="hexagon">
            <a:avLst/>
          </a:prstGeom>
          <a:solidFill>
            <a:srgbClr val="3F6B4A"/>
          </a:solidFill>
          <a:ln/>
        </p:spPr>
      </p:sp>
      <p:sp>
        <p:nvSpPr>
          <p:cNvPr id="14" name="card-hex-label"/>
          <p:cNvSpPr txBox="1"/>
          <p:nvPr/>
        </p:nvSpPr>
        <p:spPr>
          <a:xfrm>
            <a:off x="3642284"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5" name="card-label"/>
          <p:cNvSpPr txBox="1"/>
          <p:nvPr/>
        </p:nvSpPr>
        <p:spPr>
          <a:xfrm>
            <a:off x="4373804" y="1572768"/>
            <a:ext cx="1630604"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Fill the gap</a:t>
            </a:r>
            <a:endParaRPr lang="en-US" sz="1800" dirty="0"/>
          </a:p>
        </p:txBody>
      </p:sp>
      <p:sp>
        <p:nvSpPr>
          <p:cNvPr id="16" name="card-body"/>
          <p:cNvSpPr txBox="1"/>
          <p:nvPr/>
        </p:nvSpPr>
        <p:spPr>
          <a:xfrm>
            <a:off x="3642284" y="2355677"/>
            <a:ext cx="2270684" cy="3651931"/>
          </a:xfrm>
          <a:prstGeom prst="rect">
            <a:avLst/>
          </a:prstGeom>
          <a:noFill/>
          <a:ln/>
        </p:spPr>
        <p:txBody>
          <a:bodyPr wrap="square" lIns="63500" tIns="63500" rIns="63500" bIns="63500" rtlCol="0" anchor="t"/>
          <a:lstStyle/>
          <a:p>
            <a:pPr algn="l" indent="0" marL="0">
              <a:spcAft>
                <a:spcPts val="1000"/>
              </a:spcAft>
              <a:buNone/>
            </a:pPr>
            <a:r>
              <a:rPr lang="en-US" sz="2200" b="1" dirty="0">
                <a:solidFill>
                  <a:srgbClr val="1E2229"/>
                </a:solidFill>
                <a:latin typeface="Calibri" pitchFamily="34" charset="0"/>
                <a:ea typeface="Calibri" pitchFamily="34" charset="-122"/>
                <a:cs typeface="Calibri" pitchFamily="34" charset="-120"/>
              </a:rPr>
              <a:t>In the eye of a tropical storm the air ___, so there is no cloud and the weather is calm.</a:t>
            </a:r>
            <a:endParaRPr lang="en-US" sz="2200" dirty="0"/>
          </a:p>
          <a:p>
            <a:pPr algn="l" indent="0" marL="0">
              <a:buNone/>
            </a:pPr>
            <a:r>
              <a:rPr lang="en-US" sz="2200" b="1" dirty="0">
                <a:solidFill>
                  <a:srgbClr val="3F6B4A"/>
                </a:solidFill>
                <a:latin typeface="Calibri" pitchFamily="34" charset="0"/>
                <a:ea typeface="Calibri" pitchFamily="34" charset="-122"/>
                <a:cs typeface="Calibri" pitchFamily="34" charset="-120"/>
              </a:rPr>
              <a:t>Word bank:  </a:t>
            </a:r>
            <a:pPr algn="l" indent="0" marL="0">
              <a:buNone/>
            </a:pPr>
            <a:r>
              <a:rPr lang="en-US" sz="2200" dirty="0">
                <a:solidFill>
                  <a:srgbClr val="1E2229"/>
                </a:solidFill>
                <a:latin typeface="Calibri" pitchFamily="34" charset="0"/>
                <a:ea typeface="Calibri" pitchFamily="34" charset="-122"/>
                <a:cs typeface="Calibri" pitchFamily="34" charset="-120"/>
              </a:rPr>
              <a:t>sinks  ·  rises  ·  spins faster</a:t>
            </a:r>
            <a:endParaRPr lang="en-US" sz="2200" dirty="0"/>
          </a:p>
        </p:txBody>
      </p:sp>
      <p:sp>
        <p:nvSpPr>
          <p:cNvPr id="17" name="card"/>
          <p:cNvSpPr/>
          <p:nvPr/>
        </p:nvSpPr>
        <p:spPr>
          <a:xfrm>
            <a:off x="6370168" y="1389888"/>
            <a:ext cx="5272888" cy="4754880"/>
          </a:xfrm>
          <a:prstGeom prst="roundRect">
            <a:avLst>
              <a:gd name="adj" fmla="val 1154"/>
            </a:avLst>
          </a:prstGeom>
          <a:solidFill>
            <a:srgbClr val="ECF0ED"/>
          </a:solidFill>
          <a:ln w="12700">
            <a:solidFill>
              <a:srgbClr val="B6C7BA"/>
            </a:solidFill>
            <a:prstDash val="solid"/>
          </a:ln>
        </p:spPr>
      </p:sp>
      <p:sp>
        <p:nvSpPr>
          <p:cNvPr id="18" name="card-hex"/>
          <p:cNvSpPr/>
          <p:nvPr/>
        </p:nvSpPr>
        <p:spPr>
          <a:xfrm>
            <a:off x="6553048" y="1572768"/>
            <a:ext cx="640080" cy="554309"/>
          </a:xfrm>
          <a:prstGeom prst="hexagon">
            <a:avLst/>
          </a:prstGeom>
          <a:solidFill>
            <a:srgbClr val="3F6B4A"/>
          </a:solidFill>
          <a:ln/>
        </p:spPr>
      </p:sp>
      <p:sp>
        <p:nvSpPr>
          <p:cNvPr id="19" name="card-hex-label"/>
          <p:cNvSpPr txBox="1"/>
          <p:nvPr/>
        </p:nvSpPr>
        <p:spPr>
          <a:xfrm>
            <a:off x="655304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0" name="card-label"/>
          <p:cNvSpPr txBox="1"/>
          <p:nvPr/>
        </p:nvSpPr>
        <p:spPr>
          <a:xfrm>
            <a:off x="7284568" y="1572768"/>
            <a:ext cx="426704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Choose one</a:t>
            </a:r>
            <a:endParaRPr lang="en-US" sz="1800" dirty="0"/>
          </a:p>
        </p:txBody>
      </p:sp>
      <p:sp>
        <p:nvSpPr>
          <p:cNvPr id="21" name="card-body"/>
          <p:cNvSpPr txBox="1"/>
          <p:nvPr/>
        </p:nvSpPr>
        <p:spPr>
          <a:xfrm>
            <a:off x="6553048" y="2355677"/>
            <a:ext cx="4907128" cy="3651931"/>
          </a:xfrm>
          <a:prstGeom prst="rect">
            <a:avLst/>
          </a:prstGeom>
          <a:noFill/>
          <a:ln/>
        </p:spPr>
        <p:txBody>
          <a:bodyPr wrap="square" lIns="63500" tIns="63500" rIns="63500" bIns="63500" rtlCol="0" anchor="t"/>
          <a:lstStyle/>
          <a:p>
            <a:pPr algn="l" indent="0" marL="0">
              <a:spcAft>
                <a:spcPts val="1000"/>
              </a:spcAft>
              <a:buNone/>
            </a:pPr>
            <a:r>
              <a:rPr lang="en-US" sz="2200" b="1" dirty="0">
                <a:solidFill>
                  <a:srgbClr val="1E2229"/>
                </a:solidFill>
                <a:latin typeface="Calibri" pitchFamily="34" charset="0"/>
                <a:ea typeface="Calibri" pitchFamily="34" charset="-122"/>
                <a:cs typeface="Calibri" pitchFamily="34" charset="-120"/>
              </a:rPr>
              <a:t>What provides the energy that powers a tropical storm once it has started?</a:t>
            </a:r>
            <a:endParaRPr lang="en-US" sz="2200" dirty="0"/>
          </a:p>
          <a:p>
            <a:pPr algn="l" indent="0" marL="0">
              <a:spcAft>
                <a:spcPts val="200"/>
              </a:spcAft>
              <a:buNone/>
            </a:pPr>
            <a:r>
              <a:rPr lang="en-US" sz="2200" b="1" dirty="0">
                <a:solidFill>
                  <a:srgbClr val="B8862B"/>
                </a:solidFill>
                <a:latin typeface="Calibri" pitchFamily="34" charset="0"/>
                <a:ea typeface="Calibri" pitchFamily="34" charset="-122"/>
                <a:cs typeface="Calibri" pitchFamily="34" charset="-120"/>
              </a:rPr>
              <a:t>A   </a:t>
            </a:r>
            <a:pPr algn="l" indent="0" marL="0">
              <a:spcAft>
                <a:spcPts val="200"/>
              </a:spcAft>
              <a:buNone/>
            </a:pPr>
            <a:r>
              <a:rPr lang="en-US" sz="2200" dirty="0">
                <a:solidFill>
                  <a:srgbClr val="1E2229"/>
                </a:solidFill>
                <a:latin typeface="Calibri" pitchFamily="34" charset="0"/>
                <a:ea typeface="Calibri" pitchFamily="34" charset="-122"/>
                <a:cs typeface="Calibri" pitchFamily="34" charset="-120"/>
              </a:rPr>
              <a:t>Heat from the Earth's core rising through the sea bed</a:t>
            </a:r>
            <a:endParaRPr lang="en-US" sz="2200" dirty="0"/>
          </a:p>
          <a:p>
            <a:pPr algn="l" indent="0" marL="0">
              <a:spcAft>
                <a:spcPts val="200"/>
              </a:spcAft>
              <a:buNone/>
            </a:pPr>
            <a:r>
              <a:rPr lang="en-US" sz="2200" b="1" dirty="0">
                <a:solidFill>
                  <a:srgbClr val="B8862B"/>
                </a:solidFill>
                <a:latin typeface="Calibri" pitchFamily="34" charset="0"/>
                <a:ea typeface="Calibri" pitchFamily="34" charset="-122"/>
                <a:cs typeface="Calibri" pitchFamily="34" charset="-120"/>
              </a:rPr>
              <a:t>B   </a:t>
            </a:r>
            <a:pPr algn="l" indent="0" marL="0">
              <a:spcAft>
                <a:spcPts val="200"/>
              </a:spcAft>
              <a:buNone/>
            </a:pPr>
            <a:r>
              <a:rPr lang="en-US" sz="2200" dirty="0">
                <a:solidFill>
                  <a:srgbClr val="1E2229"/>
                </a:solidFill>
                <a:latin typeface="Calibri" pitchFamily="34" charset="0"/>
                <a:ea typeface="Calibri" pitchFamily="34" charset="-122"/>
                <a:cs typeface="Calibri" pitchFamily="34" charset="-120"/>
              </a:rPr>
              <a:t>The pull of the Moon on the ocean</a:t>
            </a:r>
            <a:endParaRPr lang="en-US" sz="2200" dirty="0"/>
          </a:p>
          <a:p>
            <a:pPr algn="l" indent="0" marL="0">
              <a:spcAft>
                <a:spcPts val="200"/>
              </a:spcAft>
              <a:buNone/>
            </a:pPr>
            <a:r>
              <a:rPr lang="en-US" sz="2200" b="1" dirty="0">
                <a:solidFill>
                  <a:srgbClr val="B8862B"/>
                </a:solidFill>
                <a:latin typeface="Calibri" pitchFamily="34" charset="0"/>
                <a:ea typeface="Calibri" pitchFamily="34" charset="-122"/>
                <a:cs typeface="Calibri" pitchFamily="34" charset="-120"/>
              </a:rPr>
              <a:t>C   </a:t>
            </a:r>
            <a:pPr algn="l" indent="0" marL="0">
              <a:spcAft>
                <a:spcPts val="200"/>
              </a:spcAft>
              <a:buNone/>
            </a:pPr>
            <a:r>
              <a:rPr lang="en-US" sz="2200" dirty="0">
                <a:solidFill>
                  <a:srgbClr val="1E2229"/>
                </a:solidFill>
                <a:latin typeface="Calibri" pitchFamily="34" charset="0"/>
                <a:ea typeface="Calibri" pitchFamily="34" charset="-122"/>
                <a:cs typeface="Calibri" pitchFamily="34" charset="-120"/>
              </a:rPr>
              <a:t>Friction between the wind and the sea surface</a:t>
            </a:r>
            <a:endParaRPr lang="en-US" sz="2200" dirty="0"/>
          </a:p>
          <a:p>
            <a:pPr algn="l" indent="0" marL="0">
              <a:spcAft>
                <a:spcPts val="200"/>
              </a:spcAft>
              <a:buNone/>
            </a:pPr>
            <a:r>
              <a:rPr lang="en-US" sz="2200" b="1" dirty="0">
                <a:solidFill>
                  <a:srgbClr val="B8862B"/>
                </a:solidFill>
                <a:latin typeface="Calibri" pitchFamily="34" charset="0"/>
                <a:ea typeface="Calibri" pitchFamily="34" charset="-122"/>
                <a:cs typeface="Calibri" pitchFamily="34" charset="-120"/>
              </a:rPr>
              <a:t>D   </a:t>
            </a:r>
            <a:pPr algn="l" indent="0" marL="0">
              <a:spcAft>
                <a:spcPts val="200"/>
              </a:spcAft>
              <a:buNone/>
            </a:pPr>
            <a:r>
              <a:rPr lang="en-US" sz="2200" dirty="0">
                <a:solidFill>
                  <a:srgbClr val="1E2229"/>
                </a:solidFill>
                <a:latin typeface="Calibri" pitchFamily="34" charset="0"/>
                <a:ea typeface="Calibri" pitchFamily="34" charset="-122"/>
                <a:cs typeface="Calibri" pitchFamily="34" charset="-120"/>
              </a:rPr>
              <a:t>Heat released when water vapour condenses into cloud</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Answers</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2636444" cy="4754880"/>
          </a:xfrm>
          <a:prstGeom prst="roundRect">
            <a:avLst>
              <a:gd name="adj" fmla="val 2081"/>
            </a:avLst>
          </a:prstGeom>
          <a:solidFill>
            <a:srgbClr val="ECF0ED"/>
          </a:solidFill>
          <a:ln w="12700">
            <a:solidFill>
              <a:srgbClr val="B6C7BA"/>
            </a:solidFill>
            <a:prstDash val="solid"/>
          </a:ln>
        </p:spPr>
      </p:sp>
      <p:sp>
        <p:nvSpPr>
          <p:cNvPr id="8" name="card-hex"/>
          <p:cNvSpPr/>
          <p:nvPr/>
        </p:nvSpPr>
        <p:spPr>
          <a:xfrm>
            <a:off x="731520" y="1572768"/>
            <a:ext cx="640080" cy="554309"/>
          </a:xfrm>
          <a:prstGeom prst="hexagon">
            <a:avLst/>
          </a:prstGeom>
          <a:solidFill>
            <a:srgbClr val="3F6B4A"/>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1630604"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Answer</a:t>
            </a:r>
            <a:endParaRPr lang="en-US" sz="1800" dirty="0"/>
          </a:p>
        </p:txBody>
      </p:sp>
      <p:sp>
        <p:nvSpPr>
          <p:cNvPr id="11" name="answer-chip"/>
          <p:cNvSpPr/>
          <p:nvPr/>
        </p:nvSpPr>
        <p:spPr>
          <a:xfrm>
            <a:off x="731520" y="2355677"/>
            <a:ext cx="2270684" cy="614172"/>
          </a:xfrm>
          <a:prstGeom prst="roundRect">
            <a:avLst>
              <a:gd name="adj" fmla="val 17866"/>
            </a:avLst>
          </a:prstGeom>
          <a:solidFill>
            <a:srgbClr val="EBDDC4"/>
          </a:solidFill>
          <a:ln w="19050">
            <a:solidFill>
              <a:srgbClr val="B8862B"/>
            </a:solidFill>
            <a:prstDash val="solid"/>
          </a:ln>
        </p:spPr>
      </p:sp>
      <p:sp>
        <p:nvSpPr>
          <p:cNvPr id="12" name="answer"/>
          <p:cNvSpPr txBox="1"/>
          <p:nvPr/>
        </p:nvSpPr>
        <p:spPr>
          <a:xfrm>
            <a:off x="822960" y="2428829"/>
            <a:ext cx="2087804"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32 km</a:t>
            </a:r>
            <a:endParaRPr lang="en-US" sz="2200" dirty="0"/>
          </a:p>
        </p:txBody>
      </p:sp>
      <p:sp>
        <p:nvSpPr>
          <p:cNvPr id="13" name="card-body"/>
          <p:cNvSpPr txBox="1"/>
          <p:nvPr/>
        </p:nvSpPr>
        <p:spPr>
          <a:xfrm>
            <a:off x="731520" y="3152729"/>
            <a:ext cx="2270684" cy="2854879"/>
          </a:xfrm>
          <a:prstGeom prst="rect">
            <a:avLst/>
          </a:prstGeom>
          <a:noFill/>
          <a:ln/>
        </p:spPr>
        <p:txBody>
          <a:bodyPr wrap="square" lIns="63500" tIns="63500" rIns="63500" bIns="63500" rtlCol="0" anchor="t"/>
          <a:lstStyle/>
          <a:p>
            <a:pPr algn="l" indent="0" marL="0">
              <a:buNone/>
            </a:pPr>
            <a:r>
              <a:rPr lang="en-US" sz="1800" i="1" dirty="0">
                <a:solidFill>
                  <a:srgbClr val="1E2229"/>
                </a:solidFill>
                <a:latin typeface="Calibri" pitchFamily="34" charset="0"/>
                <a:ea typeface="Calibri" pitchFamily="34" charset="-122"/>
                <a:cs typeface="Calibri" pitchFamily="34" charset="-120"/>
              </a:rPr>
              <a:t>48 − 16 = 32 km. The eye can be three times wider in one storm than another.</a:t>
            </a:r>
            <a:endParaRPr lang="en-US" sz="1800" dirty="0"/>
          </a:p>
        </p:txBody>
      </p:sp>
      <p:sp>
        <p:nvSpPr>
          <p:cNvPr id="14" name="card"/>
          <p:cNvSpPr/>
          <p:nvPr/>
        </p:nvSpPr>
        <p:spPr>
          <a:xfrm>
            <a:off x="3459404" y="1389888"/>
            <a:ext cx="2636444" cy="4754880"/>
          </a:xfrm>
          <a:prstGeom prst="roundRect">
            <a:avLst>
              <a:gd name="adj" fmla="val 2081"/>
            </a:avLst>
          </a:prstGeom>
          <a:solidFill>
            <a:srgbClr val="ECF0ED"/>
          </a:solidFill>
          <a:ln w="12700">
            <a:solidFill>
              <a:srgbClr val="B6C7BA"/>
            </a:solidFill>
            <a:prstDash val="solid"/>
          </a:ln>
        </p:spPr>
      </p:sp>
      <p:sp>
        <p:nvSpPr>
          <p:cNvPr id="15" name="card-hex"/>
          <p:cNvSpPr/>
          <p:nvPr/>
        </p:nvSpPr>
        <p:spPr>
          <a:xfrm>
            <a:off x="3642284" y="1572768"/>
            <a:ext cx="640080" cy="554309"/>
          </a:xfrm>
          <a:prstGeom prst="hexagon">
            <a:avLst/>
          </a:prstGeom>
          <a:solidFill>
            <a:srgbClr val="3F6B4A"/>
          </a:solidFill>
          <a:ln/>
        </p:spPr>
      </p:sp>
      <p:sp>
        <p:nvSpPr>
          <p:cNvPr id="16" name="card-hex-label"/>
          <p:cNvSpPr txBox="1"/>
          <p:nvPr/>
        </p:nvSpPr>
        <p:spPr>
          <a:xfrm>
            <a:off x="3642284"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7" name="card-label"/>
          <p:cNvSpPr txBox="1"/>
          <p:nvPr/>
        </p:nvSpPr>
        <p:spPr>
          <a:xfrm>
            <a:off x="4373804" y="1572768"/>
            <a:ext cx="1630604"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Answer</a:t>
            </a:r>
            <a:endParaRPr lang="en-US" sz="1800" dirty="0"/>
          </a:p>
        </p:txBody>
      </p:sp>
      <p:sp>
        <p:nvSpPr>
          <p:cNvPr id="18" name="answer-chip"/>
          <p:cNvSpPr/>
          <p:nvPr/>
        </p:nvSpPr>
        <p:spPr>
          <a:xfrm>
            <a:off x="3642284" y="2355677"/>
            <a:ext cx="2270684" cy="614172"/>
          </a:xfrm>
          <a:prstGeom prst="roundRect">
            <a:avLst>
              <a:gd name="adj" fmla="val 17866"/>
            </a:avLst>
          </a:prstGeom>
          <a:solidFill>
            <a:srgbClr val="EBDDC4"/>
          </a:solidFill>
          <a:ln w="19050">
            <a:solidFill>
              <a:srgbClr val="B8862B"/>
            </a:solidFill>
            <a:prstDash val="solid"/>
          </a:ln>
        </p:spPr>
      </p:sp>
      <p:sp>
        <p:nvSpPr>
          <p:cNvPr id="19" name="answer"/>
          <p:cNvSpPr txBox="1"/>
          <p:nvPr/>
        </p:nvSpPr>
        <p:spPr>
          <a:xfrm>
            <a:off x="3733724" y="2428829"/>
            <a:ext cx="2087804"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sinks</a:t>
            </a:r>
            <a:endParaRPr lang="en-US" sz="2200" dirty="0"/>
          </a:p>
        </p:txBody>
      </p:sp>
      <p:sp>
        <p:nvSpPr>
          <p:cNvPr id="20" name="card-body"/>
          <p:cNvSpPr txBox="1"/>
          <p:nvPr/>
        </p:nvSpPr>
        <p:spPr>
          <a:xfrm>
            <a:off x="3642284" y="3152729"/>
            <a:ext cx="2270684" cy="2854879"/>
          </a:xfrm>
          <a:prstGeom prst="rect">
            <a:avLst/>
          </a:prstGeom>
          <a:noFill/>
          <a:ln/>
        </p:spPr>
        <p:txBody>
          <a:bodyPr wrap="square" lIns="63500" tIns="63500" rIns="63500" bIns="63500" rtlCol="0" anchor="t"/>
          <a:lstStyle/>
          <a:p>
            <a:pPr algn="l" indent="0" marL="0">
              <a:buNone/>
            </a:pPr>
            <a:r>
              <a:rPr lang="en-US" sz="1800" i="1" dirty="0">
                <a:solidFill>
                  <a:srgbClr val="1E2229"/>
                </a:solidFill>
                <a:latin typeface="Calibri" pitchFamily="34" charset="0"/>
                <a:ea typeface="Calibri" pitchFamily="34" charset="-122"/>
                <a:cs typeface="Calibri" pitchFamily="34" charset="-120"/>
              </a:rPr>
              <a:t>Air that has risen to the top of the storm cools and sinks back down inside the eye. Sinking air cannot form cloud, so the eye is dry and calm.</a:t>
            </a:r>
            <a:endParaRPr lang="en-US" sz="1800" dirty="0"/>
          </a:p>
        </p:txBody>
      </p:sp>
      <p:sp>
        <p:nvSpPr>
          <p:cNvPr id="21" name="card"/>
          <p:cNvSpPr/>
          <p:nvPr/>
        </p:nvSpPr>
        <p:spPr>
          <a:xfrm>
            <a:off x="6370168" y="1389888"/>
            <a:ext cx="5272888" cy="4754880"/>
          </a:xfrm>
          <a:prstGeom prst="roundRect">
            <a:avLst>
              <a:gd name="adj" fmla="val 1154"/>
            </a:avLst>
          </a:prstGeom>
          <a:solidFill>
            <a:srgbClr val="ECF0ED"/>
          </a:solidFill>
          <a:ln w="12700">
            <a:solidFill>
              <a:srgbClr val="B6C7BA"/>
            </a:solidFill>
            <a:prstDash val="solid"/>
          </a:ln>
        </p:spPr>
      </p:sp>
      <p:sp>
        <p:nvSpPr>
          <p:cNvPr id="22" name="card-hex"/>
          <p:cNvSpPr/>
          <p:nvPr/>
        </p:nvSpPr>
        <p:spPr>
          <a:xfrm>
            <a:off x="6553048" y="1572768"/>
            <a:ext cx="640080" cy="554309"/>
          </a:xfrm>
          <a:prstGeom prst="hexagon">
            <a:avLst/>
          </a:prstGeom>
          <a:solidFill>
            <a:srgbClr val="3F6B4A"/>
          </a:solidFill>
          <a:ln/>
        </p:spPr>
      </p:sp>
      <p:sp>
        <p:nvSpPr>
          <p:cNvPr id="23" name="card-hex-label"/>
          <p:cNvSpPr txBox="1"/>
          <p:nvPr/>
        </p:nvSpPr>
        <p:spPr>
          <a:xfrm>
            <a:off x="655304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4" name="card-label"/>
          <p:cNvSpPr txBox="1"/>
          <p:nvPr/>
        </p:nvSpPr>
        <p:spPr>
          <a:xfrm>
            <a:off x="7284568" y="1572768"/>
            <a:ext cx="426704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Answer</a:t>
            </a:r>
            <a:endParaRPr lang="en-US" sz="1800" dirty="0"/>
          </a:p>
        </p:txBody>
      </p:sp>
      <p:sp>
        <p:nvSpPr>
          <p:cNvPr id="25" name="answer-chip"/>
          <p:cNvSpPr/>
          <p:nvPr/>
        </p:nvSpPr>
        <p:spPr>
          <a:xfrm>
            <a:off x="6553048" y="2355677"/>
            <a:ext cx="4907128" cy="955040"/>
          </a:xfrm>
          <a:prstGeom prst="roundRect">
            <a:avLst>
              <a:gd name="adj" fmla="val 11489"/>
            </a:avLst>
          </a:prstGeom>
          <a:solidFill>
            <a:srgbClr val="EBDDC4"/>
          </a:solidFill>
          <a:ln w="19050">
            <a:solidFill>
              <a:srgbClr val="B8862B"/>
            </a:solidFill>
            <a:prstDash val="solid"/>
          </a:ln>
        </p:spPr>
      </p:sp>
      <p:sp>
        <p:nvSpPr>
          <p:cNvPr id="26" name="answer"/>
          <p:cNvSpPr txBox="1"/>
          <p:nvPr/>
        </p:nvSpPr>
        <p:spPr>
          <a:xfrm>
            <a:off x="6644488" y="2428829"/>
            <a:ext cx="4724248" cy="808736"/>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D   Heat released when water vapour condenses into cloud</a:t>
            </a:r>
            <a:endParaRPr lang="en-US" sz="2200" dirty="0"/>
          </a:p>
        </p:txBody>
      </p:sp>
      <p:sp>
        <p:nvSpPr>
          <p:cNvPr id="27" name="card-body"/>
          <p:cNvSpPr txBox="1"/>
          <p:nvPr/>
        </p:nvSpPr>
        <p:spPr>
          <a:xfrm>
            <a:off x="6553048" y="3493597"/>
            <a:ext cx="4907128" cy="2514011"/>
          </a:xfrm>
          <a:prstGeom prst="rect">
            <a:avLst/>
          </a:prstGeom>
          <a:noFill/>
          <a:ln/>
        </p:spPr>
        <p:txBody>
          <a:bodyPr wrap="square" lIns="63500" tIns="63500" rIns="63500" bIns="63500" rtlCol="0" anchor="t"/>
          <a:lstStyle/>
          <a:p>
            <a:pPr algn="l" indent="0" marL="0">
              <a:spcAft>
                <a:spcPts val="1000"/>
              </a:spcAft>
              <a:buNone/>
            </a:pPr>
            <a:r>
              <a:rPr lang="en-US" sz="2200" dirty="0">
                <a:solidFill>
                  <a:srgbClr val="4A505C"/>
                </a:solidFill>
                <a:latin typeface="Calibri" pitchFamily="34" charset="0"/>
                <a:ea typeface="Calibri" pitchFamily="34" charset="-122"/>
                <a:cs typeface="Calibri" pitchFamily="34" charset="-120"/>
              </a:rPr>
              <a:t>What provides the energy that powers a tropical storm once it has started?</a:t>
            </a:r>
            <a:endParaRPr lang="en-US" sz="2200" dirty="0"/>
          </a:p>
          <a:p>
            <a:pPr algn="l" indent="0" marL="0">
              <a:buNone/>
            </a:pPr>
            <a:r>
              <a:rPr lang="en-US" sz="2200" i="1" dirty="0">
                <a:solidFill>
                  <a:srgbClr val="1E2229"/>
                </a:solidFill>
                <a:latin typeface="Calibri" pitchFamily="34" charset="0"/>
                <a:ea typeface="Calibri" pitchFamily="34" charset="-122"/>
                <a:cs typeface="Calibri" pitchFamily="34" charset="-120"/>
              </a:rPr>
              <a:t>Warm sea water evaporates, the vapour rises and condenses, and condensation releases heat. That released heat keeps the air rising and the storm growing.</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Key words (1 of 2)</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Pre-teach</a:t>
            </a:r>
            <a:endParaRPr lang="en-US" sz="1800" dirty="0"/>
          </a:p>
        </p:txBody>
      </p:sp>
      <p:sp>
        <p:nvSpPr>
          <p:cNvPr id="7" name="word-card"/>
          <p:cNvSpPr/>
          <p:nvPr/>
        </p:nvSpPr>
        <p:spPr>
          <a:xfrm>
            <a:off x="548640" y="1389888"/>
            <a:ext cx="3515258" cy="4754880"/>
          </a:xfrm>
          <a:prstGeom prst="roundRect">
            <a:avLst>
              <a:gd name="adj" fmla="val 1561"/>
            </a:avLst>
          </a:prstGeom>
          <a:solidFill>
            <a:srgbClr val="EAEFEB"/>
          </a:solidFill>
          <a:ln w="12700">
            <a:solidFill>
              <a:srgbClr val="ACBFB1"/>
            </a:solidFill>
            <a:prstDash val="solid"/>
          </a:ln>
        </p:spPr>
      </p:sp>
      <p:sp>
        <p:nvSpPr>
          <p:cNvPr id="8" name="word-hex"/>
          <p:cNvSpPr/>
          <p:nvPr/>
        </p:nvSpPr>
        <p:spPr>
          <a:xfrm>
            <a:off x="685800" y="1587414"/>
            <a:ext cx="502920" cy="435529"/>
          </a:xfrm>
          <a:prstGeom prst="hexagon">
            <a:avLst/>
          </a:prstGeom>
          <a:solidFill>
            <a:srgbClr val="B8862B"/>
          </a:solidFill>
          <a:ln/>
        </p:spPr>
      </p:sp>
      <p:sp>
        <p:nvSpPr>
          <p:cNvPr id="9" name="word-hex-label"/>
          <p:cNvSpPr txBox="1"/>
          <p:nvPr/>
        </p:nvSpPr>
        <p:spPr>
          <a:xfrm>
            <a:off x="685800"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0" name="word"/>
          <p:cNvSpPr txBox="1"/>
          <p:nvPr/>
        </p:nvSpPr>
        <p:spPr>
          <a:xfrm>
            <a:off x="1280160"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evaporation</a:t>
            </a:r>
            <a:endParaRPr lang="en-US" sz="2600" dirty="0"/>
          </a:p>
        </p:txBody>
      </p:sp>
      <p:sp>
        <p:nvSpPr>
          <p:cNvPr id="11" name="word-rule"/>
          <p:cNvSpPr/>
          <p:nvPr/>
        </p:nvSpPr>
        <p:spPr>
          <a:xfrm>
            <a:off x="731520" y="2129028"/>
            <a:ext cx="3149498" cy="0"/>
          </a:xfrm>
          <a:prstGeom prst="line">
            <a:avLst/>
          </a:prstGeom>
          <a:ln w="12700">
            <a:solidFill>
              <a:srgbClr val="ACBFB1"/>
            </a:solidFill>
            <a:prstDash val="solid"/>
          </a:ln>
        </p:spPr>
      </p:sp>
      <p:sp>
        <p:nvSpPr>
          <p:cNvPr id="12" name="word-body"/>
          <p:cNvSpPr txBox="1"/>
          <p:nvPr/>
        </p:nvSpPr>
        <p:spPr>
          <a:xfrm>
            <a:off x="731520"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water turning into water vapour</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Warm seas cause a lot of evaporation, which feeds the storm with moisture.</a:t>
            </a:r>
            <a:endParaRPr lang="en-US" sz="2200" dirty="0"/>
          </a:p>
        </p:txBody>
      </p:sp>
      <p:sp>
        <p:nvSpPr>
          <p:cNvPr id="13" name="word-card"/>
          <p:cNvSpPr/>
          <p:nvPr/>
        </p:nvSpPr>
        <p:spPr>
          <a:xfrm>
            <a:off x="4338218" y="1389888"/>
            <a:ext cx="3515258" cy="4754880"/>
          </a:xfrm>
          <a:prstGeom prst="roundRect">
            <a:avLst>
              <a:gd name="adj" fmla="val 1561"/>
            </a:avLst>
          </a:prstGeom>
          <a:solidFill>
            <a:srgbClr val="EAEFEB"/>
          </a:solidFill>
          <a:ln w="12700">
            <a:solidFill>
              <a:srgbClr val="ACBFB1"/>
            </a:solidFill>
            <a:prstDash val="solid"/>
          </a:ln>
        </p:spPr>
      </p:sp>
      <p:sp>
        <p:nvSpPr>
          <p:cNvPr id="14" name="word-hex"/>
          <p:cNvSpPr/>
          <p:nvPr/>
        </p:nvSpPr>
        <p:spPr>
          <a:xfrm>
            <a:off x="4475378" y="1587414"/>
            <a:ext cx="502920" cy="435529"/>
          </a:xfrm>
          <a:prstGeom prst="hexagon">
            <a:avLst/>
          </a:prstGeom>
          <a:solidFill>
            <a:srgbClr val="B8862B"/>
          </a:solidFill>
          <a:ln/>
        </p:spPr>
      </p:sp>
      <p:sp>
        <p:nvSpPr>
          <p:cNvPr id="15" name="word-hex-label"/>
          <p:cNvSpPr txBox="1"/>
          <p:nvPr/>
        </p:nvSpPr>
        <p:spPr>
          <a:xfrm>
            <a:off x="4475378"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6" name="word"/>
          <p:cNvSpPr txBox="1"/>
          <p:nvPr/>
        </p:nvSpPr>
        <p:spPr>
          <a:xfrm>
            <a:off x="5069738"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condensation</a:t>
            </a:r>
            <a:endParaRPr lang="en-US" sz="2600" dirty="0"/>
          </a:p>
        </p:txBody>
      </p:sp>
      <p:sp>
        <p:nvSpPr>
          <p:cNvPr id="17" name="word-rule"/>
          <p:cNvSpPr/>
          <p:nvPr/>
        </p:nvSpPr>
        <p:spPr>
          <a:xfrm>
            <a:off x="4521098" y="2129028"/>
            <a:ext cx="3149498" cy="0"/>
          </a:xfrm>
          <a:prstGeom prst="line">
            <a:avLst/>
          </a:prstGeom>
          <a:ln w="12700">
            <a:solidFill>
              <a:srgbClr val="ACBFB1"/>
            </a:solidFill>
            <a:prstDash val="solid"/>
          </a:ln>
        </p:spPr>
      </p:sp>
      <p:sp>
        <p:nvSpPr>
          <p:cNvPr id="18" name="word-body"/>
          <p:cNvSpPr txBox="1"/>
          <p:nvPr/>
        </p:nvSpPr>
        <p:spPr>
          <a:xfrm>
            <a:off x="4521098"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water vapour turning back into liquid water droplets</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Condensation in the rising air builds the storm clouds.</a:t>
            </a:r>
            <a:endParaRPr lang="en-US" sz="2200" dirty="0"/>
          </a:p>
        </p:txBody>
      </p:sp>
      <p:sp>
        <p:nvSpPr>
          <p:cNvPr id="19" name="word-card"/>
          <p:cNvSpPr/>
          <p:nvPr/>
        </p:nvSpPr>
        <p:spPr>
          <a:xfrm>
            <a:off x="8127797" y="1389888"/>
            <a:ext cx="3515258" cy="4754880"/>
          </a:xfrm>
          <a:prstGeom prst="roundRect">
            <a:avLst>
              <a:gd name="adj" fmla="val 1561"/>
            </a:avLst>
          </a:prstGeom>
          <a:solidFill>
            <a:srgbClr val="EAEFEB"/>
          </a:solidFill>
          <a:ln w="12700">
            <a:solidFill>
              <a:srgbClr val="ACBFB1"/>
            </a:solidFill>
            <a:prstDash val="solid"/>
          </a:ln>
        </p:spPr>
      </p:sp>
      <p:sp>
        <p:nvSpPr>
          <p:cNvPr id="20" name="word-hex"/>
          <p:cNvSpPr/>
          <p:nvPr/>
        </p:nvSpPr>
        <p:spPr>
          <a:xfrm>
            <a:off x="8264957" y="1587414"/>
            <a:ext cx="502920" cy="435529"/>
          </a:xfrm>
          <a:prstGeom prst="hexagon">
            <a:avLst/>
          </a:prstGeom>
          <a:solidFill>
            <a:srgbClr val="B8862B"/>
          </a:solidFill>
          <a:ln/>
        </p:spPr>
      </p:sp>
      <p:sp>
        <p:nvSpPr>
          <p:cNvPr id="21" name="word-hex-label"/>
          <p:cNvSpPr txBox="1"/>
          <p:nvPr/>
        </p:nvSpPr>
        <p:spPr>
          <a:xfrm>
            <a:off x="8264957"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2" name="word"/>
          <p:cNvSpPr txBox="1"/>
          <p:nvPr/>
        </p:nvSpPr>
        <p:spPr>
          <a:xfrm>
            <a:off x="8859317"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cumulonimbus</a:t>
            </a:r>
            <a:endParaRPr lang="en-US" sz="2600" dirty="0"/>
          </a:p>
        </p:txBody>
      </p:sp>
      <p:sp>
        <p:nvSpPr>
          <p:cNvPr id="23" name="word-rule"/>
          <p:cNvSpPr/>
          <p:nvPr/>
        </p:nvSpPr>
        <p:spPr>
          <a:xfrm>
            <a:off x="8310677" y="2129028"/>
            <a:ext cx="3149498" cy="0"/>
          </a:xfrm>
          <a:prstGeom prst="line">
            <a:avLst/>
          </a:prstGeom>
          <a:ln w="12700">
            <a:solidFill>
              <a:srgbClr val="ACBFB1"/>
            </a:solidFill>
            <a:prstDash val="solid"/>
          </a:ln>
        </p:spPr>
      </p:sp>
      <p:sp>
        <p:nvSpPr>
          <p:cNvPr id="24" name="word-body"/>
          <p:cNvSpPr txBox="1"/>
          <p:nvPr/>
        </p:nvSpPr>
        <p:spPr>
          <a:xfrm>
            <a:off x="8310677"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a towering storm cloud that brings heavy rain</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Cumulonimbus clouds tower more than 13 kilometres into the sky.</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Key words (2 of 2)</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Pre-teach</a:t>
            </a:r>
            <a:endParaRPr lang="en-US" sz="1800" dirty="0"/>
          </a:p>
        </p:txBody>
      </p:sp>
      <p:sp>
        <p:nvSpPr>
          <p:cNvPr id="7" name="word-card"/>
          <p:cNvSpPr/>
          <p:nvPr/>
        </p:nvSpPr>
        <p:spPr>
          <a:xfrm>
            <a:off x="548640" y="1389888"/>
            <a:ext cx="3515258" cy="4754880"/>
          </a:xfrm>
          <a:prstGeom prst="roundRect">
            <a:avLst>
              <a:gd name="adj" fmla="val 1561"/>
            </a:avLst>
          </a:prstGeom>
          <a:solidFill>
            <a:srgbClr val="EAEFEB"/>
          </a:solidFill>
          <a:ln w="12700">
            <a:solidFill>
              <a:srgbClr val="ACBFB1"/>
            </a:solidFill>
            <a:prstDash val="solid"/>
          </a:ln>
        </p:spPr>
      </p:sp>
      <p:sp>
        <p:nvSpPr>
          <p:cNvPr id="8" name="word-hex"/>
          <p:cNvSpPr/>
          <p:nvPr/>
        </p:nvSpPr>
        <p:spPr>
          <a:xfrm>
            <a:off x="685800" y="1587414"/>
            <a:ext cx="502920" cy="435529"/>
          </a:xfrm>
          <a:prstGeom prst="hexagon">
            <a:avLst/>
          </a:prstGeom>
          <a:solidFill>
            <a:srgbClr val="B8862B"/>
          </a:solidFill>
          <a:ln/>
        </p:spPr>
      </p:sp>
      <p:sp>
        <p:nvSpPr>
          <p:cNvPr id="9" name="word-hex-label"/>
          <p:cNvSpPr txBox="1"/>
          <p:nvPr/>
        </p:nvSpPr>
        <p:spPr>
          <a:xfrm>
            <a:off x="685800"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10" name="word"/>
          <p:cNvSpPr txBox="1"/>
          <p:nvPr/>
        </p:nvSpPr>
        <p:spPr>
          <a:xfrm>
            <a:off x="1280160"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eye</a:t>
            </a:r>
            <a:endParaRPr lang="en-US" sz="2600" dirty="0"/>
          </a:p>
        </p:txBody>
      </p:sp>
      <p:sp>
        <p:nvSpPr>
          <p:cNvPr id="11" name="word-rule"/>
          <p:cNvSpPr/>
          <p:nvPr/>
        </p:nvSpPr>
        <p:spPr>
          <a:xfrm>
            <a:off x="731520" y="2129028"/>
            <a:ext cx="3149498" cy="0"/>
          </a:xfrm>
          <a:prstGeom prst="line">
            <a:avLst/>
          </a:prstGeom>
          <a:ln w="12700">
            <a:solidFill>
              <a:srgbClr val="ACBFB1"/>
            </a:solidFill>
            <a:prstDash val="solid"/>
          </a:ln>
        </p:spPr>
      </p:sp>
      <p:sp>
        <p:nvSpPr>
          <p:cNvPr id="12" name="word-body"/>
          <p:cNvSpPr txBox="1"/>
          <p:nvPr/>
        </p:nvSpPr>
        <p:spPr>
          <a:xfrm>
            <a:off x="731520"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the calm, clear centre of a tropical storm</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In the eye the wind drops and the Sun comes out.</a:t>
            </a:r>
            <a:endParaRPr lang="en-US" sz="2200" dirty="0"/>
          </a:p>
        </p:txBody>
      </p:sp>
      <p:sp>
        <p:nvSpPr>
          <p:cNvPr id="13" name="word-card"/>
          <p:cNvSpPr/>
          <p:nvPr/>
        </p:nvSpPr>
        <p:spPr>
          <a:xfrm>
            <a:off x="4338218" y="1389888"/>
            <a:ext cx="3515258" cy="4754880"/>
          </a:xfrm>
          <a:prstGeom prst="roundRect">
            <a:avLst>
              <a:gd name="adj" fmla="val 1561"/>
            </a:avLst>
          </a:prstGeom>
          <a:solidFill>
            <a:srgbClr val="EAEFEB"/>
          </a:solidFill>
          <a:ln w="12700">
            <a:solidFill>
              <a:srgbClr val="ACBFB1"/>
            </a:solidFill>
            <a:prstDash val="solid"/>
          </a:ln>
        </p:spPr>
      </p:sp>
      <p:sp>
        <p:nvSpPr>
          <p:cNvPr id="14" name="word-hex"/>
          <p:cNvSpPr/>
          <p:nvPr/>
        </p:nvSpPr>
        <p:spPr>
          <a:xfrm>
            <a:off x="4475378" y="1587414"/>
            <a:ext cx="502920" cy="435529"/>
          </a:xfrm>
          <a:prstGeom prst="hexagon">
            <a:avLst/>
          </a:prstGeom>
          <a:solidFill>
            <a:srgbClr val="B8862B"/>
          </a:solidFill>
          <a:ln/>
        </p:spPr>
      </p:sp>
      <p:sp>
        <p:nvSpPr>
          <p:cNvPr id="15" name="word-hex-label"/>
          <p:cNvSpPr txBox="1"/>
          <p:nvPr/>
        </p:nvSpPr>
        <p:spPr>
          <a:xfrm>
            <a:off x="4475378"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5</a:t>
            </a:r>
            <a:endParaRPr lang="en-US" sz="1800" dirty="0"/>
          </a:p>
        </p:txBody>
      </p:sp>
      <p:sp>
        <p:nvSpPr>
          <p:cNvPr id="16" name="word"/>
          <p:cNvSpPr txBox="1"/>
          <p:nvPr/>
        </p:nvSpPr>
        <p:spPr>
          <a:xfrm>
            <a:off x="5069738"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Coriolis effect</a:t>
            </a:r>
            <a:endParaRPr lang="en-US" sz="2600" dirty="0"/>
          </a:p>
        </p:txBody>
      </p:sp>
      <p:sp>
        <p:nvSpPr>
          <p:cNvPr id="17" name="word-rule"/>
          <p:cNvSpPr/>
          <p:nvPr/>
        </p:nvSpPr>
        <p:spPr>
          <a:xfrm>
            <a:off x="4521098" y="2129028"/>
            <a:ext cx="3149498" cy="0"/>
          </a:xfrm>
          <a:prstGeom prst="line">
            <a:avLst/>
          </a:prstGeom>
          <a:ln w="12700">
            <a:solidFill>
              <a:srgbClr val="ACBFB1"/>
            </a:solidFill>
            <a:prstDash val="solid"/>
          </a:ln>
        </p:spPr>
      </p:sp>
      <p:sp>
        <p:nvSpPr>
          <p:cNvPr id="18" name="word-body"/>
          <p:cNvSpPr txBox="1"/>
          <p:nvPr/>
        </p:nvSpPr>
        <p:spPr>
          <a:xfrm>
            <a:off x="4521098"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the bending of winds caused by the spin of the Earth</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The Coriolis effect makes the storm rotate.</a:t>
            </a:r>
            <a:endParaRPr lang="en-US" sz="2200" dirty="0"/>
          </a:p>
        </p:txBody>
      </p:sp>
      <p:sp>
        <p:nvSpPr>
          <p:cNvPr id="19" name="word-card"/>
          <p:cNvSpPr/>
          <p:nvPr/>
        </p:nvSpPr>
        <p:spPr>
          <a:xfrm>
            <a:off x="8127797" y="1389888"/>
            <a:ext cx="3515258" cy="4754880"/>
          </a:xfrm>
          <a:prstGeom prst="roundRect">
            <a:avLst>
              <a:gd name="adj" fmla="val 1561"/>
            </a:avLst>
          </a:prstGeom>
          <a:solidFill>
            <a:srgbClr val="EAEFEB"/>
          </a:solidFill>
          <a:ln w="12700">
            <a:solidFill>
              <a:srgbClr val="ACBFB1"/>
            </a:solidFill>
            <a:prstDash val="solid"/>
          </a:ln>
        </p:spPr>
      </p:sp>
      <p:sp>
        <p:nvSpPr>
          <p:cNvPr id="20" name="word-hex"/>
          <p:cNvSpPr/>
          <p:nvPr/>
        </p:nvSpPr>
        <p:spPr>
          <a:xfrm>
            <a:off x="8264957" y="1587414"/>
            <a:ext cx="502920" cy="435529"/>
          </a:xfrm>
          <a:prstGeom prst="hexagon">
            <a:avLst/>
          </a:prstGeom>
          <a:solidFill>
            <a:srgbClr val="B8862B"/>
          </a:solidFill>
          <a:ln/>
        </p:spPr>
      </p:sp>
      <p:sp>
        <p:nvSpPr>
          <p:cNvPr id="21" name="word-hex-label"/>
          <p:cNvSpPr txBox="1"/>
          <p:nvPr/>
        </p:nvSpPr>
        <p:spPr>
          <a:xfrm>
            <a:off x="8264957"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6</a:t>
            </a:r>
            <a:endParaRPr lang="en-US" sz="1800" dirty="0"/>
          </a:p>
        </p:txBody>
      </p:sp>
      <p:sp>
        <p:nvSpPr>
          <p:cNvPr id="22" name="word"/>
          <p:cNvSpPr txBox="1"/>
          <p:nvPr/>
        </p:nvSpPr>
        <p:spPr>
          <a:xfrm>
            <a:off x="8859317"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landfall</a:t>
            </a:r>
            <a:endParaRPr lang="en-US" sz="2600" dirty="0"/>
          </a:p>
        </p:txBody>
      </p:sp>
      <p:sp>
        <p:nvSpPr>
          <p:cNvPr id="23" name="word-rule"/>
          <p:cNvSpPr/>
          <p:nvPr/>
        </p:nvSpPr>
        <p:spPr>
          <a:xfrm>
            <a:off x="8310677" y="2129028"/>
            <a:ext cx="3149498" cy="0"/>
          </a:xfrm>
          <a:prstGeom prst="line">
            <a:avLst/>
          </a:prstGeom>
          <a:ln w="12700">
            <a:solidFill>
              <a:srgbClr val="ACBFB1"/>
            </a:solidFill>
            <a:prstDash val="solid"/>
          </a:ln>
        </p:spPr>
      </p:sp>
      <p:sp>
        <p:nvSpPr>
          <p:cNvPr id="24" name="word-body"/>
          <p:cNvSpPr txBox="1"/>
          <p:nvPr/>
        </p:nvSpPr>
        <p:spPr>
          <a:xfrm>
            <a:off x="8310677"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the moment a storm moves from the sea onto the land</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After landfall the storm loses its supply of warm water and weakens.</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Read-along (1 of 2)</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3F6B4A"/>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ECF0ED"/>
          </a:solidFill>
          <a:ln w="12700">
            <a:solidFill>
              <a:srgbClr val="C0CEC3"/>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1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A tropical storm begins over a warm ocean.</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2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The sea heats the air above it, and water evaporates.</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3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The warm, moist air rises fast, making low pressure.</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4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Air rushes in from all around to fill the gap.</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5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This makes strong winds.</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6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The spin of the Earth bends the winds, so the storm starts to rotate.</a:t>
            </a:r>
            <a:endParaRPr lang="en-US" sz="26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Read-along (2 of 2)</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3F6B4A"/>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ECF0ED"/>
          </a:solidFill>
          <a:ln w="12700">
            <a:solidFill>
              <a:srgbClr val="C0CEC3"/>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7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The rising air cools, and water vapour condenses into huge clouds.</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8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Condensing water gives out heat, and that heat powers the storm.</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9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In the middle, cold air sinks and forms a calm, clear </a:t>
            </a:r>
            <a:pPr algn="l" indent="0" marL="0">
              <a:spcAft>
                <a:spcPts val="600"/>
              </a:spcAft>
              <a:buNone/>
            </a:pPr>
            <a:r>
              <a:rPr lang="en-US" sz="2600" b="1" dirty="0">
                <a:solidFill>
                  <a:srgbClr val="3F6B4A"/>
                </a:solidFill>
                <a:latin typeface="Calibri" pitchFamily="34" charset="0"/>
                <a:ea typeface="Calibri" pitchFamily="34" charset="-122"/>
                <a:cs typeface="Calibri" pitchFamily="34" charset="-120"/>
              </a:rPr>
              <a:t>eye</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10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The storm drifts across the ocean on the prevailing wind.</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11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When it reaches land it loses its fuel and dies away.</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12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A storm can be more than 300 kilometres across.</a:t>
            </a:r>
            <a:endParaRPr lang="en-US" sz="26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Eight steps to a storm</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071364"/>
            <a:ext cx="11094415" cy="1073404"/>
          </a:xfrm>
          <a:prstGeom prst="roundRect">
            <a:avLst>
              <a:gd name="adj" fmla="val 12778"/>
            </a:avLst>
          </a:prstGeom>
          <a:solidFill>
            <a:srgbClr val="F2E9D9"/>
          </a:solidFill>
          <a:ln w="15875">
            <a:solidFill>
              <a:srgbClr val="B8862B"/>
            </a:solidFill>
            <a:prstDash val="solid"/>
          </a:ln>
        </p:spPr>
      </p:sp>
      <p:sp>
        <p:nvSpPr>
          <p:cNvPr id="8" name="tip-hex"/>
          <p:cNvSpPr/>
          <p:nvPr/>
        </p:nvSpPr>
        <p:spPr>
          <a:xfrm>
            <a:off x="685800" y="5410098"/>
            <a:ext cx="457200" cy="395935"/>
          </a:xfrm>
          <a:prstGeom prst="hexagon">
            <a:avLst/>
          </a:prstGeom>
          <a:solidFill>
            <a:srgbClr val="B8862B"/>
          </a:solidFill>
          <a:ln/>
        </p:spPr>
      </p:sp>
      <p:sp>
        <p:nvSpPr>
          <p:cNvPr id="9" name="tip-hex-label"/>
          <p:cNvSpPr txBox="1"/>
          <p:nvPr/>
        </p:nvSpPr>
        <p:spPr>
          <a:xfrm>
            <a:off x="685800" y="5410098"/>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126228"/>
            <a:ext cx="10225735" cy="963676"/>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Learn the sequence as a chain of causes: warm sea makes evaporation; evaporation makes rising air; rising air makes low pressure; low pressure pulls in wind; the Earth's spin makes it rotate; condensation releases the heat that powers it.</a:t>
            </a:r>
            <a:endParaRPr lang="en-US" sz="1800" dirty="0"/>
          </a:p>
        </p:txBody>
      </p:sp>
      <p:sp>
        <p:nvSpPr>
          <p:cNvPr id="11" name="point-card"/>
          <p:cNvSpPr/>
          <p:nvPr/>
        </p:nvSpPr>
        <p:spPr>
          <a:xfrm>
            <a:off x="548640" y="1389888"/>
            <a:ext cx="3515258" cy="3407156"/>
          </a:xfrm>
          <a:prstGeom prst="roundRect">
            <a:avLst>
              <a:gd name="adj" fmla="val 1610"/>
            </a:avLst>
          </a:prstGeom>
          <a:solidFill>
            <a:srgbClr val="E6ECE7"/>
          </a:solidFill>
          <a:ln/>
        </p:spPr>
      </p:sp>
      <p:sp>
        <p:nvSpPr>
          <p:cNvPr id="12" name="point-hex"/>
          <p:cNvSpPr/>
          <p:nvPr/>
        </p:nvSpPr>
        <p:spPr>
          <a:xfrm>
            <a:off x="731520" y="1572768"/>
            <a:ext cx="685800" cy="593903"/>
          </a:xfrm>
          <a:prstGeom prst="hexagon">
            <a:avLst/>
          </a:prstGeom>
          <a:solidFill>
            <a:srgbClr val="3F6B4A"/>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309876"/>
          </a:xfrm>
          <a:prstGeom prst="rect">
            <a:avLst/>
          </a:prstGeom>
          <a:noFill/>
          <a:ln/>
        </p:spPr>
        <p:txBody>
          <a:bodyPr wrap="square" lIns="63500" tIns="63500" rIns="63500" bIns="63500" rtlCol="0" anchor="t"/>
          <a:lstStyle/>
          <a:p>
            <a:pPr algn="l" indent="0" marL="0">
              <a:buNone/>
            </a:pPr>
            <a:r>
              <a:rPr lang="en-US" sz="2000" dirty="0">
                <a:solidFill>
                  <a:srgbClr val="1E2229"/>
                </a:solidFill>
                <a:latin typeface="Calibri" pitchFamily="34" charset="0"/>
                <a:ea typeface="Calibri" pitchFamily="34" charset="-122"/>
                <a:cs typeface="Calibri" pitchFamily="34" charset="-120"/>
              </a:rPr>
              <a:t>In class you sorted eight statements into the sequence that explains how a tropical storm forms.</a:t>
            </a:r>
            <a:endParaRPr lang="en-US" sz="2000" dirty="0"/>
          </a:p>
        </p:txBody>
      </p:sp>
      <p:sp>
        <p:nvSpPr>
          <p:cNvPr id="15" name="point-card"/>
          <p:cNvSpPr/>
          <p:nvPr/>
        </p:nvSpPr>
        <p:spPr>
          <a:xfrm>
            <a:off x="4338218" y="1389888"/>
            <a:ext cx="3515258" cy="3407156"/>
          </a:xfrm>
          <a:prstGeom prst="roundRect">
            <a:avLst>
              <a:gd name="adj" fmla="val 1610"/>
            </a:avLst>
          </a:prstGeom>
          <a:solidFill>
            <a:srgbClr val="F4EDDF"/>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309876"/>
          </a:xfrm>
          <a:prstGeom prst="rect">
            <a:avLst/>
          </a:prstGeom>
          <a:noFill/>
          <a:ln/>
        </p:spPr>
        <p:txBody>
          <a:bodyPr wrap="square" lIns="63500" tIns="63500" rIns="63500" bIns="63500" rtlCol="0" anchor="t"/>
          <a:lstStyle/>
          <a:p>
            <a:pPr algn="l" indent="0" marL="0">
              <a:buNone/>
            </a:pPr>
            <a:r>
              <a:rPr lang="en-US" sz="2000" dirty="0">
                <a:solidFill>
                  <a:srgbClr val="1E2229"/>
                </a:solidFill>
                <a:latin typeface="Calibri" pitchFamily="34" charset="0"/>
                <a:ea typeface="Calibri" pitchFamily="34" charset="-122"/>
                <a:cs typeface="Calibri" pitchFamily="34" charset="-120"/>
              </a:rPr>
              <a:t>Step four: the Coriolis effect, caused by the spin of the Earth, bends the inrushing winds so that they spiral upwards and around the low-pressure centre.</a:t>
            </a:r>
            <a:endParaRPr lang="en-US" sz="2000" dirty="0"/>
          </a:p>
        </p:txBody>
      </p:sp>
      <p:sp>
        <p:nvSpPr>
          <p:cNvPr id="19" name="point-card"/>
          <p:cNvSpPr/>
          <p:nvPr/>
        </p:nvSpPr>
        <p:spPr>
          <a:xfrm>
            <a:off x="8127797" y="1389888"/>
            <a:ext cx="3515258" cy="3407156"/>
          </a:xfrm>
          <a:prstGeom prst="roundRect">
            <a:avLst>
              <a:gd name="adj" fmla="val 1610"/>
            </a:avLst>
          </a:prstGeom>
          <a:solidFill>
            <a:srgbClr val="E6ECE7"/>
          </a:solidFill>
          <a:ln/>
        </p:spPr>
      </p:sp>
      <p:sp>
        <p:nvSpPr>
          <p:cNvPr id="20" name="point-hex"/>
          <p:cNvSpPr/>
          <p:nvPr/>
        </p:nvSpPr>
        <p:spPr>
          <a:xfrm>
            <a:off x="8310677" y="1572768"/>
            <a:ext cx="685800" cy="593903"/>
          </a:xfrm>
          <a:prstGeom prst="hexagon">
            <a:avLst/>
          </a:prstGeom>
          <a:solidFill>
            <a:srgbClr val="3F6B4A"/>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309876"/>
          </a:xfrm>
          <a:prstGeom prst="rect">
            <a:avLst/>
          </a:prstGeom>
          <a:noFill/>
          <a:ln/>
        </p:spPr>
        <p:txBody>
          <a:bodyPr wrap="square" lIns="63500" tIns="63500" rIns="63500" bIns="63500" rtlCol="0" anchor="t"/>
          <a:lstStyle/>
          <a:p>
            <a:pPr algn="l" indent="0" marL="0">
              <a:buNone/>
            </a:pPr>
            <a:r>
              <a:rPr lang="en-US" sz="2000" dirty="0">
                <a:solidFill>
                  <a:srgbClr val="1E2229"/>
                </a:solidFill>
                <a:latin typeface="Calibri" pitchFamily="34" charset="0"/>
                <a:ea typeface="Calibri" pitchFamily="34" charset="-122"/>
                <a:cs typeface="Calibri" pitchFamily="34" charset="-120"/>
              </a:rPr>
              <a:t>Step seven: the whole storm travels slowly across the ocean in the direction of the prevailing wind, usually westwards, picking up more moisture as it goes.</a:t>
            </a:r>
            <a:endParaRPr lang="en-US" sz="2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Inside the storm: the cross-section</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4792472"/>
            <a:ext cx="5074920" cy="1352296"/>
          </a:xfrm>
          <a:prstGeom prst="roundRect">
            <a:avLst>
              <a:gd name="adj" fmla="val 10143"/>
            </a:avLst>
          </a:prstGeom>
          <a:solidFill>
            <a:srgbClr val="F2E9D9"/>
          </a:solidFill>
          <a:ln w="15875">
            <a:solidFill>
              <a:srgbClr val="B8862B"/>
            </a:solidFill>
            <a:prstDash val="solid"/>
          </a:ln>
        </p:spPr>
      </p:sp>
      <p:sp>
        <p:nvSpPr>
          <p:cNvPr id="8" name="tip-hex"/>
          <p:cNvSpPr/>
          <p:nvPr/>
        </p:nvSpPr>
        <p:spPr>
          <a:xfrm>
            <a:off x="685800" y="5270652"/>
            <a:ext cx="457200" cy="395935"/>
          </a:xfrm>
          <a:prstGeom prst="hexagon">
            <a:avLst/>
          </a:prstGeom>
          <a:solidFill>
            <a:srgbClr val="B8862B"/>
          </a:solidFill>
          <a:ln/>
        </p:spPr>
      </p:sp>
      <p:sp>
        <p:nvSpPr>
          <p:cNvPr id="9" name="tip-hex-label"/>
          <p:cNvSpPr txBox="1"/>
          <p:nvPr/>
        </p:nvSpPr>
        <p:spPr>
          <a:xfrm>
            <a:off x="685800" y="5270652"/>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4847336"/>
            <a:ext cx="4206240" cy="1242568"/>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Learn four numbers: eye 16 to 48 km across, storm 240 to 320 km across, cloud more than 13 km high, movement 16 to 24 km/h.</a:t>
            </a:r>
            <a:endParaRPr lang="en-US" sz="1800" dirty="0"/>
          </a:p>
        </p:txBody>
      </p:sp>
      <p:sp>
        <p:nvSpPr>
          <p:cNvPr id="11" name="worked-panel"/>
          <p:cNvSpPr/>
          <p:nvPr/>
        </p:nvSpPr>
        <p:spPr>
          <a:xfrm>
            <a:off x="5989320" y="1389888"/>
            <a:ext cx="5653735" cy="4754880"/>
          </a:xfrm>
          <a:prstGeom prst="roundRect">
            <a:avLst>
              <a:gd name="adj" fmla="val 962"/>
            </a:avLst>
          </a:prstGeom>
          <a:solidFill>
            <a:srgbClr val="FFFFFF"/>
          </a:solidFill>
          <a:ln w="15875">
            <a:solidFill>
              <a:srgbClr val="99B19F"/>
            </a:solidFill>
            <a:prstDash val="solid"/>
          </a:ln>
        </p:spPr>
      </p:sp>
      <p:sp>
        <p:nvSpPr>
          <p:cNvPr id="12" name="worked-tab"/>
          <p:cNvSpPr/>
          <p:nvPr/>
        </p:nvSpPr>
        <p:spPr>
          <a:xfrm>
            <a:off x="6126480" y="1499616"/>
            <a:ext cx="2377440" cy="457200"/>
          </a:xfrm>
          <a:prstGeom prst="roundRect">
            <a:avLst>
              <a:gd name="adj" fmla="val 40000"/>
            </a:avLst>
          </a:prstGeom>
          <a:solidFill>
            <a:srgbClr val="3F6B4A"/>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Worked example</a:t>
            </a:r>
            <a:endParaRPr lang="en-US" sz="1800" dirty="0"/>
          </a:p>
        </p:txBody>
      </p:sp>
      <p:sp>
        <p:nvSpPr>
          <p:cNvPr id="13" name="worked-q"/>
          <p:cNvSpPr txBox="1"/>
          <p:nvPr/>
        </p:nvSpPr>
        <p:spPr>
          <a:xfrm>
            <a:off x="6126480" y="2066544"/>
            <a:ext cx="5379415" cy="963676"/>
          </a:xfrm>
          <a:prstGeom prst="rect">
            <a:avLst/>
          </a:prstGeom>
          <a:noFill/>
          <a:ln/>
        </p:spPr>
        <p:txBody>
          <a:bodyPr wrap="square" lIns="63500" tIns="63500" rIns="63500" bIns="63500" rtlCol="0" anchor="t"/>
          <a:lstStyle/>
          <a:p>
            <a:pPr algn="l" indent="0" marL="0">
              <a:buNone/>
            </a:pPr>
            <a:r>
              <a:rPr lang="en-US" sz="1800" b="1" dirty="0">
                <a:solidFill>
                  <a:srgbClr val="1E2229"/>
                </a:solidFill>
                <a:latin typeface="Calibri" pitchFamily="34" charset="0"/>
                <a:ea typeface="Calibri" pitchFamily="34" charset="-122"/>
                <a:cs typeface="Calibri" pitchFamily="34" charset="-120"/>
              </a:rPr>
              <a:t>A tropical storm is moving at 24 kilometres per hour, the top of the usual range. How far will it travel in 10 hours?</a:t>
            </a:r>
            <a:endParaRPr lang="en-US" sz="1800" dirty="0"/>
          </a:p>
        </p:txBody>
      </p:sp>
      <p:sp>
        <p:nvSpPr>
          <p:cNvPr id="14" name="step-box"/>
          <p:cNvSpPr/>
          <p:nvPr/>
        </p:nvSpPr>
        <p:spPr>
          <a:xfrm>
            <a:off x="6126480" y="3167380"/>
            <a:ext cx="5379415" cy="523748"/>
          </a:xfrm>
          <a:prstGeom prst="roundRect">
            <a:avLst>
              <a:gd name="adj" fmla="val 17459"/>
            </a:avLst>
          </a:prstGeom>
          <a:solidFill>
            <a:srgbClr val="E6ECE7"/>
          </a:solidFill>
          <a:ln/>
        </p:spPr>
      </p:sp>
      <p:sp>
        <p:nvSpPr>
          <p:cNvPr id="15" name="step-hex"/>
          <p:cNvSpPr/>
          <p:nvPr/>
        </p:nvSpPr>
        <p:spPr>
          <a:xfrm>
            <a:off x="6217920" y="3247124"/>
            <a:ext cx="420624" cy="364260"/>
          </a:xfrm>
          <a:prstGeom prst="hexagon">
            <a:avLst/>
          </a:prstGeom>
          <a:solidFill>
            <a:srgbClr val="3F6B4A"/>
          </a:solidFill>
          <a:ln/>
        </p:spPr>
      </p:sp>
      <p:sp>
        <p:nvSpPr>
          <p:cNvPr id="16" name="step-hex-label"/>
          <p:cNvSpPr txBox="1"/>
          <p:nvPr/>
        </p:nvSpPr>
        <p:spPr>
          <a:xfrm>
            <a:off x="6217920" y="3247124"/>
            <a:ext cx="420624" cy="3642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7" name="step"/>
          <p:cNvSpPr txBox="1"/>
          <p:nvPr/>
        </p:nvSpPr>
        <p:spPr>
          <a:xfrm>
            <a:off x="6766560" y="3167380"/>
            <a:ext cx="4739335" cy="523748"/>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Distance = speed × time.</a:t>
            </a:r>
            <a:endParaRPr lang="en-US" sz="1800" dirty="0"/>
          </a:p>
        </p:txBody>
      </p:sp>
      <p:sp>
        <p:nvSpPr>
          <p:cNvPr id="18" name="step-box"/>
          <p:cNvSpPr/>
          <p:nvPr/>
        </p:nvSpPr>
        <p:spPr>
          <a:xfrm>
            <a:off x="6126480" y="3782568"/>
            <a:ext cx="5379415" cy="523748"/>
          </a:xfrm>
          <a:prstGeom prst="roundRect">
            <a:avLst>
              <a:gd name="adj" fmla="val 17459"/>
            </a:avLst>
          </a:prstGeom>
          <a:solidFill>
            <a:srgbClr val="E6ECE7"/>
          </a:solidFill>
          <a:ln/>
        </p:spPr>
      </p:sp>
      <p:sp>
        <p:nvSpPr>
          <p:cNvPr id="19" name="step-hex"/>
          <p:cNvSpPr/>
          <p:nvPr/>
        </p:nvSpPr>
        <p:spPr>
          <a:xfrm>
            <a:off x="6217920" y="3862312"/>
            <a:ext cx="420624" cy="364260"/>
          </a:xfrm>
          <a:prstGeom prst="hexagon">
            <a:avLst/>
          </a:prstGeom>
          <a:solidFill>
            <a:srgbClr val="3F6B4A"/>
          </a:solidFill>
          <a:ln/>
        </p:spPr>
      </p:sp>
      <p:sp>
        <p:nvSpPr>
          <p:cNvPr id="20" name="step-hex-label"/>
          <p:cNvSpPr txBox="1"/>
          <p:nvPr/>
        </p:nvSpPr>
        <p:spPr>
          <a:xfrm>
            <a:off x="6217920" y="3862312"/>
            <a:ext cx="420624" cy="3642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1" name="step"/>
          <p:cNvSpPr txBox="1"/>
          <p:nvPr/>
        </p:nvSpPr>
        <p:spPr>
          <a:xfrm>
            <a:off x="6766560" y="3782568"/>
            <a:ext cx="4739335" cy="523748"/>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24 km/h × 10 h = 240 km.</a:t>
            </a:r>
            <a:endParaRPr lang="en-US" sz="1800" dirty="0"/>
          </a:p>
        </p:txBody>
      </p:sp>
      <p:sp>
        <p:nvSpPr>
          <p:cNvPr id="22" name="step-box"/>
          <p:cNvSpPr/>
          <p:nvPr/>
        </p:nvSpPr>
        <p:spPr>
          <a:xfrm>
            <a:off x="6126480" y="4397756"/>
            <a:ext cx="5379415" cy="1030224"/>
          </a:xfrm>
          <a:prstGeom prst="roundRect">
            <a:avLst>
              <a:gd name="adj" fmla="val 8876"/>
            </a:avLst>
          </a:prstGeom>
          <a:solidFill>
            <a:srgbClr val="E6ECE7"/>
          </a:solidFill>
          <a:ln/>
        </p:spPr>
      </p:sp>
      <p:sp>
        <p:nvSpPr>
          <p:cNvPr id="23" name="step-hex"/>
          <p:cNvSpPr/>
          <p:nvPr/>
        </p:nvSpPr>
        <p:spPr>
          <a:xfrm>
            <a:off x="6217920" y="4730738"/>
            <a:ext cx="420624" cy="364260"/>
          </a:xfrm>
          <a:prstGeom prst="hexagon">
            <a:avLst/>
          </a:prstGeom>
          <a:solidFill>
            <a:srgbClr val="3F6B4A"/>
          </a:solidFill>
          <a:ln/>
        </p:spPr>
      </p:sp>
      <p:sp>
        <p:nvSpPr>
          <p:cNvPr id="24" name="step-hex-label"/>
          <p:cNvSpPr txBox="1"/>
          <p:nvPr/>
        </p:nvSpPr>
        <p:spPr>
          <a:xfrm>
            <a:off x="6217920" y="4730738"/>
            <a:ext cx="420624" cy="3642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step"/>
          <p:cNvSpPr txBox="1"/>
          <p:nvPr/>
        </p:nvSpPr>
        <p:spPr>
          <a:xfrm>
            <a:off x="6766560" y="4397756"/>
            <a:ext cx="4739335" cy="1030224"/>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Check the sense: 240 km is about the width of a whole storm, so in ten hours the storm has moved roughly its own width.</a:t>
            </a:r>
            <a:endParaRPr lang="en-US" sz="1800" dirty="0"/>
          </a:p>
        </p:txBody>
      </p:sp>
      <p:sp>
        <p:nvSpPr>
          <p:cNvPr id="26" name="worked-answer"/>
          <p:cNvSpPr/>
          <p:nvPr/>
        </p:nvSpPr>
        <p:spPr>
          <a:xfrm>
            <a:off x="6126480" y="5565140"/>
            <a:ext cx="5379415" cy="552196"/>
          </a:xfrm>
          <a:prstGeom prst="roundRect">
            <a:avLst>
              <a:gd name="adj" fmla="val 33119"/>
            </a:avLst>
          </a:prstGeom>
          <a:solidFill>
            <a:srgbClr val="EBDDC4"/>
          </a:solidFill>
          <a:ln w="19050">
            <a:solidFill>
              <a:srgbClr val="B8862B"/>
            </a:solid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Answer  </a:t>
            </a:r>
            <a:pPr algn="l" indent="0" marL="0">
              <a:buNone/>
            </a:pPr>
            <a:r>
              <a:rPr lang="en-US" sz="1800" b="1" dirty="0">
                <a:solidFill>
                  <a:srgbClr val="1E2229"/>
                </a:solidFill>
                <a:latin typeface="Calibri" pitchFamily="34" charset="0"/>
                <a:ea typeface="Calibri" pitchFamily="34" charset="-122"/>
                <a:cs typeface="Calibri" pitchFamily="34" charset="-120"/>
              </a:rPr>
              <a:t>240 km</a:t>
            </a:r>
            <a:endParaRPr lang="en-US" sz="1800" dirty="0"/>
          </a:p>
        </p:txBody>
      </p:sp>
      <p:sp>
        <p:nvSpPr>
          <p:cNvPr id="27" name="bullet-card"/>
          <p:cNvSpPr/>
          <p:nvPr/>
        </p:nvSpPr>
        <p:spPr>
          <a:xfrm>
            <a:off x="548640" y="1389888"/>
            <a:ext cx="5074920" cy="1320546"/>
          </a:xfrm>
          <a:prstGeom prst="roundRect">
            <a:avLst>
              <a:gd name="adj" fmla="val 5540"/>
            </a:avLst>
          </a:prstGeom>
          <a:solidFill>
            <a:srgbClr val="EAEFEB"/>
          </a:solidFill>
          <a:ln/>
        </p:spPr>
      </p:sp>
      <p:sp>
        <p:nvSpPr>
          <p:cNvPr id="28" name="bullet-hex"/>
          <p:cNvSpPr/>
          <p:nvPr/>
        </p:nvSpPr>
        <p:spPr>
          <a:xfrm>
            <a:off x="676656" y="1883868"/>
            <a:ext cx="384048" cy="332586"/>
          </a:xfrm>
          <a:prstGeom prst="hexagon">
            <a:avLst/>
          </a:prstGeom>
          <a:solidFill>
            <a:srgbClr val="3F6B4A"/>
          </a:solidFill>
          <a:ln/>
        </p:spPr>
      </p:sp>
      <p:sp>
        <p:nvSpPr>
          <p:cNvPr id="29" name="bullet"/>
          <p:cNvSpPr txBox="1"/>
          <p:nvPr/>
        </p:nvSpPr>
        <p:spPr>
          <a:xfrm>
            <a:off x="1143000" y="1389888"/>
            <a:ext cx="4389120" cy="1320546"/>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A cross-section of a tropical storm is a slice through it from side to side.</a:t>
            </a:r>
            <a:endParaRPr lang="en-US" sz="2200" dirty="0"/>
          </a:p>
        </p:txBody>
      </p:sp>
      <p:sp>
        <p:nvSpPr>
          <p:cNvPr id="30" name="bullet-card"/>
          <p:cNvSpPr/>
          <p:nvPr/>
        </p:nvSpPr>
        <p:spPr>
          <a:xfrm>
            <a:off x="548640" y="2856738"/>
            <a:ext cx="5074920" cy="1661414"/>
          </a:xfrm>
          <a:prstGeom prst="roundRect">
            <a:avLst>
              <a:gd name="adj" fmla="val 4403"/>
            </a:avLst>
          </a:prstGeom>
          <a:solidFill>
            <a:srgbClr val="EAEFEB"/>
          </a:solidFill>
          <a:ln/>
        </p:spPr>
      </p:sp>
      <p:sp>
        <p:nvSpPr>
          <p:cNvPr id="31" name="bullet-hex"/>
          <p:cNvSpPr/>
          <p:nvPr/>
        </p:nvSpPr>
        <p:spPr>
          <a:xfrm>
            <a:off x="676656" y="3521152"/>
            <a:ext cx="384048" cy="332586"/>
          </a:xfrm>
          <a:prstGeom prst="hexagon">
            <a:avLst/>
          </a:prstGeom>
          <a:solidFill>
            <a:srgbClr val="B8862B"/>
          </a:solidFill>
          <a:ln/>
        </p:spPr>
      </p:sp>
      <p:sp>
        <p:nvSpPr>
          <p:cNvPr id="32" name="bullet"/>
          <p:cNvSpPr txBox="1"/>
          <p:nvPr/>
        </p:nvSpPr>
        <p:spPr>
          <a:xfrm>
            <a:off x="1143000" y="2856738"/>
            <a:ext cx="4389120" cy="1661414"/>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At the surface the winds spiral in anticlockwise (in the northern hemisphere) towards the low pressure of the eye.</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Living through the passage of a storm</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2E9D9"/>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The eye is the trap in exam questions: it is the calmest moment but the lowest pressure. Do not confuse calm with high pressure.</a:t>
            </a:r>
            <a:endParaRPr lang="en-US" sz="1800" dirty="0"/>
          </a:p>
        </p:txBody>
      </p:sp>
      <p:sp>
        <p:nvSpPr>
          <p:cNvPr id="11" name="point-card"/>
          <p:cNvSpPr/>
          <p:nvPr/>
        </p:nvSpPr>
        <p:spPr>
          <a:xfrm>
            <a:off x="548640" y="1389888"/>
            <a:ext cx="5410048" cy="3686048"/>
          </a:xfrm>
          <a:prstGeom prst="roundRect">
            <a:avLst>
              <a:gd name="adj" fmla="val 1488"/>
            </a:avLst>
          </a:prstGeom>
          <a:solidFill>
            <a:srgbClr val="E6ECE7"/>
          </a:solidFill>
          <a:ln/>
        </p:spPr>
      </p:sp>
      <p:sp>
        <p:nvSpPr>
          <p:cNvPr id="12" name="point-hex"/>
          <p:cNvSpPr/>
          <p:nvPr/>
        </p:nvSpPr>
        <p:spPr>
          <a:xfrm>
            <a:off x="731520" y="1572768"/>
            <a:ext cx="685800" cy="593903"/>
          </a:xfrm>
          <a:prstGeom prst="hexagon">
            <a:avLst/>
          </a:prstGeom>
          <a:solidFill>
            <a:srgbClr val="3F6B4A"/>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504428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Imagine standing still while a tropical storm passes over you.</a:t>
            </a:r>
            <a:endParaRPr lang="en-US" sz="2400" dirty="0"/>
          </a:p>
        </p:txBody>
      </p:sp>
      <p:sp>
        <p:nvSpPr>
          <p:cNvPr id="15" name="point-card"/>
          <p:cNvSpPr/>
          <p:nvPr/>
        </p:nvSpPr>
        <p:spPr>
          <a:xfrm>
            <a:off x="6233008" y="1389888"/>
            <a:ext cx="5410048" cy="3686048"/>
          </a:xfrm>
          <a:prstGeom prst="roundRect">
            <a:avLst>
              <a:gd name="adj" fmla="val 1488"/>
            </a:avLst>
          </a:prstGeom>
          <a:solidFill>
            <a:srgbClr val="F4EDDF"/>
          </a:solidFill>
          <a:ln/>
        </p:spPr>
      </p:sp>
      <p:sp>
        <p:nvSpPr>
          <p:cNvPr id="16" name="point-hex"/>
          <p:cNvSpPr/>
          <p:nvPr/>
        </p:nvSpPr>
        <p:spPr>
          <a:xfrm>
            <a:off x="6415888" y="1572768"/>
            <a:ext cx="685800" cy="593903"/>
          </a:xfrm>
          <a:prstGeom prst="hexagon">
            <a:avLst/>
          </a:prstGeom>
          <a:solidFill>
            <a:srgbClr val="B8862B"/>
          </a:solidFill>
          <a:ln/>
        </p:spPr>
      </p:sp>
      <p:sp>
        <p:nvSpPr>
          <p:cNvPr id="17" name="point-hex-label"/>
          <p:cNvSpPr txBox="1"/>
          <p:nvPr/>
        </p:nvSpPr>
        <p:spPr>
          <a:xfrm>
            <a:off x="641588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6415888" y="2350008"/>
            <a:ext cx="504428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The calm does not last. The other side of the eye wall arrives, so wind and heavy rain increase dramatically again, the temperature drops and the pressure begins to rise.</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The task: Build the storm</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1</a:t>
            </a:r>
            <a:endParaRPr lang="en-US" sz="2800" dirty="0"/>
          </a:p>
        </p:txBody>
      </p:sp>
      <p:sp>
        <p:nvSpPr>
          <p:cNvPr id="10" name="task"/>
          <p:cNvSpPr txBox="1"/>
          <p:nvPr/>
        </p:nvSpPr>
        <p:spPr>
          <a:xfrm>
            <a:off x="1828800" y="1572768"/>
            <a:ext cx="8534095" cy="4389120"/>
          </a:xfrm>
          <a:prstGeom prst="rect">
            <a:avLst/>
          </a:prstGeom>
          <a:noFill/>
          <a:ln/>
        </p:spPr>
        <p:txBody>
          <a:bodyPr wrap="square" lIns="63500" tIns="63500" rIns="63500" bIns="63500" rtlCol="0" anchor="ctr"/>
          <a:lstStyle/>
          <a:p>
            <a:pPr algn="ctr" indent="0" marL="0">
              <a:spcAft>
                <a:spcPts val="600"/>
              </a:spcAft>
              <a:buNone/>
            </a:pPr>
            <a:r>
              <a:rPr lang="en-US" sz="2000" b="1" dirty="0">
                <a:solidFill>
                  <a:srgbClr val="1E2229"/>
                </a:solidFill>
                <a:latin typeface="Calibri" pitchFamily="34" charset="0"/>
                <a:ea typeface="Calibri" pitchFamily="34" charset="-122"/>
                <a:cs typeface="Calibri" pitchFamily="34" charset="-120"/>
              </a:rPr>
              <a:t>Put these stages in the correct order to explain how a tropical storm forms.</a:t>
            </a:r>
            <a:endParaRPr lang="en-US" sz="2000" dirty="0"/>
          </a:p>
          <a:p>
            <a:pPr algn="l" indent="0" marL="0">
              <a:spcAft>
                <a:spcPts val="200"/>
              </a:spcAft>
              <a:buNone/>
            </a:pPr>
            <a:r>
              <a:rPr lang="en-US" sz="1800" b="1" dirty="0">
                <a:solidFill>
                  <a:srgbClr val="B8862B"/>
                </a:solidFill>
                <a:latin typeface="Calibri" pitchFamily="34" charset="0"/>
                <a:ea typeface="Calibri" pitchFamily="34" charset="-122"/>
                <a:cs typeface="Calibri" pitchFamily="34" charset="-120"/>
              </a:rPr>
              <a:t>A   </a:t>
            </a:r>
            <a:pPr algn="l" indent="0" marL="0">
              <a:spcAft>
                <a:spcPts val="200"/>
              </a:spcAft>
              <a:buNone/>
            </a:pPr>
            <a:r>
              <a:rPr lang="en-US" sz="1800" dirty="0">
                <a:solidFill>
                  <a:srgbClr val="1E2229"/>
                </a:solidFill>
                <a:latin typeface="Calibri" pitchFamily="34" charset="0"/>
                <a:ea typeface="Calibri" pitchFamily="34" charset="-122"/>
                <a:cs typeface="Calibri" pitchFamily="34" charset="-120"/>
              </a:rPr>
              <a:t>The rising air cools and condenses into towering cumulonimbus clouds, releasing torrential rain and the heat that powers the storm</a:t>
            </a:r>
            <a:endParaRPr lang="en-US" sz="2000" dirty="0"/>
          </a:p>
          <a:p>
            <a:pPr algn="l" indent="0" marL="0">
              <a:spcAft>
                <a:spcPts val="200"/>
              </a:spcAft>
              <a:buNone/>
            </a:pPr>
            <a:r>
              <a:rPr lang="en-US" sz="1800" b="1" dirty="0">
                <a:solidFill>
                  <a:srgbClr val="B8862B"/>
                </a:solidFill>
                <a:latin typeface="Calibri" pitchFamily="34" charset="0"/>
                <a:ea typeface="Calibri" pitchFamily="34" charset="-122"/>
                <a:cs typeface="Calibri" pitchFamily="34" charset="-120"/>
              </a:rPr>
              <a:t>B   </a:t>
            </a:r>
            <a:pPr algn="l" indent="0" marL="0">
              <a:spcAft>
                <a:spcPts val="200"/>
              </a:spcAft>
              <a:buNone/>
            </a:pPr>
            <a:r>
              <a:rPr lang="en-US" sz="1800" dirty="0">
                <a:solidFill>
                  <a:srgbClr val="1E2229"/>
                </a:solidFill>
                <a:latin typeface="Calibri" pitchFamily="34" charset="0"/>
                <a:ea typeface="Calibri" pitchFamily="34" charset="-122"/>
                <a:cs typeface="Calibri" pitchFamily="34" charset="-120"/>
              </a:rPr>
              <a:t>The warm, moist air rises rapidly and low pressure forms at the surface</a:t>
            </a:r>
            <a:endParaRPr lang="en-US" sz="2000" dirty="0"/>
          </a:p>
          <a:p>
            <a:pPr algn="l" indent="0" marL="0">
              <a:spcAft>
                <a:spcPts val="200"/>
              </a:spcAft>
              <a:buNone/>
            </a:pPr>
            <a:r>
              <a:rPr lang="en-US" sz="1800" b="1" dirty="0">
                <a:solidFill>
                  <a:srgbClr val="B8862B"/>
                </a:solidFill>
                <a:latin typeface="Calibri" pitchFamily="34" charset="0"/>
                <a:ea typeface="Calibri" pitchFamily="34" charset="-122"/>
                <a:cs typeface="Calibri" pitchFamily="34" charset="-120"/>
              </a:rPr>
              <a:t>C   </a:t>
            </a:r>
            <a:pPr algn="l" indent="0" marL="0">
              <a:spcAft>
                <a:spcPts val="200"/>
              </a:spcAft>
              <a:buNone/>
            </a:pPr>
            <a:r>
              <a:rPr lang="en-US" sz="1800" dirty="0">
                <a:solidFill>
                  <a:srgbClr val="1E2229"/>
                </a:solidFill>
                <a:latin typeface="Calibri" pitchFamily="34" charset="0"/>
                <a:ea typeface="Calibri" pitchFamily="34" charset="-122"/>
                <a:cs typeface="Calibri" pitchFamily="34" charset="-120"/>
              </a:rPr>
              <a:t>Air is heated above a warm tropical ocean (around 27 degrees Celsius) and evaporation increases</a:t>
            </a:r>
            <a:endParaRPr lang="en-US" sz="2000" dirty="0"/>
          </a:p>
          <a:p>
            <a:pPr algn="l" indent="0" marL="0">
              <a:spcAft>
                <a:spcPts val="200"/>
              </a:spcAft>
              <a:buNone/>
            </a:pPr>
            <a:r>
              <a:rPr lang="en-US" sz="1800" b="1" dirty="0">
                <a:solidFill>
                  <a:srgbClr val="B8862B"/>
                </a:solidFill>
                <a:latin typeface="Calibri" pitchFamily="34" charset="0"/>
                <a:ea typeface="Calibri" pitchFamily="34" charset="-122"/>
                <a:cs typeface="Calibri" pitchFamily="34" charset="-120"/>
              </a:rPr>
              <a:t>D   </a:t>
            </a:r>
            <a:pPr algn="l" indent="0" marL="0">
              <a:spcAft>
                <a:spcPts val="200"/>
              </a:spcAft>
              <a:buNone/>
            </a:pPr>
            <a:r>
              <a:rPr lang="en-US" sz="1800" dirty="0">
                <a:solidFill>
                  <a:srgbClr val="1E2229"/>
                </a:solidFill>
                <a:latin typeface="Calibri" pitchFamily="34" charset="0"/>
                <a:ea typeface="Calibri" pitchFamily="34" charset="-122"/>
                <a:cs typeface="Calibri" pitchFamily="34" charset="-120"/>
              </a:rPr>
              <a:t>The Coriolis effect makes the winds spiral upwards around the low pressure, and a calm eye forms</a:t>
            </a:r>
            <a:endParaRPr lang="en-US" sz="2000" dirty="0"/>
          </a:p>
          <a:p>
            <a:pPr algn="l" indent="0" marL="0">
              <a:spcAft>
                <a:spcPts val="200"/>
              </a:spcAft>
              <a:buNone/>
            </a:pPr>
            <a:r>
              <a:rPr lang="en-US" sz="1800" b="1" dirty="0">
                <a:solidFill>
                  <a:srgbClr val="B8862B"/>
                </a:solidFill>
                <a:latin typeface="Calibri" pitchFamily="34" charset="0"/>
                <a:ea typeface="Calibri" pitchFamily="34" charset="-122"/>
                <a:cs typeface="Calibri" pitchFamily="34" charset="-120"/>
              </a:rPr>
              <a:t>E   </a:t>
            </a:r>
            <a:pPr algn="l" indent="0" marL="0">
              <a:spcAft>
                <a:spcPts val="200"/>
              </a:spcAft>
              <a:buNone/>
            </a:pPr>
            <a:r>
              <a:rPr lang="en-US" sz="1800" dirty="0">
                <a:solidFill>
                  <a:srgbClr val="1E2229"/>
                </a:solidFill>
                <a:latin typeface="Calibri" pitchFamily="34" charset="0"/>
                <a:ea typeface="Calibri" pitchFamily="34" charset="-122"/>
                <a:cs typeface="Calibri" pitchFamily="34" charset="-120"/>
              </a:rPr>
              <a:t>The storm reaches land, loses its supply of moisture and heat, and weakens</a:t>
            </a:r>
            <a:endParaRPr lang="en-US" sz="2000" dirty="0"/>
          </a:p>
          <a:p>
            <a:pPr algn="l" indent="0" marL="0">
              <a:spcAft>
                <a:spcPts val="200"/>
              </a:spcAft>
              <a:buNone/>
            </a:pPr>
            <a:r>
              <a:rPr lang="en-US" sz="1800" b="1" dirty="0">
                <a:solidFill>
                  <a:srgbClr val="B8862B"/>
                </a:solidFill>
                <a:latin typeface="Calibri" pitchFamily="34" charset="0"/>
                <a:ea typeface="Calibri" pitchFamily="34" charset="-122"/>
                <a:cs typeface="Calibri" pitchFamily="34" charset="-120"/>
              </a:rPr>
              <a:t>F   </a:t>
            </a:r>
            <a:pPr algn="l" indent="0" marL="0">
              <a:spcAft>
                <a:spcPts val="200"/>
              </a:spcAft>
              <a:buNone/>
            </a:pPr>
            <a:r>
              <a:rPr lang="en-US" sz="1800" dirty="0">
                <a:solidFill>
                  <a:srgbClr val="1E2229"/>
                </a:solidFill>
                <a:latin typeface="Calibri" pitchFamily="34" charset="0"/>
                <a:ea typeface="Calibri" pitchFamily="34" charset="-122"/>
                <a:cs typeface="Calibri" pitchFamily="34" charset="-120"/>
              </a:rPr>
              <a:t>The storm travels across the ocean in the direction of the prevailing wind</a:t>
            </a:r>
            <a:endParaRPr lang="en-US" sz="2000" dirty="0"/>
          </a:p>
          <a:p>
            <a:pPr algn="l" indent="0" marL="0">
              <a:spcAft>
                <a:spcPts val="200"/>
              </a:spcAft>
              <a:buNone/>
            </a:pPr>
            <a:r>
              <a:rPr lang="en-US" sz="1800" b="1" dirty="0">
                <a:solidFill>
                  <a:srgbClr val="B8862B"/>
                </a:solidFill>
                <a:latin typeface="Calibri" pitchFamily="34" charset="0"/>
                <a:ea typeface="Calibri" pitchFamily="34" charset="-122"/>
                <a:cs typeface="Calibri" pitchFamily="34" charset="-120"/>
              </a:rPr>
              <a:t>G   </a:t>
            </a:r>
            <a:pPr algn="l" indent="0" marL="0">
              <a:spcAft>
                <a:spcPts val="200"/>
              </a:spcAft>
              <a:buNone/>
            </a:pPr>
            <a:r>
              <a:rPr lang="en-US" sz="1800" dirty="0">
                <a:solidFill>
                  <a:srgbClr val="1E2229"/>
                </a:solidFill>
                <a:latin typeface="Calibri" pitchFamily="34" charset="0"/>
                <a:ea typeface="Calibri" pitchFamily="34" charset="-122"/>
                <a:cs typeface="Calibri" pitchFamily="34" charset="-120"/>
              </a:rPr>
              <a:t>Air rushes in from the surrounding higher-pressure areas, causing strong winds</a:t>
            </a:r>
            <a:endParaRPr lang="en-US" sz="2000" dirty="0"/>
          </a:p>
          <a:p>
            <a:pPr algn="l" indent="0" marL="0">
              <a:spcAft>
                <a:spcPts val="200"/>
              </a:spcAft>
              <a:buNone/>
            </a:pPr>
            <a:r>
              <a:rPr lang="en-US" sz="1800" b="1" dirty="0">
                <a:solidFill>
                  <a:srgbClr val="B8862B"/>
                </a:solidFill>
                <a:latin typeface="Calibri" pitchFamily="34" charset="0"/>
                <a:ea typeface="Calibri" pitchFamily="34" charset="-122"/>
                <a:cs typeface="Calibri" pitchFamily="34" charset="-120"/>
              </a:rPr>
              <a:t>H   </a:t>
            </a:r>
            <a:pPr algn="l" indent="0" marL="0">
              <a:spcAft>
                <a:spcPts val="200"/>
              </a:spcAft>
              <a:buNone/>
            </a:pPr>
            <a:r>
              <a:rPr lang="en-US" sz="1800" dirty="0">
                <a:solidFill>
                  <a:srgbClr val="1E2229"/>
                </a:solidFill>
                <a:latin typeface="Calibri" pitchFamily="34" charset="0"/>
                <a:ea typeface="Calibri" pitchFamily="34" charset="-122"/>
                <a:cs typeface="Calibri" pitchFamily="34" charset="-120"/>
              </a:rPr>
              <a:t>Air at the top cools and sinks back down in the eye, which stays clear, dry and calm</a:t>
            </a:r>
            <a:endParaRPr lang="en-US" sz="2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Same task, three ways in: Build the storm</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731520"/>
          </a:xfrm>
          <a:prstGeom prst="roundRect">
            <a:avLst>
              <a:gd name="adj" fmla="val 12500"/>
            </a:avLst>
          </a:prstGeom>
          <a:solidFill>
            <a:srgbClr val="FFFFFF"/>
          </a:solidFill>
          <a:ln w="31750">
            <a:solidFill>
              <a:srgbClr val="B8862B"/>
            </a:solidFill>
            <a:prstDash val="solid"/>
          </a:ln>
        </p:spPr>
      </p:sp>
      <p:sp>
        <p:nvSpPr>
          <p:cNvPr id="8" name="task-hex"/>
          <p:cNvSpPr/>
          <p:nvPr/>
        </p:nvSpPr>
        <p:spPr>
          <a:xfrm>
            <a:off x="777240" y="1438900"/>
            <a:ext cx="731520" cy="633496"/>
          </a:xfrm>
          <a:prstGeom prst="hexagon">
            <a:avLst/>
          </a:prstGeom>
          <a:solidFill>
            <a:srgbClr val="B8862B"/>
          </a:solidFill>
          <a:ln/>
        </p:spPr>
      </p:sp>
      <p:sp>
        <p:nvSpPr>
          <p:cNvPr id="9" name="task-hex-label"/>
          <p:cNvSpPr txBox="1"/>
          <p:nvPr/>
        </p:nvSpPr>
        <p:spPr>
          <a:xfrm>
            <a:off x="777240" y="143890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task-everyone"/>
          <p:cNvSpPr txBox="1"/>
          <p:nvPr/>
        </p:nvSpPr>
        <p:spPr>
          <a:xfrm>
            <a:off x="10362895" y="148132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548640"/>
          </a:xfrm>
          <a:prstGeom prst="rect">
            <a:avLst/>
          </a:prstGeom>
          <a:noFill/>
          <a:ln/>
        </p:spPr>
        <p:txBody>
          <a:bodyPr wrap="square" lIns="63500" tIns="63500" rIns="63500" bIns="63500" rtlCol="0" anchor="ctr"/>
          <a:lstStyle/>
          <a:p>
            <a:pPr algn="ctr" indent="0" marL="0">
              <a:buNone/>
            </a:pPr>
            <a:r>
              <a:rPr lang="en-US" sz="2000" b="1" dirty="0">
                <a:solidFill>
                  <a:srgbClr val="1E2229"/>
                </a:solidFill>
                <a:latin typeface="Calibri" pitchFamily="34" charset="0"/>
                <a:ea typeface="Calibri" pitchFamily="34" charset="-122"/>
                <a:cs typeface="Calibri" pitchFamily="34" charset="-120"/>
              </a:rPr>
              <a:t>Task 1 (on the last slide): Build the storm</a:t>
            </a:r>
            <a:endParaRPr lang="en-US" sz="2000" dirty="0"/>
          </a:p>
        </p:txBody>
      </p:sp>
      <p:sp>
        <p:nvSpPr>
          <p:cNvPr id="12" name="col-Support"/>
          <p:cNvSpPr/>
          <p:nvPr/>
        </p:nvSpPr>
        <p:spPr>
          <a:xfrm>
            <a:off x="548640" y="2395728"/>
            <a:ext cx="5602443" cy="3749040"/>
          </a:xfrm>
          <a:prstGeom prst="roundRect">
            <a:avLst>
              <a:gd name="adj" fmla="val 1463"/>
            </a:avLst>
          </a:prstGeom>
          <a:solidFill>
            <a:srgbClr val="E6ECE7"/>
          </a:solidFill>
          <a:ln/>
        </p:spPr>
      </p:sp>
      <p:sp>
        <p:nvSpPr>
          <p:cNvPr id="13" name="col-hex"/>
          <p:cNvSpPr/>
          <p:nvPr/>
        </p:nvSpPr>
        <p:spPr>
          <a:xfrm>
            <a:off x="658368" y="246888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432304"/>
            <a:ext cx="4870923" cy="566928"/>
          </a:xfrm>
          <a:prstGeom prst="rect">
            <a:avLst/>
          </a:prstGeom>
          <a:noFill/>
          <a:ln/>
        </p:spPr>
        <p:txBody>
          <a:bodyPr wrap="square" lIns="63500" tIns="63500" rIns="63500" bIns="63500" rtlCol="0" anchor="ctr"/>
          <a:lstStyle/>
          <a:p>
            <a:pPr algn="l" indent="0" marL="0">
              <a:buNone/>
            </a:pPr>
            <a:r>
              <a:rPr lang="en-US" sz="2000" b="1" dirty="0">
                <a:solidFill>
                  <a:srgbClr val="2C4B34"/>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035808"/>
            <a:ext cx="5328123" cy="2999232"/>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Start with the fuel: a warm sea and evaporation. Nothing happens before that.</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Then follow the air upwards: rising air, low pressure, air rushing in.</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Now the storm takes shape: the Coriolis effect makes it spin and the eye forms; the rising air condenses into cloud; air sinks in the eye.</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4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Finish with the journey: the storm travels on the prevailing wind and finally dies over land.</a:t>
            </a:r>
            <a:endParaRPr lang="en-US" sz="1800" dirty="0"/>
          </a:p>
        </p:txBody>
      </p:sp>
      <p:sp>
        <p:nvSpPr>
          <p:cNvPr id="17" name="col-Core"/>
          <p:cNvSpPr/>
          <p:nvPr/>
        </p:nvSpPr>
        <p:spPr>
          <a:xfrm>
            <a:off x="6425403" y="2395728"/>
            <a:ext cx="2471666" cy="3749040"/>
          </a:xfrm>
          <a:prstGeom prst="roundRect">
            <a:avLst>
              <a:gd name="adj" fmla="val 2220"/>
            </a:avLst>
          </a:prstGeom>
          <a:solidFill>
            <a:srgbClr val="CFDAD2"/>
          </a:solidFill>
          <a:ln/>
        </p:spPr>
      </p:sp>
      <p:sp>
        <p:nvSpPr>
          <p:cNvPr id="18" name="col-hex"/>
          <p:cNvSpPr/>
          <p:nvPr/>
        </p:nvSpPr>
        <p:spPr>
          <a:xfrm>
            <a:off x="6535131" y="246888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6535131"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7065483" y="2432304"/>
            <a:ext cx="1740146" cy="566928"/>
          </a:xfrm>
          <a:prstGeom prst="rect">
            <a:avLst/>
          </a:prstGeom>
          <a:noFill/>
          <a:ln/>
        </p:spPr>
        <p:txBody>
          <a:bodyPr wrap="square" lIns="63500" tIns="63500" rIns="63500" bIns="63500" rtlCol="0" anchor="ctr"/>
          <a:lstStyle/>
          <a:p>
            <a:pPr algn="l" indent="0" marL="0">
              <a:buNone/>
            </a:pPr>
            <a:r>
              <a:rPr lang="en-US" sz="2000" b="1" dirty="0">
                <a:solidFill>
                  <a:srgbClr val="2C4B34"/>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6562563" y="3035808"/>
            <a:ext cx="2197346" cy="2999232"/>
          </a:xfrm>
          <a:prstGeom prst="rect">
            <a:avLst/>
          </a:prstGeom>
          <a:noFill/>
          <a:ln/>
        </p:spPr>
        <p:txBody>
          <a:bodyPr wrap="square" lIns="63500" tIns="63500" rIns="63500" bIns="63500" rtlCol="0" anchor="t"/>
          <a:lstStyle/>
          <a:p>
            <a:pPr algn="l" indent="0" marL="0">
              <a:buNone/>
            </a:pPr>
            <a:r>
              <a:rPr lang="en-US" sz="1800" b="1" dirty="0">
                <a:solidFill>
                  <a:srgbClr val="32563B"/>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Fuel first (warm sea, evaporation), then rising air and low pressure, then wind, spin and cloud, then the eye, then the journey and the landfall.</a:t>
            </a:r>
            <a:endParaRPr lang="en-US" sz="1800" dirty="0"/>
          </a:p>
        </p:txBody>
      </p:sp>
      <p:sp>
        <p:nvSpPr>
          <p:cNvPr id="22" name="col-Stretch"/>
          <p:cNvSpPr/>
          <p:nvPr/>
        </p:nvSpPr>
        <p:spPr>
          <a:xfrm>
            <a:off x="9171389" y="2395728"/>
            <a:ext cx="2471666" cy="3749040"/>
          </a:xfrm>
          <a:prstGeom prst="roundRect">
            <a:avLst>
              <a:gd name="adj" fmla="val 2220"/>
            </a:avLst>
          </a:prstGeom>
          <a:solidFill>
            <a:srgbClr val="3F6B4A"/>
          </a:solidFill>
          <a:ln/>
        </p:spPr>
      </p:sp>
      <p:sp>
        <p:nvSpPr>
          <p:cNvPr id="23" name="col-hex"/>
          <p:cNvSpPr/>
          <p:nvPr/>
        </p:nvSpPr>
        <p:spPr>
          <a:xfrm>
            <a:off x="9281117" y="246888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9281117"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9811469" y="2432304"/>
            <a:ext cx="1740146"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9308549" y="3035808"/>
            <a:ext cx="2197346" cy="2999232"/>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Explain why a tropical storm weakens over land but can strengthen again if it moves back out over warm sea.</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The task: The storm passes over</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2</a:t>
            </a:r>
            <a:endParaRPr lang="en-US" sz="2800" dirty="0"/>
          </a:p>
        </p:txBody>
      </p:sp>
      <p:sp>
        <p:nvSpPr>
          <p:cNvPr id="10" name="task"/>
          <p:cNvSpPr txBox="1"/>
          <p:nvPr/>
        </p:nvSpPr>
        <p:spPr>
          <a:xfrm>
            <a:off x="1828800" y="1572768"/>
            <a:ext cx="8534095" cy="4389120"/>
          </a:xfrm>
          <a:prstGeom prst="rect">
            <a:avLst/>
          </a:prstGeom>
          <a:noFill/>
          <a:ln/>
        </p:spPr>
        <p:txBody>
          <a:bodyPr wrap="square" lIns="63500" tIns="63500" rIns="63500" bIns="63500" rtlCol="0" anchor="ctr"/>
          <a:lstStyle/>
          <a:p>
            <a:pPr algn="ctr" indent="0" marL="0">
              <a:spcAft>
                <a:spcPts val="600"/>
              </a:spcAft>
              <a:buNone/>
            </a:pPr>
            <a:r>
              <a:rPr lang="en-US" sz="2200" b="1" dirty="0">
                <a:solidFill>
                  <a:srgbClr val="1E2229"/>
                </a:solidFill>
                <a:latin typeface="Calibri" pitchFamily="34" charset="0"/>
                <a:ea typeface="Calibri" pitchFamily="34" charset="-122"/>
                <a:cs typeface="Calibri" pitchFamily="34" charset="-120"/>
              </a:rPr>
              <a:t>Put these five descriptions in order to show the changes as a tropical storm passes over a place.</a:t>
            </a:r>
            <a:endParaRPr lang="en-US" sz="2200" dirty="0"/>
          </a:p>
          <a:p>
            <a:pPr algn="l" indent="0" marL="0">
              <a:spcAft>
                <a:spcPts val="200"/>
              </a:spcAft>
              <a:buNone/>
            </a:pPr>
            <a:r>
              <a:rPr lang="en-US" sz="2000" b="1" dirty="0">
                <a:solidFill>
                  <a:srgbClr val="B8862B"/>
                </a:solidFill>
                <a:latin typeface="Calibri" pitchFamily="34" charset="0"/>
                <a:ea typeface="Calibri" pitchFamily="34" charset="-122"/>
                <a:cs typeface="Calibri" pitchFamily="34" charset="-120"/>
              </a:rPr>
              <a:t>A   </a:t>
            </a:r>
            <a:pPr algn="l" indent="0" marL="0">
              <a:spcAft>
                <a:spcPts val="200"/>
              </a:spcAft>
              <a:buNone/>
            </a:pPr>
            <a:r>
              <a:rPr lang="en-US" sz="2000" dirty="0">
                <a:solidFill>
                  <a:srgbClr val="1E2229"/>
                </a:solidFill>
                <a:latin typeface="Calibri" pitchFamily="34" charset="0"/>
                <a:ea typeface="Calibri" pitchFamily="34" charset="-122"/>
                <a:cs typeface="Calibri" pitchFamily="34" charset="-120"/>
              </a:rPr>
              <a:t>The pressure and temperature rise, and the wind and rainfall subside as the storm ends</a:t>
            </a:r>
            <a:endParaRPr lang="en-US" sz="2200" dirty="0"/>
          </a:p>
          <a:p>
            <a:pPr algn="l" indent="0" marL="0">
              <a:spcAft>
                <a:spcPts val="200"/>
              </a:spcAft>
              <a:buNone/>
            </a:pPr>
            <a:r>
              <a:rPr lang="en-US" sz="2000" b="1" dirty="0">
                <a:solidFill>
                  <a:srgbClr val="B8862B"/>
                </a:solidFill>
                <a:latin typeface="Calibri" pitchFamily="34" charset="0"/>
                <a:ea typeface="Calibri" pitchFamily="34" charset="-122"/>
                <a:cs typeface="Calibri" pitchFamily="34" charset="-120"/>
              </a:rPr>
              <a:t>B   </a:t>
            </a:r>
            <a:pPr algn="l" indent="0" marL="0">
              <a:spcAft>
                <a:spcPts val="200"/>
              </a:spcAft>
              <a:buNone/>
            </a:pPr>
            <a:r>
              <a:rPr lang="en-US" sz="2000" dirty="0">
                <a:solidFill>
                  <a:srgbClr val="1E2229"/>
                </a:solidFill>
                <a:latin typeface="Calibri" pitchFamily="34" charset="0"/>
                <a:ea typeface="Calibri" pitchFamily="34" charset="-122"/>
                <a:cs typeface="Calibri" pitchFamily="34" charset="-120"/>
              </a:rPr>
              <a:t>Wind and heavy rain increase dramatically again, the temperature drops and the pressure begins to rise</a:t>
            </a:r>
            <a:endParaRPr lang="en-US" sz="2200" dirty="0"/>
          </a:p>
          <a:p>
            <a:pPr algn="l" indent="0" marL="0">
              <a:spcAft>
                <a:spcPts val="200"/>
              </a:spcAft>
              <a:buNone/>
            </a:pPr>
            <a:r>
              <a:rPr lang="en-US" sz="2000" b="1" dirty="0">
                <a:solidFill>
                  <a:srgbClr val="B8862B"/>
                </a:solidFill>
                <a:latin typeface="Calibri" pitchFamily="34" charset="0"/>
                <a:ea typeface="Calibri" pitchFamily="34" charset="-122"/>
                <a:cs typeface="Calibri" pitchFamily="34" charset="-120"/>
              </a:rPr>
              <a:t>C   </a:t>
            </a:r>
            <a:pPr algn="l" indent="0" marL="0">
              <a:spcAft>
                <a:spcPts val="200"/>
              </a:spcAft>
              <a:buNone/>
            </a:pPr>
            <a:r>
              <a:rPr lang="en-US" sz="2000" dirty="0">
                <a:solidFill>
                  <a:srgbClr val="1E2229"/>
                </a:solidFill>
                <a:latin typeface="Calibri" pitchFamily="34" charset="0"/>
                <a:ea typeface="Calibri" pitchFamily="34" charset="-122"/>
                <a:cs typeface="Calibri" pitchFamily="34" charset="-120"/>
              </a:rPr>
              <a:t>Pressure falls more rapidly, the wind increases, cumulonimbus cloud forms and there is heavy rain</a:t>
            </a:r>
            <a:endParaRPr lang="en-US" sz="2200" dirty="0"/>
          </a:p>
          <a:p>
            <a:pPr algn="l" indent="0" marL="0">
              <a:spcAft>
                <a:spcPts val="200"/>
              </a:spcAft>
              <a:buNone/>
            </a:pPr>
            <a:r>
              <a:rPr lang="en-US" sz="2000" b="1" dirty="0">
                <a:solidFill>
                  <a:srgbClr val="B8862B"/>
                </a:solidFill>
                <a:latin typeface="Calibri" pitchFamily="34" charset="0"/>
                <a:ea typeface="Calibri" pitchFamily="34" charset="-122"/>
                <a:cs typeface="Calibri" pitchFamily="34" charset="-120"/>
              </a:rPr>
              <a:t>D   </a:t>
            </a:r>
            <a:pPr algn="l" indent="0" marL="0">
              <a:spcAft>
                <a:spcPts val="200"/>
              </a:spcAft>
              <a:buNone/>
            </a:pPr>
            <a:r>
              <a:rPr lang="en-US" sz="2000" dirty="0">
                <a:solidFill>
                  <a:srgbClr val="1E2229"/>
                </a:solidFill>
                <a:latin typeface="Calibri" pitchFamily="34" charset="0"/>
                <a:ea typeface="Calibri" pitchFamily="34" charset="-122"/>
                <a:cs typeface="Calibri" pitchFamily="34" charset="-120"/>
              </a:rPr>
              <a:t>Temperature and air pressure start to fall, air rises, clouds begin to form and it becomes windy</a:t>
            </a:r>
            <a:endParaRPr lang="en-US" sz="2200" dirty="0"/>
          </a:p>
          <a:p>
            <a:pPr algn="l" indent="0" marL="0">
              <a:spcAft>
                <a:spcPts val="200"/>
              </a:spcAft>
              <a:buNone/>
            </a:pPr>
            <a:r>
              <a:rPr lang="en-US" sz="2000" b="1" dirty="0">
                <a:solidFill>
                  <a:srgbClr val="B8862B"/>
                </a:solidFill>
                <a:latin typeface="Calibri" pitchFamily="34" charset="0"/>
                <a:ea typeface="Calibri" pitchFamily="34" charset="-122"/>
                <a:cs typeface="Calibri" pitchFamily="34" charset="-120"/>
              </a:rPr>
              <a:t>E   </a:t>
            </a:r>
            <a:pPr algn="l" indent="0" marL="0">
              <a:spcAft>
                <a:spcPts val="200"/>
              </a:spcAft>
              <a:buNone/>
            </a:pPr>
            <a:r>
              <a:rPr lang="en-US" sz="2000" dirty="0">
                <a:solidFill>
                  <a:srgbClr val="1E2229"/>
                </a:solidFill>
                <a:latin typeface="Calibri" pitchFamily="34" charset="0"/>
                <a:ea typeface="Calibri" pitchFamily="34" charset="-122"/>
                <a:cs typeface="Calibri" pitchFamily="34" charset="-120"/>
              </a:rPr>
              <a:t>A period of calm with no wind or rain: the Sun appears, it gets warmer and the pressure is very low</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000" b="1" dirty="0">
                <a:solidFill>
                  <a:srgbClr val="3F6B4A"/>
                </a:solidFill>
                <a:latin typeface="Cambria" pitchFamily="34" charset="0"/>
                <a:ea typeface="Cambria" pitchFamily="34" charset="-122"/>
                <a:cs typeface="Cambria" pitchFamily="34" charset="-120"/>
              </a:rPr>
              <a:t>Same task, three ways in: The storm passes over</a:t>
            </a:r>
            <a:endParaRPr lang="en-US" sz="30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731520"/>
          </a:xfrm>
          <a:prstGeom prst="roundRect">
            <a:avLst>
              <a:gd name="adj" fmla="val 12500"/>
            </a:avLst>
          </a:prstGeom>
          <a:solidFill>
            <a:srgbClr val="FFFFFF"/>
          </a:solidFill>
          <a:ln w="31750">
            <a:solidFill>
              <a:srgbClr val="B8862B"/>
            </a:solidFill>
            <a:prstDash val="solid"/>
          </a:ln>
        </p:spPr>
      </p:sp>
      <p:sp>
        <p:nvSpPr>
          <p:cNvPr id="8" name="task-hex"/>
          <p:cNvSpPr/>
          <p:nvPr/>
        </p:nvSpPr>
        <p:spPr>
          <a:xfrm>
            <a:off x="777240" y="1438900"/>
            <a:ext cx="731520" cy="633496"/>
          </a:xfrm>
          <a:prstGeom prst="hexagon">
            <a:avLst/>
          </a:prstGeom>
          <a:solidFill>
            <a:srgbClr val="B8862B"/>
          </a:solidFill>
          <a:ln/>
        </p:spPr>
      </p:sp>
      <p:sp>
        <p:nvSpPr>
          <p:cNvPr id="9" name="task-hex-label"/>
          <p:cNvSpPr txBox="1"/>
          <p:nvPr/>
        </p:nvSpPr>
        <p:spPr>
          <a:xfrm>
            <a:off x="777240" y="143890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0" name="task-everyone"/>
          <p:cNvSpPr txBox="1"/>
          <p:nvPr/>
        </p:nvSpPr>
        <p:spPr>
          <a:xfrm>
            <a:off x="10362895" y="148132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548640"/>
          </a:xfrm>
          <a:prstGeom prst="rect">
            <a:avLst/>
          </a:prstGeom>
          <a:noFill/>
          <a:ln/>
        </p:spPr>
        <p:txBody>
          <a:bodyPr wrap="square" lIns="63500" tIns="63500" rIns="63500" bIns="63500" rtlCol="0" anchor="ctr"/>
          <a:lstStyle/>
          <a:p>
            <a:pPr algn="ctr" indent="0" marL="0">
              <a:buNone/>
            </a:pPr>
            <a:r>
              <a:rPr lang="en-US" sz="2000" b="1" dirty="0">
                <a:solidFill>
                  <a:srgbClr val="1E2229"/>
                </a:solidFill>
                <a:latin typeface="Calibri" pitchFamily="34" charset="0"/>
                <a:ea typeface="Calibri" pitchFamily="34" charset="-122"/>
                <a:cs typeface="Calibri" pitchFamily="34" charset="-120"/>
              </a:rPr>
              <a:t>Task 2 (on the last slide): The storm passes over</a:t>
            </a:r>
            <a:endParaRPr lang="en-US" sz="2000" dirty="0"/>
          </a:p>
        </p:txBody>
      </p:sp>
      <p:sp>
        <p:nvSpPr>
          <p:cNvPr id="12" name="col-Support"/>
          <p:cNvSpPr/>
          <p:nvPr/>
        </p:nvSpPr>
        <p:spPr>
          <a:xfrm>
            <a:off x="548640" y="2395728"/>
            <a:ext cx="4667802" cy="3749040"/>
          </a:xfrm>
          <a:prstGeom prst="roundRect">
            <a:avLst>
              <a:gd name="adj" fmla="val 1463"/>
            </a:avLst>
          </a:prstGeom>
          <a:solidFill>
            <a:srgbClr val="E6ECE7"/>
          </a:solidFill>
          <a:ln/>
        </p:spPr>
      </p:sp>
      <p:sp>
        <p:nvSpPr>
          <p:cNvPr id="13" name="col-hex"/>
          <p:cNvSpPr/>
          <p:nvPr/>
        </p:nvSpPr>
        <p:spPr>
          <a:xfrm>
            <a:off x="658368" y="246888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432304"/>
            <a:ext cx="3936282" cy="566928"/>
          </a:xfrm>
          <a:prstGeom prst="rect">
            <a:avLst/>
          </a:prstGeom>
          <a:noFill/>
          <a:ln/>
        </p:spPr>
        <p:txBody>
          <a:bodyPr wrap="square" lIns="63500" tIns="63500" rIns="63500" bIns="63500" rtlCol="0" anchor="ctr"/>
          <a:lstStyle/>
          <a:p>
            <a:pPr algn="l" indent="0" marL="0">
              <a:buNone/>
            </a:pPr>
            <a:r>
              <a:rPr lang="en-US" sz="2000" b="1" dirty="0">
                <a:solidFill>
                  <a:srgbClr val="2C4B34"/>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035808"/>
            <a:ext cx="4393482" cy="2999232"/>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Follow the pressure: it falls, falls faster, reaches its lowest, then starts to rise, then returns to normal.</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The lowest pressure is the eye, which is the calm stage in the middle.</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The two stormy stages sit either side of the calm eye: one before it, one after it.</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4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The gentle stages are the first and the last.</a:t>
            </a:r>
            <a:endParaRPr lang="en-US" sz="1800" dirty="0"/>
          </a:p>
        </p:txBody>
      </p:sp>
      <p:sp>
        <p:nvSpPr>
          <p:cNvPr id="17" name="col-Core"/>
          <p:cNvSpPr/>
          <p:nvPr/>
        </p:nvSpPr>
        <p:spPr>
          <a:xfrm>
            <a:off x="5490762" y="2395728"/>
            <a:ext cx="2938987" cy="3749040"/>
          </a:xfrm>
          <a:prstGeom prst="roundRect">
            <a:avLst>
              <a:gd name="adj" fmla="val 1867"/>
            </a:avLst>
          </a:prstGeom>
          <a:solidFill>
            <a:srgbClr val="CFDAD2"/>
          </a:solidFill>
          <a:ln/>
        </p:spPr>
      </p:sp>
      <p:sp>
        <p:nvSpPr>
          <p:cNvPr id="18" name="col-hex"/>
          <p:cNvSpPr/>
          <p:nvPr/>
        </p:nvSpPr>
        <p:spPr>
          <a:xfrm>
            <a:off x="5600490" y="246888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5600490"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6130842" y="2432304"/>
            <a:ext cx="2207467" cy="566928"/>
          </a:xfrm>
          <a:prstGeom prst="rect">
            <a:avLst/>
          </a:prstGeom>
          <a:noFill/>
          <a:ln/>
        </p:spPr>
        <p:txBody>
          <a:bodyPr wrap="square" lIns="63500" tIns="63500" rIns="63500" bIns="63500" rtlCol="0" anchor="ctr"/>
          <a:lstStyle/>
          <a:p>
            <a:pPr algn="l" indent="0" marL="0">
              <a:buNone/>
            </a:pPr>
            <a:r>
              <a:rPr lang="en-US" sz="2000" b="1" dirty="0">
                <a:solidFill>
                  <a:srgbClr val="2C4B34"/>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5627922" y="3035808"/>
            <a:ext cx="2664667" cy="2999232"/>
          </a:xfrm>
          <a:prstGeom prst="rect">
            <a:avLst/>
          </a:prstGeom>
          <a:noFill/>
          <a:ln/>
        </p:spPr>
        <p:txBody>
          <a:bodyPr wrap="square" lIns="63500" tIns="63500" rIns="63500" bIns="63500" rtlCol="0" anchor="t"/>
          <a:lstStyle/>
          <a:p>
            <a:pPr algn="l" indent="0" marL="0">
              <a:buNone/>
            </a:pPr>
            <a:r>
              <a:rPr lang="en-US" sz="1800" b="1" dirty="0">
                <a:solidFill>
                  <a:srgbClr val="32563B"/>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Think of the pressure as a V shape: falling, falling fast, lowest in the calm eye, rising, back to normal.</a:t>
            </a:r>
            <a:endParaRPr lang="en-US" sz="1800" dirty="0"/>
          </a:p>
        </p:txBody>
      </p:sp>
      <p:sp>
        <p:nvSpPr>
          <p:cNvPr id="22" name="col-Stretch"/>
          <p:cNvSpPr/>
          <p:nvPr/>
        </p:nvSpPr>
        <p:spPr>
          <a:xfrm>
            <a:off x="8704069" y="2395728"/>
            <a:ext cx="2938987" cy="3749040"/>
          </a:xfrm>
          <a:prstGeom prst="roundRect">
            <a:avLst>
              <a:gd name="adj" fmla="val 1867"/>
            </a:avLst>
          </a:prstGeom>
          <a:solidFill>
            <a:srgbClr val="3F6B4A"/>
          </a:solidFill>
          <a:ln/>
        </p:spPr>
      </p:sp>
      <p:sp>
        <p:nvSpPr>
          <p:cNvPr id="23" name="col-hex"/>
          <p:cNvSpPr/>
          <p:nvPr/>
        </p:nvSpPr>
        <p:spPr>
          <a:xfrm>
            <a:off x="8813797" y="246888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8813797"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9344149" y="2432304"/>
            <a:ext cx="2207467"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8841229" y="3035808"/>
            <a:ext cx="2664667" cy="2999232"/>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Explain why the temperature rises in the eye even though the pressure is at its lowest there.</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Exit ticket</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Exit</a:t>
            </a:r>
            <a:endParaRPr lang="en-US" sz="1800" dirty="0"/>
          </a:p>
        </p:txBody>
      </p:sp>
      <p:sp>
        <p:nvSpPr>
          <p:cNvPr id="7" name="exit-card"/>
          <p:cNvSpPr/>
          <p:nvPr/>
        </p:nvSpPr>
        <p:spPr>
          <a:xfrm>
            <a:off x="1645920" y="1389888"/>
            <a:ext cx="8899855" cy="4754880"/>
          </a:xfrm>
          <a:prstGeom prst="roundRect">
            <a:avLst>
              <a:gd name="adj" fmla="val 962"/>
            </a:avLst>
          </a:prstGeom>
          <a:solidFill>
            <a:srgbClr val="FFFFFF"/>
          </a:solidFill>
          <a:ln w="31750">
            <a:solidFill>
              <a:srgbClr val="3F6B4A"/>
            </a:solidFill>
            <a:prstDash val="solid"/>
          </a:ln>
          <a:effectLst>
            <a:outerShdw sx="100000" sy="100000" kx="0" ky="0" algn="bl" rotWithShape="0" blurRad="76200" dist="25400" dir="5400000">
              <a:srgbClr val="000000">
                <a:alpha val="12000"/>
              </a:srgbClr>
            </a:outerShdw>
          </a:effectLst>
        </p:spPr>
      </p:sp>
      <p:sp>
        <p:nvSpPr>
          <p:cNvPr id="8" name="exit-hex"/>
          <p:cNvSpPr/>
          <p:nvPr/>
        </p:nvSpPr>
        <p:spPr>
          <a:xfrm>
            <a:off x="1143000" y="1618488"/>
            <a:ext cx="1005840" cy="871057"/>
          </a:xfrm>
          <a:prstGeom prst="hexagon">
            <a:avLst/>
          </a:prstGeom>
          <a:solidFill>
            <a:srgbClr val="3F6B4A"/>
          </a:solidFill>
          <a:ln w="25400">
            <a:solidFill>
              <a:srgbClr val="B8862B"/>
            </a:solidFill>
            <a:prstDash val="solid"/>
          </a:ln>
        </p:spPr>
      </p:sp>
      <p:sp>
        <p:nvSpPr>
          <p:cNvPr id="9" name="exit-hex-label"/>
          <p:cNvSpPr txBox="1"/>
          <p:nvPr/>
        </p:nvSpPr>
        <p:spPr>
          <a:xfrm>
            <a:off x="1143000" y="1618488"/>
            <a:ext cx="1005840" cy="871057"/>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Exit</a:t>
            </a:r>
            <a:endParaRPr lang="en-US" sz="2000" dirty="0"/>
          </a:p>
        </p:txBody>
      </p:sp>
      <p:sp>
        <p:nvSpPr>
          <p:cNvPr id="10" name="exit-q"/>
          <p:cNvSpPr txBox="1"/>
          <p:nvPr/>
        </p:nvSpPr>
        <p:spPr>
          <a:xfrm>
            <a:off x="2286000" y="1664208"/>
            <a:ext cx="7802575" cy="2615184"/>
          </a:xfrm>
          <a:prstGeom prst="rect">
            <a:avLst/>
          </a:prstGeom>
          <a:noFill/>
          <a:ln/>
        </p:spPr>
        <p:txBody>
          <a:bodyPr wrap="square" lIns="63500" tIns="63500" rIns="63500" bIns="63500" rtlCol="0" anchor="t"/>
          <a:lstStyle/>
          <a:p>
            <a:pPr algn="l" indent="0" marL="0">
              <a:spcAft>
                <a:spcPts val="1200"/>
              </a:spcAft>
              <a:buNone/>
            </a:pPr>
            <a:r>
              <a:rPr lang="en-US" sz="2400" b="1" dirty="0">
                <a:solidFill>
                  <a:srgbClr val="1E2229"/>
                </a:solidFill>
                <a:latin typeface="Calibri" pitchFamily="34" charset="0"/>
                <a:ea typeface="Calibri" pitchFamily="34" charset="-122"/>
                <a:cs typeface="Calibri" pitchFamily="34" charset="-120"/>
              </a:rPr>
              <a:t>In which part of a tropical storm are the winds strongest and the rain heaviest?</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The area the storm has already passed over</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The outer edge of the storm</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The eye wall, the ring of cloud around the eye</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The eye, at the very centre</a:t>
            </a:r>
            <a:endParaRPr lang="en-US" sz="2400" dirty="0"/>
          </a:p>
        </p:txBody>
      </p:sp>
      <p:sp>
        <p:nvSpPr>
          <p:cNvPr id="11" name="exit-answer-box"/>
          <p:cNvSpPr/>
          <p:nvPr/>
        </p:nvSpPr>
        <p:spPr>
          <a:xfrm>
            <a:off x="2286000" y="5047488"/>
            <a:ext cx="7619695" cy="822960"/>
          </a:xfrm>
          <a:prstGeom prst="roundRect">
            <a:avLst>
              <a:gd name="adj" fmla="val 11111"/>
            </a:avLst>
          </a:prstGeom>
          <a:solidFill>
            <a:srgbClr val="ECF0ED"/>
          </a:solidFill>
          <a:ln w="12700">
            <a:solidFill>
              <a:srgbClr val="99B19F"/>
            </a:solidFill>
            <a:prstDash val="solid"/>
          </a:ln>
        </p:spPr>
      </p:sp>
      <p:sp>
        <p:nvSpPr>
          <p:cNvPr id="12" name="exit-answer-label"/>
          <p:cNvSpPr txBox="1"/>
          <p:nvPr/>
        </p:nvSpPr>
        <p:spPr>
          <a:xfrm>
            <a:off x="2423160" y="5047488"/>
            <a:ext cx="2926080" cy="822960"/>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My answer:</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Answers (1 of 2): Build the storm</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1463040" y="1389888"/>
            <a:ext cx="9265615" cy="4754880"/>
          </a:xfrm>
          <a:prstGeom prst="roundRect">
            <a:avLst>
              <a:gd name="adj" fmla="val 962"/>
            </a:avLst>
          </a:prstGeom>
          <a:solidFill>
            <a:srgbClr val="F4EDDF"/>
          </a:solidFill>
          <a:ln w="19050">
            <a:solidFill>
              <a:srgbClr val="B8862B"/>
            </a:solidFill>
            <a:prstDash val="solid"/>
          </a:ln>
        </p:spPr>
      </p:sp>
      <p:sp>
        <p:nvSpPr>
          <p:cNvPr id="8" name="ans-tab"/>
          <p:cNvSpPr/>
          <p:nvPr/>
        </p:nvSpPr>
        <p:spPr>
          <a:xfrm>
            <a:off x="16459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1691640" y="2167128"/>
            <a:ext cx="8808415" cy="3840480"/>
          </a:xfrm>
          <a:prstGeom prst="rect">
            <a:avLst/>
          </a:prstGeom>
          <a:noFill/>
          <a:ln/>
        </p:spPr>
        <p:txBody>
          <a:bodyPr wrap="square" lIns="63500" tIns="63500" rIns="63500" bIns="63500" rtlCol="0" anchor="t"/>
          <a:lstStyle/>
          <a:p>
            <a:pPr algn="l" indent="0" marL="0">
              <a:spcAft>
                <a:spcPts val="1000"/>
              </a:spcAft>
              <a:buNone/>
            </a:pPr>
            <a:r>
              <a:rPr lang="en-US" sz="1800" b="1" dirty="0">
                <a:solidFill>
                  <a:srgbClr val="815E1E"/>
                </a:solidFill>
                <a:latin typeface="Calibri" pitchFamily="34" charset="0"/>
                <a:ea typeface="Calibri" pitchFamily="34" charset="-122"/>
                <a:cs typeface="Calibri" pitchFamily="34" charset="-120"/>
              </a:rPr>
              <a:t>1  </a:t>
            </a:r>
            <a:pPr algn="l" indent="0" marL="0">
              <a:spcAft>
                <a:spcPts val="1000"/>
              </a:spcAft>
              <a:buNone/>
            </a:pPr>
            <a:r>
              <a:rPr lang="en-US" sz="1800" dirty="0">
                <a:solidFill>
                  <a:srgbClr val="1E2229"/>
                </a:solidFill>
                <a:latin typeface="Calibri" pitchFamily="34" charset="0"/>
                <a:ea typeface="Calibri" pitchFamily="34" charset="-122"/>
                <a:cs typeface="Calibri" pitchFamily="34" charset="-120"/>
              </a:rPr>
              <a:t>Air is heated above a warm tropical ocean (around 27 degrees Celsius) and evaporation increases  (C)</a:t>
            </a:r>
            <a:endParaRPr lang="en-US" sz="1800" dirty="0"/>
          </a:p>
          <a:p>
            <a:pPr algn="l" indent="0" marL="0">
              <a:spcAft>
                <a:spcPts val="1000"/>
              </a:spcAft>
              <a:buNone/>
            </a:pPr>
            <a:r>
              <a:rPr lang="en-US" sz="1800" b="1" dirty="0">
                <a:solidFill>
                  <a:srgbClr val="815E1E"/>
                </a:solidFill>
                <a:latin typeface="Calibri" pitchFamily="34" charset="0"/>
                <a:ea typeface="Calibri" pitchFamily="34" charset="-122"/>
                <a:cs typeface="Calibri" pitchFamily="34" charset="-120"/>
              </a:rPr>
              <a:t>2  </a:t>
            </a:r>
            <a:pPr algn="l" indent="0" marL="0">
              <a:spcAft>
                <a:spcPts val="1000"/>
              </a:spcAft>
              <a:buNone/>
            </a:pPr>
            <a:r>
              <a:rPr lang="en-US" sz="1800" dirty="0">
                <a:solidFill>
                  <a:srgbClr val="1E2229"/>
                </a:solidFill>
                <a:latin typeface="Calibri" pitchFamily="34" charset="0"/>
                <a:ea typeface="Calibri" pitchFamily="34" charset="-122"/>
                <a:cs typeface="Calibri" pitchFamily="34" charset="-120"/>
              </a:rPr>
              <a:t>The warm, moist air rises rapidly and low pressure forms at the surface  (B)</a:t>
            </a:r>
            <a:endParaRPr lang="en-US" sz="1800" dirty="0"/>
          </a:p>
          <a:p>
            <a:pPr algn="l" indent="0" marL="0">
              <a:spcAft>
                <a:spcPts val="1000"/>
              </a:spcAft>
              <a:buNone/>
            </a:pPr>
            <a:r>
              <a:rPr lang="en-US" sz="1800" b="1" dirty="0">
                <a:solidFill>
                  <a:srgbClr val="815E1E"/>
                </a:solidFill>
                <a:latin typeface="Calibri" pitchFamily="34" charset="0"/>
                <a:ea typeface="Calibri" pitchFamily="34" charset="-122"/>
                <a:cs typeface="Calibri" pitchFamily="34" charset="-120"/>
              </a:rPr>
              <a:t>3  </a:t>
            </a:r>
            <a:pPr algn="l" indent="0" marL="0">
              <a:spcAft>
                <a:spcPts val="1000"/>
              </a:spcAft>
              <a:buNone/>
            </a:pPr>
            <a:r>
              <a:rPr lang="en-US" sz="1800" dirty="0">
                <a:solidFill>
                  <a:srgbClr val="1E2229"/>
                </a:solidFill>
                <a:latin typeface="Calibri" pitchFamily="34" charset="0"/>
                <a:ea typeface="Calibri" pitchFamily="34" charset="-122"/>
                <a:cs typeface="Calibri" pitchFamily="34" charset="-120"/>
              </a:rPr>
              <a:t>Air rushes in from the surrounding higher-pressure areas, causing strong winds  (G)</a:t>
            </a:r>
            <a:endParaRPr lang="en-US" sz="1800" dirty="0"/>
          </a:p>
          <a:p>
            <a:pPr algn="l" indent="0" marL="0">
              <a:spcAft>
                <a:spcPts val="1000"/>
              </a:spcAft>
              <a:buNone/>
            </a:pPr>
            <a:r>
              <a:rPr lang="en-US" sz="1800" b="1" dirty="0">
                <a:solidFill>
                  <a:srgbClr val="815E1E"/>
                </a:solidFill>
                <a:latin typeface="Calibri" pitchFamily="34" charset="0"/>
                <a:ea typeface="Calibri" pitchFamily="34" charset="-122"/>
                <a:cs typeface="Calibri" pitchFamily="34" charset="-120"/>
              </a:rPr>
              <a:t>4  </a:t>
            </a:r>
            <a:pPr algn="l" indent="0" marL="0">
              <a:spcAft>
                <a:spcPts val="1000"/>
              </a:spcAft>
              <a:buNone/>
            </a:pPr>
            <a:r>
              <a:rPr lang="en-US" sz="1800" dirty="0">
                <a:solidFill>
                  <a:srgbClr val="1E2229"/>
                </a:solidFill>
                <a:latin typeface="Calibri" pitchFamily="34" charset="0"/>
                <a:ea typeface="Calibri" pitchFamily="34" charset="-122"/>
                <a:cs typeface="Calibri" pitchFamily="34" charset="-120"/>
              </a:rPr>
              <a:t>The Coriolis effect makes the winds spiral upwards around the low pressure, and a calm eye forms  (D)</a:t>
            </a:r>
            <a:endParaRPr lang="en-US" sz="1800" dirty="0"/>
          </a:p>
          <a:p>
            <a:pPr algn="l" indent="0" marL="0">
              <a:spcAft>
                <a:spcPts val="1000"/>
              </a:spcAft>
              <a:buNone/>
            </a:pPr>
            <a:r>
              <a:rPr lang="en-US" sz="1800" b="1" dirty="0">
                <a:solidFill>
                  <a:srgbClr val="815E1E"/>
                </a:solidFill>
                <a:latin typeface="Calibri" pitchFamily="34" charset="0"/>
                <a:ea typeface="Calibri" pitchFamily="34" charset="-122"/>
                <a:cs typeface="Calibri" pitchFamily="34" charset="-120"/>
              </a:rPr>
              <a:t>5  </a:t>
            </a:r>
            <a:pPr algn="l" indent="0" marL="0">
              <a:spcAft>
                <a:spcPts val="1000"/>
              </a:spcAft>
              <a:buNone/>
            </a:pPr>
            <a:r>
              <a:rPr lang="en-US" sz="1800" dirty="0">
                <a:solidFill>
                  <a:srgbClr val="1E2229"/>
                </a:solidFill>
                <a:latin typeface="Calibri" pitchFamily="34" charset="0"/>
                <a:ea typeface="Calibri" pitchFamily="34" charset="-122"/>
                <a:cs typeface="Calibri" pitchFamily="34" charset="-120"/>
              </a:rPr>
              <a:t>The rising air cools and condenses into towering cumulonimbus clouds, releasing torrential rain and the heat that powers the storm  (A)</a:t>
            </a:r>
            <a:endParaRPr lang="en-US" sz="1800" dirty="0"/>
          </a:p>
          <a:p>
            <a:pPr algn="l" indent="0" marL="0">
              <a:spcAft>
                <a:spcPts val="1000"/>
              </a:spcAft>
              <a:buNone/>
            </a:pPr>
            <a:r>
              <a:rPr lang="en-US" sz="1800" b="1" dirty="0">
                <a:solidFill>
                  <a:srgbClr val="815E1E"/>
                </a:solidFill>
                <a:latin typeface="Calibri" pitchFamily="34" charset="0"/>
                <a:ea typeface="Calibri" pitchFamily="34" charset="-122"/>
                <a:cs typeface="Calibri" pitchFamily="34" charset="-120"/>
              </a:rPr>
              <a:t>6  </a:t>
            </a:r>
            <a:pPr algn="l" indent="0" marL="0">
              <a:spcAft>
                <a:spcPts val="1000"/>
              </a:spcAft>
              <a:buNone/>
            </a:pPr>
            <a:r>
              <a:rPr lang="en-US" sz="1800" dirty="0">
                <a:solidFill>
                  <a:srgbClr val="1E2229"/>
                </a:solidFill>
                <a:latin typeface="Calibri" pitchFamily="34" charset="0"/>
                <a:ea typeface="Calibri" pitchFamily="34" charset="-122"/>
                <a:cs typeface="Calibri" pitchFamily="34" charset="-120"/>
              </a:rPr>
              <a:t>Air at the top cools and sinks back down in the eye, which stays clear, dry and calm  (H)</a:t>
            </a:r>
            <a:endParaRPr lang="en-US" sz="1800" dirty="0"/>
          </a:p>
          <a:p>
            <a:pPr algn="l" indent="0" marL="0">
              <a:spcAft>
                <a:spcPts val="1000"/>
              </a:spcAft>
              <a:buNone/>
            </a:pPr>
            <a:r>
              <a:rPr lang="en-US" sz="1800" b="1" dirty="0">
                <a:solidFill>
                  <a:srgbClr val="815E1E"/>
                </a:solidFill>
                <a:latin typeface="Calibri" pitchFamily="34" charset="0"/>
                <a:ea typeface="Calibri" pitchFamily="34" charset="-122"/>
                <a:cs typeface="Calibri" pitchFamily="34" charset="-120"/>
              </a:rPr>
              <a:t>7  </a:t>
            </a:r>
            <a:pPr algn="l" indent="0" marL="0">
              <a:spcAft>
                <a:spcPts val="1000"/>
              </a:spcAft>
              <a:buNone/>
            </a:pPr>
            <a:r>
              <a:rPr lang="en-US" sz="1800" dirty="0">
                <a:solidFill>
                  <a:srgbClr val="1E2229"/>
                </a:solidFill>
                <a:latin typeface="Calibri" pitchFamily="34" charset="0"/>
                <a:ea typeface="Calibri" pitchFamily="34" charset="-122"/>
                <a:cs typeface="Calibri" pitchFamily="34" charset="-120"/>
              </a:rPr>
              <a:t>The storm travels across the ocean in the direction of the prevailing wind  (F)</a:t>
            </a:r>
            <a:endParaRPr lang="en-US" sz="1800" dirty="0"/>
          </a:p>
          <a:p>
            <a:pPr algn="l" indent="0" marL="0">
              <a:spcAft>
                <a:spcPts val="1000"/>
              </a:spcAft>
              <a:buNone/>
            </a:pPr>
            <a:r>
              <a:rPr lang="en-US" sz="1800" b="1" dirty="0">
                <a:solidFill>
                  <a:srgbClr val="815E1E"/>
                </a:solidFill>
                <a:latin typeface="Calibri" pitchFamily="34" charset="0"/>
                <a:ea typeface="Calibri" pitchFamily="34" charset="-122"/>
                <a:cs typeface="Calibri" pitchFamily="34" charset="-120"/>
              </a:rPr>
              <a:t>8  </a:t>
            </a:r>
            <a:pPr algn="l" indent="0" marL="0">
              <a:spcAft>
                <a:spcPts val="1000"/>
              </a:spcAft>
              <a:buNone/>
            </a:pPr>
            <a:r>
              <a:rPr lang="en-US" sz="1800" dirty="0">
                <a:solidFill>
                  <a:srgbClr val="1E2229"/>
                </a:solidFill>
                <a:latin typeface="Calibri" pitchFamily="34" charset="0"/>
                <a:ea typeface="Calibri" pitchFamily="34" charset="-122"/>
                <a:cs typeface="Calibri" pitchFamily="34" charset="-120"/>
              </a:rPr>
              <a:t>The storm reaches land, loses its supply of moisture and heat, and weakens  (E)</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Answers (2 of 2): Build the storm</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Check</a:t>
            </a:r>
            <a:endParaRPr lang="en-US" sz="1800" dirty="0"/>
          </a:p>
        </p:txBody>
      </p:sp>
      <p:sp>
        <p:nvSpPr>
          <p:cNvPr id="7" name="why-panel"/>
          <p:cNvSpPr/>
          <p:nvPr/>
        </p:nvSpPr>
        <p:spPr>
          <a:xfrm>
            <a:off x="1463040" y="1389888"/>
            <a:ext cx="9265615" cy="4754880"/>
          </a:xfrm>
          <a:prstGeom prst="roundRect">
            <a:avLst>
              <a:gd name="adj" fmla="val 962"/>
            </a:avLst>
          </a:prstGeom>
          <a:solidFill>
            <a:srgbClr val="E6ECE7"/>
          </a:solidFill>
          <a:ln/>
        </p:spPr>
      </p:sp>
      <p:sp>
        <p:nvSpPr>
          <p:cNvPr id="8" name="why-hex"/>
          <p:cNvSpPr/>
          <p:nvPr/>
        </p:nvSpPr>
        <p:spPr>
          <a:xfrm>
            <a:off x="1645920" y="1572768"/>
            <a:ext cx="685800" cy="593903"/>
          </a:xfrm>
          <a:prstGeom prst="hexagon">
            <a:avLst/>
          </a:prstGeom>
          <a:solidFill>
            <a:srgbClr val="3F6B4A"/>
          </a:solidFill>
          <a:ln/>
        </p:spPr>
      </p:sp>
      <p:sp>
        <p:nvSpPr>
          <p:cNvPr id="9" name="why-hex-label"/>
          <p:cNvSpPr txBox="1"/>
          <p:nvPr/>
        </p:nvSpPr>
        <p:spPr>
          <a:xfrm>
            <a:off x="164592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0" name="why"/>
          <p:cNvSpPr txBox="1"/>
          <p:nvPr/>
        </p:nvSpPr>
        <p:spPr>
          <a:xfrm>
            <a:off x="1645920" y="2304288"/>
            <a:ext cx="889985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Warm sea, evaporation and rising air come first, creating low pressure that pulls in wind. The Coriolis effect spins the storm and forms the eye, condensation builds the clouds and releases the heat that powers it, air sinks in the eye, and the storm travels on the prevailing wind until landfall cuts off its fuel.</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Answers: The storm passes over</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4EDDF"/>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t"/>
          <a:lstStyle/>
          <a:p>
            <a:pPr algn="l" indent="0" marL="0">
              <a:spcAft>
                <a:spcPts val="1000"/>
              </a:spcAft>
              <a:buNone/>
            </a:pPr>
            <a:r>
              <a:rPr lang="en-US" sz="1800" b="1" dirty="0">
                <a:solidFill>
                  <a:srgbClr val="815E1E"/>
                </a:solidFill>
                <a:latin typeface="Calibri" pitchFamily="34" charset="0"/>
                <a:ea typeface="Calibri" pitchFamily="34" charset="-122"/>
                <a:cs typeface="Calibri" pitchFamily="34" charset="-120"/>
              </a:rPr>
              <a:t>1  </a:t>
            </a:r>
            <a:pPr algn="l" indent="0" marL="0">
              <a:spcAft>
                <a:spcPts val="1000"/>
              </a:spcAft>
              <a:buNone/>
            </a:pPr>
            <a:r>
              <a:rPr lang="en-US" sz="1800" dirty="0">
                <a:solidFill>
                  <a:srgbClr val="1E2229"/>
                </a:solidFill>
                <a:latin typeface="Calibri" pitchFamily="34" charset="0"/>
                <a:ea typeface="Calibri" pitchFamily="34" charset="-122"/>
                <a:cs typeface="Calibri" pitchFamily="34" charset="-120"/>
              </a:rPr>
              <a:t>Temperature and air pressure start to fall, air rises, clouds begin to form and it becomes windy  (D)</a:t>
            </a:r>
            <a:endParaRPr lang="en-US" sz="1800" dirty="0"/>
          </a:p>
          <a:p>
            <a:pPr algn="l" indent="0" marL="0">
              <a:spcAft>
                <a:spcPts val="1000"/>
              </a:spcAft>
              <a:buNone/>
            </a:pPr>
            <a:r>
              <a:rPr lang="en-US" sz="1800" b="1" dirty="0">
                <a:solidFill>
                  <a:srgbClr val="815E1E"/>
                </a:solidFill>
                <a:latin typeface="Calibri" pitchFamily="34" charset="0"/>
                <a:ea typeface="Calibri" pitchFamily="34" charset="-122"/>
                <a:cs typeface="Calibri" pitchFamily="34" charset="-120"/>
              </a:rPr>
              <a:t>2  </a:t>
            </a:r>
            <a:pPr algn="l" indent="0" marL="0">
              <a:spcAft>
                <a:spcPts val="1000"/>
              </a:spcAft>
              <a:buNone/>
            </a:pPr>
            <a:r>
              <a:rPr lang="en-US" sz="1800" dirty="0">
                <a:solidFill>
                  <a:srgbClr val="1E2229"/>
                </a:solidFill>
                <a:latin typeface="Calibri" pitchFamily="34" charset="0"/>
                <a:ea typeface="Calibri" pitchFamily="34" charset="-122"/>
                <a:cs typeface="Calibri" pitchFamily="34" charset="-120"/>
              </a:rPr>
              <a:t>Pressure falls more rapidly, the wind increases, cumulonimbus cloud forms and there is heavy rain  (C)</a:t>
            </a:r>
            <a:endParaRPr lang="en-US" sz="1800" dirty="0"/>
          </a:p>
          <a:p>
            <a:pPr algn="l" indent="0" marL="0">
              <a:spcAft>
                <a:spcPts val="1000"/>
              </a:spcAft>
              <a:buNone/>
            </a:pPr>
            <a:r>
              <a:rPr lang="en-US" sz="1800" b="1" dirty="0">
                <a:solidFill>
                  <a:srgbClr val="815E1E"/>
                </a:solidFill>
                <a:latin typeface="Calibri" pitchFamily="34" charset="0"/>
                <a:ea typeface="Calibri" pitchFamily="34" charset="-122"/>
                <a:cs typeface="Calibri" pitchFamily="34" charset="-120"/>
              </a:rPr>
              <a:t>3  </a:t>
            </a:r>
            <a:pPr algn="l" indent="0" marL="0">
              <a:spcAft>
                <a:spcPts val="1000"/>
              </a:spcAft>
              <a:buNone/>
            </a:pPr>
            <a:r>
              <a:rPr lang="en-US" sz="1800" dirty="0">
                <a:solidFill>
                  <a:srgbClr val="1E2229"/>
                </a:solidFill>
                <a:latin typeface="Calibri" pitchFamily="34" charset="0"/>
                <a:ea typeface="Calibri" pitchFamily="34" charset="-122"/>
                <a:cs typeface="Calibri" pitchFamily="34" charset="-120"/>
              </a:rPr>
              <a:t>A period of calm with no wind or rain: the Sun appears, it gets warmer and the pressure is very low  (E)</a:t>
            </a:r>
            <a:endParaRPr lang="en-US" sz="1800" dirty="0"/>
          </a:p>
          <a:p>
            <a:pPr algn="l" indent="0" marL="0">
              <a:spcAft>
                <a:spcPts val="1000"/>
              </a:spcAft>
              <a:buNone/>
            </a:pPr>
            <a:r>
              <a:rPr lang="en-US" sz="1800" b="1" dirty="0">
                <a:solidFill>
                  <a:srgbClr val="815E1E"/>
                </a:solidFill>
                <a:latin typeface="Calibri" pitchFamily="34" charset="0"/>
                <a:ea typeface="Calibri" pitchFamily="34" charset="-122"/>
                <a:cs typeface="Calibri" pitchFamily="34" charset="-120"/>
              </a:rPr>
              <a:t>4  </a:t>
            </a:r>
            <a:pPr algn="l" indent="0" marL="0">
              <a:spcAft>
                <a:spcPts val="1000"/>
              </a:spcAft>
              <a:buNone/>
            </a:pPr>
            <a:r>
              <a:rPr lang="en-US" sz="1800" dirty="0">
                <a:solidFill>
                  <a:srgbClr val="1E2229"/>
                </a:solidFill>
                <a:latin typeface="Calibri" pitchFamily="34" charset="0"/>
                <a:ea typeface="Calibri" pitchFamily="34" charset="-122"/>
                <a:cs typeface="Calibri" pitchFamily="34" charset="-120"/>
              </a:rPr>
              <a:t>Wind and heavy rain increase dramatically again, the temperature drops and the pressure begins to rise  (B)</a:t>
            </a:r>
            <a:endParaRPr lang="en-US" sz="1800" dirty="0"/>
          </a:p>
          <a:p>
            <a:pPr algn="l" indent="0" marL="0">
              <a:spcAft>
                <a:spcPts val="1000"/>
              </a:spcAft>
              <a:buNone/>
            </a:pPr>
            <a:r>
              <a:rPr lang="en-US" sz="1800" b="1" dirty="0">
                <a:solidFill>
                  <a:srgbClr val="815E1E"/>
                </a:solidFill>
                <a:latin typeface="Calibri" pitchFamily="34" charset="0"/>
                <a:ea typeface="Calibri" pitchFamily="34" charset="-122"/>
                <a:cs typeface="Calibri" pitchFamily="34" charset="-120"/>
              </a:rPr>
              <a:t>5  </a:t>
            </a:r>
            <a:pPr algn="l" indent="0" marL="0">
              <a:spcAft>
                <a:spcPts val="1000"/>
              </a:spcAft>
              <a:buNone/>
            </a:pPr>
            <a:r>
              <a:rPr lang="en-US" sz="1800" dirty="0">
                <a:solidFill>
                  <a:srgbClr val="1E2229"/>
                </a:solidFill>
                <a:latin typeface="Calibri" pitchFamily="34" charset="0"/>
                <a:ea typeface="Calibri" pitchFamily="34" charset="-122"/>
                <a:cs typeface="Calibri" pitchFamily="34" charset="-120"/>
              </a:rPr>
              <a:t>The pressure and temperature rise, and the wind and rainfall subside as the storm ends  (A)</a:t>
            </a:r>
            <a:endParaRPr lang="en-US" sz="1800" dirty="0"/>
          </a:p>
        </p:txBody>
      </p:sp>
      <p:sp>
        <p:nvSpPr>
          <p:cNvPr id="10" name="why-panel"/>
          <p:cNvSpPr/>
          <p:nvPr/>
        </p:nvSpPr>
        <p:spPr>
          <a:xfrm>
            <a:off x="7223760" y="1389888"/>
            <a:ext cx="4419295" cy="4754880"/>
          </a:xfrm>
          <a:prstGeom prst="roundRect">
            <a:avLst>
              <a:gd name="adj" fmla="val 1035"/>
            </a:avLst>
          </a:prstGeom>
          <a:solidFill>
            <a:srgbClr val="E6ECE7"/>
          </a:solidFill>
          <a:ln/>
        </p:spPr>
      </p:sp>
      <p:sp>
        <p:nvSpPr>
          <p:cNvPr id="11" name="why-hex"/>
          <p:cNvSpPr/>
          <p:nvPr/>
        </p:nvSpPr>
        <p:spPr>
          <a:xfrm>
            <a:off x="7406640" y="1572768"/>
            <a:ext cx="685800" cy="593903"/>
          </a:xfrm>
          <a:prstGeom prst="hexagon">
            <a:avLst/>
          </a:prstGeom>
          <a:solidFill>
            <a:srgbClr val="3F6B4A"/>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The passage is symmetrical around the eye: pressure and temperature fall and wind builds; the storm intensifies; the eye brings calm, sun and the lowest pressure; the second half of the storm brings the wind and rain back as pressure starts to rise; then everything subsides.</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Answers: Exit ticket</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4EDDF"/>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In which part of a tropical storm are the winds strongest and the rain heaviest?</a:t>
            </a:r>
            <a:endParaRPr lang="en-US" sz="1800" dirty="0"/>
          </a:p>
          <a:p>
            <a:pPr algn="l" indent="0" marL="0">
              <a:buNone/>
            </a:pPr>
            <a:r>
              <a:rPr lang="en-US" sz="3200" b="1" dirty="0">
                <a:solidFill>
                  <a:srgbClr val="1E2229"/>
                </a:solidFill>
                <a:latin typeface="Cambria" pitchFamily="34" charset="0"/>
                <a:ea typeface="Cambria" pitchFamily="34" charset="-122"/>
                <a:cs typeface="Cambria" pitchFamily="34" charset="-120"/>
              </a:rPr>
              <a:t>C   The eye wall, the ring of cloud around the eye</a:t>
            </a:r>
            <a:endParaRPr lang="en-US" sz="1800" dirty="0"/>
          </a:p>
        </p:txBody>
      </p:sp>
      <p:sp>
        <p:nvSpPr>
          <p:cNvPr id="10" name="why-panel"/>
          <p:cNvSpPr/>
          <p:nvPr/>
        </p:nvSpPr>
        <p:spPr>
          <a:xfrm>
            <a:off x="7223760" y="1389888"/>
            <a:ext cx="4419295" cy="4754880"/>
          </a:xfrm>
          <a:prstGeom prst="roundRect">
            <a:avLst>
              <a:gd name="adj" fmla="val 1035"/>
            </a:avLst>
          </a:prstGeom>
          <a:solidFill>
            <a:srgbClr val="E6ECE7"/>
          </a:solidFill>
          <a:ln/>
        </p:spPr>
      </p:sp>
      <p:sp>
        <p:nvSpPr>
          <p:cNvPr id="11" name="why-hex"/>
          <p:cNvSpPr/>
          <p:nvPr/>
        </p:nvSpPr>
        <p:spPr>
          <a:xfrm>
            <a:off x="7406640" y="1572768"/>
            <a:ext cx="685800" cy="593903"/>
          </a:xfrm>
          <a:prstGeom prst="hexagon">
            <a:avLst/>
          </a:prstGeom>
          <a:solidFill>
            <a:srgbClr val="3F6B4A"/>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The eye wall is the ring of the tallest cumulonimbus cloud surrounding the calm eye; the air rises fastest there, so it has the most intense wind and rain. The eye itself is calm because air sinks in it.</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theme/theme1.xml><?xml version="1.0" encoding="utf-8"?>
<a:theme xmlns:a="http://schemas.openxmlformats.org/drawingml/2006/main" name="Ad Astra geography">
  <a:themeElements>
    <a:clrScheme name="Ad Astra geography">
      <a:dk1>
        <a:srgbClr val="1E2229"/>
      </a:dk1>
      <a:lt1>
        <a:srgbClr val="FFFFFF"/>
      </a:lt1>
      <a:dk2>
        <a:srgbClr val="32563B"/>
      </a:dk2>
      <a:lt2>
        <a:srgbClr val="E6ECE7"/>
      </a:lt2>
      <a:accent1>
        <a:srgbClr val="3F6B4A"/>
      </a:accent1>
      <a:accent2>
        <a:srgbClr val="B8862B"/>
      </a:accent2>
      <a:accent3>
        <a:srgbClr val="8CA692"/>
      </a:accent3>
      <a:accent4>
        <a:srgbClr val="815E1E"/>
      </a:accent4>
      <a:accent5>
        <a:srgbClr val="4A505C"/>
      </a:accent5>
      <a:accent6>
        <a:srgbClr val="D9BF8F"/>
      </a:accent6>
      <a:hlink>
        <a:srgbClr val="3F6B4A"/>
      </a:hlink>
      <a:folHlink>
        <a:srgbClr val="2C4B34"/>
      </a:folHlink>
    </a:clrScheme>
    <a:fontScheme name="Ad Astra geography">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Edu.Ai SV Digital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Challenge of Natural Hazards: Weather Hazards · Chapter 2: Anatomy of a tropical storm</dc:title>
  <dc:subject>Geography · Year 10</dc:subject>
  <dc:creator>Dr Vitor Merissi de Carvalho</dc:creator>
  <cp:lastModifiedBy>Dr Vitor Merissi de Carvalho</cp:lastModifiedBy>
  <cp:revision>1</cp:revision>
  <dcterms:created xsi:type="dcterms:W3CDTF">2026-10-19T06:07:49Z</dcterms:created>
  <dcterms:modified xsi:type="dcterms:W3CDTF">2026-10-19T06:07:49Z</dcterms:modified>
</cp:coreProperties>
</file>