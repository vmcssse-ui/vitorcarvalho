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718c456-e359-a04c-8111-6ad5e41e5ccc}">
          <p14:sldIdLst>
            <p14:sldId id="256"/>
          </p14:sldIdLst>
        </p14:section>
        <p14:section name="Gate" id="{19d69ae2-eb4f-2f9c-c3eb-a734b6e1a99a}">
          <p14:sldIdLst>
            <p14:sldId id="257"/>
            <p14:sldId id="258"/>
          </p14:sldIdLst>
        </p14:section>
        <p14:section name="Pre-teach" id="{c8477811-56eb-91a7-48e6-7480006a1ded}">
          <p14:sldIdLst>
            <p14:sldId id="259"/>
            <p14:sldId id="260"/>
          </p14:sldIdLst>
        </p14:section>
        <p14:section name="Read-along" id="{1934150f-d1e6-8662-f58c-e6eae2f21072}">
          <p14:sldIdLst>
            <p14:sldId id="261"/>
            <p14:sldId id="262"/>
          </p14:sldIdLst>
        </p14:section>
        <p14:section name="Teach" id="{2f13c7a8-be8f-a858-ef3c-0f0233525516}">
          <p14:sldIdLst>
            <p14:sldId id="263"/>
            <p14:sldId id="264"/>
            <p14:sldId id="265"/>
          </p14:sldIdLst>
        </p14:section>
        <p14:section name="Routes" id="{a463791e-7a9b-9592-adde-14095f361543}">
          <p14:sldIdLst>
            <p14:sldId id="266"/>
            <p14:sldId id="267"/>
            <p14:sldId id="268"/>
            <p14:sldId id="269"/>
          </p14:sldIdLst>
        </p14:section>
        <p14:section name="Close" id="{06a28c92-bc31-fb0e-4eab-6555768659fb}">
          <p14:sldIdLst>
            <p14:sldId id="270"/>
          </p14:sldIdLst>
        </p14:section>
        <p14:section name="Answers" id="{76690372-8ac1-c1a4-be67-dfad1f55d6f0}">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Anatomy of a tropical storm. The eight-step sequence that builds a tropical storm, what a cross-section of one shows, and what the weather does as a storm passes overhead.
This deck covers the department's lessons: 3 (How do tropical storms form?: What is the sequence of events that turns warm, moist air over a tropical ocean into a tropical storm?); 4 (Structure and features of tropical storms: What does a cross-section of a tropical storm show, and what is it like when one passes overhead?).
Read the big question aloud: "Why do tropical storms form where they do, why do they hurt some places more than others, and is the UK's own weather becoming more extreme?"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eye of a tropical storm is between 16 and 48 kilometres across. How much wider, in kilometres, is the widest eye than the narrowest?  →  32 km
2. In the eye of a tropical storm the air ___, so there is no cloud and the weather is calm.  →  sinks
3. What provides the energy that powers a tropical storm once it has started?  →  D   Heat released when water vapour condenses into cloud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32 km. 48 − 16 = 32 km. The eye can be three times wider in one storm than another.
2. sinks. Air that has risen to the top of the storm cools and sinks back down inside the eye. Sinking air cannot form cloud, so the eye is dry and calm.
3. D   Heat released when water vapour condenses into cloud. Warm sea water evaporates, the vapour rises and condenses, and condensation releases heat. That released heat keeps the air rising and the storm growing.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evaporation: water turning into water vapour. Example: "Warm seas cause a lot of evaporation, which feeds the storm with moisture."
• condensation: water vapour turning back into liquid water droplets. Example: "Condensation in the rising air builds the storm clouds."
• cumulonimbus: a towering storm cloud that brings heavy rain. Example: "Cumulonimbus clouds tower more than 13 kilometres into the sky."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eye: the calm, clear centre of a tropical storm. Example: "In the eye the wind drops and the Sun comes out."
• Coriolis effect: the bending of winds caused by the spin of the Earth. Example: "The Coriolis effect makes the storm rotate."
• landfall: the moment a storm moves from the sea onto the land. Example: "After landfall the storm loses its supply of warm water and weakens."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tropical storm begins over a warm ocean.
2. The sea heats the air above it, and water evaporates.
3. The warm, moist air rises fast, making low pressure.
4. Air rushes in from all around to fill the gap.
5. This makes strong winds.
6. The spin of the Earth bends the winds, so the storm starts to rotate.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rising air cools, and water vapour condenses into huge clouds.
8. Condensing water gives out heat, and that heat powers the storm.
9. In the middle, cold air sinks and forms a calm, clear eye.
10. The storm drifts across the ocean on the prevailing wind.
11. When it reaches land it loses its fuel and dies away.
12. A storm can be more than 300 kilometres across.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Eight steps to a storm. Say it in your own words, then check understanding with a quick question: ask a pupil from the pre-teach group first, since they met these words and ideas before the lesson. Pupils try to recall before you re-explain.
In class you sorted eight statements into the sequence that explains how a tropical storm forms. Here is that sequence, in your own words. Step one: air is heated above the surface of a warm tropical ocean. Once the sea reaches around 27 degrees Celsius, evaporation increases sharply. Step two: the evaporation and heating make the warm, moist air rise rapidly, and this creates low pressure at the surface. Step three: the atmosphere tries to even out the pressure, so air rushes in from the surrounding areas of higher pressure towards the centre of the storm. This inrushing air is the storm's strong wind.
Step four: the Coriolis effect, caused by the spin of the Earth, bends the inrushing winds so that they spiral upwards and around the low-pressure centre. A calm eye forms in the middle. Step five: as the air rises it cools, and its water vapour condenses to form huge, towering cumulonimbus clouds that release torrential rain. Condensation gives out heat (the heat that was taken in when the water evaporated), and this released heat is what powers the storm and keeps it growing. Step six: the air reaches its highest point around the eye, where it becomes cold and sinks back down inside the eye. Sinking air cannot form cloud, so the eye is dry, clear and much calmer.
Step seven: the whole storm travels slowly across the ocean in the direction of the prevailing wind, usually westwards, picking up more moisture as it goes. Step eight: when the storm crosses the coast the warm ocean beneath it is gone, so its supply of heat and moisture is cut off and it weakens. The key words an examiner looks for are evaporation, rising air, low pressure, condensation, cumulonimbus, Coriolis effect, eye and landfall.
Tip: Learn the sequence as a chain of causes: warm sea makes evaporation; evaporation makes rising air; rising air makes low pressure; low pressure pulls in wind; the Earth's spin makes it rotate; condensation releases the heat that powers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Inside the storm: the cross-section. Say it in your own words, then check understanding with a quick question: ask a pupil from the pre-teach group first, since they met these words and ideas before the lesson. Pupils try to recall before you re-explain.
A cross-section of a tropical storm is a slice through it from side to side. Across the middle is the eye, a cloud-free area 16 to 48 kilometres wide where dry air flows down from the upper atmosphere. Around the eye is the eye wall, a ring of the tallest cloud where the winds and rain are at their most intense. Beyond the eye wall are the rain bands, spiralling arms of cumulonimbus cloud that bring bursts of torrential rain. The whole storm is typically 240 to 320 kilometres across and its clouds may tower more than 13 kilometres high.
At the surface the winds spiral in anticlockwise (in the northern hemisphere) towards the low pressure of the eye. The storm sits over water warmer than 27 degrees Celsius, which is its fuel supply, and the whole system moves slowly across the ocean at about 16 to 24 kilometres per hour. Some storms are so powerful that their energy registers on the seismographs used to record earthquakes.
When you draw the cross-section, label five things: the eye, the eye wall, the rain bands, the flow of dry air sinking into the eye, and the direction of movement with its speed. Add the two measurements the deck gives: the width of the storm and the width of the eye.
Worked example — model it step by step, thinking aloud: A tropical storm is moving at 24 kilometres per hour, the top of the usual range. How far will it travel in 10 hours? (1) Distance = speed × time. (2) 24 km/h × 10 h = 240 km. (3) Check the sense: 240 km is about the width of a whole storm, so in ten hours the storm has moved roughly its own width. Answer: 240 km.
Tip: Learn four numbers: eye 16 to 48 km across, storm 240 to 320 km across, cloud more than 13 km high, movement 16 to 24 km/h.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Living through the passage of a storm. Say it in your own words, then check understanding with a quick question: ask a pupil from the pre-teach group first, since they met these words and ideas before the lesson. Pupils try to recall before you re-explain.
Imagine standing still while a tropical storm passes over you. First the temperature and the air pressure start to fall, air rises, clouds begin to form and it becomes windy. Then the pressure falls more and more rapidly, the wind increases, cumulonimbus cloud builds and heavy rain begins. Next comes the eye: a strange period of calm with no wind or rain, the Sun appears and it gets warmer, and the pressure is at its very lowest.
The calm does not last. The other side of the eye wall arrives, so wind and heavy rain increase dramatically again, the temperature drops and the pressure begins to rise. Finally, as the storm moves away, the pressure and temperature rise back to normal and the wind and rain subside. A barometer trace of the passage looks like a deep V: falling, falling, lowest in the eye, then rising.
Tip: The eye is the trap in exam questions: it is the calmest moment but the lowest pressure. Do not confuse calm with high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Build the storm.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stages in the correct order to explain how a tropical storm forms.
Support — work through the steps with the group: (1) Start with the fuel: a warm sea and evaporation. Nothing happens before that. (2) Then follow the air upwards: rising air, low pressure, air rushing in. (3) Now the storm takes shape: the Coriolis effect makes it spin and the eye forms; the rising air condenses into cloud; air sinks in the eye. (4) Finish with the journey: the storm travels on the prevailing wind and finally dies over land.
Parallel worked example for Support (model it, do not give the task answer): Put in order the three stages of a simple thunderstorm forming on a hot afternoon: cloud builds and rain falls; the ground heats the air above it; the warm air rises and cools. Heating comes first.; Rising comes next.; Cloud and rain come last.. Answer: The ground heats the air above it; the warm air rises and cools; cloud builds and rain falls..
Core — reveal the hint only on request: Fuel first (warm sea, evaporation), then rising air and low pressure, then wind, spin and cloud, then the eye, then the journey and the landfall.
Stretch — no help; when finished: Explain why a tropical storm weakens over land but can strengthen again if it moves back out over warm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Build the storm.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stages in the correct order to explain how a tropical storm forms.
Support — work through the steps with the group: (1) Start with the fuel: a warm sea and evaporation. Nothing happens before that. (2) Then follow the air upwards: rising air, low pressure, air rushing in. (3) Now the storm takes shape: the Coriolis effect makes it spin and the eye forms; the rising air condenses into cloud; air sinks in the eye. (4) Finish with the journey: the storm travels on the prevailing wind and finally dies over land.
Parallel worked example for Support (model it, do not give the task answer): Put in order the three stages of a simple thunderstorm forming on a hot afternoon: cloud builds and rain falls; the ground heats the air above it; the warm air rises and cools. Heating comes first.; Rising comes next.; Cloud and rain come last.. Answer: The ground heats the air above it; the warm air rises and cools; cloud builds and rain falls..
Core — reveal the hint only on request: Fuel first (warm sea, evaporation), then rising air and low pressure, then wind, spin and cloud, then the eye, then the journey and the landfall.
Stretch — no help; when finished: Explain why a tropical storm weakens over land but can strengthen again if it moves back out over warm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storm passes over.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descriptions in order to show the changes as a tropical storm passes over a place.
Support — work through the steps with the group: (1) Follow the pressure: it falls, falls faster, reaches its lowest, then starts to rise, then returns to normal. (2) The lowest pressure is the eye, which is the calm stage in the middle. (3) The two stormy stages sit either side of the calm eye: one before it, one after it. (4) The gentle stages are the first and the last.
Parallel worked example for Support (model it, do not give the task answer): Put in order these three stages of walking through a tunnel: daylight fades; it is completely dark; daylight returns. Fading comes first.; Darkness is the middle.; Returning light is last.. Answer: Daylight fades; it is completely dark; daylight returns..
Core — reveal the hint only on request: Think of the pressure as a V shape: falling, falling fast, lowest in the calm eye, rising, back to normal.
Stretch — no help; when finished: Explain why the temperature rises in the eye even though the pressure is at its lowest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storm passes over.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descriptions in order to show the changes as a tropical storm passes over a place.
Support — work through the steps with the group: (1) Follow the pressure: it falls, falls faster, reaches its lowest, then starts to rise, then returns to normal. (2) The lowest pressure is the eye, which is the calm stage in the middle. (3) The two stormy stages sit either side of the calm eye: one before it, one after it. (4) The gentle stages are the first and the last.
Parallel worked example for Support (model it, do not give the task answer): Put in order these three stages of walking through a tunnel: daylight fades; it is completely dark; daylight returns. Fading comes first.; Darkness is the middle.; Returning light is last.. Answer: Daylight fades; it is completely dark; daylight returns..
Core — reveal the hint only on request: Think of the pressure as a V shape: falling, falling fast, lowest in the calm eye, rising, back to normal.
Stretch — no help; when finished: Explain why the temperature rises in the eye even though the pressure is at its lowest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part of a tropical storm are the winds strongest and the rain heaviest?
Answer: C   The eye wall, the ring of cloud around the eye. The eye wall is the ring of the tallest cumulonimbus cloud surrounding the calm eye; the air rises fastest there, so it has the most intense wind and rain. The eye itself is calm because air sinks in it.
Source of this question: module 3 task ("Where is the worst weather?")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Build the storm. Reveal the answer; pupils mark their own work in a different colour, then read the "why" together. Same destination for every lane, so one answer serves the whole class.
Answer: Air is heated above a warm tropical ocean (around 27 degrees Celsius) and evaporation increases  (C); The warm, moist air rises rapidly and low pressure forms at the surface  (B); Air rushes in from the surrounding higher-pressure areas, causing strong winds  (G); The Coriolis effect makes the winds spiral upwards around the low pressure, and a calm eye forms  (D); The rising air cools and condenses into towering cumulonimbus clouds, releasing torrential rain and the heat that powers the storm  (A); Air at the top cools and sinks back down in the eye, which stays clear, dry and calm  (H); The storm travels across the ocean in the direction of the prevailing wind  (F); The storm reaches land, loses its supply of moisture and heat, and weakens  (E)
Why: Warm sea, evaporation and rising air come first, creating low pressure that pulls in wind. The Coriolis effect spins the storm and forms the eye, condensation builds the clouds and releases the heat that powers it, air sinks in the eye, and the storm travels on the prevailing wind until landfall cuts off its fuel.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Build the storm. Reveal the answer; pupils mark their own work in a different colour, then read the "why" together. Same destination for every lane, so one answer serves the whole class.
Answer: Air is heated above a warm tropical ocean (around 27 degrees Celsius) and evaporation increases  (C); The warm, moist air rises rapidly and low pressure forms at the surface  (B); Air rushes in from the surrounding higher-pressure areas, causing strong winds  (G); The Coriolis effect makes the winds spiral upwards around the low pressure, and a calm eye forms  (D); The rising air cools and condenses into towering cumulonimbus clouds, releasing torrential rain and the heat that powers the storm  (A); Air at the top cools and sinks back down in the eye, which stays clear, dry and calm  (H); The storm travels across the ocean in the direction of the prevailing wind  (F); The storm reaches land, loses its supply of moisture and heat, and weakens  (E)
Why: Warm sea, evaporation and rising air come first, creating low pressure that pulls in wind. The Coriolis effect spins the storm and forms the eye, condensation builds the clouds and releases the heat that powers it, air sinks in the eye, and the storm travels on the prevailing wind until landfall cuts off its fuel.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storm passes over. Reveal the answer; pupils mark their own work in a different colour, then read the "why" together. Same destination for every lane, so one answer serves the whole class.
Answer: Temperature and air pressure start to fall, air rises, clouds begin to form and it becomes windy  (D); Pressure falls more rapidly, the wind increases, cumulonimbus cloud forms and there is heavy rain  (C); A period of calm with no wind or rain: the Sun appears, it gets warmer and the pressure is very low  (E); Wind and heavy rain increase dramatically again, the temperature drops and the pressure begins to rise  (B); The pressure and temperature rise, and the wind and rainfall subside as the storm ends  (A)
Why: The passage is symmetrical around the eye: pressure and temperature fall and wind builds; the storm intensifies; the eye brings calm, sun and the lowest pressure; the second half of the storm brings the wind and rain back as pressure starts to rise; then everything subsides.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The eye wall, the ring of cloud around the eye
Why: The eye wall is the ring of the tallest cumulonimbus cloud surrounding the calm eye; the air rises fastest there, so it has the most intense wind and rain. The eye itself is calm because air sinks in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Challenge of Natural Hazards: Weather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Challenge of Natural Hazards: Weather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Natural Hazards: Weather Hazards · AQA 8035</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Anatomy of a tropical storm</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6ECE7"/>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do tropical storms form?</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Structure and features of tropical storms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do tropical storms form where they do, why do they hurt some places more than others, and is the UK's own weather becoming more extreme?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The eye of a tropical storm is between 16 and 48 kilometres across. How much wider, in kilometres, is the widest eye than the narrowest?</a:t>
            </a:r>
            <a:endParaRPr lang="en-US" sz="1800" dirty="0"/>
          </a:p>
          <a:p>
            <a:pPr algn="l" indent="0" marL="0">
              <a:buNone/>
            </a:pPr>
            <a:r>
              <a:rPr lang="en-US" sz="1800" b="1" dirty="0">
                <a:solidFill>
                  <a:srgbClr val="3F6B4A"/>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km</a:t>
            </a:r>
            <a:endParaRPr lang="en-US" sz="1800" dirty="0"/>
          </a:p>
        </p:txBody>
      </p:sp>
      <p:sp>
        <p:nvSpPr>
          <p:cNvPr id="12" name="card"/>
          <p:cNvSpPr/>
          <p:nvPr/>
        </p:nvSpPr>
        <p:spPr>
          <a:xfrm>
            <a:off x="3459404" y="1389888"/>
            <a:ext cx="2636444" cy="4754880"/>
          </a:xfrm>
          <a:prstGeom prst="roundRect">
            <a:avLst>
              <a:gd name="adj" fmla="val 2081"/>
            </a:avLst>
          </a:prstGeom>
          <a:solidFill>
            <a:srgbClr val="ECF0ED"/>
          </a:solidFill>
          <a:ln w="12700">
            <a:solidFill>
              <a:srgbClr val="B6C7BA"/>
            </a:solidFill>
            <a:prstDash val="solid"/>
          </a:ln>
        </p:spPr>
      </p:sp>
      <p:sp>
        <p:nvSpPr>
          <p:cNvPr id="13" name="card-hex"/>
          <p:cNvSpPr/>
          <p:nvPr/>
        </p:nvSpPr>
        <p:spPr>
          <a:xfrm>
            <a:off x="3642284" y="1572768"/>
            <a:ext cx="640080" cy="554309"/>
          </a:xfrm>
          <a:prstGeom prst="hexagon">
            <a:avLst/>
          </a:prstGeom>
          <a:solidFill>
            <a:srgbClr val="3F6B4A"/>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the eye of a tropical storm the air ___, so there is no cloud and the weather is calm.</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sinks  ·  rises  ·  spins faster</a:t>
            </a:r>
            <a:endParaRPr lang="en-US" sz="2200" dirty="0"/>
          </a:p>
        </p:txBody>
      </p:sp>
      <p:sp>
        <p:nvSpPr>
          <p:cNvPr id="17" name="card"/>
          <p:cNvSpPr/>
          <p:nvPr/>
        </p:nvSpPr>
        <p:spPr>
          <a:xfrm>
            <a:off x="6370168" y="1389888"/>
            <a:ext cx="5272888" cy="4754880"/>
          </a:xfrm>
          <a:prstGeom prst="roundRect">
            <a:avLst>
              <a:gd name="adj" fmla="val 1154"/>
            </a:avLst>
          </a:prstGeom>
          <a:solidFill>
            <a:srgbClr val="ECF0ED"/>
          </a:solidFill>
          <a:ln w="12700">
            <a:solidFill>
              <a:srgbClr val="B6C7BA"/>
            </a:solidFill>
            <a:prstDash val="solid"/>
          </a:ln>
        </p:spPr>
      </p:sp>
      <p:sp>
        <p:nvSpPr>
          <p:cNvPr id="18" name="card-hex"/>
          <p:cNvSpPr/>
          <p:nvPr/>
        </p:nvSpPr>
        <p:spPr>
          <a:xfrm>
            <a:off x="6553048" y="1572768"/>
            <a:ext cx="640080" cy="554309"/>
          </a:xfrm>
          <a:prstGeom prst="hexagon">
            <a:avLst/>
          </a:prstGeom>
          <a:solidFill>
            <a:srgbClr val="3F6B4A"/>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provides the energy that powers a tropical storm once it has started?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Heat from the Earth's core rising through the sea bed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pull of the Moon on the ocean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Friction between the wind and the sea surface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Heat released when water vapour condenses into cloud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32 km</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48 − 16 = 32 km. The eye can be three times wider in one storm than another.</a:t>
            </a:r>
            <a:endParaRPr lang="en-US" sz="1800" dirty="0"/>
          </a:p>
        </p:txBody>
      </p:sp>
      <p:sp>
        <p:nvSpPr>
          <p:cNvPr id="14" name="card"/>
          <p:cNvSpPr/>
          <p:nvPr/>
        </p:nvSpPr>
        <p:spPr>
          <a:xfrm>
            <a:off x="3459404" y="1389888"/>
            <a:ext cx="2636444" cy="4754880"/>
          </a:xfrm>
          <a:prstGeom prst="roundRect">
            <a:avLst>
              <a:gd name="adj" fmla="val 2081"/>
            </a:avLst>
          </a:prstGeom>
          <a:solidFill>
            <a:srgbClr val="ECF0ED"/>
          </a:solidFill>
          <a:ln w="12700">
            <a:solidFill>
              <a:srgbClr val="B6C7BA"/>
            </a:solidFill>
            <a:prstDash val="solid"/>
          </a:ln>
        </p:spPr>
      </p:sp>
      <p:sp>
        <p:nvSpPr>
          <p:cNvPr id="15" name="card-hex"/>
          <p:cNvSpPr/>
          <p:nvPr/>
        </p:nvSpPr>
        <p:spPr>
          <a:xfrm>
            <a:off x="3642284" y="1572768"/>
            <a:ext cx="640080" cy="554309"/>
          </a:xfrm>
          <a:prstGeom prst="hexagon">
            <a:avLst/>
          </a:prstGeom>
          <a:solidFill>
            <a:srgbClr val="3F6B4A"/>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sinks</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Air that has risen to the top of the storm cools and sinks back down inside the eye. Sinking air cannot form cloud, so the eye is dry and calm.</a:t>
            </a:r>
            <a:endParaRPr lang="en-US" sz="1800" dirty="0"/>
          </a:p>
        </p:txBody>
      </p:sp>
      <p:sp>
        <p:nvSpPr>
          <p:cNvPr id="21" name="card"/>
          <p:cNvSpPr/>
          <p:nvPr/>
        </p:nvSpPr>
        <p:spPr>
          <a:xfrm>
            <a:off x="6370168" y="1389888"/>
            <a:ext cx="5272888" cy="4754880"/>
          </a:xfrm>
          <a:prstGeom prst="roundRect">
            <a:avLst>
              <a:gd name="adj" fmla="val 1154"/>
            </a:avLst>
          </a:prstGeom>
          <a:solidFill>
            <a:srgbClr val="ECF0ED"/>
          </a:solidFill>
          <a:ln w="12700">
            <a:solidFill>
              <a:srgbClr val="B6C7BA"/>
            </a:solidFill>
            <a:prstDash val="solid"/>
          </a:ln>
        </p:spPr>
      </p:sp>
      <p:sp>
        <p:nvSpPr>
          <p:cNvPr id="22" name="card-hex"/>
          <p:cNvSpPr/>
          <p:nvPr/>
        </p:nvSpPr>
        <p:spPr>
          <a:xfrm>
            <a:off x="6553048" y="1572768"/>
            <a:ext cx="640080" cy="554309"/>
          </a:xfrm>
          <a:prstGeom prst="hexagon">
            <a:avLst/>
          </a:prstGeom>
          <a:solidFill>
            <a:srgbClr val="3F6B4A"/>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Heat released when water vapour condenses into cloud</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provides the energy that powers a tropical storm once it has started?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Warm sea water evaporates, the vapour rises and condenses, and condensation releases heat. That released heat keeps the air rising and the storm growing.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evaporation</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water turning into water vapour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Warm seas cause a lot of evaporation, which feeds the storm with moisture.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condensation</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water vapour turning back into liquid water droplets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Condensation in the rising air builds the storm clouds.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cumulonimbus</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towering storm cloud that brings heavy rain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Cumulonimbus clouds tower more than 13 kilometres into the sky.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eye</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calm, clear centre of a tropical storm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the eye the wind drops and the Sun comes out.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Coriolis effect</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bending of winds caused by the spin of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Coriolis effect makes the storm rotate.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landfall</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moment a storm moves from the sea onto the 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After landfall the storm loses its supply of warm water and weakens.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tropical storm begins over a warm ocean.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sea heats the air above it, and water evaporates.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warm, moist air rises fast, making low pressure.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Air rushes in from all around to fill the gap.</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makes strong winds.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spin of the Earth bends the winds, so the storm starts to rotate.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rising air cools, and water vapour condenses into huge clouds.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Condensing water gives out heat, and that heat powers the storm.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the middle, cold air sinks and forms a calm, clear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eye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storm drifts across the ocean on the prevailing wind.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When it reaches land it loses its fuel and dies away.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storm can be more than 300 kilometres across.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Eight steps to a storm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sequence as a chain of causes: warm sea makes evaporation; evaporation makes rising air; rising air makes low pressure; low pressure pulls in wind; the Earth's spin makes it rotate; condensation releases the heat that powers it.</a:t>
            </a:r>
            <a:endParaRPr lang="en-US" sz="1800" dirty="0"/>
          </a:p>
        </p:txBody>
      </p:sp>
      <p:sp>
        <p:nvSpPr>
          <p:cNvPr id="11" name="point-card"/>
          <p:cNvSpPr/>
          <p:nvPr/>
        </p:nvSpPr>
        <p:spPr>
          <a:xfrm>
            <a:off x="548640" y="1389888"/>
            <a:ext cx="3515258" cy="3407156"/>
          </a:xfrm>
          <a:prstGeom prst="roundRect">
            <a:avLst>
              <a:gd name="adj" fmla="val 1610"/>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309876"/>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class you sorted eight statements into the sequence that explains how a tropical storm forms.</a:t>
            </a:r>
            <a:endParaRPr lang="en-US" sz="2000" dirty="0"/>
          </a:p>
        </p:txBody>
      </p:sp>
      <p:sp>
        <p:nvSpPr>
          <p:cNvPr id="15" name="point-card"/>
          <p:cNvSpPr/>
          <p:nvPr/>
        </p:nvSpPr>
        <p:spPr>
          <a:xfrm>
            <a:off x="4338218" y="1389888"/>
            <a:ext cx="3515258" cy="3407156"/>
          </a:xfrm>
          <a:prstGeom prst="roundRect">
            <a:avLst>
              <a:gd name="adj" fmla="val 1610"/>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309876"/>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Step four: the Coriolis effect, caused by the spin of the Earth, bends the inrushing winds so that they spiral upwards and around the low-pressure centre.</a:t>
            </a:r>
            <a:endParaRPr lang="en-US" sz="2000" dirty="0"/>
          </a:p>
        </p:txBody>
      </p:sp>
      <p:sp>
        <p:nvSpPr>
          <p:cNvPr id="19" name="point-card"/>
          <p:cNvSpPr/>
          <p:nvPr/>
        </p:nvSpPr>
        <p:spPr>
          <a:xfrm>
            <a:off x="8127797" y="1389888"/>
            <a:ext cx="3515258" cy="3407156"/>
          </a:xfrm>
          <a:prstGeom prst="roundRect">
            <a:avLst>
              <a:gd name="adj" fmla="val 1610"/>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309876"/>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Step seven: the whole storm travels slowly across the ocean in the direction of the prevailing wind, usually westwards, picking up more moisture as it goes.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Inside the storm: the cross-section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2E9D9"/>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four numbers: eye 16 to 48 km across, storm 240 to 320 km across, cloud more than 13 km high, movement 16 to 24 km/h.</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9B19F"/>
            </a:solidFill>
            <a:prstDash val="solid"/>
          </a:ln>
        </p:spPr>
      </p:sp>
      <p:sp>
        <p:nvSpPr>
          <p:cNvPr id="12" name="worked-tab"/>
          <p:cNvSpPr/>
          <p:nvPr/>
        </p:nvSpPr>
        <p:spPr>
          <a:xfrm>
            <a:off x="6126480" y="1499616"/>
            <a:ext cx="2377440" cy="457200"/>
          </a:xfrm>
          <a:prstGeom prst="roundRect">
            <a:avLst>
              <a:gd name="adj" fmla="val 40000"/>
            </a:avLst>
          </a:prstGeom>
          <a:solidFill>
            <a:srgbClr val="3F6B4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tropical storm is moving at 24 kilometres per hour, the top of the usual range. How far will it travel in 10 hours?</a:t>
            </a:r>
            <a:endParaRPr lang="en-US" sz="1800" dirty="0"/>
          </a:p>
        </p:txBody>
      </p:sp>
      <p:sp>
        <p:nvSpPr>
          <p:cNvPr id="14" name="step-box"/>
          <p:cNvSpPr/>
          <p:nvPr/>
        </p:nvSpPr>
        <p:spPr>
          <a:xfrm>
            <a:off x="6126480" y="3167380"/>
            <a:ext cx="5379415" cy="523748"/>
          </a:xfrm>
          <a:prstGeom prst="roundRect">
            <a:avLst>
              <a:gd name="adj" fmla="val 17459"/>
            </a:avLst>
          </a:prstGeom>
          <a:solidFill>
            <a:srgbClr val="E6ECE7"/>
          </a:solidFill>
          <a:ln/>
        </p:spPr>
      </p:sp>
      <p:sp>
        <p:nvSpPr>
          <p:cNvPr id="15" name="step-hex"/>
          <p:cNvSpPr/>
          <p:nvPr/>
        </p:nvSpPr>
        <p:spPr>
          <a:xfrm>
            <a:off x="6217920" y="3247124"/>
            <a:ext cx="420624" cy="364260"/>
          </a:xfrm>
          <a:prstGeom prst="hexagon">
            <a:avLst/>
          </a:prstGeom>
          <a:solidFill>
            <a:srgbClr val="3F6B4A"/>
          </a:solidFill>
          <a:ln/>
        </p:spPr>
      </p:sp>
      <p:sp>
        <p:nvSpPr>
          <p:cNvPr id="16" name="step-hex-label"/>
          <p:cNvSpPr txBox="1"/>
          <p:nvPr/>
        </p:nvSpPr>
        <p:spPr>
          <a:xfrm>
            <a:off x="6217920" y="324712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Distance = speed × time.</a:t>
            </a:r>
            <a:endParaRPr lang="en-US" sz="1800" dirty="0"/>
          </a:p>
        </p:txBody>
      </p:sp>
      <p:sp>
        <p:nvSpPr>
          <p:cNvPr id="18" name="step-box"/>
          <p:cNvSpPr/>
          <p:nvPr/>
        </p:nvSpPr>
        <p:spPr>
          <a:xfrm>
            <a:off x="6126480" y="3782568"/>
            <a:ext cx="5379415" cy="523748"/>
          </a:xfrm>
          <a:prstGeom prst="roundRect">
            <a:avLst>
              <a:gd name="adj" fmla="val 17459"/>
            </a:avLst>
          </a:prstGeom>
          <a:solidFill>
            <a:srgbClr val="E6ECE7"/>
          </a:solidFill>
          <a:ln/>
        </p:spPr>
      </p:sp>
      <p:sp>
        <p:nvSpPr>
          <p:cNvPr id="19" name="step-hex"/>
          <p:cNvSpPr/>
          <p:nvPr/>
        </p:nvSpPr>
        <p:spPr>
          <a:xfrm>
            <a:off x="6217920" y="3862312"/>
            <a:ext cx="420624" cy="364260"/>
          </a:xfrm>
          <a:prstGeom prst="hexagon">
            <a:avLst/>
          </a:prstGeom>
          <a:solidFill>
            <a:srgbClr val="3F6B4A"/>
          </a:solidFill>
          <a:ln/>
        </p:spPr>
      </p:sp>
      <p:sp>
        <p:nvSpPr>
          <p:cNvPr id="20" name="step-hex-label"/>
          <p:cNvSpPr txBox="1"/>
          <p:nvPr/>
        </p:nvSpPr>
        <p:spPr>
          <a:xfrm>
            <a:off x="6217920" y="386231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82568"/>
            <a:ext cx="4739335" cy="5237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24 km/h × 10 h = 240 km.</a:t>
            </a:r>
            <a:endParaRPr lang="en-US" sz="1800" dirty="0"/>
          </a:p>
        </p:txBody>
      </p:sp>
      <p:sp>
        <p:nvSpPr>
          <p:cNvPr id="22" name="step-box"/>
          <p:cNvSpPr/>
          <p:nvPr/>
        </p:nvSpPr>
        <p:spPr>
          <a:xfrm>
            <a:off x="6126480" y="4397756"/>
            <a:ext cx="5379415" cy="1030224"/>
          </a:xfrm>
          <a:prstGeom prst="roundRect">
            <a:avLst>
              <a:gd name="adj" fmla="val 8876"/>
            </a:avLst>
          </a:prstGeom>
          <a:solidFill>
            <a:srgbClr val="E6ECE7"/>
          </a:solidFill>
          <a:ln/>
        </p:spPr>
      </p:sp>
      <p:sp>
        <p:nvSpPr>
          <p:cNvPr id="23" name="step-hex"/>
          <p:cNvSpPr/>
          <p:nvPr/>
        </p:nvSpPr>
        <p:spPr>
          <a:xfrm>
            <a:off x="6217920" y="4730738"/>
            <a:ext cx="420624" cy="364260"/>
          </a:xfrm>
          <a:prstGeom prst="hexagon">
            <a:avLst/>
          </a:prstGeom>
          <a:solidFill>
            <a:srgbClr val="3F6B4A"/>
          </a:solidFill>
          <a:ln/>
        </p:spPr>
      </p:sp>
      <p:sp>
        <p:nvSpPr>
          <p:cNvPr id="24" name="step-hex-label"/>
          <p:cNvSpPr txBox="1"/>
          <p:nvPr/>
        </p:nvSpPr>
        <p:spPr>
          <a:xfrm>
            <a:off x="6217920" y="473073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97756"/>
            <a:ext cx="4739335" cy="1030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sense: 240 km is about the width of a whole storm, so in ten hours the storm has moved roughly its own width.</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240 km</a:t>
            </a:r>
            <a:endParaRPr lang="en-US" sz="1800" dirty="0"/>
          </a:p>
        </p:txBody>
      </p:sp>
      <p:sp>
        <p:nvSpPr>
          <p:cNvPr id="27" name="bullet-card"/>
          <p:cNvSpPr/>
          <p:nvPr/>
        </p:nvSpPr>
        <p:spPr>
          <a:xfrm>
            <a:off x="548640" y="1389888"/>
            <a:ext cx="5074920" cy="1320546"/>
          </a:xfrm>
          <a:prstGeom prst="roundRect">
            <a:avLst>
              <a:gd name="adj" fmla="val 5540"/>
            </a:avLst>
          </a:prstGeom>
          <a:solidFill>
            <a:srgbClr val="EAEFEB"/>
          </a:solidFill>
          <a:ln/>
        </p:spPr>
      </p:sp>
      <p:sp>
        <p:nvSpPr>
          <p:cNvPr id="28" name="bullet-hex"/>
          <p:cNvSpPr/>
          <p:nvPr/>
        </p:nvSpPr>
        <p:spPr>
          <a:xfrm>
            <a:off x="676656" y="1883868"/>
            <a:ext cx="384048" cy="332586"/>
          </a:xfrm>
          <a:prstGeom prst="hexagon">
            <a:avLst/>
          </a:prstGeom>
          <a:solidFill>
            <a:srgbClr val="3F6B4A"/>
          </a:solidFill>
          <a:ln/>
        </p:spPr>
      </p:sp>
      <p:sp>
        <p:nvSpPr>
          <p:cNvPr id="29" name="bullet"/>
          <p:cNvSpPr txBox="1"/>
          <p:nvPr/>
        </p:nvSpPr>
        <p:spPr>
          <a:xfrm>
            <a:off x="1143000" y="1389888"/>
            <a:ext cx="4389120" cy="132054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cross-section of a tropical storm is a slice through it from side to side.</a:t>
            </a:r>
            <a:endParaRPr lang="en-US" sz="2200" dirty="0"/>
          </a:p>
        </p:txBody>
      </p:sp>
      <p:sp>
        <p:nvSpPr>
          <p:cNvPr id="30" name="bullet-card"/>
          <p:cNvSpPr/>
          <p:nvPr/>
        </p:nvSpPr>
        <p:spPr>
          <a:xfrm>
            <a:off x="548640" y="2856738"/>
            <a:ext cx="5074920" cy="1661414"/>
          </a:xfrm>
          <a:prstGeom prst="roundRect">
            <a:avLst>
              <a:gd name="adj" fmla="val 4403"/>
            </a:avLst>
          </a:prstGeom>
          <a:solidFill>
            <a:srgbClr val="EAEFEB"/>
          </a:solidFill>
          <a:ln/>
        </p:spPr>
      </p:sp>
      <p:sp>
        <p:nvSpPr>
          <p:cNvPr id="31" name="bullet-hex"/>
          <p:cNvSpPr/>
          <p:nvPr/>
        </p:nvSpPr>
        <p:spPr>
          <a:xfrm>
            <a:off x="676656" y="3521152"/>
            <a:ext cx="384048" cy="332586"/>
          </a:xfrm>
          <a:prstGeom prst="hexagon">
            <a:avLst/>
          </a:prstGeom>
          <a:solidFill>
            <a:srgbClr val="B8862B"/>
          </a:solidFill>
          <a:ln/>
        </p:spPr>
      </p:sp>
      <p:sp>
        <p:nvSpPr>
          <p:cNvPr id="32" name="bullet"/>
          <p:cNvSpPr txBox="1"/>
          <p:nvPr/>
        </p:nvSpPr>
        <p:spPr>
          <a:xfrm>
            <a:off x="1143000" y="2856738"/>
            <a:ext cx="4389120" cy="166141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At the surface the winds spiral in anticlockwise (in the northern hemisphere) towards the low pressure of the eye.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Living through the passage of a storm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eye is the trap in exam questions: it is the calmest moment but the lowest pressure. Do not confuse calm with high pressure.</a:t>
            </a:r>
            <a:endParaRPr lang="en-US" sz="1800" dirty="0"/>
          </a:p>
        </p:txBody>
      </p:sp>
      <p:sp>
        <p:nvSpPr>
          <p:cNvPr id="11" name="point-card"/>
          <p:cNvSpPr/>
          <p:nvPr/>
        </p:nvSpPr>
        <p:spPr>
          <a:xfrm>
            <a:off x="548640" y="1389888"/>
            <a:ext cx="5410048" cy="3686048"/>
          </a:xfrm>
          <a:prstGeom prst="roundRect">
            <a:avLst>
              <a:gd name="adj" fmla="val 1488"/>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Imagine standing still while a tropical storm passes over you.</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calm does not last. The other side of the eye wall arrives, so wind and heavy rain increase dramatically again, the temperature drops and the pressure begins to rise.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Build the storm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stages in the correct order to explain how a tropical storm forms.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The rising air cools and condenses into towering cumulonimbus clouds, releasing torrential rain and the heat that powers the storm</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The warm, moist air rises rapidly and low pressure forms at the surface</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Air is heated above a warm tropical ocean (around 27 degrees Celsius) and evaporation increases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The Coriolis effect makes the winds spiral upwards around the low pressure, and a calm eye forms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The storm reaches land, loses its supply of moisture and heat, and weakens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The storm travels across the ocean in the direction of the prevailing wind</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G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Air rushes in from the surrounding higher-pressure areas, causing strong winds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H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Air at the top cools and sinks back down in the eye, which stays clear, dry and calm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Build the storm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Build the storm</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fuel: a warm sea and evaporation. Nothing happens before that.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follow the air upwards: rising air, low pressure, air rushing in.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Now the storm takes shape: the Coriolis effect makes it spin and the eye forms; the rising air condenses into cloud; air sinks in the eye.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Finish with the journey: the storm travels on the prevailing wind and finally dies over land.</a:t>
            </a:r>
            <a:endParaRPr lang="en-US" sz="1800" dirty="0"/>
          </a:p>
        </p:txBody>
      </p:sp>
      <p:sp>
        <p:nvSpPr>
          <p:cNvPr id="17" name="col-Core"/>
          <p:cNvSpPr/>
          <p:nvPr/>
        </p:nvSpPr>
        <p:spPr>
          <a:xfrm>
            <a:off x="6425403" y="2395728"/>
            <a:ext cx="2471666" cy="3749040"/>
          </a:xfrm>
          <a:prstGeom prst="roundRect">
            <a:avLst>
              <a:gd name="adj" fmla="val 2220"/>
            </a:avLst>
          </a:prstGeom>
          <a:solidFill>
            <a:srgbClr val="CFDAD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Fuel first (warm sea, evaporation), then rising air and low pressure, then wind, spin and cloud, then the eye, then the journey and the landfall.</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tropical storm weakens over land but can strengthen again if it moves back out over warm sea.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The storm passes over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200" b="1" dirty="0">
                <a:solidFill>
                  <a:srgbClr val="1E2229"/>
                </a:solidFill>
                <a:latin typeface="Calibri" pitchFamily="34" charset="0"/>
                <a:ea typeface="Calibri" pitchFamily="34" charset="-122"/>
                <a:cs typeface="Calibri" pitchFamily="34" charset="-120"/>
              </a:rPr>
              <a:t>Put these five descriptions in order to show the changes as a tropical storm passes over a place.</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The pressure and temperature rise, and the wind and rainfall subside as the storm ends</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Wind and heavy rain increase dramatically again, the temperature drops and the pressure begins to rise</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Pressure falls more rapidly, the wind increases, cumulonimbus cloud forms and there is heavy rain</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Temperature and air pressure start to fall, air rises, clouds begin to form and it becomes windy</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 period of calm with no wind or rain: the Sun appears, it gets warmer and the pressure is very low</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The storm passes over</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The storm passes over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Follow the pressure: it falls, falls faster, reaches its lowest, then starts to rise, then returns to normal.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lowest pressure is the eye, which is the calm stage in the middle.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two stormy stages sit either side of the calm eye: one before it, one after it.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gentle stages are the first and the last.</a:t>
            </a:r>
            <a:endParaRPr lang="en-US" sz="1800" dirty="0"/>
          </a:p>
        </p:txBody>
      </p:sp>
      <p:sp>
        <p:nvSpPr>
          <p:cNvPr id="17" name="col-Core"/>
          <p:cNvSpPr/>
          <p:nvPr/>
        </p:nvSpPr>
        <p:spPr>
          <a:xfrm>
            <a:off x="5490762" y="2395728"/>
            <a:ext cx="2938987" cy="3749040"/>
          </a:xfrm>
          <a:prstGeom prst="roundRect">
            <a:avLst>
              <a:gd name="adj" fmla="val 1867"/>
            </a:avLst>
          </a:prstGeom>
          <a:solidFill>
            <a:srgbClr val="CFDAD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of the pressure as a V shape: falling, falling fast, lowest in the calm eye, rising, back to normal.</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temperature rises in the eye even though the pressure is at its lowest there.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part of a tropical storm are the winds strongest and the rain heaviest?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area the storm has already passed over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outer edge of the storm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eye wall, the ring of cloud around the eye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eye, at the very centre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(1 of 2): Build the storm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16459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1691640" y="2167128"/>
            <a:ext cx="8808415"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Air is heated above a warm tropical ocean (around 27 degrees Celsius) and evaporation increases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warm, moist air rises rapidly and low pressure forms at the surface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Air rushes in from the surrounding higher-pressure areas, causing strong winds  (G)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Coriolis effect makes the winds spiral upwards around the low pressure, and a calm eye forms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rising air cools and condenses into towering cumulonimbus clouds, releasing torrential rain and the heat that powers the storm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Air at the top cools and sinks back down in the eye, which stays clear, dry and calm  (H)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7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storm travels across the ocean in the direction of the prevailing wind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8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storm reaches land, loses its supply of moisture and heat, and weakens  (E)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(2 of 2): Build the storm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why-panel"/>
          <p:cNvSpPr/>
          <p:nvPr/>
        </p:nvSpPr>
        <p:spPr>
          <a:xfrm>
            <a:off x="1463040" y="1389888"/>
            <a:ext cx="9265615" cy="4754880"/>
          </a:xfrm>
          <a:prstGeom prst="roundRect">
            <a:avLst>
              <a:gd name="adj" fmla="val 962"/>
            </a:avLst>
          </a:prstGeom>
          <a:solidFill>
            <a:srgbClr val="E6ECE7"/>
          </a:solidFill>
          <a:ln/>
        </p:spPr>
      </p:sp>
      <p:sp>
        <p:nvSpPr>
          <p:cNvPr id="8" name="why-hex"/>
          <p:cNvSpPr/>
          <p:nvPr/>
        </p:nvSpPr>
        <p:spPr>
          <a:xfrm>
            <a:off x="1645920" y="1572768"/>
            <a:ext cx="685800" cy="593903"/>
          </a:xfrm>
          <a:prstGeom prst="hexagon">
            <a:avLst/>
          </a:prstGeom>
          <a:solidFill>
            <a:srgbClr val="3F6B4A"/>
          </a:solidFill>
          <a:ln/>
        </p:spPr>
      </p:sp>
      <p:sp>
        <p:nvSpPr>
          <p:cNvPr id="9" name="why-hex-label"/>
          <p:cNvSpPr txBox="1"/>
          <p:nvPr/>
        </p:nvSpPr>
        <p:spPr>
          <a:xfrm>
            <a:off x="164592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0" name="why"/>
          <p:cNvSpPr txBox="1"/>
          <p:nvPr/>
        </p:nvSpPr>
        <p:spPr>
          <a:xfrm>
            <a:off x="1645920" y="2304288"/>
            <a:ext cx="889985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Warm sea, evaporation and rising air come first, creating low pressure that pulls in wind. The Coriolis effect spins the storm and forms the eye, condensation builds the clouds and releases the heat that powers it, air sinks in the eye, and the storm travels on the prevailing wind until landfall cuts off its fuel.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The storm passes over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Temperature and air pressure start to fall, air rises, clouds begin to form and it becomes windy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Pressure falls more rapidly, the wind increases, cumulonimbus cloud forms and there is heavy rain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period of calm with no wind or rain: the Sun appears, it gets warmer and the pressure is very low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Wind and heavy rain increase dramatically again, the temperature drops and the pressure begins to rise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pressure and temperature rise, and the wind and rainfall subside as the storm ends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passage is symmetrical around the eye: pressure and temperature fall and wind builds; the storm intensifies; the eye brings calm, sun and the lowest pressure; the second half of the storm brings the wind and rain back as pressure starts to rise; then everything subsides.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part of a tropical storm are the winds strongest and the rain heaviest?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The eye wall, the ring of cloud around the eye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eye wall is the ring of the tallest cumulonimbus cloud surrounding the calm eye; the air rises fastest there, so it has the most intense wind and rain. The eye itself is calm because air sinks in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Natural Hazards: Weather Hazards · Chapter 2: Anatomy of a tropical storm</dc:title>
  <dc:subject>Geography · Year 10</dc:subject>
  <dc:creator>Dr Vitor Merissi de Carvalho</dc:creator>
  <cp:lastModifiedBy>Dr Vitor Merissi de Carvalho</cp:lastModifiedBy>
  <cp:revision>1</cp:revision>
  <dcterms:created xsi:type="dcterms:W3CDTF">2026-10-19T16:23:01Z</dcterms:created>
  <dcterms:modified xsi:type="dcterms:W3CDTF">2026-10-19T16:23:01Z</dcterms:modified>
</cp:coreProperties>
</file>