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25ba181-09ed-974c-f3c5-d7723563589a}">
          <p14:sldIdLst>
            <p14:sldId id="256"/>
          </p14:sldIdLst>
        </p14:section>
        <p14:section name="Gate" id="{a02b5f06-b6af-285c-5303-fb65943425b2}">
          <p14:sldIdLst>
            <p14:sldId id="257"/>
            <p14:sldId id="258"/>
          </p14:sldIdLst>
        </p14:section>
        <p14:section name="Pre-teach" id="{075b2c73-3b32-31bb-0198-370761b6cc5f}">
          <p14:sldIdLst>
            <p14:sldId id="259"/>
            <p14:sldId id="260"/>
          </p14:sldIdLst>
        </p14:section>
        <p14:section name="Read-along" id="{955d15f1-3f84-69f6-4820-518c1d912454}">
          <p14:sldIdLst>
            <p14:sldId id="261"/>
            <p14:sldId id="262"/>
          </p14:sldIdLst>
        </p14:section>
        <p14:section name="Teach" id="{5d6c14a1-1c5e-f35c-d898-30a0c3b62b42}">
          <p14:sldIdLst>
            <p14:sldId id="263"/>
            <p14:sldId id="264"/>
            <p14:sldId id="265"/>
            <p14:sldId id="266"/>
            <p14:sldId id="267"/>
          </p14:sldIdLst>
        </p14:section>
        <p14:section name="Routes" id="{1c06f6f2-61c2-083a-ea6e-e5ca5e5b8987}">
          <p14:sldIdLst>
            <p14:sldId id="268"/>
            <p14:sldId id="269"/>
            <p14:sldId id="270"/>
            <p14:sldId id="271"/>
          </p14:sldIdLst>
        </p14:section>
        <p14:section name="Close" id="{93a69b35-f997-3972-14ce-692d8edb8ce6}">
          <p14:sldIdLst>
            <p14:sldId id="272"/>
          </p14:sldIdLst>
        </p14:section>
        <p14:section name="Answers" id="{2c79e4a5-e313-0fd9-3b4b-9d68fb78945a}">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5 of 6: Weather hazards in the UK. Weather and climate, the four directions the UK's weather comes from, the hazards it brings, the evidence for and against the UK's weather becoming more extreme, and what climate change may have to do with it.
This deck covers the department's lessons: 10 (Weather hazards in the UK: What is the difference between weather and climate, which weather hazards does the UK face, and why?); 11 (Is the UK's weather becoming more extreme?: What is extreme weather, and what is the evidence for and against the UK's weather becoming more extreme?); 14 (Climate change and extreme weather in the UK: How might climate change be making extreme weather more common in the UK and elsewhere?); 15 (Case study: the UK heat wave of June 2017: What caused the June 2017 heat wave, what were its social, economic and environmental impacts, and how was the risk managed?).
Read the big question aloud: "Why do tropical storms form where they do, why do they hurt some places more than others, and is the UK's own weather becoming more extreme?"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From which direction do the storms that bring heavy rain and strong winds to the UK usually come?  →  C   From the west, off the Atlantic Ocean
2. Climate is the average weather of a place over a long period, usually ___ years.  →  30
3. In the summer of 2007, 414 mm of rain fell between June and August. What was the average rainfall per month, in millimetres?  →  138 mm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C   From the west, off the Atlantic Ocean. South-westerly prevailing winds carry depressions in from the Atlantic, bringing heavy rain and strong winds, especially to the west coast.
2. 30. Climate is measured as the average weather over about 30 years. Weather is what happens day to day.
3. 138 mm. June, July and August are three months: 414 ÷ 3 = 138 mm per month.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weather: the conditions in the atmosphere from day to day. Example: "Today's weather is wet and windy."
• climate: the average weather of a place over a long time, usually 30 years. Example: "The UK has a mild, wet climate."
• depression: an area of low pressure that brings cloud, rain and wind. Example: "A depression crossing from the Atlantic brought a day of heavy rain."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heatwave: a long spell of unusually hot weather. Example: "The 2003 heatwave brought record temperatures to Kent."
• drought: a long period with much less rain than normal. Example: "The drought left reservoirs low and crops dying."
• extreme weather: weather that is far outside what is normal for a place and can cause serious harm. Example: "Record floods and record heat are both extreme weather."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Weather is what the atmosphere does from day to day.
2. Climate is the average weather over about 30 years.
3. The UK has a mild climate, but it still gets extreme weather.
4. The UK sits where weather from four directions meets.
5. Arctic air from the north brings snow and bitter cold.
6. Winter weather from the east can be severe.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Hot air from the south brings heatwaves and drought.
8. Storms from the Atlantic bring heavy rain and strong winds to the west.
9. Depressions are areas of low pressure that cross the UK from the west.
10. They bring most of our storms and floods.
11. Some people think the UK's weather is becoming more extreme.
12. There is evidence for this view and evidence against it.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Weather, climate and the UK's roundabout. Say it in your own words, then check understanding with a quick question: ask a pupil from the pre-teach group first, since they met these words and ideas before the lesson. Pupils try to recall before you re-explain.
Weather is a description of the day-to-day conditions of the atmosphere: today's temperature, rain, wind and cloud. Climate is what the weather is usually like over a long stretch of time, normally taken as 30 years. A weather hazard is an extreme weather event that can do harm, and even though the UK has a moderate climate, it experiences extreme weather. Most of the UK's weather is driven towards it by south-westerly prevailing winds, fuelled by the warm, moist Atlantic Ocean, so strong winds and heavy rain batter the exposed western side of the country most often.
The deck pictures the UK as a weather roundabout, because it sits at the meeting point of several kinds of weather from different directions. From the north, Arctic air brings heavy snow and bitterly cold conditions. From the east, continental air brings severe winter weather. From the south, hot and sunny weather can lead to heatwaves and droughts. From the west, storms from the Atlantic bring heavy rain and strong winds. Which weather the UK gets depends on which direction the air is coming from.
Depressions are the key word for the west. A depression is an area of low atmospheric pressure, and depressions cross the UK regularly, bringing heavy rain that can trigger river floods and winds that can cause great storm damage, especially on the west coast. When depressions are not passing over as usual, cold conditions from the north or east take over instead.
Tip: Give the four directions and a hazard for each: north, snow; east, severe winter; south, heatwave and drought; west, Atlantic storms.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UK's weather hazards. Say it in your own words, then check understanding with a quick question: ask a pupil from the pre-teach group first, since they met these words and ideas before the lesson. Pupils try to recall before you re-explain.
Storms. A cluster of strong depressions caused widespread wind damage in late 2013. During the St Jude storm of 28 October 2013, winds of 160 km/h killed 5 people, felled trees and toppled lorries; further storms in the week before Christmas brought more deaths and disruption, with thousands losing power and travellers stranded at Gatwick airport. The UK also gets tornadoes: in 2005 a tornado in Birmingham caused 19 injuries and damage costing £40 million.
Cold. The winters of 1946 to 1947, 1962 to 1963 and 1978 to 1979 were exceptionally cold, and 2010 to 2011 and 2014 to 2015 were also unusually cold. Frost of around −10 °C can kill crops and cattle; freezing conditions cancelled over 17 000 trains in January 2014; blizzards bring transport to a halt and cause costly airline delays. Prolonged rainfall. Rain over a long period leads to river floods, especially in late winter and early spring when melting snow adds to the problem; the winter of 2014 was so wet that floods spread across a great deal of southern England.
Heatwaves and drought. A drought is an extended period of low or absent rainfall compared with the expected average for the region. The 2003 drought and heatwave affected large parts of Europe, where it was linked to 20 000 deaths, and brought what was then the UK's highest recorded temperature, 38.5 °C at Faversham in Kent. The same deck slide puts 2000 deaths in the UK down to the 2003 heat. Each hazard also triggers secondary hazards: a storm can cause floods and power cuts, a drought can cause crop failure and wildfires.
Tip: For a four-mark outline the evidence question, give two hazards and one piece of evidence for each, with a date and a number. A list without evidence earns at most two marks.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Is the UK's weather becoming more extreme?. Say it in your own words, then check understanding with a quick question: ask a pupil from the pre-teach group first, since they met these words and ideas before the lesson. Pupils try to recall before you re-explain.
A weather event is extreme when it is well outside what is normal for the place and the time of year, and when it can cause serious harm to people or the economy. Thunderstorms, prolonged rainfall, drought, extreme heat, heavy snow and extreme cold can all be extreme weather. The deck's examples: the 2003 heatwave, when temperatures in Kent reached 38.5 °C and 2000 deaths in the UK were linked to the heat; the summer of 2007, the wettest on record, when 414 mm of rain fell between June and August; and the Beast from the East in March 2018, when extreme cold and blizzards cost businesses about £300 million over four days. Your timeline of UK extreme weather runs: heatwave 2003, floods 2007, floods 2008, floods and heavy snow 2009, heavy snow 2010, floods 2013 to 2014 and floods 2015 to 2016.
In class you sorted statements into evidence for and against the UK's weather becoming more extreme. For: UK temperatures seem to follow the global warming pattern, and all ten of the hottest years on record fall inside the last 20 years; the past two decades have brought one extreme event after another, among them heatwaves, droughts and serious flooding; around Carlisle in Cumbria the last decade has brought flood after flood that should statistically happen only once every 100 years; and rainfall records for 2004 to 2007 show several months with more than 150 per cent of the national average.
Against: some kinds of extreme weather are rarer than 30 years ago, since heavy snowfall and cold winters have declined and the River Thames, which iced over every year in the nineteenth century, no longer does; weather is naturally highly variable and extreme events have always happened, but they are far more publicised in the media now, so awareness is growing; the statement about El Niño doubling the chance of extreme weather is about America and Asia, not the UK; and the Met Office inviting the public to name storms tells us about publicity, not about the weather itself. A good answer uses two pieces of evidence on each side and reaches its own conclusion.
Worked example — model it step by step, thinking aloud: In the summer of 2007, 414 mm of rain fell between June and August. What was the average rainfall per month? (1) June, July and August are three months. (2) 414 ÷ 3 = 138 mm per month. (3) Check the sense: the UK's typical summer month has well under 100 mm in many places, so 138 mm every month explains why 2007 was the wettest summer on record. Answer: 138 mm per month.
Tip: Evidence needs a number and a date. The wettest summer on record is a claim; 414 mm between June and August 2007 is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Is the UK's weather becoming more extreme?. Say it in your own words, then check understanding with a quick question: ask a pupil from the pre-teach group first, since they met these words and ideas before the lesson. Pupils try to recall before you re-explain.
A weather event is extreme when it is well outside what is normal for the place and the time of year, and when it can cause serious harm to people or the economy. Thunderstorms, prolonged rainfall, drought, extreme heat, heavy snow and extreme cold can all be extreme weather. The deck's examples: the 2003 heatwave, when temperatures in Kent reached 38.5 °C and 2000 deaths in the UK were linked to the heat; the summer of 2007, the wettest on record, when 414 mm of rain fell between June and August; and the Beast from the East in March 2018, when extreme cold and blizzards cost businesses about £300 million over four days. Your timeline of UK extreme weather runs: heatwave 2003, floods 2007, floods 2008, floods and heavy snow 2009, heavy snow 2010, floods 2013 to 2014 and floods 2015 to 2016.
In class you sorted statements into evidence for and against the UK's weather becoming more extreme. For: UK temperatures seem to follow the global warming pattern, and all ten of the hottest years on record fall inside the last 20 years; the past two decades have brought one extreme event after another, among them heatwaves, droughts and serious flooding; around Carlisle in Cumbria the last decade has brought flood after flood that should statistically happen only once every 100 years; and rainfall records for 2004 to 2007 show several months with more than 150 per cent of the national average.
Against: some kinds of extreme weather are rarer than 30 years ago, since heavy snowfall and cold winters have declined and the River Thames, which iced over every year in the nineteenth century, no longer does; weather is naturally highly variable and extreme events have always happened, but they are far more publicised in the media now, so awareness is growing; the statement about El Niño doubling the chance of extreme weather is about America and Asia, not the UK; and the Met Office inviting the public to name storms tells us about publicity, not about the weather itself. A good answer uses two pieces of evidence on each side and reaches its own conclusion.
Worked example — model it step by step, thinking aloud: In the summer of 2007, 414 mm of rain fell between June and August. What was the average rainfall per month? (1) June, July and August are three months. (2) 414 ÷ 3 = 138 mm per month. (3) Check the sense: the UK's typical summer month has well under 100 mm in many places, so 138 mm every month explains why 2007 was the wettest summer on record. Answer: 138 mm per month.
Tip: Evidence needs a number and a date. The wettest summer on record is a claim; 414 mm between June and August 2007 is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Climate change, extreme weather and the June 2017 heat wave. Say it in your own words, then check understanding with a quick question: ask a pupil from the pre-teach group first, since they met these words and ideas before the lesson. Pupils try to recall before you re-explain.
Extreme weather is not only a UK story. Pakistan was devastated by floods in 2010, Russia endured fierce heatwaves the same year, and the western USA suffered severe drought in 2014. No one event can be pinned on climate change by itself, but a trend running over many years can be, and that is what scientists think they are watching: a warmer world holds more energy, which can drive fiercer storms, and the great loops of circulating air may shift, so rain falls where it used to be dry and heat builds where it used to be mild. The Intergovernmental Panel on Climate Change (IPCC) reached that conclusion in 2011, judging that extreme weather would grow more common as the planet warms.
One suggested mechanism links back to chapter 1. German scientists have suggested that weather patterns have in recent years stayed in place for long periods, giving prolonged heatwaves and droughts or prolonged heavy rain and floods. The Arctic is currently warming at twice the global average rate. As the Hadley and Ferrel cells expand towards the poles, the atmospheric circulation in the northern hemisphere's middle latitudes, where the UK sits, may slow down, so that weather lingers instead of moving on. This could help to explain recent UK heatwaves and floods. A four-mark suggest answer gives this chain: climate change, a warming Arctic, slower circulation, weather lingering, more extreme events.
Your extreme weather case study is the UK heat wave of June 2017, which you researched independently. The deck gives you the frame, not the facts: the location and dates of the heat wave and the places that recorded the highest temperatures; the causes, including the air masses involved; the social impacts on people such as health problems; the economic impacts such as businesses closing and transport disruption; the environmental impacts such as wildfires, thunderstorms and flash flooding, drought and damage to farming; and the management strategies used to reduce the risk. Fill the frame from your own research notes and keep the six headings in that order.
Tip: Causes of a UK extreme weather event always involve where the air came from: name the direction and the air mass.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The weather roundabout.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direction the UK's weather comes from to the hazard it brings.
Support — work through the steps with the group: (1) Think about what lies in each direction: ice to the north, a big land mass to the east, hot countries to the south, a warm ocean to the west. (2) Cold places send cold air: north gives snow and the east gives harsh winters. (3) Hot places send hot air: the south gives heat and drought. (4) An ocean sends wet, windy air: the west gives storms.
Parallel worked example for Support (model it, do not give the task answer): Match: a summer of drought; a week of blizzards. Choices: hot air from the south; Arctic air from the north. Drought needs hot, dry air, which comes from the south.; Blizzards need bitterly cold air, which comes from the north.. Answer: Drought: hot air from the south. Blizzards: Arctic air from the north..
Core — reveal the hint only on request: What is in each direction decides the air: ice, continent, hot land, warm ocean.
Stretch — no help; when finished: Explain why the west of the UK gets more rain than the east, using prevailing winds and the Atlantic.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The weather roundabout.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direction the UK's weather comes from to the hazard it brings.
Support — work through the steps with the group: (1) Think about what lies in each direction: ice to the north, a big land mass to the east, hot countries to the south, a warm ocean to the west. (2) Cold places send cold air: north gives snow and the east gives harsh winters. (3) Hot places send hot air: the south gives heat and drought. (4) An ocean sends wet, windy air: the west gives storms.
Parallel worked example for Support (model it, do not give the task answer): Match: a summer of drought; a week of blizzards. Choices: hot air from the south; Arctic air from the north. Drought needs hot, dry air, which comes from the south.; Blizzards need bitterly cold air, which comes from the north.. Answer: Drought: hot air from the south. Blizzards: Arctic air from the north..
Core — reveal the hint only on request: What is in each direction decides the air: ice, continent, hot land, warm ocean.
Stretch — no help; when finished: Explain why the west of the UK gets more rain than the east, using prevailing winds and the Atlantic.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Evidence for or against?.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Which of these statements did the class sort as evidence AGAINST the UK's weather becoming more extreme?
Support — work through the steps with the group: (1) Evidence FOR more extreme weather describes extreme things happening more often: record heat, record rain, repeated floods. (2) Evidence AGAINST describes extreme things happening less often, or explains the events away. (3) Look for the statement that says something extreme has declined or become rarer. (4) Check the other three: each describes a record or a repeat, which is evidence for.
Parallel worked example for Support (model it, do not give the task answer): Is this statement evidence for or against the UK's weather becoming more extreme: extreme events are reported far more in the media now, so people are more aware of them? It does not say the weather has changed.; It explains why we notice extreme weather more.. Answer: Against: it suggests awareness has grown, not the weather itself..
Core — reveal the hint only on request: Three of the statements describe records or repeats. One describes something extreme becoming rarer.
Stretch — no help; when finished: Argue that the decline in cold winters could in fact be used as evidence of a changing climate, and explain why the deck still sorts it as against.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Evidence for or against?.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Which of these statements did the class sort as evidence AGAINST the UK's weather becoming more extreme?
Support — work through the steps with the group: (1) Evidence FOR more extreme weather describes extreme things happening more often: record heat, record rain, repeated floods. (2) Evidence AGAINST describes extreme things happening less often, or explains the events away. (3) Look for the statement that says something extreme has declined or become rarer. (4) Check the other three: each describes a record or a repeat, which is evidence for.
Parallel worked example for Support (model it, do not give the task answer): Is this statement evidence for or against the UK's weather becoming more extreme: extreme events are reported far more in the media now, so people are more aware of them? It does not say the weather has changed.; It explains why we notice extreme weather more.. Answer: Against: it suggests awareness has grown, not the weather itself..
Core — reveal the hint only on request: Three of the statements describe records or repeats. One describes something extreme becoming rarer.
Stretch — no help; when finished: Argue that the decline in cold winters could in fact be used as evidence of a changing climate, and explain why the deck still sorts it as against.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From which direction do the storms that bring heavy rain and strong winds to the UK usually come?
Answer: B   From the west, off the Atlantic Ocean. South-westerly prevailing winds carry depressions in from the Atlantic, bringing heavy rain and strong winds, especially to the west coast.
Source of this question: gate item 1 re-asked (options rotated) — this chapter has no third quick-check module.
The ebook also holds task 3, "Is the UK's weather becoming more extreme?",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The weather roundabout. Reveal the answer; pupils mark their own work in a different colour, then read the "why" together. Same destination for every lane, so one answer serves the whole class.
Answer: From the north (Arctic air)  →  B  Heavy snow and bitterly cold conditions; From the east (the continent)  →  D  Severe winter weather; From the south  →  C  Heatwaves and droughts; From the west (the Atlantic)  →  A  Storms with heavy rain and strong winds
Why: The UK sits where air from four directions meets: Arctic air from the north brings snow and cold, continental air from the east brings severe winters, air from the south brings heat and drought, and Atlantic depressions from the west bring storms.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Evidence for or against?. Reveal the answer; pupils mark their own work in a different colour, then read the "why" together. Same destination for every lane, so one answer serves the whole class.
Answer: C   Heavy snowfall and cold winters have declined over the last 30 years, and the Thames no longer freezes
Why: Declining snow and cold winters, with the Thames no longer freezing, show one kind of extreme weather becoming rarer, so the class sorted it as evidence against. The other three statements describe records and repeats, which are evidence for.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B   From the west, off the Atlantic Ocean
Why: South-westerly prevailing winds carry depressions in from the Atlantic, bringing heavy rain and strong winds, especially to the west coast.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FDAD2"/>
          </a:solidFill>
          <a:ln w="12700">
            <a:solidFill>
              <a:srgbClr val="CFDAD2"/>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10 · The Challenge of Natural Hazards: Weather Hazards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FDAD2"/>
          </a:solidFill>
          <a:ln w="12700">
            <a:solidFill>
              <a:srgbClr val="CFDAD2"/>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10 · The Challenge of Natural Hazards: Weather Hazards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3F6B4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3DDD5"/>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3F6B4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5</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3F6B4A"/>
                </a:solidFill>
                <a:latin typeface="Calibri" pitchFamily="34" charset="0"/>
                <a:ea typeface="Calibri" pitchFamily="34" charset="-122"/>
                <a:cs typeface="Calibri" pitchFamily="34" charset="-120"/>
              </a:rPr>
              <a:t>Geography · Year 10</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5/6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The Challenge of Natural Hazards: Weather Hazards · AQA 8035</a:t>
            </a:r>
            <a:endParaRPr lang="en-US" sz="1800" dirty="0"/>
          </a:p>
        </p:txBody>
      </p:sp>
      <p:sp>
        <p:nvSpPr>
          <p:cNvPr id="10" name="deck-title"/>
          <p:cNvSpPr txBox="1"/>
          <p:nvPr/>
        </p:nvSpPr>
        <p:spPr>
          <a:xfrm>
            <a:off x="548640" y="194868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Weather hazards in the UK</a:t>
            </a:r>
            <a:endParaRPr lang="en-US" sz="4000" dirty="0"/>
          </a:p>
        </p:txBody>
      </p:sp>
      <p:sp>
        <p:nvSpPr>
          <p:cNvPr id="11" name="lessons-card"/>
          <p:cNvSpPr/>
          <p:nvPr/>
        </p:nvSpPr>
        <p:spPr>
          <a:xfrm>
            <a:off x="548640" y="3625088"/>
            <a:ext cx="5287975" cy="1869440"/>
          </a:xfrm>
          <a:prstGeom prst="roundRect">
            <a:avLst>
              <a:gd name="adj" fmla="val 3913"/>
            </a:avLst>
          </a:prstGeom>
          <a:solidFill>
            <a:srgbClr val="E6ECE7"/>
          </a:solidFill>
          <a:ln/>
        </p:spPr>
      </p:sp>
      <p:sp>
        <p:nvSpPr>
          <p:cNvPr id="12" name="lessons"/>
          <p:cNvSpPr txBox="1"/>
          <p:nvPr/>
        </p:nvSpPr>
        <p:spPr>
          <a:xfrm>
            <a:off x="685800" y="3716528"/>
            <a:ext cx="5013655" cy="1686560"/>
          </a:xfrm>
          <a:prstGeom prst="rect">
            <a:avLst/>
          </a:prstGeom>
          <a:noFill/>
          <a:ln/>
        </p:spPr>
        <p:txBody>
          <a:bodyPr wrap="square" lIns="63500" tIns="63500" rIns="63500" bIns="63500" rtlCol="0" anchor="t"/>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Lessons covered</a:t>
            </a:r>
            <a:endParaRPr lang="en-US" sz="1800" dirty="0"/>
          </a:p>
          <a:p>
            <a:pPr algn="l" indent="0" marL="0">
              <a:spcAft>
                <a:spcPts val="300"/>
              </a:spcAft>
              <a:buNone/>
            </a:pPr>
            <a:r>
              <a:rPr lang="en-US" sz="1800" b="1" dirty="0">
                <a:solidFill>
                  <a:srgbClr val="9C7225"/>
                </a:solidFill>
                <a:latin typeface="Calibri" pitchFamily="34" charset="0"/>
                <a:ea typeface="Calibri" pitchFamily="34" charset="-122"/>
                <a:cs typeface="Calibri" pitchFamily="34" charset="-120"/>
              </a:rPr>
              <a:t>10  </a:t>
            </a:r>
            <a:pPr algn="l" indent="0" marL="0">
              <a:spcAft>
                <a:spcPts val="300"/>
              </a:spcAft>
              <a:buNone/>
            </a:pPr>
            <a:r>
              <a:rPr lang="en-US" sz="1800" dirty="0">
                <a:solidFill>
                  <a:srgbClr val="1E2229"/>
                </a:solidFill>
                <a:latin typeface="Calibri" pitchFamily="34" charset="0"/>
                <a:ea typeface="Calibri" pitchFamily="34" charset="-122"/>
                <a:cs typeface="Calibri" pitchFamily="34" charset="-120"/>
              </a:rPr>
              <a:t>Weather hazards in the UK</a:t>
            </a:r>
            <a:endParaRPr lang="en-US" sz="1800" dirty="0"/>
          </a:p>
          <a:p>
            <a:pPr algn="l" indent="0" marL="0">
              <a:spcAft>
                <a:spcPts val="300"/>
              </a:spcAft>
              <a:buNone/>
            </a:pPr>
            <a:r>
              <a:rPr lang="en-US" sz="1800" b="1" dirty="0">
                <a:solidFill>
                  <a:srgbClr val="9C7225"/>
                </a:solidFill>
                <a:latin typeface="Calibri" pitchFamily="34" charset="0"/>
                <a:ea typeface="Calibri" pitchFamily="34" charset="-122"/>
                <a:cs typeface="Calibri" pitchFamily="34" charset="-120"/>
              </a:rPr>
              <a:t>11  </a:t>
            </a:r>
            <a:pPr algn="l" indent="0" marL="0">
              <a:spcAft>
                <a:spcPts val="300"/>
              </a:spcAft>
              <a:buNone/>
            </a:pPr>
            <a:r>
              <a:rPr lang="en-US" sz="1800" dirty="0">
                <a:solidFill>
                  <a:srgbClr val="1E2229"/>
                </a:solidFill>
                <a:latin typeface="Calibri" pitchFamily="34" charset="0"/>
                <a:ea typeface="Calibri" pitchFamily="34" charset="-122"/>
                <a:cs typeface="Calibri" pitchFamily="34" charset="-120"/>
              </a:rPr>
              <a:t>Is the UK's weather becoming more extreme?</a:t>
            </a:r>
            <a:endParaRPr lang="en-US" sz="1800" dirty="0"/>
          </a:p>
          <a:p>
            <a:pPr algn="l" indent="0" marL="0">
              <a:spcAft>
                <a:spcPts val="300"/>
              </a:spcAft>
              <a:buNone/>
            </a:pPr>
            <a:r>
              <a:rPr lang="en-US" sz="1800" b="1" dirty="0">
                <a:solidFill>
                  <a:srgbClr val="9C7225"/>
                </a:solidFill>
                <a:latin typeface="Calibri" pitchFamily="34" charset="0"/>
                <a:ea typeface="Calibri" pitchFamily="34" charset="-122"/>
                <a:cs typeface="Calibri" pitchFamily="34" charset="-120"/>
              </a:rPr>
              <a:t>14  </a:t>
            </a:r>
            <a:pPr algn="l" indent="0" marL="0">
              <a:spcAft>
                <a:spcPts val="300"/>
              </a:spcAft>
              <a:buNone/>
            </a:pPr>
            <a:r>
              <a:rPr lang="en-US" sz="1800" dirty="0">
                <a:solidFill>
                  <a:srgbClr val="1E2229"/>
                </a:solidFill>
                <a:latin typeface="Calibri" pitchFamily="34" charset="0"/>
                <a:ea typeface="Calibri" pitchFamily="34" charset="-122"/>
                <a:cs typeface="Calibri" pitchFamily="34" charset="-120"/>
              </a:rPr>
              <a:t>Climate change and extreme weather in the UK</a:t>
            </a:r>
            <a:endParaRPr lang="en-US" sz="1800" dirty="0"/>
          </a:p>
          <a:p>
            <a:pPr algn="l" indent="0" marL="0">
              <a:spcAft>
                <a:spcPts val="300"/>
              </a:spcAft>
              <a:buNone/>
            </a:pPr>
            <a:r>
              <a:rPr lang="en-US" sz="1800" b="1" dirty="0">
                <a:solidFill>
                  <a:srgbClr val="9C7225"/>
                </a:solidFill>
                <a:latin typeface="Calibri" pitchFamily="34" charset="0"/>
                <a:ea typeface="Calibri" pitchFamily="34" charset="-122"/>
                <a:cs typeface="Calibri" pitchFamily="34" charset="-120"/>
              </a:rPr>
              <a:t>15  </a:t>
            </a:r>
            <a:pPr algn="l" indent="0" marL="0">
              <a:spcAft>
                <a:spcPts val="300"/>
              </a:spcAft>
              <a:buNone/>
            </a:pPr>
            <a:r>
              <a:rPr lang="en-US" sz="1800" dirty="0">
                <a:solidFill>
                  <a:srgbClr val="1E2229"/>
                </a:solidFill>
                <a:latin typeface="Calibri" pitchFamily="34" charset="0"/>
                <a:ea typeface="Calibri" pitchFamily="34" charset="-122"/>
                <a:cs typeface="Calibri" pitchFamily="34" charset="-120"/>
              </a:rPr>
              <a:t>Case study: the UK heat wave of June 2017</a:t>
            </a:r>
            <a:endParaRPr lang="en-US" sz="1800" dirty="0"/>
          </a:p>
        </p:txBody>
      </p:sp>
      <p:sp>
        <p:nvSpPr>
          <p:cNvPr id="13" name="plate-frame"/>
          <p:cNvSpPr/>
          <p:nvPr/>
        </p:nvSpPr>
        <p:spPr>
          <a:xfrm>
            <a:off x="6248095" y="411480"/>
            <a:ext cx="5394960" cy="3130677"/>
          </a:xfrm>
          <a:prstGeom prst="rect">
            <a:avLst/>
          </a:prstGeom>
          <a:solidFill>
            <a:srgbClr val="F0E6D2"/>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Geography, Year 10">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6ECE7"/>
          </a:solidFill>
          <a:ln w="12700">
            <a:solidFill>
              <a:srgbClr val="ACBFB1"/>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Why do tropical storms form where they do, why do they hurt some places more than others, and is the UK's own weather becoming more extreme?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5272888" cy="4754880"/>
          </a:xfrm>
          <a:prstGeom prst="roundRect">
            <a:avLst>
              <a:gd name="adj" fmla="val 1154"/>
            </a:avLst>
          </a:prstGeom>
          <a:solidFill>
            <a:srgbClr val="ECF0ED"/>
          </a:solidFill>
          <a:ln w="12700">
            <a:solidFill>
              <a:srgbClr val="B6C7BA"/>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490712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From which direction do the storms that bring heavy rain and strong winds to the UK usually come?</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From the north, out of the Arctic</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From the east, across the continent</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From the west, off the Atlantic Ocean</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From the south, out of Africa</a:t>
            </a:r>
            <a:endParaRPr lang="en-US" sz="2200" dirty="0"/>
          </a:p>
        </p:txBody>
      </p:sp>
      <p:sp>
        <p:nvSpPr>
          <p:cNvPr id="12" name="card"/>
          <p:cNvSpPr/>
          <p:nvPr/>
        </p:nvSpPr>
        <p:spPr>
          <a:xfrm>
            <a:off x="6095848" y="1389888"/>
            <a:ext cx="2636444" cy="4754880"/>
          </a:xfrm>
          <a:prstGeom prst="roundRect">
            <a:avLst>
              <a:gd name="adj" fmla="val 2081"/>
            </a:avLst>
          </a:prstGeom>
          <a:solidFill>
            <a:srgbClr val="ECF0ED"/>
          </a:solidFill>
          <a:ln w="12700">
            <a:solidFill>
              <a:srgbClr val="B6C7BA"/>
            </a:solidFill>
            <a:prstDash val="solid"/>
          </a:ln>
        </p:spPr>
      </p:sp>
      <p:sp>
        <p:nvSpPr>
          <p:cNvPr id="13" name="card-hex"/>
          <p:cNvSpPr/>
          <p:nvPr/>
        </p:nvSpPr>
        <p:spPr>
          <a:xfrm>
            <a:off x="6278728" y="1572768"/>
            <a:ext cx="640080" cy="554309"/>
          </a:xfrm>
          <a:prstGeom prst="hexagon">
            <a:avLst/>
          </a:prstGeom>
          <a:solidFill>
            <a:srgbClr val="3F6B4A"/>
          </a:solidFill>
          <a:ln/>
        </p:spPr>
      </p:sp>
      <p:sp>
        <p:nvSpPr>
          <p:cNvPr id="14" name="card-hex-label"/>
          <p:cNvSpPr txBox="1"/>
          <p:nvPr/>
        </p:nvSpPr>
        <p:spPr>
          <a:xfrm>
            <a:off x="627872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7010248"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6278728"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Climate is the average weather of a place over a long period, usually ___ years.</a:t>
            </a:r>
            <a:endParaRPr lang="en-US" sz="2200" dirty="0"/>
          </a:p>
          <a:p>
            <a:pPr algn="l" indent="0" marL="0">
              <a:buNone/>
            </a:pPr>
            <a:r>
              <a:rPr lang="en-US" sz="2200" b="1" dirty="0">
                <a:solidFill>
                  <a:srgbClr val="3F6B4A"/>
                </a:solidFill>
                <a:latin typeface="Calibri" pitchFamily="34" charset="0"/>
                <a:ea typeface="Calibri" pitchFamily="34" charset="-122"/>
                <a:cs typeface="Calibri" pitchFamily="34" charset="-120"/>
              </a:rPr>
              <a:t>Word bank:  </a:t>
            </a:r>
            <a:pPr algn="l" indent="0" marL="0">
              <a:buNone/>
            </a:pPr>
            <a:r>
              <a:rPr lang="en-US" sz="2200" dirty="0">
                <a:solidFill>
                  <a:srgbClr val="1E2229"/>
                </a:solidFill>
                <a:latin typeface="Calibri" pitchFamily="34" charset="0"/>
                <a:ea typeface="Calibri" pitchFamily="34" charset="-122"/>
                <a:cs typeface="Calibri" pitchFamily="34" charset="-120"/>
              </a:rPr>
              <a:t>30  ·  3  ·  300</a:t>
            </a:r>
            <a:endParaRPr lang="en-US" sz="2200" dirty="0"/>
          </a:p>
        </p:txBody>
      </p:sp>
      <p:sp>
        <p:nvSpPr>
          <p:cNvPr id="17" name="card"/>
          <p:cNvSpPr/>
          <p:nvPr/>
        </p:nvSpPr>
        <p:spPr>
          <a:xfrm>
            <a:off x="9006611" y="1389888"/>
            <a:ext cx="2636444" cy="4754880"/>
          </a:xfrm>
          <a:prstGeom prst="roundRect">
            <a:avLst>
              <a:gd name="adj" fmla="val 2081"/>
            </a:avLst>
          </a:prstGeom>
          <a:solidFill>
            <a:srgbClr val="ECF0ED"/>
          </a:solidFill>
          <a:ln w="12700">
            <a:solidFill>
              <a:srgbClr val="B6C7BA"/>
            </a:solidFill>
            <a:prstDash val="solid"/>
          </a:ln>
        </p:spPr>
      </p:sp>
      <p:sp>
        <p:nvSpPr>
          <p:cNvPr id="18" name="card-hex"/>
          <p:cNvSpPr/>
          <p:nvPr/>
        </p:nvSpPr>
        <p:spPr>
          <a:xfrm>
            <a:off x="9189491" y="1572768"/>
            <a:ext cx="640080" cy="554309"/>
          </a:xfrm>
          <a:prstGeom prst="hexagon">
            <a:avLst/>
          </a:prstGeom>
          <a:solidFill>
            <a:srgbClr val="3F6B4A"/>
          </a:solidFill>
          <a:ln/>
        </p:spPr>
      </p:sp>
      <p:sp>
        <p:nvSpPr>
          <p:cNvPr id="19" name="card-hex-label"/>
          <p:cNvSpPr txBox="1"/>
          <p:nvPr/>
        </p:nvSpPr>
        <p:spPr>
          <a:xfrm>
            <a:off x="9189491"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921011"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Work it out</a:t>
            </a:r>
            <a:endParaRPr lang="en-US" sz="1800" dirty="0"/>
          </a:p>
        </p:txBody>
      </p:sp>
      <p:sp>
        <p:nvSpPr>
          <p:cNvPr id="21" name="card-body"/>
          <p:cNvSpPr txBox="1"/>
          <p:nvPr/>
        </p:nvSpPr>
        <p:spPr>
          <a:xfrm>
            <a:off x="9189491"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1E2229"/>
                </a:solidFill>
                <a:latin typeface="Calibri" pitchFamily="34" charset="0"/>
                <a:ea typeface="Calibri" pitchFamily="34" charset="-122"/>
                <a:cs typeface="Calibri" pitchFamily="34" charset="-120"/>
              </a:rPr>
              <a:t>In the summer of 2007, 414 mm of rain fell between June and August. What was the average rainfall per month, in millimetres?</a:t>
            </a:r>
            <a:endParaRPr lang="en-US" sz="2000" dirty="0"/>
          </a:p>
          <a:p>
            <a:pPr algn="l" indent="0" marL="0">
              <a:buNone/>
            </a:pPr>
            <a:r>
              <a:rPr lang="en-US" sz="2000" b="1" dirty="0">
                <a:solidFill>
                  <a:srgbClr val="3F6B4A"/>
                </a:solidFill>
                <a:latin typeface="Calibri" pitchFamily="34" charset="0"/>
                <a:ea typeface="Calibri" pitchFamily="34" charset="-122"/>
                <a:cs typeface="Calibri" pitchFamily="34" charset="-120"/>
              </a:rPr>
              <a:t>Answer:  </a:t>
            </a:r>
            <a:pPr algn="l" indent="0" marL="0">
              <a:buNone/>
            </a:pPr>
            <a:r>
              <a:rPr lang="en-US" sz="2000" dirty="0">
                <a:solidFill>
                  <a:srgbClr val="1E2229"/>
                </a:solidFill>
                <a:latin typeface="Calibri" pitchFamily="34" charset="0"/>
                <a:ea typeface="Calibri" pitchFamily="34" charset="-122"/>
                <a:cs typeface="Calibri" pitchFamily="34" charset="-120"/>
              </a:rPr>
              <a:t>________ mm</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5272888" cy="4754880"/>
          </a:xfrm>
          <a:prstGeom prst="roundRect">
            <a:avLst>
              <a:gd name="adj" fmla="val 1154"/>
            </a:avLst>
          </a:prstGeom>
          <a:solidFill>
            <a:srgbClr val="ECF0ED"/>
          </a:solidFill>
          <a:ln w="12700">
            <a:solidFill>
              <a:srgbClr val="B6C7BA"/>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4907128" cy="955040"/>
          </a:xfrm>
          <a:prstGeom prst="roundRect">
            <a:avLst>
              <a:gd name="adj" fmla="val 11489"/>
            </a:avLst>
          </a:prstGeom>
          <a:solidFill>
            <a:srgbClr val="EBDDC4"/>
          </a:solidFill>
          <a:ln w="19050">
            <a:solidFill>
              <a:srgbClr val="B8862B"/>
            </a:solidFill>
            <a:prstDash val="solid"/>
          </a:ln>
        </p:spPr>
      </p:sp>
      <p:sp>
        <p:nvSpPr>
          <p:cNvPr id="12" name="answer"/>
          <p:cNvSpPr txBox="1"/>
          <p:nvPr/>
        </p:nvSpPr>
        <p:spPr>
          <a:xfrm>
            <a:off x="822960" y="2428829"/>
            <a:ext cx="472424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From the west, off the Atlantic Ocean</a:t>
            </a:r>
            <a:endParaRPr lang="en-US" sz="2200" dirty="0"/>
          </a:p>
        </p:txBody>
      </p:sp>
      <p:sp>
        <p:nvSpPr>
          <p:cNvPr id="13" name="card-body"/>
          <p:cNvSpPr txBox="1"/>
          <p:nvPr/>
        </p:nvSpPr>
        <p:spPr>
          <a:xfrm>
            <a:off x="731520" y="3493597"/>
            <a:ext cx="4907128" cy="2514011"/>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From which direction do the storms that bring heavy rain and strong winds to the UK usually come?</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South-westerly prevailing winds carry depressions in from the Atlantic, bringing heavy rain and strong winds, especially to the west coast.</a:t>
            </a:r>
            <a:endParaRPr lang="en-US" sz="2000" dirty="0"/>
          </a:p>
        </p:txBody>
      </p:sp>
      <p:sp>
        <p:nvSpPr>
          <p:cNvPr id="14" name="card"/>
          <p:cNvSpPr/>
          <p:nvPr/>
        </p:nvSpPr>
        <p:spPr>
          <a:xfrm>
            <a:off x="6095848" y="1389888"/>
            <a:ext cx="2636444" cy="4754880"/>
          </a:xfrm>
          <a:prstGeom prst="roundRect">
            <a:avLst>
              <a:gd name="adj" fmla="val 2081"/>
            </a:avLst>
          </a:prstGeom>
          <a:solidFill>
            <a:srgbClr val="ECF0ED"/>
          </a:solidFill>
          <a:ln w="12700">
            <a:solidFill>
              <a:srgbClr val="B6C7BA"/>
            </a:solidFill>
            <a:prstDash val="solid"/>
          </a:ln>
        </p:spPr>
      </p:sp>
      <p:sp>
        <p:nvSpPr>
          <p:cNvPr id="15" name="card-hex"/>
          <p:cNvSpPr/>
          <p:nvPr/>
        </p:nvSpPr>
        <p:spPr>
          <a:xfrm>
            <a:off x="6278728" y="1572768"/>
            <a:ext cx="640080" cy="554309"/>
          </a:xfrm>
          <a:prstGeom prst="hexagon">
            <a:avLst/>
          </a:prstGeom>
          <a:solidFill>
            <a:srgbClr val="3F6B4A"/>
          </a:solidFill>
          <a:ln/>
        </p:spPr>
      </p:sp>
      <p:sp>
        <p:nvSpPr>
          <p:cNvPr id="16" name="card-hex-label"/>
          <p:cNvSpPr txBox="1"/>
          <p:nvPr/>
        </p:nvSpPr>
        <p:spPr>
          <a:xfrm>
            <a:off x="627872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7010248"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6278728" y="2355677"/>
            <a:ext cx="2270684" cy="614172"/>
          </a:xfrm>
          <a:prstGeom prst="roundRect">
            <a:avLst>
              <a:gd name="adj" fmla="val 17866"/>
            </a:avLst>
          </a:prstGeom>
          <a:solidFill>
            <a:srgbClr val="EBDDC4"/>
          </a:solidFill>
          <a:ln w="19050">
            <a:solidFill>
              <a:srgbClr val="B8862B"/>
            </a:solidFill>
            <a:prstDash val="solid"/>
          </a:ln>
        </p:spPr>
      </p:sp>
      <p:sp>
        <p:nvSpPr>
          <p:cNvPr id="19" name="answer"/>
          <p:cNvSpPr txBox="1"/>
          <p:nvPr/>
        </p:nvSpPr>
        <p:spPr>
          <a:xfrm>
            <a:off x="6370168"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30</a:t>
            </a:r>
            <a:endParaRPr lang="en-US" sz="2200" dirty="0"/>
          </a:p>
        </p:txBody>
      </p:sp>
      <p:sp>
        <p:nvSpPr>
          <p:cNvPr id="20" name="card-body"/>
          <p:cNvSpPr txBox="1"/>
          <p:nvPr/>
        </p:nvSpPr>
        <p:spPr>
          <a:xfrm>
            <a:off x="6278728" y="3152729"/>
            <a:ext cx="2270684"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Climate is measured as the average weather over about 30 years. Weather is what happens day to day.</a:t>
            </a:r>
            <a:endParaRPr lang="en-US" sz="1800" dirty="0"/>
          </a:p>
        </p:txBody>
      </p:sp>
      <p:sp>
        <p:nvSpPr>
          <p:cNvPr id="21" name="card"/>
          <p:cNvSpPr/>
          <p:nvPr/>
        </p:nvSpPr>
        <p:spPr>
          <a:xfrm>
            <a:off x="9006611" y="1389888"/>
            <a:ext cx="2636444" cy="4754880"/>
          </a:xfrm>
          <a:prstGeom prst="roundRect">
            <a:avLst>
              <a:gd name="adj" fmla="val 2081"/>
            </a:avLst>
          </a:prstGeom>
          <a:solidFill>
            <a:srgbClr val="ECF0ED"/>
          </a:solidFill>
          <a:ln w="12700">
            <a:solidFill>
              <a:srgbClr val="B6C7BA"/>
            </a:solidFill>
            <a:prstDash val="solid"/>
          </a:ln>
        </p:spPr>
      </p:sp>
      <p:sp>
        <p:nvSpPr>
          <p:cNvPr id="22" name="card-hex"/>
          <p:cNvSpPr/>
          <p:nvPr/>
        </p:nvSpPr>
        <p:spPr>
          <a:xfrm>
            <a:off x="9189491" y="1572768"/>
            <a:ext cx="640080" cy="554309"/>
          </a:xfrm>
          <a:prstGeom prst="hexagon">
            <a:avLst/>
          </a:prstGeom>
          <a:solidFill>
            <a:srgbClr val="3F6B4A"/>
          </a:solidFill>
          <a:ln/>
        </p:spPr>
      </p:sp>
      <p:sp>
        <p:nvSpPr>
          <p:cNvPr id="23" name="card-hex-label"/>
          <p:cNvSpPr txBox="1"/>
          <p:nvPr/>
        </p:nvSpPr>
        <p:spPr>
          <a:xfrm>
            <a:off x="9189491"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921011"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9189491" y="2355677"/>
            <a:ext cx="2270684" cy="614172"/>
          </a:xfrm>
          <a:prstGeom prst="roundRect">
            <a:avLst>
              <a:gd name="adj" fmla="val 17866"/>
            </a:avLst>
          </a:prstGeom>
          <a:solidFill>
            <a:srgbClr val="EBDDC4"/>
          </a:solidFill>
          <a:ln w="19050">
            <a:solidFill>
              <a:srgbClr val="B8862B"/>
            </a:solidFill>
            <a:prstDash val="solid"/>
          </a:ln>
        </p:spPr>
      </p:sp>
      <p:sp>
        <p:nvSpPr>
          <p:cNvPr id="26" name="answer"/>
          <p:cNvSpPr txBox="1"/>
          <p:nvPr/>
        </p:nvSpPr>
        <p:spPr>
          <a:xfrm>
            <a:off x="9280931"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138 mm</a:t>
            </a:r>
            <a:endParaRPr lang="en-US" sz="2200" dirty="0"/>
          </a:p>
        </p:txBody>
      </p:sp>
      <p:sp>
        <p:nvSpPr>
          <p:cNvPr id="27" name="card-body"/>
          <p:cNvSpPr txBox="1"/>
          <p:nvPr/>
        </p:nvSpPr>
        <p:spPr>
          <a:xfrm>
            <a:off x="9189491" y="3152729"/>
            <a:ext cx="2270684"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June, July and August are three months: 414 ÷ 3 = 138 mm per month.</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AEFEB"/>
          </a:solidFill>
          <a:ln w="12700">
            <a:solidFill>
              <a:srgbClr val="ACBFB1"/>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weather</a:t>
            </a:r>
            <a:endParaRPr lang="en-US" sz="2600" dirty="0"/>
          </a:p>
        </p:txBody>
      </p:sp>
      <p:sp>
        <p:nvSpPr>
          <p:cNvPr id="11" name="word-rule"/>
          <p:cNvSpPr/>
          <p:nvPr/>
        </p:nvSpPr>
        <p:spPr>
          <a:xfrm>
            <a:off x="731520" y="2129028"/>
            <a:ext cx="3149498" cy="0"/>
          </a:xfrm>
          <a:prstGeom prst="line">
            <a:avLst/>
          </a:prstGeom>
          <a:ln w="12700">
            <a:solidFill>
              <a:srgbClr val="ACBFB1"/>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conditions in the atmosphere from day to day</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Today's weather is wet and windy.</a:t>
            </a:r>
            <a:endParaRPr lang="en-US" sz="2200" dirty="0"/>
          </a:p>
        </p:txBody>
      </p:sp>
      <p:sp>
        <p:nvSpPr>
          <p:cNvPr id="13" name="word-card"/>
          <p:cNvSpPr/>
          <p:nvPr/>
        </p:nvSpPr>
        <p:spPr>
          <a:xfrm>
            <a:off x="4338218" y="1389888"/>
            <a:ext cx="3515258" cy="4754880"/>
          </a:xfrm>
          <a:prstGeom prst="roundRect">
            <a:avLst>
              <a:gd name="adj" fmla="val 1561"/>
            </a:avLst>
          </a:prstGeom>
          <a:solidFill>
            <a:srgbClr val="EAEFEB"/>
          </a:solidFill>
          <a:ln w="12700">
            <a:solidFill>
              <a:srgbClr val="ACBFB1"/>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climate</a:t>
            </a:r>
            <a:endParaRPr lang="en-US" sz="2600" dirty="0"/>
          </a:p>
        </p:txBody>
      </p:sp>
      <p:sp>
        <p:nvSpPr>
          <p:cNvPr id="17" name="word-rule"/>
          <p:cNvSpPr/>
          <p:nvPr/>
        </p:nvSpPr>
        <p:spPr>
          <a:xfrm>
            <a:off x="4521098" y="2129028"/>
            <a:ext cx="3149498" cy="0"/>
          </a:xfrm>
          <a:prstGeom prst="line">
            <a:avLst/>
          </a:prstGeom>
          <a:ln w="12700">
            <a:solidFill>
              <a:srgbClr val="ACBFB1"/>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average weather of a place over a long time, usually 30 years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UK has a mild, wet climate.</a:t>
            </a:r>
            <a:endParaRPr lang="en-US" sz="2200" dirty="0"/>
          </a:p>
        </p:txBody>
      </p:sp>
      <p:sp>
        <p:nvSpPr>
          <p:cNvPr id="19" name="word-card"/>
          <p:cNvSpPr/>
          <p:nvPr/>
        </p:nvSpPr>
        <p:spPr>
          <a:xfrm>
            <a:off x="8127797" y="1389888"/>
            <a:ext cx="3515258" cy="4754880"/>
          </a:xfrm>
          <a:prstGeom prst="roundRect">
            <a:avLst>
              <a:gd name="adj" fmla="val 1561"/>
            </a:avLst>
          </a:prstGeom>
          <a:solidFill>
            <a:srgbClr val="EAEFEB"/>
          </a:solidFill>
          <a:ln w="12700">
            <a:solidFill>
              <a:srgbClr val="ACBFB1"/>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depression</a:t>
            </a:r>
            <a:endParaRPr lang="en-US" sz="2600" dirty="0"/>
          </a:p>
        </p:txBody>
      </p:sp>
      <p:sp>
        <p:nvSpPr>
          <p:cNvPr id="23" name="word-rule"/>
          <p:cNvSpPr/>
          <p:nvPr/>
        </p:nvSpPr>
        <p:spPr>
          <a:xfrm>
            <a:off x="8310677" y="2129028"/>
            <a:ext cx="3149498" cy="0"/>
          </a:xfrm>
          <a:prstGeom prst="line">
            <a:avLst/>
          </a:prstGeom>
          <a:ln w="12700">
            <a:solidFill>
              <a:srgbClr val="ACBFB1"/>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an area of low pressure that brings cloud, rain and wind</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depression crossing from the Atlantic brought a day of heavy rain.</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AEFEB"/>
          </a:solidFill>
          <a:ln w="12700">
            <a:solidFill>
              <a:srgbClr val="ACBFB1"/>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heatwave</a:t>
            </a:r>
            <a:endParaRPr lang="en-US" sz="2600" dirty="0"/>
          </a:p>
        </p:txBody>
      </p:sp>
      <p:sp>
        <p:nvSpPr>
          <p:cNvPr id="11" name="word-rule"/>
          <p:cNvSpPr/>
          <p:nvPr/>
        </p:nvSpPr>
        <p:spPr>
          <a:xfrm>
            <a:off x="731520" y="2129028"/>
            <a:ext cx="3149498" cy="0"/>
          </a:xfrm>
          <a:prstGeom prst="line">
            <a:avLst/>
          </a:prstGeom>
          <a:ln w="12700">
            <a:solidFill>
              <a:srgbClr val="ACBFB1"/>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long spell of unusually hot weather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2003 heatwave brought record temperatures to Kent.</a:t>
            </a:r>
            <a:endParaRPr lang="en-US" sz="2200" dirty="0"/>
          </a:p>
        </p:txBody>
      </p:sp>
      <p:sp>
        <p:nvSpPr>
          <p:cNvPr id="13" name="word-card"/>
          <p:cNvSpPr/>
          <p:nvPr/>
        </p:nvSpPr>
        <p:spPr>
          <a:xfrm>
            <a:off x="4338218" y="1389888"/>
            <a:ext cx="3515258" cy="4754880"/>
          </a:xfrm>
          <a:prstGeom prst="roundRect">
            <a:avLst>
              <a:gd name="adj" fmla="val 1561"/>
            </a:avLst>
          </a:prstGeom>
          <a:solidFill>
            <a:srgbClr val="EAEFEB"/>
          </a:solidFill>
          <a:ln w="12700">
            <a:solidFill>
              <a:srgbClr val="ACBFB1"/>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drought</a:t>
            </a:r>
            <a:endParaRPr lang="en-US" sz="2600" dirty="0"/>
          </a:p>
        </p:txBody>
      </p:sp>
      <p:sp>
        <p:nvSpPr>
          <p:cNvPr id="17" name="word-rule"/>
          <p:cNvSpPr/>
          <p:nvPr/>
        </p:nvSpPr>
        <p:spPr>
          <a:xfrm>
            <a:off x="4521098" y="2129028"/>
            <a:ext cx="3149498" cy="0"/>
          </a:xfrm>
          <a:prstGeom prst="line">
            <a:avLst/>
          </a:prstGeom>
          <a:ln w="12700">
            <a:solidFill>
              <a:srgbClr val="ACBFB1"/>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long period with much less rain than normal</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drought left reservoirs low and crops dying.</a:t>
            </a:r>
            <a:endParaRPr lang="en-US" sz="2200" dirty="0"/>
          </a:p>
        </p:txBody>
      </p:sp>
      <p:sp>
        <p:nvSpPr>
          <p:cNvPr id="19" name="word-card"/>
          <p:cNvSpPr/>
          <p:nvPr/>
        </p:nvSpPr>
        <p:spPr>
          <a:xfrm>
            <a:off x="8127797" y="1389888"/>
            <a:ext cx="3515258" cy="4754880"/>
          </a:xfrm>
          <a:prstGeom prst="roundRect">
            <a:avLst>
              <a:gd name="adj" fmla="val 1561"/>
            </a:avLst>
          </a:prstGeom>
          <a:solidFill>
            <a:srgbClr val="EAEFEB"/>
          </a:solidFill>
          <a:ln w="12700">
            <a:solidFill>
              <a:srgbClr val="ACBFB1"/>
            </a:solidFill>
            <a:prstDash val="solid"/>
          </a:ln>
        </p:spPr>
      </p:sp>
      <p:sp>
        <p:nvSpPr>
          <p:cNvPr id="20" name="word-hex"/>
          <p:cNvSpPr/>
          <p:nvPr/>
        </p:nvSpPr>
        <p:spPr>
          <a:xfrm>
            <a:off x="8264957" y="1802044"/>
            <a:ext cx="502920" cy="435529"/>
          </a:xfrm>
          <a:prstGeom prst="hexagon">
            <a:avLst/>
          </a:prstGeom>
          <a:solidFill>
            <a:srgbClr val="B8862B"/>
          </a:solidFill>
          <a:ln/>
        </p:spPr>
      </p:sp>
      <p:sp>
        <p:nvSpPr>
          <p:cNvPr id="21" name="word-hex-label"/>
          <p:cNvSpPr txBox="1"/>
          <p:nvPr/>
        </p:nvSpPr>
        <p:spPr>
          <a:xfrm>
            <a:off x="8264957"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extreme weather</a:t>
            </a:r>
            <a:endParaRPr lang="en-US" sz="2600" dirty="0"/>
          </a:p>
        </p:txBody>
      </p:sp>
      <p:sp>
        <p:nvSpPr>
          <p:cNvPr id="23" name="word-rule"/>
          <p:cNvSpPr/>
          <p:nvPr/>
        </p:nvSpPr>
        <p:spPr>
          <a:xfrm>
            <a:off x="8310677" y="2558288"/>
            <a:ext cx="3149498" cy="0"/>
          </a:xfrm>
          <a:prstGeom prst="line">
            <a:avLst/>
          </a:prstGeom>
          <a:ln w="12700">
            <a:solidFill>
              <a:srgbClr val="ACBFB1"/>
            </a:solidFill>
            <a:prstDash val="solid"/>
          </a:ln>
        </p:spPr>
      </p:sp>
      <p:sp>
        <p:nvSpPr>
          <p:cNvPr id="24" name="word-body"/>
          <p:cNvSpPr txBox="1"/>
          <p:nvPr/>
        </p:nvSpPr>
        <p:spPr>
          <a:xfrm>
            <a:off x="8310677"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weather that is far outside what is normal for a place and can cause serious harm</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Record floods and record heat are both extreme weather.</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CF0ED"/>
          </a:solidFill>
          <a:ln w="12700">
            <a:solidFill>
              <a:srgbClr val="C0CEC3"/>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Weather</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is what the atmosphere does from day to day.</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Climate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is the average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weather</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over about 30 years.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UK has a mild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climate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but it still gets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extreme weather</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UK sits where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weather</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from four directions meets.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Arctic air from the north brings snow and bitter cold.</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Winter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weather</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from the east can be severe.</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CF0ED"/>
          </a:solidFill>
          <a:ln w="12700">
            <a:solidFill>
              <a:srgbClr val="C0CEC3"/>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Hot air from the south brings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heatwaves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and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drought</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Storms from the Atlantic bring heavy rain and strong winds to the west.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Depressions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are areas of low pressure that cross the UK from the west.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They bring most of our storms and floods.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Some people think the UK's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weather</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is becoming more extreme.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There is evidence for this view and evidence against it.</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Weather, climate and the UK's roundabout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Give the four directions and a hazard for each: north, snow; east, severe winter; south, heatwave and drought; west, Atlantic storms.</a:t>
            </a:r>
            <a:endParaRPr lang="en-US" sz="1800" dirty="0"/>
          </a:p>
        </p:txBody>
      </p:sp>
      <p:sp>
        <p:nvSpPr>
          <p:cNvPr id="11" name="bullet-card"/>
          <p:cNvSpPr/>
          <p:nvPr/>
        </p:nvSpPr>
        <p:spPr>
          <a:xfrm>
            <a:off x="548640" y="1389888"/>
            <a:ext cx="11094415" cy="903901"/>
          </a:xfrm>
          <a:prstGeom prst="roundRect">
            <a:avLst>
              <a:gd name="adj" fmla="val 8093"/>
            </a:avLst>
          </a:prstGeom>
          <a:solidFill>
            <a:srgbClr val="EAEFEB"/>
          </a:solidFill>
          <a:ln/>
        </p:spPr>
      </p:sp>
      <p:sp>
        <p:nvSpPr>
          <p:cNvPr id="12" name="bullet-hex"/>
          <p:cNvSpPr/>
          <p:nvPr/>
        </p:nvSpPr>
        <p:spPr>
          <a:xfrm>
            <a:off x="676656" y="1675546"/>
            <a:ext cx="384048" cy="332586"/>
          </a:xfrm>
          <a:prstGeom prst="hexagon">
            <a:avLst/>
          </a:prstGeom>
          <a:solidFill>
            <a:srgbClr val="3F6B4A"/>
          </a:solidFill>
          <a:ln/>
        </p:spPr>
      </p:sp>
      <p:sp>
        <p:nvSpPr>
          <p:cNvPr id="13" name="bullet"/>
          <p:cNvSpPr txBox="1"/>
          <p:nvPr/>
        </p:nvSpPr>
        <p:spPr>
          <a:xfrm>
            <a:off x="1143000" y="1389888"/>
            <a:ext cx="10408615" cy="903901"/>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Weather is a description of the day-to-day conditions of the atmosphere: today's temperature, rain, wind and cloud.</a:t>
            </a:r>
            <a:endParaRPr lang="en-US" sz="2200" dirty="0"/>
          </a:p>
        </p:txBody>
      </p:sp>
      <p:sp>
        <p:nvSpPr>
          <p:cNvPr id="14" name="bullet-card"/>
          <p:cNvSpPr/>
          <p:nvPr/>
        </p:nvSpPr>
        <p:spPr>
          <a:xfrm>
            <a:off x="548640" y="2440093"/>
            <a:ext cx="11094415" cy="903901"/>
          </a:xfrm>
          <a:prstGeom prst="roundRect">
            <a:avLst>
              <a:gd name="adj" fmla="val 8093"/>
            </a:avLst>
          </a:prstGeom>
          <a:solidFill>
            <a:srgbClr val="EAEFEB"/>
          </a:solidFill>
          <a:ln/>
        </p:spPr>
      </p:sp>
      <p:sp>
        <p:nvSpPr>
          <p:cNvPr id="15" name="bullet-hex"/>
          <p:cNvSpPr/>
          <p:nvPr/>
        </p:nvSpPr>
        <p:spPr>
          <a:xfrm>
            <a:off x="676656" y="2725751"/>
            <a:ext cx="384048" cy="332586"/>
          </a:xfrm>
          <a:prstGeom prst="hexagon">
            <a:avLst/>
          </a:prstGeom>
          <a:solidFill>
            <a:srgbClr val="B8862B"/>
          </a:solidFill>
          <a:ln/>
        </p:spPr>
      </p:sp>
      <p:sp>
        <p:nvSpPr>
          <p:cNvPr id="16" name="bullet"/>
          <p:cNvSpPr txBox="1"/>
          <p:nvPr/>
        </p:nvSpPr>
        <p:spPr>
          <a:xfrm>
            <a:off x="1143000" y="2440093"/>
            <a:ext cx="10408615" cy="903901"/>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deck pictures the UK as a weather roundabout, because it sits at the meeting point of several kinds of weather from different directions.</a:t>
            </a:r>
            <a:endParaRPr lang="en-US" sz="2200" dirty="0"/>
          </a:p>
        </p:txBody>
      </p:sp>
      <p:sp>
        <p:nvSpPr>
          <p:cNvPr id="17" name="bullet-card"/>
          <p:cNvSpPr/>
          <p:nvPr/>
        </p:nvSpPr>
        <p:spPr>
          <a:xfrm>
            <a:off x="548640" y="3490299"/>
            <a:ext cx="11094415" cy="1585637"/>
          </a:xfrm>
          <a:prstGeom prst="roundRect">
            <a:avLst>
              <a:gd name="adj" fmla="val 4613"/>
            </a:avLst>
          </a:prstGeom>
          <a:solidFill>
            <a:srgbClr val="EAEFEB"/>
          </a:solidFill>
          <a:ln/>
        </p:spPr>
      </p:sp>
      <p:sp>
        <p:nvSpPr>
          <p:cNvPr id="18" name="bullet-hex"/>
          <p:cNvSpPr/>
          <p:nvPr/>
        </p:nvSpPr>
        <p:spPr>
          <a:xfrm>
            <a:off x="676656" y="4116825"/>
            <a:ext cx="384048" cy="332586"/>
          </a:xfrm>
          <a:prstGeom prst="hexagon">
            <a:avLst/>
          </a:prstGeom>
          <a:solidFill>
            <a:srgbClr val="3F6B4A"/>
          </a:solidFill>
          <a:ln/>
        </p:spPr>
      </p:sp>
      <p:sp>
        <p:nvSpPr>
          <p:cNvPr id="19" name="bullet"/>
          <p:cNvSpPr txBox="1"/>
          <p:nvPr/>
        </p:nvSpPr>
        <p:spPr>
          <a:xfrm>
            <a:off x="1143000" y="3490299"/>
            <a:ext cx="10408615" cy="1585637"/>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Depressions are the key word for the west. A depression is an area of low atmospheric pressure, and depressions cross the UK regularly, bringing heavy rain that can trigger river floods and winds that can cause great storm damage, especially on the west coast.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UK's weather hazards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For a four-mark outline the evidence question, give two hazards and one piece of evidence for each, with a date and a number. A list without evidence earns at most two marks.</a:t>
            </a:r>
            <a:endParaRPr lang="en-US" sz="1800" dirty="0"/>
          </a:p>
        </p:txBody>
      </p:sp>
      <p:sp>
        <p:nvSpPr>
          <p:cNvPr id="11" name="point-card"/>
          <p:cNvSpPr/>
          <p:nvPr/>
        </p:nvSpPr>
        <p:spPr>
          <a:xfrm>
            <a:off x="548640" y="1389888"/>
            <a:ext cx="3515258" cy="3686048"/>
          </a:xfrm>
          <a:prstGeom prst="roundRect">
            <a:avLst>
              <a:gd name="adj" fmla="val 1561"/>
            </a:avLst>
          </a:prstGeom>
          <a:solidFill>
            <a:srgbClr val="E6ECE7"/>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Storms. A cluster of strong depressions caused widespread wind damage in late 2013.</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Cold. The winters of 1946 to 1947, 1962 to 1963 and 1978 to 1979 were exceptionally cold, and 2010 to 2011 and 2014 to 2015 were also unusually cold.</a:t>
            </a:r>
            <a:endParaRPr lang="en-US" sz="2200" dirty="0"/>
          </a:p>
        </p:txBody>
      </p:sp>
      <p:sp>
        <p:nvSpPr>
          <p:cNvPr id="19" name="point-card"/>
          <p:cNvSpPr/>
          <p:nvPr/>
        </p:nvSpPr>
        <p:spPr>
          <a:xfrm>
            <a:off x="8127797" y="1389888"/>
            <a:ext cx="3515258" cy="3686048"/>
          </a:xfrm>
          <a:prstGeom prst="roundRect">
            <a:avLst>
              <a:gd name="adj" fmla="val 1561"/>
            </a:avLst>
          </a:prstGeom>
          <a:solidFill>
            <a:srgbClr val="E6ECE7"/>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Heatwaves and drought. A drought is an extended period of low or absent rainfall compared with the expected average for the region.</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Is the UK's weather becoming more extreme?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Evidence needs a number and a date. The wettest summer on record is a claim; 414 mm between June and August 2007 is evidence.</a:t>
            </a:r>
            <a:endParaRPr lang="en-US" sz="1800" dirty="0"/>
          </a:p>
        </p:txBody>
      </p:sp>
      <p:sp>
        <p:nvSpPr>
          <p:cNvPr id="11" name="bullet-card"/>
          <p:cNvSpPr/>
          <p:nvPr/>
        </p:nvSpPr>
        <p:spPr>
          <a:xfrm>
            <a:off x="548640" y="1389888"/>
            <a:ext cx="11094415" cy="798576"/>
          </a:xfrm>
          <a:prstGeom prst="roundRect">
            <a:avLst>
              <a:gd name="adj" fmla="val 9160"/>
            </a:avLst>
          </a:prstGeom>
          <a:solidFill>
            <a:srgbClr val="EAEFEB"/>
          </a:solidFill>
          <a:ln/>
        </p:spPr>
      </p:sp>
      <p:sp>
        <p:nvSpPr>
          <p:cNvPr id="12" name="bullet-hex"/>
          <p:cNvSpPr/>
          <p:nvPr/>
        </p:nvSpPr>
        <p:spPr>
          <a:xfrm>
            <a:off x="676656" y="1622883"/>
            <a:ext cx="384048" cy="332586"/>
          </a:xfrm>
          <a:prstGeom prst="hexagon">
            <a:avLst/>
          </a:prstGeom>
          <a:solidFill>
            <a:srgbClr val="3F6B4A"/>
          </a:solidFill>
          <a:ln/>
        </p:spPr>
      </p:sp>
      <p:sp>
        <p:nvSpPr>
          <p:cNvPr id="13" name="bullet"/>
          <p:cNvSpPr txBox="1"/>
          <p:nvPr/>
        </p:nvSpPr>
        <p:spPr>
          <a:xfrm>
            <a:off x="1143000" y="1389888"/>
            <a:ext cx="10408615" cy="79857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weather event is extreme when it is well outside what is normal for the place and the time of year, and when it can cause serious harm to people or the economy.</a:t>
            </a:r>
            <a:endParaRPr lang="en-US" sz="1800" dirty="0"/>
          </a:p>
        </p:txBody>
      </p:sp>
      <p:sp>
        <p:nvSpPr>
          <p:cNvPr id="14" name="bullet-card"/>
          <p:cNvSpPr/>
          <p:nvPr/>
        </p:nvSpPr>
        <p:spPr>
          <a:xfrm>
            <a:off x="548640" y="2334768"/>
            <a:ext cx="11094415" cy="680720"/>
          </a:xfrm>
          <a:prstGeom prst="roundRect">
            <a:avLst>
              <a:gd name="adj" fmla="val 10746"/>
            </a:avLst>
          </a:prstGeom>
          <a:solidFill>
            <a:srgbClr val="EAEFEB"/>
          </a:solidFill>
          <a:ln/>
        </p:spPr>
      </p:sp>
      <p:sp>
        <p:nvSpPr>
          <p:cNvPr id="15" name="bullet-hex"/>
          <p:cNvSpPr/>
          <p:nvPr/>
        </p:nvSpPr>
        <p:spPr>
          <a:xfrm>
            <a:off x="676656" y="2508835"/>
            <a:ext cx="384048" cy="332586"/>
          </a:xfrm>
          <a:prstGeom prst="hexagon">
            <a:avLst/>
          </a:prstGeom>
          <a:solidFill>
            <a:srgbClr val="B8862B"/>
          </a:solidFill>
          <a:ln/>
        </p:spPr>
      </p:sp>
      <p:sp>
        <p:nvSpPr>
          <p:cNvPr id="16" name="bullet"/>
          <p:cNvSpPr txBox="1"/>
          <p:nvPr/>
        </p:nvSpPr>
        <p:spPr>
          <a:xfrm>
            <a:off x="1143000" y="2334768"/>
            <a:ext cx="10408615" cy="68072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In class you sorted statements into evidence for and against the UK's weather becoming more extreme.</a:t>
            </a:r>
            <a:endParaRPr lang="en-US" sz="1800" dirty="0"/>
          </a:p>
        </p:txBody>
      </p:sp>
      <p:sp>
        <p:nvSpPr>
          <p:cNvPr id="17" name="bullet-card"/>
          <p:cNvSpPr/>
          <p:nvPr/>
        </p:nvSpPr>
        <p:spPr>
          <a:xfrm>
            <a:off x="548640" y="3161792"/>
            <a:ext cx="11094415" cy="1914144"/>
          </a:xfrm>
          <a:prstGeom prst="roundRect">
            <a:avLst>
              <a:gd name="adj" fmla="val 3822"/>
            </a:avLst>
          </a:prstGeom>
          <a:solidFill>
            <a:srgbClr val="EAEFEB"/>
          </a:solidFill>
          <a:ln/>
        </p:spPr>
      </p:sp>
      <p:sp>
        <p:nvSpPr>
          <p:cNvPr id="18" name="bullet-hex"/>
          <p:cNvSpPr/>
          <p:nvPr/>
        </p:nvSpPr>
        <p:spPr>
          <a:xfrm>
            <a:off x="676656" y="3952571"/>
            <a:ext cx="384048" cy="332586"/>
          </a:xfrm>
          <a:prstGeom prst="hexagon">
            <a:avLst/>
          </a:prstGeom>
          <a:solidFill>
            <a:srgbClr val="3F6B4A"/>
          </a:solidFill>
          <a:ln/>
        </p:spPr>
      </p:sp>
      <p:sp>
        <p:nvSpPr>
          <p:cNvPr id="19" name="bullet"/>
          <p:cNvSpPr txBox="1"/>
          <p:nvPr/>
        </p:nvSpPr>
        <p:spPr>
          <a:xfrm>
            <a:off x="1143000" y="3161792"/>
            <a:ext cx="10408615" cy="191414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Against: some kinds of extreme weather are rarer than 30 years ago, since heavy snowfall and cold winters have declined and the River Thames, which iced over every year in the nineteenth century, no longer does; weather is naturally highly variable and extreme events have always happened, but they are far more publicised in the media now, so awareness is growing; the statement about El Niño doubling the chance of extreme weather is about America and Asia, not the UK; and the Met Office inviting the public to name storms tells us about publicity, not about the weather itself.</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3F6B4A"/>
                </a:solidFill>
                <a:latin typeface="Cambria" pitchFamily="34" charset="0"/>
                <a:ea typeface="Cambria" pitchFamily="34" charset="-122"/>
                <a:cs typeface="Cambria" pitchFamily="34" charset="-120"/>
              </a:rPr>
              <a:t>Worked example: Is the UK's weather becoming more extreme?</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E6ECE7"/>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In the summer of 2007, 414 mm of rain fell between June and August. What was the average rainfall per month?</a:t>
            </a:r>
            <a:endParaRPr lang="en-US" sz="2200" dirty="0"/>
          </a:p>
        </p:txBody>
      </p:sp>
      <p:sp>
        <p:nvSpPr>
          <p:cNvPr id="9" name="step-box"/>
          <p:cNvSpPr/>
          <p:nvPr/>
        </p:nvSpPr>
        <p:spPr>
          <a:xfrm>
            <a:off x="548640" y="2655824"/>
            <a:ext cx="3423818" cy="2531872"/>
          </a:xfrm>
          <a:prstGeom prst="roundRect">
            <a:avLst>
              <a:gd name="adj" fmla="val 2889"/>
            </a:avLst>
          </a:prstGeom>
          <a:solidFill>
            <a:srgbClr val="FFFFFF"/>
          </a:solidFill>
          <a:ln w="15875">
            <a:solidFill>
              <a:srgbClr val="95AE9B"/>
            </a:solidFill>
            <a:prstDash val="solid"/>
          </a:ln>
        </p:spPr>
      </p:sp>
      <p:sp>
        <p:nvSpPr>
          <p:cNvPr id="10" name="step-hex"/>
          <p:cNvSpPr/>
          <p:nvPr/>
        </p:nvSpPr>
        <p:spPr>
          <a:xfrm>
            <a:off x="685800" y="2765552"/>
            <a:ext cx="530352" cy="459285"/>
          </a:xfrm>
          <a:prstGeom prst="hexagon">
            <a:avLst/>
          </a:prstGeom>
          <a:solidFill>
            <a:srgbClr val="3F6B4A"/>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3149498" cy="1846072"/>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June, July and August are three months.</a:t>
            </a:r>
            <a:endParaRPr lang="en-US" sz="1800" dirty="0"/>
          </a:p>
        </p:txBody>
      </p:sp>
      <p:sp>
        <p:nvSpPr>
          <p:cNvPr id="13" name="arrow"/>
          <p:cNvSpPr/>
          <p:nvPr/>
        </p:nvSpPr>
        <p:spPr>
          <a:xfrm>
            <a:off x="4045610" y="3784600"/>
            <a:ext cx="274320" cy="274320"/>
          </a:xfrm>
          <a:prstGeom prst="rightArrow">
            <a:avLst/>
          </a:prstGeom>
          <a:solidFill>
            <a:srgbClr val="B8862B"/>
          </a:solidFill>
          <a:ln/>
        </p:spPr>
      </p:sp>
      <p:sp>
        <p:nvSpPr>
          <p:cNvPr id="14" name="step-box"/>
          <p:cNvSpPr/>
          <p:nvPr/>
        </p:nvSpPr>
        <p:spPr>
          <a:xfrm>
            <a:off x="4383938" y="2655824"/>
            <a:ext cx="3423818" cy="2531872"/>
          </a:xfrm>
          <a:prstGeom prst="roundRect">
            <a:avLst>
              <a:gd name="adj" fmla="val 2889"/>
            </a:avLst>
          </a:prstGeom>
          <a:solidFill>
            <a:srgbClr val="FFFFFF"/>
          </a:solidFill>
          <a:ln w="15875">
            <a:solidFill>
              <a:srgbClr val="95AE9B"/>
            </a:solidFill>
            <a:prstDash val="solid"/>
          </a:ln>
        </p:spPr>
      </p:sp>
      <p:sp>
        <p:nvSpPr>
          <p:cNvPr id="15" name="step-hex"/>
          <p:cNvSpPr/>
          <p:nvPr/>
        </p:nvSpPr>
        <p:spPr>
          <a:xfrm>
            <a:off x="4521098" y="2765552"/>
            <a:ext cx="530352" cy="459285"/>
          </a:xfrm>
          <a:prstGeom prst="hexagon">
            <a:avLst/>
          </a:prstGeom>
          <a:solidFill>
            <a:srgbClr val="3F6B4A"/>
          </a:solidFill>
          <a:ln/>
        </p:spPr>
      </p:sp>
      <p:sp>
        <p:nvSpPr>
          <p:cNvPr id="16" name="step-hex-label"/>
          <p:cNvSpPr txBox="1"/>
          <p:nvPr/>
        </p:nvSpPr>
        <p:spPr>
          <a:xfrm>
            <a:off x="452109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4521098" y="3250184"/>
            <a:ext cx="3149498" cy="1846072"/>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414 ÷ 3 = 138 mm per month.</a:t>
            </a:r>
            <a:endParaRPr lang="en-US" sz="1800" dirty="0"/>
          </a:p>
        </p:txBody>
      </p:sp>
      <p:sp>
        <p:nvSpPr>
          <p:cNvPr id="18" name="arrow"/>
          <p:cNvSpPr/>
          <p:nvPr/>
        </p:nvSpPr>
        <p:spPr>
          <a:xfrm>
            <a:off x="7880909" y="3784600"/>
            <a:ext cx="274320" cy="274320"/>
          </a:xfrm>
          <a:prstGeom prst="rightArrow">
            <a:avLst/>
          </a:prstGeom>
          <a:solidFill>
            <a:srgbClr val="B8862B"/>
          </a:solidFill>
          <a:ln/>
        </p:spPr>
      </p:sp>
      <p:sp>
        <p:nvSpPr>
          <p:cNvPr id="19" name="step-box"/>
          <p:cNvSpPr/>
          <p:nvPr/>
        </p:nvSpPr>
        <p:spPr>
          <a:xfrm>
            <a:off x="8219237" y="2655824"/>
            <a:ext cx="3423818" cy="2531872"/>
          </a:xfrm>
          <a:prstGeom prst="roundRect">
            <a:avLst>
              <a:gd name="adj" fmla="val 2889"/>
            </a:avLst>
          </a:prstGeom>
          <a:solidFill>
            <a:srgbClr val="FFFFFF"/>
          </a:solidFill>
          <a:ln w="15875">
            <a:solidFill>
              <a:srgbClr val="95AE9B"/>
            </a:solidFill>
            <a:prstDash val="solid"/>
          </a:ln>
        </p:spPr>
      </p:sp>
      <p:sp>
        <p:nvSpPr>
          <p:cNvPr id="20" name="step-hex"/>
          <p:cNvSpPr/>
          <p:nvPr/>
        </p:nvSpPr>
        <p:spPr>
          <a:xfrm>
            <a:off x="8356397" y="2765552"/>
            <a:ext cx="530352" cy="459285"/>
          </a:xfrm>
          <a:prstGeom prst="hexagon">
            <a:avLst/>
          </a:prstGeom>
          <a:solidFill>
            <a:srgbClr val="3F6B4A"/>
          </a:solidFill>
          <a:ln/>
        </p:spPr>
      </p:sp>
      <p:sp>
        <p:nvSpPr>
          <p:cNvPr id="21" name="step-hex-label"/>
          <p:cNvSpPr txBox="1"/>
          <p:nvPr/>
        </p:nvSpPr>
        <p:spPr>
          <a:xfrm>
            <a:off x="8356397"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8356397" y="3250184"/>
            <a:ext cx="3149498" cy="1846072"/>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Check the sense: the UK's typical summer month has well under 100 mm in many places, so 138 mm every month explains why 2007 was the wettest summer on record.</a:t>
            </a:r>
            <a:endParaRPr lang="en-US" sz="1800" dirty="0"/>
          </a:p>
        </p:txBody>
      </p:sp>
      <p:sp>
        <p:nvSpPr>
          <p:cNvPr id="23" name="worked-answer"/>
          <p:cNvSpPr/>
          <p:nvPr/>
        </p:nvSpPr>
        <p:spPr>
          <a:xfrm>
            <a:off x="1463040" y="5592572"/>
            <a:ext cx="9265615" cy="552196"/>
          </a:xfrm>
          <a:prstGeom prst="roundRect">
            <a:avLst>
              <a:gd name="adj" fmla="val 33119"/>
            </a:avLst>
          </a:prstGeom>
          <a:solidFill>
            <a:srgbClr val="EBDDC4"/>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138 mm per month</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3F6B4A"/>
                </a:solidFill>
                <a:latin typeface="Cambria" pitchFamily="34" charset="0"/>
                <a:ea typeface="Cambria" pitchFamily="34" charset="-122"/>
                <a:cs typeface="Cambria" pitchFamily="34" charset="-120"/>
              </a:rPr>
              <a:t>Climate change, extreme weather and the June 2017 heat wave</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Causes of a UK extreme weather event always involve where the air came from: name the direction and the air mass.</a:t>
            </a:r>
            <a:endParaRPr lang="en-US" sz="1800" dirty="0"/>
          </a:p>
        </p:txBody>
      </p:sp>
      <p:sp>
        <p:nvSpPr>
          <p:cNvPr id="11" name="bullet-card"/>
          <p:cNvSpPr/>
          <p:nvPr/>
        </p:nvSpPr>
        <p:spPr>
          <a:xfrm>
            <a:off x="548640" y="1389888"/>
            <a:ext cx="11094415" cy="1244769"/>
          </a:xfrm>
          <a:prstGeom prst="roundRect">
            <a:avLst>
              <a:gd name="adj" fmla="val 5877"/>
            </a:avLst>
          </a:prstGeom>
          <a:solidFill>
            <a:srgbClr val="EAEFEB"/>
          </a:solidFill>
          <a:ln/>
        </p:spPr>
      </p:sp>
      <p:sp>
        <p:nvSpPr>
          <p:cNvPr id="12" name="bullet-hex"/>
          <p:cNvSpPr/>
          <p:nvPr/>
        </p:nvSpPr>
        <p:spPr>
          <a:xfrm>
            <a:off x="676656" y="1845980"/>
            <a:ext cx="384048" cy="332586"/>
          </a:xfrm>
          <a:prstGeom prst="hexagon">
            <a:avLst/>
          </a:prstGeom>
          <a:solidFill>
            <a:srgbClr val="3F6B4A"/>
          </a:solidFill>
          <a:ln/>
        </p:spPr>
      </p:sp>
      <p:sp>
        <p:nvSpPr>
          <p:cNvPr id="13" name="bullet"/>
          <p:cNvSpPr txBox="1"/>
          <p:nvPr/>
        </p:nvSpPr>
        <p:spPr>
          <a:xfrm>
            <a:off x="1143000" y="1389888"/>
            <a:ext cx="10408615" cy="124476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Extreme weather is not only a UK story. Pakistan was devastated by floods in 2010, Russia endured fierce heatwaves the same year, and the western USA suffered severe drought in 2014.</a:t>
            </a:r>
            <a:endParaRPr lang="en-US" sz="2200" dirty="0"/>
          </a:p>
        </p:txBody>
      </p:sp>
      <p:sp>
        <p:nvSpPr>
          <p:cNvPr id="14" name="bullet-card"/>
          <p:cNvSpPr/>
          <p:nvPr/>
        </p:nvSpPr>
        <p:spPr>
          <a:xfrm>
            <a:off x="548640" y="2780961"/>
            <a:ext cx="11094415" cy="1244769"/>
          </a:xfrm>
          <a:prstGeom prst="roundRect">
            <a:avLst>
              <a:gd name="adj" fmla="val 5877"/>
            </a:avLst>
          </a:prstGeom>
          <a:solidFill>
            <a:srgbClr val="EAEFEB"/>
          </a:solidFill>
          <a:ln/>
        </p:spPr>
      </p:sp>
      <p:sp>
        <p:nvSpPr>
          <p:cNvPr id="15" name="bullet-hex"/>
          <p:cNvSpPr/>
          <p:nvPr/>
        </p:nvSpPr>
        <p:spPr>
          <a:xfrm>
            <a:off x="676656" y="3237053"/>
            <a:ext cx="384048" cy="332586"/>
          </a:xfrm>
          <a:prstGeom prst="hexagon">
            <a:avLst/>
          </a:prstGeom>
          <a:solidFill>
            <a:srgbClr val="B8862B"/>
          </a:solidFill>
          <a:ln/>
        </p:spPr>
      </p:sp>
      <p:sp>
        <p:nvSpPr>
          <p:cNvPr id="16" name="bullet"/>
          <p:cNvSpPr txBox="1"/>
          <p:nvPr/>
        </p:nvSpPr>
        <p:spPr>
          <a:xfrm>
            <a:off x="1143000" y="2780961"/>
            <a:ext cx="10408615" cy="124476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One suggested mechanism links back to chapter 1. German scientists have suggested that weather patterns have in recent years stayed in place for long periods, giving prolonged heatwaves and droughts or prolonged heavy rain and floods.</a:t>
            </a:r>
            <a:endParaRPr lang="en-US" sz="2200" dirty="0"/>
          </a:p>
        </p:txBody>
      </p:sp>
      <p:sp>
        <p:nvSpPr>
          <p:cNvPr id="17" name="bullet-card"/>
          <p:cNvSpPr/>
          <p:nvPr/>
        </p:nvSpPr>
        <p:spPr>
          <a:xfrm>
            <a:off x="548640" y="4172035"/>
            <a:ext cx="11094415" cy="903901"/>
          </a:xfrm>
          <a:prstGeom prst="roundRect">
            <a:avLst>
              <a:gd name="adj" fmla="val 8093"/>
            </a:avLst>
          </a:prstGeom>
          <a:solidFill>
            <a:srgbClr val="EAEFEB"/>
          </a:solidFill>
          <a:ln/>
        </p:spPr>
      </p:sp>
      <p:sp>
        <p:nvSpPr>
          <p:cNvPr id="18" name="bullet-hex"/>
          <p:cNvSpPr/>
          <p:nvPr/>
        </p:nvSpPr>
        <p:spPr>
          <a:xfrm>
            <a:off x="676656" y="4457693"/>
            <a:ext cx="384048" cy="332586"/>
          </a:xfrm>
          <a:prstGeom prst="hexagon">
            <a:avLst/>
          </a:prstGeom>
          <a:solidFill>
            <a:srgbClr val="3F6B4A"/>
          </a:solidFill>
          <a:ln/>
        </p:spPr>
      </p:sp>
      <p:sp>
        <p:nvSpPr>
          <p:cNvPr id="19" name="bullet"/>
          <p:cNvSpPr txBox="1"/>
          <p:nvPr/>
        </p:nvSpPr>
        <p:spPr>
          <a:xfrm>
            <a:off x="1143000" y="4172035"/>
            <a:ext cx="10408615" cy="903901"/>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Your extreme weather case study is the UK heat wave of June 2017, which you researched independently.</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The weather roundabout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36880"/>
          </a:xfrm>
          <a:prstGeom prst="rect">
            <a:avLst/>
          </a:prstGeom>
          <a:noFill/>
          <a:ln/>
        </p:spPr>
        <p:txBody>
          <a:bodyPr wrap="square" lIns="63500" tIns="63500" rIns="63500" bIns="63500" rtlCol="0" anchor="t"/>
          <a:lstStyle/>
          <a:p>
            <a:pPr algn="ctr" indent="0" marL="0">
              <a:buNone/>
            </a:pPr>
            <a:r>
              <a:rPr lang="en-US" sz="2000" b="1" dirty="0">
                <a:solidFill>
                  <a:srgbClr val="1E2229"/>
                </a:solidFill>
                <a:latin typeface="Calibri" pitchFamily="34" charset="0"/>
                <a:ea typeface="Calibri" pitchFamily="34" charset="-122"/>
                <a:cs typeface="Calibri" pitchFamily="34" charset="-120"/>
              </a:rPr>
              <a:t>Match each direction the UK's weather comes from to the hazard it brings.</a:t>
            </a:r>
            <a:endParaRPr lang="en-US" sz="2000" dirty="0"/>
          </a:p>
        </p:txBody>
      </p:sp>
      <p:sp>
        <p:nvSpPr>
          <p:cNvPr id="11" name="match-card"/>
          <p:cNvSpPr/>
          <p:nvPr/>
        </p:nvSpPr>
        <p:spPr>
          <a:xfrm>
            <a:off x="777240" y="2468331"/>
            <a:ext cx="4524331" cy="804809"/>
          </a:xfrm>
          <a:prstGeom prst="roundRect">
            <a:avLst>
              <a:gd name="adj" fmla="val 9089"/>
            </a:avLst>
          </a:prstGeom>
          <a:solidFill>
            <a:srgbClr val="EAEFEB"/>
          </a:solidFill>
          <a:ln/>
        </p:spPr>
      </p:sp>
      <p:sp>
        <p:nvSpPr>
          <p:cNvPr id="12" name="match-hex"/>
          <p:cNvSpPr/>
          <p:nvPr/>
        </p:nvSpPr>
        <p:spPr>
          <a:xfrm>
            <a:off x="850392" y="2704443"/>
            <a:ext cx="384048" cy="332586"/>
          </a:xfrm>
          <a:prstGeom prst="hexagon">
            <a:avLst/>
          </a:prstGeom>
          <a:solidFill>
            <a:srgbClr val="3F6B4A"/>
          </a:solidFill>
          <a:ln/>
        </p:spPr>
      </p:sp>
      <p:sp>
        <p:nvSpPr>
          <p:cNvPr id="13" name="match-hex-label"/>
          <p:cNvSpPr txBox="1"/>
          <p:nvPr/>
        </p:nvSpPr>
        <p:spPr>
          <a:xfrm>
            <a:off x="850392" y="270444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3929971" cy="80480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From the north (Arctic air)</a:t>
            </a:r>
            <a:endParaRPr lang="en-US" sz="2200" dirty="0"/>
          </a:p>
        </p:txBody>
      </p:sp>
      <p:sp>
        <p:nvSpPr>
          <p:cNvPr id="15" name="match-card"/>
          <p:cNvSpPr/>
          <p:nvPr/>
        </p:nvSpPr>
        <p:spPr>
          <a:xfrm>
            <a:off x="5667331" y="2468331"/>
            <a:ext cx="5747124" cy="804809"/>
          </a:xfrm>
          <a:prstGeom prst="roundRect">
            <a:avLst>
              <a:gd name="adj" fmla="val 9089"/>
            </a:avLst>
          </a:prstGeom>
          <a:solidFill>
            <a:srgbClr val="F4EDDF"/>
          </a:solidFill>
          <a:ln/>
        </p:spPr>
      </p:sp>
      <p:sp>
        <p:nvSpPr>
          <p:cNvPr id="16" name="match-hex"/>
          <p:cNvSpPr/>
          <p:nvPr/>
        </p:nvSpPr>
        <p:spPr>
          <a:xfrm>
            <a:off x="5740483" y="2704443"/>
            <a:ext cx="384048" cy="332586"/>
          </a:xfrm>
          <a:prstGeom prst="hexagon">
            <a:avLst/>
          </a:prstGeom>
          <a:solidFill>
            <a:srgbClr val="B8862B"/>
          </a:solidFill>
          <a:ln/>
        </p:spPr>
      </p:sp>
      <p:sp>
        <p:nvSpPr>
          <p:cNvPr id="17" name="match-hex-label"/>
          <p:cNvSpPr txBox="1"/>
          <p:nvPr/>
        </p:nvSpPr>
        <p:spPr>
          <a:xfrm>
            <a:off x="5740483" y="270444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6188539" y="2468331"/>
            <a:ext cx="5152764" cy="80480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Storms with heavy rain and strong winds</a:t>
            </a:r>
            <a:endParaRPr lang="en-US" sz="2200" dirty="0"/>
          </a:p>
        </p:txBody>
      </p:sp>
      <p:sp>
        <p:nvSpPr>
          <p:cNvPr id="19" name="match-card"/>
          <p:cNvSpPr/>
          <p:nvPr/>
        </p:nvSpPr>
        <p:spPr>
          <a:xfrm>
            <a:off x="777240" y="3364581"/>
            <a:ext cx="4524331" cy="804809"/>
          </a:xfrm>
          <a:prstGeom prst="roundRect">
            <a:avLst>
              <a:gd name="adj" fmla="val 9089"/>
            </a:avLst>
          </a:prstGeom>
          <a:solidFill>
            <a:srgbClr val="EAEFEB"/>
          </a:solidFill>
          <a:ln/>
        </p:spPr>
      </p:sp>
      <p:sp>
        <p:nvSpPr>
          <p:cNvPr id="20" name="match-hex"/>
          <p:cNvSpPr/>
          <p:nvPr/>
        </p:nvSpPr>
        <p:spPr>
          <a:xfrm>
            <a:off x="850392" y="3600692"/>
            <a:ext cx="384048" cy="332586"/>
          </a:xfrm>
          <a:prstGeom prst="hexagon">
            <a:avLst/>
          </a:prstGeom>
          <a:solidFill>
            <a:srgbClr val="3F6B4A"/>
          </a:solidFill>
          <a:ln/>
        </p:spPr>
      </p:sp>
      <p:sp>
        <p:nvSpPr>
          <p:cNvPr id="21" name="match-hex-label"/>
          <p:cNvSpPr txBox="1"/>
          <p:nvPr/>
        </p:nvSpPr>
        <p:spPr>
          <a:xfrm>
            <a:off x="850392" y="360069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364581"/>
            <a:ext cx="3929971" cy="80480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From the east (the continent)</a:t>
            </a:r>
            <a:endParaRPr lang="en-US" sz="2200" dirty="0"/>
          </a:p>
        </p:txBody>
      </p:sp>
      <p:sp>
        <p:nvSpPr>
          <p:cNvPr id="23" name="match-card"/>
          <p:cNvSpPr/>
          <p:nvPr/>
        </p:nvSpPr>
        <p:spPr>
          <a:xfrm>
            <a:off x="5667331" y="3364581"/>
            <a:ext cx="5747124" cy="804809"/>
          </a:xfrm>
          <a:prstGeom prst="roundRect">
            <a:avLst>
              <a:gd name="adj" fmla="val 9089"/>
            </a:avLst>
          </a:prstGeom>
          <a:solidFill>
            <a:srgbClr val="F4EDDF"/>
          </a:solidFill>
          <a:ln/>
        </p:spPr>
      </p:sp>
      <p:sp>
        <p:nvSpPr>
          <p:cNvPr id="24" name="match-hex"/>
          <p:cNvSpPr/>
          <p:nvPr/>
        </p:nvSpPr>
        <p:spPr>
          <a:xfrm>
            <a:off x="5740483" y="3600692"/>
            <a:ext cx="384048" cy="332586"/>
          </a:xfrm>
          <a:prstGeom prst="hexagon">
            <a:avLst/>
          </a:prstGeom>
          <a:solidFill>
            <a:srgbClr val="B8862B"/>
          </a:solidFill>
          <a:ln/>
        </p:spPr>
      </p:sp>
      <p:sp>
        <p:nvSpPr>
          <p:cNvPr id="25" name="match-hex-label"/>
          <p:cNvSpPr txBox="1"/>
          <p:nvPr/>
        </p:nvSpPr>
        <p:spPr>
          <a:xfrm>
            <a:off x="5740483" y="360069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6188539" y="3364581"/>
            <a:ext cx="5152764" cy="80480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Heavy snow and bitterly cold conditions</a:t>
            </a:r>
            <a:endParaRPr lang="en-US" sz="2200" dirty="0"/>
          </a:p>
        </p:txBody>
      </p:sp>
      <p:sp>
        <p:nvSpPr>
          <p:cNvPr id="27" name="match-card"/>
          <p:cNvSpPr/>
          <p:nvPr/>
        </p:nvSpPr>
        <p:spPr>
          <a:xfrm>
            <a:off x="777240" y="4260830"/>
            <a:ext cx="4524331" cy="804809"/>
          </a:xfrm>
          <a:prstGeom prst="roundRect">
            <a:avLst>
              <a:gd name="adj" fmla="val 9089"/>
            </a:avLst>
          </a:prstGeom>
          <a:solidFill>
            <a:srgbClr val="EAEFEB"/>
          </a:solidFill>
          <a:ln/>
        </p:spPr>
      </p:sp>
      <p:sp>
        <p:nvSpPr>
          <p:cNvPr id="28" name="match-hex"/>
          <p:cNvSpPr/>
          <p:nvPr/>
        </p:nvSpPr>
        <p:spPr>
          <a:xfrm>
            <a:off x="850392" y="4496941"/>
            <a:ext cx="384048" cy="332586"/>
          </a:xfrm>
          <a:prstGeom prst="hexagon">
            <a:avLst/>
          </a:prstGeom>
          <a:solidFill>
            <a:srgbClr val="3F6B4A"/>
          </a:solidFill>
          <a:ln/>
        </p:spPr>
      </p:sp>
      <p:sp>
        <p:nvSpPr>
          <p:cNvPr id="29" name="match-hex-label"/>
          <p:cNvSpPr txBox="1"/>
          <p:nvPr/>
        </p:nvSpPr>
        <p:spPr>
          <a:xfrm>
            <a:off x="850392" y="449694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260830"/>
            <a:ext cx="3929971" cy="80480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From the south</a:t>
            </a:r>
            <a:endParaRPr lang="en-US" sz="2200" dirty="0"/>
          </a:p>
        </p:txBody>
      </p:sp>
      <p:sp>
        <p:nvSpPr>
          <p:cNvPr id="31" name="match-card"/>
          <p:cNvSpPr/>
          <p:nvPr/>
        </p:nvSpPr>
        <p:spPr>
          <a:xfrm>
            <a:off x="5667331" y="4260830"/>
            <a:ext cx="5747124" cy="804809"/>
          </a:xfrm>
          <a:prstGeom prst="roundRect">
            <a:avLst>
              <a:gd name="adj" fmla="val 9089"/>
            </a:avLst>
          </a:prstGeom>
          <a:solidFill>
            <a:srgbClr val="F4EDDF"/>
          </a:solidFill>
          <a:ln/>
        </p:spPr>
      </p:sp>
      <p:sp>
        <p:nvSpPr>
          <p:cNvPr id="32" name="match-hex"/>
          <p:cNvSpPr/>
          <p:nvPr/>
        </p:nvSpPr>
        <p:spPr>
          <a:xfrm>
            <a:off x="5740483" y="4496941"/>
            <a:ext cx="384048" cy="332586"/>
          </a:xfrm>
          <a:prstGeom prst="hexagon">
            <a:avLst/>
          </a:prstGeom>
          <a:solidFill>
            <a:srgbClr val="B8862B"/>
          </a:solidFill>
          <a:ln/>
        </p:spPr>
      </p:sp>
      <p:sp>
        <p:nvSpPr>
          <p:cNvPr id="33" name="match-hex-label"/>
          <p:cNvSpPr txBox="1"/>
          <p:nvPr/>
        </p:nvSpPr>
        <p:spPr>
          <a:xfrm>
            <a:off x="5740483" y="449694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6188539" y="4260830"/>
            <a:ext cx="5152764" cy="80480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Heatwaves and droughts</a:t>
            </a:r>
            <a:endParaRPr lang="en-US" sz="2200" dirty="0"/>
          </a:p>
        </p:txBody>
      </p:sp>
      <p:sp>
        <p:nvSpPr>
          <p:cNvPr id="35" name="match-card"/>
          <p:cNvSpPr/>
          <p:nvPr/>
        </p:nvSpPr>
        <p:spPr>
          <a:xfrm>
            <a:off x="777240" y="5157079"/>
            <a:ext cx="4524331" cy="804809"/>
          </a:xfrm>
          <a:prstGeom prst="roundRect">
            <a:avLst>
              <a:gd name="adj" fmla="val 9089"/>
            </a:avLst>
          </a:prstGeom>
          <a:solidFill>
            <a:srgbClr val="EAEFEB"/>
          </a:solidFill>
          <a:ln/>
        </p:spPr>
      </p:sp>
      <p:sp>
        <p:nvSpPr>
          <p:cNvPr id="36" name="match-hex"/>
          <p:cNvSpPr/>
          <p:nvPr/>
        </p:nvSpPr>
        <p:spPr>
          <a:xfrm>
            <a:off x="850392" y="5393191"/>
            <a:ext cx="384048" cy="332586"/>
          </a:xfrm>
          <a:prstGeom prst="hexagon">
            <a:avLst/>
          </a:prstGeom>
          <a:solidFill>
            <a:srgbClr val="3F6B4A"/>
          </a:solidFill>
          <a:ln/>
        </p:spPr>
      </p:sp>
      <p:sp>
        <p:nvSpPr>
          <p:cNvPr id="37" name="match-hex-label"/>
          <p:cNvSpPr txBox="1"/>
          <p:nvPr/>
        </p:nvSpPr>
        <p:spPr>
          <a:xfrm>
            <a:off x="850392" y="53931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5157079"/>
            <a:ext cx="3929971" cy="80480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From the west (the Atlantic)</a:t>
            </a:r>
            <a:endParaRPr lang="en-US" sz="2200" dirty="0"/>
          </a:p>
        </p:txBody>
      </p:sp>
      <p:sp>
        <p:nvSpPr>
          <p:cNvPr id="39" name="match-card"/>
          <p:cNvSpPr/>
          <p:nvPr/>
        </p:nvSpPr>
        <p:spPr>
          <a:xfrm>
            <a:off x="5667331" y="5157079"/>
            <a:ext cx="5747124" cy="804809"/>
          </a:xfrm>
          <a:prstGeom prst="roundRect">
            <a:avLst>
              <a:gd name="adj" fmla="val 9089"/>
            </a:avLst>
          </a:prstGeom>
          <a:solidFill>
            <a:srgbClr val="F4EDDF"/>
          </a:solidFill>
          <a:ln/>
        </p:spPr>
      </p:sp>
      <p:sp>
        <p:nvSpPr>
          <p:cNvPr id="40" name="match-hex"/>
          <p:cNvSpPr/>
          <p:nvPr/>
        </p:nvSpPr>
        <p:spPr>
          <a:xfrm>
            <a:off x="5740483" y="5393191"/>
            <a:ext cx="384048" cy="332586"/>
          </a:xfrm>
          <a:prstGeom prst="hexagon">
            <a:avLst/>
          </a:prstGeom>
          <a:solidFill>
            <a:srgbClr val="B8862B"/>
          </a:solidFill>
          <a:ln/>
        </p:spPr>
      </p:sp>
      <p:sp>
        <p:nvSpPr>
          <p:cNvPr id="41" name="match-hex-label"/>
          <p:cNvSpPr txBox="1"/>
          <p:nvPr/>
        </p:nvSpPr>
        <p:spPr>
          <a:xfrm>
            <a:off x="5740483" y="53931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6188539" y="5157079"/>
            <a:ext cx="5152764" cy="80480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Severe winter weather</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3F6B4A"/>
                </a:solidFill>
                <a:latin typeface="Cambria" pitchFamily="34" charset="0"/>
                <a:ea typeface="Cambria" pitchFamily="34" charset="-122"/>
                <a:cs typeface="Cambria" pitchFamily="34" charset="-120"/>
              </a:rPr>
              <a:t>Same task, three ways in: The weather roundabout</a:t>
            </a:r>
            <a:endParaRPr lang="en-US" sz="28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The weather roundabout</a:t>
            </a:r>
            <a:endParaRPr lang="en-US" sz="2000" dirty="0"/>
          </a:p>
        </p:txBody>
      </p:sp>
      <p:sp>
        <p:nvSpPr>
          <p:cNvPr id="12" name="col-Support"/>
          <p:cNvSpPr/>
          <p:nvPr/>
        </p:nvSpPr>
        <p:spPr>
          <a:xfrm>
            <a:off x="548640" y="2395728"/>
            <a:ext cx="5602443" cy="3749040"/>
          </a:xfrm>
          <a:prstGeom prst="roundRect">
            <a:avLst>
              <a:gd name="adj" fmla="val 1463"/>
            </a:avLst>
          </a:prstGeom>
          <a:solidFill>
            <a:srgbClr val="E6ECE7"/>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Think about what lies in each direction: ice to the north, a big land mass to the east, hot countries to the south, a warm ocean to the west.</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Cold places send cold air: north gives snow and the east gives harsh winters.</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Hot places send hot air: the south gives heat and drought.</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An ocean sends wet, windy air: the west gives storms.</a:t>
            </a:r>
            <a:endParaRPr lang="en-US" sz="1800" dirty="0"/>
          </a:p>
        </p:txBody>
      </p:sp>
      <p:sp>
        <p:nvSpPr>
          <p:cNvPr id="17" name="col-Core"/>
          <p:cNvSpPr/>
          <p:nvPr/>
        </p:nvSpPr>
        <p:spPr>
          <a:xfrm>
            <a:off x="6425403" y="2395728"/>
            <a:ext cx="2471666" cy="3749040"/>
          </a:xfrm>
          <a:prstGeom prst="roundRect">
            <a:avLst>
              <a:gd name="adj" fmla="val 2220"/>
            </a:avLst>
          </a:prstGeom>
          <a:solidFill>
            <a:srgbClr val="CFDAD2"/>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What is in each direction decides the air: ice, continent, hot land, warm ocean.</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3F6B4A"/>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the west of the UK gets more rain than the east, using prevailing winds and the Atlantic.</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Evidence for or against?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Which of these statements did the class sort as evidence AGAINST the UK's weather becoming more extreme?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All ten of the hottest years on record fall inside the last 20 years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Rainfall records for 2004 to 2007 show several months above 150 per cent of the national average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Heavy snowfall and cold winters have declined over the last 30 years, and the Thames no longer freezes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Parts of Cumbria around Carlisle have been hit repeatedly by floods that should happen once every 100 years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3F6B4A"/>
                </a:solidFill>
                <a:latin typeface="Cambria" pitchFamily="34" charset="0"/>
                <a:ea typeface="Cambria" pitchFamily="34" charset="-122"/>
                <a:cs typeface="Cambria" pitchFamily="34" charset="-120"/>
              </a:rPr>
              <a:t>Same task, three ways in: Evidence for or against?</a:t>
            </a:r>
            <a:endParaRPr lang="en-US" sz="30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Evidence for or against?</a:t>
            </a:r>
            <a:endParaRPr lang="en-US" sz="2000" dirty="0"/>
          </a:p>
        </p:txBody>
      </p:sp>
      <p:sp>
        <p:nvSpPr>
          <p:cNvPr id="12" name="col-Support"/>
          <p:cNvSpPr/>
          <p:nvPr/>
        </p:nvSpPr>
        <p:spPr>
          <a:xfrm>
            <a:off x="548640" y="2395728"/>
            <a:ext cx="5602443" cy="3749040"/>
          </a:xfrm>
          <a:prstGeom prst="roundRect">
            <a:avLst>
              <a:gd name="adj" fmla="val 1463"/>
            </a:avLst>
          </a:prstGeom>
          <a:solidFill>
            <a:srgbClr val="E6ECE7"/>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Evidence FOR more extreme weather describes extreme things happening more often: record heat, record rain, repeated floods.</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Evidence AGAINST describes extreme things happening less often, or explains the events away.</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Look for the statement that says something extreme has declined or become rarer.</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Check the other three: each describes a record or a repeat, which is evidence for.</a:t>
            </a:r>
            <a:endParaRPr lang="en-US" sz="1800" dirty="0"/>
          </a:p>
        </p:txBody>
      </p:sp>
      <p:sp>
        <p:nvSpPr>
          <p:cNvPr id="17" name="col-Core"/>
          <p:cNvSpPr/>
          <p:nvPr/>
        </p:nvSpPr>
        <p:spPr>
          <a:xfrm>
            <a:off x="6425403" y="2395728"/>
            <a:ext cx="2471666" cy="3749040"/>
          </a:xfrm>
          <a:prstGeom prst="roundRect">
            <a:avLst>
              <a:gd name="adj" fmla="val 2220"/>
            </a:avLst>
          </a:prstGeom>
          <a:solidFill>
            <a:srgbClr val="CFDAD2"/>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Three of the statements describe records or repeats. One describes something extreme becoming rarer.</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3F6B4A"/>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Argue that the decline in cold winters could in fact be used as evidence of a changing climate, and explain why the deck still sorts it as against.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3F6B4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3F6B4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615184"/>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From which direction do the storms that bring heavy rain and strong winds to the UK usually come?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From the east, across the continent</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From the west, off the Atlantic Ocean</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From the south, out of Africa</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From the north, out of the Arctic</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ECF0ED"/>
          </a:solidFill>
          <a:ln w="12700">
            <a:solidFill>
              <a:srgbClr val="99B19F"/>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The weather roundabout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From the north (Arctic air)  →  B  Heavy snow and bitterly cold conditions</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From the east (the continent)  →  D  Severe winter weather</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From the south  →  C  Heatwaves and droughts</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From the west (the Atlantic)  →  A  Storms with heavy rain and strong winds</a:t>
            </a:r>
            <a:endParaRPr lang="en-US" sz="2400" dirty="0"/>
          </a:p>
        </p:txBody>
      </p:sp>
      <p:sp>
        <p:nvSpPr>
          <p:cNvPr id="10" name="why-panel"/>
          <p:cNvSpPr/>
          <p:nvPr/>
        </p:nvSpPr>
        <p:spPr>
          <a:xfrm>
            <a:off x="7223760" y="1389888"/>
            <a:ext cx="4419295" cy="4754880"/>
          </a:xfrm>
          <a:prstGeom prst="roundRect">
            <a:avLst>
              <a:gd name="adj" fmla="val 1035"/>
            </a:avLst>
          </a:prstGeom>
          <a:solidFill>
            <a:srgbClr val="E6ECE7"/>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UK sits where air from four directions meets: Arctic air from the north brings snow and cold, continental air from the east brings severe winters, air from the south brings heat and drought, and Atlantic depressions from the west bring storms.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Evidence for or against?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Which of these statements did the class sort as evidence AGAINST the UK's weather becoming more extreme?</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C   Heavy snowfall and cold winters have declined over the last 30 years, and the Thames no longer freezes</a:t>
            </a:r>
            <a:endParaRPr lang="en-US" sz="1800" dirty="0"/>
          </a:p>
        </p:txBody>
      </p:sp>
      <p:sp>
        <p:nvSpPr>
          <p:cNvPr id="10" name="why-panel"/>
          <p:cNvSpPr/>
          <p:nvPr/>
        </p:nvSpPr>
        <p:spPr>
          <a:xfrm>
            <a:off x="7223760" y="1389888"/>
            <a:ext cx="4419295" cy="4754880"/>
          </a:xfrm>
          <a:prstGeom prst="roundRect">
            <a:avLst>
              <a:gd name="adj" fmla="val 1035"/>
            </a:avLst>
          </a:prstGeom>
          <a:solidFill>
            <a:srgbClr val="E6ECE7"/>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Declining snow and cold winters, with the Thames no longer freezing, show one kind of extreme weather becoming rarer, so the class sorted it as evidence against. The other three statements describe records and repeats, which are evidence for.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From which direction do the storms that bring heavy rain and strong winds to the UK usually come?</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B   From the west, off the Atlantic Ocean</a:t>
            </a:r>
            <a:endParaRPr lang="en-US" sz="1800" dirty="0"/>
          </a:p>
        </p:txBody>
      </p:sp>
      <p:sp>
        <p:nvSpPr>
          <p:cNvPr id="10" name="why-panel"/>
          <p:cNvSpPr/>
          <p:nvPr/>
        </p:nvSpPr>
        <p:spPr>
          <a:xfrm>
            <a:off x="7223760" y="1389888"/>
            <a:ext cx="4419295" cy="4754880"/>
          </a:xfrm>
          <a:prstGeom prst="roundRect">
            <a:avLst>
              <a:gd name="adj" fmla="val 1035"/>
            </a:avLst>
          </a:prstGeom>
          <a:solidFill>
            <a:srgbClr val="E6ECE7"/>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South-westerly prevailing winds carry depressions in from the Atlantic, bringing heavy rain and strong winds, especially to the west coast.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Ad Astra geography">
  <a:themeElements>
    <a:clrScheme name="Ad Astra geography">
      <a:dk1>
        <a:srgbClr val="1E2229"/>
      </a:dk1>
      <a:lt1>
        <a:srgbClr val="FFFFFF"/>
      </a:lt1>
      <a:dk2>
        <a:srgbClr val="32563B"/>
      </a:dk2>
      <a:lt2>
        <a:srgbClr val="E6ECE7"/>
      </a:lt2>
      <a:accent1>
        <a:srgbClr val="3F6B4A"/>
      </a:accent1>
      <a:accent2>
        <a:srgbClr val="B8862B"/>
      </a:accent2>
      <a:accent3>
        <a:srgbClr val="8CA692"/>
      </a:accent3>
      <a:accent4>
        <a:srgbClr val="815E1E"/>
      </a:accent4>
      <a:accent5>
        <a:srgbClr val="4A505C"/>
      </a:accent5>
      <a:accent6>
        <a:srgbClr val="D9BF8F"/>
      </a:accent6>
      <a:hlink>
        <a:srgbClr val="3F6B4A"/>
      </a:hlink>
      <a:folHlink>
        <a:srgbClr val="2C4B34"/>
      </a:folHlink>
    </a:clrScheme>
    <a:fontScheme name="Ad Astra geograph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Challenge of Natural Hazards: Weather Hazards · Chapter 5: Weather hazards in the UK</dc:title>
  <dc:subject>Geography · Year 10</dc:subject>
  <dc:creator>Dr Vitor Merissi de Carvalho</dc:creator>
  <cp:lastModifiedBy>Dr Vitor Merissi de Carvalho</cp:lastModifiedBy>
  <cp:revision>1</cp:revision>
  <dcterms:created xsi:type="dcterms:W3CDTF">2026-10-19T16:23:01Z</dcterms:created>
  <dcterms:modified xsi:type="dcterms:W3CDTF">2026-10-19T16:23:01Z</dcterms:modified>
</cp:coreProperties>
</file>