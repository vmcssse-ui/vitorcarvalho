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022fd00-cbf8-cd33-dd4a-e48f0d162879}">
          <p14:sldIdLst>
            <p14:sldId id="256"/>
          </p14:sldIdLst>
        </p14:section>
        <p14:section name="Gate" id="{54794510-f85f-646e-c4e0-394c9f793dd5}">
          <p14:sldIdLst>
            <p14:sldId id="257"/>
            <p14:sldId id="258"/>
          </p14:sldIdLst>
        </p14:section>
        <p14:section name="Pre-teach" id="{b88dd011-9c87-a363-bad2-12209d54e055}">
          <p14:sldIdLst>
            <p14:sldId id="259"/>
            <p14:sldId id="260"/>
          </p14:sldIdLst>
        </p14:section>
        <p14:section name="Read-along" id="{7fe68a2b-2ba4-c68f-c713-a37e92aa40f8}">
          <p14:sldIdLst>
            <p14:sldId id="261"/>
            <p14:sldId id="262"/>
          </p14:sldIdLst>
        </p14:section>
        <p14:section name="Teach" id="{b802e348-8ada-0de8-8b5c-dd795a1a3348}">
          <p14:sldIdLst>
            <p14:sldId id="263"/>
            <p14:sldId id="264"/>
            <p14:sldId id="265"/>
            <p14:sldId id="266"/>
            <p14:sldId id="267"/>
          </p14:sldIdLst>
        </p14:section>
        <p14:section name="Routes" id="{492bbe1f-0fb4-084d-2b66-4955dc73de8a}">
          <p14:sldIdLst>
            <p14:sldId id="268"/>
            <p14:sldId id="269"/>
            <p14:sldId id="270"/>
            <p14:sldId id="271"/>
          </p14:sldIdLst>
        </p14:section>
        <p14:section name="Close" id="{df37c465-aba5-f422-6158-521806596eee}">
          <p14:sldIdLst>
            <p14:sldId id="272"/>
          </p14:sldIdLst>
        </p14:section>
        <p14:section name="Answers" id="{9a47ae7f-8bad-0b8a-f8a4-575d30dbcaec}">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The Somerset Levels floods, 2014. Where the Somerset Levels are, why they flooded in the winter of 2013 to 2014, the social, economic and environmental impacts, and how the immediate and long-term responses reduced the risk.
This deck covers the department's lessons: 12 (The Somerset Levels floods, 2014: location, causes and impacts: Where are the Somerset Levels, why did they flood in the winter of 2013 to 2014, and what were the social, economic and environmental impacts?); 13 (Managing the Somerset Levels floods: immediate and long-term responses: How did the immediate and long-term responses to the Somerset Levels floods reduce the risk?).
Read the big question aloud: "Why do tropical storms form where they do, why do they hurt some places more than others, and is the UK's own weather becoming more extreme?"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About 350 mm of rain fell on the Somerset Levels in January and February 2014, about 100 mm above average. What is the average rainfall for those two months, in millimetres?  →  250 mm
2. Which of these was an environmental impact of the Somerset Levels floods?  →  D   Flood water contaminated with sewage, oil and chemicals
3. The rivers of the Somerset Levels had not been dredged for at least ___ years, so they were clogged with sediment.  →  20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250 mm. Above average by 100 mm means the average is 100 mm less than the total: 350 − 100 = 250 mm.
2. D   Flood water contaminated with sewage, oil and chemicals. Pollution of the water and land is an environmental impact. The others affect people (social) or money, property and transport (economic).
3. 20. At least 20 years without dredging let sediment build up and shrink the channels, so they held less water.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low-lying: land that is only a little above sea level. Example: "The Somerset Levels are low-lying, so water drains away slowly."
• wetland: land that is often wet or covered in shallow water. Example: "The Levels are a mix of farmland and wetland."
• dredging: digging silt out of a river bed so the river can hold more water. Example: "Dredging the River Parrett gave the water more room."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contaminated: made dirty or dangerous by something mixed into it. Example: "The flood water was contaminated with sewage and oil."
• Flood Action Plan: the £20 million plan to reduce flooding on the Levels in future. Example: "The Flood Action Plan included dredging and raising roads."
• tidal barrage: a barrier across a river mouth that controls the flow of the tide. Example: "A tidal barrage could stop high tides pushing water up the rivers."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 Somerset Levels are in south-west England.
2. They are low, flat farmland and wetland.
3. The Rivers Tone and Parrett drain the Levels into the Severn Estuary.
4. In the winter of 2013 to 2014 it rained for weeks.
5. January 2014 was the wettest January since records began in 1910.
6. High tides pushed sea water up the rivers.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 rivers had not been dredged for at least 20 years.
8. They burst their banks, and the Levels flooded.
9. More than 600 houses flooded and 16 farms were evacuated.
10. Villages such as Moorland and Muchelney were cut off.
11. Rescue boats and giant pumps were the immediate response.
12. A £20 million plan to dredge rivers and raise roads was the long-term response.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are the Somerset Levels?. Say it in your own words, then check understanding with a quick question: ask a pupil from the pre-teach group first, since they met these words and ideas before the lesson. Pupils try to recall before you re-explain.
Somerset is a county in south-west England. The Somerset Levels and Moors are a wide stretch of low, flat farmland and wetland, with the Bristol Channel and the Quantock Hills to the west and the Mendip Hills to the north. Several rivers drain the area, most notably the Tone and the Parrett, which flow north to the Severn Estuary through the town of Bridgwater.
Flooding has happened naturally here for centuries: the Levels are a flat basin only a little above sea level, and in winter the rivers have always spilled across them. What has changed is that the area has been developed for farming and for settlement, so many more people and properties are now at risk from an extreme flood.
Tip: Locate means place it: south-west England, Somerset, between the Quantock and Mendip Hills, drained by the Tone and Parrett to the Severn Estuary.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caused the floods?. Say it in your own words, then check understanding with a quick question: ask a pupil from the pre-teach group first, since they met these words and ideas before the lesson. Pupils try to recall before you re-explain.
The floods of December 2013 and January 2014 had both physical and human causes. The weather came first. January 2014 was the wettest January in the record, which begins in 1910. One depression followed another, each an area of low pressure carried in off the Atlantic by the prevailing winds, and the wet weather went on for weeks. About 350 mm of rain fell in January and February, roughly 100 mm above the average for those two months.
The sea made it worse. Sea water was pushed up the rivers from the Bristol Channel by high tides and storm surges. That stopped the fresh water from the rivers reaching the sea, so the rivers backed up and burst their banks. The human cause was neglect: the rivers had not been dredged for at least 20 years, so their channels had become clogged with sediment and could hold far less water than before.
So the causes link together: record rainfall on a low, flat basin, rivers whose capacity had shrunk because they were not dredged, and tides blocking the way out. Any one of them would have caused problems; all three together caused the worst flooding the Levels had seen.
Worked example — model it step by step, thinking aloud: About 350 mm of rain fell on the Somerset Levels in January and February 2014, about 100 mm above average. What is the average rainfall for January and February? (1) Above average means the actual total was bigger than the average by 100 mm. (2) Average = actual − the extra: 350 − 100 = 250 mm. (3) Check the sense: 350 mm is 350 ÷ 250 = 1.4 times the average, that is, 40 per cent more rain than normal. The wettest January on record should be well above average, and it is. Answer: 250 mm.
Tip: Causes come in two kinds: physical (rainfall, tides, low land) and human (no dredging, building on the floodplain). Give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caused the floods?. Say it in your own words, then check understanding with a quick question: ask a pupil from the pre-teach group first, since they met these words and ideas before the lesson. Pupils try to recall before you re-explain.
The floods of December 2013 and January 2014 had both physical and human causes. The weather came first. January 2014 was the wettest January in the record, which begins in 1910. One depression followed another, each an area of low pressure carried in off the Atlantic by the prevailing winds, and the wet weather went on for weeks. About 350 mm of rain fell in January and February, roughly 100 mm above the average for those two months.
The sea made it worse. Sea water was pushed up the rivers from the Bristol Channel by high tides and storm surges. That stopped the fresh water from the rivers reaching the sea, so the rivers backed up and burst their banks. The human cause was neglect: the rivers had not been dredged for at least 20 years, so their channels had become clogged with sediment and could hold far less water than before.
So the causes link together: record rainfall on a low, flat basin, rivers whose capacity had shrunk because they were not dredged, and tides blocking the way out. Any one of them would have caused problems; all three together caused the worst flooding the Levels had seen.
Worked example — model it step by step, thinking aloud: About 350 mm of rain fell on the Somerset Levels in January and February 2014, about 100 mm above average. What is the average rainfall for January and February? (1) Above average means the actual total was bigger than the average by 100 mm. (2) Average = actual − the extra: 350 − 100 = 250 mm. (3) Check the sense: 350 mm is 350 ÷ 250 = 1.4 times the average, that is, 40 per cent more rain than normal. The wettest January on record should be well above average, and it is. Answer: 250 mm.
Tip: Causes come in two kinds: physical (rainfall, tides, low land) and human (no dredging, building on the floodplain). Give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Impacts: social, economic and environmental. Say it in your own words, then check understanding with a quick question: ask a pupil from the pre-teach group first, since they met these words and ideas before the lesson. Pupils try to recall before you re-explain.
Social impacts are the effects on people's lives. Over 600 houses were flooded. Residents were evacuated to temporary accommodation for several months. Villages such as Moorland and Muchelney were cut off, local roads were under water and many people had their power supplies cut off. Economic impacts are the effects on money, jobs and property. The estimated cost of the flood damage was over £10 million. Sixteen farms were evacuated and over 14 000 hectares of agricultural land were under water for three to four weeks, ruining crops and grazing. The Bristol to Taunton railway line was closed at Bridgwater, cutting an important transport link.
Environmental impacts are the effects on land, water and wildlife. The flood water was heavily contaminated with sewage and with other pollutants, oil and chemicals among them. Mountains of debris had to be cleared. Stagnant water that had collected for months had to be treated before it could be pumped back into the rivers, because water that has stood still for weeks is low in oxygen and would harm river life.
Many impacts belong in more than one column: a flooded farm is economic for the farmer and social for the family that lives there. In a nine-mark answer that asks whether the economic effects were more significant than the social ones, make a judgement and support it with comparative language: whereas, on the other hand, more significant because.
Tip: Social is people, economic is money and property, environmental is land, water and wildlife. Put at least one dated fact in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Responses: immediate and long-term. Say it in your own words, then check understanding with a quick question: ask a pupil from the pre-teach group first, since they met these words and ideas before the lesson. Pupils try to recall before you re-explain.
The immediate responses dealt with the primary effects in the first days. Rescue boats were deployed to help stranded people, which reduced the risk of drowning and of villages being left completely isolated. Royal Marines were sent in to help with flood relief such as sandbags and clean water, which reduced the risk of further flooding and of illness from drinking contaminated water. The Environment Agency installed giant pumps from the Netherlands to lower the water levels, which reduced the time villages were cut off and the risk of yet more flooding.
The long-term responses aim to reduce the risk of future floods. Somerset County Council launched a £20 million Flood Action Plan, working with agencies such as the Environment Agency. In March 2014, 8 km of the Rivers Tone and Parrett were dredged to increase the capacity of their channels, so they can hold more water before they burst their banks. Road levels have been raised in places so that communications can be maintained and businesses can keep going during future floods. Further flood defences were planned, including the idea of a tidal barrage: a barrier that lets water flow into a river during high tide and releases it during low tide, so that high tides can no longer push sea water up the rivers and block the fresh water trying to get out.
The six-mark question asks how the responses reduced the risk. For each response, say what it was, whether it was immediate or long-term, and then explain the risk it reduced. Dredging, for example, deepened the rivers so that they could carry more water, which reduced the risk of them bursting their banks in the next wet winter.
Tip: Response, timing, risk reduced. Three parts for every response you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Social, economic or environmental?.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impact of the Somerset Levels floods to the kind of impact it is.
Support — work through the steps with the group: (1) Social is about people and how they live: homes, health, being cut off. (2) Economic is about money, jobs, property and farming. (3) Environmental is about land, water, wildlife and pollution. (4) Ask of each impact: who or what is harmed here?
Parallel worked example for Support (model it, do not give the task answer): Sort these two impacts: a village shop lost a month's trade; power supplies were cut to many homes. Choices: social; economic. Lost trade is money, so economic.; Homes without power is about people's daily lives, so social.. Answer: Lost trade: economic. Homes without power: social..
Core — reveal the hint only on request: People, money, or the natural world: which one does each impact harm most directly?
Stretch — no help; when finished: Argue whether the economic impacts of the Somerset floods were more significant than the social ones, using one fact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Social, economic or environmental?.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impact of the Somerset Levels floods to the kind of impact it is.
Support — work through the steps with the group: (1) Social is about people and how they live: homes, health, being cut off. (2) Economic is about money, jobs, property and farming. (3) Environmental is about land, water, wildlife and pollution. (4) Ask of each impact: who or what is harmed here?
Parallel worked example for Support (model it, do not give the task answer): Sort these two impacts: a village shop lost a month's trade; power supplies were cut to many homes. Choices: social; economic. Lost trade is money, so economic.; Homes without power is about people's daily lives, so social.. Answer: Lost trade: economic. Homes without power: social..
Core — reveal the hint only on request: People, money, or the natural world: which one does each impact harm most directly?
Stretch — no help; when finished: Argue whether the economic impacts of the Somerset floods were more significant than the social ones, using one fact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Immediate or long-term?.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In March 2014, 8 km of the Rivers Tone and Parrett were dredged to increase the capacity of their channels. Which kind of response is this?
Support — work through the steps with the group: (1) Ask: did this happen in the first days to help people in danger, or later to stop it happening again? (2) Rescue, sandbags, clean water and pumps are immediate. (3) Dredging, raising roads, the Flood Action Plan and the tidal barrage are long-term. (4) Check that the sentence describes a response (something people did), not an effect (something the flood did).
Parallel worked example for Support (model it, do not give the task answer): The Environment Agency installed giant pumps from the Netherlands to lower the water levels. Which kind of response is this? It happened during the flood, to get the water down quickly.; So it is immediate.. Answer: An immediate response: it lowered the water while the flood was happening..
Core — reveal the hint only on request: Now or next time? Help given now is immediate; work done to prevent the next flood is long-term.
Stretch — no help; when finished: Explain why dredging alone could not stop the Levels flooding again, using the causes of the 2014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Immediate or long-term?.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In March 2014, 8 km of the Rivers Tone and Parrett were dredged to increase the capacity of their channels. Which kind of response is this?
Support — work through the steps with the group: (1) Ask: did this happen in the first days to help people in danger, or later to stop it happening again? (2) Rescue, sandbags, clean water and pumps are immediate. (3) Dredging, raising roads, the Flood Action Plan and the tidal barrage are long-term. (4) Check that the sentence describes a response (something people did), not an effect (something the flood did).
Parallel worked example for Support (model it, do not give the task answer): The Environment Agency installed giant pumps from the Netherlands to lower the water levels. Which kind of response is this? It happened during the flood, to get the water down quickly.; So it is immediate.. Answer: An immediate response: it lowered the water while the flood was happening..
Core — reveal the hint only on request: Now or next time? Help given now is immediate; work done to prevent the next flood is long-term.
Stretch — no help; when finished: Explain why dredging alone could not stop the Levels flooding again, using the causes of the 2014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About 350 mm of rain fell on the Somerset Levels in January and February 2014, about 100 mm above average. What is the average rainfall for those two months, in millimetres?
Answer: 250 mm. Above average by 100 mm means the average is 100 mm less than the total: 350 − 100 = 250 mm.
Source of this question: gate item 1 re-asked (options rotated) — this chapter has no third quick-check module.
The ebook also holds task 3, "How the responses reduced the risk",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Social, economic or environmental?. Reveal the answer; pupils mark their own work in a different colour, then read the "why" together. Same destination for every lane, so one answer serves the whole class.
Answer: Social  →  A  Residents evacuated to temporary accommodation for several months; Economic  →  C  Over 14 000 hectares of farmland under water for three to four weeks; Environmental  →  B  Stagnant flood water had to be treated before being pumped back into the rivers
Why: Evacuation to temporary accommodation affects people's lives (social); farmland under water costs farmers money (economic); treating polluted stagnant water is about the health of the rivers (environmental).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Immediate or long-term?. Reveal the answer; pupils mark their own work in a different colour, then read the "why" together. Same destination for every lane, so one answer serves the whole class.
Answer: D   A long-term response, reducing the risk of future floods
Why: Dredging, raising roads, the Flood Action Plan and the tidal barrage all came after the flood and aim to reduce the risk of future floods, so they are long-term responses. Rescue boats, Royal Marines and pumps dealt with the emergency itself.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250 mm
Why: Above average by 100 mm means the average is 100 mm less than the total: 350 − 100 = 250 mm.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Challenge of Natural Hazards: Weather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Challenge of Natural Hazards: Weather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Natural Hazards: Weather Hazards · AQA 8035</a:t>
            </a:r>
            <a:endParaRPr lang="en-US" sz="1800" dirty="0"/>
          </a:p>
        </p:txBody>
      </p:sp>
      <p:sp>
        <p:nvSpPr>
          <p:cNvPr id="10" name="deck-title"/>
          <p:cNvSpPr txBox="1"/>
          <p:nvPr/>
        </p:nvSpPr>
        <p:spPr>
          <a:xfrm>
            <a:off x="548640" y="190931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Somerset Levels floods, 2014</a:t>
            </a:r>
            <a:endParaRPr lang="en-US" sz="4000" dirty="0"/>
          </a:p>
        </p:txBody>
      </p:sp>
      <p:sp>
        <p:nvSpPr>
          <p:cNvPr id="11" name="lessons-card"/>
          <p:cNvSpPr/>
          <p:nvPr/>
        </p:nvSpPr>
        <p:spPr>
          <a:xfrm>
            <a:off x="548640" y="3585718"/>
            <a:ext cx="5287975" cy="1948180"/>
          </a:xfrm>
          <a:prstGeom prst="roundRect">
            <a:avLst>
              <a:gd name="adj" fmla="val 3755"/>
            </a:avLst>
          </a:prstGeom>
          <a:solidFill>
            <a:srgbClr val="E6ECE7"/>
          </a:solidFill>
          <a:ln/>
        </p:spPr>
      </p:sp>
      <p:sp>
        <p:nvSpPr>
          <p:cNvPr id="12" name="lessons"/>
          <p:cNvSpPr txBox="1"/>
          <p:nvPr/>
        </p:nvSpPr>
        <p:spPr>
          <a:xfrm>
            <a:off x="685800" y="367715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Somerset Levels floods, 2014: location, causes and impacts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Managing the Somerset Levels floods: immediate and long-term responses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do tropical storms form where they do, why do they hurt some places more than others, and is the UK's own weather becoming more extreme?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About 350 mm of rain fell on the Somerset Levels in January and February 2014, about 100 mm above average. What is the average rainfall for those two months, in millimetres?</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mm</a:t>
            </a:r>
            <a:endParaRPr lang="en-US" sz="22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was an environmental impact of the Somerset Levels floods?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Damage estimated at over £10 million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Bristol to Taunton railway closed at Bridgwater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Over 600 houses flooded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Flood water contaminated with sewage, oil and chemicals</a:t>
            </a:r>
            <a:endParaRPr lang="en-US" sz="18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rivers of the Somerset Levels had not been dredged for at least ___ years, so they were clogged with sediment.</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20  ·  2  ·  200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250 mm</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Above average by 100 mm means the average is 100 mm less than the total: 350 − 100 = 250 mm.</a:t>
            </a:r>
            <a:endParaRPr lang="en-US" sz="18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636776"/>
          </a:xfrm>
          <a:prstGeom prst="roundRect">
            <a:avLst>
              <a:gd name="adj" fmla="val 6704"/>
            </a:avLst>
          </a:prstGeom>
          <a:solidFill>
            <a:srgbClr val="EBDDC4"/>
          </a:solidFill>
          <a:ln w="19050">
            <a:solidFill>
              <a:srgbClr val="B8862B"/>
            </a:solidFill>
            <a:prstDash val="solid"/>
          </a:ln>
        </p:spPr>
      </p:sp>
      <p:sp>
        <p:nvSpPr>
          <p:cNvPr id="19" name="answer"/>
          <p:cNvSpPr txBox="1"/>
          <p:nvPr/>
        </p:nvSpPr>
        <p:spPr>
          <a:xfrm>
            <a:off x="4612538"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Flood water contaminated with sewage, oil and chemicals</a:t>
            </a:r>
            <a:endParaRPr lang="en-US" sz="2200" dirty="0"/>
          </a:p>
        </p:txBody>
      </p:sp>
      <p:sp>
        <p:nvSpPr>
          <p:cNvPr id="20" name="card-body"/>
          <p:cNvSpPr txBox="1"/>
          <p:nvPr/>
        </p:nvSpPr>
        <p:spPr>
          <a:xfrm>
            <a:off x="4521098"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Pollution of the water and land is an environmental impact. The others affect people (social) or money, property and transport (economic).</a:t>
            </a:r>
            <a:endParaRPr lang="en-US" sz="18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20</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rivers of the Somerset Levels had not been dredged for at least ___ years, so they were clogged with sediment.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At least 20 years without dredging let sediment build up and shrink the channels, so they held less water.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low-lying</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land that is only a little above sea level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Somerset Levels are low-lying, so water drains away slowly.</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wetland</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land that is often wet or covered in shallow water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Levels are a mix of farmland and wetland.</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dredging</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digging silt out of a river bed so the river can hold more water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Dredging the River Parrett gave the water more room.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contaminated</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made dirty or dangerous by something mixed into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flood water was contaminated with sewage and oil.</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Flood Action Plan</a:t>
            </a:r>
            <a:endParaRPr lang="en-US" sz="2600" dirty="0"/>
          </a:p>
        </p:txBody>
      </p:sp>
      <p:sp>
        <p:nvSpPr>
          <p:cNvPr id="17" name="word-rule"/>
          <p:cNvSpPr/>
          <p:nvPr/>
        </p:nvSpPr>
        <p:spPr>
          <a:xfrm>
            <a:off x="4521098" y="2558288"/>
            <a:ext cx="3149498" cy="0"/>
          </a:xfrm>
          <a:prstGeom prst="line">
            <a:avLst/>
          </a:prstGeom>
          <a:ln w="12700">
            <a:solidFill>
              <a:srgbClr val="ACBFB1"/>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£20 million plan to reduce flooding on the Levels in future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Flood Action Plan included dredging and raising roads.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tidal barrage</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barrier across a river mouth that controls the flow of the tide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tidal barrage could stop high tides pushing water up the rivers.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Somerset Levels are in south-west England.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are low, flat farmland and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wetland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Rivers Tone and Parrett drain the Levels into the Severn Estuary.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the winter of 2013 to 2014 it rained for weeks.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January 2014 was the wettest January since records began in 1910.</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High tides pushed sea water up the rivers.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rivers had not been dredged for at least 20 years.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burst their banks, and the Levels flooded.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More than 600 houses flooded and 16 farms were evacuated.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Villages such as Moorland and Muchelney were cut off.</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Rescue boats and giant pumps were the immediate response.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£20 million plan to dredge rivers and raise roads was the long-term response.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are the Somerset Levels?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Locate means place it: south-west England, Somerset, between the Quantock and Mendip Hills, drained by the Tone and Parrett to the Severn Estuary.</a:t>
            </a:r>
            <a:endParaRPr lang="en-US" sz="1800" dirty="0"/>
          </a:p>
        </p:txBody>
      </p:sp>
      <p:sp>
        <p:nvSpPr>
          <p:cNvPr id="11" name="point-card"/>
          <p:cNvSpPr/>
          <p:nvPr/>
        </p:nvSpPr>
        <p:spPr>
          <a:xfrm>
            <a:off x="548640" y="1389888"/>
            <a:ext cx="5410048" cy="3686048"/>
          </a:xfrm>
          <a:prstGeom prst="roundRect">
            <a:avLst>
              <a:gd name="adj" fmla="val 1488"/>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Somerset is a county in south-west England. The Somerset Levels and Moors are a wide stretch of low, flat farmland and wetland, with the Bristol Channel and the Quantock Hills to the west and the Mendip Hills to the north.</a:t>
            </a:r>
            <a:endParaRPr lang="en-US" sz="22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Flooding has happened naturally here for centuries: the Levels are a flat basin only a little above sea level, and in winter the rivers have always spilled across them.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caused the floods?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Causes come in two kinds: physical (rainfall, tides, low land) and human (no dredging, building on the floodplain). Give both.</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floods of December 2013 and January 2014 had both physical and human causes.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sea made it worse. Sea water was pushed up the rivers from the Bristol Channel by high tides and storm surges.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So the causes link together: record rainfall on a low, flat basin, rivers whose capacity had shrunk because they were not dredged, and tides blocking the way out.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What caused the floods?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6ECE7"/>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About 350 mm of rain fell on the Somerset Levels in January and February 2014, about 100 mm above average. What is the average rainfall for January and February?</a:t>
            </a:r>
            <a:endParaRPr lang="en-US" sz="2000" dirty="0"/>
          </a:p>
        </p:txBody>
      </p:sp>
      <p:sp>
        <p:nvSpPr>
          <p:cNvPr id="9" name="step-box"/>
          <p:cNvSpPr/>
          <p:nvPr/>
        </p:nvSpPr>
        <p:spPr>
          <a:xfrm>
            <a:off x="548640" y="2502408"/>
            <a:ext cx="11094415" cy="603504"/>
          </a:xfrm>
          <a:prstGeom prst="roundRect">
            <a:avLst>
              <a:gd name="adj" fmla="val 12121"/>
            </a:avLst>
          </a:prstGeom>
          <a:solidFill>
            <a:srgbClr val="FFFFFF"/>
          </a:solidFill>
          <a:ln w="15875">
            <a:solidFill>
              <a:srgbClr val="95AE9B"/>
            </a:solidFill>
            <a:prstDash val="solid"/>
          </a:ln>
        </p:spPr>
      </p:sp>
      <p:sp>
        <p:nvSpPr>
          <p:cNvPr id="10" name="step-hex"/>
          <p:cNvSpPr/>
          <p:nvPr/>
        </p:nvSpPr>
        <p:spPr>
          <a:xfrm>
            <a:off x="685800" y="2606192"/>
            <a:ext cx="457200" cy="395935"/>
          </a:xfrm>
          <a:prstGeom prst="hexagon">
            <a:avLst/>
          </a:prstGeom>
          <a:solidFill>
            <a:srgbClr val="3F6B4A"/>
          </a:solidFill>
          <a:ln/>
        </p:spPr>
      </p:sp>
      <p:sp>
        <p:nvSpPr>
          <p:cNvPr id="11" name="step-hex-label"/>
          <p:cNvSpPr txBox="1"/>
          <p:nvPr/>
        </p:nvSpPr>
        <p:spPr>
          <a:xfrm>
            <a:off x="685800" y="260619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Above average means the actual total was bigger than the average by 100 mm.</a:t>
            </a:r>
            <a:endParaRPr lang="en-US" sz="1800" dirty="0"/>
          </a:p>
        </p:txBody>
      </p:sp>
      <p:sp>
        <p:nvSpPr>
          <p:cNvPr id="13" name="step-box"/>
          <p:cNvSpPr/>
          <p:nvPr/>
        </p:nvSpPr>
        <p:spPr>
          <a:xfrm>
            <a:off x="548640" y="3179064"/>
            <a:ext cx="11094415" cy="603504"/>
          </a:xfrm>
          <a:prstGeom prst="roundRect">
            <a:avLst>
              <a:gd name="adj" fmla="val 12121"/>
            </a:avLst>
          </a:prstGeom>
          <a:solidFill>
            <a:srgbClr val="FFFFFF"/>
          </a:solidFill>
          <a:ln w="15875">
            <a:solidFill>
              <a:srgbClr val="95AE9B"/>
            </a:solidFill>
            <a:prstDash val="solid"/>
          </a:ln>
        </p:spPr>
      </p:sp>
      <p:sp>
        <p:nvSpPr>
          <p:cNvPr id="14" name="step-hex"/>
          <p:cNvSpPr/>
          <p:nvPr/>
        </p:nvSpPr>
        <p:spPr>
          <a:xfrm>
            <a:off x="685800" y="3282848"/>
            <a:ext cx="457200" cy="395935"/>
          </a:xfrm>
          <a:prstGeom prst="hexagon">
            <a:avLst/>
          </a:prstGeom>
          <a:solidFill>
            <a:srgbClr val="3F6B4A"/>
          </a:solidFill>
          <a:ln/>
        </p:spPr>
      </p:sp>
      <p:sp>
        <p:nvSpPr>
          <p:cNvPr id="15" name="step-hex-label"/>
          <p:cNvSpPr txBox="1"/>
          <p:nvPr/>
        </p:nvSpPr>
        <p:spPr>
          <a:xfrm>
            <a:off x="685800" y="328284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79064"/>
            <a:ext cx="10180015" cy="6035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Average = actual − the extra: 350 − 100 = 250 mm.</a:t>
            </a:r>
            <a:endParaRPr lang="en-US" sz="1800" dirty="0"/>
          </a:p>
        </p:txBody>
      </p:sp>
      <p:sp>
        <p:nvSpPr>
          <p:cNvPr id="17" name="step-box"/>
          <p:cNvSpPr/>
          <p:nvPr/>
        </p:nvSpPr>
        <p:spPr>
          <a:xfrm>
            <a:off x="548640" y="3855720"/>
            <a:ext cx="11094415" cy="867664"/>
          </a:xfrm>
          <a:prstGeom prst="roundRect">
            <a:avLst>
              <a:gd name="adj" fmla="val 8431"/>
            </a:avLst>
          </a:prstGeom>
          <a:solidFill>
            <a:srgbClr val="FFFFFF"/>
          </a:solidFill>
          <a:ln w="15875">
            <a:solidFill>
              <a:srgbClr val="95AE9B"/>
            </a:solidFill>
            <a:prstDash val="solid"/>
          </a:ln>
        </p:spPr>
      </p:sp>
      <p:sp>
        <p:nvSpPr>
          <p:cNvPr id="18" name="step-hex"/>
          <p:cNvSpPr/>
          <p:nvPr/>
        </p:nvSpPr>
        <p:spPr>
          <a:xfrm>
            <a:off x="685800" y="4091584"/>
            <a:ext cx="457200" cy="395935"/>
          </a:xfrm>
          <a:prstGeom prst="hexagon">
            <a:avLst/>
          </a:prstGeom>
          <a:solidFill>
            <a:srgbClr val="3F6B4A"/>
          </a:solidFill>
          <a:ln/>
        </p:spPr>
      </p:sp>
      <p:sp>
        <p:nvSpPr>
          <p:cNvPr id="19" name="step-hex-label"/>
          <p:cNvSpPr txBox="1"/>
          <p:nvPr/>
        </p:nvSpPr>
        <p:spPr>
          <a:xfrm>
            <a:off x="685800" y="4091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55720"/>
            <a:ext cx="10180015" cy="86766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sense: 350 mm is 350 ÷ 250 = 1.4 times the average, that is, 40 per cent more rain than normal. The wettest January on record should be well above average, and it is.</a:t>
            </a:r>
            <a:endParaRPr lang="en-US" sz="1800" dirty="0"/>
          </a:p>
        </p:txBody>
      </p:sp>
      <p:sp>
        <p:nvSpPr>
          <p:cNvPr id="21" name="worked-answer"/>
          <p:cNvSpPr/>
          <p:nvPr/>
        </p:nvSpPr>
        <p:spPr>
          <a:xfrm>
            <a:off x="548640" y="4906264"/>
            <a:ext cx="11094415" cy="552196"/>
          </a:xfrm>
          <a:prstGeom prst="roundRect">
            <a:avLst>
              <a:gd name="adj" fmla="val 2483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250 mm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Impacts: social, economic and environmental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Social is people, economic is money and property, environmental is land, water and wildlife. Put at least one dated fact in each column.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Social impacts are the effects on people's lives. Over 600 houses were flooded.</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Environmental impacts are the effects on land, water and wildlife.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Many impacts belong in more than one column: a flooded farm is economic for the farmer and social for the family that lives there.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Responses: immediate and long-term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Response, timing, risk reduced. Three parts for every response you name.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immediate responses dealt with the primary effects in the first days.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long-term responses aim to reduce the risk of future floods.</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six-mark question asks how the responses reduced the risk.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Social, economic or environmental?</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impact of the Somerset Levels floods to the kind of impact it is.</a:t>
            </a:r>
            <a:endParaRPr lang="en-US" sz="2000" dirty="0"/>
          </a:p>
        </p:txBody>
      </p:sp>
      <p:sp>
        <p:nvSpPr>
          <p:cNvPr id="11" name="match-card"/>
          <p:cNvSpPr/>
          <p:nvPr/>
        </p:nvSpPr>
        <p:spPr>
          <a:xfrm>
            <a:off x="777240" y="2468331"/>
            <a:ext cx="3081437" cy="1103559"/>
          </a:xfrm>
          <a:prstGeom prst="roundRect">
            <a:avLst>
              <a:gd name="adj" fmla="val 6629"/>
            </a:avLst>
          </a:prstGeom>
          <a:solidFill>
            <a:srgbClr val="EAEFEB"/>
          </a:solidFill>
          <a:ln/>
        </p:spPr>
      </p:sp>
      <p:sp>
        <p:nvSpPr>
          <p:cNvPr id="12" name="match-hex"/>
          <p:cNvSpPr/>
          <p:nvPr/>
        </p:nvSpPr>
        <p:spPr>
          <a:xfrm>
            <a:off x="850392" y="2853818"/>
            <a:ext cx="384048" cy="332586"/>
          </a:xfrm>
          <a:prstGeom prst="hexagon">
            <a:avLst/>
          </a:prstGeom>
          <a:solidFill>
            <a:srgbClr val="3F6B4A"/>
          </a:solidFill>
          <a:ln/>
        </p:spPr>
      </p:sp>
      <p:sp>
        <p:nvSpPr>
          <p:cNvPr id="13" name="match-hex-label"/>
          <p:cNvSpPr txBox="1"/>
          <p:nvPr/>
        </p:nvSpPr>
        <p:spPr>
          <a:xfrm>
            <a:off x="850392"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Social</a:t>
            </a:r>
            <a:endParaRPr lang="en-US" sz="2200" dirty="0"/>
          </a:p>
        </p:txBody>
      </p:sp>
      <p:sp>
        <p:nvSpPr>
          <p:cNvPr id="15" name="match-card"/>
          <p:cNvSpPr/>
          <p:nvPr/>
        </p:nvSpPr>
        <p:spPr>
          <a:xfrm>
            <a:off x="4224437" y="2468331"/>
            <a:ext cx="7190019" cy="1103559"/>
          </a:xfrm>
          <a:prstGeom prst="roundRect">
            <a:avLst>
              <a:gd name="adj" fmla="val 6629"/>
            </a:avLst>
          </a:prstGeom>
          <a:solidFill>
            <a:srgbClr val="F4EDDF"/>
          </a:solidFill>
          <a:ln/>
        </p:spPr>
      </p:sp>
      <p:sp>
        <p:nvSpPr>
          <p:cNvPr id="16" name="match-hex"/>
          <p:cNvSpPr/>
          <p:nvPr/>
        </p:nvSpPr>
        <p:spPr>
          <a:xfrm>
            <a:off x="4297589" y="2853818"/>
            <a:ext cx="384048" cy="332586"/>
          </a:xfrm>
          <a:prstGeom prst="hexagon">
            <a:avLst/>
          </a:prstGeom>
          <a:solidFill>
            <a:srgbClr val="B8862B"/>
          </a:solidFill>
          <a:ln/>
        </p:spPr>
      </p:sp>
      <p:sp>
        <p:nvSpPr>
          <p:cNvPr id="17" name="match-hex-label"/>
          <p:cNvSpPr txBox="1"/>
          <p:nvPr/>
        </p:nvSpPr>
        <p:spPr>
          <a:xfrm>
            <a:off x="4297589" y="2853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Residents evacuated to temporary accommodation for several months</a:t>
            </a:r>
            <a:endParaRPr lang="en-US" sz="2200" dirty="0"/>
          </a:p>
        </p:txBody>
      </p:sp>
      <p:sp>
        <p:nvSpPr>
          <p:cNvPr id="19" name="match-card"/>
          <p:cNvSpPr/>
          <p:nvPr/>
        </p:nvSpPr>
        <p:spPr>
          <a:xfrm>
            <a:off x="777240" y="3663330"/>
            <a:ext cx="3081437" cy="1103559"/>
          </a:xfrm>
          <a:prstGeom prst="roundRect">
            <a:avLst>
              <a:gd name="adj" fmla="val 6629"/>
            </a:avLst>
          </a:prstGeom>
          <a:solidFill>
            <a:srgbClr val="EAEFEB"/>
          </a:solidFill>
          <a:ln/>
        </p:spPr>
      </p:sp>
      <p:sp>
        <p:nvSpPr>
          <p:cNvPr id="20" name="match-hex"/>
          <p:cNvSpPr/>
          <p:nvPr/>
        </p:nvSpPr>
        <p:spPr>
          <a:xfrm>
            <a:off x="850392" y="4048817"/>
            <a:ext cx="384048" cy="332586"/>
          </a:xfrm>
          <a:prstGeom prst="hexagon">
            <a:avLst/>
          </a:prstGeom>
          <a:solidFill>
            <a:srgbClr val="3F6B4A"/>
          </a:solidFill>
          <a:ln/>
        </p:spPr>
      </p:sp>
      <p:sp>
        <p:nvSpPr>
          <p:cNvPr id="21"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663330"/>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Economic</a:t>
            </a:r>
            <a:endParaRPr lang="en-US" sz="2200" dirty="0"/>
          </a:p>
        </p:txBody>
      </p:sp>
      <p:sp>
        <p:nvSpPr>
          <p:cNvPr id="23" name="match-card"/>
          <p:cNvSpPr/>
          <p:nvPr/>
        </p:nvSpPr>
        <p:spPr>
          <a:xfrm>
            <a:off x="4224437" y="3663330"/>
            <a:ext cx="7190019" cy="1103559"/>
          </a:xfrm>
          <a:prstGeom prst="roundRect">
            <a:avLst>
              <a:gd name="adj" fmla="val 6629"/>
            </a:avLst>
          </a:prstGeom>
          <a:solidFill>
            <a:srgbClr val="F4EDDF"/>
          </a:solidFill>
          <a:ln/>
        </p:spPr>
      </p:sp>
      <p:sp>
        <p:nvSpPr>
          <p:cNvPr id="24" name="match-hex"/>
          <p:cNvSpPr/>
          <p:nvPr/>
        </p:nvSpPr>
        <p:spPr>
          <a:xfrm>
            <a:off x="4297589" y="4048817"/>
            <a:ext cx="384048" cy="332586"/>
          </a:xfrm>
          <a:prstGeom prst="hexagon">
            <a:avLst/>
          </a:prstGeom>
          <a:solidFill>
            <a:srgbClr val="B8862B"/>
          </a:solidFill>
          <a:ln/>
        </p:spPr>
      </p:sp>
      <p:sp>
        <p:nvSpPr>
          <p:cNvPr id="25"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663330"/>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Stagnant flood water had to be treated before being pumped back into the rivers</a:t>
            </a:r>
            <a:endParaRPr lang="en-US" sz="2200" dirty="0"/>
          </a:p>
        </p:txBody>
      </p:sp>
      <p:sp>
        <p:nvSpPr>
          <p:cNvPr id="27" name="match-card"/>
          <p:cNvSpPr/>
          <p:nvPr/>
        </p:nvSpPr>
        <p:spPr>
          <a:xfrm>
            <a:off x="777240" y="4858329"/>
            <a:ext cx="3081437" cy="1103559"/>
          </a:xfrm>
          <a:prstGeom prst="roundRect">
            <a:avLst>
              <a:gd name="adj" fmla="val 6629"/>
            </a:avLst>
          </a:prstGeom>
          <a:solidFill>
            <a:srgbClr val="EAEFEB"/>
          </a:solidFill>
          <a:ln/>
        </p:spPr>
      </p:sp>
      <p:sp>
        <p:nvSpPr>
          <p:cNvPr id="28" name="match-hex"/>
          <p:cNvSpPr/>
          <p:nvPr/>
        </p:nvSpPr>
        <p:spPr>
          <a:xfrm>
            <a:off x="850392" y="5243816"/>
            <a:ext cx="384048" cy="332586"/>
          </a:xfrm>
          <a:prstGeom prst="hexagon">
            <a:avLst/>
          </a:prstGeom>
          <a:solidFill>
            <a:srgbClr val="3F6B4A"/>
          </a:solidFill>
          <a:ln/>
        </p:spPr>
      </p:sp>
      <p:sp>
        <p:nvSpPr>
          <p:cNvPr id="29" name="match-hex-label"/>
          <p:cNvSpPr txBox="1"/>
          <p:nvPr/>
        </p:nvSpPr>
        <p:spPr>
          <a:xfrm>
            <a:off x="850392"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58329"/>
            <a:ext cx="2487077"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Environmental</a:t>
            </a:r>
            <a:endParaRPr lang="en-US" sz="2200" dirty="0"/>
          </a:p>
        </p:txBody>
      </p:sp>
      <p:sp>
        <p:nvSpPr>
          <p:cNvPr id="31" name="match-card"/>
          <p:cNvSpPr/>
          <p:nvPr/>
        </p:nvSpPr>
        <p:spPr>
          <a:xfrm>
            <a:off x="4224437" y="4858329"/>
            <a:ext cx="7190019" cy="1103559"/>
          </a:xfrm>
          <a:prstGeom prst="roundRect">
            <a:avLst>
              <a:gd name="adj" fmla="val 6629"/>
            </a:avLst>
          </a:prstGeom>
          <a:solidFill>
            <a:srgbClr val="F4EDDF"/>
          </a:solidFill>
          <a:ln/>
        </p:spPr>
      </p:sp>
      <p:sp>
        <p:nvSpPr>
          <p:cNvPr id="32" name="match-hex"/>
          <p:cNvSpPr/>
          <p:nvPr/>
        </p:nvSpPr>
        <p:spPr>
          <a:xfrm>
            <a:off x="4297589" y="5243816"/>
            <a:ext cx="384048" cy="332586"/>
          </a:xfrm>
          <a:prstGeom prst="hexagon">
            <a:avLst/>
          </a:prstGeom>
          <a:solidFill>
            <a:srgbClr val="B8862B"/>
          </a:solidFill>
          <a:ln/>
        </p:spPr>
      </p:sp>
      <p:sp>
        <p:nvSpPr>
          <p:cNvPr id="33" name="match-hex-label"/>
          <p:cNvSpPr txBox="1"/>
          <p:nvPr/>
        </p:nvSpPr>
        <p:spPr>
          <a:xfrm>
            <a:off x="4297589" y="5243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858329"/>
            <a:ext cx="6595659" cy="1103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Over 14 000 hectares of farmland under water for three to four weeks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Social, economic or environmental?</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impact of the Somerset Levels floods to the kind of impact it is.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6ECE7"/>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Social is about people and how they live: homes, health, being cut off.</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Economic is about money, jobs, property and farming.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Environmental is about land, water, wildlife and pollution.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of each impact: who or what is harmed here?</a:t>
            </a:r>
            <a:endParaRPr lang="en-US" sz="1800" dirty="0"/>
          </a:p>
        </p:txBody>
      </p:sp>
      <p:sp>
        <p:nvSpPr>
          <p:cNvPr id="17" name="col-Core"/>
          <p:cNvSpPr/>
          <p:nvPr/>
        </p:nvSpPr>
        <p:spPr>
          <a:xfrm>
            <a:off x="5490762" y="2578608"/>
            <a:ext cx="2938987" cy="3566160"/>
          </a:xfrm>
          <a:prstGeom prst="roundRect">
            <a:avLst>
              <a:gd name="adj" fmla="val 1867"/>
            </a:avLst>
          </a:prstGeom>
          <a:solidFill>
            <a:srgbClr val="CFDAD2"/>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People, money, or the natural world: which one does each impact harm most directly?</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Argue whether the economic impacts of the Somerset floods were more significant than the social ones, using one fact from each column.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Immediate or long-term?</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In March 2014, 8 km of the Rivers Tone and Parrett were dredged to increase the capacity of their channels. Which kind of response is this?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secondary effect of the flood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 immediate response, dealing with the primary effects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primary effect of the flood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long-term response, reducing the risk of future floods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Immediate or long-term?</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Immediate or long-term?</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did this happen in the first days to help people in danger, or later to stop it happening again?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Rescue, sandbags, clean water and pumps are immediate.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Dredging, raising roads, the Flood Action Plan and the tidal barrage are long-term.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that the sentence describes a response (something people did), not an effect (something the flood did).</a:t>
            </a:r>
            <a:endParaRPr lang="en-US" sz="1800" dirty="0"/>
          </a:p>
        </p:txBody>
      </p:sp>
      <p:sp>
        <p:nvSpPr>
          <p:cNvPr id="17" name="col-Core"/>
          <p:cNvSpPr/>
          <p:nvPr/>
        </p:nvSpPr>
        <p:spPr>
          <a:xfrm>
            <a:off x="6425403" y="2395728"/>
            <a:ext cx="2471666" cy="3749040"/>
          </a:xfrm>
          <a:prstGeom prst="roundRect">
            <a:avLst>
              <a:gd name="adj" fmla="val 2220"/>
            </a:avLst>
          </a:prstGeom>
          <a:solidFill>
            <a:srgbClr val="CFDAD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Now or next time? Help given now is immediate; work done to prevent the next flood is long-term.</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dredging alone could not stop the Levels flooding again, using the causes of the 2014 floods.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61442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About 350 mm of rain fell on the Somerset Levels in January and February 2014, about 100 mm above average. What is the average rainfall for those two months, in millimetres?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(mm):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Social, economic or environmental?</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Social  →  A  Residents evacuated to temporary accommodation for several months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Economic  →  C  Over 14 000 hectares of farmland under water for three to four weeks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Environmental  →  B  Stagnant flood water had to be treated before being pumped back into the rivers</a:t>
            </a:r>
            <a:endParaRPr lang="en-US" sz="24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Evacuation to temporary accommodation affects people's lives (social); farmland under water costs farmers money (economic); treating polluted stagnant water is about the health of the rivers (environmental).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Immediate or long-term?</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March 2014, 8 km of the Rivers Tone and Parrett were dredged to increase the capacity of their channels. Which kind of response is this?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 long-term response, reducing the risk of future floods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Dredging, raising roads, the Flood Action Plan and the tidal barrage all came after the flood and aim to reduce the risk of future floods, so they are long-term responses. Rescue boats, Royal Marines and pumps dealt with the emergency itself.</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About 350 mm of rain fell on the Somerset Levels in January and February 2014, about 100 mm above average. What is the average rainfall for those two months, in millimetres?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250 mm</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Above average by 100 mm means the average is 100 mm less than the total: 350 − 100 = 250 mm.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Natural Hazards: Weather Hazards · Chapter 6: The Somerset Levels floods, 2014</dc:title>
  <dc:subject>Geography · Year 10</dc:subject>
  <dc:creator>Dr Vitor Merissi de Carvalho</dc:creator>
  <cp:lastModifiedBy>Dr Vitor Merissi de Carvalho</cp:lastModifiedBy>
  <cp:revision>1</cp:revision>
  <dcterms:created xsi:type="dcterms:W3CDTF">2026-10-19T16:23:02Z</dcterms:created>
  <dcterms:modified xsi:type="dcterms:W3CDTF">2026-10-19T16:23:02Z</dcterms:modified>
</cp:coreProperties>
</file>