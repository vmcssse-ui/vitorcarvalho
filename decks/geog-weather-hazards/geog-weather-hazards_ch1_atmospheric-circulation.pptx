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f8b8d0-faff-461e-a548-bc4a3ed9555c}">
          <p14:sldIdLst>
            <p14:sldId id="256"/>
          </p14:sldIdLst>
        </p14:section>
        <p14:section name="Gate" id="{0121d282-e78f-96b1-b8a1-d1809db18146}">
          <p14:sldIdLst>
            <p14:sldId id="257"/>
            <p14:sldId id="258"/>
          </p14:sldIdLst>
        </p14:section>
        <p14:section name="Pre-teach" id="{c373858c-705a-05fb-87f0-7b68cfed3d98}">
          <p14:sldIdLst>
            <p14:sldId id="259"/>
            <p14:sldId id="260"/>
          </p14:sldIdLst>
        </p14:section>
        <p14:section name="Read-along" id="{cc20a529-32da-4bda-4dfc-90e93e847980}">
          <p14:sldIdLst>
            <p14:sldId id="261"/>
            <p14:sldId id="262"/>
          </p14:sldIdLst>
        </p14:section>
        <p14:section name="Teach" id="{d90f6b80-51eb-25b7-1a77-8e59349f51d4}">
          <p14:sldIdLst>
            <p14:sldId id="263"/>
            <p14:sldId id="264"/>
            <p14:sldId id="265"/>
            <p14:sldId id="266"/>
            <p14:sldId id="267"/>
            <p14:sldId id="268"/>
            <p14:sldId id="269"/>
          </p14:sldIdLst>
        </p14:section>
        <p14:section name="Routes" id="{cc856016-be1d-88c4-0c2c-5cd2cd137cac}">
          <p14:sldIdLst>
            <p14:sldId id="270"/>
            <p14:sldId id="271"/>
            <p14:sldId id="272"/>
            <p14:sldId id="273"/>
          </p14:sldIdLst>
        </p14:section>
        <p14:section name="Close" id="{c7c4681e-328e-5f94-2d1b-eb653c87cd40}">
          <p14:sldIdLst>
            <p14:sldId id="274"/>
          </p14:sldIdLst>
        </p14:section>
        <p14:section name="Answers" id="{97293627-8f65-c462-1878-f6ddfadab331}">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restless atmosphere. Why warm air rising and cold air sinking drives the world's weather, how the atmosphere is organised into three great cells in each hemisphere, and why tropical storms are found only in certain places.
This deck covers the department's lessons: 1 (Weather hazards: atmospheric circulation: How does the movement of air between the equator and the poles control the world's weather?); 2 (Global distribution of tropical storms: Where do tropical storms form, what do they need to form, and how is this linked to atmospheric circulation?).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cell of the atmosphere lies between the equator and the tropics?  →  C   The Hadley cell
2. When warm air rises it creates an area of ___ pressure at the surface, bringing clouds and rain.  →  low
3. Between which latitudes do tropical storms usually form?  →  C   5 to 20 degrees north and south of the equator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Hadley cell. The Hadley cell is the loop nearest the equator: air rises at the equator and sinks over the Tropics of Cancer and Capricorn.
2. low. Rising air takes weight off the surface, so pressure falls. Low pressure goes with rising air, cloud and rain.
3. C   5 to 20 degrees north and south of the equator. Tropical storms form over warm seas between about 5 and 20 degrees of latitude, where the water is warm and the Coriolis effect is strong enough to make them spin.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atmosphere: the layer of gases that surrounds the Earth. Example: "All of our weather happens in the lowest part of the atmosphere."
• pressure: the weight of the air pressing down on the ground. Example: "Rising air makes low pressure, and sinking air makes high pressure."
• equator: the imaginary line around the middle of the Earth. Example: "The equator is the hottest part of the Earth, so air rises there."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Hadley cell: the loop of air between the equator and the tropics. Example: "The Hadley cell carries warm air up at the equator and down over the tropics."
• tropical storm: a huge spinning storm that forms over warm tropical seas. Example: "A tropical storm brings very strong winds and heavy rain."
• latitude: how far north or south of the equator a place is, measured in degrees. Example: "Tropical storms form at a latitude of 5 to 20 degrees from the equator."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weather is controlled by the movement of air.
2. Warm air is light, so it rises.
3. Rising air makes low pressure, and brings clouds and rain.
4. Cold air is heavy, so it sinks.
5. Sinking air makes high pressure, and brings dry, clear weather.
6. Air rises at the hot equator and sinks over the tropics.
7. This loop is called the Hadley cell.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There are two more loops in each half of the Earth.
9. They are the Ferrel cell and the Polar cell.
10. Tropical storms form over warm seas near the tropics.
11. They need sea water warmer than 26 degrees Celsius.
12. They are called hurricanes, cyclones or typhoons, depending on where they are.
13. They do not form on the equator itself.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Warm air rises, cold air sinks. Say it in your own words, then check understanding with a quick question: ask a pupil from the pre-teach group first, since they met these words and ideas before the lesson. Pupils try to recall before you re-explain.
Everything in this unit starts with one idea from Year 7: the weather is controlled by the movement of air. When air is warmed it expands, becomes less dense (lighter) and rises. Rising air leaves less weight pressing on the ground beneath it, so an area of low atmospheric pressure forms. As the rising air climbs it cools, the water vapour in it condenses into clouds, and we get rain. That is the water cycle you learned in Year 7: warm air rises, condenses, forms clouds, and precipitation falls.
When air is cooled it becomes more dense (heavier) and sinks. Sinking air presses down harder on the ground, so an area of high atmospheric pressure forms. Sinking air is dry and it stops clouds from building, so high pressure means fine, settled weather with no rain.
Put the two together and you get a loop. Hot air rises; high up it cools; the cool air sinks somewhere else; and at the surface the cool air flows back to replace the hot air that rose. This loop of rising and sinking air is the engine of the atmosphere, and the same pattern happens all over the world.
Tip: Remember the pairs: warm, rising, low pressure, wet. Cold, sinking, high pressure,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cells in each hemisphere. Say it in your own words, then check understanding with a quick question: ask a pupil from the pre-teach group first, since they met these words and ideas before the lesson. Pupils try to recall before you re-explain.
Because the Earth is a sphere, the equator gets the most direct sunshine and the poles the least. The air above the equator is heated most, rises, and spreads out towards the poles high in the atmosphere. It cannot travel all the way in one go. Instead the atmosphere is organised into three giant loops of air, called cells, in each hemisphere. What happens in the northern hemisphere is mirrored in the southern hemisphere.
The Hadley cell is the loop between the equator and the tropics (the Tropic of Cancer in the north, the Tropic of Capricorn in the south). Warm, moist air rises at the equator, giving a belt of low pressure, cloud and heavy rain. High up it cools and moves away from the equator, then sinks as cooler, dry air over the tropics, giving a belt of high pressure and dry weather. The Ferrel cell is the loop between the tropics and the Arctic or Antarctic circle; the UK sits under it. The Polar cell is the loop between the circles and the poles, where very cold, dense air sinks, giving high pressure at the poles.
The three cells meet at belts of rising and sinking air. Where air rises, between the Hadley and Ferrel cells at about 60 degrees, there is low pressure and unsettled weather; where air sinks, at the tropics and the poles, there is high pressure. Read a world map of deserts and rainforests and you are reading the cells: rainforests sit under the rising air of the equator and many deserts under the sinking air of the tropics.
Worked example — model it step by step, thinking aloud: Describe and explain how the circulation of air within the atmosphere causes areas of high and low pressure. (6 marks) (1) Start with the cause: the equator is heated most by the Sun, so the air there is warmed, expands and rises. (2) Link rising air to pressure: rising air takes weight off the surface, so a belt of low pressure forms at the equator, with cloud and rain. (3) Follow the air: high in the atmosphere it moves away from the equator and cools. Cool air is dense, so it sinks over the tropics. (4) Link sinking air to pressure: sinking air presses on the surface, so a belt of high pressure forms at the tropics, with dry weather. Name the loop: the Hadley cell. (5) Finish the pattern: air rises again at about 60 degrees (low pressure) and sinks at the poles (high pressure), forming the Ferrel and Polar cells. (6) Six marks need both describe (where the belts are) and explain (why rising means low and sinking means high), with the cells named. Answer: A six-mark answer traces heated air rising at the equator (low pressure, rain), cooling and sinking over the tropics (high pressure, dry), names the Hadley, Ferrel and Polar cells, and explains that rising air lowers pressure at the surface while sinking air raises it..
Tip: Describe and explain is two jobs. Describe where the high and low pressure belts are; explain them with rising and sinking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cells in each hemisphere. Say it in your own words, then check understanding with a quick question: ask a pupil from the pre-teach group first, since they met these words and ideas before the lesson. Pupils try to recall before you re-explain.
Because the Earth is a sphere, the equator gets the most direct sunshine and the poles the least. The air above the equator is heated most, rises, and spreads out towards the poles high in the atmosphere. It cannot travel all the way in one go. Instead the atmosphere is organised into three giant loops of air, called cells, in each hemisphere. What happens in the northern hemisphere is mirrored in the southern hemisphere.
The Hadley cell is the loop between the equator and the tropics (the Tropic of Cancer in the north, the Tropic of Capricorn in the south). Warm, moist air rises at the equator, giving a belt of low pressure, cloud and heavy rain. High up it cools and moves away from the equator, then sinks as cooler, dry air over the tropics, giving a belt of high pressure and dry weather. The Ferrel cell is the loop between the tropics and the Arctic or Antarctic circle; the UK sits under it. The Polar cell is the loop between the circles and the poles, where very cold, dense air sinks, giving high pressure at the poles.
The three cells meet at belts of rising and sinking air. Where air rises, between the Hadley and Ferrel cells at about 60 degrees, there is low pressure and unsettled weather; where air sinks, at the tropics and the poles, there is high pressure. Read a world map of deserts and rainforests and you are reading the cells: rainforests sit under the rising air of the equator and many deserts under the sinking air of the tropics.
Worked example — model it step by step, thinking aloud: Describe and explain how the circulation of air within the atmosphere causes areas of high and low pressure. (6 marks) (1) Start with the cause: the equator is heated most by the Sun, so the air there is warmed, expands and rises. (2) Link rising air to pressure: rising air takes weight off the surface, so a belt of low pressure forms at the equator, with cloud and rain. (3) Follow the air: high in the atmosphere it moves away from the equator and cools. Cool air is dense, so it sinks over the tropics. (4) Link sinking air to pressure: sinking air presses on the surface, so a belt of high pressure forms at the tropics, with dry weather. Name the loop: the Hadley cell. (5) Finish the pattern: air rises again at about 60 degrees (low pressure) and sinks at the poles (high pressure), forming the Ferrel and Polar cells. (6) Six marks need both describe (where the belts are) and explain (why rising means low and sinking means high), with the cells named. Answer: A six-mark answer traces heated air rising at the equator (low pressure, rain), cooling and sinking over the tropics (high pressure, dry), names the Hadley, Ferrel and Polar cells, and explains that rising air lowers pressure at the surface while sinking air raises it..
Tip: Describe and explain is two jobs. Describe where the high and low pressure belts are; explain them with rising and sinking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cells in each hemisphere. Say it in your own words, then check understanding with a quick question: ask a pupil from the pre-teach group first, since they met these words and ideas before the lesson. Pupils try to recall before you re-explain.
Because the Earth is a sphere, the equator gets the most direct sunshine and the poles the least. The air above the equator is heated most, rises, and spreads out towards the poles high in the atmosphere. It cannot travel all the way in one go. Instead the atmosphere is organised into three giant loops of air, called cells, in each hemisphere. What happens in the northern hemisphere is mirrored in the southern hemisphere.
The Hadley cell is the loop between the equator and the tropics (the Tropic of Cancer in the north, the Tropic of Capricorn in the south). Warm, moist air rises at the equator, giving a belt of low pressure, cloud and heavy rain. High up it cools and moves away from the equator, then sinks as cooler, dry air over the tropics, giving a belt of high pressure and dry weather. The Ferrel cell is the loop between the tropics and the Arctic or Antarctic circle; the UK sits under it. The Polar cell is the loop between the circles and the poles, where very cold, dense air sinks, giving high pressure at the poles.
The three cells meet at belts of rising and sinking air. Where air rises, between the Hadley and Ferrel cells at about 60 degrees, there is low pressure and unsettled weather; where air sinks, at the tropics and the poles, there is high pressure. Read a world map of deserts and rainforests and you are reading the cells: rainforests sit under the rising air of the equator and many deserts under the sinking air of the tropics.
Worked example — model it step by step, thinking aloud: Describe and explain how the circulation of air within the atmosphere causes areas of high and low pressure. (6 marks) (1) Start with the cause: the equator is heated most by the Sun, so the air there is warmed, expands and rises. (2) Link rising air to pressure: rising air takes weight off the surface, so a belt of low pressure forms at the equator, with cloud and rain. (3) Follow the air: high in the atmosphere it moves away from the equator and cools. Cool air is dense, so it sinks over the tropics. (4) Link sinking air to pressure: sinking air presses on the surface, so a belt of high pressure forms at the tropics, with dry weather. Name the loop: the Hadley cell. (5) Finish the pattern: air rises again at about 60 degrees (low pressure) and sinks at the poles (high pressure), forming the Ferrel and Polar cells. (6) Six marks need both describe (where the belts are) and explain (why rising means low and sinking means high), with the cells named. Answer: A six-mark answer traces heated air rising at the equator (low pressure, rain), cooling and sinking over the tropics (high pressure, dry), names the Hadley, Ferrel and Polar cells, and explains that rising air lowers pressure at the surface while sinking air raises it..
Tip: Describe and explain is two jobs. Describe where the high and low pressure belts are; explain them with rising and sinking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cells in each hemisphere. Say it in your own words, then check understanding with a quick question: ask a pupil from the pre-teach group first, since they met these words and ideas before the lesson. Pupils try to recall before you re-explain.
Because the Earth is a sphere, the equator gets the most direct sunshine and the poles the least. The air above the equator is heated most, rises, and spreads out towards the poles high in the atmosphere. It cannot travel all the way in one go. Instead the atmosphere is organised into three giant loops of air, called cells, in each hemisphere. What happens in the northern hemisphere is mirrored in the southern hemisphere.
The Hadley cell is the loop between the equator and the tropics (the Tropic of Cancer in the north, the Tropic of Capricorn in the south). Warm, moist air rises at the equator, giving a belt of low pressure, cloud and heavy rain. High up it cools and moves away from the equator, then sinks as cooler, dry air over the tropics, giving a belt of high pressure and dry weather. The Ferrel cell is the loop between the tropics and the Arctic or Antarctic circle; the UK sits under it. The Polar cell is the loop between the circles and the poles, where very cold, dense air sinks, giving high pressure at the poles.
The three cells meet at belts of rising and sinking air. Where air rises, between the Hadley and Ferrel cells at about 60 degrees, there is low pressure and unsettled weather; where air sinks, at the tropics and the poles, there is high pressure. Read a world map of deserts and rainforests and you are reading the cells: rainforests sit under the rising air of the equator and many deserts under the sinking air of the tropics.
Worked example — model it step by step, thinking aloud: Describe and explain how the circulation of air within the atmosphere causes areas of high and low pressure. (6 marks) (1) Start with the cause: the equator is heated most by the Sun, so the air there is warmed, expands and rises. (2) Link rising air to pressure: rising air takes weight off the surface, so a belt of low pressure forms at the equator, with cloud and rain. (3) Follow the air: high in the atmosphere it moves away from the equator and cools. Cool air is dense, so it sinks over the tropics. (4) Link sinking air to pressure: sinking air presses on the surface, so a belt of high pressure forms at the tropics, with dry weather. Name the loop: the Hadley cell. (5) Finish the pattern: air rises again at about 60 degrees (low pressure) and sinks at the poles (high pressure), forming the Ferrel and Polar cells. (6) Six marks need both describe (where the belts are) and explain (why rising means low and sinking means high), with the cells named. Answer: A six-mark answer traces heated air rising at the equator (low pressure, rain), cooling and sinking over the tropics (high pressure, dry), names the Hadley, Ferrel and Polar cells, and explains that rising air lowers pressure at the surface while sinking air raises it..
Tip: Describe and explain is two jobs. Describe where the high and low pressure belts are; explain them with rising and sinking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tropical storms happen. Say it in your own words, then check understanding with a quick question: ask a pupil from the pre-teach group first, since they met these words and ideas before the lesson. Pupils try to recall before you re-explain.
Tropical storms are huge rotating storms that form over warm oceans. They form in a band between about 5 and 20 degrees of latitude north and south of the equator, over seas whose surface is warmer than 26 degrees Celsius, and they generally travel westwards, carried by the prevailing winds. The same kind of storm has a different name in each part of the world. In the Caribbean, the Atlantic and the eastern Pacific it is a hurricane. In the Indian Ocean, around South East Asia and off north-east Australia it is a cyclone. In the north-west Pacific, near Japan and the Philippines, it is a typhoon.
Notice where tropical storms do not form. They are not found on the equator itself, even though the sea there is warm. The spinning that a tropical storm needs comes from the Coriolis effect, the bending of winds caused by the rotation of the Earth, and that effect is too weak at the equator to set a storm turning. Nor are they found far from the tropics, where the sea is too cool to supply the energy.
This distribution is a direct result of atmospheric circulation. The storms form under the Hadley cell, where the sea is warmest and warm, moist air is already rising. The deck's own map task asks you to label each continent with the number of storms it receives a year and to describe the pattern: use compass directions, name the oceans, give the latitude band and quote the sea temperature.
Tip: A describe-the-distribution answer wants a pattern, not a list. Give the latitude band, the oceans, the names used in each region, and one exception (not on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maps, one link. Say it in your own words, then check understanding with a quick question: ask a pupil from the pre-teach group first, since they met these words and ideas before the lesson. Pupils try to recall before you re-explain.
In class you compared two world maps: one of the tracks of every recorded tropical storm, coloured by strength on the Saffir-Simpson scale, and one of average sea surface temperature, where blues and purples show seas below 14 degrees, greens and yellows 15 to 25 degrees, and oranges and reds above 26 degrees. The question was: what is the link?
The storm tracks begin only where the second map is red, that is, over seas above 26 degrees. They avoid the equator and fade out as they move over cooler water or over land. So the link is that tropical storms need warm sea water, warmer than 26 degrees Celsius, because that warm water provides the energy and the evaporation that feed the storm. The two-mark version of this answer states the link (storms form where the sea is warmest) and explains it (warm water provides energy and moisture).
Tip: For a two-mark explain the link question: one mark for stating the pattern, one mark for giving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cells, three places.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cell of the atmosphere to the part of the Earth it covers.
Support — work through the steps with the group: (1) Picture the Earth from the equator to the pole: equator, tropic, circle, pole. That gives three gaps. (2) The Hadley cell is the one that begins at the equator, where the hottest air rises. (3) The Polar cell is named after the poles, so it is the one that ends at the pole. (4) The Ferrel cell is the one left in the middle.
Parallel worked example for Support (model it, do not give the task answer): Match: Tropic of Cancer, Arctic Circle. Choices: the line where the Ferrel cell meets the Polar cell in the north; the line where the Hadley cell meets the Ferrel cell in the north. The tropics are the edge of the Hadley cell, so the Tropic of Cancer is where Hadley meets Ferrel.; The circles are the edge of the Polar cell, so the Arctic Circle is where Ferrel meets Polar.. Answer: Tropic of Cancer: where the Hadley cell meets the Ferrel cell. Arctic Circle: where the Ferrel cell meets the Polar cell..
Core — reveal the hint only on request: Equator, tropic, circle, pole: three gaps, three cells, in the order Hadley, Ferrel, Polar.
Stretch — no help; when finished: Explain why the Hadley cell gives both a rainforest belt and a desert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cells, three places.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cell of the atmosphere to the part of the Earth it covers.
Support — work through the steps with the group: (1) Picture the Earth from the equator to the pole: equator, tropic, circle, pole. That gives three gaps. (2) The Hadley cell is the one that begins at the equator, where the hottest air rises. (3) The Polar cell is named after the poles, so it is the one that ends at the pole. (4) The Ferrel cell is the one left in the middle.
Parallel worked example for Support (model it, do not give the task answer): Match: Tropic of Cancer, Arctic Circle. Choices: the line where the Ferrel cell meets the Polar cell in the north; the line where the Hadley cell meets the Ferrel cell in the north. The tropics are the edge of the Hadley cell, so the Tropic of Cancer is where Hadley meets Ferrel.; The circles are the edge of the Polar cell, so the Arctic Circle is where Ferrel meets Polar.. Answer: Tropic of Cancer: where the Hadley cell meets the Ferrel cell. Arctic Circle: where the Ferrel cell meets the Polar cell..
Core — reveal the hint only on request: Equator, tropic, circle, pole: three gaps, three cells, in the order Hadley, Ferrel, Polar.
Stretch — no help; when finished: Explain why the Hadley cell gives both a rainforest belt and a desert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is this storm called?.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tropical storm forms in the north-west Pacific Ocean and heads towards Japan. What is it called in that part of the world?
Support — work through the steps with the group: (1) All three names describe the same kind of storm; the name depends only on where it is. (2) Hurricane: Caribbean, Atlantic, eastern Pacific. Cyclone: Indian Ocean, South East Asia, north-east Australia. Typhoon: north-west Pacific. (3) Find Japan on a map: it is in the north-west Pacific. (4) Check that the option you choose is a tropical storm at all; a tornado is a different hazard.
Parallel worked example for Support (model it, do not give the task answer): A tropical storm forms in the Caribbean Sea and heads for the Gulf of Mexico. What is it called there? The Caribbean is in the Atlantic region.; The Atlantic and Caribbean name is hurricane.. Answer: A hurricane..
Core — reveal the hint only on request: Japan is in the north-west Pacific. Which of the three regional names belongs to that ocean?
Stretch — no help; when finished: Explain why the same storm can be called by two different names in one week, using Typhoon Haiyan and its Philippine name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is this storm called?.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tropical storm forms in the north-west Pacific Ocean and heads towards Japan. What is it called in that part of the world?
Support — work through the steps with the group: (1) All three names describe the same kind of storm; the name depends only on where it is. (2) Hurricane: Caribbean, Atlantic, eastern Pacific. Cyclone: Indian Ocean, South East Asia, north-east Australia. Typhoon: north-west Pacific. (3) Find Japan on a map: it is in the north-west Pacific. (4) Check that the option you choose is a tropical storm at all; a tornado is a different hazard.
Parallel worked example for Support (model it, do not give the task answer): A tropical storm forms in the Caribbean Sea and heads for the Gulf of Mexico. What is it called there? The Caribbean is in the Atlantic region.; The Atlantic and Caribbean name is hurricane.. Answer: A hurricane..
Core — reveal the hint only on request: Japan is in the north-west Pacific. Which of the three regional names belongs to that ocean?
Stretch — no help; when finished: Explain why the same storm can be called by two different names in one week, using Typhoon Haiyan and its Philippine name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cell of the atmosphere lies between the equator and the tropics?
Answer: B   The Hadley cell. The Hadley cell is the loop nearest the equator: air rises at the equator and sinks over the Tropics of Cancer and Capricorn.
Source of this question: gate item 1 re-asked (options rotated) — this chapter has no third quick-check module.
The ebook also holds task 3, "Why high, why low?",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cells, three places. Reveal the answer; pupils mark their own work in a different colour, then read the "why" together. Same destination for every lane, so one answer serves the whole class.
Answer: Hadley cell  →  B  Between the equator and the tropics; Ferrel cell  →  A  Between the tropics and the Arctic or Antarctic circle; Polar cell  →  C  Between the Arctic or Antarctic circle and the pole
Why: The Hadley cell runs from the equator to the tropics, the Ferrel cell from the tropics to the Arctic or Antarctic circle, and the Polar cell from the circle to the pole. The same three cells appear in both hemispheres.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is this storm called?. Reveal the answer; pupils mark their own work in a different colour, then read the "why" together. Same destination for every lane, so one answer serves the whole class.
Answer: B   A typhoon
Why: The north-west Pacific, including Japan, the Philippines and southern China, uses the name typhoon. Hurricane belongs to the Atlantic and eastern Pacific and cyclone to the Indian Ocean and Australia.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Hadley cell
Why: The Hadley cell is the loop nearest the equator: air rises at the equator and sinks over the Tropics of Cancer and Capricorn.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restless atmosphere</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6ECE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Weather hazards: atmospheric circulation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Global distribution of tropical storms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cell of the atmosphere lies between the equator and the tropics?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Polar cell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Ferrel cell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Hadley cell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equatorial cell</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When warm air rises it creates an area of ___ pressure at the surface, bringing clouds and rain.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low  ·  high  ·  normal</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Between which latitudes do tropical storms usually form?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At the Arctic and Antarctic circles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 the equator itself</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5 to 20 degrees north and south of the equator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30 to 60 degrees north and south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Hadley cell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cell of the atmosphere lies between the equator and the tropics?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Hadley cell is the loop nearest the equator: air rises at the equator and sinks over the Tropics of Cancer and Capricorn.</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low</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When warm air rises it creates an area of ___ pressure at the surface, bringing clouds and rain.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Rising air takes weight off the surface, so pressure falls. Low pressure goes with rising air, cloud and rain.</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5 to 20 degrees north and south of the equator</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Tropical storms form over warm seas between about 5 and 20 degrees of latitude, where the water is warm and the Coriolis effect is strong enough to make them spin.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atmosphere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layer of gases that surrounds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All of our weather happens in the lowest part of the atmosphere.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pressure</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weight of the air pressing down on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Rising air makes low pressure, and sinking air makes high pressure.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imaginary line around the middle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equator is the hottest part of the Earth, so air rises there.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Hadley cell</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loop of air between the equator and the tropics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Hadley cell carries warm air up at the equator and down over the tropics.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tropical storm</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spinning storm that forms over warm tropical seas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tropical storm brings very strong winds and heavy rain.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latitude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north or south of the equator a place is, measured in degrees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Tropical storms form at a latitude of 5 to 20 degrees from the equator.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weather is controlled by the movement of air.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Warm air is light, so it rises.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Rising air makes low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pressure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brings clouds and rain.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Cold air is heavy, so it sinks.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Sinking air makes high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pressure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brings dry, clear weather.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Air rises at the hot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sinks over the tropics.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loop is called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Hadley 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two more loops in each half of the Earth.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are the Ferrel cell and the Polar cell.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Tropical storms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form over warm seas near the tropics.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need sea water warmer than 26 degrees Celsius.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are called hurricanes, cyclones or typhoons, depending on where they are.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do not form on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itself.</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Warm air rises, cold air sinks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Remember the pairs: warm, rising, low pressure, wet. Cold, sinking, high pressure, dry.</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Everything in this unit starts with one idea from Year 7: the weather is controlled by the movement of air.</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air is cooled it becomes more dense (heavier) and sinks.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the two together and you get a loop. Hot air rises; high up it cools; the cool air sinks somewhere else; and at the surface the cool air flows back to replace the hot air that rose.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cells in each hemisphere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and explain is two jobs. Describe where the high and low pressure belts are; explain them with rising and sinking air.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Because the Earth is a sphere, the equator gets the most direct sunshine and the poles the least.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Hadley cell is the loop between the equator and the tropics (the Tropic of Cancer in the north, the Tropic of Capricorn in the south).</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three cells meet at belts of rising and sinking air.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(1 of 3): Three cells in each hemisphere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and explain how the circulation of air within the atmosphere causes areas of high and low pressure. (6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cause: the equator is heated most by the Sun, so the air there is warmed, expands and rises.</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rising air to pressure: rising air takes weight off the surface, so a belt of low pressure forms at the equator, with cloud and rain.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(2 of 3): Three cells in each hemisphere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and explain how the circulation of air within the atmosphere causes areas of high and low pressure. (6 marks)</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Follow the air: high in the atmosphere it moves away from the equator and cools. Cool air is dense, so it sinks over the tropics.</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sinking air to pressure: sinking air presses on the surface, so a belt of high pressure forms at the tropics, with dry weather. Name the loop: the Hadley cell.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(3 of 3): Three cells in each hemisphere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and explain how the circulation of air within the atmosphere causes areas of high and low pressure. (6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the pattern: air rises again at about 60 degrees (low pressure) and sinks at the poles (high pressure), forming the Ferrel and Polar cells.</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Six marks need both describe (where the belts are) and explain (why rising means low and sinking means high), with the cells named.</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six-mark answer traces heated air rising at the equator (low pressure, rain), cooling and sinking over the tropics (high pressure, dry), names the Hadley, Ferrel and Polar cells, and explains that rising air lowers pressure at the surface while sinking air raises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tropical storms happen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describe-the-distribution answer wants a pattern, not a list. Give the latitude band, the oceans, the names used in each region, and one exception (not on the equator).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Tropical storms are huge rotating storms that form over warm oceans.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Notice where tropical storms do not form. They are not found on the equator itself, even though the sea there is warm.</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distribution is a direct result of atmospheric circulation. The storms form under the Hadley cell, where the sea is warmest and warm, moist air is already rising.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Two maps, one link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two-mark explain the link question: one mark for stating the pattern, one mark for giving the reason.</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class you compared two world maps: one of the tracks of every recorded tropical storm, coloured by strength on the Saffir-Simpson scale, and one of average sea surface temperature, where blues and purples show seas below 14 degrees, greens and yellows 15 to 25 degrees, and oranges and reds above 26 degrees.</a:t>
            </a:r>
            <a:endParaRPr lang="en-US" sz="18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storm tracks begin only where the second map is red, that is, over seas above 26 degrees.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Three cells, three places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cell of the atmosphere to the part of the Earth it covers.</a:t>
            </a:r>
            <a:endParaRPr lang="en-US" sz="2200" dirty="0"/>
          </a:p>
        </p:txBody>
      </p:sp>
      <p:sp>
        <p:nvSpPr>
          <p:cNvPr id="11" name="match-card"/>
          <p:cNvSpPr/>
          <p:nvPr/>
        </p:nvSpPr>
        <p:spPr>
          <a:xfrm>
            <a:off x="777240" y="2468331"/>
            <a:ext cx="3081437" cy="824484"/>
          </a:xfrm>
          <a:prstGeom prst="roundRect">
            <a:avLst>
              <a:gd name="adj" fmla="val 8872"/>
            </a:avLst>
          </a:prstGeom>
          <a:solidFill>
            <a:srgbClr val="EAEFEB"/>
          </a:solidFill>
          <a:ln/>
        </p:spPr>
      </p:sp>
      <p:sp>
        <p:nvSpPr>
          <p:cNvPr id="12" name="match-hex"/>
          <p:cNvSpPr/>
          <p:nvPr/>
        </p:nvSpPr>
        <p:spPr>
          <a:xfrm>
            <a:off x="850392" y="2714281"/>
            <a:ext cx="384048" cy="332586"/>
          </a:xfrm>
          <a:prstGeom prst="hexagon">
            <a:avLst/>
          </a:prstGeom>
          <a:solidFill>
            <a:srgbClr val="3F6B4A"/>
          </a:solidFill>
          <a:ln/>
        </p:spPr>
      </p:sp>
      <p:sp>
        <p:nvSpPr>
          <p:cNvPr id="13" name="match-hex-label"/>
          <p:cNvSpPr txBox="1"/>
          <p:nvPr/>
        </p:nvSpPr>
        <p:spPr>
          <a:xfrm>
            <a:off x="850392" y="27142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Hadley cell</a:t>
            </a:r>
            <a:endParaRPr lang="en-US" sz="2200" dirty="0"/>
          </a:p>
        </p:txBody>
      </p:sp>
      <p:sp>
        <p:nvSpPr>
          <p:cNvPr id="15" name="match-card"/>
          <p:cNvSpPr/>
          <p:nvPr/>
        </p:nvSpPr>
        <p:spPr>
          <a:xfrm>
            <a:off x="4224437" y="2468331"/>
            <a:ext cx="7190019" cy="824484"/>
          </a:xfrm>
          <a:prstGeom prst="roundRect">
            <a:avLst>
              <a:gd name="adj" fmla="val 8872"/>
            </a:avLst>
          </a:prstGeom>
          <a:solidFill>
            <a:srgbClr val="F4EDDF"/>
          </a:solidFill>
          <a:ln/>
        </p:spPr>
      </p:sp>
      <p:sp>
        <p:nvSpPr>
          <p:cNvPr id="16" name="match-hex"/>
          <p:cNvSpPr/>
          <p:nvPr/>
        </p:nvSpPr>
        <p:spPr>
          <a:xfrm>
            <a:off x="4297589" y="2714281"/>
            <a:ext cx="384048" cy="332586"/>
          </a:xfrm>
          <a:prstGeom prst="hexagon">
            <a:avLst/>
          </a:prstGeom>
          <a:solidFill>
            <a:srgbClr val="B8862B"/>
          </a:solidFill>
          <a:ln/>
        </p:spPr>
      </p:sp>
      <p:sp>
        <p:nvSpPr>
          <p:cNvPr id="17" name="match-hex-label"/>
          <p:cNvSpPr txBox="1"/>
          <p:nvPr/>
        </p:nvSpPr>
        <p:spPr>
          <a:xfrm>
            <a:off x="4297589" y="27142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tropics and the Arctic or Antarctic circle</a:t>
            </a:r>
            <a:endParaRPr lang="en-US" sz="2200" dirty="0"/>
          </a:p>
        </p:txBody>
      </p:sp>
      <p:sp>
        <p:nvSpPr>
          <p:cNvPr id="19" name="match-card"/>
          <p:cNvSpPr/>
          <p:nvPr/>
        </p:nvSpPr>
        <p:spPr>
          <a:xfrm>
            <a:off x="777240" y="3384255"/>
            <a:ext cx="3081437" cy="824484"/>
          </a:xfrm>
          <a:prstGeom prst="roundRect">
            <a:avLst>
              <a:gd name="adj" fmla="val 8872"/>
            </a:avLst>
          </a:prstGeom>
          <a:solidFill>
            <a:srgbClr val="EAEFEB"/>
          </a:solidFill>
          <a:ln/>
        </p:spPr>
      </p:sp>
      <p:sp>
        <p:nvSpPr>
          <p:cNvPr id="20" name="match-hex"/>
          <p:cNvSpPr/>
          <p:nvPr/>
        </p:nvSpPr>
        <p:spPr>
          <a:xfrm>
            <a:off x="850392" y="3630205"/>
            <a:ext cx="384048" cy="332586"/>
          </a:xfrm>
          <a:prstGeom prst="hexagon">
            <a:avLst/>
          </a:prstGeom>
          <a:solidFill>
            <a:srgbClr val="3F6B4A"/>
          </a:solidFill>
          <a:ln/>
        </p:spPr>
      </p:sp>
      <p:sp>
        <p:nvSpPr>
          <p:cNvPr id="21" name="match-hex-label"/>
          <p:cNvSpPr txBox="1"/>
          <p:nvPr/>
        </p:nvSpPr>
        <p:spPr>
          <a:xfrm>
            <a:off x="850392" y="363020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84255"/>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Ferrel cell</a:t>
            </a:r>
            <a:endParaRPr lang="en-US" sz="2200" dirty="0"/>
          </a:p>
        </p:txBody>
      </p:sp>
      <p:sp>
        <p:nvSpPr>
          <p:cNvPr id="23" name="match-card"/>
          <p:cNvSpPr/>
          <p:nvPr/>
        </p:nvSpPr>
        <p:spPr>
          <a:xfrm>
            <a:off x="4224437" y="3384255"/>
            <a:ext cx="7190019" cy="824484"/>
          </a:xfrm>
          <a:prstGeom prst="roundRect">
            <a:avLst>
              <a:gd name="adj" fmla="val 8872"/>
            </a:avLst>
          </a:prstGeom>
          <a:solidFill>
            <a:srgbClr val="F4EDDF"/>
          </a:solidFill>
          <a:ln/>
        </p:spPr>
      </p:sp>
      <p:sp>
        <p:nvSpPr>
          <p:cNvPr id="24" name="match-hex"/>
          <p:cNvSpPr/>
          <p:nvPr/>
        </p:nvSpPr>
        <p:spPr>
          <a:xfrm>
            <a:off x="4297589" y="3630205"/>
            <a:ext cx="384048" cy="332586"/>
          </a:xfrm>
          <a:prstGeom prst="hexagon">
            <a:avLst/>
          </a:prstGeom>
          <a:solidFill>
            <a:srgbClr val="B8862B"/>
          </a:solidFill>
          <a:ln/>
        </p:spPr>
      </p:sp>
      <p:sp>
        <p:nvSpPr>
          <p:cNvPr id="25" name="match-hex-label"/>
          <p:cNvSpPr txBox="1"/>
          <p:nvPr/>
        </p:nvSpPr>
        <p:spPr>
          <a:xfrm>
            <a:off x="4297589" y="363020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84255"/>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equator and the tropics</a:t>
            </a:r>
            <a:endParaRPr lang="en-US" sz="2200" dirty="0"/>
          </a:p>
        </p:txBody>
      </p:sp>
      <p:sp>
        <p:nvSpPr>
          <p:cNvPr id="27" name="match-card"/>
          <p:cNvSpPr/>
          <p:nvPr/>
        </p:nvSpPr>
        <p:spPr>
          <a:xfrm>
            <a:off x="777240" y="4300179"/>
            <a:ext cx="3081437" cy="824484"/>
          </a:xfrm>
          <a:prstGeom prst="roundRect">
            <a:avLst>
              <a:gd name="adj" fmla="val 8872"/>
            </a:avLst>
          </a:prstGeom>
          <a:solidFill>
            <a:srgbClr val="EAEFEB"/>
          </a:solidFill>
          <a:ln/>
        </p:spPr>
      </p:sp>
      <p:sp>
        <p:nvSpPr>
          <p:cNvPr id="28" name="match-hex"/>
          <p:cNvSpPr/>
          <p:nvPr/>
        </p:nvSpPr>
        <p:spPr>
          <a:xfrm>
            <a:off x="850392" y="4546129"/>
            <a:ext cx="384048" cy="332586"/>
          </a:xfrm>
          <a:prstGeom prst="hexagon">
            <a:avLst/>
          </a:prstGeom>
          <a:solidFill>
            <a:srgbClr val="3F6B4A"/>
          </a:solidFill>
          <a:ln/>
        </p:spPr>
      </p:sp>
      <p:sp>
        <p:nvSpPr>
          <p:cNvPr id="29" name="match-hex-label"/>
          <p:cNvSpPr txBox="1"/>
          <p:nvPr/>
        </p:nvSpPr>
        <p:spPr>
          <a:xfrm>
            <a:off x="850392" y="454612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00179"/>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Polar cell</a:t>
            </a:r>
            <a:endParaRPr lang="en-US" sz="2200" dirty="0"/>
          </a:p>
        </p:txBody>
      </p:sp>
      <p:sp>
        <p:nvSpPr>
          <p:cNvPr id="31" name="match-card"/>
          <p:cNvSpPr/>
          <p:nvPr/>
        </p:nvSpPr>
        <p:spPr>
          <a:xfrm>
            <a:off x="4224437" y="4300179"/>
            <a:ext cx="7190019" cy="824484"/>
          </a:xfrm>
          <a:prstGeom prst="roundRect">
            <a:avLst>
              <a:gd name="adj" fmla="val 8872"/>
            </a:avLst>
          </a:prstGeom>
          <a:solidFill>
            <a:srgbClr val="F4EDDF"/>
          </a:solidFill>
          <a:ln/>
        </p:spPr>
      </p:sp>
      <p:sp>
        <p:nvSpPr>
          <p:cNvPr id="32" name="match-hex"/>
          <p:cNvSpPr/>
          <p:nvPr/>
        </p:nvSpPr>
        <p:spPr>
          <a:xfrm>
            <a:off x="4297589" y="4546129"/>
            <a:ext cx="384048" cy="332586"/>
          </a:xfrm>
          <a:prstGeom prst="hexagon">
            <a:avLst/>
          </a:prstGeom>
          <a:solidFill>
            <a:srgbClr val="B8862B"/>
          </a:solidFill>
          <a:ln/>
        </p:spPr>
      </p:sp>
      <p:sp>
        <p:nvSpPr>
          <p:cNvPr id="33" name="match-hex-label"/>
          <p:cNvSpPr txBox="1"/>
          <p:nvPr/>
        </p:nvSpPr>
        <p:spPr>
          <a:xfrm>
            <a:off x="4297589" y="454612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300179"/>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Arctic or Antarctic circle and the pole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Three cells, three places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Three cells, three places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Picture the Earth from the equator to the pole: equator, tropic, circle, pole. That gives three gaps.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Hadley cell is the one that begins at the equator, where the hottest air rises.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Polar cell is named after the poles, so it is the one that ends at the pole.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Ferrel cell is the one left in the middle.</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Equator, tropic, circle, pole: three gaps, three cells, in the order Hadley, Ferrel, Polar.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Hadley cell gives both a rainforest belt and a desert belt.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is this storm called?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tropical storm forms in the north-west Pacific Ocean and heads towards Japan. What is it called in that part of the world?</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A cyclone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A typhoon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A hurricane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A tornado</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What is this storm called?</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is this storm called?</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All three names describe the same kind of storm; the name depends only on where it is.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Hurricane: Caribbean, Atlantic, eastern Pacific. Cyclone: Indian Ocean, South East Asia, north-east Australia. Typhoon: north-west Pacific.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Japan on a map: it is in the north-west Pacific.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the option you choose is a tropical storm at all; a tornado is a different hazard.</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Japan is in the north-west Pacific. Which of the three regional names belongs to that ocean?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same storm can be called by two different names in one week, using Typhoon Haiyan and its Philippine name as your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cell of the atmosphere lies between the equator and the tropics?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Ferrel cell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Hadley cell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equatorial cell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Polar cell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Three cells, three places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Hadley cell  →  B  Between the equator and the tropics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Ferrel cell  →  A  Between the tropics and the Arctic or Antarctic circle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Polar cell  →  C  Between the Arctic or Antarctic circle and the pole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Hadley cell runs from the equator to the tropics, the Ferrel cell from the tropics to the Arctic or Antarctic circle, and the Polar cell from the circle to the pole. The same three cells appear in both hemispheres.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is this storm called?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tropical storm forms in the north-west Pacific Ocean and heads towards Japan. What is it called in that part of the world?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typhoon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north-west Pacific, including Japan, the Philippines and southern China, uses the name typhoon. Hurricane belongs to the Atlantic and eastern Pacific and cyclone to the Indian Ocean and Australia.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cell of the atmosphere lies between the equator and the tropics?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Hadley cell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Hadley cell is the loop nearest the equator: air rises at the equator and sinks over the Tropics of Cancer and Capricorn.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1: The restless atmosphere</dc:title>
  <dc:subject>Geography · Year 10</dc:subject>
  <dc:creator>Dr Vitor Merissi de Carvalho</dc:creator>
  <cp:lastModifiedBy>Dr Vitor Merissi de Carvalho</cp:lastModifiedBy>
  <cp:revision>1</cp:revision>
  <dcterms:created xsi:type="dcterms:W3CDTF">2026-10-19T06:07:49Z</dcterms:created>
  <dcterms:modified xsi:type="dcterms:W3CDTF">2026-10-19T06:07:49Z</dcterms:modified>
</cp:coreProperties>
</file>