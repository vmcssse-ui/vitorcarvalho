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5161b04-4c6d-d2b1-c371-8c43e7293ff3}">
          <p14:sldIdLst>
            <p14:sldId id="256"/>
          </p14:sldIdLst>
        </p14:section>
        <p14:section name="Gate" id="{6cfc94b6-4337-2c46-32a7-16a145b13049}">
          <p14:sldIdLst>
            <p14:sldId id="257"/>
            <p14:sldId id="258"/>
          </p14:sldIdLst>
        </p14:section>
        <p14:section name="Pre-teach" id="{088e694d-be2e-6883-333d-0e2e59760e2c}">
          <p14:sldIdLst>
            <p14:sldId id="259"/>
            <p14:sldId id="260"/>
          </p14:sldIdLst>
        </p14:section>
        <p14:section name="Read-along" id="{141d4345-e277-9a74-577b-c9ca22628f9c}">
          <p14:sldIdLst>
            <p14:sldId id="261"/>
            <p14:sldId id="262"/>
          </p14:sldIdLst>
        </p14:section>
        <p14:section name="Teach" id="{62bb3c9d-be7f-9305-4f67-6bc389f58d7d}">
          <p14:sldIdLst>
            <p14:sldId id="263"/>
            <p14:sldId id="264"/>
            <p14:sldId id="265"/>
            <p14:sldId id="266"/>
          </p14:sldIdLst>
        </p14:section>
        <p14:section name="Routes" id="{7637219f-c428-a5ad-8890-bb883e756642}">
          <p14:sldIdLst>
            <p14:sldId id="267"/>
            <p14:sldId id="268"/>
            <p14:sldId id="269"/>
            <p14:sldId id="270"/>
          </p14:sldIdLst>
        </p14:section>
        <p14:section name="Close" id="{84b90ebc-12ed-5a05-c8f9-a74b0700b9c8}">
          <p14:sldIdLst>
            <p14:sldId id="271"/>
          </p14:sldIdLst>
        </p14:section>
        <p14:section name="Answers" id="{0d217bb1-1181-36f3-42ee-269c69ba1266}">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5: Finding places before GIS. The map skills a GIS is built on: latitude and longitude, grid references, and how Dr Snow found a pattern on a paper map long before computers.
This deck covers the department's lesson: 1 (Introduction to GIS: What is a GIS, what are its four components, and why does every piece of data need its latitude and longitude?).
Read the big question aloud: "How does a GIS turn data about places into maps that help people make decisions, and how do you make one yourself?"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line is at 0° latitude?  →  C   The Equator
2. Lines of latitude tell you how far ___ or south of the Equator a place is.  →  north
3. A map square has its bottom-left corner where the number 23 along the bottom meets the number 45 up the side. Give the four-figure grid reference of the square.  →  2345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The Equator. The Equator is the 0° line of latitude, running around the middle of the Earth. The Greenwich Meridian is the 0° line of longitude.
2. north. Latitude measures distance north or south of the Equator. East and west belong to longitude.
3. 2345. Along the corridor first (23), then up the stairs (45): 2345.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latitude: how far north or south of the Equator a place is. Example: "The latitude of a place tells you how far north or south it is."
• longitude: how far east or west of the Greenwich Meridian a place is. Example: "London has a longitude close to 0° because the Greenwich Meridian runs through it."
• Equator: the line of 0° latitude around the middle of the Earth. Example: "Countries on the Equator are hot all year round."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grid reference: a number code that names a square or a point on a map. Example: "Give the four-figure grid reference of the square with the church in it."
• pattern: something that repeats or clusters, so that you can spot it. Example: "The marks on the map made a pattern around one street."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Every place on Earth has an address made of two numbers.
2. The first number is its latitude.
3. Latitude tells you how far north or south of the Equator a place is.
4. The Equator is the 0° line of latitude.
5. The second number is its longitude.
6. Longitude tells you how far east or west of the Greenwich Meridian a place is.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The Greenwich Meridian is the 0° line of longitude, and it runs through London.
8. On a local map we use grid references instead.
9. Read the number along the bottom first, then the number up the side.
10. Long before computers, Dr Snow used a paper map to study a deadly disease.
11. He marked where each person had died and looked for a pattern.
12. His map showed that the deaths were clustered around one water pump.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Latitude and longitude: the Earth's address system. Say it in your own words, then check understanding with a quick question: ask a pupil from the pre-teach group first, since they met these words and ideas before the lesson. Pupils try to recall before you re-explain.
Imagine trying to tell a computer where your school is. You cannot say near the shops or just past the park: a computer needs numbers. The Earth has an address system made of two numbers for every place, and you met it in Year 7. The first is latitude. Lines of latitude run around the Earth from east to west, parallel to the Equator, and they measure how far north or south of the Equator a place is, in degrees. The Equator itself is 0° latitude.
The second number is longitude. Lines of longitude run the long way, from the North Pole to the South Pole. They measure how far east or west a place is from the Greenwich Meridian, the line of 0° longitude, which passes through Greenwich in London. Put the two numbers together and you have pinned down one single point on the planet.
Hold on to this idea, because the whole unit depends on it. A GIS is a computer system, and a computer can only put a piece of information on a map if it knows the latitude and longitude of the place it belongs to. In Chapter 2 you will see that every piece of GIS data carries these two numbers.
Tip: Latitude is flat: its lines lie flat around the Earth like the rungs of a ladder. Longitude is long: its lines run the long way from pole to pole.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Grid references: along the corridor, then up the stairs. Say it in your own words, then check understanding with a quick question: ask a pupil from the pre-teach group first, since they met these words and ideas before the lesson. Pupils try to recall before you re-explain.
On a local map, such as an Ordnance Survey map or a street map of a town, we do not usually use latitude and longitude. We use a grid of numbered lines instead. The lines that run up the map are numbered along the bottom; the lines that run across the map are numbered up the side. A four-figure grid reference names one whole square. A six-figure grid reference names a point inside a square, and you learned both in Year 7.
The rule is the one in the mnemonic your teacher asked you to remember: along the corridor, then up the stairs. Read the number along the bottom first, then the number up the side. A square whose bottom-left corner sits where the bottom number 23 meets the side number 45 has the grid reference 2345. Swap them round and you land in a completely different square.
You will need this skill again in Chapter 3, where the police use a GIS map of crimes and your deck asks for the four-figure grid reference of the place where a mugging is being investigated. A GIS can show the grid lines for you, but reading them is still your job.
Worked example — model it step by step, thinking aloud: On a map, a square's bottom-left corner is where the number 23 along the bottom meets the number 45 up the side. Give the four-figure grid reference of the square. (1 mark) (1) Along the corridor first: the number along the bottom is 23, so the grid reference starts 23. (2) Then up the stairs: the number up the side is 45, so the grid reference ends 45. (3) Write the two numbers together, with no space or comma: 2345. Answer: 2345.
Tip: Bottom first, side second. If you get them the wrong way round, you point to a different square.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Grid references: along the corridor, then up the stairs. Say it in your own words, then check understanding with a quick question: ask a pupil from the pre-teach group first, since they met these words and ideas before the lesson. Pupils try to recall before you re-explain.
On a local map, such as an Ordnance Survey map or a street map of a town, we do not usually use latitude and longitude. We use a grid of numbered lines instead. The lines that run up the map are numbered along the bottom; the lines that run across the map are numbered up the side. A four-figure grid reference names one whole square. A six-figure grid reference names a point inside a square, and you learned both in Year 7.
The rule is the one in the mnemonic your teacher asked you to remember: along the corridor, then up the stairs. Read the number along the bottom first, then the number up the side. A square whose bottom-left corner sits where the bottom number 23 meets the side number 45 has the grid reference 2345. Swap them round and you land in a completely different square.
You will need this skill again in Chapter 3, where the police use a GIS map of crimes and your deck asks for the four-figure grid reference of the place where a mugging is being investigated. A GIS can show the grid lines for you, but reading them is still your job.
Worked example — model it step by step, thinking aloud: On a map, a square's bottom-left corner is where the number 23 along the bottom meets the number 45 up the side. Give the four-figure grid reference of the square. (1 mark) (1) Along the corridor first: the number along the bottom is 23, so the grid reference starts 23. (2) Then up the stairs: the number up the side is 45, so the grid reference ends 45. (3) Write the two numbers together, with no space or comma: 2345. Answer: 2345.
Tip: Bottom first, side second. If you get them the wrong way round, you point to a different square.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Dr Snow's map: finding a pattern without a computer. Say it in your own words, then check understanding with a quick question: ask a pupil from the pre-teach group first, since they met these words and ideas before the lesson. Pupils try to recall before you re-explain.
Your deck opens the unit with a case study from long before computers existed. Dr Snow was a doctor in London at a time when cholera, a deadly disease, was killing people in one part of the city. Nobody knew for certain how it spread, and many people believed it was carried in bad air.
Dr Snow did something that geographers still do today. He collected the data himself: he went to the streets where people were dying and recorded the address of each death. Then he marked every death on a paper map of the area and looked for a pattern. This took days of walking and careful writing. There was no computer to do it for him.
The pattern was clear once it was on the map. The deaths were clustered around one water pump. The map showed that the disease was spreading through the water people drank, not through the air. Hold this story in your mind as you read Chapter 2: data about places, each piece tied to its location, put on a map so a pattern shows. That is exactly what a GIS does, only much faster.
Tip: For a case-study answer, cover three things: who Dr Snow was, what he did, and what his map showed.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Snow's method, step by step.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steps of Dr Snow's method in the order he did them, from first to last.
Support — work through the steps with the group: (1) Start where the information comes from: you cannot record anything until you are in the right place. (2) Collecting comes before plotting: you need the addresses before you can put them on a map. (3) Plotting comes before spotting: the pattern only appears once the marks are on the map. (4) The conclusion is always last. It is the answer, and you cannot reach it until you have seen the pattern.
Parallel worked example for Support (model it, do not give the task answer): Put the steps of a traffic survey in order: draw a bar chart, choose a spot by the road, count the vehicles for ten minutes. You cannot count anything until you are standing by the road, so choosing the spot comes first.; Counting the vehicles is the collecting step, so it comes second.; The bar chart shows the pattern, so it comes last.. Answer: choose a spot by the road, count the vehicles for ten minutes, draw a bar chart.
Core — reveal the hint only on request: Collect, then plot, then look, then decide. Where does the walking fit?
Stretch — no help; when finished: A GIS does three of these five steps for you in seconds. Say which three, and explain which two steps still need a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Snow's method, step by step.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steps of Dr Snow's method in the order he did them, from first to last.
Support — work through the steps with the group: (1) Start where the information comes from: you cannot record anything until you are in the right place. (2) Collecting comes before plotting: you need the addresses before you can put them on a map. (3) Plotting comes before spotting: the pattern only appears once the marks are on the map. (4) The conclusion is always last. It is the answer, and you cannot reach it until you have seen the pattern.
Parallel worked example for Support (model it, do not give the task answer): Put the steps of a traffic survey in order: draw a bar chart, choose a spot by the road, count the vehicles for ten minutes. You cannot count anything until you are standing by the road, so choosing the spot comes first.; Counting the vehicles is the collecting step, so it comes second.; The bar chart shows the pattern, so it comes last.. Answer: choose a spot by the road, count the vehicles for ten minutes, draw a bar chart.
Core — reveal the hint only on request: Collect, then plot, then look, then decide. Where does the walking fit?
Stretch — no help; when finished: A GIS does three of these five steps for you in seconds. Say which three, and explain which two steps still need a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What did the map show?.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What did Dr Snow's map show?
Support — work through the steps with the group: (1) Remember what Dr Snow put on his map: one mark for every death. (2) A pattern means the marks are not spread out evenly. They gather in one place. (3) Ask: what was in the middle of the gathering? Something people used every day. (4) Pick the option that names a cluster and the water pump.
Parallel worked example for Support (model it, do not give the task answer): A teacher marks on a plan of the school where every lost jumper was found. Nearly all the marks are in the sports hall. What does the plan show? The marks are not spread out evenly, so there is a pattern.; The marks gather in the sports hall.; So the plan shows that jumpers are mostly lost during PE, in the sports hall.. Answer: Lost jumpers are clustered in the sports hall, so that is where most of them are left..
Core — reveal the hint only on request: Clustered, not spread out. What were the deaths clustered around?
Stretch — no help; when finished: Explain why a list of the same addresses, written in a notebook, would not have shown Dr Snow what the map showed.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What did the map show?.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What did Dr Snow's map show?
Support — work through the steps with the group: (1) Remember what Dr Snow put on his map: one mark for every death. (2) A pattern means the marks are not spread out evenly. They gather in one place. (3) Ask: what was in the middle of the gathering? Something people used every day. (4) Pick the option that names a cluster and the water pump.
Parallel worked example for Support (model it, do not give the task answer): A teacher marks on a plan of the school where every lost jumper was found. Nearly all the marks are in the sports hall. What does the plan show? The marks are not spread out evenly, so there is a pattern.; The marks gather in the sports hall.; So the plan shows that jumpers are mostly lost during PE, in the sports hall.. Answer: Lost jumpers are clustered in the sports hall, so that is where most of them are left..
Core — reveal the hint only on request: Clustered, not spread out. What were the deaths clustered around?
Stretch — no help; when finished: Explain why a list of the same addresses, written in a notebook, would not have shown Dr Snow what the map showed.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On the police GIS map, the mugging is in the square whose bottom-left corner is where the number 61 along the bottom meets the number 32 up the side. Give the four-figure grid reference of the square.
Answer: 6132. Along the corridor first (61), then up the stairs (32): the square is 6132. The GIS draws the grid, but reading it is the same skill you learned in Year 7.
Source of this question: module 3 task ("Reading the crime map")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Snow's method, step by step. Reveal the answer; pupils mark their own work in a different colour, then read the "why" together. Same destination for every lane, so one answer serves the whole class.
Answer: Go to the streets where people are falling ill  (D); Record the address of every death  (A); Mark each death on a paper map  (E); Look for a pattern in the marks  (B); Draw a conclusion about the cause  (C)
Why: Dr Snow went to the streets, recorded each death, marked the deaths on a map, saw the pattern around one pump and then concluded that the water was spreading the disease.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What did the map show?. Reveal the answer; pupils mark their own work in a different colour, then read the "why" together. Same destination for every lane, so one answer serves the whole class.
Answer: C   The deaths were clustered around one water pump
Why: The deaths were clustered around one water pump, so the map pointed to the water from that pump as the way the disease was spreading.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6132
Why: Along the corridor first (61), then up the stairs (32): the square is 6132. The GIS draws the grid, but reading it is the same skill you learned in Year 7.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EDE8"/>
          </a:solidFill>
          <a:ln w="12700">
            <a:solidFill>
              <a:srgbClr val="E7EDE8"/>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8 · Geographic Information Systems (GIS)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EDE8"/>
          </a:solidFill>
          <a:ln w="12700">
            <a:solidFill>
              <a:srgbClr val="E7EDE8"/>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8 · Geographic Information Systems (GIS)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BE4DE"/>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1/5</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Geographic Information Systems (GIS) · AQA KS3 → 8035</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Finding places before GIS</a:t>
            </a:r>
            <a:endParaRPr lang="en-US" sz="4000" dirty="0"/>
          </a:p>
        </p:txBody>
      </p:sp>
      <p:sp>
        <p:nvSpPr>
          <p:cNvPr id="11" name="lessons-card"/>
          <p:cNvSpPr/>
          <p:nvPr/>
        </p:nvSpPr>
        <p:spPr>
          <a:xfrm>
            <a:off x="548640" y="4069588"/>
            <a:ext cx="5287975" cy="980440"/>
          </a:xfrm>
          <a:prstGeom prst="roundRect">
            <a:avLst>
              <a:gd name="adj" fmla="val 7461"/>
            </a:avLst>
          </a:prstGeom>
          <a:solidFill>
            <a:srgbClr val="EFF2F0"/>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Introduction to GIS</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FF2F0"/>
          </a:solidFill>
          <a:ln w="12700">
            <a:solidFill>
              <a:srgbClr val="B5C6B9"/>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does a GIS turn data about places into maps that help people make decisions, and how do you make one yourself?</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F7F5"/>
          </a:solidFill>
          <a:ln w="12700">
            <a:solidFill>
              <a:srgbClr val="BFCDC2"/>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line is at 0° latitude?</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Greenwich Meridian</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International Date Line</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Equator</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North Pole</a:t>
            </a:r>
            <a:endParaRPr lang="en-US" sz="2400" dirty="0"/>
          </a:p>
        </p:txBody>
      </p:sp>
      <p:sp>
        <p:nvSpPr>
          <p:cNvPr id="12" name="card"/>
          <p:cNvSpPr/>
          <p:nvPr/>
        </p:nvSpPr>
        <p:spPr>
          <a:xfrm>
            <a:off x="4338218" y="1389888"/>
            <a:ext cx="3515258" cy="4754880"/>
          </a:xfrm>
          <a:prstGeom prst="roundRect">
            <a:avLst>
              <a:gd name="adj" fmla="val 1561"/>
            </a:avLst>
          </a:prstGeom>
          <a:solidFill>
            <a:srgbClr val="F4F7F5"/>
          </a:solidFill>
          <a:ln w="12700">
            <a:solidFill>
              <a:srgbClr val="BFCDC2"/>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Lines of latitude tell you how far ___ or south of the Equator a place is.</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north  ·  east  ·  west</a:t>
            </a:r>
            <a:endParaRPr lang="en-US" sz="2400" dirty="0"/>
          </a:p>
        </p:txBody>
      </p:sp>
      <p:sp>
        <p:nvSpPr>
          <p:cNvPr id="17" name="card"/>
          <p:cNvSpPr/>
          <p:nvPr/>
        </p:nvSpPr>
        <p:spPr>
          <a:xfrm>
            <a:off x="8127797" y="1389888"/>
            <a:ext cx="3515258" cy="4754880"/>
          </a:xfrm>
          <a:prstGeom prst="roundRect">
            <a:avLst>
              <a:gd name="adj" fmla="val 1561"/>
            </a:avLst>
          </a:prstGeom>
          <a:solidFill>
            <a:srgbClr val="F4F7F5"/>
          </a:solidFill>
          <a:ln w="12700">
            <a:solidFill>
              <a:srgbClr val="BFCDC2"/>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A map square has its bottom-left corner where the number 23 along the bottom meets the number 45 up the side. Give the four-figure grid reference of the square.</a:t>
            </a:r>
            <a:endParaRPr lang="en-US" sz="2200" dirty="0"/>
          </a:p>
          <a:p>
            <a:pPr algn="l" indent="0" marL="0">
              <a:buNone/>
            </a:pPr>
            <a:r>
              <a:rPr lang="en-US" sz="2200" b="1" dirty="0">
                <a:solidFill>
                  <a:srgbClr val="3F6B4A"/>
                </a:solidFill>
                <a:latin typeface="Calibri" pitchFamily="34" charset="0"/>
                <a:ea typeface="Calibri" pitchFamily="34" charset="-122"/>
                <a:cs typeface="Calibri" pitchFamily="34" charset="-120"/>
              </a:rPr>
              <a:t>Answer:  </a:t>
            </a:r>
            <a:pPr algn="l" indent="0" marL="0">
              <a:buNone/>
            </a:pPr>
            <a:r>
              <a:rPr lang="en-US" sz="2200" dirty="0">
                <a:solidFill>
                  <a:srgbClr val="1E2229"/>
                </a:solidFill>
                <a:latin typeface="Calibri" pitchFamily="34" charset="0"/>
                <a:ea typeface="Calibri" pitchFamily="34" charset="-122"/>
                <a:cs typeface="Calibri" pitchFamily="34" charset="-120"/>
              </a:rPr>
              <a:t>________</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F7F5"/>
          </a:solidFill>
          <a:ln w="12700">
            <a:solidFill>
              <a:srgbClr val="BFCDC2"/>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EE3CD"/>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The Equator</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line is at 0° latitude?</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The Equator is the 0° line of latitude, running around the middle of the Earth. The Greenwich Meridian is the 0° line of longitude.</a:t>
            </a:r>
            <a:endParaRPr lang="en-US" sz="2000" dirty="0"/>
          </a:p>
        </p:txBody>
      </p:sp>
      <p:sp>
        <p:nvSpPr>
          <p:cNvPr id="14" name="card"/>
          <p:cNvSpPr/>
          <p:nvPr/>
        </p:nvSpPr>
        <p:spPr>
          <a:xfrm>
            <a:off x="4338218" y="1389888"/>
            <a:ext cx="3515258" cy="4754880"/>
          </a:xfrm>
          <a:prstGeom prst="roundRect">
            <a:avLst>
              <a:gd name="adj" fmla="val 1561"/>
            </a:avLst>
          </a:prstGeom>
          <a:solidFill>
            <a:srgbClr val="F4F7F5"/>
          </a:solidFill>
          <a:ln w="12700">
            <a:solidFill>
              <a:srgbClr val="BFCDC2"/>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EE3CD"/>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north</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Lines of latitude tell you how far ___ or south of the Equator a place is.</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Latitude measures distance north or south of the Equator. East and west belong to longitude.</a:t>
            </a:r>
            <a:endParaRPr lang="en-US" sz="2200" dirty="0"/>
          </a:p>
        </p:txBody>
      </p:sp>
      <p:sp>
        <p:nvSpPr>
          <p:cNvPr id="21" name="card"/>
          <p:cNvSpPr/>
          <p:nvPr/>
        </p:nvSpPr>
        <p:spPr>
          <a:xfrm>
            <a:off x="8127797" y="1389888"/>
            <a:ext cx="3515258" cy="4754880"/>
          </a:xfrm>
          <a:prstGeom prst="roundRect">
            <a:avLst>
              <a:gd name="adj" fmla="val 1561"/>
            </a:avLst>
          </a:prstGeom>
          <a:solidFill>
            <a:srgbClr val="F4F7F5"/>
          </a:solidFill>
          <a:ln w="12700">
            <a:solidFill>
              <a:srgbClr val="BFCDC2"/>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EE3CD"/>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2345</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A map square has its bottom-left corner where the number 23 along the bottom meets the number 45 up the side. Give the four-figure grid reference of the square.</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Along the corridor first (23), then up the stairs (45): 2345.</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3F5F3"/>
          </a:solidFill>
          <a:ln w="12700">
            <a:solidFill>
              <a:srgbClr val="B5C6B9"/>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latitude</a:t>
            </a:r>
            <a:endParaRPr lang="en-US" sz="2600" dirty="0"/>
          </a:p>
        </p:txBody>
      </p:sp>
      <p:sp>
        <p:nvSpPr>
          <p:cNvPr id="11" name="word-rule"/>
          <p:cNvSpPr/>
          <p:nvPr/>
        </p:nvSpPr>
        <p:spPr>
          <a:xfrm>
            <a:off x="731520" y="2129028"/>
            <a:ext cx="3149498" cy="0"/>
          </a:xfrm>
          <a:prstGeom prst="line">
            <a:avLst/>
          </a:prstGeom>
          <a:ln w="12700">
            <a:solidFill>
              <a:srgbClr val="B5C6B9"/>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how far north or south of the Equator a place is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latitude of a place tells you how far north or south it is.</a:t>
            </a:r>
            <a:endParaRPr lang="en-US" sz="2200" dirty="0"/>
          </a:p>
        </p:txBody>
      </p:sp>
      <p:sp>
        <p:nvSpPr>
          <p:cNvPr id="13" name="word-card"/>
          <p:cNvSpPr/>
          <p:nvPr/>
        </p:nvSpPr>
        <p:spPr>
          <a:xfrm>
            <a:off x="4338218" y="1389888"/>
            <a:ext cx="3515258" cy="4754880"/>
          </a:xfrm>
          <a:prstGeom prst="roundRect">
            <a:avLst>
              <a:gd name="adj" fmla="val 1561"/>
            </a:avLst>
          </a:prstGeom>
          <a:solidFill>
            <a:srgbClr val="F3F5F3"/>
          </a:solidFill>
          <a:ln w="12700">
            <a:solidFill>
              <a:srgbClr val="B5C6B9"/>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longitude</a:t>
            </a:r>
            <a:endParaRPr lang="en-US" sz="2600" dirty="0"/>
          </a:p>
        </p:txBody>
      </p:sp>
      <p:sp>
        <p:nvSpPr>
          <p:cNvPr id="17" name="word-rule"/>
          <p:cNvSpPr/>
          <p:nvPr/>
        </p:nvSpPr>
        <p:spPr>
          <a:xfrm>
            <a:off x="4521098" y="2129028"/>
            <a:ext cx="3149498" cy="0"/>
          </a:xfrm>
          <a:prstGeom prst="line">
            <a:avLst/>
          </a:prstGeom>
          <a:ln w="12700">
            <a:solidFill>
              <a:srgbClr val="B5C6B9"/>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how far east or west of the Greenwich Meridian a place is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London has a longitude close to 0° because the Greenwich Meridian runs through it.</a:t>
            </a:r>
            <a:endParaRPr lang="en-US" sz="2200" dirty="0"/>
          </a:p>
        </p:txBody>
      </p:sp>
      <p:sp>
        <p:nvSpPr>
          <p:cNvPr id="19" name="word-card"/>
          <p:cNvSpPr/>
          <p:nvPr/>
        </p:nvSpPr>
        <p:spPr>
          <a:xfrm>
            <a:off x="8127797" y="1389888"/>
            <a:ext cx="3515258" cy="4754880"/>
          </a:xfrm>
          <a:prstGeom prst="roundRect">
            <a:avLst>
              <a:gd name="adj" fmla="val 1561"/>
            </a:avLst>
          </a:prstGeom>
          <a:solidFill>
            <a:srgbClr val="F3F5F3"/>
          </a:solidFill>
          <a:ln w="12700">
            <a:solidFill>
              <a:srgbClr val="B5C6B9"/>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Equator</a:t>
            </a:r>
            <a:endParaRPr lang="en-US" sz="2600" dirty="0"/>
          </a:p>
        </p:txBody>
      </p:sp>
      <p:sp>
        <p:nvSpPr>
          <p:cNvPr id="23" name="word-rule"/>
          <p:cNvSpPr/>
          <p:nvPr/>
        </p:nvSpPr>
        <p:spPr>
          <a:xfrm>
            <a:off x="8310677" y="2129028"/>
            <a:ext cx="3149498" cy="0"/>
          </a:xfrm>
          <a:prstGeom prst="line">
            <a:avLst/>
          </a:prstGeom>
          <a:ln w="12700">
            <a:solidFill>
              <a:srgbClr val="B5C6B9"/>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line of 0° latitude around the middle of the Earth</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Countries on the Equator are hot all year round.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F3F5F3"/>
          </a:solidFill>
          <a:ln w="12700">
            <a:solidFill>
              <a:srgbClr val="B5C6B9"/>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grid reference</a:t>
            </a:r>
            <a:endParaRPr lang="en-US" sz="2600" dirty="0"/>
          </a:p>
        </p:txBody>
      </p:sp>
      <p:sp>
        <p:nvSpPr>
          <p:cNvPr id="11" name="word-rule"/>
          <p:cNvSpPr/>
          <p:nvPr/>
        </p:nvSpPr>
        <p:spPr>
          <a:xfrm>
            <a:off x="731520" y="2129028"/>
            <a:ext cx="5044288" cy="0"/>
          </a:xfrm>
          <a:prstGeom prst="line">
            <a:avLst/>
          </a:prstGeom>
          <a:ln w="12700">
            <a:solidFill>
              <a:srgbClr val="B5C6B9"/>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number code that names a square or a point on a map</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Give the four-figure grid reference of the square with the church in it.</a:t>
            </a:r>
            <a:endParaRPr lang="en-US" sz="2200" dirty="0"/>
          </a:p>
        </p:txBody>
      </p:sp>
      <p:sp>
        <p:nvSpPr>
          <p:cNvPr id="13" name="word-card"/>
          <p:cNvSpPr/>
          <p:nvPr/>
        </p:nvSpPr>
        <p:spPr>
          <a:xfrm>
            <a:off x="6233008" y="1389888"/>
            <a:ext cx="5410048" cy="4754880"/>
          </a:xfrm>
          <a:prstGeom prst="roundRect">
            <a:avLst>
              <a:gd name="adj" fmla="val 1154"/>
            </a:avLst>
          </a:prstGeom>
          <a:solidFill>
            <a:srgbClr val="F3F5F3"/>
          </a:solidFill>
          <a:ln w="12700">
            <a:solidFill>
              <a:srgbClr val="B5C6B9"/>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pattern</a:t>
            </a:r>
            <a:endParaRPr lang="en-US" sz="2600" dirty="0"/>
          </a:p>
        </p:txBody>
      </p:sp>
      <p:sp>
        <p:nvSpPr>
          <p:cNvPr id="17" name="word-rule"/>
          <p:cNvSpPr/>
          <p:nvPr/>
        </p:nvSpPr>
        <p:spPr>
          <a:xfrm>
            <a:off x="6415888" y="2129028"/>
            <a:ext cx="5044288" cy="0"/>
          </a:xfrm>
          <a:prstGeom prst="line">
            <a:avLst/>
          </a:prstGeom>
          <a:ln w="12700">
            <a:solidFill>
              <a:srgbClr val="B5C6B9"/>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something that repeats or clusters, so that you can spot it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marks on the map made a pattern around one street.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7F5"/>
          </a:solidFill>
          <a:ln w="12700">
            <a:solidFill>
              <a:srgbClr val="C8D5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Every place on Earth has an address made of two numbers.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first number is its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latitude</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Latitude</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tells you how far north or south of the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Equator</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a place is.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Equator</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is the 0° line of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latitude</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second number is its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longitude</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Longitude</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tells you how far east or west of the Greenwich Meridian a place is.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7F5"/>
          </a:solidFill>
          <a:ln w="12700">
            <a:solidFill>
              <a:srgbClr val="C8D5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Greenwich Meridian is the 0° line of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longitude</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and it runs through London.</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On a local map we use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grid references</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instead.</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Read the number along the bottom first, then the number up the side.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Long before computers, Dr Snow used a paper map to study a deadly disease.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He marked where each person had died and looked for a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pattern</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His map showed that the deaths were clustered around one water pump.</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Latitude and longitude: the Earth's address system</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Latitude is flat: its lines lie flat around the Earth like the rungs of a ladder. Longitude is long: its lines run the long way from pole to pole.</a:t>
            </a:r>
            <a:endParaRPr lang="en-US" sz="1800" dirty="0"/>
          </a:p>
        </p:txBody>
      </p:sp>
      <p:sp>
        <p:nvSpPr>
          <p:cNvPr id="11" name="point-card"/>
          <p:cNvSpPr/>
          <p:nvPr/>
        </p:nvSpPr>
        <p:spPr>
          <a:xfrm>
            <a:off x="548640" y="1389888"/>
            <a:ext cx="3515258" cy="3686048"/>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Imagine trying to tell a computer where your school is.</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second number is longitude. Lines of longitude run the long way, from the North Pole to the South Pole.</a:t>
            </a:r>
            <a:endParaRPr lang="en-US" sz="2400" dirty="0"/>
          </a:p>
        </p:txBody>
      </p:sp>
      <p:sp>
        <p:nvSpPr>
          <p:cNvPr id="19" name="point-card"/>
          <p:cNvSpPr/>
          <p:nvPr/>
        </p:nvSpPr>
        <p:spPr>
          <a:xfrm>
            <a:off x="8127797" y="1389888"/>
            <a:ext cx="3515258" cy="3686048"/>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Hold on to this idea, because the whole unit depends on it.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Grid references: along the corridor, then up the stairs</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Bottom first, side second. If you get them the wrong way round, you point to a different square.</a:t>
            </a:r>
            <a:endParaRPr lang="en-US" sz="1800" dirty="0"/>
          </a:p>
        </p:txBody>
      </p:sp>
      <p:sp>
        <p:nvSpPr>
          <p:cNvPr id="11" name="point-card"/>
          <p:cNvSpPr/>
          <p:nvPr/>
        </p:nvSpPr>
        <p:spPr>
          <a:xfrm>
            <a:off x="548640" y="1389888"/>
            <a:ext cx="3515258" cy="3964940"/>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On a local map, such as an Ordnance Survey map or a street map of a town, we do not usually use latitude and longitude.</a:t>
            </a:r>
            <a:endParaRPr lang="en-US" sz="2000" dirty="0"/>
          </a:p>
        </p:txBody>
      </p:sp>
      <p:sp>
        <p:nvSpPr>
          <p:cNvPr id="15" name="point-card"/>
          <p:cNvSpPr/>
          <p:nvPr/>
        </p:nvSpPr>
        <p:spPr>
          <a:xfrm>
            <a:off x="4338218" y="1389888"/>
            <a:ext cx="3515258" cy="3964940"/>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rule is the one in the mnemonic your teacher asked you to remember: along the corridor, then up the stairs.</a:t>
            </a:r>
            <a:endParaRPr lang="en-US" sz="2000" dirty="0"/>
          </a:p>
        </p:txBody>
      </p:sp>
      <p:sp>
        <p:nvSpPr>
          <p:cNvPr id="19" name="point-card"/>
          <p:cNvSpPr/>
          <p:nvPr/>
        </p:nvSpPr>
        <p:spPr>
          <a:xfrm>
            <a:off x="8127797" y="1389888"/>
            <a:ext cx="3515258" cy="3964940"/>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You will need this skill again in Chapter 3, where the police use a GIS map of crimes and your deck asks for the four-figure grid reference of the place where a mugging is being investigated.</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Worked example: Grid references: along the corridor, then up the stairs</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1332484"/>
          </a:xfrm>
          <a:prstGeom prst="roundRect">
            <a:avLst>
              <a:gd name="adj" fmla="val 6862"/>
            </a:avLst>
          </a:prstGeom>
          <a:solidFill>
            <a:srgbClr val="EFF2F0"/>
          </a:solidFill>
          <a:ln/>
        </p:spPr>
      </p:sp>
      <p:sp>
        <p:nvSpPr>
          <p:cNvPr id="8" name="worked-q"/>
          <p:cNvSpPr txBox="1"/>
          <p:nvPr/>
        </p:nvSpPr>
        <p:spPr>
          <a:xfrm>
            <a:off x="731520" y="1481328"/>
            <a:ext cx="10728655"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On a map, a square's bottom-left corner is where the number 23 along the bottom meets the number 45 up the side. Give the four-figure grid reference of the square. (1 mark)</a:t>
            </a:r>
            <a:endParaRPr lang="en-US" sz="2200" dirty="0"/>
          </a:p>
        </p:txBody>
      </p:sp>
      <p:sp>
        <p:nvSpPr>
          <p:cNvPr id="9" name="step-box"/>
          <p:cNvSpPr/>
          <p:nvPr/>
        </p:nvSpPr>
        <p:spPr>
          <a:xfrm>
            <a:off x="548640" y="2996692"/>
            <a:ext cx="3423818" cy="1974088"/>
          </a:xfrm>
          <a:prstGeom prst="roundRect">
            <a:avLst>
              <a:gd name="adj" fmla="val 3706"/>
            </a:avLst>
          </a:prstGeom>
          <a:solidFill>
            <a:srgbClr val="FFFFFF"/>
          </a:solidFill>
          <a:ln w="15875">
            <a:solidFill>
              <a:srgbClr val="95AE9B"/>
            </a:solidFill>
            <a:prstDash val="solid"/>
          </a:ln>
        </p:spPr>
      </p:sp>
      <p:sp>
        <p:nvSpPr>
          <p:cNvPr id="10" name="step-hex"/>
          <p:cNvSpPr/>
          <p:nvPr/>
        </p:nvSpPr>
        <p:spPr>
          <a:xfrm>
            <a:off x="685800" y="3106420"/>
            <a:ext cx="530352" cy="459285"/>
          </a:xfrm>
          <a:prstGeom prst="hexagon">
            <a:avLst/>
          </a:prstGeom>
          <a:solidFill>
            <a:srgbClr val="3F6B4A"/>
          </a:solidFill>
          <a:ln/>
        </p:spPr>
      </p:sp>
      <p:sp>
        <p:nvSpPr>
          <p:cNvPr id="11" name="step-hex-label"/>
          <p:cNvSpPr txBox="1"/>
          <p:nvPr/>
        </p:nvSpPr>
        <p:spPr>
          <a:xfrm>
            <a:off x="685800"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591052"/>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Along the corridor first: the number along the bottom is 23, so the grid reference starts 23.</a:t>
            </a:r>
            <a:endParaRPr lang="en-US" sz="1800" dirty="0"/>
          </a:p>
        </p:txBody>
      </p:sp>
      <p:sp>
        <p:nvSpPr>
          <p:cNvPr id="13" name="arrow"/>
          <p:cNvSpPr/>
          <p:nvPr/>
        </p:nvSpPr>
        <p:spPr>
          <a:xfrm>
            <a:off x="4045610" y="3846576"/>
            <a:ext cx="274320" cy="274320"/>
          </a:xfrm>
          <a:prstGeom prst="rightArrow">
            <a:avLst/>
          </a:prstGeom>
          <a:solidFill>
            <a:srgbClr val="B8862B"/>
          </a:solidFill>
          <a:ln/>
        </p:spPr>
      </p:sp>
      <p:sp>
        <p:nvSpPr>
          <p:cNvPr id="14" name="step-box"/>
          <p:cNvSpPr/>
          <p:nvPr/>
        </p:nvSpPr>
        <p:spPr>
          <a:xfrm>
            <a:off x="4383938" y="2996692"/>
            <a:ext cx="3423818" cy="1974088"/>
          </a:xfrm>
          <a:prstGeom prst="roundRect">
            <a:avLst>
              <a:gd name="adj" fmla="val 3706"/>
            </a:avLst>
          </a:prstGeom>
          <a:solidFill>
            <a:srgbClr val="FFFFFF"/>
          </a:solidFill>
          <a:ln w="15875">
            <a:solidFill>
              <a:srgbClr val="95AE9B"/>
            </a:solidFill>
            <a:prstDash val="solid"/>
          </a:ln>
        </p:spPr>
      </p:sp>
      <p:sp>
        <p:nvSpPr>
          <p:cNvPr id="15" name="step-hex"/>
          <p:cNvSpPr/>
          <p:nvPr/>
        </p:nvSpPr>
        <p:spPr>
          <a:xfrm>
            <a:off x="4521098" y="3106420"/>
            <a:ext cx="530352" cy="459285"/>
          </a:xfrm>
          <a:prstGeom prst="hexagon">
            <a:avLst/>
          </a:prstGeom>
          <a:solidFill>
            <a:srgbClr val="3F6B4A"/>
          </a:solidFill>
          <a:ln/>
        </p:spPr>
      </p:sp>
      <p:sp>
        <p:nvSpPr>
          <p:cNvPr id="16" name="step-hex-label"/>
          <p:cNvSpPr txBox="1"/>
          <p:nvPr/>
        </p:nvSpPr>
        <p:spPr>
          <a:xfrm>
            <a:off x="4521098"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4521098" y="3591052"/>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Then up the stairs: the number up the side is 45, so the grid reference ends 45.</a:t>
            </a:r>
            <a:endParaRPr lang="en-US" sz="1800" dirty="0"/>
          </a:p>
        </p:txBody>
      </p:sp>
      <p:sp>
        <p:nvSpPr>
          <p:cNvPr id="18" name="arrow"/>
          <p:cNvSpPr/>
          <p:nvPr/>
        </p:nvSpPr>
        <p:spPr>
          <a:xfrm>
            <a:off x="7880909" y="3846576"/>
            <a:ext cx="274320" cy="274320"/>
          </a:xfrm>
          <a:prstGeom prst="rightArrow">
            <a:avLst/>
          </a:prstGeom>
          <a:solidFill>
            <a:srgbClr val="B8862B"/>
          </a:solidFill>
          <a:ln/>
        </p:spPr>
      </p:sp>
      <p:sp>
        <p:nvSpPr>
          <p:cNvPr id="19" name="step-box"/>
          <p:cNvSpPr/>
          <p:nvPr/>
        </p:nvSpPr>
        <p:spPr>
          <a:xfrm>
            <a:off x="8219237" y="2996692"/>
            <a:ext cx="3423818" cy="1974088"/>
          </a:xfrm>
          <a:prstGeom prst="roundRect">
            <a:avLst>
              <a:gd name="adj" fmla="val 3706"/>
            </a:avLst>
          </a:prstGeom>
          <a:solidFill>
            <a:srgbClr val="FFFFFF"/>
          </a:solidFill>
          <a:ln w="15875">
            <a:solidFill>
              <a:srgbClr val="95AE9B"/>
            </a:solidFill>
            <a:prstDash val="solid"/>
          </a:ln>
        </p:spPr>
      </p:sp>
      <p:sp>
        <p:nvSpPr>
          <p:cNvPr id="20" name="step-hex"/>
          <p:cNvSpPr/>
          <p:nvPr/>
        </p:nvSpPr>
        <p:spPr>
          <a:xfrm>
            <a:off x="8356397" y="3106420"/>
            <a:ext cx="530352" cy="459285"/>
          </a:xfrm>
          <a:prstGeom prst="hexagon">
            <a:avLst/>
          </a:prstGeom>
          <a:solidFill>
            <a:srgbClr val="3F6B4A"/>
          </a:solidFill>
          <a:ln/>
        </p:spPr>
      </p:sp>
      <p:sp>
        <p:nvSpPr>
          <p:cNvPr id="21" name="step-hex-label"/>
          <p:cNvSpPr txBox="1"/>
          <p:nvPr/>
        </p:nvSpPr>
        <p:spPr>
          <a:xfrm>
            <a:off x="8356397"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8356397" y="3591052"/>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Write the two numbers together, with no space or comma: 2345.</a:t>
            </a:r>
            <a:endParaRPr lang="en-US" sz="1800" dirty="0"/>
          </a:p>
        </p:txBody>
      </p:sp>
      <p:sp>
        <p:nvSpPr>
          <p:cNvPr id="23" name="worked-answer"/>
          <p:cNvSpPr/>
          <p:nvPr/>
        </p:nvSpPr>
        <p:spPr>
          <a:xfrm>
            <a:off x="1463040" y="5592572"/>
            <a:ext cx="9265615" cy="552196"/>
          </a:xfrm>
          <a:prstGeom prst="roundRect">
            <a:avLst>
              <a:gd name="adj" fmla="val 33119"/>
            </a:avLst>
          </a:prstGeom>
          <a:solidFill>
            <a:srgbClr val="EEE3CD"/>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2345</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Dr Snow's map: finding a pattern without a computer</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For a case-study answer, cover three things: who Dr Snow was, what he did, and what his map showed.</a:t>
            </a:r>
            <a:endParaRPr lang="en-US" sz="1800" dirty="0"/>
          </a:p>
        </p:txBody>
      </p:sp>
      <p:sp>
        <p:nvSpPr>
          <p:cNvPr id="11" name="point-card"/>
          <p:cNvSpPr/>
          <p:nvPr/>
        </p:nvSpPr>
        <p:spPr>
          <a:xfrm>
            <a:off x="548640" y="1389888"/>
            <a:ext cx="3515258" cy="3686048"/>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Your deck opens the unit with a case study from long before computers existed.</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Dr Snow did something that geographers still do today. He collected the data himself: he went to the streets where people were dying and recorded the address of each death.</a:t>
            </a:r>
            <a:endParaRPr lang="en-US" sz="2000" dirty="0"/>
          </a:p>
        </p:txBody>
      </p:sp>
      <p:sp>
        <p:nvSpPr>
          <p:cNvPr id="19" name="point-card"/>
          <p:cNvSpPr/>
          <p:nvPr/>
        </p:nvSpPr>
        <p:spPr>
          <a:xfrm>
            <a:off x="8127797" y="1389888"/>
            <a:ext cx="3515258" cy="3686048"/>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pattern was clear once it was on the map.</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Snow's method, step by step</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steps of Dr Snow's method in the order he did them, from first to last.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Record the address of every death</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Look for a pattern in the marks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Draw a conclusion about the cause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Go to the streets where people are falling ill</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Mark each death on a paper map</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Same task, three ways in: Snow's method, step by step</a:t>
            </a:r>
            <a:endParaRPr lang="en-US" sz="28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Snow's method, step by step</a:t>
            </a:r>
            <a:endParaRPr lang="en-US" sz="2000" dirty="0"/>
          </a:p>
        </p:txBody>
      </p:sp>
      <p:sp>
        <p:nvSpPr>
          <p:cNvPr id="12" name="col-Support"/>
          <p:cNvSpPr/>
          <p:nvPr/>
        </p:nvSpPr>
        <p:spPr>
          <a:xfrm>
            <a:off x="548640" y="2395728"/>
            <a:ext cx="5602443" cy="3749040"/>
          </a:xfrm>
          <a:prstGeom prst="roundRect">
            <a:avLst>
              <a:gd name="adj" fmla="val 1463"/>
            </a:avLst>
          </a:prstGeom>
          <a:solidFill>
            <a:srgbClr val="EFF2F0"/>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where the information comes from: you cannot record anything until you are in the right place.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Collecting comes before plotting: you need the addresses before you can put them on a map.</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Plotting comes before spotting: the pattern only appears once the marks are on the map.</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conclusion is always last. It is the answer, and you cannot reach it until you have seen the pattern.</a:t>
            </a:r>
            <a:endParaRPr lang="en-US" sz="1800" dirty="0"/>
          </a:p>
        </p:txBody>
      </p:sp>
      <p:sp>
        <p:nvSpPr>
          <p:cNvPr id="17" name="col-Core"/>
          <p:cNvSpPr/>
          <p:nvPr/>
        </p:nvSpPr>
        <p:spPr>
          <a:xfrm>
            <a:off x="6425403" y="2395728"/>
            <a:ext cx="2471666" cy="3749040"/>
          </a:xfrm>
          <a:prstGeom prst="roundRect">
            <a:avLst>
              <a:gd name="adj" fmla="val 2220"/>
            </a:avLst>
          </a:prstGeom>
          <a:solidFill>
            <a:srgbClr val="D8E1DA"/>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Collect, then plot, then look, then decide. Where does the walking fit?</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3F6B4A"/>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A GIS does three of these five steps for you in seconds. Say which three, and explain which two steps still need a person.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What did the map show?</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What did Dr Snow's map show?</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deaths were spread evenly across the whole city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deaths were all in the newest houses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deaths were clustered around one water pump</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deaths happened only on rainy days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Same task, three ways in: What did the map show?</a:t>
            </a:r>
            <a:endParaRPr lang="en-US" sz="28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What did the map show?</a:t>
            </a:r>
            <a:endParaRPr lang="en-US" sz="2000" dirty="0"/>
          </a:p>
        </p:txBody>
      </p:sp>
      <p:sp>
        <p:nvSpPr>
          <p:cNvPr id="12" name="col-Support"/>
          <p:cNvSpPr/>
          <p:nvPr/>
        </p:nvSpPr>
        <p:spPr>
          <a:xfrm>
            <a:off x="548640" y="2395728"/>
            <a:ext cx="4667802" cy="3749040"/>
          </a:xfrm>
          <a:prstGeom prst="roundRect">
            <a:avLst>
              <a:gd name="adj" fmla="val 1463"/>
            </a:avLst>
          </a:prstGeom>
          <a:solidFill>
            <a:srgbClr val="EFF2F0"/>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Remember what Dr Snow put on his map: one mark for every death.</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pattern means the marks are not spread out evenly. They gather in one place.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what was in the middle of the gathering? Something people used every day.</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Pick the option that names a cluster and the water pump.</a:t>
            </a:r>
            <a:endParaRPr lang="en-US" sz="1800" dirty="0"/>
          </a:p>
        </p:txBody>
      </p:sp>
      <p:sp>
        <p:nvSpPr>
          <p:cNvPr id="17" name="col-Core"/>
          <p:cNvSpPr/>
          <p:nvPr/>
        </p:nvSpPr>
        <p:spPr>
          <a:xfrm>
            <a:off x="5490762" y="2395728"/>
            <a:ext cx="2938987" cy="3749040"/>
          </a:xfrm>
          <a:prstGeom prst="roundRect">
            <a:avLst>
              <a:gd name="adj" fmla="val 1867"/>
            </a:avLst>
          </a:prstGeom>
          <a:solidFill>
            <a:srgbClr val="D8E1DA"/>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Clustered, not spread out. What were the deaths clustered around?</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3F6B4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a list of the same addresses, written in a notebook, would not have shown Dr Snow what the map showed.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161442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On the police GIS map, the mugging is in the square whose bottom-left corner is where the number 61 along the bottom meets the number 32 up the side. Give the four-figure grid reference of the square.</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4F7F5"/>
          </a:solidFill>
          <a:ln w="12700">
            <a:solidFill>
              <a:srgbClr val="A2B7A7"/>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Snow's method, step by step</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Go to the streets where people are falling ill  (D)</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Record the address of every death  (A)</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Mark each death on a paper map  (E)</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Look for a pattern in the marks  (B)</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Draw a conclusion about the cause  (C)</a:t>
            </a:r>
            <a:endParaRPr lang="en-US" sz="24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Dr Snow went to the streets, recorded each death, marked the deaths on a map, saw the pattern around one pump and then concluded that the water was spreading the disease.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What did the map show?</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What did Dr Snow's map show?</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The deaths were clustered around one water pump</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deaths were clustered around one water pump, so the map pointed to the water from that pump as the way the disease was spreading.</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On the police GIS map, the mugging is in the square whose bottom-left corner is where the number 61 along the bottom meets the number 32 up the side. Give the four-figure grid reference of the square.</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6132</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Along the corridor first (61), then up the stairs (32): the square is 6132. The GIS draws the grid, but reading it is the same skill you learned in Year 7.</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FF2F0"/>
      </a:lt2>
      <a:accent1>
        <a:srgbClr val="3F6B4A"/>
      </a:accent1>
      <a:accent2>
        <a:srgbClr val="B8862B"/>
      </a:accent2>
      <a:accent3>
        <a:srgbClr val="8CA692"/>
      </a:accent3>
      <a:accent4>
        <a:srgbClr val="815E1E"/>
      </a:accent4>
      <a:accent5>
        <a:srgbClr val="4A505C"/>
      </a:accent5>
      <a:accent6>
        <a:srgbClr val="DDC498"/>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Geographic Information Systems (GIS) · Chapter 1: Finding places before GIS</dc:title>
  <dc:subject>Geography · Year 8</dc:subject>
  <dc:creator>Dr Vitor Merissi de Carvalho</dc:creator>
  <cp:lastModifiedBy>Dr Vitor Merissi de Carvalho</cp:lastModifiedBy>
  <cp:revision>1</cp:revision>
  <dcterms:created xsi:type="dcterms:W3CDTF">2026-10-19T16:22:49Z</dcterms:created>
  <dcterms:modified xsi:type="dcterms:W3CDTF">2026-10-19T16:22:49Z</dcterms:modified>
</cp:coreProperties>
</file>