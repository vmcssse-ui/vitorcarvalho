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e1a1ea9-863a-b567-5f35-948be898baa9}">
          <p14:sldIdLst>
            <p14:sldId id="256"/>
          </p14:sldIdLst>
        </p14:section>
        <p14:section name="Gate" id="{738c516d-05ae-20e8-17fe-f36ed049b547}">
          <p14:sldIdLst>
            <p14:sldId id="257"/>
            <p14:sldId id="258"/>
          </p14:sldIdLst>
        </p14:section>
        <p14:section name="Pre-teach" id="{b550963c-5f3d-b3f8-45ca-612bdcdfb7f6}">
          <p14:sldIdLst>
            <p14:sldId id="259"/>
          </p14:sldIdLst>
        </p14:section>
        <p14:section name="Read-along" id="{067118bb-9ed2-2613-06a4-ff3b5b4c0b9d}">
          <p14:sldIdLst>
            <p14:sldId id="260"/>
            <p14:sldId id="261"/>
          </p14:sldIdLst>
        </p14:section>
        <p14:section name="Teach" id="{50c4b989-d684-a6f6-e444-734c1e682020}">
          <p14:sldIdLst>
            <p14:sldId id="262"/>
            <p14:sldId id="263"/>
            <p14:sldId id="264"/>
            <p14:sldId id="265"/>
          </p14:sldIdLst>
        </p14:section>
        <p14:section name="Routes" id="{0dce7b13-e5d1-4e66-d202-f282438d22be}">
          <p14:sldIdLst>
            <p14:sldId id="266"/>
            <p14:sldId id="267"/>
            <p14:sldId id="268"/>
            <p14:sldId id="269"/>
          </p14:sldIdLst>
        </p14:section>
        <p14:section name="Close" id="{fc56d174-251e-e3a1-d042-0ae917a5e5f3}">
          <p14:sldIdLst>
            <p14:sldId id="270"/>
          </p14:sldIdLst>
        </p14:section>
        <p14:section name="Answers" id="{f1cf6054-16c9-c60a-0e20-3825430d3e68}">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5: What is GIS used for?. Human and physical features on one map; births, diseases, crimes and natural hazards; and how the police use a GIS to see where crime clusters and why.
This deck covers the department's lesson: 1 (Introduction to GIS: What is a GIS, what are its four components, and why does every piece of data need its latitude and longitude?).
Read the big question aloud: "How does a GIS turn data about places into maps that help people make decisions, and how do you make one yourself?"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a human feature?  →  B   A railway station
2. The police use a GIS to see where crimes ___ in one area, so they know where to patrol and where to look for the cause.  →  cluster
3. Why might geographers put earthquakes on a GIS map?  →  A   To study where they happen, reduce their impacts and improve the response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A railway station. A railway station was built by people, so it is a human feature. Rivers, hills and beaches are natural, so they are physical features.
2. cluster. A cluster is a group of crimes close together. Seeing the cluster on the map tells the police where to focus.
3. A   To study where they happen, reduce their impacts and improve the response. Mapping hazards helps people study where and why they happen, plan to reduce the damage and respond better when one strikes.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human feature: something people have built or made, such as a road or a school. Example: "The railway station is a human feature on the map."
• physical feature: a natural part of the landscape, such as a river or a hill. Example: "The River Thames is a physical feature."
• census: the official count of everyone living in the country. Example: "The census tells us how many babies were born in each area."
• cluster: a group of things gathered close together in one place. Example: "There was a cluster of car thefts on one street."
• hazard: something natural that can harm people, such as an earthquake. Example: "A GIS can map every hazard in a region."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GIS can show human features and physical features.
2. Human features are things people have built, like roads, schools and shops.
3. Physical features are natural, like rivers, hills and coasts.
4. A GIS can show the number of births in each area from the census.
5. It can show where people have died from a disease, like Covid-19 or cholera.
6. That helps scientists study where the disease is spreading and why.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police use a GIS to map where crimes happen.
8. If many car thefts cluster on one street, the police know where to look.
9. A GIS can map earthquakes, volcanoes and other hazards.
10. That helps people study the causes, reduce the impacts and improve the response.
11. You could add a layer, like street lights, to help explain a pattern.
12. Every use starts with the same question: where is it happening?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Human and physical on the same map. Say it in your own words, then check understanding with a quick question: ask a pupil from the pre-teach group first, since they met these words and ideas before the lesson. Pupils try to recall before you re-explain.
Geographers split the world into human features and physical features. Human features are the things people have built or made: roads, houses, schools, shops, railway stations, factories. Physical features are the natural parts of the landscape: rivers, hills, coasts, forests, lakes. You can see both kinds through the window of any bus.
A GIS can display either kind, and this is where layers earn their keep. A layer of rivers and a layer of houses on the same map shows you which homes are close to the water. A layer of schools and a layer of busy roads shows you which crossings matter most. Human and physical features, compared on one screen.
Your deck asks you to give examples of human and physical features that could be displayed on a GIS map. In Chapter 4 you will add human features to a map of Harlington School with map notes. In Chapter 5 you will add physical features, such as earthquakes, volcanoes and ecosystems, from ready-made layers.
Worked example — model it step by step, thinking aloud: Give one human feature and one physical feature you could display on a GIS map of your local area. (2 marks) (1) Human means built by people: choose something you walk past, such as a school or a railway station. (2) Physical means natural: choose something that was there before the town, such as a river or a hill. (3) Write one of each and label which is which. Answer: Human feature: the railway station. Physical feature: the river that runs through the park..
Tip: If people made it, it is human. If it was there before people, it is physical.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Human and physical on the same map. Say it in your own words, then check understanding with a quick question: ask a pupil from the pre-teach group first, since they met these words and ideas before the lesson. Pupils try to recall before you re-explain.
Geographers split the world into human features and physical features. Human features are the things people have built or made: roads, houses, schools, shops, railway stations, factories. Physical features are the natural parts of the landscape: rivers, hills, coasts, forests, lakes. You can see both kinds through the window of any bus.
A GIS can display either kind, and this is where layers earn their keep. A layer of rivers and a layer of houses on the same map shows you which homes are close to the water. A layer of schools and a layer of busy roads shows you which crossings matter most. Human and physical features, compared on one screen.
Your deck asks you to give examples of human and physical features that could be displayed on a GIS map. In Chapter 4 you will add human features to a map of Harlington School with map notes. In Chapter 5 you will add physical features, such as earthquakes, volcanoes and ecosystems, from ready-made layers.
Worked example — model it step by step, thinking aloud: Give one human feature and one physical feature you could display on a GIS map of your local area. (2 marks) (1) Human means built by people: choose something you walk past, such as a school or a railway station. (2) Physical means natural: choose something that was there before the town, such as a river or a hill. (3) Write one of each and label which is which. Answer: Human feature: the railway station. Physical feature: the river that runs through the park..
Tip: If people made it, it is human. If it was there before people, it is physical.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Births, diseases and hazards. Say it in your own words, then check understanding with a quick question: ask a pupil from the pre-teach group first, since they met these words and ideas before the lesson. Pupils try to recall before you re-explain.
The census is the official count of everyone in the country. Put its data on a GIS and you can show the number of births in each area, or the birth rate. Planners use this to decide where new nursery places and schools will be needed in a few years' time. The map tells them where, which a table of numbers cannot do so clearly.
A GIS can also show where people have died from a disease, such as Covid-19 or cholera. That is exactly what Dr Snow did by hand in Chapter 1. Mapping the deaths helps scientists study where a disease is spreading and what might be causing it, which is the first step towards fighting it.
Finally, a GIS can map earthquakes, volcanoes and other natural hazards. In your Tectonic Processes unit you learned that earthquakes line up along plate boundaries; a GIS layer of recent earthquakes shows that line in seconds. Mapping hazards helps people study their causes, reduce their impacts and improve the response when one happens. You will build this exact map in Chapter 5.
Tip: Three uses from your deck, in three words: births, deaths, hazards. Say where each one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GIS and the police. Say it in your own words, then check understanding with a quick question: ask a pupil from the pre-teach group first, since they met these words and ideas before the lesson. Pupils try to recall before you re-explain.
The police use a GIS to investigate crime. Every reported crime is a piece of data with a type, a time and a location. Put a month of crimes on a map and patterns appear: a cluster of car thefts on one street, muggings around one square, shoplifting along one road. The police then know where to patrol and where to look for the cause.
Your deck gives you a GIS crime map to read. It asks for the four-figure grid reference of the place where a mugging is being investigated, the name of the street where the GIS has helped the police detect a number of car thefts, and the types of crime shown in Central Square. These are the same map skills as Chapter 1, used on a screen instead of paper.
The stretch question is the clever part. The deck asks you to suggest a layer that could be added to help the police know the cause of these crimes. Think about what might explain a pattern: a layer of street lights could show that muggings happen where it is dark; a layer of pubs and bars could explain late-night trouble; a layer of CCTV cameras could show which streets are watched. The GIS does not solve the crime, but by stacking the right layers it helps the police ask the right question.
Tip: To explain a pattern, add a layer that might cause it. Then see if the two line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use to the example.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use of a GIS to the example from your deck.
Support — work through the steps with the group: (1) Census is about people being counted, so look for births. (2) Disease means illness, so look for deaths from cholera or Covid-19. (3) Crime is what the police deal with, so look for thefts. (4) Hazards are natural dangers, so look for earthquakes and volcanoes.
Parallel worked example for Support (model it, do not give the task answer): Match each school subject to an example: Science, History, Music, PE. Examples: a Roman coin, a violin, a football, a test tube. Science uses equipment: the test tube.; History studies the past: the Roman coin.; Music is instruments: the violin.; PE is sport: the football.. Answer: Science: test tube. History: Roman coin. Music: violin. PE: football..
Core — reveal the hint only on request: Births, deaths, thefts, earthquakes. Which use does each belong to?
Stretch — no help; when finished: Choose two of the four uses and explain one layer you would add to each map to help explain the pattern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Match the use to the example.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use of a GIS to the example from your deck.
Support — work through the steps with the group: (1) Census is about people being counted, so look for births. (2) Disease means illness, so look for deaths from cholera or Covid-19. (3) Crime is what the police deal with, so look for thefts. (4) Hazards are natural dangers, so look for earthquakes and volcanoes.
Parallel worked example for Support (model it, do not give the task answer): Match each school subject to an example: Science, History, Music, PE. Examples: a Roman coin, a violin, a football, a test tube. Science uses equipment: the test tube.; History studies the past: the Roman coin.; Music is instruments: the violin.; PE is sport: the football.. Answer: Science: test tube. History: Roman coin. Music: violin. PE: football..
Core — reveal the hint only on request: Births, deaths, thefts, earthquakes. Which use does each belong to?
Stretch — no help; when finished: Choose two of the four uses and explain one layer you would add to each map to help explain the pattern it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layer would help the police?.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Several muggings have happened on one street after dark. Which GIS layer would most help the police understand why?
Support — work through the steps with the group: (1) Read the clue in the question: the muggings happen after dark. (2) Ask which layer has something to do with darkness. (3) Cross out the layers that are about weather, height or how old things are. (4) Choose the layer that could show whether the street is dark where the crimes happen.
Parallel worked example for Support (model it, do not give the task answer): Shoplifting is high in one shopping centre on Saturday afternoons. Which layer would help most: bus stops nearby, the depth of the nearest river, or the colour of the shop signs? The clue is Saturday afternoons, when the centre is busiest.; Bus stops bring crowds, so that layer connects to the clue.; River depth and sign colours have nothing to do with it.. Answer: Bus stops nearby, because they show where the crowds arrive on busy afternoons..
Core — reveal the hint only on request: After dark is the clue. Which layer is about light?
Stretch — no help; when finished: Suggest a second layer the police could add to the same map, and explain what pattern it might reveal that the lighting layer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layer would help the police?.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Several muggings have happened on one street after dark. Which GIS layer would most help the police understand why?
Support — work through the steps with the group: (1) Read the clue in the question: the muggings happen after dark. (2) Ask which layer has something to do with darkness. (3) Cross out the layers that are about weather, height or how old things are. (4) Choose the layer that could show whether the street is dark where the crimes happen.
Parallel worked example for Support (model it, do not give the task answer): Shoplifting is high in one shopping centre on Saturday afternoons. Which layer would help most: bus stops nearby, the depth of the nearest river, or the colour of the shop signs? The clue is Saturday afternoons, when the centre is busiest.; Bus stops bring crowds, so that layer connects to the clue.; River depth and sign colours have nothing to do with it.. Answer: Bus stops nearby, because they show where the crowds arrive on busy afternoons..
Core — reveal the hint only on request: After dark is the clue. Which layer is about light?
Stretch — no help; when finished: Suggest a second layer the police could add to the same map, and explain what pattern it might reveal that the lighting layer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a human feature?
Answer: A   A railway station. A railway station was built by people, so it is a human feature. Rivers, hills and beaches are natural, so they are physical features.
Source of this question: gate item 1 re-asked (options rotated) — this chapter has no third quick-check module.
The ebook also holds task 3, "Explain two uses of GIS",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Match the use to the example. Reveal the answer; pupils mark their own work in a different colour, then read the "why" together. Same destination for every lane, so one answer serves the whole class.
Answer: Census data  →  B  The number of births in each area; Disease  →  D  Deaths from cholera or Covid-19, mapped to study the cause; Crime  →  A  Car thefts clustered on one street; Hazards  →  C  Earthquakes and volcanoes, mapped to improve the response
Why: Census data shows births; disease mapping shows deaths from cholera or Covid-19; crime mapping shows clusters such as car thefts; hazard mapping shows earthquakes and volcanoes.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layer would help the police?. Reveal the answer; pupils mark their own work in a different colour, then read the "why" together. Same destination for every lane, so one answer serves the whole class.
Answer: C   Street lighting
Why: The muggings happen after dark, so a layer of street lighting could show that they cluster where the lights are missing or broken. The other layers do not connect to the clue.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A railway station
Why: A railway station was built by people, so it is a human feature. Rivers, hills and beaches are natural, so they are physical features.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Geographic Information Systems (GIS)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Geographic Information Systems (GIS)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Geographic Information Systems (GIS) · AQA KS3 → 8035</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What is GIS used for?</a:t>
            </a:r>
            <a:endParaRPr lang="en-US" sz="4000" dirty="0"/>
          </a:p>
        </p:txBody>
      </p:sp>
      <p:sp>
        <p:nvSpPr>
          <p:cNvPr id="11" name="lessons-card"/>
          <p:cNvSpPr/>
          <p:nvPr/>
        </p:nvSpPr>
        <p:spPr>
          <a:xfrm>
            <a:off x="548640" y="3739388"/>
            <a:ext cx="5287975" cy="980440"/>
          </a:xfrm>
          <a:prstGeom prst="roundRect">
            <a:avLst>
              <a:gd name="adj" fmla="val 7461"/>
            </a:avLst>
          </a:prstGeom>
          <a:solidFill>
            <a:srgbClr val="EFF2F0"/>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to GIS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a GIS turn data about places into maps that help people make decisions, and how do you make one yourself?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human feature?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beach</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railway station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river</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hill</a:t>
            </a:r>
            <a:endParaRPr lang="en-US" sz="2400" dirty="0"/>
          </a:p>
        </p:txBody>
      </p:sp>
      <p:sp>
        <p:nvSpPr>
          <p:cNvPr id="12" name="card"/>
          <p:cNvSpPr/>
          <p:nvPr/>
        </p:nvSpPr>
        <p:spPr>
          <a:xfrm>
            <a:off x="3459404" y="1389888"/>
            <a:ext cx="2636444" cy="4754880"/>
          </a:xfrm>
          <a:prstGeom prst="roundRect">
            <a:avLst>
              <a:gd name="adj" fmla="val 2081"/>
            </a:avLst>
          </a:prstGeom>
          <a:solidFill>
            <a:srgbClr val="F4F7F5"/>
          </a:solidFill>
          <a:ln w="12700">
            <a:solidFill>
              <a:srgbClr val="BFCDC2"/>
            </a:solidFill>
            <a:prstDash val="solid"/>
          </a:ln>
        </p:spPr>
      </p:sp>
      <p:sp>
        <p:nvSpPr>
          <p:cNvPr id="13" name="card-hex"/>
          <p:cNvSpPr/>
          <p:nvPr/>
        </p:nvSpPr>
        <p:spPr>
          <a:xfrm>
            <a:off x="3642284" y="1572768"/>
            <a:ext cx="640080" cy="554309"/>
          </a:xfrm>
          <a:prstGeom prst="hexagon">
            <a:avLst/>
          </a:prstGeom>
          <a:solidFill>
            <a:srgbClr val="3F6B4A"/>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The police use a GIS to see where crimes ___ in one area, so they know where to patrol and where to look for the cause.</a:t>
            </a:r>
            <a:endParaRPr lang="en-US" sz="2000" dirty="0"/>
          </a:p>
          <a:p>
            <a:pPr algn="l" indent="0" marL="0">
              <a:buNone/>
            </a:pPr>
            <a:r>
              <a:rPr lang="en-US" sz="2000" b="1" dirty="0">
                <a:solidFill>
                  <a:srgbClr val="3F6B4A"/>
                </a:solidFill>
                <a:latin typeface="Calibri" pitchFamily="34" charset="0"/>
                <a:ea typeface="Calibri" pitchFamily="34" charset="-122"/>
                <a:cs typeface="Calibri" pitchFamily="34" charset="-120"/>
              </a:rPr>
              <a:t>Word bank:  </a:t>
            </a:r>
            <a:pPr algn="l" indent="0" marL="0">
              <a:buNone/>
            </a:pPr>
            <a:r>
              <a:rPr lang="en-US" sz="2000" dirty="0">
                <a:solidFill>
                  <a:srgbClr val="1E2229"/>
                </a:solidFill>
                <a:latin typeface="Calibri" pitchFamily="34" charset="0"/>
                <a:ea typeface="Calibri" pitchFamily="34" charset="-122"/>
                <a:cs typeface="Calibri" pitchFamily="34" charset="-120"/>
              </a:rPr>
              <a:t>cluster  ·  disappear  ·  cost</a:t>
            </a:r>
            <a:endParaRPr lang="en-US" sz="2000" dirty="0"/>
          </a:p>
        </p:txBody>
      </p:sp>
      <p:sp>
        <p:nvSpPr>
          <p:cNvPr id="17" name="card"/>
          <p:cNvSpPr/>
          <p:nvPr/>
        </p:nvSpPr>
        <p:spPr>
          <a:xfrm>
            <a:off x="6370168" y="1389888"/>
            <a:ext cx="5272888" cy="4754880"/>
          </a:xfrm>
          <a:prstGeom prst="roundRect">
            <a:avLst>
              <a:gd name="adj" fmla="val 1154"/>
            </a:avLst>
          </a:prstGeom>
          <a:solidFill>
            <a:srgbClr val="F4F7F5"/>
          </a:solidFill>
          <a:ln w="12700">
            <a:solidFill>
              <a:srgbClr val="BFCDC2"/>
            </a:solidFill>
            <a:prstDash val="solid"/>
          </a:ln>
        </p:spPr>
      </p:sp>
      <p:sp>
        <p:nvSpPr>
          <p:cNvPr id="18" name="card-hex"/>
          <p:cNvSpPr/>
          <p:nvPr/>
        </p:nvSpPr>
        <p:spPr>
          <a:xfrm>
            <a:off x="6553048" y="1572768"/>
            <a:ext cx="640080" cy="554309"/>
          </a:xfrm>
          <a:prstGeom prst="hexagon">
            <a:avLst/>
          </a:prstGeom>
          <a:solidFill>
            <a:srgbClr val="3F6B4A"/>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might geographers put earthquakes on a GIS map?</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study where they happen, reduce their impacts and improve the response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predict the exact day of the next earthquake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measure the temperature of the Earth's core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To show which countries have the most people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955040"/>
          </a:xfrm>
          <a:prstGeom prst="roundRect">
            <a:avLst>
              <a:gd name="adj" fmla="val 11489"/>
            </a:avLst>
          </a:prstGeom>
          <a:solidFill>
            <a:srgbClr val="EEE3CD"/>
          </a:solidFill>
          <a:ln w="19050">
            <a:solidFill>
              <a:srgbClr val="B8862B"/>
            </a:solidFill>
            <a:prstDash val="solid"/>
          </a:ln>
        </p:spPr>
      </p:sp>
      <p:sp>
        <p:nvSpPr>
          <p:cNvPr id="12" name="answer"/>
          <p:cNvSpPr txBox="1"/>
          <p:nvPr/>
        </p:nvSpPr>
        <p:spPr>
          <a:xfrm>
            <a:off x="822960" y="2428829"/>
            <a:ext cx="2087804"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A railway station</a:t>
            </a:r>
            <a:endParaRPr lang="en-US" sz="2200" dirty="0"/>
          </a:p>
        </p:txBody>
      </p:sp>
      <p:sp>
        <p:nvSpPr>
          <p:cNvPr id="13" name="card-body"/>
          <p:cNvSpPr txBox="1"/>
          <p:nvPr/>
        </p:nvSpPr>
        <p:spPr>
          <a:xfrm>
            <a:off x="731520" y="3493597"/>
            <a:ext cx="2270684"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railway station was built by people, so it is a human feature. Rivers, hills and beaches are natural, so they are physical features.</a:t>
            </a:r>
            <a:endParaRPr lang="en-US" sz="1800" dirty="0"/>
          </a:p>
        </p:txBody>
      </p:sp>
      <p:sp>
        <p:nvSpPr>
          <p:cNvPr id="14" name="card"/>
          <p:cNvSpPr/>
          <p:nvPr/>
        </p:nvSpPr>
        <p:spPr>
          <a:xfrm>
            <a:off x="3459404" y="1389888"/>
            <a:ext cx="2636444" cy="4754880"/>
          </a:xfrm>
          <a:prstGeom prst="roundRect">
            <a:avLst>
              <a:gd name="adj" fmla="val 2081"/>
            </a:avLst>
          </a:prstGeom>
          <a:solidFill>
            <a:srgbClr val="F4F7F5"/>
          </a:solidFill>
          <a:ln w="12700">
            <a:solidFill>
              <a:srgbClr val="BFCDC2"/>
            </a:solidFill>
            <a:prstDash val="solid"/>
          </a:ln>
        </p:spPr>
      </p:sp>
      <p:sp>
        <p:nvSpPr>
          <p:cNvPr id="15" name="card-hex"/>
          <p:cNvSpPr/>
          <p:nvPr/>
        </p:nvSpPr>
        <p:spPr>
          <a:xfrm>
            <a:off x="3642284" y="1572768"/>
            <a:ext cx="640080" cy="554309"/>
          </a:xfrm>
          <a:prstGeom prst="hexagon">
            <a:avLst/>
          </a:prstGeom>
          <a:solidFill>
            <a:srgbClr val="3F6B4A"/>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cluster</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cluster is a group of crimes close together. Seeing the cluster on the map tells the police where to focus.</a:t>
            </a:r>
            <a:endParaRPr lang="en-US" sz="1800" dirty="0"/>
          </a:p>
        </p:txBody>
      </p:sp>
      <p:sp>
        <p:nvSpPr>
          <p:cNvPr id="21" name="card"/>
          <p:cNvSpPr/>
          <p:nvPr/>
        </p:nvSpPr>
        <p:spPr>
          <a:xfrm>
            <a:off x="6370168" y="1389888"/>
            <a:ext cx="5272888" cy="4754880"/>
          </a:xfrm>
          <a:prstGeom prst="roundRect">
            <a:avLst>
              <a:gd name="adj" fmla="val 1154"/>
            </a:avLst>
          </a:prstGeom>
          <a:solidFill>
            <a:srgbClr val="F4F7F5"/>
          </a:solidFill>
          <a:ln w="12700">
            <a:solidFill>
              <a:srgbClr val="BFCDC2"/>
            </a:solidFill>
            <a:prstDash val="solid"/>
          </a:ln>
        </p:spPr>
      </p:sp>
      <p:sp>
        <p:nvSpPr>
          <p:cNvPr id="22" name="card-hex"/>
          <p:cNvSpPr/>
          <p:nvPr/>
        </p:nvSpPr>
        <p:spPr>
          <a:xfrm>
            <a:off x="6553048" y="1572768"/>
            <a:ext cx="640080" cy="554309"/>
          </a:xfrm>
          <a:prstGeom prst="hexagon">
            <a:avLst/>
          </a:prstGeom>
          <a:solidFill>
            <a:srgbClr val="3F6B4A"/>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1295908"/>
          </a:xfrm>
          <a:prstGeom prst="roundRect">
            <a:avLst>
              <a:gd name="adj" fmla="val 8467"/>
            </a:avLst>
          </a:prstGeom>
          <a:solidFill>
            <a:srgbClr val="EEE3CD"/>
          </a:solidFill>
          <a:ln w="19050">
            <a:solidFill>
              <a:srgbClr val="B8862B"/>
            </a:solidFill>
            <a:prstDash val="solid"/>
          </a:ln>
        </p:spPr>
      </p:sp>
      <p:sp>
        <p:nvSpPr>
          <p:cNvPr id="26" name="answer"/>
          <p:cNvSpPr txBox="1"/>
          <p:nvPr/>
        </p:nvSpPr>
        <p:spPr>
          <a:xfrm>
            <a:off x="6644488" y="2428829"/>
            <a:ext cx="472424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To study where they happen, reduce their impacts and improve the response</a:t>
            </a:r>
            <a:endParaRPr lang="en-US" sz="2200" dirty="0"/>
          </a:p>
        </p:txBody>
      </p:sp>
      <p:sp>
        <p:nvSpPr>
          <p:cNvPr id="27" name="card-body"/>
          <p:cNvSpPr txBox="1"/>
          <p:nvPr/>
        </p:nvSpPr>
        <p:spPr>
          <a:xfrm>
            <a:off x="6553048" y="3834465"/>
            <a:ext cx="490712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Why might geographers put earthquakes on a GIS map?</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Mapping hazards helps people study where and why they happen, plan to reduce the damage and respond better when one strikes.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3F6B4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3F5F3"/>
          </a:solidFill>
          <a:ln/>
        </p:spPr>
      </p:sp>
      <p:sp>
        <p:nvSpPr>
          <p:cNvPr id="12" name="kw-hex"/>
          <p:cNvSpPr/>
          <p:nvPr/>
        </p:nvSpPr>
        <p:spPr>
          <a:xfrm>
            <a:off x="658368" y="2135261"/>
            <a:ext cx="411480" cy="356342"/>
          </a:xfrm>
          <a:prstGeom prst="hexagon">
            <a:avLst/>
          </a:prstGeom>
          <a:solidFill>
            <a:srgbClr val="3F6B4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human feature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something people have built or made, such as a road or a school</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railway station is a human feature on the map.</a:t>
            </a:r>
            <a:endParaRPr lang="en-US" sz="1800" dirty="0"/>
          </a:p>
        </p:txBody>
      </p:sp>
      <p:sp>
        <p:nvSpPr>
          <p:cNvPr id="16" name="kw-row"/>
          <p:cNvSpPr/>
          <p:nvPr/>
        </p:nvSpPr>
        <p:spPr>
          <a:xfrm>
            <a:off x="548640" y="2779776"/>
            <a:ext cx="11094415" cy="786384"/>
          </a:xfrm>
          <a:prstGeom prst="roundRect">
            <a:avLst>
              <a:gd name="adj" fmla="val 6977"/>
            </a:avLst>
          </a:prstGeom>
          <a:solidFill>
            <a:srgbClr val="F8F2E9"/>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physical feature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natural part of the landscape, such as a river or a hill</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River Thames is a physical feature.</a:t>
            </a:r>
            <a:endParaRPr lang="en-US" sz="1800" dirty="0"/>
          </a:p>
        </p:txBody>
      </p:sp>
      <p:sp>
        <p:nvSpPr>
          <p:cNvPr id="21" name="kw-row"/>
          <p:cNvSpPr/>
          <p:nvPr/>
        </p:nvSpPr>
        <p:spPr>
          <a:xfrm>
            <a:off x="548640" y="3639312"/>
            <a:ext cx="11094415" cy="786384"/>
          </a:xfrm>
          <a:prstGeom prst="roundRect">
            <a:avLst>
              <a:gd name="adj" fmla="val 6977"/>
            </a:avLst>
          </a:prstGeom>
          <a:solidFill>
            <a:srgbClr val="F3F5F3"/>
          </a:solidFill>
          <a:ln/>
        </p:spPr>
      </p:sp>
      <p:sp>
        <p:nvSpPr>
          <p:cNvPr id="22" name="kw-hex"/>
          <p:cNvSpPr/>
          <p:nvPr/>
        </p:nvSpPr>
        <p:spPr>
          <a:xfrm>
            <a:off x="658368" y="3854333"/>
            <a:ext cx="411480" cy="356342"/>
          </a:xfrm>
          <a:prstGeom prst="hexagon">
            <a:avLst/>
          </a:prstGeom>
          <a:solidFill>
            <a:srgbClr val="3F6B4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census</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official count of everyone living in the country</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census tells us how many babies were born in each area.</a:t>
            </a:r>
            <a:endParaRPr lang="en-US" sz="1800" dirty="0"/>
          </a:p>
        </p:txBody>
      </p:sp>
      <p:sp>
        <p:nvSpPr>
          <p:cNvPr id="26" name="kw-row"/>
          <p:cNvSpPr/>
          <p:nvPr/>
        </p:nvSpPr>
        <p:spPr>
          <a:xfrm>
            <a:off x="548640" y="4498848"/>
            <a:ext cx="11094415" cy="786384"/>
          </a:xfrm>
          <a:prstGeom prst="roundRect">
            <a:avLst>
              <a:gd name="adj" fmla="val 6977"/>
            </a:avLst>
          </a:prstGeom>
          <a:solidFill>
            <a:srgbClr val="F8F2E9"/>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cluster</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group of things gathered close together in one place</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There was a cluster of car thefts on one street.</a:t>
            </a:r>
            <a:endParaRPr lang="en-US" sz="1800" dirty="0"/>
          </a:p>
        </p:txBody>
      </p:sp>
      <p:sp>
        <p:nvSpPr>
          <p:cNvPr id="31" name="kw-row"/>
          <p:cNvSpPr/>
          <p:nvPr/>
        </p:nvSpPr>
        <p:spPr>
          <a:xfrm>
            <a:off x="548640" y="5358384"/>
            <a:ext cx="11094415" cy="786384"/>
          </a:xfrm>
          <a:prstGeom prst="roundRect">
            <a:avLst>
              <a:gd name="adj" fmla="val 6977"/>
            </a:avLst>
          </a:prstGeom>
          <a:solidFill>
            <a:srgbClr val="F3F5F3"/>
          </a:solidFill>
          <a:ln/>
        </p:spPr>
      </p:sp>
      <p:sp>
        <p:nvSpPr>
          <p:cNvPr id="32" name="kw-hex"/>
          <p:cNvSpPr/>
          <p:nvPr/>
        </p:nvSpPr>
        <p:spPr>
          <a:xfrm>
            <a:off x="658368" y="5573405"/>
            <a:ext cx="411480" cy="356342"/>
          </a:xfrm>
          <a:prstGeom prst="hexagon">
            <a:avLst/>
          </a:prstGeom>
          <a:solidFill>
            <a:srgbClr val="3F6B4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3F6B4A"/>
                </a:solidFill>
                <a:latin typeface="Cambria" pitchFamily="34" charset="0"/>
                <a:ea typeface="Cambria" pitchFamily="34" charset="-122"/>
                <a:cs typeface="Cambria" pitchFamily="34" charset="-120"/>
              </a:rPr>
              <a:t>hazard</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something natural that can harm people, such as an earthquake</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GIS can map every hazard in a region.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GIS can show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human features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physical features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Human features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are things people have built, like roads, schools and shops.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Physical features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are natural, like rivers, hills and coasts.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GIS can show the number of births in each area from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census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can show where people have died from a disease, like Covid-19 or cholera.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helps scientists study where the disease is spreading and why.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police use a GIS to map where crimes happen.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If many car thefts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cluster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on one street, the police know where to look.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GIS can map earthquakes, volcanoes and other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hazards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helps people study the causes, reduce the impacts and improve the response.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 could add a layer, like street lights, to help explain a pattern.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Every use starts with the same question: where is it happening?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Human and physical on the same map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people made it, it is human. If it was there before people, it is physical.</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Geographers split the world into human features and physical features.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GIS can display either kind, and this is where layers earn their keep.</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deck asks you to give examples of human and physical features that could be displayed on a GIS map.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Worked example: Human and physical on the same map</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FF2F0"/>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Give one human feature and one physical feature you could display on a GIS map of your local area. (2 marks)</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Human means built by people: choose something you walk past, such as a school or a railway station.</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4521098" y="2765552"/>
            <a:ext cx="530352" cy="459285"/>
          </a:xfrm>
          <a:prstGeom prst="hexagon">
            <a:avLst/>
          </a:prstGeom>
          <a:solidFill>
            <a:srgbClr val="3F6B4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Physical means natural: choose something that was there before the town, such as a river or a hill.</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8356397" y="2765552"/>
            <a:ext cx="530352" cy="459285"/>
          </a:xfrm>
          <a:prstGeom prst="hexagon">
            <a:avLst/>
          </a:prstGeom>
          <a:solidFill>
            <a:srgbClr val="3F6B4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one of each and label which is which.</a:t>
            </a:r>
            <a:endParaRPr lang="en-US" sz="1800" dirty="0"/>
          </a:p>
        </p:txBody>
      </p:sp>
      <p:sp>
        <p:nvSpPr>
          <p:cNvPr id="23" name="worked-answer"/>
          <p:cNvSpPr/>
          <p:nvPr/>
        </p:nvSpPr>
        <p:spPr>
          <a:xfrm>
            <a:off x="1463040" y="5313680"/>
            <a:ext cx="9265615" cy="831088"/>
          </a:xfrm>
          <a:prstGeom prst="roundRect">
            <a:avLst>
              <a:gd name="adj" fmla="val 22005"/>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Human feature: the railway station. Physical feature: the river that runs through the park.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Births, diseases and hazards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uses from your deck, in three words: births, deaths, hazards. Say where each one helps.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census is the official count of everyone in the country.</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GIS can also show where people have died from a disease, such as Covid-19 or cholera.</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Finally, a GIS can map earthquakes, volcanoes and other natural hazards.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GIS and the police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To explain a pattern, add a layer that might cause it. Then see if the two line up.</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police use a GIS to investigate crime. Every reported crime is a piece of data with a type, a time and a location.</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deck gives you a GIS crime map to read.</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stretch question is the clever part. The deck asks you to suggest a layer that could be added to help the police know the cause of these crimes.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Match the use to the example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use of a GIS to the example from your deck.</a:t>
            </a:r>
            <a:endParaRPr lang="en-US" sz="2400" dirty="0"/>
          </a:p>
        </p:txBody>
      </p:sp>
      <p:sp>
        <p:nvSpPr>
          <p:cNvPr id="11" name="match-card"/>
          <p:cNvSpPr/>
          <p:nvPr/>
        </p:nvSpPr>
        <p:spPr>
          <a:xfrm>
            <a:off x="777240" y="2468331"/>
            <a:ext cx="3081437" cy="634375"/>
          </a:xfrm>
          <a:prstGeom prst="roundRect">
            <a:avLst>
              <a:gd name="adj" fmla="val 11531"/>
            </a:avLst>
          </a:prstGeom>
          <a:solidFill>
            <a:srgbClr val="F3F5F3"/>
          </a:solidFill>
          <a:ln/>
        </p:spPr>
      </p:sp>
      <p:sp>
        <p:nvSpPr>
          <p:cNvPr id="12" name="match-hex"/>
          <p:cNvSpPr/>
          <p:nvPr/>
        </p:nvSpPr>
        <p:spPr>
          <a:xfrm>
            <a:off x="850392" y="2619226"/>
            <a:ext cx="384048" cy="332586"/>
          </a:xfrm>
          <a:prstGeom prst="hexagon">
            <a:avLst/>
          </a:prstGeom>
          <a:solidFill>
            <a:srgbClr val="3F6B4A"/>
          </a:solidFill>
          <a:ln/>
        </p:spPr>
      </p:sp>
      <p:sp>
        <p:nvSpPr>
          <p:cNvPr id="13" name="match-hex-label"/>
          <p:cNvSpPr txBox="1"/>
          <p:nvPr/>
        </p:nvSpPr>
        <p:spPr>
          <a:xfrm>
            <a:off x="850392"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Census data</a:t>
            </a:r>
            <a:endParaRPr lang="en-US" sz="2200" dirty="0"/>
          </a:p>
        </p:txBody>
      </p:sp>
      <p:sp>
        <p:nvSpPr>
          <p:cNvPr id="15" name="match-card"/>
          <p:cNvSpPr/>
          <p:nvPr/>
        </p:nvSpPr>
        <p:spPr>
          <a:xfrm>
            <a:off x="4224437" y="2468331"/>
            <a:ext cx="7190019" cy="634375"/>
          </a:xfrm>
          <a:prstGeom prst="roundRect">
            <a:avLst>
              <a:gd name="adj" fmla="val 11531"/>
            </a:avLst>
          </a:prstGeom>
          <a:solidFill>
            <a:srgbClr val="F8F2E9"/>
          </a:solidFill>
          <a:ln/>
        </p:spPr>
      </p:sp>
      <p:sp>
        <p:nvSpPr>
          <p:cNvPr id="16" name="match-hex"/>
          <p:cNvSpPr/>
          <p:nvPr/>
        </p:nvSpPr>
        <p:spPr>
          <a:xfrm>
            <a:off x="4297589" y="2619226"/>
            <a:ext cx="384048" cy="332586"/>
          </a:xfrm>
          <a:prstGeom prst="hexagon">
            <a:avLst/>
          </a:prstGeom>
          <a:solidFill>
            <a:srgbClr val="B8862B"/>
          </a:solidFill>
          <a:ln/>
        </p:spPr>
      </p:sp>
      <p:sp>
        <p:nvSpPr>
          <p:cNvPr id="17" name="match-hex-label"/>
          <p:cNvSpPr txBox="1"/>
          <p:nvPr/>
        </p:nvSpPr>
        <p:spPr>
          <a:xfrm>
            <a:off x="4297589"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Car thefts clustered on one street</a:t>
            </a:r>
            <a:endParaRPr lang="en-US" sz="2200" dirty="0"/>
          </a:p>
        </p:txBody>
      </p:sp>
      <p:sp>
        <p:nvSpPr>
          <p:cNvPr id="19" name="match-card"/>
          <p:cNvSpPr/>
          <p:nvPr/>
        </p:nvSpPr>
        <p:spPr>
          <a:xfrm>
            <a:off x="777240" y="3194147"/>
            <a:ext cx="3081437" cy="634375"/>
          </a:xfrm>
          <a:prstGeom prst="roundRect">
            <a:avLst>
              <a:gd name="adj" fmla="val 11531"/>
            </a:avLst>
          </a:prstGeom>
          <a:solidFill>
            <a:srgbClr val="F3F5F3"/>
          </a:solidFill>
          <a:ln/>
        </p:spPr>
      </p:sp>
      <p:sp>
        <p:nvSpPr>
          <p:cNvPr id="20" name="match-hex"/>
          <p:cNvSpPr/>
          <p:nvPr/>
        </p:nvSpPr>
        <p:spPr>
          <a:xfrm>
            <a:off x="850392" y="3345041"/>
            <a:ext cx="384048" cy="332586"/>
          </a:xfrm>
          <a:prstGeom prst="hexagon">
            <a:avLst/>
          </a:prstGeom>
          <a:solidFill>
            <a:srgbClr val="3F6B4A"/>
          </a:solidFill>
          <a:ln/>
        </p:spPr>
      </p:sp>
      <p:sp>
        <p:nvSpPr>
          <p:cNvPr id="21" name="match-hex-label"/>
          <p:cNvSpPr txBox="1"/>
          <p:nvPr/>
        </p:nvSpPr>
        <p:spPr>
          <a:xfrm>
            <a:off x="850392"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94147"/>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Disease</a:t>
            </a:r>
            <a:endParaRPr lang="en-US" sz="2200" dirty="0"/>
          </a:p>
        </p:txBody>
      </p:sp>
      <p:sp>
        <p:nvSpPr>
          <p:cNvPr id="23" name="match-card"/>
          <p:cNvSpPr/>
          <p:nvPr/>
        </p:nvSpPr>
        <p:spPr>
          <a:xfrm>
            <a:off x="4224437" y="3194147"/>
            <a:ext cx="7190019" cy="634375"/>
          </a:xfrm>
          <a:prstGeom prst="roundRect">
            <a:avLst>
              <a:gd name="adj" fmla="val 11531"/>
            </a:avLst>
          </a:prstGeom>
          <a:solidFill>
            <a:srgbClr val="F8F2E9"/>
          </a:solidFill>
          <a:ln/>
        </p:spPr>
      </p:sp>
      <p:sp>
        <p:nvSpPr>
          <p:cNvPr id="24" name="match-hex"/>
          <p:cNvSpPr/>
          <p:nvPr/>
        </p:nvSpPr>
        <p:spPr>
          <a:xfrm>
            <a:off x="4297589" y="3345041"/>
            <a:ext cx="384048" cy="332586"/>
          </a:xfrm>
          <a:prstGeom prst="hexagon">
            <a:avLst/>
          </a:prstGeom>
          <a:solidFill>
            <a:srgbClr val="B8862B"/>
          </a:solidFill>
          <a:ln/>
        </p:spPr>
      </p:sp>
      <p:sp>
        <p:nvSpPr>
          <p:cNvPr id="25" name="match-hex-label"/>
          <p:cNvSpPr txBox="1"/>
          <p:nvPr/>
        </p:nvSpPr>
        <p:spPr>
          <a:xfrm>
            <a:off x="4297589"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94147"/>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number of births in each area</a:t>
            </a:r>
            <a:endParaRPr lang="en-US" sz="2200" dirty="0"/>
          </a:p>
        </p:txBody>
      </p:sp>
      <p:sp>
        <p:nvSpPr>
          <p:cNvPr id="27" name="match-card"/>
          <p:cNvSpPr/>
          <p:nvPr/>
        </p:nvSpPr>
        <p:spPr>
          <a:xfrm>
            <a:off x="777240" y="3919962"/>
            <a:ext cx="3081437" cy="975243"/>
          </a:xfrm>
          <a:prstGeom prst="roundRect">
            <a:avLst>
              <a:gd name="adj" fmla="val 7501"/>
            </a:avLst>
          </a:prstGeom>
          <a:solidFill>
            <a:srgbClr val="F3F5F3"/>
          </a:solidFill>
          <a:ln/>
        </p:spPr>
      </p:sp>
      <p:sp>
        <p:nvSpPr>
          <p:cNvPr id="28" name="match-hex"/>
          <p:cNvSpPr/>
          <p:nvPr/>
        </p:nvSpPr>
        <p:spPr>
          <a:xfrm>
            <a:off x="850392" y="4241290"/>
            <a:ext cx="384048" cy="332586"/>
          </a:xfrm>
          <a:prstGeom prst="hexagon">
            <a:avLst/>
          </a:prstGeom>
          <a:solidFill>
            <a:srgbClr val="3F6B4A"/>
          </a:solidFill>
          <a:ln/>
        </p:spPr>
      </p:sp>
      <p:sp>
        <p:nvSpPr>
          <p:cNvPr id="29" name="match-hex-label"/>
          <p:cNvSpPr txBox="1"/>
          <p:nvPr/>
        </p:nvSpPr>
        <p:spPr>
          <a:xfrm>
            <a:off x="850392"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19962"/>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Crime</a:t>
            </a:r>
            <a:endParaRPr lang="en-US" sz="2200" dirty="0"/>
          </a:p>
        </p:txBody>
      </p:sp>
      <p:sp>
        <p:nvSpPr>
          <p:cNvPr id="31" name="match-card"/>
          <p:cNvSpPr/>
          <p:nvPr/>
        </p:nvSpPr>
        <p:spPr>
          <a:xfrm>
            <a:off x="4224437" y="3919962"/>
            <a:ext cx="7190019" cy="975243"/>
          </a:xfrm>
          <a:prstGeom prst="roundRect">
            <a:avLst>
              <a:gd name="adj" fmla="val 7501"/>
            </a:avLst>
          </a:prstGeom>
          <a:solidFill>
            <a:srgbClr val="F8F2E9"/>
          </a:solidFill>
          <a:ln/>
        </p:spPr>
      </p:sp>
      <p:sp>
        <p:nvSpPr>
          <p:cNvPr id="32" name="match-hex"/>
          <p:cNvSpPr/>
          <p:nvPr/>
        </p:nvSpPr>
        <p:spPr>
          <a:xfrm>
            <a:off x="4297589" y="4241290"/>
            <a:ext cx="384048" cy="332586"/>
          </a:xfrm>
          <a:prstGeom prst="hexagon">
            <a:avLst/>
          </a:prstGeom>
          <a:solidFill>
            <a:srgbClr val="B8862B"/>
          </a:solidFill>
          <a:ln/>
        </p:spPr>
      </p:sp>
      <p:sp>
        <p:nvSpPr>
          <p:cNvPr id="33" name="match-hex-label"/>
          <p:cNvSpPr txBox="1"/>
          <p:nvPr/>
        </p:nvSpPr>
        <p:spPr>
          <a:xfrm>
            <a:off x="4297589"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19962"/>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Earthquakes and volcanoes, mapped to improve the response</a:t>
            </a:r>
            <a:endParaRPr lang="en-US" sz="2200" dirty="0"/>
          </a:p>
        </p:txBody>
      </p:sp>
      <p:sp>
        <p:nvSpPr>
          <p:cNvPr id="35" name="match-card"/>
          <p:cNvSpPr/>
          <p:nvPr/>
        </p:nvSpPr>
        <p:spPr>
          <a:xfrm>
            <a:off x="777240" y="4986645"/>
            <a:ext cx="3081437" cy="975243"/>
          </a:xfrm>
          <a:prstGeom prst="roundRect">
            <a:avLst>
              <a:gd name="adj" fmla="val 7501"/>
            </a:avLst>
          </a:prstGeom>
          <a:solidFill>
            <a:srgbClr val="F3F5F3"/>
          </a:solidFill>
          <a:ln/>
        </p:spPr>
      </p:sp>
      <p:sp>
        <p:nvSpPr>
          <p:cNvPr id="36" name="match-hex"/>
          <p:cNvSpPr/>
          <p:nvPr/>
        </p:nvSpPr>
        <p:spPr>
          <a:xfrm>
            <a:off x="850392" y="5307974"/>
            <a:ext cx="384048" cy="332586"/>
          </a:xfrm>
          <a:prstGeom prst="hexagon">
            <a:avLst/>
          </a:prstGeom>
          <a:solidFill>
            <a:srgbClr val="3F6B4A"/>
          </a:solidFill>
          <a:ln/>
        </p:spPr>
      </p:sp>
      <p:sp>
        <p:nvSpPr>
          <p:cNvPr id="37" name="match-hex-label"/>
          <p:cNvSpPr txBox="1"/>
          <p:nvPr/>
        </p:nvSpPr>
        <p:spPr>
          <a:xfrm>
            <a:off x="850392"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86645"/>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Hazards</a:t>
            </a:r>
            <a:endParaRPr lang="en-US" sz="2200" dirty="0"/>
          </a:p>
        </p:txBody>
      </p:sp>
      <p:sp>
        <p:nvSpPr>
          <p:cNvPr id="39" name="match-card"/>
          <p:cNvSpPr/>
          <p:nvPr/>
        </p:nvSpPr>
        <p:spPr>
          <a:xfrm>
            <a:off x="4224437" y="4986645"/>
            <a:ext cx="7190019" cy="975243"/>
          </a:xfrm>
          <a:prstGeom prst="roundRect">
            <a:avLst>
              <a:gd name="adj" fmla="val 7501"/>
            </a:avLst>
          </a:prstGeom>
          <a:solidFill>
            <a:srgbClr val="F8F2E9"/>
          </a:solidFill>
          <a:ln/>
        </p:spPr>
      </p:sp>
      <p:sp>
        <p:nvSpPr>
          <p:cNvPr id="40" name="match-hex"/>
          <p:cNvSpPr/>
          <p:nvPr/>
        </p:nvSpPr>
        <p:spPr>
          <a:xfrm>
            <a:off x="4297589" y="5307974"/>
            <a:ext cx="384048" cy="332586"/>
          </a:xfrm>
          <a:prstGeom prst="hexagon">
            <a:avLst/>
          </a:prstGeom>
          <a:solidFill>
            <a:srgbClr val="B8862B"/>
          </a:solidFill>
          <a:ln/>
        </p:spPr>
      </p:sp>
      <p:sp>
        <p:nvSpPr>
          <p:cNvPr id="41" name="match-hex-label"/>
          <p:cNvSpPr txBox="1"/>
          <p:nvPr/>
        </p:nvSpPr>
        <p:spPr>
          <a:xfrm>
            <a:off x="4297589"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986645"/>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Deaths from cholera or Covid-19, mapped to study the cause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Match the use to the example</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use of a GIS to the example from your deck.</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FF2F0"/>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Census is about people being counted, so look for births.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Disease means illness, so look for deaths from cholera or Covid-19.</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Crime is what the police deal with, so look for thefts.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Hazards are natural dangers, so look for earthquakes and volcanoes.</a:t>
            </a:r>
            <a:endParaRPr lang="en-US" sz="1800" dirty="0"/>
          </a:p>
        </p:txBody>
      </p:sp>
      <p:sp>
        <p:nvSpPr>
          <p:cNvPr id="17" name="col-Core"/>
          <p:cNvSpPr/>
          <p:nvPr/>
        </p:nvSpPr>
        <p:spPr>
          <a:xfrm>
            <a:off x="5490762" y="2578608"/>
            <a:ext cx="2938987" cy="3566160"/>
          </a:xfrm>
          <a:prstGeom prst="roundRect">
            <a:avLst>
              <a:gd name="adj" fmla="val 1867"/>
            </a:avLst>
          </a:prstGeom>
          <a:solidFill>
            <a:srgbClr val="D8E1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Births, deaths, thefts, earthquakes. Which use does each belong to?</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two of the four uses and explain one layer you would add to each map to help explain the pattern it shows.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layer would help the police?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Several muggings have happened on one street after dark. Which GIS layer would most help the police understand why?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height of the land above sea level</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age of the buildings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Street lighting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Average rainfall for each month</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Which layer would help the police?</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layer would help the police?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the clue in the question: the muggings happen after dark.</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which layer has something to do with darkness.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the layers that are about weather, height or how old things are.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the layer that could show whether the street is dark where the crimes happen.</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After dark is the clue. Which layer is about light?</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Suggest a second layer the police could add to the same map, and explain what pattern it might reveal that the lighting layer cannot.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is a human feature?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railway station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river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hill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beach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Match the use to the example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Census data  →  B  The number of births in each area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Disease  →  D  Deaths from cholera or Covid-19, mapped to study the cause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Crime  →  A  Car thefts clustered on one street</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Hazards  →  C  Earthquakes and volcanoes, mapped to improve the response</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Census data shows births; disease mapping shows deaths from cholera or Covid-19; crime mapping shows clusters such as car thefts; hazard mapping shows earthquakes and volcanoes.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layer would help the police?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Several muggings have happened on one street after dark. Which GIS layer would most help the police understand why?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Street lighting</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muggings happen after dark, so a layer of street lighting could show that they cluster where the lights are missing or broken. The other layers do not connect to the clue.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human feature?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A railway station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railway station was built by people, so it is a human feature. Rivers, hills and beaches are natural, so they are physical features.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Systems (GIS) · Chapter 3: What is GIS used for?</dc:title>
  <dc:subject>Geography · Year 8</dc:subject>
  <dc:creator>Dr Vitor Merissi de Carvalho</dc:creator>
  <cp:lastModifiedBy>Dr Vitor Merissi de Carvalho</cp:lastModifiedBy>
  <cp:revision>1</cp:revision>
  <dcterms:created xsi:type="dcterms:W3CDTF">2026-10-19T06:07:37Z</dcterms:created>
  <dcterms:modified xsi:type="dcterms:W3CDTF">2026-10-19T06:07:37Z</dcterms:modified>
</cp:coreProperties>
</file>