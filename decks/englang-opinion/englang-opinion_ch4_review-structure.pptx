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4f97fb4-2a7a-e963-9cd3-a0ea27db21e8}">
          <p14:sldIdLst>
            <p14:sldId id="256"/>
          </p14:sldIdLst>
        </p14:section>
        <p14:section name="Gate" id="{7efdf10b-411c-7ae0-6681-331b7d26b35c}">
          <p14:sldIdLst>
            <p14:sldId id="257"/>
            <p14:sldId id="258"/>
          </p14:sldIdLst>
        </p14:section>
        <p14:section name="Pre-teach" id="{6395d723-0113-7627-663e-e0454b2e3b4d}">
          <p14:sldIdLst>
            <p14:sldId id="259"/>
          </p14:sldIdLst>
        </p14:section>
        <p14:section name="Read-along" id="{6c625f7b-ed65-9c3b-0c22-903c74da5b90}">
          <p14:sldIdLst>
            <p14:sldId id="260"/>
            <p14:sldId id="261"/>
          </p14:sldIdLst>
        </p14:section>
        <p14:section name="Teach" id="{b8a2e777-5e60-b5e3-8bc1-a50c3c1704ec}">
          <p14:sldIdLst>
            <p14:sldId id="262"/>
            <p14:sldId id="263"/>
            <p14:sldId id="264"/>
            <p14:sldId id="265"/>
          </p14:sldIdLst>
        </p14:section>
        <p14:section name="Routes" id="{f8d69e8a-aa44-1750-ca60-ce67bdd602f6}">
          <p14:sldIdLst>
            <p14:sldId id="266"/>
            <p14:sldId id="267"/>
            <p14:sldId id="268"/>
            <p14:sldId id="269"/>
          </p14:sldIdLst>
        </p14:section>
        <p14:section name="Close" id="{783103a6-e1dd-d49b-8a26-1f147c8c4487}">
          <p14:sldIdLst>
            <p14:sldId id="270"/>
          </p14:sldIdLst>
        </p14:section>
        <p14:section name="Answers" id="{da546ad2-ad77-e3f0-8da6-3d24f0b5edcb}">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Structuring and crafting a full review. You will plan a review in five parts, understand how it is marked, and bring the experience to life with sensory language and show, don’t tell.
This deck covers the department's lessons: 5 (Review Structure: How do I plan and structure a whole review?); 6 (Mid-unit assessment: writing a full review: How is my review marked, and can I write a full one in fifty minutes?); 8 (Feedback and feed-forward: How do I use writer’s craft and tone to bring my opinion to life?).
Read the big question aloud: "How do I write for a specific audience, and how do I turn my opinion into a review or an article that readers will finish?"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marks is a full review (the writing task) worth in total?  →  C   40
2. In the five-part structure, the ___ says whether you recommend the event, and gives a final reason.  →  conclusion
3. AO5 is worth 24 marks. What does it reward?  →  A   What you have written and how you have organised it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40. The writing task is worth 40 marks: 24 for content and organisation (AO5) and 16 for technical accuracy (AO6).
2. conclusion. The conclusion gives the overall recommendation and the final reason, based on the analysis before it.
3. A   What you have written and how you have organised it. AO5 is content and organisation: ideas, tone for the audience, and a clear structure with introduction and conclusion.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structure: the order of the parts of your writing. Example: "A review has a standard structure of five parts."
• description: the part that gives key facts and details. Example: "The description tells the reader when and where it happened."
• analysis: weighing up the good and the bad. Example: "Your analysis should be balanced."
• recommendation: your advice: should the reader go, or not. Example: "End with a clear recommendation and a reason."
• sensory: to do with the five senses. Example: "Sensory language helps the reader see, hear and smell the event."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review has five parts.
2. The introduction sets the scene and the tone.
3. The description gives key facts and details your audience wants.
4. The personal experience part brings the event to life.
5. Did the event match what you expected?
6. The analysis weighs up the good and the bad.
7. Give a balanced opinion.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conclusion says whether you recommend it, and why.
9. Your review is marked out of forty.
10. Twenty-four marks are for what you write and how you organise it.
11. Sixteen marks are for spelling, punctuation and sentences.
12. Show your feelings through details instead of just naming them.
13. Use the five senses to put the reader beside you.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Five parts, in a standard order. Say it in your own words, then check understanding with a quick question: ask a pupil from the pre-teach group first, since they met these words and ideas before the lesson. Pupils try to recall before you re-explain.
Your teachers give you a standard structure. Introduction: set the scene and set the tone. Description: describe the relevant details your audience would want to know, with key facts and information. Personal experience: reflect on your experience; you were there, so it is up to you to bring it to life, and ask whether expectation met reality. Analysis and judgement: analyse the good and the bad and give a balanced opinion. Conclusion: say whether you recommend it overall, give a final reason based on your analysis, and if relevant say where and when.
Sometimes the parts come in a different order, but all five should be there. Add a heading and a subheading at the top, draw a wide margin for notes, plan for five minutes, and then write. A full review should fill about a page and a half.
Worked example — model it step by step, thinking aloud: Fill the five-part planning grid for ‘Up, Up and Nearly Away’. (1) Introduction: the windy hill and the handbrake joke set a light tone; a family expecting a picnic. (2) Description: hours, free entry, parking cost, two hundred kites, the dragon, the stalls and the tent. (3) Personal experience: the promise to a daughter, nine seconds of flight, the man eating chips, the volunteer and the second attempt. (4) Analysis and judgement: toilets and loudspeakers were poor, other visitors grumbled about the car park, but the volunteers and the view were excellent. (5) Conclusion: yes, with wellies; a free family day out; back next May; check the council website. Answer: Each of the five paragraphs does one job. The plan is the review in miniature; writing it is filling in the detail..
Tip: Plan in the margin: I, D, P, A, C. If a paragraph does not fit a letter, ask what it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Five parts, in a standard order. Say it in your own words, then check understanding with a quick question: ask a pupil from the pre-teach group first, since they met these words and ideas before the lesson. Pupils try to recall before you re-explain.
Your teachers give you a standard structure. Introduction: set the scene and set the tone. Description: describe the relevant details your audience would want to know, with key facts and information. Personal experience: reflect on your experience; you were there, so it is up to you to bring it to life, and ask whether expectation met reality. Analysis and judgement: analyse the good and the bad and give a balanced opinion. Conclusion: say whether you recommend it overall, give a final reason based on your analysis, and if relevant say where and when.
Sometimes the parts come in a different order, but all five should be there. Add a heading and a subheading at the top, draw a wide margin for notes, plan for five minutes, and then write. A full review should fill about a page and a half.
Worked example — model it step by step, thinking aloud: Fill the five-part planning grid for ‘Up, Up and Nearly Away’. (1) Introduction: the windy hill and the handbrake joke set a light tone; a family expecting a picnic. (2) Description: hours, free entry, parking cost, two hundred kites, the dragon, the stalls and the tent. (3) Personal experience: the promise to a daughter, nine seconds of flight, the man eating chips, the volunteer and the second attempt. (4) Analysis and judgement: toilets and loudspeakers were poor, other visitors grumbled about the car park, but the volunteers and the view were excellent. (5) Conclusion: yes, with wellies; a free family day out; back next May; check the council website. Answer: Each of the five paragraphs does one job. The plan is the review in miniature; writing it is filling in the detail..
Tip: Plan in the margin: I, D, P, A, C. If a paragraph does not fit a letter, ask what it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your review is marked. Say it in your own words, then check understanding with a quick question: ask a pupil from the pre-teach group first, since they met these words and ideas before the lesson. Pupils try to recall before you re-explain.
Your review is marked out of 40, the same as the writing question on GCSE Language Paper 2. AO5 is worth 24 marks and rewards content and organisation: what you have written and how you have organised it. That means a heading and subheading, facts and statistics, personal opinion and other people’s opinions, well-chosen adjectives, an appropriate tone for your audience, a clear introduction and conclusion, and paragraphs in a sensible order.
AO6 is worth 16 marks and rewards technical accuracy: how correctly you have written. That means accurate spelling, varied and correct punctuation, a variety of sentence structures, and ambitious vocabulary used properly. You are being marked on how you write as well as what you write, so leave time to check.
Tip: 40 marks: 24 for content and organisation (AO5), 16 for technical accuracy (AO6). The split is the same at GCSE.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Bring it to life: show, don’t tell. Say it in your own words, then check understanding with a quick question: ask a pupil from the pre-teach group first, since they met these words and ideas before the lesson. Pupils try to recall before you re-explain.
A good review entertains as well as informs, and the difference is usually craft. Compare your draft with a professional model and you will notice two things: the professional describes through sensory language, and they focus on fewer moments in more detail. Recall some highlights and describe them in a lively way, rather than listing everything that happened.
Think of it as show, don’t tell. Your opinion and your feelings should be clear from the way you describe the event, not only from the word ‘good’ or ‘bad’. ‘I was disappointed by the café’ tells. ‘The café’s only sandwich had curled at the edges, and the tea was the colour of a puddle’ shows, and the reader feels the disappointment with you.
Your toolkit from earlier units still applies: MASOAPS for description (metaphor, adjectives and adverbs, simile, onomatopoeia, alliteration, personification, sensory language) and DAFOREST for persuasion. Use them to create a positive or negative tone on purpose. But be careful: a review must still carry its basic information and facts.
Quotation: "I had promised my daughter that our kite would fly. It did, for about nine seconds, before it nose-dived into a man eating chips. He was very kind about it." (‘Up, Up and Nearly Away’, paragraph 3 — original model review written for Ad Astra). Read it aloud; ask what it shows.
Tip: Pick two moments and give each five senses. That beats ten moments with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five parts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parts of a review in the standard order your teachers give you.
Support — work through the steps with the group: (1) The scene is set before anything else. (2) Facts come before feelings: the reader needs to know what it was before how it felt. (3) You cannot analyse an experience you have not described yet. (4) The recommendation is last because it depends on the analysis.
Parallel worked example for Support (model it, do not give the task answer): Order these four parts of a science write-up: results, method, conclusion, aim. Start with what you set out to do.; Then how, then what happened.; Conclude last.. Answer: Aim, method, results, conclusion..
Core — reveal the hint only on request: I, D, P, A, C. Scene, facts, feelings, weighing up, verdict.
Stretch — no help; when finished: Your teachers say the parts can sometimes come in a different order. Suggest one swap that could work and explain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five parts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parts of a review in the standard order your teachers give you.
Support — work through the steps with the group: (1) The scene is set before anything else. (2) Facts come before feelings: the reader needs to know what it was before how it felt. (3) You cannot analyse an experience you have not described yet. (4) The recommendation is last because it depends on the analysis.
Parallel worked example for Support (model it, do not give the task answer): Order these four parts of a science write-up: results, method, conclusion, aim. Start with what you set out to do.; Then how, then what happened.; Conclude last.. Answer: Aim, method, results, conclusion..
Core — reveal the hint only on request: I, D, P, A, C. Scene, facts, feelings, weighing up, verdict.
Stretch — no help; when finished: Your teachers say the parts can sometimes come in a different order. Suggest one swap that could work and explain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part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extract from ‘Up, Up and Nearly Away’ to the part of the review it belongs to.
Support — work through the steps with the group: (1) The introduction paints the scene; look for the place and the weather. (2) The description gives facts you could check: times, prices. (3) Personal experience is told with ‘I’ and ‘my’. (4) Analysis weighs the bad against the good: ‘Not everything…’. (5) The conclusion answers ‘would I go again?’.
Parallel worked example for Support (model it, do not give the task answer): Which part of a review is this: ‘Tickets cost eight pounds and the show lasts ninety minutes.’? Could you check it? Yes: a price and a length.; Facts belong in the description.. Answer: The description..
Core — reveal the hint only on request: Look for ‘I had promised’ (experience), a price (description) and a question (conclusion).
Stretch — no help; when finished: Find a second sentence in the review for each part, to prove each paragraph does one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part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extract from ‘Up, Up and Nearly Away’ to the part of the review it belongs to.
Support — work through the steps with the group: (1) The introduction paints the scene; look for the place and the weather. (2) The description gives facts you could check: times, prices. (3) Personal experience is told with ‘I’ and ‘my’. (4) Analysis weighs the bad against the good: ‘Not everything…’. (5) The conclusion answers ‘would I go again?’.
Parallel worked example for Support (model it, do not give the task answer): Which part of a review is this: ‘Tickets cost eight pounds and the show lasts ninety minutes.’? Could you check it? Yes: a price and a length.; Facts belong in the description.. Answer: The description..
Core — reveal the hint only on request: Look for ‘I had promised’ (experience), a price (description) and a question (conclusion).
Stretch — no help; when finished: Find a second sentence in the review for each part, to prove each paragraph does one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many marks is a full review (the writing task) worth in total?
Answer: B   40. The writing task is worth 40 marks: 24 for content and organisation (AO5) and 16 for technical accuracy (AO6).
Source of this question: gate item 1 re-asked (options rotated) — this chapter has no third quick-check module.
The ebook also holds task 3, "Writing practice: a full review",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five parts in order. Reveal the answer; pupils mark their own work in a different colour, then read the "why" together. Same destination for every lane, so one answer serves the whole class.
Answer: Introduction: set the scene and the tone  (B); Description: key facts and details the audience wants  (C); Personal experience: bring the event to life; did expectation meet reality?  (D); Analysis and judgement: weigh the good and the bad  (A); Conclusion: recommend or not, with a final reason  (E)
Why: Introduction, description, personal experience, analysis and judgement, conclusion: scene, facts, feelings, weighing up, verdict.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part is this?. Reveal the answer; pupils mark their own work in a different colour, then read the "why" together. Same destination for every lane, so one answer serves the whole class.
Answer: Introduction  →  E  “Picture a hill so windy that the ice-cream van needs a handbrake.”; Description  →  A  “The festival runs from ten until four and entry is free”; Personal experience  →  B  “I had promised my daughter that our kite would fly.”; Analysis and judgement  →  D  “Not everything soared. The queue for the toilets was long”; Conclusion  →  C  “Would I go again? Yes, with wellies and a stronger kite.”
Why: Scene, facts, ‘I’, weighing up, verdict: each paragraph of the review does one of the five jobs.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40
Why: The writing task is worth 40 marks: 24 for content and organisation (AO5) and 16 for technical accuracy (AO6).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D5D7"/>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Opinion Writing · AQA KS3 → 8700</a:t>
            </a:r>
            <a:endParaRPr lang="en-US" sz="1800" dirty="0"/>
          </a:p>
        </p:txBody>
      </p:sp>
      <p:sp>
        <p:nvSpPr>
          <p:cNvPr id="10" name="deck-title"/>
          <p:cNvSpPr txBox="1"/>
          <p:nvPr/>
        </p:nvSpPr>
        <p:spPr>
          <a:xfrm>
            <a:off x="548640" y="204520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Structuring and crafting a full review</a:t>
            </a:r>
            <a:endParaRPr lang="en-US" sz="4000" dirty="0"/>
          </a:p>
        </p:txBody>
      </p:sp>
      <p:sp>
        <p:nvSpPr>
          <p:cNvPr id="11" name="lessons-card"/>
          <p:cNvSpPr/>
          <p:nvPr/>
        </p:nvSpPr>
        <p:spPr>
          <a:xfrm>
            <a:off x="548640" y="3721608"/>
            <a:ext cx="5287975" cy="1676400"/>
          </a:xfrm>
          <a:prstGeom prst="roundRect">
            <a:avLst>
              <a:gd name="adj" fmla="val 4364"/>
            </a:avLst>
          </a:prstGeom>
          <a:solidFill>
            <a:srgbClr val="F4EAEB"/>
          </a:solidFill>
          <a:ln/>
        </p:spPr>
      </p:sp>
      <p:sp>
        <p:nvSpPr>
          <p:cNvPr id="12" name="lessons"/>
          <p:cNvSpPr txBox="1"/>
          <p:nvPr/>
        </p:nvSpPr>
        <p:spPr>
          <a:xfrm>
            <a:off x="685800" y="381304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Review Structure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Mid-unit assessment: writing a full review</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Feedback and feed-forward</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EAEB"/>
          </a:solidFill>
          <a:ln w="12700">
            <a:solidFill>
              <a:srgbClr val="D1ACB0"/>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write for a specific audience, and how do I turn my opinion into a review or an article that readers will finish?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marks is a full review (the writing task) worth in total?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80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24</a:t>
            </a:r>
            <a:endParaRPr lang="en-US" sz="2400" dirty="0"/>
          </a:p>
        </p:txBody>
      </p:sp>
      <p:sp>
        <p:nvSpPr>
          <p:cNvPr id="12" name="card"/>
          <p:cNvSpPr/>
          <p:nvPr/>
        </p:nvSpPr>
        <p:spPr>
          <a:xfrm>
            <a:off x="4338218" y="1389888"/>
            <a:ext cx="3515258" cy="4754880"/>
          </a:xfrm>
          <a:prstGeom prst="roundRect">
            <a:avLst>
              <a:gd name="adj" fmla="val 1561"/>
            </a:avLst>
          </a:prstGeom>
          <a:solidFill>
            <a:srgbClr val="F7F0F1"/>
          </a:solidFill>
          <a:ln w="12700">
            <a:solidFill>
              <a:srgbClr val="D7B6BA"/>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the five-part structure, the ___ says whether you recommend the event, and gives a final reason.</a:t>
            </a:r>
            <a:endParaRPr lang="en-US" sz="2200" dirty="0"/>
          </a:p>
          <a:p>
            <a:pPr algn="l" indent="0" marL="0">
              <a:buNone/>
            </a:pPr>
            <a:r>
              <a:rPr lang="en-US" sz="2200" b="1" dirty="0">
                <a:solidFill>
                  <a:srgbClr val="8C2F39"/>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conclusion  ·  introduction  ·  description</a:t>
            </a:r>
            <a:endParaRPr lang="en-US" sz="2200" dirty="0"/>
          </a:p>
        </p:txBody>
      </p:sp>
      <p:sp>
        <p:nvSpPr>
          <p:cNvPr id="17" name="card"/>
          <p:cNvSpPr/>
          <p:nvPr/>
        </p:nvSpPr>
        <p:spPr>
          <a:xfrm>
            <a:off x="8127797" y="1389888"/>
            <a:ext cx="3515258" cy="4754880"/>
          </a:xfrm>
          <a:prstGeom prst="roundRect">
            <a:avLst>
              <a:gd name="adj" fmla="val 1561"/>
            </a:avLst>
          </a:prstGeom>
          <a:solidFill>
            <a:srgbClr val="F7F0F1"/>
          </a:solidFill>
          <a:ln w="12700">
            <a:solidFill>
              <a:srgbClr val="D7B6BA"/>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AO5 is worth 24 marks. What does it reward?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you have written and how you have organised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Neat handwriting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Writing as many pages as possible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Spelling and punctuation only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40</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How many marks is a full review (the writing task) worth in total?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writing task is worth 40 marks: 24 for content and organisation (AO5) and 16 for technical accuracy (AO6).</a:t>
            </a:r>
            <a:endParaRPr lang="en-US" sz="2000" dirty="0"/>
          </a:p>
        </p:txBody>
      </p:sp>
      <p:sp>
        <p:nvSpPr>
          <p:cNvPr id="14" name="card"/>
          <p:cNvSpPr/>
          <p:nvPr/>
        </p:nvSpPr>
        <p:spPr>
          <a:xfrm>
            <a:off x="4338218" y="1389888"/>
            <a:ext cx="3515258" cy="4754880"/>
          </a:xfrm>
          <a:prstGeom prst="roundRect">
            <a:avLst>
              <a:gd name="adj" fmla="val 1561"/>
            </a:avLst>
          </a:prstGeom>
          <a:solidFill>
            <a:srgbClr val="F7F0F1"/>
          </a:solidFill>
          <a:ln w="12700">
            <a:solidFill>
              <a:srgbClr val="D7B6BA"/>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conclusion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the five-part structure, the ___ says whether you recommend the event, and gives a final reason.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conclusion gives the overall recommendation and the final reason, based on the analysis before it.</a:t>
            </a:r>
            <a:endParaRPr lang="en-US" sz="2000" dirty="0"/>
          </a:p>
        </p:txBody>
      </p:sp>
      <p:sp>
        <p:nvSpPr>
          <p:cNvPr id="21" name="card"/>
          <p:cNvSpPr/>
          <p:nvPr/>
        </p:nvSpPr>
        <p:spPr>
          <a:xfrm>
            <a:off x="8127797" y="1389888"/>
            <a:ext cx="3515258" cy="4754880"/>
          </a:xfrm>
          <a:prstGeom prst="roundRect">
            <a:avLst>
              <a:gd name="adj" fmla="val 1561"/>
            </a:avLst>
          </a:prstGeom>
          <a:solidFill>
            <a:srgbClr val="F7F0F1"/>
          </a:solidFill>
          <a:ln w="12700">
            <a:solidFill>
              <a:srgbClr val="D7B6BA"/>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What you have written and how you have organised it</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AO5 is content and organisation: ideas, tone for the audience, and a clear structure with introduction and conclusion.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F6EEEF"/>
          </a:solidFill>
          <a:ln/>
        </p:spPr>
      </p:sp>
      <p:sp>
        <p:nvSpPr>
          <p:cNvPr id="12" name="kw-hex"/>
          <p:cNvSpPr/>
          <p:nvPr/>
        </p:nvSpPr>
        <p:spPr>
          <a:xfrm>
            <a:off x="658368" y="2158020"/>
            <a:ext cx="411480" cy="356342"/>
          </a:xfrm>
          <a:prstGeom prst="hexagon">
            <a:avLst/>
          </a:prstGeom>
          <a:solidFill>
            <a:srgbClr val="8C2F39"/>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structure</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order of the parts of your writing</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review has a standard structure of five parts.</a:t>
            </a:r>
            <a:endParaRPr lang="en-US" sz="1800" dirty="0"/>
          </a:p>
        </p:txBody>
      </p:sp>
      <p:sp>
        <p:nvSpPr>
          <p:cNvPr id="16" name="kw-row"/>
          <p:cNvSpPr/>
          <p:nvPr/>
        </p:nvSpPr>
        <p:spPr>
          <a:xfrm>
            <a:off x="548640" y="2825293"/>
            <a:ext cx="11094415" cy="831901"/>
          </a:xfrm>
          <a:prstGeom prst="roundRect">
            <a:avLst>
              <a:gd name="adj" fmla="val 6595"/>
            </a:avLst>
          </a:prstGeom>
          <a:solidFill>
            <a:srgbClr val="F6F0E6"/>
          </a:solidFill>
          <a:ln/>
        </p:spPr>
      </p:sp>
      <p:sp>
        <p:nvSpPr>
          <p:cNvPr id="17" name="kw-hex"/>
          <p:cNvSpPr/>
          <p:nvPr/>
        </p:nvSpPr>
        <p:spPr>
          <a:xfrm>
            <a:off x="658368" y="3063072"/>
            <a:ext cx="411480" cy="356342"/>
          </a:xfrm>
          <a:prstGeom prst="hexagon">
            <a:avLst/>
          </a:prstGeom>
          <a:solidFill>
            <a:srgbClr val="B8862B"/>
          </a:solidFill>
          <a:ln/>
        </p:spPr>
      </p:sp>
      <p:sp>
        <p:nvSpPr>
          <p:cNvPr id="18" name="kw-cell"/>
          <p:cNvSpPr txBox="1"/>
          <p:nvPr/>
        </p:nvSpPr>
        <p:spPr>
          <a:xfrm>
            <a:off x="1143000" y="2825293"/>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description</a:t>
            </a:r>
            <a:endParaRPr lang="en-US" sz="2000" dirty="0"/>
          </a:p>
        </p:txBody>
      </p:sp>
      <p:sp>
        <p:nvSpPr>
          <p:cNvPr id="19" name="kw-cell"/>
          <p:cNvSpPr txBox="1"/>
          <p:nvPr/>
        </p:nvSpPr>
        <p:spPr>
          <a:xfrm>
            <a:off x="3657600" y="2825293"/>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part that gives key facts and details</a:t>
            </a:r>
            <a:endParaRPr lang="en-US" sz="1800" dirty="0"/>
          </a:p>
        </p:txBody>
      </p:sp>
      <p:sp>
        <p:nvSpPr>
          <p:cNvPr id="20" name="kw-cell"/>
          <p:cNvSpPr txBox="1"/>
          <p:nvPr/>
        </p:nvSpPr>
        <p:spPr>
          <a:xfrm>
            <a:off x="7315200" y="2825293"/>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description tells the reader when and where it happened.</a:t>
            </a:r>
            <a:endParaRPr lang="en-US" sz="1800" dirty="0"/>
          </a:p>
        </p:txBody>
      </p:sp>
      <p:sp>
        <p:nvSpPr>
          <p:cNvPr id="21" name="kw-row"/>
          <p:cNvSpPr/>
          <p:nvPr/>
        </p:nvSpPr>
        <p:spPr>
          <a:xfrm>
            <a:off x="548640" y="3730346"/>
            <a:ext cx="11094415" cy="604317"/>
          </a:xfrm>
          <a:prstGeom prst="roundRect">
            <a:avLst>
              <a:gd name="adj" fmla="val 9079"/>
            </a:avLst>
          </a:prstGeom>
          <a:solidFill>
            <a:srgbClr val="F6EEEF"/>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730346"/>
            <a:ext cx="2331720" cy="604317"/>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analysis</a:t>
            </a:r>
            <a:endParaRPr lang="en-US" sz="2000" dirty="0"/>
          </a:p>
        </p:txBody>
      </p:sp>
      <p:sp>
        <p:nvSpPr>
          <p:cNvPr id="24" name="kw-cell"/>
          <p:cNvSpPr txBox="1"/>
          <p:nvPr/>
        </p:nvSpPr>
        <p:spPr>
          <a:xfrm>
            <a:off x="3657600" y="3730346"/>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weighing up the good and the bad</a:t>
            </a:r>
            <a:endParaRPr lang="en-US" sz="1800" dirty="0"/>
          </a:p>
        </p:txBody>
      </p:sp>
      <p:sp>
        <p:nvSpPr>
          <p:cNvPr id="25" name="kw-cell"/>
          <p:cNvSpPr txBox="1"/>
          <p:nvPr/>
        </p:nvSpPr>
        <p:spPr>
          <a:xfrm>
            <a:off x="7315200" y="3730346"/>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Your analysis should be balanced.</a:t>
            </a:r>
            <a:endParaRPr lang="en-US" sz="1800" dirty="0"/>
          </a:p>
        </p:txBody>
      </p:sp>
      <p:sp>
        <p:nvSpPr>
          <p:cNvPr id="26" name="kw-row"/>
          <p:cNvSpPr/>
          <p:nvPr/>
        </p:nvSpPr>
        <p:spPr>
          <a:xfrm>
            <a:off x="548640" y="4407814"/>
            <a:ext cx="11094415" cy="831901"/>
          </a:xfrm>
          <a:prstGeom prst="roundRect">
            <a:avLst>
              <a:gd name="adj" fmla="val 6595"/>
            </a:avLst>
          </a:prstGeom>
          <a:solidFill>
            <a:srgbClr val="F6F0E6"/>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recommendation</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advice: should the reader go, or not</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End with a clear recommendation and a reason.</a:t>
            </a:r>
            <a:endParaRPr lang="en-US" sz="1800" dirty="0"/>
          </a:p>
        </p:txBody>
      </p:sp>
      <p:sp>
        <p:nvSpPr>
          <p:cNvPr id="31" name="kw-row"/>
          <p:cNvSpPr/>
          <p:nvPr/>
        </p:nvSpPr>
        <p:spPr>
          <a:xfrm>
            <a:off x="548640" y="5312867"/>
            <a:ext cx="11094415" cy="831901"/>
          </a:xfrm>
          <a:prstGeom prst="roundRect">
            <a:avLst>
              <a:gd name="adj" fmla="val 6595"/>
            </a:avLst>
          </a:prstGeom>
          <a:solidFill>
            <a:srgbClr val="F6EEEF"/>
          </a:solidFill>
          <a:ln/>
        </p:spPr>
      </p:sp>
      <p:sp>
        <p:nvSpPr>
          <p:cNvPr id="32" name="kw-hex"/>
          <p:cNvSpPr/>
          <p:nvPr/>
        </p:nvSpPr>
        <p:spPr>
          <a:xfrm>
            <a:off x="658368" y="5550647"/>
            <a:ext cx="411480" cy="356342"/>
          </a:xfrm>
          <a:prstGeom prst="hexagon">
            <a:avLst/>
          </a:prstGeom>
          <a:solidFill>
            <a:srgbClr val="8C2F39"/>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sensory</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do with the five senses</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Sensory language helps the reader see, hear and smell the event.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review has five parts.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introduction sets the scene and the tone.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description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gives key facts and details your audience wants.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personal experience part brings the event to life.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Did the event match what you expected?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analysis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weighs up the good and the bad.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Give a balanced opinion.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conclusion says whether you recommend it, and why.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Your review is marked out of forty.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Twenty-four marks are for what you write and how you organise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Sixteen marks are for spelling, punctuation and sentences.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Show your feelings through details instead of just naming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Use the five senses to put the reader beside you.</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Five parts, in a standard order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Plan in the margin: I, D, P, A, C. If a paragraph does not fit a letter, ask what it is for.</a:t>
            </a:r>
            <a:endParaRPr lang="en-US" sz="1800" dirty="0"/>
          </a:p>
        </p:txBody>
      </p:sp>
      <p:sp>
        <p:nvSpPr>
          <p:cNvPr id="11" name="point-card"/>
          <p:cNvSpPr/>
          <p:nvPr/>
        </p:nvSpPr>
        <p:spPr>
          <a:xfrm>
            <a:off x="548640" y="1389888"/>
            <a:ext cx="5410048" cy="3964940"/>
          </a:xfrm>
          <a:prstGeom prst="roundRect">
            <a:avLst>
              <a:gd name="adj" fmla="val 1384"/>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teachers give you a standard structure. Introduction: set the scene and set the tone.</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Sometimes the parts come in a different order, but all five should be there.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Worked example: Five parts, in a standard order</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EAEB"/>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Fill the five-part planning grid for ‘Up, Up and Nearly Away’.</a:t>
            </a:r>
            <a:endParaRPr lang="en-US" sz="2000" dirty="0"/>
          </a:p>
        </p:txBody>
      </p:sp>
      <p:sp>
        <p:nvSpPr>
          <p:cNvPr id="9" name="step-box"/>
          <p:cNvSpPr/>
          <p:nvPr/>
        </p:nvSpPr>
        <p:spPr>
          <a:xfrm>
            <a:off x="548640" y="2192528"/>
            <a:ext cx="11094415" cy="422995"/>
          </a:xfrm>
          <a:prstGeom prst="roundRect">
            <a:avLst>
              <a:gd name="adj" fmla="val 17294"/>
            </a:avLst>
          </a:prstGeom>
          <a:solidFill>
            <a:srgbClr val="FFFFFF"/>
          </a:solidFill>
          <a:ln w="15875">
            <a:solidFill>
              <a:srgbClr val="C08D92"/>
            </a:solidFill>
            <a:prstDash val="solid"/>
          </a:ln>
        </p:spPr>
      </p:sp>
      <p:sp>
        <p:nvSpPr>
          <p:cNvPr id="10" name="step-hex"/>
          <p:cNvSpPr/>
          <p:nvPr/>
        </p:nvSpPr>
        <p:spPr>
          <a:xfrm>
            <a:off x="685800" y="2206058"/>
            <a:ext cx="457200" cy="395935"/>
          </a:xfrm>
          <a:prstGeom prst="hexagon">
            <a:avLst/>
          </a:prstGeom>
          <a:solidFill>
            <a:srgbClr val="8C2F39"/>
          </a:solidFill>
          <a:ln/>
        </p:spPr>
      </p:sp>
      <p:sp>
        <p:nvSpPr>
          <p:cNvPr id="11" name="step-hex-label"/>
          <p:cNvSpPr txBox="1"/>
          <p:nvPr/>
        </p:nvSpPr>
        <p:spPr>
          <a:xfrm>
            <a:off x="685800" y="220605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2299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Introduction: the windy hill and the handbrake joke set a light tone; a family expecting a picnic.</a:t>
            </a:r>
            <a:endParaRPr lang="en-US" sz="1800" dirty="0"/>
          </a:p>
        </p:txBody>
      </p:sp>
      <p:sp>
        <p:nvSpPr>
          <p:cNvPr id="13" name="step-box"/>
          <p:cNvSpPr/>
          <p:nvPr/>
        </p:nvSpPr>
        <p:spPr>
          <a:xfrm>
            <a:off x="548640" y="2688675"/>
            <a:ext cx="11094415" cy="422995"/>
          </a:xfrm>
          <a:prstGeom prst="roundRect">
            <a:avLst>
              <a:gd name="adj" fmla="val 17294"/>
            </a:avLst>
          </a:prstGeom>
          <a:solidFill>
            <a:srgbClr val="FFFFFF"/>
          </a:solidFill>
          <a:ln w="15875">
            <a:solidFill>
              <a:srgbClr val="C08D92"/>
            </a:solidFill>
            <a:prstDash val="solid"/>
          </a:ln>
        </p:spPr>
      </p:sp>
      <p:sp>
        <p:nvSpPr>
          <p:cNvPr id="14" name="step-hex"/>
          <p:cNvSpPr/>
          <p:nvPr/>
        </p:nvSpPr>
        <p:spPr>
          <a:xfrm>
            <a:off x="685800" y="2702204"/>
            <a:ext cx="457200" cy="395935"/>
          </a:xfrm>
          <a:prstGeom prst="hexagon">
            <a:avLst/>
          </a:prstGeom>
          <a:solidFill>
            <a:srgbClr val="8C2F39"/>
          </a:solidFill>
          <a:ln/>
        </p:spPr>
      </p:sp>
      <p:sp>
        <p:nvSpPr>
          <p:cNvPr id="15" name="step-hex-label"/>
          <p:cNvSpPr txBox="1"/>
          <p:nvPr/>
        </p:nvSpPr>
        <p:spPr>
          <a:xfrm>
            <a:off x="685800" y="27022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688675"/>
            <a:ext cx="10180015" cy="42299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Description: hours, free entry, parking cost, two hundred kites, the dragon, the stalls and the tent.</a:t>
            </a:r>
            <a:endParaRPr lang="en-US" sz="1800" dirty="0"/>
          </a:p>
        </p:txBody>
      </p:sp>
      <p:sp>
        <p:nvSpPr>
          <p:cNvPr id="17" name="step-box"/>
          <p:cNvSpPr/>
          <p:nvPr/>
        </p:nvSpPr>
        <p:spPr>
          <a:xfrm>
            <a:off x="548640" y="3184821"/>
            <a:ext cx="11094415" cy="687155"/>
          </a:xfrm>
          <a:prstGeom prst="roundRect">
            <a:avLst>
              <a:gd name="adj" fmla="val 10646"/>
            </a:avLst>
          </a:prstGeom>
          <a:solidFill>
            <a:srgbClr val="FFFFFF"/>
          </a:solidFill>
          <a:ln w="15875">
            <a:solidFill>
              <a:srgbClr val="C08D92"/>
            </a:solidFill>
            <a:prstDash val="solid"/>
          </a:ln>
        </p:spPr>
      </p:sp>
      <p:sp>
        <p:nvSpPr>
          <p:cNvPr id="18" name="step-hex"/>
          <p:cNvSpPr/>
          <p:nvPr/>
        </p:nvSpPr>
        <p:spPr>
          <a:xfrm>
            <a:off x="685800" y="3330431"/>
            <a:ext cx="457200" cy="395935"/>
          </a:xfrm>
          <a:prstGeom prst="hexagon">
            <a:avLst/>
          </a:prstGeom>
          <a:solidFill>
            <a:srgbClr val="8C2F39"/>
          </a:solidFill>
          <a:ln/>
        </p:spPr>
      </p:sp>
      <p:sp>
        <p:nvSpPr>
          <p:cNvPr id="19" name="step-hex-label"/>
          <p:cNvSpPr txBox="1"/>
          <p:nvPr/>
        </p:nvSpPr>
        <p:spPr>
          <a:xfrm>
            <a:off x="685800" y="333043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184821"/>
            <a:ext cx="10180015" cy="6871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Personal experience: the promise to a daughter, nine seconds of flight, the man eating chips, the volunteer and the second attempt.</a:t>
            </a:r>
            <a:endParaRPr lang="en-US" sz="1800" dirty="0"/>
          </a:p>
        </p:txBody>
      </p:sp>
      <p:sp>
        <p:nvSpPr>
          <p:cNvPr id="21" name="step-box"/>
          <p:cNvSpPr/>
          <p:nvPr/>
        </p:nvSpPr>
        <p:spPr>
          <a:xfrm>
            <a:off x="548640" y="3945128"/>
            <a:ext cx="11094415" cy="687155"/>
          </a:xfrm>
          <a:prstGeom prst="roundRect">
            <a:avLst>
              <a:gd name="adj" fmla="val 10646"/>
            </a:avLst>
          </a:prstGeom>
          <a:solidFill>
            <a:srgbClr val="FFFFFF"/>
          </a:solidFill>
          <a:ln w="15875">
            <a:solidFill>
              <a:srgbClr val="C08D92"/>
            </a:solidFill>
            <a:prstDash val="solid"/>
          </a:ln>
        </p:spPr>
      </p:sp>
      <p:sp>
        <p:nvSpPr>
          <p:cNvPr id="22" name="step-hex"/>
          <p:cNvSpPr/>
          <p:nvPr/>
        </p:nvSpPr>
        <p:spPr>
          <a:xfrm>
            <a:off x="685800" y="4090738"/>
            <a:ext cx="457200" cy="395935"/>
          </a:xfrm>
          <a:prstGeom prst="hexagon">
            <a:avLst/>
          </a:prstGeom>
          <a:solidFill>
            <a:srgbClr val="8C2F39"/>
          </a:solidFill>
          <a:ln/>
        </p:spPr>
      </p:sp>
      <p:sp>
        <p:nvSpPr>
          <p:cNvPr id="23" name="step-hex-label"/>
          <p:cNvSpPr txBox="1"/>
          <p:nvPr/>
        </p:nvSpPr>
        <p:spPr>
          <a:xfrm>
            <a:off x="685800" y="409073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3945128"/>
            <a:ext cx="10180015" cy="6871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Analysis and judgement: toilets and loudspeakers were poor, other visitors grumbled about the car park, but the volunteers and the view were excellent.</a:t>
            </a:r>
            <a:endParaRPr lang="en-US" sz="1800" dirty="0"/>
          </a:p>
        </p:txBody>
      </p:sp>
      <p:sp>
        <p:nvSpPr>
          <p:cNvPr id="25" name="step-box"/>
          <p:cNvSpPr/>
          <p:nvPr/>
        </p:nvSpPr>
        <p:spPr>
          <a:xfrm>
            <a:off x="548640" y="4705435"/>
            <a:ext cx="11094415" cy="422995"/>
          </a:xfrm>
          <a:prstGeom prst="roundRect">
            <a:avLst>
              <a:gd name="adj" fmla="val 17294"/>
            </a:avLst>
          </a:prstGeom>
          <a:solidFill>
            <a:srgbClr val="FFFFFF"/>
          </a:solidFill>
          <a:ln w="15875">
            <a:solidFill>
              <a:srgbClr val="C08D92"/>
            </a:solidFill>
            <a:prstDash val="solid"/>
          </a:ln>
        </p:spPr>
      </p:sp>
      <p:sp>
        <p:nvSpPr>
          <p:cNvPr id="26" name="step-hex"/>
          <p:cNvSpPr/>
          <p:nvPr/>
        </p:nvSpPr>
        <p:spPr>
          <a:xfrm>
            <a:off x="685800" y="4718964"/>
            <a:ext cx="457200" cy="395935"/>
          </a:xfrm>
          <a:prstGeom prst="hexagon">
            <a:avLst/>
          </a:prstGeom>
          <a:solidFill>
            <a:srgbClr val="8C2F39"/>
          </a:solidFill>
          <a:ln/>
        </p:spPr>
      </p:sp>
      <p:sp>
        <p:nvSpPr>
          <p:cNvPr id="27" name="step-hex-label"/>
          <p:cNvSpPr txBox="1"/>
          <p:nvPr/>
        </p:nvSpPr>
        <p:spPr>
          <a:xfrm>
            <a:off x="685800" y="47189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step"/>
          <p:cNvSpPr txBox="1"/>
          <p:nvPr/>
        </p:nvSpPr>
        <p:spPr>
          <a:xfrm>
            <a:off x="1280160" y="4705435"/>
            <a:ext cx="10180015" cy="42299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Conclusion: yes, with wellies; a free family day out; back next May; check the council website.</a:t>
            </a:r>
            <a:endParaRPr lang="en-US" sz="1800" dirty="0"/>
          </a:p>
        </p:txBody>
      </p:sp>
      <p:sp>
        <p:nvSpPr>
          <p:cNvPr id="29" name="worked-answer"/>
          <p:cNvSpPr/>
          <p:nvPr/>
        </p:nvSpPr>
        <p:spPr>
          <a:xfrm>
            <a:off x="548640" y="5311309"/>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Each of the five paragraphs does one job. The plan is the review in miniature; writing it is filling in the detail.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How your review is marked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40 marks: 24 for content and organisation (AO5), 16 for technical accuracy (AO6). The split is the same at GCSE.</a:t>
            </a:r>
            <a:endParaRPr lang="en-US" sz="1800" dirty="0"/>
          </a:p>
        </p:txBody>
      </p:sp>
      <p:sp>
        <p:nvSpPr>
          <p:cNvPr id="11" name="point-card"/>
          <p:cNvSpPr/>
          <p:nvPr/>
        </p:nvSpPr>
        <p:spPr>
          <a:xfrm>
            <a:off x="548640" y="1389888"/>
            <a:ext cx="5410048" cy="3686048"/>
          </a:xfrm>
          <a:prstGeom prst="roundRect">
            <a:avLst>
              <a:gd name="adj" fmla="val 1488"/>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review is marked out of 40, the same as the writing question on GCSE Language Paper 2.</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AO6 is worth 16 marks and rewards technical accuracy: how correctly you have written.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Bring it to life: show, don’t tell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Pick two moments and give each five senses. That beats ten moments with none.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4EAEB"/>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I had promised my daughter that our kite would fly. It did, for about nine seconds, before it nose-dived into a man eating chips. He was very kind about it.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‘Up, Up and Nearly Away’, paragraph 3 — original model review written for Ad Astra</a:t>
            </a:r>
            <a:endParaRPr lang="en-US" sz="2600" dirty="0"/>
          </a:p>
        </p:txBody>
      </p:sp>
      <p:sp>
        <p:nvSpPr>
          <p:cNvPr id="14" name="bullet-card"/>
          <p:cNvSpPr/>
          <p:nvPr/>
        </p:nvSpPr>
        <p:spPr>
          <a:xfrm>
            <a:off x="548640" y="1389888"/>
            <a:ext cx="5074920" cy="1289558"/>
          </a:xfrm>
          <a:prstGeom prst="roundRect">
            <a:avLst>
              <a:gd name="adj" fmla="val 5673"/>
            </a:avLst>
          </a:prstGeom>
          <a:solidFill>
            <a:srgbClr val="F6EEEF"/>
          </a:solidFill>
          <a:ln/>
        </p:spPr>
      </p:sp>
      <p:sp>
        <p:nvSpPr>
          <p:cNvPr id="15" name="bullet-hex"/>
          <p:cNvSpPr/>
          <p:nvPr/>
        </p:nvSpPr>
        <p:spPr>
          <a:xfrm>
            <a:off x="676656" y="1868374"/>
            <a:ext cx="384048" cy="332586"/>
          </a:xfrm>
          <a:prstGeom prst="hexagon">
            <a:avLst/>
          </a:prstGeom>
          <a:solidFill>
            <a:srgbClr val="8C2F39"/>
          </a:solidFill>
          <a:ln/>
        </p:spPr>
      </p:sp>
      <p:sp>
        <p:nvSpPr>
          <p:cNvPr id="16" name="bullet"/>
          <p:cNvSpPr txBox="1"/>
          <p:nvPr/>
        </p:nvSpPr>
        <p:spPr>
          <a:xfrm>
            <a:off x="1143000" y="1389888"/>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good review entertains as well as informs, and the difference is usually craft.</a:t>
            </a:r>
            <a:endParaRPr lang="en-US" sz="2200" dirty="0"/>
          </a:p>
        </p:txBody>
      </p:sp>
      <p:sp>
        <p:nvSpPr>
          <p:cNvPr id="17" name="bullet-card"/>
          <p:cNvSpPr/>
          <p:nvPr/>
        </p:nvSpPr>
        <p:spPr>
          <a:xfrm>
            <a:off x="548640" y="2825750"/>
            <a:ext cx="5074920" cy="1971294"/>
          </a:xfrm>
          <a:prstGeom prst="roundRect">
            <a:avLst>
              <a:gd name="adj" fmla="val 3711"/>
            </a:avLst>
          </a:prstGeom>
          <a:solidFill>
            <a:srgbClr val="F6EEEF"/>
          </a:solidFill>
          <a:ln/>
        </p:spPr>
      </p:sp>
      <p:sp>
        <p:nvSpPr>
          <p:cNvPr id="18" name="bullet-hex"/>
          <p:cNvSpPr/>
          <p:nvPr/>
        </p:nvSpPr>
        <p:spPr>
          <a:xfrm>
            <a:off x="676656" y="3645104"/>
            <a:ext cx="384048" cy="332586"/>
          </a:xfrm>
          <a:prstGeom prst="hexagon">
            <a:avLst/>
          </a:prstGeom>
          <a:solidFill>
            <a:srgbClr val="B8862B"/>
          </a:solidFill>
          <a:ln/>
        </p:spPr>
      </p:sp>
      <p:sp>
        <p:nvSpPr>
          <p:cNvPr id="19" name="bullet"/>
          <p:cNvSpPr txBox="1"/>
          <p:nvPr/>
        </p:nvSpPr>
        <p:spPr>
          <a:xfrm>
            <a:off x="1143000" y="2825750"/>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Think of it as show, don’t tell. Your opinion and your feelings should be clear from the way you describe the event, not only from the word ‘good’ or ‘bad’.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The five parts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five parts of a review in the standard order your teachers give you.</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Analysis and judgement: weigh the good and the bad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Introduction: set the scene and the tone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Description: key facts and details the audience wants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Personal experience: bring the event to life; did expectation meet reality?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Conclusion: recommend or not, with a final reason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Same task, three ways in: The five parts in order</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five parts of a review in the standard order your teachers give you.</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EAEB"/>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scene is set before anything else.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Facts come before feelings: the reader needs to know what it was before how it felt.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cannot analyse an experience you have not described yet.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recommendation is last because it depends on the analysis.</a:t>
            </a:r>
            <a:endParaRPr lang="en-US" sz="1800" dirty="0"/>
          </a:p>
        </p:txBody>
      </p:sp>
      <p:sp>
        <p:nvSpPr>
          <p:cNvPr id="17" name="col-Core"/>
          <p:cNvSpPr/>
          <p:nvPr/>
        </p:nvSpPr>
        <p:spPr>
          <a:xfrm>
            <a:off x="5490762" y="2578608"/>
            <a:ext cx="2938987" cy="3566160"/>
          </a:xfrm>
          <a:prstGeom prst="roundRect">
            <a:avLst>
              <a:gd name="adj" fmla="val 1867"/>
            </a:avLst>
          </a:prstGeom>
          <a:solidFill>
            <a:srgbClr val="E6D1D3"/>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 D, P, A, C. Scene, facts, feelings, weighing up, verdict.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teachers say the parts can sometimes come in a different order. Suggest one swap that could work and explain the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Which part is this?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extract from ‘Up, Up and Nearly Away’ to the part of the review it belongs to.</a:t>
            </a:r>
            <a:endParaRPr lang="en-US" sz="2400" dirty="0"/>
          </a:p>
        </p:txBody>
      </p:sp>
      <p:sp>
        <p:nvSpPr>
          <p:cNvPr id="11" name="match-card"/>
          <p:cNvSpPr/>
          <p:nvPr/>
        </p:nvSpPr>
        <p:spPr>
          <a:xfrm>
            <a:off x="777240" y="2672080"/>
            <a:ext cx="3081437" cy="539293"/>
          </a:xfrm>
          <a:prstGeom prst="roundRect">
            <a:avLst>
              <a:gd name="adj" fmla="val 13564"/>
            </a:avLst>
          </a:prstGeom>
          <a:solidFill>
            <a:srgbClr val="F6EEEF"/>
          </a:solidFill>
          <a:ln/>
        </p:spPr>
      </p:sp>
      <p:sp>
        <p:nvSpPr>
          <p:cNvPr id="12" name="match-hex"/>
          <p:cNvSpPr/>
          <p:nvPr/>
        </p:nvSpPr>
        <p:spPr>
          <a:xfrm>
            <a:off x="850392" y="2775434"/>
            <a:ext cx="384048" cy="332586"/>
          </a:xfrm>
          <a:prstGeom prst="hexagon">
            <a:avLst/>
          </a:prstGeom>
          <a:solidFill>
            <a:srgbClr val="8C2F39"/>
          </a:solidFill>
          <a:ln/>
        </p:spPr>
      </p:sp>
      <p:sp>
        <p:nvSpPr>
          <p:cNvPr id="13" name="match-hex-label"/>
          <p:cNvSpPr txBox="1"/>
          <p:nvPr/>
        </p:nvSpPr>
        <p:spPr>
          <a:xfrm>
            <a:off x="850392" y="277543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Introduction</a:t>
            </a:r>
            <a:endParaRPr lang="en-US" sz="1800" dirty="0"/>
          </a:p>
        </p:txBody>
      </p:sp>
      <p:sp>
        <p:nvSpPr>
          <p:cNvPr id="15" name="match-card"/>
          <p:cNvSpPr/>
          <p:nvPr/>
        </p:nvSpPr>
        <p:spPr>
          <a:xfrm>
            <a:off x="4224437" y="2672080"/>
            <a:ext cx="7190019" cy="539293"/>
          </a:xfrm>
          <a:prstGeom prst="roundRect">
            <a:avLst>
              <a:gd name="adj" fmla="val 13564"/>
            </a:avLst>
          </a:prstGeom>
          <a:solidFill>
            <a:srgbClr val="F6F0E6"/>
          </a:solidFill>
          <a:ln/>
        </p:spPr>
      </p:sp>
      <p:sp>
        <p:nvSpPr>
          <p:cNvPr id="16" name="match-hex"/>
          <p:cNvSpPr/>
          <p:nvPr/>
        </p:nvSpPr>
        <p:spPr>
          <a:xfrm>
            <a:off x="4297589" y="2775434"/>
            <a:ext cx="384048" cy="332586"/>
          </a:xfrm>
          <a:prstGeom prst="hexagon">
            <a:avLst/>
          </a:prstGeom>
          <a:solidFill>
            <a:srgbClr val="B8862B"/>
          </a:solidFill>
          <a:ln/>
        </p:spPr>
      </p:sp>
      <p:sp>
        <p:nvSpPr>
          <p:cNvPr id="17" name="match-hex-label"/>
          <p:cNvSpPr txBox="1"/>
          <p:nvPr/>
        </p:nvSpPr>
        <p:spPr>
          <a:xfrm>
            <a:off x="4297589" y="277543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festival runs from ten until four and entry is free”</a:t>
            </a:r>
            <a:endParaRPr lang="en-US" sz="1800" dirty="0"/>
          </a:p>
        </p:txBody>
      </p:sp>
      <p:sp>
        <p:nvSpPr>
          <p:cNvPr id="19" name="match-card"/>
          <p:cNvSpPr/>
          <p:nvPr/>
        </p:nvSpPr>
        <p:spPr>
          <a:xfrm>
            <a:off x="777240" y="3302813"/>
            <a:ext cx="3081437" cy="539293"/>
          </a:xfrm>
          <a:prstGeom prst="roundRect">
            <a:avLst>
              <a:gd name="adj" fmla="val 13564"/>
            </a:avLst>
          </a:prstGeom>
          <a:solidFill>
            <a:srgbClr val="F6EEEF"/>
          </a:solidFill>
          <a:ln/>
        </p:spPr>
      </p:sp>
      <p:sp>
        <p:nvSpPr>
          <p:cNvPr id="20" name="match-hex"/>
          <p:cNvSpPr/>
          <p:nvPr/>
        </p:nvSpPr>
        <p:spPr>
          <a:xfrm>
            <a:off x="850392" y="3406166"/>
            <a:ext cx="384048" cy="332586"/>
          </a:xfrm>
          <a:prstGeom prst="hexagon">
            <a:avLst/>
          </a:prstGeom>
          <a:solidFill>
            <a:srgbClr val="8C2F39"/>
          </a:solidFill>
          <a:ln/>
        </p:spPr>
      </p:sp>
      <p:sp>
        <p:nvSpPr>
          <p:cNvPr id="21" name="match-hex-label"/>
          <p:cNvSpPr txBox="1"/>
          <p:nvPr/>
        </p:nvSpPr>
        <p:spPr>
          <a:xfrm>
            <a:off x="850392" y="340616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02813"/>
            <a:ext cx="2487077"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Description</a:t>
            </a:r>
            <a:endParaRPr lang="en-US" sz="1800" dirty="0"/>
          </a:p>
        </p:txBody>
      </p:sp>
      <p:sp>
        <p:nvSpPr>
          <p:cNvPr id="23" name="match-card"/>
          <p:cNvSpPr/>
          <p:nvPr/>
        </p:nvSpPr>
        <p:spPr>
          <a:xfrm>
            <a:off x="4224437" y="3302813"/>
            <a:ext cx="7190019" cy="539293"/>
          </a:xfrm>
          <a:prstGeom prst="roundRect">
            <a:avLst>
              <a:gd name="adj" fmla="val 13564"/>
            </a:avLst>
          </a:prstGeom>
          <a:solidFill>
            <a:srgbClr val="F6F0E6"/>
          </a:solidFill>
          <a:ln/>
        </p:spPr>
      </p:sp>
      <p:sp>
        <p:nvSpPr>
          <p:cNvPr id="24" name="match-hex"/>
          <p:cNvSpPr/>
          <p:nvPr/>
        </p:nvSpPr>
        <p:spPr>
          <a:xfrm>
            <a:off x="4297589" y="3406166"/>
            <a:ext cx="384048" cy="332586"/>
          </a:xfrm>
          <a:prstGeom prst="hexagon">
            <a:avLst/>
          </a:prstGeom>
          <a:solidFill>
            <a:srgbClr val="B8862B"/>
          </a:solidFill>
          <a:ln/>
        </p:spPr>
      </p:sp>
      <p:sp>
        <p:nvSpPr>
          <p:cNvPr id="25" name="match-hex-label"/>
          <p:cNvSpPr txBox="1"/>
          <p:nvPr/>
        </p:nvSpPr>
        <p:spPr>
          <a:xfrm>
            <a:off x="4297589" y="340616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02813"/>
            <a:ext cx="6595659"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 had promised my daughter that our kite would fly.”</a:t>
            </a:r>
            <a:endParaRPr lang="en-US" sz="1800" dirty="0"/>
          </a:p>
        </p:txBody>
      </p:sp>
      <p:sp>
        <p:nvSpPr>
          <p:cNvPr id="27" name="match-card"/>
          <p:cNvSpPr/>
          <p:nvPr/>
        </p:nvSpPr>
        <p:spPr>
          <a:xfrm>
            <a:off x="777240" y="3933546"/>
            <a:ext cx="3081437" cy="539293"/>
          </a:xfrm>
          <a:prstGeom prst="roundRect">
            <a:avLst>
              <a:gd name="adj" fmla="val 13564"/>
            </a:avLst>
          </a:prstGeom>
          <a:solidFill>
            <a:srgbClr val="F6EEEF"/>
          </a:solidFill>
          <a:ln/>
        </p:spPr>
      </p:sp>
      <p:sp>
        <p:nvSpPr>
          <p:cNvPr id="28" name="match-hex"/>
          <p:cNvSpPr/>
          <p:nvPr/>
        </p:nvSpPr>
        <p:spPr>
          <a:xfrm>
            <a:off x="850392" y="4036899"/>
            <a:ext cx="384048" cy="332586"/>
          </a:xfrm>
          <a:prstGeom prst="hexagon">
            <a:avLst/>
          </a:prstGeom>
          <a:solidFill>
            <a:srgbClr val="8C2F39"/>
          </a:solidFill>
          <a:ln/>
        </p:spPr>
      </p:sp>
      <p:sp>
        <p:nvSpPr>
          <p:cNvPr id="29" name="match-hex-label"/>
          <p:cNvSpPr txBox="1"/>
          <p:nvPr/>
        </p:nvSpPr>
        <p:spPr>
          <a:xfrm>
            <a:off x="850392" y="4036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33546"/>
            <a:ext cx="2487077"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Personal experience</a:t>
            </a:r>
            <a:endParaRPr lang="en-US" sz="1800" dirty="0"/>
          </a:p>
        </p:txBody>
      </p:sp>
      <p:sp>
        <p:nvSpPr>
          <p:cNvPr id="31" name="match-card"/>
          <p:cNvSpPr/>
          <p:nvPr/>
        </p:nvSpPr>
        <p:spPr>
          <a:xfrm>
            <a:off x="4224437" y="3933546"/>
            <a:ext cx="7190019" cy="539293"/>
          </a:xfrm>
          <a:prstGeom prst="roundRect">
            <a:avLst>
              <a:gd name="adj" fmla="val 13564"/>
            </a:avLst>
          </a:prstGeom>
          <a:solidFill>
            <a:srgbClr val="F6F0E6"/>
          </a:solidFill>
          <a:ln/>
        </p:spPr>
      </p:sp>
      <p:sp>
        <p:nvSpPr>
          <p:cNvPr id="32" name="match-hex"/>
          <p:cNvSpPr/>
          <p:nvPr/>
        </p:nvSpPr>
        <p:spPr>
          <a:xfrm>
            <a:off x="4297589" y="4036899"/>
            <a:ext cx="384048" cy="332586"/>
          </a:xfrm>
          <a:prstGeom prst="hexagon">
            <a:avLst/>
          </a:prstGeom>
          <a:solidFill>
            <a:srgbClr val="B8862B"/>
          </a:solidFill>
          <a:ln/>
        </p:spPr>
      </p:sp>
      <p:sp>
        <p:nvSpPr>
          <p:cNvPr id="33" name="match-hex-label"/>
          <p:cNvSpPr txBox="1"/>
          <p:nvPr/>
        </p:nvSpPr>
        <p:spPr>
          <a:xfrm>
            <a:off x="4297589" y="4036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33546"/>
            <a:ext cx="6595659"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“Would I go again? Yes, with wellies and a stronger kite.”</a:t>
            </a:r>
            <a:endParaRPr lang="en-US" sz="1800" dirty="0"/>
          </a:p>
        </p:txBody>
      </p:sp>
      <p:sp>
        <p:nvSpPr>
          <p:cNvPr id="35" name="match-card"/>
          <p:cNvSpPr/>
          <p:nvPr/>
        </p:nvSpPr>
        <p:spPr>
          <a:xfrm>
            <a:off x="777240" y="4564278"/>
            <a:ext cx="3081437" cy="539293"/>
          </a:xfrm>
          <a:prstGeom prst="roundRect">
            <a:avLst>
              <a:gd name="adj" fmla="val 13564"/>
            </a:avLst>
          </a:prstGeom>
          <a:solidFill>
            <a:srgbClr val="F6EEEF"/>
          </a:solidFill>
          <a:ln/>
        </p:spPr>
      </p:sp>
      <p:sp>
        <p:nvSpPr>
          <p:cNvPr id="36" name="match-hex"/>
          <p:cNvSpPr/>
          <p:nvPr/>
        </p:nvSpPr>
        <p:spPr>
          <a:xfrm>
            <a:off x="850392" y="4667632"/>
            <a:ext cx="384048" cy="332586"/>
          </a:xfrm>
          <a:prstGeom prst="hexagon">
            <a:avLst/>
          </a:prstGeom>
          <a:solidFill>
            <a:srgbClr val="8C2F39"/>
          </a:solidFill>
          <a:ln/>
        </p:spPr>
      </p:sp>
      <p:sp>
        <p:nvSpPr>
          <p:cNvPr id="37" name="match-hex-label"/>
          <p:cNvSpPr txBox="1"/>
          <p:nvPr/>
        </p:nvSpPr>
        <p:spPr>
          <a:xfrm>
            <a:off x="850392" y="466763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4278"/>
            <a:ext cx="2487077"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Analysis and judgement</a:t>
            </a:r>
            <a:endParaRPr lang="en-US" sz="1800" dirty="0"/>
          </a:p>
        </p:txBody>
      </p:sp>
      <p:sp>
        <p:nvSpPr>
          <p:cNvPr id="39" name="match-card"/>
          <p:cNvSpPr/>
          <p:nvPr/>
        </p:nvSpPr>
        <p:spPr>
          <a:xfrm>
            <a:off x="4224437" y="4564278"/>
            <a:ext cx="7190019" cy="539293"/>
          </a:xfrm>
          <a:prstGeom prst="roundRect">
            <a:avLst>
              <a:gd name="adj" fmla="val 13564"/>
            </a:avLst>
          </a:prstGeom>
          <a:solidFill>
            <a:srgbClr val="F6F0E6"/>
          </a:solidFill>
          <a:ln/>
        </p:spPr>
      </p:sp>
      <p:sp>
        <p:nvSpPr>
          <p:cNvPr id="40" name="match-hex"/>
          <p:cNvSpPr/>
          <p:nvPr/>
        </p:nvSpPr>
        <p:spPr>
          <a:xfrm>
            <a:off x="4297589" y="4667632"/>
            <a:ext cx="384048" cy="332586"/>
          </a:xfrm>
          <a:prstGeom prst="hexagon">
            <a:avLst/>
          </a:prstGeom>
          <a:solidFill>
            <a:srgbClr val="B8862B"/>
          </a:solidFill>
          <a:ln/>
        </p:spPr>
      </p:sp>
      <p:sp>
        <p:nvSpPr>
          <p:cNvPr id="41" name="match-hex-label"/>
          <p:cNvSpPr txBox="1"/>
          <p:nvPr/>
        </p:nvSpPr>
        <p:spPr>
          <a:xfrm>
            <a:off x="4297589" y="466763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564278"/>
            <a:ext cx="6595659"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“Not everything soared. The queue for the toilets was long”</a:t>
            </a:r>
            <a:endParaRPr lang="en-US" sz="1800" dirty="0"/>
          </a:p>
        </p:txBody>
      </p:sp>
      <p:sp>
        <p:nvSpPr>
          <p:cNvPr id="43" name="match-card"/>
          <p:cNvSpPr/>
          <p:nvPr/>
        </p:nvSpPr>
        <p:spPr>
          <a:xfrm>
            <a:off x="777240" y="5195011"/>
            <a:ext cx="3081437" cy="766877"/>
          </a:xfrm>
          <a:prstGeom prst="roundRect">
            <a:avLst>
              <a:gd name="adj" fmla="val 9539"/>
            </a:avLst>
          </a:prstGeom>
          <a:solidFill>
            <a:srgbClr val="F6EEEF"/>
          </a:solidFill>
          <a:ln/>
        </p:spPr>
      </p:sp>
      <p:sp>
        <p:nvSpPr>
          <p:cNvPr id="44" name="match-hex"/>
          <p:cNvSpPr/>
          <p:nvPr/>
        </p:nvSpPr>
        <p:spPr>
          <a:xfrm>
            <a:off x="850392" y="5412157"/>
            <a:ext cx="384048" cy="332586"/>
          </a:xfrm>
          <a:prstGeom prst="hexagon">
            <a:avLst/>
          </a:prstGeom>
          <a:solidFill>
            <a:srgbClr val="8C2F39"/>
          </a:solidFill>
          <a:ln/>
        </p:spPr>
      </p:sp>
      <p:sp>
        <p:nvSpPr>
          <p:cNvPr id="45" name="match-hex-label"/>
          <p:cNvSpPr txBox="1"/>
          <p:nvPr/>
        </p:nvSpPr>
        <p:spPr>
          <a:xfrm>
            <a:off x="850392" y="54121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95011"/>
            <a:ext cx="2487077" cy="7668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Conclusion</a:t>
            </a:r>
            <a:endParaRPr lang="en-US" sz="1800" dirty="0"/>
          </a:p>
        </p:txBody>
      </p:sp>
      <p:sp>
        <p:nvSpPr>
          <p:cNvPr id="47" name="match-card"/>
          <p:cNvSpPr/>
          <p:nvPr/>
        </p:nvSpPr>
        <p:spPr>
          <a:xfrm>
            <a:off x="4224437" y="5195011"/>
            <a:ext cx="7190019" cy="766877"/>
          </a:xfrm>
          <a:prstGeom prst="roundRect">
            <a:avLst>
              <a:gd name="adj" fmla="val 9539"/>
            </a:avLst>
          </a:prstGeom>
          <a:solidFill>
            <a:srgbClr val="F6F0E6"/>
          </a:solidFill>
          <a:ln/>
        </p:spPr>
      </p:sp>
      <p:sp>
        <p:nvSpPr>
          <p:cNvPr id="48" name="match-hex"/>
          <p:cNvSpPr/>
          <p:nvPr/>
        </p:nvSpPr>
        <p:spPr>
          <a:xfrm>
            <a:off x="4297589" y="5412157"/>
            <a:ext cx="384048" cy="332586"/>
          </a:xfrm>
          <a:prstGeom prst="hexagon">
            <a:avLst/>
          </a:prstGeom>
          <a:solidFill>
            <a:srgbClr val="B8862B"/>
          </a:solidFill>
          <a:ln/>
        </p:spPr>
      </p:sp>
      <p:sp>
        <p:nvSpPr>
          <p:cNvPr id="49" name="match-hex-label"/>
          <p:cNvSpPr txBox="1"/>
          <p:nvPr/>
        </p:nvSpPr>
        <p:spPr>
          <a:xfrm>
            <a:off x="4297589" y="54121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195011"/>
            <a:ext cx="6595659" cy="7668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“Picture a hill so windy that the ice-cream van needs a handbrake.”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Which part is this?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part is this?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EAEB"/>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introduction paints the scene; look for the place and the weather.</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description gives facts you could check: times, prices.</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Personal experience is told with ‘I’ and ‘my’.</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Analysis weighs the bad against the good: ‘Not everything…’.</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conclusion answers ‘would I go again?’.</a:t>
            </a:r>
            <a:endParaRPr lang="en-US" sz="2000" dirty="0"/>
          </a:p>
        </p:txBody>
      </p:sp>
      <p:sp>
        <p:nvSpPr>
          <p:cNvPr id="17" name="col-Core"/>
          <p:cNvSpPr/>
          <p:nvPr/>
        </p:nvSpPr>
        <p:spPr>
          <a:xfrm>
            <a:off x="6425403" y="2395728"/>
            <a:ext cx="2471666" cy="3749040"/>
          </a:xfrm>
          <a:prstGeom prst="roundRect">
            <a:avLst>
              <a:gd name="adj" fmla="val 2220"/>
            </a:avLst>
          </a:prstGeom>
          <a:solidFill>
            <a:srgbClr val="E6D1D3"/>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Look for ‘I had promised’ (experience), a price (description) and a question (conclusion).</a:t>
            </a:r>
            <a:endParaRPr lang="en-US" sz="2000" dirty="0"/>
          </a:p>
        </p:txBody>
      </p:sp>
      <p:sp>
        <p:nvSpPr>
          <p:cNvPr id="22" name="col-Stretch"/>
          <p:cNvSpPr/>
          <p:nvPr/>
        </p:nvSpPr>
        <p:spPr>
          <a:xfrm>
            <a:off x="9171389" y="2395728"/>
            <a:ext cx="2471666" cy="3749040"/>
          </a:xfrm>
          <a:prstGeom prst="roundRect">
            <a:avLst>
              <a:gd name="adj" fmla="val 2220"/>
            </a:avLst>
          </a:prstGeom>
          <a:solidFill>
            <a:srgbClr val="8C2F39"/>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Find a second sentence in the review for each part, to prove each paragraph does one job.</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many marks is a full review (the writing task) worth in total?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80</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40</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24</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16</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0F1"/>
          </a:solidFill>
          <a:ln w="12700">
            <a:solidFill>
              <a:srgbClr val="C6979C"/>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The five parts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Introduction: set the scene and the tone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Description: key facts and details the audience wants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Personal experience: bring the event to life; did expectation meet reality?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Analysis and judgement: weigh the good and the bad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Conclusion: recommend or not, with a final reason  (E)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Introduction, description, personal experience, analysis and judgement, conclusion: scene, facts, feelings, weighing up, verdict.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Which part is this?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Introduction  →  E  “Picture a hill so windy that the ice-cream van needs a handbrake.”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Description  →  A  “The festival runs from ten until four and entry is free”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Personal experience  →  B  “I had promised my daughter that our kite would fly.”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Analysis and judgement  →  D  “Not everything soared. The queue for the toilets was long”</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Conclusion  →  C  “Would I go again? Yes, with wellies and a stronger kite.”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Scene, facts, ‘I’, weighing up, verdict: each paragraph of the review does one of the five jobs.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marks is a full review (the writing task) worth in total?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40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writing task is worth 40 marks: 24 for content and organisation (AO5) and 16 for technical accuracy (AO6).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4EAEB"/>
      </a:lt2>
      <a:accent1>
        <a:srgbClr val="8C2F39"/>
      </a:accent1>
      <a:accent2>
        <a:srgbClr val="B8862B"/>
      </a:accent2>
      <a:accent3>
        <a:srgbClr val="BA8288"/>
      </a:accent3>
      <a:accent4>
        <a:srgbClr val="815E1E"/>
      </a:accent4>
      <a:accent5>
        <a:srgbClr val="4A505C"/>
      </a:accent5>
      <a:accent6>
        <a:srgbClr val="DCC395"/>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Opinion Writing · Chapter 4: Structuring and crafting a full review</dc:title>
  <dc:subject>English · Year 9</dc:subject>
  <dc:creator>Dr Vitor Merissi de Carvalho</dc:creator>
  <cp:lastModifiedBy>Dr Vitor Merissi de Carvalho</cp:lastModifiedBy>
  <cp:revision>1</cp:revision>
  <dcterms:created xsi:type="dcterms:W3CDTF">2026-10-19T06:07:23Z</dcterms:created>
  <dcterms:modified xsi:type="dcterms:W3CDTF">2026-10-19T06:07:23Z</dcterms:modified>
</cp:coreProperties>
</file>