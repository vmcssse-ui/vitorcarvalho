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2bc286-2d01-4b85-3285-90f364ec86f7}">
          <p14:sldIdLst>
            <p14:sldId id="256"/>
          </p14:sldIdLst>
        </p14:section>
        <p14:section name="Gate" id="{af3a56c1-4a6f-ab85-ccfa-0995a3eda51f}">
          <p14:sldIdLst>
            <p14:sldId id="257"/>
            <p14:sldId id="258"/>
          </p14:sldIdLst>
        </p14:section>
        <p14:section name="Pre-teach" id="{c9ee3b58-4d9a-3178-81d9-c9f60ae06643}">
          <p14:sldIdLst>
            <p14:sldId id="259"/>
          </p14:sldIdLst>
        </p14:section>
        <p14:section name="Read-along" id="{c720de70-64bb-549c-0e5c-0d3668f10d75}">
          <p14:sldIdLst>
            <p14:sldId id="260"/>
            <p14:sldId id="261"/>
          </p14:sldIdLst>
        </p14:section>
        <p14:section name="Teach" id="{ed13ae23-3e68-0047-9778-659bd428af0b}">
          <p14:sldIdLst>
            <p14:sldId id="262"/>
            <p14:sldId id="263"/>
            <p14:sldId id="264"/>
            <p14:sldId id="265"/>
            <p14:sldId id="266"/>
          </p14:sldIdLst>
        </p14:section>
        <p14:section name="Routes" id="{87e47615-409e-9768-9a6e-98b470b3e7f1}">
          <p14:sldIdLst>
            <p14:sldId id="267"/>
            <p14:sldId id="268"/>
            <p14:sldId id="269"/>
            <p14:sldId id="270"/>
          </p14:sldIdLst>
        </p14:section>
        <p14:section name="Close" id="{e66fa65e-559b-1c2d-c83e-c98caedc31f6}">
          <p14:sldIdLst>
            <p14:sldId id="271"/>
          </p14:sldIdLst>
        </p14:section>
        <p14:section name="Answers" id="{673c412e-77f2-17f7-2b71-87f2aca2eee2}">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Audience, purpose, form: writing for a reader. You will ask three questions before you write a single word, and change your tone to suit the person who will read it.
This deck covers the department's lessons: 1 (Introduction to Opinion Writing: audience, form and purpose: How do I write for a specific audience?); 2 (Models of Reviews: How is a review different to other forms of non-fiction writing?).
Read the big question aloud: "How do I write for a specific audience, and how do I turn my opinion into a review or an article that readers will finish?"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question finds the purpose of a piece of writing?  →  C   Why am I writing it?
2. The ___ of a text is the people it is written for.  →  audience
3. What is the main purpose of a review?  →  D   To inform the reader about an experience and help them decide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Why am I writing it?. Purpose is why you are writing: to inform, persuade, entertain or advise. Audience is who, and form is what type of text.
2. audience. The audience is who you are writing for; it decides your tone.
3. D   To inform the reader about an experience and help them decide. A review informs the reader about a real experience and helps them make a decision, persuading a little along the way.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opinion: what you think about something. Example: "My opinion is that the film was too long."
• audience: the people you are writing for. Example: "A review for parents has a different audience from a review for teenagers."
• purpose: the reason you are writing. Example: "The purpose of a review is to inform the reader and help them decide."
• form: the type of text and its features. Example: "A review is a form of writing with a headline and short paragraphs."
• tone: how your writing sounds to the reader. Example: "Use a warm, friendly tone when you write for younger children."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Opinion writing is a way of giving your opinion in formal writing.
2. In this unit you will write reviews and opinion articles.
3. Before you write, ask three questions.
4. Who am I writing for? That is the audience.
5. Why am I writing this? That is the purpose.
6. What type of text is it? That is the form.
7. Think of a mechanic’s overalls.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Their purpose is to protect someone doing dirty work.
9. Their form has long sleeves, strong cloth and lots of pockets.
10. Their audience is someone who wants to be comfortable and safe.
11. Writing works the same way.
12. Once you know your audience, choose your tone to suit them.
13. A review for parents sounds different from a review for teenagers.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opinion writing is. Say it in your own words, then check understanding with a quick question: ask a pupil from the pre-teach group first, since they met these words and ideas before the lesson. Pupils try to recall before you re-explain.
Opinion writing is a way of expressing what you think in formal writing. It can take the form of a magazine article, a newspaper column or a review. In this unit you will write two kinds: reviews, which tell a reader about something you have experienced, and opinion articles, which argue for a point of view.
An opinion can be strong or balanced. You can fully agree with a statement, partly agree, or completely disagree. What matters is that you base your opinion on something: facts you know, things you have experienced, and examples you can give. ‘I think it is good’ is a start; ‘I think it is good because…’ is opinion writing.
Tip: Every time you give an opinion, follow it with ‘because’ and an example. That habit is the whole unit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questions before you write. Say it in your own words, then check understanding with a quick question: ask a pupil from the pre-teach group first, since they met these words and ideas before the lesson. Pupils try to recall before you re-explain.
Your teachers call them the foundation of all writing: purpose, form and audience. Purpose is why you are writing, for example to inform or to persuade. Form is the type of text and its special features, such as a headline or a clear final judgement. Audience is who you are writing for, and it decides your tone.
Think about how clothes are designed. If you were asked to design overalls for a car mechanic, you would first ask why overalls are needed (purpose: comfort and protection for dirty work). Then you would decide the special features that serve that purpose (form: loose shape, long sleeves, strong material, many pockets). Finally you would picture the customer (audience: someone who wants to feel comfortable and protected, and probably loves cars).
A writing task works the same way. ‘Write a review of a film character for a parenting magazine.’ Circle the form: a review. Ask the purpose of a review: to give an opinion based on facts, to inform and describe, and to persuade a little. Name the audience: parents. Now you know what they want to hear, and how to sound.
Worked example — model it step by step, thinking aloud: Work through purpose, form and audience for the task ‘Design a PE kit for a secondary school’. (1) Purpose: what is a PE kit used for? Running, stretching, getting muddy, and being washed often. (2) Form: what features serve that purpose? Light stretchy cloth, a school colour so teams are easy to spot, a name label. (3) Audience: who wears it? Pupils aged eleven to sixteen who want to move freely and not stand out for the wrong reasons. Answer: Purpose: sport and frequent washing. Form: light, stretchy, school colours, labelled. Audience: pupils who want comfort and to fit in. The same three questions work for any piece of writing..
Tip: Write P, F and A in the margin of every task and fill them in before you plan. It takes thirty seconds and saves a lost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questions before you write. Say it in your own words, then check understanding with a quick question: ask a pupil from the pre-teach group first, since they met these words and ideas before the lesson. Pupils try to recall before you re-explain.
Your teachers call them the foundation of all writing: purpose, form and audience. Purpose is why you are writing, for example to inform or to persuade. Form is the type of text and its special features, such as a headline or a clear final judgement. Audience is who you are writing for, and it decides your tone.
Think about how clothes are designed. If you were asked to design overalls for a car mechanic, you would first ask why overalls are needed (purpose: comfort and protection for dirty work). Then you would decide the special features that serve that purpose (form: loose shape, long sleeves, strong material, many pockets). Finally you would picture the customer (audience: someone who wants to feel comfortable and protected, and probably loves cars).
A writing task works the same way. ‘Write a review of a film character for a parenting magazine.’ Circle the form: a review. Ask the purpose of a review: to give an opinion based on facts, to inform and describe, and to persuade a little. Name the audience: parents. Now you know what they want to hear, and how to sound.
Worked example — model it step by step, thinking aloud: Work through purpose, form and audience for the task ‘Design a PE kit for a secondary school’. (1) Purpose: what is a PE kit used for? Running, stretching, getting muddy, and being washed often. (2) Form: what features serve that purpose? Light stretchy cloth, a school colour so teams are easy to spot, a name label. (3) Audience: who wears it? Pupils aged eleven to sixteen who want to move freely and not stand out for the wrong reasons. Answer: Purpose: sport and frequent washing. Form: light, stretchy, school colours, labelled. Audience: pupils who want comfort and to fit in. The same three questions work for any piece of writing..
Tip: Write P, F and A in the margin of every task and fill them in before you plan. It takes thirty seconds and saves a lost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Tone: the same opinion, two audiences. Say it in your own words, then check understanding with a quick question: ask a pupil from the pre-teach group first, since they met these words and ideas before the lesson. Pupils try to recall before you re-explain.
Tone is how your writing sounds. You already change it when you speak: you talk to a teacher differently from the way you talk to a friend, even when you are saying the same thing. In writing, your audience and purpose decide your tone, and your tone decides your words.
Read these two mini-reviews of the same trampoline park, both written for Ad Astra. The first is for a parenting magazine; the second is for a teenage magazine. The facts are the same. The tone is not.
Notice what each writer chooses to mention. Parents are told about wristbands, the safety talk and somewhere to sit. Teenagers are told about the dodgeball court and when the little kids leave. Choosing what your audience cares about is the first step in getting the tone right.
Quotation: "Bounce Yard: an afternoon they will not forget. If your weekends have become a cycle of screens and sulking, Bounce Yard may be the answer. The new trampoline park opened last month, and we visited on a wet Saturday. Staff checked every child’s wristband, the safety talk was clear, and the café had somewhere for tired adults to sit. Two hours cost us less than a cinema trip. My ten-year-old slept all the way home. Bounce Yard: finally, somewhere worth leaving the house for. Forget the park. Bounce Yard opened last month, and it is the only place in town where you can throw yourself at a padded wall and get cheered for it. The dodgeball court is brutal, the foam pit is deeper than it looks, and the music is loud enough to drown out your mates. Go after six, when the little kids have gone home." (Two mini-reviews of ‘Bounce Yard’ — original model texts written for Ad Astra). Read it aloud; ask what it shows.
Tip: A review that is only opinion, opinion, opinion starts to sound like a speech. Keep the facts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Tone: the same opinion, two audiences. Say it in your own words, then check understanding with a quick question: ask a pupil from the pre-teach group first, since they met these words and ideas before the lesson. Pupils try to recall before you re-explain.
Tone is how your writing sounds. You already change it when you speak: you talk to a teacher differently from the way you talk to a friend, even when you are saying the same thing. In writing, your audience and purpose decide your tone, and your tone decides your words.
Read these two mini-reviews of the same trampoline park, both written for Ad Astra. The first is for a parenting magazine; the second is for a teenage magazine. The facts are the same. The tone is not.
Notice what each writer chooses to mention. Parents are told about wristbands, the safety talk and somewhere to sit. Teenagers are told about the dodgeball court and when the little kids leave. Choosing what your audience cares about is the first step in getting the tone right.
Quotation: "Bounce Yard: an afternoon they will not forget. If your weekends have become a cycle of screens and sulking, Bounce Yard may be the answer. The new trampoline park opened last month, and we visited on a wet Saturday. Staff checked every child’s wristband, the safety talk was clear, and the café had somewhere for tired adults to sit. Two hours cost us less than a cinema trip. My ten-year-old slept all the way home. Bounce Yard: finally, somewhere worth leaving the house for. Forget the park. Bounce Yard opened last month, and it is the only place in town where you can throw yourself at a padded wall and get cheered for it. The dodgeball court is brutal, the foam pit is deeper than it looks, and the music is loud enough to drown out your mates. Go after six, when the little kids have gone home." (Two mini-reviews of ‘Bounce Yard’ — original model texts written for Ad Astra). Read it aloud; ask what it shows.
Tip: A review that is only opinion, opinion, opinion starts to sound like a speech. Keep the facts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question to the idea.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question a writer asks to the idea it checks.
Support — work through the steps with the group: (1) Audience is always about people: who will read it. (2) Purpose is always a reason: to inform, persuade, entertain or advise. (3) Form is the type of text: a review, an article, a letter. (4) Tone is the sound of the writing, and it is chosen to suit the audience.
Parallel worked example for Support (model it, do not give the task answer): A pupil is asked to write a letter to the head teacher asking for a longer lunch break. Name the audience, purpose and form. Who reads it? The head teacher.; Why write it? To persuade.; What type of text? A letter.. Answer: Audience: the head teacher. Purpose: to persuade. Form: a letter. The tone would be polite and formal..
Core — reveal the hint only on request: Three of the questions start with Who, Why and What. The fourth is about sound.
Stretch — no help; when finished: Explain why tone depends on audience and purpose together, using the two Bounce Yard mini-reviews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question to the idea.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question a writer asks to the idea it checks.
Support — work through the steps with the group: (1) Audience is always about people: who will read it. (2) Purpose is always a reason: to inform, persuade, entertain or advise. (3) Form is the type of text: a review, an article, a letter. (4) Tone is the sound of the writing, and it is chosen to suit the audience.
Parallel worked example for Support (model it, do not give the task answer): A pupil is asked to write a letter to the head teacher asking for a longer lunch break. Name the audience, purpose and form. Who reads it? The head teacher.; Why write it? To persuade.; What type of text? A letter.. Answer: Audience: the head teacher. Purpose: to persuade. Form: a letter. The tone would be polite and formal..
Core — reveal the hint only on request: Three of the questions start with Who, Why and What. The fourth is about sound.
Stretch — no help; when finished: Explain why tone depends on audience and purpose together, using the two Bounce Yard mini-reviews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audience.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Read the two Bounce Yard mini-reviews. Which detail shows that the first review is written for parents?
Support — work through the steps with the group: (1) Ask what parents care about: safety, cost, and tired children. (2) Find the line that mentions safety. (3) Check it comes from the first review, not the second.
Parallel worked example for Support (model it, do not give the task answer): Which detail is written for grandparents: ‘the car park is right by the entrance, so there is no long walk’, or ‘the queue is a great place to meet people from other schools’? Grandparents may worry about walking distances.; Meeting people from other schools matters to teenagers.. Answer: ‘the car park is right by the entrance, so there is no long walk’ is written for grandparents..
Core — reveal the hint only on request: Which of the four details would make a parent feel reassured?
Stretch — no help; when finished: Rewrite the wristband sentence so that it would appeal to teenagers instead, and explain what you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audience.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Read the two Bounce Yard mini-reviews. Which detail shows that the first review is written for parents?
Support — work through the steps with the group: (1) Ask what parents care about: safety, cost, and tired children. (2) Find the line that mentions safety. (3) Check it comes from the first review, not the second.
Parallel worked example for Support (model it, do not give the task answer): Which detail is written for grandparents: ‘the car park is right by the entrance, so there is no long walk’, or ‘the queue is a great place to meet people from other schools’? Grandparents may worry about walking distances.; Meeting people from other schools matters to teenagers.. Answer: ‘the car park is right by the entrance, so there is no long walk’ is written for grandparents..
Core — reveal the hint only on request: Which of the four details would make a parent feel reassured?
Stretch — no help; when finished: Rewrite the wristband sentence so that it would appeal to teenagers instead, and explain what you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question finds the purpose of a piece of writing?
Answer: B   Why am I writing it?. Purpose is why you are writing: to inform, persuade, entertain or advise. Audience is who, and form is what type of text.
Source of this question: gate item 1 re-asked (options rotated) — this chapter has no third quick-check module.
The ebook also holds task 3, "Writing practice: a mini-review for one audience",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question to the idea. Reveal the answer; pupils mark their own work in a different colour, then read the "why" together. Same destination for every lane, so one answer serves the whole class.
Answer: Who am I writing for?  →  B  Audience; Why am I writing this?  →  D  Purpose; What type of text is it, and what features does it need?  →  A  Form; How should my writing sound to this reader?  →  C  Tone
Why: Who is the audience, why is the purpose, what type of text is the form, and how it sounds is the tone.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Spot the audience. Reveal the answer; pupils mark their own work in a different colour, then read the "why" together. Same destination for every lane, so one answer serves the whole class.
Answer: D   “Staff checked every child’s wristband, the safety talk was clear”
Why: Wristbands and a clear safety talk reassure parents. The other three details are written to excite teenagers.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Why am I writing it?
Why: Purpose is why you are writing: to inform, persuade, entertain or advise. Audience is who, and form is what type of text.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D5D7"/>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Opinion Writing · AQA KS3 → 8700</a:t>
            </a:r>
            <a:endParaRPr lang="en-US" sz="1800" dirty="0"/>
          </a:p>
        </p:txBody>
      </p:sp>
      <p:sp>
        <p:nvSpPr>
          <p:cNvPr id="10" name="deck-title"/>
          <p:cNvSpPr txBox="1"/>
          <p:nvPr/>
        </p:nvSpPr>
        <p:spPr>
          <a:xfrm>
            <a:off x="548640" y="219633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Audience, purpose, form: writing for a reader</a:t>
            </a:r>
            <a:endParaRPr lang="en-US" sz="3200" dirty="0"/>
          </a:p>
        </p:txBody>
      </p:sp>
      <p:sp>
        <p:nvSpPr>
          <p:cNvPr id="11" name="lessons-card"/>
          <p:cNvSpPr/>
          <p:nvPr/>
        </p:nvSpPr>
        <p:spPr>
          <a:xfrm>
            <a:off x="548640" y="3608578"/>
            <a:ext cx="5287975" cy="1638300"/>
          </a:xfrm>
          <a:prstGeom prst="roundRect">
            <a:avLst>
              <a:gd name="adj" fmla="val 4465"/>
            </a:avLst>
          </a:prstGeom>
          <a:solidFill>
            <a:srgbClr val="F4EAEB"/>
          </a:solidFill>
          <a:ln/>
        </p:spPr>
      </p:sp>
      <p:sp>
        <p:nvSpPr>
          <p:cNvPr id="12" name="lessons"/>
          <p:cNvSpPr txBox="1"/>
          <p:nvPr/>
        </p:nvSpPr>
        <p:spPr>
          <a:xfrm>
            <a:off x="685800" y="370001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Opinion Writing: audience, form and purpose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Models of Reviews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EAEB"/>
          </a:solidFill>
          <a:ln w="12700">
            <a:solidFill>
              <a:srgbClr val="D1ACB0"/>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write for a specific audience, and how do I turn my opinion into a review or an article that readers will finish?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question finds the purpose of a piece of writing?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type of text is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long should it be?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Why am I writing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Who is going to read it?</a:t>
            </a:r>
            <a:endParaRPr lang="en-US" sz="1800" dirty="0"/>
          </a:p>
        </p:txBody>
      </p:sp>
      <p:sp>
        <p:nvSpPr>
          <p:cNvPr id="12" name="card"/>
          <p:cNvSpPr/>
          <p:nvPr/>
        </p:nvSpPr>
        <p:spPr>
          <a:xfrm>
            <a:off x="3459404" y="1389888"/>
            <a:ext cx="2636444" cy="4754880"/>
          </a:xfrm>
          <a:prstGeom prst="roundRect">
            <a:avLst>
              <a:gd name="adj" fmla="val 2081"/>
            </a:avLst>
          </a:prstGeom>
          <a:solidFill>
            <a:srgbClr val="F7F0F1"/>
          </a:solidFill>
          <a:ln w="12700">
            <a:solidFill>
              <a:srgbClr val="D7B6BA"/>
            </a:solidFill>
            <a:prstDash val="solid"/>
          </a:ln>
        </p:spPr>
      </p:sp>
      <p:sp>
        <p:nvSpPr>
          <p:cNvPr id="13" name="card-hex"/>
          <p:cNvSpPr/>
          <p:nvPr/>
        </p:nvSpPr>
        <p:spPr>
          <a:xfrm>
            <a:off x="3642284" y="1572768"/>
            <a:ext cx="640080" cy="554309"/>
          </a:xfrm>
          <a:prstGeom prst="hexagon">
            <a:avLst/>
          </a:prstGeom>
          <a:solidFill>
            <a:srgbClr val="8C2F39"/>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___ of a text is the people it is written for.</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audience  ·  purpose  ·  form</a:t>
            </a:r>
            <a:endParaRPr lang="en-US" sz="2400" dirty="0"/>
          </a:p>
        </p:txBody>
      </p:sp>
      <p:sp>
        <p:nvSpPr>
          <p:cNvPr id="17" name="card"/>
          <p:cNvSpPr/>
          <p:nvPr/>
        </p:nvSpPr>
        <p:spPr>
          <a:xfrm>
            <a:off x="6370168" y="1389888"/>
            <a:ext cx="5272888" cy="4754880"/>
          </a:xfrm>
          <a:prstGeom prst="roundRect">
            <a:avLst>
              <a:gd name="adj" fmla="val 1154"/>
            </a:avLst>
          </a:prstGeom>
          <a:solidFill>
            <a:srgbClr val="F7F0F1"/>
          </a:solidFill>
          <a:ln w="12700">
            <a:solidFill>
              <a:srgbClr val="D7B6BA"/>
            </a:solidFill>
            <a:prstDash val="solid"/>
          </a:ln>
        </p:spPr>
      </p:sp>
      <p:sp>
        <p:nvSpPr>
          <p:cNvPr id="18" name="card-hex"/>
          <p:cNvSpPr/>
          <p:nvPr/>
        </p:nvSpPr>
        <p:spPr>
          <a:xfrm>
            <a:off x="6553048" y="1572768"/>
            <a:ext cx="640080" cy="554309"/>
          </a:xfrm>
          <a:prstGeom prst="hexagon">
            <a:avLst/>
          </a:prstGeom>
          <a:solidFill>
            <a:srgbClr val="8C2F39"/>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the main purpose of a review?</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give step-by-step instructions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persuade a live crowd to take action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tell a made-up story with characters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inform the reader about an experience and help them decide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Why am I writing it?</a:t>
            </a:r>
            <a:endParaRPr lang="en-US" sz="2200" dirty="0"/>
          </a:p>
        </p:txBody>
      </p:sp>
      <p:sp>
        <p:nvSpPr>
          <p:cNvPr id="13" name="card-body"/>
          <p:cNvSpPr txBox="1"/>
          <p:nvPr/>
        </p:nvSpPr>
        <p:spPr>
          <a:xfrm>
            <a:off x="731520"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Purpose is why you are writing: to inform, persuade, entertain or advise. Audience is who, and form is what type of text.</a:t>
            </a:r>
            <a:endParaRPr lang="en-US" sz="1800" dirty="0"/>
          </a:p>
        </p:txBody>
      </p:sp>
      <p:sp>
        <p:nvSpPr>
          <p:cNvPr id="14" name="card"/>
          <p:cNvSpPr/>
          <p:nvPr/>
        </p:nvSpPr>
        <p:spPr>
          <a:xfrm>
            <a:off x="3459404" y="1389888"/>
            <a:ext cx="2636444" cy="4754880"/>
          </a:xfrm>
          <a:prstGeom prst="roundRect">
            <a:avLst>
              <a:gd name="adj" fmla="val 2081"/>
            </a:avLst>
          </a:prstGeom>
          <a:solidFill>
            <a:srgbClr val="F7F0F1"/>
          </a:solidFill>
          <a:ln w="12700">
            <a:solidFill>
              <a:srgbClr val="D7B6BA"/>
            </a:solidFill>
            <a:prstDash val="solid"/>
          </a:ln>
        </p:spPr>
      </p:sp>
      <p:sp>
        <p:nvSpPr>
          <p:cNvPr id="15" name="card-hex"/>
          <p:cNvSpPr/>
          <p:nvPr/>
        </p:nvSpPr>
        <p:spPr>
          <a:xfrm>
            <a:off x="3642284" y="1572768"/>
            <a:ext cx="640080" cy="554309"/>
          </a:xfrm>
          <a:prstGeom prst="hexagon">
            <a:avLst/>
          </a:prstGeom>
          <a:solidFill>
            <a:srgbClr val="8C2F39"/>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audience</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___ of a text is the people it is written for.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audience is who you are writing for; it decides your tone.</a:t>
            </a:r>
            <a:endParaRPr lang="en-US" sz="2000" dirty="0"/>
          </a:p>
        </p:txBody>
      </p:sp>
      <p:sp>
        <p:nvSpPr>
          <p:cNvPr id="21" name="card"/>
          <p:cNvSpPr/>
          <p:nvPr/>
        </p:nvSpPr>
        <p:spPr>
          <a:xfrm>
            <a:off x="6370168" y="1389888"/>
            <a:ext cx="5272888" cy="4754880"/>
          </a:xfrm>
          <a:prstGeom prst="roundRect">
            <a:avLst>
              <a:gd name="adj" fmla="val 1154"/>
            </a:avLst>
          </a:prstGeom>
          <a:solidFill>
            <a:srgbClr val="F7F0F1"/>
          </a:solidFill>
          <a:ln w="12700">
            <a:solidFill>
              <a:srgbClr val="D7B6BA"/>
            </a:solidFill>
            <a:prstDash val="solid"/>
          </a:ln>
        </p:spPr>
      </p:sp>
      <p:sp>
        <p:nvSpPr>
          <p:cNvPr id="22" name="card-hex"/>
          <p:cNvSpPr/>
          <p:nvPr/>
        </p:nvSpPr>
        <p:spPr>
          <a:xfrm>
            <a:off x="6553048" y="1572768"/>
            <a:ext cx="640080" cy="554309"/>
          </a:xfrm>
          <a:prstGeom prst="hexagon">
            <a:avLst/>
          </a:prstGeom>
          <a:solidFill>
            <a:srgbClr val="8C2F39"/>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To inform the reader about an experience and help them decide</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main purpose of a review?</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review informs the reader about a real experience and helps them make a decision, persuading a little along the way.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604317"/>
          </a:xfrm>
          <a:prstGeom prst="roundRect">
            <a:avLst>
              <a:gd name="adj" fmla="val 9079"/>
            </a:avLst>
          </a:prstGeom>
          <a:solidFill>
            <a:srgbClr val="F6EEEF"/>
          </a:solidFill>
          <a:ln/>
        </p:spPr>
      </p:sp>
      <p:sp>
        <p:nvSpPr>
          <p:cNvPr id="12" name="kw-hex"/>
          <p:cNvSpPr/>
          <p:nvPr/>
        </p:nvSpPr>
        <p:spPr>
          <a:xfrm>
            <a:off x="658368" y="2044228"/>
            <a:ext cx="411480" cy="356342"/>
          </a:xfrm>
          <a:prstGeom prst="hexagon">
            <a:avLst/>
          </a:prstGeom>
          <a:solidFill>
            <a:srgbClr val="8C2F39"/>
          </a:solidFill>
          <a:ln/>
        </p:spPr>
      </p:sp>
      <p:sp>
        <p:nvSpPr>
          <p:cNvPr id="13" name="kw-cell"/>
          <p:cNvSpPr txBox="1"/>
          <p:nvPr/>
        </p:nvSpPr>
        <p:spPr>
          <a:xfrm>
            <a:off x="1143000" y="1920240"/>
            <a:ext cx="2331720" cy="604317"/>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opinion</a:t>
            </a:r>
            <a:endParaRPr lang="en-US" sz="2000" dirty="0"/>
          </a:p>
        </p:txBody>
      </p:sp>
      <p:sp>
        <p:nvSpPr>
          <p:cNvPr id="14" name="kw-cell"/>
          <p:cNvSpPr txBox="1"/>
          <p:nvPr/>
        </p:nvSpPr>
        <p:spPr>
          <a:xfrm>
            <a:off x="3657600" y="1920240"/>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you think about something</a:t>
            </a:r>
            <a:endParaRPr lang="en-US" sz="1800" dirty="0"/>
          </a:p>
        </p:txBody>
      </p:sp>
      <p:sp>
        <p:nvSpPr>
          <p:cNvPr id="15" name="kw-cell"/>
          <p:cNvSpPr txBox="1"/>
          <p:nvPr/>
        </p:nvSpPr>
        <p:spPr>
          <a:xfrm>
            <a:off x="7315200" y="1920240"/>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My opinion is that the film was too long.</a:t>
            </a:r>
            <a:endParaRPr lang="en-US" sz="1800" dirty="0"/>
          </a:p>
        </p:txBody>
      </p:sp>
      <p:sp>
        <p:nvSpPr>
          <p:cNvPr id="16" name="kw-row"/>
          <p:cNvSpPr/>
          <p:nvPr/>
        </p:nvSpPr>
        <p:spPr>
          <a:xfrm>
            <a:off x="548640" y="2597709"/>
            <a:ext cx="11094415" cy="831901"/>
          </a:xfrm>
          <a:prstGeom prst="roundRect">
            <a:avLst>
              <a:gd name="adj" fmla="val 6595"/>
            </a:avLst>
          </a:prstGeom>
          <a:solidFill>
            <a:srgbClr val="F6F0E6"/>
          </a:solidFill>
          <a:ln/>
        </p:spPr>
      </p:sp>
      <p:sp>
        <p:nvSpPr>
          <p:cNvPr id="17" name="kw-hex"/>
          <p:cNvSpPr/>
          <p:nvPr/>
        </p:nvSpPr>
        <p:spPr>
          <a:xfrm>
            <a:off x="658368" y="2835488"/>
            <a:ext cx="411480" cy="356342"/>
          </a:xfrm>
          <a:prstGeom prst="hexagon">
            <a:avLst/>
          </a:prstGeom>
          <a:solidFill>
            <a:srgbClr val="B8862B"/>
          </a:solidFill>
          <a:ln/>
        </p:spPr>
      </p:sp>
      <p:sp>
        <p:nvSpPr>
          <p:cNvPr id="18" name="kw-cell"/>
          <p:cNvSpPr txBox="1"/>
          <p:nvPr/>
        </p:nvSpPr>
        <p:spPr>
          <a:xfrm>
            <a:off x="1143000" y="2597709"/>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audience</a:t>
            </a:r>
            <a:endParaRPr lang="en-US" sz="2000" dirty="0"/>
          </a:p>
        </p:txBody>
      </p:sp>
      <p:sp>
        <p:nvSpPr>
          <p:cNvPr id="19" name="kw-cell"/>
          <p:cNvSpPr txBox="1"/>
          <p:nvPr/>
        </p:nvSpPr>
        <p:spPr>
          <a:xfrm>
            <a:off x="3657600" y="2597709"/>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people you are writing for</a:t>
            </a:r>
            <a:endParaRPr lang="en-US" sz="1800" dirty="0"/>
          </a:p>
        </p:txBody>
      </p:sp>
      <p:sp>
        <p:nvSpPr>
          <p:cNvPr id="20" name="kw-cell"/>
          <p:cNvSpPr txBox="1"/>
          <p:nvPr/>
        </p:nvSpPr>
        <p:spPr>
          <a:xfrm>
            <a:off x="7315200" y="2597709"/>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review for parents has a different audience from a review for teenagers.</a:t>
            </a:r>
            <a:endParaRPr lang="en-US" sz="1800" dirty="0"/>
          </a:p>
        </p:txBody>
      </p:sp>
      <p:sp>
        <p:nvSpPr>
          <p:cNvPr id="21" name="kw-row"/>
          <p:cNvSpPr/>
          <p:nvPr/>
        </p:nvSpPr>
        <p:spPr>
          <a:xfrm>
            <a:off x="548640" y="3502762"/>
            <a:ext cx="11094415" cy="831901"/>
          </a:xfrm>
          <a:prstGeom prst="roundRect">
            <a:avLst>
              <a:gd name="adj" fmla="val 6595"/>
            </a:avLst>
          </a:prstGeom>
          <a:solidFill>
            <a:srgbClr val="F6EEEF"/>
          </a:solidFill>
          <a:ln/>
        </p:spPr>
      </p:sp>
      <p:sp>
        <p:nvSpPr>
          <p:cNvPr id="22" name="kw-hex"/>
          <p:cNvSpPr/>
          <p:nvPr/>
        </p:nvSpPr>
        <p:spPr>
          <a:xfrm>
            <a:off x="658368" y="3740541"/>
            <a:ext cx="411480" cy="356342"/>
          </a:xfrm>
          <a:prstGeom prst="hexagon">
            <a:avLst/>
          </a:prstGeom>
          <a:solidFill>
            <a:srgbClr val="8C2F39"/>
          </a:solidFill>
          <a:ln/>
        </p:spPr>
      </p:sp>
      <p:sp>
        <p:nvSpPr>
          <p:cNvPr id="23" name="kw-cell"/>
          <p:cNvSpPr txBox="1"/>
          <p:nvPr/>
        </p:nvSpPr>
        <p:spPr>
          <a:xfrm>
            <a:off x="1143000" y="3502762"/>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purpose</a:t>
            </a:r>
            <a:endParaRPr lang="en-US" sz="2000" dirty="0"/>
          </a:p>
        </p:txBody>
      </p:sp>
      <p:sp>
        <p:nvSpPr>
          <p:cNvPr id="24" name="kw-cell"/>
          <p:cNvSpPr txBox="1"/>
          <p:nvPr/>
        </p:nvSpPr>
        <p:spPr>
          <a:xfrm>
            <a:off x="3657600" y="3502762"/>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reason you are writing</a:t>
            </a:r>
            <a:endParaRPr lang="en-US" sz="1800" dirty="0"/>
          </a:p>
        </p:txBody>
      </p:sp>
      <p:sp>
        <p:nvSpPr>
          <p:cNvPr id="25" name="kw-cell"/>
          <p:cNvSpPr txBox="1"/>
          <p:nvPr/>
        </p:nvSpPr>
        <p:spPr>
          <a:xfrm>
            <a:off x="7315200" y="3502762"/>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purpose of a review is to inform the reader and help them decide.</a:t>
            </a:r>
            <a:endParaRPr lang="en-US" sz="1800" dirty="0"/>
          </a:p>
        </p:txBody>
      </p:sp>
      <p:sp>
        <p:nvSpPr>
          <p:cNvPr id="26" name="kw-row"/>
          <p:cNvSpPr/>
          <p:nvPr/>
        </p:nvSpPr>
        <p:spPr>
          <a:xfrm>
            <a:off x="548640" y="4407814"/>
            <a:ext cx="11094415" cy="831901"/>
          </a:xfrm>
          <a:prstGeom prst="roundRect">
            <a:avLst>
              <a:gd name="adj" fmla="val 6595"/>
            </a:avLst>
          </a:prstGeom>
          <a:solidFill>
            <a:srgbClr val="F6F0E6"/>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form</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type of text and its features</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review is a form of writing with a headline and short paragraphs.</a:t>
            </a:r>
            <a:endParaRPr lang="en-US" sz="1800" dirty="0"/>
          </a:p>
        </p:txBody>
      </p:sp>
      <p:sp>
        <p:nvSpPr>
          <p:cNvPr id="31" name="kw-row"/>
          <p:cNvSpPr/>
          <p:nvPr/>
        </p:nvSpPr>
        <p:spPr>
          <a:xfrm>
            <a:off x="548640" y="5312867"/>
            <a:ext cx="11094415" cy="831901"/>
          </a:xfrm>
          <a:prstGeom prst="roundRect">
            <a:avLst>
              <a:gd name="adj" fmla="val 6595"/>
            </a:avLst>
          </a:prstGeom>
          <a:solidFill>
            <a:srgbClr val="F6EEEF"/>
          </a:solidFill>
          <a:ln/>
        </p:spPr>
      </p:sp>
      <p:sp>
        <p:nvSpPr>
          <p:cNvPr id="32" name="kw-hex"/>
          <p:cNvSpPr/>
          <p:nvPr/>
        </p:nvSpPr>
        <p:spPr>
          <a:xfrm>
            <a:off x="658368" y="5550647"/>
            <a:ext cx="411480" cy="356342"/>
          </a:xfrm>
          <a:prstGeom prst="hexagon">
            <a:avLst/>
          </a:prstGeom>
          <a:solidFill>
            <a:srgbClr val="8C2F39"/>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tone</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your writing sounds to the reader</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Use a warm, friendly tone when you write for younger children.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Opinion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writing is a way of giving your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opinion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formal writing.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this unit you will write reviews and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opinion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articles.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Before you write, ask three questions.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Who am I writing for? That is the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audience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Why am I writing this? That is the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purpose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What type of text is it? That is the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form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Think of a mechanic’s overalls.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Their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purpose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to protect someone doing dirty work.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Their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form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has long sleeves, strong cloth and lots of pockets.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Their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audience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someone who wants to be comfortable and safe.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Writing works the same 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Once you know your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audience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choose your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tone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suit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review for parents sounds different from a review for teenagers.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opinion writing 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Every time you give an opinion, follow it with ‘because’ and an example. That habit is the whole unit in one sentence.</a:t>
            </a:r>
            <a:endParaRPr lang="en-US" sz="1800" dirty="0"/>
          </a:p>
        </p:txBody>
      </p:sp>
      <p:sp>
        <p:nvSpPr>
          <p:cNvPr id="11" name="point-card"/>
          <p:cNvSpPr/>
          <p:nvPr/>
        </p:nvSpPr>
        <p:spPr>
          <a:xfrm>
            <a:off x="548640" y="1389888"/>
            <a:ext cx="5410048" cy="3686048"/>
          </a:xfrm>
          <a:prstGeom prst="roundRect">
            <a:avLst>
              <a:gd name="adj" fmla="val 1488"/>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Opinion writing is a way of expressing what you think in formal writing.</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opinion can be strong or balanced. You can fully agree with a statement, partly agree, or completely disagree.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Three questions before you write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P, F and A in the margin of every task and fill them in before you plan. It takes thirty seconds and saves a lost paragraph.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teachers call them the foundation of all writing: purpose, form and audience.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Think about how clothes are designed. If you were asked to design overalls for a car mechanic, you would first ask why overalls are needed (purpose: comfort and protection for dirty work).</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EAEB"/>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writing task works the same way. ‘Write a review of a film character for a parenting magazine.’ Circle the form: a review.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8C2F39"/>
                </a:solidFill>
                <a:latin typeface="Cambria" pitchFamily="34" charset="0"/>
                <a:ea typeface="Cambria" pitchFamily="34" charset="-122"/>
                <a:cs typeface="Cambria" pitchFamily="34" charset="-120"/>
              </a:rPr>
              <a:t>Worked example: Three questions before you write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EAEB"/>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Work through purpose, form and audience for the task ‘Design a PE kit for a secondary school’.</a:t>
            </a:r>
            <a:endParaRPr lang="en-US" sz="2000" dirty="0"/>
          </a:p>
        </p:txBody>
      </p:sp>
      <p:sp>
        <p:nvSpPr>
          <p:cNvPr id="9" name="step-box"/>
          <p:cNvSpPr/>
          <p:nvPr/>
        </p:nvSpPr>
        <p:spPr>
          <a:xfrm>
            <a:off x="548640" y="2192528"/>
            <a:ext cx="11094415" cy="603504"/>
          </a:xfrm>
          <a:prstGeom prst="roundRect">
            <a:avLst>
              <a:gd name="adj" fmla="val 12121"/>
            </a:avLst>
          </a:prstGeom>
          <a:solidFill>
            <a:srgbClr val="FFFFFF"/>
          </a:solidFill>
          <a:ln w="15875">
            <a:solidFill>
              <a:srgbClr val="C08D92"/>
            </a:solidFill>
            <a:prstDash val="solid"/>
          </a:ln>
        </p:spPr>
      </p:sp>
      <p:sp>
        <p:nvSpPr>
          <p:cNvPr id="10" name="step-hex"/>
          <p:cNvSpPr/>
          <p:nvPr/>
        </p:nvSpPr>
        <p:spPr>
          <a:xfrm>
            <a:off x="685800" y="2296312"/>
            <a:ext cx="457200" cy="395935"/>
          </a:xfrm>
          <a:prstGeom prst="hexagon">
            <a:avLst/>
          </a:prstGeom>
          <a:solidFill>
            <a:srgbClr val="8C2F39"/>
          </a:solidFill>
          <a:ln/>
        </p:spPr>
      </p:sp>
      <p:sp>
        <p:nvSpPr>
          <p:cNvPr id="11" name="step-hex-label"/>
          <p:cNvSpPr txBox="1"/>
          <p:nvPr/>
        </p:nvSpPr>
        <p:spPr>
          <a:xfrm>
            <a:off x="685800" y="22963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Purpose: what is a PE kit used for? Running, stretching, getting muddy, and being washed often.</a:t>
            </a:r>
            <a:endParaRPr lang="en-US" sz="1800" dirty="0"/>
          </a:p>
        </p:txBody>
      </p:sp>
      <p:sp>
        <p:nvSpPr>
          <p:cNvPr id="13" name="step-box"/>
          <p:cNvSpPr/>
          <p:nvPr/>
        </p:nvSpPr>
        <p:spPr>
          <a:xfrm>
            <a:off x="548640" y="2869184"/>
            <a:ext cx="11094415" cy="867664"/>
          </a:xfrm>
          <a:prstGeom prst="roundRect">
            <a:avLst>
              <a:gd name="adj" fmla="val 8431"/>
            </a:avLst>
          </a:prstGeom>
          <a:solidFill>
            <a:srgbClr val="FFFFFF"/>
          </a:solidFill>
          <a:ln w="15875">
            <a:solidFill>
              <a:srgbClr val="C08D92"/>
            </a:solidFill>
            <a:prstDash val="solid"/>
          </a:ln>
        </p:spPr>
      </p:sp>
      <p:sp>
        <p:nvSpPr>
          <p:cNvPr id="14" name="step-hex"/>
          <p:cNvSpPr/>
          <p:nvPr/>
        </p:nvSpPr>
        <p:spPr>
          <a:xfrm>
            <a:off x="685800" y="3105048"/>
            <a:ext cx="457200" cy="395935"/>
          </a:xfrm>
          <a:prstGeom prst="hexagon">
            <a:avLst/>
          </a:prstGeom>
          <a:solidFill>
            <a:srgbClr val="8C2F39"/>
          </a:solidFill>
          <a:ln/>
        </p:spPr>
      </p:sp>
      <p:sp>
        <p:nvSpPr>
          <p:cNvPr id="15" name="step-hex-label"/>
          <p:cNvSpPr txBox="1"/>
          <p:nvPr/>
        </p:nvSpPr>
        <p:spPr>
          <a:xfrm>
            <a:off x="685800" y="31050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69184"/>
            <a:ext cx="10180015" cy="8676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Form: what features serve that purpose? Light stretchy cloth, a school colour so teams are easy to spot, a name label.</a:t>
            </a:r>
            <a:endParaRPr lang="en-US" sz="1800" dirty="0"/>
          </a:p>
        </p:txBody>
      </p:sp>
      <p:sp>
        <p:nvSpPr>
          <p:cNvPr id="17" name="step-box"/>
          <p:cNvSpPr/>
          <p:nvPr/>
        </p:nvSpPr>
        <p:spPr>
          <a:xfrm>
            <a:off x="548640" y="3810000"/>
            <a:ext cx="11094415" cy="867664"/>
          </a:xfrm>
          <a:prstGeom prst="roundRect">
            <a:avLst>
              <a:gd name="adj" fmla="val 8431"/>
            </a:avLst>
          </a:prstGeom>
          <a:solidFill>
            <a:srgbClr val="FFFFFF"/>
          </a:solidFill>
          <a:ln w="15875">
            <a:solidFill>
              <a:srgbClr val="C08D92"/>
            </a:solidFill>
            <a:prstDash val="solid"/>
          </a:ln>
        </p:spPr>
      </p:sp>
      <p:sp>
        <p:nvSpPr>
          <p:cNvPr id="18" name="step-hex"/>
          <p:cNvSpPr/>
          <p:nvPr/>
        </p:nvSpPr>
        <p:spPr>
          <a:xfrm>
            <a:off x="685800" y="4045864"/>
            <a:ext cx="457200" cy="395935"/>
          </a:xfrm>
          <a:prstGeom prst="hexagon">
            <a:avLst/>
          </a:prstGeom>
          <a:solidFill>
            <a:srgbClr val="8C2F39"/>
          </a:solidFill>
          <a:ln/>
        </p:spPr>
      </p:sp>
      <p:sp>
        <p:nvSpPr>
          <p:cNvPr id="19" name="step-hex-label"/>
          <p:cNvSpPr txBox="1"/>
          <p:nvPr/>
        </p:nvSpPr>
        <p:spPr>
          <a:xfrm>
            <a:off x="685800" y="40458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10000"/>
            <a:ext cx="10180015" cy="8676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Audience: who wears it? Pupils aged eleven to sixteen who want to move freely and not stand out for the wrong reasons.</a:t>
            </a:r>
            <a:endParaRPr lang="en-US" sz="1800" dirty="0"/>
          </a:p>
        </p:txBody>
      </p:sp>
      <p:sp>
        <p:nvSpPr>
          <p:cNvPr id="21" name="worked-answer"/>
          <p:cNvSpPr/>
          <p:nvPr/>
        </p:nvSpPr>
        <p:spPr>
          <a:xfrm>
            <a:off x="548640" y="4860544"/>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Purpose: sport and frequent washing. Form: light, stretchy, school colours, labelled. Audience: pupils who want comfort and to fit in. The same three questions work for any piece of writing.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Tone: the same opinion, two audiences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review that is only opinion, opinion, opinion starts to sound like a speech. Keep the facts in.</a:t>
            </a:r>
            <a:endParaRPr lang="en-US" sz="1800" dirty="0"/>
          </a:p>
        </p:txBody>
      </p:sp>
      <p:sp>
        <p:nvSpPr>
          <p:cNvPr id="11" name="point-card"/>
          <p:cNvSpPr/>
          <p:nvPr/>
        </p:nvSpPr>
        <p:spPr>
          <a:xfrm>
            <a:off x="548640" y="1389888"/>
            <a:ext cx="3515258" cy="3964940"/>
          </a:xfrm>
          <a:prstGeom prst="roundRect">
            <a:avLst>
              <a:gd name="adj" fmla="val 1561"/>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Tone is how your writing sounds. You already change it when you speak: you talk to a teacher differently from the way you talk to a friend, even when you are saying the same thing.</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Read these two mini-reviews of the same trampoline park, both written for Ad Astra.</a:t>
            </a:r>
            <a:endParaRPr lang="en-US" sz="2000" dirty="0"/>
          </a:p>
        </p:txBody>
      </p:sp>
      <p:sp>
        <p:nvSpPr>
          <p:cNvPr id="19" name="point-card"/>
          <p:cNvSpPr/>
          <p:nvPr/>
        </p:nvSpPr>
        <p:spPr>
          <a:xfrm>
            <a:off x="8127797" y="1389888"/>
            <a:ext cx="3515258" cy="3964940"/>
          </a:xfrm>
          <a:prstGeom prst="roundRect">
            <a:avLst>
              <a:gd name="adj" fmla="val 1561"/>
            </a:avLst>
          </a:prstGeom>
          <a:solidFill>
            <a:srgbClr val="F4EAEB"/>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Notice what each writer chooses to mention. Parents are told about wristbands, the safety talk and somewhere to sit.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Tone: the same opinion, two audiences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4EAEB"/>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000" i="1" dirty="0">
                <a:solidFill>
                  <a:srgbClr val="1E2229"/>
                </a:solidFill>
                <a:latin typeface="Cambria" pitchFamily="34" charset="0"/>
                <a:ea typeface="Cambria" pitchFamily="34" charset="-122"/>
                <a:cs typeface="Cambria" pitchFamily="34" charset="-120"/>
              </a:rPr>
              <a:t>Bounce Yard: an afternoon they will not forget. If your weekends have become a cycle of screens and sulking, Bounce Yard may be the answer. The new trampoline park opened last month, and we visited on a wet Saturday. Staff checked every child’s wristband, the safety talk was clear, and the café had somewhere for tired adults to sit. Two hours cost us less than a cinema trip. My ten-year-old slept all the way home. Bounce Yard: finally, somewhere worth leaving the house for. Forget the park. Bounce Yard opened last month, and it is the only place in town where you can throw yourself at a padded wall and get cheered for it. The dodgeball court is brutal, the foam pit is deeper than it looks, and the music is loud enough to drown out your mates. Go after six, when the little kids have gone home.</a:t>
            </a:r>
            <a:endParaRPr lang="en-US" sz="2000" dirty="0"/>
          </a:p>
          <a:p>
            <a:pPr algn="l" indent="0" marL="0">
              <a:buNone/>
            </a:pPr>
            <a:r>
              <a:rPr lang="en-US" sz="1800" dirty="0">
                <a:solidFill>
                  <a:srgbClr val="4A505C"/>
                </a:solidFill>
                <a:latin typeface="Calibri" pitchFamily="34" charset="0"/>
                <a:ea typeface="Calibri" pitchFamily="34" charset="-122"/>
                <a:cs typeface="Calibri" pitchFamily="34" charset="-120"/>
              </a:rPr>
              <a:t>— Two mini-reviews of ‘Bounce Yard’ — original model texts written for Ad Astra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Match the question to the idea</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question a writer asks to the idea it checks.</a:t>
            </a:r>
            <a:endParaRPr lang="en-US" sz="2400" dirty="0"/>
          </a:p>
        </p:txBody>
      </p:sp>
      <p:sp>
        <p:nvSpPr>
          <p:cNvPr id="11" name="match-card"/>
          <p:cNvSpPr/>
          <p:nvPr/>
        </p:nvSpPr>
        <p:spPr>
          <a:xfrm>
            <a:off x="777240" y="2468331"/>
            <a:ext cx="5135728" cy="634375"/>
          </a:xfrm>
          <a:prstGeom prst="roundRect">
            <a:avLst>
              <a:gd name="adj" fmla="val 11531"/>
            </a:avLst>
          </a:prstGeom>
          <a:solidFill>
            <a:srgbClr val="F6EEEF"/>
          </a:solidFill>
          <a:ln/>
        </p:spPr>
      </p:sp>
      <p:sp>
        <p:nvSpPr>
          <p:cNvPr id="12" name="match-hex"/>
          <p:cNvSpPr/>
          <p:nvPr/>
        </p:nvSpPr>
        <p:spPr>
          <a:xfrm>
            <a:off x="850392" y="2619226"/>
            <a:ext cx="384048" cy="332586"/>
          </a:xfrm>
          <a:prstGeom prst="hexagon">
            <a:avLst/>
          </a:prstGeom>
          <a:solidFill>
            <a:srgbClr val="8C2F39"/>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Who am I writing for?</a:t>
            </a:r>
            <a:endParaRPr lang="en-US" sz="2200" dirty="0"/>
          </a:p>
        </p:txBody>
      </p:sp>
      <p:sp>
        <p:nvSpPr>
          <p:cNvPr id="15" name="match-card"/>
          <p:cNvSpPr/>
          <p:nvPr/>
        </p:nvSpPr>
        <p:spPr>
          <a:xfrm>
            <a:off x="6278728" y="2468331"/>
            <a:ext cx="5135728" cy="634375"/>
          </a:xfrm>
          <a:prstGeom prst="roundRect">
            <a:avLst>
              <a:gd name="adj" fmla="val 11531"/>
            </a:avLst>
          </a:prstGeom>
          <a:solidFill>
            <a:srgbClr val="F6F0E6"/>
          </a:solidFill>
          <a:ln/>
        </p:spPr>
      </p:sp>
      <p:sp>
        <p:nvSpPr>
          <p:cNvPr id="16" name="match-hex"/>
          <p:cNvSpPr/>
          <p:nvPr/>
        </p:nvSpPr>
        <p:spPr>
          <a:xfrm>
            <a:off x="6351880" y="2619226"/>
            <a:ext cx="384048" cy="332586"/>
          </a:xfrm>
          <a:prstGeom prst="hexagon">
            <a:avLst/>
          </a:prstGeom>
          <a:solidFill>
            <a:srgbClr val="B8862B"/>
          </a:solidFill>
          <a:ln/>
        </p:spPr>
      </p:sp>
      <p:sp>
        <p:nvSpPr>
          <p:cNvPr id="17" name="match-hex-label"/>
          <p:cNvSpPr txBox="1"/>
          <p:nvPr/>
        </p:nvSpPr>
        <p:spPr>
          <a:xfrm>
            <a:off x="6351880"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Form</a:t>
            </a:r>
            <a:endParaRPr lang="en-US" sz="2200" dirty="0"/>
          </a:p>
        </p:txBody>
      </p:sp>
      <p:sp>
        <p:nvSpPr>
          <p:cNvPr id="19" name="match-card"/>
          <p:cNvSpPr/>
          <p:nvPr/>
        </p:nvSpPr>
        <p:spPr>
          <a:xfrm>
            <a:off x="777240" y="3194147"/>
            <a:ext cx="5135728" cy="634375"/>
          </a:xfrm>
          <a:prstGeom prst="roundRect">
            <a:avLst>
              <a:gd name="adj" fmla="val 11531"/>
            </a:avLst>
          </a:prstGeom>
          <a:solidFill>
            <a:srgbClr val="F6EEEF"/>
          </a:solidFill>
          <a:ln/>
        </p:spPr>
      </p:sp>
      <p:sp>
        <p:nvSpPr>
          <p:cNvPr id="20" name="match-hex"/>
          <p:cNvSpPr/>
          <p:nvPr/>
        </p:nvSpPr>
        <p:spPr>
          <a:xfrm>
            <a:off x="850392" y="3345041"/>
            <a:ext cx="384048" cy="332586"/>
          </a:xfrm>
          <a:prstGeom prst="hexagon">
            <a:avLst/>
          </a:prstGeom>
          <a:solidFill>
            <a:srgbClr val="8C2F39"/>
          </a:solidFill>
          <a:ln/>
        </p:spPr>
      </p:sp>
      <p:sp>
        <p:nvSpPr>
          <p:cNvPr id="21" name="match-hex-label"/>
          <p:cNvSpPr txBox="1"/>
          <p:nvPr/>
        </p:nvSpPr>
        <p:spPr>
          <a:xfrm>
            <a:off x="850392"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am I writing this?</a:t>
            </a:r>
            <a:endParaRPr lang="en-US" sz="2200" dirty="0"/>
          </a:p>
        </p:txBody>
      </p:sp>
      <p:sp>
        <p:nvSpPr>
          <p:cNvPr id="23" name="match-card"/>
          <p:cNvSpPr/>
          <p:nvPr/>
        </p:nvSpPr>
        <p:spPr>
          <a:xfrm>
            <a:off x="6278728" y="3194147"/>
            <a:ext cx="5135728" cy="634375"/>
          </a:xfrm>
          <a:prstGeom prst="roundRect">
            <a:avLst>
              <a:gd name="adj" fmla="val 11531"/>
            </a:avLst>
          </a:prstGeom>
          <a:solidFill>
            <a:srgbClr val="F6F0E6"/>
          </a:solidFill>
          <a:ln/>
        </p:spPr>
      </p:sp>
      <p:sp>
        <p:nvSpPr>
          <p:cNvPr id="24" name="match-hex"/>
          <p:cNvSpPr/>
          <p:nvPr/>
        </p:nvSpPr>
        <p:spPr>
          <a:xfrm>
            <a:off x="6351880" y="3345041"/>
            <a:ext cx="384048" cy="332586"/>
          </a:xfrm>
          <a:prstGeom prst="hexagon">
            <a:avLst/>
          </a:prstGeom>
          <a:solidFill>
            <a:srgbClr val="B8862B"/>
          </a:solidFill>
          <a:ln/>
        </p:spPr>
      </p:sp>
      <p:sp>
        <p:nvSpPr>
          <p:cNvPr id="25" name="match-hex-label"/>
          <p:cNvSpPr txBox="1"/>
          <p:nvPr/>
        </p:nvSpPr>
        <p:spPr>
          <a:xfrm>
            <a:off x="6351880"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194147"/>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Audience</a:t>
            </a:r>
            <a:endParaRPr lang="en-US" sz="2200" dirty="0"/>
          </a:p>
        </p:txBody>
      </p:sp>
      <p:sp>
        <p:nvSpPr>
          <p:cNvPr id="27" name="match-card"/>
          <p:cNvSpPr/>
          <p:nvPr/>
        </p:nvSpPr>
        <p:spPr>
          <a:xfrm>
            <a:off x="777240" y="3919962"/>
            <a:ext cx="5135728" cy="975243"/>
          </a:xfrm>
          <a:prstGeom prst="roundRect">
            <a:avLst>
              <a:gd name="adj" fmla="val 7501"/>
            </a:avLst>
          </a:prstGeom>
          <a:solidFill>
            <a:srgbClr val="F6EEEF"/>
          </a:solidFill>
          <a:ln/>
        </p:spPr>
      </p:sp>
      <p:sp>
        <p:nvSpPr>
          <p:cNvPr id="28" name="match-hex"/>
          <p:cNvSpPr/>
          <p:nvPr/>
        </p:nvSpPr>
        <p:spPr>
          <a:xfrm>
            <a:off x="850392" y="4241290"/>
            <a:ext cx="384048" cy="332586"/>
          </a:xfrm>
          <a:prstGeom prst="hexagon">
            <a:avLst/>
          </a:prstGeom>
          <a:solidFill>
            <a:srgbClr val="8C2F39"/>
          </a:solidFill>
          <a:ln/>
        </p:spPr>
      </p:sp>
      <p:sp>
        <p:nvSpPr>
          <p:cNvPr id="29" name="match-hex-label"/>
          <p:cNvSpPr txBox="1"/>
          <p:nvPr/>
        </p:nvSpPr>
        <p:spPr>
          <a:xfrm>
            <a:off x="850392"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19962"/>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What type of text is it, and what features does it need?</a:t>
            </a:r>
            <a:endParaRPr lang="en-US" sz="2200" dirty="0"/>
          </a:p>
        </p:txBody>
      </p:sp>
      <p:sp>
        <p:nvSpPr>
          <p:cNvPr id="31" name="match-card"/>
          <p:cNvSpPr/>
          <p:nvPr/>
        </p:nvSpPr>
        <p:spPr>
          <a:xfrm>
            <a:off x="6278728" y="3919962"/>
            <a:ext cx="5135728" cy="975243"/>
          </a:xfrm>
          <a:prstGeom prst="roundRect">
            <a:avLst>
              <a:gd name="adj" fmla="val 7501"/>
            </a:avLst>
          </a:prstGeom>
          <a:solidFill>
            <a:srgbClr val="F6F0E6"/>
          </a:solidFill>
          <a:ln/>
        </p:spPr>
      </p:sp>
      <p:sp>
        <p:nvSpPr>
          <p:cNvPr id="32" name="match-hex"/>
          <p:cNvSpPr/>
          <p:nvPr/>
        </p:nvSpPr>
        <p:spPr>
          <a:xfrm>
            <a:off x="6351880" y="4241290"/>
            <a:ext cx="384048" cy="332586"/>
          </a:xfrm>
          <a:prstGeom prst="hexagon">
            <a:avLst/>
          </a:prstGeom>
          <a:solidFill>
            <a:srgbClr val="B8862B"/>
          </a:solidFill>
          <a:ln/>
        </p:spPr>
      </p:sp>
      <p:sp>
        <p:nvSpPr>
          <p:cNvPr id="33" name="match-hex-label"/>
          <p:cNvSpPr txBox="1"/>
          <p:nvPr/>
        </p:nvSpPr>
        <p:spPr>
          <a:xfrm>
            <a:off x="6351880"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3919962"/>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Tone</a:t>
            </a:r>
            <a:endParaRPr lang="en-US" sz="2200" dirty="0"/>
          </a:p>
        </p:txBody>
      </p:sp>
      <p:sp>
        <p:nvSpPr>
          <p:cNvPr id="35" name="match-card"/>
          <p:cNvSpPr/>
          <p:nvPr/>
        </p:nvSpPr>
        <p:spPr>
          <a:xfrm>
            <a:off x="777240" y="4986645"/>
            <a:ext cx="5135728" cy="975243"/>
          </a:xfrm>
          <a:prstGeom prst="roundRect">
            <a:avLst>
              <a:gd name="adj" fmla="val 7501"/>
            </a:avLst>
          </a:prstGeom>
          <a:solidFill>
            <a:srgbClr val="F6EEEF"/>
          </a:solidFill>
          <a:ln/>
        </p:spPr>
      </p:sp>
      <p:sp>
        <p:nvSpPr>
          <p:cNvPr id="36" name="match-hex"/>
          <p:cNvSpPr/>
          <p:nvPr/>
        </p:nvSpPr>
        <p:spPr>
          <a:xfrm>
            <a:off x="850392" y="5307974"/>
            <a:ext cx="384048" cy="332586"/>
          </a:xfrm>
          <a:prstGeom prst="hexagon">
            <a:avLst/>
          </a:prstGeom>
          <a:solidFill>
            <a:srgbClr val="8C2F39"/>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should my writing sound to this reader?</a:t>
            </a:r>
            <a:endParaRPr lang="en-US" sz="2200" dirty="0"/>
          </a:p>
        </p:txBody>
      </p:sp>
      <p:sp>
        <p:nvSpPr>
          <p:cNvPr id="39" name="match-card"/>
          <p:cNvSpPr/>
          <p:nvPr/>
        </p:nvSpPr>
        <p:spPr>
          <a:xfrm>
            <a:off x="6278728" y="4986645"/>
            <a:ext cx="5135728" cy="975243"/>
          </a:xfrm>
          <a:prstGeom prst="roundRect">
            <a:avLst>
              <a:gd name="adj" fmla="val 7501"/>
            </a:avLst>
          </a:prstGeom>
          <a:solidFill>
            <a:srgbClr val="F6F0E6"/>
          </a:solidFill>
          <a:ln/>
        </p:spPr>
      </p:sp>
      <p:sp>
        <p:nvSpPr>
          <p:cNvPr id="40" name="match-hex"/>
          <p:cNvSpPr/>
          <p:nvPr/>
        </p:nvSpPr>
        <p:spPr>
          <a:xfrm>
            <a:off x="6351880" y="5307974"/>
            <a:ext cx="384048" cy="332586"/>
          </a:xfrm>
          <a:prstGeom prst="hexagon">
            <a:avLst/>
          </a:prstGeom>
          <a:solidFill>
            <a:srgbClr val="B8862B"/>
          </a:solidFill>
          <a:ln/>
        </p:spPr>
      </p:sp>
      <p:sp>
        <p:nvSpPr>
          <p:cNvPr id="41" name="match-hex-label"/>
          <p:cNvSpPr txBox="1"/>
          <p:nvPr/>
        </p:nvSpPr>
        <p:spPr>
          <a:xfrm>
            <a:off x="6351880"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986645"/>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Purpose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Match the question to the idea</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question a writer asks to the idea it checks.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EAEB"/>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Audience is always about people: who will read it.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Purpose is always a reason: to inform, persuade, entertain or advise.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Form is the type of text: a review, an article, a letter.</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Tone is the sound of the writing, and it is chosen to suit the audience.</a:t>
            </a:r>
            <a:endParaRPr lang="en-US" sz="1800" dirty="0"/>
          </a:p>
        </p:txBody>
      </p:sp>
      <p:sp>
        <p:nvSpPr>
          <p:cNvPr id="17" name="col-Core"/>
          <p:cNvSpPr/>
          <p:nvPr/>
        </p:nvSpPr>
        <p:spPr>
          <a:xfrm>
            <a:off x="5490762" y="2578608"/>
            <a:ext cx="2938987" cy="3566160"/>
          </a:xfrm>
          <a:prstGeom prst="roundRect">
            <a:avLst>
              <a:gd name="adj" fmla="val 1867"/>
            </a:avLst>
          </a:prstGeom>
          <a:solidFill>
            <a:srgbClr val="E6D1D3"/>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questions start with Who, Why and What. The fourth is about sound.</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tone depends on audience and purpose together, using the two Bounce Yard mini-reviews as your example.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Spot the audience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Read the two Bounce Yard mini-reviews. Which detail shows that the first review is written for parents?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“throw yourself at a padded wall and get cheered for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“Go after six, when the little kids have gone home.”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music is loud enough to drown out your mates”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“Staff checked every child’s wristband, the safety talk was clear”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Spot the audience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Read the two Bounce Yard mini-reviews. Which detail shows that the first review is written for parents?</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4EAEB"/>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Ask what parents care about: safety, cost, and tired children.</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Find the line that mentions safety.</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Check it comes from the first review, not the second.</a:t>
            </a:r>
            <a:endParaRPr lang="en-US" sz="2000" dirty="0"/>
          </a:p>
        </p:txBody>
      </p:sp>
      <p:sp>
        <p:nvSpPr>
          <p:cNvPr id="17" name="col-Core"/>
          <p:cNvSpPr/>
          <p:nvPr/>
        </p:nvSpPr>
        <p:spPr>
          <a:xfrm>
            <a:off x="4338218" y="2593848"/>
            <a:ext cx="3515258" cy="3550920"/>
          </a:xfrm>
          <a:prstGeom prst="roundRect">
            <a:avLst>
              <a:gd name="adj" fmla="val 1561"/>
            </a:avLst>
          </a:prstGeom>
          <a:solidFill>
            <a:srgbClr val="E6D1D3"/>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Which of the four details would make a parent feel reassured?</a:t>
            </a:r>
            <a:endParaRPr lang="en-US" sz="2000" dirty="0"/>
          </a:p>
        </p:txBody>
      </p:sp>
      <p:sp>
        <p:nvSpPr>
          <p:cNvPr id="22" name="col-Stretch"/>
          <p:cNvSpPr/>
          <p:nvPr/>
        </p:nvSpPr>
        <p:spPr>
          <a:xfrm>
            <a:off x="8127797" y="2593848"/>
            <a:ext cx="3515258" cy="3550920"/>
          </a:xfrm>
          <a:prstGeom prst="roundRect">
            <a:avLst>
              <a:gd name="adj" fmla="val 1561"/>
            </a:avLst>
          </a:prstGeom>
          <a:solidFill>
            <a:srgbClr val="8C2F39"/>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Rewrite the wristband sentence so that it would appeal to teenagers instead, and explain what you changed.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question finds the purpose of a piece of writing?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How long should it be?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Why am I writing it?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Who is going to read it?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What type of text is it?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0F1"/>
          </a:solidFill>
          <a:ln w="12700">
            <a:solidFill>
              <a:srgbClr val="C6979C"/>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Match the question to the idea</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Who am I writing for?  →  B  Audience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Why am I writing this?  →  D  Purpose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What type of text is it, and what features does it need?  →  A  Form</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How should my writing sound to this reader?  →  C  Tone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Who is the audience, why is the purpose, what type of text is the form, and how it sounds is the tone.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Spot the audience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Read the two Bounce Yard mini-reviews. Which detail shows that the first review is written for parents?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“Staff checked every child’s wristband, the safety talk was clear”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Wristbands and a clear safety talk reassure parents. The other three details are written to excite teenagers.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question finds the purpose of a piece of writing?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Why am I writing it?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Purpose is why you are writing: to inform, persuade, entertain or advise. Audience is who, and form is what type of text.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4EAEB"/>
      </a:lt2>
      <a:accent1>
        <a:srgbClr val="8C2F39"/>
      </a:accent1>
      <a:accent2>
        <a:srgbClr val="B8862B"/>
      </a:accent2>
      <a:accent3>
        <a:srgbClr val="BA8288"/>
      </a:accent3>
      <a:accent4>
        <a:srgbClr val="815E1E"/>
      </a:accent4>
      <a:accent5>
        <a:srgbClr val="4A505C"/>
      </a:accent5>
      <a:accent6>
        <a:srgbClr val="DCC395"/>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Opinion Writing · Chapter 1: Audience, purpose, form: writing for a reader</dc:title>
  <dc:subject>English · Year 9</dc:subject>
  <dc:creator>Dr Vitor Merissi de Carvalho</dc:creator>
  <cp:lastModifiedBy>Dr Vitor Merissi de Carvalho</cp:lastModifiedBy>
  <cp:revision>1</cp:revision>
  <dcterms:created xsi:type="dcterms:W3CDTF">2026-10-19T06:07:22Z</dcterms:created>
  <dcterms:modified xsi:type="dcterms:W3CDTF">2026-10-19T06:07:22Z</dcterms:modified>
</cp:coreProperties>
</file>