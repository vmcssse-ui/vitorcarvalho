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51beae-5e64-8ce4-2f25-a55c2cb5eb0d}">
          <p14:sldIdLst>
            <p14:sldId id="256"/>
          </p14:sldIdLst>
        </p14:section>
        <p14:section name="Gate" id="{5fea84d2-ac33-04a7-455c-06516c084113}">
          <p14:sldIdLst>
            <p14:sldId id="257"/>
            <p14:sldId id="258"/>
          </p14:sldIdLst>
        </p14:section>
        <p14:section name="Pre-teach" id="{b4e1fe19-0a9c-6aa6-465f-94554a418f1e}">
          <p14:sldIdLst>
            <p14:sldId id="259"/>
            <p14:sldId id="260"/>
          </p14:sldIdLst>
        </p14:section>
        <p14:section name="Read-along" id="{e6f50059-da89-73cb-634c-4e168f57472b}">
          <p14:sldIdLst>
            <p14:sldId id="261"/>
            <p14:sldId id="262"/>
          </p14:sldIdLst>
        </p14:section>
        <p14:section name="Teach" id="{4627cfcb-53fa-52c9-8285-f5c15b6aca0f}">
          <p14:sldIdLst>
            <p14:sldId id="263"/>
            <p14:sldId id="264"/>
            <p14:sldId id="265"/>
            <p14:sldId id="266"/>
          </p14:sldIdLst>
        </p14:section>
        <p14:section name="Routes" id="{391cb517-84cf-84bc-a9d9-43260ff2f754}">
          <p14:sldIdLst>
            <p14:sldId id="267"/>
            <p14:sldId id="268"/>
            <p14:sldId id="269"/>
            <p14:sldId id="270"/>
            <p14:sldId id="271"/>
            <p14:sldId id="272"/>
          </p14:sldIdLst>
        </p14:section>
        <p14:section name="Close" id="{e4beb6ea-5896-b32a-7a35-3fa39edeeda7}">
          <p14:sldIdLst>
            <p14:sldId id="273"/>
          </p14:sldIdLst>
        </p14:section>
        <p14:section name="Answers" id="{cd03d218-6ee2-7298-82b1-98a5ba2a4b86}">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Persuasive techniques, implicit opinion and the other side. You will decode opinions that are implied rather than stated, name the DAFOREST techniques and their effects, answer the other side, and plan a full article with topic sentences.
This deck covers the department's lessons: 11 (Implicit and explicit opinions: How do writers imply an opinion without stating it, and how do I decode it?); 12 (All for School? No, thanks!: techniques in an opinion piece: Which DAFOREST techniques does an opinion piece use, and why do they persuade?); 13 (Assessment preparation: an opinion article on social media: Am I able to write from a particular viewpoint on the use of social media?).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An opinion that is suggested through word choices but not stated directly is ___.  →  implicit
2. In DAFOREST, what does the D stand for?  →  C   Direct address
3. Why should an opinion article include a counter-argument?  →  A   To show you have considered the other side, and to answer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implicit. Implicit means suggested, not directly expressed; explicit means stated clearly.
2. C   Direct address. Direct address speaks straight to the reader with ‘you’ or ‘we’, making them feel involved.
3. A   To show you have considered the other side, and to answer it. Addressing the counter-argument strengthens the writer’s viewpoint: the reader sees both sides have been weighed.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explicit: stated clearly and directly. Example: "‘The café was dirty’ is an explicit opinion."
• implicit: suggested, not stated directly. Example: "An implicit opinion is hidden in the details the writer chooses."
• technique: a method a writer uses on purpose. Example: "A rhetorical question is a persuasive technique."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statistic: a fact given as a number. Example: "A statistic such as ‘six hours a night’ makes a point feel solid."
• topic sentence: the first sentence of a paragraph, giving its point. Example: "Plan each paragraph with a topic sentence."
• freewriting: writing without stopping to find ideas. Example: "Ten minutes of freewriting gave me three arguments."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explicit opinion is stated clearly.
2. An implicit opinion is suggested by the words the writer chooses.
3. Good writers imply as well as state.
4. Persuasive writers use techniques on purpose.
5. DAFOREST helps you remember them.
6. Direct address, alliteration and anecdotes, facts, opinion, rhetorical questions.
7. Emotive language, statistics, and the rule of three.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Each technique has an effect on the reader.
9. Strong writers also give the other side, then answer it.
10. This makes their own view stronger.
11. If you are stuck for ideas, freewrite for ten minutes without stopping.
12. Then plan each paragraph with a topic sentence.
13. Now you are ready to write a full article.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Explicit and implicit opinions. Say it in your own words, then check understanding with a quick question: ask a pupil from the pre-teach group first, since they met these words and ideas before the lesson. Pupils try to recall before you re-explain.
Explicit means stated clearly and in detail, leaving no room for doubt. Implicit means suggested, though not directly expressed. ‘You are not going out in that; it is a disaster’ is explicit. ‘So that is how you are wearing your hair now?’ implies the same opinion without saying it.
Professional opinion writers do both. Read these two sentences about a café. The first is explicit. The second never uses a judging word, yet the reader knows exactly what the writer thinks, because of the details chosen: a sleeve used as a cloth, and eleven minutes of being ignored.
To decode an implicit opinion, ask three questions. Which details has the writer chosen to include? What do those details usually suggest? Why mention them here, in this paragraph? Then turn it round for your own writing: pick one criticism and turn it into an implicit suggestion through detail.
Quotation: "The café was dirty and the staff were rude. I wiped the table with my sleeve before I sat down, and waited eleven minutes for someone to notice me." (An explicit opinion, then the same opinion implied — original examples written for Ad Astra). Read it aloud; ask what it shows.
Tip: Implicit opinion is show, don’t tell, applied to argument. The detail carries the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DAFOREST: techniques that persuade, and why. Say it in your own words, then check understanding with a quick question: ask a pupil from the pre-teach group first, since they met these words and ideas before the lesson. Pupils try to recall before you re-explain.
DAFOREST is your checklist of persuasive techniques: Direct address (‘you’, ‘we’, commands), Alliteration and Anecdotes, Facts, Opinion and Onomatopoeia, Repetition and Rhetorical questions, Emotive language and Exaggeration, Statistics, and Three (the rule of three). Spotting them is step one. Step two is explaining why each one persuades, because there is no point identifying a technique if you cannot say what it does.
Your teachers offer five reasons a technique might work: it makes a phrase stay in the mind so you remember it; it exaggerates how good or bad something is; it gives real-life examples that show the idea would work; it makes the reader feel they are on the writer’s side; or it forces the reader to think about the question more deeply.
Analyse the language in ‘Let Them Sleep’ the way your teachers ask: pick a quotation from the beginning, the middle and the end, name the technique, and say why it is persuasive.
Worked example — model it step by step, thinking aloud: Analyse “No more shouting up the stairs, no more breakfast eaten in the car, no more detentions for lateness that nobody meant.” (1) Technique: a triple (rule of three) built on the repetition of ‘no more’. (2) Also emotive: shouting, rushed meals and unfair detentions are small miseries every family knows. (3) Why it persuades: the rhythm makes it stick, and the familiar details put the reader on the writer’s side. Answer: Triple and repetition with emotive detail. It stays in the mind and makes the reader feel the writer understands their mornings, so they are more likely to agree..
Tip: Technique, quotation, effect. A technique named without an effect earns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DAFOREST: techniques that persuade, and why. Say it in your own words, then check understanding with a quick question: ask a pupil from the pre-teach group first, since they met these words and ideas before the lesson. Pupils try to recall before you re-explain.
DAFOREST is your checklist of persuasive techniques: Direct address (‘you’, ‘we’, commands), Alliteration and Anecdotes, Facts, Opinion and Onomatopoeia, Repetition and Rhetorical questions, Emotive language and Exaggeration, Statistics, and Three (the rule of three). Spotting them is step one. Step two is explaining why each one persuades, because there is no point identifying a technique if you cannot say what it does.
Your teachers offer five reasons a technique might work: it makes a phrase stay in the mind so you remember it; it exaggerates how good or bad something is; it gives real-life examples that show the idea would work; it makes the reader feel they are on the writer’s side; or it forces the reader to think about the question more deeply.
Analyse the language in ‘Let Them Sleep’ the way your teachers ask: pick a quotation from the beginning, the middle and the end, name the technique, and say why it is persuasive.
Worked example — model it step by step, thinking aloud: Analyse “No more shouting up the stairs, no more breakfast eaten in the car, no more detentions for lateness that nobody meant.” (1) Technique: a triple (rule of three) built on the repetition of ‘no more’. (2) Also emotive: shouting, rushed meals and unfair detentions are small miseries every family knows. (3) Why it persuades: the rhythm makes it stick, and the familiar details put the reader on the writer’s side. Answer: Triple and repetition with emotive detail. It stays in the mind and makes the reader feel the writer understands their mornings, so they are more likely to agree..
Tip: Technique, quotation, effect. A technique named without an effect earns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Answer the other side, then plan. Say it in your own words, then check understanding with a quick question: ask a pupil from the pre-teach group first, since they met these words and ideas before the lesson. Pupils try to recall before you re-explain.
Reading two articles that argue opposite views about social media shows something useful: the stronger writer is the one who addresses the counter-argument. Naming the other view and answering it does not weaken your case; it tells the reader you have thought about both sides and still hold your view. Look back at ‘Let Them Sleep’: “Some will say that pupils would simply stay up later and gain nothing.” The writer raises it, then answers it with expert evidence.
If ideas will not come, try freewriting: write continuously about the topic for ten or fifteen minutes, in sentences, without stopping to fix spelling or punctuation. If you are stuck, write ‘I do not know what to write’ until something arrives. Nobody else will read it; you are mining for ideas, not drafting.
Then plan. Read through your freewriting and highlight anything you could use. Write a clear topic sentence for each paragraph: the first sentence, stating the paragraph’s point. Decide which persuasive techniques you will use, where your facts or statistics go, whether you can add direct address or an anecdote, and whether humour fits your audience. A review plan is about one event; an opinion plan is about reasons.
Tip: Before you write a full article, check your plan has: a hook, three arguments, two kinds of evidence, one counter-argument answered, and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Decode the implicit opinion.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sentence gives an implicit opinion of the café?
Support — work through the steps with the group: (1) Cross out any sentence that is only a fact (where, when). (2) Of the two that remain, find the one with judging words such as ‘dirty’ or ‘rude’: that is explicit. (3) The other one suggests the same opinion through details.
Parallel worked example for Support (model it, do not give the task answer): Which is implicit: “The hotel room was tiny.” or “I could open the wardrobe, the window and the bathroom door without leaving the bed.”? ‘Tiny’ states the judgement.; Reaching everything from the bed suggests it.. Answer: “I could open the wardrobe, the window and the bathroom door without leaving the bed.” is the implicit one..
Core — reveal the hint only on request: The implicit sentence never says what the writer thinks, but you know anyway.
Stretch — no help; when finished: Write an implicit sentence that suggests the café is excellent, without using a single word of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Decode the implicit opinion.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sentence gives an implicit opinion of the café?
Support — work through the steps with the group: (1) Cross out any sentence that is only a fact (where, when). (2) Of the two that remain, find the one with judging words such as ‘dirty’ or ‘rude’: that is explicit. (3) The other one suggests the same opinion through details.
Parallel worked example for Support (model it, do not give the task answer): Which is implicit: “The hotel room was tiny.” or “I could open the wardrobe, the window and the bathroom door without leaving the bed.”? ‘Tiny’ states the judgement.; Reaching everything from the bed suggests it.. Answer: “I could open the wardrobe, the window and the bathroom door without leaving the bed.” is the implicit one..
Core — reveal the hint only on request: The implicit sentence never says what the writer thinks, but you know anyway.
Stretch — no help; when finished: Write an implicit sentence that suggests the café is excellent, without using a single word of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‘Let Them Sleep’ to the DAFOREST technique it shows.
Support — work through the steps with the group: (1) A question mark with no answer expected: rhetorical question. (2) Three items in a row: rule of three. (3) A number used as evidence: statistic. (4) A command or ‘you’ aimed at the reader: direct address. (5) A short story about the writer: anecdote.
Parallel worked example for Support (model it, do not give the task answer): Name the technique in ‘Think of the last time you ate lunch in your coat.’ It is a command aimed at the reader.; It uses ‘you’.. Answer: Direct address..
Core — reveal the hint only on request: Count items for the triple, look for a number for the statistic, and look for ‘I’ for the anecdote.
Stretch — no help; when finished: For two of the quotations, explain why the technique persuades, using one of the five reasons from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‘Let Them Sleep’ to the DAFOREST technique it shows.
Support — work through the steps with the group: (1) A question mark with no answer expected: rhetorical question. (2) Three items in a row: rule of three. (3) A number used as evidence: statistic. (4) A command or ‘you’ aimed at the reader: direct address. (5) A short story about the writer: anecdote.
Parallel worked example for Support (model it, do not give the task answer): Name the technique in ‘Think of the last time you ate lunch in your coat.’ It is a command aimed at the reader.; It uses ‘you’.. Answer: Direct address..
Core — reveal the hint only on request: Count items for the triple, look for a number for the statistic, and look for ‘I’ for the anecdote.
Stretch — no help; when finished: For two of the quotations, explain why the technique persuades, using one of the five reasons from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‘Let Them Sleep’ to the DAFOREST technique it shows.
Support — work through the steps with the group: (1) A question mark with no answer expected: rhetorical question. (2) Three items in a row: rule of three. (3) A number used as evidence: statistic. (4) A command or ‘you’ aimed at the reader: direct address. (5) A short story about the writer: anecdote.
Parallel worked example for Support (model it, do not give the task answer): Name the technique in ‘Think of the last time you ate lunch in your coat.’ It is a command aimed at the reader.; It uses ‘you’.. Answer: Direct address..
Core — reveal the hint only on request: Count items for the triple, look for a number for the statistic, and look for ‘I’ for the anecdote.
Stretch — no help; when finished: For two of the quotations, explain why the technique persuades, using one of the five reasons from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‘Let Them Sleep’ to the DAFOREST technique it shows.
Support — work through the steps with the group: (1) A question mark with no answer expected: rhetorical question. (2) Three items in a row: rule of three. (3) A number used as evidence: statistic. (4) A command or ‘you’ aimed at the reader: direct address. (5) A short story about the writer: anecdote.
Parallel worked example for Support (model it, do not give the task answer): Name the technique in ‘Think of the last time you ate lunch in your coat.’ It is a command aimed at the reader.; It uses ‘you’.. Answer: Direct address..
Core — reveal the hint only on request: Count items for the triple, look for a number for the statistic, and look for ‘I’ for the anecdote.
Stretch — no help; when finished: For two of the quotations, explain why the technique persuades, using one of the five reasons from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An opinion that is suggested through word choices but not stated directly is ___.
Answer: An opinion that is suggested through word choices but not stated directly is implicit.. Implicit means suggested, not directly expressed; explicit means stated clearly.
Source of this question: gate item 1 re-asked (options rotated) — this chapter has no third quick-check module.
The ebook also holds task 3, "Writing practice: a full opinion article",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Decode the implicit opinion. Reveal the answer; pupils mark their own work in a different colour, then read the "why" together. Same destination for every lane, so one answer serves the whole class.
Answer: D   “I wiped the table with my sleeve before I sat down, and waited eleven minutes for someone to notice me.”
Why: Wiping the table with a sleeve and waiting eleven minutes imply dirt and rudeness without stating them. The first sentence states them; the other two are plain facts.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technique. Reveal the answer; pupils mark their own work in a different colour, then read the "why" together. Same destination for every lane, so one answer serves the whole class.
Answer: “Have you ever tried to explain fractions to a zombie?”  →  C  Rhetorical question; “No more shouting up the stairs, no more breakfast eaten in the car, no more detentions for lateness that nobody meant.”  →  A  Rule of three (triple); “on school nights I averaged six hours”  →  B  Statistic; “Third, think of the mornings themselves.”  →  E  Direct address; “Last term I kept a sleep diary for a science project”  →  D  Anecdote
Why: Question, three items, a number, a command to the reader, a personal story: five techniques, each with a job.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An opinion that is suggested through word choices but not stated directly is implicit.
Why: Implicit means suggested, not directly expressed; explicit means stated clearly.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170230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Persuasive techniques, implicit opinion and the other side</a:t>
            </a:r>
            <a:endParaRPr lang="en-US" sz="2800" dirty="0"/>
          </a:p>
        </p:txBody>
      </p:sp>
      <p:sp>
        <p:nvSpPr>
          <p:cNvPr id="11" name="lessons-card"/>
          <p:cNvSpPr/>
          <p:nvPr/>
        </p:nvSpPr>
        <p:spPr>
          <a:xfrm>
            <a:off x="548640" y="3444748"/>
            <a:ext cx="5287975" cy="2296160"/>
          </a:xfrm>
          <a:prstGeom prst="roundRect">
            <a:avLst>
              <a:gd name="adj" fmla="val 3186"/>
            </a:avLst>
          </a:prstGeom>
          <a:solidFill>
            <a:srgbClr val="F4EAEB"/>
          </a:solidFill>
          <a:ln/>
        </p:spPr>
      </p:sp>
      <p:sp>
        <p:nvSpPr>
          <p:cNvPr id="12" name="lessons"/>
          <p:cNvSpPr txBox="1"/>
          <p:nvPr/>
        </p:nvSpPr>
        <p:spPr>
          <a:xfrm>
            <a:off x="685800" y="353618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Implicit and explicit opinions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All for School? No, thanks!: techniques in an opinion piece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Assessment preparation: an opinion article on social media</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An opinion that is suggested through word choices but not stated directly is ___.</a:t>
            </a:r>
            <a:endParaRPr lang="en-US" sz="22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implicit  ·  explicit  ·  expert</a:t>
            </a:r>
            <a:endParaRPr lang="en-US" sz="2200" dirty="0"/>
          </a:p>
        </p:txBody>
      </p:sp>
      <p:sp>
        <p:nvSpPr>
          <p:cNvPr id="12"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3" name="card-hex"/>
          <p:cNvSpPr/>
          <p:nvPr/>
        </p:nvSpPr>
        <p:spPr>
          <a:xfrm>
            <a:off x="3642284" y="1572768"/>
            <a:ext cx="640080" cy="554309"/>
          </a:xfrm>
          <a:prstGeom prst="hexagon">
            <a:avLst/>
          </a:prstGeom>
          <a:solidFill>
            <a:srgbClr val="8C2F39"/>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DAFOREST, what does the D stand for?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Description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Dialogue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Direct address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Drama</a:t>
            </a:r>
            <a:endParaRPr lang="en-US" sz="2400" dirty="0"/>
          </a:p>
        </p:txBody>
      </p:sp>
      <p:sp>
        <p:nvSpPr>
          <p:cNvPr id="17"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18" name="card-hex"/>
          <p:cNvSpPr/>
          <p:nvPr/>
        </p:nvSpPr>
        <p:spPr>
          <a:xfrm>
            <a:off x="6553048" y="1572768"/>
            <a:ext cx="640080" cy="554309"/>
          </a:xfrm>
          <a:prstGeom prst="hexagon">
            <a:avLst/>
          </a:prstGeom>
          <a:solidFill>
            <a:srgbClr val="8C2F39"/>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should an opinion article include a counter-argument?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show you have considered the other side, and to answer it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fill space when you run out of ideas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Because articles must have exactly one argument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confuse the reader about what you think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implicit</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An opinion that is suggested through word choices but not stated directly is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Implicit means suggested, not directly expressed; explicit means stated clearly.</a:t>
            </a:r>
            <a:endParaRPr lang="en-US" sz="1800" dirty="0"/>
          </a:p>
        </p:txBody>
      </p:sp>
      <p:sp>
        <p:nvSpPr>
          <p:cNvPr id="14"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5" name="card-hex"/>
          <p:cNvSpPr/>
          <p:nvPr/>
        </p:nvSpPr>
        <p:spPr>
          <a:xfrm>
            <a:off x="3642284" y="1572768"/>
            <a:ext cx="640080" cy="554309"/>
          </a:xfrm>
          <a:prstGeom prst="hexagon">
            <a:avLst/>
          </a:prstGeom>
          <a:solidFill>
            <a:srgbClr val="8C2F39"/>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Direct address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DAFOREST, what does the D stand for?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Direct address speaks straight to the reader with ‘you’ or ‘we’, making them feel involved.</a:t>
            </a:r>
            <a:endParaRPr lang="en-US" sz="1800" dirty="0"/>
          </a:p>
        </p:txBody>
      </p:sp>
      <p:sp>
        <p:nvSpPr>
          <p:cNvPr id="21"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22" name="card-hex"/>
          <p:cNvSpPr/>
          <p:nvPr/>
        </p:nvSpPr>
        <p:spPr>
          <a:xfrm>
            <a:off x="6553048" y="1572768"/>
            <a:ext cx="640080" cy="554309"/>
          </a:xfrm>
          <a:prstGeom prst="hexagon">
            <a:avLst/>
          </a:prstGeom>
          <a:solidFill>
            <a:srgbClr val="8C2F39"/>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To show you have considered the other side, and to answer it</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should an opinion article include a counter-argument?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Addressing the counter-argument strengthens the writer’s viewpoint: the reader sees both sides have been weighed.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EEEF"/>
          </a:solidFill>
          <a:ln w="12700">
            <a:solidFill>
              <a:srgbClr val="D1ACB0"/>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explicit</a:t>
            </a:r>
            <a:endParaRPr lang="en-US" sz="2600" dirty="0"/>
          </a:p>
        </p:txBody>
      </p:sp>
      <p:sp>
        <p:nvSpPr>
          <p:cNvPr id="11" name="word-rule"/>
          <p:cNvSpPr/>
          <p:nvPr/>
        </p:nvSpPr>
        <p:spPr>
          <a:xfrm>
            <a:off x="731520" y="2129028"/>
            <a:ext cx="3149498" cy="0"/>
          </a:xfrm>
          <a:prstGeom prst="line">
            <a:avLst/>
          </a:prstGeom>
          <a:ln w="12700">
            <a:solidFill>
              <a:srgbClr val="D1ACB0"/>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stated clearly and directly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café was dirty’ is an explicit opinion.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EEEF"/>
          </a:solidFill>
          <a:ln w="12700">
            <a:solidFill>
              <a:srgbClr val="D1ACB0"/>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implicit</a:t>
            </a:r>
            <a:endParaRPr lang="en-US" sz="2600" dirty="0"/>
          </a:p>
        </p:txBody>
      </p:sp>
      <p:sp>
        <p:nvSpPr>
          <p:cNvPr id="17" name="word-rule"/>
          <p:cNvSpPr/>
          <p:nvPr/>
        </p:nvSpPr>
        <p:spPr>
          <a:xfrm>
            <a:off x="4521098" y="2129028"/>
            <a:ext cx="3149498" cy="0"/>
          </a:xfrm>
          <a:prstGeom prst="line">
            <a:avLst/>
          </a:prstGeom>
          <a:ln w="12700">
            <a:solidFill>
              <a:srgbClr val="D1ACB0"/>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suggested, not stated directly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implicit opinion is hidden in the details the writer chooses.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EEEF"/>
          </a:solidFill>
          <a:ln w="12700">
            <a:solidFill>
              <a:srgbClr val="D1ACB0"/>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technique</a:t>
            </a:r>
            <a:endParaRPr lang="en-US" sz="2600" dirty="0"/>
          </a:p>
        </p:txBody>
      </p:sp>
      <p:sp>
        <p:nvSpPr>
          <p:cNvPr id="23" name="word-rule"/>
          <p:cNvSpPr/>
          <p:nvPr/>
        </p:nvSpPr>
        <p:spPr>
          <a:xfrm>
            <a:off x="8310677" y="2129028"/>
            <a:ext cx="3149498" cy="0"/>
          </a:xfrm>
          <a:prstGeom prst="line">
            <a:avLst/>
          </a:prstGeom>
          <a:ln w="12700">
            <a:solidFill>
              <a:srgbClr val="D1ACB0"/>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method a writer uses on purpose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rhetorical question is a persuasive technique.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EEEF"/>
          </a:solidFill>
          <a:ln w="12700">
            <a:solidFill>
              <a:srgbClr val="D1ACB0"/>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statistic</a:t>
            </a:r>
            <a:endParaRPr lang="en-US" sz="2600" dirty="0"/>
          </a:p>
        </p:txBody>
      </p:sp>
      <p:sp>
        <p:nvSpPr>
          <p:cNvPr id="11" name="word-rule"/>
          <p:cNvSpPr/>
          <p:nvPr/>
        </p:nvSpPr>
        <p:spPr>
          <a:xfrm>
            <a:off x="731520" y="2129028"/>
            <a:ext cx="3149498" cy="0"/>
          </a:xfrm>
          <a:prstGeom prst="line">
            <a:avLst/>
          </a:prstGeom>
          <a:ln w="12700">
            <a:solidFill>
              <a:srgbClr val="D1ACB0"/>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fact given as a number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statistic such as ‘six hours a night’ makes a point feel solid.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EEEF"/>
          </a:solidFill>
          <a:ln w="12700">
            <a:solidFill>
              <a:srgbClr val="D1ACB0"/>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topic sentence</a:t>
            </a:r>
            <a:endParaRPr lang="en-US" sz="2600" dirty="0"/>
          </a:p>
        </p:txBody>
      </p:sp>
      <p:sp>
        <p:nvSpPr>
          <p:cNvPr id="17" name="word-rule"/>
          <p:cNvSpPr/>
          <p:nvPr/>
        </p:nvSpPr>
        <p:spPr>
          <a:xfrm>
            <a:off x="4521098" y="2129028"/>
            <a:ext cx="3149498" cy="0"/>
          </a:xfrm>
          <a:prstGeom prst="line">
            <a:avLst/>
          </a:prstGeom>
          <a:ln w="12700">
            <a:solidFill>
              <a:srgbClr val="D1ACB0"/>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first sentence of a paragraph, giving its point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Plan each paragraph with a topic sentence.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EEEF"/>
          </a:solidFill>
          <a:ln w="12700">
            <a:solidFill>
              <a:srgbClr val="D1ACB0"/>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freewriting</a:t>
            </a:r>
            <a:endParaRPr lang="en-US" sz="2600" dirty="0"/>
          </a:p>
        </p:txBody>
      </p:sp>
      <p:sp>
        <p:nvSpPr>
          <p:cNvPr id="23" name="word-rule"/>
          <p:cNvSpPr/>
          <p:nvPr/>
        </p:nvSpPr>
        <p:spPr>
          <a:xfrm>
            <a:off x="8310677" y="2129028"/>
            <a:ext cx="3149498" cy="0"/>
          </a:xfrm>
          <a:prstGeom prst="line">
            <a:avLst/>
          </a:prstGeom>
          <a:ln w="12700">
            <a:solidFill>
              <a:srgbClr val="D1ACB0"/>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writing without stopping to find ideas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Ten minutes of freewriting gave me three arguments.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explicit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opinion is stated clearly.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implicit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opinion is suggested by the words the writer chooses.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Good writers imply as well as state.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Persuasive writers use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techniques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 purpose.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DAFOREST helps you remember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Direct address, alliteration and anecdotes, facts, opinion, rhetorical questions.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Emotive language,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statistics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the rule of three.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technique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has an effect on the reader.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Strong writers also give the other side, then answer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makes their own view stronger.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you are stuck for ideas, freewrite for ten minutes without stopping.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plan each paragraph with a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topic sentence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Now you are ready to write a full article.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Explicit and implicit opinions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Implicit opinion is show, don’t tell, applied to argument. The detail carries the judgement.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EAEB"/>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The café was dirty and the staff were rude. I wiped the table with my sleeve before I sat down, and waited eleven minutes for someone to notice me.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An explicit opinion, then the same opinion implied — original examples written for Ad Astra</a:t>
            </a:r>
            <a:endParaRPr lang="en-US" sz="2600" dirty="0"/>
          </a:p>
        </p:txBody>
      </p:sp>
      <p:sp>
        <p:nvSpPr>
          <p:cNvPr id="14" name="bullet-card"/>
          <p:cNvSpPr/>
          <p:nvPr/>
        </p:nvSpPr>
        <p:spPr>
          <a:xfrm>
            <a:off x="548640" y="1389888"/>
            <a:ext cx="5074920" cy="810937"/>
          </a:xfrm>
          <a:prstGeom prst="roundRect">
            <a:avLst>
              <a:gd name="adj" fmla="val 9021"/>
            </a:avLst>
          </a:prstGeom>
          <a:solidFill>
            <a:srgbClr val="F6EEEF"/>
          </a:solidFill>
          <a:ln/>
        </p:spPr>
      </p:sp>
      <p:sp>
        <p:nvSpPr>
          <p:cNvPr id="15" name="bullet-hex"/>
          <p:cNvSpPr/>
          <p:nvPr/>
        </p:nvSpPr>
        <p:spPr>
          <a:xfrm>
            <a:off x="676656" y="1629064"/>
            <a:ext cx="384048" cy="332586"/>
          </a:xfrm>
          <a:prstGeom prst="hexagon">
            <a:avLst/>
          </a:prstGeom>
          <a:solidFill>
            <a:srgbClr val="8C2F39"/>
          </a:solidFill>
          <a:ln/>
        </p:spPr>
      </p:sp>
      <p:sp>
        <p:nvSpPr>
          <p:cNvPr id="16"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Explicit means stated clearly and in detail, leaving no room for doubt.</a:t>
            </a:r>
            <a:endParaRPr lang="en-US" sz="2200" dirty="0"/>
          </a:p>
        </p:txBody>
      </p:sp>
      <p:sp>
        <p:nvSpPr>
          <p:cNvPr id="17" name="bullet-card"/>
          <p:cNvSpPr/>
          <p:nvPr/>
        </p:nvSpPr>
        <p:spPr>
          <a:xfrm>
            <a:off x="548640" y="2347129"/>
            <a:ext cx="5074920" cy="1151805"/>
          </a:xfrm>
          <a:prstGeom prst="roundRect">
            <a:avLst>
              <a:gd name="adj" fmla="val 6351"/>
            </a:avLst>
          </a:prstGeom>
          <a:solidFill>
            <a:srgbClr val="F6EEEF"/>
          </a:solidFill>
          <a:ln/>
        </p:spPr>
      </p:sp>
      <p:sp>
        <p:nvSpPr>
          <p:cNvPr id="18" name="bullet-hex"/>
          <p:cNvSpPr/>
          <p:nvPr/>
        </p:nvSpPr>
        <p:spPr>
          <a:xfrm>
            <a:off x="676656" y="2756739"/>
            <a:ext cx="384048" cy="332586"/>
          </a:xfrm>
          <a:prstGeom prst="hexagon">
            <a:avLst/>
          </a:prstGeom>
          <a:solidFill>
            <a:srgbClr val="B8862B"/>
          </a:solidFill>
          <a:ln/>
        </p:spPr>
      </p:sp>
      <p:sp>
        <p:nvSpPr>
          <p:cNvPr id="19" name="bullet"/>
          <p:cNvSpPr txBox="1"/>
          <p:nvPr/>
        </p:nvSpPr>
        <p:spPr>
          <a:xfrm>
            <a:off x="1143000" y="234712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Professional opinion writers do both. Read these two sentences about a café.</a:t>
            </a:r>
            <a:endParaRPr lang="en-US" sz="2200" dirty="0"/>
          </a:p>
        </p:txBody>
      </p:sp>
      <p:sp>
        <p:nvSpPr>
          <p:cNvPr id="20" name="bullet-card"/>
          <p:cNvSpPr/>
          <p:nvPr/>
        </p:nvSpPr>
        <p:spPr>
          <a:xfrm>
            <a:off x="548640" y="3645239"/>
            <a:ext cx="5074920" cy="1151805"/>
          </a:xfrm>
          <a:prstGeom prst="roundRect">
            <a:avLst>
              <a:gd name="adj" fmla="val 6351"/>
            </a:avLst>
          </a:prstGeom>
          <a:solidFill>
            <a:srgbClr val="F6EEEF"/>
          </a:solidFill>
          <a:ln/>
        </p:spPr>
      </p:sp>
      <p:sp>
        <p:nvSpPr>
          <p:cNvPr id="21" name="bullet-hex"/>
          <p:cNvSpPr/>
          <p:nvPr/>
        </p:nvSpPr>
        <p:spPr>
          <a:xfrm>
            <a:off x="676656" y="4054849"/>
            <a:ext cx="384048" cy="332586"/>
          </a:xfrm>
          <a:prstGeom prst="hexagon">
            <a:avLst/>
          </a:prstGeom>
          <a:solidFill>
            <a:srgbClr val="8C2F39"/>
          </a:solidFill>
          <a:ln/>
        </p:spPr>
      </p:sp>
      <p:sp>
        <p:nvSpPr>
          <p:cNvPr id="22" name="bullet"/>
          <p:cNvSpPr txBox="1"/>
          <p:nvPr/>
        </p:nvSpPr>
        <p:spPr>
          <a:xfrm>
            <a:off x="1143000" y="364523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decode an implicit opinion, ask three questions. Which details has the writer chosen to include?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DAFOREST: techniques that persuade, and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Technique, quotation, effect. A technique named without an effect earns nothing.</a:t>
            </a:r>
            <a:endParaRPr lang="en-US" sz="1800" dirty="0"/>
          </a:p>
        </p:txBody>
      </p:sp>
      <p:sp>
        <p:nvSpPr>
          <p:cNvPr id="11" name="bullet-card"/>
          <p:cNvSpPr/>
          <p:nvPr/>
        </p:nvSpPr>
        <p:spPr>
          <a:xfrm>
            <a:off x="548640" y="1389888"/>
            <a:ext cx="11094415" cy="1224111"/>
          </a:xfrm>
          <a:prstGeom prst="roundRect">
            <a:avLst>
              <a:gd name="adj" fmla="val 5976"/>
            </a:avLst>
          </a:prstGeom>
          <a:solidFill>
            <a:srgbClr val="F6EEEF"/>
          </a:solidFill>
          <a:ln/>
        </p:spPr>
      </p:sp>
      <p:sp>
        <p:nvSpPr>
          <p:cNvPr id="12" name="bullet-hex"/>
          <p:cNvSpPr/>
          <p:nvPr/>
        </p:nvSpPr>
        <p:spPr>
          <a:xfrm>
            <a:off x="676656" y="1835651"/>
            <a:ext cx="384048" cy="332586"/>
          </a:xfrm>
          <a:prstGeom prst="hexagon">
            <a:avLst/>
          </a:prstGeom>
          <a:solidFill>
            <a:srgbClr val="8C2F39"/>
          </a:solidFill>
          <a:ln/>
        </p:spPr>
      </p:sp>
      <p:sp>
        <p:nvSpPr>
          <p:cNvPr id="13" name="bullet"/>
          <p:cNvSpPr txBox="1"/>
          <p:nvPr/>
        </p:nvSpPr>
        <p:spPr>
          <a:xfrm>
            <a:off x="1143000" y="1389888"/>
            <a:ext cx="10408615" cy="122411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DAFOREST is your checklist of persuasive techniques: Direct address (‘you’, ‘we’, commands), Alliteration and Anecdotes, Facts, Opinion and Onomatopoeia, Repetition and Rhetorical questions, Emotive language and Exaggeration, Statistics, and Three (the rule of three).</a:t>
            </a:r>
            <a:endParaRPr lang="en-US" sz="2000" dirty="0"/>
          </a:p>
        </p:txBody>
      </p:sp>
      <p:sp>
        <p:nvSpPr>
          <p:cNvPr id="14" name="bullet-card"/>
          <p:cNvSpPr/>
          <p:nvPr/>
        </p:nvSpPr>
        <p:spPr>
          <a:xfrm>
            <a:off x="548640" y="2760303"/>
            <a:ext cx="11094415" cy="1533991"/>
          </a:xfrm>
          <a:prstGeom prst="roundRect">
            <a:avLst>
              <a:gd name="adj" fmla="val 4769"/>
            </a:avLst>
          </a:prstGeom>
          <a:solidFill>
            <a:srgbClr val="F6EEEF"/>
          </a:solidFill>
          <a:ln/>
        </p:spPr>
      </p:sp>
      <p:sp>
        <p:nvSpPr>
          <p:cNvPr id="15" name="bullet-hex"/>
          <p:cNvSpPr/>
          <p:nvPr/>
        </p:nvSpPr>
        <p:spPr>
          <a:xfrm>
            <a:off x="676656" y="3361005"/>
            <a:ext cx="384048" cy="332586"/>
          </a:xfrm>
          <a:prstGeom prst="hexagon">
            <a:avLst/>
          </a:prstGeom>
          <a:solidFill>
            <a:srgbClr val="B8862B"/>
          </a:solidFill>
          <a:ln/>
        </p:spPr>
      </p:sp>
      <p:sp>
        <p:nvSpPr>
          <p:cNvPr id="16" name="bullet"/>
          <p:cNvSpPr txBox="1"/>
          <p:nvPr/>
        </p:nvSpPr>
        <p:spPr>
          <a:xfrm>
            <a:off x="1143000" y="2760303"/>
            <a:ext cx="10408615" cy="153399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teachers offer five reasons a technique might work: it makes a phrase stay in the mind so you remember it; it exaggerates how good or bad something is; it gives real-life examples that show the idea would work; it makes the reader feel they are on the writer’s side; or it forces the reader to think about the question more deeply.</a:t>
            </a:r>
            <a:endParaRPr lang="en-US" sz="2000" dirty="0"/>
          </a:p>
        </p:txBody>
      </p:sp>
      <p:sp>
        <p:nvSpPr>
          <p:cNvPr id="17" name="bullet-card"/>
          <p:cNvSpPr/>
          <p:nvPr/>
        </p:nvSpPr>
        <p:spPr>
          <a:xfrm>
            <a:off x="548640" y="4440597"/>
            <a:ext cx="11094415" cy="914231"/>
          </a:xfrm>
          <a:prstGeom prst="roundRect">
            <a:avLst>
              <a:gd name="adj" fmla="val 8001"/>
            </a:avLst>
          </a:prstGeom>
          <a:solidFill>
            <a:srgbClr val="F6EEEF"/>
          </a:solidFill>
          <a:ln/>
        </p:spPr>
      </p:sp>
      <p:sp>
        <p:nvSpPr>
          <p:cNvPr id="18" name="bullet-hex"/>
          <p:cNvSpPr/>
          <p:nvPr/>
        </p:nvSpPr>
        <p:spPr>
          <a:xfrm>
            <a:off x="676656" y="4731420"/>
            <a:ext cx="384048" cy="332586"/>
          </a:xfrm>
          <a:prstGeom prst="hexagon">
            <a:avLst/>
          </a:prstGeom>
          <a:solidFill>
            <a:srgbClr val="8C2F39"/>
          </a:solidFill>
          <a:ln/>
        </p:spPr>
      </p:sp>
      <p:sp>
        <p:nvSpPr>
          <p:cNvPr id="19" name="bullet"/>
          <p:cNvSpPr txBox="1"/>
          <p:nvPr/>
        </p:nvSpPr>
        <p:spPr>
          <a:xfrm>
            <a:off x="1143000" y="4440597"/>
            <a:ext cx="10408615" cy="91423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Analyse the language in ‘Let Them Sleep’ the way your teachers ask: pick a quotation from the beginning, the middle and the end, name the technique, and say why it is persuasive.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DAFOREST: techniques that persuade, and why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EAEB"/>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Analyse “No more shouting up the stairs, no more breakfast eaten in the car, no more detentions for lateness that nobody meant.”</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Technique: a triple (rule of three) built on the repetition of ‘no more’.</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2765552"/>
            <a:ext cx="530352" cy="459285"/>
          </a:xfrm>
          <a:prstGeom prst="hexagon">
            <a:avLst/>
          </a:prstGeom>
          <a:solidFill>
            <a:srgbClr val="8C2F39"/>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Also emotive: shouting, rushed meals and unfair detentions are small miseries every family knows.</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2765552"/>
            <a:ext cx="530352" cy="459285"/>
          </a:xfrm>
          <a:prstGeom prst="hexagon">
            <a:avLst/>
          </a:prstGeom>
          <a:solidFill>
            <a:srgbClr val="8C2F39"/>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Why it persuades: the rhythm makes it stick, and the familiar details put the reader on the writer’s side.</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Triple and repetition with emotive detail. It stays in the mind and makes the reader feel the writer understands their mornings, so they are more likely to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 the other side, then plan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write a full article, check your plan has: a hook, three arguments, two kinds of evidence, one counter-argument answered, and a conclusion.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Reading two articles that argue opposite views about social media shows something useful: the stronger writer is the one who addresses the counter-argument.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If ideas will not come, try freewriting: write continuously about the topic for ten or fifteen minutes, in sentences, without stopping to fix spelling or punctuation.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Then plan. Read through your freewriting and highlight anything you could 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Decode the implicit opinion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sentence gives an implicit opinion of the café?</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café opens at nine and closes at five.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café was dirty and the staff were rude.”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café is on the high street next to the bank.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 wiped the table with my sleeve before I sat down, and waited eleven minutes for someone to notice me.”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Decode the implicit opinion</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sentence gives an implicit opinion of the café?</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4EAEB"/>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sentence that is only a fact (where, when).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that remain, find the one with judging words such as ‘dirty’ or ‘rude’: that is explicit.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other one suggests the same opinion through details.</a:t>
            </a:r>
            <a:endParaRPr lang="en-US" sz="1800" dirty="0"/>
          </a:p>
        </p:txBody>
      </p:sp>
      <p:sp>
        <p:nvSpPr>
          <p:cNvPr id="17" name="col-Core"/>
          <p:cNvSpPr/>
          <p:nvPr/>
        </p:nvSpPr>
        <p:spPr>
          <a:xfrm>
            <a:off x="4338218" y="2578608"/>
            <a:ext cx="3515258" cy="3566160"/>
          </a:xfrm>
          <a:prstGeom prst="roundRect">
            <a:avLst>
              <a:gd name="adj" fmla="val 1561"/>
            </a:avLst>
          </a:prstGeom>
          <a:solidFill>
            <a:srgbClr val="E6D1D3"/>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implicit sentence never says what the writer thinks, but you know anyway.</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an implicit sentence that suggests the café is excellent, without using a single word of praise.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‘Let Them Sleep’ to the DAFOREST technique it shows.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(1 of 2):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‘Let Them Sleep’ to the DAFOREST technique it shows.</a:t>
            </a:r>
            <a:endParaRPr lang="en-US" sz="2400" dirty="0"/>
          </a:p>
        </p:txBody>
      </p:sp>
      <p:sp>
        <p:nvSpPr>
          <p:cNvPr id="11" name="match-card"/>
          <p:cNvSpPr/>
          <p:nvPr/>
        </p:nvSpPr>
        <p:spPr>
          <a:xfrm>
            <a:off x="777240" y="2672080"/>
            <a:ext cx="5135728" cy="925576"/>
          </a:xfrm>
          <a:prstGeom prst="roundRect">
            <a:avLst>
              <a:gd name="adj" fmla="val 7903"/>
            </a:avLst>
          </a:prstGeom>
          <a:solidFill>
            <a:srgbClr val="F6EEEF"/>
          </a:solidFill>
          <a:ln/>
        </p:spPr>
      </p:sp>
      <p:sp>
        <p:nvSpPr>
          <p:cNvPr id="12" name="match-hex"/>
          <p:cNvSpPr/>
          <p:nvPr/>
        </p:nvSpPr>
        <p:spPr>
          <a:xfrm>
            <a:off x="850392" y="2968575"/>
            <a:ext cx="384048" cy="332586"/>
          </a:xfrm>
          <a:prstGeom prst="hexagon">
            <a:avLst/>
          </a:prstGeom>
          <a:solidFill>
            <a:srgbClr val="8C2F39"/>
          </a:solidFill>
          <a:ln/>
        </p:spPr>
      </p:sp>
      <p:sp>
        <p:nvSpPr>
          <p:cNvPr id="13" name="match-hex-label"/>
          <p:cNvSpPr txBox="1"/>
          <p:nvPr/>
        </p:nvSpPr>
        <p:spPr>
          <a:xfrm>
            <a:off x="850392" y="29685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925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“Have you ever tried to explain fractions to a zombie?”</a:t>
            </a:r>
            <a:endParaRPr lang="en-US" sz="2000" dirty="0"/>
          </a:p>
        </p:txBody>
      </p:sp>
      <p:sp>
        <p:nvSpPr>
          <p:cNvPr id="15" name="match-card"/>
          <p:cNvSpPr/>
          <p:nvPr/>
        </p:nvSpPr>
        <p:spPr>
          <a:xfrm>
            <a:off x="6278728" y="2672080"/>
            <a:ext cx="5135728" cy="925576"/>
          </a:xfrm>
          <a:prstGeom prst="roundRect">
            <a:avLst>
              <a:gd name="adj" fmla="val 7903"/>
            </a:avLst>
          </a:prstGeom>
          <a:solidFill>
            <a:srgbClr val="F6F0E6"/>
          </a:solidFill>
          <a:ln/>
        </p:spPr>
      </p:sp>
      <p:sp>
        <p:nvSpPr>
          <p:cNvPr id="16" name="match-hex"/>
          <p:cNvSpPr/>
          <p:nvPr/>
        </p:nvSpPr>
        <p:spPr>
          <a:xfrm>
            <a:off x="6351880" y="2968575"/>
            <a:ext cx="384048" cy="332586"/>
          </a:xfrm>
          <a:prstGeom prst="hexagon">
            <a:avLst/>
          </a:prstGeom>
          <a:solidFill>
            <a:srgbClr val="B8862B"/>
          </a:solidFill>
          <a:ln/>
        </p:spPr>
      </p:sp>
      <p:sp>
        <p:nvSpPr>
          <p:cNvPr id="17" name="match-hex-label"/>
          <p:cNvSpPr txBox="1"/>
          <p:nvPr/>
        </p:nvSpPr>
        <p:spPr>
          <a:xfrm>
            <a:off x="6351880" y="29685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9255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Statistic</a:t>
            </a:r>
            <a:endParaRPr lang="en-US" sz="2000" dirty="0"/>
          </a:p>
        </p:txBody>
      </p:sp>
      <p:sp>
        <p:nvSpPr>
          <p:cNvPr id="19" name="match-card"/>
          <p:cNvSpPr/>
          <p:nvPr/>
        </p:nvSpPr>
        <p:spPr>
          <a:xfrm>
            <a:off x="777240" y="3689096"/>
            <a:ext cx="5135728" cy="1545336"/>
          </a:xfrm>
          <a:prstGeom prst="roundRect">
            <a:avLst>
              <a:gd name="adj" fmla="val 4734"/>
            </a:avLst>
          </a:prstGeom>
          <a:solidFill>
            <a:srgbClr val="F6EEEF"/>
          </a:solidFill>
          <a:ln/>
        </p:spPr>
      </p:sp>
      <p:sp>
        <p:nvSpPr>
          <p:cNvPr id="20" name="match-hex"/>
          <p:cNvSpPr/>
          <p:nvPr/>
        </p:nvSpPr>
        <p:spPr>
          <a:xfrm>
            <a:off x="850392" y="4295471"/>
            <a:ext cx="384048" cy="332586"/>
          </a:xfrm>
          <a:prstGeom prst="hexagon">
            <a:avLst/>
          </a:prstGeom>
          <a:solidFill>
            <a:srgbClr val="8C2F39"/>
          </a:solidFill>
          <a:ln/>
        </p:spPr>
      </p:sp>
      <p:sp>
        <p:nvSpPr>
          <p:cNvPr id="21" name="match-hex-label"/>
          <p:cNvSpPr txBox="1"/>
          <p:nvPr/>
        </p:nvSpPr>
        <p:spPr>
          <a:xfrm>
            <a:off x="850392" y="42954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89096"/>
            <a:ext cx="4541368" cy="15453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“No more shouting up the stairs, no more breakfast eaten in the car, no more detentions for lateness that nobody meant.”</a:t>
            </a:r>
            <a:endParaRPr lang="en-US" sz="2000" dirty="0"/>
          </a:p>
        </p:txBody>
      </p:sp>
      <p:sp>
        <p:nvSpPr>
          <p:cNvPr id="23" name="match-card"/>
          <p:cNvSpPr/>
          <p:nvPr/>
        </p:nvSpPr>
        <p:spPr>
          <a:xfrm>
            <a:off x="6278728" y="3689096"/>
            <a:ext cx="5135728" cy="1545336"/>
          </a:xfrm>
          <a:prstGeom prst="roundRect">
            <a:avLst>
              <a:gd name="adj" fmla="val 4734"/>
            </a:avLst>
          </a:prstGeom>
          <a:solidFill>
            <a:srgbClr val="F6F0E6"/>
          </a:solidFill>
          <a:ln/>
        </p:spPr>
      </p:sp>
      <p:sp>
        <p:nvSpPr>
          <p:cNvPr id="24" name="match-hex"/>
          <p:cNvSpPr/>
          <p:nvPr/>
        </p:nvSpPr>
        <p:spPr>
          <a:xfrm>
            <a:off x="6351880" y="4295471"/>
            <a:ext cx="384048" cy="332586"/>
          </a:xfrm>
          <a:prstGeom prst="hexagon">
            <a:avLst/>
          </a:prstGeom>
          <a:solidFill>
            <a:srgbClr val="B8862B"/>
          </a:solidFill>
          <a:ln/>
        </p:spPr>
      </p:sp>
      <p:sp>
        <p:nvSpPr>
          <p:cNvPr id="25" name="match-hex-label"/>
          <p:cNvSpPr txBox="1"/>
          <p:nvPr/>
        </p:nvSpPr>
        <p:spPr>
          <a:xfrm>
            <a:off x="6351880" y="42954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89096"/>
            <a:ext cx="4541368" cy="15453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Rule of three (triple)</a:t>
            </a:r>
            <a:endParaRPr lang="en-US" sz="2000" dirty="0"/>
          </a:p>
        </p:txBody>
      </p:sp>
      <p:sp>
        <p:nvSpPr>
          <p:cNvPr id="27" name="match-card"/>
          <p:cNvSpPr/>
          <p:nvPr/>
        </p:nvSpPr>
        <p:spPr>
          <a:xfrm>
            <a:off x="777240" y="5325872"/>
            <a:ext cx="5135728" cy="636016"/>
          </a:xfrm>
          <a:prstGeom prst="roundRect">
            <a:avLst>
              <a:gd name="adj" fmla="val 11502"/>
            </a:avLst>
          </a:prstGeom>
          <a:solidFill>
            <a:srgbClr val="F6EEEF"/>
          </a:solidFill>
          <a:ln/>
        </p:spPr>
      </p:sp>
      <p:sp>
        <p:nvSpPr>
          <p:cNvPr id="28" name="match-hex"/>
          <p:cNvSpPr/>
          <p:nvPr/>
        </p:nvSpPr>
        <p:spPr>
          <a:xfrm>
            <a:off x="850392" y="5477587"/>
            <a:ext cx="384048" cy="332586"/>
          </a:xfrm>
          <a:prstGeom prst="hexagon">
            <a:avLst/>
          </a:prstGeom>
          <a:solidFill>
            <a:srgbClr val="8C2F39"/>
          </a:solidFill>
          <a:ln/>
        </p:spPr>
      </p:sp>
      <p:sp>
        <p:nvSpPr>
          <p:cNvPr id="29" name="match-hex-label"/>
          <p:cNvSpPr txBox="1"/>
          <p:nvPr/>
        </p:nvSpPr>
        <p:spPr>
          <a:xfrm>
            <a:off x="850392" y="5477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5325872"/>
            <a:ext cx="4541368" cy="6360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school nights I averaged six hours”</a:t>
            </a:r>
            <a:endParaRPr lang="en-US" sz="2000" dirty="0"/>
          </a:p>
        </p:txBody>
      </p:sp>
      <p:sp>
        <p:nvSpPr>
          <p:cNvPr id="31" name="match-card"/>
          <p:cNvSpPr/>
          <p:nvPr/>
        </p:nvSpPr>
        <p:spPr>
          <a:xfrm>
            <a:off x="6278728" y="5325872"/>
            <a:ext cx="5135728" cy="636016"/>
          </a:xfrm>
          <a:prstGeom prst="roundRect">
            <a:avLst>
              <a:gd name="adj" fmla="val 11502"/>
            </a:avLst>
          </a:prstGeom>
          <a:solidFill>
            <a:srgbClr val="F6F0E6"/>
          </a:solidFill>
          <a:ln/>
        </p:spPr>
      </p:sp>
      <p:sp>
        <p:nvSpPr>
          <p:cNvPr id="32" name="match-hex"/>
          <p:cNvSpPr/>
          <p:nvPr/>
        </p:nvSpPr>
        <p:spPr>
          <a:xfrm>
            <a:off x="6351880" y="5477587"/>
            <a:ext cx="384048" cy="332586"/>
          </a:xfrm>
          <a:prstGeom prst="hexagon">
            <a:avLst/>
          </a:prstGeom>
          <a:solidFill>
            <a:srgbClr val="B8862B"/>
          </a:solidFill>
          <a:ln/>
        </p:spPr>
      </p:sp>
      <p:sp>
        <p:nvSpPr>
          <p:cNvPr id="33" name="match-hex-label"/>
          <p:cNvSpPr txBox="1"/>
          <p:nvPr/>
        </p:nvSpPr>
        <p:spPr>
          <a:xfrm>
            <a:off x="6351880" y="5477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5325872"/>
            <a:ext cx="4541368" cy="6360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Rhetorical question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(2 of 2):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‘Let Them Sleep’ to the DAFOREST technique it shows.</a:t>
            </a:r>
            <a:endParaRPr lang="en-US" sz="2400" dirty="0"/>
          </a:p>
        </p:txBody>
      </p:sp>
      <p:sp>
        <p:nvSpPr>
          <p:cNvPr id="11" name="match-card"/>
          <p:cNvSpPr/>
          <p:nvPr/>
        </p:nvSpPr>
        <p:spPr>
          <a:xfrm>
            <a:off x="777240" y="2672080"/>
            <a:ext cx="5135728" cy="1165352"/>
          </a:xfrm>
          <a:prstGeom prst="roundRect">
            <a:avLst>
              <a:gd name="adj" fmla="val 6277"/>
            </a:avLst>
          </a:prstGeom>
          <a:solidFill>
            <a:srgbClr val="F6EEEF"/>
          </a:solidFill>
          <a:ln/>
        </p:spPr>
      </p:sp>
      <p:sp>
        <p:nvSpPr>
          <p:cNvPr id="12" name="match-hex"/>
          <p:cNvSpPr/>
          <p:nvPr/>
        </p:nvSpPr>
        <p:spPr>
          <a:xfrm>
            <a:off x="850392" y="3088463"/>
            <a:ext cx="384048" cy="332586"/>
          </a:xfrm>
          <a:prstGeom prst="hexagon">
            <a:avLst/>
          </a:prstGeom>
          <a:solidFill>
            <a:srgbClr val="8C2F39"/>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“Third, think of the mornings themselves.”</a:t>
            </a:r>
            <a:endParaRPr lang="en-US" sz="2200" dirty="0"/>
          </a:p>
        </p:txBody>
      </p:sp>
      <p:sp>
        <p:nvSpPr>
          <p:cNvPr id="15" name="match-card"/>
          <p:cNvSpPr/>
          <p:nvPr/>
        </p:nvSpPr>
        <p:spPr>
          <a:xfrm>
            <a:off x="6278728" y="2672080"/>
            <a:ext cx="5135728" cy="1165352"/>
          </a:xfrm>
          <a:prstGeom prst="roundRect">
            <a:avLst>
              <a:gd name="adj" fmla="val 6277"/>
            </a:avLst>
          </a:prstGeom>
          <a:solidFill>
            <a:srgbClr val="F6F0E6"/>
          </a:solidFill>
          <a:ln/>
        </p:spPr>
      </p:sp>
      <p:sp>
        <p:nvSpPr>
          <p:cNvPr id="16" name="match-hex"/>
          <p:cNvSpPr/>
          <p:nvPr/>
        </p:nvSpPr>
        <p:spPr>
          <a:xfrm>
            <a:off x="6351880" y="3088463"/>
            <a:ext cx="384048" cy="332586"/>
          </a:xfrm>
          <a:prstGeom prst="hexagon">
            <a:avLst/>
          </a:prstGeom>
          <a:solidFill>
            <a:srgbClr val="B8862B"/>
          </a:solidFill>
          <a:ln/>
        </p:spPr>
      </p:sp>
      <p:sp>
        <p:nvSpPr>
          <p:cNvPr id="17" name="match-hex-label"/>
          <p:cNvSpPr txBox="1"/>
          <p:nvPr/>
        </p:nvSpPr>
        <p:spPr>
          <a:xfrm>
            <a:off x="6351880"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Anecdote</a:t>
            </a:r>
            <a:endParaRPr lang="en-US" sz="2200" dirty="0"/>
          </a:p>
        </p:txBody>
      </p:sp>
      <p:sp>
        <p:nvSpPr>
          <p:cNvPr id="19" name="match-card"/>
          <p:cNvSpPr/>
          <p:nvPr/>
        </p:nvSpPr>
        <p:spPr>
          <a:xfrm>
            <a:off x="777240" y="3928872"/>
            <a:ext cx="5135728" cy="1165352"/>
          </a:xfrm>
          <a:prstGeom prst="roundRect">
            <a:avLst>
              <a:gd name="adj" fmla="val 6277"/>
            </a:avLst>
          </a:prstGeom>
          <a:solidFill>
            <a:srgbClr val="F6EEEF"/>
          </a:solidFill>
          <a:ln/>
        </p:spPr>
      </p:sp>
      <p:sp>
        <p:nvSpPr>
          <p:cNvPr id="20" name="match-hex"/>
          <p:cNvSpPr/>
          <p:nvPr/>
        </p:nvSpPr>
        <p:spPr>
          <a:xfrm>
            <a:off x="850392" y="4345255"/>
            <a:ext cx="384048" cy="332586"/>
          </a:xfrm>
          <a:prstGeom prst="hexagon">
            <a:avLst/>
          </a:prstGeom>
          <a:solidFill>
            <a:srgbClr val="8C2F39"/>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“Last term I kept a sleep diary for a science project”</a:t>
            </a:r>
            <a:endParaRPr lang="en-US" sz="2200" dirty="0"/>
          </a:p>
        </p:txBody>
      </p:sp>
      <p:sp>
        <p:nvSpPr>
          <p:cNvPr id="23" name="match-card"/>
          <p:cNvSpPr/>
          <p:nvPr/>
        </p:nvSpPr>
        <p:spPr>
          <a:xfrm>
            <a:off x="6278728" y="3928872"/>
            <a:ext cx="5135728" cy="1165352"/>
          </a:xfrm>
          <a:prstGeom prst="roundRect">
            <a:avLst>
              <a:gd name="adj" fmla="val 6277"/>
            </a:avLst>
          </a:prstGeom>
          <a:solidFill>
            <a:srgbClr val="F6F0E6"/>
          </a:solidFill>
          <a:ln/>
        </p:spPr>
      </p:sp>
      <p:sp>
        <p:nvSpPr>
          <p:cNvPr id="24" name="match-hex"/>
          <p:cNvSpPr/>
          <p:nvPr/>
        </p:nvSpPr>
        <p:spPr>
          <a:xfrm>
            <a:off x="6351880" y="4345255"/>
            <a:ext cx="384048" cy="332586"/>
          </a:xfrm>
          <a:prstGeom prst="hexagon">
            <a:avLst/>
          </a:prstGeom>
          <a:solidFill>
            <a:srgbClr val="B8862B"/>
          </a:solidFill>
          <a:ln/>
        </p:spPr>
      </p:sp>
      <p:sp>
        <p:nvSpPr>
          <p:cNvPr id="25" name="match-hex-label"/>
          <p:cNvSpPr txBox="1"/>
          <p:nvPr/>
        </p:nvSpPr>
        <p:spPr>
          <a:xfrm>
            <a:off x="6351880"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928872"/>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Direct address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quotation from ‘Let Them Sleep’ to the DAFOREST technique it shows.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EAEB"/>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question mark with no answer expected: rhetorical question.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items in a row: rule of three.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number used as evidence: statistic.</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command or ‘you’ aimed at the reader: direct address.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short story about the writer: anecdote.</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1D3"/>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Count items for the triple, look for a number for the statistic, and look for ‘I’ for the anecdote.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8C2F39"/>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two of the quotations, explain why the technique persuades, using one of the five reasons from the section.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An opinion that is suggested through word choices but not stated directly is ___.</a:t>
            </a:r>
            <a:endParaRPr lang="en-US" sz="24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implicit   ·   explicit   ·   expert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Decode the implicit opinion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gives an implicit opinion of the café?</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 wiped the table with my sleeve before I sat down, and waited eleven minutes for someone to notice me.”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Wiping the table with a sleeve and waiting eleven minutes imply dirt and rudeness without stating them. The first sentence states them; the other two are plain facts.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“Have you ever tried to explain fractions to a zombie?”  →  C  Rhetorical question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“No more shouting up the stairs, no more breakfast eaten in the car, no more detentions for lateness that nobody meant.”  →  A  Rule of three (triple)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“on school nights I averaged six hours”  →  B  Statistic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“Third, think of the mornings themselves.”  →  E  Direct address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“Last term I kept a sleep diary for a science project”  →  D  Anecdote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three items, a number, a command to the reader, a personal story: five techniques, each with a job.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An opinion that is suggested through word choices but not stated directly is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An opinion that is suggested through word choices but not stated directly is implicit.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Implicit means suggested, not directly expressed; explicit means stated clearly.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6: Persuasive techniques, implicit opinion and the other side</dc:title>
  <dc:subject>English · Year 9</dc:subject>
  <dc:creator>Dr Vitor Merissi de Carvalho</dc:creator>
  <cp:lastModifiedBy>Dr Vitor Merissi de Carvalho</cp:lastModifiedBy>
  <cp:revision>1</cp:revision>
  <dcterms:created xsi:type="dcterms:W3CDTF">2026-10-19T06:07:23Z</dcterms:created>
  <dcterms:modified xsi:type="dcterms:W3CDTF">2026-10-19T06:07:23Z</dcterms:modified>
</cp:coreProperties>
</file>