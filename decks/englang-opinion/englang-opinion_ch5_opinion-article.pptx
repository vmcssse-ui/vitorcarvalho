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2ab7bb1-68b2-dd90-374f-3cb4cf57ce34}">
          <p14:sldIdLst>
            <p14:sldId id="256"/>
          </p14:sldIdLst>
        </p14:section>
        <p14:section name="Gate" id="{7a27333d-7e00-c4fa-636c-4cbc66bc0a96}">
          <p14:sldIdLst>
            <p14:sldId id="257"/>
            <p14:sldId id="258"/>
          </p14:sldIdLst>
        </p14:section>
        <p14:section name="Pre-teach" id="{e5236576-7f80-d325-fe3d-bcae09777272}">
          <p14:sldIdLst>
            <p14:sldId id="259"/>
          </p14:sldIdLst>
        </p14:section>
        <p14:section name="Read-along" id="{b19f73b6-5480-654c-cdf8-11b11a4635ac}">
          <p14:sldIdLst>
            <p14:sldId id="260"/>
            <p14:sldId id="261"/>
          </p14:sldIdLst>
        </p14:section>
        <p14:section name="Teach" id="{ffd04d8f-dc8d-ebeb-eff7-5625e7309c07}">
          <p14:sldIdLst>
            <p14:sldId id="262"/>
            <p14:sldId id="263"/>
            <p14:sldId id="264"/>
            <p14:sldId id="265"/>
          </p14:sldIdLst>
        </p14:section>
        <p14:section name="Routes" id="{20bc7e0b-8d6c-c10d-8a5a-00c46c608689}">
          <p14:sldIdLst>
            <p14:sldId id="266"/>
            <p14:sldId id="267"/>
            <p14:sldId id="268"/>
            <p14:sldId id="269"/>
          </p14:sldIdLst>
        </p14:section>
        <p14:section name="Close" id="{62197d67-469c-0409-c690-e8bcfbefd4c4}">
          <p14:sldIdLst>
            <p14:sldId id="270"/>
          </p14:sldIdLst>
        </p14:section>
        <p14:section name="Answers" id="{16531dcc-9054-a70b-d440-c1e069eb4d70}">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of 6: The opinion article: building an argument. You will tell an opinion article from a review, open with a hook, a topic and an opinion, and build an argument in eight parts with a counter-argument and two kinds of evidence.
This deck covers the department's lessons: 7 (Opinion writing: introduction: What are the features of opinion writing, and how do I open my own opinion piece?); 9 (Opinion writing: structure: How is an opinion article structured, and can I write the rest of mine?); 10 (Teenage Demons: structure and humour in an opinion column: How does a professional columnist structure an argument and use humour to persuade?).
Read the big question aloud: "How do I write for a specific audience, and how do I turn my opinion into a review or an article that readers will finish?"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must the opening of an opinion article include?  →  B   A hook, the topic and the writer’s opinion
2. The ___ is the opposite view, which you raise so that you can answer it.  →  counter-argument
3. In ‘Let Them Sleep’, what kind of evidence is “Last term I kept a sleep diary for a science project”?  →  A   Personal evidence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B   A hook, the topic and the writer’s opinion. The opening hooks the reader, outlines the topic and outlines the writer’s opinion.
2. counter-argument. A counter-argument gives the other side so that you can answer it and strengthen your own case.
3. A   Personal evidence. The writer’s own sleep diary is personal evidence; the nurse’s explanation later is the expert evidence.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argument: a reason that supports your opinion. Example: "Her first argument was that tired pupils learn less."
• evidence: facts or experiences that back up a point. Example: "Give evidence for every argument you make."
• counter-argument: the opposite view, which you answer. Example: "A good writer includes a counter-argument and then answers it."
• expert: someone who knows a lot about a subject. Example: "A nurse is an expert on sleep and health."
• column: a regular opinion article in a newspaper. Example: "Her column appears in the paper every Sunday."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An opinion article is different from a review.
2. A review helps the reader decide about an event.
3. An opinion article argues a point of view.
4. Its readers want to know what other people think.
5. The opening does three things.
6. It hooks the reader.
7. It says what the topic is.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It says what the writer thinks.
9. Then the writer gives arguments, one at a time.
10. Each argument has evidence: personal or expert.
11. The writer also gives the opposite view, and answers it.
12. The conclusion returns to the main opinion.
13. Humour can make readers like the writer and agree with them.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Review or opinion article?. Say it in your own words, then check understanding with a quick question: ask a pupil from the pre-teach group first, since they met these words and ideas before the lesson. Pupils try to recall before you re-explain.
Both are written to be read, both inform, and both use personal experience. The difference is purpose and audience. A review informs and helps people make a decision; its readers are already interested in the topic. An opinion article informs and then persuades or argues; its readers are people who are interested in what others think. A review has more facts and details of experience; an opinion article has more opinions, and uses experience to persuade.
Take the task ‘Write an article for a school newspaper giving your opinion on whether the school day should start later.’ Form: a newspaper article. Purpose: to persuade readers that the school day should (or should not) start later. Audience: parents, teachers and fellow pupils. Three answers, and you are ready to think of reasons.
Tip: If your plan is full of facts about one event, it is a review. If it is full of reasons, it is an opinion article.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opening: hook, topic, opinion. Say it in your own words, then check understanding with a quick question: ask a pupil from the pre-teach group first, since they met these words and ideas before the lesson. Pupils try to recall before you re-explain.
The opening of an opinion piece must do three things: hook the reader, outline the topic you are giving an opinion on, and outline what your opinion is. The four openings from your review work still apply, and the best openings also appeal to the audience, play with words for a humorous tone, and hint at the themes to come.
Read the opening of ‘Let Them Sleep’, an original opinion article written for Ad Astra for a school newspaper. The rhetorical question is the hook; the second and third sentences give the topic; the last sentence is the opinion, stated plainly.
Quotation: "Let Them Sleep: why the school day should start at ten Have you ever tried to explain fractions to a zombie? Our teachers do it every morning. Across the country, teenagers are dragged into classrooms before their brains have switched on, and then we are told off for yawning. It is time the school day started at ten." (‘Let Them Sleep’, headline and paragraph 1 — original model article written for Ad Astra). Read it aloud; ask what it shows.
Tip: Underline the three jobs in your own opening: hook, topic, opinion. If one is missing, the reader does not know what you are arguing.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Eight parts, two kinds of evidence, one counter-argument. Say it in your own words, then check understanding with a quick question: ask a pupil from the pre-teach group first, since they met these words and ideas before the lesson. Pupils try to recall before you re-explain.
Your teachers give you a planning grid with eight headings: introduction; argument (first point); evidence, personal; argument (second point); counter-argument; evidence, expert; argument (third point); conclusion. Personal evidence is your own experience or an anecdote. Expert evidence is what someone who knows the subject has found or said. The counter-argument is the view of someone who disagrees, raised so that you can answer it.
Professional columnists use the same shape, often with humour. Making light of your own experience makes you seem approachable, more like the reader; a shared joke feels conspiratorial, as if you and the reader are on the same side; and a funny image can make a point without the reader feeling told off. Humour is a persuasive tool, not decoration.
Here are the three arguments of ‘Let Them Sleep’. Find the personal evidence, the counter-argument and the expert evidence. The article then closes with a short conclusion, “Nobody is asking for a shorter day, just a later one.”, and its last line, “Let it sleep a little longer.”, returns to the headline.
Quotation: "First, teenage bodies are built differently. My alarm goes off at half past six, but I rarely fall asleep before midnight, however hard I try. Last term I kept a sleep diary for a science project: on school nights I averaged six hours. On Saturdays, with no alarm, I slept nine. That is not laziness. That is biology. Second, a later start would improve results, not harm them. Some will say that pupils would simply stay up later and gain nothing. Yet when I asked our school nurse, she explained that the teenage body clock shifts later during puberty, so most of us cannot fall asleep early even when we want to. A rested class learns more in five hours than a tired one learns in six. Third, think of the mornings themselves. No more shouting up the stairs, no more breakfast eaten in the car, no more detentions for lateness that nobody meant. Parents would gain a calmer house; teachers would gain pupils who can actually hear them." (‘Let Them Sleep’, paragraphs 2–4 — original model article written for Ad Astra). Read it aloud; ask what it shows.
Tip: Plan with the eight headings in the margin. The counter-argument is not optional: it is where the reader decides to trust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Eight parts, two kinds of evidence, one counter-argument. Say it in your own words, then check understanding with a quick question: ask a pupil from the pre-teach group first, since they met these words and ideas before the lesson. Pupils try to recall before you re-explain.
Your teachers give you a planning grid with eight headings: introduction; argument (first point); evidence, personal; argument (second point); counter-argument; evidence, expert; argument (third point); conclusion. Personal evidence is your own experience or an anecdote. Expert evidence is what someone who knows the subject has found or said. The counter-argument is the view of someone who disagrees, raised so that you can answer it.
Professional columnists use the same shape, often with humour. Making light of your own experience makes you seem approachable, more like the reader; a shared joke feels conspiratorial, as if you and the reader are on the same side; and a funny image can make a point without the reader feeling told off. Humour is a persuasive tool, not decoration.
Here are the three arguments of ‘Let Them Sleep’. Find the personal evidence, the counter-argument and the expert evidence. The article then closes with a short conclusion, “Nobody is asking for a shorter day, just a later one.”, and its last line, “Let it sleep a little longer.”, returns to the headline.
Quotation: "First, teenage bodies are built differently. My alarm goes off at half past six, but I rarely fall asleep before midnight, however hard I try. Last term I kept a sleep diary for a science project: on school nights I averaged six hours. On Saturdays, with no alarm, I slept nine. That is not laziness. That is biology. Second, a later start would improve results, not harm them. Some will say that pupils would simply stay up later and gain nothing. Yet when I asked our school nurse, she explained that the teenage body clock shifts later during puberty, so most of us cannot fall asleep early even when we want to. A rested class learns more in five hours than a tired one learns in six. Third, think of the mornings themselves. No more shouting up the stairs, no more breakfast eaten in the car, no more detentions for lateness that nobody meant. Parents would gain a calmer house; teachers would gain pupils who can actually hear them." (‘Let Them Sleep’, paragraphs 2–4 — original model article written for Ad Astra). Read it aloud; ask what it shows.
Tip: Plan with the eight headings in the margin. The counter-argument is not optional: it is where the reader decides to trust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Build the argument in order.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eight parts of an opinion article in the order your planning grid gives them.
Support — work through the steps with the group: (1) The introduction is always first and the conclusion always last. (2) Each argument is followed by something: the first by personal evidence, the second by the counter-argument and expert evidence. (3) The third argument stands alone before the conclusion. (4) Personal evidence comes before expert evidence.
Parallel worked example for Support (model it, do not give the task answer): Order these parts of a debate speech: my conclusion, my opening position, the other side’s view and my answer to it, my first reason. Open with your position.; Give your reason.; Answer the other side.; Conclude.. Answer: Opening position, first reason, the other side’s view and my answer, conclusion..
Core — reveal the hint only on request: Three arguments; the first is backed by you, the second is tested by the other side and backed by an expert.
Stretch — no help; when finished: Explain why the counter-argument sits in the middle of the article rather than at the very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Build the argument in order.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eight parts of an opinion article in the order your planning grid gives them.
Support — work through the steps with the group: (1) The introduction is always first and the conclusion always last. (2) Each argument is followed by something: the first by personal evidence, the second by the counter-argument and expert evidence. (3) The third argument stands alone before the conclusion. (4) Personal evidence comes before expert evidence.
Parallel worked example for Support (model it, do not give the task answer): Order these parts of a debate speech: my conclusion, my opening position, the other side’s view and my answer to it, my first reason. Open with your position.; Give your reason.; Answer the other side.; Conclude.. Answer: Opening position, first reason, the other side’s view and my answer, conclusion..
Core — reveal the hint only on request: Three arguments; the first is backed by you, the second is tested by the other side and backed by an expert.
Stretch — no help; when finished: Explain why the counter-argument sits in the middle of the article rather than at the very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Name the part.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extract from ‘Let Them Sleep’ to the part of the article it belongs to.
Support — work through the steps with the group: (1) The hook is the very first sentence and asks a question. (2) Personal evidence uses ‘I’ and tells of the writer’s own experience. (3) The counter-argument begins with words like ‘Some will say’. (4) Expert evidence names someone who knows the subject. (5) The conclusion is the last sentence and echoes the headline.
Parallel worked example for Support (model it, do not give the task answer): In an article about school dinners, which part is ‘Our head cook told me that fruit is thrown away by the crate’? Who is speaking? Someone who knows the kitchen.; Someone who knows the subject is an expert.. Answer: Expert evidence..
Core — reveal the hint only on request: ‘Some will say’ gives the counter-argument away; ‘I kept’ gives the personal evidence away.
Stretch — no help; when finished: Find the three arguments in ‘Let Them Sleep’ and write each as a single topic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Name the part.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extract from ‘Let Them Sleep’ to the part of the article it belongs to.
Support — work through the steps with the group: (1) The hook is the very first sentence and asks a question. (2) Personal evidence uses ‘I’ and tells of the writer’s own experience. (3) The counter-argument begins with words like ‘Some will say’. (4) Expert evidence names someone who knows the subject. (5) The conclusion is the last sentence and echoes the headline.
Parallel worked example for Support (model it, do not give the task answer): In an article about school dinners, which part is ‘Our head cook told me that fruit is thrown away by the crate’? Who is speaking? Someone who knows the kitchen.; Someone who knows the subject is an expert.. Answer: Expert evidence..
Core — reveal the hint only on request: ‘Some will say’ gives the counter-argument away; ‘I kept’ gives the personal evidence away.
Stretch — no help; when finished: Find the three arguments in ‘Let Them Sleep’ and write each as a single topic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What must the opening of an opinion article include?
Answer: A   A hook, the topic and the writer’s opinion. The opening hooks the reader, outlines the topic and outlines the writer’s opinion.
Source of this question: gate item 1 re-asked (options rotated) — this chapter has no third quick-check module.
The ebook also holds task 3, "Writing practice: the opening of an opinion article",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Build the argument in order. Reveal the answer; pupils mark their own work in a different colour, then read the "why" together. Same destination for every lane, so one answer serves the whole class.
Answer: Introduction  (E); Argument: first point  (F); Evidence: personal  (D); Argument: second point  (B); Counter-argument  (G); Evidence: expert  (A); Argument: third point  (H); Conclusion  (C)
Why: Introduction; first point with personal evidence; second point with the counter-argument and expert evidence; third point; conclusion. Eight parts, one shape.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Name the part. Reveal the answer; pupils mark their own work in a different colour, then read the "why" together. Same destination for every lane, so one answer serves the whole class.
Answer: Hook  →  A  “Have you ever tried to explain fractions to a zombie?”; Personal evidence  →  B  “Last term I kept a sleep diary for a science project”; Counter-argument  →  C  “Some will say that pupils would simply stay up later and gain nothing.”; Expert evidence  →  E  “when I asked our school nurse, she explained that the teenage body clock shifts later during puberty”; Conclusion  →  D  “Let it sleep a little longer.”
Why: The question is the hook; ‘I kept a sleep diary’ is personal; ‘Some will say’ is the counter-argument; the nurse is the expert; the final line is the conclusion.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A   A hook, the topic and the writer’s opinion
Why: The opening hooks the reader, outlines the topic and outlines the writer’s opinion.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ADADB"/>
          </a:solidFill>
          <a:ln w="12700">
            <a:solidFill>
              <a:srgbClr val="EADADB"/>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 Year 9 · Opinion Writing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ADADB"/>
          </a:solidFill>
          <a:ln w="12700">
            <a:solidFill>
              <a:srgbClr val="EADADB"/>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 Year 9 · Opinion Writing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8C2F39"/>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8D5D7"/>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8C2F39"/>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5</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8C2F39"/>
                </a:solidFill>
                <a:latin typeface="Calibri" pitchFamily="34" charset="0"/>
                <a:ea typeface="Calibri" pitchFamily="34" charset="-122"/>
                <a:cs typeface="Calibri" pitchFamily="34" charset="-120"/>
              </a:rPr>
              <a:t>English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5/6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Opinion Writing · AQA KS3 → 8700</a:t>
            </a:r>
            <a:endParaRPr lang="en-US" sz="1800" dirty="0"/>
          </a:p>
        </p:txBody>
      </p:sp>
      <p:sp>
        <p:nvSpPr>
          <p:cNvPr id="10" name="deck-title"/>
          <p:cNvSpPr txBox="1"/>
          <p:nvPr/>
        </p:nvSpPr>
        <p:spPr>
          <a:xfrm>
            <a:off x="548640" y="1956308"/>
            <a:ext cx="5287975" cy="1315720"/>
          </a:xfrm>
          <a:prstGeom prst="rect">
            <a:avLst/>
          </a:prstGeom>
          <a:noFill/>
          <a:ln/>
        </p:spPr>
        <p:txBody>
          <a:bodyPr wrap="square" lIns="63500" tIns="63500" rIns="63500" bIns="63500" rtlCol="0" anchor="t"/>
          <a:lstStyle/>
          <a:p>
            <a:pPr algn="l" indent="0" marL="0">
              <a:buNone/>
            </a:pPr>
            <a:r>
              <a:rPr lang="en-US" sz="3600" b="1" dirty="0">
                <a:solidFill>
                  <a:srgbClr val="1E2229"/>
                </a:solidFill>
                <a:latin typeface="Cambria" pitchFamily="34" charset="0"/>
                <a:ea typeface="Cambria" pitchFamily="34" charset="-122"/>
                <a:cs typeface="Cambria" pitchFamily="34" charset="-120"/>
              </a:rPr>
              <a:t>The opinion article: building an argument</a:t>
            </a:r>
            <a:endParaRPr lang="en-US" sz="3600" dirty="0"/>
          </a:p>
        </p:txBody>
      </p:sp>
      <p:sp>
        <p:nvSpPr>
          <p:cNvPr id="11" name="lessons-card"/>
          <p:cNvSpPr/>
          <p:nvPr/>
        </p:nvSpPr>
        <p:spPr>
          <a:xfrm>
            <a:off x="548640" y="3500628"/>
            <a:ext cx="5287975" cy="1986280"/>
          </a:xfrm>
          <a:prstGeom prst="roundRect">
            <a:avLst>
              <a:gd name="adj" fmla="val 3683"/>
            </a:avLst>
          </a:prstGeom>
          <a:solidFill>
            <a:srgbClr val="F4EAEB"/>
          </a:solidFill>
          <a:ln/>
        </p:spPr>
      </p:sp>
      <p:sp>
        <p:nvSpPr>
          <p:cNvPr id="12" name="lessons"/>
          <p:cNvSpPr txBox="1"/>
          <p:nvPr/>
        </p:nvSpPr>
        <p:spPr>
          <a:xfrm>
            <a:off x="685800" y="3592068"/>
            <a:ext cx="5013655" cy="180340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8C2F39"/>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7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Opinion writing: introduction</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9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Opinion writing: structure</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10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Teenage Demons: structure and humour in an opinion column</a:t>
            </a:r>
            <a:endParaRPr lang="en-US" sz="20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English,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4EAEB"/>
          </a:solidFill>
          <a:ln w="12700">
            <a:solidFill>
              <a:srgbClr val="D1ACB0"/>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8C2F39"/>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do I write for a specific audience, and how do I turn my opinion into a review or an article that readers will finish?</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0F1"/>
          </a:solidFill>
          <a:ln w="12700">
            <a:solidFill>
              <a:srgbClr val="D7B6BA"/>
            </a:solidFill>
            <a:prstDash val="solid"/>
          </a:ln>
        </p:spPr>
      </p:sp>
      <p:sp>
        <p:nvSpPr>
          <p:cNvPr id="8" name="card-hex"/>
          <p:cNvSpPr/>
          <p:nvPr/>
        </p:nvSpPr>
        <p:spPr>
          <a:xfrm>
            <a:off x="731520" y="1572768"/>
            <a:ext cx="640080" cy="554309"/>
          </a:xfrm>
          <a:prstGeom prst="hexagon">
            <a:avLst/>
          </a:prstGeom>
          <a:solidFill>
            <a:srgbClr val="8C2F39"/>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What must the opening of an opinion article include?</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star rating out of five</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hook, the topic and the writer’s opinion</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list of facts with no opinion</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summary of the whole plot</a:t>
            </a:r>
            <a:endParaRPr lang="en-US" sz="2000" dirty="0"/>
          </a:p>
        </p:txBody>
      </p:sp>
      <p:sp>
        <p:nvSpPr>
          <p:cNvPr id="12" name="card"/>
          <p:cNvSpPr/>
          <p:nvPr/>
        </p:nvSpPr>
        <p:spPr>
          <a:xfrm>
            <a:off x="4338218" y="1389888"/>
            <a:ext cx="3515258" cy="4754880"/>
          </a:xfrm>
          <a:prstGeom prst="roundRect">
            <a:avLst>
              <a:gd name="adj" fmla="val 1561"/>
            </a:avLst>
          </a:prstGeom>
          <a:solidFill>
            <a:srgbClr val="F7F0F1"/>
          </a:solidFill>
          <a:ln w="12700">
            <a:solidFill>
              <a:srgbClr val="D7B6BA"/>
            </a:solidFill>
            <a:prstDash val="solid"/>
          </a:ln>
        </p:spPr>
      </p:sp>
      <p:sp>
        <p:nvSpPr>
          <p:cNvPr id="13" name="card-hex"/>
          <p:cNvSpPr/>
          <p:nvPr/>
        </p:nvSpPr>
        <p:spPr>
          <a:xfrm>
            <a:off x="4521098" y="1572768"/>
            <a:ext cx="640080" cy="554309"/>
          </a:xfrm>
          <a:prstGeom prst="hexagon">
            <a:avLst/>
          </a:prstGeom>
          <a:solidFill>
            <a:srgbClr val="8C2F39"/>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The ___ is the opposite view, which you raise so that you can answer it.</a:t>
            </a:r>
            <a:endParaRPr lang="en-US" sz="2400" dirty="0"/>
          </a:p>
          <a:p>
            <a:pPr algn="l" indent="0" marL="0">
              <a:buNone/>
            </a:pPr>
            <a:r>
              <a:rPr lang="en-US" sz="2400" b="1" dirty="0">
                <a:solidFill>
                  <a:srgbClr val="8C2F39"/>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counter-argument  ·  anecdote  ·  headline</a:t>
            </a:r>
            <a:endParaRPr lang="en-US" sz="2400" dirty="0"/>
          </a:p>
        </p:txBody>
      </p:sp>
      <p:sp>
        <p:nvSpPr>
          <p:cNvPr id="17" name="card"/>
          <p:cNvSpPr/>
          <p:nvPr/>
        </p:nvSpPr>
        <p:spPr>
          <a:xfrm>
            <a:off x="8127797" y="1389888"/>
            <a:ext cx="3515258" cy="4754880"/>
          </a:xfrm>
          <a:prstGeom prst="roundRect">
            <a:avLst>
              <a:gd name="adj" fmla="val 1561"/>
            </a:avLst>
          </a:prstGeom>
          <a:solidFill>
            <a:srgbClr val="F7F0F1"/>
          </a:solidFill>
          <a:ln w="12700">
            <a:solidFill>
              <a:srgbClr val="D7B6BA"/>
            </a:solidFill>
            <a:prstDash val="solid"/>
          </a:ln>
        </p:spPr>
      </p:sp>
      <p:sp>
        <p:nvSpPr>
          <p:cNvPr id="18" name="card-hex"/>
          <p:cNvSpPr/>
          <p:nvPr/>
        </p:nvSpPr>
        <p:spPr>
          <a:xfrm>
            <a:off x="8310677" y="1572768"/>
            <a:ext cx="640080" cy="554309"/>
          </a:xfrm>
          <a:prstGeom prst="hexagon">
            <a:avLst/>
          </a:prstGeom>
          <a:solidFill>
            <a:srgbClr val="8C2F39"/>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In ‘Let Them Sleep’, what kind of evidence is “Last term I kept a sleep diary for a science project”?</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Personal evidence</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 headline</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Expert evidence</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 counter-argument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0F1"/>
          </a:solidFill>
          <a:ln w="12700">
            <a:solidFill>
              <a:srgbClr val="D7B6BA"/>
            </a:solidFill>
            <a:prstDash val="solid"/>
          </a:ln>
        </p:spPr>
      </p:sp>
      <p:sp>
        <p:nvSpPr>
          <p:cNvPr id="8" name="card-hex"/>
          <p:cNvSpPr/>
          <p:nvPr/>
        </p:nvSpPr>
        <p:spPr>
          <a:xfrm>
            <a:off x="731520" y="1572768"/>
            <a:ext cx="640080" cy="554309"/>
          </a:xfrm>
          <a:prstGeom prst="hexagon">
            <a:avLst/>
          </a:prstGeom>
          <a:solidFill>
            <a:srgbClr val="8C2F39"/>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955040"/>
          </a:xfrm>
          <a:prstGeom prst="roundRect">
            <a:avLst>
              <a:gd name="adj" fmla="val 11489"/>
            </a:avLst>
          </a:prstGeom>
          <a:solidFill>
            <a:srgbClr val="EDE1CA"/>
          </a:solidFill>
          <a:ln w="19050">
            <a:solidFill>
              <a:srgbClr val="B8862B"/>
            </a:solidFill>
            <a:prstDash val="solid"/>
          </a:ln>
        </p:spPr>
      </p:sp>
      <p:sp>
        <p:nvSpPr>
          <p:cNvPr id="12" name="answer"/>
          <p:cNvSpPr txBox="1"/>
          <p:nvPr/>
        </p:nvSpPr>
        <p:spPr>
          <a:xfrm>
            <a:off x="822960" y="2428829"/>
            <a:ext cx="296661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A hook, the topic and the writer’s opinion</a:t>
            </a:r>
            <a:endParaRPr lang="en-US" sz="2200" dirty="0"/>
          </a:p>
        </p:txBody>
      </p:sp>
      <p:sp>
        <p:nvSpPr>
          <p:cNvPr id="13" name="card-body"/>
          <p:cNvSpPr txBox="1"/>
          <p:nvPr/>
        </p:nvSpPr>
        <p:spPr>
          <a:xfrm>
            <a:off x="731520" y="3493597"/>
            <a:ext cx="3149498" cy="2514011"/>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What must the opening of an opinion article include?</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The opening hooks the reader, outlines the topic and outlines the writer’s opinion.</a:t>
            </a:r>
            <a:endParaRPr lang="en-US" sz="2000" dirty="0"/>
          </a:p>
        </p:txBody>
      </p:sp>
      <p:sp>
        <p:nvSpPr>
          <p:cNvPr id="14" name="card"/>
          <p:cNvSpPr/>
          <p:nvPr/>
        </p:nvSpPr>
        <p:spPr>
          <a:xfrm>
            <a:off x="4338218" y="1389888"/>
            <a:ext cx="3515258" cy="4754880"/>
          </a:xfrm>
          <a:prstGeom prst="roundRect">
            <a:avLst>
              <a:gd name="adj" fmla="val 1561"/>
            </a:avLst>
          </a:prstGeom>
          <a:solidFill>
            <a:srgbClr val="F7F0F1"/>
          </a:solidFill>
          <a:ln w="12700">
            <a:solidFill>
              <a:srgbClr val="D7B6BA"/>
            </a:solidFill>
            <a:prstDash val="solid"/>
          </a:ln>
        </p:spPr>
      </p:sp>
      <p:sp>
        <p:nvSpPr>
          <p:cNvPr id="15" name="card-hex"/>
          <p:cNvSpPr/>
          <p:nvPr/>
        </p:nvSpPr>
        <p:spPr>
          <a:xfrm>
            <a:off x="4521098" y="1572768"/>
            <a:ext cx="640080" cy="554309"/>
          </a:xfrm>
          <a:prstGeom prst="hexagon">
            <a:avLst/>
          </a:prstGeom>
          <a:solidFill>
            <a:srgbClr val="8C2F39"/>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DE1CA"/>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counter-argument</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The ___ is the opposite view, which you raise so that you can answer it.</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A counter-argument gives the other side so that you can answer it and strengthen your own case.</a:t>
            </a:r>
            <a:endParaRPr lang="en-US" sz="2000" dirty="0"/>
          </a:p>
        </p:txBody>
      </p:sp>
      <p:sp>
        <p:nvSpPr>
          <p:cNvPr id="21" name="card"/>
          <p:cNvSpPr/>
          <p:nvPr/>
        </p:nvSpPr>
        <p:spPr>
          <a:xfrm>
            <a:off x="8127797" y="1389888"/>
            <a:ext cx="3515258" cy="4754880"/>
          </a:xfrm>
          <a:prstGeom prst="roundRect">
            <a:avLst>
              <a:gd name="adj" fmla="val 1561"/>
            </a:avLst>
          </a:prstGeom>
          <a:solidFill>
            <a:srgbClr val="F7F0F1"/>
          </a:solidFill>
          <a:ln w="12700">
            <a:solidFill>
              <a:srgbClr val="D7B6BA"/>
            </a:solidFill>
            <a:prstDash val="solid"/>
          </a:ln>
        </p:spPr>
      </p:sp>
      <p:sp>
        <p:nvSpPr>
          <p:cNvPr id="22" name="card-hex"/>
          <p:cNvSpPr/>
          <p:nvPr/>
        </p:nvSpPr>
        <p:spPr>
          <a:xfrm>
            <a:off x="8310677" y="1572768"/>
            <a:ext cx="640080" cy="554309"/>
          </a:xfrm>
          <a:prstGeom prst="hexagon">
            <a:avLst/>
          </a:prstGeom>
          <a:solidFill>
            <a:srgbClr val="8C2F39"/>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DE1CA"/>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Personal evidence</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In ‘Let Them Sleep’, what kind of evidence is “Last term I kept a sleep diary for a science project”?</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The writer’s own sleep diary is personal evidence; the nurse’s explanation later is the expert evidence.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8C2F39"/>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786384"/>
          </a:xfrm>
          <a:prstGeom prst="roundRect">
            <a:avLst>
              <a:gd name="adj" fmla="val 6977"/>
            </a:avLst>
          </a:prstGeom>
          <a:solidFill>
            <a:srgbClr val="F6EEEF"/>
          </a:solidFill>
          <a:ln/>
        </p:spPr>
      </p:sp>
      <p:sp>
        <p:nvSpPr>
          <p:cNvPr id="12" name="kw-hex"/>
          <p:cNvSpPr/>
          <p:nvPr/>
        </p:nvSpPr>
        <p:spPr>
          <a:xfrm>
            <a:off x="658368" y="2135261"/>
            <a:ext cx="411480" cy="356342"/>
          </a:xfrm>
          <a:prstGeom prst="hexagon">
            <a:avLst/>
          </a:prstGeom>
          <a:solidFill>
            <a:srgbClr val="8C2F39"/>
          </a:solidFill>
          <a:ln/>
        </p:spPr>
      </p:sp>
      <p:sp>
        <p:nvSpPr>
          <p:cNvPr id="13" name="kw-cell"/>
          <p:cNvSpPr txBox="1"/>
          <p:nvPr/>
        </p:nvSpPr>
        <p:spPr>
          <a:xfrm>
            <a:off x="1143000" y="1920240"/>
            <a:ext cx="2331720" cy="786384"/>
          </a:xfrm>
          <a:prstGeom prst="rect">
            <a:avLst/>
          </a:prstGeom>
          <a:noFill/>
          <a:ln/>
        </p:spPr>
        <p:txBody>
          <a:bodyPr wrap="square" lIns="63500" tIns="63500" rIns="63500" bIns="63500" rtlCol="0" anchor="ctr"/>
          <a:lstStyle/>
          <a:p>
            <a:pPr algn="l" indent="0" marL="0">
              <a:buNone/>
            </a:pPr>
            <a:r>
              <a:rPr lang="en-US" sz="2000" b="1" dirty="0">
                <a:solidFill>
                  <a:srgbClr val="8C2F39"/>
                </a:solidFill>
                <a:latin typeface="Cambria" pitchFamily="34" charset="0"/>
                <a:ea typeface="Cambria" pitchFamily="34" charset="-122"/>
                <a:cs typeface="Cambria" pitchFamily="34" charset="-120"/>
              </a:rPr>
              <a:t>argument</a:t>
            </a:r>
            <a:endParaRPr lang="en-US" sz="2000" dirty="0"/>
          </a:p>
        </p:txBody>
      </p:sp>
      <p:sp>
        <p:nvSpPr>
          <p:cNvPr id="14" name="kw-cell"/>
          <p:cNvSpPr txBox="1"/>
          <p:nvPr/>
        </p:nvSpPr>
        <p:spPr>
          <a:xfrm>
            <a:off x="3657600" y="1920240"/>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reason that supports your opinion</a:t>
            </a:r>
            <a:endParaRPr lang="en-US" sz="1800" dirty="0"/>
          </a:p>
        </p:txBody>
      </p:sp>
      <p:sp>
        <p:nvSpPr>
          <p:cNvPr id="15" name="kw-cell"/>
          <p:cNvSpPr txBox="1"/>
          <p:nvPr/>
        </p:nvSpPr>
        <p:spPr>
          <a:xfrm>
            <a:off x="7315200" y="1920240"/>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Her first argument was that tired pupils learn less.</a:t>
            </a:r>
            <a:endParaRPr lang="en-US" sz="1800" dirty="0"/>
          </a:p>
        </p:txBody>
      </p:sp>
      <p:sp>
        <p:nvSpPr>
          <p:cNvPr id="16" name="kw-row"/>
          <p:cNvSpPr/>
          <p:nvPr/>
        </p:nvSpPr>
        <p:spPr>
          <a:xfrm>
            <a:off x="548640" y="2779776"/>
            <a:ext cx="11094415" cy="786384"/>
          </a:xfrm>
          <a:prstGeom prst="roundRect">
            <a:avLst>
              <a:gd name="adj" fmla="val 6977"/>
            </a:avLst>
          </a:prstGeom>
          <a:solidFill>
            <a:srgbClr val="F6F0E6"/>
          </a:solidFill>
          <a:ln/>
        </p:spPr>
      </p:sp>
      <p:sp>
        <p:nvSpPr>
          <p:cNvPr id="17" name="kw-hex"/>
          <p:cNvSpPr/>
          <p:nvPr/>
        </p:nvSpPr>
        <p:spPr>
          <a:xfrm>
            <a:off x="658368" y="2994797"/>
            <a:ext cx="411480" cy="356342"/>
          </a:xfrm>
          <a:prstGeom prst="hexagon">
            <a:avLst/>
          </a:prstGeom>
          <a:solidFill>
            <a:srgbClr val="B8862B"/>
          </a:solidFill>
          <a:ln/>
        </p:spPr>
      </p:sp>
      <p:sp>
        <p:nvSpPr>
          <p:cNvPr id="18" name="kw-cell"/>
          <p:cNvSpPr txBox="1"/>
          <p:nvPr/>
        </p:nvSpPr>
        <p:spPr>
          <a:xfrm>
            <a:off x="1143000" y="2779776"/>
            <a:ext cx="2331720" cy="786384"/>
          </a:xfrm>
          <a:prstGeom prst="rect">
            <a:avLst/>
          </a:prstGeom>
          <a:noFill/>
          <a:ln/>
        </p:spPr>
        <p:txBody>
          <a:bodyPr wrap="square" lIns="63500" tIns="63500" rIns="63500" bIns="63500" rtlCol="0" anchor="ctr"/>
          <a:lstStyle/>
          <a:p>
            <a:pPr algn="l" indent="0" marL="0">
              <a:buNone/>
            </a:pPr>
            <a:r>
              <a:rPr lang="en-US" sz="2000" b="1" dirty="0">
                <a:solidFill>
                  <a:srgbClr val="8C2F39"/>
                </a:solidFill>
                <a:latin typeface="Cambria" pitchFamily="34" charset="0"/>
                <a:ea typeface="Cambria" pitchFamily="34" charset="-122"/>
                <a:cs typeface="Cambria" pitchFamily="34" charset="-120"/>
              </a:rPr>
              <a:t>evidence</a:t>
            </a:r>
            <a:endParaRPr lang="en-US" sz="2000" dirty="0"/>
          </a:p>
        </p:txBody>
      </p:sp>
      <p:sp>
        <p:nvSpPr>
          <p:cNvPr id="19" name="kw-cell"/>
          <p:cNvSpPr txBox="1"/>
          <p:nvPr/>
        </p:nvSpPr>
        <p:spPr>
          <a:xfrm>
            <a:off x="3657600" y="2779776"/>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facts or experiences that back up a point</a:t>
            </a:r>
            <a:endParaRPr lang="en-US" sz="1800" dirty="0"/>
          </a:p>
        </p:txBody>
      </p:sp>
      <p:sp>
        <p:nvSpPr>
          <p:cNvPr id="20" name="kw-cell"/>
          <p:cNvSpPr txBox="1"/>
          <p:nvPr/>
        </p:nvSpPr>
        <p:spPr>
          <a:xfrm>
            <a:off x="7315200" y="2779776"/>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Give evidence for every argument you make.</a:t>
            </a:r>
            <a:endParaRPr lang="en-US" sz="1800" dirty="0"/>
          </a:p>
        </p:txBody>
      </p:sp>
      <p:sp>
        <p:nvSpPr>
          <p:cNvPr id="21" name="kw-row"/>
          <p:cNvSpPr/>
          <p:nvPr/>
        </p:nvSpPr>
        <p:spPr>
          <a:xfrm>
            <a:off x="548640" y="3639312"/>
            <a:ext cx="11094415" cy="786384"/>
          </a:xfrm>
          <a:prstGeom prst="roundRect">
            <a:avLst>
              <a:gd name="adj" fmla="val 6977"/>
            </a:avLst>
          </a:prstGeom>
          <a:solidFill>
            <a:srgbClr val="F6EEEF"/>
          </a:solidFill>
          <a:ln/>
        </p:spPr>
      </p:sp>
      <p:sp>
        <p:nvSpPr>
          <p:cNvPr id="22" name="kw-hex"/>
          <p:cNvSpPr/>
          <p:nvPr/>
        </p:nvSpPr>
        <p:spPr>
          <a:xfrm>
            <a:off x="658368" y="3854333"/>
            <a:ext cx="411480" cy="356342"/>
          </a:xfrm>
          <a:prstGeom prst="hexagon">
            <a:avLst/>
          </a:prstGeom>
          <a:solidFill>
            <a:srgbClr val="8C2F39"/>
          </a:solidFill>
          <a:ln/>
        </p:spPr>
      </p:sp>
      <p:sp>
        <p:nvSpPr>
          <p:cNvPr id="23" name="kw-cell"/>
          <p:cNvSpPr txBox="1"/>
          <p:nvPr/>
        </p:nvSpPr>
        <p:spPr>
          <a:xfrm>
            <a:off x="1143000" y="3639312"/>
            <a:ext cx="2331720" cy="786384"/>
          </a:xfrm>
          <a:prstGeom prst="rect">
            <a:avLst/>
          </a:prstGeom>
          <a:noFill/>
          <a:ln/>
        </p:spPr>
        <p:txBody>
          <a:bodyPr wrap="square" lIns="63500" tIns="63500" rIns="63500" bIns="63500" rtlCol="0" anchor="ctr"/>
          <a:lstStyle/>
          <a:p>
            <a:pPr algn="l" indent="0" marL="0">
              <a:buNone/>
            </a:pPr>
            <a:r>
              <a:rPr lang="en-US" sz="2000" b="1" dirty="0">
                <a:solidFill>
                  <a:srgbClr val="8C2F39"/>
                </a:solidFill>
                <a:latin typeface="Cambria" pitchFamily="34" charset="0"/>
                <a:ea typeface="Cambria" pitchFamily="34" charset="-122"/>
                <a:cs typeface="Cambria" pitchFamily="34" charset="-120"/>
              </a:rPr>
              <a:t>counter-argument</a:t>
            </a:r>
            <a:endParaRPr lang="en-US" sz="2000" dirty="0"/>
          </a:p>
        </p:txBody>
      </p:sp>
      <p:sp>
        <p:nvSpPr>
          <p:cNvPr id="24" name="kw-cell"/>
          <p:cNvSpPr txBox="1"/>
          <p:nvPr/>
        </p:nvSpPr>
        <p:spPr>
          <a:xfrm>
            <a:off x="3657600" y="3639312"/>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opposite view, which you answer</a:t>
            </a:r>
            <a:endParaRPr lang="en-US" sz="1800" dirty="0"/>
          </a:p>
        </p:txBody>
      </p:sp>
      <p:sp>
        <p:nvSpPr>
          <p:cNvPr id="25" name="kw-cell"/>
          <p:cNvSpPr txBox="1"/>
          <p:nvPr/>
        </p:nvSpPr>
        <p:spPr>
          <a:xfrm>
            <a:off x="7315200" y="3639312"/>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 good writer includes a counter-argument and then answers it.</a:t>
            </a:r>
            <a:endParaRPr lang="en-US" sz="1800" dirty="0"/>
          </a:p>
        </p:txBody>
      </p:sp>
      <p:sp>
        <p:nvSpPr>
          <p:cNvPr id="26" name="kw-row"/>
          <p:cNvSpPr/>
          <p:nvPr/>
        </p:nvSpPr>
        <p:spPr>
          <a:xfrm>
            <a:off x="548640" y="4498848"/>
            <a:ext cx="11094415" cy="786384"/>
          </a:xfrm>
          <a:prstGeom prst="roundRect">
            <a:avLst>
              <a:gd name="adj" fmla="val 6977"/>
            </a:avLst>
          </a:prstGeom>
          <a:solidFill>
            <a:srgbClr val="F6F0E6"/>
          </a:solidFill>
          <a:ln/>
        </p:spPr>
      </p:sp>
      <p:sp>
        <p:nvSpPr>
          <p:cNvPr id="27" name="kw-hex"/>
          <p:cNvSpPr/>
          <p:nvPr/>
        </p:nvSpPr>
        <p:spPr>
          <a:xfrm>
            <a:off x="658368" y="4713869"/>
            <a:ext cx="411480" cy="356342"/>
          </a:xfrm>
          <a:prstGeom prst="hexagon">
            <a:avLst/>
          </a:prstGeom>
          <a:solidFill>
            <a:srgbClr val="B8862B"/>
          </a:solidFill>
          <a:ln/>
        </p:spPr>
      </p:sp>
      <p:sp>
        <p:nvSpPr>
          <p:cNvPr id="28" name="kw-cell"/>
          <p:cNvSpPr txBox="1"/>
          <p:nvPr/>
        </p:nvSpPr>
        <p:spPr>
          <a:xfrm>
            <a:off x="1143000" y="4498848"/>
            <a:ext cx="2331720" cy="786384"/>
          </a:xfrm>
          <a:prstGeom prst="rect">
            <a:avLst/>
          </a:prstGeom>
          <a:noFill/>
          <a:ln/>
        </p:spPr>
        <p:txBody>
          <a:bodyPr wrap="square" lIns="63500" tIns="63500" rIns="63500" bIns="63500" rtlCol="0" anchor="ctr"/>
          <a:lstStyle/>
          <a:p>
            <a:pPr algn="l" indent="0" marL="0">
              <a:buNone/>
            </a:pPr>
            <a:r>
              <a:rPr lang="en-US" sz="2000" b="1" dirty="0">
                <a:solidFill>
                  <a:srgbClr val="8C2F39"/>
                </a:solidFill>
                <a:latin typeface="Cambria" pitchFamily="34" charset="0"/>
                <a:ea typeface="Cambria" pitchFamily="34" charset="-122"/>
                <a:cs typeface="Cambria" pitchFamily="34" charset="-120"/>
              </a:rPr>
              <a:t>expert</a:t>
            </a:r>
            <a:endParaRPr lang="en-US" sz="2000" dirty="0"/>
          </a:p>
        </p:txBody>
      </p:sp>
      <p:sp>
        <p:nvSpPr>
          <p:cNvPr id="29" name="kw-cell"/>
          <p:cNvSpPr txBox="1"/>
          <p:nvPr/>
        </p:nvSpPr>
        <p:spPr>
          <a:xfrm>
            <a:off x="3657600" y="4498848"/>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someone who knows a lot about a subject</a:t>
            </a:r>
            <a:endParaRPr lang="en-US" sz="1800" dirty="0"/>
          </a:p>
        </p:txBody>
      </p:sp>
      <p:sp>
        <p:nvSpPr>
          <p:cNvPr id="30" name="kw-cell"/>
          <p:cNvSpPr txBox="1"/>
          <p:nvPr/>
        </p:nvSpPr>
        <p:spPr>
          <a:xfrm>
            <a:off x="7315200" y="4498848"/>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 nurse is an expert on sleep and health.</a:t>
            </a:r>
            <a:endParaRPr lang="en-US" sz="1800" dirty="0"/>
          </a:p>
        </p:txBody>
      </p:sp>
      <p:sp>
        <p:nvSpPr>
          <p:cNvPr id="31" name="kw-row"/>
          <p:cNvSpPr/>
          <p:nvPr/>
        </p:nvSpPr>
        <p:spPr>
          <a:xfrm>
            <a:off x="548640" y="5358384"/>
            <a:ext cx="11094415" cy="786384"/>
          </a:xfrm>
          <a:prstGeom prst="roundRect">
            <a:avLst>
              <a:gd name="adj" fmla="val 6977"/>
            </a:avLst>
          </a:prstGeom>
          <a:solidFill>
            <a:srgbClr val="F6EEEF"/>
          </a:solidFill>
          <a:ln/>
        </p:spPr>
      </p:sp>
      <p:sp>
        <p:nvSpPr>
          <p:cNvPr id="32" name="kw-hex"/>
          <p:cNvSpPr/>
          <p:nvPr/>
        </p:nvSpPr>
        <p:spPr>
          <a:xfrm>
            <a:off x="658368" y="5573405"/>
            <a:ext cx="411480" cy="356342"/>
          </a:xfrm>
          <a:prstGeom prst="hexagon">
            <a:avLst/>
          </a:prstGeom>
          <a:solidFill>
            <a:srgbClr val="8C2F39"/>
          </a:solidFill>
          <a:ln/>
        </p:spPr>
      </p:sp>
      <p:sp>
        <p:nvSpPr>
          <p:cNvPr id="33" name="kw-cell"/>
          <p:cNvSpPr txBox="1"/>
          <p:nvPr/>
        </p:nvSpPr>
        <p:spPr>
          <a:xfrm>
            <a:off x="1143000" y="5358384"/>
            <a:ext cx="2331720" cy="786384"/>
          </a:xfrm>
          <a:prstGeom prst="rect">
            <a:avLst/>
          </a:prstGeom>
          <a:noFill/>
          <a:ln/>
        </p:spPr>
        <p:txBody>
          <a:bodyPr wrap="square" lIns="63500" tIns="63500" rIns="63500" bIns="63500" rtlCol="0" anchor="ctr"/>
          <a:lstStyle/>
          <a:p>
            <a:pPr algn="l" indent="0" marL="0">
              <a:buNone/>
            </a:pPr>
            <a:r>
              <a:rPr lang="en-US" sz="2000" b="1" dirty="0">
                <a:solidFill>
                  <a:srgbClr val="8C2F39"/>
                </a:solidFill>
                <a:latin typeface="Cambria" pitchFamily="34" charset="0"/>
                <a:ea typeface="Cambria" pitchFamily="34" charset="-122"/>
                <a:cs typeface="Cambria" pitchFamily="34" charset="-120"/>
              </a:rPr>
              <a:t>column</a:t>
            </a:r>
            <a:endParaRPr lang="en-US" sz="2000" dirty="0"/>
          </a:p>
        </p:txBody>
      </p:sp>
      <p:sp>
        <p:nvSpPr>
          <p:cNvPr id="34" name="kw-cell"/>
          <p:cNvSpPr txBox="1"/>
          <p:nvPr/>
        </p:nvSpPr>
        <p:spPr>
          <a:xfrm>
            <a:off x="3657600" y="5358384"/>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regular opinion article in a newspaper</a:t>
            </a:r>
            <a:endParaRPr lang="en-US" sz="1800" dirty="0"/>
          </a:p>
        </p:txBody>
      </p:sp>
      <p:sp>
        <p:nvSpPr>
          <p:cNvPr id="35" name="kw-cell"/>
          <p:cNvSpPr txBox="1"/>
          <p:nvPr/>
        </p:nvSpPr>
        <p:spPr>
          <a:xfrm>
            <a:off x="7315200" y="5358384"/>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Her column appears in the paper every Sunday.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8C2F39"/>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0F1"/>
          </a:solidFill>
          <a:ln w="12700">
            <a:solidFill>
              <a:srgbClr val="DDC1C4"/>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An opinion article is different from a review.</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review helps the reader decide about an event.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An opinion article argues a point of view.</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Its readers want to know what other people think.</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opening does three things.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It hooks the reader.</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It says what the topic is.</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8C2F39"/>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0F1"/>
          </a:solidFill>
          <a:ln w="12700">
            <a:solidFill>
              <a:srgbClr val="DDC1C4"/>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It says what the writer thinks.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Then the writer gives </a:t>
            </a:r>
            <a:pPr algn="l" indent="0" marL="0">
              <a:spcAft>
                <a:spcPts val="600"/>
              </a:spcAft>
              <a:buNone/>
            </a:pPr>
            <a:r>
              <a:rPr lang="en-US" sz="2800" b="1" dirty="0">
                <a:solidFill>
                  <a:srgbClr val="8C2F39"/>
                </a:solidFill>
                <a:latin typeface="Calibri" pitchFamily="34" charset="0"/>
                <a:ea typeface="Calibri" pitchFamily="34" charset="-122"/>
                <a:cs typeface="Calibri" pitchFamily="34" charset="-120"/>
              </a:rPr>
              <a:t>arguments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one at a time.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Each </a:t>
            </a:r>
            <a:pPr algn="l" indent="0" marL="0">
              <a:spcAft>
                <a:spcPts val="600"/>
              </a:spcAft>
              <a:buNone/>
            </a:pPr>
            <a:r>
              <a:rPr lang="en-US" sz="2800" b="1" dirty="0">
                <a:solidFill>
                  <a:srgbClr val="8C2F39"/>
                </a:solidFill>
                <a:latin typeface="Calibri" pitchFamily="34" charset="0"/>
                <a:ea typeface="Calibri" pitchFamily="34" charset="-122"/>
                <a:cs typeface="Calibri" pitchFamily="34" charset="-120"/>
              </a:rPr>
              <a:t>argument</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has </a:t>
            </a:r>
            <a:pPr algn="l" indent="0" marL="0">
              <a:spcAft>
                <a:spcPts val="600"/>
              </a:spcAft>
              <a:buNone/>
            </a:pPr>
            <a:r>
              <a:rPr lang="en-US" sz="2800" b="1" dirty="0">
                <a:solidFill>
                  <a:srgbClr val="8C2F39"/>
                </a:solidFill>
                <a:latin typeface="Calibri" pitchFamily="34" charset="0"/>
                <a:ea typeface="Calibri" pitchFamily="34" charset="-122"/>
                <a:cs typeface="Calibri" pitchFamily="34" charset="-120"/>
              </a:rPr>
              <a:t>evidence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personal or </a:t>
            </a:r>
            <a:pPr algn="l" indent="0" marL="0">
              <a:spcAft>
                <a:spcPts val="600"/>
              </a:spcAft>
              <a:buNone/>
            </a:pPr>
            <a:r>
              <a:rPr lang="en-US" sz="2800" b="1" dirty="0">
                <a:solidFill>
                  <a:srgbClr val="8C2F39"/>
                </a:solidFill>
                <a:latin typeface="Calibri" pitchFamily="34" charset="0"/>
                <a:ea typeface="Calibri" pitchFamily="34" charset="-122"/>
                <a:cs typeface="Calibri" pitchFamily="34" charset="-120"/>
              </a:rPr>
              <a:t>expert</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writer also gives the opposite view, and answers it.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conclusion returns to the main opinion.</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Humour can make readers like the writer and agree with them.</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Review or opinion article?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4EDDF"/>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If your plan is full of facts about one event, it is a review. If it is full of reasons, it is an opinion article.</a:t>
            </a:r>
            <a:endParaRPr lang="en-US" sz="1800" dirty="0"/>
          </a:p>
        </p:txBody>
      </p:sp>
      <p:sp>
        <p:nvSpPr>
          <p:cNvPr id="11" name="point-card"/>
          <p:cNvSpPr/>
          <p:nvPr/>
        </p:nvSpPr>
        <p:spPr>
          <a:xfrm>
            <a:off x="548640" y="1389888"/>
            <a:ext cx="5410048" cy="3964940"/>
          </a:xfrm>
          <a:prstGeom prst="roundRect">
            <a:avLst>
              <a:gd name="adj" fmla="val 1384"/>
            </a:avLst>
          </a:prstGeom>
          <a:solidFill>
            <a:srgbClr val="F4EAEB"/>
          </a:solidFill>
          <a:ln/>
        </p:spPr>
      </p:sp>
      <p:sp>
        <p:nvSpPr>
          <p:cNvPr id="12" name="point-hex"/>
          <p:cNvSpPr/>
          <p:nvPr/>
        </p:nvSpPr>
        <p:spPr>
          <a:xfrm>
            <a:off x="731520" y="1572768"/>
            <a:ext cx="685800" cy="593903"/>
          </a:xfrm>
          <a:prstGeom prst="hexagon">
            <a:avLst/>
          </a:prstGeom>
          <a:solidFill>
            <a:srgbClr val="8C2F39"/>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Both are written to be read, both inform, and both use personal experience.</a:t>
            </a:r>
            <a:endParaRPr lang="en-US" sz="2400" dirty="0"/>
          </a:p>
        </p:txBody>
      </p:sp>
      <p:sp>
        <p:nvSpPr>
          <p:cNvPr id="15" name="point-card"/>
          <p:cNvSpPr/>
          <p:nvPr/>
        </p:nvSpPr>
        <p:spPr>
          <a:xfrm>
            <a:off x="6233008" y="1389888"/>
            <a:ext cx="5410048" cy="3964940"/>
          </a:xfrm>
          <a:prstGeom prst="roundRect">
            <a:avLst>
              <a:gd name="adj" fmla="val 1384"/>
            </a:avLst>
          </a:prstGeom>
          <a:solidFill>
            <a:srgbClr val="F6F0E6"/>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Take the task ‘Write an article for a school newspaper giving your opinion on whether the school day should start later.’ Form: a newspaper article.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The opening: hook, topic, opinion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4792472"/>
            <a:ext cx="5074920" cy="1352296"/>
          </a:xfrm>
          <a:prstGeom prst="roundRect">
            <a:avLst>
              <a:gd name="adj" fmla="val 10143"/>
            </a:avLst>
          </a:prstGeom>
          <a:solidFill>
            <a:srgbClr val="F4EDDF"/>
          </a:solidFill>
          <a:ln w="15875">
            <a:solidFill>
              <a:srgbClr val="B8862B"/>
            </a:solidFill>
            <a:prstDash val="solid"/>
          </a:ln>
        </p:spPr>
      </p:sp>
      <p:sp>
        <p:nvSpPr>
          <p:cNvPr id="8" name="tip-hex"/>
          <p:cNvSpPr/>
          <p:nvPr/>
        </p:nvSpPr>
        <p:spPr>
          <a:xfrm>
            <a:off x="685800" y="5270652"/>
            <a:ext cx="457200" cy="395935"/>
          </a:xfrm>
          <a:prstGeom prst="hexagon">
            <a:avLst/>
          </a:prstGeom>
          <a:solidFill>
            <a:srgbClr val="B8862B"/>
          </a:solidFill>
          <a:ln/>
        </p:spPr>
      </p:sp>
      <p:sp>
        <p:nvSpPr>
          <p:cNvPr id="9" name="tip-hex-label"/>
          <p:cNvSpPr txBox="1"/>
          <p:nvPr/>
        </p:nvSpPr>
        <p:spPr>
          <a:xfrm>
            <a:off x="685800" y="5270652"/>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4847336"/>
            <a:ext cx="4206240" cy="1242568"/>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Underline the three jobs in your own opening: hook, topic, opinion. If one is missing, the reader does not know what you are arguing.</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F4EAEB"/>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000" i="1" dirty="0">
                <a:solidFill>
                  <a:srgbClr val="1E2229"/>
                </a:solidFill>
                <a:latin typeface="Cambria" pitchFamily="34" charset="0"/>
                <a:ea typeface="Cambria" pitchFamily="34" charset="-122"/>
                <a:cs typeface="Cambria" pitchFamily="34" charset="-120"/>
              </a:rPr>
              <a:t>Let Them Sleep: why the school day should start at ten Have you ever tried to explain fractions to a zombie? Our teachers do it every morning. Across the country, teenagers are dragged into classrooms before their brains have switched on, and then we are told off for yawning. It is time the school day started at ten.</a:t>
            </a:r>
            <a:endParaRPr lang="en-US" sz="2000" dirty="0"/>
          </a:p>
          <a:p>
            <a:pPr algn="l" indent="0" marL="0">
              <a:buNone/>
            </a:pPr>
            <a:r>
              <a:rPr lang="en-US" sz="1800" dirty="0">
                <a:solidFill>
                  <a:srgbClr val="4A505C"/>
                </a:solidFill>
                <a:latin typeface="Calibri" pitchFamily="34" charset="0"/>
                <a:ea typeface="Calibri" pitchFamily="34" charset="-122"/>
                <a:cs typeface="Calibri" pitchFamily="34" charset="-120"/>
              </a:rPr>
              <a:t>— ‘Let Them Sleep’, headline and paragraph 1 — original model article written for Ad Astra</a:t>
            </a:r>
            <a:endParaRPr lang="en-US" sz="2000" dirty="0"/>
          </a:p>
        </p:txBody>
      </p:sp>
      <p:sp>
        <p:nvSpPr>
          <p:cNvPr id="14" name="bullet-card"/>
          <p:cNvSpPr/>
          <p:nvPr/>
        </p:nvSpPr>
        <p:spPr>
          <a:xfrm>
            <a:off x="548640" y="1389888"/>
            <a:ext cx="5074920" cy="1800860"/>
          </a:xfrm>
          <a:prstGeom prst="roundRect">
            <a:avLst>
              <a:gd name="adj" fmla="val 4062"/>
            </a:avLst>
          </a:prstGeom>
          <a:solidFill>
            <a:srgbClr val="F6EEEF"/>
          </a:solidFill>
          <a:ln/>
        </p:spPr>
      </p:sp>
      <p:sp>
        <p:nvSpPr>
          <p:cNvPr id="15" name="bullet-hex"/>
          <p:cNvSpPr/>
          <p:nvPr/>
        </p:nvSpPr>
        <p:spPr>
          <a:xfrm>
            <a:off x="676656" y="2124025"/>
            <a:ext cx="384048" cy="332586"/>
          </a:xfrm>
          <a:prstGeom prst="hexagon">
            <a:avLst/>
          </a:prstGeom>
          <a:solidFill>
            <a:srgbClr val="8C2F39"/>
          </a:solidFill>
          <a:ln/>
        </p:spPr>
      </p:sp>
      <p:sp>
        <p:nvSpPr>
          <p:cNvPr id="16" name="bullet"/>
          <p:cNvSpPr txBox="1"/>
          <p:nvPr/>
        </p:nvSpPr>
        <p:spPr>
          <a:xfrm>
            <a:off x="1143000" y="1389888"/>
            <a:ext cx="4389120" cy="180086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opening of an opinion piece must do three things: hook the reader, outline the topic you are giving an opinion on, and outline what your opinion is.</a:t>
            </a:r>
            <a:endParaRPr lang="en-US" sz="2000" dirty="0"/>
          </a:p>
        </p:txBody>
      </p:sp>
      <p:sp>
        <p:nvSpPr>
          <p:cNvPr id="17" name="bullet-card"/>
          <p:cNvSpPr/>
          <p:nvPr/>
        </p:nvSpPr>
        <p:spPr>
          <a:xfrm>
            <a:off x="548640" y="3337052"/>
            <a:ext cx="5074920" cy="1181100"/>
          </a:xfrm>
          <a:prstGeom prst="roundRect">
            <a:avLst>
              <a:gd name="adj" fmla="val 6194"/>
            </a:avLst>
          </a:prstGeom>
          <a:solidFill>
            <a:srgbClr val="F6EEEF"/>
          </a:solidFill>
          <a:ln/>
        </p:spPr>
      </p:sp>
      <p:sp>
        <p:nvSpPr>
          <p:cNvPr id="18" name="bullet-hex"/>
          <p:cNvSpPr/>
          <p:nvPr/>
        </p:nvSpPr>
        <p:spPr>
          <a:xfrm>
            <a:off x="676656" y="3761309"/>
            <a:ext cx="384048" cy="332586"/>
          </a:xfrm>
          <a:prstGeom prst="hexagon">
            <a:avLst/>
          </a:prstGeom>
          <a:solidFill>
            <a:srgbClr val="B8862B"/>
          </a:solidFill>
          <a:ln/>
        </p:spPr>
      </p:sp>
      <p:sp>
        <p:nvSpPr>
          <p:cNvPr id="19" name="bullet"/>
          <p:cNvSpPr txBox="1"/>
          <p:nvPr/>
        </p:nvSpPr>
        <p:spPr>
          <a:xfrm>
            <a:off x="1143000" y="3337052"/>
            <a:ext cx="4389120" cy="118110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Read the opening of ‘Let Them Sleep’, an original opinion article written for Ad Astra for a school newspaper.</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8C2F39"/>
                </a:solidFill>
                <a:latin typeface="Cambria" pitchFamily="34" charset="0"/>
                <a:ea typeface="Cambria" pitchFamily="34" charset="-122"/>
                <a:cs typeface="Cambria" pitchFamily="34" charset="-120"/>
              </a:rPr>
              <a:t>Eight parts, two kinds of evidence, one counter-argument</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Plan with the eight headings in the margin. The counter-argument is not optional: it is where the reader decides to trust you.</a:t>
            </a:r>
            <a:endParaRPr lang="en-US" sz="1800" dirty="0"/>
          </a:p>
        </p:txBody>
      </p:sp>
      <p:sp>
        <p:nvSpPr>
          <p:cNvPr id="11" name="bullet-card"/>
          <p:cNvSpPr/>
          <p:nvPr/>
        </p:nvSpPr>
        <p:spPr>
          <a:xfrm>
            <a:off x="548640" y="1389888"/>
            <a:ext cx="11094415" cy="1131147"/>
          </a:xfrm>
          <a:prstGeom prst="roundRect">
            <a:avLst>
              <a:gd name="adj" fmla="val 6467"/>
            </a:avLst>
          </a:prstGeom>
          <a:solidFill>
            <a:srgbClr val="F6EEEF"/>
          </a:solidFill>
          <a:ln/>
        </p:spPr>
      </p:sp>
      <p:sp>
        <p:nvSpPr>
          <p:cNvPr id="12" name="bullet-hex"/>
          <p:cNvSpPr/>
          <p:nvPr/>
        </p:nvSpPr>
        <p:spPr>
          <a:xfrm>
            <a:off x="676656" y="1789169"/>
            <a:ext cx="384048" cy="332586"/>
          </a:xfrm>
          <a:prstGeom prst="hexagon">
            <a:avLst/>
          </a:prstGeom>
          <a:solidFill>
            <a:srgbClr val="8C2F39"/>
          </a:solidFill>
          <a:ln/>
        </p:spPr>
      </p:sp>
      <p:sp>
        <p:nvSpPr>
          <p:cNvPr id="13" name="bullet"/>
          <p:cNvSpPr txBox="1"/>
          <p:nvPr/>
        </p:nvSpPr>
        <p:spPr>
          <a:xfrm>
            <a:off x="1143000" y="1389888"/>
            <a:ext cx="10408615" cy="113114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Your teachers give you a planning grid with eight headings: introduction; argument (first point); evidence, personal; argument (second point); counter-argument; evidence, expert; argument (third point); conclusion.</a:t>
            </a:r>
            <a:endParaRPr lang="en-US" sz="2000" dirty="0"/>
          </a:p>
        </p:txBody>
      </p:sp>
      <p:sp>
        <p:nvSpPr>
          <p:cNvPr id="14" name="bullet-card"/>
          <p:cNvSpPr/>
          <p:nvPr/>
        </p:nvSpPr>
        <p:spPr>
          <a:xfrm>
            <a:off x="548640" y="2667339"/>
            <a:ext cx="11094415" cy="1441027"/>
          </a:xfrm>
          <a:prstGeom prst="roundRect">
            <a:avLst>
              <a:gd name="adj" fmla="val 5076"/>
            </a:avLst>
          </a:prstGeom>
          <a:solidFill>
            <a:srgbClr val="F6EEEF"/>
          </a:solidFill>
          <a:ln/>
        </p:spPr>
      </p:sp>
      <p:sp>
        <p:nvSpPr>
          <p:cNvPr id="15" name="bullet-hex"/>
          <p:cNvSpPr/>
          <p:nvPr/>
        </p:nvSpPr>
        <p:spPr>
          <a:xfrm>
            <a:off x="676656" y="3221559"/>
            <a:ext cx="384048" cy="332586"/>
          </a:xfrm>
          <a:prstGeom prst="hexagon">
            <a:avLst/>
          </a:prstGeom>
          <a:solidFill>
            <a:srgbClr val="B8862B"/>
          </a:solidFill>
          <a:ln/>
        </p:spPr>
      </p:sp>
      <p:sp>
        <p:nvSpPr>
          <p:cNvPr id="16" name="bullet"/>
          <p:cNvSpPr txBox="1"/>
          <p:nvPr/>
        </p:nvSpPr>
        <p:spPr>
          <a:xfrm>
            <a:off x="1143000" y="2667339"/>
            <a:ext cx="10408615" cy="144102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Professional columnists use the same shape, often with humour. Making light of your own experience makes you seem approachable, more like the reader; a shared joke feels conspiratorial, as if you and the reader are on the same side; and a funny image can make a point without the reader feeling told off.</a:t>
            </a:r>
            <a:endParaRPr lang="en-US" sz="2000" dirty="0"/>
          </a:p>
        </p:txBody>
      </p:sp>
      <p:sp>
        <p:nvSpPr>
          <p:cNvPr id="17" name="bullet-card"/>
          <p:cNvSpPr/>
          <p:nvPr/>
        </p:nvSpPr>
        <p:spPr>
          <a:xfrm>
            <a:off x="548640" y="4254669"/>
            <a:ext cx="11094415" cy="821267"/>
          </a:xfrm>
          <a:prstGeom prst="roundRect">
            <a:avLst>
              <a:gd name="adj" fmla="val 8907"/>
            </a:avLst>
          </a:prstGeom>
          <a:solidFill>
            <a:srgbClr val="F6EEEF"/>
          </a:solidFill>
          <a:ln/>
        </p:spPr>
      </p:sp>
      <p:sp>
        <p:nvSpPr>
          <p:cNvPr id="18" name="bullet-hex"/>
          <p:cNvSpPr/>
          <p:nvPr/>
        </p:nvSpPr>
        <p:spPr>
          <a:xfrm>
            <a:off x="676656" y="4499010"/>
            <a:ext cx="384048" cy="332586"/>
          </a:xfrm>
          <a:prstGeom prst="hexagon">
            <a:avLst/>
          </a:prstGeom>
          <a:solidFill>
            <a:srgbClr val="8C2F39"/>
          </a:solidFill>
          <a:ln/>
        </p:spPr>
      </p:sp>
      <p:sp>
        <p:nvSpPr>
          <p:cNvPr id="19" name="bullet"/>
          <p:cNvSpPr txBox="1"/>
          <p:nvPr/>
        </p:nvSpPr>
        <p:spPr>
          <a:xfrm>
            <a:off x="1143000" y="4254669"/>
            <a:ext cx="10408615" cy="82126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Here are the three arguments of ‘Let Them Sleep’. Find the personal evidence, the counter-argument and the expert evidence.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8C2F39"/>
                </a:solidFill>
                <a:latin typeface="Cambria" pitchFamily="34" charset="0"/>
                <a:ea typeface="Cambria" pitchFamily="34" charset="-122"/>
                <a:cs typeface="Cambria" pitchFamily="34" charset="-120"/>
              </a:rPr>
              <a:t>Eight parts, two kinds of evidence, one counter-argument</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quote-panel"/>
          <p:cNvSpPr/>
          <p:nvPr/>
        </p:nvSpPr>
        <p:spPr>
          <a:xfrm>
            <a:off x="548640" y="1389888"/>
            <a:ext cx="11094415" cy="4754880"/>
          </a:xfrm>
          <a:prstGeom prst="roundRect">
            <a:avLst>
              <a:gd name="adj" fmla="val 1154"/>
            </a:avLst>
          </a:prstGeom>
          <a:solidFill>
            <a:srgbClr val="F4EAEB"/>
          </a:solidFill>
          <a:ln/>
        </p:spPr>
      </p:sp>
      <p:sp>
        <p:nvSpPr>
          <p:cNvPr id="8" name="quote-mark"/>
          <p:cNvSpPr txBox="1"/>
          <p:nvPr/>
        </p:nvSpPr>
        <p:spPr>
          <a:xfrm>
            <a:off x="68580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9" name="quote"/>
          <p:cNvSpPr txBox="1"/>
          <p:nvPr/>
        </p:nvSpPr>
        <p:spPr>
          <a:xfrm>
            <a:off x="1600200" y="1664208"/>
            <a:ext cx="9768535" cy="4206240"/>
          </a:xfrm>
          <a:prstGeom prst="rect">
            <a:avLst/>
          </a:prstGeom>
          <a:noFill/>
          <a:ln/>
        </p:spPr>
        <p:txBody>
          <a:bodyPr wrap="square" lIns="63500" tIns="63500" rIns="63500" bIns="63500" rtlCol="0" anchor="ctr"/>
          <a:lstStyle/>
          <a:p>
            <a:pPr algn="l" indent="0" marL="0">
              <a:spcAft>
                <a:spcPts val="1000"/>
              </a:spcAft>
              <a:buNone/>
            </a:pPr>
            <a:r>
              <a:rPr lang="en-US" sz="2000" i="1" dirty="0">
                <a:solidFill>
                  <a:srgbClr val="1E2229"/>
                </a:solidFill>
                <a:latin typeface="Cambria" pitchFamily="34" charset="0"/>
                <a:ea typeface="Cambria" pitchFamily="34" charset="-122"/>
                <a:cs typeface="Cambria" pitchFamily="34" charset="-120"/>
              </a:rPr>
              <a:t>First, teenage bodies are built differently. My alarm goes off at half past six, but I rarely fall asleep before midnight, however hard I try. Last term I kept a sleep diary for a science project: on school nights I averaged six hours. On Saturdays, with no alarm, I slept nine. That is not laziness. That is biology. Second, a later start would improve results, not harm them. Some will say that pupils would simply stay up later and gain nothing. Yet when I asked our school nurse, she explained that the teenage body clock shifts later during puberty, so most of us cannot fall asleep early even when we want to. A rested class learns more in five hours than a tired one learns in six. Third, think of the mornings themselves. No more shouting up the stairs, no more breakfast eaten in the car, no more detentions for lateness that nobody meant. Parents would gain a calmer house; teachers would gain pupils who can actually hear them.</a:t>
            </a:r>
            <a:endParaRPr lang="en-US" sz="2000" dirty="0"/>
          </a:p>
          <a:p>
            <a:pPr algn="l" indent="0" marL="0">
              <a:buNone/>
            </a:pPr>
            <a:r>
              <a:rPr lang="en-US" sz="1800" dirty="0">
                <a:solidFill>
                  <a:srgbClr val="4A505C"/>
                </a:solidFill>
                <a:latin typeface="Calibri" pitchFamily="34" charset="0"/>
                <a:ea typeface="Calibri" pitchFamily="34" charset="-122"/>
                <a:cs typeface="Calibri" pitchFamily="34" charset="-120"/>
              </a:rPr>
              <a:t>— ‘Let Them Sleep’, paragraphs 2–4 — original model article written for Ad Astra</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The task: Build the argument in order</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 eight parts of an opinion article in the order your planning grid gives them.</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Evidence: expert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Argument: second point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Conclusion</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Evidence: personal</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Introduction</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F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Argument: first point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G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Counter-argument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H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Argument: third point</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8C2F39"/>
                </a:solidFill>
                <a:latin typeface="Cambria" pitchFamily="34" charset="0"/>
                <a:ea typeface="Cambria" pitchFamily="34" charset="-122"/>
                <a:cs typeface="Cambria" pitchFamily="34" charset="-120"/>
              </a:rPr>
              <a:t>Same task, three ways in: Build the argument in order</a:t>
            </a:r>
            <a:endParaRPr lang="en-US" sz="26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Build the argument in order</a:t>
            </a:r>
            <a:endParaRPr lang="en-US" sz="2000" dirty="0"/>
          </a:p>
        </p:txBody>
      </p:sp>
      <p:sp>
        <p:nvSpPr>
          <p:cNvPr id="12" name="col-Support"/>
          <p:cNvSpPr/>
          <p:nvPr/>
        </p:nvSpPr>
        <p:spPr>
          <a:xfrm>
            <a:off x="548640" y="2395728"/>
            <a:ext cx="5602443" cy="3749040"/>
          </a:xfrm>
          <a:prstGeom prst="roundRect">
            <a:avLst>
              <a:gd name="adj" fmla="val 1463"/>
            </a:avLst>
          </a:prstGeom>
          <a:solidFill>
            <a:srgbClr val="F4EAEB"/>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introduction is always first and the conclusion always last.</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Each argument is followed by something: the first by personal evidence, the second by the counter-argument and expert evidence.</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third argument stands alone before the conclusion.</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Personal evidence comes before expert evidence.</a:t>
            </a:r>
            <a:endParaRPr lang="en-US" sz="1800" dirty="0"/>
          </a:p>
        </p:txBody>
      </p:sp>
      <p:sp>
        <p:nvSpPr>
          <p:cNvPr id="17" name="col-Core"/>
          <p:cNvSpPr/>
          <p:nvPr/>
        </p:nvSpPr>
        <p:spPr>
          <a:xfrm>
            <a:off x="6425403" y="2395728"/>
            <a:ext cx="2471666" cy="3749040"/>
          </a:xfrm>
          <a:prstGeom prst="roundRect">
            <a:avLst>
              <a:gd name="adj" fmla="val 2220"/>
            </a:avLst>
          </a:prstGeom>
          <a:solidFill>
            <a:srgbClr val="E6D1D3"/>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70262E"/>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Three arguments; the first is backed by you, the second is tested by the other side and backed by an expert.</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8C2F39"/>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the counter-argument sits in the middle of the article rather than at the very end.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The task: Name the part</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870712"/>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extract from ‘Let Them Sleep’ to the part of the article it belongs to.</a:t>
            </a:r>
            <a:endParaRPr lang="en-US" sz="2400" dirty="0"/>
          </a:p>
        </p:txBody>
      </p:sp>
      <p:sp>
        <p:nvSpPr>
          <p:cNvPr id="11" name="match-card"/>
          <p:cNvSpPr/>
          <p:nvPr/>
        </p:nvSpPr>
        <p:spPr>
          <a:xfrm>
            <a:off x="777240" y="2672080"/>
            <a:ext cx="3081437" cy="493776"/>
          </a:xfrm>
          <a:prstGeom prst="roundRect">
            <a:avLst>
              <a:gd name="adj" fmla="val 14815"/>
            </a:avLst>
          </a:prstGeom>
          <a:solidFill>
            <a:srgbClr val="F6EEEF"/>
          </a:solidFill>
          <a:ln/>
        </p:spPr>
      </p:sp>
      <p:sp>
        <p:nvSpPr>
          <p:cNvPr id="12" name="match-hex"/>
          <p:cNvSpPr/>
          <p:nvPr/>
        </p:nvSpPr>
        <p:spPr>
          <a:xfrm>
            <a:off x="850392" y="2752675"/>
            <a:ext cx="384048" cy="332586"/>
          </a:xfrm>
          <a:prstGeom prst="hexagon">
            <a:avLst/>
          </a:prstGeom>
          <a:solidFill>
            <a:srgbClr val="8C2F39"/>
          </a:solidFill>
          <a:ln/>
        </p:spPr>
      </p:sp>
      <p:sp>
        <p:nvSpPr>
          <p:cNvPr id="13" name="match-hex-label"/>
          <p:cNvSpPr txBox="1"/>
          <p:nvPr/>
        </p:nvSpPr>
        <p:spPr>
          <a:xfrm>
            <a:off x="850392" y="275267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672080"/>
            <a:ext cx="2487077" cy="49377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Hook</a:t>
            </a:r>
            <a:endParaRPr lang="en-US" sz="1800" dirty="0"/>
          </a:p>
        </p:txBody>
      </p:sp>
      <p:sp>
        <p:nvSpPr>
          <p:cNvPr id="15" name="match-card"/>
          <p:cNvSpPr/>
          <p:nvPr/>
        </p:nvSpPr>
        <p:spPr>
          <a:xfrm>
            <a:off x="4224437" y="2672080"/>
            <a:ext cx="7190019" cy="493776"/>
          </a:xfrm>
          <a:prstGeom prst="roundRect">
            <a:avLst>
              <a:gd name="adj" fmla="val 14815"/>
            </a:avLst>
          </a:prstGeom>
          <a:solidFill>
            <a:srgbClr val="F6F0E6"/>
          </a:solidFill>
          <a:ln/>
        </p:spPr>
      </p:sp>
      <p:sp>
        <p:nvSpPr>
          <p:cNvPr id="16" name="match-hex"/>
          <p:cNvSpPr/>
          <p:nvPr/>
        </p:nvSpPr>
        <p:spPr>
          <a:xfrm>
            <a:off x="4297589" y="2752675"/>
            <a:ext cx="384048" cy="332586"/>
          </a:xfrm>
          <a:prstGeom prst="hexagon">
            <a:avLst/>
          </a:prstGeom>
          <a:solidFill>
            <a:srgbClr val="B8862B"/>
          </a:solidFill>
          <a:ln/>
        </p:spPr>
      </p:sp>
      <p:sp>
        <p:nvSpPr>
          <p:cNvPr id="17" name="match-hex-label"/>
          <p:cNvSpPr txBox="1"/>
          <p:nvPr/>
        </p:nvSpPr>
        <p:spPr>
          <a:xfrm>
            <a:off x="4297589" y="275267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672080"/>
            <a:ext cx="6595659" cy="49377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“Have you ever tried to explain fractions to a zombie?”</a:t>
            </a:r>
            <a:endParaRPr lang="en-US" sz="1800" dirty="0"/>
          </a:p>
        </p:txBody>
      </p:sp>
      <p:sp>
        <p:nvSpPr>
          <p:cNvPr id="19" name="match-card"/>
          <p:cNvSpPr/>
          <p:nvPr/>
        </p:nvSpPr>
        <p:spPr>
          <a:xfrm>
            <a:off x="777240" y="3257296"/>
            <a:ext cx="3081437" cy="493776"/>
          </a:xfrm>
          <a:prstGeom prst="roundRect">
            <a:avLst>
              <a:gd name="adj" fmla="val 14815"/>
            </a:avLst>
          </a:prstGeom>
          <a:solidFill>
            <a:srgbClr val="F6EEEF"/>
          </a:solidFill>
          <a:ln/>
        </p:spPr>
      </p:sp>
      <p:sp>
        <p:nvSpPr>
          <p:cNvPr id="20" name="match-hex"/>
          <p:cNvSpPr/>
          <p:nvPr/>
        </p:nvSpPr>
        <p:spPr>
          <a:xfrm>
            <a:off x="850392" y="3337891"/>
            <a:ext cx="384048" cy="332586"/>
          </a:xfrm>
          <a:prstGeom prst="hexagon">
            <a:avLst/>
          </a:prstGeom>
          <a:solidFill>
            <a:srgbClr val="8C2F39"/>
          </a:solidFill>
          <a:ln/>
        </p:spPr>
      </p:sp>
      <p:sp>
        <p:nvSpPr>
          <p:cNvPr id="21" name="match-hex-label"/>
          <p:cNvSpPr txBox="1"/>
          <p:nvPr/>
        </p:nvSpPr>
        <p:spPr>
          <a:xfrm>
            <a:off x="850392" y="33378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257296"/>
            <a:ext cx="2487077" cy="49377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Personal evidence</a:t>
            </a:r>
            <a:endParaRPr lang="en-US" sz="1800" dirty="0"/>
          </a:p>
        </p:txBody>
      </p:sp>
      <p:sp>
        <p:nvSpPr>
          <p:cNvPr id="23" name="match-card"/>
          <p:cNvSpPr/>
          <p:nvPr/>
        </p:nvSpPr>
        <p:spPr>
          <a:xfrm>
            <a:off x="4224437" y="3257296"/>
            <a:ext cx="7190019" cy="493776"/>
          </a:xfrm>
          <a:prstGeom prst="roundRect">
            <a:avLst>
              <a:gd name="adj" fmla="val 14815"/>
            </a:avLst>
          </a:prstGeom>
          <a:solidFill>
            <a:srgbClr val="F6F0E6"/>
          </a:solidFill>
          <a:ln/>
        </p:spPr>
      </p:sp>
      <p:sp>
        <p:nvSpPr>
          <p:cNvPr id="24" name="match-hex"/>
          <p:cNvSpPr/>
          <p:nvPr/>
        </p:nvSpPr>
        <p:spPr>
          <a:xfrm>
            <a:off x="4297589" y="3337891"/>
            <a:ext cx="384048" cy="332586"/>
          </a:xfrm>
          <a:prstGeom prst="hexagon">
            <a:avLst/>
          </a:prstGeom>
          <a:solidFill>
            <a:srgbClr val="B8862B"/>
          </a:solidFill>
          <a:ln/>
        </p:spPr>
      </p:sp>
      <p:sp>
        <p:nvSpPr>
          <p:cNvPr id="25" name="match-hex-label"/>
          <p:cNvSpPr txBox="1"/>
          <p:nvPr/>
        </p:nvSpPr>
        <p:spPr>
          <a:xfrm>
            <a:off x="4297589" y="33378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257296"/>
            <a:ext cx="6595659" cy="49377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“Last term I kept a sleep diary for a science project”</a:t>
            </a:r>
            <a:endParaRPr lang="en-US" sz="1800" dirty="0"/>
          </a:p>
        </p:txBody>
      </p:sp>
      <p:sp>
        <p:nvSpPr>
          <p:cNvPr id="27" name="match-card"/>
          <p:cNvSpPr/>
          <p:nvPr/>
        </p:nvSpPr>
        <p:spPr>
          <a:xfrm>
            <a:off x="777240" y="3842512"/>
            <a:ext cx="3081437" cy="721360"/>
          </a:xfrm>
          <a:prstGeom prst="roundRect">
            <a:avLst>
              <a:gd name="adj" fmla="val 10141"/>
            </a:avLst>
          </a:prstGeom>
          <a:solidFill>
            <a:srgbClr val="F6EEEF"/>
          </a:solidFill>
          <a:ln/>
        </p:spPr>
      </p:sp>
      <p:sp>
        <p:nvSpPr>
          <p:cNvPr id="28" name="match-hex"/>
          <p:cNvSpPr/>
          <p:nvPr/>
        </p:nvSpPr>
        <p:spPr>
          <a:xfrm>
            <a:off x="850392" y="4036899"/>
            <a:ext cx="384048" cy="332586"/>
          </a:xfrm>
          <a:prstGeom prst="hexagon">
            <a:avLst/>
          </a:prstGeom>
          <a:solidFill>
            <a:srgbClr val="8C2F39"/>
          </a:solidFill>
          <a:ln/>
        </p:spPr>
      </p:sp>
      <p:sp>
        <p:nvSpPr>
          <p:cNvPr id="29" name="match-hex-label"/>
          <p:cNvSpPr txBox="1"/>
          <p:nvPr/>
        </p:nvSpPr>
        <p:spPr>
          <a:xfrm>
            <a:off x="850392" y="403689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3842512"/>
            <a:ext cx="2487077" cy="72136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Counter-argument</a:t>
            </a:r>
            <a:endParaRPr lang="en-US" sz="1800" dirty="0"/>
          </a:p>
        </p:txBody>
      </p:sp>
      <p:sp>
        <p:nvSpPr>
          <p:cNvPr id="31" name="match-card"/>
          <p:cNvSpPr/>
          <p:nvPr/>
        </p:nvSpPr>
        <p:spPr>
          <a:xfrm>
            <a:off x="4224437" y="3842512"/>
            <a:ext cx="7190019" cy="721360"/>
          </a:xfrm>
          <a:prstGeom prst="roundRect">
            <a:avLst>
              <a:gd name="adj" fmla="val 10141"/>
            </a:avLst>
          </a:prstGeom>
          <a:solidFill>
            <a:srgbClr val="F6F0E6"/>
          </a:solidFill>
          <a:ln/>
        </p:spPr>
      </p:sp>
      <p:sp>
        <p:nvSpPr>
          <p:cNvPr id="32" name="match-hex"/>
          <p:cNvSpPr/>
          <p:nvPr/>
        </p:nvSpPr>
        <p:spPr>
          <a:xfrm>
            <a:off x="4297589" y="4036899"/>
            <a:ext cx="384048" cy="332586"/>
          </a:xfrm>
          <a:prstGeom prst="hexagon">
            <a:avLst/>
          </a:prstGeom>
          <a:solidFill>
            <a:srgbClr val="B8862B"/>
          </a:solidFill>
          <a:ln/>
        </p:spPr>
      </p:sp>
      <p:sp>
        <p:nvSpPr>
          <p:cNvPr id="33" name="match-hex-label"/>
          <p:cNvSpPr txBox="1"/>
          <p:nvPr/>
        </p:nvSpPr>
        <p:spPr>
          <a:xfrm>
            <a:off x="4297589" y="403689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3842512"/>
            <a:ext cx="6595659" cy="72136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“Some will say that pupils would simply stay up later and gain nothing.”</a:t>
            </a:r>
            <a:endParaRPr lang="en-US" sz="1800" dirty="0"/>
          </a:p>
        </p:txBody>
      </p:sp>
      <p:sp>
        <p:nvSpPr>
          <p:cNvPr id="35" name="match-card"/>
          <p:cNvSpPr/>
          <p:nvPr/>
        </p:nvSpPr>
        <p:spPr>
          <a:xfrm>
            <a:off x="777240" y="4655312"/>
            <a:ext cx="3081437" cy="493776"/>
          </a:xfrm>
          <a:prstGeom prst="roundRect">
            <a:avLst>
              <a:gd name="adj" fmla="val 14815"/>
            </a:avLst>
          </a:prstGeom>
          <a:solidFill>
            <a:srgbClr val="F6EEEF"/>
          </a:solidFill>
          <a:ln/>
        </p:spPr>
      </p:sp>
      <p:sp>
        <p:nvSpPr>
          <p:cNvPr id="36" name="match-hex"/>
          <p:cNvSpPr/>
          <p:nvPr/>
        </p:nvSpPr>
        <p:spPr>
          <a:xfrm>
            <a:off x="850392" y="4735907"/>
            <a:ext cx="384048" cy="332586"/>
          </a:xfrm>
          <a:prstGeom prst="hexagon">
            <a:avLst/>
          </a:prstGeom>
          <a:solidFill>
            <a:srgbClr val="8C2F39"/>
          </a:solidFill>
          <a:ln/>
        </p:spPr>
      </p:sp>
      <p:sp>
        <p:nvSpPr>
          <p:cNvPr id="37" name="match-hex-label"/>
          <p:cNvSpPr txBox="1"/>
          <p:nvPr/>
        </p:nvSpPr>
        <p:spPr>
          <a:xfrm>
            <a:off x="850392" y="473590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4655312"/>
            <a:ext cx="2487077" cy="49377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Expert evidence</a:t>
            </a:r>
            <a:endParaRPr lang="en-US" sz="1800" dirty="0"/>
          </a:p>
        </p:txBody>
      </p:sp>
      <p:sp>
        <p:nvSpPr>
          <p:cNvPr id="39" name="match-card"/>
          <p:cNvSpPr/>
          <p:nvPr/>
        </p:nvSpPr>
        <p:spPr>
          <a:xfrm>
            <a:off x="4224437" y="4655312"/>
            <a:ext cx="7190019" cy="493776"/>
          </a:xfrm>
          <a:prstGeom prst="roundRect">
            <a:avLst>
              <a:gd name="adj" fmla="val 14815"/>
            </a:avLst>
          </a:prstGeom>
          <a:solidFill>
            <a:srgbClr val="F6F0E6"/>
          </a:solidFill>
          <a:ln/>
        </p:spPr>
      </p:sp>
      <p:sp>
        <p:nvSpPr>
          <p:cNvPr id="40" name="match-hex"/>
          <p:cNvSpPr/>
          <p:nvPr/>
        </p:nvSpPr>
        <p:spPr>
          <a:xfrm>
            <a:off x="4297589" y="4735907"/>
            <a:ext cx="384048" cy="332586"/>
          </a:xfrm>
          <a:prstGeom prst="hexagon">
            <a:avLst/>
          </a:prstGeom>
          <a:solidFill>
            <a:srgbClr val="B8862B"/>
          </a:solidFill>
          <a:ln/>
        </p:spPr>
      </p:sp>
      <p:sp>
        <p:nvSpPr>
          <p:cNvPr id="41" name="match-hex-label"/>
          <p:cNvSpPr txBox="1"/>
          <p:nvPr/>
        </p:nvSpPr>
        <p:spPr>
          <a:xfrm>
            <a:off x="4297589" y="473590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4655312"/>
            <a:ext cx="6595659" cy="49377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“Let it sleep a little longer.”</a:t>
            </a:r>
            <a:endParaRPr lang="en-US" sz="1800" dirty="0"/>
          </a:p>
        </p:txBody>
      </p:sp>
      <p:sp>
        <p:nvSpPr>
          <p:cNvPr id="43" name="match-card"/>
          <p:cNvSpPr/>
          <p:nvPr/>
        </p:nvSpPr>
        <p:spPr>
          <a:xfrm>
            <a:off x="777240" y="5240528"/>
            <a:ext cx="3081437" cy="721360"/>
          </a:xfrm>
          <a:prstGeom prst="roundRect">
            <a:avLst>
              <a:gd name="adj" fmla="val 10141"/>
            </a:avLst>
          </a:prstGeom>
          <a:solidFill>
            <a:srgbClr val="F6EEEF"/>
          </a:solidFill>
          <a:ln/>
        </p:spPr>
      </p:sp>
      <p:sp>
        <p:nvSpPr>
          <p:cNvPr id="44" name="match-hex"/>
          <p:cNvSpPr/>
          <p:nvPr/>
        </p:nvSpPr>
        <p:spPr>
          <a:xfrm>
            <a:off x="850392" y="5434915"/>
            <a:ext cx="384048" cy="332586"/>
          </a:xfrm>
          <a:prstGeom prst="hexagon">
            <a:avLst/>
          </a:prstGeom>
          <a:solidFill>
            <a:srgbClr val="8C2F39"/>
          </a:solidFill>
          <a:ln/>
        </p:spPr>
      </p:sp>
      <p:sp>
        <p:nvSpPr>
          <p:cNvPr id="45" name="match-hex-label"/>
          <p:cNvSpPr txBox="1"/>
          <p:nvPr/>
        </p:nvSpPr>
        <p:spPr>
          <a:xfrm>
            <a:off x="850392" y="543491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6" name="match-text"/>
          <p:cNvSpPr txBox="1"/>
          <p:nvPr/>
        </p:nvSpPr>
        <p:spPr>
          <a:xfrm>
            <a:off x="1298448" y="5240528"/>
            <a:ext cx="2487077" cy="72136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Conclusion</a:t>
            </a:r>
            <a:endParaRPr lang="en-US" sz="1800" dirty="0"/>
          </a:p>
        </p:txBody>
      </p:sp>
      <p:sp>
        <p:nvSpPr>
          <p:cNvPr id="47" name="match-card"/>
          <p:cNvSpPr/>
          <p:nvPr/>
        </p:nvSpPr>
        <p:spPr>
          <a:xfrm>
            <a:off x="4224437" y="5240528"/>
            <a:ext cx="7190019" cy="721360"/>
          </a:xfrm>
          <a:prstGeom prst="roundRect">
            <a:avLst>
              <a:gd name="adj" fmla="val 10141"/>
            </a:avLst>
          </a:prstGeom>
          <a:solidFill>
            <a:srgbClr val="F6F0E6"/>
          </a:solidFill>
          <a:ln/>
        </p:spPr>
      </p:sp>
      <p:sp>
        <p:nvSpPr>
          <p:cNvPr id="48" name="match-hex"/>
          <p:cNvSpPr/>
          <p:nvPr/>
        </p:nvSpPr>
        <p:spPr>
          <a:xfrm>
            <a:off x="4297589" y="5434915"/>
            <a:ext cx="384048" cy="332586"/>
          </a:xfrm>
          <a:prstGeom prst="hexagon">
            <a:avLst/>
          </a:prstGeom>
          <a:solidFill>
            <a:srgbClr val="B8862B"/>
          </a:solidFill>
          <a:ln/>
        </p:spPr>
      </p:sp>
      <p:sp>
        <p:nvSpPr>
          <p:cNvPr id="49" name="match-hex-label"/>
          <p:cNvSpPr txBox="1"/>
          <p:nvPr/>
        </p:nvSpPr>
        <p:spPr>
          <a:xfrm>
            <a:off x="4297589" y="543491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E</a:t>
            </a:r>
            <a:endParaRPr lang="en-US" sz="1800" dirty="0"/>
          </a:p>
        </p:txBody>
      </p:sp>
      <p:sp>
        <p:nvSpPr>
          <p:cNvPr id="50" name="match-text"/>
          <p:cNvSpPr txBox="1"/>
          <p:nvPr/>
        </p:nvSpPr>
        <p:spPr>
          <a:xfrm>
            <a:off x="4745645" y="5240528"/>
            <a:ext cx="6595659" cy="72136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“when I asked our school nurse, she explained that the teenage body clock shifts later during puberty”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Same task, three ways in: Name the part</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Name the part</a:t>
            </a:r>
            <a:endParaRPr lang="en-US" sz="2000" dirty="0"/>
          </a:p>
        </p:txBody>
      </p:sp>
      <p:sp>
        <p:nvSpPr>
          <p:cNvPr id="12" name="col-Support"/>
          <p:cNvSpPr/>
          <p:nvPr/>
        </p:nvSpPr>
        <p:spPr>
          <a:xfrm>
            <a:off x="548640" y="2395728"/>
            <a:ext cx="6327465" cy="3749040"/>
          </a:xfrm>
          <a:prstGeom prst="roundRect">
            <a:avLst>
              <a:gd name="adj" fmla="val 1463"/>
            </a:avLst>
          </a:prstGeom>
          <a:solidFill>
            <a:srgbClr val="F4EAEB"/>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5595945"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6053145"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hook is the very first sentence and asks a question.</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Personal evidence uses ‘I’ and tells of the writer’s own experience.</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counter-argument begins with words like ‘Some will say’.</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Expert evidence names someone who knows the subject.</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5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conclusion is the last sentence and echoes the headline.</a:t>
            </a:r>
            <a:endParaRPr lang="en-US" sz="1800" dirty="0"/>
          </a:p>
        </p:txBody>
      </p:sp>
      <p:sp>
        <p:nvSpPr>
          <p:cNvPr id="17" name="col-Core"/>
          <p:cNvSpPr/>
          <p:nvPr/>
        </p:nvSpPr>
        <p:spPr>
          <a:xfrm>
            <a:off x="7150425" y="2395728"/>
            <a:ext cx="2109155" cy="3749040"/>
          </a:xfrm>
          <a:prstGeom prst="roundRect">
            <a:avLst>
              <a:gd name="adj" fmla="val 2601"/>
            </a:avLst>
          </a:prstGeom>
          <a:solidFill>
            <a:srgbClr val="E6D1D3"/>
          </a:solidFill>
          <a:ln/>
        </p:spPr>
      </p:sp>
      <p:sp>
        <p:nvSpPr>
          <p:cNvPr id="18" name="col-hex"/>
          <p:cNvSpPr/>
          <p:nvPr/>
        </p:nvSpPr>
        <p:spPr>
          <a:xfrm>
            <a:off x="7260153"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7260153"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790505" y="2432304"/>
            <a:ext cx="1377635"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7287585" y="3035808"/>
            <a:ext cx="1834835" cy="2999232"/>
          </a:xfrm>
          <a:prstGeom prst="rect">
            <a:avLst/>
          </a:prstGeom>
          <a:noFill/>
          <a:ln/>
        </p:spPr>
        <p:txBody>
          <a:bodyPr wrap="square" lIns="63500" tIns="63500" rIns="63500" bIns="63500" rtlCol="0" anchor="t"/>
          <a:lstStyle/>
          <a:p>
            <a:pPr algn="l" indent="0" marL="0">
              <a:buNone/>
            </a:pPr>
            <a:r>
              <a:rPr lang="en-US" sz="1800" b="1" dirty="0">
                <a:solidFill>
                  <a:srgbClr val="70262E"/>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‘Some will say’ gives the counter-argument away; ‘I kept’ gives the personal evidence away.</a:t>
            </a:r>
            <a:endParaRPr lang="en-US" sz="1800" dirty="0"/>
          </a:p>
        </p:txBody>
      </p:sp>
      <p:sp>
        <p:nvSpPr>
          <p:cNvPr id="22" name="col-Stretch"/>
          <p:cNvSpPr/>
          <p:nvPr/>
        </p:nvSpPr>
        <p:spPr>
          <a:xfrm>
            <a:off x="9533900" y="2395728"/>
            <a:ext cx="2109155" cy="3749040"/>
          </a:xfrm>
          <a:prstGeom prst="roundRect">
            <a:avLst>
              <a:gd name="adj" fmla="val 2601"/>
            </a:avLst>
          </a:prstGeom>
          <a:solidFill>
            <a:srgbClr val="8C2F39"/>
          </a:solidFill>
          <a:ln/>
        </p:spPr>
      </p:sp>
      <p:sp>
        <p:nvSpPr>
          <p:cNvPr id="23" name="col-hex"/>
          <p:cNvSpPr/>
          <p:nvPr/>
        </p:nvSpPr>
        <p:spPr>
          <a:xfrm>
            <a:off x="9643628"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64362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10173980" y="2432304"/>
            <a:ext cx="1377635"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671060" y="3035808"/>
            <a:ext cx="1834835"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Find the three arguments in ‘Let Them Sleep’ and write each as a single topic sentence.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8C2F39"/>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8C2F39"/>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24332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What must the opening of an opinion article include?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hook, the topic and the writer’s opinion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list of facts with no opinion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summary of the whole plot</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star rating out of five</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7F0F1"/>
          </a:solidFill>
          <a:ln w="12700">
            <a:solidFill>
              <a:srgbClr val="C6979C"/>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 Build the argument in order</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Introduction  (E)</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Argument: first point  (F)</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Evidence: personal  (D)</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Argument: second point  (B)</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Counter-argument  (G)</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6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Evidence: expert  (A)</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7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Argument: third point  (H)</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8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Conclusion  (C)</a:t>
            </a:r>
            <a:endParaRPr lang="en-US" sz="2200" dirty="0"/>
          </a:p>
        </p:txBody>
      </p:sp>
      <p:sp>
        <p:nvSpPr>
          <p:cNvPr id="10" name="why-panel"/>
          <p:cNvSpPr/>
          <p:nvPr/>
        </p:nvSpPr>
        <p:spPr>
          <a:xfrm>
            <a:off x="7223760" y="1389888"/>
            <a:ext cx="4419295" cy="4754880"/>
          </a:xfrm>
          <a:prstGeom prst="roundRect">
            <a:avLst>
              <a:gd name="adj" fmla="val 1035"/>
            </a:avLst>
          </a:prstGeom>
          <a:solidFill>
            <a:srgbClr val="F4EAEB"/>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Introduction; first point with personal evidence; second point with the counter-argument and expert evidence; third point; conclusion. Eight parts, one shape.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 Name the part</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Hook  →  A  “Have you ever tried to explain fractions to a zombie?”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Personal evidence  →  B  “Last term I kept a sleep diary for a science project”</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Counter-argument  →  C  “Some will say that pupils would simply stay up later and gain nothing.”</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Expert evidence  →  E  “when I asked our school nurse, she explained that the teenage body clock shifts later during puberty”</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Conclusion  →  D  “Let it sleep a little longer.”</a:t>
            </a:r>
            <a:endParaRPr lang="en-US" sz="2000" dirty="0"/>
          </a:p>
        </p:txBody>
      </p:sp>
      <p:sp>
        <p:nvSpPr>
          <p:cNvPr id="10" name="why-panel"/>
          <p:cNvSpPr/>
          <p:nvPr/>
        </p:nvSpPr>
        <p:spPr>
          <a:xfrm>
            <a:off x="7223760" y="1389888"/>
            <a:ext cx="4419295" cy="4754880"/>
          </a:xfrm>
          <a:prstGeom prst="roundRect">
            <a:avLst>
              <a:gd name="adj" fmla="val 1035"/>
            </a:avLst>
          </a:prstGeom>
          <a:solidFill>
            <a:srgbClr val="F4EAEB"/>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question is the hook; ‘I kept a sleep diary’ is personal; ‘Some will say’ is the counter-argument; the nurse is the expert; the final line is the conclusion.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What must the opening of an opinion article include?</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A hook, the topic and the writer’s opinion</a:t>
            </a:r>
            <a:endParaRPr lang="en-US" sz="1800" dirty="0"/>
          </a:p>
        </p:txBody>
      </p:sp>
      <p:sp>
        <p:nvSpPr>
          <p:cNvPr id="10" name="why-panel"/>
          <p:cNvSpPr/>
          <p:nvPr/>
        </p:nvSpPr>
        <p:spPr>
          <a:xfrm>
            <a:off x="7223760" y="1389888"/>
            <a:ext cx="4419295" cy="4754880"/>
          </a:xfrm>
          <a:prstGeom prst="roundRect">
            <a:avLst>
              <a:gd name="adj" fmla="val 1035"/>
            </a:avLst>
          </a:prstGeom>
          <a:solidFill>
            <a:srgbClr val="F4EAEB"/>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opening hooks the reader, outlines the topic and outlines the writer’s opinion.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Ad Astra english">
  <a:themeElements>
    <a:clrScheme name="Ad Astra english">
      <a:dk1>
        <a:srgbClr val="1E2229"/>
      </a:dk1>
      <a:lt1>
        <a:srgbClr val="FFFFFF"/>
      </a:lt1>
      <a:dk2>
        <a:srgbClr val="70262E"/>
      </a:dk2>
      <a:lt2>
        <a:srgbClr val="F4EAEB"/>
      </a:lt2>
      <a:accent1>
        <a:srgbClr val="8C2F39"/>
      </a:accent1>
      <a:accent2>
        <a:srgbClr val="B8862B"/>
      </a:accent2>
      <a:accent3>
        <a:srgbClr val="BA8288"/>
      </a:accent3>
      <a:accent4>
        <a:srgbClr val="815E1E"/>
      </a:accent4>
      <a:accent5>
        <a:srgbClr val="4A505C"/>
      </a:accent5>
      <a:accent6>
        <a:srgbClr val="DCC395"/>
      </a:accent6>
      <a:hlink>
        <a:srgbClr val="8C2F39"/>
      </a:hlink>
      <a:folHlink>
        <a:srgbClr val="622128"/>
      </a:folHlink>
    </a:clrScheme>
    <a:fontScheme name="Ad Astra englis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Opinion Writing · Chapter 5: The opinion article: building an argument</dc:title>
  <dc:subject>English · Year 9</dc:subject>
  <dc:creator>Dr Vitor Merissi de Carvalho</dc:creator>
  <cp:lastModifiedBy>Dr Vitor Merissi de Carvalho</cp:lastModifiedBy>
  <cp:revision>1</cp:revision>
  <dcterms:created xsi:type="dcterms:W3CDTF">2026-10-19T06:07:23Z</dcterms:created>
  <dcterms:modified xsi:type="dcterms:W3CDTF">2026-10-19T06:07:23Z</dcterms:modified>
</cp:coreProperties>
</file>