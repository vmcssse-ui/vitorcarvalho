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82a8688-eed8-7e24-5673-d053b38a8ff3}">
          <p14:sldIdLst>
            <p14:sldId id="256"/>
          </p14:sldIdLst>
        </p14:section>
        <p14:section name="Gate" id="{b258e3a8-8a28-a77a-86b7-7e4e0b514f06}">
          <p14:sldIdLst>
            <p14:sldId id="257"/>
            <p14:sldId id="258"/>
          </p14:sldIdLst>
        </p14:section>
        <p14:section name="Pre-teach" id="{70ba550e-a685-cf53-e1be-9d5cae06b77c}">
          <p14:sldIdLst>
            <p14:sldId id="259"/>
          </p14:sldIdLst>
        </p14:section>
        <p14:section name="Read-along" id="{97472766-beac-c5ed-160f-fe1e00ba134a}">
          <p14:sldIdLst>
            <p14:sldId id="260"/>
            <p14:sldId id="261"/>
          </p14:sldIdLst>
        </p14:section>
        <p14:section name="Teach" id="{38d07ee7-bb43-9a56-7069-61169e013c9d}">
          <p14:sldIdLst>
            <p14:sldId id="262"/>
            <p14:sldId id="263"/>
            <p14:sldId id="264"/>
            <p14:sldId id="265"/>
            <p14:sldId id="266"/>
          </p14:sldIdLst>
        </p14:section>
        <p14:section name="Routes" id="{96f841da-1e6c-2cbe-fea7-b77ec23c70d3}">
          <p14:sldIdLst>
            <p14:sldId id="267"/>
            <p14:sldId id="268"/>
            <p14:sldId id="269"/>
            <p14:sldId id="270"/>
          </p14:sldIdLst>
        </p14:section>
        <p14:section name="Close" id="{e64023d9-2cb2-8507-6656-3efc543f151f}">
          <p14:sldIdLst>
            <p14:sldId id="271"/>
          </p14:sldIdLst>
        </p14:section>
        <p14:section name="Answers" id="{2bf18fea-c5cd-c1c3-9931-c2c6ced6ce84}">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Finding ideas and opening with a hook. You will read a writing prompt like a planner, find something to write about even when you think you have nothing, and open with one of four hooks.
This deck covers the department's lesson: 4 (Generating Ideas: How do I generate enough ideas to write a full review?).
Read the big question aloud: "How do I write for a specific audience, and how do I turn my opinion into a review or an article that readers will finish?"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counts as an event you could review?  →  D   A family walk on a Sunday
2. A ___ question is asked for effect and does not need an answer.  →  rhetorical
3. Which of these openings is a triple?  →  B   “Mud on my boots, rain down my neck, a hot dog in each hand”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family walk on a Sunday. Anything can be an event: dinner, a walk, a birthday. The writing is what is judged, not the event.
2. rhetorical. A rhetorical question is asked for effect; the reader answers it silently and reads on.
3. B   “Mud on my boots, rain down my neck, a hot dog in each hand”. Mud, rain and a hot dog: three things in a row make a triple.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prompt: the task that tells you what to write. Example: "Read the prompt twice before you plan."
• event: something that happens, big or small. Example: "A family dinner counts as an event you can review."
• hook: an opening that grabs the reader. Example: "A good hook makes the reader want the next sentence."
• rhetorical question: a question asked for effect, not for an answer. Example: "‘Have you ever…?’ is a rhetorical question."
• triple: three things in a row. Example: "‘Mud, rain, hot dogs’ is a triple."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Imagine the prompt says: write a review of an exciting event you attended.
2. First ask what form it wants: a review.
3. Then ask the purpose, the audience and the tone.
4. Many pupils say they have never been to an exciting event.
5. Yes, you have.
6. Dinner is an event.
7. A family walk is an event.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A birthday is an event.
9. You are not judged on how cool your experience was.
10. You are judged on how you write about it.
11. There is no such thing as stuck, just hard thinking.
12. Then open with a hook.
13. You could ask a question, set the scene, use a triple, or speak to your reader.
14. A good opening makes the reader want more.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 the prompt like a planner. Say it in your own words, then check understanding with a quick question: ask a pupil from the pre-teach group first, since they met these words and ideas before the lesson. Pupils try to recall before you re-explain.
A typical prompt asks you to write a review of an interesting or exciting event you attended recently, with details of what it was and when, how it affected you or your family, and whether you would recommend it. Before you write, answer five questions. What form is it asking for: a review, an article, a letter, a speech? What is the purpose: writing to inform, to entertain, to persuade? Who is the audience? What tone fits them? What could you include to make it appealing for this particular audience?
Write the answers in your book under four headings: Event, Purpose, Audience, Tone. A plan that fits on four lines is still a plan, and it stops you drifting into the wrong form halfway through.
Tip: Circle the form in the prompt before anything else. A review written as a speech loses marks however good the sentences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There is no such thing as stuck. Say it in your own words, then check understanding with a quick question: ask a pupil from the pre-teach group first, since they met these words and ideas before the lesson. Pupils try to recall before you re-explain.
‘I haven’t attended any interesting or exciting event!’ Yes, you have. Dinner is an event. A family walk is an event. A birthday is an event. Anything can be an event. It does not have to be a cup final or a stadium concert; it can be, but you are not being judged on how cool your experience was.
You are judged on how you write about it and how you appeal to your audience. A family birthday can fill five paragraphs: you provide facts, reflect on the experience, entertain your reader and give advice. That is plenty. Your teachers put it in three lines: despair is not allowed; there is no such thing as stuck, just hard thinking; creativity is resilience.
If you are still stuck, talk it through. When and where did it happen? What were the highlights? How did it affect you or your family? Would you recommend it, and why? If you could change one thing about it, what would it be? Those five questions produce a plan on their own.
Worked example — model it step by step, thinking aloud: Turn ‘my cousin’s birthday tea’ into enough material for a five-paragraph review. (1) Facts: where it was, how many people came, what was served, how long it lasted. (2) Experience: the moment the cake was brought in and the candles would not light. (3) Entertain: the uncle who told the same joke three times. (4) Advice: what you would tell another family planning one: fewer balloons, more chairs. (5) Judgement: was it worth the afternoon, and would you go again? Answer: Facts, experience, entertainment, advice and a judgement: five paragraphs from one ordinary Sunday. Anything can be an event..
Tip: Write three things you could do when stuck: reread the prompt, list ordinary events, ask the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There is no such thing as stuck. Say it in your own words, then check understanding with a quick question: ask a pupil from the pre-teach group first, since they met these words and ideas before the lesson. Pupils try to recall before you re-explain.
‘I haven’t attended any interesting or exciting event!’ Yes, you have. Dinner is an event. A family walk is an event. A birthday is an event. Anything can be an event. It does not have to be a cup final or a stadium concert; it can be, but you are not being judged on how cool your experience was.
You are judged on how you write about it and how you appeal to your audience. A family birthday can fill five paragraphs: you provide facts, reflect on the experience, entertain your reader and give advice. That is plenty. Your teachers put it in three lines: despair is not allowed; there is no such thing as stuck, just hard thinking; creativity is resilience.
If you are still stuck, talk it through. When and where did it happen? What were the highlights? How did it affect you or your family? Would you recommend it, and why? If you could change one thing about it, what would it be? Those five questions produce a plan on their own.
Worked example — model it step by step, thinking aloud: Turn ‘my cousin’s birthday tea’ into enough material for a five-paragraph review. (1) Facts: where it was, how many people came, what was served, how long it lasted. (2) Experience: the moment the cake was brought in and the candles would not light. (3) Entertain: the uncle who told the same joke three times. (4) Advice: what you would tell another family planning one: fewer balloons, more chairs. (5) Judgement: was it worth the afternoon, and would you go again? Answer: Facts, experience, entertainment, advice and a judgement: five paragraphs from one ordinary Sunday. Anything can be an event..
Tip: Write three things you could do when stuck: reread the prompt, list ordinary events, ask the five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ways to open. Say it in your own words, then check understanding with a quick question: ask a pupil from the pre-teach group first, since they met these words and ideas before the lesson. Pupils try to recall before you re-explain.
A good review should entertain the reader, so have some tricks up your sleeve for the first line. Your teachers give you four. A rhetorical question draws the reader in by making them answer in their head. Setting the scene drops the reader into the place and the moment. A triple lists three things for rhythm. An appeal to the audience speaks directly to the reader and tells them why this review is for them.
Here are the four, each written for Ad Astra for a different event. Notice that every one of them also tells you something: where the writer was, or what the event was, or who it is for. A hook that only shows off is a wasted sentence.
Quotation: "Have you ever paid twelve pounds to sit in the dark and listen to a stranger eat crisps? Then you already know how my trip to the new cinema began. Picture this: a sports hall at eight in the morning, two hundred folding chairs, and one microphone that only works when it is tapped. Prize-giving had begun. Mud on my boots, rain down my neck, a hot dog in each hand: the county show had started exactly as I had hoped. If you think a museum is no place for a six-year-old, think again. The new dinosaur gallery was built for exactly that child, and for the adult trailing behind." (Four openings: rhetorical question, setting the scene, triple, appeal to the audience — original examples written for Ad Astra). Read it aloud; ask what it shows.
Tip: Stems to keep: ‘Have you ever…?’, ‘Picture this:’, ‘Joy, fun and laughter: this is what you can expect when…’, ‘If you think…, think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 ways to open. Say it in your own words, then check understanding with a quick question: ask a pupil from the pre-teach group first, since they met these words and ideas before the lesson. Pupils try to recall before you re-explain.
A good review should entertain the reader, so have some tricks up your sleeve for the first line. Your teachers give you four. A rhetorical question draws the reader in by making them answer in their head. Setting the scene drops the reader into the place and the moment. A triple lists three things for rhythm. An appeal to the audience speaks directly to the reader and tells them why this review is for them.
Here are the four, each written for Ad Astra for a different event. Notice that every one of them also tells you something: where the writer was, or what the event was, or who it is for. A hook that only shows off is a wasted sentence.
Quotation: "Have you ever paid twelve pounds to sit in the dark and listen to a stranger eat crisps? Then you already know how my trip to the new cinema began. Picture this: a sports hall at eight in the morning, two hundred folding chairs, and one microphone that only works when it is tapped. Prize-giving had begun. Mud on my boots, rain down my neck, a hot dog in each hand: the county show had started exactly as I had hoped. If you think a museum is no place for a six-year-old, think again. The new dinosaur gallery was built for exactly that child, and for the adult trailing behind." (Four openings: rhetorical question, setting the scene, triple, appeal to the audience — original examples written for Ad Astra). Read it aloud; ask what it shows.
Tip: Stems to keep: ‘Have you ever…?’, ‘Picture this:’, ‘Joy, fun and laughter: this is what you can expect when…’, ‘If you think…, think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opening.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opening to its example.
Support — work through the steps with the group: (1) Look for a question mark: a rhetorical question. (2) Look for ‘Picture this’ or a place and a time: setting the scene. (3) Count the items; three in a row is a triple. (4) Look for ‘you’ and ‘think again’: an appeal to the audience.
Parallel worked example for Support (model it, do not give the task answer): Which opening is this: ‘Sunburn, sand in my shoes, a seagull with my sandwich: the beach trip had begun.’? Count the items before the colon.; Three items in a row.. Answer: A triple..
Core — reveal the hint only on request: Punctuation gives three of them away: a question mark, a colon after ‘Picture this’, and commas between three items.
Stretch — no help; when finished: Write a fifth opening for the county show using a different technique from the one used in the example, and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Name the opening.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type of opening to its example.
Support — work through the steps with the group: (1) Look for a question mark: a rhetorical question. (2) Look for ‘Picture this’ or a place and a time: setting the scene. (3) Count the items; three in a row is a triple. (4) Look for ‘you’ and ‘think again’: an appeal to the audience.
Parallel worked example for Support (model it, do not give the task answer): Which opening is this: ‘Sunburn, sand in my shoes, a seagull with my sandwich: the beach trip had begun.’? Count the items before the colon.; Three items in a row.. Answer: A triple..
Core — reveal the hint only on request: Punctuation gives three of them away: a question mark, a colon after ‘Picture this’, and commas between three items.
Stretch — no help; when finished: Write a fifth opening for the county show using a different technique from the one used in the example, and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before you write.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planning steps in the order you should do them before writing a review.
Support — work through the steps with the group: (1) You cannot plan a text until you know what type of text it is. (2) Purpose comes before audience, because the purpose of a review is fixed and the audience changes. (3) You need an audience before you can choose an event that will interest them. (4) Writing always comes last.
Parallel worked example for Support (model it, do not give the task answer): Order these for a homework letter: write the letter, read who it is to, decide what you want from them, plan your points. Know the task first.; Then what you want, then your points.; Write last.. Answer: Read who it is to, decide what you want, plan your points, write the letter..
Core — reveal the hint only on request: Form, purpose, audience and tone, in that order; then ideas; then words on the page.
Stretch — no help; when finished: Explain what goes wrong if a pupil brainstorms events before deciding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Plan before you write.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planning steps in the order you should do them before writing a review.
Support — work through the steps with the group: (1) You cannot plan a text until you know what type of text it is. (2) Purpose comes before audience, because the purpose of a review is fixed and the audience changes. (3) You need an audience before you can choose an event that will interest them. (4) Writing always comes last.
Parallel worked example for Support (model it, do not give the task answer): Order these for a homework letter: write the letter, read who it is to, decide what you want from them, plan your points. Know the task first.; Then what you want, then your points.; Write last.. Answer: Read who it is to, decide what you want, plan your points, write the letter..
Core — reveal the hint only on request: Form, purpose, audience and tone, in that order; then ideas; then words on the page.
Stretch — no help; when finished: Explain what goes wrong if a pupil brainstorms events before deciding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of these counts as an event you could review?
Answer: C   A family walk on a Sunday. Anything can be an event: dinner, a walk, a birthday. The writing is what is judged, not the event.
Source of this question: gate item 1 re-asked (options rotated) — this chapter has no third quick-check module.
The ebook also holds task 3, "Writing practice: the first paragraph",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Name the opening. Reveal the answer; pupils mark their own work in a different colour, then read the "why" together. Same destination for every lane, so one answer serves the whole class.
Answer: Rhetorical question  →  C  “Have you ever paid twelve pounds to sit in the dark and listen to a stranger eat crisps?”; Setting the scene  →  B  “Picture this: a sports hall at eight in the morning, two hundred folding chairs, and one microphone that only works when it is tapped.”; Triple  →  A  “Mud on my boots, rain down my neck, a hot dog in each hand”; Appeal to the audience  →  D  “If you think a museum is no place for a six-year-old, think again.”
Why: A question mark marks the rhetorical question, ‘Picture this’ sets the scene, three items make the triple, and ‘you… think again’ appeals to the audience.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Plan before you write. Reveal the answer; pupils mark their own work in a different colour, then read the "why" together. Same destination for every lane, so one answer serves the whole class.
Answer: Read the prompt twice and circle the form it asks for  (C); Decide the purpose: inform, entertain, persuade a little  (D); Decide the audience and the tone that suits them  (B); Brainstorm events you could write about (anything can be an event)  (E); Choose an opening technique and write your first paragraph  (A)
Why: Form, purpose, audience and tone come from the prompt; then you gather ideas; only then do you write the opening.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 family walk on a Sunday
Why: Anything can be an event: dinner, a walk, a birthday. The writing is what is judged, not the event.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ADADB"/>
          </a:solidFill>
          <a:ln w="12700">
            <a:solidFill>
              <a:srgbClr val="EADADB"/>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 Year 9 · Opinion Writing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8D5D7"/>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Opinion Writing · AQA KS3 → 8700</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Finding ideas and opening with a hook</a:t>
            </a:r>
            <a:endParaRPr lang="en-US" sz="4000" dirty="0"/>
          </a:p>
        </p:txBody>
      </p:sp>
      <p:sp>
        <p:nvSpPr>
          <p:cNvPr id="11" name="lessons-card"/>
          <p:cNvSpPr/>
          <p:nvPr/>
        </p:nvSpPr>
        <p:spPr>
          <a:xfrm>
            <a:off x="548640" y="4069588"/>
            <a:ext cx="5287975" cy="980440"/>
          </a:xfrm>
          <a:prstGeom prst="roundRect">
            <a:avLst>
              <a:gd name="adj" fmla="val 7461"/>
            </a:avLst>
          </a:prstGeom>
          <a:solidFill>
            <a:srgbClr val="F4EAEB"/>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Generating Ideas</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EAEB"/>
          </a:solidFill>
          <a:ln w="12700">
            <a:solidFill>
              <a:srgbClr val="D1ACB0"/>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I write for a specific audience, and how do I turn my opinion into a review or an article that readers will finish?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counts as an event you could review?</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a concert in a stadium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Only a cup final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Nothing ordinary; it has to be famous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family walk on a Sunday</a:t>
            </a:r>
            <a:endParaRPr lang="en-US" sz="1800" dirty="0"/>
          </a:p>
        </p:txBody>
      </p:sp>
      <p:sp>
        <p:nvSpPr>
          <p:cNvPr id="12"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3" name="card-hex"/>
          <p:cNvSpPr/>
          <p:nvPr/>
        </p:nvSpPr>
        <p:spPr>
          <a:xfrm>
            <a:off x="3642284" y="1572768"/>
            <a:ext cx="640080" cy="554309"/>
          </a:xfrm>
          <a:prstGeom prst="hexagon">
            <a:avLst/>
          </a:prstGeom>
          <a:solidFill>
            <a:srgbClr val="8C2F39"/>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3642284"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___ question is asked for effect and does not need an answer.</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rhetorical  ·  closed  ·  factual</a:t>
            </a:r>
            <a:endParaRPr lang="en-US" sz="2400" dirty="0"/>
          </a:p>
        </p:txBody>
      </p:sp>
      <p:sp>
        <p:nvSpPr>
          <p:cNvPr id="17"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18" name="card-hex"/>
          <p:cNvSpPr/>
          <p:nvPr/>
        </p:nvSpPr>
        <p:spPr>
          <a:xfrm>
            <a:off x="6553048" y="1572768"/>
            <a:ext cx="640080" cy="554309"/>
          </a:xfrm>
          <a:prstGeom prst="hexagon">
            <a:avLst/>
          </a:prstGeom>
          <a:solidFill>
            <a:srgbClr val="8C2F39"/>
          </a:solidFill>
          <a:ln/>
        </p:spPr>
      </p:sp>
      <p:sp>
        <p:nvSpPr>
          <p:cNvPr id="19"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6553048"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openings is a triple?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“Picture this: a sports hall at eight in the morning”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“Mud on my boots, rain down my neck, a hot dog in each hand”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“Have you ever paid twelve pounds to sit in the dark and listen to a stranger eat crisps?”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“If you think a museum is no place for a six-year-old, think again.”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7F0F1"/>
          </a:solidFill>
          <a:ln w="12700">
            <a:solidFill>
              <a:srgbClr val="D7B6BA"/>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family walk on a Sunday</a:t>
            </a:r>
            <a:endParaRPr lang="en-US" sz="2200" dirty="0"/>
          </a:p>
        </p:txBody>
      </p:sp>
      <p:sp>
        <p:nvSpPr>
          <p:cNvPr id="13" name="card-body"/>
          <p:cNvSpPr txBox="1"/>
          <p:nvPr/>
        </p:nvSpPr>
        <p:spPr>
          <a:xfrm>
            <a:off x="731520" y="3493597"/>
            <a:ext cx="2270684"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counts as an event you could review?</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Anything can be an event: dinner, a walk, a birthday. The writing is what is judged, not the event.</a:t>
            </a:r>
            <a:endParaRPr lang="en-US" sz="1800" dirty="0"/>
          </a:p>
        </p:txBody>
      </p:sp>
      <p:sp>
        <p:nvSpPr>
          <p:cNvPr id="14" name="card"/>
          <p:cNvSpPr/>
          <p:nvPr/>
        </p:nvSpPr>
        <p:spPr>
          <a:xfrm>
            <a:off x="3459404" y="1389888"/>
            <a:ext cx="2636444" cy="4754880"/>
          </a:xfrm>
          <a:prstGeom prst="roundRect">
            <a:avLst>
              <a:gd name="adj" fmla="val 2081"/>
            </a:avLst>
          </a:prstGeom>
          <a:solidFill>
            <a:srgbClr val="F7F0F1"/>
          </a:solidFill>
          <a:ln w="12700">
            <a:solidFill>
              <a:srgbClr val="D7B6BA"/>
            </a:solidFill>
            <a:prstDash val="solid"/>
          </a:ln>
        </p:spPr>
      </p:sp>
      <p:sp>
        <p:nvSpPr>
          <p:cNvPr id="15" name="card-hex"/>
          <p:cNvSpPr/>
          <p:nvPr/>
        </p:nvSpPr>
        <p:spPr>
          <a:xfrm>
            <a:off x="3642284" y="1572768"/>
            <a:ext cx="640080" cy="554309"/>
          </a:xfrm>
          <a:prstGeom prst="hexagon">
            <a:avLst/>
          </a:prstGeom>
          <a:solidFill>
            <a:srgbClr val="8C2F39"/>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2270684"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3733724"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rhetorical</a:t>
            </a:r>
            <a:endParaRPr lang="en-US" sz="2200" dirty="0"/>
          </a:p>
        </p:txBody>
      </p:sp>
      <p:sp>
        <p:nvSpPr>
          <p:cNvPr id="20" name="card-body"/>
          <p:cNvSpPr txBox="1"/>
          <p:nvPr/>
        </p:nvSpPr>
        <p:spPr>
          <a:xfrm>
            <a:off x="3642284"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___ question is asked for effect and does not need an answer.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rhetorical question is asked for effect; the reader answers it silently and reads on.</a:t>
            </a:r>
            <a:endParaRPr lang="en-US" sz="1800" dirty="0"/>
          </a:p>
        </p:txBody>
      </p:sp>
      <p:sp>
        <p:nvSpPr>
          <p:cNvPr id="21" name="card"/>
          <p:cNvSpPr/>
          <p:nvPr/>
        </p:nvSpPr>
        <p:spPr>
          <a:xfrm>
            <a:off x="6370168" y="1389888"/>
            <a:ext cx="5272888" cy="4754880"/>
          </a:xfrm>
          <a:prstGeom prst="roundRect">
            <a:avLst>
              <a:gd name="adj" fmla="val 1154"/>
            </a:avLst>
          </a:prstGeom>
          <a:solidFill>
            <a:srgbClr val="F7F0F1"/>
          </a:solidFill>
          <a:ln w="12700">
            <a:solidFill>
              <a:srgbClr val="D7B6BA"/>
            </a:solidFill>
            <a:prstDash val="solid"/>
          </a:ln>
        </p:spPr>
      </p:sp>
      <p:sp>
        <p:nvSpPr>
          <p:cNvPr id="22" name="card-hex"/>
          <p:cNvSpPr/>
          <p:nvPr/>
        </p:nvSpPr>
        <p:spPr>
          <a:xfrm>
            <a:off x="6553048" y="1572768"/>
            <a:ext cx="640080" cy="554309"/>
          </a:xfrm>
          <a:prstGeom prst="hexagon">
            <a:avLst/>
          </a:prstGeom>
          <a:solidFill>
            <a:srgbClr val="8C2F39"/>
          </a:solidFill>
          <a:ln/>
        </p:spPr>
      </p:sp>
      <p:sp>
        <p:nvSpPr>
          <p:cNvPr id="23" name="card-hex-label"/>
          <p:cNvSpPr txBox="1"/>
          <p:nvPr/>
        </p:nvSpPr>
        <p:spPr>
          <a:xfrm>
            <a:off x="655304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7284568"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6553048" y="2355677"/>
            <a:ext cx="4907128" cy="955040"/>
          </a:xfrm>
          <a:prstGeom prst="roundRect">
            <a:avLst>
              <a:gd name="adj" fmla="val 11489"/>
            </a:avLst>
          </a:prstGeom>
          <a:solidFill>
            <a:srgbClr val="EDE1CA"/>
          </a:solidFill>
          <a:ln w="19050">
            <a:solidFill>
              <a:srgbClr val="B8862B"/>
            </a:solidFill>
            <a:prstDash val="solid"/>
          </a:ln>
        </p:spPr>
      </p:sp>
      <p:sp>
        <p:nvSpPr>
          <p:cNvPr id="26" name="answer"/>
          <p:cNvSpPr txBox="1"/>
          <p:nvPr/>
        </p:nvSpPr>
        <p:spPr>
          <a:xfrm>
            <a:off x="6644488"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“Mud on my boots, rain down my neck, a hot dog in each hand”</a:t>
            </a:r>
            <a:endParaRPr lang="en-US" sz="2200" dirty="0"/>
          </a:p>
        </p:txBody>
      </p:sp>
      <p:sp>
        <p:nvSpPr>
          <p:cNvPr id="27" name="card-body"/>
          <p:cNvSpPr txBox="1"/>
          <p:nvPr/>
        </p:nvSpPr>
        <p:spPr>
          <a:xfrm>
            <a:off x="6553048"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Which of these openings is a triple?</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Mud, rain and a hot dog: three things in a row make a triple.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16356"/>
          </a:xfrm>
          <a:prstGeom prst="roundRect">
            <a:avLst>
              <a:gd name="adj" fmla="val 6721"/>
            </a:avLst>
          </a:prstGeom>
          <a:solidFill>
            <a:srgbClr val="F6EEEF"/>
          </a:solidFill>
          <a:ln/>
        </p:spPr>
      </p:sp>
      <p:sp>
        <p:nvSpPr>
          <p:cNvPr id="12" name="kw-hex"/>
          <p:cNvSpPr/>
          <p:nvPr/>
        </p:nvSpPr>
        <p:spPr>
          <a:xfrm>
            <a:off x="658368" y="2150247"/>
            <a:ext cx="411480" cy="356342"/>
          </a:xfrm>
          <a:prstGeom prst="hexagon">
            <a:avLst/>
          </a:prstGeom>
          <a:solidFill>
            <a:srgbClr val="8C2F39"/>
          </a:solidFill>
          <a:ln/>
        </p:spPr>
      </p:sp>
      <p:sp>
        <p:nvSpPr>
          <p:cNvPr id="13" name="kw-cell"/>
          <p:cNvSpPr txBox="1"/>
          <p:nvPr/>
        </p:nvSpPr>
        <p:spPr>
          <a:xfrm>
            <a:off x="1143000" y="1920240"/>
            <a:ext cx="2331720" cy="816356"/>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prompt</a:t>
            </a:r>
            <a:endParaRPr lang="en-US" sz="2200" dirty="0"/>
          </a:p>
        </p:txBody>
      </p:sp>
      <p:sp>
        <p:nvSpPr>
          <p:cNvPr id="14" name="kw-cell"/>
          <p:cNvSpPr txBox="1"/>
          <p:nvPr/>
        </p:nvSpPr>
        <p:spPr>
          <a:xfrm>
            <a:off x="3657600" y="1920240"/>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task that tells you what to write</a:t>
            </a:r>
            <a:endParaRPr lang="en-US" sz="2000" dirty="0"/>
          </a:p>
        </p:txBody>
      </p:sp>
      <p:sp>
        <p:nvSpPr>
          <p:cNvPr id="15" name="kw-cell"/>
          <p:cNvSpPr txBox="1"/>
          <p:nvPr/>
        </p:nvSpPr>
        <p:spPr>
          <a:xfrm>
            <a:off x="7315200" y="1920240"/>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Read the prompt twice before you plan.</a:t>
            </a:r>
            <a:endParaRPr lang="en-US" sz="2000" dirty="0"/>
          </a:p>
        </p:txBody>
      </p:sp>
      <p:sp>
        <p:nvSpPr>
          <p:cNvPr id="16" name="kw-row"/>
          <p:cNvSpPr/>
          <p:nvPr/>
        </p:nvSpPr>
        <p:spPr>
          <a:xfrm>
            <a:off x="548640" y="2809748"/>
            <a:ext cx="11094415" cy="816356"/>
          </a:xfrm>
          <a:prstGeom prst="roundRect">
            <a:avLst>
              <a:gd name="adj" fmla="val 6721"/>
            </a:avLst>
          </a:prstGeom>
          <a:solidFill>
            <a:srgbClr val="F6F0E6"/>
          </a:solidFill>
          <a:ln/>
        </p:spPr>
      </p:sp>
      <p:sp>
        <p:nvSpPr>
          <p:cNvPr id="17" name="kw-hex"/>
          <p:cNvSpPr/>
          <p:nvPr/>
        </p:nvSpPr>
        <p:spPr>
          <a:xfrm>
            <a:off x="658368" y="3039755"/>
            <a:ext cx="411480" cy="356342"/>
          </a:xfrm>
          <a:prstGeom prst="hexagon">
            <a:avLst/>
          </a:prstGeom>
          <a:solidFill>
            <a:srgbClr val="B8862B"/>
          </a:solidFill>
          <a:ln/>
        </p:spPr>
      </p:sp>
      <p:sp>
        <p:nvSpPr>
          <p:cNvPr id="18" name="kw-cell"/>
          <p:cNvSpPr txBox="1"/>
          <p:nvPr/>
        </p:nvSpPr>
        <p:spPr>
          <a:xfrm>
            <a:off x="1143000" y="2809748"/>
            <a:ext cx="2331720" cy="816356"/>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event</a:t>
            </a:r>
            <a:endParaRPr lang="en-US" sz="2200" dirty="0"/>
          </a:p>
        </p:txBody>
      </p:sp>
      <p:sp>
        <p:nvSpPr>
          <p:cNvPr id="19" name="kw-cell"/>
          <p:cNvSpPr txBox="1"/>
          <p:nvPr/>
        </p:nvSpPr>
        <p:spPr>
          <a:xfrm>
            <a:off x="3657600" y="2809748"/>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something that happens, big or small</a:t>
            </a:r>
            <a:endParaRPr lang="en-US" sz="2000" dirty="0"/>
          </a:p>
        </p:txBody>
      </p:sp>
      <p:sp>
        <p:nvSpPr>
          <p:cNvPr id="20" name="kw-cell"/>
          <p:cNvSpPr txBox="1"/>
          <p:nvPr/>
        </p:nvSpPr>
        <p:spPr>
          <a:xfrm>
            <a:off x="7315200" y="2809748"/>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family dinner counts as an event you can review.</a:t>
            </a:r>
            <a:endParaRPr lang="en-US" sz="2000" dirty="0"/>
          </a:p>
        </p:txBody>
      </p:sp>
      <p:sp>
        <p:nvSpPr>
          <p:cNvPr id="21" name="kw-row"/>
          <p:cNvSpPr/>
          <p:nvPr/>
        </p:nvSpPr>
        <p:spPr>
          <a:xfrm>
            <a:off x="548640" y="3699256"/>
            <a:ext cx="11094415" cy="816356"/>
          </a:xfrm>
          <a:prstGeom prst="roundRect">
            <a:avLst>
              <a:gd name="adj" fmla="val 6721"/>
            </a:avLst>
          </a:prstGeom>
          <a:solidFill>
            <a:srgbClr val="F6EEEF"/>
          </a:solidFill>
          <a:ln/>
        </p:spPr>
      </p:sp>
      <p:sp>
        <p:nvSpPr>
          <p:cNvPr id="22" name="kw-hex"/>
          <p:cNvSpPr/>
          <p:nvPr/>
        </p:nvSpPr>
        <p:spPr>
          <a:xfrm>
            <a:off x="658368" y="3929263"/>
            <a:ext cx="411480" cy="356342"/>
          </a:xfrm>
          <a:prstGeom prst="hexagon">
            <a:avLst/>
          </a:prstGeom>
          <a:solidFill>
            <a:srgbClr val="8C2F39"/>
          </a:solidFill>
          <a:ln/>
        </p:spPr>
      </p:sp>
      <p:sp>
        <p:nvSpPr>
          <p:cNvPr id="23" name="kw-cell"/>
          <p:cNvSpPr txBox="1"/>
          <p:nvPr/>
        </p:nvSpPr>
        <p:spPr>
          <a:xfrm>
            <a:off x="1143000" y="3699256"/>
            <a:ext cx="2331720" cy="816356"/>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hook</a:t>
            </a:r>
            <a:endParaRPr lang="en-US" sz="2200" dirty="0"/>
          </a:p>
        </p:txBody>
      </p:sp>
      <p:sp>
        <p:nvSpPr>
          <p:cNvPr id="24" name="kw-cell"/>
          <p:cNvSpPr txBox="1"/>
          <p:nvPr/>
        </p:nvSpPr>
        <p:spPr>
          <a:xfrm>
            <a:off x="3657600" y="3699256"/>
            <a:ext cx="3474720" cy="81635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an opening that grabs the reader</a:t>
            </a:r>
            <a:endParaRPr lang="en-US" sz="2000" dirty="0"/>
          </a:p>
        </p:txBody>
      </p:sp>
      <p:sp>
        <p:nvSpPr>
          <p:cNvPr id="25" name="kw-cell"/>
          <p:cNvSpPr txBox="1"/>
          <p:nvPr/>
        </p:nvSpPr>
        <p:spPr>
          <a:xfrm>
            <a:off x="7315200" y="3699256"/>
            <a:ext cx="4236415" cy="81635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 good hook makes the reader want the next sentence.</a:t>
            </a:r>
            <a:endParaRPr lang="en-US" sz="2000" dirty="0"/>
          </a:p>
        </p:txBody>
      </p:sp>
      <p:sp>
        <p:nvSpPr>
          <p:cNvPr id="26" name="kw-row"/>
          <p:cNvSpPr/>
          <p:nvPr/>
        </p:nvSpPr>
        <p:spPr>
          <a:xfrm>
            <a:off x="548640" y="4588764"/>
            <a:ext cx="11094415" cy="923036"/>
          </a:xfrm>
          <a:prstGeom prst="roundRect">
            <a:avLst>
              <a:gd name="adj" fmla="val 5944"/>
            </a:avLst>
          </a:prstGeom>
          <a:solidFill>
            <a:srgbClr val="F6F0E6"/>
          </a:solidFill>
          <a:ln/>
        </p:spPr>
      </p:sp>
      <p:sp>
        <p:nvSpPr>
          <p:cNvPr id="27" name="kw-hex"/>
          <p:cNvSpPr/>
          <p:nvPr/>
        </p:nvSpPr>
        <p:spPr>
          <a:xfrm>
            <a:off x="658368" y="4872111"/>
            <a:ext cx="411480" cy="356342"/>
          </a:xfrm>
          <a:prstGeom prst="hexagon">
            <a:avLst/>
          </a:prstGeom>
          <a:solidFill>
            <a:srgbClr val="B8862B"/>
          </a:solidFill>
          <a:ln/>
        </p:spPr>
      </p:sp>
      <p:sp>
        <p:nvSpPr>
          <p:cNvPr id="28" name="kw-cell"/>
          <p:cNvSpPr txBox="1"/>
          <p:nvPr/>
        </p:nvSpPr>
        <p:spPr>
          <a:xfrm>
            <a:off x="1143000" y="4588764"/>
            <a:ext cx="2331720" cy="923036"/>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rhetorical question</a:t>
            </a:r>
            <a:endParaRPr lang="en-US" sz="2200" dirty="0"/>
          </a:p>
        </p:txBody>
      </p:sp>
      <p:sp>
        <p:nvSpPr>
          <p:cNvPr id="29" name="kw-cell"/>
          <p:cNvSpPr txBox="1"/>
          <p:nvPr/>
        </p:nvSpPr>
        <p:spPr>
          <a:xfrm>
            <a:off x="3657600" y="4588764"/>
            <a:ext cx="3474720" cy="92303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question asked for effect, not for an answer</a:t>
            </a:r>
            <a:endParaRPr lang="en-US" sz="2000" dirty="0"/>
          </a:p>
        </p:txBody>
      </p:sp>
      <p:sp>
        <p:nvSpPr>
          <p:cNvPr id="30" name="kw-cell"/>
          <p:cNvSpPr txBox="1"/>
          <p:nvPr/>
        </p:nvSpPr>
        <p:spPr>
          <a:xfrm>
            <a:off x="7315200" y="4588764"/>
            <a:ext cx="4236415" cy="92303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‘Have you ever…?’ is a rhetorical question.</a:t>
            </a:r>
            <a:endParaRPr lang="en-US" sz="2000" dirty="0"/>
          </a:p>
        </p:txBody>
      </p:sp>
      <p:sp>
        <p:nvSpPr>
          <p:cNvPr id="31" name="kw-row"/>
          <p:cNvSpPr/>
          <p:nvPr/>
        </p:nvSpPr>
        <p:spPr>
          <a:xfrm>
            <a:off x="548640" y="5584952"/>
            <a:ext cx="11094415" cy="559816"/>
          </a:xfrm>
          <a:prstGeom prst="roundRect">
            <a:avLst>
              <a:gd name="adj" fmla="val 9800"/>
            </a:avLst>
          </a:prstGeom>
          <a:solidFill>
            <a:srgbClr val="F6EEEF"/>
          </a:solidFill>
          <a:ln/>
        </p:spPr>
      </p:sp>
      <p:sp>
        <p:nvSpPr>
          <p:cNvPr id="32" name="kw-hex"/>
          <p:cNvSpPr/>
          <p:nvPr/>
        </p:nvSpPr>
        <p:spPr>
          <a:xfrm>
            <a:off x="658368" y="5686689"/>
            <a:ext cx="411480" cy="356342"/>
          </a:xfrm>
          <a:prstGeom prst="hexagon">
            <a:avLst/>
          </a:prstGeom>
          <a:solidFill>
            <a:srgbClr val="8C2F39"/>
          </a:solidFill>
          <a:ln/>
        </p:spPr>
      </p:sp>
      <p:sp>
        <p:nvSpPr>
          <p:cNvPr id="33" name="kw-cell"/>
          <p:cNvSpPr txBox="1"/>
          <p:nvPr/>
        </p:nvSpPr>
        <p:spPr>
          <a:xfrm>
            <a:off x="1143000" y="5584952"/>
            <a:ext cx="2331720" cy="559816"/>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triple</a:t>
            </a:r>
            <a:endParaRPr lang="en-US" sz="2200" dirty="0"/>
          </a:p>
        </p:txBody>
      </p:sp>
      <p:sp>
        <p:nvSpPr>
          <p:cNvPr id="34" name="kw-cell"/>
          <p:cNvSpPr txBox="1"/>
          <p:nvPr/>
        </p:nvSpPr>
        <p:spPr>
          <a:xfrm>
            <a:off x="3657600" y="5584952"/>
            <a:ext cx="3474720" cy="55981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three things in a row</a:t>
            </a:r>
            <a:endParaRPr lang="en-US" sz="2000" dirty="0"/>
          </a:p>
        </p:txBody>
      </p:sp>
      <p:sp>
        <p:nvSpPr>
          <p:cNvPr id="35" name="kw-cell"/>
          <p:cNvSpPr txBox="1"/>
          <p:nvPr/>
        </p:nvSpPr>
        <p:spPr>
          <a:xfrm>
            <a:off x="7315200" y="5584952"/>
            <a:ext cx="4236415" cy="559816"/>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‘Mud, rain, hot dogs’ is a triple.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Imagine the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prompt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says: write a review of an exciting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event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you attended.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First ask what form it wants: a review.</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ask the purpose, the audience and the tone.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Many pupils say they have never been to an exciting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event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Yes, you have.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Dinner is 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event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family walk is 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event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0F1"/>
          </a:solidFill>
          <a:ln w="12700">
            <a:solidFill>
              <a:srgbClr val="DDC1C4"/>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birthday is an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event</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are not judged on how cool your experience was.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are judged on how you write about it.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There is no such thing as stuck, just hard thinking.</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Then open with a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hook</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You could ask a question, set the scene, use a </a:t>
            </a:r>
            <a:pPr algn="l" indent="0" marL="0">
              <a:spcAft>
                <a:spcPts val="600"/>
              </a:spcAft>
              <a:buNone/>
            </a:pPr>
            <a:r>
              <a:rPr lang="en-US" sz="2600" b="1" dirty="0">
                <a:solidFill>
                  <a:srgbClr val="8C2F39"/>
                </a:solidFill>
                <a:latin typeface="Calibri" pitchFamily="34" charset="0"/>
                <a:ea typeface="Calibri" pitchFamily="34" charset="-122"/>
                <a:cs typeface="Calibri" pitchFamily="34" charset="-120"/>
              </a:rPr>
              <a:t>triple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or speak to your reader.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A good opening makes the reader want more.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 the prompt like a planner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Circle the form in the prompt before anything else. A review written as a speech loses marks however good the sentences are.</a:t>
            </a:r>
            <a:endParaRPr lang="en-US" sz="1800" dirty="0"/>
          </a:p>
        </p:txBody>
      </p:sp>
      <p:sp>
        <p:nvSpPr>
          <p:cNvPr id="11" name="point-card"/>
          <p:cNvSpPr/>
          <p:nvPr/>
        </p:nvSpPr>
        <p:spPr>
          <a:xfrm>
            <a:off x="548640" y="1389888"/>
            <a:ext cx="5410048" cy="3686048"/>
          </a:xfrm>
          <a:prstGeom prst="roundRect">
            <a:avLst>
              <a:gd name="adj" fmla="val 1488"/>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typical prompt asks you to write a review of an interesting or exciting event you attended recently, with details of what it was and when, how it affected you or your family, and whether you would recommend it.</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Write the answers in your book under four headings: Event, Purpose, Audience, Tone.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There is no such thing as stuck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three things you could do when stuck: reread the prompt, list ordinary events, ask the five questions.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 haven’t attended any interesting or exciting event!’ Yes, you have.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are judged on how you write about it and how you appeal to your audience.</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EAEB"/>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If you are still stuck, talk it through. When and where did it happen?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Worked example: There is no such thing as stuck</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EAEB"/>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Turn ‘my cousin’s birthday tea’ into enough material for a five-paragraph review.</a:t>
            </a:r>
            <a:endParaRPr lang="en-US" sz="2000" dirty="0"/>
          </a:p>
        </p:txBody>
      </p:sp>
      <p:sp>
        <p:nvSpPr>
          <p:cNvPr id="9" name="step-box"/>
          <p:cNvSpPr/>
          <p:nvPr/>
        </p:nvSpPr>
        <p:spPr>
          <a:xfrm>
            <a:off x="548640" y="2192528"/>
            <a:ext cx="11094415" cy="511048"/>
          </a:xfrm>
          <a:prstGeom prst="roundRect">
            <a:avLst>
              <a:gd name="adj" fmla="val 14314"/>
            </a:avLst>
          </a:prstGeom>
          <a:solidFill>
            <a:srgbClr val="FFFFFF"/>
          </a:solidFill>
          <a:ln w="15875">
            <a:solidFill>
              <a:srgbClr val="C08D92"/>
            </a:solidFill>
            <a:prstDash val="solid"/>
          </a:ln>
        </p:spPr>
      </p:sp>
      <p:sp>
        <p:nvSpPr>
          <p:cNvPr id="10" name="step-hex"/>
          <p:cNvSpPr/>
          <p:nvPr/>
        </p:nvSpPr>
        <p:spPr>
          <a:xfrm>
            <a:off x="685800" y="2250084"/>
            <a:ext cx="457200" cy="395935"/>
          </a:xfrm>
          <a:prstGeom prst="hexagon">
            <a:avLst/>
          </a:prstGeom>
          <a:solidFill>
            <a:srgbClr val="8C2F39"/>
          </a:solidFill>
          <a:ln/>
        </p:spPr>
      </p:sp>
      <p:sp>
        <p:nvSpPr>
          <p:cNvPr id="11" name="step-hex-label"/>
          <p:cNvSpPr txBox="1"/>
          <p:nvPr/>
        </p:nvSpPr>
        <p:spPr>
          <a:xfrm>
            <a:off x="685800" y="22500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Facts: where it was, how many people came, what was served, how long it lasted.</a:t>
            </a:r>
            <a:endParaRPr lang="en-US" sz="1800" dirty="0"/>
          </a:p>
        </p:txBody>
      </p:sp>
      <p:sp>
        <p:nvSpPr>
          <p:cNvPr id="13" name="step-box"/>
          <p:cNvSpPr/>
          <p:nvPr/>
        </p:nvSpPr>
        <p:spPr>
          <a:xfrm>
            <a:off x="548640" y="2776728"/>
            <a:ext cx="11094415" cy="511048"/>
          </a:xfrm>
          <a:prstGeom prst="roundRect">
            <a:avLst>
              <a:gd name="adj" fmla="val 14314"/>
            </a:avLst>
          </a:prstGeom>
          <a:solidFill>
            <a:srgbClr val="FFFFFF"/>
          </a:solidFill>
          <a:ln w="15875">
            <a:solidFill>
              <a:srgbClr val="C08D92"/>
            </a:solidFill>
            <a:prstDash val="solid"/>
          </a:ln>
        </p:spPr>
      </p:sp>
      <p:sp>
        <p:nvSpPr>
          <p:cNvPr id="14" name="step-hex"/>
          <p:cNvSpPr/>
          <p:nvPr/>
        </p:nvSpPr>
        <p:spPr>
          <a:xfrm>
            <a:off x="685800" y="2834284"/>
            <a:ext cx="457200" cy="395935"/>
          </a:xfrm>
          <a:prstGeom prst="hexagon">
            <a:avLst/>
          </a:prstGeom>
          <a:solidFill>
            <a:srgbClr val="8C2F39"/>
          </a:solidFill>
          <a:ln/>
        </p:spPr>
      </p:sp>
      <p:sp>
        <p:nvSpPr>
          <p:cNvPr id="15" name="step-hex-label"/>
          <p:cNvSpPr txBox="1"/>
          <p:nvPr/>
        </p:nvSpPr>
        <p:spPr>
          <a:xfrm>
            <a:off x="685800" y="28342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767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Experience: the moment the cake was brought in and the candles would not light.</a:t>
            </a:r>
            <a:endParaRPr lang="en-US" sz="1800" dirty="0"/>
          </a:p>
        </p:txBody>
      </p:sp>
      <p:sp>
        <p:nvSpPr>
          <p:cNvPr id="17" name="step-box"/>
          <p:cNvSpPr/>
          <p:nvPr/>
        </p:nvSpPr>
        <p:spPr>
          <a:xfrm>
            <a:off x="548640" y="3360928"/>
            <a:ext cx="11094415" cy="511048"/>
          </a:xfrm>
          <a:prstGeom prst="roundRect">
            <a:avLst>
              <a:gd name="adj" fmla="val 14314"/>
            </a:avLst>
          </a:prstGeom>
          <a:solidFill>
            <a:srgbClr val="FFFFFF"/>
          </a:solidFill>
          <a:ln w="15875">
            <a:solidFill>
              <a:srgbClr val="C08D92"/>
            </a:solidFill>
            <a:prstDash val="solid"/>
          </a:ln>
        </p:spPr>
      </p:sp>
      <p:sp>
        <p:nvSpPr>
          <p:cNvPr id="18" name="step-hex"/>
          <p:cNvSpPr/>
          <p:nvPr/>
        </p:nvSpPr>
        <p:spPr>
          <a:xfrm>
            <a:off x="685800" y="3418484"/>
            <a:ext cx="457200" cy="395935"/>
          </a:xfrm>
          <a:prstGeom prst="hexagon">
            <a:avLst/>
          </a:prstGeom>
          <a:solidFill>
            <a:srgbClr val="8C2F39"/>
          </a:solidFill>
          <a:ln/>
        </p:spPr>
      </p:sp>
      <p:sp>
        <p:nvSpPr>
          <p:cNvPr id="19" name="step-hex-label"/>
          <p:cNvSpPr txBox="1"/>
          <p:nvPr/>
        </p:nvSpPr>
        <p:spPr>
          <a:xfrm>
            <a:off x="685800" y="34184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3609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Entertain: the uncle who told the same joke three times.</a:t>
            </a:r>
            <a:endParaRPr lang="en-US" sz="1800" dirty="0"/>
          </a:p>
        </p:txBody>
      </p:sp>
      <p:sp>
        <p:nvSpPr>
          <p:cNvPr id="21" name="step-box"/>
          <p:cNvSpPr/>
          <p:nvPr/>
        </p:nvSpPr>
        <p:spPr>
          <a:xfrm>
            <a:off x="548640" y="3945128"/>
            <a:ext cx="11094415" cy="511048"/>
          </a:xfrm>
          <a:prstGeom prst="roundRect">
            <a:avLst>
              <a:gd name="adj" fmla="val 14314"/>
            </a:avLst>
          </a:prstGeom>
          <a:solidFill>
            <a:srgbClr val="FFFFFF"/>
          </a:solidFill>
          <a:ln w="15875">
            <a:solidFill>
              <a:srgbClr val="C08D92"/>
            </a:solidFill>
            <a:prstDash val="solid"/>
          </a:ln>
        </p:spPr>
      </p:sp>
      <p:sp>
        <p:nvSpPr>
          <p:cNvPr id="22" name="step-hex"/>
          <p:cNvSpPr/>
          <p:nvPr/>
        </p:nvSpPr>
        <p:spPr>
          <a:xfrm>
            <a:off x="685800" y="4002684"/>
            <a:ext cx="457200" cy="395935"/>
          </a:xfrm>
          <a:prstGeom prst="hexagon">
            <a:avLst/>
          </a:prstGeom>
          <a:solidFill>
            <a:srgbClr val="8C2F39"/>
          </a:solidFill>
          <a:ln/>
        </p:spPr>
      </p:sp>
      <p:sp>
        <p:nvSpPr>
          <p:cNvPr id="23" name="step-hex-label"/>
          <p:cNvSpPr txBox="1"/>
          <p:nvPr/>
        </p:nvSpPr>
        <p:spPr>
          <a:xfrm>
            <a:off x="685800" y="40026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39451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Advice: what you would tell another family planning one: fewer balloons, more chairs.</a:t>
            </a:r>
            <a:endParaRPr lang="en-US" sz="1800" dirty="0"/>
          </a:p>
        </p:txBody>
      </p:sp>
      <p:sp>
        <p:nvSpPr>
          <p:cNvPr id="25" name="step-box"/>
          <p:cNvSpPr/>
          <p:nvPr/>
        </p:nvSpPr>
        <p:spPr>
          <a:xfrm>
            <a:off x="548640" y="4529328"/>
            <a:ext cx="11094415" cy="511048"/>
          </a:xfrm>
          <a:prstGeom prst="roundRect">
            <a:avLst>
              <a:gd name="adj" fmla="val 14314"/>
            </a:avLst>
          </a:prstGeom>
          <a:solidFill>
            <a:srgbClr val="FFFFFF"/>
          </a:solidFill>
          <a:ln w="15875">
            <a:solidFill>
              <a:srgbClr val="C08D92"/>
            </a:solidFill>
            <a:prstDash val="solid"/>
          </a:ln>
        </p:spPr>
      </p:sp>
      <p:sp>
        <p:nvSpPr>
          <p:cNvPr id="26" name="step-hex"/>
          <p:cNvSpPr/>
          <p:nvPr/>
        </p:nvSpPr>
        <p:spPr>
          <a:xfrm>
            <a:off x="685800" y="4586884"/>
            <a:ext cx="457200" cy="395935"/>
          </a:xfrm>
          <a:prstGeom prst="hexagon">
            <a:avLst/>
          </a:prstGeom>
          <a:solidFill>
            <a:srgbClr val="8C2F39"/>
          </a:solidFill>
          <a:ln/>
        </p:spPr>
      </p:sp>
      <p:sp>
        <p:nvSpPr>
          <p:cNvPr id="27" name="step-hex-label"/>
          <p:cNvSpPr txBox="1"/>
          <p:nvPr/>
        </p:nvSpPr>
        <p:spPr>
          <a:xfrm>
            <a:off x="685800" y="45868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529328"/>
            <a:ext cx="10180015" cy="51104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Judgement: was it worth the afternoon, and would you go again?</a:t>
            </a:r>
            <a:endParaRPr lang="en-US" sz="1800" dirty="0"/>
          </a:p>
        </p:txBody>
      </p:sp>
      <p:sp>
        <p:nvSpPr>
          <p:cNvPr id="29" name="worked-answer"/>
          <p:cNvSpPr/>
          <p:nvPr/>
        </p:nvSpPr>
        <p:spPr>
          <a:xfrm>
            <a:off x="548640" y="5223256"/>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Facts, experience, entertainment, advice and a judgement: five paragraphs from one ordinary Sunday. Anything can be an event.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Four ways to open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Stems to keep: ‘Have you ever…?’, ‘Picture this:’, ‘Joy, fun and laughter: this is what you can expect when…’, ‘If you think…, think again.’</a:t>
            </a:r>
            <a:endParaRPr lang="en-US" sz="1800" dirty="0"/>
          </a:p>
        </p:txBody>
      </p:sp>
      <p:sp>
        <p:nvSpPr>
          <p:cNvPr id="11" name="point-card"/>
          <p:cNvSpPr/>
          <p:nvPr/>
        </p:nvSpPr>
        <p:spPr>
          <a:xfrm>
            <a:off x="548640" y="1389888"/>
            <a:ext cx="5410048" cy="3686048"/>
          </a:xfrm>
          <a:prstGeom prst="roundRect">
            <a:avLst>
              <a:gd name="adj" fmla="val 1488"/>
            </a:avLst>
          </a:prstGeom>
          <a:solidFill>
            <a:srgbClr val="F4EAEB"/>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good review should entertain the reader, so have some tricks up your sleeve for the first line.</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Here are the four, each written for Ad Astra for a different event.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Four ways to open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quote-panel"/>
          <p:cNvSpPr/>
          <p:nvPr/>
        </p:nvSpPr>
        <p:spPr>
          <a:xfrm>
            <a:off x="548640" y="1389888"/>
            <a:ext cx="11094415" cy="4754880"/>
          </a:xfrm>
          <a:prstGeom prst="roundRect">
            <a:avLst>
              <a:gd name="adj" fmla="val 1154"/>
            </a:avLst>
          </a:prstGeom>
          <a:solidFill>
            <a:srgbClr val="F4EAEB"/>
          </a:solidFill>
          <a:ln/>
        </p:spPr>
      </p:sp>
      <p:sp>
        <p:nvSpPr>
          <p:cNvPr id="8" name="quote-mark"/>
          <p:cNvSpPr txBox="1"/>
          <p:nvPr/>
        </p:nvSpPr>
        <p:spPr>
          <a:xfrm>
            <a:off x="685800" y="1572768"/>
            <a:ext cx="868680" cy="1280160"/>
          </a:xfrm>
          <a:prstGeom prst="rect">
            <a:avLst/>
          </a:prstGeom>
          <a:noFill/>
          <a:ln/>
        </p:spPr>
        <p:txBody>
          <a:bodyPr wrap="square" lIns="63500" tIns="63500" rIns="63500" bIns="63500" rtlCol="0" anchor="t"/>
          <a:lstStyle/>
          <a:p>
            <a:pPr algn="l" indent="0" marL="0">
              <a:buNone/>
            </a:pPr>
            <a:r>
              <a:rPr lang="en-US" sz="7200" b="1" dirty="0">
                <a:solidFill>
                  <a:srgbClr val="B8862B"/>
                </a:solidFill>
                <a:latin typeface="Cambria" pitchFamily="34" charset="0"/>
                <a:ea typeface="Cambria" pitchFamily="34" charset="-122"/>
                <a:cs typeface="Cambria" pitchFamily="34" charset="-120"/>
              </a:rPr>
              <a:t>“</a:t>
            </a:r>
            <a:endParaRPr lang="en-US" sz="7200" dirty="0"/>
          </a:p>
        </p:txBody>
      </p:sp>
      <p:sp>
        <p:nvSpPr>
          <p:cNvPr id="9" name="quote"/>
          <p:cNvSpPr txBox="1"/>
          <p:nvPr/>
        </p:nvSpPr>
        <p:spPr>
          <a:xfrm>
            <a:off x="1600200" y="1664208"/>
            <a:ext cx="9768535" cy="4206240"/>
          </a:xfrm>
          <a:prstGeom prst="rect">
            <a:avLst/>
          </a:prstGeom>
          <a:noFill/>
          <a:ln/>
        </p:spPr>
        <p:txBody>
          <a:bodyPr wrap="square" lIns="63500" tIns="63500" rIns="63500" bIns="63500" rtlCol="0" anchor="ctr"/>
          <a:lstStyle/>
          <a:p>
            <a:pPr algn="l" indent="0" marL="0">
              <a:spcAft>
                <a:spcPts val="1000"/>
              </a:spcAft>
              <a:buNone/>
            </a:pPr>
            <a:r>
              <a:rPr lang="en-US" sz="2400" i="1" dirty="0">
                <a:solidFill>
                  <a:srgbClr val="1E2229"/>
                </a:solidFill>
                <a:latin typeface="Cambria" pitchFamily="34" charset="0"/>
                <a:ea typeface="Cambria" pitchFamily="34" charset="-122"/>
                <a:cs typeface="Cambria" pitchFamily="34" charset="-120"/>
              </a:rPr>
              <a:t>Have you ever paid twelve pounds to sit in the dark and listen to a stranger eat crisps? Then you already know how my trip to the new cinema began. Picture this: a sports hall at eight in the morning, two hundred folding chairs, and one microphone that only works when it is tapped. Prize-giving had begun. Mud on my boots, rain down my neck, a hot dog in each hand: the county show had started exactly as I had hoped. If you think a museum is no place for a six-year-old, think again. The new dinosaur gallery was built for exactly that child, and for the adult trailing behind.</a:t>
            </a:r>
            <a:endParaRPr lang="en-US" sz="2400" dirty="0"/>
          </a:p>
          <a:p>
            <a:pPr algn="l" indent="0" marL="0">
              <a:buNone/>
            </a:pPr>
            <a:r>
              <a:rPr lang="en-US" sz="1800" dirty="0">
                <a:solidFill>
                  <a:srgbClr val="4A505C"/>
                </a:solidFill>
                <a:latin typeface="Calibri" pitchFamily="34" charset="0"/>
                <a:ea typeface="Calibri" pitchFamily="34" charset="-122"/>
                <a:cs typeface="Calibri" pitchFamily="34" charset="-120"/>
              </a:rPr>
              <a:t>— Four openings: rhetorical question, setting the scene, triple, appeal to the audience — original examples written for Ad Astra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Name the opening</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type of opening to its example.</a:t>
            </a:r>
            <a:endParaRPr lang="en-US" sz="2400" dirty="0"/>
          </a:p>
        </p:txBody>
      </p:sp>
      <p:sp>
        <p:nvSpPr>
          <p:cNvPr id="11" name="match-card"/>
          <p:cNvSpPr/>
          <p:nvPr/>
        </p:nvSpPr>
        <p:spPr>
          <a:xfrm>
            <a:off x="777240" y="2468331"/>
            <a:ext cx="3081437" cy="621294"/>
          </a:xfrm>
          <a:prstGeom prst="roundRect">
            <a:avLst>
              <a:gd name="adj" fmla="val 11774"/>
            </a:avLst>
          </a:prstGeom>
          <a:solidFill>
            <a:srgbClr val="F6EEEF"/>
          </a:solidFill>
          <a:ln/>
        </p:spPr>
      </p:sp>
      <p:sp>
        <p:nvSpPr>
          <p:cNvPr id="12" name="match-hex"/>
          <p:cNvSpPr/>
          <p:nvPr/>
        </p:nvSpPr>
        <p:spPr>
          <a:xfrm>
            <a:off x="850392" y="2612686"/>
            <a:ext cx="384048" cy="332586"/>
          </a:xfrm>
          <a:prstGeom prst="hexagon">
            <a:avLst/>
          </a:prstGeom>
          <a:solidFill>
            <a:srgbClr val="8C2F39"/>
          </a:solidFill>
          <a:ln/>
        </p:spPr>
      </p:sp>
      <p:sp>
        <p:nvSpPr>
          <p:cNvPr id="13" name="match-hex-label"/>
          <p:cNvSpPr txBox="1"/>
          <p:nvPr/>
        </p:nvSpPr>
        <p:spPr>
          <a:xfrm>
            <a:off x="850392" y="2612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6212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Rhetorical question</a:t>
            </a:r>
            <a:endParaRPr lang="en-US" sz="1800" dirty="0"/>
          </a:p>
        </p:txBody>
      </p:sp>
      <p:sp>
        <p:nvSpPr>
          <p:cNvPr id="15" name="match-card"/>
          <p:cNvSpPr/>
          <p:nvPr/>
        </p:nvSpPr>
        <p:spPr>
          <a:xfrm>
            <a:off x="4224437" y="2468331"/>
            <a:ext cx="7190019" cy="621294"/>
          </a:xfrm>
          <a:prstGeom prst="roundRect">
            <a:avLst>
              <a:gd name="adj" fmla="val 11774"/>
            </a:avLst>
          </a:prstGeom>
          <a:solidFill>
            <a:srgbClr val="F6F0E6"/>
          </a:solidFill>
          <a:ln/>
        </p:spPr>
      </p:sp>
      <p:sp>
        <p:nvSpPr>
          <p:cNvPr id="16" name="match-hex"/>
          <p:cNvSpPr/>
          <p:nvPr/>
        </p:nvSpPr>
        <p:spPr>
          <a:xfrm>
            <a:off x="4297589" y="2612686"/>
            <a:ext cx="384048" cy="332586"/>
          </a:xfrm>
          <a:prstGeom prst="hexagon">
            <a:avLst/>
          </a:prstGeom>
          <a:solidFill>
            <a:srgbClr val="B8862B"/>
          </a:solidFill>
          <a:ln/>
        </p:spPr>
      </p:sp>
      <p:sp>
        <p:nvSpPr>
          <p:cNvPr id="17" name="match-hex-label"/>
          <p:cNvSpPr txBox="1"/>
          <p:nvPr/>
        </p:nvSpPr>
        <p:spPr>
          <a:xfrm>
            <a:off x="4297589" y="261268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6212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“Mud on my boots, rain down my neck, a hot dog in each hand”</a:t>
            </a:r>
            <a:endParaRPr lang="en-US" sz="1800" dirty="0"/>
          </a:p>
        </p:txBody>
      </p:sp>
      <p:sp>
        <p:nvSpPr>
          <p:cNvPr id="19" name="match-card"/>
          <p:cNvSpPr/>
          <p:nvPr/>
        </p:nvSpPr>
        <p:spPr>
          <a:xfrm>
            <a:off x="777240" y="3181066"/>
            <a:ext cx="3081437" cy="1127770"/>
          </a:xfrm>
          <a:prstGeom prst="roundRect">
            <a:avLst>
              <a:gd name="adj" fmla="val 6486"/>
            </a:avLst>
          </a:prstGeom>
          <a:solidFill>
            <a:srgbClr val="F6EEEF"/>
          </a:solidFill>
          <a:ln/>
        </p:spPr>
      </p:sp>
      <p:sp>
        <p:nvSpPr>
          <p:cNvPr id="20" name="match-hex"/>
          <p:cNvSpPr/>
          <p:nvPr/>
        </p:nvSpPr>
        <p:spPr>
          <a:xfrm>
            <a:off x="850392" y="3578658"/>
            <a:ext cx="384048" cy="332586"/>
          </a:xfrm>
          <a:prstGeom prst="hexagon">
            <a:avLst/>
          </a:prstGeom>
          <a:solidFill>
            <a:srgbClr val="8C2F39"/>
          </a:solidFill>
          <a:ln/>
        </p:spPr>
      </p:sp>
      <p:sp>
        <p:nvSpPr>
          <p:cNvPr id="21" name="match-hex-label"/>
          <p:cNvSpPr txBox="1"/>
          <p:nvPr/>
        </p:nvSpPr>
        <p:spPr>
          <a:xfrm>
            <a:off x="850392" y="35786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81066"/>
            <a:ext cx="2487077" cy="11277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Setting the scene</a:t>
            </a:r>
            <a:endParaRPr lang="en-US" sz="1800" dirty="0"/>
          </a:p>
        </p:txBody>
      </p:sp>
      <p:sp>
        <p:nvSpPr>
          <p:cNvPr id="23" name="match-card"/>
          <p:cNvSpPr/>
          <p:nvPr/>
        </p:nvSpPr>
        <p:spPr>
          <a:xfrm>
            <a:off x="4224437" y="3181066"/>
            <a:ext cx="7190019" cy="1127770"/>
          </a:xfrm>
          <a:prstGeom prst="roundRect">
            <a:avLst>
              <a:gd name="adj" fmla="val 6486"/>
            </a:avLst>
          </a:prstGeom>
          <a:solidFill>
            <a:srgbClr val="F6F0E6"/>
          </a:solidFill>
          <a:ln/>
        </p:spPr>
      </p:sp>
      <p:sp>
        <p:nvSpPr>
          <p:cNvPr id="24" name="match-hex"/>
          <p:cNvSpPr/>
          <p:nvPr/>
        </p:nvSpPr>
        <p:spPr>
          <a:xfrm>
            <a:off x="4297589" y="3578658"/>
            <a:ext cx="384048" cy="332586"/>
          </a:xfrm>
          <a:prstGeom prst="hexagon">
            <a:avLst/>
          </a:prstGeom>
          <a:solidFill>
            <a:srgbClr val="B8862B"/>
          </a:solidFill>
          <a:ln/>
        </p:spPr>
      </p:sp>
      <p:sp>
        <p:nvSpPr>
          <p:cNvPr id="25" name="match-hex-label"/>
          <p:cNvSpPr txBox="1"/>
          <p:nvPr/>
        </p:nvSpPr>
        <p:spPr>
          <a:xfrm>
            <a:off x="4297589" y="35786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181066"/>
            <a:ext cx="6595659" cy="112777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“Picture this: a sports hall at eight in the morning, two hundred folding chairs, and one microphone that only works when it is tapped.”</a:t>
            </a:r>
            <a:endParaRPr lang="en-US" sz="1800" dirty="0"/>
          </a:p>
        </p:txBody>
      </p:sp>
      <p:sp>
        <p:nvSpPr>
          <p:cNvPr id="27" name="match-card"/>
          <p:cNvSpPr/>
          <p:nvPr/>
        </p:nvSpPr>
        <p:spPr>
          <a:xfrm>
            <a:off x="777240" y="4400276"/>
            <a:ext cx="3081437" cy="848878"/>
          </a:xfrm>
          <a:prstGeom prst="roundRect">
            <a:avLst>
              <a:gd name="adj" fmla="val 8617"/>
            </a:avLst>
          </a:prstGeom>
          <a:solidFill>
            <a:srgbClr val="F6EEEF"/>
          </a:solidFill>
          <a:ln/>
        </p:spPr>
      </p:sp>
      <p:sp>
        <p:nvSpPr>
          <p:cNvPr id="28" name="match-hex"/>
          <p:cNvSpPr/>
          <p:nvPr/>
        </p:nvSpPr>
        <p:spPr>
          <a:xfrm>
            <a:off x="850392" y="4658422"/>
            <a:ext cx="384048" cy="332586"/>
          </a:xfrm>
          <a:prstGeom prst="hexagon">
            <a:avLst/>
          </a:prstGeom>
          <a:solidFill>
            <a:srgbClr val="8C2F39"/>
          </a:solidFill>
          <a:ln/>
        </p:spPr>
      </p:sp>
      <p:sp>
        <p:nvSpPr>
          <p:cNvPr id="29" name="match-hex-label"/>
          <p:cNvSpPr txBox="1"/>
          <p:nvPr/>
        </p:nvSpPr>
        <p:spPr>
          <a:xfrm>
            <a:off x="850392" y="465842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400276"/>
            <a:ext cx="2487077" cy="8488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Triple</a:t>
            </a:r>
            <a:endParaRPr lang="en-US" sz="1800" dirty="0"/>
          </a:p>
        </p:txBody>
      </p:sp>
      <p:sp>
        <p:nvSpPr>
          <p:cNvPr id="31" name="match-card"/>
          <p:cNvSpPr/>
          <p:nvPr/>
        </p:nvSpPr>
        <p:spPr>
          <a:xfrm>
            <a:off x="4224437" y="4400276"/>
            <a:ext cx="7190019" cy="848878"/>
          </a:xfrm>
          <a:prstGeom prst="roundRect">
            <a:avLst>
              <a:gd name="adj" fmla="val 8617"/>
            </a:avLst>
          </a:prstGeom>
          <a:solidFill>
            <a:srgbClr val="F6F0E6"/>
          </a:solidFill>
          <a:ln/>
        </p:spPr>
      </p:sp>
      <p:sp>
        <p:nvSpPr>
          <p:cNvPr id="32" name="match-hex"/>
          <p:cNvSpPr/>
          <p:nvPr/>
        </p:nvSpPr>
        <p:spPr>
          <a:xfrm>
            <a:off x="4297589" y="4658422"/>
            <a:ext cx="384048" cy="332586"/>
          </a:xfrm>
          <a:prstGeom prst="hexagon">
            <a:avLst/>
          </a:prstGeom>
          <a:solidFill>
            <a:srgbClr val="B8862B"/>
          </a:solidFill>
          <a:ln/>
        </p:spPr>
      </p:sp>
      <p:sp>
        <p:nvSpPr>
          <p:cNvPr id="33" name="match-hex-label"/>
          <p:cNvSpPr txBox="1"/>
          <p:nvPr/>
        </p:nvSpPr>
        <p:spPr>
          <a:xfrm>
            <a:off x="4297589" y="465842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400276"/>
            <a:ext cx="6595659" cy="84887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“Have you ever paid twelve pounds to sit in the dark and listen to a stranger eat crisps?”</a:t>
            </a:r>
            <a:endParaRPr lang="en-US" sz="1800" dirty="0"/>
          </a:p>
        </p:txBody>
      </p:sp>
      <p:sp>
        <p:nvSpPr>
          <p:cNvPr id="35" name="match-card"/>
          <p:cNvSpPr/>
          <p:nvPr/>
        </p:nvSpPr>
        <p:spPr>
          <a:xfrm>
            <a:off x="777240" y="5340594"/>
            <a:ext cx="3081437" cy="621294"/>
          </a:xfrm>
          <a:prstGeom prst="roundRect">
            <a:avLst>
              <a:gd name="adj" fmla="val 11774"/>
            </a:avLst>
          </a:prstGeom>
          <a:solidFill>
            <a:srgbClr val="F6EEEF"/>
          </a:solidFill>
          <a:ln/>
        </p:spPr>
      </p:sp>
      <p:sp>
        <p:nvSpPr>
          <p:cNvPr id="36" name="match-hex"/>
          <p:cNvSpPr/>
          <p:nvPr/>
        </p:nvSpPr>
        <p:spPr>
          <a:xfrm>
            <a:off x="850392" y="5484948"/>
            <a:ext cx="384048" cy="332586"/>
          </a:xfrm>
          <a:prstGeom prst="hexagon">
            <a:avLst/>
          </a:prstGeom>
          <a:solidFill>
            <a:srgbClr val="8C2F39"/>
          </a:solidFill>
          <a:ln/>
        </p:spPr>
      </p:sp>
      <p:sp>
        <p:nvSpPr>
          <p:cNvPr id="37" name="match-hex-label"/>
          <p:cNvSpPr txBox="1"/>
          <p:nvPr/>
        </p:nvSpPr>
        <p:spPr>
          <a:xfrm>
            <a:off x="850392" y="548494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40594"/>
            <a:ext cx="2487077" cy="6212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Appeal to the audience</a:t>
            </a:r>
            <a:endParaRPr lang="en-US" sz="1800" dirty="0"/>
          </a:p>
        </p:txBody>
      </p:sp>
      <p:sp>
        <p:nvSpPr>
          <p:cNvPr id="39" name="match-card"/>
          <p:cNvSpPr/>
          <p:nvPr/>
        </p:nvSpPr>
        <p:spPr>
          <a:xfrm>
            <a:off x="4224437" y="5340594"/>
            <a:ext cx="7190019" cy="621294"/>
          </a:xfrm>
          <a:prstGeom prst="roundRect">
            <a:avLst>
              <a:gd name="adj" fmla="val 11774"/>
            </a:avLst>
          </a:prstGeom>
          <a:solidFill>
            <a:srgbClr val="F6F0E6"/>
          </a:solidFill>
          <a:ln/>
        </p:spPr>
      </p:sp>
      <p:sp>
        <p:nvSpPr>
          <p:cNvPr id="40" name="match-hex"/>
          <p:cNvSpPr/>
          <p:nvPr/>
        </p:nvSpPr>
        <p:spPr>
          <a:xfrm>
            <a:off x="4297589" y="5484948"/>
            <a:ext cx="384048" cy="332586"/>
          </a:xfrm>
          <a:prstGeom prst="hexagon">
            <a:avLst/>
          </a:prstGeom>
          <a:solidFill>
            <a:srgbClr val="B8862B"/>
          </a:solidFill>
          <a:ln/>
        </p:spPr>
      </p:sp>
      <p:sp>
        <p:nvSpPr>
          <p:cNvPr id="41" name="match-hex-label"/>
          <p:cNvSpPr txBox="1"/>
          <p:nvPr/>
        </p:nvSpPr>
        <p:spPr>
          <a:xfrm>
            <a:off x="4297589" y="548494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40594"/>
            <a:ext cx="6595659" cy="62129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“If you think a museum is no place for a six-year-old, think again.”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Name the opening</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type of opening to its example.</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EAEB"/>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a question mark: a rhetorical question.</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‘Picture this’ or a place and a time: setting the scene.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items; three in a row is a triple.</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‘you’ and ‘think again’: an appeal to the audience.</a:t>
            </a:r>
            <a:endParaRPr lang="en-US" sz="1800" dirty="0"/>
          </a:p>
        </p:txBody>
      </p:sp>
      <p:sp>
        <p:nvSpPr>
          <p:cNvPr id="17" name="col-Core"/>
          <p:cNvSpPr/>
          <p:nvPr/>
        </p:nvSpPr>
        <p:spPr>
          <a:xfrm>
            <a:off x="5490762" y="2578608"/>
            <a:ext cx="2938987" cy="3566160"/>
          </a:xfrm>
          <a:prstGeom prst="roundRect">
            <a:avLst>
              <a:gd name="adj" fmla="val 1867"/>
            </a:avLst>
          </a:prstGeom>
          <a:solidFill>
            <a:srgbClr val="E6D1D3"/>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Punctuation gives three of them away: a question mark, a colon after ‘Picture this’, and commas between three items.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Write a fifth opening for the county show using a different technique from the one used in the example, and name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Plan before you write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planning steps in the order you should do them before writing a review.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Choose an opening technique and write your first paragraph</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Decide the audience and the tone that suits them</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Read the prompt twice and circle the form it asks for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Decide the purpose: inform, entertain, persuade a little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E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Brainstorm events you could write about (anything can be an event)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8C2F39"/>
                </a:solidFill>
                <a:latin typeface="Cambria" pitchFamily="34" charset="0"/>
                <a:ea typeface="Cambria" pitchFamily="34" charset="-122"/>
                <a:cs typeface="Cambria" pitchFamily="34" charset="-120"/>
              </a:rPr>
              <a:t>Same task, three ways in: Plan before you write</a:t>
            </a:r>
            <a:endParaRPr lang="en-US" sz="30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planning steps in the order you should do them before writing a review.</a:t>
            </a:r>
            <a:endParaRPr lang="en-US" sz="2000" dirty="0"/>
          </a:p>
        </p:txBody>
      </p:sp>
      <p:sp>
        <p:nvSpPr>
          <p:cNvPr id="12" name="col-Support"/>
          <p:cNvSpPr/>
          <p:nvPr/>
        </p:nvSpPr>
        <p:spPr>
          <a:xfrm>
            <a:off x="548640" y="2593848"/>
            <a:ext cx="4667802" cy="3550920"/>
          </a:xfrm>
          <a:prstGeom prst="roundRect">
            <a:avLst>
              <a:gd name="adj" fmla="val 1545"/>
            </a:avLst>
          </a:prstGeom>
          <a:solidFill>
            <a:srgbClr val="F4EAEB"/>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cannot plan a text until you know what type of text it is.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Purpose comes before audience, because the purpose of a review is fixed and the audience changes.</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 need an audience before you can choose an event that will interest them.</a:t>
            </a:r>
            <a:endParaRPr lang="en-US" sz="1800" dirty="0"/>
          </a:p>
          <a:p>
            <a:pPr algn="l" indent="0" marL="0">
              <a:spcAft>
                <a:spcPts val="600"/>
              </a:spcAft>
              <a:buNone/>
            </a:pPr>
            <a:r>
              <a:rPr lang="en-US" sz="18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Writing always comes last.</a:t>
            </a:r>
            <a:endParaRPr lang="en-US" sz="1800" dirty="0"/>
          </a:p>
        </p:txBody>
      </p:sp>
      <p:sp>
        <p:nvSpPr>
          <p:cNvPr id="17" name="col-Core"/>
          <p:cNvSpPr/>
          <p:nvPr/>
        </p:nvSpPr>
        <p:spPr>
          <a:xfrm>
            <a:off x="5490762" y="2593848"/>
            <a:ext cx="2938987" cy="3550920"/>
          </a:xfrm>
          <a:prstGeom prst="roundRect">
            <a:avLst>
              <a:gd name="adj" fmla="val 1867"/>
            </a:avLst>
          </a:prstGeom>
          <a:solidFill>
            <a:srgbClr val="E6D1D3"/>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70262E"/>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Form, purpose, audience and tone, in that order; then ideas; then words on the page.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8C2F39"/>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goes wrong if a pupil brainstorms events before deciding the audience.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of these counts as an event you could review?</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a cup final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Nothing ordinary; it has to be famous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family walk on a Sunday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Only a concert in a stadium</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0F1"/>
          </a:solidFill>
          <a:ln w="12700">
            <a:solidFill>
              <a:srgbClr val="C6979C"/>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Name the opening</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Rhetorical question  →  C  “Have you ever paid twelve pounds to sit in the dark and listen to a stranger eat crisps?”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Setting the scene  →  B  “Picture this: a sports hall at eight in the morning, two hundred folding chairs, and one microphone that only works when it is tapped.”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Triple  →  A  “Mud on my boots, rain down my neck, a hot dog in each hand”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Appeal to the audience  →  D  “If you think a museum is no place for a six-year-old, think again.”</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question mark marks the rhetorical question, ‘Picture this’ sets the scene, three items make the triple, and ‘you… think again’ appeals to the audience.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Plan before you write</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Read the prompt twice and circle the form it asks for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Decide the purpose: inform, entertain, persuade a little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Decide the audience and the tone that suits them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Brainstorm events you could write about (anything can be an event)  (E)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Choose an opening technique and write your first paragraph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Form, purpose, audience and tone come from the prompt; then you gather ideas; only then do you write the opening.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of these counts as an event you could review?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family walk on a Sunday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EAEB"/>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Anything can be an event: dinner, a walk, a birthday. The writing is what is judged, not the event.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4EAEB"/>
      </a:lt2>
      <a:accent1>
        <a:srgbClr val="8C2F39"/>
      </a:accent1>
      <a:accent2>
        <a:srgbClr val="B8862B"/>
      </a:accent2>
      <a:accent3>
        <a:srgbClr val="BA8288"/>
      </a:accent3>
      <a:accent4>
        <a:srgbClr val="815E1E"/>
      </a:accent4>
      <a:accent5>
        <a:srgbClr val="4A505C"/>
      </a:accent5>
      <a:accent6>
        <a:srgbClr val="DCC395"/>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Opinion Writing · Chapter 3: Finding ideas and opening with a hook</dc:title>
  <dc:subject>English · Year 9</dc:subject>
  <dc:creator>Dr Vitor Merissi de Carvalho</dc:creator>
  <cp:lastModifiedBy>Dr Vitor Merissi de Carvalho</cp:lastModifiedBy>
  <cp:revision>1</cp:revision>
  <dcterms:created xsi:type="dcterms:W3CDTF">2026-10-19T06:07:23Z</dcterms:created>
  <dcterms:modified xsi:type="dcterms:W3CDTF">2026-10-19T06:07:23Z</dcterms:modified>
</cp:coreProperties>
</file>