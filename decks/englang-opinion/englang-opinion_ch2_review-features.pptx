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75853b3-e993-d8a3-49ac-8c2303208a08}">
          <p14:sldIdLst>
            <p14:sldId id="256"/>
          </p14:sldIdLst>
        </p14:section>
        <p14:section name="Gate" id="{09c9b760-6313-ab81-2351-fa071d8d759b}">
          <p14:sldIdLst>
            <p14:sldId id="257"/>
            <p14:sldId id="258"/>
          </p14:sldIdLst>
        </p14:section>
        <p14:section name="Pre-teach" id="{8b70bb8e-a4aa-e981-9ff5-5b9e1c49b9c2}">
          <p14:sldIdLst>
            <p14:sldId id="259"/>
          </p14:sldIdLst>
        </p14:section>
        <p14:section name="Read-along" id="{1d65f187-73a9-031f-6ee1-1dc839e2d6dd}">
          <p14:sldIdLst>
            <p14:sldId id="260"/>
            <p14:sldId id="261"/>
          </p14:sldIdLst>
        </p14:section>
        <p14:section name="Teach" id="{29185973-ec6b-6ac5-d6e2-17c14d4930c5}">
          <p14:sldIdLst>
            <p14:sldId id="262"/>
            <p14:sldId id="263"/>
            <p14:sldId id="264"/>
            <p14:sldId id="265"/>
            <p14:sldId id="266"/>
          </p14:sldIdLst>
        </p14:section>
        <p14:section name="Routes" id="{b8928293-1587-84d4-d7df-63cffec311a2}">
          <p14:sldIdLst>
            <p14:sldId id="267"/>
            <p14:sldId id="268"/>
            <p14:sldId id="269"/>
            <p14:sldId id="270"/>
            <p14:sldId id="271"/>
            <p14:sldId id="272"/>
          </p14:sldIdLst>
        </p14:section>
        <p14:section name="Close" id="{58ea012f-6c24-89ca-3e6e-81eeb373585a}">
          <p14:sldIdLst>
            <p14:sldId id="273"/>
          </p14:sldIdLst>
        </p14:section>
        <p14:section name="Answers" id="{2de7e1ff-8a1a-a925-1233-596e6c19cfe5}">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What makes a review a review. You will recognise the seven features of a review, tell a review from a speech, and see why a short website review is not the model to copy.
This deck covers the department's lessons: 2 (Models of Reviews: How is a review different to other forms of non-fiction writing?); 3 (Examples and non-examples: review misconceptions: Why is a short website review not a good model, and what does an extensive review add?).
Read the big question aloud: "How do I write for a specific audience, and how do I turn my opinion into a review or an article that readers will finish?"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writes a review?  →  C   A critic who has experienced the thing being reviewed
2. When a review describes the writer’s experience, it is usually written in the ___ tense.  →  past
3. Where does a review give its clear final judgement?  →  C   In the last paragraph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A critic who has experienced the thing being reviewed. A critic experiences something and then tells readers what it was like and how they formed their opinion.
2. past. The experience has already happened, so the review tells it in the past tense.
3. C   In the last paragraph. The last paragraph gives a clear judgement specific to the event, with the final reason behind it.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critic: a person who writes reviews. Example: "A critic tells us what they experienced and what they thought of it."
• headline: the title at the top of a review or article. Example: "A good headline gives the reader a hint of your opinion."
• anecdote: a short personal story. Example: "An anecdote about a kite hitting a man makes the review funny."
• contrasting: different from, or opposite to. Example: "A fair review includes contrasting opinions, not only the writer’s."
• judgement: your final decision about something. Example: "Save your clear judgement for the last paragraph."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A review is written by a critic.
2. The critic tells us what they experienced and why they formed their opinion.
3. A review informs the reader and helps them decide.
4. A speech is different.
5. A speech is spoken to a live audience and tries to persuade them.
6. If your review is only opinion, it starts to sound like a speech.
7. A review has a headline.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It uses the past tense to describe the experience.
9. It has short paragraphs that are full of information.
10. It includes other people’s opinions as well as yours.
11. It gives specific details about this one event.
12. The last paragraph gives a clear judgement.
13. Short website reviews have word limits, so they are not good models.
14. A full review goes into much more detail.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review is written by a critic. Say it in your own words, then check understanding with a quick question: ask a pupil from the pre-teach group first, since they met these words and ideas before the lesson. Pupils try to recall before you re-explain.
A critic is someone who experiences something, a film, a meal, a festival, a game, and then tells readers what it was like and how they came to their opinion. The experience is the point. A review without the critic’s experience is just a list of opinions, and a list of opinions is halfway to being a speech.
Reviews and speeches both give opinions and both persuade, but they are built differently. A review is written to be read, by people who are already interested in the topic. Its purpose is to inform and to help them decide. A speech is written for a live audience who need convincing; its purpose is to persuade, and its facts are chosen to do exactly that.
So here is the confusion alert your teachers give you: if you only include opinion, opinion and opinion, be careful. You may end up writing a speech. Make the reader experience the event with you, add intriguing details, and tell them facts about your experience as a critic.
Quotation: "Friends, we cannot let this pool close. Sign the petition today, before it is too late! The pool closed at six, an hour earlier than the website promised, and the lockers took only old pound coins." (A line from a speech, then a line from a review — original examples written for Ad Astra). Read it aloud; ask what it shows.
Tip: If a sentence of your review could be shouted from a stage, it probably belongs in a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seven features of a review. Say it in your own words, then check understanding with a quick question: ask a pupil from the pre-teach group first, since they met these words and ideas before the lesson. Pupils try to recall before you re-explain.
Some features a review shares with a magazine article: a headline, the past tense when describing the experience, and shorter paragraphs packed with information. Four features are special to a review: a personal opinion based on experience; contrasting opinions, not just your own; ‘personal’ and specific details about this one event; and a clear judgement in the last paragraph.
Read the first half of ‘Up, Up and Nearly Away’, an original review written for Ad Astra of a town kite festival for a family magazine. Count the features as you go: the headline gives the writer’s angle, the past tense tells the story of the day, and the second paragraph is packed with facts a family would want.
A quick quiz your teacher might set: What goes at the top of a review before the introduction? A headline. Should you include a personal rating or recommendation at the end? Yes. Should you include other people’s opinions? Yes. Is a review serious and informative only, never entertaining? False: anecdotes and humour are welcome.
Quotation: "Up, Up and Nearly Away: a day at the Marsh Hill Kite Festival Picture a hill so windy that the ice-cream van needs a handbrake. That was Marsh Hill last Sunday, when the annual kite festival returned for its twelfth year, and our family went along expecting a quiet picnic. We did not get one. The festival runs from ten until four and entry is free, though parking in the lower field costs five pounds. More than two hundred kites were registered this year, from supermarket diamonds to a Chinese dragon longer than a bus. Food stalls, a kite-making tent and a first-aid post sit at the bottom of the slope." (‘Up, Up and Nearly Away’, paragraphs 1–2 — original model review written for Ad Astra). Read it aloud; ask what it shows.
Tip: Headline, past tense, packed paragraphs, your opinion, others’ opinions, specific details, clear judgement: seven features. Learn them as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seven features of a review. Say it in your own words, then check understanding with a quick question: ask a pupil from the pre-teach group first, since they met these words and ideas before the lesson. Pupils try to recall before you re-explain.
Some features a review shares with a magazine article: a headline, the past tense when describing the experience, and shorter paragraphs packed with information. Four features are special to a review: a personal opinion based on experience; contrasting opinions, not just your own; ‘personal’ and specific details about this one event; and a clear judgement in the last paragraph.
Read the first half of ‘Up, Up and Nearly Away’, an original review written for Ad Astra of a town kite festival for a family magazine. Count the features as you go: the headline gives the writer’s angle, the past tense tells the story of the day, and the second paragraph is packed with facts a family would want.
A quick quiz your teacher might set: What goes at the top of a review before the introduction? A headline. Should you include a personal rating or recommendation at the end? Yes. Should you include other people’s opinions? Yes. Is a review serious and informative only, never entertaining? False: anecdotes and humour are welcome.
Quotation: "Up, Up and Nearly Away: a day at the Marsh Hill Kite Festival Picture a hill so windy that the ice-cream van needs a handbrake. That was Marsh Hill last Sunday, when the annual kite festival returned for its twelfth year, and our family went along expecting a quiet picnic. We did not get one. The festival runs from ten until four and entry is free, though parking in the lower field costs five pounds. More than two hundred kites were registered this year, from supermarket diamonds to a Chinese dragon longer than a bus. Food stalls, a kite-making tent and a first-aid post sit at the bottom of the slope." (‘Up, Up and Nearly Away’, paragraphs 1–2 — original model review written for Ad Astra). Read it aloud; ask what it shows.
Tip: Headline, past tense, packed paragraphs, your opinion, others’ opinions, specific details, clear judgement: seven features. Learn them as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a 100-word website review is not the model. Say it in your own words, then check understanding with a quick question: ask a pupil from the pre-teach group first, since they met these words and ideas before the lesson. Pupils try to recall before you re-explain.
Review websites let anyone post a review of a hotel, a restaurant, a book or a shop. Most have a word limit, so their reviews are short: a quick summary, a rating and a line of opinion. They are useful for choosing a pizza. They are not good models for English writing, because a word limit stops the writer developing anything.
An extensive review does what the short one cannot. It gives background information (who, what, where, when, and for a performance, the director, actors and key moments). It brings the experience to life with an anecdote or humour. It includes other people’s opinions. And it ends by answering the reader’s real question: would you recommend this, and why?
Here is the second half of the kite review. Notice the anecdote, the contrasting opinions of other visitors, and the clear recommendation in the last paragraph.
Quotation: "I had promised my daughter that our kite would fly. It did, for about nine seconds, before it nose-dived into a man eating chips. He was very kind about it. Later, in the kite-making tent, a volunteer called Priya showed us how to balance a frame, and our second attempt stayed up for the whole afternoon. Not everything soared. The queue for the toilets was long, and the loudspeaker announcements were impossible to hear over the wind. Some visitors near us grumbled that the car park was a swamp. Even so, the volunteers were patient with every tangled line, and the sight of two hundred kites against a grey sky is hard to beat. Would I go again? Yes, with wellies and a stronger kite. Marsh Hill is a free day out that gives families something to do together, which is rarer than it should be. The festival returns next May; check the town council website for the date." (‘Up, Up and Nearly Away’, paragraphs 3–5 — original model review written for Ad Astra). Read it aloud; ask what it shows.
Tip: If your review could fit in a text message, it is not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a 100-word website review is not the model. Say it in your own words, then check understanding with a quick question: ask a pupil from the pre-teach group first, since they met these words and ideas before the lesson. Pupils try to recall before you re-explain.
Review websites let anyone post a review of a hotel, a restaurant, a book or a shop. Most have a word limit, so their reviews are short: a quick summary, a rating and a line of opinion. They are useful for choosing a pizza. They are not good models for English writing, because a word limit stops the writer developing anything.
An extensive review does what the short one cannot. It gives background information (who, what, where, when, and for a performance, the director, actors and key moments). It brings the experience to life with an anecdote or humour. It includes other people’s opinions. And it ends by answering the reader’s real question: would you recommend this, and why?
Here is the second half of the kite review. Notice the anecdote, the contrasting opinions of other visitors, and the clear recommendation in the last paragraph.
Quotation: "I had promised my daughter that our kite would fly. It did, for about nine seconds, before it nose-dived into a man eating chips. He was very kind about it. Later, in the kite-making tent, a volunteer called Priya showed us how to balance a frame, and our second attempt stayed up for the whole afternoon. Not everything soared. The queue for the toilets was long, and the loudspeaker announcements were impossible to hear over the wind. Some visitors near us grumbled that the car park was a swamp. Even so, the volunteers were patient with every tangled line, and the sight of two hundred kites against a grey sky is hard to beat. Would I go again? Yes, with wellies and a stronger kite. Marsh Hill is a free day out that gives families something to do together, which is rarer than it should be. The festival returns next May; check the town council website for the date." (‘Up, Up and Nearly Away’, paragraphs 3–5 — original model review written for Ad Astra). Read it aloud; ask what it shows.
Tip: If your review could fit in a text message, it is not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Find the feature.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feature of a review to the place it appears in ‘Up, Up and Nearly Away’.
Support — work through the steps with the group: (1) The headline is the title at the very top. (2) A factual detail is something you could check: a number, a time, a price. (3) An anecdote is a small story about the writer; humour makes you smile. (4) A contrasting opinion belongs to someone other than the writer. (5) The judgement answers ‘would you go again?’ and comes last.
Parallel worked example for Support (model it, do not give the task answer): In the Bounce Yard parents’ review, which line is a specific factual detail: “Two hours cost us less than a cinema trip.” or “Bounce Yard may be the answer”? Which one could be checked?; Cost and time are facts; ‘may be the answer’ is opinion.. Answer: “Two hours cost us less than a cinema trip.” is the factual detail..
Core — reveal the hint only on request: One quotation has a price in it, one has a question in it, and one begins with other people.
Stretch — no help; when finished: The review has a sixth and seventh feature too: the past tense and short, information-packed paragraphs. Find one example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Find the feature.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feature of a review to the place it appears in ‘Up, Up and Nearly Away’.
Support — work through the steps with the group: (1) The headline is the title at the very top. (2) A factual detail is something you could check: a number, a time, a price. (3) An anecdote is a small story about the writer; humour makes you smile. (4) A contrasting opinion belongs to someone other than the writer. (5) The judgement answers ‘would you go again?’ and comes last.
Parallel worked example for Support (model it, do not give the task answer): In the Bounce Yard parents’ review, which line is a specific factual detail: “Two hours cost us less than a cinema trip.” or “Bounce Yard may be the answer”? Which one could be checked?; Cost and time are facts; ‘may be the answer’ is opinion.. Answer: “Two hours cost us less than a cinema trip.” is the factual detail..
Core — reveal the hint only on request: One quotation has a price in it, one has a question in it, and one begins with other people.
Stretch — no help; when finished: The review has a sixth and seventh feature too: the past tense and short, information-packed paragraphs. Find one example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Find the feature.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feature of a review to the place it appears in ‘Up, Up and Nearly Away’.
Support — work through the steps with the group: (1) The headline is the title at the very top. (2) A factual detail is something you could check: a number, a time, a price. (3) An anecdote is a small story about the writer; humour makes you smile. (4) A contrasting opinion belongs to someone other than the writer. (5) The judgement answers ‘would you go again?’ and comes last.
Parallel worked example for Support (model it, do not give the task answer): In the Bounce Yard parents’ review, which line is a specific factual detail: “Two hours cost us less than a cinema trip.” or “Bounce Yard may be the answer”? Which one could be checked?; Cost and time are facts; ‘may be the answer’ is opinion.. Answer: “Two hours cost us less than a cinema trip.” is the factual detail..
Core — reveal the hint only on request: One quotation has a price in it, one has a question in it, and one begins with other people.
Stretch — no help; when finished: The review has a sixth and seventh feature too: the past tense and short, information-packed paragraphs. Find one example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Find the feature.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feature of a review to the place it appears in ‘Up, Up and Nearly Away’.
Support — work through the steps with the group: (1) The headline is the title at the very top. (2) A factual detail is something you could check: a number, a time, a price. (3) An anecdote is a small story about the writer; humour makes you smile. (4) A contrasting opinion belongs to someone other than the writer. (5) The judgement answers ‘would you go again?’ and comes last.
Parallel worked example for Support (model it, do not give the task answer): In the Bounce Yard parents’ review, which line is a specific factual detail: “Two hours cost us less than a cinema trip.” or “Bounce Yard may be the answer”? Which one could be checked?; Cost and time are facts; ‘may be the answer’ is opinion.. Answer: “Two hours cost us less than a cinema trip.” is the factual detail..
Core — reveal the hint only on request: One quotation has a price in it, one has a question in it, and one begins with other people.
Stretch — no help; when finished: The review has a sixth and seventh feature too: the past tense and short, information-packed paragraphs. Find one example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Review or speech?.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change would turn the kite festival review into a speech?
Support — work through the steps with the group: (1) Remember the confusion alert: opinion, opinion and opinion sounds like a speech. (2) Ask which option removes information and adds persuasion. (3) Rule out any option that adds a fact or a detail.
Parallel worked example for Support (model it, do not give the task answer): Which is from a speech: “Sign the petition today, before it is too late!” or “the lockers took only old pound coins”? Which one urges a crowd to act?; Which one is a detail from an experience?. Answer: “Sign the petition today, before it is too late!” is from a speech; the lockers are a review detail..
Core — reveal the hint only on request: A speech wants the crowd to do something. A review wants the reader to know something.
Stretch — no help; when finished: Write one sentence of a speech urging families to attend the kite festival, then explain what makes it different from the review’s last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Review or speech?.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change would turn the kite festival review into a speech?
Support — work through the steps with the group: (1) Remember the confusion alert: opinion, opinion and opinion sounds like a speech. (2) Ask which option removes information and adds persuasion. (3) Rule out any option that adds a fact or a detail.
Parallel worked example for Support (model it, do not give the task answer): Which is from a speech: “Sign the petition today, before it is too late!” or “the lockers took only old pound coins”? Which one urges a crowd to act?; Which one is a detail from an experience?. Answer: “Sign the petition today, before it is too late!” is from a speech; the lockers are a review detail..
Core — reveal the hint only on request: A speech wants the crowd to do something. A review wants the reader to know something.
Stretch — no help; when finished: Write one sentence of a speech urging families to attend the kite festival, then explain what makes it different from the review’s last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Who writes a review?
Answer: B   A critic who has experienced the thing being reviewed. A critic experiences something and then tells readers what it was like and how they formed their opinion.
Source of this question: gate item 1 re-asked (options rotated) — this chapter has no third quick-check module.
The ebook also holds task 3, "Writing practice: an intentionally bad review",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Find the feature. Reveal the answer; pupils mark their own work in a different colour, then read the "why" together. Same destination for every lane, so one answer serves the whole class.
Answer: Headline that gives the writer’s angle  →  A  “Up, Up and Nearly Away: a day at the Marsh Hill Kite Festival”; Specific, factual detail  →  C  “parking in the lower field costs five pounds”; Anecdote with humour  →  E  “it nose-dived into a man eating chips”; Contrasting opinion, not the writer’s own  →  B  “Some visitors near us grumbled that the car park was a swamp.”; Clear judgement in the last paragraph  →  D  “Would I go again? Yes, with wellies and a stronger kite.”
Why: Headline at the top, a price as the fact, the chip-eating man as the anecdote, the grumbling visitors as the contrasting view, and the question-and-answer as the final judgement.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Review or speech?. Reveal the answer; pupils mark their own work in a different colour, then read the "why" together. Same destination for every lane, so one answer serves the whole class.
Answer: D   Cutting the facts and keeping only the writer’s opinions, so a crowd could be urged to attend
Why: A review informs with facts and experience; a speech persuades a live audience with opinion. Remove the facts and you have a speech.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A critic who has experienced the thing being reviewed
Why: A critic experiences something and then tells readers what it was like and how they formed their opinion.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ADADB"/>
          </a:solidFill>
          <a:ln w="12700">
            <a:solidFill>
              <a:srgbClr val="EADADB"/>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 Year 9 · Opinion Writing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ADADB"/>
          </a:solidFill>
          <a:ln w="12700">
            <a:solidFill>
              <a:srgbClr val="EADADB"/>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 Year 9 · Opinion Writing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D5D7"/>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Opinion Writing · AQA KS3 → 8700</a:t>
            </a:r>
            <a:endParaRPr lang="en-US" sz="1800" dirty="0"/>
          </a:p>
        </p:txBody>
      </p:sp>
      <p:sp>
        <p:nvSpPr>
          <p:cNvPr id="10" name="deck-title"/>
          <p:cNvSpPr txBox="1"/>
          <p:nvPr/>
        </p:nvSpPr>
        <p:spPr>
          <a:xfrm>
            <a:off x="548640" y="206425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What makes a review a review</a:t>
            </a:r>
            <a:endParaRPr lang="en-US" sz="4000" dirty="0"/>
          </a:p>
        </p:txBody>
      </p:sp>
      <p:sp>
        <p:nvSpPr>
          <p:cNvPr id="11" name="lessons-card"/>
          <p:cNvSpPr/>
          <p:nvPr/>
        </p:nvSpPr>
        <p:spPr>
          <a:xfrm>
            <a:off x="548640" y="3740658"/>
            <a:ext cx="5287975" cy="1638300"/>
          </a:xfrm>
          <a:prstGeom prst="roundRect">
            <a:avLst>
              <a:gd name="adj" fmla="val 4465"/>
            </a:avLst>
          </a:prstGeom>
          <a:solidFill>
            <a:srgbClr val="F4EAEB"/>
          </a:solidFill>
          <a:ln/>
        </p:spPr>
      </p:sp>
      <p:sp>
        <p:nvSpPr>
          <p:cNvPr id="12" name="lessons"/>
          <p:cNvSpPr txBox="1"/>
          <p:nvPr/>
        </p:nvSpPr>
        <p:spPr>
          <a:xfrm>
            <a:off x="685800" y="38320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Models of Reviews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Examples and non-examples: review misconceptions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EAEB"/>
          </a:solidFill>
          <a:ln w="12700">
            <a:solidFill>
              <a:srgbClr val="D1ACB0"/>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I write for a specific audience, and how do I turn my opinion into a review or an article that readers will finish?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0F1"/>
          </a:solidFill>
          <a:ln w="12700">
            <a:solidFill>
              <a:srgbClr val="D7B6BA"/>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Who writes a review?</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Anyone, as long as they have never seen it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person who organised the event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critic who has experienced the thing being reviewed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character inside a story</a:t>
            </a:r>
            <a:endParaRPr lang="en-US" sz="2000" dirty="0"/>
          </a:p>
        </p:txBody>
      </p:sp>
      <p:sp>
        <p:nvSpPr>
          <p:cNvPr id="12" name="card"/>
          <p:cNvSpPr/>
          <p:nvPr/>
        </p:nvSpPr>
        <p:spPr>
          <a:xfrm>
            <a:off x="4338218" y="1389888"/>
            <a:ext cx="3515258" cy="4754880"/>
          </a:xfrm>
          <a:prstGeom prst="roundRect">
            <a:avLst>
              <a:gd name="adj" fmla="val 1561"/>
            </a:avLst>
          </a:prstGeom>
          <a:solidFill>
            <a:srgbClr val="F7F0F1"/>
          </a:solidFill>
          <a:ln w="12700">
            <a:solidFill>
              <a:srgbClr val="D7B6BA"/>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When a review describes the writer’s experience, it is usually written in the ___ tense.</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past  ·  future  ·  present</a:t>
            </a:r>
            <a:endParaRPr lang="en-US" sz="2400" dirty="0"/>
          </a:p>
        </p:txBody>
      </p:sp>
      <p:sp>
        <p:nvSpPr>
          <p:cNvPr id="17" name="card"/>
          <p:cNvSpPr/>
          <p:nvPr/>
        </p:nvSpPr>
        <p:spPr>
          <a:xfrm>
            <a:off x="8127797" y="1389888"/>
            <a:ext cx="3515258" cy="4754880"/>
          </a:xfrm>
          <a:prstGeom prst="roundRect">
            <a:avLst>
              <a:gd name="adj" fmla="val 1561"/>
            </a:avLst>
          </a:prstGeom>
          <a:solidFill>
            <a:srgbClr val="F7F0F1"/>
          </a:solidFill>
          <a:ln w="12700">
            <a:solidFill>
              <a:srgbClr val="D7B6BA"/>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Where does a review give its clear final judgement?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In a list of bullet points at the start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Only in the headline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In the last paragraph</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Nowhere; the reader should guess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0F1"/>
          </a:solidFill>
          <a:ln w="12700">
            <a:solidFill>
              <a:srgbClr val="D7B6BA"/>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 critic who has experienced the thing being reviewed</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Who writes a review?</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critic experiences something and then tells readers what it was like and how they formed their opinion.</a:t>
            </a:r>
            <a:endParaRPr lang="en-US" sz="2000" dirty="0"/>
          </a:p>
        </p:txBody>
      </p:sp>
      <p:sp>
        <p:nvSpPr>
          <p:cNvPr id="14" name="card"/>
          <p:cNvSpPr/>
          <p:nvPr/>
        </p:nvSpPr>
        <p:spPr>
          <a:xfrm>
            <a:off x="4338218" y="1389888"/>
            <a:ext cx="3515258" cy="4754880"/>
          </a:xfrm>
          <a:prstGeom prst="roundRect">
            <a:avLst>
              <a:gd name="adj" fmla="val 1561"/>
            </a:avLst>
          </a:prstGeom>
          <a:solidFill>
            <a:srgbClr val="F7F0F1"/>
          </a:solidFill>
          <a:ln w="12700">
            <a:solidFill>
              <a:srgbClr val="D7B6BA"/>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past</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When a review describes the writer’s experience, it is usually written in the ___ tense.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experience has already happened, so the review tells it in the past tense.</a:t>
            </a:r>
            <a:endParaRPr lang="en-US" sz="2000" dirty="0"/>
          </a:p>
        </p:txBody>
      </p:sp>
      <p:sp>
        <p:nvSpPr>
          <p:cNvPr id="21" name="card"/>
          <p:cNvSpPr/>
          <p:nvPr/>
        </p:nvSpPr>
        <p:spPr>
          <a:xfrm>
            <a:off x="8127797" y="1389888"/>
            <a:ext cx="3515258" cy="4754880"/>
          </a:xfrm>
          <a:prstGeom prst="roundRect">
            <a:avLst>
              <a:gd name="adj" fmla="val 1561"/>
            </a:avLst>
          </a:prstGeom>
          <a:solidFill>
            <a:srgbClr val="F7F0F1"/>
          </a:solidFill>
          <a:ln w="12700">
            <a:solidFill>
              <a:srgbClr val="D7B6BA"/>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In the last paragraph</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Where does a review give its clear final judgement?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last paragraph gives a clear judgement specific to the event, with the final reason behind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6EEEF"/>
          </a:solidFill>
          <a:ln/>
        </p:spPr>
      </p:sp>
      <p:sp>
        <p:nvSpPr>
          <p:cNvPr id="12" name="kw-hex"/>
          <p:cNvSpPr/>
          <p:nvPr/>
        </p:nvSpPr>
        <p:spPr>
          <a:xfrm>
            <a:off x="658368" y="2135261"/>
            <a:ext cx="411480" cy="356342"/>
          </a:xfrm>
          <a:prstGeom prst="hexagon">
            <a:avLst/>
          </a:prstGeom>
          <a:solidFill>
            <a:srgbClr val="8C2F39"/>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critic</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person who writes reviews</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critic tells us what they experienced and what they thought of it.</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headline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title at the top of a review or article</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good headline gives the reader a hint of your opinion.</a:t>
            </a:r>
            <a:endParaRPr lang="en-US" sz="1800" dirty="0"/>
          </a:p>
        </p:txBody>
      </p:sp>
      <p:sp>
        <p:nvSpPr>
          <p:cNvPr id="21" name="kw-row"/>
          <p:cNvSpPr/>
          <p:nvPr/>
        </p:nvSpPr>
        <p:spPr>
          <a:xfrm>
            <a:off x="548640" y="3639312"/>
            <a:ext cx="11094415" cy="786384"/>
          </a:xfrm>
          <a:prstGeom prst="roundRect">
            <a:avLst>
              <a:gd name="adj" fmla="val 6977"/>
            </a:avLst>
          </a:prstGeom>
          <a:solidFill>
            <a:srgbClr val="F6EEEF"/>
          </a:solidFill>
          <a:ln/>
        </p:spPr>
      </p:sp>
      <p:sp>
        <p:nvSpPr>
          <p:cNvPr id="22" name="kw-hex"/>
          <p:cNvSpPr/>
          <p:nvPr/>
        </p:nvSpPr>
        <p:spPr>
          <a:xfrm>
            <a:off x="658368" y="3854333"/>
            <a:ext cx="411480" cy="356342"/>
          </a:xfrm>
          <a:prstGeom prst="hexagon">
            <a:avLst/>
          </a:prstGeom>
          <a:solidFill>
            <a:srgbClr val="8C2F39"/>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anecdote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short personal story</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An anecdote about a kite hitting a man makes the review funny.</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contrasting</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different from, or opposite to</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fair review includes contrasting opinions, not only the writer’s.</a:t>
            </a:r>
            <a:endParaRPr lang="en-US" sz="1800" dirty="0"/>
          </a:p>
        </p:txBody>
      </p:sp>
      <p:sp>
        <p:nvSpPr>
          <p:cNvPr id="31" name="kw-row"/>
          <p:cNvSpPr/>
          <p:nvPr/>
        </p:nvSpPr>
        <p:spPr>
          <a:xfrm>
            <a:off x="548640" y="5358384"/>
            <a:ext cx="11094415" cy="786384"/>
          </a:xfrm>
          <a:prstGeom prst="roundRect">
            <a:avLst>
              <a:gd name="adj" fmla="val 6977"/>
            </a:avLst>
          </a:prstGeom>
          <a:solidFill>
            <a:srgbClr val="F6EEEF"/>
          </a:solidFill>
          <a:ln/>
        </p:spPr>
      </p:sp>
      <p:sp>
        <p:nvSpPr>
          <p:cNvPr id="32" name="kw-hex"/>
          <p:cNvSpPr/>
          <p:nvPr/>
        </p:nvSpPr>
        <p:spPr>
          <a:xfrm>
            <a:off x="658368" y="5573405"/>
            <a:ext cx="411480" cy="356342"/>
          </a:xfrm>
          <a:prstGeom prst="hexagon">
            <a:avLst/>
          </a:prstGeom>
          <a:solidFill>
            <a:srgbClr val="8C2F39"/>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judgement</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final decision about something</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Save your clear judgement for the last paragraph.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0F1"/>
          </a:solidFill>
          <a:ln w="12700">
            <a:solidFill>
              <a:srgbClr val="DDC1C4"/>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review is written by a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critic</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critic</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tells us what they experienced and why they formed their opinion.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review informs the reader and helps them decide.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speech is different.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speech is spoken to a live audience and tries to persuade them.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If your review is only opinion, it starts to sound like a speech.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review has a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headline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0F1"/>
          </a:solidFill>
          <a:ln w="12700">
            <a:solidFill>
              <a:srgbClr val="DDC1C4"/>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uses the past tense to describe the experience.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has short paragraphs that are full of information.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includes other people’s opinions as well as yours.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gives specific details about this one event.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last paragraph gives a clear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judgement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Short website reviews have word limits, so they are not good models.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full review goes into much more detail.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 review is written by a critic</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4EDDF"/>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sentence of your review could be shouted from a stage, it probably belongs in a speech.</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4EAEB"/>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Friends, we cannot let this pool close. Sign the petition today, before it is too late! The pool closed at six, an hour earlier than the website promised, and the lockers took only old pound coins.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A line from a speech, then a line from a review — original examples written for Ad Astra</a:t>
            </a:r>
            <a:endParaRPr lang="en-US" sz="2600" dirty="0"/>
          </a:p>
        </p:txBody>
      </p:sp>
      <p:sp>
        <p:nvSpPr>
          <p:cNvPr id="14" name="bullet-card"/>
          <p:cNvSpPr/>
          <p:nvPr/>
        </p:nvSpPr>
        <p:spPr>
          <a:xfrm>
            <a:off x="548640" y="1389888"/>
            <a:ext cx="5074920" cy="1971294"/>
          </a:xfrm>
          <a:prstGeom prst="roundRect">
            <a:avLst>
              <a:gd name="adj" fmla="val 3711"/>
            </a:avLst>
          </a:prstGeom>
          <a:solidFill>
            <a:srgbClr val="F6EEEF"/>
          </a:solidFill>
          <a:ln/>
        </p:spPr>
      </p:sp>
      <p:sp>
        <p:nvSpPr>
          <p:cNvPr id="15" name="bullet-hex"/>
          <p:cNvSpPr/>
          <p:nvPr/>
        </p:nvSpPr>
        <p:spPr>
          <a:xfrm>
            <a:off x="676656" y="2209242"/>
            <a:ext cx="384048" cy="332586"/>
          </a:xfrm>
          <a:prstGeom prst="hexagon">
            <a:avLst/>
          </a:prstGeom>
          <a:solidFill>
            <a:srgbClr val="8C2F39"/>
          </a:solidFill>
          <a:ln/>
        </p:spPr>
      </p:sp>
      <p:sp>
        <p:nvSpPr>
          <p:cNvPr id="16" name="bullet"/>
          <p:cNvSpPr txBox="1"/>
          <p:nvPr/>
        </p:nvSpPr>
        <p:spPr>
          <a:xfrm>
            <a:off x="1143000" y="1389888"/>
            <a:ext cx="4389120" cy="197129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critic is someone who experiences something, a film, a meal, a festival, a game, and then tells readers what it was like and how they came to their opinion.</a:t>
            </a:r>
            <a:endParaRPr lang="en-US" sz="2200" dirty="0"/>
          </a:p>
        </p:txBody>
      </p:sp>
      <p:sp>
        <p:nvSpPr>
          <p:cNvPr id="17" name="bullet-card"/>
          <p:cNvSpPr/>
          <p:nvPr/>
        </p:nvSpPr>
        <p:spPr>
          <a:xfrm>
            <a:off x="548640" y="3507486"/>
            <a:ext cx="5074920" cy="1289558"/>
          </a:xfrm>
          <a:prstGeom prst="roundRect">
            <a:avLst>
              <a:gd name="adj" fmla="val 5673"/>
            </a:avLst>
          </a:prstGeom>
          <a:solidFill>
            <a:srgbClr val="F6EEEF"/>
          </a:solidFill>
          <a:ln/>
        </p:spPr>
      </p:sp>
      <p:sp>
        <p:nvSpPr>
          <p:cNvPr id="18" name="bullet-hex"/>
          <p:cNvSpPr/>
          <p:nvPr/>
        </p:nvSpPr>
        <p:spPr>
          <a:xfrm>
            <a:off x="676656" y="3985972"/>
            <a:ext cx="384048" cy="332586"/>
          </a:xfrm>
          <a:prstGeom prst="hexagon">
            <a:avLst/>
          </a:prstGeom>
          <a:solidFill>
            <a:srgbClr val="B8862B"/>
          </a:solidFill>
          <a:ln/>
        </p:spPr>
      </p:sp>
      <p:sp>
        <p:nvSpPr>
          <p:cNvPr id="19" name="bullet"/>
          <p:cNvSpPr txBox="1"/>
          <p:nvPr/>
        </p:nvSpPr>
        <p:spPr>
          <a:xfrm>
            <a:off x="1143000" y="3507486"/>
            <a:ext cx="4389120" cy="12895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Reviews and speeches both give opinions and both persuade, but they are built differently.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seven features of a review</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Headline, past tense, packed paragraphs, your opinion, others’ opinions, specific details, clear judgement: seven features. Learn them as a list.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EAEB"/>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Some features a review shares with a magazine article: a headline, the past tense when describing the experience, and shorter paragraphs packed with information.</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Read the first half of ‘Up, Up and Nearly Away’, an original review written for Ad Astra of a town kite festival for a family magazine.</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4EAEB"/>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quick quiz your teacher might set: What goes at the top of a review before the introduction?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seven features of a review</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4EAEB"/>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400" i="1" dirty="0">
                <a:solidFill>
                  <a:srgbClr val="1E2229"/>
                </a:solidFill>
                <a:latin typeface="Cambria" pitchFamily="34" charset="0"/>
                <a:ea typeface="Cambria" pitchFamily="34" charset="-122"/>
                <a:cs typeface="Cambria" pitchFamily="34" charset="-120"/>
              </a:rPr>
              <a:t>Up, Up and Nearly Away: a day at the Marsh Hill Kite Festival Picture a hill so windy that the ice-cream van needs a handbrake. That was Marsh Hill last Sunday, when the annual kite festival returned for its twelfth year, and our family went along expecting a quiet picnic. We did not get one. The festival runs from ten until four and entry is free, though parking in the lower field costs five pounds. More than two hundred kites were registered this year, from supermarket diamonds to a Chinese dragon longer than a bus. Food stalls, a kite-making tent and a first-aid post sit at the bottom of the slope.</a:t>
            </a:r>
            <a:endParaRPr lang="en-US" sz="2400" dirty="0"/>
          </a:p>
          <a:p>
            <a:pPr algn="l" indent="0" marL="0">
              <a:buNone/>
            </a:pPr>
            <a:r>
              <a:rPr lang="en-US" sz="1800" dirty="0">
                <a:solidFill>
                  <a:srgbClr val="4A505C"/>
                </a:solidFill>
                <a:latin typeface="Calibri" pitchFamily="34" charset="0"/>
                <a:ea typeface="Calibri" pitchFamily="34" charset="-122"/>
                <a:cs typeface="Calibri" pitchFamily="34" charset="-120"/>
              </a:rPr>
              <a:t>— ‘Up, Up and Nearly Away’, paragraphs 1–2 — original model review written for Ad Astra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Why a 100-word website review is not the model</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your review could fit in a text message, it is not finished.</a:t>
            </a:r>
            <a:endParaRPr lang="en-US" sz="1800" dirty="0"/>
          </a:p>
        </p:txBody>
      </p:sp>
      <p:sp>
        <p:nvSpPr>
          <p:cNvPr id="11" name="point-card"/>
          <p:cNvSpPr/>
          <p:nvPr/>
        </p:nvSpPr>
        <p:spPr>
          <a:xfrm>
            <a:off x="548640" y="1389888"/>
            <a:ext cx="3515258" cy="3964940"/>
          </a:xfrm>
          <a:prstGeom prst="roundRect">
            <a:avLst>
              <a:gd name="adj" fmla="val 1561"/>
            </a:avLst>
          </a:prstGeom>
          <a:solidFill>
            <a:srgbClr val="F4EAEB"/>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Review websites let anyone post a review of a hotel, a restaurant, a book or a shop.</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An extensive review does what the short one cannot. It gives background information (who, what, where, when, and for a performance, the director, actors and key moments).</a:t>
            </a:r>
            <a:endParaRPr lang="en-US" sz="2000" dirty="0"/>
          </a:p>
        </p:txBody>
      </p:sp>
      <p:sp>
        <p:nvSpPr>
          <p:cNvPr id="19" name="point-card"/>
          <p:cNvSpPr/>
          <p:nvPr/>
        </p:nvSpPr>
        <p:spPr>
          <a:xfrm>
            <a:off x="8127797" y="1389888"/>
            <a:ext cx="3515258" cy="3964940"/>
          </a:xfrm>
          <a:prstGeom prst="roundRect">
            <a:avLst>
              <a:gd name="adj" fmla="val 1561"/>
            </a:avLst>
          </a:prstGeom>
          <a:solidFill>
            <a:srgbClr val="F4EAEB"/>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Here is the second half of the kite review. Notice the anecdote, the contrasting opinions of other visitors, and the clear recommendation in the last paragraph.</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Why a 100-word website review is not the model</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4EAEB"/>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000" i="1" dirty="0">
                <a:solidFill>
                  <a:srgbClr val="1E2229"/>
                </a:solidFill>
                <a:latin typeface="Cambria" pitchFamily="34" charset="0"/>
                <a:ea typeface="Cambria" pitchFamily="34" charset="-122"/>
                <a:cs typeface="Cambria" pitchFamily="34" charset="-120"/>
              </a:rPr>
              <a:t>I had promised my daughter that our kite would fly. It did, for about nine seconds, before it nose-dived into a man eating chips. He was very kind about it. Later, in the kite-making tent, a volunteer called Priya showed us how to balance a frame, and our second attempt stayed up for the whole afternoon. Not everything soared. The queue for the toilets was long, and the loudspeaker announcements were impossible to hear over the wind. Some visitors near us grumbled that the car park was a swamp. Even so, the volunteers were patient with every tangled line, and the sight of two hundred kites against a grey sky is hard to beat. Would I go again? Yes, with wellies and a stronger kite. Marsh Hill is a free day out that gives families something to do together, which is rarer than it should be. The festival returns next May; check the town council website for the date.</a:t>
            </a:r>
            <a:endParaRPr lang="en-US" sz="2000" dirty="0"/>
          </a:p>
          <a:p>
            <a:pPr algn="l" indent="0" marL="0">
              <a:buNone/>
            </a:pPr>
            <a:r>
              <a:rPr lang="en-US" sz="1800" dirty="0">
                <a:solidFill>
                  <a:srgbClr val="4A505C"/>
                </a:solidFill>
                <a:latin typeface="Calibri" pitchFamily="34" charset="0"/>
                <a:ea typeface="Calibri" pitchFamily="34" charset="-122"/>
                <a:cs typeface="Calibri" pitchFamily="34" charset="-120"/>
              </a:rPr>
              <a:t>— ‘Up, Up and Nearly Away’, paragraphs 3–5 — original model review written for Ad Astra</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Find the feature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feature of a review to the place it appears in ‘Up, Up and Nearly Away’.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(1 of 2): Find the feature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feature of a review to the place it appears in ‘Up, Up and Nearly Away’.</a:t>
            </a:r>
            <a:endParaRPr lang="en-US" sz="2400" dirty="0"/>
          </a:p>
        </p:txBody>
      </p:sp>
      <p:sp>
        <p:nvSpPr>
          <p:cNvPr id="11" name="match-card"/>
          <p:cNvSpPr/>
          <p:nvPr/>
        </p:nvSpPr>
        <p:spPr>
          <a:xfrm>
            <a:off x="777240" y="2672080"/>
            <a:ext cx="4038350" cy="1149265"/>
          </a:xfrm>
          <a:prstGeom prst="roundRect">
            <a:avLst>
              <a:gd name="adj" fmla="val 6365"/>
            </a:avLst>
          </a:prstGeom>
          <a:solidFill>
            <a:srgbClr val="F6EEEF"/>
          </a:solidFill>
          <a:ln/>
        </p:spPr>
      </p:sp>
      <p:sp>
        <p:nvSpPr>
          <p:cNvPr id="12" name="match-hex"/>
          <p:cNvSpPr/>
          <p:nvPr/>
        </p:nvSpPr>
        <p:spPr>
          <a:xfrm>
            <a:off x="850392" y="3080420"/>
            <a:ext cx="384048" cy="332586"/>
          </a:xfrm>
          <a:prstGeom prst="hexagon">
            <a:avLst/>
          </a:prstGeom>
          <a:solidFill>
            <a:srgbClr val="8C2F39"/>
          </a:solidFill>
          <a:ln/>
        </p:spPr>
      </p:sp>
      <p:sp>
        <p:nvSpPr>
          <p:cNvPr id="13" name="match-hex-label"/>
          <p:cNvSpPr txBox="1"/>
          <p:nvPr/>
        </p:nvSpPr>
        <p:spPr>
          <a:xfrm>
            <a:off x="850392" y="308042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3443990" cy="114926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Headline that gives the writer’s angle</a:t>
            </a:r>
            <a:endParaRPr lang="en-US" sz="2200" dirty="0"/>
          </a:p>
        </p:txBody>
      </p:sp>
      <p:sp>
        <p:nvSpPr>
          <p:cNvPr id="15" name="match-card"/>
          <p:cNvSpPr/>
          <p:nvPr/>
        </p:nvSpPr>
        <p:spPr>
          <a:xfrm>
            <a:off x="5181350" y="2672080"/>
            <a:ext cx="6233105" cy="1149265"/>
          </a:xfrm>
          <a:prstGeom prst="roundRect">
            <a:avLst>
              <a:gd name="adj" fmla="val 6365"/>
            </a:avLst>
          </a:prstGeom>
          <a:solidFill>
            <a:srgbClr val="F6F0E6"/>
          </a:solidFill>
          <a:ln/>
        </p:spPr>
      </p:sp>
      <p:sp>
        <p:nvSpPr>
          <p:cNvPr id="16" name="match-hex"/>
          <p:cNvSpPr/>
          <p:nvPr/>
        </p:nvSpPr>
        <p:spPr>
          <a:xfrm>
            <a:off x="5254502" y="3080420"/>
            <a:ext cx="384048" cy="332586"/>
          </a:xfrm>
          <a:prstGeom prst="hexagon">
            <a:avLst/>
          </a:prstGeom>
          <a:solidFill>
            <a:srgbClr val="B8862B"/>
          </a:solidFill>
          <a:ln/>
        </p:spPr>
      </p:sp>
      <p:sp>
        <p:nvSpPr>
          <p:cNvPr id="17" name="match-hex-label"/>
          <p:cNvSpPr txBox="1"/>
          <p:nvPr/>
        </p:nvSpPr>
        <p:spPr>
          <a:xfrm>
            <a:off x="5254502" y="308042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702558" y="2672080"/>
            <a:ext cx="5638745" cy="114926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“it nose-dived into a man eating chips”</a:t>
            </a:r>
            <a:endParaRPr lang="en-US" sz="2200" dirty="0"/>
          </a:p>
        </p:txBody>
      </p:sp>
      <p:sp>
        <p:nvSpPr>
          <p:cNvPr id="19" name="match-card"/>
          <p:cNvSpPr/>
          <p:nvPr/>
        </p:nvSpPr>
        <p:spPr>
          <a:xfrm>
            <a:off x="777240" y="3912785"/>
            <a:ext cx="4038350" cy="1149265"/>
          </a:xfrm>
          <a:prstGeom prst="roundRect">
            <a:avLst>
              <a:gd name="adj" fmla="val 6365"/>
            </a:avLst>
          </a:prstGeom>
          <a:solidFill>
            <a:srgbClr val="F6EEEF"/>
          </a:solidFill>
          <a:ln/>
        </p:spPr>
      </p:sp>
      <p:sp>
        <p:nvSpPr>
          <p:cNvPr id="20" name="match-hex"/>
          <p:cNvSpPr/>
          <p:nvPr/>
        </p:nvSpPr>
        <p:spPr>
          <a:xfrm>
            <a:off x="850392" y="4321125"/>
            <a:ext cx="384048" cy="332586"/>
          </a:xfrm>
          <a:prstGeom prst="hexagon">
            <a:avLst/>
          </a:prstGeom>
          <a:solidFill>
            <a:srgbClr val="8C2F39"/>
          </a:solidFill>
          <a:ln/>
        </p:spPr>
      </p:sp>
      <p:sp>
        <p:nvSpPr>
          <p:cNvPr id="21" name="match-hex-label"/>
          <p:cNvSpPr txBox="1"/>
          <p:nvPr/>
        </p:nvSpPr>
        <p:spPr>
          <a:xfrm>
            <a:off x="850392" y="432112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912785"/>
            <a:ext cx="3443990" cy="114926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Specific, factual detail</a:t>
            </a:r>
            <a:endParaRPr lang="en-US" sz="2200" dirty="0"/>
          </a:p>
        </p:txBody>
      </p:sp>
      <p:sp>
        <p:nvSpPr>
          <p:cNvPr id="23" name="match-card"/>
          <p:cNvSpPr/>
          <p:nvPr/>
        </p:nvSpPr>
        <p:spPr>
          <a:xfrm>
            <a:off x="5181350" y="3912785"/>
            <a:ext cx="6233105" cy="1149265"/>
          </a:xfrm>
          <a:prstGeom prst="roundRect">
            <a:avLst>
              <a:gd name="adj" fmla="val 6365"/>
            </a:avLst>
          </a:prstGeom>
          <a:solidFill>
            <a:srgbClr val="F6F0E6"/>
          </a:solidFill>
          <a:ln/>
        </p:spPr>
      </p:sp>
      <p:sp>
        <p:nvSpPr>
          <p:cNvPr id="24" name="match-hex"/>
          <p:cNvSpPr/>
          <p:nvPr/>
        </p:nvSpPr>
        <p:spPr>
          <a:xfrm>
            <a:off x="5254502" y="4321125"/>
            <a:ext cx="384048" cy="332586"/>
          </a:xfrm>
          <a:prstGeom prst="hexagon">
            <a:avLst/>
          </a:prstGeom>
          <a:solidFill>
            <a:srgbClr val="B8862B"/>
          </a:solidFill>
          <a:ln/>
        </p:spPr>
      </p:sp>
      <p:sp>
        <p:nvSpPr>
          <p:cNvPr id="25" name="match-hex-label"/>
          <p:cNvSpPr txBox="1"/>
          <p:nvPr/>
        </p:nvSpPr>
        <p:spPr>
          <a:xfrm>
            <a:off x="5254502" y="432112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702558" y="3912785"/>
            <a:ext cx="5638745" cy="114926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“Up, Up and Nearly Away: a day at the Marsh Hill Kite Festival”</a:t>
            </a:r>
            <a:endParaRPr lang="en-US" sz="2200" dirty="0"/>
          </a:p>
        </p:txBody>
      </p:sp>
      <p:sp>
        <p:nvSpPr>
          <p:cNvPr id="27" name="match-card"/>
          <p:cNvSpPr/>
          <p:nvPr/>
        </p:nvSpPr>
        <p:spPr>
          <a:xfrm>
            <a:off x="777240" y="5153491"/>
            <a:ext cx="4038350" cy="808397"/>
          </a:xfrm>
          <a:prstGeom prst="roundRect">
            <a:avLst>
              <a:gd name="adj" fmla="val 9049"/>
            </a:avLst>
          </a:prstGeom>
          <a:solidFill>
            <a:srgbClr val="F6EEEF"/>
          </a:solidFill>
          <a:ln/>
        </p:spPr>
      </p:sp>
      <p:sp>
        <p:nvSpPr>
          <p:cNvPr id="28" name="match-hex"/>
          <p:cNvSpPr/>
          <p:nvPr/>
        </p:nvSpPr>
        <p:spPr>
          <a:xfrm>
            <a:off x="850392" y="5391397"/>
            <a:ext cx="384048" cy="332586"/>
          </a:xfrm>
          <a:prstGeom prst="hexagon">
            <a:avLst/>
          </a:prstGeom>
          <a:solidFill>
            <a:srgbClr val="8C2F39"/>
          </a:solidFill>
          <a:ln/>
        </p:spPr>
      </p:sp>
      <p:sp>
        <p:nvSpPr>
          <p:cNvPr id="29" name="match-hex-label"/>
          <p:cNvSpPr txBox="1"/>
          <p:nvPr/>
        </p:nvSpPr>
        <p:spPr>
          <a:xfrm>
            <a:off x="850392" y="53913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5153491"/>
            <a:ext cx="3443990" cy="80839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Anecdote with humour</a:t>
            </a:r>
            <a:endParaRPr lang="en-US" sz="2200" dirty="0"/>
          </a:p>
        </p:txBody>
      </p:sp>
      <p:sp>
        <p:nvSpPr>
          <p:cNvPr id="31" name="match-card"/>
          <p:cNvSpPr/>
          <p:nvPr/>
        </p:nvSpPr>
        <p:spPr>
          <a:xfrm>
            <a:off x="5181350" y="5153491"/>
            <a:ext cx="6233105" cy="808397"/>
          </a:xfrm>
          <a:prstGeom prst="roundRect">
            <a:avLst>
              <a:gd name="adj" fmla="val 9049"/>
            </a:avLst>
          </a:prstGeom>
          <a:solidFill>
            <a:srgbClr val="F6F0E6"/>
          </a:solidFill>
          <a:ln/>
        </p:spPr>
      </p:sp>
      <p:sp>
        <p:nvSpPr>
          <p:cNvPr id="32" name="match-hex"/>
          <p:cNvSpPr/>
          <p:nvPr/>
        </p:nvSpPr>
        <p:spPr>
          <a:xfrm>
            <a:off x="5254502" y="5391397"/>
            <a:ext cx="384048" cy="332586"/>
          </a:xfrm>
          <a:prstGeom prst="hexagon">
            <a:avLst/>
          </a:prstGeom>
          <a:solidFill>
            <a:srgbClr val="B8862B"/>
          </a:solidFill>
          <a:ln/>
        </p:spPr>
      </p:sp>
      <p:sp>
        <p:nvSpPr>
          <p:cNvPr id="33" name="match-hex-label"/>
          <p:cNvSpPr txBox="1"/>
          <p:nvPr/>
        </p:nvSpPr>
        <p:spPr>
          <a:xfrm>
            <a:off x="5254502" y="53913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702558" y="5153491"/>
            <a:ext cx="5638745" cy="80839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“parking in the lower field costs five pounds”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(2 of 2): Find the feature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feature of a review to the place it appears in ‘Up, Up and Nearly Away’.</a:t>
            </a:r>
            <a:endParaRPr lang="en-US" sz="2400" dirty="0"/>
          </a:p>
        </p:txBody>
      </p:sp>
      <p:sp>
        <p:nvSpPr>
          <p:cNvPr id="11" name="match-card"/>
          <p:cNvSpPr/>
          <p:nvPr/>
        </p:nvSpPr>
        <p:spPr>
          <a:xfrm>
            <a:off x="777240" y="2672080"/>
            <a:ext cx="4194178" cy="1165352"/>
          </a:xfrm>
          <a:prstGeom prst="roundRect">
            <a:avLst>
              <a:gd name="adj" fmla="val 6277"/>
            </a:avLst>
          </a:prstGeom>
          <a:solidFill>
            <a:srgbClr val="F6EEEF"/>
          </a:solidFill>
          <a:ln/>
        </p:spPr>
      </p:sp>
      <p:sp>
        <p:nvSpPr>
          <p:cNvPr id="12" name="match-hex"/>
          <p:cNvSpPr/>
          <p:nvPr/>
        </p:nvSpPr>
        <p:spPr>
          <a:xfrm>
            <a:off x="850392" y="3088463"/>
            <a:ext cx="384048" cy="332586"/>
          </a:xfrm>
          <a:prstGeom prst="hexagon">
            <a:avLst/>
          </a:prstGeom>
          <a:solidFill>
            <a:srgbClr val="8C2F39"/>
          </a:solidFill>
          <a:ln/>
        </p:spPr>
      </p:sp>
      <p:sp>
        <p:nvSpPr>
          <p:cNvPr id="13" name="match-hex-label"/>
          <p:cNvSpPr txBox="1"/>
          <p:nvPr/>
        </p:nvSpPr>
        <p:spPr>
          <a:xfrm>
            <a:off x="850392" y="308846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359981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Contrasting opinion, not the writer’s own</a:t>
            </a:r>
            <a:endParaRPr lang="en-US" sz="2200" dirty="0"/>
          </a:p>
        </p:txBody>
      </p:sp>
      <p:sp>
        <p:nvSpPr>
          <p:cNvPr id="15" name="match-card"/>
          <p:cNvSpPr/>
          <p:nvPr/>
        </p:nvSpPr>
        <p:spPr>
          <a:xfrm>
            <a:off x="5337178" y="2672080"/>
            <a:ext cx="6077278" cy="1165352"/>
          </a:xfrm>
          <a:prstGeom prst="roundRect">
            <a:avLst>
              <a:gd name="adj" fmla="val 6277"/>
            </a:avLst>
          </a:prstGeom>
          <a:solidFill>
            <a:srgbClr val="F6F0E6"/>
          </a:solidFill>
          <a:ln/>
        </p:spPr>
      </p:sp>
      <p:sp>
        <p:nvSpPr>
          <p:cNvPr id="16" name="match-hex"/>
          <p:cNvSpPr/>
          <p:nvPr/>
        </p:nvSpPr>
        <p:spPr>
          <a:xfrm>
            <a:off x="5410330" y="3088463"/>
            <a:ext cx="384048" cy="332586"/>
          </a:xfrm>
          <a:prstGeom prst="hexagon">
            <a:avLst/>
          </a:prstGeom>
          <a:solidFill>
            <a:srgbClr val="B8862B"/>
          </a:solidFill>
          <a:ln/>
        </p:spPr>
      </p:sp>
      <p:sp>
        <p:nvSpPr>
          <p:cNvPr id="17" name="match-hex-label"/>
          <p:cNvSpPr txBox="1"/>
          <p:nvPr/>
        </p:nvSpPr>
        <p:spPr>
          <a:xfrm>
            <a:off x="5410330" y="308846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858386" y="2672080"/>
            <a:ext cx="548291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“Would I go again? Yes, with wellies and a stronger kite.”</a:t>
            </a:r>
            <a:endParaRPr lang="en-US" sz="2200" dirty="0"/>
          </a:p>
        </p:txBody>
      </p:sp>
      <p:sp>
        <p:nvSpPr>
          <p:cNvPr id="19" name="match-card"/>
          <p:cNvSpPr/>
          <p:nvPr/>
        </p:nvSpPr>
        <p:spPr>
          <a:xfrm>
            <a:off x="777240" y="3928872"/>
            <a:ext cx="4194178" cy="1165352"/>
          </a:xfrm>
          <a:prstGeom prst="roundRect">
            <a:avLst>
              <a:gd name="adj" fmla="val 6277"/>
            </a:avLst>
          </a:prstGeom>
          <a:solidFill>
            <a:srgbClr val="F6EEEF"/>
          </a:solidFill>
          <a:ln/>
        </p:spPr>
      </p:sp>
      <p:sp>
        <p:nvSpPr>
          <p:cNvPr id="20" name="match-hex"/>
          <p:cNvSpPr/>
          <p:nvPr/>
        </p:nvSpPr>
        <p:spPr>
          <a:xfrm>
            <a:off x="850392" y="4345255"/>
            <a:ext cx="384048" cy="332586"/>
          </a:xfrm>
          <a:prstGeom prst="hexagon">
            <a:avLst/>
          </a:prstGeom>
          <a:solidFill>
            <a:srgbClr val="8C2F39"/>
          </a:solidFill>
          <a:ln/>
        </p:spPr>
      </p:sp>
      <p:sp>
        <p:nvSpPr>
          <p:cNvPr id="21" name="match-hex-label"/>
          <p:cNvSpPr txBox="1"/>
          <p:nvPr/>
        </p:nvSpPr>
        <p:spPr>
          <a:xfrm>
            <a:off x="850392" y="434525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928872"/>
            <a:ext cx="359981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Clear judgement in the last paragraph</a:t>
            </a:r>
            <a:endParaRPr lang="en-US" sz="2200" dirty="0"/>
          </a:p>
        </p:txBody>
      </p:sp>
      <p:sp>
        <p:nvSpPr>
          <p:cNvPr id="23" name="match-card"/>
          <p:cNvSpPr/>
          <p:nvPr/>
        </p:nvSpPr>
        <p:spPr>
          <a:xfrm>
            <a:off x="5337178" y="3928872"/>
            <a:ext cx="6077278" cy="1165352"/>
          </a:xfrm>
          <a:prstGeom prst="roundRect">
            <a:avLst>
              <a:gd name="adj" fmla="val 6277"/>
            </a:avLst>
          </a:prstGeom>
          <a:solidFill>
            <a:srgbClr val="F6F0E6"/>
          </a:solidFill>
          <a:ln/>
        </p:spPr>
      </p:sp>
      <p:sp>
        <p:nvSpPr>
          <p:cNvPr id="24" name="match-hex"/>
          <p:cNvSpPr/>
          <p:nvPr/>
        </p:nvSpPr>
        <p:spPr>
          <a:xfrm>
            <a:off x="5410330" y="4345255"/>
            <a:ext cx="384048" cy="332586"/>
          </a:xfrm>
          <a:prstGeom prst="hexagon">
            <a:avLst/>
          </a:prstGeom>
          <a:solidFill>
            <a:srgbClr val="B8862B"/>
          </a:solidFill>
          <a:ln/>
        </p:spPr>
      </p:sp>
      <p:sp>
        <p:nvSpPr>
          <p:cNvPr id="25" name="match-hex-label"/>
          <p:cNvSpPr txBox="1"/>
          <p:nvPr/>
        </p:nvSpPr>
        <p:spPr>
          <a:xfrm>
            <a:off x="5410330" y="434525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858386" y="3928872"/>
            <a:ext cx="548291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“Some visitors near us grumbled that the car park was a swamp.”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Find the feature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Find the feature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EAEB"/>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headline is the title at the very top.</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factual detail is something you could check: a number, a time, a price.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anecdote is a small story about the writer; humour makes you smile.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contrasting opinion belongs to someone other than the writer.</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judgement answers ‘would you go again?’ and comes last.</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1D3"/>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One quotation has a price in it, one has a question in it, and one begins with other people.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8C2F39"/>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review has a sixth and seventh feature too: the past tense and short, information-packed paragraphs. Find one example of each.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Review or speech?</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change would turn the kite festival review into a speech?</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Describing the kite-making tent in more detail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Adding the festival’s opening hours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Including what other visitors thought of the car park</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Cutting the facts and keeping only the writer’s opinions, so a crowd could be urged to attend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Review or speech?</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change would turn the kite festival review into a speech?</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4EAEB"/>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Remember the confusion alert: opinion, opinion and opinion sounds like a speech.</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which option removes information and adds persuasion.</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Rule out any option that adds a fact or a detail.</a:t>
            </a:r>
            <a:endParaRPr lang="en-US" sz="1800" dirty="0"/>
          </a:p>
        </p:txBody>
      </p:sp>
      <p:sp>
        <p:nvSpPr>
          <p:cNvPr id="17" name="col-Core"/>
          <p:cNvSpPr/>
          <p:nvPr/>
        </p:nvSpPr>
        <p:spPr>
          <a:xfrm>
            <a:off x="4338218" y="2578608"/>
            <a:ext cx="3515258" cy="3566160"/>
          </a:xfrm>
          <a:prstGeom prst="roundRect">
            <a:avLst>
              <a:gd name="adj" fmla="val 1561"/>
            </a:avLst>
          </a:prstGeom>
          <a:solidFill>
            <a:srgbClr val="E6D1D3"/>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 speech wants the crowd to do something. A review wants the reader to know something.</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8C2F39"/>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one sentence of a speech urging families to attend the kite festival, then explain what makes it different from the review’s last paragraph.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Who writes a review?</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person who organised the event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critic who has experienced the thing being reviewed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character inside a story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Anyone, as long as they have never seen it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0F1"/>
          </a:solidFill>
          <a:ln w="12700">
            <a:solidFill>
              <a:srgbClr val="C6979C"/>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Find the feature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Headline that gives the writer’s angle  →  A  “Up, Up and Nearly Away: a day at the Marsh Hill Kite Festival”</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Specific, factual detail  →  C  “parking in the lower field costs five pounds”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Anecdote with humour  →  E  “it nose-dived into a man eating chips”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Contrasting opinion, not the writer’s own  →  B  “Some visitors near us grumbled that the car park was a swamp.”</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Clear judgement in the last paragraph  →  D  “Would I go again? Yes, with wellies and a stronger kite.”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Headline at the top, a price as the fact, the chip-eating man as the anecdote, the grumbling visitors as the contrasting view, and the question-and-answer as the final judgement.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Review or speech?</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change would turn the kite festival review into a speech?</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Cutting the facts and keeping only the writer’s opinions, so a crowd could be urged to attend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review informs with facts and experience; a speech persuades a live audience with opinion. Remove the facts and you have a speech.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Who writes a review?</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 critic who has experienced the thing being reviewed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critic experiences something and then tells readers what it was like and how they formed their opinion.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4EAEB"/>
      </a:lt2>
      <a:accent1>
        <a:srgbClr val="8C2F39"/>
      </a:accent1>
      <a:accent2>
        <a:srgbClr val="B8862B"/>
      </a:accent2>
      <a:accent3>
        <a:srgbClr val="BA8288"/>
      </a:accent3>
      <a:accent4>
        <a:srgbClr val="815E1E"/>
      </a:accent4>
      <a:accent5>
        <a:srgbClr val="4A505C"/>
      </a:accent5>
      <a:accent6>
        <a:srgbClr val="DCC395"/>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Opinion Writing · Chapter 2: What makes a review a review</dc:title>
  <dc:subject>English · Year 9</dc:subject>
  <dc:creator>Dr Vitor Merissi de Carvalho</dc:creator>
  <cp:lastModifiedBy>Dr Vitor Merissi de Carvalho</cp:lastModifiedBy>
  <cp:revision>1</cp:revision>
  <dcterms:created xsi:type="dcterms:W3CDTF">2026-10-19T06:07:23Z</dcterms:created>
  <dcterms:modified xsi:type="dcterms:W3CDTF">2026-10-19T06:07:23Z</dcterms:modified>
</cp:coreProperties>
</file>