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3c11a9-5a92-9561-defc-5f5224a1e09e}">
          <p14:sldIdLst>
            <p14:sldId id="256"/>
          </p14:sldIdLst>
        </p14:section>
        <p14:section name="Gate" id="{be7c10bc-f183-b57b-b589-0eb4bf2ea962}">
          <p14:sldIdLst>
            <p14:sldId id="257"/>
            <p14:sldId id="258"/>
          </p14:sldIdLst>
        </p14:section>
        <p14:section name="Pre-teach" id="{ff424e9a-9660-1835-9228-fb587400f91e}">
          <p14:sldIdLst>
            <p14:sldId id="259"/>
            <p14:sldId id="260"/>
          </p14:sldIdLst>
        </p14:section>
        <p14:section name="Read-along" id="{9384febb-4d4f-6911-4b8f-8bc3776f44aa}">
          <p14:sldIdLst>
            <p14:sldId id="261"/>
            <p14:sldId id="262"/>
          </p14:sldIdLst>
        </p14:section>
        <p14:section name="Teach" id="{f405f542-9ce7-0e49-6539-517831b45350}">
          <p14:sldIdLst>
            <p14:sldId id="263"/>
            <p14:sldId id="264"/>
            <p14:sldId id="265"/>
            <p14:sldId id="266"/>
          </p14:sldIdLst>
        </p14:section>
        <p14:section name="Routes" id="{e26256f9-ae45-8cf5-06de-767679b3adab}">
          <p14:sldIdLst>
            <p14:sldId id="267"/>
            <p14:sldId id="268"/>
            <p14:sldId id="269"/>
            <p14:sldId id="270"/>
          </p14:sldIdLst>
        </p14:section>
        <p14:section name="Close" id="{cb335353-ef84-818a-3465-142624b2a58a}">
          <p14:sldIdLst>
            <p14:sldId id="271"/>
          </p14:sldIdLst>
        </p14:section>
        <p14:section name="Answers" id="{222e0aae-db05-bd19-5aad-96faea31fbee}">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The police: new, limited and divided. London's police force was only 59 years old in 1888. This chapter looks at where it came from, the problems it had, the methods it tried in Whitechapel, and why two forces and a missing reward made things worse.
This deck covers the department's lesson: 3 (The role of the police: How did the police try to catch the killer, and why did their methods fail?).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was the Metropolitan Police set up?  →  1829
2. Why did the bloodhounds fail to find the killer?  →  B   The streets were full of strong smells and the police had nothing of the killer's to give the dogs a scent
3. The first officers of the new force were nicknamed Peelers and ___.  →  Bobbies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1829. Sir Robert Peel set up the Metropolitan Police Force in 1829; the officers were nicknamed Peelers and Bobbies after him.
2. B   The streets were full of strong smells and the police had nothing of the killer's to give the dogs a scent. Whitechapel's slaughterhouses and dirty streets confused the dogs, and the police had no item belonging to the killer to start them on a scent.
3. Bobbies. Both nicknames come from Sir Robert Peel: Peelers from his surname, Bobbies from his first name.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Metropolitan Police: London's police force, set up in 1829. Example: "The Metropolitan Police's H Division covered Whitechapel."
• Peelers: a nickname for the first police officers, after Sir Robert Peel. Example: "People called the new officers Peelers or Bobbies."
• beat: the fixed route an officer walked again and again on patrol. Example: "PC Watkins walked his beat round Mitre Square every 15 minutes."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forensic: using science to find evidence of a crime. Example: "In 1888 there was no forensic science and no fingerprinting."
• decoy: something used as bait to attract a criminal. Example: "Male officers dressed as women to act as decoys."
• bloodhound: a dog trained to follow a scent. Example: "The police tried bloodhounds, but the streets were full of smells."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Before 1829, London had no police force.
2. If there was trouble, the army was sent in.
3. In 1829 Sir Robert Peel set up the Metropolitan Police.
4. People nicknamed the officers Peelers and Bobbies.
5. The new force had problems from the start.
6. Officers had no proper training and were paid only one pound a week.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Many local people did not trust them.
8. In 1888 the police had no cameras, no fingerprints and no forensic science.
9. To prove a murder, they had to catch the killer in the act or get a confession.
10. In Whitechapel they tried decoys, leaflets, interviews and bloodhounds.
11. None of these worked.
12. Two different police forces were also investigating, and they did not work well together.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the police came from. Say it in your own words, then check understanding with a quick question: ask a pupil from the pre-teach group first, since they met these words and ideas before the lesson. Pupils try to recall before you re-explain.
Before 1829 London did not have a police force. When there was serious disorder, the army was used to restore order. But by 1829 London's population had grown so much that too many crimes were being committed for soldiers and local watchmen to cope with. In that year the politician Sir Robert Peel set up the Metropolitan Police Force, to reduce the role of the army and to reduce crime. The new officers were soon nicknamed Peelers and Bobbies, both after Peel.
By 1888 the force was 59 years old, and Whitechapel was covered by its H Division. Officers patrolled on foot, walking a fixed route called a beat, again and again, through the night. This is the kind of policing you saw in Mitre Square in chapter 3.
The early force had serious problems, and your lesson lists them. Officers had no formal training. They were paid about one pound a week. They were not trusted by local communities, and people regularly attacked them. Your lesson also says that many officers drank on duty. And there were simply not enough of them for a city of London's size.
Worked example — model it step by step, thinking aloud: How many years old was the Metropolitan Police in 1888? (1) The force was set up in 1829. (2) The case is in 1888. (3) Subtract: 1888 − 1829 = 59. (4) So the police force was 59 years old: still a young institution, with young habits. Answer: 59 years.
Tip: Peel, Peelers, Bobbies: three words that all point to 1829 and Sir Robert Peel.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Limited methods. Say it in your own words, then check understanding with a quick question: ask a pupil from the pre-teach group first, since they met these words and ideas before the lesson. Pupils try to recall before you re-explain.
Begin your lesson's bell work in your head: how do the police solve crimes today? Interviewing witnesses and suspects; searching the scene for clues; forensic science and DNA; CCTV; tracing where people have been; working together across forces. Now take most of that away. In 1888 there was no CCTV, no fingerprinting and no forensic science. There was no way to prove from a scene who had been there.
That left the police with two ways to prove someone guilty of murder: catch the killer in the act, or get a confession. In Whitechapel both were very hard. The maze of streets and the fog made catching anyone in the act unlikely, as the double event showed, and nobody was confessing.
So when your lesson asks why the police did not catch the killer, part of the answer is not about the officers at all. It is about the tools that did not yet exist. A good answer separates what the police could have done better from what no police force of 1888 could have done.
Tip: Ask of every method: would it work without forensic science? If the answer is no, the problem was the century, not just the officers.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police tried, and why it failed. Say it in your own words, then check understanding with a quick question: ask a pupil from the pre-teach group first, since they met these words and ideas before the lesson. Pupils try to recall before you re-explain.
The Metropolitan Police tried very hard. Decoys: male officers dressed up as women and waited in the streets, hoping the killer would approach them. Local people laughed at them; the disguises were obvious and the plan did not work. Leaflets: officers handed out over 80,000 leaflets in the area asking for information. Your lesson says this did not work either; a likely reason is that many residents could not read well, and those who could had little to report, because the killings had happened unseen.
Interviews: the police interviewed 76 butchers about their work and their employees, as well as sailors from the docks, and after the double event they questioned more than 2,000 people. Without forensic evidence, however, an interview could only help if someone confessed or named the killer, and nobody did. Bloodhounds: the Commissioner, Sir Charles Warren, had officers train dogs to follow the killer's scent. But Whitechapel was full of strong smells from the slaughterhouses and the streets, and the police had nothing belonging to the killer to give the dogs a scent to follow.
Each method failed for a reason you can explain. The decoys failed because the disguise was poor and the plan was unsafe. The leaflets failed because the people who received them had nothing to tell. The interviews failed because questions alone cannot prove guilt. The bloodhounds failed because of the smells and the missing scent. Your department's success criteria for this task are: state the method, describe it, explain why it did not work.
Tip: Method, description, reason it failed: three sentences. The reason is where the marks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forces and no reward. Say it in your own words, then check understanding with a quick question: ask a pupil from the pre-teach group first, since they met these words and ideas before the lesson. Pupils try to recall before you re-explain.
Catherine Eddowes was found in the City of London, so two police forces were now investigating: the Metropolitan Police and the City of London Police. They did not work together well, and there were disagreements. The best-known example came on the night of the double event. A chalked message about Jewish people was found on a wall near a piece of evidence. The City of London Police wanted it photographed; the Metropolitan Commissioner, Sir Charles Warren, ordered it washed off before daylight, fearing it would start riots against Jewish residents. Your lesson's example calls this the fault of the police, because two forces investigating the same killings should have pooled what they knew instead of overruling each other.
Your lesson also asks what the police could have offered the people of Whitechapel to get more evidence, and why this did not happen. The answer is a reward. Local people and newspapers asked for a government reward for information, but the Home Secretary refused to approve one. In a district where people were poor and did not trust the police, a reward might have loosened tongues.
So your lesson's final question is a fair one: was it the police's fault that the killer was never caught? Some issues were theirs: poor cooperation between the forces, and clumsy methods such as the decoys. Others were outside their control: the conditions of Whitechapel, the lack of forensic science, and a Home Secretary who would not pay for information. The best answers weigh both.
Tip: Fault or outside their control? Sort every issue into one column or the other before you write. Two forces: fault. No forensic science: outside their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Method and reason it failed.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police method to the reason it did not work.
Support — work through the steps with the group: (1) Start with the dogs: what do dogs need to track someone? A scent. Find the reason that mentions smells. (2) The decoys were people in disguise: find the reason about clothes and laughter. (3) Leaflets are pieces of paper handed to residents: find the reason about what residents could tell. (4) What is left must belong to the interviews.
Parallel worked example for Support (model it, do not give the task answer): Match two ways a medieval village tried to stop thieves to why each failed: a night watchman; a hue and cry (shouting for neighbours to chase a thief). Reasons: the thief had already run into the woods by the time neighbours arrived; one man could not watch every lane. One man on duty matches the watchman.; Neighbours arriving too late matches the hue and cry.. Answer: Watchman: one man could not watch every lane. Hue and cry: the thief had already escaped into the woods..
Core — reveal the hint only on request: Each reason contains a clue word: laughed, 80,000, forensic, scent. Match the clue to the method it describes.
Stretch — no help; when finished: For two of the methods, explain how the police could have acted differently to make the method work, and say whether it would have been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Method and reason it failed.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police method to the reason it did not work.
Support — work through the steps with the group: (1) Start with the dogs: what do dogs need to track someone? A scent. Find the reason that mentions smells. (2) The decoys were people in disguise: find the reason about clothes and laughter. (3) Leaflets are pieces of paper handed to residents: find the reason about what residents could tell. (4) What is left must belong to the interviews.
Parallel worked example for Support (model it, do not give the task answer): Match two ways a medieval village tried to stop thieves to why each failed: a night watchman; a hue and cry (shouting for neighbours to chase a thief). Reasons: the thief had already run into the woods by the time neighbours arrived; one man could not watch every lane. One man on duty matches the watchman.; Neighbours arriving too late matches the hue and cry.. Answer: Watchman: one man could not watch every lane. Hue and cry: the thief had already escaped into the woods..
Core — reveal the hint only on request: Each reason contains a clue word: laughed, 80,000, forensic, scent. Match the clue to the method it describes.
Stretch — no help; when finished: For two of the methods, explain how the police could have acted differently to make the method work, and say whether it would have been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old was the force?.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Metropolitan Police was set up in 1829. How many years old was the force in 1888?
Support — work through the steps with the group: (1) Write down the two years: 1829 (set up) and 1888 (the case). (2) Subtract the earlier year from the later year. (3) 1888 − 1829 is the same as 88 − 29, because both years begin with 18. (4) 88 − 29 = 59.
Parallel worked example for Support (model it, do not give the task answer): The Battle of Hastings was in 1066 and the Domesday Book was finished in 1086. How many years apart were they? Later year minus earlier year.; 1086 − 1066 = 20.. Answer: 20 years.
Core — reveal the hint only on request: Later year minus earlier year. Check your answer by adding it back to 1829.
Stretch — no help; when finished: Victoria had reigned for 51 years by 1888 and the police had existed for 59. Explain what these two figures together tell you about how new the idea of a police force was to Victorian Londoners.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old was the force?.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Metropolitan Police was set up in 1829. How many years old was the force in 1888?
Support — work through the steps with the group: (1) Write down the two years: 1829 (set up) and 1888 (the case). (2) Subtract the earlier year from the later year. (3) 1888 − 1829 is the same as 88 − 29, because both years begin with 18. (4) 88 − 29 = 59.
Parallel worked example for Support (model it, do not give the task answer): The Battle of Hastings was in 1066 and the Domesday Book was finished in 1086. How many years apart were they? Later year minus earlier year.; 1086 − 1066 = 20.. Answer: 20 years.
Core — reveal the hint only on request: Later year minus earlier year. Check your answer by adding it back to 1829.
Stretch — no help; when finished: Victoria had reigned for 51 years by 1888 and the police had existed for 59. Explain what these two figures together tell you about how new the idea of a police force was to Victorian Londoners.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was the Metropolitan Police set up?
Answer: 1829. Sir Robert Peel set up the Metropolitan Police Force in 1829; the officers were nicknamed Peelers and Bobbies after him.
Source of this question: gate item 1 re-asked (options rotated) — this chapter has no third quick-check module.
The ebook also holds task 3, "Fault, or outside their control?",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Method and reason it failed. Reveal the answer; pupils mark their own work in a different colour, then read the "why" together. Same destination for every lane, so one answer serves the whole class.
Answer: Decoys  →  A  Male officers in women's clothes were obvious, and local people laughed at them; Leaflets  →  D  Over 80,000 were handed out, but the people who received them had nothing useful to tell; Interviews  →  B  Hundreds were questioned, but questions alone could not prove guilt without forensic evidence; Bloodhounds  →  C  The streets were full of strong smells and the police had nothing of the killer's for a scent
Why: Decoys failed because the disguises were obvious; leaflets because residents had nothing to tell; interviews because questions cannot prove guilt without forensic evidence; bloodhounds because of the smells and the missing scent.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old was the force?. Reveal the answer; pupils mark their own work in a different colour, then read the "why" together. Same destination for every lane, so one answer serves the whole class.
Answer: 59 years
Why: 1888 − 1829 = 59. A force not yet 60 years old, with untrained officers and no forensic science, was asked to catch a killer in the hardest district in London.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1829
Why: Sir Robert Peel set up the Metropolitan Police Force in 1829; the officers were nicknamed Peelers and Bobbies after him.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police: new, limited and divided</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role of the police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was the Metropolitan Police set up?</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did the bloodhounds fail to find the killer?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City of London Police refused to let the dogs cross the border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streets were full of strong smells and the police had nothing of the killer's to give the dogs a scent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dogs were too old and too slow to run through the alleys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killer was caught before the dogs were needed</a:t>
            </a:r>
            <a:endParaRPr lang="en-US" sz="1800" dirty="0"/>
          </a:p>
        </p:txBody>
      </p:sp>
      <p:sp>
        <p:nvSpPr>
          <p:cNvPr id="17"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first officers of the new force were nicknamed Peelers and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Bobbies  ·  Coppers  ·  Watchmen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1829</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Sir Robert Peel set up the Metropolitan Police Force in 1829; the officers were nicknamed Peelers and Bobbies after him.</a:t>
            </a:r>
            <a:endParaRPr lang="en-US" sz="1800" dirty="0"/>
          </a:p>
        </p:txBody>
      </p:sp>
      <p:sp>
        <p:nvSpPr>
          <p:cNvPr id="14"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1295908"/>
          </a:xfrm>
          <a:prstGeom prst="roundRect">
            <a:avLst>
              <a:gd name="adj" fmla="val 8467"/>
            </a:avLst>
          </a:prstGeom>
          <a:solidFill>
            <a:srgbClr val="EEE3CD"/>
          </a:solidFill>
          <a:ln w="19050">
            <a:solidFill>
              <a:srgbClr val="B8862B"/>
            </a:solidFill>
            <a:prstDash val="solid"/>
          </a:ln>
        </p:spPr>
      </p:sp>
      <p:sp>
        <p:nvSpPr>
          <p:cNvPr id="19" name="answer"/>
          <p:cNvSpPr txBox="1"/>
          <p:nvPr/>
        </p:nvSpPr>
        <p:spPr>
          <a:xfrm>
            <a:off x="3733724"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streets were full of strong smells and the police had nothing of the killer's to give the dogs a scent</a:t>
            </a:r>
            <a:endParaRPr lang="en-US" sz="2200" dirty="0"/>
          </a:p>
        </p:txBody>
      </p:sp>
      <p:sp>
        <p:nvSpPr>
          <p:cNvPr id="20" name="card-body"/>
          <p:cNvSpPr txBox="1"/>
          <p:nvPr/>
        </p:nvSpPr>
        <p:spPr>
          <a:xfrm>
            <a:off x="3642284"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did the bloodhounds fail to find the killer?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Whitechapel's slaughterhouses and dirty streets confused the dogs, and the police had no item belonging to the killer to start them on a scent.</a:t>
            </a:r>
            <a:endParaRPr lang="en-US" sz="2000" dirty="0"/>
          </a:p>
        </p:txBody>
      </p:sp>
      <p:sp>
        <p:nvSpPr>
          <p:cNvPr id="21"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Bobbies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first officers of the new force were nicknamed Peelers and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Both nicknames come from Sir Robert Peel: Peelers from his surname, Bobbies from his first name.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Metropolitan Police</a:t>
            </a:r>
            <a:endParaRPr lang="en-US" sz="2600" dirty="0"/>
          </a:p>
        </p:txBody>
      </p:sp>
      <p:sp>
        <p:nvSpPr>
          <p:cNvPr id="11" name="word-rule"/>
          <p:cNvSpPr/>
          <p:nvPr/>
        </p:nvSpPr>
        <p:spPr>
          <a:xfrm>
            <a:off x="731520" y="2558288"/>
            <a:ext cx="3149498" cy="0"/>
          </a:xfrm>
          <a:prstGeom prst="line">
            <a:avLst/>
          </a:prstGeom>
          <a:ln w="12700">
            <a:solidFill>
              <a:srgbClr val="CCB9A8"/>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London's police force, set up in 1829</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Metropolitan Police's H Division covered Whitechapel.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Peelers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nickname for the first police officers, after Sir Robert Peel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People called the new officers Peelers or Bobbies.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beat</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fixed route an officer walked again and again on patrol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PC Watkins walked his beat round Mitre Square every 15 minutes.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forensic</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using science to find evidence of a crime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1888 there was no forensic science and no fingerprinting.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decoy</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used as bait to attract a criminal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Male officers dressed as women to act as decoys.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bloodhound</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dog trained to follow a scent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police tried bloodhounds, but the streets were full of smells.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1829, London had no police force.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there was trouble, the army was sent 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1829 Sir Robert Peel set up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Metropolitan Police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nicknamed the officers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Peelers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Bobbies.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new force had problems from the start.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Officers had no proper training and were paid only one pound a week.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local people did not trust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1888 the police had no cameras, no fingerprints and no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forensic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science.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prove a murder, they had to catch the killer in the act or get a confession.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Whitechapel they tried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decoys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leaflets, interviews and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bloodhounds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None of these worked.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Two different police forces were also investigating, and they did not work well together.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the police came from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Peel, Peelers, Bobbies: three words that all point to 1829 and Sir Robert Peel.</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BEA792"/>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many years old was the Metropolitan Police in 1888?</a:t>
            </a:r>
            <a:endParaRPr lang="en-US" sz="1800" dirty="0"/>
          </a:p>
        </p:txBody>
      </p:sp>
      <p:sp>
        <p:nvSpPr>
          <p:cNvPr id="14" name="step-box"/>
          <p:cNvSpPr/>
          <p:nvPr/>
        </p:nvSpPr>
        <p:spPr>
          <a:xfrm>
            <a:off x="6126480" y="2888488"/>
            <a:ext cx="5379415" cy="509397"/>
          </a:xfrm>
          <a:prstGeom prst="roundRect">
            <a:avLst>
              <a:gd name="adj" fmla="val 17951"/>
            </a:avLst>
          </a:prstGeom>
          <a:solidFill>
            <a:srgbClr val="F4F0EC"/>
          </a:solidFill>
          <a:ln/>
        </p:spPr>
      </p:sp>
      <p:sp>
        <p:nvSpPr>
          <p:cNvPr id="15" name="step-hex"/>
          <p:cNvSpPr/>
          <p:nvPr/>
        </p:nvSpPr>
        <p:spPr>
          <a:xfrm>
            <a:off x="6217920" y="2961056"/>
            <a:ext cx="420624" cy="364260"/>
          </a:xfrm>
          <a:prstGeom prst="hexagon">
            <a:avLst/>
          </a:prstGeom>
          <a:solidFill>
            <a:srgbClr val="7A4A1E"/>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force was set up in 1829.</a:t>
            </a:r>
            <a:endParaRPr lang="en-US" sz="1800" dirty="0"/>
          </a:p>
        </p:txBody>
      </p:sp>
      <p:sp>
        <p:nvSpPr>
          <p:cNvPr id="18" name="step-box"/>
          <p:cNvSpPr/>
          <p:nvPr/>
        </p:nvSpPr>
        <p:spPr>
          <a:xfrm>
            <a:off x="6126480" y="3489325"/>
            <a:ext cx="5379415" cy="509397"/>
          </a:xfrm>
          <a:prstGeom prst="roundRect">
            <a:avLst>
              <a:gd name="adj" fmla="val 17951"/>
            </a:avLst>
          </a:prstGeom>
          <a:solidFill>
            <a:srgbClr val="F4F0EC"/>
          </a:solidFill>
          <a:ln/>
        </p:spPr>
      </p:sp>
      <p:sp>
        <p:nvSpPr>
          <p:cNvPr id="19" name="step-hex"/>
          <p:cNvSpPr/>
          <p:nvPr/>
        </p:nvSpPr>
        <p:spPr>
          <a:xfrm>
            <a:off x="6217920" y="3561893"/>
            <a:ext cx="420624" cy="364260"/>
          </a:xfrm>
          <a:prstGeom prst="hexagon">
            <a:avLst/>
          </a:prstGeom>
          <a:solidFill>
            <a:srgbClr val="7A4A1E"/>
          </a:solidFill>
          <a:ln/>
        </p:spPr>
      </p:sp>
      <p:sp>
        <p:nvSpPr>
          <p:cNvPr id="20" name="step-hex-label"/>
          <p:cNvSpPr txBox="1"/>
          <p:nvPr/>
        </p:nvSpPr>
        <p:spPr>
          <a:xfrm>
            <a:off x="6217920" y="356189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case is in 1888.</a:t>
            </a:r>
            <a:endParaRPr lang="en-US" sz="1800" dirty="0"/>
          </a:p>
        </p:txBody>
      </p:sp>
      <p:sp>
        <p:nvSpPr>
          <p:cNvPr id="22" name="step-box"/>
          <p:cNvSpPr/>
          <p:nvPr/>
        </p:nvSpPr>
        <p:spPr>
          <a:xfrm>
            <a:off x="6126480" y="4090162"/>
            <a:ext cx="5379415" cy="509397"/>
          </a:xfrm>
          <a:prstGeom prst="roundRect">
            <a:avLst>
              <a:gd name="adj" fmla="val 17951"/>
            </a:avLst>
          </a:prstGeom>
          <a:solidFill>
            <a:srgbClr val="F4F0EC"/>
          </a:solidFill>
          <a:ln/>
        </p:spPr>
      </p:sp>
      <p:sp>
        <p:nvSpPr>
          <p:cNvPr id="23" name="step-hex"/>
          <p:cNvSpPr/>
          <p:nvPr/>
        </p:nvSpPr>
        <p:spPr>
          <a:xfrm>
            <a:off x="6217920" y="4162730"/>
            <a:ext cx="420624" cy="364260"/>
          </a:xfrm>
          <a:prstGeom prst="hexagon">
            <a:avLst/>
          </a:prstGeom>
          <a:solidFill>
            <a:srgbClr val="7A4A1E"/>
          </a:solidFill>
          <a:ln/>
        </p:spPr>
      </p:sp>
      <p:sp>
        <p:nvSpPr>
          <p:cNvPr id="24" name="step-hex-label"/>
          <p:cNvSpPr txBox="1"/>
          <p:nvPr/>
        </p:nvSpPr>
        <p:spPr>
          <a:xfrm>
            <a:off x="6217920" y="41627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090162"/>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1888 − 1829 = 59.</a:t>
            </a:r>
            <a:endParaRPr lang="en-US" sz="1800" dirty="0"/>
          </a:p>
        </p:txBody>
      </p:sp>
      <p:sp>
        <p:nvSpPr>
          <p:cNvPr id="26" name="step-box"/>
          <p:cNvSpPr/>
          <p:nvPr/>
        </p:nvSpPr>
        <p:spPr>
          <a:xfrm>
            <a:off x="6126480" y="4690999"/>
            <a:ext cx="5379415" cy="736981"/>
          </a:xfrm>
          <a:prstGeom prst="roundRect">
            <a:avLst>
              <a:gd name="adj" fmla="val 12407"/>
            </a:avLst>
          </a:prstGeom>
          <a:solidFill>
            <a:srgbClr val="F4F0EC"/>
          </a:solidFill>
          <a:ln/>
        </p:spPr>
      </p:sp>
      <p:sp>
        <p:nvSpPr>
          <p:cNvPr id="27" name="step-hex"/>
          <p:cNvSpPr/>
          <p:nvPr/>
        </p:nvSpPr>
        <p:spPr>
          <a:xfrm>
            <a:off x="6217920" y="4877359"/>
            <a:ext cx="420624" cy="364260"/>
          </a:xfrm>
          <a:prstGeom prst="hexagon">
            <a:avLst/>
          </a:prstGeom>
          <a:solidFill>
            <a:srgbClr val="7A4A1E"/>
          </a:solidFill>
          <a:ln/>
        </p:spPr>
      </p:sp>
      <p:sp>
        <p:nvSpPr>
          <p:cNvPr id="28" name="step-hex-label"/>
          <p:cNvSpPr txBox="1"/>
          <p:nvPr/>
        </p:nvSpPr>
        <p:spPr>
          <a:xfrm>
            <a:off x="6217920" y="4877359"/>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690999"/>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the police force was 59 years old: still a young institution, with young habits.</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59 years</a:t>
            </a:r>
            <a:endParaRPr lang="en-US" sz="1800" dirty="0"/>
          </a:p>
        </p:txBody>
      </p:sp>
      <p:sp>
        <p:nvSpPr>
          <p:cNvPr id="31" name="bullet-card"/>
          <p:cNvSpPr/>
          <p:nvPr/>
        </p:nvSpPr>
        <p:spPr>
          <a:xfrm>
            <a:off x="548640" y="1389888"/>
            <a:ext cx="5074920" cy="1441027"/>
          </a:xfrm>
          <a:prstGeom prst="roundRect">
            <a:avLst>
              <a:gd name="adj" fmla="val 5076"/>
            </a:avLst>
          </a:prstGeom>
          <a:solidFill>
            <a:srgbClr val="F6F3F0"/>
          </a:solidFill>
          <a:ln/>
        </p:spPr>
      </p:sp>
      <p:sp>
        <p:nvSpPr>
          <p:cNvPr id="32" name="bullet-hex"/>
          <p:cNvSpPr/>
          <p:nvPr/>
        </p:nvSpPr>
        <p:spPr>
          <a:xfrm>
            <a:off x="676656" y="1944109"/>
            <a:ext cx="384048" cy="332586"/>
          </a:xfrm>
          <a:prstGeom prst="hexagon">
            <a:avLst/>
          </a:prstGeom>
          <a:solidFill>
            <a:srgbClr val="7A4A1E"/>
          </a:solidFill>
          <a:ln/>
        </p:spPr>
      </p:sp>
      <p:sp>
        <p:nvSpPr>
          <p:cNvPr id="33" name="bullet"/>
          <p:cNvSpPr txBox="1"/>
          <p:nvPr/>
        </p:nvSpPr>
        <p:spPr>
          <a:xfrm>
            <a:off x="1143000" y="1389888"/>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Before 1829 London did not have a police force. When there was serious disorder, the army was used to restore order.</a:t>
            </a:r>
            <a:endParaRPr lang="en-US" sz="2000" dirty="0"/>
          </a:p>
        </p:txBody>
      </p:sp>
      <p:sp>
        <p:nvSpPr>
          <p:cNvPr id="34" name="bullet-card"/>
          <p:cNvSpPr/>
          <p:nvPr/>
        </p:nvSpPr>
        <p:spPr>
          <a:xfrm>
            <a:off x="548640" y="2977219"/>
            <a:ext cx="5074920" cy="1131147"/>
          </a:xfrm>
          <a:prstGeom prst="roundRect">
            <a:avLst>
              <a:gd name="adj" fmla="val 6467"/>
            </a:avLst>
          </a:prstGeom>
          <a:solidFill>
            <a:srgbClr val="F6F3F0"/>
          </a:solidFill>
          <a:ln/>
        </p:spPr>
      </p:sp>
      <p:sp>
        <p:nvSpPr>
          <p:cNvPr id="35" name="bullet-hex"/>
          <p:cNvSpPr/>
          <p:nvPr/>
        </p:nvSpPr>
        <p:spPr>
          <a:xfrm>
            <a:off x="676656" y="3376499"/>
            <a:ext cx="384048" cy="332586"/>
          </a:xfrm>
          <a:prstGeom prst="hexagon">
            <a:avLst/>
          </a:prstGeom>
          <a:solidFill>
            <a:srgbClr val="B8862B"/>
          </a:solidFill>
          <a:ln/>
        </p:spPr>
      </p:sp>
      <p:sp>
        <p:nvSpPr>
          <p:cNvPr id="36" name="bullet"/>
          <p:cNvSpPr txBox="1"/>
          <p:nvPr/>
        </p:nvSpPr>
        <p:spPr>
          <a:xfrm>
            <a:off x="1143000" y="297721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By 1888 the force was 59 years old, and Whitechapel was covered by its H Division.</a:t>
            </a:r>
            <a:endParaRPr lang="en-US" sz="2000" dirty="0"/>
          </a:p>
        </p:txBody>
      </p:sp>
      <p:sp>
        <p:nvSpPr>
          <p:cNvPr id="37" name="bullet-card"/>
          <p:cNvSpPr/>
          <p:nvPr/>
        </p:nvSpPr>
        <p:spPr>
          <a:xfrm>
            <a:off x="548640" y="4254669"/>
            <a:ext cx="5074920" cy="821267"/>
          </a:xfrm>
          <a:prstGeom prst="roundRect">
            <a:avLst>
              <a:gd name="adj" fmla="val 8907"/>
            </a:avLst>
          </a:prstGeom>
          <a:solidFill>
            <a:srgbClr val="F6F3F0"/>
          </a:solidFill>
          <a:ln/>
        </p:spPr>
      </p:sp>
      <p:sp>
        <p:nvSpPr>
          <p:cNvPr id="38" name="bullet-hex"/>
          <p:cNvSpPr/>
          <p:nvPr/>
        </p:nvSpPr>
        <p:spPr>
          <a:xfrm>
            <a:off x="676656" y="4499010"/>
            <a:ext cx="384048" cy="332586"/>
          </a:xfrm>
          <a:prstGeom prst="hexagon">
            <a:avLst/>
          </a:prstGeom>
          <a:solidFill>
            <a:srgbClr val="7A4A1E"/>
          </a:solidFill>
          <a:ln/>
        </p:spPr>
      </p:sp>
      <p:sp>
        <p:nvSpPr>
          <p:cNvPr id="39" name="bullet"/>
          <p:cNvSpPr txBox="1"/>
          <p:nvPr/>
        </p:nvSpPr>
        <p:spPr>
          <a:xfrm>
            <a:off x="1143000" y="425466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early force had serious problems, and your lesson lists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Limited methods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Ask of every method: would it work without forensic science? If the answer is no, the problem was the century, not just the officers.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Begin your lesson's bell work in your head: how do the police solve crimes today?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left the police with two ways to prove someone guilty of murder: catch the killer in the act, or get a confession.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when your lesson asks why the police did not catch the killer, part of the answer is not about the officers at 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the police tried, and why it failed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Method, description, reason it failed: three sentences. The reason is where the marks are.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Metropolitan Police tried very hard. Decoys: male officers dressed up as women and waited in the streets, hoping the killer would approach them.</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Interviews: the police interviewed 76 butchers about their work and their employees, as well as sailors from the docks, and after the double event they questioned more than 2,000 people.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Each method failed for a reason you can explain. The decoys failed because the disguise was poor and the plan was unsafe.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Two forces and no reward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Fault or outside their control? Sort every issue into one column or the other before you write. Two forces: fault. No forensic science: outside their control.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Catherine Eddowes was found in the City of London, so two police forces were now investigating: the Metropolitan Police and the City of London Police.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also asks what the police could have offered the people of Whitechapel to get more evidence, and why this did not happen.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your lesson's final question is a fair one: was it the police's fault that the killer was never caught?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Method and reason it failed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police method to the reason it did not work.</a:t>
            </a:r>
            <a:endParaRPr lang="en-US" sz="2400" dirty="0"/>
          </a:p>
        </p:txBody>
      </p:sp>
      <p:sp>
        <p:nvSpPr>
          <p:cNvPr id="11" name="match-card"/>
          <p:cNvSpPr/>
          <p:nvPr/>
        </p:nvSpPr>
        <p:spPr>
          <a:xfrm>
            <a:off x="777240" y="2468331"/>
            <a:ext cx="3081437" cy="804809"/>
          </a:xfrm>
          <a:prstGeom prst="roundRect">
            <a:avLst>
              <a:gd name="adj" fmla="val 9089"/>
            </a:avLst>
          </a:prstGeom>
          <a:solidFill>
            <a:srgbClr val="F6F3F0"/>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Decoys</a:t>
            </a:r>
            <a:endParaRPr lang="en-US" sz="20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Male officers in women's clothes were obvious, and local people laughed at them</a:t>
            </a:r>
            <a:endParaRPr lang="en-US" sz="2000" dirty="0"/>
          </a:p>
        </p:txBody>
      </p:sp>
      <p:sp>
        <p:nvSpPr>
          <p:cNvPr id="19" name="match-card"/>
          <p:cNvSpPr/>
          <p:nvPr/>
        </p:nvSpPr>
        <p:spPr>
          <a:xfrm>
            <a:off x="777240" y="3364581"/>
            <a:ext cx="3081437" cy="804809"/>
          </a:xfrm>
          <a:prstGeom prst="roundRect">
            <a:avLst>
              <a:gd name="adj" fmla="val 9089"/>
            </a:avLst>
          </a:prstGeom>
          <a:solidFill>
            <a:srgbClr val="F6F3F0"/>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Leaflets</a:t>
            </a:r>
            <a:endParaRPr lang="en-US" sz="20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Hundreds were questioned, but questions alone could not prove guilt without forensic evidence</a:t>
            </a:r>
            <a:endParaRPr lang="en-US" sz="2000" dirty="0"/>
          </a:p>
        </p:txBody>
      </p:sp>
      <p:sp>
        <p:nvSpPr>
          <p:cNvPr id="27" name="match-card"/>
          <p:cNvSpPr/>
          <p:nvPr/>
        </p:nvSpPr>
        <p:spPr>
          <a:xfrm>
            <a:off x="777240" y="4260830"/>
            <a:ext cx="3081437" cy="804809"/>
          </a:xfrm>
          <a:prstGeom prst="roundRect">
            <a:avLst>
              <a:gd name="adj" fmla="val 9089"/>
            </a:avLst>
          </a:prstGeom>
          <a:solidFill>
            <a:srgbClr val="F6F3F0"/>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Interviews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streets were full of strong smells and the police had nothing of the killer's for a scent</a:t>
            </a:r>
            <a:endParaRPr lang="en-US" sz="2000" dirty="0"/>
          </a:p>
        </p:txBody>
      </p:sp>
      <p:sp>
        <p:nvSpPr>
          <p:cNvPr id="35" name="match-card"/>
          <p:cNvSpPr/>
          <p:nvPr/>
        </p:nvSpPr>
        <p:spPr>
          <a:xfrm>
            <a:off x="777240" y="5157079"/>
            <a:ext cx="3081437" cy="804809"/>
          </a:xfrm>
          <a:prstGeom prst="roundRect">
            <a:avLst>
              <a:gd name="adj" fmla="val 9089"/>
            </a:avLst>
          </a:prstGeom>
          <a:solidFill>
            <a:srgbClr val="F6F3F0"/>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Bloodhounds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Over 80,000 were handed out, but the people who received them had nothing useful to tell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Method and reason it failed</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Method and reason it failed</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dogs: what do dogs need to track someone? A scent. Find the reason that mentions smells.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decoys were people in disguise: find the reason about clothes and laughter.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Leaflets are pieces of paper handed to residents: find the reason about what residents could tell.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is left must belong to the interviews.</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reason contains a clue word: laughed, 80,000, forensic, scent. Match the clue to the method it describes.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two of the methods, explain how the police could have acted differently to make the method work, and say whether it would have been enough.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old was the force?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Metropolitan Police was set up in 1829. How many years old was the force in 1888?</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How old was the force?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Metropolitan Police was set up in 1829. How many years old was the force in 1888?</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two years: 1829 (set up) and 1888 (the case).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year from the later year.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1888 − 1829 is the same as 88 − 29, because both years begin with 18.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88 − 29 = 59.</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Check your answer by adding it back to 1829.</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Victoria had reigned for 51 years by 1888 and the police had existed for 59. Explain what these two figures together tell you about how new the idea of a police force was to Victorian Londoners.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was the Metropolitan Police set up?</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Method and reason it failed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Decoys  →  A  Male officers in women's clothes were obvious, and local people laughed at them</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Leaflets  →  D  Over 80,000 were handed out, but the people who received them had nothing useful to tell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Interviews  →  B  Hundreds were questioned, but questions alone could not prove guilt without forensic evidence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Bloodhounds  →  C  The streets were full of strong smells and the police had nothing of the killer's for a scent</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Decoys failed because the disguises were obvious; leaflets because residents had nothing to tell; interviews because questions cannot prove guilt without forensic evidence; bloodhounds because of the smells and the missing scent.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old was the force?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Metropolitan Police was set up in 1829. How many years old was the force in 1888?</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59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1888 − 1829 = 59. A force not yet 60 years old, with untrained officers and no forensic science, was asked to catch a killer in the hardest district in London.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was the Metropolitan Police set up?</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1829</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Sir Robert Peel set up the Metropolitan Police Force in 1829; the officers were nicknamed Peelers and Bobbies after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4: The police: new, limited and divided</dc:title>
  <dc:subject>History · Year 8</dc:subject>
  <dc:creator>Dr Vitor Merissi de Carvalho</dc:creator>
  <cp:lastModifiedBy>Dr Vitor Merissi de Carvalho</cp:lastModifiedBy>
  <cp:revision>1</cp:revision>
  <dcterms:created xsi:type="dcterms:W3CDTF">2026-10-19T06:08:06Z</dcterms:created>
  <dcterms:modified xsi:type="dcterms:W3CDTF">2026-10-19T06:08:06Z</dcterms:modified>
</cp:coreProperties>
</file>