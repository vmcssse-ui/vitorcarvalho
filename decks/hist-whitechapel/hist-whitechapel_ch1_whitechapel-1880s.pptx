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eb5cdd0-aa21-e63d-2271-8df41e1b62e7}">
          <p14:sldIdLst>
            <p14:sldId id="256"/>
          </p14:sldIdLst>
        </p14:section>
        <p14:section name="Gate" id="{b080d682-b604-a391-e7c9-7614a7a3adae}">
          <p14:sldIdLst>
            <p14:sldId id="257"/>
            <p14:sldId id="258"/>
          </p14:sldIdLst>
        </p14:section>
        <p14:section name="Pre-teach" id="{3aa356c3-64b0-1cba-5122-f4b8cc02d381}">
          <p14:sldIdLst>
            <p14:sldId id="259"/>
            <p14:sldId id="260"/>
          </p14:sldIdLst>
        </p14:section>
        <p14:section name="Read-along" id="{00ebf738-a0a5-aad2-8fa1-a5a7a43c8683}">
          <p14:sldIdLst>
            <p14:sldId id="261"/>
            <p14:sldId id="262"/>
          </p14:sldIdLst>
        </p14:section>
        <p14:section name="Teach" id="{d6810d32-62a1-7649-0172-7dbd479a5a02}">
          <p14:sldIdLst>
            <p14:sldId id="263"/>
            <p14:sldId id="264"/>
            <p14:sldId id="265"/>
            <p14:sldId id="266"/>
          </p14:sldIdLst>
        </p14:section>
        <p14:section name="Routes" id="{5c634858-299d-b9f4-4ee8-88e4265cbbaa}">
          <p14:sldIdLst>
            <p14:sldId id="267"/>
            <p14:sldId id="268"/>
            <p14:sldId id="269"/>
            <p14:sldId id="270"/>
            <p14:sldId id="271"/>
          </p14:sldIdLst>
        </p14:section>
        <p14:section name="Close" id="{b7b4e26c-7eb7-6055-ab57-48a0addf87dd}">
          <p14:sldIdLst>
            <p14:sldId id="272"/>
          </p14:sldIdLst>
        </p14:section>
        <p14:section name="Answers" id="{897a2c07-71b1-cd73-04ee-632703997acc}">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Whitechapel in the 1880s. Victorian Britain was rich and powerful, but its wealth stopped at the edge of the East End. This chapter takes you into Whitechapel: who lived there, how they lived, and why it was the poorest district in London.
This deck covers the department's lesson: 1 (Conditions in Whitechapel in the 1880s: What was Whitechapel like in the 1880s, and how did its conditions affect crime?).
Read the big question aloud: "Why was the Whitechapel killer of 1888 never caught, and what does the case show us about poverty, policing and the press in Victorian London?"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Where was Whitechapel?  →  A   In the East End of London, on the border of the City of London
2. Whitechapel was the ___ district in the East End of London.  →  poorest
3. In which year did Queen Victoria come to the throne?  →  1837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In the East End of London, on the border of the City of London. Whitechapel is a small district in the East End of London, next to the City of London.
2. poorest. The East End was the poorest part of London, and Whitechapel was the poorest district within it.
3. 1837. Victoria became queen in 1837 and reigned until 1901, so by 1888 she had been on the throne for over 50 years.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Victorian: from the time when Queen Victoria ruled, 1837 to 1901. Example: "The Victorian period was a time of new inventions and a growing empire."
• East End: the poor, crowded eastern part of London. Example: "About 900,000 people lived in the East End of London in the 1880s."
• district: an area of a town or city with its own name. Example: "Whitechapel was a small district on the edge of the City of London."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overcrowding: too many people living in too small a space. Example: "Overcrowding meant seven people shared an average house."
• doss house: a cheap lodging house where you paid for a bed for one night. Example: "A bed in a doss house cost four pence."
• slum: a run-down area of poor, crowded housing. Example: "Whitechapel held some of the worst slums in London."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In 1888 Britain was rich and powerful.
2. Queen Victoria had ruled since 1837.
3. London was the largest capital city in the world.
4. But the wealth was not shared fairly.
5. In the East End of London lived about 900,000 people.
6. Whitechapel was the poorest district in the East End.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About 78,000 people lived there, packed into a small area.
8. On average, seven people lived in each house.
9. About 8,000 people regularly slept rough on the streets.
10. The poorest paid a few pennies for a bed in a doss house.
11. Work was hard to find, especially for women.
12. This is the place where the events of 1888 happened.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Victorian Britain: rich, powerful and unequal. Say it in your own words, then check understanding with a quick question: ask a pupil from the pre-teach group first, since they met these words and ideas before the lesson. Pupils try to recall before you re-explain.
The Victorian period is the time when Queen Victoria was on the throne, from 1837 to 1901. You met it in Year 7 when you compared the Romans and the Victorians. It is famous for new inventions, for the growth of the British Empire, and for increased wealth. By 1888 London was the largest capital city in the world and the centre of that Empire.
Victoria had been queen for over 50 years by 1888, and the public face of Britain copied her style: proud, dignified and proper. But this power and wealth was not spread fairly across society. A short walk east from the City of London, where the banks were, took you into the East End, the poorest part of the capital.
This unit asks why a killer in the East End in 1888 was never caught. To answer that, your lesson begins not with the killer but with the place. The conditions in Whitechapel are the first factor, and you cannot judge the police, the witnesses or the newspapers without understanding them.
Tip: When a question says Victorian, think 1837 to 1901. The events in this unit happened in 1888, in the second half of the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was Whitechapel?. Say it in your own words, then check understanding with a quick question: ask a pupil from the pre-teach group first, since they met these words and ideas before the lesson. Pupils try to recall before you re-explain.
Whitechapel is a small district in the East End of London, on the border of the City of London. In the 1880s about 900,000 people lived in the East End, which was known for unemployment and crime. Whitechapel was the poorest district of all. By the end of the 1800s its population was over 78,000, and the wider area patrolled by the Metropolitan Police's H Division held about 176,000 people.
A small area with a very big population means overcrowding. Each house in Whitechapel had, on average, seven people living in it. Homelessness was common: about 8,000 people regularly slept rough. Streets such as Thrawl Street, Flower and Dean Street and Dorset Street were lined with lodging houses, and your lesson says the police would only go down Dorset Street in teams of four.
Whitechapel was also a mixture of places: lodging houses, sweatshops where people sewed for long hours, slaughterhouses, pubs, a few shops and warehouses, with a row or two of respectable cottages. Most of it was slum housing, and the poverty of the people who lived there shocked visitors.
Worked example — model it step by step, thinking aloud: Use two figures from your lesson to explain why overcrowding was common in Whitechapel. (1) Make the point: Overcrowding was common in Whitechapel because a very large number of people lived in a very small area. (2) Give the first figure: over 78,000 people lived in the district by the end of the 1800s. (3) Give the second figure and link it: so, on average, seven people lived in each house. (4) Explain what this meant: families shared rooms, and those who could not pay for a room slept in doss houses or on the street. Answer: Point, two figures, explanation: 78,000 people in a small district meant an average of seven to a house, so people shared rooms, used doss houses or slept rough..
Tip: Figures are evidence. Always say what a figure shows, not just what it is: 78,000 people shows how crowded the district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was Whitechapel?. Say it in your own words, then check understanding with a quick question: ask a pupil from the pre-teach group first, since they met these words and ideas before the lesson. Pupils try to recall before you re-explain.
Whitechapel is a small district in the East End of London, on the border of the City of London. In the 1880s about 900,000 people lived in the East End, which was known for unemployment and crime. Whitechapel was the poorest district of all. By the end of the 1800s its population was over 78,000, and the wider area patrolled by the Metropolitan Police's H Division held about 176,000 people.
A small area with a very big population means overcrowding. Each house in Whitechapel had, on average, seven people living in it. Homelessness was common: about 8,000 people regularly slept rough. Streets such as Thrawl Street, Flower and Dean Street and Dorset Street were lined with lodging houses, and your lesson says the police would only go down Dorset Street in teams of four.
Whitechapel was also a mixture of places: lodging houses, sweatshops where people sewed for long hours, slaughterhouses, pubs, a few shops and warehouses, with a row or two of respectable cottages. Most of it was slum housing, and the poverty of the people who lived there shocked visitors.
Worked example — model it step by step, thinking aloud: Use two figures from your lesson to explain why overcrowding was common in Whitechapel. (1) Make the point: Overcrowding was common in Whitechapel because a very large number of people lived in a very small area. (2) Give the first figure: over 78,000 people lived in the district by the end of the 1800s. (3) Give the second figure and link it: so, on average, seven people lived in each house. (4) Explain what this meant: families shared rooms, and those who could not pay for a room slept in doss houses or on the street. Answer: Point, two figures, explanation: 78,000 people in a small district meant an average of seven to a house, so people shared rooms, used doss houses or slept rough..
Tip: Figures are evidence. Always say what a figure shows, not just what it is: 78,000 people shows how crowded the district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Homes, work and the doss house. Say it in your own words, then check understanding with a quick question: ask a pupil from the pre-teach group first, since they met these words and ideas before the lesson. Pupils try to recall before you re-explain.
Your lesson's reading describes three groups of people in Whitechapel. The poor were builders, labourers, shopkeepers, dock workers and tailors. The very poor were often women and children working as seamstresses, weavers or clothes washers. The homeless had nothing steady at all. Men could sometimes find a day's work at the docks, unloading ships. For women, work was scarce and very badly paid.
For anyone who could not rent a room, there was the doss house, a common lodging house. There were over 200 of them in Whitechapel. Four pence bought a narrow bed in a dormitory shared with up to 80 other people. For two pence you could lean against a rope stretched across the room. The landlords' rule was simple: no pay, no stay. Anyone without the pennies spent the night in a doorway or the churchyard.
Sanitation hardly existed. Waste was thrown into the street, and the smell of the whole district was hard to bear. Cheap drink was everywhere, and for many people the pub was the only escape from this life. Keep these details in mind: the money for a doss-house bed, and the drink, will matter when you read about the five women in chapter 3.
Tip: Four pence for a bed sounds tiny, but for the very poor it was the difference between a night indoors and a night on the street.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each figure measures.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figure from your lesson to what it measures.
Support — work through the steps with the group: (1) Start with the biggest number. The East End was a huge area, so it has the biggest population. (2) Whitechapel was one small district inside the East End, so its figure is smaller than the East End's but still in the tens of thousands. (3) The people sleeping rough were a part of Whitechapel's population, so that figure is smaller again. (4) The smallest number describes one house, not a whole area.
Parallel worked example for Support (model it, do not give the task answer): Match: 9 million, 1,500, 30. Choices: the people living in London today; the pupils in a large secondary school; the pupils in one class. The biggest number must be the biggest group of people: London today.; 1,500 is far too many for one class, so it must be the whole school.; 30 is one class.. Answer: 9 million: London today; 1,500: the whole school; 30: one class..
Core — reveal the hint only on request: Order the figures from biggest to smallest. Then order the places from biggest to smallest: the East End, Whitechapel, part of Whitechapel, one house.
Stretch — no help; when finished: Work out roughly what fraction of Whitechapel's population slept rough, and explain what that tells you about the shortage of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each figure measures.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figure from your lesson to what it measures.
Support — work through the steps with the group: (1) Start with the biggest number. The East End was a huge area, so it has the biggest population. (2) Whitechapel was one small district inside the East End, so its figure is smaller than the East End's but still in the tens of thousands. (3) The people sleeping rough were a part of Whitechapel's population, so that figure is smaller again. (4) The smallest number describes one house, not a whole area.
Parallel worked example for Support (model it, do not give the task answer): Match: 9 million, 1,500, 30. Choices: the people living in London today; the pupils in a large secondary school; the pupils in one class. The biggest number must be the biggest group of people: London today.; 1,500 is far too many for one class, so it must be the whole school.; 30 is one class.. Answer: 9 million: London today; 1,500: the whole school; 30: one class..
Core — reveal the hint only on request: Order the figures from biggest to smallest. Then order the places from biggest to smallest: the East End, Whitechapel, part of Whitechapel, one house.
Stretch — no help; when finished: Work out roughly what fraction of Whitechapel's population slept rough, and explain what that tells you about the shortage of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What each figure measures.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figure from your lesson to what it measures.
Support — work through the steps with the group: (1) Start with the biggest number. The East End was a huge area, so it has the biggest population. (2) Whitechapel was one small district inside the East End, so its figure is smaller than the East End's but still in the tens of thousands. (3) The people sleeping rough were a part of Whitechapel's population, so that figure is smaller again. (4) The smallest number describes one house, not a whole area.
Parallel worked example for Support (model it, do not give the task answer): Match: 9 million, 1,500, 30. Choices: the people living in London today; the pupils in a large secondary school; the pupils in one class. The biggest number must be the biggest group of people: London today.; 1,500 is far too many for one class, so it must be the whole school.; 30 is one class.. Answer: 9 million: London today; 1,500: the whole school; 30: one class..
Core — reveal the hint only on request: Order the figures from biggest to smallest. Then order the places from biggest to smallest: the East End, Whitechapel, part of Whitechapel, one house.
Stretch — no help; when finished: Work out roughly what fraction of Whitechapel's population slept rough, and explain what that tells you about the shortage of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Describe the conditions.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two conditions of life in Whitechapel in the 1880s. For each one, give a detail or figure from your lesson and say what it meant for the people who lived there. Write one paragraph of four to six sentences.
Support — work through the steps with the group: (1) Choose two conditions from the chapter: overcrowding, homelessness, poor sanitation, lack of work, the doss houses. (2) Sentence 1: One condition of life in Whitechapel was… (3) Sentence 2: Give a detail or figure: For example… (4) Sentence 3: Say what it meant: This meant that people… (5) Repeat the three sentences for your second condition.
Parallel worked example for Support (model it, do not give the task answer): Describe one condition of life in a medieval village, with a detail and what it meant. Name it: One condition was that most villagers were peasants who had to work the lord's land.; Detail: they worked two or three days a week for him without pay.; What it meant: this left less time for their own crops, so a bad harvest meant hunger.. Answer: Condition, detail, what it meant: peasants owed work to the lord; two or three days a week; so their own food was at risk..
Core — reveal the hint only on request: Condition, detail, meaning: three sentences for each condition. Use a figure for at least one of them.
Stretch — no help; when finished: Add a third sentence to each condition explaining how it might have made it easier for a criminal to go unnoticed. You will build on this in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Describe the conditions.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two conditions of life in Whitechapel in the 1880s. For each one, give a detail or figure from your lesson and say what it meant for the people who lived there. Write one paragraph of four to six sentences.
Support — work through the steps with the group: (1) Choose two conditions from the chapter: overcrowding, homelessness, poor sanitation, lack of work, the doss houses. (2) Sentence 1: One condition of life in Whitechapel was… (3) Sentence 2: Give a detail or figure: For example… (4) Sentence 3: Say what it meant: This meant that people… (5) Repeat the three sentences for your second condition.
Parallel worked example for Support (model it, do not give the task answer): Describe one condition of life in a medieval village, with a detail and what it meant. Name it: One condition was that most villagers were peasants who had to work the lord's land.; Detail: they worked two or three days a week for him without pay.; What it meant: this left less time for their own crops, so a bad harvest meant hunger.. Answer: Condition, detail, what it meant: peasants owed work to the lord; two or three days a week; so their own food was at risk..
Core — reveal the hint only on request: Condition, detail, meaning: three sentences for each condition. Use a figure for at least one of them.
Stretch — no help; when finished: Add a third sentence to each condition explaining how it might have made it easier for a criminal to go unnoticed. You will build on this in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was the doss house so important to the poorest people of Whitechapel?
Answer: B   It was the only bed they could afford, and only if they had the pennies that night. The doss house was the poorest person's only option indoors, and it had to be paid for every single night. That daily search for pennies is a thread that runs through the whole unit.
Source of this question: module 3 task ("Why the doss house mattered")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What each figure measures. Reveal the answer; pupils mark their own work in a different colour, then read the "why" together. Same destination for every lane, so one answer serves the whole class.
Answer: 900,000  →  A  People living in the East End of London in the 1880s; 78,000  →  D  People living in the district of Whitechapel by the end of the 1800s; 8,000  →  B  People in Whitechapel who regularly slept rough; 7  →  C  The average number of people living in one Whitechapel house
Why: The East End held about 900,000 people; the small district of Whitechapel inside it held over 78,000; about 8,000 of those regularly slept rough; and the average house held seven people.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Describe the conditions. Reveal the answer; pupils mark their own work in a different colour, then read the "why" together. Same destination for every lane, so one answer serves the whole class.
Answer: I name two clear conditions, such as overcrowding, homelessness, poor sanitation, lack of work or the doss houses.; For each condition I give one detail or figure from the lesson.; For each condition I say what it meant for the people living there.; I write in full sentences and use at least one key word from the chapter correctly.
Why: A good description names the condition, proves it with a detail or figure from the lesson, and explains what it meant for real people. Overcrowding, homelessness, sanitation, scarce work and the doss houses are all good choices.
Model answer: One condition of life in Whitechapel was overcrowding. By the end of the 1800s over 78,000 people lived in the small district, and an average house held seven people, so families shared single rooms and had no privacy or quiet. A second condition was homelessness. About 8,000 people regularly slept rough, and those with four pence could buy a bed in a doss house for one night only. This meant that every day began with the same worry: how to earn the pennies for a bed, or face another night in a doorway.
Success criteria: I name two clear conditions, such as overcrowding, homelessness, poor sanitation, lack of work or the doss houses.; For each condition I give one detail or figure from the lesson.; For each condition I say what it meant for the people living there.; I write in full sentences and use at least one key word from the chapter correctly.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It was the only bed they could afford, and only if they had the pennies that night
Why: The doss house was the poorest person's only option indoors, and it had to be paid for every single night. That daily search for pennies is a thread that runs through the whole unit.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Whitechapel 1888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Whitechapel 1888 · AQA KS3 → 8145</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Whitechapel in the 1880s</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4F0EC"/>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Conditions in Whitechapel in the 1880s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Why was the Whitechapel killer of 1888 never caught, and what does the case show us about poverty, policing and the press in Victorian London?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Where was Whitechapel?</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the East End of London, on the border of the City of London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the centre of Manchester, near the cotton mills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In the West End of London, near the royal palaces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On the south bank of the Thames, by the docks at Greenwich</a:t>
            </a:r>
            <a:endParaRPr lang="en-US" sz="2200" dirty="0"/>
          </a:p>
        </p:txBody>
      </p:sp>
      <p:sp>
        <p:nvSpPr>
          <p:cNvPr id="12" name="card"/>
          <p:cNvSpPr/>
          <p:nvPr/>
        </p:nvSpPr>
        <p:spPr>
          <a:xfrm>
            <a:off x="6095848" y="1389888"/>
            <a:ext cx="2636444" cy="4754880"/>
          </a:xfrm>
          <a:prstGeom prst="roundRect">
            <a:avLst>
              <a:gd name="adj" fmla="val 2081"/>
            </a:avLst>
          </a:prstGeom>
          <a:solidFill>
            <a:srgbClr val="F8F5F3"/>
          </a:solidFill>
          <a:ln w="12700">
            <a:solidFill>
              <a:srgbClr val="D2C2B4"/>
            </a:solidFill>
            <a:prstDash val="solid"/>
          </a:ln>
        </p:spPr>
      </p:sp>
      <p:sp>
        <p:nvSpPr>
          <p:cNvPr id="13" name="card-hex"/>
          <p:cNvSpPr/>
          <p:nvPr/>
        </p:nvSpPr>
        <p:spPr>
          <a:xfrm>
            <a:off x="6278728" y="1572768"/>
            <a:ext cx="640080" cy="554309"/>
          </a:xfrm>
          <a:prstGeom prst="hexagon">
            <a:avLst/>
          </a:prstGeom>
          <a:solidFill>
            <a:srgbClr val="7A4A1E"/>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Whitechapel was the ___ district in the East End of London.</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poorest  ·  richest  ·  largest</a:t>
            </a:r>
            <a:endParaRPr lang="en-US" sz="2400" dirty="0"/>
          </a:p>
        </p:txBody>
      </p:sp>
      <p:sp>
        <p:nvSpPr>
          <p:cNvPr id="17"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18" name="card-hex"/>
          <p:cNvSpPr/>
          <p:nvPr/>
        </p:nvSpPr>
        <p:spPr>
          <a:xfrm>
            <a:off x="9189491" y="1572768"/>
            <a:ext cx="640080" cy="554309"/>
          </a:xfrm>
          <a:prstGeom prst="hexagon">
            <a:avLst/>
          </a:prstGeom>
          <a:solidFill>
            <a:srgbClr val="7A4A1E"/>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Work it out</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which year did Queen Victoria come to the throne?</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EE3CD"/>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In the East End of London, on the border of the City of London</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Where was Whitechapel?</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Whitechapel is a small district in the East End of London, next to the City of London.</a:t>
            </a:r>
            <a:endParaRPr lang="en-US" sz="2200" dirty="0"/>
          </a:p>
        </p:txBody>
      </p:sp>
      <p:sp>
        <p:nvSpPr>
          <p:cNvPr id="14" name="card"/>
          <p:cNvSpPr/>
          <p:nvPr/>
        </p:nvSpPr>
        <p:spPr>
          <a:xfrm>
            <a:off x="6095848" y="1389888"/>
            <a:ext cx="2636444" cy="4754880"/>
          </a:xfrm>
          <a:prstGeom prst="roundRect">
            <a:avLst>
              <a:gd name="adj" fmla="val 2081"/>
            </a:avLst>
          </a:prstGeom>
          <a:solidFill>
            <a:srgbClr val="F8F5F3"/>
          </a:solidFill>
          <a:ln w="12700">
            <a:solidFill>
              <a:srgbClr val="D2C2B4"/>
            </a:solidFill>
            <a:prstDash val="solid"/>
          </a:ln>
        </p:spPr>
      </p:sp>
      <p:sp>
        <p:nvSpPr>
          <p:cNvPr id="15" name="card-hex"/>
          <p:cNvSpPr/>
          <p:nvPr/>
        </p:nvSpPr>
        <p:spPr>
          <a:xfrm>
            <a:off x="6278728" y="1572768"/>
            <a:ext cx="640080" cy="554309"/>
          </a:xfrm>
          <a:prstGeom prst="hexagon">
            <a:avLst/>
          </a:prstGeom>
          <a:solidFill>
            <a:srgbClr val="7A4A1E"/>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poorest</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Whitechapel was the ___ district in the East End of London.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East End was the poorest part of London, and Whitechapel was the poorest district within it.</a:t>
            </a:r>
            <a:endParaRPr lang="en-US" sz="1800" dirty="0"/>
          </a:p>
        </p:txBody>
      </p:sp>
      <p:sp>
        <p:nvSpPr>
          <p:cNvPr id="21" name="card"/>
          <p:cNvSpPr/>
          <p:nvPr/>
        </p:nvSpPr>
        <p:spPr>
          <a:xfrm>
            <a:off x="9006611" y="1389888"/>
            <a:ext cx="2636444" cy="4754880"/>
          </a:xfrm>
          <a:prstGeom prst="roundRect">
            <a:avLst>
              <a:gd name="adj" fmla="val 2081"/>
            </a:avLst>
          </a:prstGeom>
          <a:solidFill>
            <a:srgbClr val="F8F5F3"/>
          </a:solidFill>
          <a:ln w="12700">
            <a:solidFill>
              <a:srgbClr val="D2C2B4"/>
            </a:solidFill>
            <a:prstDash val="solid"/>
          </a:ln>
        </p:spPr>
      </p:sp>
      <p:sp>
        <p:nvSpPr>
          <p:cNvPr id="22" name="card-hex"/>
          <p:cNvSpPr/>
          <p:nvPr/>
        </p:nvSpPr>
        <p:spPr>
          <a:xfrm>
            <a:off x="9189491" y="1572768"/>
            <a:ext cx="640080" cy="554309"/>
          </a:xfrm>
          <a:prstGeom prst="hexagon">
            <a:avLst/>
          </a:prstGeom>
          <a:solidFill>
            <a:srgbClr val="7A4A1E"/>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1837</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which year did Queen Victoria come to the throne?</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Victoria became queen in 1837 and reigned until 1901, so by 1888 she had been on the throne for over 50 years.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Victorian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from the time when Queen Victoria ruled, 1837 to 1901</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Victorian period was a time of new inventions and a growing empire.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East End</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poor, crowded eastern part of London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About 900,000 people lived in the East End of London in the 1880s.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district</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area of a town or city with its own name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Whitechapel was a small district on the edge of the City of London.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overcrowding</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too many people living in too small a space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Overcrowding meant seven people shared an average house.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doss house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cheap lodging house where you paid for a bed for one night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bed in a doss house cost four pence.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slum</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run-down area of poor, crowded housing</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Whitechapel held some of the worst slums in London.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1888 Britain was rich and powerful.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Queen Victoria had ruled since 1837.</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London was the largest capital city in the world.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But the wealth was not shared fairly.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East End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of London lived about 900,000 people.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Whitechapel was the poorest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district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in the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East End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About 78,000 people lived there, packed into a small area.</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 average, seven people lived in each house.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About 8,000 people regularly slept rough on the streets.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poorest paid a few pennies for a bed in a </a:t>
            </a:r>
            <a:pPr algn="l" indent="0" marL="0">
              <a:spcAft>
                <a:spcPts val="600"/>
              </a:spcAft>
              <a:buNone/>
            </a:pPr>
            <a:r>
              <a:rPr lang="en-US" sz="2600" b="1" dirty="0">
                <a:solidFill>
                  <a:srgbClr val="7A4A1E"/>
                </a:solidFill>
                <a:latin typeface="Calibri" pitchFamily="34" charset="0"/>
                <a:ea typeface="Calibri" pitchFamily="34" charset="-122"/>
                <a:cs typeface="Calibri" pitchFamily="34" charset="-120"/>
              </a:rPr>
              <a:t>doss house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Work was hard to find, especially for women.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This is the place where the events of 1888 happened.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Victorian Britain: rich, powerful and unequal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says Victorian, think 1837 to 1901. The events in this unit happened in 1888, in the second half of the period.</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Victorian period is the time when Queen Victoria was on the throne, from 1837 to 1901.</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Victoria had been queen for over 50 years by 1888, and the public face of Britain copied her style: proud, dignified and proper.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This unit asks why a killer in the East End in 1888 was never caught.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Where was Whitechapel?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Figures are evidence. Always say what a figure shows, not just what it is: 78,000 people shows how crowded the district was.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Whitechapel is a small district in the East End of London, on the border of the City of London.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small area with a very big population means overcrowding.</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Whitechapel was also a mixture of places: lodging houses, sweatshops where people sewed for long hours, slaughterhouses, pubs, a few shops and warehouses, with a row or two of respectable cottages.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Where was Whitechapel?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F0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Use two figures from your lesson to explain why overcrowding was common in Whitechapel.</a:t>
            </a:r>
            <a:endParaRPr lang="en-US" sz="2000" dirty="0"/>
          </a:p>
        </p:txBody>
      </p:sp>
      <p:sp>
        <p:nvSpPr>
          <p:cNvPr id="9" name="step-box"/>
          <p:cNvSpPr/>
          <p:nvPr/>
        </p:nvSpPr>
        <p:spPr>
          <a:xfrm>
            <a:off x="548640" y="2192528"/>
            <a:ext cx="11094415" cy="786384"/>
          </a:xfrm>
          <a:prstGeom prst="roundRect">
            <a:avLst>
              <a:gd name="adj" fmla="val 9302"/>
            </a:avLst>
          </a:prstGeom>
          <a:solidFill>
            <a:srgbClr val="FFFFFF"/>
          </a:solidFill>
          <a:ln w="15875">
            <a:solidFill>
              <a:srgbClr val="B69B83"/>
            </a:solidFill>
            <a:prstDash val="solid"/>
          </a:ln>
        </p:spPr>
      </p:sp>
      <p:sp>
        <p:nvSpPr>
          <p:cNvPr id="10" name="step-hex"/>
          <p:cNvSpPr/>
          <p:nvPr/>
        </p:nvSpPr>
        <p:spPr>
          <a:xfrm>
            <a:off x="685800" y="2387752"/>
            <a:ext cx="457200" cy="395935"/>
          </a:xfrm>
          <a:prstGeom prst="hexagon">
            <a:avLst/>
          </a:prstGeom>
          <a:solidFill>
            <a:srgbClr val="7A4A1E"/>
          </a:solidFill>
          <a:ln/>
        </p:spPr>
      </p:sp>
      <p:sp>
        <p:nvSpPr>
          <p:cNvPr id="11" name="step-hex-label"/>
          <p:cNvSpPr txBox="1"/>
          <p:nvPr/>
        </p:nvSpPr>
        <p:spPr>
          <a:xfrm>
            <a:off x="685800" y="238775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Make the point: Overcrowding was common in Whitechapel because a very large number of people lived in a very small area.</a:t>
            </a:r>
            <a:endParaRPr lang="en-US" sz="1800" dirty="0"/>
          </a:p>
        </p:txBody>
      </p:sp>
      <p:sp>
        <p:nvSpPr>
          <p:cNvPr id="13" name="step-box"/>
          <p:cNvSpPr/>
          <p:nvPr/>
        </p:nvSpPr>
        <p:spPr>
          <a:xfrm>
            <a:off x="548640" y="3052064"/>
            <a:ext cx="11094415" cy="522224"/>
          </a:xfrm>
          <a:prstGeom prst="roundRect">
            <a:avLst>
              <a:gd name="adj" fmla="val 14008"/>
            </a:avLst>
          </a:prstGeom>
          <a:solidFill>
            <a:srgbClr val="FFFFFF"/>
          </a:solidFill>
          <a:ln w="15875">
            <a:solidFill>
              <a:srgbClr val="B69B83"/>
            </a:solidFill>
            <a:prstDash val="solid"/>
          </a:ln>
        </p:spPr>
      </p:sp>
      <p:sp>
        <p:nvSpPr>
          <p:cNvPr id="14" name="step-hex"/>
          <p:cNvSpPr/>
          <p:nvPr/>
        </p:nvSpPr>
        <p:spPr>
          <a:xfrm>
            <a:off x="685800" y="3115208"/>
            <a:ext cx="457200" cy="395935"/>
          </a:xfrm>
          <a:prstGeom prst="hexagon">
            <a:avLst/>
          </a:prstGeom>
          <a:solidFill>
            <a:srgbClr val="7A4A1E"/>
          </a:solidFill>
          <a:ln/>
        </p:spPr>
      </p:sp>
      <p:sp>
        <p:nvSpPr>
          <p:cNvPr id="15" name="step-hex-label"/>
          <p:cNvSpPr txBox="1"/>
          <p:nvPr/>
        </p:nvSpPr>
        <p:spPr>
          <a:xfrm>
            <a:off x="685800" y="311520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52064"/>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first figure: over 78,000 people lived in the district by the end of the 1800s.</a:t>
            </a:r>
            <a:endParaRPr lang="en-US" sz="1800" dirty="0"/>
          </a:p>
        </p:txBody>
      </p:sp>
      <p:sp>
        <p:nvSpPr>
          <p:cNvPr id="17" name="step-box"/>
          <p:cNvSpPr/>
          <p:nvPr/>
        </p:nvSpPr>
        <p:spPr>
          <a:xfrm>
            <a:off x="548640" y="3647440"/>
            <a:ext cx="11094415" cy="522224"/>
          </a:xfrm>
          <a:prstGeom prst="roundRect">
            <a:avLst>
              <a:gd name="adj" fmla="val 14008"/>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7440"/>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the second figure and link it: so, on average, seven people lived in each house.</a:t>
            </a:r>
            <a:endParaRPr lang="en-US" sz="1800" dirty="0"/>
          </a:p>
        </p:txBody>
      </p:sp>
      <p:sp>
        <p:nvSpPr>
          <p:cNvPr id="21" name="step-box"/>
          <p:cNvSpPr/>
          <p:nvPr/>
        </p:nvSpPr>
        <p:spPr>
          <a:xfrm>
            <a:off x="548640" y="4242816"/>
            <a:ext cx="11094415" cy="786384"/>
          </a:xfrm>
          <a:prstGeom prst="roundRect">
            <a:avLst>
              <a:gd name="adj" fmla="val 9302"/>
            </a:avLst>
          </a:prstGeom>
          <a:solidFill>
            <a:srgbClr val="FFFFFF"/>
          </a:solidFill>
          <a:ln w="15875">
            <a:solidFill>
              <a:srgbClr val="B69B83"/>
            </a:solidFill>
            <a:prstDash val="solid"/>
          </a:ln>
        </p:spPr>
      </p:sp>
      <p:sp>
        <p:nvSpPr>
          <p:cNvPr id="22" name="step-hex"/>
          <p:cNvSpPr/>
          <p:nvPr/>
        </p:nvSpPr>
        <p:spPr>
          <a:xfrm>
            <a:off x="685800" y="4438040"/>
            <a:ext cx="457200" cy="395935"/>
          </a:xfrm>
          <a:prstGeom prst="hexagon">
            <a:avLst/>
          </a:prstGeom>
          <a:solidFill>
            <a:srgbClr val="7A4A1E"/>
          </a:solidFill>
          <a:ln/>
        </p:spPr>
      </p:sp>
      <p:sp>
        <p:nvSpPr>
          <p:cNvPr id="23" name="step-hex-label"/>
          <p:cNvSpPr txBox="1"/>
          <p:nvPr/>
        </p:nvSpPr>
        <p:spPr>
          <a:xfrm>
            <a:off x="685800" y="443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42816"/>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what this meant: families shared rooms, and those who could not pay for a room slept in doss houses or on the street.</a:t>
            </a:r>
            <a:endParaRPr lang="en-US" sz="1800" dirty="0"/>
          </a:p>
        </p:txBody>
      </p:sp>
      <p:sp>
        <p:nvSpPr>
          <p:cNvPr id="25" name="worked-answer"/>
          <p:cNvSpPr/>
          <p:nvPr/>
        </p:nvSpPr>
        <p:spPr>
          <a:xfrm>
            <a:off x="548640" y="5212080"/>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Point, two figures, explanation: 78,000 people in a small district meant an average of seven to a house, so people shared rooms, used doss houses or slept rough.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Homes, work and the doss house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pence for a bed sounds tiny, but for the very poor it was the difference between a night indoors and a night on the street.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reading describes three groups of people in Whitechapel.</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 anyone who could not rent a room, there was the doss house, a common lodging house.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Sanitation hardly existed. Waste was thrown into the street, and the smell of the whole district was hard to bear.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What each figure measures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figure from your lesson to what it measures.</a:t>
            </a:r>
            <a:endParaRPr lang="en-US" sz="2400" dirty="0"/>
          </a:p>
        </p:txBody>
      </p:sp>
      <p:sp>
        <p:nvSpPr>
          <p:cNvPr id="11" name="match-card"/>
          <p:cNvSpPr/>
          <p:nvPr/>
        </p:nvSpPr>
        <p:spPr>
          <a:xfrm>
            <a:off x="777240" y="2468331"/>
            <a:ext cx="3081437" cy="634375"/>
          </a:xfrm>
          <a:prstGeom prst="roundRect">
            <a:avLst>
              <a:gd name="adj" fmla="val 11531"/>
            </a:avLst>
          </a:prstGeom>
          <a:solidFill>
            <a:srgbClr val="F6F3F0"/>
          </a:solidFill>
          <a:ln/>
        </p:spPr>
      </p:sp>
      <p:sp>
        <p:nvSpPr>
          <p:cNvPr id="12" name="match-hex"/>
          <p:cNvSpPr/>
          <p:nvPr/>
        </p:nvSpPr>
        <p:spPr>
          <a:xfrm>
            <a:off x="850392" y="2619226"/>
            <a:ext cx="384048" cy="332586"/>
          </a:xfrm>
          <a:prstGeom prst="hexagon">
            <a:avLst/>
          </a:prstGeom>
          <a:solidFill>
            <a:srgbClr val="7A4A1E"/>
          </a:solidFill>
          <a:ln/>
        </p:spPr>
      </p:sp>
      <p:sp>
        <p:nvSpPr>
          <p:cNvPr id="13" name="match-hex-label"/>
          <p:cNvSpPr txBox="1"/>
          <p:nvPr/>
        </p:nvSpPr>
        <p:spPr>
          <a:xfrm>
            <a:off x="850392"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900,000</a:t>
            </a:r>
            <a:endParaRPr lang="en-US" sz="2200" dirty="0"/>
          </a:p>
        </p:txBody>
      </p:sp>
      <p:sp>
        <p:nvSpPr>
          <p:cNvPr id="15" name="match-card"/>
          <p:cNvSpPr/>
          <p:nvPr/>
        </p:nvSpPr>
        <p:spPr>
          <a:xfrm>
            <a:off x="4224437" y="2468331"/>
            <a:ext cx="7190019" cy="634375"/>
          </a:xfrm>
          <a:prstGeom prst="roundRect">
            <a:avLst>
              <a:gd name="adj" fmla="val 11531"/>
            </a:avLst>
          </a:prstGeom>
          <a:solidFill>
            <a:srgbClr val="F8F2E9"/>
          </a:solidFill>
          <a:ln/>
        </p:spPr>
      </p:sp>
      <p:sp>
        <p:nvSpPr>
          <p:cNvPr id="16" name="match-hex"/>
          <p:cNvSpPr/>
          <p:nvPr/>
        </p:nvSpPr>
        <p:spPr>
          <a:xfrm>
            <a:off x="4297589" y="2619226"/>
            <a:ext cx="384048" cy="332586"/>
          </a:xfrm>
          <a:prstGeom prst="hexagon">
            <a:avLst/>
          </a:prstGeom>
          <a:solidFill>
            <a:srgbClr val="B8862B"/>
          </a:solidFill>
          <a:ln/>
        </p:spPr>
      </p:sp>
      <p:sp>
        <p:nvSpPr>
          <p:cNvPr id="17" name="match-hex-label"/>
          <p:cNvSpPr txBox="1"/>
          <p:nvPr/>
        </p:nvSpPr>
        <p:spPr>
          <a:xfrm>
            <a:off x="4297589" y="261922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People living in the East End of London in the 1880s</a:t>
            </a:r>
            <a:endParaRPr lang="en-US" sz="2200" dirty="0"/>
          </a:p>
        </p:txBody>
      </p:sp>
      <p:sp>
        <p:nvSpPr>
          <p:cNvPr id="19" name="match-card"/>
          <p:cNvSpPr/>
          <p:nvPr/>
        </p:nvSpPr>
        <p:spPr>
          <a:xfrm>
            <a:off x="777240" y="3194147"/>
            <a:ext cx="3081437" cy="634375"/>
          </a:xfrm>
          <a:prstGeom prst="roundRect">
            <a:avLst>
              <a:gd name="adj" fmla="val 11531"/>
            </a:avLst>
          </a:prstGeom>
          <a:solidFill>
            <a:srgbClr val="F6F3F0"/>
          </a:solidFill>
          <a:ln/>
        </p:spPr>
      </p:sp>
      <p:sp>
        <p:nvSpPr>
          <p:cNvPr id="20" name="match-hex"/>
          <p:cNvSpPr/>
          <p:nvPr/>
        </p:nvSpPr>
        <p:spPr>
          <a:xfrm>
            <a:off x="850392" y="3345041"/>
            <a:ext cx="384048" cy="332586"/>
          </a:xfrm>
          <a:prstGeom prst="hexagon">
            <a:avLst/>
          </a:prstGeom>
          <a:solidFill>
            <a:srgbClr val="7A4A1E"/>
          </a:solidFill>
          <a:ln/>
        </p:spPr>
      </p:sp>
      <p:sp>
        <p:nvSpPr>
          <p:cNvPr id="21" name="match-hex-label"/>
          <p:cNvSpPr txBox="1"/>
          <p:nvPr/>
        </p:nvSpPr>
        <p:spPr>
          <a:xfrm>
            <a:off x="850392"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94147"/>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78,000</a:t>
            </a:r>
            <a:endParaRPr lang="en-US" sz="2200" dirty="0"/>
          </a:p>
        </p:txBody>
      </p:sp>
      <p:sp>
        <p:nvSpPr>
          <p:cNvPr id="23" name="match-card"/>
          <p:cNvSpPr/>
          <p:nvPr/>
        </p:nvSpPr>
        <p:spPr>
          <a:xfrm>
            <a:off x="4224437" y="3194147"/>
            <a:ext cx="7190019" cy="634375"/>
          </a:xfrm>
          <a:prstGeom prst="roundRect">
            <a:avLst>
              <a:gd name="adj" fmla="val 11531"/>
            </a:avLst>
          </a:prstGeom>
          <a:solidFill>
            <a:srgbClr val="F8F2E9"/>
          </a:solidFill>
          <a:ln/>
        </p:spPr>
      </p:sp>
      <p:sp>
        <p:nvSpPr>
          <p:cNvPr id="24" name="match-hex"/>
          <p:cNvSpPr/>
          <p:nvPr/>
        </p:nvSpPr>
        <p:spPr>
          <a:xfrm>
            <a:off x="4297589" y="3345041"/>
            <a:ext cx="384048" cy="332586"/>
          </a:xfrm>
          <a:prstGeom prst="hexagon">
            <a:avLst/>
          </a:prstGeom>
          <a:solidFill>
            <a:srgbClr val="B8862B"/>
          </a:solidFill>
          <a:ln/>
        </p:spPr>
      </p:sp>
      <p:sp>
        <p:nvSpPr>
          <p:cNvPr id="25" name="match-hex-label"/>
          <p:cNvSpPr txBox="1"/>
          <p:nvPr/>
        </p:nvSpPr>
        <p:spPr>
          <a:xfrm>
            <a:off x="4297589" y="33450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94147"/>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People in Whitechapel who regularly slept rough</a:t>
            </a:r>
            <a:endParaRPr lang="en-US" sz="2200" dirty="0"/>
          </a:p>
        </p:txBody>
      </p:sp>
      <p:sp>
        <p:nvSpPr>
          <p:cNvPr id="27" name="match-card"/>
          <p:cNvSpPr/>
          <p:nvPr/>
        </p:nvSpPr>
        <p:spPr>
          <a:xfrm>
            <a:off x="777240" y="3919962"/>
            <a:ext cx="3081437" cy="975243"/>
          </a:xfrm>
          <a:prstGeom prst="roundRect">
            <a:avLst>
              <a:gd name="adj" fmla="val 7501"/>
            </a:avLst>
          </a:prstGeom>
          <a:solidFill>
            <a:srgbClr val="F6F3F0"/>
          </a:solidFill>
          <a:ln/>
        </p:spPr>
      </p:sp>
      <p:sp>
        <p:nvSpPr>
          <p:cNvPr id="28" name="match-hex"/>
          <p:cNvSpPr/>
          <p:nvPr/>
        </p:nvSpPr>
        <p:spPr>
          <a:xfrm>
            <a:off x="850392" y="4241290"/>
            <a:ext cx="384048" cy="332586"/>
          </a:xfrm>
          <a:prstGeom prst="hexagon">
            <a:avLst/>
          </a:prstGeom>
          <a:solidFill>
            <a:srgbClr val="7A4A1E"/>
          </a:solidFill>
          <a:ln/>
        </p:spPr>
      </p:sp>
      <p:sp>
        <p:nvSpPr>
          <p:cNvPr id="29" name="match-hex-label"/>
          <p:cNvSpPr txBox="1"/>
          <p:nvPr/>
        </p:nvSpPr>
        <p:spPr>
          <a:xfrm>
            <a:off x="850392"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19962"/>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8,000</a:t>
            </a:r>
            <a:endParaRPr lang="en-US" sz="2200" dirty="0"/>
          </a:p>
        </p:txBody>
      </p:sp>
      <p:sp>
        <p:nvSpPr>
          <p:cNvPr id="31" name="match-card"/>
          <p:cNvSpPr/>
          <p:nvPr/>
        </p:nvSpPr>
        <p:spPr>
          <a:xfrm>
            <a:off x="4224437" y="3919962"/>
            <a:ext cx="7190019" cy="975243"/>
          </a:xfrm>
          <a:prstGeom prst="roundRect">
            <a:avLst>
              <a:gd name="adj" fmla="val 7501"/>
            </a:avLst>
          </a:prstGeom>
          <a:solidFill>
            <a:srgbClr val="F8F2E9"/>
          </a:solidFill>
          <a:ln/>
        </p:spPr>
      </p:sp>
      <p:sp>
        <p:nvSpPr>
          <p:cNvPr id="32" name="match-hex"/>
          <p:cNvSpPr/>
          <p:nvPr/>
        </p:nvSpPr>
        <p:spPr>
          <a:xfrm>
            <a:off x="4297589" y="4241290"/>
            <a:ext cx="384048" cy="332586"/>
          </a:xfrm>
          <a:prstGeom prst="hexagon">
            <a:avLst/>
          </a:prstGeom>
          <a:solidFill>
            <a:srgbClr val="B8862B"/>
          </a:solidFill>
          <a:ln/>
        </p:spPr>
      </p:sp>
      <p:sp>
        <p:nvSpPr>
          <p:cNvPr id="33" name="match-hex-label"/>
          <p:cNvSpPr txBox="1"/>
          <p:nvPr/>
        </p:nvSpPr>
        <p:spPr>
          <a:xfrm>
            <a:off x="4297589" y="424129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19962"/>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average number of people living in one Whitechapel house</a:t>
            </a:r>
            <a:endParaRPr lang="en-US" sz="2200" dirty="0"/>
          </a:p>
        </p:txBody>
      </p:sp>
      <p:sp>
        <p:nvSpPr>
          <p:cNvPr id="35" name="match-card"/>
          <p:cNvSpPr/>
          <p:nvPr/>
        </p:nvSpPr>
        <p:spPr>
          <a:xfrm>
            <a:off x="777240" y="4986645"/>
            <a:ext cx="3081437" cy="975243"/>
          </a:xfrm>
          <a:prstGeom prst="roundRect">
            <a:avLst>
              <a:gd name="adj" fmla="val 7501"/>
            </a:avLst>
          </a:prstGeom>
          <a:solidFill>
            <a:srgbClr val="F6F3F0"/>
          </a:solidFill>
          <a:ln/>
        </p:spPr>
      </p:sp>
      <p:sp>
        <p:nvSpPr>
          <p:cNvPr id="36" name="match-hex"/>
          <p:cNvSpPr/>
          <p:nvPr/>
        </p:nvSpPr>
        <p:spPr>
          <a:xfrm>
            <a:off x="850392" y="5307974"/>
            <a:ext cx="384048" cy="332586"/>
          </a:xfrm>
          <a:prstGeom prst="hexagon">
            <a:avLst/>
          </a:prstGeom>
          <a:solidFill>
            <a:srgbClr val="7A4A1E"/>
          </a:solidFill>
          <a:ln/>
        </p:spPr>
      </p:sp>
      <p:sp>
        <p:nvSpPr>
          <p:cNvPr id="37" name="match-hex-label"/>
          <p:cNvSpPr txBox="1"/>
          <p:nvPr/>
        </p:nvSpPr>
        <p:spPr>
          <a:xfrm>
            <a:off x="850392"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986645"/>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7</a:t>
            </a:r>
            <a:endParaRPr lang="en-US" sz="2200" dirty="0"/>
          </a:p>
        </p:txBody>
      </p:sp>
      <p:sp>
        <p:nvSpPr>
          <p:cNvPr id="39" name="match-card"/>
          <p:cNvSpPr/>
          <p:nvPr/>
        </p:nvSpPr>
        <p:spPr>
          <a:xfrm>
            <a:off x="4224437" y="4986645"/>
            <a:ext cx="7190019" cy="975243"/>
          </a:xfrm>
          <a:prstGeom prst="roundRect">
            <a:avLst>
              <a:gd name="adj" fmla="val 7501"/>
            </a:avLst>
          </a:prstGeom>
          <a:solidFill>
            <a:srgbClr val="F8F2E9"/>
          </a:solidFill>
          <a:ln/>
        </p:spPr>
      </p:sp>
      <p:sp>
        <p:nvSpPr>
          <p:cNvPr id="40" name="match-hex"/>
          <p:cNvSpPr/>
          <p:nvPr/>
        </p:nvSpPr>
        <p:spPr>
          <a:xfrm>
            <a:off x="4297589" y="5307974"/>
            <a:ext cx="384048" cy="332586"/>
          </a:xfrm>
          <a:prstGeom prst="hexagon">
            <a:avLst/>
          </a:prstGeom>
          <a:solidFill>
            <a:srgbClr val="B8862B"/>
          </a:solidFill>
          <a:ln/>
        </p:spPr>
      </p:sp>
      <p:sp>
        <p:nvSpPr>
          <p:cNvPr id="41" name="match-hex-label"/>
          <p:cNvSpPr txBox="1"/>
          <p:nvPr/>
        </p:nvSpPr>
        <p:spPr>
          <a:xfrm>
            <a:off x="4297589" y="5307974"/>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986645"/>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People living in the district of Whitechapel by the end of the 1800s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What each figure measures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figure from your lesson to what it measures.</a:t>
            </a:r>
            <a:endParaRPr lang="en-US" sz="2000" dirty="0"/>
          </a:p>
        </p:txBody>
      </p:sp>
      <p:sp>
        <p:nvSpPr>
          <p:cNvPr id="12" name="col-Support"/>
          <p:cNvSpPr/>
          <p:nvPr/>
        </p:nvSpPr>
        <p:spPr>
          <a:xfrm>
            <a:off x="548640" y="2578608"/>
            <a:ext cx="11094415"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10820095"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Start with the biggest number. The East End was a huge area, so it has the biggest population.</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Whitechapel was one small district inside the East End, so its figure is smaller than the East End's but still in the tens of thousands.</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people sleeping rough were a part of Whitechapel's population, so that figure is smaller again.</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smallest number describes one house, not a whole area.</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What each figure measures</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figure from your lesson to what it measures.</a:t>
            </a:r>
            <a:endParaRPr lang="en-US" sz="2000" dirty="0"/>
          </a:p>
        </p:txBody>
      </p:sp>
      <p:sp>
        <p:nvSpPr>
          <p:cNvPr id="12" name="col-Core"/>
          <p:cNvSpPr/>
          <p:nvPr/>
        </p:nvSpPr>
        <p:spPr>
          <a:xfrm>
            <a:off x="548640" y="2578608"/>
            <a:ext cx="5410048" cy="3566160"/>
          </a:xfrm>
          <a:prstGeom prst="roundRect">
            <a:avLst>
              <a:gd name="adj" fmla="val 1538"/>
            </a:avLst>
          </a:prstGeom>
          <a:solidFill>
            <a:srgbClr val="E4DAD1"/>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Order the figures from biggest to smallest. Then order the places from biggest to smallest: the East End, Whitechapel, part of Whitechapel, one house.</a:t>
            </a:r>
            <a:endParaRPr lang="en-US" sz="2200" dirty="0"/>
          </a:p>
        </p:txBody>
      </p:sp>
      <p:sp>
        <p:nvSpPr>
          <p:cNvPr id="17" name="col-Stretch"/>
          <p:cNvSpPr/>
          <p:nvPr/>
        </p:nvSpPr>
        <p:spPr>
          <a:xfrm>
            <a:off x="6233008" y="2578608"/>
            <a:ext cx="5410048" cy="3566160"/>
          </a:xfrm>
          <a:prstGeom prst="roundRect">
            <a:avLst>
              <a:gd name="adj" fmla="val 1538"/>
            </a:avLst>
          </a:prstGeom>
          <a:solidFill>
            <a:srgbClr val="7A4A1E"/>
          </a:solidFill>
          <a:ln/>
        </p:spPr>
      </p:sp>
      <p:sp>
        <p:nvSpPr>
          <p:cNvPr id="18" name="col-hex"/>
          <p:cNvSpPr/>
          <p:nvPr/>
        </p:nvSpPr>
        <p:spPr>
          <a:xfrm>
            <a:off x="634273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Work out roughly what fraction of Whitechapel's population slept rough, and explain what that tells you about the shortage of housing.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Describe the conditions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Describe two conditions of life in Whitechapel in the 1880s. For each one, give a detail or figure from your lesson and say what it meant for the people who lived there.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Same task, three ways in: Describe the conditions</a:t>
            </a:r>
            <a:endParaRPr lang="en-US" sz="30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Describe the conditions</a:t>
            </a:r>
            <a:endParaRPr lang="en-US" sz="2000" dirty="0"/>
          </a:p>
        </p:txBody>
      </p:sp>
      <p:sp>
        <p:nvSpPr>
          <p:cNvPr id="12" name="col-Support"/>
          <p:cNvSpPr/>
          <p:nvPr/>
        </p:nvSpPr>
        <p:spPr>
          <a:xfrm>
            <a:off x="548640" y="2395728"/>
            <a:ext cx="6327465" cy="3749040"/>
          </a:xfrm>
          <a:prstGeom prst="roundRect">
            <a:avLst>
              <a:gd name="adj" fmla="val 1463"/>
            </a:avLst>
          </a:prstGeom>
          <a:solidFill>
            <a:srgbClr val="F4F0EC"/>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559594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6053145"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Choose two conditions from the chapter: overcrowding, homelessness, poor sanitation, lack of work, the doss houses.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One condition of life in Whitechapel was…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Give a detail or figure: For example…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Say what it meant: This meant that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5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Repeat the three sentences for your second condition.</a:t>
            </a:r>
            <a:endParaRPr lang="en-US" sz="1800" dirty="0"/>
          </a:p>
        </p:txBody>
      </p:sp>
      <p:sp>
        <p:nvSpPr>
          <p:cNvPr id="17" name="col-Core"/>
          <p:cNvSpPr/>
          <p:nvPr/>
        </p:nvSpPr>
        <p:spPr>
          <a:xfrm>
            <a:off x="7150425" y="2395728"/>
            <a:ext cx="2109155" cy="3749040"/>
          </a:xfrm>
          <a:prstGeom prst="roundRect">
            <a:avLst>
              <a:gd name="adj" fmla="val 2601"/>
            </a:avLst>
          </a:prstGeom>
          <a:solidFill>
            <a:srgbClr val="E4DAD1"/>
          </a:solidFill>
          <a:ln/>
        </p:spPr>
      </p:sp>
      <p:sp>
        <p:nvSpPr>
          <p:cNvPr id="18" name="col-hex"/>
          <p:cNvSpPr/>
          <p:nvPr/>
        </p:nvSpPr>
        <p:spPr>
          <a:xfrm>
            <a:off x="7260153"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7260153"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790505"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7287585"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Condition, detail, meaning: three sentences for each condition. Use a figure for at least one of them.</a:t>
            </a:r>
            <a:endParaRPr lang="en-US" sz="1800" dirty="0"/>
          </a:p>
        </p:txBody>
      </p:sp>
      <p:sp>
        <p:nvSpPr>
          <p:cNvPr id="22" name="col-Stretch"/>
          <p:cNvSpPr/>
          <p:nvPr/>
        </p:nvSpPr>
        <p:spPr>
          <a:xfrm>
            <a:off x="9533900" y="2395728"/>
            <a:ext cx="2109155" cy="3749040"/>
          </a:xfrm>
          <a:prstGeom prst="roundRect">
            <a:avLst>
              <a:gd name="adj" fmla="val 2601"/>
            </a:avLst>
          </a:prstGeom>
          <a:solidFill>
            <a:srgbClr val="7A4A1E"/>
          </a:solidFill>
          <a:ln/>
        </p:spPr>
      </p:sp>
      <p:sp>
        <p:nvSpPr>
          <p:cNvPr id="23" name="col-hex"/>
          <p:cNvSpPr/>
          <p:nvPr/>
        </p:nvSpPr>
        <p:spPr>
          <a:xfrm>
            <a:off x="9643628"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64362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10173980" y="2432304"/>
            <a:ext cx="1377635"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671060" y="3035808"/>
            <a:ext cx="1834835"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third sentence to each condition explaining how it might have made it easier for a criminal to go unnoticed. You will build on this in chapter 2.</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3913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Why was the doss house so important to the poorest people of Whitechapel?</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was a hospital where the very poor were treated for free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was the only bed they could afford, and only if they had the pennies that night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was where most people in Whitechapel owned their own rooms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was a free hostel run by the Metropolitan Police for the homeless</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What each figure measures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900,000  →  A  People living in the East End of London in the 1880s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78,000  →  D  People living in the district of Whitechapel by the end of the 1800s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8,000  →  B  People in Whitechapel who regularly slept rough</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7  →  C  The average number of people living in one Whitechapel house</a:t>
            </a:r>
            <a:endParaRPr lang="en-US" sz="24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East End held about 900,000 people; the small district of Whitechapel inside it held over 78,000; about 8,000 of those regularly slept rough; and the average house held seven people.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Describe the conditions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5486400"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5486400" cy="1413510"/>
          </a:xfrm>
          <a:prstGeom prst="roundRect">
            <a:avLst>
              <a:gd name="adj" fmla="val 6469"/>
            </a:avLst>
          </a:prstGeom>
          <a:solidFill>
            <a:srgbClr val="F6F3F0"/>
          </a:solidFill>
          <a:ln/>
        </p:spPr>
      </p:sp>
      <p:sp>
        <p:nvSpPr>
          <p:cNvPr id="9" name="tickbox"/>
          <p:cNvSpPr/>
          <p:nvPr/>
        </p:nvSpPr>
        <p:spPr>
          <a:xfrm>
            <a:off x="713232" y="2544699"/>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4709160" cy="141351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name two clear conditions, such as overcrowding, homelessness, poor sanitation, lack of work or the doss houses.</a:t>
            </a:r>
            <a:endParaRPr lang="en-US" sz="2000" dirty="0"/>
          </a:p>
        </p:txBody>
      </p:sp>
      <p:sp>
        <p:nvSpPr>
          <p:cNvPr id="11" name="crit-box"/>
          <p:cNvSpPr/>
          <p:nvPr/>
        </p:nvSpPr>
        <p:spPr>
          <a:xfrm>
            <a:off x="548640" y="3489198"/>
            <a:ext cx="5486400" cy="793750"/>
          </a:xfrm>
          <a:prstGeom prst="roundRect">
            <a:avLst>
              <a:gd name="adj" fmla="val 11520"/>
            </a:avLst>
          </a:prstGeom>
          <a:solidFill>
            <a:srgbClr val="F6F3F0"/>
          </a:solidFill>
          <a:ln/>
        </p:spPr>
      </p:sp>
      <p:sp>
        <p:nvSpPr>
          <p:cNvPr id="12" name="tickbox"/>
          <p:cNvSpPr/>
          <p:nvPr/>
        </p:nvSpPr>
        <p:spPr>
          <a:xfrm>
            <a:off x="713232" y="3739769"/>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48919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 each condition I give one detail or figure from the lesson.</a:t>
            </a:r>
            <a:endParaRPr lang="en-US" sz="2000" dirty="0"/>
          </a:p>
        </p:txBody>
      </p:sp>
      <p:sp>
        <p:nvSpPr>
          <p:cNvPr id="14" name="crit-box"/>
          <p:cNvSpPr/>
          <p:nvPr/>
        </p:nvSpPr>
        <p:spPr>
          <a:xfrm>
            <a:off x="548640" y="4374388"/>
            <a:ext cx="5486400" cy="793750"/>
          </a:xfrm>
          <a:prstGeom prst="roundRect">
            <a:avLst>
              <a:gd name="adj" fmla="val 11520"/>
            </a:avLst>
          </a:prstGeom>
          <a:solidFill>
            <a:srgbClr val="F6F3F0"/>
          </a:solidFill>
          <a:ln/>
        </p:spPr>
      </p:sp>
      <p:sp>
        <p:nvSpPr>
          <p:cNvPr id="15" name="tickbox"/>
          <p:cNvSpPr/>
          <p:nvPr/>
        </p:nvSpPr>
        <p:spPr>
          <a:xfrm>
            <a:off x="713232" y="4624959"/>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437438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For each condition I say what it meant for the people living there.</a:t>
            </a:r>
            <a:endParaRPr lang="en-US" sz="2000" dirty="0"/>
          </a:p>
        </p:txBody>
      </p:sp>
      <p:sp>
        <p:nvSpPr>
          <p:cNvPr id="17" name="crit-box"/>
          <p:cNvSpPr/>
          <p:nvPr/>
        </p:nvSpPr>
        <p:spPr>
          <a:xfrm>
            <a:off x="548640" y="5259578"/>
            <a:ext cx="5486400" cy="793750"/>
          </a:xfrm>
          <a:prstGeom prst="roundRect">
            <a:avLst>
              <a:gd name="adj" fmla="val 11520"/>
            </a:avLst>
          </a:prstGeom>
          <a:solidFill>
            <a:srgbClr val="F6F3F0"/>
          </a:solidFill>
          <a:ln/>
        </p:spPr>
      </p:sp>
      <p:sp>
        <p:nvSpPr>
          <p:cNvPr id="18" name="tickbox"/>
          <p:cNvSpPr/>
          <p:nvPr/>
        </p:nvSpPr>
        <p:spPr>
          <a:xfrm>
            <a:off x="713232" y="5510149"/>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259578"/>
            <a:ext cx="4709160" cy="79375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 write in full sentences and use at least one key word from the chapter correctly.</a:t>
            </a:r>
            <a:endParaRPr lang="en-US" sz="2000" dirty="0"/>
          </a:p>
        </p:txBody>
      </p:sp>
      <p:sp>
        <p:nvSpPr>
          <p:cNvPr id="20" name="model-panel"/>
          <p:cNvSpPr/>
          <p:nvPr/>
        </p:nvSpPr>
        <p:spPr>
          <a:xfrm>
            <a:off x="6309360" y="1389888"/>
            <a:ext cx="5333695" cy="4754880"/>
          </a:xfrm>
          <a:prstGeom prst="roundRect">
            <a:avLst>
              <a:gd name="adj" fmla="val 962"/>
            </a:avLst>
          </a:prstGeom>
          <a:solidFill>
            <a:srgbClr val="F8F2E9"/>
          </a:solidFill>
          <a:ln w="19050">
            <a:solidFill>
              <a:srgbClr val="B8862B"/>
            </a:solidFill>
            <a:prstDash val="solid"/>
          </a:ln>
        </p:spPr>
      </p:sp>
      <p:sp>
        <p:nvSpPr>
          <p:cNvPr id="21" name="model-tab"/>
          <p:cNvSpPr/>
          <p:nvPr/>
        </p:nvSpPr>
        <p:spPr>
          <a:xfrm>
            <a:off x="649224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22" name="model"/>
          <p:cNvSpPr txBox="1"/>
          <p:nvPr/>
        </p:nvSpPr>
        <p:spPr>
          <a:xfrm>
            <a:off x="6537960" y="2167128"/>
            <a:ext cx="4876495" cy="38404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One condition of life in Whitechapel was overcrowding. By the end of the 1800s over 78,000 people lived in the small district, and an average house held seven people, so families shared single rooms and had no privacy or quiet. A second condition was homelessness. About 8,000 people regularly slept rough, and those with four pence could buy a bed in a doss house for one night only. This meant that every day began with the same worry: how to earn the pennies for a bed, or face another night in a doorway.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was the doss house so important to the poorest people of Whitechapel?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It was the only bed they could afford, and only if they had the pennies that night</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doss house was the poorest person's only option indoors, and it had to be paid for every single night. That daily search for pennies is a thread that runs through the whole unit.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Whitechapel 1888 · Chapter 1: Whitechapel in the 1880s</dc:title>
  <dc:subject>History · Year 8</dc:subject>
  <dc:creator>Dr Vitor Merissi de Carvalho</dc:creator>
  <cp:lastModifiedBy>Dr Vitor Merissi de Carvalho</cp:lastModifiedBy>
  <cp:revision>1</cp:revision>
  <dcterms:created xsi:type="dcterms:W3CDTF">2026-10-19T16:23:17Z</dcterms:created>
  <dcterms:modified xsi:type="dcterms:W3CDTF">2026-10-19T16:23:17Z</dcterms:modified>
</cp:coreProperties>
</file>