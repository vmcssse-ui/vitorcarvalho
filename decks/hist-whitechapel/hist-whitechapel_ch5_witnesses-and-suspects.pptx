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8011bb-d789-ba90-a8e3-96211bce971a}">
          <p14:sldIdLst>
            <p14:sldId id="256"/>
          </p14:sldIdLst>
        </p14:section>
        <p14:section name="Gate" id="{b88b3f48-6c45-eb78-d332-cb71fffdec35}">
          <p14:sldIdLst>
            <p14:sldId id="257"/>
            <p14:sldId id="258"/>
            <p14:sldId id="259"/>
          </p14:sldIdLst>
        </p14:section>
        <p14:section name="Pre-teach" id="{36c63248-b7f6-ca7f-eaf3-2e8ea2ca6b5f}">
          <p14:sldIdLst>
            <p14:sldId id="260"/>
            <p14:sldId id="261"/>
          </p14:sldIdLst>
        </p14:section>
        <p14:section name="Read-along" id="{3d87f5cd-4600-f591-13a1-92143a46b048}">
          <p14:sldIdLst>
            <p14:sldId id="262"/>
            <p14:sldId id="263"/>
          </p14:sldIdLst>
        </p14:section>
        <p14:section name="Teach" id="{dddd12f2-7bba-b7b2-8a31-90d34dc43d18}">
          <p14:sldIdLst>
            <p14:sldId id="264"/>
            <p14:sldId id="265"/>
            <p14:sldId id="266"/>
            <p14:sldId id="267"/>
            <p14:sldId id="268"/>
          </p14:sldIdLst>
        </p14:section>
        <p14:section name="Routes" id="{50a042c1-00ce-eb3e-adb0-1d9181320d17}">
          <p14:sldIdLst>
            <p14:sldId id="269"/>
            <p14:sldId id="270"/>
            <p14:sldId id="271"/>
            <p14:sldId id="272"/>
            <p14:sldId id="273"/>
          </p14:sldIdLst>
        </p14:section>
        <p14:section name="Close" id="{807be4eb-30e9-4746-3c4d-7f5c754d01a5}">
          <p14:sldIdLst>
            <p14:sldId id="274"/>
          </p14:sldIdLst>
        </p14:section>
        <p14:section name="Answers" id="{2ed97c4c-c44d-b82a-2abb-8b205859c6e9}">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Witnesses, suspects and a cartoon. Without science, the police depended on what people saw and said. This chapter asks why witnesses were so unreliable, why over 100 suspects were never proved, and how to judge a source that was made to mock the police.
This deck covers the department's lessons: 3 (The role of the police: How did the police try to catch the killer, and why did their methods fail?); 4 (Progress check and suspects: How do you agree or disagree with a historian, and why could witnesses and suspects not help the police?).
Read the big question aloud: "Why was the Whitechapel killer of 1888 never caught, and what does the case show us about poverty, policing and the press in Victorian London?"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an alibi?  →  D   Evidence that a person was somewhere else when a crime happened
2. Why were witnesses in Whitechapel often NOT credible?  →  D   They saw people briefly, at night, in fog and dim gaslight, often after drinking
3. The ___ of a source means who made it, when, and why.  →  provenance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an alibi?  →  D   Evidence that a person was somewhere else when a crime happened
2. Why were witnesses in Whitechapel often NOT credible?  →  D   They saw people briefly, at night, in fog and dim gaslight, often after drinking
3. The ___ of a source means who made it, when, and why.  →  provenance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Evidence that a person was somewhere else when a crime happened. An alibi places a person somewhere else at the time of the crime; if it is proved, it rules them out.
2. D   They saw people briefly, at night, in fog and dim gaslight, often after drinking. Poor light, fog, the hour, drink and distrust of the police all made witness statements unreliable, and their descriptions did not agree.
3. provenance. Provenance, also called nature, origin and purpose, is where a source comes from: who made it, when and why.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witness statement: a description given to the police by someone who saw something. Example: "A witness statement is only as good as the witness's view."
• credible: believable; able to be trusted. Example: "A witness who had been drinking all evening was not very credible."
• suspect: a person the police think might have committed a crime. Example: "There have been well over 100 suspects, and none has been proved."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alibi: evidence that a person was somewhere else when a crime happened. Example: "Prince Albert Victor is said to have had an alibi for the double event."
• provenance: who made a source, when, and why. Example: "The provenance of the cartoon tells us its purpose was to mock."
• limitation: a way in which a source is less useful. Example: "One limitation of the cartoon is that it shows only one side."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police in 1888 depended on witnesses.
2. But the witnesses in Whitechapel were not very credible.
3. They had seen people briefly, at night, in fog and dim gaslight.
4. Many had been drinking.
5. Some did not trust the police and may not have told the whole truth.
6. Their descriptions did not agree with each other.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Over the years, well over 100 suspects have been named.
8. Not one has ever been proved to be the killer.
9. Without forensic science, nothing could be proved either way.
10. Newspapers and magazines mocked the police for failing.
11. A cartoon in Punch showed a blindfolded officer surrounded by criminals.
12. To use a source like that, you must ask who made it and why.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lack of credible witnesses. Say it in your own words, then check understanding with a quick question: ask a pupil from the pre-teach group first, since they met these words and ideas before the lesson. Pupils try to recall before you re-explain.
Your lesson asks what problem the police faced in finding out who the killer was, and answers: a lack of credible witnesses. Think about who was on the streets of Whitechapel between one and four in the morning. People who had been drinking. People sleeping rough. Women trying to earn their bed money. They saw strangers briefly, in the dark, in fog, under gas lamps that lit about six feet of pavement. Some had reasons not to trust the police, and that could shape what they chose to say.
Take the statement of George Hutchinson, who lived near Mary Jane Kelly and said he saw her with a man on the night she died. His description is remarkably detailed: the man's age, height, pale complexion, dark eyes and moustache, a long dark coat, a light waistcoat, a felt hat, button boots, a thick gold watch chain and a horseshoe tie pin. Your lesson asks how this is helpful and how it is not. It is helpful because it is specific. It is not helpful because it was given at night in poor light, it would fit a great many well-dressed men, and it ended by guessing at the man's religion, which fed the prejudice you met in chapter 2 rather than giving the police anything they could check.
The witnesses from the night of 30 September show the same thing. Their descriptions of men seen with Elizabeth Stride or Catherine Eddowes differ from one another, and your lesson asks you to think about why: the time of night, the fog and darkness, drink, and whether every witness would have trusted the police enough to speak freely.
Tip: A detailed statement is not the same as a reliable one. Ask: how well could this person see, how clearly were they thinking, and did they have a reason to shape their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Over 100 suspects, none proved. Say it in your own words, then check understanding with a quick question: ask a pupil from the pre-teach group first, since they met these words and ideas before the lesson. Pupils try to recall before you re-explain.
There are well over 100 different suspects for who the Whitechapel killer really was. Some theories are far-fetched; some are more believable. Historians are still arguing, and each new book claims to have solved the biggest murder mystery in London's history. Your lesson's table names four: Prince Albert Victor, George Chapman, Montague John Druitt and John Pizer.
Your lesson works through Prince Albert Victor as the class example. He was a grandson of Queen Victoria, and he was said to have visited the East End. Against him: he is said to have had alibis for the first four deaths, being in York during the first two and in Scotland at the time of the double event. Your lesson then asks the key question: can we trust those alibis? An alibi is only as strong as the evidence behind it.
This unit does not ask you to decide who the killer was, because the evidence cannot bear it. That is the point. Without forensic science, no suspect in 1888 could be proved guilty or innocent, and nothing found since has changed that. Your lesson's challenge statement, that it was impossible to ever find out who the killer was, is a question about evidence, and the sections above give you the evidence for both sides.
Worked example — model it step by step, thinking aloud: A suspect is said to have an alibi for the double event. Show how to weigh that claim without deciding whether he was the killer. (1) State the claim: the suspect is said to have been in Scotland on 30 September 1888. (2) Ask what supports it: who says so, and is there a record such as a letter, a diary or a newspaper report? (3) Ask what weakens it: is the claim made by a friend or family member, or written down long afterwards? (4) Conclude about the evidence, not the person: the alibi is strong, weak or unproven, so the suspect cannot be ruled in or out. Answer: Claim, support, weakness, conclusion about the evidence. The conclusion is about how strong the alibi is, not about guilt..
Tip: In history, not proved is a real answer. Say what the evidence can and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Over 100 suspects, none proved. Say it in your own words, then check understanding with a quick question: ask a pupil from the pre-teach group first, since they met these words and ideas before the lesson. Pupils try to recall before you re-explain.
There are well over 100 different suspects for who the Whitechapel killer really was. Some theories are far-fetched; some are more believable. Historians are still arguing, and each new book claims to have solved the biggest murder mystery in London's history. Your lesson's table names four: Prince Albert Victor, George Chapman, Montague John Druitt and John Pizer.
Your lesson works through Prince Albert Victor as the class example. He was a grandson of Queen Victoria, and he was said to have visited the East End. Against him: he is said to have had alibis for the first four deaths, being in York during the first two and in Scotland at the time of the double event. Your lesson then asks the key question: can we trust those alibis? An alibi is only as strong as the evidence behind it.
This unit does not ask you to decide who the killer was, because the evidence cannot bear it. That is the point. Without forensic science, no suspect in 1888 could be proved guilty or innocent, and nothing found since has changed that. Your lesson's challenge statement, that it was impossible to ever find out who the killer was, is a question about evidence, and the sections above give you the evidence for both sides.
Worked example — model it step by step, thinking aloud: A suspect is said to have an alibi for the double event. Show how to weigh that claim without deciding whether he was the killer. (1) State the claim: the suspect is said to have been in Scotland on 30 September 1888. (2) Ask what supports it: who says so, and is there a record such as a letter, a diary or a newspaper report? (3) Ask what weakens it: is the claim made by a friend or family member, or written down long afterwards? (4) Conclude about the evidence, not the person: the alibi is strong, weak or unproven, so the suspect cannot be ruled in or out. Answer: Claim, support, weakness, conclusion about the evidence. The conclusion is about how strong the alibi is, not about guilt..
Tip: In history, not proved is a real answer. Say what the evidence can and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useful is the Punch cartoon?. Say it in your own words, then check understanding with a quick question: ask a pupil from the pre-teach group first, since they met these words and ideas before the lesson. Pupils try to recall before you re-explain.
Your lesson's source task uses a cartoon from Punch magazine, published after the first two deaths. It shows a police officer blindfolded, playing blind man's buff, while criminals move freely around him. The method your department teaches has four parts. Content: what the source shows. Own knowledge: what you know that supports or challenges it. Provenance, also called nature, origin and purpose: what kind of source it is, who made it, when, and why. Limitation: what the source cannot tell you.
Content: the cartoon suggests the police cannot see the criminals right in front of them. Own knowledge: the police did try many methods, decoys, leaflets, interviews and bloodhounds, and all failed, so the cartoon's view was widely shared. Provenance: Punch was a magazine that made its money mocking the powerful, and this cartoon was drawn to criticise the police and sell copies, so it is useful for public attitudes to the police, which is what the question asks. Limitation: it blames only the police, and says nothing about the conditions of Whitechapel or the missing science; it shows one side on purpose.
Your department's sentence starters follow the same order: Source A is useful because it suggests… This is supported by my own knowledge… Moreover, it is useful because of its nature, origin and purpose… However, a limitation is… Ultimately, the source is useful for… Learn the order and the paragraph writes itself.
Quotation: "The London Police Force is probably the stupidest in the World" (The New York Times, 1880s, as printed in your lesson). Read it aloud; ask what it shows.
Tip: Useful for what? A cartoon that mocks the police is very useful for attitudes to the police and much less useful for what the police actually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Judging the police fairly. Say it in your own words, then check understanding with a quick question: ask a pupil from the pre-teach group first, since they met these words and ideas before the lesson. Pupils try to recall before you re-explain.
Your lesson ends with a quotation from The New York Times in the 1880s, calling the London police probably the stupidest in the world, and asks you to vote: was it the police's fault? A newspaper on the other side of the Atlantic, reporting a story that sold papers, is itself a source with a purpose. Treat it as you treated Punch.
The fair judgement uses everything so far. Witnesses were not credible because of the conditions. Suspects could not be proved because of the missing science. The police made real mistakes, but the cartoonists and newspapers that mocked them had their own reasons for making the police look foolish. Chapter 6 turns to those newspapers.
Tip: Whenever a source is rude about someone, ask what the source gains by being rude.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Building a source paragraph.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parts of a how-useful-is-this-source paragraph in the order your department teaches them.
Support — work through the steps with the group: (1) You cannot say anything about a source before you have looked at it, so content comes first. (2) Next you test what it shows against what you know. (3) Then you step back and ask who made it and why. (4) Finally you say what it misses and give your judgement.
Parallel worked example for Support (model it, do not give the task answer): Put these steps for judging a football match report in order: say what the report claims; say who wrote it and for which club's website; check it against the score and the highlights; say what it leaves out and how far to trust it. What it claims comes first.; Check against what you know.; Then who wrote it and why.; Then what it leaves out, and a judgement.. Answer: What it claims; check against the score; who wrote it and why; what it leaves out and how far to trust it.
Core — reveal the hint only on request: Look, test, ask who, judge. Your department's sentence starters go: useful because it suggests; supported by my own knowledge; moreover, because of its nature, origin and purpose; however, a limitation; ultimately.
Stretch — no help; when finished: Explain why provenance can make a source MORE useful for one question and LESS useful for another, using the Punch cartoon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Building a source paragraph.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parts of a how-useful-is-this-source paragraph in the order your department teaches them.
Support — work through the steps with the group: (1) You cannot say anything about a source before you have looked at it, so content comes first. (2) Next you test what it shows against what you know. (3) Then you step back and ask who made it and why. (4) Finally you say what it misses and give your judgement.
Parallel worked example for Support (model it, do not give the task answer): Put these steps for judging a football match report in order: say what the report claims; say who wrote it and for which club's website; check it against the score and the highlights; say what it leaves out and how far to trust it. What it claims comes first.; Check against what you know.; Then who wrote it and why.; Then what it leaves out, and a judgement.. Answer: What it claims; check against the score; who wrote it and why; what it leaves out and how far to trust it.
Core — reveal the hint only on request: Look, test, ask who, judge. Your department's sentence starters go: useful because it suggests; supported by my own knowledge; moreover, because of its nature, origin and purpose; however, a limitation; ultimately.
Stretch — no help; when finished: Explain why provenance can make a source MORE useful for one question and LESS useful for another, using the Punch cartoon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useful is the cartoon?.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useful is the Punch cartoon of the blindfolded police officer for learning about public attitudes to the police in Whitechapel? Write one paragraph of six to eight sentences using content, own knowledge, provenance and limitation, and finish with a judgement.
Support — work through the steps with the group: (1) Sentence 1: The cartoon is useful because it suggests… (what does a blindfold mean?) (2) Sentence 2: This is supported by my own knowledge… (name two failed methods). (3) Sentences 3 and 4: Moreover, it is useful because of its provenance… Punch, after the first two deaths, to mock and to sell. So it is good evidence of… (4) Sentence 5: However, a limitation is… (what does it leave out?) (5) Sentence 6: Ultimately, the cartoon is useful for… because…
Parallel worked example for Support (model it, do not give the task answer): How useful is a Victorian advert for a patent medicine for learning about attitudes to health? Sketch the four parts. Content: it claims one bottle cures every illness.; Own knowledge: there was little real medicine and people feared disease, so such claims sold.; Provenance: made by the seller to make money, so it shows what people hoped for rather than what worked.; Limitation and judgement: it cannot tell us if anyone was cured; very useful for hopes and fears, not for medicine.. Answer: Content, own knowledge, provenance, limitation: useful for attitudes, not for facts about cures..
Core — reveal the hint only on request: Useful for what? The question says public attitudes. A source made to mock the police is excellent evidence of attitudes, even if it is unfair to the police.
Stretch — no help; when finished: Compare the Punch cartoon with the New York Times quotation as evidence of attitudes to the police. Which is more useful, and does distance from London make a source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useful is the cartoon?.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useful is the Punch cartoon of the blindfolded police officer for learning about public attitudes to the police in Whitechapel? Write one paragraph of six to eight sentences using content, own knowledge, provenance and limitation, and finish with a judgement.
Support — work through the steps with the group: (1) Sentence 1: The cartoon is useful because it suggests… (what does a blindfold mean?) (2) Sentence 2: This is supported by my own knowledge… (name two failed methods). (3) Sentences 3 and 4: Moreover, it is useful because of its provenance… Punch, after the first two deaths, to mock and to sell. So it is good evidence of… (4) Sentence 5: However, a limitation is… (what does it leave out?) (5) Sentence 6: Ultimately, the cartoon is useful for… because…
Parallel worked example for Support (model it, do not give the task answer): How useful is a Victorian advert for a patent medicine for learning about attitudes to health? Sketch the four parts. Content: it claims one bottle cures every illness.; Own knowledge: there was little real medicine and people feared disease, so such claims sold.; Provenance: made by the seller to make money, so it shows what people hoped for rather than what worked.; Limitation and judgement: it cannot tell us if anyone was cured; very useful for hopes and fears, not for medicine.. Answer: Content, own knowledge, provenance, limitation: useful for attitudes, not for facts about cures..
Core — reveal the hint only on request: Useful for what? The question says public attitudes. A source made to mock the police is excellent evidence of attitudes, even if it is unfair to the police.
Stretch — no help; when finished: Compare the Punch cartoon with the New York Times quotation as evidence of attitudes to the police. Which is more useful, and does distance from London make a source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useful is the cartoon?.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useful is the Punch cartoon of the blindfolded police officer for learning about public attitudes to the police in Whitechapel? Write one paragraph of six to eight sentences using content, own knowledge, provenance and limitation, and finish with a judgement.
Support — work through the steps with the group: (1) Sentence 1: The cartoon is useful because it suggests… (what does a blindfold mean?) (2) Sentence 2: This is supported by my own knowledge… (name two failed methods). (3) Sentences 3 and 4: Moreover, it is useful because of its provenance… Punch, after the first two deaths, to mock and to sell. So it is good evidence of… (4) Sentence 5: However, a limitation is… (what does it leave out?) (5) Sentence 6: Ultimately, the cartoon is useful for… because…
Parallel worked example for Support (model it, do not give the task answer): How useful is a Victorian advert for a patent medicine for learning about attitudes to health? Sketch the four parts. Content: it claims one bottle cures every illness.; Own knowledge: there was little real medicine and people feared disease, so such claims sold.; Provenance: made by the seller to make money, so it shows what people hoped for rather than what worked.; Limitation and judgement: it cannot tell us if anyone was cured; very useful for hopes and fears, not for medicine.. Answer: Content, own knowledge, provenance, limitation: useful for attitudes, not for facts about cures..
Core — reveal the hint only on request: Useful for what? The question says public attitudes. A source made to mock the police is excellent evidence of attitudes, even if it is unfair to the police.
Stretch — no help; when finished: Compare the Punch cartoon with the New York Times quotation as evidence of attitudes to the police. Which is more useful, and does distance from London make a source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an alibi?
Answer: C   Evidence that a person was somewhere else when a crime happened. An alibi places a person somewhere else at the time of the crime; if it is proved, it rules them out.
Source of this question: gate item 1 re-asked (options rotated) — this chapter has no third quick-check module.
The ebook also holds task 3, "What the purpose tells you",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Building a source paragraph. Reveal the answer; pupils mark their own work in a different colour, then read the "why" together. Same destination for every lane, so one answer serves the whole class.
Answer: Content: say what the source shows or suggests  (D); Own knowledge: add what you know that supports or challenges it  (B); Provenance: say what kind of source it is, who made it, when and why  (A); Limitation and judgement: say what it cannot tell you, then decide how useful it is  (C)
Why: Content first, because you must describe what the source says before you can test it; own knowledge second, to test it; provenance third, to explain why it says what it says; limitation and judgement last.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useful is the cartoon?. Reveal the answer; pupils mark their own work in a different colour, then read the "why" together. Same destination for every lane, so one answer serves the whole class.
Answer: Content: I say what the cartoon shows and what it suggests about the police.; Own knowledge: I support or challenge the cartoon with something I know about the police methods or the conditions.; Provenance: I say that Punch was a magazine that mocked the powerful and that the cartoon was made after the first two deaths to criticise the police and sell copies, and I explain what that means for its usefulness.; Limitation and judgement: I give one thing the cartoon cannot tell us and finish with a clear judgement about how useful it is for public attitudes.
Why: Usefulness depends on the question. For public attitudes to the police, a cartoon made to express and sell those attitudes is strong evidence; its one-sidedness is a limitation only if you ask what the police actually did.
Model answer: The cartoon is useful because it suggests that people saw the police as helpless, like a blindfolded officer who cannot see the criminals around him. This is supported by my own knowledge, because the police tried decoys, leaflets, interviews and bloodhounds and none of them worked, so many Londoners had lost patience with them. Moreover, the cartoon is useful because of its provenance: it was drawn for Punch, a magazine that made its living by mocking the powerful, after the first two deaths, to criticise the police and to sell copies. That means it is good evidence of what readers wanted to see and were ready to believe about the police. However, a limitation is that it blames the police alone and shows nothing of the fog, the maze of streets or the missing forensic science that made the job so hard. Ultimately, the cartoon is very useful for public attitudes to the police, because showing those attitudes was exactly what it was made to do, but it is much less useful for judging how well the police actually performed.
Success criteria: Content: I say what the cartoon shows and what it suggests about the police.; Own knowledge: I support or challenge the cartoon with something I know about the police methods or the conditions.; Provenance: I say that Punch was a magazine that mocked the powerful and that the cartoon was made after the first two deaths to criticise the police and sell copies, and I explain what that means for its usefulness.; Limitation and judgement: I give one thing the cartoon cannot tell us and finish with a clear judgement about how useful it is for public attitudes.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useful is the cartoon?. Reveal the answer; pupils mark their own work in a different colour, then read the "why" together. Same destination for every lane, so one answer serves the whole class.
Answer: Content: I say what the cartoon shows and what it suggests about the police.; Own knowledge: I support or challenge the cartoon with something I know about the police methods or the conditions.; Provenance: I say that Punch was a magazine that mocked the powerful and that the cartoon was made after the first two deaths to criticise the police and sell copies, and I explain what that means for its usefulness.; Limitation and judgement: I give one thing the cartoon cannot tell us and finish with a clear judgement about how useful it is for public attitudes.
Why: Usefulness depends on the question. For public attitudes to the police, a cartoon made to express and sell those attitudes is strong evidence; its one-sidedness is a limitation only if you ask what the police actually did.
Model answer: The cartoon is useful because it suggests that people saw the police as helpless, like a blindfolded officer who cannot see the criminals around him. This is supported by my own knowledge, because the police tried decoys, leaflets, interviews and bloodhounds and none of them worked, so many Londoners had lost patience with them. Moreover, the cartoon is useful because of its provenance: it was drawn for Punch, a magazine that made its living by mocking the powerful, after the first two deaths, to criticise the police and to sell copies. That means it is good evidence of what readers wanted to see and were ready to believe about the police. However, a limitation is that it blames the police alone and shows nothing of the fog, the maze of streets or the missing forensic science that made the job so hard. Ultimately, the cartoon is very useful for public attitudes to the police, because showing those attitudes was exactly what it was made to do, but it is much less useful for judging how well the police actually performed.
Success criteria: Content: I say what the cartoon shows and what it suggests about the police.; Own knowledge: I support or challenge the cartoon with something I know about the police methods or the conditions.; Provenance: I say that Punch was a magazine that mocked the powerful and that the cartoon was made after the first two deaths to criticise the police and sell copies, and I explain what that means for its usefulness.; Limitation and judgement: I give one thing the cartoon cannot tell us and finish with a clear judgement about how useful it is for public attitudes.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Evidence that a person was somewhere else when a crime happened
Why: An alibi places a person somewhere else at the time of the crime; if it is proved, it rules them out.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Whitechapel 1888 · AQA KS3 → 8145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Witnesses, suspects and a cartoon</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4F0EC"/>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role of the police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suspects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was the Whitechapel killer of 1888 never caught, and what does the case show us about poverty, policing and the press in Victorian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an alibi?</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description of a suspect given by a witness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written confession signed at a police station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nickname given to a suspect by the newspapers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Evidence that a person was somewhere else when a crime happened</a:t>
            </a:r>
            <a:endParaRPr lang="en-US" sz="22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were witnesses in Whitechapel often NOT credible?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were paid large rewards and so invented stories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all gave exactly the same description, which proved they had copied each other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were all police officers who wanted to protect their colleagues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saw people briefly, at night, in fog and dim gaslight, often after drinking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___ of a source means who made it, when, and why.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provenance  ·  content  ·  limitation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EE3CD"/>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Evidence that a person was somewhere else when a crime happened</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an alibi?</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An alibi places a person somewhere else at the time of the crime; if it is proved, it rules them out.</a:t>
            </a:r>
            <a:endParaRPr lang="en-US" sz="20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636776"/>
          </a:xfrm>
          <a:prstGeom prst="roundRect">
            <a:avLst>
              <a:gd name="adj" fmla="val 6704"/>
            </a:avLst>
          </a:prstGeom>
          <a:solidFill>
            <a:srgbClr val="EEE3CD"/>
          </a:solidFill>
          <a:ln w="19050">
            <a:solidFill>
              <a:srgbClr val="B8862B"/>
            </a:solidFill>
            <a:prstDash val="solid"/>
          </a:ln>
        </p:spPr>
      </p:sp>
      <p:sp>
        <p:nvSpPr>
          <p:cNvPr id="19" name="answer"/>
          <p:cNvSpPr txBox="1"/>
          <p:nvPr/>
        </p:nvSpPr>
        <p:spPr>
          <a:xfrm>
            <a:off x="4612538"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They saw people briefly, at night, in fog and dim gaslight, often after drinking</a:t>
            </a:r>
            <a:endParaRPr lang="en-US" sz="2200" dirty="0"/>
          </a:p>
        </p:txBody>
      </p:sp>
      <p:sp>
        <p:nvSpPr>
          <p:cNvPr id="20" name="card-body"/>
          <p:cNvSpPr txBox="1"/>
          <p:nvPr/>
        </p:nvSpPr>
        <p:spPr>
          <a:xfrm>
            <a:off x="4521098"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Poor light, fog, the hour, drink and distrust of the police all made witness statements unreliable, and their descriptions did not agree.</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provenance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___ of a source means who made it, when, and why.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Provenance, also called nature, origin and purpose, is where a source comes from: who made it, when and why.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witness statement</a:t>
            </a:r>
            <a:endParaRPr lang="en-US" sz="2600" dirty="0"/>
          </a:p>
        </p:txBody>
      </p:sp>
      <p:sp>
        <p:nvSpPr>
          <p:cNvPr id="11" name="word-rule"/>
          <p:cNvSpPr/>
          <p:nvPr/>
        </p:nvSpPr>
        <p:spPr>
          <a:xfrm>
            <a:off x="731520" y="2558288"/>
            <a:ext cx="3149498" cy="0"/>
          </a:xfrm>
          <a:prstGeom prst="line">
            <a:avLst/>
          </a:prstGeom>
          <a:ln w="12700">
            <a:solidFill>
              <a:srgbClr val="CCB9A8"/>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description given to the police by someone who saw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witness statement is only as good as the witness's view.</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credible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believable; able to be trusted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witness who had been drinking all evening was not very credible.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suspect</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the police think might have committed a crime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have been well over 100 suspects, and none has been proved.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alibi</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evidence that a person was somewhere else when a crime happened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Prince Albert Victor is said to have had an alibi for the double event.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provenance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who made a source, when, and why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provenance of the cartoon tells us its purpose was to mock.</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limitation</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way in which a source is less useful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One limitation of the cartoon is that it shows only one side.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police in 1888 depended on witnesses.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the witnesses in Whitechapel were not very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credible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had seen people briefly, at night, in fog and dim gaslight.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had been drinking.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did not trust the police and may not have told the whole truth.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Their descriptions did not agree with each other.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Over the years, well over 100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suspects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have been named.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Not one has ever been proved to be the killer.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Without forensic science, nothing could be proved either way.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Newspapers and magazines mocked the police for failing.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cartoon in Punch showed a blindfolded officer surrounded by criminals.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To use a source like that, you must ask who made it and why.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lack of credible witnesses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detailed statement is not the same as a reliable one. Ask: how well could this person see, how clearly were they thinking, and did they have a reason to shape their story?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asks what problem the police faced in finding out who the killer was, and answers: a lack of credible witnesses.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Take the statement of George Hutchinson, who lived near Mary Jane Kelly and said he saw her with a man on the night she died.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witnesses from the night of 30 September show the same thing.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Over 100 suspects, none proved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history, not proved is a real answer. Say what the evidence can and cannot show.</a:t>
            </a:r>
            <a:endParaRPr lang="en-US" sz="1800" dirty="0"/>
          </a:p>
        </p:txBody>
      </p:sp>
      <p:sp>
        <p:nvSpPr>
          <p:cNvPr id="11" name="point-card"/>
          <p:cNvSpPr/>
          <p:nvPr/>
        </p:nvSpPr>
        <p:spPr>
          <a:xfrm>
            <a:off x="548640" y="1389888"/>
            <a:ext cx="3515258" cy="3964940"/>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well over 100 different suspects for who the Whitechapel killer really was.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works through Prince Albert Victor as the class example.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unit does not ask you to decide who the killer was, because the evidence cannot bear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Over 100 suspects, none proved</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4F0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suspect is said to have an alibi for the double event. Show how to weigh that claim without deciding whether he was the killer.</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B69B83"/>
            </a:solidFill>
            <a:prstDash val="solid"/>
          </a:ln>
        </p:spPr>
      </p:sp>
      <p:sp>
        <p:nvSpPr>
          <p:cNvPr id="10" name="step-hex"/>
          <p:cNvSpPr/>
          <p:nvPr/>
        </p:nvSpPr>
        <p:spPr>
          <a:xfrm>
            <a:off x="685800" y="2560980"/>
            <a:ext cx="457200" cy="395935"/>
          </a:xfrm>
          <a:prstGeom prst="hexagon">
            <a:avLst/>
          </a:prstGeom>
          <a:solidFill>
            <a:srgbClr val="7A4A1E"/>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State the claim: the suspect is said to have been in Scotland on 30 September 1888.</a:t>
            </a:r>
            <a:endParaRPr lang="en-US" sz="1800" dirty="0"/>
          </a:p>
        </p:txBody>
      </p:sp>
      <p:sp>
        <p:nvSpPr>
          <p:cNvPr id="13" name="step-box"/>
          <p:cNvSpPr/>
          <p:nvPr/>
        </p:nvSpPr>
        <p:spPr>
          <a:xfrm>
            <a:off x="548640" y="3088640"/>
            <a:ext cx="11094415" cy="513080"/>
          </a:xfrm>
          <a:prstGeom prst="roundRect">
            <a:avLst>
              <a:gd name="adj" fmla="val 14257"/>
            </a:avLst>
          </a:prstGeom>
          <a:solidFill>
            <a:srgbClr val="FFFFFF"/>
          </a:solidFill>
          <a:ln w="15875">
            <a:solidFill>
              <a:srgbClr val="B69B83"/>
            </a:solidFill>
            <a:prstDash val="solid"/>
          </a:ln>
        </p:spPr>
      </p:sp>
      <p:sp>
        <p:nvSpPr>
          <p:cNvPr id="14" name="step-hex"/>
          <p:cNvSpPr/>
          <p:nvPr/>
        </p:nvSpPr>
        <p:spPr>
          <a:xfrm>
            <a:off x="685800" y="3147212"/>
            <a:ext cx="457200" cy="395935"/>
          </a:xfrm>
          <a:prstGeom prst="hexagon">
            <a:avLst/>
          </a:prstGeom>
          <a:solidFill>
            <a:srgbClr val="7A4A1E"/>
          </a:solidFill>
          <a:ln/>
        </p:spPr>
      </p:sp>
      <p:sp>
        <p:nvSpPr>
          <p:cNvPr id="15" name="step-hex-label"/>
          <p:cNvSpPr txBox="1"/>
          <p:nvPr/>
        </p:nvSpPr>
        <p:spPr>
          <a:xfrm>
            <a:off x="685800" y="31472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what supports it: who says so, and is there a record such as a letter, a diary or a newspaper report?</a:t>
            </a:r>
            <a:endParaRPr lang="en-US" sz="1800" dirty="0"/>
          </a:p>
        </p:txBody>
      </p:sp>
      <p:sp>
        <p:nvSpPr>
          <p:cNvPr id="17" name="step-box"/>
          <p:cNvSpPr/>
          <p:nvPr/>
        </p:nvSpPr>
        <p:spPr>
          <a:xfrm>
            <a:off x="548640" y="3674872"/>
            <a:ext cx="11094415" cy="513080"/>
          </a:xfrm>
          <a:prstGeom prst="roundRect">
            <a:avLst>
              <a:gd name="adj" fmla="val 14257"/>
            </a:avLst>
          </a:prstGeom>
          <a:solidFill>
            <a:srgbClr val="FFFFFF"/>
          </a:solidFill>
          <a:ln w="15875">
            <a:solidFill>
              <a:srgbClr val="B69B83"/>
            </a:solidFill>
            <a:prstDash val="solid"/>
          </a:ln>
        </p:spPr>
      </p:sp>
      <p:sp>
        <p:nvSpPr>
          <p:cNvPr id="18" name="step-hex"/>
          <p:cNvSpPr/>
          <p:nvPr/>
        </p:nvSpPr>
        <p:spPr>
          <a:xfrm>
            <a:off x="685800" y="3733444"/>
            <a:ext cx="457200" cy="395935"/>
          </a:xfrm>
          <a:prstGeom prst="hexagon">
            <a:avLst/>
          </a:prstGeom>
          <a:solidFill>
            <a:srgbClr val="7A4A1E"/>
          </a:solidFill>
          <a:ln/>
        </p:spPr>
      </p:sp>
      <p:sp>
        <p:nvSpPr>
          <p:cNvPr id="19" name="step-hex-label"/>
          <p:cNvSpPr txBox="1"/>
          <p:nvPr/>
        </p:nvSpPr>
        <p:spPr>
          <a:xfrm>
            <a:off x="685800" y="37334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74872"/>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what weakens it: is the claim made by a friend or family member, or written down long afterwards?</a:t>
            </a:r>
            <a:endParaRPr lang="en-US" sz="1800" dirty="0"/>
          </a:p>
        </p:txBody>
      </p:sp>
      <p:sp>
        <p:nvSpPr>
          <p:cNvPr id="21" name="step-box"/>
          <p:cNvSpPr/>
          <p:nvPr/>
        </p:nvSpPr>
        <p:spPr>
          <a:xfrm>
            <a:off x="548640" y="4261104"/>
            <a:ext cx="11094415" cy="777240"/>
          </a:xfrm>
          <a:prstGeom prst="roundRect">
            <a:avLst>
              <a:gd name="adj" fmla="val 9412"/>
            </a:avLst>
          </a:prstGeom>
          <a:solidFill>
            <a:srgbClr val="FFFFFF"/>
          </a:solidFill>
          <a:ln w="15875">
            <a:solidFill>
              <a:srgbClr val="B69B83"/>
            </a:solidFill>
            <a:prstDash val="solid"/>
          </a:ln>
        </p:spPr>
      </p:sp>
      <p:sp>
        <p:nvSpPr>
          <p:cNvPr id="22" name="step-hex"/>
          <p:cNvSpPr/>
          <p:nvPr/>
        </p:nvSpPr>
        <p:spPr>
          <a:xfrm>
            <a:off x="685800" y="4451756"/>
            <a:ext cx="457200" cy="395935"/>
          </a:xfrm>
          <a:prstGeom prst="hexagon">
            <a:avLst/>
          </a:prstGeom>
          <a:solidFill>
            <a:srgbClr val="7A4A1E"/>
          </a:solidFill>
          <a:ln/>
        </p:spPr>
      </p:sp>
      <p:sp>
        <p:nvSpPr>
          <p:cNvPr id="23" name="step-hex-label"/>
          <p:cNvSpPr txBox="1"/>
          <p:nvPr/>
        </p:nvSpPr>
        <p:spPr>
          <a:xfrm>
            <a:off x="685800" y="44517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61104"/>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Conclude about the evidence, not the person: the alibi is strong, weak or unproven, so the suspect cannot be ruled in or out.</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Claim, support, weakness, conclusion about the evidence. The conclusion is about how strong the alibi is, not about guilt.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useful is the Punch cartoon?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5EFE2"/>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Useful for what? A cartoon that mocks the police is very useful for attitudes to the police and much less useful for what the police actually did.</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4F0EC"/>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The London Police Force is probably the stupidest in the World</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The New York Times, 1880s, as printed in your lesson</a:t>
            </a:r>
            <a:endParaRPr lang="en-US" sz="2600" dirty="0"/>
          </a:p>
        </p:txBody>
      </p:sp>
      <p:sp>
        <p:nvSpPr>
          <p:cNvPr id="14" name="bullet-card"/>
          <p:cNvSpPr/>
          <p:nvPr/>
        </p:nvSpPr>
        <p:spPr>
          <a:xfrm>
            <a:off x="548640" y="1389888"/>
            <a:ext cx="5074920" cy="1490980"/>
          </a:xfrm>
          <a:prstGeom prst="roundRect">
            <a:avLst>
              <a:gd name="adj" fmla="val 4906"/>
            </a:avLst>
          </a:prstGeom>
          <a:solidFill>
            <a:srgbClr val="F6F3F0"/>
          </a:solidFill>
          <a:ln/>
        </p:spPr>
      </p:sp>
      <p:sp>
        <p:nvSpPr>
          <p:cNvPr id="15" name="bullet-hex"/>
          <p:cNvSpPr/>
          <p:nvPr/>
        </p:nvSpPr>
        <p:spPr>
          <a:xfrm>
            <a:off x="676656" y="1969085"/>
            <a:ext cx="384048" cy="332586"/>
          </a:xfrm>
          <a:prstGeom prst="hexagon">
            <a:avLst/>
          </a:prstGeom>
          <a:solidFill>
            <a:srgbClr val="7A4A1E"/>
          </a:solidFill>
          <a:ln/>
        </p:spPr>
      </p:sp>
      <p:sp>
        <p:nvSpPr>
          <p:cNvPr id="16" name="bullet"/>
          <p:cNvSpPr txBox="1"/>
          <p:nvPr/>
        </p:nvSpPr>
        <p:spPr>
          <a:xfrm>
            <a:off x="1143000" y="1389888"/>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source task uses a cartoon from Punch magazine, published after the first two deaths.</a:t>
            </a:r>
            <a:endParaRPr lang="en-US" sz="2200" dirty="0"/>
          </a:p>
        </p:txBody>
      </p:sp>
      <p:sp>
        <p:nvSpPr>
          <p:cNvPr id="17" name="bullet-card"/>
          <p:cNvSpPr/>
          <p:nvPr/>
        </p:nvSpPr>
        <p:spPr>
          <a:xfrm>
            <a:off x="548640" y="3027172"/>
            <a:ext cx="5074920" cy="1490980"/>
          </a:xfrm>
          <a:prstGeom prst="roundRect">
            <a:avLst>
              <a:gd name="adj" fmla="val 4906"/>
            </a:avLst>
          </a:prstGeom>
          <a:solidFill>
            <a:srgbClr val="F6F3F0"/>
          </a:solidFill>
          <a:ln/>
        </p:spPr>
      </p:sp>
      <p:sp>
        <p:nvSpPr>
          <p:cNvPr id="18" name="bullet-hex"/>
          <p:cNvSpPr/>
          <p:nvPr/>
        </p:nvSpPr>
        <p:spPr>
          <a:xfrm>
            <a:off x="676656" y="3606369"/>
            <a:ext cx="384048" cy="332586"/>
          </a:xfrm>
          <a:prstGeom prst="hexagon">
            <a:avLst/>
          </a:prstGeom>
          <a:solidFill>
            <a:srgbClr val="B8862B"/>
          </a:solidFill>
          <a:ln/>
        </p:spPr>
      </p:sp>
      <p:sp>
        <p:nvSpPr>
          <p:cNvPr id="19" name="bullet"/>
          <p:cNvSpPr txBox="1"/>
          <p:nvPr/>
        </p:nvSpPr>
        <p:spPr>
          <a:xfrm>
            <a:off x="1143000" y="3027172"/>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Content: the cartoon suggests the police cannot see the criminals right in front of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Judging the police fairly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Whenever a source is rude about someone, ask what the source gains by being rude.</a:t>
            </a:r>
            <a:endParaRPr lang="en-US" sz="1800" dirty="0"/>
          </a:p>
        </p:txBody>
      </p:sp>
      <p:sp>
        <p:nvSpPr>
          <p:cNvPr id="11" name="point-card"/>
          <p:cNvSpPr/>
          <p:nvPr/>
        </p:nvSpPr>
        <p:spPr>
          <a:xfrm>
            <a:off x="548640" y="1389888"/>
            <a:ext cx="5410048" cy="3964940"/>
          </a:xfrm>
          <a:prstGeom prst="roundRect">
            <a:avLst>
              <a:gd name="adj" fmla="val 1384"/>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ends with a quotation from The New York Times in the 1880s, calling the London police probably the stupidest in the world, and asks you to vote: was it the police's fault?</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fair judgement uses everything so far. Witnesses were not credible because of the conditions.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Building a source paragraph</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four parts of a how-useful-is-this-source paragraph in the order your department teaches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Provenance: say what kind of source it is, who made it, when and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Own knowledge: add what you know that supports or challenges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Limitation and judgement: say what it cannot tell you, then decide how useful it is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Content: say what the source shows or suggests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Building a source paragraph</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Building a source paragraph</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cannot say anything about a source before you have looked at it, so content comes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you test what it shows against what you know.</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you step back and ask who made it and why.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Finally you say what it misses and give your judgement.</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Look, test, ask who, judge. Your department's sentence starters go: useful because it suggests; supported by my own knowledge; moreover, because of its nature, origin and purpose; however, a limitation; ultimately.</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provenance can make a source MORE useful for one question and LESS useful for another, using the Punch cartoon as your example.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useful is the cartoon?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useful is the Punch cartoon of the blindfolded police officer for learning about public attitudes to the police in Whitechapel? Write one paragraph of six to eight sentences using content, own knowledge, provenance and limitation, and finish with a judgement.</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How useful is the cartoon?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useful is the Punch cartoon of the blindfolded police officer for learning about public attitudes to the police in Whitechapel? Write one paragraph of six to eight sentences using content, own knowledge, provenance and limitation, and finish with a judgement.</a:t>
            </a:r>
            <a:endParaRPr lang="en-US" sz="2000" dirty="0"/>
          </a:p>
        </p:txBody>
      </p:sp>
      <p:sp>
        <p:nvSpPr>
          <p:cNvPr id="12" name="col-Support"/>
          <p:cNvSpPr/>
          <p:nvPr/>
        </p:nvSpPr>
        <p:spPr>
          <a:xfrm>
            <a:off x="548640" y="3213608"/>
            <a:ext cx="11094415" cy="2931160"/>
          </a:xfrm>
          <a:prstGeom prst="roundRect">
            <a:avLst>
              <a:gd name="adj" fmla="val 1872"/>
            </a:avLst>
          </a:prstGeom>
          <a:solidFill>
            <a:srgbClr val="F4F0EC"/>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50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53688"/>
            <a:ext cx="10820095" cy="2181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cartoon is useful because it suggests… (what does a blindfold mean?)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This is supported by my own knowledge… (name two failed methods).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3 and 4: Moreover, it is useful because of its provenance… Punch, after the first two deaths, to mock and to sell. So it is good evidence of…</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5: However, a limitation is… (what does it leave out?)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6: Ultimately, the cartoon is useful for… because…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How useful is the cartoon?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useful is the Punch cartoon of the blindfolded police officer for learning about public attitudes to the police in Whitechapel? Write one paragraph of six to eight sentences using content, own knowledge, provenance and limitation, and finish with a judgement.</a:t>
            </a:r>
            <a:endParaRPr lang="en-US" sz="2000" dirty="0"/>
          </a:p>
        </p:txBody>
      </p:sp>
      <p:sp>
        <p:nvSpPr>
          <p:cNvPr id="12" name="col-Core"/>
          <p:cNvSpPr/>
          <p:nvPr/>
        </p:nvSpPr>
        <p:spPr>
          <a:xfrm>
            <a:off x="548640" y="3213608"/>
            <a:ext cx="5410048" cy="2931160"/>
          </a:xfrm>
          <a:prstGeom prst="roundRect">
            <a:avLst>
              <a:gd name="adj" fmla="val 1872"/>
            </a:avLst>
          </a:prstGeom>
          <a:solidFill>
            <a:srgbClr val="E4DAD1"/>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3250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853688"/>
            <a:ext cx="5135728" cy="218135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Useful for what? The question says public attitudes. A source made to mock the police is excellent evidence of attitudes, even if it is unfair to the police.</a:t>
            </a:r>
            <a:endParaRPr lang="en-US" sz="2200" dirty="0"/>
          </a:p>
        </p:txBody>
      </p:sp>
      <p:sp>
        <p:nvSpPr>
          <p:cNvPr id="17" name="col-Stretch"/>
          <p:cNvSpPr/>
          <p:nvPr/>
        </p:nvSpPr>
        <p:spPr>
          <a:xfrm>
            <a:off x="6233008" y="3213608"/>
            <a:ext cx="5410048" cy="2931160"/>
          </a:xfrm>
          <a:prstGeom prst="roundRect">
            <a:avLst>
              <a:gd name="adj" fmla="val 1872"/>
            </a:avLst>
          </a:prstGeom>
          <a:solidFill>
            <a:srgbClr val="7A4A1E"/>
          </a:solidFill>
          <a:ln/>
        </p:spPr>
      </p:sp>
      <p:sp>
        <p:nvSpPr>
          <p:cNvPr id="18" name="col-hex"/>
          <p:cNvSpPr/>
          <p:nvPr/>
        </p:nvSpPr>
        <p:spPr>
          <a:xfrm>
            <a:off x="6342736" y="3286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3250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853688"/>
            <a:ext cx="5135728" cy="2181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Compare the Punch cartoon with the New York Times quotation as evidence of attitudes to the police. Which is more useful, and does distance from London make a source better or worse?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an alibi?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written confession signed at a police station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nickname given to a suspect by the newspapers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Evidence that a person was somewhere else when a crime happened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description of a suspect given by a witness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Building a source paragraph</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Content: say what the source shows or suggests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Own knowledge: add what you know that supports or challenges it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Provenance: say what kind of source it is, who made it, when and why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Limitation and judgement: say what it cannot tell you, then decide how useful it is  (C)</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Content first, because you must describe what the source says before you can test it; own knowledge second, to test it; provenance third, to explain why it says what it says; limitation and judgement last.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useful is the cartoon?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07822"/>
          </a:xfrm>
          <a:prstGeom prst="roundRect">
            <a:avLst>
              <a:gd name="adj" fmla="val 15044"/>
            </a:avLst>
          </a:prstGeom>
          <a:solidFill>
            <a:srgbClr val="F6F3F0"/>
          </a:solidFill>
          <a:ln/>
        </p:spPr>
      </p:sp>
      <p:sp>
        <p:nvSpPr>
          <p:cNvPr id="9" name="tickbox"/>
          <p:cNvSpPr/>
          <p:nvPr/>
        </p:nvSpPr>
        <p:spPr>
          <a:xfrm>
            <a:off x="713232" y="2141855"/>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60782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Content: I say what the cartoon shows and what it suggests about the police.</a:t>
            </a:r>
            <a:endParaRPr lang="en-US" sz="2200" dirty="0"/>
          </a:p>
        </p:txBody>
      </p:sp>
      <p:sp>
        <p:nvSpPr>
          <p:cNvPr id="11" name="crit-box"/>
          <p:cNvSpPr/>
          <p:nvPr/>
        </p:nvSpPr>
        <p:spPr>
          <a:xfrm>
            <a:off x="548640" y="2683510"/>
            <a:ext cx="11094415" cy="948690"/>
          </a:xfrm>
          <a:prstGeom prst="roundRect">
            <a:avLst>
              <a:gd name="adj" fmla="val 9639"/>
            </a:avLst>
          </a:prstGeom>
          <a:solidFill>
            <a:srgbClr val="F6F3F0"/>
          </a:solidFill>
          <a:ln/>
        </p:spPr>
      </p:sp>
      <p:sp>
        <p:nvSpPr>
          <p:cNvPr id="12" name="tickbox"/>
          <p:cNvSpPr/>
          <p:nvPr/>
        </p:nvSpPr>
        <p:spPr>
          <a:xfrm>
            <a:off x="713232" y="3011551"/>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683510"/>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Own knowledge: I support or challenge the cartoon with something I know about the police methods or the conditions.</a:t>
            </a:r>
            <a:endParaRPr lang="en-US" sz="2200" dirty="0"/>
          </a:p>
        </p:txBody>
      </p:sp>
      <p:sp>
        <p:nvSpPr>
          <p:cNvPr id="14" name="crit-box"/>
          <p:cNvSpPr/>
          <p:nvPr/>
        </p:nvSpPr>
        <p:spPr>
          <a:xfrm>
            <a:off x="548640" y="3723640"/>
            <a:ext cx="11094415" cy="1289558"/>
          </a:xfrm>
          <a:prstGeom prst="roundRect">
            <a:avLst>
              <a:gd name="adj" fmla="val 7091"/>
            </a:avLst>
          </a:prstGeom>
          <a:solidFill>
            <a:srgbClr val="F6F3F0"/>
          </a:solidFill>
          <a:ln/>
        </p:spPr>
      </p:sp>
      <p:sp>
        <p:nvSpPr>
          <p:cNvPr id="15" name="tickbox"/>
          <p:cNvSpPr/>
          <p:nvPr/>
        </p:nvSpPr>
        <p:spPr>
          <a:xfrm>
            <a:off x="713232" y="4222115"/>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723640"/>
            <a:ext cx="10317175"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Provenance: I say that Punch was a magazine that mocked the powerful and that the cartoon was made after the first two deaths to criticise the police and sell copies, and I explain what that means for its usefulness.</a:t>
            </a:r>
            <a:endParaRPr lang="en-US" sz="2200" dirty="0"/>
          </a:p>
        </p:txBody>
      </p:sp>
      <p:sp>
        <p:nvSpPr>
          <p:cNvPr id="17" name="crit-box"/>
          <p:cNvSpPr/>
          <p:nvPr/>
        </p:nvSpPr>
        <p:spPr>
          <a:xfrm>
            <a:off x="548640" y="5104638"/>
            <a:ext cx="11094415" cy="948690"/>
          </a:xfrm>
          <a:prstGeom prst="roundRect">
            <a:avLst>
              <a:gd name="adj" fmla="val 9639"/>
            </a:avLst>
          </a:prstGeom>
          <a:solidFill>
            <a:srgbClr val="F6F3F0"/>
          </a:solidFill>
          <a:ln/>
        </p:spPr>
      </p:sp>
      <p:sp>
        <p:nvSpPr>
          <p:cNvPr id="18" name="tickbox"/>
          <p:cNvSpPr/>
          <p:nvPr/>
        </p:nvSpPr>
        <p:spPr>
          <a:xfrm>
            <a:off x="713232" y="5432679"/>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510463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Limitation and judgement: I give one thing the cartoon cannot tell us and finish with a clear judgement about how useful it is for public attitudes.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How useful is the cartoon?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cartoon is useful because it suggests that people saw the police as helpless, like a blindfolded officer who cannot see the criminals around him. This is supported by my own knowledge, because the police tried decoys, leaflets, interviews and bloodhounds and none of them worked, so many Londoners had lost patience with them. Moreover, the cartoon is useful because of its provenance: it was drawn for Punch, a magazine that made its living by mocking the powerful, after the first two deaths, to criticise the police and to sell copies. That means it is good evidence of what readers wanted to see and were ready to believe about the police. However, a limitation is that it blames the police alone and shows nothing of the fog, the maze of streets or the missing forensic science that made the job so hard. Ultimately, the cartoon is very useful for public attitudes to the police, because showing those attitudes was exactly what it was made to do, but it is much less useful for judging how well the police actually performed.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an alibi?</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Evidence that a person was somewhere else when a crime happened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alibi places a person somewhere else at the time of the crime; if it is proved, it rules them out.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Whitechapel 1888 · Chapter 5: Witnesses, suspects and a cartoon</dc:title>
  <dc:subject>History · Year 8</dc:subject>
  <dc:creator>Dr Vitor Merissi de Carvalho</dc:creator>
  <cp:lastModifiedBy>Dr Vitor Merissi de Carvalho</cp:lastModifiedBy>
  <cp:revision>1</cp:revision>
  <dcterms:created xsi:type="dcterms:W3CDTF">2026-10-19T06:08:06Z</dcterms:created>
  <dcterms:modified xsi:type="dcterms:W3CDTF">2026-10-19T06:08:06Z</dcterms:modified>
</cp:coreProperties>
</file>