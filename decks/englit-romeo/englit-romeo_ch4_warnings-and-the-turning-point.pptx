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c482baa-ca7e-e4b7-ed81-0cdc7577a583}">
          <p14:sldIdLst>
            <p14:sldId id="256"/>
          </p14:sldIdLst>
        </p14:section>
        <p14:section name="Gate" id="{9a26f006-edb8-c382-15ab-8f8427a5b15c}">
          <p14:sldIdLst>
            <p14:sldId id="257"/>
            <p14:sldId id="258"/>
          </p14:sldIdLst>
        </p14:section>
        <p14:section name="Pre-teach" id="{360dc036-1422-cbbe-b9c8-0611f554683a}">
          <p14:sldIdLst>
            <p14:sldId id="259"/>
          </p14:sldIdLst>
        </p14:section>
        <p14:section name="Read-along" id="{d7814d78-f389-d4b7-d67e-55b119466e07}">
          <p14:sldIdLst>
            <p14:sldId id="260"/>
            <p14:sldId id="261"/>
          </p14:sldIdLst>
        </p14:section>
        <p14:section name="Teach" id="{135b491d-fb3e-9ad6-e364-c778f8eb27e9}">
          <p14:sldIdLst>
            <p14:sldId id="262"/>
            <p14:sldId id="263"/>
            <p14:sldId id="264"/>
          </p14:sldIdLst>
        </p14:section>
        <p14:section name="Routes" id="{a4ebb81e-f5c7-448d-696c-a14561daf4f2}">
          <p14:sldIdLst>
            <p14:sldId id="265"/>
            <p14:sldId id="266"/>
            <p14:sldId id="267"/>
            <p14:sldId id="268"/>
          </p14:sldIdLst>
        </p14:section>
        <p14:section name="Close" id="{eb1383e8-b974-fdcd-1cfb-249a4771319b}">
          <p14:sldIdLst>
            <p14:sldId id="269"/>
          </p14:sldIdLst>
        </p14:section>
        <p14:section name="Answers" id="{cc0aff2c-61f7-0c22-3fff-add1bebabc97}">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Warnings, haste and the turning point (Act 2, Scenes 3–6 and Act 3, Scene 1). This chapter shows you the Friar's warnings, the Nurse's jokes, and the hot afternoon when the play turns from comedy to tragedy.
This deck covers the department's lessons: 10 (Act 2 Scenes 3–4: foreshadowing (deck ‘Lesson 11’): How does Shakespeare use foreshadowing in the play?); 11 (Act 2 Scenes 5–6: the Nurse and the Friar: What is the Nurse's role in the play, and why does Shakespeare set the action over so short a time?); 12 (Act 3 Scene 1: the fight scene: How does Shakespeare present Mercutio's character in this scene?).
Read the big question aloud: "How does Shakespeare turn a love story into a tragedy, and were the lovers' deaths written in the stars or chosen by the people on stage?"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an example of foreshadowing in Act 2 Scene 3?  →  D   The Friar says that poison and medicine live in the same flower
2. The audience knows that Romeo has just married Juliet, but Tybalt does not. This is called ___ irony.  →  dramatic
3. Who kills Mercutio?  →  C   Tybalt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Friar says that poison and medicine live in the same flower. The flower that is both poison and medicine points forward to the sleeping potion and to Romeo's poison in Act 5.
2. dramatic. Dramatic irony is when the audience knows something a character on stage does not. Here it makes Romeo's gentleness look like cowardice to Tybalt.
3. C   Tybalt. Tybalt stabs Mercutio under Romeo's arm as Romeo tries to part them. Romeo then kills Tybalt in revenge.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foreshadowing: a hint about what will happen later. Example: "The Friar's talk of poison is foreshadowing."
• dramatic irony: when we know something a character does not. Example: "Dramatic irony: Tybalt does not know Romeo is now his cousin, but we do."
• bawdy: rude humour about sex. Example: "The Nurse's bawdy jokes make the audience laugh."
• peripeteia: a sudden turn for the worse. Example: "Mercutio's death is the peripeteia of the play."
• pun: a joke that plays on two meanings of a word. Example: "Mercutio puns on ‘grave’ as he dies."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The next morning, Romeo visits Friar Lawrence.
2. The Friar is picking herbs that can heal or poison.
3. Romeo asks him to marry him to Juliet that day.
4. The Friar is shocked, but he agrees.
5. He hopes the marriage will end the feud.
6. He warns Romeo that those who run fast will stumble.
7. Juliet waits for the Nurse to bring Romeo's answer.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The Nurse teases her and takes her time.
9. That afternoon, the Friar marries them in secret.
10. Later, in the hot streets, Tybalt looks for Romeo.
11. Romeo refuses to fight his new cousin.
12. Mercutio fights instead, and Tybalt kills him.
13. In his rage, Romeo kills Tybalt.
14. The Prince banishes Romeo from Verona.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Poison and medicine: the Friar's warnings (2.3). Say it in your own words, then check understanding with a quick question: ask a pupil from the pre-teach group first, since they met these words and ideas before the lesson. Pupils try to recall before you re-explain.
Foreshadowing is when a writer hints at events still to come. The Prologue is the biggest hint of all, but Act 2 Scene 3 is full of smaller ones. We meet Friar Lawrence gathering plants and musing that one weak flower holds both poison and medicine. He knows how plants work, and that knowledge will give him the sleeping potion of Act 4. He also says that virtue itself turns vice when misapplied: good intentions can do harm.
When Romeo bounces in, in love with a new girl a day after weeping over Rosaline, the Friar teases him: young men's love lies in their eyes, not their hearts. Then he agrees to the marriage, hoping to turn the two households' hate to love, and sends Romeo off with the warning that they stumble that run fast. Every one of these lines points forward. The audience, who already know the ending from the Prologue, hear the warnings and watch nobody take them. That is dramatic irony: we know what the characters do not.
Quotation: "Within the infant rind of this weak flower / Poison hath residence and medicine power." (2.3.23–24). Read it aloud; ask what it shows.
Tip: ‘Residence’ means a home. Poison lives inside the healing plant. Hold this image until Act 5, when Romeo buys poison and Juliet drinks a medicine that looks like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Nurse, the Friar and the clock (2.4–2.6). Say it in your own words, then check understanding with a quick question: ask a pupil from the pre-teach group first, since they met these words and ideas before the lesson. Pupils try to recall before you re-explain.
The Nurse brings comedy. Her humour is bawdy, full of innuendo and double entendre, phrases with a second, often sexual, meaning, which Shakespeare usually gives to lower-class characters. In Act 2 Scene 5 Juliet waits for news, and the Nurse makes her wait longer, complaining of her aching bones before finally telling her to hurry to the Friar's cell, where a husband is waiting. The Nurse is loving and motherly, but she is also complicit: she helps the secret marriage along.
Act 2 Scene 6 is the wedding, and even here the Friar is uneasy. He warns that violent delights have violent ends, and that love should be moderate because too swift arrives as tardy as too slow. Notice how fast everything is moving: the lovers met on Sunday night and marry on Monday afternoon. The whole play runs in less than a week. Shakespeare compresses time so that the lovers' passion and the city's violence feel breathless, and so that nobody has time to stop and think.
Quotation: "These violent delights have violent ends / And in their triumph die, like fire and powder, / Which, as they kiss, consume." (2.6.9–11). Read it aloud; ask what it shows.
Tip: Fire and gunpowder destroy each other the moment they meet, and ‘kiss’ turns the explosion into an image of the lovers.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hot afternoon: Mercutio and the peripeteia (3.1). Say it in your own words, then check understanding with a quick question: ask a pupil from the pre-teach group first, since they met these words and ideas before the lesson. Pupils try to recall before you re-explain.
Peripeteia is a sudden reversal of fortune. Act 3 Scene 1 is the play's. Benvolio wants to go indoors because the day is hot and the Capulets are abroad, but Mercutio, mischievous and spoiling for fun, stays. Tybalt arrives looking for Romeo, and Romeo, who has just married Tybalt's cousin, answers insults with gentleness and refuses to fight. Only the audience knows why. Tybalt sees cowardice; Mercutio sees a calm, dishonourable, vile submission.
Mercutio draws, and under Romeo's arm Tybalt stabs him. Even dying he puns: ask for him tomorrow and you shall find him a grave man, where grave means both serious and buried. Then he curses both houses with a plague, and in a city that had lived through plague the curse would chill. Romeo blames his own gentleness, calls on fire-eyed fury, and kills Tybalt. His cry that he is Fortune's fool raises the question the rest of the play will ask: was this fate, or his choice?
Quotation: "Ask for me tomorrow, and you shall find me a grave man." (3.1.100–101). Read it aloud; ask what it shows.
Tip: Mercutio jokes until he dies, which is why the comedy stops with him. After this scene nobody in the play laughs.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the Friar's lines foreshadow.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Friar Lawrence's lines from Act 2 Scene 3 to what it foreshadows.
Support — work through the steps with the group: (1) Read each line and put it into your own words first. (2) Ask: what later event does this sound like? (3) Poison points to Act 5; ‘misapplied’ virtue points to the plan; eyes points to Romeo's haste; stumbling points to the wedding.
Parallel worked example for Support (model it, do not give the task answer): Practice: in Act 1 Scene 4 Romeo says his mind misgives some consequence hanging in the stars. What does this foreshadow? He has a bad feeling about the party.; The stars link back to ‘star-crossed’ in the Prologue.; So it foreshadows that meeting Juliet tonight will lead to his death.. Answer: It foreshadows that the party, where he meets Juliet, will set his fate in motion..
Core — reveal the hint only on request: Two lines are about objects (plants, eyes) and two are about behaviour (misusing good, running fast).
Stretch — no help; when finished: The Friar sees the danger clearly and still performs the wedding. In two sentences, argue whether that makes him wise, weak or complicit.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the Friar's lines foreshadow.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of Friar Lawrence's lines from Act 2 Scene 3 to what it foreshadows.
Support — work through the steps with the group: (1) Read each line and put it into your own words first. (2) Ask: what later event does this sound like? (3) Poison points to Act 5; ‘misapplied’ virtue points to the plan; eyes points to Romeo's haste; stumbling points to the wedding.
Parallel worked example for Support (model it, do not give the task answer): Practice: in Act 1 Scene 4 Romeo says his mind misgives some consequence hanging in the stars. What does this foreshadow? He has a bad feeling about the party.; The stars link back to ‘star-crossed’ in the Prologue.; So it foreshadows that meeting Juliet tonight will lead to his death.. Answer: It foreshadows that the party, where he meets Juliet, will set his fate in motion..
Core — reveal the hint only on request: Two lines are about objects (plants, eyes) and two are about behaviour (misusing good, running fast).
Stretch — no help; when finished: The Friar sees the danger clearly and still performs the wedding. In two sentences, argue whether that makes him wise, weak or complicit.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Dramatic irony in the fight scene.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Romeo tells Tybalt that the reason he has to love him excuses the rage a greeting like Tybalt's deserves. Why is this moment dramatic irony?
Support — work through the steps with the group: (1) Remember: dramatic irony is when the audience knows something a character does not. (2) Ask: what did the audience watch happen in Act 2 Scene 6? (3) Ask: does Tybalt know any of that? Does Mercutio?
Parallel worked example for Support (model it, do not give the task answer): Practice: in Act 1 Scene 5 Tybalt is furious that a Montague is at the party, while Capulet calls Romeo a well-governed youth. Why is that ironic? The audience has just heard Romeo fall in love with Capulet's daughter.; Capulet does not know.; So his praise is dramatic irony.. Answer: The audience knows Romeo is falling in love with Juliet, but Capulet, who defends him, does not..
Core — reveal the hint only on request: Who knows about the wedding at this point: the audience, Tybalt, Mercutio, or all three?
Stretch — no help; when finished: Explain how the code of hegemonic masculinity from Act 1 Scene 1 turns Romeo's secret into a fatal problem in this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Dramatic irony in the fight scene.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Romeo tells Tybalt that the reason he has to love him excuses the rage a greeting like Tybalt's deserves. Why is this moment dramatic irony?
Support — work through the steps with the group: (1) Remember: dramatic irony is when the audience knows something a character does not. (2) Ask: what did the audience watch happen in Act 2 Scene 6? (3) Ask: does Tybalt know any of that? Does Mercutio?
Parallel worked example for Support (model it, do not give the task answer): Practice: in Act 1 Scene 5 Tybalt is furious that a Montague is at the party, while Capulet calls Romeo a well-governed youth. Why is that ironic? The audience has just heard Romeo fall in love with Capulet's daughter.; Capulet does not know.; So his praise is dramatic irony.. Answer: The audience knows Romeo is falling in love with Juliet, but Capulet, who defends him, does not..
Core — reveal the hint only on request: Who knows about the wedding at this point: the audience, Tybalt, Mercutio, or all three?
Stretch — no help; when finished: Explain how the code of hegemonic masculinity from Act 1 Scene 1 turns Romeo's secret into a fatal problem in this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an example of foreshadowing in Act 2 Scene 3?
Answer: C   The Friar says that poison and medicine live in the same flower. The flower that is both poison and medicine points forward to the sleeping potion and to Romeo's poison in Act 5.
Source of this question: gate item 1 re-asked (options rotated) — this chapter has no third quick-check module.
The ebook also holds task 3, "How Shakespeare presents Mercutio",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the Friar's lines foreshadow. Reveal the answer; pupils mark their own work in a different colour, then read the "why" together. Same destination for every lane, so one answer serves the whole class.
Answer: “Poison hath residence and medicine power.”  →  A  The sleeping potion that looks like death, and the poison Romeo buys; “Virtue itself turns vice, being misapplied,”  →  B  The Friar's good intentions leading to disaster; “Young men's love, then, lies / Not truly in their hearts but in their eyes.”  →  D  Romeo's impulsiveness will be his downfall; “Wisely and slow. They stumble that run fast.”  →  C  Rushing into marriage will end badly
Why: Your lesson's quote explosion found these four lines. Each is a hint the audience hears and the characters ignore, which is how Shakespeare builds dramatic irony across the play.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Dramatic irony in the fight scene. Reveal the answer; pupils mark their own work in a different colour, then read the "why" together. Same destination for every lane, so one answer serves the whole class.
Answer: A   Because the audience knows Romeo has just married Tybalt's cousin, but Tybalt and Mercutio do not
Why: Romeo is being kind for a reason only we understand. Tybalt hears mockery, Mercutio sees cowardice, and Mercutio draws his sword to defend an honour Romeo has not lost. The gap between what we know and what they know kills him.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The Friar says that poison and medicine live in the same flower
Why: The flower that is both poison and medicine points forward to the sleeping potion and to Romeo's poison in Act 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1DCE7"/>
          </a:solidFill>
          <a:ln w="12700">
            <a:solidFill>
              <a:srgbClr val="E1DCE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9 · Romeo and Juliet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D8E4"/>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Romeo and Juliet · AQA KS3 → 8702</a:t>
            </a:r>
            <a:endParaRPr lang="en-US" sz="1800" dirty="0"/>
          </a:p>
        </p:txBody>
      </p:sp>
      <p:sp>
        <p:nvSpPr>
          <p:cNvPr id="10" name="deck-title"/>
          <p:cNvSpPr txBox="1"/>
          <p:nvPr/>
        </p:nvSpPr>
        <p:spPr>
          <a:xfrm>
            <a:off x="548640" y="185724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Warnings, haste and the turning point (Act 2, Scenes 3–6 and Act 3, Scene 1)</a:t>
            </a:r>
            <a:endParaRPr lang="en-US" sz="2800" dirty="0"/>
          </a:p>
        </p:txBody>
      </p:sp>
      <p:sp>
        <p:nvSpPr>
          <p:cNvPr id="11" name="lessons-card"/>
          <p:cNvSpPr/>
          <p:nvPr/>
        </p:nvSpPr>
        <p:spPr>
          <a:xfrm>
            <a:off x="548640" y="3599688"/>
            <a:ext cx="5287975" cy="1986280"/>
          </a:xfrm>
          <a:prstGeom prst="roundRect">
            <a:avLst>
              <a:gd name="adj" fmla="val 3683"/>
            </a:avLst>
          </a:prstGeom>
          <a:solidFill>
            <a:srgbClr val="EFEBF2"/>
          </a:solidFill>
          <a:ln/>
        </p:spPr>
      </p:sp>
      <p:sp>
        <p:nvSpPr>
          <p:cNvPr id="12" name="lessons"/>
          <p:cNvSpPr txBox="1"/>
          <p:nvPr/>
        </p:nvSpPr>
        <p:spPr>
          <a:xfrm>
            <a:off x="685800" y="3691128"/>
            <a:ext cx="5013655" cy="18034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2 Scenes 3–4: foreshadowing (deck ‘Lesson 11’)</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2 Scenes 5–6: the Nurse and the Friar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Act 3 Scene 1: the fight scene</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EBF2"/>
          </a:solidFill>
          <a:ln w="12700">
            <a:solidFill>
              <a:srgbClr val="BDB0CA"/>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Shakespeare turn a love story into a tragedy, and were the lovers' deaths written in the stars or chosen by the people on stage?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of these is an example of foreshadowing in Act 2 Scene 3?</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Romeo tells the Friar he loves Juliet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Friar agrees to perform the wedding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Romeo asks what time it is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Friar says that poison and medicine live in the same flower</a:t>
            </a:r>
            <a:endParaRPr lang="en-US" sz="2200" dirty="0"/>
          </a:p>
        </p:txBody>
      </p:sp>
      <p:sp>
        <p:nvSpPr>
          <p:cNvPr id="12" name="card"/>
          <p:cNvSpPr/>
          <p:nvPr/>
        </p:nvSpPr>
        <p:spPr>
          <a:xfrm>
            <a:off x="6095848" y="1389888"/>
            <a:ext cx="2636444" cy="4754880"/>
          </a:xfrm>
          <a:prstGeom prst="roundRect">
            <a:avLst>
              <a:gd name="adj" fmla="val 2081"/>
            </a:avLst>
          </a:prstGeom>
          <a:solidFill>
            <a:srgbClr val="F4F1F6"/>
          </a:solidFill>
          <a:ln w="12700">
            <a:solidFill>
              <a:srgbClr val="C6BAD0"/>
            </a:solidFill>
            <a:prstDash val="solid"/>
          </a:ln>
        </p:spPr>
      </p:sp>
      <p:sp>
        <p:nvSpPr>
          <p:cNvPr id="13" name="card-hex"/>
          <p:cNvSpPr/>
          <p:nvPr/>
        </p:nvSpPr>
        <p:spPr>
          <a:xfrm>
            <a:off x="6278728" y="1572768"/>
            <a:ext cx="640080" cy="554309"/>
          </a:xfrm>
          <a:prstGeom prst="hexagon">
            <a:avLst/>
          </a:prstGeom>
          <a:solidFill>
            <a:srgbClr val="5B3A7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The audience knows that Romeo has just married Juliet, but Tybalt does not. This is called ___ irony.</a:t>
            </a:r>
            <a:endParaRPr lang="en-US" sz="2000" dirty="0"/>
          </a:p>
          <a:p>
            <a:pPr algn="l" indent="0" marL="0">
              <a:buNone/>
            </a:pPr>
            <a:r>
              <a:rPr lang="en-US" sz="2000" b="1" dirty="0">
                <a:solidFill>
                  <a:srgbClr val="5B3A7A"/>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dramatic  ·  verbal  ·  situational</a:t>
            </a:r>
            <a:endParaRPr lang="en-US" sz="2000" dirty="0"/>
          </a:p>
        </p:txBody>
      </p:sp>
      <p:sp>
        <p:nvSpPr>
          <p:cNvPr id="17" name="card"/>
          <p:cNvSpPr/>
          <p:nvPr/>
        </p:nvSpPr>
        <p:spPr>
          <a:xfrm>
            <a:off x="9006611" y="1389888"/>
            <a:ext cx="2636444" cy="4754880"/>
          </a:xfrm>
          <a:prstGeom prst="roundRect">
            <a:avLst>
              <a:gd name="adj" fmla="val 2081"/>
            </a:avLst>
          </a:prstGeom>
          <a:solidFill>
            <a:srgbClr val="F4F1F6"/>
          </a:solidFill>
          <a:ln w="12700">
            <a:solidFill>
              <a:srgbClr val="C6BAD0"/>
            </a:solidFill>
            <a:prstDash val="solid"/>
          </a:ln>
        </p:spPr>
      </p:sp>
      <p:sp>
        <p:nvSpPr>
          <p:cNvPr id="18" name="card-hex"/>
          <p:cNvSpPr/>
          <p:nvPr/>
        </p:nvSpPr>
        <p:spPr>
          <a:xfrm>
            <a:off x="9189491" y="1572768"/>
            <a:ext cx="640080" cy="554309"/>
          </a:xfrm>
          <a:prstGeom prst="hexagon">
            <a:avLst/>
          </a:prstGeom>
          <a:solidFill>
            <a:srgbClr val="5B3A7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Who kills Mercutio?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Paris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Romeo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Tybalt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Benvolio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4F1F6"/>
          </a:solidFill>
          <a:ln w="12700">
            <a:solidFill>
              <a:srgbClr val="C6BAD0"/>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Friar says that poison and medicine live in the same flower</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is an example of foreshadowing in Act 2 Scene 3?</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flower that is both poison and medicine points forward to the sleeping potion and to Romeo's poison in Act 5.</a:t>
            </a:r>
            <a:endParaRPr lang="en-US" sz="2200" dirty="0"/>
          </a:p>
        </p:txBody>
      </p:sp>
      <p:sp>
        <p:nvSpPr>
          <p:cNvPr id="14" name="card"/>
          <p:cNvSpPr/>
          <p:nvPr/>
        </p:nvSpPr>
        <p:spPr>
          <a:xfrm>
            <a:off x="6095848" y="1389888"/>
            <a:ext cx="2636444" cy="4754880"/>
          </a:xfrm>
          <a:prstGeom prst="roundRect">
            <a:avLst>
              <a:gd name="adj" fmla="val 2081"/>
            </a:avLst>
          </a:prstGeom>
          <a:solidFill>
            <a:srgbClr val="F4F1F6"/>
          </a:solidFill>
          <a:ln w="12700">
            <a:solidFill>
              <a:srgbClr val="C6BAD0"/>
            </a:solidFill>
            <a:prstDash val="solid"/>
          </a:ln>
        </p:spPr>
      </p:sp>
      <p:sp>
        <p:nvSpPr>
          <p:cNvPr id="15" name="card-hex"/>
          <p:cNvSpPr/>
          <p:nvPr/>
        </p:nvSpPr>
        <p:spPr>
          <a:xfrm>
            <a:off x="6278728" y="1572768"/>
            <a:ext cx="640080" cy="554309"/>
          </a:xfrm>
          <a:prstGeom prst="hexagon">
            <a:avLst/>
          </a:prstGeom>
          <a:solidFill>
            <a:srgbClr val="5B3A7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dramatic</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Dramatic irony is when the audience knows something a character on stage does not. Here it makes Romeo's gentleness look like cowardice to Tybalt.</a:t>
            </a:r>
            <a:endParaRPr lang="en-US" sz="1800" dirty="0"/>
          </a:p>
        </p:txBody>
      </p:sp>
      <p:sp>
        <p:nvSpPr>
          <p:cNvPr id="21" name="card"/>
          <p:cNvSpPr/>
          <p:nvPr/>
        </p:nvSpPr>
        <p:spPr>
          <a:xfrm>
            <a:off x="9006611" y="1389888"/>
            <a:ext cx="2636444" cy="4754880"/>
          </a:xfrm>
          <a:prstGeom prst="roundRect">
            <a:avLst>
              <a:gd name="adj" fmla="val 2081"/>
            </a:avLst>
          </a:prstGeom>
          <a:solidFill>
            <a:srgbClr val="F4F1F6"/>
          </a:solidFill>
          <a:ln w="12700">
            <a:solidFill>
              <a:srgbClr val="C6BAD0"/>
            </a:solidFill>
            <a:prstDash val="solid"/>
          </a:ln>
        </p:spPr>
      </p:sp>
      <p:sp>
        <p:nvSpPr>
          <p:cNvPr id="22" name="card-hex"/>
          <p:cNvSpPr/>
          <p:nvPr/>
        </p:nvSpPr>
        <p:spPr>
          <a:xfrm>
            <a:off x="9189491" y="1572768"/>
            <a:ext cx="640080" cy="554309"/>
          </a:xfrm>
          <a:prstGeom prst="hexagon">
            <a:avLst/>
          </a:prstGeom>
          <a:solidFill>
            <a:srgbClr val="5B3A7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Tybalt</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Who kills Mercutio?</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Tybalt stabs Mercutio under Romeo's arm as Romeo tries to part them. Romeo then kills Tybalt in revenge.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5B3A7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2EFF4"/>
          </a:solidFill>
          <a:ln/>
        </p:spPr>
      </p:sp>
      <p:sp>
        <p:nvSpPr>
          <p:cNvPr id="12" name="kw-hex"/>
          <p:cNvSpPr/>
          <p:nvPr/>
        </p:nvSpPr>
        <p:spPr>
          <a:xfrm>
            <a:off x="658368" y="2135261"/>
            <a:ext cx="411480" cy="356342"/>
          </a:xfrm>
          <a:prstGeom prst="hexagon">
            <a:avLst/>
          </a:prstGeom>
          <a:solidFill>
            <a:srgbClr val="5B3A7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foreshadowing</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hint about what will happen later</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Friar's talk of poison is foreshadowing.</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dramatic irony</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we know something a character does not</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Dramatic irony: Tybalt does not know Romeo is now his cousin, but we do.</a:t>
            </a:r>
            <a:endParaRPr lang="en-US" sz="1800" dirty="0"/>
          </a:p>
        </p:txBody>
      </p:sp>
      <p:sp>
        <p:nvSpPr>
          <p:cNvPr id="21" name="kw-row"/>
          <p:cNvSpPr/>
          <p:nvPr/>
        </p:nvSpPr>
        <p:spPr>
          <a:xfrm>
            <a:off x="548640" y="3639312"/>
            <a:ext cx="11094415" cy="786384"/>
          </a:xfrm>
          <a:prstGeom prst="roundRect">
            <a:avLst>
              <a:gd name="adj" fmla="val 6977"/>
            </a:avLst>
          </a:prstGeom>
          <a:solidFill>
            <a:srgbClr val="F2EFF4"/>
          </a:solidFill>
          <a:ln/>
        </p:spPr>
      </p:sp>
      <p:sp>
        <p:nvSpPr>
          <p:cNvPr id="22" name="kw-hex"/>
          <p:cNvSpPr/>
          <p:nvPr/>
        </p:nvSpPr>
        <p:spPr>
          <a:xfrm>
            <a:off x="658368" y="3854333"/>
            <a:ext cx="411480" cy="356342"/>
          </a:xfrm>
          <a:prstGeom prst="hexagon">
            <a:avLst/>
          </a:prstGeom>
          <a:solidFill>
            <a:srgbClr val="5B3A7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bawdy</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rude humour about sex</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Nurse's bawdy jokes make the audience laugh.</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peripeteia</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sudden turn for the worse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Mercutio's death is the peripeteia of the play.</a:t>
            </a:r>
            <a:endParaRPr lang="en-US" sz="1800" dirty="0"/>
          </a:p>
        </p:txBody>
      </p:sp>
      <p:sp>
        <p:nvSpPr>
          <p:cNvPr id="31" name="kw-row"/>
          <p:cNvSpPr/>
          <p:nvPr/>
        </p:nvSpPr>
        <p:spPr>
          <a:xfrm>
            <a:off x="548640" y="5358384"/>
            <a:ext cx="11094415" cy="786384"/>
          </a:xfrm>
          <a:prstGeom prst="roundRect">
            <a:avLst>
              <a:gd name="adj" fmla="val 6977"/>
            </a:avLst>
          </a:prstGeom>
          <a:solidFill>
            <a:srgbClr val="F2EFF4"/>
          </a:solidFill>
          <a:ln/>
        </p:spPr>
      </p:sp>
      <p:sp>
        <p:nvSpPr>
          <p:cNvPr id="32" name="kw-hex"/>
          <p:cNvSpPr/>
          <p:nvPr/>
        </p:nvSpPr>
        <p:spPr>
          <a:xfrm>
            <a:off x="658368" y="5573405"/>
            <a:ext cx="411480" cy="356342"/>
          </a:xfrm>
          <a:prstGeom prst="hexagon">
            <a:avLst/>
          </a:prstGeom>
          <a:solidFill>
            <a:srgbClr val="5B3A7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5B3A7A"/>
                </a:solidFill>
                <a:latin typeface="Cambria" pitchFamily="34" charset="0"/>
                <a:ea typeface="Cambria" pitchFamily="34" charset="-122"/>
                <a:cs typeface="Cambria" pitchFamily="34" charset="-120"/>
              </a:rPr>
              <a:t>pun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joke that plays on two meanings of a word</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Mercutio puns on ‘grave’ as he dies.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next morning, Romeo visits Friar Lawrence.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Friar is picking herbs that can heal or poison.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Romeo asks him to marry him to Juliet that day.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Friar is shocked, but he agrees.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hopes the marriage will end the feud.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warns Romeo that those who run fast will stumble.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Juliet waits for the Nurse to bring Romeo's answer.</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1F6"/>
          </a:solidFill>
          <a:ln w="12700">
            <a:solidFill>
              <a:srgbClr val="CEC4D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Nurse teases her and takes her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That afternoon, the Friar marries them in secret.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Later, in the hot streets, Tybalt looks for Romeo.</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Romeo refuses to fight his new cousin.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Mercutio fights instead, and Tybalt kills him.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his rage, Romeo kills Tybalt.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Prince banishes Romeo from Verona.</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Poison and medicine: the Friar's warnings (2.3)</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513580"/>
            <a:ext cx="5074920" cy="1631188"/>
          </a:xfrm>
          <a:prstGeom prst="roundRect">
            <a:avLst>
              <a:gd name="adj" fmla="val 8409"/>
            </a:avLst>
          </a:prstGeom>
          <a:solidFill>
            <a:srgbClr val="F4EDDF"/>
          </a:solidFill>
          <a:ln w="15875">
            <a:solidFill>
              <a:srgbClr val="B8862B"/>
            </a:solidFill>
            <a:prstDash val="solid"/>
          </a:ln>
        </p:spPr>
      </p:sp>
      <p:sp>
        <p:nvSpPr>
          <p:cNvPr id="8" name="tip-hex"/>
          <p:cNvSpPr/>
          <p:nvPr/>
        </p:nvSpPr>
        <p:spPr>
          <a:xfrm>
            <a:off x="685800" y="5131206"/>
            <a:ext cx="457200" cy="395935"/>
          </a:xfrm>
          <a:prstGeom prst="hexagon">
            <a:avLst/>
          </a:prstGeom>
          <a:solidFill>
            <a:srgbClr val="B8862B"/>
          </a:solidFill>
          <a:ln/>
        </p:spPr>
      </p:sp>
      <p:sp>
        <p:nvSpPr>
          <p:cNvPr id="9" name="tip-hex-label"/>
          <p:cNvSpPr txBox="1"/>
          <p:nvPr/>
        </p:nvSpPr>
        <p:spPr>
          <a:xfrm>
            <a:off x="685800" y="5131206"/>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568444"/>
            <a:ext cx="4206240" cy="1521460"/>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‘Residence’ means a home. Poison lives inside the healing plant. Hold this image until Act 5, when Romeo buys poison and Juliet drinks a medicine that looks like death.</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Within the infant rind of this weak flower / Poison hath residence and medicine power.</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2.3.23–24</a:t>
            </a:r>
            <a:endParaRPr lang="en-US" sz="2600" dirty="0"/>
          </a:p>
        </p:txBody>
      </p:sp>
      <p:sp>
        <p:nvSpPr>
          <p:cNvPr id="14" name="bullet-card"/>
          <p:cNvSpPr/>
          <p:nvPr/>
        </p:nvSpPr>
        <p:spPr>
          <a:xfrm>
            <a:off x="548640" y="1389888"/>
            <a:ext cx="5074920" cy="840232"/>
          </a:xfrm>
          <a:prstGeom prst="roundRect">
            <a:avLst>
              <a:gd name="adj" fmla="val 8706"/>
            </a:avLst>
          </a:prstGeom>
          <a:solidFill>
            <a:srgbClr val="F2EFF4"/>
          </a:solidFill>
          <a:ln/>
        </p:spPr>
      </p:sp>
      <p:sp>
        <p:nvSpPr>
          <p:cNvPr id="15" name="bullet-hex"/>
          <p:cNvSpPr/>
          <p:nvPr/>
        </p:nvSpPr>
        <p:spPr>
          <a:xfrm>
            <a:off x="676656" y="1643711"/>
            <a:ext cx="384048" cy="332586"/>
          </a:xfrm>
          <a:prstGeom prst="hexagon">
            <a:avLst/>
          </a:prstGeom>
          <a:solidFill>
            <a:srgbClr val="5B3A7A"/>
          </a:solidFill>
          <a:ln/>
        </p:spPr>
      </p:sp>
      <p:sp>
        <p:nvSpPr>
          <p:cNvPr id="16" name="bullet"/>
          <p:cNvSpPr txBox="1"/>
          <p:nvPr/>
        </p:nvSpPr>
        <p:spPr>
          <a:xfrm>
            <a:off x="1143000" y="1389888"/>
            <a:ext cx="4389120" cy="84023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Foreshadowing is when a writer hints at events still to come.</a:t>
            </a:r>
            <a:endParaRPr lang="en-US" sz="2200" dirty="0"/>
          </a:p>
        </p:txBody>
      </p:sp>
      <p:sp>
        <p:nvSpPr>
          <p:cNvPr id="17" name="bullet-card"/>
          <p:cNvSpPr/>
          <p:nvPr/>
        </p:nvSpPr>
        <p:spPr>
          <a:xfrm>
            <a:off x="548640" y="2376424"/>
            <a:ext cx="5074920" cy="1862836"/>
          </a:xfrm>
          <a:prstGeom prst="roundRect">
            <a:avLst>
              <a:gd name="adj" fmla="val 3927"/>
            </a:avLst>
          </a:prstGeom>
          <a:solidFill>
            <a:srgbClr val="F2EFF4"/>
          </a:solidFill>
          <a:ln/>
        </p:spPr>
      </p:sp>
      <p:sp>
        <p:nvSpPr>
          <p:cNvPr id="18" name="bullet-hex"/>
          <p:cNvSpPr/>
          <p:nvPr/>
        </p:nvSpPr>
        <p:spPr>
          <a:xfrm>
            <a:off x="676656" y="3141549"/>
            <a:ext cx="384048" cy="332586"/>
          </a:xfrm>
          <a:prstGeom prst="hexagon">
            <a:avLst/>
          </a:prstGeom>
          <a:solidFill>
            <a:srgbClr val="B8862B"/>
          </a:solidFill>
          <a:ln/>
        </p:spPr>
      </p:sp>
      <p:sp>
        <p:nvSpPr>
          <p:cNvPr id="19" name="bullet"/>
          <p:cNvSpPr txBox="1"/>
          <p:nvPr/>
        </p:nvSpPr>
        <p:spPr>
          <a:xfrm>
            <a:off x="1143000" y="2376424"/>
            <a:ext cx="4389120" cy="186283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Romeo bounces in, in love with a new girl a day after weeping over Rosaline, the Friar teases him: young men's love lies in their eyes, not their hearts.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Nurse, the Friar and the clock (2.4–2.6)</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4EDDF"/>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Fire and gunpowder destroy each other the moment they meet, and ‘kiss’ turns the explosion into an image of the lovers.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These violent delights have violent ends / And in their triumph die, like fire and powder, / Which, as they kiss, consume.</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2.6.9–11</a:t>
            </a:r>
            <a:endParaRPr lang="en-US" sz="2600" dirty="0"/>
          </a:p>
        </p:txBody>
      </p:sp>
      <p:sp>
        <p:nvSpPr>
          <p:cNvPr id="14" name="bullet-card"/>
          <p:cNvSpPr/>
          <p:nvPr/>
        </p:nvSpPr>
        <p:spPr>
          <a:xfrm>
            <a:off x="548640" y="1389888"/>
            <a:ext cx="5074920" cy="2172716"/>
          </a:xfrm>
          <a:prstGeom prst="roundRect">
            <a:avLst>
              <a:gd name="adj" fmla="val 3367"/>
            </a:avLst>
          </a:prstGeom>
          <a:solidFill>
            <a:srgbClr val="F2EFF4"/>
          </a:solidFill>
          <a:ln/>
        </p:spPr>
      </p:sp>
      <p:sp>
        <p:nvSpPr>
          <p:cNvPr id="15" name="bullet-hex"/>
          <p:cNvSpPr/>
          <p:nvPr/>
        </p:nvSpPr>
        <p:spPr>
          <a:xfrm>
            <a:off x="676656" y="2309953"/>
            <a:ext cx="384048" cy="332586"/>
          </a:xfrm>
          <a:prstGeom prst="hexagon">
            <a:avLst/>
          </a:prstGeom>
          <a:solidFill>
            <a:srgbClr val="5B3A7A"/>
          </a:solidFill>
          <a:ln/>
        </p:spPr>
      </p:sp>
      <p:sp>
        <p:nvSpPr>
          <p:cNvPr id="16" name="bullet"/>
          <p:cNvSpPr txBox="1"/>
          <p:nvPr/>
        </p:nvSpPr>
        <p:spPr>
          <a:xfrm>
            <a:off x="1143000" y="1389888"/>
            <a:ext cx="4389120" cy="217271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Nurse brings comedy. Her humour is bawdy, full of innuendo and double entendre, phrases with a second, often sexual, meaning, which Shakespeare usually gives to lower-class characters.</a:t>
            </a:r>
            <a:endParaRPr lang="en-US" sz="2200" dirty="0"/>
          </a:p>
        </p:txBody>
      </p:sp>
      <p:sp>
        <p:nvSpPr>
          <p:cNvPr id="17" name="bullet-card"/>
          <p:cNvSpPr/>
          <p:nvPr/>
        </p:nvSpPr>
        <p:spPr>
          <a:xfrm>
            <a:off x="548640" y="3708908"/>
            <a:ext cx="5074920" cy="809244"/>
          </a:xfrm>
          <a:prstGeom prst="roundRect">
            <a:avLst>
              <a:gd name="adj" fmla="val 9040"/>
            </a:avLst>
          </a:prstGeom>
          <a:solidFill>
            <a:srgbClr val="F2EFF4"/>
          </a:solidFill>
          <a:ln/>
        </p:spPr>
      </p:sp>
      <p:sp>
        <p:nvSpPr>
          <p:cNvPr id="18" name="bullet-hex"/>
          <p:cNvSpPr/>
          <p:nvPr/>
        </p:nvSpPr>
        <p:spPr>
          <a:xfrm>
            <a:off x="676656" y="3947237"/>
            <a:ext cx="384048" cy="332586"/>
          </a:xfrm>
          <a:prstGeom prst="hexagon">
            <a:avLst/>
          </a:prstGeom>
          <a:solidFill>
            <a:srgbClr val="B8862B"/>
          </a:solidFill>
          <a:ln/>
        </p:spPr>
      </p:sp>
      <p:sp>
        <p:nvSpPr>
          <p:cNvPr id="19" name="bullet"/>
          <p:cNvSpPr txBox="1"/>
          <p:nvPr/>
        </p:nvSpPr>
        <p:spPr>
          <a:xfrm>
            <a:off x="1143000" y="3708908"/>
            <a:ext cx="4389120" cy="80924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Act 2 Scene 6 is the wedding, and even here the Friar is uneasy.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5B3A7A"/>
                </a:solidFill>
                <a:latin typeface="Cambria" pitchFamily="34" charset="0"/>
                <a:ea typeface="Cambria" pitchFamily="34" charset="-122"/>
                <a:cs typeface="Cambria" pitchFamily="34" charset="-120"/>
              </a:rPr>
              <a:t>The hot afternoon: Mercutio and the peripeteia (3.1)</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4EDDF"/>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Mercutio jokes until he dies, which is why the comedy stops with him. After this scene nobody in the play laughs.</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EFEBF2"/>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Ask for me tomorrow, and you shall find me a grave man.</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3.1.100–101</a:t>
            </a:r>
            <a:endParaRPr lang="en-US" sz="2600" dirty="0"/>
          </a:p>
        </p:txBody>
      </p:sp>
      <p:sp>
        <p:nvSpPr>
          <p:cNvPr id="14" name="bullet-card"/>
          <p:cNvSpPr/>
          <p:nvPr/>
        </p:nvSpPr>
        <p:spPr>
          <a:xfrm>
            <a:off x="548640" y="1389888"/>
            <a:ext cx="5074920" cy="948690"/>
          </a:xfrm>
          <a:prstGeom prst="roundRect">
            <a:avLst>
              <a:gd name="adj" fmla="val 7711"/>
            </a:avLst>
          </a:prstGeom>
          <a:solidFill>
            <a:srgbClr val="F2EFF4"/>
          </a:solidFill>
          <a:ln/>
        </p:spPr>
      </p:sp>
      <p:sp>
        <p:nvSpPr>
          <p:cNvPr id="15" name="bullet-hex"/>
          <p:cNvSpPr/>
          <p:nvPr/>
        </p:nvSpPr>
        <p:spPr>
          <a:xfrm>
            <a:off x="676656" y="1697940"/>
            <a:ext cx="384048" cy="332586"/>
          </a:xfrm>
          <a:prstGeom prst="hexagon">
            <a:avLst/>
          </a:prstGeom>
          <a:solidFill>
            <a:srgbClr val="5B3A7A"/>
          </a:solidFill>
          <a:ln/>
        </p:spPr>
      </p:sp>
      <p:sp>
        <p:nvSpPr>
          <p:cNvPr id="16" name="bullet"/>
          <p:cNvSpPr txBox="1"/>
          <p:nvPr/>
        </p:nvSpPr>
        <p:spPr>
          <a:xfrm>
            <a:off x="1143000" y="1389888"/>
            <a:ext cx="4389120"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Peripeteia is a sudden reversal of fortune. Act 3 Scene 1 is the play's.</a:t>
            </a:r>
            <a:endParaRPr lang="en-US" sz="2200" dirty="0"/>
          </a:p>
        </p:txBody>
      </p:sp>
      <p:sp>
        <p:nvSpPr>
          <p:cNvPr id="17" name="bullet-card"/>
          <p:cNvSpPr/>
          <p:nvPr/>
        </p:nvSpPr>
        <p:spPr>
          <a:xfrm>
            <a:off x="548640" y="2484882"/>
            <a:ext cx="5074920" cy="2312162"/>
          </a:xfrm>
          <a:prstGeom prst="roundRect">
            <a:avLst>
              <a:gd name="adj" fmla="val 3164"/>
            </a:avLst>
          </a:prstGeom>
          <a:solidFill>
            <a:srgbClr val="F2EFF4"/>
          </a:solidFill>
          <a:ln/>
        </p:spPr>
      </p:sp>
      <p:sp>
        <p:nvSpPr>
          <p:cNvPr id="18" name="bullet-hex"/>
          <p:cNvSpPr/>
          <p:nvPr/>
        </p:nvSpPr>
        <p:spPr>
          <a:xfrm>
            <a:off x="676656" y="3474670"/>
            <a:ext cx="384048" cy="332586"/>
          </a:xfrm>
          <a:prstGeom prst="hexagon">
            <a:avLst/>
          </a:prstGeom>
          <a:solidFill>
            <a:srgbClr val="B8862B"/>
          </a:solidFill>
          <a:ln/>
        </p:spPr>
      </p:sp>
      <p:sp>
        <p:nvSpPr>
          <p:cNvPr id="19" name="bullet"/>
          <p:cNvSpPr txBox="1"/>
          <p:nvPr/>
        </p:nvSpPr>
        <p:spPr>
          <a:xfrm>
            <a:off x="1143000" y="2484882"/>
            <a:ext cx="4389120" cy="231216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Mercutio draws, and under Romeo's arm Tybalt stabs him. Even dying he puns: ask for him tomorrow and you shall find him a grave man, where grave means both serious and buried.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What the Friar's lines foreshadow</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of Friar Lawrence's lines from Act 2 Scene 3 to what it foreshadows.</a:t>
            </a:r>
            <a:endParaRPr lang="en-US" sz="2400" dirty="0"/>
          </a:p>
        </p:txBody>
      </p:sp>
      <p:sp>
        <p:nvSpPr>
          <p:cNvPr id="11" name="match-card"/>
          <p:cNvSpPr/>
          <p:nvPr/>
        </p:nvSpPr>
        <p:spPr>
          <a:xfrm>
            <a:off x="777240" y="2672080"/>
            <a:ext cx="5135728" cy="810768"/>
          </a:xfrm>
          <a:prstGeom prst="roundRect">
            <a:avLst>
              <a:gd name="adj" fmla="val 9023"/>
            </a:avLst>
          </a:prstGeom>
          <a:solidFill>
            <a:srgbClr val="F2EFF4"/>
          </a:solidFill>
          <a:ln/>
        </p:spPr>
      </p:sp>
      <p:sp>
        <p:nvSpPr>
          <p:cNvPr id="12" name="match-hex"/>
          <p:cNvSpPr/>
          <p:nvPr/>
        </p:nvSpPr>
        <p:spPr>
          <a:xfrm>
            <a:off x="850392" y="2911171"/>
            <a:ext cx="384048" cy="332586"/>
          </a:xfrm>
          <a:prstGeom prst="hexagon">
            <a:avLst/>
          </a:prstGeom>
          <a:solidFill>
            <a:srgbClr val="5B3A7A"/>
          </a:solidFill>
          <a:ln/>
        </p:spPr>
      </p:sp>
      <p:sp>
        <p:nvSpPr>
          <p:cNvPr id="13" name="match-hex-label"/>
          <p:cNvSpPr txBox="1"/>
          <p:nvPr/>
        </p:nvSpPr>
        <p:spPr>
          <a:xfrm>
            <a:off x="850392" y="291117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“Poison hath residence and medicine power.”</a:t>
            </a:r>
            <a:endParaRPr lang="en-US" sz="1800" dirty="0"/>
          </a:p>
        </p:txBody>
      </p:sp>
      <p:sp>
        <p:nvSpPr>
          <p:cNvPr id="15" name="match-card"/>
          <p:cNvSpPr/>
          <p:nvPr/>
        </p:nvSpPr>
        <p:spPr>
          <a:xfrm>
            <a:off x="6278728" y="2672080"/>
            <a:ext cx="5135728" cy="810768"/>
          </a:xfrm>
          <a:prstGeom prst="roundRect">
            <a:avLst>
              <a:gd name="adj" fmla="val 9023"/>
            </a:avLst>
          </a:prstGeom>
          <a:solidFill>
            <a:srgbClr val="F6F0E6"/>
          </a:solidFill>
          <a:ln/>
        </p:spPr>
      </p:sp>
      <p:sp>
        <p:nvSpPr>
          <p:cNvPr id="16" name="match-hex"/>
          <p:cNvSpPr/>
          <p:nvPr/>
        </p:nvSpPr>
        <p:spPr>
          <a:xfrm>
            <a:off x="6351880" y="2911171"/>
            <a:ext cx="384048" cy="332586"/>
          </a:xfrm>
          <a:prstGeom prst="hexagon">
            <a:avLst/>
          </a:prstGeom>
          <a:solidFill>
            <a:srgbClr val="B8862B"/>
          </a:solidFill>
          <a:ln/>
        </p:spPr>
      </p:sp>
      <p:sp>
        <p:nvSpPr>
          <p:cNvPr id="17" name="match-hex-label"/>
          <p:cNvSpPr txBox="1"/>
          <p:nvPr/>
        </p:nvSpPr>
        <p:spPr>
          <a:xfrm>
            <a:off x="6351880" y="291117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sleeping potion that looks like death, and the poison Romeo buys</a:t>
            </a:r>
            <a:endParaRPr lang="en-US" sz="1800" dirty="0"/>
          </a:p>
        </p:txBody>
      </p:sp>
      <p:sp>
        <p:nvSpPr>
          <p:cNvPr id="19" name="match-card"/>
          <p:cNvSpPr/>
          <p:nvPr/>
        </p:nvSpPr>
        <p:spPr>
          <a:xfrm>
            <a:off x="777240" y="3574288"/>
            <a:ext cx="5135728" cy="583184"/>
          </a:xfrm>
          <a:prstGeom prst="roundRect">
            <a:avLst>
              <a:gd name="adj" fmla="val 12544"/>
            </a:avLst>
          </a:prstGeom>
          <a:solidFill>
            <a:srgbClr val="F2EFF4"/>
          </a:solidFill>
          <a:ln/>
        </p:spPr>
      </p:sp>
      <p:sp>
        <p:nvSpPr>
          <p:cNvPr id="20" name="match-hex"/>
          <p:cNvSpPr/>
          <p:nvPr/>
        </p:nvSpPr>
        <p:spPr>
          <a:xfrm>
            <a:off x="850392" y="3699587"/>
            <a:ext cx="384048" cy="332586"/>
          </a:xfrm>
          <a:prstGeom prst="hexagon">
            <a:avLst/>
          </a:prstGeom>
          <a:solidFill>
            <a:srgbClr val="5B3A7A"/>
          </a:solidFill>
          <a:ln/>
        </p:spPr>
      </p:sp>
      <p:sp>
        <p:nvSpPr>
          <p:cNvPr id="21" name="match-hex-label"/>
          <p:cNvSpPr txBox="1"/>
          <p:nvPr/>
        </p:nvSpPr>
        <p:spPr>
          <a:xfrm>
            <a:off x="850392" y="369958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74288"/>
            <a:ext cx="4541368" cy="5831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“Virtue itself turns vice, being misapplied,”</a:t>
            </a:r>
            <a:endParaRPr lang="en-US" sz="1800" dirty="0"/>
          </a:p>
        </p:txBody>
      </p:sp>
      <p:sp>
        <p:nvSpPr>
          <p:cNvPr id="23" name="match-card"/>
          <p:cNvSpPr/>
          <p:nvPr/>
        </p:nvSpPr>
        <p:spPr>
          <a:xfrm>
            <a:off x="6278728" y="3574288"/>
            <a:ext cx="5135728" cy="583184"/>
          </a:xfrm>
          <a:prstGeom prst="roundRect">
            <a:avLst>
              <a:gd name="adj" fmla="val 12544"/>
            </a:avLst>
          </a:prstGeom>
          <a:solidFill>
            <a:srgbClr val="F6F0E6"/>
          </a:solidFill>
          <a:ln/>
        </p:spPr>
      </p:sp>
      <p:sp>
        <p:nvSpPr>
          <p:cNvPr id="24" name="match-hex"/>
          <p:cNvSpPr/>
          <p:nvPr/>
        </p:nvSpPr>
        <p:spPr>
          <a:xfrm>
            <a:off x="6351880" y="3699587"/>
            <a:ext cx="384048" cy="332586"/>
          </a:xfrm>
          <a:prstGeom prst="hexagon">
            <a:avLst/>
          </a:prstGeom>
          <a:solidFill>
            <a:srgbClr val="B8862B"/>
          </a:solidFill>
          <a:ln/>
        </p:spPr>
      </p:sp>
      <p:sp>
        <p:nvSpPr>
          <p:cNvPr id="25" name="match-hex-label"/>
          <p:cNvSpPr txBox="1"/>
          <p:nvPr/>
        </p:nvSpPr>
        <p:spPr>
          <a:xfrm>
            <a:off x="6351880" y="369958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574288"/>
            <a:ext cx="4541368" cy="5831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Friar's good intentions leading to disaster</a:t>
            </a:r>
            <a:endParaRPr lang="en-US" sz="1800" dirty="0"/>
          </a:p>
        </p:txBody>
      </p:sp>
      <p:sp>
        <p:nvSpPr>
          <p:cNvPr id="27" name="match-card"/>
          <p:cNvSpPr/>
          <p:nvPr/>
        </p:nvSpPr>
        <p:spPr>
          <a:xfrm>
            <a:off x="777240" y="4248912"/>
            <a:ext cx="5135728" cy="810768"/>
          </a:xfrm>
          <a:prstGeom prst="roundRect">
            <a:avLst>
              <a:gd name="adj" fmla="val 9023"/>
            </a:avLst>
          </a:prstGeom>
          <a:solidFill>
            <a:srgbClr val="F2EFF4"/>
          </a:solidFill>
          <a:ln/>
        </p:spPr>
      </p:sp>
      <p:sp>
        <p:nvSpPr>
          <p:cNvPr id="28" name="match-hex"/>
          <p:cNvSpPr/>
          <p:nvPr/>
        </p:nvSpPr>
        <p:spPr>
          <a:xfrm>
            <a:off x="850392" y="4488003"/>
            <a:ext cx="384048" cy="332586"/>
          </a:xfrm>
          <a:prstGeom prst="hexagon">
            <a:avLst/>
          </a:prstGeom>
          <a:solidFill>
            <a:srgbClr val="5B3A7A"/>
          </a:solidFill>
          <a:ln/>
        </p:spPr>
      </p:sp>
      <p:sp>
        <p:nvSpPr>
          <p:cNvPr id="29" name="match-hex-label"/>
          <p:cNvSpPr txBox="1"/>
          <p:nvPr/>
        </p:nvSpPr>
        <p:spPr>
          <a:xfrm>
            <a:off x="850392" y="448800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48912"/>
            <a:ext cx="4541368"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“Young men's love, then, lies / Not truly in their hearts but in their eyes.”</a:t>
            </a:r>
            <a:endParaRPr lang="en-US" sz="1800" dirty="0"/>
          </a:p>
        </p:txBody>
      </p:sp>
      <p:sp>
        <p:nvSpPr>
          <p:cNvPr id="31" name="match-card"/>
          <p:cNvSpPr/>
          <p:nvPr/>
        </p:nvSpPr>
        <p:spPr>
          <a:xfrm>
            <a:off x="6278728" y="4248912"/>
            <a:ext cx="5135728" cy="810768"/>
          </a:xfrm>
          <a:prstGeom prst="roundRect">
            <a:avLst>
              <a:gd name="adj" fmla="val 9023"/>
            </a:avLst>
          </a:prstGeom>
          <a:solidFill>
            <a:srgbClr val="F6F0E6"/>
          </a:solidFill>
          <a:ln/>
        </p:spPr>
      </p:sp>
      <p:sp>
        <p:nvSpPr>
          <p:cNvPr id="32" name="match-hex"/>
          <p:cNvSpPr/>
          <p:nvPr/>
        </p:nvSpPr>
        <p:spPr>
          <a:xfrm>
            <a:off x="6351880" y="4488003"/>
            <a:ext cx="384048" cy="332586"/>
          </a:xfrm>
          <a:prstGeom prst="hexagon">
            <a:avLst/>
          </a:prstGeom>
          <a:solidFill>
            <a:srgbClr val="B8862B"/>
          </a:solidFill>
          <a:ln/>
        </p:spPr>
      </p:sp>
      <p:sp>
        <p:nvSpPr>
          <p:cNvPr id="33" name="match-hex-label"/>
          <p:cNvSpPr txBox="1"/>
          <p:nvPr/>
        </p:nvSpPr>
        <p:spPr>
          <a:xfrm>
            <a:off x="6351880" y="448800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248912"/>
            <a:ext cx="4541368"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Rushing into marriage will end badly</a:t>
            </a:r>
            <a:endParaRPr lang="en-US" sz="1800" dirty="0"/>
          </a:p>
        </p:txBody>
      </p:sp>
      <p:sp>
        <p:nvSpPr>
          <p:cNvPr id="35" name="match-card"/>
          <p:cNvSpPr/>
          <p:nvPr/>
        </p:nvSpPr>
        <p:spPr>
          <a:xfrm>
            <a:off x="777240" y="5151120"/>
            <a:ext cx="5135728" cy="810768"/>
          </a:xfrm>
          <a:prstGeom prst="roundRect">
            <a:avLst>
              <a:gd name="adj" fmla="val 9023"/>
            </a:avLst>
          </a:prstGeom>
          <a:solidFill>
            <a:srgbClr val="F2EFF4"/>
          </a:solidFill>
          <a:ln/>
        </p:spPr>
      </p:sp>
      <p:sp>
        <p:nvSpPr>
          <p:cNvPr id="36" name="match-hex"/>
          <p:cNvSpPr/>
          <p:nvPr/>
        </p:nvSpPr>
        <p:spPr>
          <a:xfrm>
            <a:off x="850392" y="5390211"/>
            <a:ext cx="384048" cy="332586"/>
          </a:xfrm>
          <a:prstGeom prst="hexagon">
            <a:avLst/>
          </a:prstGeom>
          <a:solidFill>
            <a:srgbClr val="5B3A7A"/>
          </a:solidFill>
          <a:ln/>
        </p:spPr>
      </p:sp>
      <p:sp>
        <p:nvSpPr>
          <p:cNvPr id="37" name="match-hex-label"/>
          <p:cNvSpPr txBox="1"/>
          <p:nvPr/>
        </p:nvSpPr>
        <p:spPr>
          <a:xfrm>
            <a:off x="850392" y="539021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1120"/>
            <a:ext cx="4541368"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“Wisely and slow. They stumble that run fast.”</a:t>
            </a:r>
            <a:endParaRPr lang="en-US" sz="1800" dirty="0"/>
          </a:p>
        </p:txBody>
      </p:sp>
      <p:sp>
        <p:nvSpPr>
          <p:cNvPr id="39" name="match-card"/>
          <p:cNvSpPr/>
          <p:nvPr/>
        </p:nvSpPr>
        <p:spPr>
          <a:xfrm>
            <a:off x="6278728" y="5151120"/>
            <a:ext cx="5135728" cy="810768"/>
          </a:xfrm>
          <a:prstGeom prst="roundRect">
            <a:avLst>
              <a:gd name="adj" fmla="val 9023"/>
            </a:avLst>
          </a:prstGeom>
          <a:solidFill>
            <a:srgbClr val="F6F0E6"/>
          </a:solidFill>
          <a:ln/>
        </p:spPr>
      </p:sp>
      <p:sp>
        <p:nvSpPr>
          <p:cNvPr id="40" name="match-hex"/>
          <p:cNvSpPr/>
          <p:nvPr/>
        </p:nvSpPr>
        <p:spPr>
          <a:xfrm>
            <a:off x="6351880" y="5390211"/>
            <a:ext cx="384048" cy="332586"/>
          </a:xfrm>
          <a:prstGeom prst="hexagon">
            <a:avLst/>
          </a:prstGeom>
          <a:solidFill>
            <a:srgbClr val="B8862B"/>
          </a:solidFill>
          <a:ln/>
        </p:spPr>
      </p:sp>
      <p:sp>
        <p:nvSpPr>
          <p:cNvPr id="41" name="match-hex-label"/>
          <p:cNvSpPr txBox="1"/>
          <p:nvPr/>
        </p:nvSpPr>
        <p:spPr>
          <a:xfrm>
            <a:off x="6351880" y="539021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151120"/>
            <a:ext cx="4541368" cy="81076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Romeo's impulsiveness will be his downfall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What the Friar's lines foreshadow</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of Friar Lawrence's lines from Act 2 Scene 3 to what it foreshadows.</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FEB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line and put it into your own words first.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later event does this sound like?</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Poison points to Act 5; ‘misapplied’ virtue points to the plan; eyes points to Romeo's haste; stumbling points to the wedding.</a:t>
            </a:r>
            <a:endParaRPr lang="en-US" sz="1800" dirty="0"/>
          </a:p>
        </p:txBody>
      </p:sp>
      <p:sp>
        <p:nvSpPr>
          <p:cNvPr id="17" name="col-Core"/>
          <p:cNvSpPr/>
          <p:nvPr/>
        </p:nvSpPr>
        <p:spPr>
          <a:xfrm>
            <a:off x="4338218" y="2593848"/>
            <a:ext cx="3515258" cy="3550920"/>
          </a:xfrm>
          <a:prstGeom prst="roundRect">
            <a:avLst>
              <a:gd name="adj" fmla="val 1561"/>
            </a:avLst>
          </a:prstGeom>
          <a:solidFill>
            <a:srgbClr val="DBD4E2"/>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lines are about objects (plants, eyes) and two are about behaviour (misusing good, running fast).</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5B3A7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Friar sees the danger clearly and still performs the wedding. In two sentences, argue whether that makes him wise, weak or complicit.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Dramatic irony in the fight scene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Romeo tells Tybalt that the reason he has to love him excuses the rage a greeting like Tybalt's deserves. Why is this moment dramatic irony?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Because the audience knows Romeo has just married Tybalt's cousin, but Tybalt and Mercutio do not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Because Romeo is lying about loving Tybalt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Because Tybalt secretly knows about the wedding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Because Mercutio has already told Tybalt the truth</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Dramatic irony in the fight scene</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Romeo tells Tybalt that the reason he has to love him excuses the rage a greeting like Tybalt's deserves. Why is this moment dramatic irony?</a:t>
            </a:r>
            <a:endParaRPr lang="en-US" sz="2000" dirty="0"/>
          </a:p>
        </p:txBody>
      </p:sp>
      <p:sp>
        <p:nvSpPr>
          <p:cNvPr id="12" name="col-Support"/>
          <p:cNvSpPr/>
          <p:nvPr/>
        </p:nvSpPr>
        <p:spPr>
          <a:xfrm>
            <a:off x="548640" y="2593848"/>
            <a:ext cx="3515258" cy="3550920"/>
          </a:xfrm>
          <a:prstGeom prst="roundRect">
            <a:avLst>
              <a:gd name="adj" fmla="val 1561"/>
            </a:avLst>
          </a:prstGeom>
          <a:solidFill>
            <a:srgbClr val="EFEBF2"/>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3240938"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dramatic irony is when the audience knows something a character does not.</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did the audience watch happen in Act 2 Scene 6?</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does Tybalt know any of that? Does Mercutio?</a:t>
            </a:r>
            <a:endParaRPr lang="en-US" sz="1800" dirty="0"/>
          </a:p>
        </p:txBody>
      </p:sp>
      <p:sp>
        <p:nvSpPr>
          <p:cNvPr id="17" name="col-Core"/>
          <p:cNvSpPr/>
          <p:nvPr/>
        </p:nvSpPr>
        <p:spPr>
          <a:xfrm>
            <a:off x="4338218" y="2593848"/>
            <a:ext cx="3515258" cy="3550920"/>
          </a:xfrm>
          <a:prstGeom prst="roundRect">
            <a:avLst>
              <a:gd name="adj" fmla="val 1561"/>
            </a:avLst>
          </a:prstGeom>
          <a:solidFill>
            <a:srgbClr val="DBD4E2"/>
          </a:solidFill>
          <a:ln/>
        </p:spPr>
      </p:sp>
      <p:sp>
        <p:nvSpPr>
          <p:cNvPr id="18" name="col-hex"/>
          <p:cNvSpPr/>
          <p:nvPr/>
        </p:nvSpPr>
        <p:spPr>
          <a:xfrm>
            <a:off x="444794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Who knows about the wedding at this point: the audience, Tybalt, Mercutio, or all three?</a:t>
            </a:r>
            <a:endParaRPr lang="en-US" sz="1800" dirty="0"/>
          </a:p>
        </p:txBody>
      </p:sp>
      <p:sp>
        <p:nvSpPr>
          <p:cNvPr id="22" name="col-Stretch"/>
          <p:cNvSpPr/>
          <p:nvPr/>
        </p:nvSpPr>
        <p:spPr>
          <a:xfrm>
            <a:off x="8127797" y="2593848"/>
            <a:ext cx="3515258" cy="3550920"/>
          </a:xfrm>
          <a:prstGeom prst="roundRect">
            <a:avLst>
              <a:gd name="adj" fmla="val 1561"/>
            </a:avLst>
          </a:prstGeom>
          <a:solidFill>
            <a:srgbClr val="5B3A7A"/>
          </a:solidFill>
          <a:ln/>
        </p:spPr>
      </p:sp>
      <p:sp>
        <p:nvSpPr>
          <p:cNvPr id="23" name="col-hex"/>
          <p:cNvSpPr/>
          <p:nvPr/>
        </p:nvSpPr>
        <p:spPr>
          <a:xfrm>
            <a:off x="8237525"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3042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33928"/>
            <a:ext cx="3240938"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code of hegemonic masculinity from Act 1 Scene 1 turns Romeo's secret into a fatal problem in this scene.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an example of foreshadowing in Act 2 Scene 3?</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Friar agrees to perform the wedding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Romeo asks what time it is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Friar says that poison and medicine live in the same flower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Romeo tells the Friar he loves Juliet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1F6"/>
          </a:solidFill>
          <a:ln w="12700">
            <a:solidFill>
              <a:srgbClr val="AD9DB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What the Friar's lines foreshadow</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“Poison hath residence and medicine power.”  →  A  The sleeping potion that looks like death, and the poison Romeo buys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“Virtue itself turns vice, being misapplied,”  →  B  The Friar's good intentions leading to disaster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“Young men's love, then, lies / Not truly in their hearts but in their eyes.”  →  D  Romeo's impulsiveness will be his downfall</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“Wisely and slow. They stumble that run fast.”  →  C  Rushing into marriage will end badly</a:t>
            </a:r>
            <a:endParaRPr lang="en-US" sz="20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quote explosion found these four lines. Each is a hint the audience hears and the characters ignore, which is how Shakespeare builds dramatic irony across the play.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Dramatic irony in the fight scene</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Romeo tells Tybalt that the reason he has to love him excuses the rage a greeting like Tybalt's deserves. Why is this moment dramatic irony?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Because the audience knows Romeo has just married Tybalt's cousin, but Tybalt and Mercutio do not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Romeo is being kind for a reason only we understand. Tybalt hears mockery, Mercutio sees cowardice, and Mercutio draws his sword to defend an honour Romeo has not lost. The gap between what we know and what they know kills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an example of foreshadowing in Act 2 Scene 3?</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Friar says that poison and medicine live in the same flower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EBF2"/>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flower that is both poison and medicine points forward to the sleeping potion and to Romeo's poison in Act 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FEBF2"/>
      </a:lt2>
      <a:accent1>
        <a:srgbClr val="5B3A7A"/>
      </a:accent1>
      <a:accent2>
        <a:srgbClr val="B8862B"/>
      </a:accent2>
      <a:accent3>
        <a:srgbClr val="9D89AF"/>
      </a:accent3>
      <a:accent4>
        <a:srgbClr val="815E1E"/>
      </a:accent4>
      <a:accent5>
        <a:srgbClr val="4A505C"/>
      </a:accent5>
      <a:accent6>
        <a:srgbClr val="DCC395"/>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Romeo and Juliet · Chapter 4: Warnings, haste and the turning point (Act 2, Scenes 3–6 and Act 3, Scene 1)</dc:title>
  <dc:subject>English Literature · Year 9</dc:subject>
  <dc:creator>Dr Vitor Merissi de Carvalho</dc:creator>
  <cp:lastModifiedBy>Dr Vitor Merissi de Carvalho</cp:lastModifiedBy>
  <cp:revision>1</cp:revision>
  <dcterms:created xsi:type="dcterms:W3CDTF">2026-10-19T06:07:32Z</dcterms:created>
  <dcterms:modified xsi:type="dcterms:W3CDTF">2026-10-19T06:07:32Z</dcterms:modified>
</cp:coreProperties>
</file>