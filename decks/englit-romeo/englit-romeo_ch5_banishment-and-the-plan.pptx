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e92185b-bead-3e0c-ddae-91c72da45aad}">
          <p14:sldIdLst>
            <p14:sldId id="256"/>
          </p14:sldIdLst>
        </p14:section>
        <p14:section name="Gate" id="{db7389a6-4543-f419-f59f-ec2ce898a72e}">
          <p14:sldIdLst>
            <p14:sldId id="257"/>
            <p14:sldId id="258"/>
          </p14:sldIdLst>
        </p14:section>
        <p14:section name="Pre-teach" id="{e4f89043-e73a-34a0-212f-29b71a365cd6}">
          <p14:sldIdLst>
            <p14:sldId id="259"/>
            <p14:sldId id="260"/>
          </p14:sldIdLst>
        </p14:section>
        <p14:section name="Read-along" id="{4698f6f6-c867-63a6-1f22-bdc3f2f2467f}">
          <p14:sldIdLst>
            <p14:sldId id="261"/>
            <p14:sldId id="262"/>
          </p14:sldIdLst>
        </p14:section>
        <p14:section name="Teach" id="{428a15c2-1f6f-818d-36d7-5395af0427b2}">
          <p14:sldIdLst>
            <p14:sldId id="263"/>
            <p14:sldId id="264"/>
            <p14:sldId id="265"/>
          </p14:sldIdLst>
        </p14:section>
        <p14:section name="Routes" id="{e746f771-7a3d-bba5-7127-10361f41e2f5}">
          <p14:sldIdLst>
            <p14:sldId id="266"/>
            <p14:sldId id="267"/>
            <p14:sldId id="268"/>
            <p14:sldId id="269"/>
          </p14:sldIdLst>
        </p14:section>
        <p14:section name="Close" id="{7866fef0-5032-8867-e7f8-6b2330fb51dc}">
          <p14:sldIdLst>
            <p14:sldId id="270"/>
          </p14:sldIdLst>
        </p14:section>
        <p14:section name="Answers" id="{c293fd48-8fe8-b265-578c-1446ced5081c}">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Banishment, a father's fury and a desperate plan (Act 3, Scenes 2–5 and Act 4). This chapter shows you Juliet torn in two, Lord Capulet turning on his daughter, and the Friar's plan that looks clever and goes wrong.
This deck covers the department's lessons: 13 (Act 3 Scenes 2–3: Juliet's conflicting feelings: How does Shakespeare present different characters' reactions to Romeo's banishment?); 14 (Act 3 Scenes 4–5: Juliet refuses to marry Paris: How has Lord Capulet's character and attitude changed in Act 3 Scene 5?); 15 (Act 4 Scenes 1–2: Friar Lawrence's plan: Can I explore how the Friar's plan contributes to the tragedy of the play?); 16 (Act 4 Scene 5: Juliet's ‘death’: How does each character react to Juliet's ‘death’?).
Read the big question aloud: "How does Shakespeare turn a love story into a tragedy, and were the lovers' deaths written in the stars or chosen by the people on stage?"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Juliet calls Romeo a ‘beautiful tyrant’. Two opposite words placed together like this make an ___.  →  oxymoron
2. For how many hours does Friar Lawrence say Juliet will seem dead after drinking the potion?  →  42 hours
3. Why would marrying Paris be a sin for Juliet?  →  B   Because she is already married to Romeo, so it would be bigamy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oxymoron. An oxymoron is a two-word contradiction. Here it shows Juliet's conflicting feelings about the man she loves who has killed her cousin.
2. 42 hours. The Friar says she will continue two and forty hours, which is 42. The timing is what the letter to Romeo depends on.
3. B   Because she is already married to Romeo, so it would be bigamy. Juliet is secretly married. Bigamy, marrying while already married, was a sin in the eyes of the church and a crime in law.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oxymoron: two opposite words put together. Example: "‘Beautiful tyrant’ is an oxymoron."
• turmoil: confusion and great worry. Example: "Juliet is in turmoil when she hears Tybalt is dead."
• oppressive: cruel and controlling. Example: "Lord Capulet becomes oppressive when Juliet says no."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bigamy: marrying someone while already married. Example: "Marrying Paris would be bigamy, because Juliet already has a husband."
• lament: to cry out in grief. Example: "The Nurse laments when she finds Juliet's body."
• despair: the complete loss of hope. Example: "Juliet turns to the Friar in despair."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Juliet waits for her wedding night, not knowing about the fight.
2. The Nurse brings terrible news: Tybalt is dead and Romeo is banished.
3. Juliet does not know whether to love Romeo or hate him.
4. Romeo hides with the Friar and weeps.
5. He says banishment is worse than death.
6. The Friar tells him to visit Juliet, then flee to Mantua.
7. That night, Lord Capulet promises Juliet to Paris on Thursday.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Juliet refuses, and her father explodes with rage.
9. He calls her names and threatens to throw her out.
10. Her mother and even the Nurse will not help her.
11. Juliet runs to the Friar, who gives her a potion.
12. It will make her look dead for forty-two hours.
13. The Friar will write to Romeo to explain the plan.
14. On the wedding morning, the Nurse finds Juliet cold and still.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Torn in two: oxymorons and banishment (3.2–3.3). Say it in your own words, then check understanding with a quick question: ask a pupil from the pre-teach group first, since they met these words and ideas before the lesson. Pupils try to recall before you re-explain.
Juliet opens Act 3 Scene 2 longing for night and her new husband. Then the Nurse brings the news in such a muddle that Juliet first thinks Romeo is dead. When she learns the truth, that Romeo killed Tybalt, her feelings collide. Shakespeare gives her a string of oxymorons, pairs of opposite words forced together: Romeo is a beautiful tyrant, a fiend angelical, a dove-feathered raven. The clash of words is the clash inside her. Within moments she chooses Romeo, and she says the single word banished is worse than ten thousand Tybalts slain.
In the Friar's cell, Romeo hears his sentence and calls banishment a kinder word for death, because there is no world outside Verona's walls but purgatory, torture, hell itself. Purgatory, in Catholic belief, is a place of waiting and punishment between earth and heaven, and Verona is a Catholic city. The Friar, pessimistic about Romeo's wild grief, scolds him for behaving like a woman and sends him to Juliet for the night, then on to Mantua until the marriage can be made public. Romeo's woeful, melodramatic reaction is the uncontrolled passion that will prove to be his flaw.
Quotation: "Beautiful tyrant, fiend angelical! / Dove-feathered raven, wolvish-ravening lamb!" (3.2.81–82). Read it aloud; ask what it shows.
Tip: Each oxymoron puts the Romeo she loves next to the Romeo who killed her cousin. Explode one: which half wins by the end of the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father transformed (3.4–3.5). Say it in your own words, then check understanding with a quick question: ask a pupil from the pre-teach group first, since they met these words and ideas before the lesson. Pupils try to recall before you re-explain.
In Act 3 Scene 4 Lord Capulet decides, without asking her, that Juliet will marry Paris on Thursday. He is sure she will be ruled in all respects by him. The audience has just watched her marry Romeo, so every confident word is dramatic irony. At dawn in Act 3 Scene 5 the lovers part, and Juliet has an ill-divining soul: looking down at Romeo, she seems to see him dead at the bottom of a tomb. This is foreshadowing; it is also the last time they see each other alive.
Then her mother brings the news, and Juliet refuses. The loving father of Act 1 Scene 2 is gone. Capulet asks whether she is not proud and does not give them thanks, calls her baggage and a disobedient wretch, says his fingers itch to strike her, and threatens to drag her to church on a hurdle or let her hang, beg, starve, die in the streets. To an Elizabethan audience a father's authority came from God, so his fury would seem harsh but not unthinkable. Lady Capulet refuses to help, and the Nurse advises her to marry Paris. Juliet is alone.
Quotation: "An you be mine, I'll give you to my friend. / An you be not, hang, beg, starve, die in the streets," (3.5.203–204). Read it aloud; ask what it shows.
Tip: Count the verbs: hang, beg, starve, die. The list gets worse with each word, and ‘give’ shows he thinks of her as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Friar's plan, and a house in mourning (4.1–4.5). Say it in your own words, then check understanding with a quick question: ask a pupil from the pre-teach group first, since they met these words and ideas before the lesson. Pupils try to recall before you re-explain.
Juliet runs to Friar Lawrence in despair. Marrying Paris would be bigamy, marrying one person while already married to another, which was a sin as well as a crime. She says she will stab herself rather than do it. The Friar, trusting his knowledge of plants, offers a plan: go home, be merry, consent to marry Paris, then, the night before the wedding, drink a potion that will make her seem dead for two and forty hours. She will be laid in the Capulet vault; he will send a letter to Romeo; both men will be there when she wakes, and Romeo will take her to Mantua.
In Act 4 Scene 2 Juliet plays her part so well that her father brings the wedding forward a day, which is dramatic irony again: the audience knows she is married and knows about the potion. On the wedding morning the Nurse finds her cold. Each character laments in turn: the Nurse's cries of woe, Capulet's image of death lying on his daughter like frost on a flower, Paris's grief, Lady Capulet's despair. Then Shakespeare turns the scene over to the musicians, who pun on the Nurse's words and squabble about money. The pitiful case is also an instrument case. The tone lurches from grief to farce, as if the play itself cannot decide what it is.
Quotation: "Death lies on her like an untimely frost / Upon the sweetest flower of all the field." (4.5.33–34). Read it aloud; ask what it shows.
Tip: ‘Untimely’ means too early. Frost in spring kills blossom before it can bear fruit, which is what the audience knows will happen to Juliet.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Capulet's lines in Act 3 Scene 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Lord Capulet's lines from Act 3 Scene 5 to what it shows about him.
Support — work through the steps with the group: (1) Spot the question mark: which line is a question? (2) Spot the insults: which line calls her names? (3) A hurdle was a frame on which criminals were dragged to execution; fingers that itch want to hit. (4) Match the key word in each line to its description.
Parallel worked example for Support (model it, do not give the task answer): Practice: in Act 3 Scene 4 Capulet says, “I think she will be ruled / In all respects by me.” What does this show? Find the key word: ‘ruled’.; Rulers rule subjects.; So he sees fatherhood as kingship over his daughter, and the audience knows he is wrong.. Answer: He sees himself as Juliet's ruler, and the audience, who know she is married, hear dramatic irony..
Core — reveal the hint only on request: The lines escalate: disbelief, then threat, then insult, then violence.
Stretch — no help; when finished: Set one of these lines against ‘My will to her consent is but a part’ from Act 1 Scene 2. In two sentences, explain what has changed and suggest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Capulet's lines in Act 3 Scene 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Lord Capulet's lines from Act 3 Scene 5 to what it shows about him.
Support — work through the steps with the group: (1) Spot the question mark: which line is a question? (2) Spot the insults: which line calls her names? (3) A hurdle was a frame on which criminals were dragged to execution; fingers that itch want to hit. (4) Match the key word in each line to its description.
Parallel worked example for Support (model it, do not give the task answer): Practice: in Act 3 Scene 4 Capulet says, “I think she will be ruled / In all respects by me.” What does this show? Find the key word: ‘ruled’.; Rulers rule subjects.; So he sees fatherhood as kingship over his daughter, and the audience knows he is wrong.. Answer: He sees himself as Juliet's ruler, and the audience, who know she is married, hear dramatic irony..
Core — reveal the hint only on request: The lines escalate: disbelief, then threat, then insult, then violence.
Stretch — no help; when finished: Set one of these lines against ‘My will to her consent is but a part’ from Act 1 Scene 2. In two sentences, explain what has changed and suggest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Lord Capulet is presented in Act 3 Scene 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Lord Capulet in Act 3 Scene 5? Write one What, How, Why paragraph.
Support — work through the steps with the group: (1) What: choose one adjective from the list and write a topic sentence with it. (2) How: pick a short quotation that proves it, name the method, and zoom in on one word (baggage, hurdle, itch, starve). (3) Why: say what this shows about Capulet, then link it to the power fathers held in a patriarchal society. (4) Challenge: add one sentence about Act 1 Scene 2 to show the change.
Parallel worked example for Support (model it, do not give the task answer): Practice question: how does Shakespeare present Lady Capulet in Act 3 Scene 5? What: Lady Capulet is cold and distant.; How: she refuses to speak for Juliet and tells her she has done with her.; Why: in a patriarchal household a mother had little power to oppose her husband, but her coldness also matches the formal distance we saw in Act 1 Scene 3.. Answer: Shakespeare presents Lady Capulet as cold and distant. When Juliet begs for help, her mother refuses to speak a word and tells her she has done with her, abandoning her daughter at the moment she most needs an ally. A mother in a patriarchal household had little power against her husband, but the coldness also continues the formal distance between them that we saw in Act 1 Scene 3, where Juliet called her ‘Madam’..
Core — reveal the hint only on request: Pick the adjective first, then the quotation that proves it. ‘Baggage’ and ‘give’ support oppressive; the hurdle and the itching fingers support callous or violent.
Stretch — no help; when finished: Argue the other side in one sentence: could an Elizabethan audience have sided with Capulet? Then decide what Shakespeare wants us to feel, and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Lord Capulet is presented in Act 3 Scene 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Lord Capulet in Act 3 Scene 5? Write one What, How, Why paragraph.
Support — work through the steps with the group: (1) What: choose one adjective from the list and write a topic sentence with it. (2) How: pick a short quotation that proves it, name the method, and zoom in on one word (baggage, hurdle, itch, starve). (3) Why: say what this shows about Capulet, then link it to the power fathers held in a patriarchal society. (4) Challenge: add one sentence about Act 1 Scene 2 to show the change.
Parallel worked example for Support (model it, do not give the task answer): Practice question: how does Shakespeare present Lady Capulet in Act 3 Scene 5? What: Lady Capulet is cold and distant.; How: she refuses to speak for Juliet and tells her she has done with her.; Why: in a patriarchal household a mother had little power to oppose her husband, but her coldness also matches the formal distance we saw in Act 1 Scene 3.. Answer: Shakespeare presents Lady Capulet as cold and distant. When Juliet begs for help, her mother refuses to speak a word and tells her she has done with her, abandoning her daughter at the moment she most needs an ally. A mother in a patriarchal household had little power against her husband, but the coldness also continues the formal distance between them that we saw in Act 1 Scene 3, where Juliet called her ‘Madam’..
Core — reveal the hint only on request: Pick the adjective first, then the quotation that proves it. ‘Baggage’ and ‘give’ support oppressive; the hurdle and the itching fingers support callous or violent.
Stretch — no help; when finished: Argue the other side in one sentence: could an Elizabethan audience have sided with Capulet? Then decide what Shakespeare wants us to feel, and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Act 4 Scene 2 Juliet tells her father she has met Paris at the Friar's cell and will marry him. Why is this moment dramatic irony?
Answer: B   Because the audience knows she is already married and is following the Friar's plan, but Capulet does not. Juliet's apology is a performance, and the audience watches her father reward a lie. The gap between what we know and what he knows makes her kneeling painful rather than comforting, and his happy decision to bring the wedding forward shortens the time the plan has to work.
Source of this question: module 3 task ("Dramatic irony in Act 4 Scene 2")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Capulet's lines in Act 3 Scene 5. Reveal the answer; pupils mark their own work in a different colour, then read the "why" together. Same destination for every lane, so one answer serves the whole class.
Answer: “How, will she none? Doth she not give us thanks?”  →  D  A rhetorical question: he cannot believe she would refuse a gift; “I will drag thee on a hurdle thither.”  →  C  Violent imagery: he treats her like a criminal taken to execution; “Hang thee, young baggage, disobedient wretch!”  →  A  Insults: she has become worthless property in his eyes; “My fingers itch.”  →  B  A threat of physical violence
Why: Your lesson exploded these quotations. Together they show Capulet moving from disbelief to violence in one speech, and they give you the after to set against the loving father of Act 1 Scene 2.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Lord Capulet is presented in Act 3 Scene 5. Reveal the answer; pupils mark their own work in a different colour, then read the "why" together. Same destination for every lane, so one answer serves the whole class.
Answer: What: a topic sentence with an adjective for Capulet (oppressive, callous, volatile, tyrannical); How: at least one short quotation from Act 3 Scene 5, embedded in your own sentence; How: you name a method (rhetorical question, imperative, insult, list) and zoom in on one word; Why: you link his behaviour to the power of fathers in a patriarchal Elizabethan society, and consider how the audience might react; Challenge: you link back to the loving father of Act 1 Scene 2 to show how he has changed
Why: Top answers choose an adjective, prove it with a short quotation, analyse one word, and link it to the power of fathers. The strongest also set the scene against Act 1 Scene 2 so the change is visible.
Model answer: Shakespeare presents Lord Capulet as oppressive and callous in Act 3 Scene 5. When Juliet refuses Paris he threatens, “Hang thee, young baggage, disobedient wretch!”, and the noun ‘baggage’ reduces his daughter to luggage, something owned and carried about. The adjective ‘disobedient’ shows what matters to him: not her happiness but her obedience. In a patriarchal Elizabethan society a father's authority came from God, so many in the audience would have expected Juliet to submit; yet Shakespeare has shown us the same man in Act 1 Scene 2 saying his will to her consent was only a part, so the change reads as a betrayal of his own words. The audience is left to judge whether he is cruel or simply doing what fathers did.
Success criteria: What: a topic sentence with an adjective for Capulet (oppressive, callous, volatile, tyrannical); How: at least one short quotation from Act 3 Scene 5, embedded in your own sentence; How: you name a method (rhetorical question, imperative, insult, list) and zoom in on one word; Why: you link his behaviour to the power of fathers in a patriarchal Elizabethan society, and consider how the audience might react; Challenge: you link back to the loving father of Act 1 Scene 2 to show how he has changed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Lord Capulet is presented in Act 3 Scene 5. Reveal the answer; pupils mark their own work in a different colour, then read the "why" together. Same destination for every lane, so one answer serves the whole class.
Answer: What: a topic sentence with an adjective for Capulet (oppressive, callous, volatile, tyrannical); How: at least one short quotation from Act 3 Scene 5, embedded in your own sentence; How: you name a method (rhetorical question, imperative, insult, list) and zoom in on one word; Why: you link his behaviour to the power of fathers in a patriarchal Elizabethan society, and consider how the audience might react; Challenge: you link back to the loving father of Act 1 Scene 2 to show how he has changed
Why: Top answers choose an adjective, prove it with a short quotation, analyse one word, and link it to the power of fathers. The strongest also set the scene against Act 1 Scene 2 so the change is visible.
Model answer: Shakespeare presents Lord Capulet as oppressive and callous in Act 3 Scene 5. When Juliet refuses Paris he threatens, “Hang thee, young baggage, disobedient wretch!”, and the noun ‘baggage’ reduces his daughter to luggage, something owned and carried about. The adjective ‘disobedient’ shows what matters to him: not her happiness but her obedience. In a patriarchal Elizabethan society a father's authority came from God, so many in the audience would have expected Juliet to submit; yet Shakespeare has shown us the same man in Act 1 Scene 2 saying his will to her consent was only a part, so the change reads as a betrayal of his own words. The audience is left to judge whether he is cruel or simply doing what fathers did.
Success criteria: What: a topic sentence with an adjective for Capulet (oppressive, callous, volatile, tyrannical); How: at least one short quotation from Act 3 Scene 5, embedded in your own sentence; How: you name a method (rhetorical question, imperative, insult, list) and zoom in on one word; Why: you link his behaviour to the power of fathers in a patriarchal Elizabethan society, and consider how the audience might react; Challenge: you link back to the loving father of Act 1 Scene 2 to show how he has changed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Because the audience knows she is already married and is following the Friar's plan, but Capulet does not
Why: Juliet's apology is a performance, and the audience watches her father reward a lie. The gap between what we know and what he knows makes her kneeling painful rather than comforting, and his happy decision to bring the wedding forward shortens the time the plan has to work.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Romeo and Juliet · AQA KS3 → 8702</a:t>
            </a:r>
            <a:endParaRPr lang="en-US" sz="1800" dirty="0"/>
          </a:p>
        </p:txBody>
      </p:sp>
      <p:sp>
        <p:nvSpPr>
          <p:cNvPr id="10" name="deck-title"/>
          <p:cNvSpPr txBox="1"/>
          <p:nvPr/>
        </p:nvSpPr>
        <p:spPr>
          <a:xfrm>
            <a:off x="548640" y="191566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Banishment, a father's fury and a desperate plan (Act 3, Scenes 2–5 and Act 4)</a:t>
            </a:r>
            <a:endParaRPr lang="en-US" sz="2800" dirty="0"/>
          </a:p>
        </p:txBody>
      </p:sp>
      <p:sp>
        <p:nvSpPr>
          <p:cNvPr id="11" name="lessons-card"/>
          <p:cNvSpPr/>
          <p:nvPr/>
        </p:nvSpPr>
        <p:spPr>
          <a:xfrm>
            <a:off x="548640" y="3658108"/>
            <a:ext cx="5287975" cy="1869440"/>
          </a:xfrm>
          <a:prstGeom prst="roundRect">
            <a:avLst>
              <a:gd name="adj" fmla="val 3913"/>
            </a:avLst>
          </a:prstGeom>
          <a:solidFill>
            <a:srgbClr val="EFEBF2"/>
          </a:solidFill>
          <a:ln/>
        </p:spPr>
      </p:sp>
      <p:sp>
        <p:nvSpPr>
          <p:cNvPr id="12" name="lessons"/>
          <p:cNvSpPr txBox="1"/>
          <p:nvPr/>
        </p:nvSpPr>
        <p:spPr>
          <a:xfrm>
            <a:off x="685800" y="3749548"/>
            <a:ext cx="5013655" cy="1686560"/>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3 Scenes 2–3: Juliet's conflicting feelings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14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3 Scenes 4–5: Juliet refuses to marry Paris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15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4 Scenes 1–2: Friar Lawrence's plan</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16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4 Scene 5: Juliet's ‘death’</a:t>
            </a:r>
            <a:endParaRPr lang="en-US" sz="18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Shakespeare turn a love story into a tragedy, and were the lovers' deaths written in the stars or chosen by the people on stage?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Juliet calls Romeo a ‘beautiful tyrant’. Two opposite words placed together like this make an ___.</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oxymoron  ·  oxygen  ·  paradox</a:t>
            </a:r>
            <a:endParaRPr lang="en-US" sz="2400" dirty="0"/>
          </a:p>
        </p:txBody>
      </p:sp>
      <p:sp>
        <p:nvSpPr>
          <p:cNvPr id="12"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For how many hours does Friar Lawrence say Juliet will seem dead after drinking the potion?</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hours</a:t>
            </a:r>
            <a:endParaRPr lang="en-US" sz="2400" dirty="0"/>
          </a:p>
        </p:txBody>
      </p:sp>
      <p:sp>
        <p:nvSpPr>
          <p:cNvPr id="17"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would marrying Paris be a sin for Juliet?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Paris is a Montague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she is already married to Romeo, so it would be bigamy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her father has not consented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Paris is too old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oxymoron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Juliet calls Romeo a ‘beautiful tyrant’. Two opposite words placed together like this make an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An oxymoron is a two-word contradiction. Here it shows Juliet's conflicting feelings about the man she loves who has killed her cousin.</a:t>
            </a:r>
            <a:endParaRPr lang="en-US" sz="1800" dirty="0"/>
          </a:p>
        </p:txBody>
      </p:sp>
      <p:sp>
        <p:nvSpPr>
          <p:cNvPr id="14"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42 hours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For how many hours does Friar Lawrence say Juliet will seem dead after drinking the potion?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Friar says she will continue two and forty hours, which is 42. The timing is what the letter to Romeo depends on.</a:t>
            </a:r>
            <a:endParaRPr lang="en-US" sz="1800" dirty="0"/>
          </a:p>
        </p:txBody>
      </p:sp>
      <p:sp>
        <p:nvSpPr>
          <p:cNvPr id="21"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DE1CA"/>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Because she is already married to Romeo, so it would be bigamy</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Juliet is secretly married. Bigamy, marrying while already married, was a sin in the eyes of the church and a crime in law.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FF4"/>
          </a:solidFill>
          <a:ln w="12700">
            <a:solidFill>
              <a:srgbClr val="BDB0C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oxymoron</a:t>
            </a:r>
            <a:endParaRPr lang="en-US" sz="2600" dirty="0"/>
          </a:p>
        </p:txBody>
      </p:sp>
      <p:sp>
        <p:nvSpPr>
          <p:cNvPr id="11" name="word-rule"/>
          <p:cNvSpPr/>
          <p:nvPr/>
        </p:nvSpPr>
        <p:spPr>
          <a:xfrm>
            <a:off x="731520" y="2129028"/>
            <a:ext cx="3149498" cy="0"/>
          </a:xfrm>
          <a:prstGeom prst="line">
            <a:avLst/>
          </a:prstGeom>
          <a:ln w="12700">
            <a:solidFill>
              <a:srgbClr val="BDB0C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two opposite words put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‘Beautiful tyrant’ is an oxymoron.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FF4"/>
          </a:solidFill>
          <a:ln w="12700">
            <a:solidFill>
              <a:srgbClr val="BDB0C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turmoil</a:t>
            </a:r>
            <a:endParaRPr lang="en-US" sz="2600" dirty="0"/>
          </a:p>
        </p:txBody>
      </p:sp>
      <p:sp>
        <p:nvSpPr>
          <p:cNvPr id="17" name="word-rule"/>
          <p:cNvSpPr/>
          <p:nvPr/>
        </p:nvSpPr>
        <p:spPr>
          <a:xfrm>
            <a:off x="4521098" y="2129028"/>
            <a:ext cx="3149498" cy="0"/>
          </a:xfrm>
          <a:prstGeom prst="line">
            <a:avLst/>
          </a:prstGeom>
          <a:ln w="12700">
            <a:solidFill>
              <a:srgbClr val="BDB0C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confusion and great worry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Juliet is in turmoil when she hears Tybalt is dead.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FF4"/>
          </a:solidFill>
          <a:ln w="12700">
            <a:solidFill>
              <a:srgbClr val="BDB0C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oppressive</a:t>
            </a:r>
            <a:endParaRPr lang="en-US" sz="2600" dirty="0"/>
          </a:p>
        </p:txBody>
      </p:sp>
      <p:sp>
        <p:nvSpPr>
          <p:cNvPr id="23" name="word-rule"/>
          <p:cNvSpPr/>
          <p:nvPr/>
        </p:nvSpPr>
        <p:spPr>
          <a:xfrm>
            <a:off x="8310677" y="2129028"/>
            <a:ext cx="3149498" cy="0"/>
          </a:xfrm>
          <a:prstGeom prst="line">
            <a:avLst/>
          </a:prstGeom>
          <a:ln w="12700">
            <a:solidFill>
              <a:srgbClr val="BDB0C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cruel and controlling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Lord Capulet becomes oppressive when Juliet says no.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FF4"/>
          </a:solidFill>
          <a:ln w="12700">
            <a:solidFill>
              <a:srgbClr val="BDB0C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bigamy</a:t>
            </a:r>
            <a:endParaRPr lang="en-US" sz="2600" dirty="0"/>
          </a:p>
        </p:txBody>
      </p:sp>
      <p:sp>
        <p:nvSpPr>
          <p:cNvPr id="11" name="word-rule"/>
          <p:cNvSpPr/>
          <p:nvPr/>
        </p:nvSpPr>
        <p:spPr>
          <a:xfrm>
            <a:off x="731520" y="2129028"/>
            <a:ext cx="3149498" cy="0"/>
          </a:xfrm>
          <a:prstGeom prst="line">
            <a:avLst/>
          </a:prstGeom>
          <a:ln w="12700">
            <a:solidFill>
              <a:srgbClr val="BDB0C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marrying someone while already married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Marrying Paris would be bigamy, because Juliet already has a husband.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FF4"/>
          </a:solidFill>
          <a:ln w="12700">
            <a:solidFill>
              <a:srgbClr val="BDB0C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lament</a:t>
            </a:r>
            <a:endParaRPr lang="en-US" sz="2600" dirty="0"/>
          </a:p>
        </p:txBody>
      </p:sp>
      <p:sp>
        <p:nvSpPr>
          <p:cNvPr id="17" name="word-rule"/>
          <p:cNvSpPr/>
          <p:nvPr/>
        </p:nvSpPr>
        <p:spPr>
          <a:xfrm>
            <a:off x="4521098" y="2129028"/>
            <a:ext cx="3149498" cy="0"/>
          </a:xfrm>
          <a:prstGeom prst="line">
            <a:avLst/>
          </a:prstGeom>
          <a:ln w="12700">
            <a:solidFill>
              <a:srgbClr val="BDB0C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cry out in grief</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Nurse laments when she finds Juliet's body.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FF4"/>
          </a:solidFill>
          <a:ln w="12700">
            <a:solidFill>
              <a:srgbClr val="BDB0C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despair</a:t>
            </a:r>
            <a:endParaRPr lang="en-US" sz="2600" dirty="0"/>
          </a:p>
        </p:txBody>
      </p:sp>
      <p:sp>
        <p:nvSpPr>
          <p:cNvPr id="23" name="word-rule"/>
          <p:cNvSpPr/>
          <p:nvPr/>
        </p:nvSpPr>
        <p:spPr>
          <a:xfrm>
            <a:off x="8310677" y="2129028"/>
            <a:ext cx="3149498" cy="0"/>
          </a:xfrm>
          <a:prstGeom prst="line">
            <a:avLst/>
          </a:prstGeom>
          <a:ln w="12700">
            <a:solidFill>
              <a:srgbClr val="BDB0C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complete loss of hope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Juliet turns to the Friar in despair.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Juliet waits for her wedding night, not knowing about the fight.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Nurse brings terrible news: Tybalt is dead and Romeo is banished.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Juliet does not know whether to love Romeo or hate him.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Romeo hides with the Friar and weeps.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says banishment is worse than death.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Friar tells him to visit Juliet, then flee to Mantua.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night, Lord Capulet promises Juliet to Paris on Thursday.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Juliet refuses, and her father explodes with rage.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calls her names and threatens to throw her out.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Her mother and even the Nurse will not help 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Juliet runs to the Friar, who gives her a potion.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will make her look dead for forty-two hours.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Friar will write to Romeo to explain the plan.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the wedding morning, the Nurse finds Juliet cold and still.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Torn in two: oxymorons and banishment (3.2–3.3)</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Each oxymoron puts the Romeo she loves next to the Romeo who killed her cousin. Explode one: which half wins by the end of the speech?</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Beautiful tyrant, fiend angelical! / Dove-feathered raven, wolvish-ravening lamb!</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3.2.81–82</a:t>
            </a:r>
            <a:endParaRPr lang="en-US" sz="2600" dirty="0"/>
          </a:p>
        </p:txBody>
      </p:sp>
      <p:sp>
        <p:nvSpPr>
          <p:cNvPr id="14" name="bullet-card"/>
          <p:cNvSpPr/>
          <p:nvPr/>
        </p:nvSpPr>
        <p:spPr>
          <a:xfrm>
            <a:off x="548640" y="1389888"/>
            <a:ext cx="5074920" cy="809244"/>
          </a:xfrm>
          <a:prstGeom prst="roundRect">
            <a:avLst>
              <a:gd name="adj" fmla="val 9040"/>
            </a:avLst>
          </a:prstGeom>
          <a:solidFill>
            <a:srgbClr val="F2EFF4"/>
          </a:solidFill>
          <a:ln/>
        </p:spPr>
      </p:sp>
      <p:sp>
        <p:nvSpPr>
          <p:cNvPr id="15" name="bullet-hex"/>
          <p:cNvSpPr/>
          <p:nvPr/>
        </p:nvSpPr>
        <p:spPr>
          <a:xfrm>
            <a:off x="676656" y="1628217"/>
            <a:ext cx="384048" cy="332586"/>
          </a:xfrm>
          <a:prstGeom prst="hexagon">
            <a:avLst/>
          </a:prstGeom>
          <a:solidFill>
            <a:srgbClr val="5B3A7A"/>
          </a:solidFill>
          <a:ln/>
        </p:spPr>
      </p:sp>
      <p:sp>
        <p:nvSpPr>
          <p:cNvPr id="16" name="bullet"/>
          <p:cNvSpPr txBox="1"/>
          <p:nvPr/>
        </p:nvSpPr>
        <p:spPr>
          <a:xfrm>
            <a:off x="1143000" y="1389888"/>
            <a:ext cx="4389120" cy="809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Juliet opens Act 3 Scene 2 longing for night and her new husband.</a:t>
            </a:r>
            <a:endParaRPr lang="en-US" sz="2200" dirty="0"/>
          </a:p>
        </p:txBody>
      </p:sp>
      <p:sp>
        <p:nvSpPr>
          <p:cNvPr id="17" name="bullet-card"/>
          <p:cNvSpPr/>
          <p:nvPr/>
        </p:nvSpPr>
        <p:spPr>
          <a:xfrm>
            <a:off x="548640" y="2345436"/>
            <a:ext cx="5074920" cy="2172716"/>
          </a:xfrm>
          <a:prstGeom prst="roundRect">
            <a:avLst>
              <a:gd name="adj" fmla="val 3367"/>
            </a:avLst>
          </a:prstGeom>
          <a:solidFill>
            <a:srgbClr val="F2EFF4"/>
          </a:solidFill>
          <a:ln/>
        </p:spPr>
      </p:sp>
      <p:sp>
        <p:nvSpPr>
          <p:cNvPr id="18" name="bullet-hex"/>
          <p:cNvSpPr/>
          <p:nvPr/>
        </p:nvSpPr>
        <p:spPr>
          <a:xfrm>
            <a:off x="676656" y="3265501"/>
            <a:ext cx="384048" cy="332586"/>
          </a:xfrm>
          <a:prstGeom prst="hexagon">
            <a:avLst/>
          </a:prstGeom>
          <a:solidFill>
            <a:srgbClr val="B8862B"/>
          </a:solidFill>
          <a:ln/>
        </p:spPr>
      </p:sp>
      <p:sp>
        <p:nvSpPr>
          <p:cNvPr id="19" name="bullet"/>
          <p:cNvSpPr txBox="1"/>
          <p:nvPr/>
        </p:nvSpPr>
        <p:spPr>
          <a:xfrm>
            <a:off x="1143000" y="2345436"/>
            <a:ext cx="4389120" cy="217271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the Friar's cell, Romeo hears his sentence and calls banishment a kinder word for death, because there is no world outside Verona's walls but purgatory, torture, hell itself.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 father transformed (3.4–3.5)</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Count the verbs: hang, beg, starve, die. The list gets worse with each word, and ‘give’ shows he thinks of her as property.</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An you be mine, I'll give you to my friend. / An you be not, hang, beg, starve, die in the streets,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3.5.203–204</a:t>
            </a:r>
            <a:endParaRPr lang="en-US" sz="2600" dirty="0"/>
          </a:p>
        </p:txBody>
      </p:sp>
      <p:sp>
        <p:nvSpPr>
          <p:cNvPr id="14" name="bullet-card"/>
          <p:cNvSpPr/>
          <p:nvPr/>
        </p:nvSpPr>
        <p:spPr>
          <a:xfrm>
            <a:off x="548640" y="1389888"/>
            <a:ext cx="5074920" cy="1490980"/>
          </a:xfrm>
          <a:prstGeom prst="roundRect">
            <a:avLst>
              <a:gd name="adj" fmla="val 4906"/>
            </a:avLst>
          </a:prstGeom>
          <a:solidFill>
            <a:srgbClr val="F2EFF4"/>
          </a:solidFill>
          <a:ln/>
        </p:spPr>
      </p:sp>
      <p:sp>
        <p:nvSpPr>
          <p:cNvPr id="15" name="bullet-hex"/>
          <p:cNvSpPr/>
          <p:nvPr/>
        </p:nvSpPr>
        <p:spPr>
          <a:xfrm>
            <a:off x="676656" y="1969085"/>
            <a:ext cx="384048" cy="332586"/>
          </a:xfrm>
          <a:prstGeom prst="hexagon">
            <a:avLst/>
          </a:prstGeom>
          <a:solidFill>
            <a:srgbClr val="5B3A7A"/>
          </a:solidFill>
          <a:ln/>
        </p:spPr>
      </p:sp>
      <p:sp>
        <p:nvSpPr>
          <p:cNvPr id="16" name="bullet"/>
          <p:cNvSpPr txBox="1"/>
          <p:nvPr/>
        </p:nvSpPr>
        <p:spPr>
          <a:xfrm>
            <a:off x="1143000" y="1389888"/>
            <a:ext cx="4389120" cy="1490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Act 3 Scene 4 Lord Capulet decides, without asking her, that Juliet will marry Paris on Thursday.</a:t>
            </a:r>
            <a:endParaRPr lang="en-US" sz="2200" dirty="0"/>
          </a:p>
        </p:txBody>
      </p:sp>
      <p:sp>
        <p:nvSpPr>
          <p:cNvPr id="17" name="bullet-card"/>
          <p:cNvSpPr/>
          <p:nvPr/>
        </p:nvSpPr>
        <p:spPr>
          <a:xfrm>
            <a:off x="548640" y="3027172"/>
            <a:ext cx="5074920" cy="1490980"/>
          </a:xfrm>
          <a:prstGeom prst="roundRect">
            <a:avLst>
              <a:gd name="adj" fmla="val 4906"/>
            </a:avLst>
          </a:prstGeom>
          <a:solidFill>
            <a:srgbClr val="F2EFF4"/>
          </a:solidFill>
          <a:ln/>
        </p:spPr>
      </p:sp>
      <p:sp>
        <p:nvSpPr>
          <p:cNvPr id="18" name="bullet-hex"/>
          <p:cNvSpPr/>
          <p:nvPr/>
        </p:nvSpPr>
        <p:spPr>
          <a:xfrm>
            <a:off x="676656" y="3606369"/>
            <a:ext cx="384048" cy="332586"/>
          </a:xfrm>
          <a:prstGeom prst="hexagon">
            <a:avLst/>
          </a:prstGeom>
          <a:solidFill>
            <a:srgbClr val="B8862B"/>
          </a:solidFill>
          <a:ln/>
        </p:spPr>
      </p:sp>
      <p:sp>
        <p:nvSpPr>
          <p:cNvPr id="19" name="bullet"/>
          <p:cNvSpPr txBox="1"/>
          <p:nvPr/>
        </p:nvSpPr>
        <p:spPr>
          <a:xfrm>
            <a:off x="1143000" y="3027172"/>
            <a:ext cx="4389120" cy="1490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Then her mother brings the news, and Juliet refuses. The loving father of Act 1 Scene 2 is gone.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The Friar's plan, and a house in mourning (4.1–4.5)</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‘Untimely’ means too early. Frost in spring kills blossom before it can bear fruit, which is what the audience knows will happen to Juliet.</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Death lies on her like an untimely frost / Upon the sweetest flower of all the field.</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4.5.33–34</a:t>
            </a:r>
            <a:endParaRPr lang="en-US" sz="2600" dirty="0"/>
          </a:p>
        </p:txBody>
      </p:sp>
      <p:sp>
        <p:nvSpPr>
          <p:cNvPr id="14" name="bullet-card"/>
          <p:cNvSpPr/>
          <p:nvPr/>
        </p:nvSpPr>
        <p:spPr>
          <a:xfrm>
            <a:off x="548640" y="1389888"/>
            <a:ext cx="5074920" cy="1351534"/>
          </a:xfrm>
          <a:prstGeom prst="roundRect">
            <a:avLst>
              <a:gd name="adj" fmla="val 5413"/>
            </a:avLst>
          </a:prstGeom>
          <a:solidFill>
            <a:srgbClr val="F2EFF4"/>
          </a:solidFill>
          <a:ln/>
        </p:spPr>
      </p:sp>
      <p:sp>
        <p:nvSpPr>
          <p:cNvPr id="15" name="bullet-hex"/>
          <p:cNvSpPr/>
          <p:nvPr/>
        </p:nvSpPr>
        <p:spPr>
          <a:xfrm>
            <a:off x="676656" y="1899362"/>
            <a:ext cx="384048" cy="332586"/>
          </a:xfrm>
          <a:prstGeom prst="hexagon">
            <a:avLst/>
          </a:prstGeom>
          <a:solidFill>
            <a:srgbClr val="5B3A7A"/>
          </a:solidFill>
          <a:ln/>
        </p:spPr>
      </p:sp>
      <p:sp>
        <p:nvSpPr>
          <p:cNvPr id="16" name="bullet"/>
          <p:cNvSpPr txBox="1"/>
          <p:nvPr/>
        </p:nvSpPr>
        <p:spPr>
          <a:xfrm>
            <a:off x="1143000" y="1389888"/>
            <a:ext cx="4389120" cy="13515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Juliet runs to Friar Lawrence in despair. Marrying Paris would be bigamy, marrying one person while already married to another, which was a sin as well as a crime.</a:t>
            </a:r>
            <a:endParaRPr lang="en-US" sz="1800" dirty="0"/>
          </a:p>
        </p:txBody>
      </p:sp>
      <p:sp>
        <p:nvSpPr>
          <p:cNvPr id="17" name="bullet-card"/>
          <p:cNvSpPr/>
          <p:nvPr/>
        </p:nvSpPr>
        <p:spPr>
          <a:xfrm>
            <a:off x="548640" y="2887726"/>
            <a:ext cx="5074920" cy="1630426"/>
          </a:xfrm>
          <a:prstGeom prst="roundRect">
            <a:avLst>
              <a:gd name="adj" fmla="val 4487"/>
            </a:avLst>
          </a:prstGeom>
          <a:solidFill>
            <a:srgbClr val="F2EFF4"/>
          </a:solidFill>
          <a:ln/>
        </p:spPr>
      </p:sp>
      <p:sp>
        <p:nvSpPr>
          <p:cNvPr id="18" name="bullet-hex"/>
          <p:cNvSpPr/>
          <p:nvPr/>
        </p:nvSpPr>
        <p:spPr>
          <a:xfrm>
            <a:off x="676656" y="3536646"/>
            <a:ext cx="384048" cy="332586"/>
          </a:xfrm>
          <a:prstGeom prst="hexagon">
            <a:avLst/>
          </a:prstGeom>
          <a:solidFill>
            <a:srgbClr val="B8862B"/>
          </a:solidFill>
          <a:ln/>
        </p:spPr>
      </p:sp>
      <p:sp>
        <p:nvSpPr>
          <p:cNvPr id="19" name="bullet"/>
          <p:cNvSpPr txBox="1"/>
          <p:nvPr/>
        </p:nvSpPr>
        <p:spPr>
          <a:xfrm>
            <a:off x="1143000" y="2887726"/>
            <a:ext cx="4389120" cy="16304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Act 4 Scene 2 Juliet plays her part so well that her father brings the wedding forward a day, which is dramatic irony again: the audience knows she is married and knows about the potion.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Capulet's lines in Act 3 Scene 5</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of Lord Capulet's lines from Act 3 Scene 5 to what it shows about him.</a:t>
            </a:r>
            <a:endParaRPr lang="en-US" sz="2400" dirty="0"/>
          </a:p>
        </p:txBody>
      </p:sp>
      <p:sp>
        <p:nvSpPr>
          <p:cNvPr id="11" name="match-card"/>
          <p:cNvSpPr/>
          <p:nvPr/>
        </p:nvSpPr>
        <p:spPr>
          <a:xfrm>
            <a:off x="777240" y="2672080"/>
            <a:ext cx="4547667" cy="810768"/>
          </a:xfrm>
          <a:prstGeom prst="roundRect">
            <a:avLst>
              <a:gd name="adj" fmla="val 9023"/>
            </a:avLst>
          </a:prstGeom>
          <a:solidFill>
            <a:srgbClr val="F2EFF4"/>
          </a:solidFill>
          <a:ln/>
        </p:spPr>
      </p:sp>
      <p:sp>
        <p:nvSpPr>
          <p:cNvPr id="12" name="match-hex"/>
          <p:cNvSpPr/>
          <p:nvPr/>
        </p:nvSpPr>
        <p:spPr>
          <a:xfrm>
            <a:off x="850392" y="2911171"/>
            <a:ext cx="384048" cy="332586"/>
          </a:xfrm>
          <a:prstGeom prst="hexagon">
            <a:avLst/>
          </a:prstGeom>
          <a:solidFill>
            <a:srgbClr val="5B3A7A"/>
          </a:solidFill>
          <a:ln/>
        </p:spPr>
      </p:sp>
      <p:sp>
        <p:nvSpPr>
          <p:cNvPr id="13" name="match-hex-label"/>
          <p:cNvSpPr txBox="1"/>
          <p:nvPr/>
        </p:nvSpPr>
        <p:spPr>
          <a:xfrm>
            <a:off x="850392" y="291117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953307"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will she none? Doth she not give us thanks?”</a:t>
            </a:r>
            <a:endParaRPr lang="en-US" sz="1800" dirty="0"/>
          </a:p>
        </p:txBody>
      </p:sp>
      <p:sp>
        <p:nvSpPr>
          <p:cNvPr id="15" name="match-card"/>
          <p:cNvSpPr/>
          <p:nvPr/>
        </p:nvSpPr>
        <p:spPr>
          <a:xfrm>
            <a:off x="5690667" y="2672080"/>
            <a:ext cx="5723788" cy="810768"/>
          </a:xfrm>
          <a:prstGeom prst="roundRect">
            <a:avLst>
              <a:gd name="adj" fmla="val 9023"/>
            </a:avLst>
          </a:prstGeom>
          <a:solidFill>
            <a:srgbClr val="F6F0E6"/>
          </a:solidFill>
          <a:ln/>
        </p:spPr>
      </p:sp>
      <p:sp>
        <p:nvSpPr>
          <p:cNvPr id="16" name="match-hex"/>
          <p:cNvSpPr/>
          <p:nvPr/>
        </p:nvSpPr>
        <p:spPr>
          <a:xfrm>
            <a:off x="5763819" y="2911171"/>
            <a:ext cx="384048" cy="332586"/>
          </a:xfrm>
          <a:prstGeom prst="hexagon">
            <a:avLst/>
          </a:prstGeom>
          <a:solidFill>
            <a:srgbClr val="B8862B"/>
          </a:solidFill>
          <a:ln/>
        </p:spPr>
      </p:sp>
      <p:sp>
        <p:nvSpPr>
          <p:cNvPr id="17" name="match-hex-label"/>
          <p:cNvSpPr txBox="1"/>
          <p:nvPr/>
        </p:nvSpPr>
        <p:spPr>
          <a:xfrm>
            <a:off x="5763819" y="291117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211875" y="2672080"/>
            <a:ext cx="5129428"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Insults: she has become worthless property in his eyes</a:t>
            </a:r>
            <a:endParaRPr lang="en-US" sz="1800" dirty="0"/>
          </a:p>
        </p:txBody>
      </p:sp>
      <p:sp>
        <p:nvSpPr>
          <p:cNvPr id="19" name="match-card"/>
          <p:cNvSpPr/>
          <p:nvPr/>
        </p:nvSpPr>
        <p:spPr>
          <a:xfrm>
            <a:off x="777240" y="3574288"/>
            <a:ext cx="4547667" cy="583184"/>
          </a:xfrm>
          <a:prstGeom prst="roundRect">
            <a:avLst>
              <a:gd name="adj" fmla="val 12544"/>
            </a:avLst>
          </a:prstGeom>
          <a:solidFill>
            <a:srgbClr val="F2EFF4"/>
          </a:solidFill>
          <a:ln/>
        </p:spPr>
      </p:sp>
      <p:sp>
        <p:nvSpPr>
          <p:cNvPr id="20" name="match-hex"/>
          <p:cNvSpPr/>
          <p:nvPr/>
        </p:nvSpPr>
        <p:spPr>
          <a:xfrm>
            <a:off x="850392" y="3699587"/>
            <a:ext cx="384048" cy="332586"/>
          </a:xfrm>
          <a:prstGeom prst="hexagon">
            <a:avLst/>
          </a:prstGeom>
          <a:solidFill>
            <a:srgbClr val="5B3A7A"/>
          </a:solidFill>
          <a:ln/>
        </p:spPr>
      </p:sp>
      <p:sp>
        <p:nvSpPr>
          <p:cNvPr id="21" name="match-hex-label"/>
          <p:cNvSpPr txBox="1"/>
          <p:nvPr/>
        </p:nvSpPr>
        <p:spPr>
          <a:xfrm>
            <a:off x="850392" y="369958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74288"/>
            <a:ext cx="3953307" cy="5831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 will drag thee on a hurdle thither.”</a:t>
            </a:r>
            <a:endParaRPr lang="en-US" sz="1800" dirty="0"/>
          </a:p>
        </p:txBody>
      </p:sp>
      <p:sp>
        <p:nvSpPr>
          <p:cNvPr id="23" name="match-card"/>
          <p:cNvSpPr/>
          <p:nvPr/>
        </p:nvSpPr>
        <p:spPr>
          <a:xfrm>
            <a:off x="5690667" y="3574288"/>
            <a:ext cx="5723788" cy="583184"/>
          </a:xfrm>
          <a:prstGeom prst="roundRect">
            <a:avLst>
              <a:gd name="adj" fmla="val 12544"/>
            </a:avLst>
          </a:prstGeom>
          <a:solidFill>
            <a:srgbClr val="F6F0E6"/>
          </a:solidFill>
          <a:ln/>
        </p:spPr>
      </p:sp>
      <p:sp>
        <p:nvSpPr>
          <p:cNvPr id="24" name="match-hex"/>
          <p:cNvSpPr/>
          <p:nvPr/>
        </p:nvSpPr>
        <p:spPr>
          <a:xfrm>
            <a:off x="5763819" y="3699587"/>
            <a:ext cx="384048" cy="332586"/>
          </a:xfrm>
          <a:prstGeom prst="hexagon">
            <a:avLst/>
          </a:prstGeom>
          <a:solidFill>
            <a:srgbClr val="B8862B"/>
          </a:solidFill>
          <a:ln/>
        </p:spPr>
      </p:sp>
      <p:sp>
        <p:nvSpPr>
          <p:cNvPr id="25" name="match-hex-label"/>
          <p:cNvSpPr txBox="1"/>
          <p:nvPr/>
        </p:nvSpPr>
        <p:spPr>
          <a:xfrm>
            <a:off x="5763819" y="369958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211875" y="3574288"/>
            <a:ext cx="5129428" cy="5831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threat of physical violence</a:t>
            </a:r>
            <a:endParaRPr lang="en-US" sz="1800" dirty="0"/>
          </a:p>
        </p:txBody>
      </p:sp>
      <p:sp>
        <p:nvSpPr>
          <p:cNvPr id="27" name="match-card"/>
          <p:cNvSpPr/>
          <p:nvPr/>
        </p:nvSpPr>
        <p:spPr>
          <a:xfrm>
            <a:off x="777240" y="4248912"/>
            <a:ext cx="4547667" cy="810768"/>
          </a:xfrm>
          <a:prstGeom prst="roundRect">
            <a:avLst>
              <a:gd name="adj" fmla="val 9023"/>
            </a:avLst>
          </a:prstGeom>
          <a:solidFill>
            <a:srgbClr val="F2EFF4"/>
          </a:solidFill>
          <a:ln/>
        </p:spPr>
      </p:sp>
      <p:sp>
        <p:nvSpPr>
          <p:cNvPr id="28" name="match-hex"/>
          <p:cNvSpPr/>
          <p:nvPr/>
        </p:nvSpPr>
        <p:spPr>
          <a:xfrm>
            <a:off x="850392" y="4488003"/>
            <a:ext cx="384048" cy="332586"/>
          </a:xfrm>
          <a:prstGeom prst="hexagon">
            <a:avLst/>
          </a:prstGeom>
          <a:solidFill>
            <a:srgbClr val="5B3A7A"/>
          </a:solidFill>
          <a:ln/>
        </p:spPr>
      </p:sp>
      <p:sp>
        <p:nvSpPr>
          <p:cNvPr id="29" name="match-hex-label"/>
          <p:cNvSpPr txBox="1"/>
          <p:nvPr/>
        </p:nvSpPr>
        <p:spPr>
          <a:xfrm>
            <a:off x="850392" y="448800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48912"/>
            <a:ext cx="3953307"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“Hang thee, young baggage, disobedient wretch!”</a:t>
            </a:r>
            <a:endParaRPr lang="en-US" sz="1800" dirty="0"/>
          </a:p>
        </p:txBody>
      </p:sp>
      <p:sp>
        <p:nvSpPr>
          <p:cNvPr id="31" name="match-card"/>
          <p:cNvSpPr/>
          <p:nvPr/>
        </p:nvSpPr>
        <p:spPr>
          <a:xfrm>
            <a:off x="5690667" y="4248912"/>
            <a:ext cx="5723788" cy="810768"/>
          </a:xfrm>
          <a:prstGeom prst="roundRect">
            <a:avLst>
              <a:gd name="adj" fmla="val 9023"/>
            </a:avLst>
          </a:prstGeom>
          <a:solidFill>
            <a:srgbClr val="F6F0E6"/>
          </a:solidFill>
          <a:ln/>
        </p:spPr>
      </p:sp>
      <p:sp>
        <p:nvSpPr>
          <p:cNvPr id="32" name="match-hex"/>
          <p:cNvSpPr/>
          <p:nvPr/>
        </p:nvSpPr>
        <p:spPr>
          <a:xfrm>
            <a:off x="5763819" y="4488003"/>
            <a:ext cx="384048" cy="332586"/>
          </a:xfrm>
          <a:prstGeom prst="hexagon">
            <a:avLst/>
          </a:prstGeom>
          <a:solidFill>
            <a:srgbClr val="B8862B"/>
          </a:solidFill>
          <a:ln/>
        </p:spPr>
      </p:sp>
      <p:sp>
        <p:nvSpPr>
          <p:cNvPr id="33" name="match-hex-label"/>
          <p:cNvSpPr txBox="1"/>
          <p:nvPr/>
        </p:nvSpPr>
        <p:spPr>
          <a:xfrm>
            <a:off x="5763819" y="448800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211875" y="4248912"/>
            <a:ext cx="5129428"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Violent imagery: he treats her like a criminal taken to execution</a:t>
            </a:r>
            <a:endParaRPr lang="en-US" sz="1800" dirty="0"/>
          </a:p>
        </p:txBody>
      </p:sp>
      <p:sp>
        <p:nvSpPr>
          <p:cNvPr id="35" name="match-card"/>
          <p:cNvSpPr/>
          <p:nvPr/>
        </p:nvSpPr>
        <p:spPr>
          <a:xfrm>
            <a:off x="777240" y="5151120"/>
            <a:ext cx="4547667" cy="810768"/>
          </a:xfrm>
          <a:prstGeom prst="roundRect">
            <a:avLst>
              <a:gd name="adj" fmla="val 9023"/>
            </a:avLst>
          </a:prstGeom>
          <a:solidFill>
            <a:srgbClr val="F2EFF4"/>
          </a:solidFill>
          <a:ln/>
        </p:spPr>
      </p:sp>
      <p:sp>
        <p:nvSpPr>
          <p:cNvPr id="36" name="match-hex"/>
          <p:cNvSpPr/>
          <p:nvPr/>
        </p:nvSpPr>
        <p:spPr>
          <a:xfrm>
            <a:off x="850392" y="5390211"/>
            <a:ext cx="384048" cy="332586"/>
          </a:xfrm>
          <a:prstGeom prst="hexagon">
            <a:avLst/>
          </a:prstGeom>
          <a:solidFill>
            <a:srgbClr val="5B3A7A"/>
          </a:solidFill>
          <a:ln/>
        </p:spPr>
      </p:sp>
      <p:sp>
        <p:nvSpPr>
          <p:cNvPr id="37" name="match-hex-label"/>
          <p:cNvSpPr txBox="1"/>
          <p:nvPr/>
        </p:nvSpPr>
        <p:spPr>
          <a:xfrm>
            <a:off x="850392" y="539021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1120"/>
            <a:ext cx="3953307"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“My fingers itch.”</a:t>
            </a:r>
            <a:endParaRPr lang="en-US" sz="1800" dirty="0"/>
          </a:p>
        </p:txBody>
      </p:sp>
      <p:sp>
        <p:nvSpPr>
          <p:cNvPr id="39" name="match-card"/>
          <p:cNvSpPr/>
          <p:nvPr/>
        </p:nvSpPr>
        <p:spPr>
          <a:xfrm>
            <a:off x="5690667" y="5151120"/>
            <a:ext cx="5723788" cy="810768"/>
          </a:xfrm>
          <a:prstGeom prst="roundRect">
            <a:avLst>
              <a:gd name="adj" fmla="val 9023"/>
            </a:avLst>
          </a:prstGeom>
          <a:solidFill>
            <a:srgbClr val="F6F0E6"/>
          </a:solidFill>
          <a:ln/>
        </p:spPr>
      </p:sp>
      <p:sp>
        <p:nvSpPr>
          <p:cNvPr id="40" name="match-hex"/>
          <p:cNvSpPr/>
          <p:nvPr/>
        </p:nvSpPr>
        <p:spPr>
          <a:xfrm>
            <a:off x="5763819" y="5390211"/>
            <a:ext cx="384048" cy="332586"/>
          </a:xfrm>
          <a:prstGeom prst="hexagon">
            <a:avLst/>
          </a:prstGeom>
          <a:solidFill>
            <a:srgbClr val="B8862B"/>
          </a:solidFill>
          <a:ln/>
        </p:spPr>
      </p:sp>
      <p:sp>
        <p:nvSpPr>
          <p:cNvPr id="41" name="match-hex-label"/>
          <p:cNvSpPr txBox="1"/>
          <p:nvPr/>
        </p:nvSpPr>
        <p:spPr>
          <a:xfrm>
            <a:off x="5763819" y="539021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211875" y="5151120"/>
            <a:ext cx="5129428"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rhetorical question: he cannot believe she would refuse a gift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Same task, three ways in: Capulet's lines in Act 3 Scene 5</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Capulet's lines in Act 3 Scene 5</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EB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Spot the question mark: which line is a question?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Spot the insults: which line calls her names?</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hurdle was a frame on which criminals were dragged to execution; fingers that itch want to hit.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the key word in each line to its description.</a:t>
            </a:r>
            <a:endParaRPr lang="en-US" sz="1800" dirty="0"/>
          </a:p>
        </p:txBody>
      </p:sp>
      <p:sp>
        <p:nvSpPr>
          <p:cNvPr id="17" name="col-Core"/>
          <p:cNvSpPr/>
          <p:nvPr/>
        </p:nvSpPr>
        <p:spPr>
          <a:xfrm>
            <a:off x="5490762" y="2395728"/>
            <a:ext cx="2938987" cy="3749040"/>
          </a:xfrm>
          <a:prstGeom prst="roundRect">
            <a:avLst>
              <a:gd name="adj" fmla="val 1867"/>
            </a:avLst>
          </a:prstGeom>
          <a:solidFill>
            <a:srgbClr val="DBD4E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lines escalate: disbelief, then threat, then insult, then violence.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5B3A7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Set one of these lines against ‘My will to her consent is but a part’ from Act 1 Scene 2. In two sentences, explain what has changed and suggest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The task: How Lord Capulet is presented in Act 3 Scene 5</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Shakespeare present Lord Capulet in Act 3 Scene 5? Write one What, How, Why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How Lord Capulet is presented in Act 3 Scene 5</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How Lord Capulet is presented in Act 3 Scene 5</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EB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choose one adjective from the list and write a topic sentence with it.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How: pick a short quotation that proves it, name the method, and zoom in on one word (baggage, hurdle, itch, starve).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Why: say what this shows about Capulet, then link it to the power fathers held in a patriarchal society.</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Challenge: add one sentence about Act 1 Scene 2 to show the change.</a:t>
            </a:r>
            <a:endParaRPr lang="en-US" sz="1800" dirty="0"/>
          </a:p>
        </p:txBody>
      </p:sp>
      <p:sp>
        <p:nvSpPr>
          <p:cNvPr id="17" name="col-Core"/>
          <p:cNvSpPr/>
          <p:nvPr/>
        </p:nvSpPr>
        <p:spPr>
          <a:xfrm>
            <a:off x="6425403" y="2395728"/>
            <a:ext cx="2471666" cy="3749040"/>
          </a:xfrm>
          <a:prstGeom prst="roundRect">
            <a:avLst>
              <a:gd name="adj" fmla="val 2220"/>
            </a:avLst>
          </a:prstGeom>
          <a:solidFill>
            <a:srgbClr val="DBD4E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Pick the adjective first, then the quotation that proves it. ‘Baggage’ and ‘give’ support oppressive; the hurdle and the itching fingers support callous or violent.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5B3A7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Argue the other side in one sentence: could an Elizabethan audience have sided with Capulet? Then decide what Shakespeare wants us to feel, and say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80004"/>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In Act 4 Scene 2 Juliet tells her father she has met Paris at the Friar's cell and will marry him. Why is this moment dramatic irony?</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Juliet really has changed her mind about Paris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the audience knows she is already married and is following the Friar's plan, but Capulet does not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Capulet knows about the potion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Paris has told Capulet about Romeo</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Capulet's lines in Act 3 Scene 5</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“How, will she none? Doth she not give us thanks?”  →  D  A rhetorical question: he cannot believe she would refuse a gift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 will drag thee on a hurdle thither.”  →  C  Violent imagery: he treats her like a criminal taken to execution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“Hang thee, young baggage, disobedient wretch!”  →  A  Insults: she has become worthless property in his eyes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“My fingers itch.”  →  B  A threat of physical violence</a:t>
            </a:r>
            <a:endParaRPr lang="en-US" sz="20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exploded these quotations. Together they show Capulet moving from disbelief to violence in one speech, and they give you the after to set against the loving father of Act 1 Scene 2.</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Answers: How Lord Capulet is presented in Act 3 Scene 5</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24840"/>
          </a:xfrm>
          <a:prstGeom prst="roundRect">
            <a:avLst>
              <a:gd name="adj" fmla="val 14634"/>
            </a:avLst>
          </a:prstGeom>
          <a:solidFill>
            <a:srgbClr val="F2EFF4"/>
          </a:solidFill>
          <a:ln/>
        </p:spPr>
      </p:sp>
      <p:sp>
        <p:nvSpPr>
          <p:cNvPr id="9" name="tickbox"/>
          <p:cNvSpPr/>
          <p:nvPr/>
        </p:nvSpPr>
        <p:spPr>
          <a:xfrm>
            <a:off x="713232" y="2150364"/>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6248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What: a topic sentence with an adjective for Capulet (oppressive, callous, volatile, tyrannical)</a:t>
            </a:r>
            <a:endParaRPr lang="en-US" sz="2000" dirty="0"/>
          </a:p>
        </p:txBody>
      </p:sp>
      <p:sp>
        <p:nvSpPr>
          <p:cNvPr id="11" name="crit-box"/>
          <p:cNvSpPr/>
          <p:nvPr/>
        </p:nvSpPr>
        <p:spPr>
          <a:xfrm>
            <a:off x="548640" y="2700528"/>
            <a:ext cx="11094415" cy="624840"/>
          </a:xfrm>
          <a:prstGeom prst="roundRect">
            <a:avLst>
              <a:gd name="adj" fmla="val 14634"/>
            </a:avLst>
          </a:prstGeom>
          <a:solidFill>
            <a:srgbClr val="F2EFF4"/>
          </a:solidFill>
          <a:ln/>
        </p:spPr>
      </p:sp>
      <p:sp>
        <p:nvSpPr>
          <p:cNvPr id="12" name="tickbox"/>
          <p:cNvSpPr/>
          <p:nvPr/>
        </p:nvSpPr>
        <p:spPr>
          <a:xfrm>
            <a:off x="713232" y="2866644"/>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700528"/>
            <a:ext cx="10317175" cy="6248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How: at least one short quotation from Act 3 Scene 5, embedded in your own sentence</a:t>
            </a:r>
            <a:endParaRPr lang="en-US" sz="2000" dirty="0"/>
          </a:p>
        </p:txBody>
      </p:sp>
      <p:sp>
        <p:nvSpPr>
          <p:cNvPr id="14" name="crit-box"/>
          <p:cNvSpPr/>
          <p:nvPr/>
        </p:nvSpPr>
        <p:spPr>
          <a:xfrm>
            <a:off x="548640" y="3416808"/>
            <a:ext cx="11094415" cy="914400"/>
          </a:xfrm>
          <a:prstGeom prst="roundRect">
            <a:avLst>
              <a:gd name="adj" fmla="val 10000"/>
            </a:avLst>
          </a:prstGeom>
          <a:solidFill>
            <a:srgbClr val="F2EFF4"/>
          </a:solidFill>
          <a:ln/>
        </p:spPr>
      </p:sp>
      <p:sp>
        <p:nvSpPr>
          <p:cNvPr id="15" name="tickbox"/>
          <p:cNvSpPr/>
          <p:nvPr/>
        </p:nvSpPr>
        <p:spPr>
          <a:xfrm>
            <a:off x="713232" y="3727704"/>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416808"/>
            <a:ext cx="10317175" cy="91440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How: you name a method (rhetorical question, imperative, insult, list) and zoom in on one word</a:t>
            </a:r>
            <a:endParaRPr lang="en-US" sz="2000" dirty="0"/>
          </a:p>
        </p:txBody>
      </p:sp>
      <p:sp>
        <p:nvSpPr>
          <p:cNvPr id="17" name="crit-box"/>
          <p:cNvSpPr/>
          <p:nvPr/>
        </p:nvSpPr>
        <p:spPr>
          <a:xfrm>
            <a:off x="548640" y="4422648"/>
            <a:ext cx="11094415" cy="914400"/>
          </a:xfrm>
          <a:prstGeom prst="roundRect">
            <a:avLst>
              <a:gd name="adj" fmla="val 10000"/>
            </a:avLst>
          </a:prstGeom>
          <a:solidFill>
            <a:srgbClr val="F2EFF4"/>
          </a:solidFill>
          <a:ln/>
        </p:spPr>
      </p:sp>
      <p:sp>
        <p:nvSpPr>
          <p:cNvPr id="18" name="tickbox"/>
          <p:cNvSpPr/>
          <p:nvPr/>
        </p:nvSpPr>
        <p:spPr>
          <a:xfrm>
            <a:off x="713232" y="4733544"/>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422648"/>
            <a:ext cx="10317175" cy="91440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Why: you link his behaviour to the power of fathers in a patriarchal Elizabethan society, and consider how the audience might react</a:t>
            </a:r>
            <a:endParaRPr lang="en-US" sz="2000" dirty="0"/>
          </a:p>
        </p:txBody>
      </p:sp>
      <p:sp>
        <p:nvSpPr>
          <p:cNvPr id="20" name="crit-box"/>
          <p:cNvSpPr/>
          <p:nvPr/>
        </p:nvSpPr>
        <p:spPr>
          <a:xfrm>
            <a:off x="548640" y="5428488"/>
            <a:ext cx="11094415" cy="624840"/>
          </a:xfrm>
          <a:prstGeom prst="roundRect">
            <a:avLst>
              <a:gd name="adj" fmla="val 14634"/>
            </a:avLst>
          </a:prstGeom>
          <a:solidFill>
            <a:srgbClr val="F2EFF4"/>
          </a:solidFill>
          <a:ln/>
        </p:spPr>
      </p:sp>
      <p:sp>
        <p:nvSpPr>
          <p:cNvPr id="21" name="tickbox"/>
          <p:cNvSpPr/>
          <p:nvPr/>
        </p:nvSpPr>
        <p:spPr>
          <a:xfrm>
            <a:off x="713232" y="5594604"/>
            <a:ext cx="292608" cy="292608"/>
          </a:xfrm>
          <a:prstGeom prst="rect">
            <a:avLst/>
          </a:prstGeom>
          <a:solidFill>
            <a:srgbClr val="FFFFFF"/>
          </a:solidFill>
          <a:ln w="19050">
            <a:solidFill>
              <a:srgbClr val="5B3A7A"/>
            </a:solidFill>
            <a:prstDash val="solid"/>
          </a:ln>
        </p:spPr>
      </p:sp>
      <p:sp>
        <p:nvSpPr>
          <p:cNvPr id="22" name="crit"/>
          <p:cNvSpPr txBox="1"/>
          <p:nvPr/>
        </p:nvSpPr>
        <p:spPr>
          <a:xfrm>
            <a:off x="1143000" y="5428488"/>
            <a:ext cx="10317175" cy="6248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Challenge: you link back to the loving father of Act 1 Scene 2 to show how he has changed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Model answer: How Lord Capulet is presented in Act 3 Scene 5</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Shakespeare presents Lord Capulet as oppressive and callous in Act 3 Scene 5. When Juliet refuses Paris he threatens, “Hang thee, young baggage, disobedient wretch!”, and the noun ‘baggage’ reduces his daughter to luggage, something owned and carried about. The adjective ‘disobedient’ shows what matters to him: not her happiness but her obedience. In a patriarchal Elizabethan society a father's authority came from God, so many in the audience would have expected Juliet to submit; yet Shakespeare has shown us the same man in Act 1 Scene 2 saying his will to her consent was only a part, so the change reads as a betrayal of his own words. The audience is left to judge whether he is cruel or simply doing what fathers did.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Act 4 Scene 2 Juliet tells her father she has met Paris at the Friar's cell and will marry him. Why is this moment dramatic irony?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Because the audience knows she is already married and is following the Friar's plan, but Capulet does not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Juliet's apology is a performance, and the audience watches her father reward a lie. The gap between what we know and what he knows makes her kneeling painful rather than comforting, and his happy decision to bring the wedding forward shortens the time the plan has to work.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Romeo and Juliet · Chapter 5: Banishment, a father's fury and a desperate plan (Act 3, Scenes 2–5 and Act 4)</dc:title>
  <dc:subject>English Literature · Year 9</dc:subject>
  <dc:creator>Dr Vitor Merissi de Carvalho</dc:creator>
  <cp:lastModifiedBy>Dr Vitor Merissi de Carvalho</cp:lastModifiedBy>
  <cp:revision>1</cp:revision>
  <dcterms:created xsi:type="dcterms:W3CDTF">2026-10-18T17:47:07Z</dcterms:created>
  <dcterms:modified xsi:type="dcterms:W3CDTF">2026-10-18T17:47:07Z</dcterms:modified>
</cp:coreProperties>
</file>