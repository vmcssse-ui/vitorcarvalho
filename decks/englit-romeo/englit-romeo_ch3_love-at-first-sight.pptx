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18aaf7-0f10-b2b7-5287-f37bab8b72d4}">
          <p14:sldIdLst>
            <p14:sldId id="256"/>
          </p14:sldIdLst>
        </p14:section>
        <p14:section name="Gate" id="{ef923b82-0ad9-878c-e51c-b49eea5f95ad}">
          <p14:sldIdLst>
            <p14:sldId id="257"/>
            <p14:sldId id="258"/>
          </p14:sldIdLst>
        </p14:section>
        <p14:section name="Pre-teach" id="{1f961a9b-3062-3a40-8b7a-e132e6c0eef8}">
          <p14:sldIdLst>
            <p14:sldId id="259"/>
          </p14:sldIdLst>
        </p14:section>
        <p14:section name="Read-along" id="{0241bcdc-401b-8d56-290e-512cd2257557}">
          <p14:sldIdLst>
            <p14:sldId id="260"/>
            <p14:sldId id="261"/>
          </p14:sldIdLst>
        </p14:section>
        <p14:section name="Teach" id="{5284c478-b910-dfe0-4500-f94df15a8289}">
          <p14:sldIdLst>
            <p14:sldId id="262"/>
            <p14:sldId id="263"/>
            <p14:sldId id="264"/>
            <p14:sldId id="265"/>
          </p14:sldIdLst>
        </p14:section>
        <p14:section name="Routes" id="{e61cd748-fa5d-90fa-7d95-8f3549d8fd4a}">
          <p14:sldIdLst>
            <p14:sldId id="266"/>
            <p14:sldId id="267"/>
            <p14:sldId id="268"/>
            <p14:sldId id="269"/>
          </p14:sldIdLst>
        </p14:section>
        <p14:section name="Close" id="{6996b72e-6293-9bfe-63d9-e912d9da5774}">
          <p14:sldIdLst>
            <p14:sldId id="270"/>
          </p14:sldIdLst>
        </p14:section>
        <p14:section name="Answers" id="{a9cdb574-9bac-262f-0b7a-095377d22cf3}">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Love at first sight (Act 1, Scenes 4–5 and Act 2, Scene 2). This chapter takes you from Mercutio's jokes about love to the balcony, where Juliet turns out to be braver and wiser than anyone expected.
This deck covers the department's lessons: 7 (Act 1 Scenes 4–5: Romeo meets Juliet: Can I explore Romeo's use of language when first seeing Juliet?); 8 (Act 2 Scenes 1–2: the balcony scene: How is Romeo and Juliet's relationship presented in Act 2 Scene 2?); 9 (Assessment: how is Juliet presented in the extract? (deck ‘Lesson 10’): How is Juliet presented in the Act 2 Scene 2 extract, and how do I write a What, How, Why paragraph about her?).
Read the big question aloud: "How does Shakespeare turn a love story into a tragedy, and were the lovers' deaths written in the stars or chosen by the people on stage?"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is Mercutio described as a foil to Romeo?  →  B   He contrasts with Romeo, mocking the love Romeo takes seriously
2. Shrine, pilgrim, saint and prayer are all words about religion. A group of words linked by meaning is called a ___ field.  →  semantic
3. In Act 2 Scene 2, what does Juliet say would smell as sweet by any other word?  →  B   A rose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He contrasts with Romeo, mocking the love Romeo takes seriously. A foil is a contrasting character. Mercutio's jokes about love show up how serious and dreamy Romeo is.
2. semantic. A semantic field is a set of words that share a subject. Romeo and Juliet's religious words make their love sound holy.
3. B   A rose. Juliet argues that a rose would smell as sweet whatever we called it, so Romeo would still be Romeo without the name Montague.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foil: a character who is the opposite of another. Example: "Mercutio is a foil to Romeo because he laughs at love."
• soliloquy: a speech made alone on stage. Example: "In his soliloquy, Romeo compares Juliet to the sun."
• imagery: word pictures a writer paints. Example: "Romeo uses religious imagery, calling Juliet a saint."
• semantic field: a group of words about the same subject. Example: "Shrine, pilgrim and saint form a semantic field of religion."
• infatuation: a sudden, intense crush. Example: "Is it love, or only infatuation?"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Romeo and his friends go to the Capulets' party in masks.
2. Romeo is sad about a girl called Rosaline.
3. His friend Mercutio makes jokes about love and dreams.
4. Romeo has a bad feeling about the night.
5. At the party, Romeo sees Juliet across the room.
6. He forgets Rosaline at once.
7. He says Juliet teaches the torches to burn bright.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They talk, using words about saints and pilgrims.
9. They kiss, then learn that they are enemies.
10. Later that night, Romeo hides in the Capulets' orchard.
11. Juliet stands at her window and speaks her thoughts aloud.
12. She asks why Romeo must be a Montague.
13. They promise to marry.
14. The quiet girl of Act 1 is gone.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Mercutio the foil, and a dream of death (1.4). Say it in your own words, then check understanding with a quick question: ask a pupil from the pre-teach group first, since they met these words and ideas before the lesson. Pupils try to recall before you re-explain.
On the way to the party, Romeo is too lovesick to dance. His friend Mercutio has no patience with this and tells him to be rough with love if love is rough with him. Mercutio is a foil to Romeo: a character placed beside the hero to show him more clearly. Where Romeo is dreamy and serious about love, Mercutio is quick, mocking and full of innuendo, remarks with a hidden, often rude, second meaning.
Romeo says he dreamt a dream, and Mercutio answers with a long, dazzling speech about Queen Mab, the fairy who brings dreams, before dismissing dreams as nothing but fantasy. But Romeo's fear does not go away. As they enter, he says that his mind misgives: he senses some consequence hanging in the stars that will begin tonight. This is foreshadowing, and it ties his fate to the stars before he has even seen Juliet.
Quotation: "I fear too early, for my mind misgives / Some consequence yet hanging in the stars" (1.4.113–114). Read it aloud; ask what it shows.
Tip: ‘Misgives’ means has a bad feeling. Link ‘hanging in the stars’ to the Prologue's ‘star-crossed’.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Torches, saints and a shared sonnet (1.5). Say it in your own words, then check understanding with a quick question: ask a pupil from the pre-teach group first, since they met these words and ideas before the lesson. Pupils try to recall before you re-explain.
Romeo sees Juliet and speaks a soliloquy, a speech alone with his thoughts even in a crowded room. She teaches the torches to burn bright; she is a rich jewel against the cheek of night; she is a snowy dove among crows. The imagery is all light against darkness and rare value, and he asks whether his heart ever loved till now. Rosaline is gone in ten lines. Is this love, or infatuation?
When they speak, their first fourteen lines form a shared sonnet: each takes up the other's rhymes, which suggests two minds already in step. The words belong to one semantic field, religion: shrine, pilgrim, saint, prayer, devotion. Romeo makes his lips two blushing pilgrims; Juliet, witty and quick, keeps him at a distance until she allows the kiss. Then the Nurse tells each of them who the other is, and Juliet's reply is a paradox: her only love has sprung from her only hate.
Quotation: "Did my heart love till now? Forswear it, sight! / For I ne'er saw true beauty till this night." (1.5.59–60). Read it aloud; ask what it shows.
Tip: A rhyming couplet closes the thought like a lid. Romeo has decided in two lines, which is exactly the haste the Friar will warn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balcony: Juliet thinks aloud (2.2). Say it in your own words, then check understanding with a quick question: ask a pupil from the pre-teach group first, since they met these words and ideas before the lesson. Pupils try to recall before you re-explain.
In the orchard, Romeo hears Juliet before she knows he is there. His first words make her the sun rising in the east, light imagery again. Then she speaks, believing herself alone, so what we hear is honest. She asks why Romeo must be Romeo, and tells him to deny his father and refuse his name. She reasons that a name is not a hand or a foot, and that a rose would smell as sweet by any other word. This is a thoughtful, intelligent argument, not a sigh.
When she realises she has been overheard she questions him sharply, and when he swears love she calls it too rash, too unadvised, too sudden. It is Juliet, not Romeo, who steers the scene: she doubts, she tests, and finally she proposes marriage. The demure daughter of Act 1 Scene 3 has become passionate, assertive and courageous. For an Elizabethan audience, a girl of thirteen choosing her own husband, and an enemy at that, was a shocking act of rebellion against her father and her society.
Quotation: "O Romeo, Romeo, wherefore art thou Romeo? / Deny thy father and refuse thy name," (2.2.36–37). Read it aloud; ask what it shows.
Tip: ‘Wherefore’ means why, not where. Juliet is asking why he has to be a Montague, not where he is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What, How, Why paragraph. Say it in your own words, then check understanding with a quick question: ask a pupil from the pre-teach group first, since they met these words and ideas before the lesson. Pupils try to recall before you re-explain.
Your assessment asks how Juliet is presented in the Act 2 Scene 2 extract. Use three What, How, Why paragraphs. What: a topic sentence with an adjective, such as passionate, thoughtful, rebellious, romantic or assertive. How: a short quotation embedded in your own sentence, with the method named (interrogative, imperative, metaphor, repetition) and a zoom in on one word. Why: what this shows about Juliet, and what an Elizabethan audience would feel.
At GCSE these three steps have names. AO1 is your point and your use of quotations as evidence; AO2 is analysis of language, form and structure, using the right terms; AO3 is the link to context. You are practising all three now. Weave the context in where it explains a word, and never bolt it on at the end as a separate history lesson.
Quotation: "What's in a name? That which we call a rose / By any other word would smell as sweet." (2.2.46–47). Read it aloud; ask what it shows.
Tip: A short quotation like ‘refuse thy name’ is worth more than a long one, because it lets you zoom in on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Quotations and methods in the meeting scene.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Act 1 Scene 5 to the method Shakespeare is using.
Support — work through the steps with the group: (1) Read each quotation aloud and find who is speaking. (2) Underline one key word in each: torches, pilgrims, love till now, love and hate. (3) Match the key word to the method: fire and light, church words, a question, two opposites.
Parallel worked example for Support (model it, do not give the task answer): Practice: what method is Romeo using when he says Juliet is like a rich jewel in an Ethiope's ear? He compares Juliet to a jewel.; The comparison uses ‘like’.; So it is a simile, and the jewel is also light against darkness.. Answer: A simile, which is also light imagery: a bright jewel against a dark background..
Core — reveal the hint only on request: Three of the methods are about pictures (light, religion, opposites); one is about sentence type.
Stretch — no help; when finished: Religious words were serious to an Elizabethan audience. Write one sentence arguing that the pilgrim imagery makes the love holy, and one arguing that it is dangerously close to blasphemy.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Quotations and methods in the meeting scene.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Act 1 Scene 5 to the method Shakespeare is using.
Support — work through the steps with the group: (1) Read each quotation aloud and find who is speaking. (2) Underline one key word in each: torches, pilgrims, love till now, love and hate. (3) Match the key word to the method: fire and light, church words, a question, two opposites.
Parallel worked example for Support (model it, do not give the task answer): Practice: what method is Romeo using when he says Juliet is like a rich jewel in an Ethiope's ear? He compares Juliet to a jewel.; The comparison uses ‘like’.; So it is a simile, and the jewel is also light against darkness.. Answer: A simile, which is also light imagery: a bright jewel against a dark background..
Core — reveal the hint only on request: Three of the methods are about pictures (light, religion, opposites); one is about sentence type.
Stretch — no help; when finished: Religious words were serious to an Elizabethan audience. Write one sentence arguing that the pilgrim imagery makes the love holy, and one arguing that it is dangerously close to blasphemy.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Juliet is presented in the balcony scene.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Juliet in the Act 2 Scene 2 extract? Write one What, How, Why paragraph.
Support — work through the steps with the group: (1) What: choose one adjective from the list and write a topic sentence with it. (2) How: pick a short quotation that proves it, name the method, and zoom in on one word. (3) Why: say what this shows about Juliet, then explain how an Elizabethan audience, who expected daughters to obey, would react. (4) Check: have you used the exact words What, How and Why to structure your sentences?
Parallel worked example for Support (model it, do not give the task answer): Practice question: how does Shakespeare present Romeo at the start of Act 2 Scene 2? What: Romeo is romantic and idealistic.; How: he says “It is the East, and Juliet is the sun”, a metaphor.; Why: the sun is the source of all light, so he makes her the centre of his world; it continues the light imagery from the party.. Answer: Shakespeare presents Romeo as romantic and idealistic. Watching Juliet's window he declares, “It is the East, and Juliet is the sun”. The metaphor makes her the source of all light and warmth, continuing the torch imagery of the party and suggesting that his whole world now turns around her. Elizabethan courtly love expected a man to worship the woman he loved, and Romeo plays the part perfectly..
Core — reveal the hint only on request: Find the moment Juliet makes a demand or an argument, not just a sigh. That is where her courage and intelligence show.
Stretch — no help; when finished: Add a sentence that compares this Juliet with the Juliet of Act 1 Scene 3. Then judge: has she changed, or was the obedient daughter always 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Juliet is presented in the balcony scene.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Juliet in the Act 2 Scene 2 extract? Write one What, How, Why paragraph.
Support — work through the steps with the group: (1) What: choose one adjective from the list and write a topic sentence with it. (2) How: pick a short quotation that proves it, name the method, and zoom in on one word. (3) Why: say what this shows about Juliet, then explain how an Elizabethan audience, who expected daughters to obey, would react. (4) Check: have you used the exact words What, How and Why to structure your sentences?
Parallel worked example for Support (model it, do not give the task answer): Practice question: how does Shakespeare present Romeo at the start of Act 2 Scene 2? What: Romeo is romantic and idealistic.; How: he says “It is the East, and Juliet is the sun”, a metaphor.; Why: the sun is the source of all light, so he makes her the centre of his world; it continues the light imagery from the party.. Answer: Shakespeare presents Romeo as romantic and idealistic. Watching Juliet's window he declares, “It is the East, and Juliet is the sun”. The metaphor makes her the source of all light and warmth, continuing the torch imagery of the party and suggesting that his whole world now turns around her. Elizabethan courtly love expected a man to worship the woman he loved, and Romeo plays the part perfectly..
Core — reveal the hint only on request: Find the moment Juliet makes a demand or an argument, not just a sigh. That is where her courage and intelligence show.
Stretch — no help; when finished: Add a sentence that compares this Juliet with the Juliet of Act 1 Scene 3. Then judge: has she changed, or was the obedient daughter always 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Juliet's feelings in Act 2 Scene 2 in the order they appear in the scene.
Answer: Longing: alone, she wishes Romeo were not a Montague.  (D); Alarm: she realises a stranger has heard her and demands to know who he is.  (B); Doubt: she calls their love too rash, too unadvised, too sudden.  (A); Commitment: she asks when they can marry and promises to send a messenger.  (C). Your lesson tracked Juliet's feelings line by line. The arc from longing to alarm to doubt to commitment shows a character who thinks before she decides, which is why her decision carries weight.
Source of this question: module 3 task ("Tracking Juliet's feelings")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Quotations and methods in the meeting scene. Reveal the answer; pupils mark their own work in a different colour, then read the "why" together. Same destination for every lane, so one answer serves the whole class.
Answer: “O, she doth teach the torches to burn bright!”  →  C  Light imagery: Juliet outshines the fire; “My lips, two blushing pilgrims, ready stand”  →  A  Religious imagery: a semantic field of pilgrims and saints; “Did my heart love till now? Forswear it, sight!”  →  D  A rhetorical question and an exclamation: he commands his own eyes; “My only love sprung from my only hate!”  →  B  A paradox: love and hate are born from each other
Why: Naming the method is the How of your paragraph. Each of these four lines gives you a method you can reuse for any question on Act 1 Scene 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Juliet is presented in the balcony scene. Reveal the answer; pupils mark their own work in a different colour, then read the "why" together. Same destination for every lane, so one answer serves the whole class.
Answer: What: a topic sentence with an adjective for Juliet (passionate, thoughtful, rebellious, assertive, vulnerable); How: at least one short quotation from Act 2 Scene 2, embedded in your own sentence; How: you name a method (interrogative, imperative, metaphor, repetition) and zoom in on one word; Why: you link what she says to Elizabethan expectations of daughters and show how she challenges them
Why: The best answers choose an adjective, prove it with a short quotation, analyse one word, and then explain why an Elizabethan audience would be shocked. The model does all four in one paragraph.
Model answer: Shakespeare presents Juliet as rebellious and courageous in this extract. Alone at her window she commands, “Deny thy father and refuse thy name”, and the two imperatives ‘deny’ and ‘refuse’ ask Romeo to give up the thing that defines a man in Verona, his family. The verb ‘deny’ is especially strong, because to deny a father was to deny God in a patriarchal society. Yet she is asking him to do only what she is prepared to do herself: in the next line she offers to stop being a Capulet. For an Elizabethan audience, a daughter of thirteen choosing an enemy for a husband without her father's consent was a shocking act of defiance, and Shakespeare makes it sound thoughtful rather than reckless.
Success criteria: What: a topic sentence with an adjective for Juliet (passionate, thoughtful, rebellious, assertive, vulnerable); How: at least one short quotation from Act 2 Scene 2, embedded in your own sentence; How: you name a method (interrogative, imperative, metaphor, repetition) and zoom in on one word; Why: you link what she says to Elizabethan expectations of daughters and show how she challenges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Juliet is presented in the balcony scene. Reveal the answer; pupils mark their own work in a different colour, then read the "why" together. Same destination for every lane, so one answer serves the whole class.
Answer: What: a topic sentence with an adjective for Juliet (passionate, thoughtful, rebellious, assertive, vulnerable); How: at least one short quotation from Act 2 Scene 2, embedded in your own sentence; How: you name a method (interrogative, imperative, metaphor, repetition) and zoom in on one word; Why: you link what she says to Elizabethan expectations of daughters and show how she challenges them
Why: The best answers choose an adjective, prove it with a short quotation, analyse one word, and then explain why an Elizabethan audience would be shocked. The model does all four in one paragraph.
Model answer: Shakespeare presents Juliet as rebellious and courageous in this extract. Alone at her window she commands, “Deny thy father and refuse thy name”, and the two imperatives ‘deny’ and ‘refuse’ ask Romeo to give up the thing that defines a man in Verona, his family. The verb ‘deny’ is especially strong, because to deny a father was to deny God in a patriarchal society. Yet she is asking him to do only what she is prepared to do herself: in the next line she offers to stop being a Capulet. For an Elizabethan audience, a daughter of thirteen choosing an enemy for a husband without her father's consent was a shocking act of defiance, and Shakespeare makes it sound thoughtful rather than reckless.
Success criteria: What: a topic sentence with an adjective for Juliet (passionate, thoughtful, rebellious, assertive, vulnerable); How: at least one short quotation from Act 2 Scene 2, embedded in your own sentence; How: you name a method (interrogative, imperative, metaphor, repetition) and zoom in on one word; Why: you link what she says to Elizabethan expectations of daughters and show how she challenges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Longing: alone, she wishes Romeo were not a Montague.  (D); Alarm: she realises a stranger has heard her and demands to know who he is.  (B); Doubt: she calls their love too rash, too unadvised, too sudden.  (A); Commitment: she asks when they can marry and promises to send a messenger.  (C)
Why: Your lesson tracked Juliet's feelings line by line. The arc from longing to alarm to doubt to commitment shows a character who thinks before she decides, which is why her decision carries weight.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Romeo and Juliet · AQA KS3 → 8702</a:t>
            </a:r>
            <a:endParaRPr lang="en-US" sz="1800" dirty="0"/>
          </a:p>
        </p:txBody>
      </p:sp>
      <p:sp>
        <p:nvSpPr>
          <p:cNvPr id="10" name="deck-title"/>
          <p:cNvSpPr txBox="1"/>
          <p:nvPr/>
        </p:nvSpPr>
        <p:spPr>
          <a:xfrm>
            <a:off x="548640" y="208838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Love at first sight (Act 1, Scenes 4–5 and Act 2, Scene 2)</a:t>
            </a:r>
            <a:endParaRPr lang="en-US" sz="2800" dirty="0"/>
          </a:p>
        </p:txBody>
      </p:sp>
      <p:sp>
        <p:nvSpPr>
          <p:cNvPr id="11" name="lessons-card"/>
          <p:cNvSpPr/>
          <p:nvPr/>
        </p:nvSpPr>
        <p:spPr>
          <a:xfrm>
            <a:off x="548640" y="3368548"/>
            <a:ext cx="5287975" cy="1986280"/>
          </a:xfrm>
          <a:prstGeom prst="roundRect">
            <a:avLst>
              <a:gd name="adj" fmla="val 3683"/>
            </a:avLst>
          </a:prstGeom>
          <a:solidFill>
            <a:srgbClr val="EFEBF2"/>
          </a:solidFill>
          <a:ln/>
        </p:spPr>
      </p:sp>
      <p:sp>
        <p:nvSpPr>
          <p:cNvPr id="12" name="lessons"/>
          <p:cNvSpPr txBox="1"/>
          <p:nvPr/>
        </p:nvSpPr>
        <p:spPr>
          <a:xfrm>
            <a:off x="685800" y="345998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Scenes 4–5: Romeo meets Juliet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Scenes 1–2: the balcony scene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Assessment: how is Juliet presented in the extract? (deck ‘Lesson 10’)</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Shakespeare turn a love story into a tragedy, and were the lovers' deaths written in the stars or chosen by the people on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is Mercutio described as a foil to Romeo?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is Romeo's enemy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contrasts with Romeo, mocking the love Romeo takes seriously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looks exactly like Romeo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betrays Romeo to the Capulets</a:t>
            </a:r>
            <a:endParaRPr lang="en-US" sz="18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Shrine, pilgrim, saint and prayer are all words about religion. A group of words linked by meaning is called a ___ field.</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semantic  ·  lexical  ·  magnetic</a:t>
            </a:r>
            <a:endParaRPr lang="en-US" sz="24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Act 2 Scene 2, what does Juliet say would smell as sweet by any other word?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lily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rose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violet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apple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He contrasts with Romeo, mocking the love Romeo takes seriously</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foil is a contrasting character. Mercutio's jokes about love show up how serious and dreamy Romeo is.</a:t>
            </a:r>
            <a:endParaRPr lang="en-US" sz="18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semantic</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semantic field is a set of words that share a subject. Romeo and Juliet's religious words make their love sound holy.</a:t>
            </a:r>
            <a:endParaRPr lang="en-US" sz="18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rose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Act 2 Scene 2, what does Juliet say would smell as sweet by any other word?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Juliet argues that a rose would smell as sweet whatever we called it, so Romeo would still be Romeo without the name Montague.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7692"/>
          </a:xfrm>
          <a:prstGeom prst="roundRect">
            <a:avLst>
              <a:gd name="adj" fmla="val 6549"/>
            </a:avLst>
          </a:prstGeom>
          <a:solidFill>
            <a:srgbClr val="F2EFF4"/>
          </a:solidFill>
          <a:ln/>
        </p:spPr>
      </p:sp>
      <p:sp>
        <p:nvSpPr>
          <p:cNvPr id="12" name="kw-hex"/>
          <p:cNvSpPr/>
          <p:nvPr/>
        </p:nvSpPr>
        <p:spPr>
          <a:xfrm>
            <a:off x="658368" y="2160915"/>
            <a:ext cx="411480" cy="356342"/>
          </a:xfrm>
          <a:prstGeom prst="hexagon">
            <a:avLst/>
          </a:prstGeom>
          <a:solidFill>
            <a:srgbClr val="5B3A7A"/>
          </a:solidFill>
          <a:ln/>
        </p:spPr>
      </p:sp>
      <p:sp>
        <p:nvSpPr>
          <p:cNvPr id="13" name="kw-cell"/>
          <p:cNvSpPr txBox="1"/>
          <p:nvPr/>
        </p:nvSpPr>
        <p:spPr>
          <a:xfrm>
            <a:off x="1143000" y="1920240"/>
            <a:ext cx="2331720" cy="837692"/>
          </a:xfrm>
          <a:prstGeom prst="rect">
            <a:avLst/>
          </a:prstGeom>
          <a:noFill/>
          <a:ln/>
        </p:spPr>
        <p:txBody>
          <a:bodyPr wrap="square" lIns="63500" tIns="63500" rIns="63500" bIns="63500" rtlCol="0" anchor="ctr"/>
          <a:lstStyle/>
          <a:p>
            <a:pPr algn="l" indent="0" marL="0">
              <a:buNone/>
            </a:pPr>
            <a:r>
              <a:rPr lang="en-US" sz="2200" b="1" dirty="0">
                <a:solidFill>
                  <a:srgbClr val="5B3A7A"/>
                </a:solidFill>
                <a:latin typeface="Cambria" pitchFamily="34" charset="0"/>
                <a:ea typeface="Cambria" pitchFamily="34" charset="-122"/>
                <a:cs typeface="Cambria" pitchFamily="34" charset="-120"/>
              </a:rPr>
              <a:t>foil</a:t>
            </a:r>
            <a:endParaRPr lang="en-US" sz="2200" dirty="0"/>
          </a:p>
        </p:txBody>
      </p:sp>
      <p:sp>
        <p:nvSpPr>
          <p:cNvPr id="14" name="kw-cell"/>
          <p:cNvSpPr txBox="1"/>
          <p:nvPr/>
        </p:nvSpPr>
        <p:spPr>
          <a:xfrm>
            <a:off x="3657600" y="1920240"/>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character who is the opposite of another</a:t>
            </a:r>
            <a:endParaRPr lang="en-US" sz="2000" dirty="0"/>
          </a:p>
        </p:txBody>
      </p:sp>
      <p:sp>
        <p:nvSpPr>
          <p:cNvPr id="15" name="kw-cell"/>
          <p:cNvSpPr txBox="1"/>
          <p:nvPr/>
        </p:nvSpPr>
        <p:spPr>
          <a:xfrm>
            <a:off x="7315200" y="1920240"/>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Mercutio is a foil to Romeo because he laughs at love.</a:t>
            </a:r>
            <a:endParaRPr lang="en-US" sz="2000" dirty="0"/>
          </a:p>
        </p:txBody>
      </p:sp>
      <p:sp>
        <p:nvSpPr>
          <p:cNvPr id="16" name="kw-row"/>
          <p:cNvSpPr/>
          <p:nvPr/>
        </p:nvSpPr>
        <p:spPr>
          <a:xfrm>
            <a:off x="548640" y="2831084"/>
            <a:ext cx="11094415" cy="837692"/>
          </a:xfrm>
          <a:prstGeom prst="roundRect">
            <a:avLst>
              <a:gd name="adj" fmla="val 6549"/>
            </a:avLst>
          </a:prstGeom>
          <a:solidFill>
            <a:srgbClr val="F6F0E6"/>
          </a:solidFill>
          <a:ln/>
        </p:spPr>
      </p:sp>
      <p:sp>
        <p:nvSpPr>
          <p:cNvPr id="17" name="kw-hex"/>
          <p:cNvSpPr/>
          <p:nvPr/>
        </p:nvSpPr>
        <p:spPr>
          <a:xfrm>
            <a:off x="658368" y="3071759"/>
            <a:ext cx="411480" cy="356342"/>
          </a:xfrm>
          <a:prstGeom prst="hexagon">
            <a:avLst/>
          </a:prstGeom>
          <a:solidFill>
            <a:srgbClr val="B8862B"/>
          </a:solidFill>
          <a:ln/>
        </p:spPr>
      </p:sp>
      <p:sp>
        <p:nvSpPr>
          <p:cNvPr id="18" name="kw-cell"/>
          <p:cNvSpPr txBox="1"/>
          <p:nvPr/>
        </p:nvSpPr>
        <p:spPr>
          <a:xfrm>
            <a:off x="1143000" y="2831084"/>
            <a:ext cx="2331720" cy="837692"/>
          </a:xfrm>
          <a:prstGeom prst="rect">
            <a:avLst/>
          </a:prstGeom>
          <a:noFill/>
          <a:ln/>
        </p:spPr>
        <p:txBody>
          <a:bodyPr wrap="square" lIns="63500" tIns="63500" rIns="63500" bIns="63500" rtlCol="0" anchor="ctr"/>
          <a:lstStyle/>
          <a:p>
            <a:pPr algn="l" indent="0" marL="0">
              <a:buNone/>
            </a:pPr>
            <a:r>
              <a:rPr lang="en-US" sz="2200" b="1" dirty="0">
                <a:solidFill>
                  <a:srgbClr val="5B3A7A"/>
                </a:solidFill>
                <a:latin typeface="Cambria" pitchFamily="34" charset="0"/>
                <a:ea typeface="Cambria" pitchFamily="34" charset="-122"/>
                <a:cs typeface="Cambria" pitchFamily="34" charset="-120"/>
              </a:rPr>
              <a:t>soliloquy</a:t>
            </a:r>
            <a:endParaRPr lang="en-US" sz="2200" dirty="0"/>
          </a:p>
        </p:txBody>
      </p:sp>
      <p:sp>
        <p:nvSpPr>
          <p:cNvPr id="19" name="kw-cell"/>
          <p:cNvSpPr txBox="1"/>
          <p:nvPr/>
        </p:nvSpPr>
        <p:spPr>
          <a:xfrm>
            <a:off x="3657600" y="2831084"/>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speech made alone on stage</a:t>
            </a:r>
            <a:endParaRPr lang="en-US" sz="2000" dirty="0"/>
          </a:p>
        </p:txBody>
      </p:sp>
      <p:sp>
        <p:nvSpPr>
          <p:cNvPr id="20" name="kw-cell"/>
          <p:cNvSpPr txBox="1"/>
          <p:nvPr/>
        </p:nvSpPr>
        <p:spPr>
          <a:xfrm>
            <a:off x="7315200" y="2831084"/>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In his soliloquy, Romeo compares Juliet to the sun.</a:t>
            </a:r>
            <a:endParaRPr lang="en-US" sz="2000" dirty="0"/>
          </a:p>
        </p:txBody>
      </p:sp>
      <p:sp>
        <p:nvSpPr>
          <p:cNvPr id="21" name="kw-row"/>
          <p:cNvSpPr/>
          <p:nvPr/>
        </p:nvSpPr>
        <p:spPr>
          <a:xfrm>
            <a:off x="548640" y="3741928"/>
            <a:ext cx="11094415" cy="837692"/>
          </a:xfrm>
          <a:prstGeom prst="roundRect">
            <a:avLst>
              <a:gd name="adj" fmla="val 6549"/>
            </a:avLst>
          </a:prstGeom>
          <a:solidFill>
            <a:srgbClr val="F2EFF4"/>
          </a:solidFill>
          <a:ln/>
        </p:spPr>
      </p:sp>
      <p:sp>
        <p:nvSpPr>
          <p:cNvPr id="22" name="kw-hex"/>
          <p:cNvSpPr/>
          <p:nvPr/>
        </p:nvSpPr>
        <p:spPr>
          <a:xfrm>
            <a:off x="658368" y="3982603"/>
            <a:ext cx="411480" cy="356342"/>
          </a:xfrm>
          <a:prstGeom prst="hexagon">
            <a:avLst/>
          </a:prstGeom>
          <a:solidFill>
            <a:srgbClr val="5B3A7A"/>
          </a:solidFill>
          <a:ln/>
        </p:spPr>
      </p:sp>
      <p:sp>
        <p:nvSpPr>
          <p:cNvPr id="23" name="kw-cell"/>
          <p:cNvSpPr txBox="1"/>
          <p:nvPr/>
        </p:nvSpPr>
        <p:spPr>
          <a:xfrm>
            <a:off x="1143000" y="3741928"/>
            <a:ext cx="2331720" cy="837692"/>
          </a:xfrm>
          <a:prstGeom prst="rect">
            <a:avLst/>
          </a:prstGeom>
          <a:noFill/>
          <a:ln/>
        </p:spPr>
        <p:txBody>
          <a:bodyPr wrap="square" lIns="63500" tIns="63500" rIns="63500" bIns="63500" rtlCol="0" anchor="ctr"/>
          <a:lstStyle/>
          <a:p>
            <a:pPr algn="l" indent="0" marL="0">
              <a:buNone/>
            </a:pPr>
            <a:r>
              <a:rPr lang="en-US" sz="2200" b="1" dirty="0">
                <a:solidFill>
                  <a:srgbClr val="5B3A7A"/>
                </a:solidFill>
                <a:latin typeface="Cambria" pitchFamily="34" charset="0"/>
                <a:ea typeface="Cambria" pitchFamily="34" charset="-122"/>
                <a:cs typeface="Cambria" pitchFamily="34" charset="-120"/>
              </a:rPr>
              <a:t>imagery</a:t>
            </a:r>
            <a:endParaRPr lang="en-US" sz="2200" dirty="0"/>
          </a:p>
        </p:txBody>
      </p:sp>
      <p:sp>
        <p:nvSpPr>
          <p:cNvPr id="24" name="kw-cell"/>
          <p:cNvSpPr txBox="1"/>
          <p:nvPr/>
        </p:nvSpPr>
        <p:spPr>
          <a:xfrm>
            <a:off x="3657600" y="374192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word pictures a writer paints</a:t>
            </a:r>
            <a:endParaRPr lang="en-US" sz="2000" dirty="0"/>
          </a:p>
        </p:txBody>
      </p:sp>
      <p:sp>
        <p:nvSpPr>
          <p:cNvPr id="25" name="kw-cell"/>
          <p:cNvSpPr txBox="1"/>
          <p:nvPr/>
        </p:nvSpPr>
        <p:spPr>
          <a:xfrm>
            <a:off x="7315200" y="374192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Romeo uses religious imagery, calling Juliet a saint.</a:t>
            </a:r>
            <a:endParaRPr lang="en-US" sz="2000" dirty="0"/>
          </a:p>
        </p:txBody>
      </p:sp>
      <p:sp>
        <p:nvSpPr>
          <p:cNvPr id="26" name="kw-row"/>
          <p:cNvSpPr/>
          <p:nvPr/>
        </p:nvSpPr>
        <p:spPr>
          <a:xfrm>
            <a:off x="548640" y="4652772"/>
            <a:ext cx="11094415" cy="837692"/>
          </a:xfrm>
          <a:prstGeom prst="roundRect">
            <a:avLst>
              <a:gd name="adj" fmla="val 6549"/>
            </a:avLst>
          </a:prstGeom>
          <a:solidFill>
            <a:srgbClr val="F6F0E6"/>
          </a:solidFill>
          <a:ln/>
        </p:spPr>
      </p:sp>
      <p:sp>
        <p:nvSpPr>
          <p:cNvPr id="27" name="kw-hex"/>
          <p:cNvSpPr/>
          <p:nvPr/>
        </p:nvSpPr>
        <p:spPr>
          <a:xfrm>
            <a:off x="658368" y="4893447"/>
            <a:ext cx="411480" cy="356342"/>
          </a:xfrm>
          <a:prstGeom prst="hexagon">
            <a:avLst/>
          </a:prstGeom>
          <a:solidFill>
            <a:srgbClr val="B8862B"/>
          </a:solidFill>
          <a:ln/>
        </p:spPr>
      </p:sp>
      <p:sp>
        <p:nvSpPr>
          <p:cNvPr id="28" name="kw-cell"/>
          <p:cNvSpPr txBox="1"/>
          <p:nvPr/>
        </p:nvSpPr>
        <p:spPr>
          <a:xfrm>
            <a:off x="1143000" y="4652772"/>
            <a:ext cx="2331720" cy="837692"/>
          </a:xfrm>
          <a:prstGeom prst="rect">
            <a:avLst/>
          </a:prstGeom>
          <a:noFill/>
          <a:ln/>
        </p:spPr>
        <p:txBody>
          <a:bodyPr wrap="square" lIns="63500" tIns="63500" rIns="63500" bIns="63500" rtlCol="0" anchor="ctr"/>
          <a:lstStyle/>
          <a:p>
            <a:pPr algn="l" indent="0" marL="0">
              <a:buNone/>
            </a:pPr>
            <a:r>
              <a:rPr lang="en-US" sz="2200" b="1" dirty="0">
                <a:solidFill>
                  <a:srgbClr val="5B3A7A"/>
                </a:solidFill>
                <a:latin typeface="Cambria" pitchFamily="34" charset="0"/>
                <a:ea typeface="Cambria" pitchFamily="34" charset="-122"/>
                <a:cs typeface="Cambria" pitchFamily="34" charset="-120"/>
              </a:rPr>
              <a:t>semantic field</a:t>
            </a:r>
            <a:endParaRPr lang="en-US" sz="2200" dirty="0"/>
          </a:p>
        </p:txBody>
      </p:sp>
      <p:sp>
        <p:nvSpPr>
          <p:cNvPr id="29" name="kw-cell"/>
          <p:cNvSpPr txBox="1"/>
          <p:nvPr/>
        </p:nvSpPr>
        <p:spPr>
          <a:xfrm>
            <a:off x="3657600" y="4652772"/>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group of words about the same subject</a:t>
            </a:r>
            <a:endParaRPr lang="en-US" sz="2000" dirty="0"/>
          </a:p>
        </p:txBody>
      </p:sp>
      <p:sp>
        <p:nvSpPr>
          <p:cNvPr id="30" name="kw-cell"/>
          <p:cNvSpPr txBox="1"/>
          <p:nvPr/>
        </p:nvSpPr>
        <p:spPr>
          <a:xfrm>
            <a:off x="7315200" y="4652772"/>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Shrine, pilgrim and saint form a semantic field of religion.</a:t>
            </a:r>
            <a:endParaRPr lang="en-US" sz="2000" dirty="0"/>
          </a:p>
        </p:txBody>
      </p:sp>
      <p:sp>
        <p:nvSpPr>
          <p:cNvPr id="31" name="kw-row"/>
          <p:cNvSpPr/>
          <p:nvPr/>
        </p:nvSpPr>
        <p:spPr>
          <a:xfrm>
            <a:off x="548640" y="5563616"/>
            <a:ext cx="11094415" cy="581152"/>
          </a:xfrm>
          <a:prstGeom prst="roundRect">
            <a:avLst>
              <a:gd name="adj" fmla="val 9441"/>
            </a:avLst>
          </a:prstGeom>
          <a:solidFill>
            <a:srgbClr val="F2EFF4"/>
          </a:solidFill>
          <a:ln/>
        </p:spPr>
      </p:sp>
      <p:sp>
        <p:nvSpPr>
          <p:cNvPr id="32" name="kw-hex"/>
          <p:cNvSpPr/>
          <p:nvPr/>
        </p:nvSpPr>
        <p:spPr>
          <a:xfrm>
            <a:off x="658368" y="5676021"/>
            <a:ext cx="411480" cy="356342"/>
          </a:xfrm>
          <a:prstGeom prst="hexagon">
            <a:avLst/>
          </a:prstGeom>
          <a:solidFill>
            <a:srgbClr val="5B3A7A"/>
          </a:solidFill>
          <a:ln/>
        </p:spPr>
      </p:sp>
      <p:sp>
        <p:nvSpPr>
          <p:cNvPr id="33" name="kw-cell"/>
          <p:cNvSpPr txBox="1"/>
          <p:nvPr/>
        </p:nvSpPr>
        <p:spPr>
          <a:xfrm>
            <a:off x="1143000" y="5563616"/>
            <a:ext cx="2331720" cy="581152"/>
          </a:xfrm>
          <a:prstGeom prst="rect">
            <a:avLst/>
          </a:prstGeom>
          <a:noFill/>
          <a:ln/>
        </p:spPr>
        <p:txBody>
          <a:bodyPr wrap="square" lIns="63500" tIns="63500" rIns="63500" bIns="63500" rtlCol="0" anchor="ctr"/>
          <a:lstStyle/>
          <a:p>
            <a:pPr algn="l" indent="0" marL="0">
              <a:buNone/>
            </a:pPr>
            <a:r>
              <a:rPr lang="en-US" sz="2200" b="1" dirty="0">
                <a:solidFill>
                  <a:srgbClr val="5B3A7A"/>
                </a:solidFill>
                <a:latin typeface="Cambria" pitchFamily="34" charset="0"/>
                <a:ea typeface="Cambria" pitchFamily="34" charset="-122"/>
                <a:cs typeface="Cambria" pitchFamily="34" charset="-120"/>
              </a:rPr>
              <a:t>infatuation</a:t>
            </a:r>
            <a:endParaRPr lang="en-US" sz="2200" dirty="0"/>
          </a:p>
        </p:txBody>
      </p:sp>
      <p:sp>
        <p:nvSpPr>
          <p:cNvPr id="34" name="kw-cell"/>
          <p:cNvSpPr txBox="1"/>
          <p:nvPr/>
        </p:nvSpPr>
        <p:spPr>
          <a:xfrm>
            <a:off x="3657600" y="5563616"/>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sudden, intense crush</a:t>
            </a:r>
            <a:endParaRPr lang="en-US" sz="2000" dirty="0"/>
          </a:p>
        </p:txBody>
      </p:sp>
      <p:sp>
        <p:nvSpPr>
          <p:cNvPr id="35" name="kw-cell"/>
          <p:cNvSpPr txBox="1"/>
          <p:nvPr/>
        </p:nvSpPr>
        <p:spPr>
          <a:xfrm>
            <a:off x="7315200" y="5563616"/>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Is it love, or only infatuation?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and his friends go to the Capulets' party in masks.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is sad about a girl called Rosaline.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friend Mercutio makes jokes about love and dreams.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has a bad feeling about the night.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the party, Romeo sees Juliet across the room.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forgets Rosaline at once.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says Juliet teaches the torches to burn bright.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talk, using words about saints and pilgrims.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kiss, then learn that they are enemies.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Later that night, Romeo hides in the Capulets' orchard.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Juliet stands at her window and speaks her thoughts aloud.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asks why Romeo must be a Montague.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promise to marry.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quiet girl of Act 1 is gone.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Mercutio the foil, and a dream of death (1.4)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‘Misgives’ means has a bad feeling. Link ‘hanging in the stars’ to the Prologue's ‘star-crossed’.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 fear too early, for my mind misgives / Some consequence yet hanging in the stars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1.4.113–114</a:t>
            </a:r>
            <a:endParaRPr lang="en-US" sz="2600" dirty="0"/>
          </a:p>
        </p:txBody>
      </p:sp>
      <p:sp>
        <p:nvSpPr>
          <p:cNvPr id="14" name="bullet-card"/>
          <p:cNvSpPr/>
          <p:nvPr/>
        </p:nvSpPr>
        <p:spPr>
          <a:xfrm>
            <a:off x="548640" y="1389888"/>
            <a:ext cx="5074920" cy="948690"/>
          </a:xfrm>
          <a:prstGeom prst="roundRect">
            <a:avLst>
              <a:gd name="adj" fmla="val 7711"/>
            </a:avLst>
          </a:prstGeom>
          <a:solidFill>
            <a:srgbClr val="F2EFF4"/>
          </a:solidFill>
          <a:ln/>
        </p:spPr>
      </p:sp>
      <p:sp>
        <p:nvSpPr>
          <p:cNvPr id="15" name="bullet-hex"/>
          <p:cNvSpPr/>
          <p:nvPr/>
        </p:nvSpPr>
        <p:spPr>
          <a:xfrm>
            <a:off x="676656" y="1697940"/>
            <a:ext cx="384048" cy="332586"/>
          </a:xfrm>
          <a:prstGeom prst="hexagon">
            <a:avLst/>
          </a:prstGeom>
          <a:solidFill>
            <a:srgbClr val="5B3A7A"/>
          </a:solidFill>
          <a:ln/>
        </p:spPr>
      </p:sp>
      <p:sp>
        <p:nvSpPr>
          <p:cNvPr id="16" name="bullet"/>
          <p:cNvSpPr txBox="1"/>
          <p:nvPr/>
        </p:nvSpPr>
        <p:spPr>
          <a:xfrm>
            <a:off x="1143000" y="1389888"/>
            <a:ext cx="4389120"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 the way to the party, Romeo is too lovesick to dance.</a:t>
            </a:r>
            <a:endParaRPr lang="en-US" sz="2200" dirty="0"/>
          </a:p>
        </p:txBody>
      </p:sp>
      <p:sp>
        <p:nvSpPr>
          <p:cNvPr id="17" name="bullet-card"/>
          <p:cNvSpPr/>
          <p:nvPr/>
        </p:nvSpPr>
        <p:spPr>
          <a:xfrm>
            <a:off x="548640" y="2484882"/>
            <a:ext cx="5074920" cy="2312162"/>
          </a:xfrm>
          <a:prstGeom prst="roundRect">
            <a:avLst>
              <a:gd name="adj" fmla="val 3164"/>
            </a:avLst>
          </a:prstGeom>
          <a:solidFill>
            <a:srgbClr val="F2EFF4"/>
          </a:solidFill>
          <a:ln/>
        </p:spPr>
      </p:sp>
      <p:sp>
        <p:nvSpPr>
          <p:cNvPr id="18" name="bullet-hex"/>
          <p:cNvSpPr/>
          <p:nvPr/>
        </p:nvSpPr>
        <p:spPr>
          <a:xfrm>
            <a:off x="676656" y="3474670"/>
            <a:ext cx="384048" cy="332586"/>
          </a:xfrm>
          <a:prstGeom prst="hexagon">
            <a:avLst/>
          </a:prstGeom>
          <a:solidFill>
            <a:srgbClr val="B8862B"/>
          </a:solidFill>
          <a:ln/>
        </p:spPr>
      </p:sp>
      <p:sp>
        <p:nvSpPr>
          <p:cNvPr id="19" name="bullet"/>
          <p:cNvSpPr txBox="1"/>
          <p:nvPr/>
        </p:nvSpPr>
        <p:spPr>
          <a:xfrm>
            <a:off x="1143000" y="2484882"/>
            <a:ext cx="4389120" cy="231216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Romeo says he dreamt a dream, and Mercutio answers with a long, dazzling speech about Queen Mab, the fairy who brings dreams, before dismissing dreams as nothing but fantasy.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Torches, saints and a shared sonnet (1.5)</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rhyming couplet closes the thought like a lid. Romeo has decided in two lines, which is exactly the haste the Friar will warn against.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Did my heart love till now? Forswear it, sight! / For I ne'er saw true beauty till this night.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1.5.59–60</a:t>
            </a:r>
            <a:endParaRPr lang="en-US" sz="2600" dirty="0"/>
          </a:p>
        </p:txBody>
      </p:sp>
      <p:sp>
        <p:nvSpPr>
          <p:cNvPr id="14" name="bullet-card"/>
          <p:cNvSpPr/>
          <p:nvPr/>
        </p:nvSpPr>
        <p:spPr>
          <a:xfrm>
            <a:off x="548640" y="1389888"/>
            <a:ext cx="5074920" cy="1150112"/>
          </a:xfrm>
          <a:prstGeom prst="roundRect">
            <a:avLst>
              <a:gd name="adj" fmla="val 6360"/>
            </a:avLst>
          </a:prstGeom>
          <a:solidFill>
            <a:srgbClr val="F2EFF4"/>
          </a:solidFill>
          <a:ln/>
        </p:spPr>
      </p:sp>
      <p:sp>
        <p:nvSpPr>
          <p:cNvPr id="15" name="bullet-hex"/>
          <p:cNvSpPr/>
          <p:nvPr/>
        </p:nvSpPr>
        <p:spPr>
          <a:xfrm>
            <a:off x="676656" y="1798651"/>
            <a:ext cx="384048" cy="332586"/>
          </a:xfrm>
          <a:prstGeom prst="hexagon">
            <a:avLst/>
          </a:prstGeom>
          <a:solidFill>
            <a:srgbClr val="5B3A7A"/>
          </a:solidFill>
          <a:ln/>
        </p:spPr>
      </p:sp>
      <p:sp>
        <p:nvSpPr>
          <p:cNvPr id="16" name="bullet"/>
          <p:cNvSpPr txBox="1"/>
          <p:nvPr/>
        </p:nvSpPr>
        <p:spPr>
          <a:xfrm>
            <a:off x="1143000" y="1389888"/>
            <a:ext cx="4389120" cy="115011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Romeo sees Juliet and speaks a soliloquy, a speech alone with his thoughts even in a crowded room.</a:t>
            </a:r>
            <a:endParaRPr lang="en-US" sz="2200" dirty="0"/>
          </a:p>
        </p:txBody>
      </p:sp>
      <p:sp>
        <p:nvSpPr>
          <p:cNvPr id="17" name="bullet-card"/>
          <p:cNvSpPr/>
          <p:nvPr/>
        </p:nvSpPr>
        <p:spPr>
          <a:xfrm>
            <a:off x="548640" y="2686304"/>
            <a:ext cx="5074920" cy="1831848"/>
          </a:xfrm>
          <a:prstGeom prst="roundRect">
            <a:avLst>
              <a:gd name="adj" fmla="val 3993"/>
            </a:avLst>
          </a:prstGeom>
          <a:solidFill>
            <a:srgbClr val="F2EFF4"/>
          </a:solidFill>
          <a:ln/>
        </p:spPr>
      </p:sp>
      <p:sp>
        <p:nvSpPr>
          <p:cNvPr id="18" name="bullet-hex"/>
          <p:cNvSpPr/>
          <p:nvPr/>
        </p:nvSpPr>
        <p:spPr>
          <a:xfrm>
            <a:off x="676656" y="3435935"/>
            <a:ext cx="384048" cy="332586"/>
          </a:xfrm>
          <a:prstGeom prst="hexagon">
            <a:avLst/>
          </a:prstGeom>
          <a:solidFill>
            <a:srgbClr val="B8862B"/>
          </a:solidFill>
          <a:ln/>
        </p:spPr>
      </p:sp>
      <p:sp>
        <p:nvSpPr>
          <p:cNvPr id="19" name="bullet"/>
          <p:cNvSpPr txBox="1"/>
          <p:nvPr/>
        </p:nvSpPr>
        <p:spPr>
          <a:xfrm>
            <a:off x="1143000" y="2686304"/>
            <a:ext cx="4389120" cy="183184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they speak, their first fourteen lines form a shared sonnet: each takes up the other's rhymes, which suggests two minds already in step.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balcony: Juliet thinks aloud (2.2)</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‘Wherefore’ means why, not where. Juliet is asking why he has to be a Montague, not where he is standing.</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O Romeo, Romeo, wherefore art thou Romeo? / Deny thy father and refuse thy name,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2.2.36–37</a:t>
            </a:r>
            <a:endParaRPr lang="en-US" sz="2600" dirty="0"/>
          </a:p>
        </p:txBody>
      </p:sp>
      <p:sp>
        <p:nvSpPr>
          <p:cNvPr id="14" name="bullet-card"/>
          <p:cNvSpPr/>
          <p:nvPr/>
        </p:nvSpPr>
        <p:spPr>
          <a:xfrm>
            <a:off x="548640" y="1389888"/>
            <a:ext cx="5074920" cy="1119124"/>
          </a:xfrm>
          <a:prstGeom prst="roundRect">
            <a:avLst>
              <a:gd name="adj" fmla="val 6537"/>
            </a:avLst>
          </a:prstGeom>
          <a:solidFill>
            <a:srgbClr val="F2EFF4"/>
          </a:solidFill>
          <a:ln/>
        </p:spPr>
      </p:sp>
      <p:sp>
        <p:nvSpPr>
          <p:cNvPr id="15" name="bullet-hex"/>
          <p:cNvSpPr/>
          <p:nvPr/>
        </p:nvSpPr>
        <p:spPr>
          <a:xfrm>
            <a:off x="676656" y="1783157"/>
            <a:ext cx="384048" cy="332586"/>
          </a:xfrm>
          <a:prstGeom prst="hexagon">
            <a:avLst/>
          </a:prstGeom>
          <a:solidFill>
            <a:srgbClr val="5B3A7A"/>
          </a:solidFill>
          <a:ln/>
        </p:spPr>
      </p:sp>
      <p:sp>
        <p:nvSpPr>
          <p:cNvPr id="16" name="bullet"/>
          <p:cNvSpPr txBox="1"/>
          <p:nvPr/>
        </p:nvSpPr>
        <p:spPr>
          <a:xfrm>
            <a:off x="1143000" y="1389888"/>
            <a:ext cx="4389120" cy="11191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orchard, Romeo hears Juliet before she knows he is there.</a:t>
            </a:r>
            <a:endParaRPr lang="en-US" sz="2200" dirty="0"/>
          </a:p>
        </p:txBody>
      </p:sp>
      <p:sp>
        <p:nvSpPr>
          <p:cNvPr id="17" name="bullet-card"/>
          <p:cNvSpPr/>
          <p:nvPr/>
        </p:nvSpPr>
        <p:spPr>
          <a:xfrm>
            <a:off x="548640" y="2655316"/>
            <a:ext cx="5074920" cy="2141728"/>
          </a:xfrm>
          <a:prstGeom prst="roundRect">
            <a:avLst>
              <a:gd name="adj" fmla="val 3416"/>
            </a:avLst>
          </a:prstGeom>
          <a:solidFill>
            <a:srgbClr val="F2EFF4"/>
          </a:solidFill>
          <a:ln/>
        </p:spPr>
      </p:sp>
      <p:sp>
        <p:nvSpPr>
          <p:cNvPr id="18" name="bullet-hex"/>
          <p:cNvSpPr/>
          <p:nvPr/>
        </p:nvSpPr>
        <p:spPr>
          <a:xfrm>
            <a:off x="676656" y="3559887"/>
            <a:ext cx="384048" cy="332586"/>
          </a:xfrm>
          <a:prstGeom prst="hexagon">
            <a:avLst/>
          </a:prstGeom>
          <a:solidFill>
            <a:srgbClr val="B8862B"/>
          </a:solidFill>
          <a:ln/>
        </p:spPr>
      </p:sp>
      <p:sp>
        <p:nvSpPr>
          <p:cNvPr id="19" name="bullet"/>
          <p:cNvSpPr txBox="1"/>
          <p:nvPr/>
        </p:nvSpPr>
        <p:spPr>
          <a:xfrm>
            <a:off x="1143000" y="2655316"/>
            <a:ext cx="4389120" cy="21417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she realises she has been overheard she questions him sharply, and when he swears love she calls it too rash, too unadvised, too sudden.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Writing the What, How, Why paragraph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short quotation like ‘refuse thy name’ is worth more than a long one, because it lets you zoom in on one word.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What's in a name? That which we call a rose / By any other word would smell as sweet.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2.2.46–47</a:t>
            </a:r>
            <a:endParaRPr lang="en-US" sz="2600" dirty="0"/>
          </a:p>
        </p:txBody>
      </p:sp>
      <p:sp>
        <p:nvSpPr>
          <p:cNvPr id="14" name="bullet-card"/>
          <p:cNvSpPr/>
          <p:nvPr/>
        </p:nvSpPr>
        <p:spPr>
          <a:xfrm>
            <a:off x="548640" y="1389888"/>
            <a:ext cx="5074920" cy="1010666"/>
          </a:xfrm>
          <a:prstGeom prst="roundRect">
            <a:avLst>
              <a:gd name="adj" fmla="val 7238"/>
            </a:avLst>
          </a:prstGeom>
          <a:solidFill>
            <a:srgbClr val="F2EFF4"/>
          </a:solidFill>
          <a:ln/>
        </p:spPr>
      </p:sp>
      <p:sp>
        <p:nvSpPr>
          <p:cNvPr id="15" name="bullet-hex"/>
          <p:cNvSpPr/>
          <p:nvPr/>
        </p:nvSpPr>
        <p:spPr>
          <a:xfrm>
            <a:off x="676656" y="1728928"/>
            <a:ext cx="384048" cy="332586"/>
          </a:xfrm>
          <a:prstGeom prst="hexagon">
            <a:avLst/>
          </a:prstGeom>
          <a:solidFill>
            <a:srgbClr val="5B3A7A"/>
          </a:solidFill>
          <a:ln/>
        </p:spPr>
      </p:sp>
      <p:sp>
        <p:nvSpPr>
          <p:cNvPr id="16" name="bullet"/>
          <p:cNvSpPr txBox="1"/>
          <p:nvPr/>
        </p:nvSpPr>
        <p:spPr>
          <a:xfrm>
            <a:off x="1143000" y="1389888"/>
            <a:ext cx="4389120" cy="101066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assessment asks how Juliet is presented in the Act 2 Scene 2 extract.</a:t>
            </a:r>
            <a:endParaRPr lang="en-US" sz="2000" dirty="0"/>
          </a:p>
        </p:txBody>
      </p:sp>
      <p:sp>
        <p:nvSpPr>
          <p:cNvPr id="17" name="bullet-card"/>
          <p:cNvSpPr/>
          <p:nvPr/>
        </p:nvSpPr>
        <p:spPr>
          <a:xfrm>
            <a:off x="548640" y="2546858"/>
            <a:ext cx="5074920" cy="2250186"/>
          </a:xfrm>
          <a:prstGeom prst="roundRect">
            <a:avLst>
              <a:gd name="adj" fmla="val 3251"/>
            </a:avLst>
          </a:prstGeom>
          <a:solidFill>
            <a:srgbClr val="F2EFF4"/>
          </a:solidFill>
          <a:ln/>
        </p:spPr>
      </p:sp>
      <p:sp>
        <p:nvSpPr>
          <p:cNvPr id="18" name="bullet-hex"/>
          <p:cNvSpPr/>
          <p:nvPr/>
        </p:nvSpPr>
        <p:spPr>
          <a:xfrm>
            <a:off x="676656" y="3505658"/>
            <a:ext cx="384048" cy="332586"/>
          </a:xfrm>
          <a:prstGeom prst="hexagon">
            <a:avLst/>
          </a:prstGeom>
          <a:solidFill>
            <a:srgbClr val="B8862B"/>
          </a:solidFill>
          <a:ln/>
        </p:spPr>
      </p:sp>
      <p:sp>
        <p:nvSpPr>
          <p:cNvPr id="19" name="bullet"/>
          <p:cNvSpPr txBox="1"/>
          <p:nvPr/>
        </p:nvSpPr>
        <p:spPr>
          <a:xfrm>
            <a:off x="1143000" y="2546858"/>
            <a:ext cx="4389120" cy="225018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At GCSE these three steps have names. AO1 is your point and your use of quotations as evidence; AO2 is analysis of language, form and structure, using the right terms; AO3 is the link to context.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The task: Quotations and methods in the meeting scene</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Act 1 Scene 5 to the method Shakespeare is using.</a:t>
            </a:r>
            <a:endParaRPr lang="en-US" sz="2400" dirty="0"/>
          </a:p>
        </p:txBody>
      </p:sp>
      <p:sp>
        <p:nvSpPr>
          <p:cNvPr id="11" name="match-card"/>
          <p:cNvSpPr/>
          <p:nvPr/>
        </p:nvSpPr>
        <p:spPr>
          <a:xfrm>
            <a:off x="777240" y="2672080"/>
            <a:ext cx="4469259" cy="753872"/>
          </a:xfrm>
          <a:prstGeom prst="roundRect">
            <a:avLst>
              <a:gd name="adj" fmla="val 9704"/>
            </a:avLst>
          </a:prstGeom>
          <a:solidFill>
            <a:srgbClr val="F2EFF4"/>
          </a:solidFill>
          <a:ln/>
        </p:spPr>
      </p:sp>
      <p:sp>
        <p:nvSpPr>
          <p:cNvPr id="12" name="match-hex"/>
          <p:cNvSpPr/>
          <p:nvPr/>
        </p:nvSpPr>
        <p:spPr>
          <a:xfrm>
            <a:off x="850392" y="2882723"/>
            <a:ext cx="384048" cy="332586"/>
          </a:xfrm>
          <a:prstGeom prst="hexagon">
            <a:avLst/>
          </a:prstGeom>
          <a:solidFill>
            <a:srgbClr val="5B3A7A"/>
          </a:solidFill>
          <a:ln/>
        </p:spPr>
      </p:sp>
      <p:sp>
        <p:nvSpPr>
          <p:cNvPr id="13" name="match-hex-label"/>
          <p:cNvSpPr txBox="1"/>
          <p:nvPr/>
        </p:nvSpPr>
        <p:spPr>
          <a:xfrm>
            <a:off x="850392"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87489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 she doth teach the torches to burn bright!”</a:t>
            </a:r>
            <a:endParaRPr lang="en-US" sz="1800" dirty="0"/>
          </a:p>
        </p:txBody>
      </p:sp>
      <p:sp>
        <p:nvSpPr>
          <p:cNvPr id="15" name="match-card"/>
          <p:cNvSpPr/>
          <p:nvPr/>
        </p:nvSpPr>
        <p:spPr>
          <a:xfrm>
            <a:off x="5612259" y="2672080"/>
            <a:ext cx="5802196" cy="753872"/>
          </a:xfrm>
          <a:prstGeom prst="roundRect">
            <a:avLst>
              <a:gd name="adj" fmla="val 9704"/>
            </a:avLst>
          </a:prstGeom>
          <a:solidFill>
            <a:srgbClr val="F6F0E6"/>
          </a:solidFill>
          <a:ln/>
        </p:spPr>
      </p:sp>
      <p:sp>
        <p:nvSpPr>
          <p:cNvPr id="16" name="match-hex"/>
          <p:cNvSpPr/>
          <p:nvPr/>
        </p:nvSpPr>
        <p:spPr>
          <a:xfrm>
            <a:off x="5685411" y="2882723"/>
            <a:ext cx="384048" cy="332586"/>
          </a:xfrm>
          <a:prstGeom prst="hexagon">
            <a:avLst/>
          </a:prstGeom>
          <a:solidFill>
            <a:srgbClr val="B8862B"/>
          </a:solidFill>
          <a:ln/>
        </p:spPr>
      </p:sp>
      <p:sp>
        <p:nvSpPr>
          <p:cNvPr id="17" name="match-hex-label"/>
          <p:cNvSpPr txBox="1"/>
          <p:nvPr/>
        </p:nvSpPr>
        <p:spPr>
          <a:xfrm>
            <a:off x="5685411"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133467" y="2672080"/>
            <a:ext cx="5207836"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Religious imagery: a semantic field of pilgrims and saints</a:t>
            </a:r>
            <a:endParaRPr lang="en-US" sz="1800" dirty="0"/>
          </a:p>
        </p:txBody>
      </p:sp>
      <p:sp>
        <p:nvSpPr>
          <p:cNvPr id="19" name="match-card"/>
          <p:cNvSpPr/>
          <p:nvPr/>
        </p:nvSpPr>
        <p:spPr>
          <a:xfrm>
            <a:off x="777240" y="3517392"/>
            <a:ext cx="4469259" cy="753872"/>
          </a:xfrm>
          <a:prstGeom prst="roundRect">
            <a:avLst>
              <a:gd name="adj" fmla="val 9704"/>
            </a:avLst>
          </a:prstGeom>
          <a:solidFill>
            <a:srgbClr val="F2EFF4"/>
          </a:solidFill>
          <a:ln/>
        </p:spPr>
      </p:sp>
      <p:sp>
        <p:nvSpPr>
          <p:cNvPr id="20" name="match-hex"/>
          <p:cNvSpPr/>
          <p:nvPr/>
        </p:nvSpPr>
        <p:spPr>
          <a:xfrm>
            <a:off x="850392" y="3728035"/>
            <a:ext cx="384048" cy="332586"/>
          </a:xfrm>
          <a:prstGeom prst="hexagon">
            <a:avLst/>
          </a:prstGeom>
          <a:solidFill>
            <a:srgbClr val="5B3A7A"/>
          </a:solidFill>
          <a:ln/>
        </p:spPr>
      </p:sp>
      <p:sp>
        <p:nvSpPr>
          <p:cNvPr id="21" name="match-hex-label"/>
          <p:cNvSpPr txBox="1"/>
          <p:nvPr/>
        </p:nvSpPr>
        <p:spPr>
          <a:xfrm>
            <a:off x="850392"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17392"/>
            <a:ext cx="387489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“My lips, two blushing pilgrims, ready stand”</a:t>
            </a:r>
            <a:endParaRPr lang="en-US" sz="1800" dirty="0"/>
          </a:p>
        </p:txBody>
      </p:sp>
      <p:sp>
        <p:nvSpPr>
          <p:cNvPr id="23" name="match-card"/>
          <p:cNvSpPr/>
          <p:nvPr/>
        </p:nvSpPr>
        <p:spPr>
          <a:xfrm>
            <a:off x="5612259" y="3517392"/>
            <a:ext cx="5802196" cy="753872"/>
          </a:xfrm>
          <a:prstGeom prst="roundRect">
            <a:avLst>
              <a:gd name="adj" fmla="val 9704"/>
            </a:avLst>
          </a:prstGeom>
          <a:solidFill>
            <a:srgbClr val="F6F0E6"/>
          </a:solidFill>
          <a:ln/>
        </p:spPr>
      </p:sp>
      <p:sp>
        <p:nvSpPr>
          <p:cNvPr id="24" name="match-hex"/>
          <p:cNvSpPr/>
          <p:nvPr/>
        </p:nvSpPr>
        <p:spPr>
          <a:xfrm>
            <a:off x="5685411" y="3728035"/>
            <a:ext cx="384048" cy="332586"/>
          </a:xfrm>
          <a:prstGeom prst="hexagon">
            <a:avLst/>
          </a:prstGeom>
          <a:solidFill>
            <a:srgbClr val="B8862B"/>
          </a:solidFill>
          <a:ln/>
        </p:spPr>
      </p:sp>
      <p:sp>
        <p:nvSpPr>
          <p:cNvPr id="25" name="match-hex-label"/>
          <p:cNvSpPr txBox="1"/>
          <p:nvPr/>
        </p:nvSpPr>
        <p:spPr>
          <a:xfrm>
            <a:off x="5685411"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133467" y="3517392"/>
            <a:ext cx="5207836"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paradox: love and hate are born from each other</a:t>
            </a:r>
            <a:endParaRPr lang="en-US" sz="1800" dirty="0"/>
          </a:p>
        </p:txBody>
      </p:sp>
      <p:sp>
        <p:nvSpPr>
          <p:cNvPr id="27" name="match-card"/>
          <p:cNvSpPr/>
          <p:nvPr/>
        </p:nvSpPr>
        <p:spPr>
          <a:xfrm>
            <a:off x="777240" y="4362704"/>
            <a:ext cx="4469259" cy="753872"/>
          </a:xfrm>
          <a:prstGeom prst="roundRect">
            <a:avLst>
              <a:gd name="adj" fmla="val 9704"/>
            </a:avLst>
          </a:prstGeom>
          <a:solidFill>
            <a:srgbClr val="F2EFF4"/>
          </a:solidFill>
          <a:ln/>
        </p:spPr>
      </p:sp>
      <p:sp>
        <p:nvSpPr>
          <p:cNvPr id="28" name="match-hex"/>
          <p:cNvSpPr/>
          <p:nvPr/>
        </p:nvSpPr>
        <p:spPr>
          <a:xfrm>
            <a:off x="850392" y="4573347"/>
            <a:ext cx="384048" cy="332586"/>
          </a:xfrm>
          <a:prstGeom prst="hexagon">
            <a:avLst/>
          </a:prstGeom>
          <a:solidFill>
            <a:srgbClr val="5B3A7A"/>
          </a:solidFill>
          <a:ln/>
        </p:spPr>
      </p:sp>
      <p:sp>
        <p:nvSpPr>
          <p:cNvPr id="29" name="match-hex-label"/>
          <p:cNvSpPr txBox="1"/>
          <p:nvPr/>
        </p:nvSpPr>
        <p:spPr>
          <a:xfrm>
            <a:off x="850392"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387489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“Did my heart love till now? Forswear it, sight!”</a:t>
            </a:r>
            <a:endParaRPr lang="en-US" sz="1800" dirty="0"/>
          </a:p>
        </p:txBody>
      </p:sp>
      <p:sp>
        <p:nvSpPr>
          <p:cNvPr id="31" name="match-card"/>
          <p:cNvSpPr/>
          <p:nvPr/>
        </p:nvSpPr>
        <p:spPr>
          <a:xfrm>
            <a:off x="5612259" y="4362704"/>
            <a:ext cx="5802196" cy="753872"/>
          </a:xfrm>
          <a:prstGeom prst="roundRect">
            <a:avLst>
              <a:gd name="adj" fmla="val 9704"/>
            </a:avLst>
          </a:prstGeom>
          <a:solidFill>
            <a:srgbClr val="F6F0E6"/>
          </a:solidFill>
          <a:ln/>
        </p:spPr>
      </p:sp>
      <p:sp>
        <p:nvSpPr>
          <p:cNvPr id="32" name="match-hex"/>
          <p:cNvSpPr/>
          <p:nvPr/>
        </p:nvSpPr>
        <p:spPr>
          <a:xfrm>
            <a:off x="5685411" y="4573347"/>
            <a:ext cx="384048" cy="332586"/>
          </a:xfrm>
          <a:prstGeom prst="hexagon">
            <a:avLst/>
          </a:prstGeom>
          <a:solidFill>
            <a:srgbClr val="B8862B"/>
          </a:solidFill>
          <a:ln/>
        </p:spPr>
      </p:sp>
      <p:sp>
        <p:nvSpPr>
          <p:cNvPr id="33" name="match-hex-label"/>
          <p:cNvSpPr txBox="1"/>
          <p:nvPr/>
        </p:nvSpPr>
        <p:spPr>
          <a:xfrm>
            <a:off x="5685411"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133467" y="4362704"/>
            <a:ext cx="5207836"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Light imagery: Juliet outshines the fire</a:t>
            </a:r>
            <a:endParaRPr lang="en-US" sz="1800" dirty="0"/>
          </a:p>
        </p:txBody>
      </p:sp>
      <p:sp>
        <p:nvSpPr>
          <p:cNvPr id="35" name="match-card"/>
          <p:cNvSpPr/>
          <p:nvPr/>
        </p:nvSpPr>
        <p:spPr>
          <a:xfrm>
            <a:off x="777240" y="5208016"/>
            <a:ext cx="4469259" cy="753872"/>
          </a:xfrm>
          <a:prstGeom prst="roundRect">
            <a:avLst>
              <a:gd name="adj" fmla="val 9704"/>
            </a:avLst>
          </a:prstGeom>
          <a:solidFill>
            <a:srgbClr val="F2EFF4"/>
          </a:solidFill>
          <a:ln/>
        </p:spPr>
      </p:sp>
      <p:sp>
        <p:nvSpPr>
          <p:cNvPr id="36" name="match-hex"/>
          <p:cNvSpPr/>
          <p:nvPr/>
        </p:nvSpPr>
        <p:spPr>
          <a:xfrm>
            <a:off x="850392" y="5418659"/>
            <a:ext cx="384048" cy="332586"/>
          </a:xfrm>
          <a:prstGeom prst="hexagon">
            <a:avLst/>
          </a:prstGeom>
          <a:solidFill>
            <a:srgbClr val="5B3A7A"/>
          </a:solidFill>
          <a:ln/>
        </p:spPr>
      </p:sp>
      <p:sp>
        <p:nvSpPr>
          <p:cNvPr id="37" name="match-hex-label"/>
          <p:cNvSpPr txBox="1"/>
          <p:nvPr/>
        </p:nvSpPr>
        <p:spPr>
          <a:xfrm>
            <a:off x="850392"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08016"/>
            <a:ext cx="387489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“My only love sprung from my only hate!”</a:t>
            </a:r>
            <a:endParaRPr lang="en-US" sz="1800" dirty="0"/>
          </a:p>
        </p:txBody>
      </p:sp>
      <p:sp>
        <p:nvSpPr>
          <p:cNvPr id="39" name="match-card"/>
          <p:cNvSpPr/>
          <p:nvPr/>
        </p:nvSpPr>
        <p:spPr>
          <a:xfrm>
            <a:off x="5612259" y="5208016"/>
            <a:ext cx="5802196" cy="753872"/>
          </a:xfrm>
          <a:prstGeom prst="roundRect">
            <a:avLst>
              <a:gd name="adj" fmla="val 9704"/>
            </a:avLst>
          </a:prstGeom>
          <a:solidFill>
            <a:srgbClr val="F6F0E6"/>
          </a:solidFill>
          <a:ln/>
        </p:spPr>
      </p:sp>
      <p:sp>
        <p:nvSpPr>
          <p:cNvPr id="40" name="match-hex"/>
          <p:cNvSpPr/>
          <p:nvPr/>
        </p:nvSpPr>
        <p:spPr>
          <a:xfrm>
            <a:off x="5685411" y="5418659"/>
            <a:ext cx="384048" cy="332586"/>
          </a:xfrm>
          <a:prstGeom prst="hexagon">
            <a:avLst/>
          </a:prstGeom>
          <a:solidFill>
            <a:srgbClr val="B8862B"/>
          </a:solidFill>
          <a:ln/>
        </p:spPr>
      </p:sp>
      <p:sp>
        <p:nvSpPr>
          <p:cNvPr id="41" name="match-hex-label"/>
          <p:cNvSpPr txBox="1"/>
          <p:nvPr/>
        </p:nvSpPr>
        <p:spPr>
          <a:xfrm>
            <a:off x="5685411"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133467" y="5208016"/>
            <a:ext cx="5207836"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rhetorical question and an exclamation: he commands his own eyes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Quotations and methods in the meeting scene</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quotation from Act 1 Scene 5 to the method Shakespeare is using.</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quotation aloud and find who is speaking.</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one key word in each: torches, pilgrims, love till now, love and hate.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key word to the method: fire and light, church words, a question, two opposites.</a:t>
            </a:r>
            <a:endParaRPr lang="en-US" sz="1800" dirty="0"/>
          </a:p>
        </p:txBody>
      </p:sp>
      <p:sp>
        <p:nvSpPr>
          <p:cNvPr id="17" name="col-Core"/>
          <p:cNvSpPr/>
          <p:nvPr/>
        </p:nvSpPr>
        <p:spPr>
          <a:xfrm>
            <a:off x="4338218" y="2593848"/>
            <a:ext cx="3515258" cy="3550920"/>
          </a:xfrm>
          <a:prstGeom prst="roundRect">
            <a:avLst>
              <a:gd name="adj" fmla="val 1561"/>
            </a:avLst>
          </a:prstGeom>
          <a:solidFill>
            <a:srgbClr val="DBD4E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methods are about pictures (light, religion, opposites); one is about sentence type.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Religious words were serious to an Elizabethan audience. Write one sentence arguing that the pilgrim imagery makes the love holy, and one arguing that it is dangerously close to blasphemy.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The task: How Juliet is presented in the balcony scene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present Juliet in the Act 2 Scene 2 extract? Write one What, How, Why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How Juliet is presented in the balcony scene</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Juliet is presented in the balcony scene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choose one adjective from the list and write a topic sentence with it.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pick a short quotation that proves it, name the method, and zoom in on one word.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Why: say what this shows about Juliet, then explain how an Elizabethan audience, who expected daughters to obey, would react.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have you used the exact words What, How and Why to structure your sentences?</a:t>
            </a:r>
            <a:endParaRPr lang="en-US" sz="1800" dirty="0"/>
          </a:p>
        </p:txBody>
      </p:sp>
      <p:sp>
        <p:nvSpPr>
          <p:cNvPr id="17" name="col-Core"/>
          <p:cNvSpPr/>
          <p:nvPr/>
        </p:nvSpPr>
        <p:spPr>
          <a:xfrm>
            <a:off x="6425403" y="2395728"/>
            <a:ext cx="2471666" cy="3749040"/>
          </a:xfrm>
          <a:prstGeom prst="roundRect">
            <a:avLst>
              <a:gd name="adj" fmla="val 2220"/>
            </a:avLst>
          </a:prstGeom>
          <a:solidFill>
            <a:srgbClr val="DBD4E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Find the moment Juliet makes a demand or an argument, not just a sigh. That is where her courage and intelligence show.</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sentence that compares this Juliet with the Juliet of Act 1 Scene 3. Then judge: has she changed, or was the obedient daughter always a performance?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490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Put Juliet's feelings in Act 2 Scene 2 in the order they appear in the scene.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Doubt: she calls their love too rash, too unadvised, too sudden.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Alarm: she realises a stranger has heard her and demands to know who he is.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Commitment: she asks when they can marry and promises to send a messenger.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Longing: alone, she wishes Romeo were not a Montague.</a:t>
            </a:r>
            <a:endParaRPr lang="en-US" sz="2200" dirty="0"/>
          </a:p>
        </p:txBody>
      </p:sp>
      <p:sp>
        <p:nvSpPr>
          <p:cNvPr id="11" name="exit-answer-box"/>
          <p:cNvSpPr/>
          <p:nvPr/>
        </p:nvSpPr>
        <p:spPr>
          <a:xfrm>
            <a:off x="2286000" y="5184648"/>
            <a:ext cx="7619695" cy="685800"/>
          </a:xfrm>
          <a:prstGeom prst="roundRect">
            <a:avLst>
              <a:gd name="adj" fmla="val 13333"/>
            </a:avLst>
          </a:prstGeom>
          <a:solidFill>
            <a:srgbClr val="F4F1F6"/>
          </a:solidFill>
          <a:ln w="12700">
            <a:solidFill>
              <a:srgbClr val="AD9DBD"/>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Answers: Quotations and methods in the meeting scene</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 she doth teach the torches to burn bright!”  →  C  Light imagery: Juliet outshines the fire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“My lips, two blushing pilgrims, ready stand”  →  A  Religious imagery: a semantic field of pilgrims and saints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“Did my heart love till now? Forswear it, sight!”  →  D  A rhetorical question and an exclamation: he commands his own eyes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“My only love sprung from my only hate!”  →  B  A paradox: love and hate are born from each other</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Naming the method is the How of your paragraph. Each of these four lines gives you a method you can reuse for any question on Act 1 Scene 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Answers: How Juliet is presented in the balcony scene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8690"/>
          </a:xfrm>
          <a:prstGeom prst="roundRect">
            <a:avLst>
              <a:gd name="adj" fmla="val 9639"/>
            </a:avLst>
          </a:prstGeom>
          <a:solidFill>
            <a:srgbClr val="F2EFF4"/>
          </a:solidFill>
          <a:ln/>
        </p:spPr>
      </p:sp>
      <p:sp>
        <p:nvSpPr>
          <p:cNvPr id="9" name="tickbox"/>
          <p:cNvSpPr/>
          <p:nvPr/>
        </p:nvSpPr>
        <p:spPr>
          <a:xfrm>
            <a:off x="713232" y="2312289"/>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What: a topic sentence with an adjective for Juliet (passionate, thoughtful, rebellious, assertive, vulnerable)</a:t>
            </a:r>
            <a:endParaRPr lang="en-US" sz="2200" dirty="0"/>
          </a:p>
        </p:txBody>
      </p:sp>
      <p:sp>
        <p:nvSpPr>
          <p:cNvPr id="11" name="crit-box"/>
          <p:cNvSpPr/>
          <p:nvPr/>
        </p:nvSpPr>
        <p:spPr>
          <a:xfrm>
            <a:off x="548640" y="3024378"/>
            <a:ext cx="11094415" cy="948690"/>
          </a:xfrm>
          <a:prstGeom prst="roundRect">
            <a:avLst>
              <a:gd name="adj" fmla="val 9639"/>
            </a:avLst>
          </a:prstGeom>
          <a:solidFill>
            <a:srgbClr val="F2EFF4"/>
          </a:solidFill>
          <a:ln/>
        </p:spPr>
      </p:sp>
      <p:sp>
        <p:nvSpPr>
          <p:cNvPr id="12" name="tickbox"/>
          <p:cNvSpPr/>
          <p:nvPr/>
        </p:nvSpPr>
        <p:spPr>
          <a:xfrm>
            <a:off x="713232" y="3352419"/>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02437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at least one short quotation from Act 2 Scene 2, embedded in your own sentence</a:t>
            </a:r>
            <a:endParaRPr lang="en-US" sz="2200" dirty="0"/>
          </a:p>
        </p:txBody>
      </p:sp>
      <p:sp>
        <p:nvSpPr>
          <p:cNvPr id="14" name="crit-box"/>
          <p:cNvSpPr/>
          <p:nvPr/>
        </p:nvSpPr>
        <p:spPr>
          <a:xfrm>
            <a:off x="548640" y="4064508"/>
            <a:ext cx="11094415" cy="948690"/>
          </a:xfrm>
          <a:prstGeom prst="roundRect">
            <a:avLst>
              <a:gd name="adj" fmla="val 9639"/>
            </a:avLst>
          </a:prstGeom>
          <a:solidFill>
            <a:srgbClr val="F2EFF4"/>
          </a:solidFill>
          <a:ln/>
        </p:spPr>
      </p:sp>
      <p:sp>
        <p:nvSpPr>
          <p:cNvPr id="15" name="tickbox"/>
          <p:cNvSpPr/>
          <p:nvPr/>
        </p:nvSpPr>
        <p:spPr>
          <a:xfrm>
            <a:off x="713232" y="4392549"/>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406450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you name a method (interrogative, imperative, metaphor, repetition) and zoom in on one word</a:t>
            </a:r>
            <a:endParaRPr lang="en-US" sz="2200" dirty="0"/>
          </a:p>
        </p:txBody>
      </p:sp>
      <p:sp>
        <p:nvSpPr>
          <p:cNvPr id="17" name="crit-box"/>
          <p:cNvSpPr/>
          <p:nvPr/>
        </p:nvSpPr>
        <p:spPr>
          <a:xfrm>
            <a:off x="548640" y="5104638"/>
            <a:ext cx="11094415" cy="948690"/>
          </a:xfrm>
          <a:prstGeom prst="roundRect">
            <a:avLst>
              <a:gd name="adj" fmla="val 9639"/>
            </a:avLst>
          </a:prstGeom>
          <a:solidFill>
            <a:srgbClr val="F2EFF4"/>
          </a:solidFill>
          <a:ln/>
        </p:spPr>
      </p:sp>
      <p:sp>
        <p:nvSpPr>
          <p:cNvPr id="18" name="tickbox"/>
          <p:cNvSpPr/>
          <p:nvPr/>
        </p:nvSpPr>
        <p:spPr>
          <a:xfrm>
            <a:off x="713232" y="5432679"/>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510463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you link what she says to Elizabethan expectations of daughters and show how she challenges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Model answer: How Juliet is presented in the balcony scene</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Shakespeare presents Juliet as rebellious and courageous in this extract. Alone at her window she commands, “Deny thy father and refuse thy name”, and the two imperatives ‘deny’ and ‘refuse’ ask Romeo to give up the thing that defines a man in Verona, his family. The verb ‘deny’ is especially strong, because to deny a father was to deny God in a patriarchal society. Yet she is asking him to do only what she is prepared to do herself: in the next line she offers to stop being a Capulet. For an Elizabethan audience, a daughter of thirteen choosing an enemy for a husband without her father's consent was a shocking act of defiance, and Shakespeare makes it sound thoughtful rather than reckless.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Longing: alone, she wishes Romeo were not a Montague.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Alarm: she realises a stranger has heard her and demands to know who he is.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Doubt: she calls their love too rash, too unadvised, too sudden.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Commitment: she asks when they can marry and promises to send a messenger.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tracked Juliet's feelings line by line. The arc from longing to alarm to doubt to commitment shows a character who thinks before she decides, which is why her decision carries weight.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Romeo and Juliet · Chapter 3: Love at first sight (Act 1, Scenes 4–5 and Act 2, Scene 2)</dc:title>
  <dc:subject>English Literature · Year 9</dc:subject>
  <dc:creator>Dr Vitor Merissi de Carvalho</dc:creator>
  <cp:lastModifiedBy>Dr Vitor Merissi de Carvalho</cp:lastModifiedBy>
  <cp:revision>1</cp:revision>
  <dcterms:created xsi:type="dcterms:W3CDTF">2026-10-18T17:47:07Z</dcterms:created>
  <dcterms:modified xsi:type="dcterms:W3CDTF">2026-10-18T17:47:07Z</dcterms:modified>
</cp:coreProperties>
</file>