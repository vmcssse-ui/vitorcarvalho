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4a84759-eb0e-4eab-f05e-f097f469a23a}">
          <p14:sldIdLst>
            <p14:sldId id="256"/>
          </p14:sldIdLst>
        </p14:section>
        <p14:section name="Gate" id="{b5835b2a-56a3-c9ec-6902-2323e75d9078}">
          <p14:sldIdLst>
            <p14:sldId id="257"/>
            <p14:sldId id="258"/>
          </p14:sldIdLst>
        </p14:section>
        <p14:section name="Pre-teach" id="{846fd074-a63f-7f06-3a1d-502a4da517b1}">
          <p14:sldIdLst>
            <p14:sldId id="259"/>
          </p14:sldIdLst>
        </p14:section>
        <p14:section name="Read-along" id="{7f9e97d4-b111-3a23-451f-b402796d1b19}">
          <p14:sldIdLst>
            <p14:sldId id="260"/>
            <p14:sldId id="261"/>
          </p14:sldIdLst>
        </p14:section>
        <p14:section name="Teach" id="{e4f71ce4-a18e-9e29-0775-092ca672f635}">
          <p14:sldIdLst>
            <p14:sldId id="262"/>
            <p14:sldId id="263"/>
            <p14:sldId id="264"/>
          </p14:sldIdLst>
        </p14:section>
        <p14:section name="Routes" id="{799aeb19-ff81-aa8a-23d1-e7e4d83fb55d}">
          <p14:sldIdLst>
            <p14:sldId id="265"/>
            <p14:sldId id="266"/>
            <p14:sldId id="267"/>
            <p14:sldId id="268"/>
            <p14:sldId id="269"/>
            <p14:sldId id="270"/>
          </p14:sldIdLst>
        </p14:section>
        <p14:section name="Close" id="{153f442a-29e7-f517-f6a3-25cdabb0dc64}">
          <p14:sldIdLst>
            <p14:sldId id="271"/>
          </p14:sldIdLst>
        </p14:section>
        <p14:section name="Answers" id="{cef7113e-320b-8fe5-1b8a-9b0a2e542979}">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The world of the play and the Prologue. This chapter gives you the plot, the beliefs of Shakespeare's audience and the fourteen lines that tell you the ending before it starts.
This deck covers the department's lessons: 1 (Romeo and Juliet: summary: Can I explore the plot of the play and recall the events?); 2 (Contextual details: How did context influence Shakespeare's play?); 3 (The Prologue: What is the purpose of the prologue in Romeo and Juliet?).
Read the big question aloud: "How does Shakespeare turn a love story into a tragedy, and were the lovers' deaths written in the stars or chosen by the people on stage?"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was on the English throne when Shakespeare wrote Romeo and Juliet in about 1595?  →  C   Elizabeth I
2. The prologue is a sonnet. How many lines does a sonnet have?  →  14 lines
3. In an Elizabethan family the father was the head of the household. We call a society run by men ___.  →  patriarchal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Elizabeth I. Romeo and Juliet is an Elizabethan play. Elizabeth I reigned from 1558 to 1603.
2. 14 lines. A sonnet has fourteen lines. Shakespeare's prologue is three groups of four lines and a closing rhyming couplet.
3. patriarchal. Patriarchal comes from the Latin for father. Fathers held the power, and wives and children were expected to obey.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context: the world a story was written in. Example: "Knowing the context helps you see why Juliet could not choose her husband."
• patriarchal: run by men. Example: "In a patriarchal society, a father was the head of the household."
• feud: a long, bitter quarrel between two families. Example: "The feud between the Montagues and the Capulets has lasted for years."
• prologue: a speech before the play begins. Example: "The prologue tells us that the two lovers will die."
• sonnet: a poem of fourteen lines. Example: "Shakespeare writes the prologue as a sonnet."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Romeo and Juliet is a play by William Shakespeare.
2. He wrote it in about 1595, when Elizabeth I was queen.
3. The story is set in Verona, a city in Italy.
4. Two rich families, the Montagues and the Capulets, hate each other.
5. Romeo is a Montague and Juliet is a Capulet.
6. They meet at a party and fall in love at once.
7. They marry in secret, with help from Friar Lawrence.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Then Romeo kills Juliet's cousin Tybalt in a fight.
9. Romeo is banished from the city.
10. Juliet's father orders her to marry a man called Paris.
11. The Friar gives Juliet a potion that makes her look dead.
12. Romeo thinks she is really dead, so he drinks poison.
13. Juliet wakes, finds him dead, and kills herself.
14. The play tells us all this in a prologue, before it even begins.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Shakespeare's London and Shakespeare's Verona. Say it in your own words, then check understanding with a quick question: ask a pupil from the pre-teach group first, since they met these words and ideas before the lesson. Pupils try to recall before you re-explain.
Shakespeare wrote Romeo and Juliet in about 1595, in the reign of Elizabeth I, so we call its world Elizabethan. London was a crowded, fast-growing city with the first permanent playhouses. Plays were performed in daylight, the poorest spectators stood in the yard, and plague closed the theatres most summers. His audience knew about sudden death.
The play is set in Verona, in Italy. The story was not new: an Italian writer told it in about 1530, and Shakespeare's main source was an English poem by Arthur Brooke (1562). Many Elizabethans believed that hot countries produced hot-blooded, passionate people. Setting the play in Italy helped the audience accept lovers who marry after one night and die within the week.
Quotation: "Two households, both alike in dignity, / In fair Verona, where we lay our scene," (Prologue 1–2). Read it aloud; ask what it shows.
Tip: ‘Alike in dignity’ means equal in rank. Neither family is better than the other, so neither will back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Fathers, marriage and the stars. Say it in your own words, then check understanding with a quick question: ask a pupil from the pre-teach group first, since they met these words and ideas before the lesson. Pupils try to recall before you re-explain.
Elizabethan England was patriarchal. The father was the undisputed head of the household, and going against him was seen as going against God. Children, especially daughters, often could not choose whom they married. Marriages among the rich were arranged to protect wealth and reputation, and it was thought foolish to marry for love. Many couples met for the first time on their wedding day.
Elizabethans were also deeply religious and deeply superstitious. Almost everyone was Christian, and suicide was a mortal sin that could send a soul to hell. At the same time, many believed in astrology: that your life was written in the stars. When the Prologue calls Romeo and Juliet star-crossed, the first audience would have heard a warning that the heavens were against them.
Quotation: "From forth the fatal loins of these two foes / A pair of star-crossed lovers take their life," (Prologue 5–6). Read it aloud; ask what it shows.
Tip: Context is only worth marks when it explains a moment in the play. Link ‘star-crossed’ to belief in astrology, not to a history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prologue in the shape of a sonnet. Say it in your own words, then check understanding with a quick question: ask a pupil from the pre-teach group first, since they met these words and ideas before the lesson. Pupils try to recall before you re-explain.
A prologue is an introduction that tells the audience what is going to happen. Shakespeare's prologue gives away the whole plot: two families at war, two children who fall in love, and their deaths, which finally end the feud. Knowing the ending does not spoil the play. It creates tension, because we watch every happy moment knowing what is coming, and it builds sympathy for two people who cannot see what we can see.
The prologue is a sonnet: fourteen lines, with a rhyme scheme and a final rhyming couplet. Sonnets were the poems of love, so the form announces love, but the words inside it are about grudge, mutiny and blood. Love and violence are locked together from the first line. The prologue also tells us this is a tragedy, a play about flawed characters that ends in death and is designed to make us feel sadness and pity.
Quotation: "From ancient grudge break to new mutiny, / Where civil blood makes civil hands unclean." (Prologue 3–4). Read it aloud; ask what it shows.
Tip: ‘Civil’ is repeated: the blood is the blood of fellow citizens, so the feud is a wound inside one city, not a war between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plot in eight steps.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eight events from Romeo and Juliet in the order they happen in the play.
Support — work through the steps with the group: (1) Find the event that starts everything: what does the audience see first? (2) Find the event that ends everything: how do the lovers die? (3) The wedding must come before the fight, because Romeo refuses to fight his new cousin Tybalt. (4) Banishment comes straight after the killing; the forced marriage to Paris comes after that, and the potion is Juliet's escape from it.
Parallel worked example for Support (model it, do not give the task answer): Practice: put these moments from Act 1 in order: Romeo sees Juliet across the room; Lord Capulet talks to Paris about marriage; the Nurse tells Juliet that Romeo is a Montague; Romeo and Juliet kiss. Capulet and Paris talk in Scene 2, before the party.; At the party, Romeo sees Juliet before he speaks to her.; They talk and kiss.; Only afterwards does the Nurse tell Juliet who he is.. Answer: Capulet talks to Paris; Romeo sees Juliet; they kiss; the Nurse names him a Montague..
Core — reveal the hint only on request: Think of three stages: Acts 1–2 the lovers find each other, Act 3 the fight breaks everything, Acts 4–5 the plan to save them goes wrong.
Stretch — no help; when finished: Which one event on the list is the turning point of the play? Justify your choice in two sentences, then say which event could most easily have been prevented, and by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plot in eight steps.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eight events from Romeo and Juliet in the order they happen in the play.
Support — work through the steps with the group: (1) Find the event that starts everything: what does the audience see first? (2) Find the event that ends everything: how do the lovers die? (3) The wedding must come before the fight, because Romeo refuses to fight his new cousin Tybalt. (4) Banishment comes straight after the killing; the forced marriage to Paris comes after that, and the potion is Juliet's escape from it.
Parallel worked example for Support (model it, do not give the task answer): Practice: put these moments from Act 1 in order: Romeo sees Juliet across the room; Lord Capulet talks to Paris about marriage; the Nurse tells Juliet that Romeo is a Montague; Romeo and Juliet kiss. Capulet and Paris talk in Scene 2, before the party.; At the party, Romeo sees Juliet before he speaks to her.; They talk and kiss.; Only afterwards does the Nurse tell Juliet who he is.. Answer: Capulet talks to Paris; Romeo sees Juliet; they kiss; the Nurse names him a Montague..
Core — reveal the hint only on request: Think of three stages: Acts 1–2 the lovers find each other, Act 3 the fight breaks everything, Acts 4–5 the plan to save them goes wrong.
Stretch — no help; when finished: Which one event on the list is the turning point of the play? Justify your choice in two sentences, then say which event could most easily have been prevented, and by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Context to meaning.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Elizabethan context to the moment in the play it helps you understand.
Support — work through the steps with the group: (1) Read the left-hand side and say in your own words what each belief is. (2) Ask: what would someone who believed this feel when watching the play? (3) Find the moment on the right that would trigger that feeling.
Parallel worked example for Support (model it, do not give the task answer): Practice: which moment does the belief that almost everyone was Christian help you understand: (a) Juliet turning to Friar Lawrence for help, or (b) Mercutio's jokes? A friar is a religious adviser.; In a Christian society, a friar is where you go with a problem of conscience.; So the belief explains why Juliet goes to him.. Answer: (a) Juliet turning to Friar Lawrence for help..
Core — reveal the hint only on request: Each piece of context explains a feeling the first audience would have had. Match the belief to the feeling.
Stretch — no help; when finished: Pick one pair and turn it into a single sentence that names the moment, quotes three or four words from the play, and weaves in the context in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Context to meaning.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Elizabethan context to the moment in the play it helps you understand.
Support — work through the steps with the group: (1) Read the left-hand side and say in your own words what each belief is. (2) Ask: what would someone who believed this feel when watching the play? (3) Find the moment on the right that would trigger that feeling.
Parallel worked example for Support (model it, do not give the task answer): Practice: which moment does the belief that almost everyone was Christian help you understand: (a) Juliet turning to Friar Lawrence for help, or (b) Mercutio's jokes? A friar is a religious adviser.; In a Christian society, a friar is where you go with a problem of conscience.; So the belief explains why Juliet goes to him.. Answer: (a) Juliet turning to Friar Lawrence for help..
Core — reveal the hint only on request: Each piece of context explains a feeling the first audience would have had. Match the belief to the feeling.
Stretch — no help; when finished: Pick one pair and turn it into a single sentence that names the moment, quotes three or four words from the play, and weaves in the context in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Context to meaning.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Elizabethan context to the moment in the play it helps you understand.
Support — work through the steps with the group: (1) Read the left-hand side and say in your own words what each belief is. (2) Ask: what would someone who believed this feel when watching the play? (3) Find the moment on the right that would trigger that feeling.
Parallel worked example for Support (model it, do not give the task answer): Practice: which moment does the belief that almost everyone was Christian help you understand: (a) Juliet turning to Friar Lawrence for help, or (b) Mercutio's jokes? A friar is a religious adviser.; In a Christian society, a friar is where you go with a problem of conscience.; So the belief explains why Juliet goes to him.. Answer: (a) Juliet turning to Friar Lawrence for help..
Core — reveal the hint only on request: Each piece of context explains a feeling the first audience would have had. Match the belief to the feeling.
Stretch — no help; when finished: Pick one pair and turn it into a single sentence that names the moment, quotes three or four words from the play, and weaves in the context in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Context to meaning.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Elizabethan context to the moment in the play it helps you understand.
Support — work through the steps with the group: (1) Read the left-hand side and say in your own words what each belief is. (2) Ask: what would someone who believed this feel when watching the play? (3) Find the moment on the right that would trigger that feeling.
Parallel worked example for Support (model it, do not give the task answer): Practice: which moment does the belief that almost everyone was Christian help you understand: (a) Juliet turning to Friar Lawrence for help, or (b) Mercutio's jokes? A friar is a religious adviser.; In a Christian society, a friar is where you go with a problem of conscience.; So the belief explains why Juliet goes to him.. Answer: (a) Juliet turning to Friar Lawrence for help..
Core — reveal the hint only on request: Each piece of context explains a feeling the first audience would have had. Match the belief to the feeling.
Stretch — no help; when finished: Pick one pair and turn it into a single sentence that names the moment, quotes three or four words from the play, and weaves in the context in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Who was on the English throne when Shakespeare wrote Romeo and Juliet in about 1595?
Answer: B   Elizabeth I. Romeo and Juliet is an Elizabethan play. Elizabeth I reigned from 1558 to 1603.
Source of this question: gate item 1 re-asked (options rotated) — this chapter has no third quick-check module.
The ebook also holds task 3, "The purpose of the Prologue",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plot in eight steps. Reveal the answer; pupils mark their own work in a different colour, then read the "why" together. Same destination for every lane, so one answer serves the whole class.
Answer: Servants of the two families brawl in the streets of Verona.  (B); Romeo and Juliet meet at the Capulets' party and fall in love.  (H); Friar Lawrence marries Romeo and Juliet in secret.  (D); Tybalt kills Mercutio, and Romeo kills Tybalt.  (E); The Prince banishes Romeo from Verona.  (F); Lord Capulet orders Juliet to marry Paris on Thursday.  (G); Juliet drinks the Friar's potion and is laid in the tomb.  (C); Romeo drinks poison; Juliet wakes and stabs herself.  (A)
Why: The play moves in three stages: love found (Acts 1–2), love broken by the feud (Act 3), and a rescue that fails (Acts 4–5). Every later chapter fits into this shape.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Context to meaning. Reveal the answer; pupils mark their own work in a different colour, then read the "why" together. Same destination for every lane, so one answer serves the whole class.
Answer: Fathers chose their children's husbands and wives  →  A  Why Lord Capulet is so furious when Juliet refuses Paris; Belief in astrology: lives written in the stars  →  C  Why the Prologue calls the lovers star-crossed; Suicide was a mortal sin  →  E  Why the lovers' deaths would shock, not just sadden, the audience; Men were expected to defend their honour by fighting  →  B  Why Tybalt cannot let Romeo's presence at the party pass; Italy was thought to make people hot-blooded  →  D  Why the audience could accept love at first sight and a wedding the next day
Why: Context earns credit only when it explains why a moment matters. Each pair here is one link you can reuse in a paragraph.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Elizabeth I
Why: Romeo and Juliet is an Elizabethan play. Elizabeth I reigned from 1558 to 1603.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Romeo and Juliet · AQA KS3 → 8702</a:t>
            </a:r>
            <a:endParaRPr lang="en-US" sz="1800" dirty="0"/>
          </a:p>
        </p:txBody>
      </p:sp>
      <p:sp>
        <p:nvSpPr>
          <p:cNvPr id="10" name="deck-title"/>
          <p:cNvSpPr txBox="1"/>
          <p:nvPr/>
        </p:nvSpPr>
        <p:spPr>
          <a:xfrm>
            <a:off x="548640" y="204520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world of the play and the Prologue</a:t>
            </a:r>
            <a:endParaRPr lang="en-US" sz="4000" dirty="0"/>
          </a:p>
        </p:txBody>
      </p:sp>
      <p:sp>
        <p:nvSpPr>
          <p:cNvPr id="11" name="lessons-card"/>
          <p:cNvSpPr/>
          <p:nvPr/>
        </p:nvSpPr>
        <p:spPr>
          <a:xfrm>
            <a:off x="548640" y="3721608"/>
            <a:ext cx="5287975" cy="1676400"/>
          </a:xfrm>
          <a:prstGeom prst="roundRect">
            <a:avLst>
              <a:gd name="adj" fmla="val 4364"/>
            </a:avLst>
          </a:prstGeom>
          <a:solidFill>
            <a:srgbClr val="EFEBF2"/>
          </a:solidFill>
          <a:ln/>
        </p:spPr>
      </p:sp>
      <p:sp>
        <p:nvSpPr>
          <p:cNvPr id="12" name="lessons"/>
          <p:cNvSpPr txBox="1"/>
          <p:nvPr/>
        </p:nvSpPr>
        <p:spPr>
          <a:xfrm>
            <a:off x="685800" y="3813048"/>
            <a:ext cx="5013655" cy="14935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Romeo and Juliet: summary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Contextual details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Prologue</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Shakespeare turn a love story into a tragedy, and were the lovers' deaths written in the stars or chosen by the people on stage?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Who was on the English throne when Shakespeare wrote Romeo and Juliet in about 1595?</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Henry VIII</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James I</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Elizabeth I</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Victoria</a:t>
            </a:r>
            <a:endParaRPr lang="en-US" sz="2200" dirty="0"/>
          </a:p>
        </p:txBody>
      </p:sp>
      <p:sp>
        <p:nvSpPr>
          <p:cNvPr id="12"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prologue is a sonnet. How many lines does a sonnet have?</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lines</a:t>
            </a:r>
            <a:endParaRPr lang="en-US" sz="2400" dirty="0"/>
          </a:p>
        </p:txBody>
      </p:sp>
      <p:sp>
        <p:nvSpPr>
          <p:cNvPr id="17"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an Elizabethan family the father was the head of the household. We call a society run by men ___.</a:t>
            </a:r>
            <a:endParaRPr lang="en-US" sz="2200" dirty="0"/>
          </a:p>
          <a:p>
            <a:pPr algn="l" indent="0" marL="0">
              <a:buNone/>
            </a:pPr>
            <a:r>
              <a:rPr lang="en-US" sz="2200" b="1" dirty="0">
                <a:solidFill>
                  <a:srgbClr val="5B3A7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patriarchal  ·  matriarchal  ·  hierarchical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Elizabeth I</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Who was on the English throne when Shakespeare wrote Romeo and Juliet in about 1595?</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Romeo and Juliet is an Elizabethan play. Elizabeth I reigned from 1558 to 1603.</a:t>
            </a:r>
            <a:endParaRPr lang="en-US" sz="2000" dirty="0"/>
          </a:p>
        </p:txBody>
      </p:sp>
      <p:sp>
        <p:nvSpPr>
          <p:cNvPr id="14"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14 lines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prologue is a sonnet. How many lines does a sonnet have?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sonnet has fourteen lines. Shakespeare's prologue is three groups of four lines and a closing rhyming couplet.</a:t>
            </a:r>
            <a:endParaRPr lang="en-US" sz="2000" dirty="0"/>
          </a:p>
        </p:txBody>
      </p:sp>
      <p:sp>
        <p:nvSpPr>
          <p:cNvPr id="21"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patriarchal</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an Elizabethan family the father was the head of the household. We call a society run by men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Patriarchal comes from the Latin for father. Fathers held the power, and wives and children were expected to obey.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FF4"/>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context</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world a story was written in</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Knowing the context helps you see why Juliet could not choose her husband.</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patriarchal</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run by men</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a patriarchal society, a father was the head of the household.</a:t>
            </a:r>
            <a:endParaRPr lang="en-US" sz="1800" dirty="0"/>
          </a:p>
        </p:txBody>
      </p:sp>
      <p:sp>
        <p:nvSpPr>
          <p:cNvPr id="21" name="kw-row"/>
          <p:cNvSpPr/>
          <p:nvPr/>
        </p:nvSpPr>
        <p:spPr>
          <a:xfrm>
            <a:off x="548640" y="3639312"/>
            <a:ext cx="11094415" cy="786384"/>
          </a:xfrm>
          <a:prstGeom prst="roundRect">
            <a:avLst>
              <a:gd name="adj" fmla="val 6977"/>
            </a:avLst>
          </a:prstGeom>
          <a:solidFill>
            <a:srgbClr val="F2EFF4"/>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feud</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long, bitter quarrel between two families</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feud between the Montagues and the Capulets has lasted for years.</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prologue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speech before the play begins</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prologue tells us that the two lovers will die.</a:t>
            </a:r>
            <a:endParaRPr lang="en-US" sz="1800" dirty="0"/>
          </a:p>
        </p:txBody>
      </p:sp>
      <p:sp>
        <p:nvSpPr>
          <p:cNvPr id="31" name="kw-row"/>
          <p:cNvSpPr/>
          <p:nvPr/>
        </p:nvSpPr>
        <p:spPr>
          <a:xfrm>
            <a:off x="548640" y="5358384"/>
            <a:ext cx="11094415" cy="786384"/>
          </a:xfrm>
          <a:prstGeom prst="roundRect">
            <a:avLst>
              <a:gd name="adj" fmla="val 6977"/>
            </a:avLst>
          </a:prstGeom>
          <a:solidFill>
            <a:srgbClr val="F2EFF4"/>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sonnet</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poem of fourteen lines</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Shakespeare writes the prologue as a sonnet.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Romeo and Juliet is a play by William Shakespeare.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wrote it in about 1595, when Elizabeth I was queen.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story is set in Verona, a city in Italy.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Two rich families, the Montagues and the Capulets, hate each other.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Romeo is a Montague and Juliet is a Capulet.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meet at a party and fall in love at once.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marry in secret, with help from Friar Lawrence.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Romeo kills Juliet's cousin Tybalt in a fight.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Romeo is banished from the city.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Juliet's father orders her to marry a man called Paris.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Friar gives Juliet a potion that makes her look dead.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Romeo thinks she is really dead, so he drinks poison.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Juliet wakes, finds him dead, and kills herself.</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play tells us all this in a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prologue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before it even begins.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Shakespeare's London and Shakespeare's Verona</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‘Alike in dignity’ means equal in rank. Neither family is better than the other, so neither will back down.</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Two households, both alike in dignity, / In fair Verona, where we lay our scene,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Prologue 1–2</a:t>
            </a:r>
            <a:endParaRPr lang="en-US" sz="2600" dirty="0"/>
          </a:p>
        </p:txBody>
      </p:sp>
      <p:sp>
        <p:nvSpPr>
          <p:cNvPr id="14" name="bullet-card"/>
          <p:cNvSpPr/>
          <p:nvPr/>
        </p:nvSpPr>
        <p:spPr>
          <a:xfrm>
            <a:off x="548640" y="1389888"/>
            <a:ext cx="5074920" cy="1320546"/>
          </a:xfrm>
          <a:prstGeom prst="roundRect">
            <a:avLst>
              <a:gd name="adj" fmla="val 5540"/>
            </a:avLst>
          </a:prstGeom>
          <a:solidFill>
            <a:srgbClr val="F2EFF4"/>
          </a:solidFill>
          <a:ln/>
        </p:spPr>
      </p:sp>
      <p:sp>
        <p:nvSpPr>
          <p:cNvPr id="15" name="bullet-hex"/>
          <p:cNvSpPr/>
          <p:nvPr/>
        </p:nvSpPr>
        <p:spPr>
          <a:xfrm>
            <a:off x="676656" y="1883868"/>
            <a:ext cx="384048" cy="332586"/>
          </a:xfrm>
          <a:prstGeom prst="hexagon">
            <a:avLst/>
          </a:prstGeom>
          <a:solidFill>
            <a:srgbClr val="5B3A7A"/>
          </a:solidFill>
          <a:ln/>
        </p:spPr>
      </p:sp>
      <p:sp>
        <p:nvSpPr>
          <p:cNvPr id="16" name="bullet"/>
          <p:cNvSpPr txBox="1"/>
          <p:nvPr/>
        </p:nvSpPr>
        <p:spPr>
          <a:xfrm>
            <a:off x="1143000" y="1389888"/>
            <a:ext cx="4389120" cy="132054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Shakespeare wrote Romeo and Juliet in about 1595, in the reign of Elizabeth I, so we call its world Elizabethan.</a:t>
            </a:r>
            <a:endParaRPr lang="en-US" sz="2000" dirty="0"/>
          </a:p>
        </p:txBody>
      </p:sp>
      <p:sp>
        <p:nvSpPr>
          <p:cNvPr id="17" name="bullet-card"/>
          <p:cNvSpPr/>
          <p:nvPr/>
        </p:nvSpPr>
        <p:spPr>
          <a:xfrm>
            <a:off x="548640" y="2856738"/>
            <a:ext cx="5074920" cy="1940306"/>
          </a:xfrm>
          <a:prstGeom prst="roundRect">
            <a:avLst>
              <a:gd name="adj" fmla="val 3770"/>
            </a:avLst>
          </a:prstGeom>
          <a:solidFill>
            <a:srgbClr val="F2EFF4"/>
          </a:solidFill>
          <a:ln/>
        </p:spPr>
      </p:sp>
      <p:sp>
        <p:nvSpPr>
          <p:cNvPr id="18" name="bullet-hex"/>
          <p:cNvSpPr/>
          <p:nvPr/>
        </p:nvSpPr>
        <p:spPr>
          <a:xfrm>
            <a:off x="676656" y="3660598"/>
            <a:ext cx="384048" cy="332586"/>
          </a:xfrm>
          <a:prstGeom prst="hexagon">
            <a:avLst/>
          </a:prstGeom>
          <a:solidFill>
            <a:srgbClr val="B8862B"/>
          </a:solidFill>
          <a:ln/>
        </p:spPr>
      </p:sp>
      <p:sp>
        <p:nvSpPr>
          <p:cNvPr id="19" name="bullet"/>
          <p:cNvSpPr txBox="1"/>
          <p:nvPr/>
        </p:nvSpPr>
        <p:spPr>
          <a:xfrm>
            <a:off x="1143000" y="2856738"/>
            <a:ext cx="4389120" cy="194030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play is set in Verona, in Italy. The story was not new: an Italian writer told it in about 1530, and Shakespeare's main source was an English poem by Arthur Brooke (1562).</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Fathers, marriage and the stars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Context is only worth marks when it explains a moment in the play. Link ‘star-crossed’ to belief in astrology, not to a history lesson.</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From forth the fatal loins of these two foes / A pair of star-crossed lovers take their life,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Prologue 5–6</a:t>
            </a:r>
            <a:endParaRPr lang="en-US" sz="2600" dirty="0"/>
          </a:p>
        </p:txBody>
      </p:sp>
      <p:sp>
        <p:nvSpPr>
          <p:cNvPr id="14" name="bullet-card"/>
          <p:cNvSpPr/>
          <p:nvPr/>
        </p:nvSpPr>
        <p:spPr>
          <a:xfrm>
            <a:off x="548640" y="1389888"/>
            <a:ext cx="5074920" cy="1490980"/>
          </a:xfrm>
          <a:prstGeom prst="roundRect">
            <a:avLst>
              <a:gd name="adj" fmla="val 4906"/>
            </a:avLst>
          </a:prstGeom>
          <a:solidFill>
            <a:srgbClr val="F2EFF4"/>
          </a:solidFill>
          <a:ln/>
        </p:spPr>
      </p:sp>
      <p:sp>
        <p:nvSpPr>
          <p:cNvPr id="15" name="bullet-hex"/>
          <p:cNvSpPr/>
          <p:nvPr/>
        </p:nvSpPr>
        <p:spPr>
          <a:xfrm>
            <a:off x="676656" y="1969085"/>
            <a:ext cx="384048" cy="332586"/>
          </a:xfrm>
          <a:prstGeom prst="hexagon">
            <a:avLst/>
          </a:prstGeom>
          <a:solidFill>
            <a:srgbClr val="5B3A7A"/>
          </a:solidFill>
          <a:ln/>
        </p:spPr>
      </p:sp>
      <p:sp>
        <p:nvSpPr>
          <p:cNvPr id="16" name="bullet"/>
          <p:cNvSpPr txBox="1"/>
          <p:nvPr/>
        </p:nvSpPr>
        <p:spPr>
          <a:xfrm>
            <a:off x="1143000" y="1389888"/>
            <a:ext cx="4389120" cy="14909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Elizabethan England was patriarchal. The father was the undisputed head of the household, and going against him was seen as going against God.</a:t>
            </a:r>
            <a:endParaRPr lang="en-US" sz="1800" dirty="0"/>
          </a:p>
        </p:txBody>
      </p:sp>
      <p:sp>
        <p:nvSpPr>
          <p:cNvPr id="17" name="bullet-card"/>
          <p:cNvSpPr/>
          <p:nvPr/>
        </p:nvSpPr>
        <p:spPr>
          <a:xfrm>
            <a:off x="548640" y="3027172"/>
            <a:ext cx="5074920" cy="1490980"/>
          </a:xfrm>
          <a:prstGeom prst="roundRect">
            <a:avLst>
              <a:gd name="adj" fmla="val 4906"/>
            </a:avLst>
          </a:prstGeom>
          <a:solidFill>
            <a:srgbClr val="F2EFF4"/>
          </a:solidFill>
          <a:ln/>
        </p:spPr>
      </p:sp>
      <p:sp>
        <p:nvSpPr>
          <p:cNvPr id="18" name="bullet-hex"/>
          <p:cNvSpPr/>
          <p:nvPr/>
        </p:nvSpPr>
        <p:spPr>
          <a:xfrm>
            <a:off x="676656" y="3606369"/>
            <a:ext cx="384048" cy="332586"/>
          </a:xfrm>
          <a:prstGeom prst="hexagon">
            <a:avLst/>
          </a:prstGeom>
          <a:solidFill>
            <a:srgbClr val="B8862B"/>
          </a:solidFill>
          <a:ln/>
        </p:spPr>
      </p:sp>
      <p:sp>
        <p:nvSpPr>
          <p:cNvPr id="19" name="bullet"/>
          <p:cNvSpPr txBox="1"/>
          <p:nvPr/>
        </p:nvSpPr>
        <p:spPr>
          <a:xfrm>
            <a:off x="1143000" y="3027172"/>
            <a:ext cx="4389120" cy="14909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Elizabethans were also deeply religious and deeply superstitious. Almost everyone was Christian, and suicide was a mortal sin that could send a soul to hell.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 prologue in the shape of a sonnet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‘Civil’ is repeated: the blood is the blood of fellow citizens, so the feud is a wound inside one city, not a war between two.</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From ancient grudge break to new mutiny, / Where civil blood makes civil hands unclean.</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Prologue 3–4</a:t>
            </a:r>
            <a:endParaRPr lang="en-US" sz="2600" dirty="0"/>
          </a:p>
        </p:txBody>
      </p:sp>
      <p:sp>
        <p:nvSpPr>
          <p:cNvPr id="14" name="bullet-card"/>
          <p:cNvSpPr/>
          <p:nvPr/>
        </p:nvSpPr>
        <p:spPr>
          <a:xfrm>
            <a:off x="548640" y="1389888"/>
            <a:ext cx="5074920" cy="1490980"/>
          </a:xfrm>
          <a:prstGeom prst="roundRect">
            <a:avLst>
              <a:gd name="adj" fmla="val 4906"/>
            </a:avLst>
          </a:prstGeom>
          <a:solidFill>
            <a:srgbClr val="F2EFF4"/>
          </a:solidFill>
          <a:ln/>
        </p:spPr>
      </p:sp>
      <p:sp>
        <p:nvSpPr>
          <p:cNvPr id="15" name="bullet-hex"/>
          <p:cNvSpPr/>
          <p:nvPr/>
        </p:nvSpPr>
        <p:spPr>
          <a:xfrm>
            <a:off x="676656" y="1969085"/>
            <a:ext cx="384048" cy="332586"/>
          </a:xfrm>
          <a:prstGeom prst="hexagon">
            <a:avLst/>
          </a:prstGeom>
          <a:solidFill>
            <a:srgbClr val="5B3A7A"/>
          </a:solidFill>
          <a:ln/>
        </p:spPr>
      </p:sp>
      <p:sp>
        <p:nvSpPr>
          <p:cNvPr id="16" name="bullet"/>
          <p:cNvSpPr txBox="1"/>
          <p:nvPr/>
        </p:nvSpPr>
        <p:spPr>
          <a:xfrm>
            <a:off x="1143000" y="1389888"/>
            <a:ext cx="4389120" cy="1490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prologue is an introduction that tells the audience what is going to happen.</a:t>
            </a:r>
            <a:endParaRPr lang="en-US" sz="2200" dirty="0"/>
          </a:p>
        </p:txBody>
      </p:sp>
      <p:sp>
        <p:nvSpPr>
          <p:cNvPr id="17" name="bullet-card"/>
          <p:cNvSpPr/>
          <p:nvPr/>
        </p:nvSpPr>
        <p:spPr>
          <a:xfrm>
            <a:off x="548640" y="3027172"/>
            <a:ext cx="5074920" cy="1490980"/>
          </a:xfrm>
          <a:prstGeom prst="roundRect">
            <a:avLst>
              <a:gd name="adj" fmla="val 4906"/>
            </a:avLst>
          </a:prstGeom>
          <a:solidFill>
            <a:srgbClr val="F2EFF4"/>
          </a:solidFill>
          <a:ln/>
        </p:spPr>
      </p:sp>
      <p:sp>
        <p:nvSpPr>
          <p:cNvPr id="18" name="bullet-hex"/>
          <p:cNvSpPr/>
          <p:nvPr/>
        </p:nvSpPr>
        <p:spPr>
          <a:xfrm>
            <a:off x="676656" y="3606369"/>
            <a:ext cx="384048" cy="332586"/>
          </a:xfrm>
          <a:prstGeom prst="hexagon">
            <a:avLst/>
          </a:prstGeom>
          <a:solidFill>
            <a:srgbClr val="B8862B"/>
          </a:solidFill>
          <a:ln/>
        </p:spPr>
      </p:sp>
      <p:sp>
        <p:nvSpPr>
          <p:cNvPr id="19" name="bullet"/>
          <p:cNvSpPr txBox="1"/>
          <p:nvPr/>
        </p:nvSpPr>
        <p:spPr>
          <a:xfrm>
            <a:off x="1143000" y="3027172"/>
            <a:ext cx="4389120" cy="1490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prologue is a sonnet: fourteen lines, with a rhyme scheme and a final rhyming couplet.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The plot in eight steps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eight events from Romeo and Juliet in the order they happen in the play.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Romeo drinks poison; Juliet wakes and stabs herself.</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Servants of the two families brawl in the streets of Verona.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Juliet drinks the Friar's potion and is laid in the tomb.</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Friar Lawrence marries Romeo and Juliet in secret.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Tybalt kills Mercutio, and Romeo kills Tybalt.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Prince banishes Romeo from Verona.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G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Lord Capulet orders Juliet to marry Paris on Thursday.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H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Romeo and Juliet meet at the Capulets' party and fall in love.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Same task, three ways in: The plot in eight steps</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plot in eight steps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EB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event that starts everything: what does the audience see first?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event that ends everything: how do the lovers die?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wedding must come before the fight, because Romeo refuses to fight his new cousin Tybalt.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Banishment comes straight after the killing; the forced marriage to Paris comes after that, and the potion is Juliet's escape from it.</a:t>
            </a:r>
            <a:endParaRPr lang="en-US" sz="1800" dirty="0"/>
          </a:p>
        </p:txBody>
      </p:sp>
      <p:sp>
        <p:nvSpPr>
          <p:cNvPr id="17" name="col-Core"/>
          <p:cNvSpPr/>
          <p:nvPr/>
        </p:nvSpPr>
        <p:spPr>
          <a:xfrm>
            <a:off x="6425403" y="2395728"/>
            <a:ext cx="2471666" cy="3749040"/>
          </a:xfrm>
          <a:prstGeom prst="roundRect">
            <a:avLst>
              <a:gd name="adj" fmla="val 2220"/>
            </a:avLst>
          </a:prstGeom>
          <a:solidFill>
            <a:srgbClr val="DBD4E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of three stages: Acts 1–2 the lovers find each other, Act 3 the fight breaks everything, Acts 4–5 the plan to save them goes wrong.</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5B3A7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Which one event on the list is the turning point of the play? Justify your choice in two sentences, then say which event could most easily have been prevented, and by whom.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piece of Elizabethan context to the moment in the play it helps you understand.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(1 of 2):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piece of Elizabethan context to the moment in the play it helps you understand.</a:t>
            </a:r>
            <a:endParaRPr lang="en-US" sz="2400" dirty="0"/>
          </a:p>
        </p:txBody>
      </p:sp>
      <p:sp>
        <p:nvSpPr>
          <p:cNvPr id="11" name="match-card"/>
          <p:cNvSpPr/>
          <p:nvPr/>
        </p:nvSpPr>
        <p:spPr>
          <a:xfrm>
            <a:off x="777240" y="2672080"/>
            <a:ext cx="4503638" cy="1035643"/>
          </a:xfrm>
          <a:prstGeom prst="roundRect">
            <a:avLst>
              <a:gd name="adj" fmla="val 7063"/>
            </a:avLst>
          </a:prstGeom>
          <a:solidFill>
            <a:srgbClr val="F2EFF4"/>
          </a:solidFill>
          <a:ln/>
        </p:spPr>
      </p:sp>
      <p:sp>
        <p:nvSpPr>
          <p:cNvPr id="12" name="match-hex"/>
          <p:cNvSpPr/>
          <p:nvPr/>
        </p:nvSpPr>
        <p:spPr>
          <a:xfrm>
            <a:off x="850392" y="3023609"/>
            <a:ext cx="384048" cy="332586"/>
          </a:xfrm>
          <a:prstGeom prst="hexagon">
            <a:avLst/>
          </a:prstGeom>
          <a:solidFill>
            <a:srgbClr val="5B3A7A"/>
          </a:solidFill>
          <a:ln/>
        </p:spPr>
      </p:sp>
      <p:sp>
        <p:nvSpPr>
          <p:cNvPr id="13" name="match-hex-label"/>
          <p:cNvSpPr txBox="1"/>
          <p:nvPr/>
        </p:nvSpPr>
        <p:spPr>
          <a:xfrm>
            <a:off x="850392"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90927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Fathers chose their children's husbands and wives</a:t>
            </a:r>
            <a:endParaRPr lang="en-US" sz="2200" dirty="0"/>
          </a:p>
        </p:txBody>
      </p:sp>
      <p:sp>
        <p:nvSpPr>
          <p:cNvPr id="15" name="match-card"/>
          <p:cNvSpPr/>
          <p:nvPr/>
        </p:nvSpPr>
        <p:spPr>
          <a:xfrm>
            <a:off x="5646638" y="2672080"/>
            <a:ext cx="5767817" cy="1035643"/>
          </a:xfrm>
          <a:prstGeom prst="roundRect">
            <a:avLst>
              <a:gd name="adj" fmla="val 7063"/>
            </a:avLst>
          </a:prstGeom>
          <a:solidFill>
            <a:srgbClr val="F6F0E6"/>
          </a:solidFill>
          <a:ln/>
        </p:spPr>
      </p:sp>
      <p:sp>
        <p:nvSpPr>
          <p:cNvPr id="16" name="match-hex"/>
          <p:cNvSpPr/>
          <p:nvPr/>
        </p:nvSpPr>
        <p:spPr>
          <a:xfrm>
            <a:off x="5719790" y="3023609"/>
            <a:ext cx="384048" cy="332586"/>
          </a:xfrm>
          <a:prstGeom prst="hexagon">
            <a:avLst/>
          </a:prstGeom>
          <a:solidFill>
            <a:srgbClr val="B8862B"/>
          </a:solidFill>
          <a:ln/>
        </p:spPr>
      </p:sp>
      <p:sp>
        <p:nvSpPr>
          <p:cNvPr id="17" name="match-hex-label"/>
          <p:cNvSpPr txBox="1"/>
          <p:nvPr/>
        </p:nvSpPr>
        <p:spPr>
          <a:xfrm>
            <a:off x="5719790"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167846" y="2672080"/>
            <a:ext cx="5173457"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Why Lord Capulet is so furious when Juliet refuses Paris</a:t>
            </a:r>
            <a:endParaRPr lang="en-US" sz="2200" dirty="0"/>
          </a:p>
        </p:txBody>
      </p:sp>
      <p:sp>
        <p:nvSpPr>
          <p:cNvPr id="19" name="match-card"/>
          <p:cNvSpPr/>
          <p:nvPr/>
        </p:nvSpPr>
        <p:spPr>
          <a:xfrm>
            <a:off x="777240" y="3799163"/>
            <a:ext cx="4503638" cy="1035643"/>
          </a:xfrm>
          <a:prstGeom prst="roundRect">
            <a:avLst>
              <a:gd name="adj" fmla="val 7063"/>
            </a:avLst>
          </a:prstGeom>
          <a:solidFill>
            <a:srgbClr val="F2EFF4"/>
          </a:solidFill>
          <a:ln/>
        </p:spPr>
      </p:sp>
      <p:sp>
        <p:nvSpPr>
          <p:cNvPr id="20" name="match-hex"/>
          <p:cNvSpPr/>
          <p:nvPr/>
        </p:nvSpPr>
        <p:spPr>
          <a:xfrm>
            <a:off x="850392" y="4150691"/>
            <a:ext cx="384048" cy="332586"/>
          </a:xfrm>
          <a:prstGeom prst="hexagon">
            <a:avLst/>
          </a:prstGeom>
          <a:solidFill>
            <a:srgbClr val="5B3A7A"/>
          </a:solidFill>
          <a:ln/>
        </p:spPr>
      </p:sp>
      <p:sp>
        <p:nvSpPr>
          <p:cNvPr id="21" name="match-hex-label"/>
          <p:cNvSpPr txBox="1"/>
          <p:nvPr/>
        </p:nvSpPr>
        <p:spPr>
          <a:xfrm>
            <a:off x="850392"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99163"/>
            <a:ext cx="390927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Belief in astrology: lives written in the stars</a:t>
            </a:r>
            <a:endParaRPr lang="en-US" sz="2200" dirty="0"/>
          </a:p>
        </p:txBody>
      </p:sp>
      <p:sp>
        <p:nvSpPr>
          <p:cNvPr id="23" name="match-card"/>
          <p:cNvSpPr/>
          <p:nvPr/>
        </p:nvSpPr>
        <p:spPr>
          <a:xfrm>
            <a:off x="5646638" y="3799163"/>
            <a:ext cx="5767817" cy="1035643"/>
          </a:xfrm>
          <a:prstGeom prst="roundRect">
            <a:avLst>
              <a:gd name="adj" fmla="val 7063"/>
            </a:avLst>
          </a:prstGeom>
          <a:solidFill>
            <a:srgbClr val="F6F0E6"/>
          </a:solidFill>
          <a:ln/>
        </p:spPr>
      </p:sp>
      <p:sp>
        <p:nvSpPr>
          <p:cNvPr id="24" name="match-hex"/>
          <p:cNvSpPr/>
          <p:nvPr/>
        </p:nvSpPr>
        <p:spPr>
          <a:xfrm>
            <a:off x="5719790" y="4150691"/>
            <a:ext cx="384048" cy="332586"/>
          </a:xfrm>
          <a:prstGeom prst="hexagon">
            <a:avLst/>
          </a:prstGeom>
          <a:solidFill>
            <a:srgbClr val="B8862B"/>
          </a:solidFill>
          <a:ln/>
        </p:spPr>
      </p:sp>
      <p:sp>
        <p:nvSpPr>
          <p:cNvPr id="25" name="match-hex-label"/>
          <p:cNvSpPr txBox="1"/>
          <p:nvPr/>
        </p:nvSpPr>
        <p:spPr>
          <a:xfrm>
            <a:off x="5719790"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167846" y="3799163"/>
            <a:ext cx="5173457"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Why the lovers' deaths would shock, not just sadden, the audience</a:t>
            </a:r>
            <a:endParaRPr lang="en-US" sz="2200" dirty="0"/>
          </a:p>
        </p:txBody>
      </p:sp>
      <p:sp>
        <p:nvSpPr>
          <p:cNvPr id="27" name="match-card"/>
          <p:cNvSpPr/>
          <p:nvPr/>
        </p:nvSpPr>
        <p:spPr>
          <a:xfrm>
            <a:off x="777240" y="4926245"/>
            <a:ext cx="4503638" cy="1035643"/>
          </a:xfrm>
          <a:prstGeom prst="roundRect">
            <a:avLst>
              <a:gd name="adj" fmla="val 7063"/>
            </a:avLst>
          </a:prstGeom>
          <a:solidFill>
            <a:srgbClr val="F2EFF4"/>
          </a:solidFill>
          <a:ln/>
        </p:spPr>
      </p:sp>
      <p:sp>
        <p:nvSpPr>
          <p:cNvPr id="28" name="match-hex"/>
          <p:cNvSpPr/>
          <p:nvPr/>
        </p:nvSpPr>
        <p:spPr>
          <a:xfrm>
            <a:off x="850392" y="5277774"/>
            <a:ext cx="384048" cy="332586"/>
          </a:xfrm>
          <a:prstGeom prst="hexagon">
            <a:avLst/>
          </a:prstGeom>
          <a:solidFill>
            <a:srgbClr val="5B3A7A"/>
          </a:solidFill>
          <a:ln/>
        </p:spPr>
      </p:sp>
      <p:sp>
        <p:nvSpPr>
          <p:cNvPr id="29" name="match-hex-label"/>
          <p:cNvSpPr txBox="1"/>
          <p:nvPr/>
        </p:nvSpPr>
        <p:spPr>
          <a:xfrm>
            <a:off x="850392"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26245"/>
            <a:ext cx="390927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Suicide was a mortal sin</a:t>
            </a:r>
            <a:endParaRPr lang="en-US" sz="2200" dirty="0"/>
          </a:p>
        </p:txBody>
      </p:sp>
      <p:sp>
        <p:nvSpPr>
          <p:cNvPr id="31" name="match-card"/>
          <p:cNvSpPr/>
          <p:nvPr/>
        </p:nvSpPr>
        <p:spPr>
          <a:xfrm>
            <a:off x="5646638" y="4926245"/>
            <a:ext cx="5767817" cy="1035643"/>
          </a:xfrm>
          <a:prstGeom prst="roundRect">
            <a:avLst>
              <a:gd name="adj" fmla="val 7063"/>
            </a:avLst>
          </a:prstGeom>
          <a:solidFill>
            <a:srgbClr val="F6F0E6"/>
          </a:solidFill>
          <a:ln/>
        </p:spPr>
      </p:sp>
      <p:sp>
        <p:nvSpPr>
          <p:cNvPr id="32" name="match-hex"/>
          <p:cNvSpPr/>
          <p:nvPr/>
        </p:nvSpPr>
        <p:spPr>
          <a:xfrm>
            <a:off x="5719790" y="5277774"/>
            <a:ext cx="384048" cy="332586"/>
          </a:xfrm>
          <a:prstGeom prst="hexagon">
            <a:avLst/>
          </a:prstGeom>
          <a:solidFill>
            <a:srgbClr val="B8862B"/>
          </a:solidFill>
          <a:ln/>
        </p:spPr>
      </p:sp>
      <p:sp>
        <p:nvSpPr>
          <p:cNvPr id="33" name="match-hex-label"/>
          <p:cNvSpPr txBox="1"/>
          <p:nvPr/>
        </p:nvSpPr>
        <p:spPr>
          <a:xfrm>
            <a:off x="5719790"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167846" y="4926245"/>
            <a:ext cx="5173457"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Why the Prologue calls the lovers star-crossed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(2 of 2):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piece of Elizabethan context to the moment in the play it helps you understand.</a:t>
            </a:r>
            <a:endParaRPr lang="en-US" sz="2400" dirty="0"/>
          </a:p>
        </p:txBody>
      </p:sp>
      <p:sp>
        <p:nvSpPr>
          <p:cNvPr id="11" name="match-card"/>
          <p:cNvSpPr/>
          <p:nvPr/>
        </p:nvSpPr>
        <p:spPr>
          <a:xfrm>
            <a:off x="777240" y="2672080"/>
            <a:ext cx="4279773" cy="1506220"/>
          </a:xfrm>
          <a:prstGeom prst="roundRect">
            <a:avLst>
              <a:gd name="adj" fmla="val 4857"/>
            </a:avLst>
          </a:prstGeom>
          <a:solidFill>
            <a:srgbClr val="F2EFF4"/>
          </a:solidFill>
          <a:ln/>
        </p:spPr>
      </p:sp>
      <p:sp>
        <p:nvSpPr>
          <p:cNvPr id="12" name="match-hex"/>
          <p:cNvSpPr/>
          <p:nvPr/>
        </p:nvSpPr>
        <p:spPr>
          <a:xfrm>
            <a:off x="850392" y="3258897"/>
            <a:ext cx="384048" cy="332586"/>
          </a:xfrm>
          <a:prstGeom prst="hexagon">
            <a:avLst/>
          </a:prstGeom>
          <a:solidFill>
            <a:srgbClr val="5B3A7A"/>
          </a:solidFill>
          <a:ln/>
        </p:spPr>
      </p:sp>
      <p:sp>
        <p:nvSpPr>
          <p:cNvPr id="13" name="match-hex-label"/>
          <p:cNvSpPr txBox="1"/>
          <p:nvPr/>
        </p:nvSpPr>
        <p:spPr>
          <a:xfrm>
            <a:off x="850392" y="32588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685413"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Men were expected to defend their honour by fighting</a:t>
            </a:r>
            <a:endParaRPr lang="en-US" sz="2200" dirty="0"/>
          </a:p>
        </p:txBody>
      </p:sp>
      <p:sp>
        <p:nvSpPr>
          <p:cNvPr id="15" name="match-card"/>
          <p:cNvSpPr/>
          <p:nvPr/>
        </p:nvSpPr>
        <p:spPr>
          <a:xfrm>
            <a:off x="5422773" y="2672080"/>
            <a:ext cx="5991682" cy="1506220"/>
          </a:xfrm>
          <a:prstGeom prst="roundRect">
            <a:avLst>
              <a:gd name="adj" fmla="val 4857"/>
            </a:avLst>
          </a:prstGeom>
          <a:solidFill>
            <a:srgbClr val="F6F0E6"/>
          </a:solidFill>
          <a:ln/>
        </p:spPr>
      </p:sp>
      <p:sp>
        <p:nvSpPr>
          <p:cNvPr id="16" name="match-hex"/>
          <p:cNvSpPr/>
          <p:nvPr/>
        </p:nvSpPr>
        <p:spPr>
          <a:xfrm>
            <a:off x="5495925" y="3258897"/>
            <a:ext cx="384048" cy="332586"/>
          </a:xfrm>
          <a:prstGeom prst="hexagon">
            <a:avLst/>
          </a:prstGeom>
          <a:solidFill>
            <a:srgbClr val="B8862B"/>
          </a:solidFill>
          <a:ln/>
        </p:spPr>
      </p:sp>
      <p:sp>
        <p:nvSpPr>
          <p:cNvPr id="17" name="match-hex-label"/>
          <p:cNvSpPr txBox="1"/>
          <p:nvPr/>
        </p:nvSpPr>
        <p:spPr>
          <a:xfrm>
            <a:off x="5495925" y="32588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943981" y="2672080"/>
            <a:ext cx="5397322"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Why the audience could accept love at first sight and a wedding the next day</a:t>
            </a:r>
            <a:endParaRPr lang="en-US" sz="2200" dirty="0"/>
          </a:p>
        </p:txBody>
      </p:sp>
      <p:sp>
        <p:nvSpPr>
          <p:cNvPr id="19" name="match-card"/>
          <p:cNvSpPr/>
          <p:nvPr/>
        </p:nvSpPr>
        <p:spPr>
          <a:xfrm>
            <a:off x="777240" y="4269740"/>
            <a:ext cx="4279773" cy="1165352"/>
          </a:xfrm>
          <a:prstGeom prst="roundRect">
            <a:avLst>
              <a:gd name="adj" fmla="val 6277"/>
            </a:avLst>
          </a:prstGeom>
          <a:solidFill>
            <a:srgbClr val="F2EFF4"/>
          </a:solidFill>
          <a:ln/>
        </p:spPr>
      </p:sp>
      <p:sp>
        <p:nvSpPr>
          <p:cNvPr id="20" name="match-hex"/>
          <p:cNvSpPr/>
          <p:nvPr/>
        </p:nvSpPr>
        <p:spPr>
          <a:xfrm>
            <a:off x="850392" y="4686123"/>
            <a:ext cx="384048" cy="332586"/>
          </a:xfrm>
          <a:prstGeom prst="hexagon">
            <a:avLst/>
          </a:prstGeom>
          <a:solidFill>
            <a:srgbClr val="5B3A7A"/>
          </a:solidFill>
          <a:ln/>
        </p:spPr>
      </p:sp>
      <p:sp>
        <p:nvSpPr>
          <p:cNvPr id="21" name="match-hex-label"/>
          <p:cNvSpPr txBox="1"/>
          <p:nvPr/>
        </p:nvSpPr>
        <p:spPr>
          <a:xfrm>
            <a:off x="850392" y="46861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4269740"/>
            <a:ext cx="3685413"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Italy was thought to make people hot-blooded</a:t>
            </a:r>
            <a:endParaRPr lang="en-US" sz="2200" dirty="0"/>
          </a:p>
        </p:txBody>
      </p:sp>
      <p:sp>
        <p:nvSpPr>
          <p:cNvPr id="23" name="match-card"/>
          <p:cNvSpPr/>
          <p:nvPr/>
        </p:nvSpPr>
        <p:spPr>
          <a:xfrm>
            <a:off x="5422773" y="4269740"/>
            <a:ext cx="5991682" cy="1165352"/>
          </a:xfrm>
          <a:prstGeom prst="roundRect">
            <a:avLst>
              <a:gd name="adj" fmla="val 6277"/>
            </a:avLst>
          </a:prstGeom>
          <a:solidFill>
            <a:srgbClr val="F6F0E6"/>
          </a:solidFill>
          <a:ln/>
        </p:spPr>
      </p:sp>
      <p:sp>
        <p:nvSpPr>
          <p:cNvPr id="24" name="match-hex"/>
          <p:cNvSpPr/>
          <p:nvPr/>
        </p:nvSpPr>
        <p:spPr>
          <a:xfrm>
            <a:off x="5495925" y="4686123"/>
            <a:ext cx="384048" cy="332586"/>
          </a:xfrm>
          <a:prstGeom prst="hexagon">
            <a:avLst/>
          </a:prstGeom>
          <a:solidFill>
            <a:srgbClr val="B8862B"/>
          </a:solidFill>
          <a:ln/>
        </p:spPr>
      </p:sp>
      <p:sp>
        <p:nvSpPr>
          <p:cNvPr id="25" name="match-hex-label"/>
          <p:cNvSpPr txBox="1"/>
          <p:nvPr/>
        </p:nvSpPr>
        <p:spPr>
          <a:xfrm>
            <a:off x="5495925" y="46861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943981" y="4269740"/>
            <a:ext cx="5397322"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Why Tybalt cannot let Romeo's presence at the party pass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piece of Elizabethan context to the moment in the play it helps you understand.</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FEB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left-hand side and say in your own words what each belief is.</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would someone who believed this feel when watching the play?</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moment on the right that would trigger that feeling.</a:t>
            </a:r>
            <a:endParaRPr lang="en-US" sz="1800" dirty="0"/>
          </a:p>
        </p:txBody>
      </p:sp>
      <p:sp>
        <p:nvSpPr>
          <p:cNvPr id="17" name="col-Core"/>
          <p:cNvSpPr/>
          <p:nvPr/>
        </p:nvSpPr>
        <p:spPr>
          <a:xfrm>
            <a:off x="4338218" y="2593848"/>
            <a:ext cx="3515258" cy="3550920"/>
          </a:xfrm>
          <a:prstGeom prst="roundRect">
            <a:avLst>
              <a:gd name="adj" fmla="val 1561"/>
            </a:avLst>
          </a:prstGeom>
          <a:solidFill>
            <a:srgbClr val="DBD4E2"/>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Each piece of context explains a feeling the first audience would have had. Match the belief to the feeling.</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5B3A7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Pick one pair and turn it into a single sentence that names the moment, quotes three or four words from the play, and weaves in the context in the same sentence.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Who was on the English throne when Shakespeare wrote Romeo and Juliet in about 1595?</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James I</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Elizabeth I</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Victoria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Henry VIII</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1F6"/>
          </a:solidFill>
          <a:ln w="12700">
            <a:solidFill>
              <a:srgbClr val="AD9DB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The plot in eight steps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Servants of the two families brawl in the streets of Verona.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Romeo and Juliet meet at the Capulets' party and fall in love.  (H)</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Friar Lawrence marries Romeo and Juliet in secret.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Tybalt kills Mercutio, and Romeo kills Tybalt.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Prince banishes Romeo from Verona.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Lord Capulet orders Juliet to marry Paris on Thursday.  (G)</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7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Juliet drinks the Friar's potion and is laid in the tomb.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8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Romeo drinks poison; Juliet wakes and stabs herself.  (A)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play moves in three stages: love found (Acts 1–2), love broken by the feud (Act 3), and a rescue that fails (Acts 4–5). Every later chapter fits into this shape.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Fathers chose their children's husbands and wives  →  A  Why Lord Capulet is so furious when Juliet refuses Paris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Belief in astrology: lives written in the stars  →  C  Why the Prologue calls the lovers star-crossed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Suicide was a mortal sin  →  E  Why the lovers' deaths would shock, not just sadden, the audience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Men were expected to defend their honour by fighting  →  B  Why Tybalt cannot let Romeo's presence at the party pass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Italy was thought to make people hot-blooded  →  D  Why the audience could accept love at first sight and a wedding the next day</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Context earns credit only when it explains why a moment matters. Each pair here is one link you can reuse in a paragraph.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Who was on the English throne when Shakespeare wrote Romeo and Juliet in about 1595?</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Elizabeth I</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Romeo and Juliet is an Elizabethan play. Elizabeth I reigned from 1558 to 1603.</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Romeo and Juliet · Chapter 1: The world of the play and the Prologue</dc:title>
  <dc:subject>English Literature · Year 9</dc:subject>
  <dc:creator>Dr Vitor Merissi de Carvalho</dc:creator>
  <cp:lastModifiedBy>Dr Vitor Merissi de Carvalho</cp:lastModifiedBy>
  <cp:revision>1</cp:revision>
  <dcterms:created xsi:type="dcterms:W3CDTF">2026-10-19T06:07:31Z</dcterms:created>
  <dcterms:modified xsi:type="dcterms:W3CDTF">2026-10-19T06:07:31Z</dcterms:modified>
</cp:coreProperties>
</file>