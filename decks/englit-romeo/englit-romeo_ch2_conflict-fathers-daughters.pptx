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2b7fc29-e9e5-c884-911f-d28357034400}">
          <p14:sldIdLst>
            <p14:sldId id="256"/>
          </p14:sldIdLst>
        </p14:section>
        <p14:section name="Gate" id="{9ed47916-2469-f4c1-5a43-775f2470939a}">
          <p14:sldIdLst>
            <p14:sldId id="257"/>
            <p14:sldId id="258"/>
          </p14:sldIdLst>
        </p14:section>
        <p14:section name="Pre-teach" id="{8212409a-f063-9dfe-7540-c04ff1f80499}">
          <p14:sldIdLst>
            <p14:sldId id="259"/>
            <p14:sldId id="260"/>
          </p14:sldIdLst>
        </p14:section>
        <p14:section name="Read-along" id="{96fc19fb-14df-9596-2e21-e7f253774964}">
          <p14:sldIdLst>
            <p14:sldId id="261"/>
            <p14:sldId id="262"/>
          </p14:sldIdLst>
        </p14:section>
        <p14:section name="Teach" id="{c403d6c7-aaec-26f0-8cb8-fab5d0cc0d39}">
          <p14:sldIdLst>
            <p14:sldId id="263"/>
            <p14:sldId id="264"/>
            <p14:sldId id="265"/>
          </p14:sldIdLst>
        </p14:section>
        <p14:section name="Routes" id="{7359c504-8d6d-2f18-368f-e5ae30466237}">
          <p14:sldIdLst>
            <p14:sldId id="266"/>
            <p14:sldId id="267"/>
            <p14:sldId id="268"/>
            <p14:sldId id="269"/>
          </p14:sldIdLst>
        </p14:section>
        <p14:section name="Close" id="{6a1102bf-3199-548f-b4e3-b63262727251}">
          <p14:sldIdLst>
            <p14:sldId id="270"/>
          </p14:sldIdLst>
        </p14:section>
        <p14:section name="Answers" id="{f0bb9084-76d1-6818-0c0a-cdc5bc6bcd52}">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Fighting men, a careful father and a quiet daughter (Act 1, Scenes 1–3). This chapter shows you how the play opens with a brawl, how Lord Capulet surprises us, and how we meet Juliet through other people's words.
This deck covers the department's lessons: 4 (Act 1 Scene 1: establishing conflict: Why does the play start with a battle?); 5 (Lord Capulet: Act 1 Scene 2: How does Shakespeare present Lord Capulet's intentions and attitude towards his daughter?); 6 (Meeting Juliet: Act 1 Scene 3: Can I analyse how Juliet is introduced to the audience through another's perspective?).
Read the big question aloud: "How does Shakespeare turn a love story into a tragedy, and were the lovers' deaths written in the stars or chosen by the people on stage?"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Act 1 Scene 1, what does the Prince threaten to do to anyone who disturbs the peace of Verona again?  →  A   Put them to death
2. In Act 1 Scene 2, what does Lord Capulet tell Paris about marrying Juliet?  →  B   Juliet is too young; she must wait and must agree herself
3. Juliet's first line, ‘What is your will?’, is a question. The term for a sentence that asks a question is an ___ sentence.  →  interrogative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Put them to death. The Prince says the next person to fight in the streets will pay with their life. This is why Romeo's killing of Tybalt is so dangerous in Act 3.
2. B   Juliet is too young; she must wait and must agree herself. Capulet says Juliet has not seen fourteen years, asks Paris to wait two summers, and says his own will is only a part: she must consent.
3. interrogative. Interrogative sentences ask questions. Here the question shows Juliet putting her mother's wishes before her own.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masculinity: the ways a society expects men to behave. Example: "In Verona, masculinity means being ready to fight."
• insult: a rude remark meant to hurt or provoke. Example: "Sampson's insult starts a fight in the street."
• courtship: the time when a man tries to win a woman as his wife. Example: "Paris begins his courtship by asking Juliet's father first."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unconventional: not doing what most people do. Example: "Lord Capulet is unconventional because he wants Juliet to have a choice."
• demure: quiet, shy and modest. Example: "Juliet seems demure when she speaks politely to her mother."
• submissive: obeying orders without question. Example: "A submissive daughter does what her parents tell her."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 play begins in the streets of Verona.
2. Two Capulet servants boast about fighting Montagues.
3. They meet Montague servants and a brawl breaks out.
4. Benvolio tries to stop it, but Tybalt wants blood.
5. The Prince arrives and threatens death to anyone who fights again.
6. In the next scene, Paris asks Lord Capulet to marry Juliet.
7. Capulet says she is too young, not yet fourteen.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He says Juliet must agree before he will say yes.
9. This was unusual for a father in Shakespeare's time.
10. Then we meet Juliet with her mother and her Nurse.
11. Lady Capulet tells her that Paris wants to marry her.
12. Juliet answers politely and says she will do as her mother asks.
13. She seems quiet and obedient.
14. But we have not yet seen the real Juliet.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play starts with a fight (1.1). Say it in your own words, then check understanding with a quick question: ask a pupil from the pre-teach group first, since they met these words and ideas before the lesson. Pupils try to recall before you re-explain.
Masculinity means the behaviour a society expects from men. The most admired version, which we call hegemonic masculinity, is physical strength, hiding your feelings and being ready to fight. Verona runs on it. The play opens with two Capulet servants, Sampson and Gregory, boasting about what they will do to Montagues, and Sampson's gesture of biting his thumb is enough to start a street fight.
Benvolio, whose name means good will, draws his sword to stop the fighting. Tybalt draws his to join it, and his hatred of peace tells us exactly what kind of man he is. The Prince ends the brawl with a threat: anyone who disturbs the streets again will die. Shakespeare opens with violence because the whole tragedy grows out of it. The feud is the world the lovers are born into, and the Prince's threat loads the gun that fires in Act 3.
Quotation: "What, drawn, and talk of peace? I hate the word / As I hate hell, all Montagues, and thee. / Have at thee, coward!" (1.1.71–73). Read it aloud; ask what it shows.
Tip: Notice the list: peace, hell, all Montagues, and thee. Tybalt puts peace in the same group as 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 unconventional father (1.2). Say it in your own words, then check understanding with a quick question: ask a pupil from the pre-teach group first, since they met these words and ideas before the lesson. Pupils try to recall before you re-explain.
Marriage among wealthy Elizabethans was a business deal. Parents arranged matches to secure money and reputation, the church had to bless the match, and young people had little say. Before marriage, a nobleman might practise courtship: gifts, poetry and extravagant praise. Courtly love was the most passionate version, full of worship and strict rules, and it was only for people of the same class.
Against that background, Lord Capulet surprises us. When Paris asks for Juliet, Capulet says she is not yet fourteen and should wait two more summers. He calls her the hopeful lady of his earth, and he says his will is only a part: Juliet must consent too, within her scope of choice. For a patriarchal audience this is unconventional, even generous. Remember it, because the same man will threaten to throw her into the street in Act 3.
Quotation: "My will to her consent is but a part." (1.2.17). Read it aloud; ask what it shows.
Tip: Learn ‘consent’ and ‘scope of choice’. You can set them against ‘I will drag thee on a hurdle thither’ to show how far Capulet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Meeting Juliet through other people (1.3). Say it in your own words, then check understanding with a quick question: ask a pupil from the pre-teach group first, since they met these words and ideas before the lesson. Pupils try to recall before you re-explain.
Elizabethan women were expected to be demure and submissive: quiet, modest, obedient to fathers and husbands as they obeyed God. We hear about Juliet before we meet her. The Nurse calls her a lamb and a ladybird, soft and small, and tells long stories about her as a baby. Lady Capulet is formal and gets straight to business: Paris wants to marry her.
Juliet's first line is an interrogative, a question. She asks her mother what her will is, which puts her mother's wishes before her own. She says marriage is an honour she has not dreamt of, and promises to look to like, if looking liking move, but no deeper than her mother's consent allows. Everything she says fits the demure, submissive daughter the audience expects. Notice the rhyme in her lines: the neat couplets sound polite and rehearsed. The passionate, decisive Juliet is still hidden.
Quotation: "Madam, I am here. What is your will?" (1.3.7–8). Read it aloud; ask what it shows.
Tip: ‘Madam’, not ‘Mother’. The formal word suggests the distance between Juliet and Lady Capulet; it is the Nurse who has raised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Spotting hegemonic masculinity.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lines from Act 1 Scene 1 best shows hegemonic masculinity: strength, violence and the refusal to back down?
Support — work through the steps with the group: (1) Remember the three features from your lesson: physical strength, not showing emotion, fighting. (2) Ask of each line: is this man trying to prove himself through violence? (3) Cross out the lines where someone is stopping a fight or showing care.
Parallel worked example for Support (model it, do not give the task answer): Practice: Sampson boasts that he will show himself a tyrant and cut off the heads of the Montague maids. Which feature of hegemonic masculinity does this show? He is boasting about violence.; He uses violence to prove he is a man.; So it shows fighting as a way of proving masculinity.. Answer: Fighting and cruelty as a way of proving masculinity: Sampson boasts that he will show himself a tyrant..
Core — reveal the hint only on request: Find the man who treats peace as an insult.
Stretch — no help; when finished: Benvolio and Tybalt are both young Veronese men, yet they behave in opposite ways. In two sentences, explain what Shakespeare gains by placing them side by side in the first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Spotting hegemonic masculinity.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lines from Act 1 Scene 1 best shows hegemonic masculinity: strength, violence and the refusal to back down?
Support — work through the steps with the group: (1) Remember the three features from your lesson: physical strength, not showing emotion, fighting. (2) Ask of each line: is this man trying to prove himself through violence? (3) Cross out the lines where someone is stopping a fight or showing care.
Parallel worked example for Support (model it, do not give the task answer): Practice: Sampson boasts that he will show himself a tyrant and cut off the heads of the Montague maids. Which feature of hegemonic masculinity does this show? He is boasting about violence.; He uses violence to prove he is a man.; So it shows fighting as a way of proving masculinity.. Answer: Fighting and cruelty as a way of proving masculinity: Sampson boasts that he will show himself a tyrant..
Core — reveal the hint only on request: Find the man who treats peace as an insult.
Stretch — no help; when finished: Benvolio and Tybalt are both young Veronese men, yet they behave in opposite ways. In two sentences, explain what Shakespeare gains by placing them side by side in the first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Capulet in Act 1 Scene 2: what the lines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Lord Capulet's lines from Act 1 Scene 2 to what it shows about him as a father.
Support — work through the steps with the group: (1) Read each line aloud and underline one key word: stranger, marred, hopeful, consent. (2) ‘Marred’ means damaged or spoiled; ‘consent’ means agreement. (3) Match the key word to the description that fits it best.
Parallel worked example for Support (model it, do not give the task answer): Practice: Capulet tells Paris to wait two more summers before Juliet is ripe to be a bride. What does this show? Find the key word: ‘summers’.; Two summers means two years of waiting.; So Capulet is protecting his daughter from marrying too early.. Answer: He is protective, and wants Juliet to wait until she is older..
Core — reveal the hint only on request: Each line shows care in a different way: her age, her safety, her value to him, her choice.
Stretch — no help; when finished: How would an Elizabethan audience react to a father who says his will is only a part? Write one sentence that gives two different possible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Capulet in Act 1 Scene 2: what the lines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Lord Capulet's lines from Act 1 Scene 2 to what it shows about him as a father.
Support — work through the steps with the group: (1) Read each line aloud and underline one key word: stranger, marred, hopeful, consent. (2) ‘Marred’ means damaged or spoiled; ‘consent’ means agreement. (3) Match the key word to the description that fits it best.
Parallel worked example for Support (model it, do not give the task answer): Practice: Capulet tells Paris to wait two more summers before Juliet is ripe to be a bride. What does this show? Find the key word: ‘summers’.; Two summers means two years of waiting.; So Capulet is protecting his daughter from marrying too early.. Answer: He is protective, and wants Juliet to wait until she is older..
Core — reveal the hint only on request: Each line shows care in a different way: her age, her safety, her value to him, her choice.
Stretch — no help; when finished: How would an Elizabethan audience react to a father who says his will is only a part? Write one sentence that gives two different possible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Act 1 Scene 1, what does the Prince threaten to do to anyone who disturbs the peace of Verona again?
Answer: D   Put them to death. The Prince says the next person to fight in the streets will pay with their life. This is why Romeo's killing of Tybalt is so dangerous in Act 3.
Source of this question: gate item 1 re-asked (options rotated) — this chapter has no third quick-check module.
The ebook also holds task 3, "How Juliet is introduced in Act 1 Scene 3",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Spotting hegemonic masculinity. Reveal the answer; pupils mark their own work in a different colour, then read the "why" together. Same destination for every lane, so one answer serves the whole class.
Answer: D   Tybalt says he hates the word peace as he hates hell
Why: Tybalt's hatred of the very word peace is the clearest statement of Verona's code: a real man fights, and a man who talks of peace is a coward. Everything Romeo does in Act 3 is judged against this code.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Capulet in Act 1 Scene 2: what the lines show. Reveal the answer; pupils mark their own work in a different colour, then read the "why" together. Same destination for every lane, so one answer serves the whole class.
Answer: “My child is yet a stranger in the world.”  →  A  He thinks Juliet is too young and innocent for marriage.; “And too soon marred are those so early made.”  →  C  He fears an early marriage would harm her.; “She's the hopeful lady of my earth.”  →  B  She is precious to him, his hope for the future.; “My will to her consent is but a part.”  →  D  He wants her to have a say in whom she marries.
Why: In Act 1 Scene 2 Shakespeare builds Capulet as a loving, unconventional father. These four lines are your evidence for the before, so that his cruelty in Act 3 Scene 5 reads as a change, not a constant.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Put them to death
Why: The Prince says the next person to fight in the streets will pay with their life. This is why Romeo's killing of Tybalt is so dangerous in Act 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Romeo and Juliet · AQA KS3 → 8702</a:t>
            </a:r>
            <a:endParaRPr lang="en-US" sz="1800" dirty="0"/>
          </a:p>
        </p:txBody>
      </p:sp>
      <p:sp>
        <p:nvSpPr>
          <p:cNvPr id="10" name="deck-title"/>
          <p:cNvSpPr txBox="1"/>
          <p:nvPr/>
        </p:nvSpPr>
        <p:spPr>
          <a:xfrm>
            <a:off x="548640" y="201218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Fighting men, a careful father and a quiet daughter (Act 1, Scenes 1–3)</a:t>
            </a:r>
            <a:endParaRPr lang="en-US" sz="2800" dirty="0"/>
          </a:p>
        </p:txBody>
      </p:sp>
      <p:sp>
        <p:nvSpPr>
          <p:cNvPr id="11" name="lessons-card"/>
          <p:cNvSpPr/>
          <p:nvPr/>
        </p:nvSpPr>
        <p:spPr>
          <a:xfrm>
            <a:off x="548640" y="3754628"/>
            <a:ext cx="5287975" cy="1676400"/>
          </a:xfrm>
          <a:prstGeom prst="roundRect">
            <a:avLst>
              <a:gd name="adj" fmla="val 4364"/>
            </a:avLst>
          </a:prstGeom>
          <a:solidFill>
            <a:srgbClr val="EFEBF2"/>
          </a:solidFill>
          <a:ln/>
        </p:spPr>
      </p:sp>
      <p:sp>
        <p:nvSpPr>
          <p:cNvPr id="12" name="lessons"/>
          <p:cNvSpPr txBox="1"/>
          <p:nvPr/>
        </p:nvSpPr>
        <p:spPr>
          <a:xfrm>
            <a:off x="685800" y="384606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1: establishing conflict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Lord Capulet: Act 1 Scene 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Meeting Juliet: Act 1 Scene 3</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Shakespeare turn a love story into a tragedy, and were the lovers' deaths written in the stars or chosen by the people on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Act 1 Scene 1, what does the Prince threaten to do to anyone who disturbs the peace of Verona again?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Put them to death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Fine them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Imprison them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Banish them</a:t>
            </a:r>
            <a:endParaRPr lang="en-US" sz="22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Act 1 Scene 2, what does Lord Capulet tell Paris about marrying Juliet?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Paris may marry her on Thursday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Juliet is too young; she must wait and must agree herself</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Juliet is already promised to Tybalt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refuses Paris completely</a:t>
            </a:r>
            <a:endParaRPr lang="en-US" sz="18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Juliet's first line, ‘What is your will?’, is a question. The term for a sentence that asks a question is an ___ sentence.</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interrogative  ·  imperative  ·  exclamatory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Put them to death</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Act 1 Scene 1, what does the Prince threaten to do to anyone who disturbs the peace of Verona again?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Prince says the next person to fight in the streets will pay with their life. This is why Romeo's killing of Tybalt is so dangerous in Act 3.</a:t>
            </a:r>
            <a:endParaRPr lang="en-US" sz="18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DE1CA"/>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Juliet is too young; she must wait and must agree herself</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Capulet says Juliet has not seen fourteen years, asks Paris to wait two summers, and says his own will is only a part: she must consent.</a:t>
            </a:r>
            <a:endParaRPr lang="en-US" sz="18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interrogative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Juliet's first line, ‘What is your will?’, is a question. The term for a sentence that asks a question is an ___ sentence.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Interrogative sentences ask questions. Here the question shows Juliet putting her mother's wishes before her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FF4"/>
          </a:solidFill>
          <a:ln w="12700">
            <a:solidFill>
              <a:srgbClr val="BDB0C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masculinity</a:t>
            </a:r>
            <a:endParaRPr lang="en-US" sz="2600" dirty="0"/>
          </a:p>
        </p:txBody>
      </p:sp>
      <p:sp>
        <p:nvSpPr>
          <p:cNvPr id="11" name="word-rule"/>
          <p:cNvSpPr/>
          <p:nvPr/>
        </p:nvSpPr>
        <p:spPr>
          <a:xfrm>
            <a:off x="731520" y="2129028"/>
            <a:ext cx="3149498" cy="0"/>
          </a:xfrm>
          <a:prstGeom prst="line">
            <a:avLst/>
          </a:prstGeom>
          <a:ln w="12700">
            <a:solidFill>
              <a:srgbClr val="BDB0C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ways a society expects men to behave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Verona, masculinity means being ready to fight.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FF4"/>
          </a:solidFill>
          <a:ln w="12700">
            <a:solidFill>
              <a:srgbClr val="BDB0C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insult</a:t>
            </a:r>
            <a:endParaRPr lang="en-US" sz="2600" dirty="0"/>
          </a:p>
        </p:txBody>
      </p:sp>
      <p:sp>
        <p:nvSpPr>
          <p:cNvPr id="17" name="word-rule"/>
          <p:cNvSpPr/>
          <p:nvPr/>
        </p:nvSpPr>
        <p:spPr>
          <a:xfrm>
            <a:off x="4521098" y="2129028"/>
            <a:ext cx="3149498" cy="0"/>
          </a:xfrm>
          <a:prstGeom prst="line">
            <a:avLst/>
          </a:prstGeom>
          <a:ln w="12700">
            <a:solidFill>
              <a:srgbClr val="BDB0C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rude remark meant to hurt or provoke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Sampson's insult starts a fight in the street.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FF4"/>
          </a:solidFill>
          <a:ln w="12700">
            <a:solidFill>
              <a:srgbClr val="BDB0C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courtship</a:t>
            </a:r>
            <a:endParaRPr lang="en-US" sz="2600" dirty="0"/>
          </a:p>
        </p:txBody>
      </p:sp>
      <p:sp>
        <p:nvSpPr>
          <p:cNvPr id="23" name="word-rule"/>
          <p:cNvSpPr/>
          <p:nvPr/>
        </p:nvSpPr>
        <p:spPr>
          <a:xfrm>
            <a:off x="8310677" y="2129028"/>
            <a:ext cx="3149498" cy="0"/>
          </a:xfrm>
          <a:prstGeom prst="line">
            <a:avLst/>
          </a:prstGeom>
          <a:ln w="12700">
            <a:solidFill>
              <a:srgbClr val="BDB0C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time when a man tries to win a woman as his wife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Paris begins his courtship by asking Juliet's father first.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FF4"/>
          </a:solidFill>
          <a:ln w="12700">
            <a:solidFill>
              <a:srgbClr val="BDB0C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unconventional</a:t>
            </a:r>
            <a:endParaRPr lang="en-US" sz="2600" dirty="0"/>
          </a:p>
        </p:txBody>
      </p:sp>
      <p:sp>
        <p:nvSpPr>
          <p:cNvPr id="11" name="word-rule"/>
          <p:cNvSpPr/>
          <p:nvPr/>
        </p:nvSpPr>
        <p:spPr>
          <a:xfrm>
            <a:off x="731520" y="2129028"/>
            <a:ext cx="3149498" cy="0"/>
          </a:xfrm>
          <a:prstGeom prst="line">
            <a:avLst/>
          </a:prstGeom>
          <a:ln w="12700">
            <a:solidFill>
              <a:srgbClr val="BDB0C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not doing what most people do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Lord Capulet is unconventional because he wants Juliet to have a choice.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FF4"/>
          </a:solidFill>
          <a:ln w="12700">
            <a:solidFill>
              <a:srgbClr val="BDB0C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demure</a:t>
            </a:r>
            <a:endParaRPr lang="en-US" sz="2600" dirty="0"/>
          </a:p>
        </p:txBody>
      </p:sp>
      <p:sp>
        <p:nvSpPr>
          <p:cNvPr id="17" name="word-rule"/>
          <p:cNvSpPr/>
          <p:nvPr/>
        </p:nvSpPr>
        <p:spPr>
          <a:xfrm>
            <a:off x="4521098" y="2129028"/>
            <a:ext cx="3149498" cy="0"/>
          </a:xfrm>
          <a:prstGeom prst="line">
            <a:avLst/>
          </a:prstGeom>
          <a:ln w="12700">
            <a:solidFill>
              <a:srgbClr val="BDB0C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quiet, shy and modest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Juliet seems demure when she speaks politely to her mother.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FF4"/>
          </a:solidFill>
          <a:ln w="12700">
            <a:solidFill>
              <a:srgbClr val="BDB0C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submissive</a:t>
            </a:r>
            <a:endParaRPr lang="en-US" sz="2600" dirty="0"/>
          </a:p>
        </p:txBody>
      </p:sp>
      <p:sp>
        <p:nvSpPr>
          <p:cNvPr id="23" name="word-rule"/>
          <p:cNvSpPr/>
          <p:nvPr/>
        </p:nvSpPr>
        <p:spPr>
          <a:xfrm>
            <a:off x="8310677" y="2129028"/>
            <a:ext cx="3149498" cy="0"/>
          </a:xfrm>
          <a:prstGeom prst="line">
            <a:avLst/>
          </a:prstGeom>
          <a:ln w="12700">
            <a:solidFill>
              <a:srgbClr val="BDB0C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obeying orders without question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submissive daughter does what her parents tell 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play begins in the streets of Verona.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Capulet servants boast about fighting Montagues.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meet Montague servants and a brawl breaks out.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Benvolio tries to stop it, but Tybalt wants blood.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Prince arrives and threatens death to anyone who fights again.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next scene, Paris asks Lord Capulet to marry Juliet.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Capulet says she is too young, not yet fourteen.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says Juliet must agree before he will say yes.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was unusual for a father in Shakespeare's time.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we meet Juliet with her mother and her Nurse.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Lady Capulet tells her that Paris wants to marry 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Juliet answers politely and says she will do as her mother asks.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seems quiet and obedient.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we have not yet seen the real Juliet.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Why the play starts with a fight (1.1)</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Notice the list: peace, hell, all Montagues, and thee. Tybalt puts peace in the same group as hell.</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What, drawn, and talk of peace? I hate the word / As I hate hell, all Montagues, and thee. / Have at thee, coward!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1.1.71–73</a:t>
            </a:r>
            <a:endParaRPr lang="en-US" sz="2600" dirty="0"/>
          </a:p>
        </p:txBody>
      </p:sp>
      <p:sp>
        <p:nvSpPr>
          <p:cNvPr id="14" name="bullet-card"/>
          <p:cNvSpPr/>
          <p:nvPr/>
        </p:nvSpPr>
        <p:spPr>
          <a:xfrm>
            <a:off x="548640" y="1389888"/>
            <a:ext cx="5074920" cy="2095246"/>
          </a:xfrm>
          <a:prstGeom prst="roundRect">
            <a:avLst>
              <a:gd name="adj" fmla="val 3491"/>
            </a:avLst>
          </a:prstGeom>
          <a:solidFill>
            <a:srgbClr val="F2EFF4"/>
          </a:solidFill>
          <a:ln/>
        </p:spPr>
      </p:sp>
      <p:sp>
        <p:nvSpPr>
          <p:cNvPr id="15" name="bullet-hex"/>
          <p:cNvSpPr/>
          <p:nvPr/>
        </p:nvSpPr>
        <p:spPr>
          <a:xfrm>
            <a:off x="676656" y="2271218"/>
            <a:ext cx="384048" cy="332586"/>
          </a:xfrm>
          <a:prstGeom prst="hexagon">
            <a:avLst/>
          </a:prstGeom>
          <a:solidFill>
            <a:srgbClr val="5B3A7A"/>
          </a:solidFill>
          <a:ln/>
        </p:spPr>
      </p:sp>
      <p:sp>
        <p:nvSpPr>
          <p:cNvPr id="16" name="bullet"/>
          <p:cNvSpPr txBox="1"/>
          <p:nvPr/>
        </p:nvSpPr>
        <p:spPr>
          <a:xfrm>
            <a:off x="1143000" y="1389888"/>
            <a:ext cx="4389120" cy="20952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Masculinity means the behaviour a society expects from men. The most admired version, which we call hegemonic masculinity, is physical strength, hiding your feelings and being ready to fight.</a:t>
            </a:r>
            <a:endParaRPr lang="en-US" sz="2000" dirty="0"/>
          </a:p>
        </p:txBody>
      </p:sp>
      <p:sp>
        <p:nvSpPr>
          <p:cNvPr id="17" name="bullet-card"/>
          <p:cNvSpPr/>
          <p:nvPr/>
        </p:nvSpPr>
        <p:spPr>
          <a:xfrm>
            <a:off x="548640" y="3631438"/>
            <a:ext cx="5074920" cy="1165606"/>
          </a:xfrm>
          <a:prstGeom prst="roundRect">
            <a:avLst>
              <a:gd name="adj" fmla="val 6276"/>
            </a:avLst>
          </a:prstGeom>
          <a:solidFill>
            <a:srgbClr val="F2EFF4"/>
          </a:solidFill>
          <a:ln/>
        </p:spPr>
      </p:sp>
      <p:sp>
        <p:nvSpPr>
          <p:cNvPr id="18" name="bullet-hex"/>
          <p:cNvSpPr/>
          <p:nvPr/>
        </p:nvSpPr>
        <p:spPr>
          <a:xfrm>
            <a:off x="676656" y="4047948"/>
            <a:ext cx="384048" cy="332586"/>
          </a:xfrm>
          <a:prstGeom prst="hexagon">
            <a:avLst/>
          </a:prstGeom>
          <a:solidFill>
            <a:srgbClr val="B8862B"/>
          </a:solidFill>
          <a:ln/>
        </p:spPr>
      </p:sp>
      <p:sp>
        <p:nvSpPr>
          <p:cNvPr id="19" name="bullet"/>
          <p:cNvSpPr txBox="1"/>
          <p:nvPr/>
        </p:nvSpPr>
        <p:spPr>
          <a:xfrm>
            <a:off x="1143000" y="3631438"/>
            <a:ext cx="4389120" cy="11656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Benvolio, whose name means good will, draws his sword to stop the fighting.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 unconventional father (1.2)</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‘consent’ and ‘scope of choice’. You can set them against ‘I will drag thee on a hurdle thither’ to show how far Capulet changes.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My will to her consent is but a part.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1.2.17</a:t>
            </a:r>
            <a:endParaRPr lang="en-US" sz="2600" dirty="0"/>
          </a:p>
        </p:txBody>
      </p:sp>
      <p:sp>
        <p:nvSpPr>
          <p:cNvPr id="14" name="bullet-card"/>
          <p:cNvSpPr/>
          <p:nvPr/>
        </p:nvSpPr>
        <p:spPr>
          <a:xfrm>
            <a:off x="548640" y="1389888"/>
            <a:ext cx="5074920" cy="1630426"/>
          </a:xfrm>
          <a:prstGeom prst="roundRect">
            <a:avLst>
              <a:gd name="adj" fmla="val 4487"/>
            </a:avLst>
          </a:prstGeom>
          <a:solidFill>
            <a:srgbClr val="F2EFF4"/>
          </a:solidFill>
          <a:ln/>
        </p:spPr>
      </p:sp>
      <p:sp>
        <p:nvSpPr>
          <p:cNvPr id="15" name="bullet-hex"/>
          <p:cNvSpPr/>
          <p:nvPr/>
        </p:nvSpPr>
        <p:spPr>
          <a:xfrm>
            <a:off x="676656" y="2038808"/>
            <a:ext cx="384048" cy="332586"/>
          </a:xfrm>
          <a:prstGeom prst="hexagon">
            <a:avLst/>
          </a:prstGeom>
          <a:solidFill>
            <a:srgbClr val="5B3A7A"/>
          </a:solidFill>
          <a:ln/>
        </p:spPr>
      </p:sp>
      <p:sp>
        <p:nvSpPr>
          <p:cNvPr id="16"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Marriage among wealthy Elizabethans was a business deal. Parents arranged matches to secure money and reputation, the church had to bless the match, and young people had little say.</a:t>
            </a:r>
            <a:endParaRPr lang="en-US" sz="1800" dirty="0"/>
          </a:p>
        </p:txBody>
      </p:sp>
      <p:sp>
        <p:nvSpPr>
          <p:cNvPr id="17" name="bullet-card"/>
          <p:cNvSpPr/>
          <p:nvPr/>
        </p:nvSpPr>
        <p:spPr>
          <a:xfrm>
            <a:off x="548640" y="3166618"/>
            <a:ext cx="5074920" cy="1351534"/>
          </a:xfrm>
          <a:prstGeom prst="roundRect">
            <a:avLst>
              <a:gd name="adj" fmla="val 5413"/>
            </a:avLst>
          </a:prstGeom>
          <a:solidFill>
            <a:srgbClr val="F2EFF4"/>
          </a:solidFill>
          <a:ln/>
        </p:spPr>
      </p:sp>
      <p:sp>
        <p:nvSpPr>
          <p:cNvPr id="18" name="bullet-hex"/>
          <p:cNvSpPr/>
          <p:nvPr/>
        </p:nvSpPr>
        <p:spPr>
          <a:xfrm>
            <a:off x="676656" y="3676092"/>
            <a:ext cx="384048" cy="332586"/>
          </a:xfrm>
          <a:prstGeom prst="hexagon">
            <a:avLst/>
          </a:prstGeom>
          <a:solidFill>
            <a:srgbClr val="B8862B"/>
          </a:solidFill>
          <a:ln/>
        </p:spPr>
      </p:sp>
      <p:sp>
        <p:nvSpPr>
          <p:cNvPr id="19" name="bullet"/>
          <p:cNvSpPr txBox="1"/>
          <p:nvPr/>
        </p:nvSpPr>
        <p:spPr>
          <a:xfrm>
            <a:off x="1143000" y="3166618"/>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Against that background, Lord Capulet surprises us. When Paris asks for Juliet, Capulet says she is not yet fourteen and should wait two more summers.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Meeting Juliet through other people (1.3)</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‘Madam’, not ‘Mother’. The formal word suggests the distance between Juliet and Lady Capulet; it is the Nurse who has raised her.</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Madam, I am here. What is your will?</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1.3.7–8</a:t>
            </a:r>
            <a:endParaRPr lang="en-US" sz="2600" dirty="0"/>
          </a:p>
        </p:txBody>
      </p:sp>
      <p:sp>
        <p:nvSpPr>
          <p:cNvPr id="14" name="bullet-card"/>
          <p:cNvSpPr/>
          <p:nvPr/>
        </p:nvSpPr>
        <p:spPr>
          <a:xfrm>
            <a:off x="548640" y="1389888"/>
            <a:ext cx="5074920" cy="1490980"/>
          </a:xfrm>
          <a:prstGeom prst="roundRect">
            <a:avLst>
              <a:gd name="adj" fmla="val 4906"/>
            </a:avLst>
          </a:prstGeom>
          <a:solidFill>
            <a:srgbClr val="F2EFF4"/>
          </a:solidFill>
          <a:ln/>
        </p:spPr>
      </p:sp>
      <p:sp>
        <p:nvSpPr>
          <p:cNvPr id="15" name="bullet-hex"/>
          <p:cNvSpPr/>
          <p:nvPr/>
        </p:nvSpPr>
        <p:spPr>
          <a:xfrm>
            <a:off x="676656" y="1969085"/>
            <a:ext cx="384048" cy="332586"/>
          </a:xfrm>
          <a:prstGeom prst="hexagon">
            <a:avLst/>
          </a:prstGeom>
          <a:solidFill>
            <a:srgbClr val="5B3A7A"/>
          </a:solidFill>
          <a:ln/>
        </p:spPr>
      </p:sp>
      <p:sp>
        <p:nvSpPr>
          <p:cNvPr id="16"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Elizabethan women were expected to be demure and submissive: quiet, modest, obedient to fathers and husbands as they obeyed God.</a:t>
            </a:r>
            <a:endParaRPr lang="en-US" sz="2200" dirty="0"/>
          </a:p>
        </p:txBody>
      </p:sp>
      <p:sp>
        <p:nvSpPr>
          <p:cNvPr id="17" name="bullet-card"/>
          <p:cNvSpPr/>
          <p:nvPr/>
        </p:nvSpPr>
        <p:spPr>
          <a:xfrm>
            <a:off x="548640" y="3027172"/>
            <a:ext cx="5074920" cy="1490980"/>
          </a:xfrm>
          <a:prstGeom prst="roundRect">
            <a:avLst>
              <a:gd name="adj" fmla="val 4906"/>
            </a:avLst>
          </a:prstGeom>
          <a:solidFill>
            <a:srgbClr val="F2EFF4"/>
          </a:solidFill>
          <a:ln/>
        </p:spPr>
      </p:sp>
      <p:sp>
        <p:nvSpPr>
          <p:cNvPr id="18" name="bullet-hex"/>
          <p:cNvSpPr/>
          <p:nvPr/>
        </p:nvSpPr>
        <p:spPr>
          <a:xfrm>
            <a:off x="676656" y="3606369"/>
            <a:ext cx="384048" cy="332586"/>
          </a:xfrm>
          <a:prstGeom prst="hexagon">
            <a:avLst/>
          </a:prstGeom>
          <a:solidFill>
            <a:srgbClr val="B8862B"/>
          </a:solidFill>
          <a:ln/>
        </p:spPr>
      </p:sp>
      <p:sp>
        <p:nvSpPr>
          <p:cNvPr id="19" name="bullet"/>
          <p:cNvSpPr txBox="1"/>
          <p:nvPr/>
        </p:nvSpPr>
        <p:spPr>
          <a:xfrm>
            <a:off x="1143000" y="3027172"/>
            <a:ext cx="4389120" cy="1490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Juliet's first line is an interrogative, a question. She asks her mother what her will is, which puts her mother's wishes before her 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Spotting hegemonic masculinity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lines from Act 1 Scene 1 best shows hegemonic masculinity: strength, violence and the refusal to back down?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Benvolio asks the servants to put up their swords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Prince orders both families to his palace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Lady Montague asks where Romeo 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Tybalt says he hates the word peace as he hates hell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Spotting hegemonic masculinity</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of these lines from Act 1 Scene 1 best shows hegemonic masculinity: strength, violence and the refusal to back down?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the three features from your lesson: physical strength, not showing emotion, fighting.</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line: is this man trying to prove himself through violence?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the lines where someone is stopping a fight or showing care.</a:t>
            </a:r>
            <a:endParaRPr lang="en-US" sz="1800" dirty="0"/>
          </a:p>
        </p:txBody>
      </p:sp>
      <p:sp>
        <p:nvSpPr>
          <p:cNvPr id="17" name="col-Core"/>
          <p:cNvSpPr/>
          <p:nvPr/>
        </p:nvSpPr>
        <p:spPr>
          <a:xfrm>
            <a:off x="5490762" y="2593848"/>
            <a:ext cx="2938987" cy="3550920"/>
          </a:xfrm>
          <a:prstGeom prst="roundRect">
            <a:avLst>
              <a:gd name="adj" fmla="val 1867"/>
            </a:avLst>
          </a:prstGeom>
          <a:solidFill>
            <a:srgbClr val="DBD4E2"/>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Find the man who treats peace as an insult.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5B3A7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Benvolio and Tybalt are both young Veronese men, yet they behave in opposite ways. In two sentences, explain what Shakespeare gains by placing them side by side in the first scene.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The task: Capulet in Act 1 Scene 2: what the lines show</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Lord Capulet's lines from Act 1 Scene 2 to what it shows about him as a father.</a:t>
            </a:r>
            <a:endParaRPr lang="en-US" sz="2400" dirty="0"/>
          </a:p>
        </p:txBody>
      </p:sp>
      <p:sp>
        <p:nvSpPr>
          <p:cNvPr id="11" name="match-card"/>
          <p:cNvSpPr/>
          <p:nvPr/>
        </p:nvSpPr>
        <p:spPr>
          <a:xfrm>
            <a:off x="777240" y="2672080"/>
            <a:ext cx="4700496" cy="826262"/>
          </a:xfrm>
          <a:prstGeom prst="roundRect">
            <a:avLst>
              <a:gd name="adj" fmla="val 8853"/>
            </a:avLst>
          </a:prstGeom>
          <a:solidFill>
            <a:srgbClr val="F2EFF4"/>
          </a:solidFill>
          <a:ln/>
        </p:spPr>
      </p:sp>
      <p:sp>
        <p:nvSpPr>
          <p:cNvPr id="12" name="match-hex"/>
          <p:cNvSpPr/>
          <p:nvPr/>
        </p:nvSpPr>
        <p:spPr>
          <a:xfrm>
            <a:off x="850392" y="2918918"/>
            <a:ext cx="384048" cy="332586"/>
          </a:xfrm>
          <a:prstGeom prst="hexagon">
            <a:avLst/>
          </a:prstGeom>
          <a:solidFill>
            <a:srgbClr val="5B3A7A"/>
          </a:solidFill>
          <a:ln/>
        </p:spPr>
      </p:sp>
      <p:sp>
        <p:nvSpPr>
          <p:cNvPr id="13" name="match-hex-label"/>
          <p:cNvSpPr txBox="1"/>
          <p:nvPr/>
        </p:nvSpPr>
        <p:spPr>
          <a:xfrm>
            <a:off x="850392" y="29189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106136"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“My child is yet a stranger in the world.”</a:t>
            </a:r>
            <a:endParaRPr lang="en-US" sz="2000" dirty="0"/>
          </a:p>
        </p:txBody>
      </p:sp>
      <p:sp>
        <p:nvSpPr>
          <p:cNvPr id="15" name="match-card"/>
          <p:cNvSpPr/>
          <p:nvPr/>
        </p:nvSpPr>
        <p:spPr>
          <a:xfrm>
            <a:off x="5843496" y="2672080"/>
            <a:ext cx="5570959" cy="826262"/>
          </a:xfrm>
          <a:prstGeom prst="roundRect">
            <a:avLst>
              <a:gd name="adj" fmla="val 8853"/>
            </a:avLst>
          </a:prstGeom>
          <a:solidFill>
            <a:srgbClr val="F6F0E6"/>
          </a:solidFill>
          <a:ln/>
        </p:spPr>
      </p:sp>
      <p:sp>
        <p:nvSpPr>
          <p:cNvPr id="16" name="match-hex"/>
          <p:cNvSpPr/>
          <p:nvPr/>
        </p:nvSpPr>
        <p:spPr>
          <a:xfrm>
            <a:off x="5916648" y="2918918"/>
            <a:ext cx="384048" cy="332586"/>
          </a:xfrm>
          <a:prstGeom prst="hexagon">
            <a:avLst/>
          </a:prstGeom>
          <a:solidFill>
            <a:srgbClr val="B8862B"/>
          </a:solidFill>
          <a:ln/>
        </p:spPr>
      </p:sp>
      <p:sp>
        <p:nvSpPr>
          <p:cNvPr id="17" name="match-hex-label"/>
          <p:cNvSpPr txBox="1"/>
          <p:nvPr/>
        </p:nvSpPr>
        <p:spPr>
          <a:xfrm>
            <a:off x="5916648" y="29189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364704" y="2672080"/>
            <a:ext cx="4976599"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thinks Juliet is too young and innocent for marriage.</a:t>
            </a:r>
            <a:endParaRPr lang="en-US" sz="2000" dirty="0"/>
          </a:p>
        </p:txBody>
      </p:sp>
      <p:sp>
        <p:nvSpPr>
          <p:cNvPr id="19" name="match-card"/>
          <p:cNvSpPr/>
          <p:nvPr/>
        </p:nvSpPr>
        <p:spPr>
          <a:xfrm>
            <a:off x="777240" y="3589782"/>
            <a:ext cx="4700496" cy="826262"/>
          </a:xfrm>
          <a:prstGeom prst="roundRect">
            <a:avLst>
              <a:gd name="adj" fmla="val 8853"/>
            </a:avLst>
          </a:prstGeom>
          <a:solidFill>
            <a:srgbClr val="F2EFF4"/>
          </a:solidFill>
          <a:ln/>
        </p:spPr>
      </p:sp>
      <p:sp>
        <p:nvSpPr>
          <p:cNvPr id="20" name="match-hex"/>
          <p:cNvSpPr/>
          <p:nvPr/>
        </p:nvSpPr>
        <p:spPr>
          <a:xfrm>
            <a:off x="850392" y="3836620"/>
            <a:ext cx="384048" cy="332586"/>
          </a:xfrm>
          <a:prstGeom prst="hexagon">
            <a:avLst/>
          </a:prstGeom>
          <a:solidFill>
            <a:srgbClr val="5B3A7A"/>
          </a:solidFill>
          <a:ln/>
        </p:spPr>
      </p:sp>
      <p:sp>
        <p:nvSpPr>
          <p:cNvPr id="21" name="match-hex-label"/>
          <p:cNvSpPr txBox="1"/>
          <p:nvPr/>
        </p:nvSpPr>
        <p:spPr>
          <a:xfrm>
            <a:off x="850392" y="38366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89782"/>
            <a:ext cx="4106136"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“And too soon marred are those so early made.”</a:t>
            </a:r>
            <a:endParaRPr lang="en-US" sz="2000" dirty="0"/>
          </a:p>
        </p:txBody>
      </p:sp>
      <p:sp>
        <p:nvSpPr>
          <p:cNvPr id="23" name="match-card"/>
          <p:cNvSpPr/>
          <p:nvPr/>
        </p:nvSpPr>
        <p:spPr>
          <a:xfrm>
            <a:off x="5843496" y="3589782"/>
            <a:ext cx="5570959" cy="826262"/>
          </a:xfrm>
          <a:prstGeom prst="roundRect">
            <a:avLst>
              <a:gd name="adj" fmla="val 8853"/>
            </a:avLst>
          </a:prstGeom>
          <a:solidFill>
            <a:srgbClr val="F6F0E6"/>
          </a:solidFill>
          <a:ln/>
        </p:spPr>
      </p:sp>
      <p:sp>
        <p:nvSpPr>
          <p:cNvPr id="24" name="match-hex"/>
          <p:cNvSpPr/>
          <p:nvPr/>
        </p:nvSpPr>
        <p:spPr>
          <a:xfrm>
            <a:off x="5916648" y="3836620"/>
            <a:ext cx="384048" cy="332586"/>
          </a:xfrm>
          <a:prstGeom prst="hexagon">
            <a:avLst/>
          </a:prstGeom>
          <a:solidFill>
            <a:srgbClr val="B8862B"/>
          </a:solidFill>
          <a:ln/>
        </p:spPr>
      </p:sp>
      <p:sp>
        <p:nvSpPr>
          <p:cNvPr id="25" name="match-hex-label"/>
          <p:cNvSpPr txBox="1"/>
          <p:nvPr/>
        </p:nvSpPr>
        <p:spPr>
          <a:xfrm>
            <a:off x="5916648" y="38366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364704" y="3589782"/>
            <a:ext cx="4976599"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She is precious to him, his hope for the future.</a:t>
            </a:r>
            <a:endParaRPr lang="en-US" sz="2000" dirty="0"/>
          </a:p>
        </p:txBody>
      </p:sp>
      <p:sp>
        <p:nvSpPr>
          <p:cNvPr id="27" name="match-card"/>
          <p:cNvSpPr/>
          <p:nvPr/>
        </p:nvSpPr>
        <p:spPr>
          <a:xfrm>
            <a:off x="777240" y="4507484"/>
            <a:ext cx="4700496" cy="536702"/>
          </a:xfrm>
          <a:prstGeom prst="roundRect">
            <a:avLst>
              <a:gd name="adj" fmla="val 13630"/>
            </a:avLst>
          </a:prstGeom>
          <a:solidFill>
            <a:srgbClr val="F2EFF4"/>
          </a:solidFill>
          <a:ln/>
        </p:spPr>
      </p:sp>
      <p:sp>
        <p:nvSpPr>
          <p:cNvPr id="28" name="match-hex"/>
          <p:cNvSpPr/>
          <p:nvPr/>
        </p:nvSpPr>
        <p:spPr>
          <a:xfrm>
            <a:off x="850392" y="4609542"/>
            <a:ext cx="384048" cy="332586"/>
          </a:xfrm>
          <a:prstGeom prst="hexagon">
            <a:avLst/>
          </a:prstGeom>
          <a:solidFill>
            <a:srgbClr val="5B3A7A"/>
          </a:solidFill>
          <a:ln/>
        </p:spPr>
      </p:sp>
      <p:sp>
        <p:nvSpPr>
          <p:cNvPr id="29" name="match-hex-label"/>
          <p:cNvSpPr txBox="1"/>
          <p:nvPr/>
        </p:nvSpPr>
        <p:spPr>
          <a:xfrm>
            <a:off x="850392" y="4609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507484"/>
            <a:ext cx="4106136" cy="53670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“She's the hopeful lady of my earth.”</a:t>
            </a:r>
            <a:endParaRPr lang="en-US" sz="2000" dirty="0"/>
          </a:p>
        </p:txBody>
      </p:sp>
      <p:sp>
        <p:nvSpPr>
          <p:cNvPr id="31" name="match-card"/>
          <p:cNvSpPr/>
          <p:nvPr/>
        </p:nvSpPr>
        <p:spPr>
          <a:xfrm>
            <a:off x="5843496" y="4507484"/>
            <a:ext cx="5570959" cy="536702"/>
          </a:xfrm>
          <a:prstGeom prst="roundRect">
            <a:avLst>
              <a:gd name="adj" fmla="val 13630"/>
            </a:avLst>
          </a:prstGeom>
          <a:solidFill>
            <a:srgbClr val="F6F0E6"/>
          </a:solidFill>
          <a:ln/>
        </p:spPr>
      </p:sp>
      <p:sp>
        <p:nvSpPr>
          <p:cNvPr id="32" name="match-hex"/>
          <p:cNvSpPr/>
          <p:nvPr/>
        </p:nvSpPr>
        <p:spPr>
          <a:xfrm>
            <a:off x="5916648" y="4609542"/>
            <a:ext cx="384048" cy="332586"/>
          </a:xfrm>
          <a:prstGeom prst="hexagon">
            <a:avLst/>
          </a:prstGeom>
          <a:solidFill>
            <a:srgbClr val="B8862B"/>
          </a:solidFill>
          <a:ln/>
        </p:spPr>
      </p:sp>
      <p:sp>
        <p:nvSpPr>
          <p:cNvPr id="33" name="match-hex-label"/>
          <p:cNvSpPr txBox="1"/>
          <p:nvPr/>
        </p:nvSpPr>
        <p:spPr>
          <a:xfrm>
            <a:off x="5916648" y="4609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364704" y="4507484"/>
            <a:ext cx="4976599" cy="53670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fears an early marriage would harm her.</a:t>
            </a:r>
            <a:endParaRPr lang="en-US" sz="2000" dirty="0"/>
          </a:p>
        </p:txBody>
      </p:sp>
      <p:sp>
        <p:nvSpPr>
          <p:cNvPr id="35" name="match-card"/>
          <p:cNvSpPr/>
          <p:nvPr/>
        </p:nvSpPr>
        <p:spPr>
          <a:xfrm>
            <a:off x="777240" y="5135626"/>
            <a:ext cx="4700496" cy="826262"/>
          </a:xfrm>
          <a:prstGeom prst="roundRect">
            <a:avLst>
              <a:gd name="adj" fmla="val 8853"/>
            </a:avLst>
          </a:prstGeom>
          <a:solidFill>
            <a:srgbClr val="F2EFF4"/>
          </a:solidFill>
          <a:ln/>
        </p:spPr>
      </p:sp>
      <p:sp>
        <p:nvSpPr>
          <p:cNvPr id="36" name="match-hex"/>
          <p:cNvSpPr/>
          <p:nvPr/>
        </p:nvSpPr>
        <p:spPr>
          <a:xfrm>
            <a:off x="850392" y="5382464"/>
            <a:ext cx="384048" cy="332586"/>
          </a:xfrm>
          <a:prstGeom prst="hexagon">
            <a:avLst/>
          </a:prstGeom>
          <a:solidFill>
            <a:srgbClr val="5B3A7A"/>
          </a:solidFill>
          <a:ln/>
        </p:spPr>
      </p:sp>
      <p:sp>
        <p:nvSpPr>
          <p:cNvPr id="37" name="match-hex-label"/>
          <p:cNvSpPr txBox="1"/>
          <p:nvPr/>
        </p:nvSpPr>
        <p:spPr>
          <a:xfrm>
            <a:off x="850392" y="538246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35626"/>
            <a:ext cx="4106136"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“My will to her consent is but a part.”</a:t>
            </a:r>
            <a:endParaRPr lang="en-US" sz="2000" dirty="0"/>
          </a:p>
        </p:txBody>
      </p:sp>
      <p:sp>
        <p:nvSpPr>
          <p:cNvPr id="39" name="match-card"/>
          <p:cNvSpPr/>
          <p:nvPr/>
        </p:nvSpPr>
        <p:spPr>
          <a:xfrm>
            <a:off x="5843496" y="5135626"/>
            <a:ext cx="5570959" cy="826262"/>
          </a:xfrm>
          <a:prstGeom prst="roundRect">
            <a:avLst>
              <a:gd name="adj" fmla="val 8853"/>
            </a:avLst>
          </a:prstGeom>
          <a:solidFill>
            <a:srgbClr val="F6F0E6"/>
          </a:solidFill>
          <a:ln/>
        </p:spPr>
      </p:sp>
      <p:sp>
        <p:nvSpPr>
          <p:cNvPr id="40" name="match-hex"/>
          <p:cNvSpPr/>
          <p:nvPr/>
        </p:nvSpPr>
        <p:spPr>
          <a:xfrm>
            <a:off x="5916648" y="5382464"/>
            <a:ext cx="384048" cy="332586"/>
          </a:xfrm>
          <a:prstGeom prst="hexagon">
            <a:avLst/>
          </a:prstGeom>
          <a:solidFill>
            <a:srgbClr val="B8862B"/>
          </a:solidFill>
          <a:ln/>
        </p:spPr>
      </p:sp>
      <p:sp>
        <p:nvSpPr>
          <p:cNvPr id="41" name="match-hex-label"/>
          <p:cNvSpPr txBox="1"/>
          <p:nvPr/>
        </p:nvSpPr>
        <p:spPr>
          <a:xfrm>
            <a:off x="5916648" y="538246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364704" y="5135626"/>
            <a:ext cx="4976599"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wants her to have a say in whom she marries.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Capulet in Act 1 Scene 2: what the lines show</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of Lord Capulet's lines from Act 1 Scene 2 to what it shows about him as a father.</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line aloud and underline one key word: stranger, marred, hopeful, consent.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‘Marred’ means damaged or spoiled; ‘consent’ means agreement.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key word to the description that fits it best.</a:t>
            </a:r>
            <a:endParaRPr lang="en-US" sz="1800" dirty="0"/>
          </a:p>
        </p:txBody>
      </p:sp>
      <p:sp>
        <p:nvSpPr>
          <p:cNvPr id="17" name="col-Core"/>
          <p:cNvSpPr/>
          <p:nvPr/>
        </p:nvSpPr>
        <p:spPr>
          <a:xfrm>
            <a:off x="4338218" y="2593848"/>
            <a:ext cx="3515258" cy="3550920"/>
          </a:xfrm>
          <a:prstGeom prst="roundRect">
            <a:avLst>
              <a:gd name="adj" fmla="val 1561"/>
            </a:avLst>
          </a:prstGeom>
          <a:solidFill>
            <a:srgbClr val="DBD4E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line shows care in a different way: her age, her safety, her value to him, her choice.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How would an Elizabethan audience react to a father who says his will is only a part? Write one sentence that gives two different possible reactions.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Act 1 Scene 1, what does the Prince threaten to do to anyone who disturbs the peace of Verona again?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Fine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Imprison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Banish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Put them to death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Spotting hegemonic masculinity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lines from Act 1 Scene 1 best shows hegemonic masculinity: strength, violence and the refusal to back down?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Tybalt says he hates the word peace as he hates hell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Tybalt's hatred of the very word peace is the clearest statement of Verona's code: a real man fights, and a man who talks of peace is a coward. Everything Romeo does in Act 3 is judged against this code.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Answers: Capulet in Act 1 Scene 2: what the lines show</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“My child is yet a stranger in the world.”  →  A  He thinks Juliet is too young and innocent for marriage.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“And too soon marred are those so early made.”  →  C  He fears an early marriage would harm her.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“She's the hopeful lady of my earth.”  →  B  She is precious to him, his hope for the future.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“My will to her consent is but a part.”  →  D  He wants her to have a say in whom she marries.</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Act 1 Scene 2 Shakespeare builds Capulet as a loving, unconventional father. These four lines are your evidence for the before, so that his cruelty in Act 3 Scene 5 reads as a change, not a constant.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Act 1 Scene 1, what does the Prince threaten to do to anyone who disturbs the peace of Verona again?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Put them to death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Prince says the next person to fight in the streets will pay with their life. This is why Romeo's killing of Tybalt is so dangerous in Act 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Romeo and Juliet · Chapter 2: Fighting men, a careful father and a quiet daughter (Act 1, Scenes 1–3)</dc:title>
  <dc:subject>English Literature · Year 9</dc:subject>
  <dc:creator>Dr Vitor Merissi de Carvalho</dc:creator>
  <cp:lastModifiedBy>Dr Vitor Merissi de Carvalho</cp:lastModifiedBy>
  <cp:revision>1</cp:revision>
  <dcterms:created xsi:type="dcterms:W3CDTF">2026-10-19T16:22:42Z</dcterms:created>
  <dcterms:modified xsi:type="dcterms:W3CDTF">2026-10-19T16:22:42Z</dcterms:modified>
</cp:coreProperties>
</file>