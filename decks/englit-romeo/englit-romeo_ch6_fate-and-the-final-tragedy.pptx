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a2c739b-5412-feeb-6769-0dd275d745eb}">
          <p14:sldIdLst>
            <p14:sldId id="256"/>
          </p14:sldIdLst>
        </p14:section>
        <p14:section name="Gate" id="{c52b7c2f-3677-59e8-e404-8e18653beeea}">
          <p14:sldIdLst>
            <p14:sldId id="257"/>
            <p14:sldId id="258"/>
          </p14:sldIdLst>
        </p14:section>
        <p14:section name="Pre-teach" id="{3f6f5f96-d347-e3ad-d102-fa947634494b}">
          <p14:sldIdLst>
            <p14:sldId id="259"/>
          </p14:sldIdLst>
        </p14:section>
        <p14:section name="Read-along" id="{e0e49069-c895-a591-3b5d-6557de300b17}">
          <p14:sldIdLst>
            <p14:sldId id="260"/>
            <p14:sldId id="261"/>
          </p14:sldIdLst>
        </p14:section>
        <p14:section name="Teach" id="{34b15ca4-e8e6-dce4-f142-efefb0f5f229}">
          <p14:sldIdLst>
            <p14:sldId id="262"/>
            <p14:sldId id="263"/>
            <p14:sldId id="264"/>
          </p14:sldIdLst>
        </p14:section>
        <p14:section name="Routes" id="{cc6dea43-7017-3da7-480d-82d48273e22f}">
          <p14:sldIdLst>
            <p14:sldId id="265"/>
            <p14:sldId id="266"/>
            <p14:sldId id="267"/>
            <p14:sldId id="268"/>
            <p14:sldId id="269"/>
          </p14:sldIdLst>
        </p14:section>
        <p14:section name="Close" id="{109ad83b-3cfd-3a66-b057-64a591e564c4}">
          <p14:sldIdLst>
            <p14:sldId id="270"/>
          </p14:sldIdLst>
        </p14:section>
        <p14:section name="Answers" id="{f4d43d96-5086-b3ea-1a47-861aaecbb50b}">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Fate, free will and the final tragedy (Act 5). This chapter takes you from Romeo's dream in Mantua to the tomb, and asks the play's biggest question: were the lovers doomed, or did people choose this?
This deck covers the department's lessons: 17 (Act 5 Scenes 1–2: Romeo's reaction: How does Shakespeare present Romeo's reaction to Juliet's ‘death’?); 18 (Act 5 Scene 3: the ultimate tragedy: Who, or what, is most responsible for the final tragedy?); 19 (Juliet's death: Can I explore the development of Juliet's character and the importance of her death?); 20 (Fate versus free will: extract lesson: Can I explore ideas about fate and free will and apply them to the play?).
Read the big question aloud: "How does Shakespeare turn a love story into a tragedy, and were the lovers' deaths written in the stars or chosen by the people on stage?"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does the Friar's letter never reach Romeo in Mantua?  →  C   Friar John is shut up in a house suspected of plague
2. A tragic hero's fatal flaw is called their ___.  →  hamartia
3. How does Juliet die at the end of the play?  →  B   She stabs herself with Romeo's dagger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Friar John is shut up in a house suspected of plague. Friar John could not leave Verona because the house he visited was sealed for plague, so the letter stayed with him. Act 5 Scene 2 explains this.
2. hamartia. Hamartia is the flaw that brings a tragic hero down. For Romeo it is usually read as uncontrolled passion.
3. B   She stabs herself with Romeo's dagger. The cup is empty, so she takes Romeo's dagger, calls her body its sheath, and stabs herself.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fate: the idea that your future is already decided. Example: "Romeo blames fate when he calls himself Fortune's fool."
• free will: the power to choose your own actions. Example: "If Romeo chose to fight, that was free will."
• hamartia: a hero's fatal flaw. Example: "Romeo's hamartia is his uncontrolled passion."
• tragic hero: a noble character destroyed by a flaw. Example: "Romeo is a tragic hero because his passion destroys him."
• inevitable: certain to happen. Example: "The Prologue makes the deaths feel inevitable."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In Mantua, Romeo dreams that Juliet found him dead.
2. Then his servant brings news that Juliet is dead.
3. Romeo shouts that he defies the stars.
4. He buys poison from a poor apothecary.
5. Meanwhile, the Friar's letter never reaches Romeo.
6. The messenger was shut in a house because of plague.
7. At the tomb, Romeo meets Paris and kills him.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He kisses Juliet and drinks the poison.
9. Moments later, Juliet wakes.
10. She finds the cup empty and Romeo's lips still warm.
11. She takes his dagger and kills herself.
12. The families arrive and learn the whole story.
13. The Prince says that everyone is punished.
14. The two fathers finally make peace.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Defying the stars (5.1–5.2). Say it in your own words, then check understanding with a quick question: ask a pupil from the pre-teach group first, since they met these words and ideas before the lesson. Pupils try to recall before you re-explain.
Elizabethans were superstitious and religious at the same time. Many believed in fate: that the stars, or some higher power, had written your life in advance, an idea that reaches back to Greek tragedy. Christianity taught the opposite, that God gave people free will, so your choices are your own. Murder and suicide were therefore terrible sins, because they took from God the decision of who should live and die. Shakespeare keeps both ideas in play and never settles the argument.
In Mantua, Romeo wakes from a dream in which his lady came and found him dead, which Elizabethans would read as a prophecy. Balthasar brings the news of Juliet's death, and Romeo's answer is a challenge: then he defies the stars. He is claiming free will against fate, yet what he chooses is to die. He buys poison from a starving apothecary whose poverty, not his will, consents, and calls it a cordial, a medicine, echoing the Friar's flower. Meanwhile, in Act 5 Scene 2, we learn why the Friar's letter never arrived: Friar John was shut up in a house suspected of plague. Fate, or bad luck, or a plan that depended on too many things going right?
Quotation: "Come, cordial and not poison, go with me / To Juliet's grave, for there must I use thee." (5.1.89–90). Read it aloud; ask what it shows.
Tip: ‘Cordial’ means a healing drink. Romeo calls poison medicine: the Friar's image of the flower that holds both has come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tomb: Romeo's soliloquy and Juliet's last lines (5.3). Say it in your own words, then check understanding with a quick question: ask a pupil from the pre-teach group first, since they met these words and ideas before the lesson. Pupils try to recall before you re-explain.
At the tomb Romeo finds Paris, who has come to mourn Juliet. Paris tries to arrest him, they fight, and Paris dies. Shakespeare has Paris die too so that the feud and the forced marriage both end in the same vault. Then Romeo speaks his final soliloquy over Juliet's body. He is distraught, yet he notices that death has had no power over her beauty, and he does not stop to ask why her lips are still red. He vows to shake the yoke of inauspicious stars from his flesh, and drinks, dying with a kiss.
The Friar arrives too late, and Juliet wakes to find Romeo dead. Shakespeare gives her only a few lines, and most of them are interrogatives: what is here, a cup closed in her true love's hand? Has he drunk all, and left no friendly drop to help her after? The questions show shock turning to understanding. She kisses him, hoping some poison still hangs on his lips, and finds them warm: he died moments ago. Then she takes his dagger, calls it a happy dagger, and names her own body its sheath. The dagger that killed Tybalt, Mercutio and Paris now ends the play's violence. The Prince closes with a couplet: there never was a story of more woe than this of Juliet and her Romeo.
Quotation: "What's here? A cup closed in my true love's hand? / Poison, I see, hath been his timeless end." (5.3.166–167). Read it aloud; ask what it shows.
Tip: ‘Timeless’ means untimely, too early. Juliet's questions are the last interrogatives in the play; compare them with her first, ‘What is your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Tragic hero, hamartia and who is to blame. Say it in your own words, then check understanding with a quick question: ask a pupil from the pre-teach group first, since they met these words and ideas before the lesson. Pupils try to recall before you re-explain.
A tragedy follows a noble character who falls because of a flaw inside them, which the Greeks called hamartia. Romeo is a tragic hero. His flaw is uncontrolled passion: he falls in love in a night, marries in a day, kills in a moment of fury, and dies within minutes of hearing bad news. Every one of these is a choice, and every one is made too fast. Juliet shares the title: she too chooses, and chooses death.
So who is responsible? The lovers, for their haste. The fathers and the feud, for making love a crime. Tybalt, for wanting blood. The Friar, whose good intentions were misapplied. The Nurse, who helped and then abandoned Juliet. Plague, a dream, a letter that never arrived. The Prologue says the stars crossed them; Romeo says he is Fortune's fool, then defies the stars; the Prince says all are punished. The best answers do not pick one. They weigh fate against free will and show that Shakespeare lets both be true.
Quotation: "For never was a story of more woe / Than this of Juliet and her Romeo." (5.3.320–321). Read it aloud; ask what it shows.
Tip: The play ends as it began, with a rhyming couplet about the lovers. Use the two bookends when you write about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Act 5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Act 5 in the order they happen.
Support — work through the steps with the group: (1) Act 5 Scene 1 is in Mantua with Romeo; Scene 2 is the Friar in Verona; Scene 3 is the tomb. (2) At the tomb, Romeo must deal with Paris before he reaches Juliet. (3) Juliet wakes only after Romeo has died; the Prince arrives last.
Parallel worked example for Support (model it, do not give the task answer): Practice: order these moments from Act 4: Juliet drinks the potion; the Friar explains his plan; the Nurse finds Juliet; Capulet brings the wedding forward. The plan is explained in 4.1.; Capulet moves the wedding in 4.2.; Juliet drinks in 4.3.; The Nurse finds her in 4.5.. Answer: The Friar explains his plan; Capulet brings the wedding forward; Juliet drinks the potion; the Nurse finds Juliet..
Core — reveal the hint only on request: Three places in order: Mantua, the Friar's cell, the tomb. Within the tomb: Paris, Romeo, Juliet, the Prince.
Stretch — no help; when finished: Pick the one event in this list that, if it had happened a few minutes later, would have saved the lovers. Explain in two sentences why Shakespeare makes the timing so cruel.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Act 5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Act 5 in the order they happen.
Support — work through the steps with the group: (1) Act 5 Scene 1 is in Mantua with Romeo; Scene 2 is the Friar in Verona; Scene 3 is the tomb. (2) At the tomb, Romeo must deal with Paris before he reaches Juliet. (3) Juliet wakes only after Romeo has died; the Prince arrives last.
Parallel worked example for Support (model it, do not give the task answer): Practice: order these moments from Act 4: Juliet drinks the potion; the Friar explains his plan; the Nurse finds Juliet; Capulet brings the wedding forward. The plan is explained in 4.1.; Capulet moves the wedding in 4.2.; Juliet drinks in 4.3.; The Nurse finds her in 4.5.. Answer: The Friar explains his plan; Capulet brings the wedding forward; Juliet drinks the potion; the Nurse finds Juliet..
Core — reveal the hint only on request: Three places in order: Mantua, the Friar's cell, the tomb. Within the tomb: Paris, Romeo, Juliet, the Prince.
Stretch — no help; when finished: Pick the one event in this list that, if it had happened a few minutes later, would have saved the lovers. Explain in two sentences why Shakespeare makes the timing so cruel.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Fate or free will?.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the theme of fate versus free will in Act 5? Write one What, How, Why paragraph.
Support — work through the steps with the group: (1) What: decide whether your quotation shows fate, free will, or both, and say so in a topic sentence. (2) How: embed the quotation, name the method, and zoom in on one word such as ‘defy’, ‘stars’ or ‘cordial’. (3) Why: link to Elizabethan belief in astrology, or to Christian teaching that choices are our own and suicide is a sin. (4) Check: does your last sentence answer the question about fate and free will?
Parallel worked example for Support (model it, do not give the task answer): Practice question: how does Shakespeare present fate in Act 3 Scene 1, when Romeo cries out after killing Tybalt? What: Romeo blames fate for what he has just chosen to do.; How: he calls himself Fortune's fool, a metaphor that makes him a plaything of luck.; Why: an Elizabethan audience believed in fortune's wheel, but they have just watched him choose to fight, so the line is both an excuse and a truth.. Answer: Shakespeare presents fate as Romeo's excuse in Act 3 Scene 1. Having chosen to fight Tybalt, he calls himself Fortune's fool, a metaphor that makes him a toy in the hands of luck. An Elizabethan audience believed that fortune's wheel could turn in a moment, but they have just watched Romeo pick up his sword, so Shakespeare lets the line be both a real cry of despair and a way of avoiding blame..
Core — reveal the hint only on request: Look for the moment where a character blames the stars and then makes a choice. That tension is the point.
Stretch — no help; when finished: Add a sentence that uses the plague-bound letter of Act 5 Scene 2: is that fate, bad luck, or the result of a plan with too many moving parts? Decide and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Fate or free will?.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the theme of fate versus free will in Act 5? Write one What, How, Why paragraph.
Support — work through the steps with the group: (1) What: decide whether your quotation shows fate, free will, or both, and say so in a topic sentence. (2) How: embed the quotation, name the method, and zoom in on one word such as ‘defy’, ‘stars’ or ‘cordial’. (3) Why: link to Elizabethan belief in astrology, or to Christian teaching that choices are our own and suicide is a sin. (4) Check: does your last sentence answer the question about fate and free will?
Parallel worked example for Support (model it, do not give the task answer): Practice question: how does Shakespeare present fate in Act 3 Scene 1, when Romeo cries out after killing Tybalt? What: Romeo blames fate for what he has just chosen to do.; How: he calls himself Fortune's fool, a metaphor that makes him a plaything of luck.; Why: an Elizabethan audience believed in fortune's wheel, but they have just watched him choose to fight, so the line is both an excuse and a truth.. Answer: Shakespeare presents fate as Romeo's excuse in Act 3 Scene 1. Having chosen to fight Tybalt, he calls himself Fortune's fool, a metaphor that makes him a toy in the hands of luck. An Elizabethan audience believed that fortune's wheel could turn in a moment, but they have just watched Romeo pick up his sword, so Shakespeare lets the line be both a real cry of despair and a way of avoiding blame..
Core — reveal the hint only on request: Look for the moment where a character blames the stars and then makes a choice. That tension is the point.
Stretch — no help; when finished: Add a sentence that uses the plague-bound letter of Act 5 Scene 2: is that fate, bad luck, or the result of a plan with too many moving parts? Decide and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Fate or free will?.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the theme of fate versus free will in Act 5? Write one What, How, Why paragraph.
Support — work through the steps with the group: (1) What: decide whether your quotation shows fate, free will, or both, and say so in a topic sentence. (2) How: embed the quotation, name the method, and zoom in on one word such as ‘defy’, ‘stars’ or ‘cordial’. (3) Why: link to Elizabethan belief in astrology, or to Christian teaching that choices are our own and suicide is a sin. (4) Check: does your last sentence answer the question about fate and free will?
Parallel worked example for Support (model it, do not give the task answer): Practice question: how does Shakespeare present fate in Act 3 Scene 1, when Romeo cries out after killing Tybalt? What: Romeo blames fate for what he has just chosen to do.; How: he calls himself Fortune's fool, a metaphor that makes him a plaything of luck.; Why: an Elizabethan audience believed in fortune's wheel, but they have just watched him choose to fight, so the line is both an excuse and a truth.. Answer: Shakespeare presents fate as Romeo's excuse in Act 3 Scene 1. Having chosen to fight Tybalt, he calls himself Fortune's fool, a metaphor that makes him a toy in the hands of luck. An Elizabethan audience believed that fortune's wheel could turn in a moment, but they have just watched Romeo pick up his sword, so Shakespeare lets the line be both a real cry of despair and a way of avoiding blame..
Core — reveal the hint only on request: Look for the moment where a character blames the stars and then makes a choice. That tension is the point.
Stretch — no help; when finished: Add a sentence that uses the plague-bound letter of Act 5 Scene 2: is that fate, bad luck, or the result of a plan with too many moving parts? Decide and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best describes Romeo's hamartia, the flaw that brings about his fall?
Answer: A   Uncontrolled passion: he loves, fights and despairs too fast to think. Romeo's flaw is passion that outruns thought. He loves Juliet in one night, marries her the next day, kills Tybalt in a moment of fury, and dies without waiting to learn the truth. Every step of the tragedy is a choice made too fast, which is what makes him a tragic hero rather than a victim.
Source of this question: module 3 task ("Romeo's hamartia")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Act 5 in order. Reveal the answer; pupils mark their own work in a different colour, then read the "why" together. Same destination for every lane, so one answer serves the whole class.
Answer: Romeo hears from Balthasar that Juliet is dead and buys poison.  (B); Friar Lawrence learns that his letter was never delivered.  (E); Romeo fights and kills Paris at the tomb.  (C); Romeo drinks the poison and dies beside Juliet.  (A); Juliet wakes, finds Romeo dead, and stabs herself.  (D); The Prince hears the Friar's story and the fathers make peace.  (F)
Why: Act 5 moves from Mantua to Verona to the tomb, and inside the tomb the deaths fall in a strict order: Paris, Romeo, Juliet. The timing is the tragedy: Juliet wakes moments after Romeo dies.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Fate or free will?. Reveal the answer; pupils mark their own work in a different colour, then read the "why" together. Same destination for every lane, so one answer serves the whole class.
Answer: What: a clear topic sentence that says whether the moment shows fate, free will, or the tension between them; How: at least one short quotation from Act 5, embedded in your own sentence; How: you name a method (exclamation, imperative, metaphor, oxymoron) and zoom in on one word; Why: you link the moment to Elizabethan beliefs about the stars, or to Christian teaching on free will and sin
Why: The strongest answers do not pick a side. They show a character claiming free will in words while fulfilling the fate the Prologue announced, and they explain why an Elizabethan audience could believe both at once.
Model answer: Shakespeare presents fate and free will as locked together in Act 5. When Romeo hears that Juliet is dead he cries, “Then I defy you, stars!” The exclamation and the verb ‘defy’ sound like free will: he refuses to accept what the stars have written. Yet the way he chooses to defy them is to die beside Juliet, which is exactly what the Prologue's ‘star-crossed’ promised, so his free choice carries out his fate. An Elizabethan audience believed in the stars and also believed that God gave people free will, and that suicide was a mortal sin; Shakespeare lets them feel both at once, so that Romeo is at the same time a victim of fortune and the author of his own end.
Success criteria: What: a clear topic sentence that says whether the moment shows fate, free will, or the tension between them; How: at least one short quotation from Act 5, embedded in your own sentence; How: you name a method (exclamation, imperative, metaphor, oxymoron) and zoom in on one word; Why: you link the moment to Elizabethan beliefs about the stars, or to Christian teaching on free will and sin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Fate or free will?. Reveal the answer; pupils mark their own work in a different colour, then read the "why" together. Same destination for every lane, so one answer serves the whole class.
Answer: What: a clear topic sentence that says whether the moment shows fate, free will, or the tension between them; How: at least one short quotation from Act 5, embedded in your own sentence; How: you name a method (exclamation, imperative, metaphor, oxymoron) and zoom in on one word; Why: you link the moment to Elizabethan beliefs about the stars, or to Christian teaching on free will and sin
Why: The strongest answers do not pick a side. They show a character claiming free will in words while fulfilling the fate the Prologue announced, and they explain why an Elizabethan audience could believe both at once.
Model answer: Shakespeare presents fate and free will as locked together in Act 5. When Romeo hears that Juliet is dead he cries, “Then I defy you, stars!” The exclamation and the verb ‘defy’ sound like free will: he refuses to accept what the stars have written. Yet the way he chooses to defy them is to die beside Juliet, which is exactly what the Prologue's ‘star-crossed’ promised, so his free choice carries out his fate. An Elizabethan audience believed in the stars and also believed that God gave people free will, and that suicide was a mortal sin; Shakespeare lets them feel both at once, so that Romeo is at the same time a victim of fortune and the author of his own end.
Success criteria: What: a clear topic sentence that says whether the moment shows fate, free will, or the tension between them; How: at least one short quotation from Act 5, embedded in your own sentence; How: you name a method (exclamation, imperative, metaphor, oxymoron) and zoom in on one word; Why: you link the moment to Elizabethan beliefs about the stars, or to Christian teaching on free will and sin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Uncontrolled passion: he loves, fights and despairs too fast to think
Why: Romeo's flaw is passion that outruns thought. He loves Juliet in one night, marries her the next day, kills Tybalt in a moment of fury, and dies without waiting to learn the truth. Every step of the tragedy is a choice made too fast, which is what makes him a tragic hero rather than a victim.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Romeo and Juliet · AQA KS3 → 8702</a:t>
            </a:r>
            <a:endParaRPr lang="en-US" sz="1800" dirty="0"/>
          </a:p>
        </p:txBody>
      </p:sp>
      <p:sp>
        <p:nvSpPr>
          <p:cNvPr id="10" name="deck-title"/>
          <p:cNvSpPr txBox="1"/>
          <p:nvPr/>
        </p:nvSpPr>
        <p:spPr>
          <a:xfrm>
            <a:off x="548640" y="18712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Fate, free will and the final tragedy (Act 5)</a:t>
            </a:r>
            <a:endParaRPr lang="en-US" sz="4000" dirty="0"/>
          </a:p>
        </p:txBody>
      </p:sp>
      <p:sp>
        <p:nvSpPr>
          <p:cNvPr id="11" name="lessons-card"/>
          <p:cNvSpPr/>
          <p:nvPr/>
        </p:nvSpPr>
        <p:spPr>
          <a:xfrm>
            <a:off x="548640" y="3547618"/>
            <a:ext cx="5287975" cy="2024380"/>
          </a:xfrm>
          <a:prstGeom prst="roundRect">
            <a:avLst>
              <a:gd name="adj" fmla="val 3614"/>
            </a:avLst>
          </a:prstGeom>
          <a:solidFill>
            <a:srgbClr val="EFEBF2"/>
          </a:solidFill>
          <a:ln/>
        </p:spPr>
      </p:sp>
      <p:sp>
        <p:nvSpPr>
          <p:cNvPr id="12" name="lessons"/>
          <p:cNvSpPr txBox="1"/>
          <p:nvPr/>
        </p:nvSpPr>
        <p:spPr>
          <a:xfrm>
            <a:off x="685800" y="3639058"/>
            <a:ext cx="5013655" cy="18415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5 Scenes 1–2: Romeo's reaction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5 Scene 3: the ultimate tragedy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Juliet's death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Fate versus free will: extract lesson</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Shakespeare turn a love story into a tragedy, and were the lovers' deaths written in the stars or chosen by the people on stage?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Why does the Friar's letter never reach Romeo in Mantua?</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Balthasar loses it on the road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Romeo refuses to read it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Friar John is shut up in a house suspected of plague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Lord Capulet intercepts it</a:t>
            </a:r>
            <a:endParaRPr lang="en-US" sz="20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tragic hero's fatal flaw is called their ___.</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hamartia  ·  hubris  ·  peripeteia</a:t>
            </a:r>
            <a:endParaRPr lang="en-US" sz="24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How does Juliet die at the end of the play?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Paris kills her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She stabs herself with Romeo's dagger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She drinks the rest of Romeo's poison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She drinks the Friar's potion again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Friar John is shut up in a house suspected of plague</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Friar John could not leave Verona because the house he visited was sealed for plague, so the letter stayed with him. Act 5 Scene 2 explains this.</a:t>
            </a:r>
            <a:endParaRPr lang="en-US" sz="18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hamartia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tragic hero's fatal flaw is called their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Hamartia is the flaw that brings a tragic hero down. For Romeo it is usually read as uncontrolled passion.</a:t>
            </a:r>
            <a:endParaRPr lang="en-US" sz="22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She stabs herself with Romeo's dagger</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does Juliet die at the end of the play?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cup is empty, so she takes Romeo's dagger, calls her body its sheath, and stabs herself.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fate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idea that your future is already decided</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Romeo blames fate when he calls himself Fortune's fool.</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free will</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power to choose your own actions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If Romeo chose to fight, that was free will.</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hamartia</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hero's fatal flaw</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Romeo's hamartia is his uncontrolled passion.</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tragic hero</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noble character destroyed by a flaw</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Romeo is a tragic hero because his passion destroys him.</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inevitable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certain to happen</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Prologue makes the deaths feel inevitable.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Mantua, Romeo dreams that Juliet found him dead.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his servant brings news that Juliet is dead.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Romeo shouts that he defies the stars.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buys poison from a poor apothecary.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Meanwhile, the Friar's letter never reaches Romeo.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messenger was shut in a house because of plague.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the tomb, Romeo meets Paris and kills him.</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kisses Juliet and drinks the poison.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Moments later, Juliet wakes.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finds the cup empty and Romeo's lips still warm.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takes his dagger and kills herself.</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families arrive and learn the whole story.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Prince says that everyone is punished.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two fathers finally make peace.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Defying the stars (5.1–5.2)</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‘Cordial’ means a healing drink. Romeo calls poison medicine: the Friar's image of the flower that holds both has come true.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Come, cordial and not poison, go with me / To Juliet's grave, for there must I use thee.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5.1.89–90</a:t>
            </a:r>
            <a:endParaRPr lang="en-US" sz="2600" dirty="0"/>
          </a:p>
        </p:txBody>
      </p:sp>
      <p:sp>
        <p:nvSpPr>
          <p:cNvPr id="14" name="bullet-card"/>
          <p:cNvSpPr/>
          <p:nvPr/>
        </p:nvSpPr>
        <p:spPr>
          <a:xfrm>
            <a:off x="548640" y="1389888"/>
            <a:ext cx="5074920" cy="1630426"/>
          </a:xfrm>
          <a:prstGeom prst="roundRect">
            <a:avLst>
              <a:gd name="adj" fmla="val 4487"/>
            </a:avLst>
          </a:prstGeom>
          <a:solidFill>
            <a:srgbClr val="F2EFF4"/>
          </a:solidFill>
          <a:ln/>
        </p:spPr>
      </p:sp>
      <p:sp>
        <p:nvSpPr>
          <p:cNvPr id="15" name="bullet-hex"/>
          <p:cNvSpPr/>
          <p:nvPr/>
        </p:nvSpPr>
        <p:spPr>
          <a:xfrm>
            <a:off x="676656" y="2038808"/>
            <a:ext cx="384048" cy="332586"/>
          </a:xfrm>
          <a:prstGeom prst="hexagon">
            <a:avLst/>
          </a:prstGeom>
          <a:solidFill>
            <a:srgbClr val="5B3A7A"/>
          </a:solidFill>
          <a:ln/>
        </p:spPr>
      </p:sp>
      <p:sp>
        <p:nvSpPr>
          <p:cNvPr id="16"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Elizabethans were superstitious and religious at the same time. Many believed in fate: that the stars, or some higher power, had written your life in advance, an idea that reaches back to Greek tragedy.</a:t>
            </a:r>
            <a:endParaRPr lang="en-US" sz="1800" dirty="0"/>
          </a:p>
        </p:txBody>
      </p:sp>
      <p:sp>
        <p:nvSpPr>
          <p:cNvPr id="17" name="bullet-card"/>
          <p:cNvSpPr/>
          <p:nvPr/>
        </p:nvSpPr>
        <p:spPr>
          <a:xfrm>
            <a:off x="548640" y="3166618"/>
            <a:ext cx="5074920" cy="1351534"/>
          </a:xfrm>
          <a:prstGeom prst="roundRect">
            <a:avLst>
              <a:gd name="adj" fmla="val 5413"/>
            </a:avLst>
          </a:prstGeom>
          <a:solidFill>
            <a:srgbClr val="F2EFF4"/>
          </a:solidFill>
          <a:ln/>
        </p:spPr>
      </p:sp>
      <p:sp>
        <p:nvSpPr>
          <p:cNvPr id="18" name="bullet-hex"/>
          <p:cNvSpPr/>
          <p:nvPr/>
        </p:nvSpPr>
        <p:spPr>
          <a:xfrm>
            <a:off x="676656" y="3676092"/>
            <a:ext cx="384048" cy="332586"/>
          </a:xfrm>
          <a:prstGeom prst="hexagon">
            <a:avLst/>
          </a:prstGeom>
          <a:solidFill>
            <a:srgbClr val="B8862B"/>
          </a:solidFill>
          <a:ln/>
        </p:spPr>
      </p:sp>
      <p:sp>
        <p:nvSpPr>
          <p:cNvPr id="19" name="bullet"/>
          <p:cNvSpPr txBox="1"/>
          <p:nvPr/>
        </p:nvSpPr>
        <p:spPr>
          <a:xfrm>
            <a:off x="1143000" y="3166618"/>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Mantua, Romeo wakes from a dream in which his lady came and found him dead, which Elizabethans would read as a prophecy.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The tomb: Romeo's soliloquy and Juliet's last lines (5.3)</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‘Timeless’ means untimely, too early. Juliet's questions are the last interrogatives in the play; compare them with her first, ‘What is your will?’</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What's here? A cup closed in my true love's hand? / Poison, I see, hath been his timeless end.</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5.3.166–167</a:t>
            </a:r>
            <a:endParaRPr lang="en-US" sz="2600" dirty="0"/>
          </a:p>
        </p:txBody>
      </p:sp>
      <p:sp>
        <p:nvSpPr>
          <p:cNvPr id="14" name="bullet-card"/>
          <p:cNvSpPr/>
          <p:nvPr/>
        </p:nvSpPr>
        <p:spPr>
          <a:xfrm>
            <a:off x="548640" y="1389888"/>
            <a:ext cx="5074920" cy="1357376"/>
          </a:xfrm>
          <a:prstGeom prst="roundRect">
            <a:avLst>
              <a:gd name="adj" fmla="val 5389"/>
            </a:avLst>
          </a:prstGeom>
          <a:solidFill>
            <a:srgbClr val="F2EFF4"/>
          </a:solidFill>
          <a:ln/>
        </p:spPr>
      </p:sp>
      <p:sp>
        <p:nvSpPr>
          <p:cNvPr id="15" name="bullet-hex"/>
          <p:cNvSpPr/>
          <p:nvPr/>
        </p:nvSpPr>
        <p:spPr>
          <a:xfrm>
            <a:off x="676656" y="1902283"/>
            <a:ext cx="384048" cy="332586"/>
          </a:xfrm>
          <a:prstGeom prst="hexagon">
            <a:avLst/>
          </a:prstGeom>
          <a:solidFill>
            <a:srgbClr val="5B3A7A"/>
          </a:solidFill>
          <a:ln/>
        </p:spPr>
      </p:sp>
      <p:sp>
        <p:nvSpPr>
          <p:cNvPr id="16" name="bullet"/>
          <p:cNvSpPr txBox="1"/>
          <p:nvPr/>
        </p:nvSpPr>
        <p:spPr>
          <a:xfrm>
            <a:off x="1143000" y="138988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At the tomb Romeo finds Paris, who has come to mourn Juliet.</a:t>
            </a:r>
            <a:endParaRPr lang="en-US" sz="2200" dirty="0"/>
          </a:p>
        </p:txBody>
      </p:sp>
      <p:sp>
        <p:nvSpPr>
          <p:cNvPr id="17" name="bullet-card"/>
          <p:cNvSpPr/>
          <p:nvPr/>
        </p:nvSpPr>
        <p:spPr>
          <a:xfrm>
            <a:off x="548640" y="2893568"/>
            <a:ext cx="5074920" cy="1357376"/>
          </a:xfrm>
          <a:prstGeom prst="roundRect">
            <a:avLst>
              <a:gd name="adj" fmla="val 5389"/>
            </a:avLst>
          </a:prstGeom>
          <a:solidFill>
            <a:srgbClr val="F2EFF4"/>
          </a:solidFill>
          <a:ln/>
        </p:spPr>
      </p:sp>
      <p:sp>
        <p:nvSpPr>
          <p:cNvPr id="18" name="bullet-hex"/>
          <p:cNvSpPr/>
          <p:nvPr/>
        </p:nvSpPr>
        <p:spPr>
          <a:xfrm>
            <a:off x="676656" y="3405963"/>
            <a:ext cx="384048" cy="332586"/>
          </a:xfrm>
          <a:prstGeom prst="hexagon">
            <a:avLst/>
          </a:prstGeom>
          <a:solidFill>
            <a:srgbClr val="B8862B"/>
          </a:solidFill>
          <a:ln/>
        </p:spPr>
      </p:sp>
      <p:sp>
        <p:nvSpPr>
          <p:cNvPr id="19" name="bullet"/>
          <p:cNvSpPr txBox="1"/>
          <p:nvPr/>
        </p:nvSpPr>
        <p:spPr>
          <a:xfrm>
            <a:off x="1143000" y="289356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Friar arrives too late, and Juliet wakes to find Romeo dead.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Tragic hero, hamartia and who is to blame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play ends as it began, with a rhyming couplet about the lovers. Use the two bookends when you write about structure.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For never was a story of more woe / Than this of Juliet and her Romeo.</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5.3.320–321</a:t>
            </a:r>
            <a:endParaRPr lang="en-US" sz="2600" dirty="0"/>
          </a:p>
        </p:txBody>
      </p:sp>
      <p:sp>
        <p:nvSpPr>
          <p:cNvPr id="14" name="bullet-card"/>
          <p:cNvSpPr/>
          <p:nvPr/>
        </p:nvSpPr>
        <p:spPr>
          <a:xfrm>
            <a:off x="548640" y="1389888"/>
            <a:ext cx="5074920" cy="1831848"/>
          </a:xfrm>
          <a:prstGeom prst="roundRect">
            <a:avLst>
              <a:gd name="adj" fmla="val 3993"/>
            </a:avLst>
          </a:prstGeom>
          <a:solidFill>
            <a:srgbClr val="F2EFF4"/>
          </a:solidFill>
          <a:ln/>
        </p:spPr>
      </p:sp>
      <p:sp>
        <p:nvSpPr>
          <p:cNvPr id="15" name="bullet-hex"/>
          <p:cNvSpPr/>
          <p:nvPr/>
        </p:nvSpPr>
        <p:spPr>
          <a:xfrm>
            <a:off x="676656" y="2139519"/>
            <a:ext cx="384048" cy="332586"/>
          </a:xfrm>
          <a:prstGeom prst="hexagon">
            <a:avLst/>
          </a:prstGeom>
          <a:solidFill>
            <a:srgbClr val="5B3A7A"/>
          </a:solidFill>
          <a:ln/>
        </p:spPr>
      </p:sp>
      <p:sp>
        <p:nvSpPr>
          <p:cNvPr id="16" name="bullet"/>
          <p:cNvSpPr txBox="1"/>
          <p:nvPr/>
        </p:nvSpPr>
        <p:spPr>
          <a:xfrm>
            <a:off x="1143000" y="1389888"/>
            <a:ext cx="4389120" cy="183184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tragedy follows a noble character who falls because of a flaw inside them, which the Greeks called hamartia.</a:t>
            </a:r>
            <a:endParaRPr lang="en-US" sz="2200" dirty="0"/>
          </a:p>
        </p:txBody>
      </p:sp>
      <p:sp>
        <p:nvSpPr>
          <p:cNvPr id="17" name="bullet-card"/>
          <p:cNvSpPr/>
          <p:nvPr/>
        </p:nvSpPr>
        <p:spPr>
          <a:xfrm>
            <a:off x="548640" y="3368040"/>
            <a:ext cx="5074920" cy="1150112"/>
          </a:xfrm>
          <a:prstGeom prst="roundRect">
            <a:avLst>
              <a:gd name="adj" fmla="val 6360"/>
            </a:avLst>
          </a:prstGeom>
          <a:solidFill>
            <a:srgbClr val="F2EFF4"/>
          </a:solidFill>
          <a:ln/>
        </p:spPr>
      </p:sp>
      <p:sp>
        <p:nvSpPr>
          <p:cNvPr id="18" name="bullet-hex"/>
          <p:cNvSpPr/>
          <p:nvPr/>
        </p:nvSpPr>
        <p:spPr>
          <a:xfrm>
            <a:off x="676656" y="3776803"/>
            <a:ext cx="384048" cy="332586"/>
          </a:xfrm>
          <a:prstGeom prst="hexagon">
            <a:avLst/>
          </a:prstGeom>
          <a:solidFill>
            <a:srgbClr val="B8862B"/>
          </a:solidFill>
          <a:ln/>
        </p:spPr>
      </p:sp>
      <p:sp>
        <p:nvSpPr>
          <p:cNvPr id="19" name="bullet"/>
          <p:cNvSpPr txBox="1"/>
          <p:nvPr/>
        </p:nvSpPr>
        <p:spPr>
          <a:xfrm>
            <a:off x="1143000" y="3368040"/>
            <a:ext cx="4389120" cy="115011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 who is responsible? The lovers, for their haste.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Act 5 in order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from Act 5 in the order they happen.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Romeo drinks the poison and dies beside Juliet.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Romeo hears from Balthasar that Juliet is dead and buys poison.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Romeo fights and kills Paris at the tomb.</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Juliet wakes, finds Romeo dead, and stabs herself.</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Friar Lawrence learns that his letter was never delivered.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Prince hears the Friar's story and the fathers make peace.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Act 5 in order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events from Act 5 in the order they happen.</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FEB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Act 5 Scene 1 is in Mantua with Romeo; Scene 2 is the Friar in Verona; Scene 3 is the tomb.</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At the tomb, Romeo must deal with Paris before he reaches Juliet.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Juliet wakes only after Romeo has died; the Prince arrives last.</a:t>
            </a:r>
            <a:endParaRPr lang="en-US" sz="1800" dirty="0"/>
          </a:p>
        </p:txBody>
      </p:sp>
      <p:sp>
        <p:nvSpPr>
          <p:cNvPr id="17" name="col-Core"/>
          <p:cNvSpPr/>
          <p:nvPr/>
        </p:nvSpPr>
        <p:spPr>
          <a:xfrm>
            <a:off x="4338218" y="2578608"/>
            <a:ext cx="3515258" cy="3566160"/>
          </a:xfrm>
          <a:prstGeom prst="roundRect">
            <a:avLst>
              <a:gd name="adj" fmla="val 1561"/>
            </a:avLst>
          </a:prstGeom>
          <a:solidFill>
            <a:srgbClr val="DBD4E2"/>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places in order: Mantua, the Friar's cell, the tomb. Within the tomb: Paris, Romeo, Juliet, the Prince.</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5B3A7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the one event in this list that, if it had happened a few minutes later, would have saved the lovers. Explain in two sentences why Shakespeare makes the timing so cruel.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Fate or free will?</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Shakespeare present the theme of fate versus free will in Act 5? Write one What, How, Why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Same task, three ways in (1 of 2): Fate or free will?</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Shakespeare present the theme of fate versus free will in Act 5? Write one What, How, Why paragraph.</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What: decide whether your quotation shows fate, free will, or both, and say so in a topic sentence.</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How: embed the quotation, name the method, and zoom in on one word such as ‘defy’, ‘stars’ or ‘cordial’.</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Why: link to Elizabethan belief in astrology, or to Christian teaching that choices are our own and suicide is a sin.</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Check: does your last sentence answer the question about fate and free will?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Same task, three ways in (2 of 2): Fate or free will?</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Shakespeare present the theme of fate versus free will in Act 5? Write one What, How, Why paragraph.</a:t>
            </a:r>
            <a:endParaRPr lang="en-US" sz="2000" dirty="0"/>
          </a:p>
        </p:txBody>
      </p:sp>
      <p:sp>
        <p:nvSpPr>
          <p:cNvPr id="12" name="col-Core"/>
          <p:cNvSpPr/>
          <p:nvPr/>
        </p:nvSpPr>
        <p:spPr>
          <a:xfrm>
            <a:off x="548640" y="2593848"/>
            <a:ext cx="5410048" cy="3550920"/>
          </a:xfrm>
          <a:prstGeom prst="roundRect">
            <a:avLst>
              <a:gd name="adj" fmla="val 1545"/>
            </a:avLst>
          </a:prstGeom>
          <a:solidFill>
            <a:srgbClr val="DBD4E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Look for the moment where a character blames the stars and then makes a choice. That tension is the point.</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5B3A7A"/>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Add a sentence that uses the plague-bound letter of Act 5 Scene 2: is that fate, bad luck, or the result of a plan with too many moving parts? Decide and justify.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best describes Romeo's hamartia, the flaw that brings about his fall?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Uncontrolled passion: he loves, fights and despairs too fast to think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Cowardice: he runs from every fight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Greed: he wants the Capulets' wealth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Pride: he believes he is better than everyone in Verona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Act 5 in order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Romeo hears from Balthasar that Juliet is dead and buys poison.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Friar Lawrence learns that his letter was never delivered.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Romeo fights and kills Paris at the tomb.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Romeo drinks the poison and dies beside Juliet.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Juliet wakes, finds Romeo dead, and stabs herself.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Prince hears the Friar's story and the fathers make peace.  (F)</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Act 5 moves from Mantua to Verona to the tomb, and inside the tomb the deaths fall in a strict order: Paris, Romeo, Juliet. The timing is the tragedy: Juliet wakes moments after Romeo dies.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Fate or free will?</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33907"/>
          </a:xfrm>
          <a:prstGeom prst="roundRect">
            <a:avLst>
              <a:gd name="adj" fmla="val 8844"/>
            </a:avLst>
          </a:prstGeom>
          <a:solidFill>
            <a:srgbClr val="F2EFF4"/>
          </a:solidFill>
          <a:ln/>
        </p:spPr>
      </p:sp>
      <p:sp>
        <p:nvSpPr>
          <p:cNvPr id="9" name="tickbox"/>
          <p:cNvSpPr/>
          <p:nvPr/>
        </p:nvSpPr>
        <p:spPr>
          <a:xfrm>
            <a:off x="713232" y="2354897"/>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What: a clear topic sentence that says whether the moment shows fate, free will, or the tension between them</a:t>
            </a:r>
            <a:endParaRPr lang="en-US" sz="2200" dirty="0"/>
          </a:p>
        </p:txBody>
      </p:sp>
      <p:sp>
        <p:nvSpPr>
          <p:cNvPr id="11" name="crit-box"/>
          <p:cNvSpPr/>
          <p:nvPr/>
        </p:nvSpPr>
        <p:spPr>
          <a:xfrm>
            <a:off x="548640" y="3109595"/>
            <a:ext cx="11094415" cy="693039"/>
          </a:xfrm>
          <a:prstGeom prst="roundRect">
            <a:avLst>
              <a:gd name="adj" fmla="val 13194"/>
            </a:avLst>
          </a:prstGeom>
          <a:solidFill>
            <a:srgbClr val="F2EFF4"/>
          </a:solidFill>
          <a:ln/>
        </p:spPr>
      </p:sp>
      <p:sp>
        <p:nvSpPr>
          <p:cNvPr id="12" name="tickbox"/>
          <p:cNvSpPr/>
          <p:nvPr/>
        </p:nvSpPr>
        <p:spPr>
          <a:xfrm>
            <a:off x="713232" y="3309810"/>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3109595"/>
            <a:ext cx="10317175" cy="69303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at least one short quotation from Act 5, embedded in your own sentence</a:t>
            </a:r>
            <a:endParaRPr lang="en-US" sz="2200" dirty="0"/>
          </a:p>
        </p:txBody>
      </p:sp>
      <p:sp>
        <p:nvSpPr>
          <p:cNvPr id="14" name="crit-box"/>
          <p:cNvSpPr/>
          <p:nvPr/>
        </p:nvSpPr>
        <p:spPr>
          <a:xfrm>
            <a:off x="548640" y="3894074"/>
            <a:ext cx="11094415" cy="1033907"/>
          </a:xfrm>
          <a:prstGeom prst="roundRect">
            <a:avLst>
              <a:gd name="adj" fmla="val 8844"/>
            </a:avLst>
          </a:prstGeom>
          <a:solidFill>
            <a:srgbClr val="F2EFF4"/>
          </a:solidFill>
          <a:ln/>
        </p:spPr>
      </p:sp>
      <p:sp>
        <p:nvSpPr>
          <p:cNvPr id="15" name="tickbox"/>
          <p:cNvSpPr/>
          <p:nvPr/>
        </p:nvSpPr>
        <p:spPr>
          <a:xfrm>
            <a:off x="713232" y="4264723"/>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894074"/>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How: you name a method (exclamation, imperative, metaphor, oxymoron) and zoom in on one word</a:t>
            </a:r>
            <a:endParaRPr lang="en-US" sz="2200" dirty="0"/>
          </a:p>
        </p:txBody>
      </p:sp>
      <p:sp>
        <p:nvSpPr>
          <p:cNvPr id="17" name="crit-box"/>
          <p:cNvSpPr/>
          <p:nvPr/>
        </p:nvSpPr>
        <p:spPr>
          <a:xfrm>
            <a:off x="548640" y="5019421"/>
            <a:ext cx="11094415" cy="1033907"/>
          </a:xfrm>
          <a:prstGeom prst="roundRect">
            <a:avLst>
              <a:gd name="adj" fmla="val 8844"/>
            </a:avLst>
          </a:prstGeom>
          <a:solidFill>
            <a:srgbClr val="F2EFF4"/>
          </a:solidFill>
          <a:ln/>
        </p:spPr>
      </p:sp>
      <p:sp>
        <p:nvSpPr>
          <p:cNvPr id="18" name="tickbox"/>
          <p:cNvSpPr/>
          <p:nvPr/>
        </p:nvSpPr>
        <p:spPr>
          <a:xfrm>
            <a:off x="713232" y="5390070"/>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5019421"/>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you link the moment to Elizabethan beliefs about the stars, or to Christian teaching on free will and sin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Fate or free will?</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Shakespeare presents fate and free will as locked together in Act 5. When Romeo hears that Juliet is dead he cries, “Then I defy you, stars!” The exclamation and the verb ‘defy’ sound like free will: he refuses to accept what the stars have written. Yet the way he chooses to defy them is to die beside Juliet, which is exactly what the Prologue's ‘star-crossed’ promised, so his free choice carries out his fate. An Elizabethan audience believed in the stars and also believed that God gave people free will, and that suicide was a mortal sin; Shakespeare lets them feel both at once, so that Romeo is at the same time a victim of fortune and the author of his own end.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best describes Romeo's hamartia, the flaw that brings about his fall?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Uncontrolled passion: he loves, fights and despairs too fast to think</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Romeo's flaw is passion that outruns thought. He loves Juliet in one night, marries her the next day, kills Tybalt in a moment of fury, and dies without waiting to learn the truth. Every step of the tragedy is a choice made too fast, which is what makes him a tragic hero rather than a victim.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Romeo and Juliet · Chapter 6: Fate, free will and the final tragedy (Act 5)</dc:title>
  <dc:subject>English Literature · Year 9</dc:subject>
  <dc:creator>Dr Vitor Merissi de Carvalho</dc:creator>
  <cp:lastModifiedBy>Dr Vitor Merissi de Carvalho</cp:lastModifiedBy>
  <cp:revision>1</cp:revision>
  <dcterms:created xsi:type="dcterms:W3CDTF">2026-10-19T16:22:42Z</dcterms:created>
  <dcterms:modified xsi:type="dcterms:W3CDTF">2026-10-19T16:22:42Z</dcterms:modified>
</cp:coreProperties>
</file>