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d03f0b-8808-ed68-1fe9-f5870bf602ab}">
          <p14:sldIdLst>
            <p14:sldId id="256"/>
          </p14:sldIdLst>
        </p14:section>
        <p14:section name="Gate" id="{0fcb75bd-f941-7317-0f2b-62df313951fe}">
          <p14:sldIdLst>
            <p14:sldId id="257"/>
            <p14:sldId id="258"/>
          </p14:sldIdLst>
        </p14:section>
        <p14:section name="Pre-teach" id="{6dadeaaf-a6b7-0bd0-be48-31c16b3e137e}">
          <p14:sldIdLst>
            <p14:sldId id="259"/>
            <p14:sldId id="260"/>
          </p14:sldIdLst>
        </p14:section>
        <p14:section name="Read-along" id="{0db935ca-a09b-b47b-91e5-9a6b3aa5e04a}">
          <p14:sldIdLst>
            <p14:sldId id="261"/>
            <p14:sldId id="262"/>
          </p14:sldIdLst>
        </p14:section>
        <p14:section name="Teach" id="{0a3fcd3e-59cc-4b56-0a6e-ded05f8d1e5b}">
          <p14:sldIdLst>
            <p14:sldId id="263"/>
            <p14:sldId id="264"/>
            <p14:sldId id="265"/>
            <p14:sldId id="266"/>
            <p14:sldId id="267"/>
          </p14:sldIdLst>
        </p14:section>
        <p14:section name="Routes" id="{cdb23046-09ff-8bba-8312-f1a3f6d605c3}">
          <p14:sldIdLst>
            <p14:sldId id="268"/>
            <p14:sldId id="269"/>
            <p14:sldId id="270"/>
            <p14:sldId id="271"/>
          </p14:sldIdLst>
        </p14:section>
        <p14:section name="Close" id="{223813ad-3cec-314b-ccae-f4b685db48f1}">
          <p14:sldIdLst>
            <p14:sldId id="272"/>
          </p14:sldIdLst>
        </p14:section>
        <p14:section name="Answers" id="{27c492b7-d7e5-0b8f-e22e-64dd7a271ae1}">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Persecution in three waves, and Kristallnacht. How the Nazis took Jewish people's rights away step by step between 1933 and 1939, what happened on the Night of Broken Glass, and why the attacks were organised rather than spontaneous.
This deck covers the department's lessons: 2 (Pre-war Jewish life and early persecution (1933-1939): What was life like for Jewish people before the Nazis, and how did antisemitism in Germany grow?); 3 (Kristallnacht and the ghettos: How does Kristallnacht show how the treatment of the Jewish community had changed?).
Read the big question aloud: "What was the Holocaust, how did it happen step by step, and who should be held responsible?"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were the Nuremberg Laws passed?  →  1935
2. The organised attacks on Jewish homes, shops and synagogues on 9 and 10 November 1938 are known as ___.  →  Kristallnacht
3. What did the Nuremberg Laws of 1935 do?  →  D   They took German citizenship away from Jewish people and shut them out of much of public life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1935. The Nuremberg Laws were passed in 1935, in the second wave of persecution, and removed German citizenship from Jewish people.
2. Kristallnacht. Kristallnacht, the Night of Broken Glass, is the name given to those two nights of organised attacks.
3. D   They took German citizenship away from Jewish people and shut them out of much of public life. The Nuremberg Laws removed citizenship from Jewish people and banned them from much of public life, so that in law they no longer belonged to their own country.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boycott: deliberately not doing something, such as not buying from a shop, to try to force a change. Example: "The Nazis organised a boycott of Jewish-owned shops in April 1933."
• citizenship: belonging to a country in law, with the rights that go with it. Example: "The Nuremberg Laws took German citizenship away from Jewish people."
• synagogue: a building where Jewish people meet to pray and to learn. Example: "Synagogues were burned down during Kristallnacht."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propaganda: information spread to make people believe something, whether or not it is true. Example: "Nazi propaganda was designed to turn Germans against their Jewish neighbours."
• turning point: a moment when things change direction and do not go back. Example: "Historians call Kristallnacht a turning point in the persecution."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Nazis took Jewish people's rights away in three waves.
2. The first wave began in April 1933 with a boycott of Jewish-owned shops.
3. Men from the SA stood outside the shops to make sure nobody went in.
4. The first antisemitic laws were passed in the same year.
5. The second wave began in 1935 with violence and the Nuremberg Laws.
6. Those laws took away Jewish people's German citizenship.
7. The third wave began in 1938 and ended in Kristallnacht.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Kristallnacht means the Night of Broken Glass.
9. On 9 and 10 November 1938 Jewish homes, shops and synagogues were attacked.
10. More than 90 Jewish people were killed in those two nights.
11. Thousands of Jewish men were arrested and sent to concentration camps.
12. By 1939 Jewish people in Germany could not go to school or drive a car.
13. Each of these steps was a decision taken by people in power.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waves of persecution, 1933-1939. Say it in your own words, then check understanding with a quick question: ask a pupil from the pre-teach group first, since they met these words and ideas before the lesson. Pupils try to recall before you re-explain.
Your lesson divides the persecution of German Jewish people into three waves, and in each wave the discrimination got worse. The first wave came in April 1933, as soon as the Nazis had power. On 1 April there was a one-day boycott of Jewish-owned shops, which means people were told not to buy from them in the hope that the owners would be driven out. Members of the SA, Hitler's private army, stood outside the shops to make sure the boycott worked. The first antisemitic laws followed in the same year.
The second wave began in 1935, with violence against Jewish people and with the Nuremberg Laws. Those laws removed German citizenship from Jewish people and banned them from much of public life. Losing citizenship is not a small thing: it meant that in law they no longer belonged to the country they had been born in, and had no rights that the state had to respect.
The third wave began in 1938 with still more violence, and ended in Kristallnacht. By 1939, Jewish people in Germany could not attend school, play sport or drive a car. Hitler's first aim had been to make life in Germany so unpleasant that Jewish people would choose to leave; thousands did, if they could find a country that would take them.
Tip: Learn the three waves by their dates: 1933 boycott and first laws; 1935 Nuremberg Laws; 1938 Kristallnacht. Then you can date any detail you are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Kristallnacht, 9-10 November 1938. Say it in your own words, then check understanding with a quick question: ask a pupil from the pre-teach group first, since they met these words and ideas before the lesson. Pupils try to recall before you re-explain.
Kristallnacht means the Night of Broken Glass, and it took place on 9 and 10 November 1938. Jewish homes, shops, schools, hospitals and synagogues were attacked by groups who supported the Nazis, led by the Nazi Party's own private army and including the Hitler Youth. The name comes from the amount of broken glass left in the streets. More than 90 Jewish people were killed, and 30,000 Jewish men were arrested and sent to concentration camps.
The Nazis said they were responding to a murder. Earlier in November, 17,000 Polish Jewish people living in Germany had been ordered out of the country and were abandoned at the Polish border. Herschel Grynszpan, a young man whose parents were among them, was so angry that on 7 November he shot a German official at the German embassy in Paris. When the official died, the Nazis used the shooting as their reason to move from a campaign of harassment to a campaign of violence.
The diary of Joseph Goebbels, Hitler's minister in charge of propaganda, shows what really happened. Writing on 9 November, he recorded that he had briefed Hitler, that Hitler decided to let the attacks go ahead, that the police were to be withdrawn, and that he himself gave the orders to the Party to attack. In other words, this was not a crowd losing control. It was organised from the top, and the police were deliberately told to stand back.
Tip: Describe Kristallnacht in two halves: what happened, and who organised it. The second half is what makes it a turning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Propaganda, fear, and the people who said nothing. Say it in your own words, then check understanding with a quick question: ask a pupil from the pre-teach group first, since they met these words and ideas before the lesson. Pupils try to recall before you re-explain.
None of this could have worked without propaganda, which means information spread to make people believe something whether or not it is true. The Nazis used posters, films and newspapers to spread the idea that Jewish people were a danger to Germany. One poster, made for a Nazi art exhibition in 1937, used a cruel caricature to suggest that Jewish people cared only about money and were loyal to a foreign power. A photograph taken in a German classroom in 1935 shows that this teaching reached children in school.
Your lesson then asks a hard question: why did ordinary German people not fight against the anti-Jewish laws? The answers it gives are fear, social pressure, propaganda, and the simple fact that objecting meant breaking the law. There is also the fact that the laws came one at a time, each one a little worse than the last, so that there was never an obvious moment to object.
Those are explanations, not excuses, and your lesson is careful about the difference. Some people did object, hid their neighbours or kept trading with Jewish shops, and they took a real risk in doing so. That is the strongest evidence that the people who said nothing were making a choice too.
Worked example — model it step by step, thinking aloud: Explain why Kristallnacht is called a turning point in the treatment of Jewish people in Germany. (1) Point: Kristallnacht was a turning point because the persecution changed from laws and harassment to open, organised violence. (2) Evidence from before: between 1933 and 1938 the Nazis mainly used boycotts and laws, such as the Nuremberg Laws of 1935, which took away citizenship but did not kill people. (3) Evidence from the night itself: Jewish homes, shops and synagogues were attacked across the country, more than 90 people were killed and 30,000 men were arrested and sent to camps. (4) Explain the link: once the state would organise violence and tell the police to stay out of the way, there was nothing left to protect Jewish people, which is why historians see Kristallnacht as pointing towards what came after. Answer: Before Kristallnacht the Nazis mainly used laws; on those two nights they organised violence and withdrew the police. That change of method is what makes it a turning point..
Tip: A turning point answer needs before and after. Show the method changing, not just the violence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Propaganda, fear, and the people who said nothing. Say it in your own words, then check understanding with a quick question: ask a pupil from the pre-teach group first, since they met these words and ideas before the lesson. Pupils try to recall before you re-explain.
None of this could have worked without propaganda, which means information spread to make people believe something whether or not it is true. The Nazis used posters, films and newspapers to spread the idea that Jewish people were a danger to Germany. One poster, made for a Nazi art exhibition in 1937, used a cruel caricature to suggest that Jewish people cared only about money and were loyal to a foreign power. A photograph taken in a German classroom in 1935 shows that this teaching reached children in school.
Your lesson then asks a hard question: why did ordinary German people not fight against the anti-Jewish laws? The answers it gives are fear, social pressure, propaganda, and the simple fact that objecting meant breaking the law. There is also the fact that the laws came one at a time, each one a little worse than the last, so that there was never an obvious moment to object.
Those are explanations, not excuses, and your lesson is careful about the difference. Some people did object, hid their neighbours or kept trading with Jewish shops, and they took a real risk in doing so. That is the strongest evidence that the people who said nothing were making a choice too.
Worked example — model it step by step, thinking aloud: Explain why Kristallnacht is called a turning point in the treatment of Jewish people in Germany. (1) Point: Kristallnacht was a turning point because the persecution changed from laws and harassment to open, organised violence. (2) Evidence from before: between 1933 and 1938 the Nazis mainly used boycotts and laws, such as the Nuremberg Laws of 1935, which took away citizenship but did not kill people. (3) Evidence from the night itself: Jewish homes, shops and synagogues were attacked across the country, more than 90 people were killed and 30,000 men were arrested and sent to camps. (4) Explain the link: once the state would organise violence and tell the police to stay out of the way, there was nothing left to protect Jewish people, which is why historians see Kristallnacht as pointing towards what came after. Answer: Before Kristallnacht the Nazis mainly used laws; on those two nights they organised violence and withdrew the police. That change of method is what makes it a turning point..
Tip: A turning point answer needs before and after. Show the method changing, not just the violence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Propaganda, fear, and the people who said nothing. Say it in your own words, then check understanding with a quick question: ask a pupil from the pre-teach group first, since they met these words and ideas before the lesson. Pupils try to recall before you re-explain.
None of this could have worked without propaganda, which means information spread to make people believe something whether or not it is true. The Nazis used posters, films and newspapers to spread the idea that Jewish people were a danger to Germany. One poster, made for a Nazi art exhibition in 1937, used a cruel caricature to suggest that Jewish people cared only about money and were loyal to a foreign power. A photograph taken in a German classroom in 1935 shows that this teaching reached children in school.
Your lesson then asks a hard question: why did ordinary German people not fight against the anti-Jewish laws? The answers it gives are fear, social pressure, propaganda, and the simple fact that objecting meant breaking the law. There is also the fact that the laws came one at a time, each one a little worse than the last, so that there was never an obvious moment to object.
Those are explanations, not excuses, and your lesson is careful about the difference. Some people did object, hid their neighbours or kept trading with Jewish shops, and they took a real risk in doing so. That is the strongest evidence that the people who said nothing were making a choice too.
Worked example — model it step by step, thinking aloud: Explain why Kristallnacht is called a turning point in the treatment of Jewish people in Germany. (1) Point: Kristallnacht was a turning point because the persecution changed from laws and harassment to open, organised violence. (2) Evidence from before: between 1933 and 1938 the Nazis mainly used boycotts and laws, such as the Nuremberg Laws of 1935, which took away citizenship but did not kill people. (3) Evidence from the night itself: Jewish homes, shops and synagogues were attacked across the country, more than 90 people were killed and 30,000 men were arrested and sent to camps. (4) Explain the link: once the state would organise violence and tell the police to stay out of the way, there was nothing left to protect Jewish people, which is why historians see Kristallnacht as pointing towards what came after. Answer: Before Kristallnacht the Nazis mainly used laws; on those two nights they organised violence and withdrew the police. That change of method is what makes it a turning point..
Tip: A turning point answer needs before and after. Show the method changing, not just the violence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steps of persecution.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steps in the persecution of German Jewish people into chronological order.
Support — work through the steps with the group: (1) Each step has its date in brackets. Read all four dates first. (2) Two of them are in 1938; look at the days and the order of events in that month. (3) The expulsion of Polish Jewish people came before Kristallnacht, and is part of why it happened. (4) Check the whole sequence: boycott, laws, expulsion, violence. Each step is worse than the last.
Parallel worked example for Support (model it, do not give the task answer): Put these in order: a club raises its membership fee (March); the club bans new members (January); the club closes its doors for good (September). January comes first, so the ban on new members.; Then March, the fee rise.; Then September, the closure.. Answer: Bans new members; raises the fee; closes for good..
Core — reveal the hint only on request: 1933, then 1935, then the two events of November 1938 in the order they happened.
Stretch — no help; when finished: Explain why historians describe this sequence as persecution getting worse in stages, and what that pattern allowed the Nazis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steps of persecution.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steps in the persecution of German Jewish people into chronological order.
Support — work through the steps with the group: (1) Each step has its date in brackets. Read all four dates first. (2) Two of them are in 1938; look at the days and the order of events in that month. (3) The expulsion of Polish Jewish people came before Kristallnacht, and is part of why it happened. (4) Check the whole sequence: boycott, laws, expulsion, violence. Each step is worse than the last.
Parallel worked example for Support (model it, do not give the task answer): Put these in order: a club raises its membership fee (March); the club bans new members (January); the club closes its doors for good (September). January comes first, so the ban on new members.; Then March, the fee rise.; Then September, the closure.. Answer: Bans new members; raises the fee; closes for good..
Core — reveal the hint only on request: 1933, then 1935, then the two events of November 1938 in the order they happened.
Stretch — no help; when finished: Explain why historians describe this sequence as persecution getting worse in stages, and what that pattern allowed the Nazis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did the treatment change?.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the treatment of Jewish people in Germany changed between 1933 and 1938. Use evidence from each of the three waves. Write one paragraph of five to seven sentences.
Support — work through the steps with the group: (1) Sentence 1: Between 1933 and 1938 the treatment of Jewish people changed from... to... (2) Sentence 2: first wave, April 1933, with one piece of evidence. (3) Sentence 3: second wave, 1935, with the Nuremberg Laws and what they did. (4) Sentences 4 and 5: third wave, November 1938, with evidence, then say why that is a turning point.
Parallel worked example for Support (model it, do not give the task answer): Explain how William the Conqueror's control of England changed between 1066 and 1086. Use evidence from each stage. Stage one: after Hastings, castles were built to hold the land by force.; Stage two: rebellions were crushed, as in the north.; Stage three: by 1086 the Domesday survey recorded everything for taxation.; Then say how the method changed, from force to administration.. Answer: Three stages, each with evidence, then a sentence on how the method of control changed..
Core — reveal the hint only on request: One wave per sentence, each with a date and a detail. Then one sentence on how the method changed.
Stretch — no help; when finished: Explain which of the three waves you think did the most lasting damage to Jewish people's safety in Germany, and give a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did the treatment change?.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the treatment of Jewish people in Germany changed between 1933 and 1938. Use evidence from each of the three waves. Write one paragraph of five to seven sentences.
Support — work through the steps with the group: (1) Sentence 1: Between 1933 and 1938 the treatment of Jewish people changed from... to... (2) Sentence 2: first wave, April 1933, with one piece of evidence. (3) Sentence 3: second wave, 1935, with the Nuremberg Laws and what they did. (4) Sentences 4 and 5: third wave, November 1938, with evidence, then say why that is a turning point.
Parallel worked example for Support (model it, do not give the task answer): Explain how William the Conqueror's control of England changed between 1066 and 1086. Use evidence from each stage. Stage one: after Hastings, castles were built to hold the land by force.; Stage two: rebellions were crushed, as in the north.; Stage three: by 1086 the Domesday survey recorded everything for taxation.; Then say how the method changed, from force to administration.. Answer: Three stages, each with evidence, then a sentence on how the method of control changed..
Core — reveal the hint only on request: One wave per sentence, each with a date and a detail. Then one sentence on how the method changed.
Stretch — no help; when finished: Explain which of the three waves you think did the most lasting damage to Jewish people's safety in Germany, and give a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During Kristallnacht the Nazi Party ordered its own supporters to attack and told the police to stay out of the way. What does this show?
Answer: A   That the attacks were organised by the Nazi Party, and not a sudden outburst by ordinary people. Orders from Goebbels after briefing Hitler, the deliberate withdrawal of the police, attacks in many places on the same two nights and mass arrests prepared in advance all point one way: this was organised by the state, and the Nazis then blamed the public for it.
Source of this question: module 3 task ("Organised, or spontaneous?")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steps of persecution. Reveal the answer; pupils mark their own work in a different colour, then read the "why" together. Same destination for every lane, so one answer serves the whole class.
Answer: A one-day boycott of Jewish-owned shops is organised, with the SA standing outside (April 1933)  (B); The Nuremberg Laws take German citizenship away from Jewish people (1935)  (A); Polish Jewish people living in Germany are ordered out and abandoned at the border (November 1938)  (D); Kristallnacht: Jewish homes, shops and synagogues are attacked across Germany (9-10 November 1938)  (C)
Why: April 1933, 1935, early November 1938, then 9-10 November 1938. The order shows persecution moving from money to law to expulsion to violence, each step making the next one easier.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did the treatment change?. Reveal the answer; pupils mark their own work in a different colour, then read the "why" together. Same destination for every lane, so one answer serves the whole class.
Answer: I describe the first wave with evidence, such as the April 1933 boycott or the first antisemitic laws.; I describe the second wave with evidence, naming the Nuremberg Laws of 1935 and what they did.; I describe the third wave with evidence from Kristallnacht in November 1938.; I explain how the method changed, not only that things got worse, using words such as whereas or by contrast.; I finish with a sentence explaining why Kristallnacht is called a turning point.
Why: A strong answer gives all three waves with dates and evidence and then names the change of method: pressure, then law, then organised violence. The best answers explain that the state's willingness to organise violence is what made Kristallnacht a turning point.
Model answer: Between 1933 and 1938 the treatment of Jewish people in Germany moved from pressure to law and then to organised violence. In the first wave, in April 1933, the Nazis organised a one-day boycott of Jewish-owned shops, with the SA standing outside to make sure people obeyed, and passed the first antisemitic laws. In the second wave, from 1935, the Nuremberg Laws removed German citizenship from Jewish people and banned them from much of public life, which meant that in law they no longer belonged to the country they had been born in. By contrast, the third wave was violent: on 9 and 10 November 1938, Jewish homes, shops, schools and synagogues were attacked across Germany, more than 90 people were killed and 30,000 Jewish men were arrested and sent to concentration camps. The method had changed from making life difficult to attacking people openly. Kristallnacht is called a turning point because the state now organised the violence itself and ordered the police to stand back, so nothing was left to protect Jewish people.
Success criteria: I describe the first wave with evidence, such as the April 1933 boycott or the first antisemitic laws.; I describe the second wave with evidence, naming the Nuremberg Laws of 1935 and what they did.; I describe the third wave with evidence from Kristallnacht in November 1938.; I explain how the method changed, not only that things got worse, using words such as whereas or by contrast.; I finish with a sentence explaining why Kristallnacht is called a turning point.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did the treatment change?. Reveal the answer; pupils mark their own work in a different colour, then read the "why" together. Same destination for every lane, so one answer serves the whole class.
Answer: I describe the first wave with evidence, such as the April 1933 boycott or the first antisemitic laws.; I describe the second wave with evidence, naming the Nuremberg Laws of 1935 and what they did.; I describe the third wave with evidence from Kristallnacht in November 1938.; I explain how the method changed, not only that things got worse, using words such as whereas or by contrast.; I finish with a sentence explaining why Kristallnacht is called a turning point.
Why: A strong answer gives all three waves with dates and evidence and then names the change of method: pressure, then law, then organised violence. The best answers explain that the state's willingness to organise violence is what made Kristallnacht a turning point.
Model answer: Between 1933 and 1938 the treatment of Jewish people in Germany moved from pressure to law and then to organised violence. In the first wave, in April 1933, the Nazis organised a one-day boycott of Jewish-owned shops, with the SA standing outside to make sure people obeyed, and passed the first antisemitic laws. In the second wave, from 1935, the Nuremberg Laws removed German citizenship from Jewish people and banned them from much of public life, which meant that in law they no longer belonged to the country they had been born in. By contrast, the third wave was violent: on 9 and 10 November 1938, Jewish homes, shops, schools and synagogues were attacked across Germany, more than 90 people were killed and 30,000 Jewish men were arrested and sent to concentration camps. The method had changed from making life difficult to attacking people openly. Kristallnacht is called a turning point because the state now organised the violence itself and ordered the police to stand back, so nothing was left to protect Jewish people.
Success criteria: I describe the first wave with evidence, such as the April 1933 boycott or the first antisemitic laws.; I describe the second wave with evidence, naming the Nuremberg Laws of 1935 and what they did.; I describe the third wave with evidence from Kristallnacht in November 1938.; I explain how the method changed, not only that things got worse, using words such as whereas or by contrast.; I finish with a sentence explaining why Kristallnacht is called a turning point.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That the attacks were organised by the Nazi Party, and not a sudden outburst by ordinary people
Why: Orders from Goebbels after briefing Hitler, the deliberate withdrawal of the police, attacks in many places on the same two nights and mass arrests prepared in advance all point one way: this was organised by the state, and the Nazis then blamed the public for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Holocaust · AQA KS3 → 8145</a:t>
            </a:r>
            <a:endParaRPr lang="en-US" sz="1800" dirty="0"/>
          </a:p>
        </p:txBody>
      </p:sp>
      <p:sp>
        <p:nvSpPr>
          <p:cNvPr id="10" name="deck-title"/>
          <p:cNvSpPr txBox="1"/>
          <p:nvPr/>
        </p:nvSpPr>
        <p:spPr>
          <a:xfrm>
            <a:off x="548640" y="219633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Persecution in three waves, and Kristallnacht</a:t>
            </a:r>
            <a:endParaRPr lang="en-US" sz="3200" dirty="0"/>
          </a:p>
        </p:txBody>
      </p:sp>
      <p:sp>
        <p:nvSpPr>
          <p:cNvPr id="11" name="lessons-card"/>
          <p:cNvSpPr/>
          <p:nvPr/>
        </p:nvSpPr>
        <p:spPr>
          <a:xfrm>
            <a:off x="548640" y="3608578"/>
            <a:ext cx="5287975" cy="1638300"/>
          </a:xfrm>
          <a:prstGeom prst="roundRect">
            <a:avLst>
              <a:gd name="adj" fmla="val 4465"/>
            </a:avLst>
          </a:prstGeom>
          <a:solidFill>
            <a:srgbClr val="F2EDE9"/>
          </a:solidFill>
          <a:ln/>
        </p:spPr>
      </p:sp>
      <p:sp>
        <p:nvSpPr>
          <p:cNvPr id="12" name="lessons"/>
          <p:cNvSpPr txBox="1"/>
          <p:nvPr/>
        </p:nvSpPr>
        <p:spPr>
          <a:xfrm>
            <a:off x="685800" y="370001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Pre-war Jewish life and early persecution (1933-1939)</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Kristallnacht and the ghettos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was the Holocaust, how did it happen step by step, and who should be held responsible?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were the Nuremberg Laws passed?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The organised attacks on Jewish homes, shops and synagogues on 9 and 10 November 1938 are known as ___.</a:t>
            </a:r>
            <a:endParaRPr lang="en-US" sz="1800" dirty="0"/>
          </a:p>
          <a:p>
            <a:pPr algn="l" indent="0" marL="0">
              <a:buNone/>
            </a:pPr>
            <a:r>
              <a:rPr lang="en-US" sz="1800" b="1" dirty="0">
                <a:solidFill>
                  <a:srgbClr val="7A4A1E"/>
                </a:solidFill>
                <a:latin typeface="Calibri" pitchFamily="34" charset="0"/>
                <a:ea typeface="Calibri" pitchFamily="34" charset="-122"/>
                <a:cs typeface="Calibri" pitchFamily="34" charset="-120"/>
              </a:rPr>
              <a:t>Word bank:  </a:t>
            </a:r>
            <a:pPr algn="l" indent="0" marL="0">
              <a:buNone/>
            </a:pPr>
            <a:r>
              <a:rPr lang="en-US" sz="1800" dirty="0">
                <a:solidFill>
                  <a:srgbClr val="1E2229"/>
                </a:solidFill>
                <a:latin typeface="Calibri" pitchFamily="34" charset="0"/>
                <a:ea typeface="Calibri" pitchFamily="34" charset="-122"/>
                <a:cs typeface="Calibri" pitchFamily="34" charset="-120"/>
              </a:rPr>
              <a:t>Kristallnacht  ·  the Final Solution  ·  the Nuremberg Laws</a:t>
            </a:r>
            <a:endParaRPr lang="en-US" sz="1800" dirty="0"/>
          </a:p>
        </p:txBody>
      </p:sp>
      <p:sp>
        <p:nvSpPr>
          <p:cNvPr id="17"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did the Nuremberg Laws of 1935 do?</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ordered every Jewish person to leave Germany within a month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put leading Nazis on trial for their crimes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set up the first ghettos in Poland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took German citizenship away from Jewish people and shut them out of much of public life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1935</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Nuremberg Laws were passed in 1935, in the second wave of persecution, and removed German citizenship from Jewish people.</a:t>
            </a:r>
            <a:endParaRPr lang="en-US" sz="1800" dirty="0"/>
          </a:p>
        </p:txBody>
      </p:sp>
      <p:sp>
        <p:nvSpPr>
          <p:cNvPr id="14"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Kristallnacht</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Kristallnacht, the Night of Broken Glass, is the name given to those two nights of organised attacks.</a:t>
            </a:r>
            <a:endParaRPr lang="en-US" sz="1800" dirty="0"/>
          </a:p>
        </p:txBody>
      </p:sp>
      <p:sp>
        <p:nvSpPr>
          <p:cNvPr id="21"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They took German citizenship away from Jewish people and shut them out of much of public life</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did the Nuremberg Laws of 1935 do?</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Nuremberg Laws removed citizenship from Jewish people and banned them from much of public life, so that in law they no longer belonged to their own country.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boycott</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deliberately not doing something, such as not buying from a shop, to try to force a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Nazis organised a boycott of Jewish-owned shops in April 1933.</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citizenship</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belonging to a country in law, with the rights that go with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Nuremberg Laws took German citizenship away from Jewish people.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synagogue</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building where Jewish people meet to pray and to learn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Synagogues were burned down during Kristallnacht.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propaganda</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information spread to make people believe something, whether or not it is true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Nazi propaganda was designed to turn Germans against their Jewish neighbours.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turning point</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moment when things change direction and do not go back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Historians call Kristallnacht a turning point in the persecution.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Nazis took Jewish people's rights away in three waves.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first wave began in April 1933 with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boycott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Jewish-owned shops.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Men from the SA stood outside the shops to make sure nobody went 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first antisemitic laws were passed in the same year.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second wave began in 1935 with violence and the Nuremberg Laws.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Those laws took away Jewish people's German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citizenship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third wave began in 1938 and ended in Kristallnacht.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Kristallnacht means the Night of Broken Glass.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9 and 10 November 1938 Jewish homes, shops and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synagogues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attacked.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More than 90 Jewish people were killed in those two nights.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Thousands of Jewish men were arrested and sent to concentration camps.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1939 Jewish people in Germany could not go to school or drive a car.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of these steps was a decision taken by people in power.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Three waves of persecution, 1933-1939</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three waves by their dates: 1933 boycott and first laws; 1935 Nuremberg Laws; 1938 Kristallnacht. Then you can date any detail you are given.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divides the persecution of German Jewish people into three waves, and in each wave the discrimination got worse.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second wave began in 1935, with violence against Jewish people and with the Nuremberg Laws.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third wave began in 1938 with still more violence, and ended in Kristallnacht.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Kristallnacht, 9-10 November 1938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Kristallnacht in two halves: what happened, and who organised it. The second half is what makes it a turning point.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Kristallnacht means the Night of Broken Glass, and it took place on 9 and 10 November 1938.</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Nazis said they were responding to a murder. Earlier in November, 17,000 Polish Jewish people living in Germany had been ordered out of the country and were abandoned at the Polish border.</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diary of Joseph Goebbels, Hitler's minister in charge of propaganda, shows what really happened.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Propaganda, fear, and the people who said nothing</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turning point answer needs before and after. Show the method changing, not just the violence happening.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None of this could have worked without propaganda, which means information spread to make people believe something whether or not it is true.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then asks a hard question: why did ordinary German people not fight against the anti-Jewish laws?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Those are explanations, not excuses, and your lesson is careful about the difference.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Propaganda, fear, and the people who said nothing</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Kristallnacht is called a turning point in the treatment of Jewish people in Germany.</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Kristallnacht was a turning point because the persecution changed from laws and harassment to open, organised violence.</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from before: between 1933 and 1938 the Nazis mainly used boycotts and laws, such as the Nuremberg Laws of 1935, which took away citizenship but did not kill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Propaganda, fear, and the people who said nothing</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Kristallnacht is called a turning point in the treatment of Jewish people in Germany.</a:t>
            </a:r>
            <a:endParaRPr lang="en-US" sz="2200" dirty="0"/>
          </a:p>
        </p:txBody>
      </p:sp>
      <p:sp>
        <p:nvSpPr>
          <p:cNvPr id="9" name="step-box"/>
          <p:cNvSpPr/>
          <p:nvPr/>
        </p:nvSpPr>
        <p:spPr>
          <a:xfrm>
            <a:off x="548640" y="2655824"/>
            <a:ext cx="5341468"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from the night itself: Jewish homes, shops and synagogues were attacked across the country, more than 90 people were killed and 30,000 men were arrested and sent to camps.</a:t>
            </a:r>
            <a:endParaRPr lang="en-US" sz="1800" dirty="0"/>
          </a:p>
        </p:txBody>
      </p:sp>
      <p:sp>
        <p:nvSpPr>
          <p:cNvPr id="13" name="arrow"/>
          <p:cNvSpPr/>
          <p:nvPr/>
        </p:nvSpPr>
        <p:spPr>
          <a:xfrm>
            <a:off x="5963260" y="3645154"/>
            <a:ext cx="274320" cy="274320"/>
          </a:xfrm>
          <a:prstGeom prst="rightArrow">
            <a:avLst/>
          </a:prstGeom>
          <a:solidFill>
            <a:srgbClr val="B8862B"/>
          </a:solidFill>
          <a:ln/>
        </p:spPr>
      </p:sp>
      <p:sp>
        <p:nvSpPr>
          <p:cNvPr id="14" name="step-box"/>
          <p:cNvSpPr/>
          <p:nvPr/>
        </p:nvSpPr>
        <p:spPr>
          <a:xfrm>
            <a:off x="6301588" y="2655824"/>
            <a:ext cx="5341468"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link: once the state would organise violence and tell the police to stay out of the way, there was nothing left to protect Jewish people, which is why historians see Kristallnacht as pointing towards what came after.</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Before Kristallnacht the Nazis mainly used laws; on those two nights they organised violence and withdrew the police. That change of method is what makes it a turning point.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steps of persecution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steps in the persecution of German Jewish people into chronological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Nuremberg Laws take German citizenship away from Jewish people (1935)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one-day boycott of Jewish-owned shops is organised, with the SA standing outside (April 1933)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Kristallnacht: Jewish homes, shops and synagogues are attacked across Germany (9-10 November 1938)</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Polish Jewish people living in Germany are ordered out and abandoned at the border (November 1938)</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The steps of persecution</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steps of persecution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step has its date in brackets. Read all four dates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them are in 1938; look at the days and the order of events in that month.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expulsion of Polish Jewish people came before Kristallnacht, and is part of why it happened.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whole sequence: boycott, laws, expulsion, violence. Each step is worse than the last.</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1933, then 1935, then the two events of November 1938 in the order they happened.</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historians describe this sequence as persecution getting worse in stages, and what that pattern allowed the Nazis to do.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did the treatment change?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how the treatment of Jewish people in Germany changed between 1933 and 1938. Use evidence from each of the three waves.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How did the treatment change?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did the treatment change?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Between 1933 and 1938 the treatment of Jewish people changed from... to...</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first wave, April 1933, with one piece of evidence.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second wave, 1935, with the Nuremberg Laws and what they did.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4 and 5: third wave, November 1938, with evidence, then say why that is a turning point.</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wave per sentence, each with a date and a detail. Then one sentence on how the method changed.</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of the three waves you think did the most lasting damage to Jewish people's safety in Germany, and give a reason for your judgement.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8000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During Kristallnacht the Nazi Party ordered its own supporters to attack and told the police to stay out of the way. What does this show?</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That the attacks were organised by the Nazi Party, and not a sudden outburst by ordinary people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That the Nazi Party had nothing to do with Kristallnacht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That the police were protecting the Jewish community that night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That Kristallnacht happened by accident</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steps of persecution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one-day boycott of Jewish-owned shops is organised, with the SA standing outside (April 1933)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Nuremberg Laws take German citizenship away from Jewish people (1935)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Polish Jewish people living in Germany are ordered out and abandoned at the border (November 1938)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Kristallnacht: Jewish homes, shops and synagogues are attacked across Germany (9-10 November 1938)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April 1933, 1935, early November 1938, then 9-10 November 1938. The order shows persecution moving from money to law to expulsion to violence, each step making the next one easier.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did the treatment change?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877011"/>
          </a:xfrm>
          <a:prstGeom prst="roundRect">
            <a:avLst>
              <a:gd name="adj" fmla="val 10426"/>
            </a:avLst>
          </a:prstGeom>
          <a:solidFill>
            <a:srgbClr val="F4F1ED"/>
          </a:solidFill>
          <a:ln/>
        </p:spPr>
      </p:sp>
      <p:sp>
        <p:nvSpPr>
          <p:cNvPr id="9" name="tickbox"/>
          <p:cNvSpPr/>
          <p:nvPr/>
        </p:nvSpPr>
        <p:spPr>
          <a:xfrm>
            <a:off x="713232" y="2276450"/>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describe the first wave with evidence, such as the April 1933 boycott or the first antisemitic laws.</a:t>
            </a:r>
            <a:endParaRPr lang="en-US" sz="2200" dirty="0"/>
          </a:p>
        </p:txBody>
      </p:sp>
      <p:sp>
        <p:nvSpPr>
          <p:cNvPr id="11" name="crit-box"/>
          <p:cNvSpPr/>
          <p:nvPr/>
        </p:nvSpPr>
        <p:spPr>
          <a:xfrm>
            <a:off x="548640" y="2952699"/>
            <a:ext cx="11094415" cy="877011"/>
          </a:xfrm>
          <a:prstGeom prst="roundRect">
            <a:avLst>
              <a:gd name="adj" fmla="val 10426"/>
            </a:avLst>
          </a:prstGeom>
          <a:solidFill>
            <a:srgbClr val="F4F1ED"/>
          </a:solidFill>
          <a:ln/>
        </p:spPr>
      </p:sp>
      <p:sp>
        <p:nvSpPr>
          <p:cNvPr id="12" name="tickbox"/>
          <p:cNvSpPr/>
          <p:nvPr/>
        </p:nvSpPr>
        <p:spPr>
          <a:xfrm>
            <a:off x="713232" y="3244901"/>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952699"/>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describe the second wave with evidence, naming the Nuremberg Laws of 1935 and what they did.</a:t>
            </a:r>
            <a:endParaRPr lang="en-US" sz="2200" dirty="0"/>
          </a:p>
        </p:txBody>
      </p:sp>
      <p:sp>
        <p:nvSpPr>
          <p:cNvPr id="14" name="crit-box"/>
          <p:cNvSpPr/>
          <p:nvPr/>
        </p:nvSpPr>
        <p:spPr>
          <a:xfrm>
            <a:off x="548640" y="3921150"/>
            <a:ext cx="11094415" cy="536143"/>
          </a:xfrm>
          <a:prstGeom prst="roundRect">
            <a:avLst>
              <a:gd name="adj" fmla="val 17055"/>
            </a:avLst>
          </a:prstGeom>
          <a:solidFill>
            <a:srgbClr val="F4F1ED"/>
          </a:solidFill>
          <a:ln/>
        </p:spPr>
      </p:sp>
      <p:sp>
        <p:nvSpPr>
          <p:cNvPr id="15" name="tickbox"/>
          <p:cNvSpPr/>
          <p:nvPr/>
        </p:nvSpPr>
        <p:spPr>
          <a:xfrm>
            <a:off x="713232" y="4042918"/>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21150"/>
            <a:ext cx="10317175" cy="5361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describe the third wave with evidence from Kristallnacht in November 1938.</a:t>
            </a:r>
            <a:endParaRPr lang="en-US" sz="2200" dirty="0"/>
          </a:p>
        </p:txBody>
      </p:sp>
      <p:sp>
        <p:nvSpPr>
          <p:cNvPr id="17" name="crit-box"/>
          <p:cNvSpPr/>
          <p:nvPr/>
        </p:nvSpPr>
        <p:spPr>
          <a:xfrm>
            <a:off x="548640" y="4548734"/>
            <a:ext cx="11094415" cy="877011"/>
          </a:xfrm>
          <a:prstGeom prst="roundRect">
            <a:avLst>
              <a:gd name="adj" fmla="val 10426"/>
            </a:avLst>
          </a:prstGeom>
          <a:solidFill>
            <a:srgbClr val="F4F1ED"/>
          </a:solidFill>
          <a:ln/>
        </p:spPr>
      </p:sp>
      <p:sp>
        <p:nvSpPr>
          <p:cNvPr id="18" name="tickbox"/>
          <p:cNvSpPr/>
          <p:nvPr/>
        </p:nvSpPr>
        <p:spPr>
          <a:xfrm>
            <a:off x="713232" y="4840935"/>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548734"/>
            <a:ext cx="10317175" cy="8770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how the method changed, not only that things got worse, using words such as whereas or by contrast.</a:t>
            </a:r>
            <a:endParaRPr lang="en-US" sz="2200" dirty="0"/>
          </a:p>
        </p:txBody>
      </p:sp>
      <p:sp>
        <p:nvSpPr>
          <p:cNvPr id="20" name="crit-box"/>
          <p:cNvSpPr/>
          <p:nvPr/>
        </p:nvSpPr>
        <p:spPr>
          <a:xfrm>
            <a:off x="548640" y="5517185"/>
            <a:ext cx="11094415" cy="536143"/>
          </a:xfrm>
          <a:prstGeom prst="roundRect">
            <a:avLst>
              <a:gd name="adj" fmla="val 17055"/>
            </a:avLst>
          </a:prstGeom>
          <a:solidFill>
            <a:srgbClr val="F4F1ED"/>
          </a:solidFill>
          <a:ln/>
        </p:spPr>
      </p:sp>
      <p:sp>
        <p:nvSpPr>
          <p:cNvPr id="21" name="tickbox"/>
          <p:cNvSpPr/>
          <p:nvPr/>
        </p:nvSpPr>
        <p:spPr>
          <a:xfrm>
            <a:off x="713232" y="5638952"/>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517185"/>
            <a:ext cx="10317175" cy="5361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finish with a sentence explaining why Kristallnacht is called a turning point.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How did the treatment change?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Between 1933 and 1938 the treatment of Jewish people in Germany moved from pressure to law and then to organised violence. In the first wave, in April 1933, the Nazis organised a one-day boycott of Jewish-owned shops, with the SA standing outside to make sure people obeyed, and passed the first antisemitic laws. In the second wave, from 1935, the Nuremberg Laws removed German citizenship from Jewish people and banned them from much of public life, which meant that in law they no longer belonged to the country they had been born in. By contrast, the third wave was violent: on 9 and 10 November 1938, Jewish homes, shops, schools and synagogues were attacked across Germany, more than 90 people were killed and 30,000 Jewish men were arrested and sent to concentration camps. The method had changed from making life difficult to attacking people openly. Kristallnacht is called a turning point because the state now organised the violence itself and ordered the police to stand back, so nothing was left to protect Jewish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During Kristallnacht the Nazi Party ordered its own supporters to attack and told the police to stay out of the way. What does this show?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That the attacks were organised by the Nazi Party, and not a sudden outburst by ordinary people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Orders from Goebbels after briefing Hitler, the deliberate withdrawal of the police, attacks in many places on the same two nights and mass arrests prepared in advance all point one way: this was organised by the state, and the Nazis then blamed the public for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Holocaust · Chapter 3: Persecution in three waves, and Kristallnacht</dc:title>
  <dc:subject>History · Year 9</dc:subject>
  <dc:creator>Dr Vitor Merissi de Carvalho</dc:creator>
  <cp:lastModifiedBy>Dr Vitor Merissi de Carvalho</cp:lastModifiedBy>
  <cp:revision>1</cp:revision>
  <dcterms:created xsi:type="dcterms:W3CDTF">2026-10-19T16:23:07Z</dcterms:created>
  <dcterms:modified xsi:type="dcterms:W3CDTF">2026-10-19T16:23:07Z</dcterms:modified>
</cp:coreProperties>
</file>