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495a7a-0575-bd3a-a2a8-a46300c2cc4c}">
          <p14:sldIdLst>
            <p14:sldId id="256"/>
          </p14:sldIdLst>
        </p14:section>
        <p14:section name="Gate" id="{a2c9e36d-c641-4b5c-de30-30041db2c552}">
          <p14:sldIdLst>
            <p14:sldId id="257"/>
            <p14:sldId id="258"/>
            <p14:sldId id="259"/>
            <p14:sldId id="260"/>
          </p14:sldIdLst>
        </p14:section>
        <p14:section name="Pre-teach" id="{c1dd8cfe-8ecd-0b67-5820-c1f31644765d}">
          <p14:sldIdLst>
            <p14:sldId id="261"/>
            <p14:sldId id="262"/>
          </p14:sldIdLst>
        </p14:section>
        <p14:section name="Read-along" id="{dac2b3a9-98d6-7c56-9a7a-f90dfeb2a0b2}">
          <p14:sldIdLst>
            <p14:sldId id="263"/>
            <p14:sldId id="264"/>
          </p14:sldIdLst>
        </p14:section>
        <p14:section name="Teach" id="{9b5ec498-6939-a3b7-c979-e05618ae001d}">
          <p14:sldIdLst>
            <p14:sldId id="265"/>
            <p14:sldId id="266"/>
            <p14:sldId id="267"/>
            <p14:sldId id="268"/>
          </p14:sldIdLst>
        </p14:section>
        <p14:section name="Routes" id="{c09687fa-b80e-5ac0-223a-c6338102971f}">
          <p14:sldIdLst>
            <p14:sldId id="269"/>
            <p14:sldId id="270"/>
            <p14:sldId id="271"/>
            <p14:sldId id="272"/>
          </p14:sldIdLst>
        </p14:section>
        <p14:section name="Close" id="{d2c01c6c-c9fb-e595-9e79-7f7e77f49d15}">
          <p14:sldIdLst>
            <p14:sldId id="273"/>
          </p14:sldIdLst>
        </p14:section>
        <p14:section name="Answers" id="{9158e8f3-725d-8e7e-28c9-88f523c4ed62}">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The ghettos: shut in, and resisting. What a ghetto was, why the Nazis built them after invading Poland, what conditions were like in Warsaw and the other ghettos, and the many ways in which people resisted.
This deck covers the department's lessons: 3 (Kristallnacht and the ghettos: How does Kristallnacht show how the treatment of the Jewish community had changed?); 4 (Progress check and the concentration camps: What was a concentration camp, and how did the purpose of the camps change?).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part of a town or city that was fenced or walled off, where Jewish people were forced to live, was called a ___.  →  ghetto
2. Why did the Nazis set up ghettos in Eastern Europe from 1939?  →  D   To separate Jewish people from everyone else and control them while the Nazis decided what to do next
3. Which of these is an example of resistance in the ghettos?  →  D   Running secret schools and newspapers, organising welfare, and taking up arms in the Warsaw Ghetto Uprising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part of a town or city that was fenced or walled off, where Jewish people were forced to live, was called a ___.  →  ghetto
2. Why did the Nazis set up ghettos in Eastern Europe from 1939?  →  D   To separate Jewish people from everyone else and control them while the Nazis decided what to do next
3. Which of these is an example of resistance in the ghettos?  →  D   Running secret schools and newspapers, organising welfare, and taking up arms in the Warsaw Ghetto Uprising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part of a town or city that was fenced or walled off, where Jewish people were forced to live, was called a ___.  →  ghetto
2. Why did the Nazis set up ghettos in Eastern Europe from 1939?  →  D   To separate Jewish people from everyone else and control them while the Nazis decided what to do next
3. Which of these is an example of resistance in the ghettos?  →  D   Running secret schools and newspapers, organising welfare, and taking up arms in the Warsaw Ghetto Uprising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ghetto. A ghetto was a segregated, fenced-off district where Jewish people were forced to live, apart from everyone else.
2. D   To separate Jewish people from everyone else and control them while the Nazis decided what to do next. Ghettos segregated and controlled a very large Jewish population that the Nazis had brought under their rule, and your lesson calls them a temporary measure: a stage, not an end.
3. D   Running secret schools and newspapers, organising welfare, and taking up arms in the Warsaw Ghetto Uprising. Resistance in the ghettos ran from armed uprising to the everyday work of schools, newspapers, prayer and welfare. All of it refused what the Nazis intended.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ghetto: a part of a town or city, fenced or walled off, where Jewish people were forced to live. Example: "The largest ghetto in Europe was in Warsaw, in Poland."
• segregated: kept apart from everyone else, by force. Example: "Jewish people were segregated from the rest of the city behind a wall."
• starvation: suffering or dying because there is not enough food. Example: "Many people in the ghettos died of starvation and disease."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forced labour: work people are made to do, for no pay and with no choice. Example: "Everyone aged ten and over could be made to do forced labour."
• resistance: refusing to accept control, either openly or in quieter everyday ways. Example: "Resistance in the ghettos included secret schools and an armed uprising."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ghetto was a part of a town or city that was fenced or walled off.
2. Jewish people were forced to live inside it and could not leave.
3. Germany invaded Poland in September 1939 and the first ghettos were set up.
4. Eastern Europe had very large Jewish communities.
5. The Nazis crowded those families into small districts of towns and cities.
6. Historians think over 1,000 ghettos were set up by 1945.
7. Each ghetto held families who had been taken from their own homes.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There was very little food, no heating and no medicine.
9. Seven to nine people often had to share one room.
10. Disease spread quickly and many people died of hunger.
11. Yet people found ways to resist inside the ghettos.
12. They ran secret schools, newspapers and prayer services.
13. In Warsaw they rose up and fought the German army.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a ghetto was, and why the Nazis built them. Say it in your own words, then check understanding with a quick question: ask a pupil from the pre-teach group first, since they met these words and ideas before the lesson. Pupils try to recall before you re-explain.
A ghetto is a part of a town or city occupied by one group of people. Your lesson's definition is sharper than that: in Nazi Europe, a ghetto was a district that was segregated and fenced off, where Jewish people were forced to live, separated from everybody else. The first ghetto was established in Eastern Europe in 1939, and historians estimate that over 1,000 ghettos were set up between 1939 and 1945.
The reason they appeared in 1939 is the war. Germany invaded Poland in September 1939, which began the Second World War, and Eastern Europe had a very large Jewish population. After Poland was conquered, around three million Polish Jewish people came under Nazi control. The Nazis wanted the land they had taken to be free of Jewish influence, and there were far more Jewish people there than their earlier policy of making life unpleasant could ever drive out. The Nazis called this the Jewish Problem, a phrase they invented: the problem was their own hatred, not the people.
Ghettos were their answer, and the Nazis themselves described them as a temporary measure. That word matters. Reinhard Heydrich, one of the most senior men in the SS, wrote that gathering Jewish people together was only the first step towards what he called the final goal. The ghettos were never meant to last, which tells you that something else was already being planned.
Tip: If a question asks why the ghettos were built, give both halves: to segregate and control people, and as a stage on the way to something the Nazis had not yet announced.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Life in the ghettos. Say it in your own words, then check understanding with a quick question: ask a pupil from the pre-teach group first, since they met these words and ideas before the lesson. Pupils try to recall before you re-explain.
The ghettos you study are Warsaw, Lodz, Kovno and Riga. The largest was the Warsaw ghetto, where between 400,000 and 500,000 Jewish people were held behind walls built to cut the district off from the rest of the city. Families arrived having had to abandon most of what they owned, and had to find shelter wherever they could, often sharing a room with other families.
Conditions were made deliberately unbearable. Food was limited to around 300 calories a day, when a person needs 2,000 to 2,500. There was no heating. Seven to nine people often shared a single room. Everyone aged ten and over could be forced into heavy labour, often in factories making goods for the German war effort. Nobody outside could talk to Jewish people, help them or sell them anything, and anyone who left the ghetto could be executed. Disease spread quickly. In the Warsaw ghetto alone an estimated 100,000 Jewish people died of starvation and disease between 1940 and 1942, and across all the ghettos the estimate in your lesson is that 500,000 Jewish people died.
We know this in such detail because people inside the ghettos made sure we would. Emanuel Ringelblum organised a secret archive in the Warsaw ghetto, collecting letters, diaries, photographs and records so that what was happening could not be denied later. Kovno, in Lithuania, opened in the summer of 1941 and was later turned into a concentration camp. Reading these records is how historians know the names of families who would otherwise have vanished.
Tip: Separate living conditions (space, heating, food, disease) from treatment (forced labour, the ban on contact, execution for leaving). Strong answers cover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in the ghettos. Say it in your own words, then check understanding with a quick question: ask a pupil from the pre-teach group first, since they met these words and ideas before the lesson. Pupils try to recall before you re-explain.
Your lesson insists on this chapter of the story, and so should your answers. People in the ghettos resisted. Mordecai Anielewicz was a leader of the Warsaw Ghetto Uprising, when fighters in the ghetto took on the German army with very few weapons. Tosia Altman organised armed resistance in ghettos across German-occupied Poland. Herbert Baum led a resistance group in Berlin.
Open, armed resistance was rare, because it was almost impossible: the ghettos had no weapons, no food and no way out. That is why the quieter resistance mattered so much. People ran schools in secret when education was forbidden, held prayer services, wrote and passed round newspapers, organised welfare and shared food so that orphans and the sick were not abandoned, and kept records like Ringelblum's archive.
None of this stopped the Nazis, and your answers should not pretend otherwise. What it did was refuse the Nazis the thing they most wanted: people who had given up being people. A secret school in a sealed ghetto is a statement that there will be a future, made by people with every reason to believe there would not be.
Worked example — model it step by step, thinking aloud: Explain why a secret school in a ghetto counts as resistance. (1) Point: running a secret school was resistance because it broke a Nazi rule on purpose. (2) Evidence: Jewish children had been banned from education, and in the ghettos teaching was forbidden, so every lesson was against the law. (3) Explain: the Nazis wanted Jewish people cut off, hopeless and useful only as labour, and a school did the opposite by preparing children for a future. (4) Judge: it did not free anyone or end the ghetto, so it was not resistance in the military sense, but historians count it as resistance because it refused the Nazis' aim. Answer: Because teaching was forbidden, so holding a school was a deliberate refusal to obey, and because education assumed a future that the Nazis intended to take away..
Tip: Two kinds of resistance: armed and everyday. Name one example of each, then explain what the Nazis wanted and how the act refused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in the ghettos. Say it in your own words, then check understanding with a quick question: ask a pupil from the pre-teach group first, since they met these words and ideas before the lesson. Pupils try to recall before you re-explain.
Your lesson insists on this chapter of the story, and so should your answers. People in the ghettos resisted. Mordecai Anielewicz was a leader of the Warsaw Ghetto Uprising, when fighters in the ghetto took on the German army with very few weapons. Tosia Altman organised armed resistance in ghettos across German-occupied Poland. Herbert Baum led a resistance group in Berlin.
Open, armed resistance was rare, because it was almost impossible: the ghettos had no weapons, no food and no way out. That is why the quieter resistance mattered so much. People ran schools in secret when education was forbidden, held prayer services, wrote and passed round newspapers, organised welfare and shared food so that orphans and the sick were not abandoned, and kept records like Ringelblum's archive.
None of this stopped the Nazis, and your answers should not pretend otherwise. What it did was refuse the Nazis the thing they most wanted: people who had given up being people. A secret school in a sealed ghetto is a statement that there will be a future, made by people with every reason to believe there would not be.
Worked example — model it step by step, thinking aloud: Explain why a secret school in a ghetto counts as resistance. (1) Point: running a secret school was resistance because it broke a Nazi rule on purpose. (2) Evidence: Jewish children had been banned from education, and in the ghettos teaching was forbidden, so every lesson was against the law. (3) Explain: the Nazis wanted Jewish people cut off, hopeless and useful only as labour, and a school did the opposite by preparing children for a future. (4) Judge: it did not free anyone or end the ghetto, so it was not resistance in the military sense, but historians count it as resistance because it refused the Nazis' aim. Answer: Because teaching was forbidden, so holding a school was a deliberate refusal to obey, and because education assumed a future that the Nazis intended to take away..
Tip: Two kinds of resistance: armed and everyday. Name one example of each, then explain what the Nazis wanted and how the act refused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Ghettos and the people who recorded them.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place or person to the right description.
Support — work through the steps with the group: (1) Sort the five into two groups first: two are places, three are people. (2) Of the two places, one is the largest ghetto of all and one is in Lithuania. (3) Of the three people, one collected records rather than fighting. (4) That leaves two who organised armed resistance: one is tied to the Warsaw uprising by name.
Parallel worked example for Support (model it, do not give the task answer): Match: Jarrow, Ellen Wilkinson. Choices: the town the 1936 hunger march set out from; the Member of Parliament who marched with it. One is a place and one is a person.; Jarrow is the town; Ellen Wilkinson is the MP who marched.. Answer: Jarrow: the town the march set out from. Ellen Wilkinson: the MP who marched with it..
Core — reveal the hint only on request: Places first, then people. One of the people kept records rather than fighting.
Stretch — no help; when finished: Explain why Ringelblum's archive is so valuable to historians, and what it tells you about why he and his helpers took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Ghettos and the people who recorded them.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place or person to the right description.
Support — work through the steps with the group: (1) Sort the five into two groups first: two are places, three are people. (2) Of the two places, one is the largest ghetto of all and one is in Lithuania. (3) Of the three people, one collected records rather than fighting. (4) That leaves two who organised armed resistance: one is tied to the Warsaw uprising by name.
Parallel worked example for Support (model it, do not give the task answer): Match: Jarrow, Ellen Wilkinson. Choices: the town the 1936 hunger march set out from; the Member of Parliament who marched with it. One is a place and one is a person.; Jarrow is the town; Ellen Wilkinson is the MP who marched.. Answer: Jarrow: the town the march set out from. Ellen Wilkinson: the MP who marched with it..
Core — reveal the hint only on request: Places first, then people. One of the people kept records rather than fighting.
Stretch — no help; when finished: Explain why Ringelblum's archive is so valuable to historians, and what it tells you about why he and his helpers took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so many people die in the ghettos?.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what conditions in the ghettos were like and why so many people died there. Use evidence from the chapter. Write one paragraph of five to seven sentences.
Support — work through the steps with the group: (1) Sentence 1: Conditions in the ghettos were created on purpose and were impossible to survive. (2) Sentences 2 to 4: pick three features (space, food, heating and medicine) and after each one write so or because to link it to deaths. (3) Sentence 5: add forced labour and what it did to people already weak. (4) Last sentence: say who decided the rations and the walls, so the reader knows the deaths were chosen.
Parallel worked example for Support (model it, do not give the task answer): Explain what conditions were like in a Victorian slum and why disease spread so fast there. Feature: families crowded into single rooms, so illness passed quickly between them.; Feature: no clean water supply, so cholera spread through the pumps.; Feature: no drains, so waste stayed in the courts and yards.; Link each one to illness with so or because.. Answer: Overcrowding, dirty water and no drainage, each linked to how disease spread..
Core — reveal the hint only on request: Three features, each followed by so or because. Then forced labour, then who made the decisions.
Stretch — no help; when finished: Explain why a historian would say that the deaths in the ghettos were caused by policy rather than by the war, and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so many people die in the ghettos?.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what conditions in the ghettos were like and why so many people died there. Use evidence from the chapter. Write one paragraph of five to seven sentences.
Support — work through the steps with the group: (1) Sentence 1: Conditions in the ghettos were created on purpose and were impossible to survive. (2) Sentences 2 to 4: pick three features (space, food, heating and medicine) and after each one write so or because to link it to deaths. (3) Sentence 5: add forced labour and what it did to people already weak. (4) Last sentence: say who decided the rations and the walls, so the reader knows the deaths were chosen.
Parallel worked example for Support (model it, do not give the task answer): Explain what conditions were like in a Victorian slum and why disease spread so fast there. Feature: families crowded into single rooms, so illness passed quickly between them.; Feature: no clean water supply, so cholera spread through the pumps.; Feature: no drains, so waste stayed in the courts and yards.; Link each one to illness with so or because.. Answer: Overcrowding, dirty water and no drainage, each linked to how disease spread..
Core — reveal the hint only on request: Three features, each followed by so or because. Then forced labour, then who made the decisions.
Stretch — no help; when finished: Explain why a historian would say that the deaths in the ghettos were caused by policy rather than by the war, and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part of a town or city that was fenced or walled off, where Jewish people were forced to live, was called a ___.
Answer: A part of a town or city that was fenced or walled off, where Jewish people were forced to live, was called a ghetto.. A ghetto was a segregated, fenced-off district where Jewish people were forced to live, apart from everyone else.
Source of this question: gate item 1 re-asked (options rotated) — this chapter has no third quick-check module.
The ebook also holds task 3, "A temporary measure",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Ghettos and the people who recorded them. Reveal the answer; pupils mark their own work in a different colour, then read the "why" together. Same destination for every lane, so one answer serves the whole class.
Answer: Warsaw ghetto  →  B  The largest ghetto, walled off from the rest of the city; Kovno ghetto  →  E  A ghetto in Lithuania that opened in 1941 and was later turned into a concentration camp; Emanuel Ringelblum  →  C  Organised a secret archive that recorded life in the Warsaw ghetto; Mordecai Anielewicz  →  A  A leader of the Warsaw Ghetto Uprising; Tosia Altman  →  D  Organised armed resistance in ghettos across German-occupied Poland
Why: Warsaw was the largest ghetto; Kovno was in Lithuania and became a camp; Ringelblum built the secret archive; Anielewicz led the Warsaw uprising; Altman organised armed resistance across occupied Poland.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so many people die in the ghettos?. Reveal the answer; pupils mark their own work in a different colour, then read the "why" together. Same destination for every lane, so one answer serves the whole class.
Answer: I describe at least three features of the conditions: food, space, heating, medicine, forced labour.; I explain how each feature led to deaths, using so or because.; I use at least one figure from the chapter correctly, such as the ration of 300 calories a day.; I make clear that the conditions were created on purpose by the Nazis, not simply the result of the war.; I write about the people in the ghettos as people, with families, and not only as numbers.
Why: Overcrowding, a starvation ration, no heating or medicine, a ban on outside help and heavy forced labour together made the ghettos deadly. The strongest answers name the Nazis' decisions behind each of those conditions.
Model answer: Conditions in the ghettos were created on purpose and were impossible to survive for long. Families arrived having lost almost everything they owned, and seven to nine people often had to share a single room, so any illness passed straight through a household. Food was limited to about 300 calories a day, when a person needs 2,000 to 2,500, so people were weakened by hunger before disease reached them. There was no heating and almost no medicine, and nobody outside the ghetto was allowed to sell anything to the people inside, so there was no way to make up what was missing. Everyone aged ten and over could be forced into heavy labour, which took the last of people's strength. For all these reasons very large numbers died of starvation and disease, and the deaths were the result of decisions the Nazis made about rations, walls and work.
Success criteria: I describe at least three features of the conditions: food, space, heating, medicine, forced labour.; I explain how each feature led to deaths, using so or because.; I use at least one figure from the chapter correctly, such as the ration of 300 calories a day.; I make clear that the conditions were created on purpose by the Nazis, not simply the result of the war.; I write about the people in the ghettos as people, with families, and not only as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so many people die in the ghettos?. Reveal the answer; pupils mark their own work in a different colour, then read the "why" together. Same destination for every lane, so one answer serves the whole class.
Answer: I describe at least three features of the conditions: food, space, heating, medicine, forced labour.; I explain how each feature led to deaths, using so or because.; I use at least one figure from the chapter correctly, such as the ration of 300 calories a day.; I make clear that the conditions were created on purpose by the Nazis, not simply the result of the war.; I write about the people in the ghettos as people, with families, and not only as numbers.
Why: Overcrowding, a starvation ration, no heating or medicine, a ban on outside help and heavy forced labour together made the ghettos deadly. The strongest answers name the Nazis' decisions behind each of those conditions.
Model answer: Conditions in the ghettos were created on purpose and were impossible to survive for long. Families arrived having lost almost everything they owned, and seven to nine people often had to share a single room, so any illness passed straight through a household. Food was limited to about 300 calories a day, when a person needs 2,000 to 2,500, so people were weakened by hunger before disease reached them. There was no heating and almost no medicine, and nobody outside the ghetto was allowed to sell anything to the people inside, so there was no way to make up what was missing. Everyone aged ten and over could be forced into heavy labour, which took the last of people's strength. For all these reasons very large numbers died of starvation and disease, and the deaths were the result of decisions the Nazis made about rations, walls and work.
Success criteria: I describe at least three features of the conditions: food, space, heating, medicine, forced labour.; I explain how each feature led to deaths, using so or because.; I use at least one figure from the chapter correctly, such as the ration of 300 calories a day.; I make clear that the conditions were created on purpose by the Nazis, not simply the result of the war.; I write about the people in the ghettos as people, with families, and not only as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part of a town or city that was fenced or walled off, where Jewish people were forced to live, was called a ghetto.
Why: A ghetto was a segregated, fenced-off district where Jewish people were forced to live, apart from everyone else.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ghettos: shut in, and resisting</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2EDE9"/>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Kristallnacht and the ghettos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the concentration camps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part of a town or city that was fenced or walled off, where Jewish people were forced to live, was called a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ghetto  ·  camp  ·  synagogue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the Nazis set up ghettos in Eastern Europe from 1939?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Jewish families had asked to live apart from their neighbours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give Jewish communities towns of their own to govern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keep Jewish people safe from the fighting of the war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separate Jewish people from everyone else and control them while the Nazis decided what to do next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(3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an example of resistance in the ghettos?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Waiting quietly until the Nazis changed their minds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Reporting a neighbour to the guards at the gate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Agreeing to work longer hours in the ghetto factories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Running secret schools and newspapers, organising welfare, and taking up arms in the Warsaw Ghetto Uprising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ghetto</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part of a town or city that was fenced or walled off, where Jewish people were forced to live, was called a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ghetto was a segregated, fenced-off district where Jewish people were forced to live, apart from everyone else.</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2318512"/>
          </a:xfrm>
          <a:prstGeom prst="roundRect">
            <a:avLst>
              <a:gd name="adj" fmla="val 4733"/>
            </a:avLst>
          </a:prstGeom>
          <a:solidFill>
            <a:srgbClr val="EDE1CA"/>
          </a:solidFill>
          <a:ln w="19050">
            <a:solidFill>
              <a:srgbClr val="B8862B"/>
            </a:solidFill>
            <a:prstDash val="solid"/>
          </a:ln>
        </p:spPr>
      </p:sp>
      <p:sp>
        <p:nvSpPr>
          <p:cNvPr id="19" name="answer"/>
          <p:cNvSpPr txBox="1"/>
          <p:nvPr/>
        </p:nvSpPr>
        <p:spPr>
          <a:xfrm>
            <a:off x="4612538"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To separate Jewish people from everyone else and control them while the Nazis decided what to do next</a:t>
            </a:r>
            <a:endParaRPr lang="en-US" sz="2200" dirty="0"/>
          </a:p>
        </p:txBody>
      </p:sp>
      <p:sp>
        <p:nvSpPr>
          <p:cNvPr id="20" name="card-body"/>
          <p:cNvSpPr txBox="1"/>
          <p:nvPr/>
        </p:nvSpPr>
        <p:spPr>
          <a:xfrm>
            <a:off x="4521098"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Ghettos segregated and controlled a very large Jewish population that the Nazis…</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659380"/>
          </a:xfrm>
          <a:prstGeom prst="roundRect">
            <a:avLst>
              <a:gd name="adj" fmla="val 4126"/>
            </a:avLst>
          </a:prstGeom>
          <a:solidFill>
            <a:srgbClr val="EDE1CA"/>
          </a:solidFill>
          <a:ln w="19050">
            <a:solidFill>
              <a:srgbClr val="B8862B"/>
            </a:solidFill>
            <a:prstDash val="solid"/>
          </a:ln>
        </p:spPr>
      </p:sp>
      <p:sp>
        <p:nvSpPr>
          <p:cNvPr id="26" name="answer"/>
          <p:cNvSpPr txBox="1"/>
          <p:nvPr/>
        </p:nvSpPr>
        <p:spPr>
          <a:xfrm>
            <a:off x="8402117" y="2428829"/>
            <a:ext cx="2966618" cy="251307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Running secret schools and newspapers, organising welfare, and taking up arms in the Warsaw Ghetto Uprising</a:t>
            </a:r>
            <a:endParaRPr lang="en-US" sz="2200" dirty="0"/>
          </a:p>
        </p:txBody>
      </p:sp>
      <p:sp>
        <p:nvSpPr>
          <p:cNvPr id="27" name="card-body"/>
          <p:cNvSpPr txBox="1"/>
          <p:nvPr/>
        </p:nvSpPr>
        <p:spPr>
          <a:xfrm>
            <a:off x="8310677" y="5197937"/>
            <a:ext cx="3149498" cy="80967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Resistance in the ghettos ran from armed uprising to the…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ghetto</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part of a town or city, fenced or walled off, where Jewish people were forced to live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largest ghetto in Europe was in Warsaw, in Poland.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segregated</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kept apart from everyone else, by force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Jewish people were segregated from the rest of the city behind a wall.</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starvation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suffering or dying because there is not enough food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people in the ghettos died of starvation and disease.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forced labour</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work people are made to do, for no pay and with no choice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Everyone aged ten and over could be made to do forced labour.</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resistance</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refusing to accept control, either openly or in quieter everyday ways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Resistance in the ghettos included secret schools and an armed uprising.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ghetto</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was a part of a town or city that was fenced or walled off.</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Jewish people were forced to live inside it and could not leave.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Germany invaded Poland in September 1939 and the first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ghettos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set up.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Eastern Europe had very large Jewish communities.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Nazis crowded those families into small districts of towns and cities.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Historians think over 1,000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ghettos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set up by 1945.</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Each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ghetto</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held families who had been taken from their own homes.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was very little food, no heating and no medicine.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Seven to nine people often had to share one room.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Disease spread quickly and many people died of hunger.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Yet people found ways to resist inside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ghettos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ran secret schools, newspapers and prayer services.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Warsaw they rose up and fought the German army.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What a ghetto was, and why the Nazis built them</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why the ghettos were built, give both halves: to segregate and control people, and as a stage on the way to something the Nazis had not yet announced.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ghetto is a part of a town or city occupied by one group of people.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reason they appeared in 1939 is the war. Germany invaded Poland in September 1939, which began the Second World War, and Eastern Europe had a very large Jewish population.</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Ghettos were their answer, and the Nazis themselves described them as a temporary measure.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Life in the ghettos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Separate living conditions (space, heating, food, disease) from treatment (forced labour, the ban on contact, execution for leaving). Strong answers cover both.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ghettos you study are Warsaw, Lodz, Kovno and Riga.</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Conditions were made deliberately unbearable. Food was limited to around 300 calories a day, when a person needs 2,000 to 2,500.</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We know this in such detail because people inside the ghettos made sure we would.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Resistance in the ghettos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kinds of resistance: armed and everyday. Name one example of each, then explain what the Nazis wanted and how the act refused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insists on this chapter of the story, and so should your answers.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Open, armed resistance was rare, because it was almost impossible: the ghettos had no weapons, no food and no way out.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None of this stopped the Nazis, and your answers should not pretend otherwise.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Resistance in the ghettos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why a secret school in a ghetto counts as resistance.</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running a secret school was resistance because it broke a Nazi rule on purpose.</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Jewish children had been banned from education, and in the ghettos teaching was forbidden, so every lesson was against the law.</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Nazis wanted Jewish people cut off, hopeless and useful only as labour, and a school did the opposite by preparing children for a future.</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it did not free anyone or end the ghetto, so it was not resistance in the military sense, but historians count it as resistance because it refused the Nazis' aim.</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Because teaching was forbidden, so holding a school was a deliberate refusal to obey, and because education assumed a future that the Nazis intended to take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Ghettos and the people who recorded them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place or person to the right description.</a:t>
            </a:r>
            <a:endParaRPr lang="en-US" sz="2400" dirty="0"/>
          </a:p>
        </p:txBody>
      </p:sp>
      <p:sp>
        <p:nvSpPr>
          <p:cNvPr id="11" name="match-card"/>
          <p:cNvSpPr/>
          <p:nvPr/>
        </p:nvSpPr>
        <p:spPr>
          <a:xfrm>
            <a:off x="777240" y="2468331"/>
            <a:ext cx="3081437" cy="534526"/>
          </a:xfrm>
          <a:prstGeom prst="roundRect">
            <a:avLst>
              <a:gd name="adj" fmla="val 13685"/>
            </a:avLst>
          </a:prstGeom>
          <a:solidFill>
            <a:srgbClr val="F4F1ED"/>
          </a:solidFill>
          <a:ln/>
        </p:spPr>
      </p:sp>
      <p:sp>
        <p:nvSpPr>
          <p:cNvPr id="12" name="match-hex"/>
          <p:cNvSpPr/>
          <p:nvPr/>
        </p:nvSpPr>
        <p:spPr>
          <a:xfrm>
            <a:off x="850392" y="2569301"/>
            <a:ext cx="384048" cy="332586"/>
          </a:xfrm>
          <a:prstGeom prst="hexagon">
            <a:avLst/>
          </a:prstGeom>
          <a:solidFill>
            <a:srgbClr val="7A4A1E"/>
          </a:solidFill>
          <a:ln/>
        </p:spPr>
      </p:sp>
      <p:sp>
        <p:nvSpPr>
          <p:cNvPr id="13" name="match-hex-label"/>
          <p:cNvSpPr txBox="1"/>
          <p:nvPr/>
        </p:nvSpPr>
        <p:spPr>
          <a:xfrm>
            <a:off x="850392"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Warsaw ghetto</a:t>
            </a:r>
            <a:endParaRPr lang="en-US" sz="1800" dirty="0"/>
          </a:p>
        </p:txBody>
      </p:sp>
      <p:sp>
        <p:nvSpPr>
          <p:cNvPr id="15" name="match-card"/>
          <p:cNvSpPr/>
          <p:nvPr/>
        </p:nvSpPr>
        <p:spPr>
          <a:xfrm>
            <a:off x="4224437" y="2468331"/>
            <a:ext cx="7190019" cy="534526"/>
          </a:xfrm>
          <a:prstGeom prst="roundRect">
            <a:avLst>
              <a:gd name="adj" fmla="val 13685"/>
            </a:avLst>
          </a:prstGeom>
          <a:solidFill>
            <a:srgbClr val="F6F0E6"/>
          </a:solidFill>
          <a:ln/>
        </p:spPr>
      </p:sp>
      <p:sp>
        <p:nvSpPr>
          <p:cNvPr id="16" name="match-hex"/>
          <p:cNvSpPr/>
          <p:nvPr/>
        </p:nvSpPr>
        <p:spPr>
          <a:xfrm>
            <a:off x="4297589" y="2569301"/>
            <a:ext cx="384048" cy="332586"/>
          </a:xfrm>
          <a:prstGeom prst="hexagon">
            <a:avLst/>
          </a:prstGeom>
          <a:solidFill>
            <a:srgbClr val="B8862B"/>
          </a:solidFill>
          <a:ln/>
        </p:spPr>
      </p:sp>
      <p:sp>
        <p:nvSpPr>
          <p:cNvPr id="17" name="match-hex-label"/>
          <p:cNvSpPr txBox="1"/>
          <p:nvPr/>
        </p:nvSpPr>
        <p:spPr>
          <a:xfrm>
            <a:off x="4297589"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leader of the Warsaw Ghetto Uprising</a:t>
            </a:r>
            <a:endParaRPr lang="en-US" sz="1800" dirty="0"/>
          </a:p>
        </p:txBody>
      </p:sp>
      <p:sp>
        <p:nvSpPr>
          <p:cNvPr id="19" name="match-card"/>
          <p:cNvSpPr/>
          <p:nvPr/>
        </p:nvSpPr>
        <p:spPr>
          <a:xfrm>
            <a:off x="777240" y="3094297"/>
            <a:ext cx="3081437" cy="534526"/>
          </a:xfrm>
          <a:prstGeom prst="roundRect">
            <a:avLst>
              <a:gd name="adj" fmla="val 13685"/>
            </a:avLst>
          </a:prstGeom>
          <a:solidFill>
            <a:srgbClr val="F4F1ED"/>
          </a:solidFill>
          <a:ln/>
        </p:spPr>
      </p:sp>
      <p:sp>
        <p:nvSpPr>
          <p:cNvPr id="20" name="match-hex"/>
          <p:cNvSpPr/>
          <p:nvPr/>
        </p:nvSpPr>
        <p:spPr>
          <a:xfrm>
            <a:off x="850392" y="3195267"/>
            <a:ext cx="384048" cy="332586"/>
          </a:xfrm>
          <a:prstGeom prst="hexagon">
            <a:avLst/>
          </a:prstGeom>
          <a:solidFill>
            <a:srgbClr val="7A4A1E"/>
          </a:solidFill>
          <a:ln/>
        </p:spPr>
      </p:sp>
      <p:sp>
        <p:nvSpPr>
          <p:cNvPr id="21" name="match-hex-label"/>
          <p:cNvSpPr txBox="1"/>
          <p:nvPr/>
        </p:nvSpPr>
        <p:spPr>
          <a:xfrm>
            <a:off x="850392" y="3195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94297"/>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Kovno ghetto</a:t>
            </a:r>
            <a:endParaRPr lang="en-US" sz="1800" dirty="0"/>
          </a:p>
        </p:txBody>
      </p:sp>
      <p:sp>
        <p:nvSpPr>
          <p:cNvPr id="23" name="match-card"/>
          <p:cNvSpPr/>
          <p:nvPr/>
        </p:nvSpPr>
        <p:spPr>
          <a:xfrm>
            <a:off x="4224437" y="3094297"/>
            <a:ext cx="7190019" cy="534526"/>
          </a:xfrm>
          <a:prstGeom prst="roundRect">
            <a:avLst>
              <a:gd name="adj" fmla="val 13685"/>
            </a:avLst>
          </a:prstGeom>
          <a:solidFill>
            <a:srgbClr val="F6F0E6"/>
          </a:solidFill>
          <a:ln/>
        </p:spPr>
      </p:sp>
      <p:sp>
        <p:nvSpPr>
          <p:cNvPr id="24" name="match-hex"/>
          <p:cNvSpPr/>
          <p:nvPr/>
        </p:nvSpPr>
        <p:spPr>
          <a:xfrm>
            <a:off x="4297589" y="3195267"/>
            <a:ext cx="384048" cy="332586"/>
          </a:xfrm>
          <a:prstGeom prst="hexagon">
            <a:avLst/>
          </a:prstGeom>
          <a:solidFill>
            <a:srgbClr val="B8862B"/>
          </a:solidFill>
          <a:ln/>
        </p:spPr>
      </p:sp>
      <p:sp>
        <p:nvSpPr>
          <p:cNvPr id="25" name="match-hex-label"/>
          <p:cNvSpPr txBox="1"/>
          <p:nvPr/>
        </p:nvSpPr>
        <p:spPr>
          <a:xfrm>
            <a:off x="4297589" y="3195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94297"/>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largest ghetto, walled off from the rest of the city</a:t>
            </a:r>
            <a:endParaRPr lang="en-US" sz="1800" dirty="0"/>
          </a:p>
        </p:txBody>
      </p:sp>
      <p:sp>
        <p:nvSpPr>
          <p:cNvPr id="27" name="match-card"/>
          <p:cNvSpPr/>
          <p:nvPr/>
        </p:nvSpPr>
        <p:spPr>
          <a:xfrm>
            <a:off x="777240" y="3720263"/>
            <a:ext cx="3081437" cy="534526"/>
          </a:xfrm>
          <a:prstGeom prst="roundRect">
            <a:avLst>
              <a:gd name="adj" fmla="val 13685"/>
            </a:avLst>
          </a:prstGeom>
          <a:solidFill>
            <a:srgbClr val="F4F1ED"/>
          </a:solidFill>
          <a:ln/>
        </p:spPr>
      </p:sp>
      <p:sp>
        <p:nvSpPr>
          <p:cNvPr id="28" name="match-hex"/>
          <p:cNvSpPr/>
          <p:nvPr/>
        </p:nvSpPr>
        <p:spPr>
          <a:xfrm>
            <a:off x="850392" y="3821233"/>
            <a:ext cx="384048" cy="332586"/>
          </a:xfrm>
          <a:prstGeom prst="hexagon">
            <a:avLst/>
          </a:prstGeom>
          <a:solidFill>
            <a:srgbClr val="7A4A1E"/>
          </a:solidFill>
          <a:ln/>
        </p:spPr>
      </p:sp>
      <p:sp>
        <p:nvSpPr>
          <p:cNvPr id="29" name="match-hex-label"/>
          <p:cNvSpPr txBox="1"/>
          <p:nvPr/>
        </p:nvSpPr>
        <p:spPr>
          <a:xfrm>
            <a:off x="850392" y="38212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20263"/>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Emanuel Ringelblum</a:t>
            </a:r>
            <a:endParaRPr lang="en-US" sz="1800" dirty="0"/>
          </a:p>
        </p:txBody>
      </p:sp>
      <p:sp>
        <p:nvSpPr>
          <p:cNvPr id="31" name="match-card"/>
          <p:cNvSpPr/>
          <p:nvPr/>
        </p:nvSpPr>
        <p:spPr>
          <a:xfrm>
            <a:off x="4224437" y="3720263"/>
            <a:ext cx="7190019" cy="534526"/>
          </a:xfrm>
          <a:prstGeom prst="roundRect">
            <a:avLst>
              <a:gd name="adj" fmla="val 13685"/>
            </a:avLst>
          </a:prstGeom>
          <a:solidFill>
            <a:srgbClr val="F6F0E6"/>
          </a:solidFill>
          <a:ln/>
        </p:spPr>
      </p:sp>
      <p:sp>
        <p:nvSpPr>
          <p:cNvPr id="32" name="match-hex"/>
          <p:cNvSpPr/>
          <p:nvPr/>
        </p:nvSpPr>
        <p:spPr>
          <a:xfrm>
            <a:off x="4297589" y="3821233"/>
            <a:ext cx="384048" cy="332586"/>
          </a:xfrm>
          <a:prstGeom prst="hexagon">
            <a:avLst/>
          </a:prstGeom>
          <a:solidFill>
            <a:srgbClr val="B8862B"/>
          </a:solidFill>
          <a:ln/>
        </p:spPr>
      </p:sp>
      <p:sp>
        <p:nvSpPr>
          <p:cNvPr id="33" name="match-hex-label"/>
          <p:cNvSpPr txBox="1"/>
          <p:nvPr/>
        </p:nvSpPr>
        <p:spPr>
          <a:xfrm>
            <a:off x="4297589" y="38212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720263"/>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Organised a secret archive that recorded life in the Warsaw ghetto</a:t>
            </a:r>
            <a:endParaRPr lang="en-US" sz="1800" dirty="0"/>
          </a:p>
        </p:txBody>
      </p:sp>
      <p:sp>
        <p:nvSpPr>
          <p:cNvPr id="35" name="match-card"/>
          <p:cNvSpPr/>
          <p:nvPr/>
        </p:nvSpPr>
        <p:spPr>
          <a:xfrm>
            <a:off x="777240" y="4346229"/>
            <a:ext cx="3081437" cy="762110"/>
          </a:xfrm>
          <a:prstGeom prst="roundRect">
            <a:avLst>
              <a:gd name="adj" fmla="val 9599"/>
            </a:avLst>
          </a:prstGeom>
          <a:solidFill>
            <a:srgbClr val="F4F1ED"/>
          </a:solidFill>
          <a:ln/>
        </p:spPr>
      </p:sp>
      <p:sp>
        <p:nvSpPr>
          <p:cNvPr id="36" name="match-hex"/>
          <p:cNvSpPr/>
          <p:nvPr/>
        </p:nvSpPr>
        <p:spPr>
          <a:xfrm>
            <a:off x="850392" y="4560991"/>
            <a:ext cx="384048" cy="332586"/>
          </a:xfrm>
          <a:prstGeom prst="hexagon">
            <a:avLst/>
          </a:prstGeom>
          <a:solidFill>
            <a:srgbClr val="7A4A1E"/>
          </a:solidFill>
          <a:ln/>
        </p:spPr>
      </p:sp>
      <p:sp>
        <p:nvSpPr>
          <p:cNvPr id="37" name="match-hex-label"/>
          <p:cNvSpPr txBox="1"/>
          <p:nvPr/>
        </p:nvSpPr>
        <p:spPr>
          <a:xfrm>
            <a:off x="850392" y="45609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346229"/>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Mordecai Anielewicz</a:t>
            </a:r>
            <a:endParaRPr lang="en-US" sz="1800" dirty="0"/>
          </a:p>
        </p:txBody>
      </p:sp>
      <p:sp>
        <p:nvSpPr>
          <p:cNvPr id="39" name="match-card"/>
          <p:cNvSpPr/>
          <p:nvPr/>
        </p:nvSpPr>
        <p:spPr>
          <a:xfrm>
            <a:off x="4224437" y="4346229"/>
            <a:ext cx="7190019" cy="762110"/>
          </a:xfrm>
          <a:prstGeom prst="roundRect">
            <a:avLst>
              <a:gd name="adj" fmla="val 9599"/>
            </a:avLst>
          </a:prstGeom>
          <a:solidFill>
            <a:srgbClr val="F6F0E6"/>
          </a:solidFill>
          <a:ln/>
        </p:spPr>
      </p:sp>
      <p:sp>
        <p:nvSpPr>
          <p:cNvPr id="40" name="match-hex"/>
          <p:cNvSpPr/>
          <p:nvPr/>
        </p:nvSpPr>
        <p:spPr>
          <a:xfrm>
            <a:off x="4297589" y="4560991"/>
            <a:ext cx="384048" cy="332586"/>
          </a:xfrm>
          <a:prstGeom prst="hexagon">
            <a:avLst/>
          </a:prstGeom>
          <a:solidFill>
            <a:srgbClr val="B8862B"/>
          </a:solidFill>
          <a:ln/>
        </p:spPr>
      </p:sp>
      <p:sp>
        <p:nvSpPr>
          <p:cNvPr id="41" name="match-hex-label"/>
          <p:cNvSpPr txBox="1"/>
          <p:nvPr/>
        </p:nvSpPr>
        <p:spPr>
          <a:xfrm>
            <a:off x="4297589" y="45609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346229"/>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Organised armed resistance in ghettos across German-occupied Poland</a:t>
            </a:r>
            <a:endParaRPr lang="en-US" sz="1800" dirty="0"/>
          </a:p>
        </p:txBody>
      </p:sp>
      <p:sp>
        <p:nvSpPr>
          <p:cNvPr id="43" name="match-card"/>
          <p:cNvSpPr/>
          <p:nvPr/>
        </p:nvSpPr>
        <p:spPr>
          <a:xfrm>
            <a:off x="777240" y="5199778"/>
            <a:ext cx="3081437" cy="762110"/>
          </a:xfrm>
          <a:prstGeom prst="roundRect">
            <a:avLst>
              <a:gd name="adj" fmla="val 9599"/>
            </a:avLst>
          </a:prstGeom>
          <a:solidFill>
            <a:srgbClr val="F4F1ED"/>
          </a:solidFill>
          <a:ln/>
        </p:spPr>
      </p:sp>
      <p:sp>
        <p:nvSpPr>
          <p:cNvPr id="44" name="match-hex"/>
          <p:cNvSpPr/>
          <p:nvPr/>
        </p:nvSpPr>
        <p:spPr>
          <a:xfrm>
            <a:off x="850392" y="5414540"/>
            <a:ext cx="384048" cy="332586"/>
          </a:xfrm>
          <a:prstGeom prst="hexagon">
            <a:avLst/>
          </a:prstGeom>
          <a:solidFill>
            <a:srgbClr val="7A4A1E"/>
          </a:solidFill>
          <a:ln/>
        </p:spPr>
      </p:sp>
      <p:sp>
        <p:nvSpPr>
          <p:cNvPr id="45" name="match-hex-label"/>
          <p:cNvSpPr txBox="1"/>
          <p:nvPr/>
        </p:nvSpPr>
        <p:spPr>
          <a:xfrm>
            <a:off x="850392"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99778"/>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Tosia Altman</a:t>
            </a:r>
            <a:endParaRPr lang="en-US" sz="1800" dirty="0"/>
          </a:p>
        </p:txBody>
      </p:sp>
      <p:sp>
        <p:nvSpPr>
          <p:cNvPr id="47" name="match-card"/>
          <p:cNvSpPr/>
          <p:nvPr/>
        </p:nvSpPr>
        <p:spPr>
          <a:xfrm>
            <a:off x="4224437" y="5199778"/>
            <a:ext cx="7190019" cy="762110"/>
          </a:xfrm>
          <a:prstGeom prst="roundRect">
            <a:avLst>
              <a:gd name="adj" fmla="val 9599"/>
            </a:avLst>
          </a:prstGeom>
          <a:solidFill>
            <a:srgbClr val="F6F0E6"/>
          </a:solidFill>
          <a:ln/>
        </p:spPr>
      </p:sp>
      <p:sp>
        <p:nvSpPr>
          <p:cNvPr id="48" name="match-hex"/>
          <p:cNvSpPr/>
          <p:nvPr/>
        </p:nvSpPr>
        <p:spPr>
          <a:xfrm>
            <a:off x="4297589" y="5414540"/>
            <a:ext cx="384048" cy="332586"/>
          </a:xfrm>
          <a:prstGeom prst="hexagon">
            <a:avLst/>
          </a:prstGeom>
          <a:solidFill>
            <a:srgbClr val="B8862B"/>
          </a:solidFill>
          <a:ln/>
        </p:spPr>
      </p:sp>
      <p:sp>
        <p:nvSpPr>
          <p:cNvPr id="49" name="match-hex-label"/>
          <p:cNvSpPr txBox="1"/>
          <p:nvPr/>
        </p:nvSpPr>
        <p:spPr>
          <a:xfrm>
            <a:off x="4297589"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99778"/>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ghetto in Lithuania that opened in 1941 and was later turned into a concentration camp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Ghettos and the people who recorded them</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Ghettos and the people who recorded them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five into two groups first: two are places, three are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places, one is the largest ghetto of all and one is in Lithuania.</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three people, one collected records rather than fighting.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leaves two who organised armed resistance: one is tied to the Warsaw uprising by name.</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Places first, then people. One of the people kept records rather than fighting.</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Ringelblum's archive is so valuable to historians, and what it tells you about why he and his helpers took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Why did so many people die in the ghettos?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what conditions in the ghettos were like and why so many people died there. Use evidence from the chapter.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Why did so many people die in the ghettos?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did so many people die in the ghettos?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Conditions in the ghettos were created on purpose and were impossible to survive.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to 4: pick three features (space, food, heating and medicine) and after each one write so or because to link it to deaths.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add forced labour and what it did to people already weak.</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say who decided the rations and the walls, so the reader knows the deaths were chosen.</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features, each followed by so or because. Then forced labour, then who made the decisions.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historian would say that the deaths in the ghettos were caused by policy rather than by the war, and what evidence supports that.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73583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part of a town or city that was fenced or walled off, where Jewish people were forced to live, was called a ___.</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ghetto   ·   camp   ·   synagogue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Ghettos and the people who recorded them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Warsaw ghetto  →  B  The largest ghetto, walled off from the rest of the city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Kovno ghetto  →  E  A ghetto in Lithuania that opened in 1941 and was later turned into a concentration camp</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Emanuel Ringelblum  →  C  Organised a secret archive that recorded life in the Warsaw ghetto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Mordecai Anielewicz  →  A  A leader of the Warsaw Ghetto Uprising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Tosia Altman  →  D  Organised armed resistance in ghettos across German-occupied Poland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Warsaw was the largest ghetto; Kovno was in Lithuania and became a camp; Ringelblum built the secret archive; Anielewicz led the Warsaw uprising; Altman organised armed resistance across occupied Poland.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Why did so many people die in the ghettos?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808838"/>
          </a:xfrm>
          <a:prstGeom prst="roundRect">
            <a:avLst>
              <a:gd name="adj" fmla="val 11305"/>
            </a:avLst>
          </a:prstGeom>
          <a:solidFill>
            <a:srgbClr val="F4F1ED"/>
          </a:solidFill>
          <a:ln/>
        </p:spPr>
      </p:sp>
      <p:sp>
        <p:nvSpPr>
          <p:cNvPr id="9" name="tickbox"/>
          <p:cNvSpPr/>
          <p:nvPr/>
        </p:nvSpPr>
        <p:spPr>
          <a:xfrm>
            <a:off x="713232" y="2242363"/>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describe at least three features of the conditions: food, space, heating, medicine, forced labour.</a:t>
            </a:r>
            <a:endParaRPr lang="en-US" sz="2200" dirty="0"/>
          </a:p>
        </p:txBody>
      </p:sp>
      <p:sp>
        <p:nvSpPr>
          <p:cNvPr id="11" name="crit-box"/>
          <p:cNvSpPr/>
          <p:nvPr/>
        </p:nvSpPr>
        <p:spPr>
          <a:xfrm>
            <a:off x="548640" y="2884526"/>
            <a:ext cx="11094415" cy="467970"/>
          </a:xfrm>
          <a:prstGeom prst="roundRect">
            <a:avLst>
              <a:gd name="adj" fmla="val 19540"/>
            </a:avLst>
          </a:prstGeom>
          <a:solidFill>
            <a:srgbClr val="F4F1ED"/>
          </a:solidFill>
          <a:ln/>
        </p:spPr>
      </p:sp>
      <p:sp>
        <p:nvSpPr>
          <p:cNvPr id="12" name="tickbox"/>
          <p:cNvSpPr/>
          <p:nvPr/>
        </p:nvSpPr>
        <p:spPr>
          <a:xfrm>
            <a:off x="713232" y="2972206"/>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84526"/>
            <a:ext cx="10317175" cy="46797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each feature led to deaths, using so or because.</a:t>
            </a:r>
            <a:endParaRPr lang="en-US" sz="2200" dirty="0"/>
          </a:p>
        </p:txBody>
      </p:sp>
      <p:sp>
        <p:nvSpPr>
          <p:cNvPr id="14" name="crit-box"/>
          <p:cNvSpPr/>
          <p:nvPr/>
        </p:nvSpPr>
        <p:spPr>
          <a:xfrm>
            <a:off x="548640" y="3443935"/>
            <a:ext cx="11094415" cy="808838"/>
          </a:xfrm>
          <a:prstGeom prst="roundRect">
            <a:avLst>
              <a:gd name="adj" fmla="val 11305"/>
            </a:avLst>
          </a:prstGeom>
          <a:solidFill>
            <a:srgbClr val="F4F1ED"/>
          </a:solidFill>
          <a:ln/>
        </p:spPr>
      </p:sp>
      <p:sp>
        <p:nvSpPr>
          <p:cNvPr id="15" name="tickbox"/>
          <p:cNvSpPr/>
          <p:nvPr/>
        </p:nvSpPr>
        <p:spPr>
          <a:xfrm>
            <a:off x="713232" y="3702050"/>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443935"/>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one figure from the chapter correctly, such as the ration of 300 calories a day.</a:t>
            </a:r>
            <a:endParaRPr lang="en-US" sz="2200" dirty="0"/>
          </a:p>
        </p:txBody>
      </p:sp>
      <p:sp>
        <p:nvSpPr>
          <p:cNvPr id="17" name="crit-box"/>
          <p:cNvSpPr/>
          <p:nvPr/>
        </p:nvSpPr>
        <p:spPr>
          <a:xfrm>
            <a:off x="548640" y="4344213"/>
            <a:ext cx="11094415" cy="808838"/>
          </a:xfrm>
          <a:prstGeom prst="roundRect">
            <a:avLst>
              <a:gd name="adj" fmla="val 11305"/>
            </a:avLst>
          </a:prstGeom>
          <a:solidFill>
            <a:srgbClr val="F4F1ED"/>
          </a:solidFill>
          <a:ln/>
        </p:spPr>
      </p:sp>
      <p:sp>
        <p:nvSpPr>
          <p:cNvPr id="18" name="tickbox"/>
          <p:cNvSpPr/>
          <p:nvPr/>
        </p:nvSpPr>
        <p:spPr>
          <a:xfrm>
            <a:off x="713232" y="460232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344213"/>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make clear that the conditions were created on purpose by the Nazis, not simply the result of the war.</a:t>
            </a:r>
            <a:endParaRPr lang="en-US" sz="2200" dirty="0"/>
          </a:p>
        </p:txBody>
      </p:sp>
      <p:sp>
        <p:nvSpPr>
          <p:cNvPr id="20" name="crit-box"/>
          <p:cNvSpPr/>
          <p:nvPr/>
        </p:nvSpPr>
        <p:spPr>
          <a:xfrm>
            <a:off x="548640" y="5244490"/>
            <a:ext cx="11094415" cy="808838"/>
          </a:xfrm>
          <a:prstGeom prst="roundRect">
            <a:avLst>
              <a:gd name="adj" fmla="val 11305"/>
            </a:avLst>
          </a:prstGeom>
          <a:solidFill>
            <a:srgbClr val="F4F1ED"/>
          </a:solidFill>
          <a:ln/>
        </p:spPr>
      </p:sp>
      <p:sp>
        <p:nvSpPr>
          <p:cNvPr id="21" name="tickbox"/>
          <p:cNvSpPr/>
          <p:nvPr/>
        </p:nvSpPr>
        <p:spPr>
          <a:xfrm>
            <a:off x="713232" y="5502605"/>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244490"/>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write about the people in the ghettos as people, with families, and not only as numbers.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Model answer: Why did so many people die in the ghettos?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Conditions in the ghettos were created on purpose and were impossible to survive for long. Families arrived having lost almost everything they owned, and seven to nine people often had to share a single room, so any illness passed straight through a household. Food was limited to about 300 calories a day, when a person needs 2,000 to 2,500, so people were weakened by hunger before disease reached them. There was no heating and almost no medicine, and nobody outside the ghetto was allowed to sell anything to the people inside, so there was no way to make up what was missing. Everyone aged ten and over could be forced into heavy labour, which took the last of people's strength. For all these reasons very large numbers died of starvation and disease, and the deaths were the result of decisions the Nazis made about rations, walls and work.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part of a town or city that was fenced or walled off, where Jewish people were forced to live, was called a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part of a town or city that was fenced or walled off, where Jewish people were forced to live, was called a ghetto.</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ghetto was a segregated, fenced-off district where Jewish people were forced to live, apart from everyone else.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4: The ghettos: shut in, and resisting</dc:title>
  <dc:subject>History · Year 9</dc:subject>
  <dc:creator>Dr Vitor Merissi de Carvalho</dc:creator>
  <cp:lastModifiedBy>Dr Vitor Merissi de Carvalho</cp:lastModifiedBy>
  <cp:revision>1</cp:revision>
  <dcterms:created xsi:type="dcterms:W3CDTF">2026-10-19T16:23:07Z</dcterms:created>
  <dcterms:modified xsi:type="dcterms:W3CDTF">2026-10-19T16:23:07Z</dcterms:modified>
</cp:coreProperties>
</file>