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ff6e279-4b93-62ac-3cfd-8bfa6941568d}">
          <p14:sldIdLst>
            <p14:sldId id="256"/>
          </p14:sldIdLst>
        </p14:section>
        <p14:section name="Gate" id="{0b4e15ac-2e56-0d01-c9a9-22892f9b18bb}">
          <p14:sldIdLst>
            <p14:sldId id="257"/>
            <p14:sldId id="258"/>
            <p14:sldId id="259"/>
          </p14:sldIdLst>
        </p14:section>
        <p14:section name="Pre-teach" id="{89f7b4ef-90e4-f7f4-9c21-01329d2c5baa}">
          <p14:sldIdLst>
            <p14:sldId id="260"/>
            <p14:sldId id="261"/>
          </p14:sldIdLst>
        </p14:section>
        <p14:section name="Read-along" id="{5344fd39-2da5-855b-a3c6-08a0b1e1b505}">
          <p14:sldIdLst>
            <p14:sldId id="262"/>
            <p14:sldId id="263"/>
          </p14:sldIdLst>
        </p14:section>
        <p14:section name="Teach" id="{9a361255-95a1-e786-1cbc-d34ffe8bb8dc}">
          <p14:sldIdLst>
            <p14:sldId id="264"/>
            <p14:sldId id="265"/>
            <p14:sldId id="266"/>
            <p14:sldId id="267"/>
            <p14:sldId id="268"/>
          </p14:sldIdLst>
        </p14:section>
        <p14:section name="Routes" id="{ec229f5e-3fa1-3007-013e-dc10005fb75d}">
          <p14:sldIdLst>
            <p14:sldId id="269"/>
            <p14:sldId id="270"/>
            <p14:sldId id="271"/>
            <p14:sldId id="272"/>
          </p14:sldIdLst>
        </p14:section>
        <p14:section name="Close" id="{75e6abee-a65b-e33e-0314-6269a120d89e}">
          <p14:sldIdLst>
            <p14:sldId id="273"/>
          </p14:sldIdLst>
        </p14:section>
        <p14:section name="Answers" id="{0dc36529-0df7-926b-fd92-a32028eef69d}">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Jewish life in Europe before the Nazis, and where antisemitism came from. The communities that existed across Europe before 1933, the long history of antisemitism that came before the Nazi Party, and how Germany's crisis after the First World War gave Hitler his chance.
This deck covers the department's lesson: 2 (Pre-war Jewish life and early persecution (1933-1939): What was life like for Jewish people before the Nazis, and how did antisemitism in Germany grow?).
Read the big question aloud: "What was the Holocaust, how did it happen step by step, and who should be held responsible?"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Hostility to or prejudice against Jewish people is called ___.  →  antisemitism
2. What did the Treaty of Versailles require Germany to do after the First World War?  →  A   Give up land, cut its army, accept guilt for the war and pay reparations
3. Which statement about antisemitism in Europe is correct?  →  A   Jewish people had been persecuted in Europe for centuries before the Nazi Party existed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Hostility to or prejudice against Jewish people is called ___.  →  antisemitism
2. What did the Treaty of Versailles require Germany to do after the First World War?  →  A   Give up land, cut its army, accept guilt for the war and pay reparations
3. Which statement about antisemitism in Europe is correct?  →  A   Jewish people had been persecuted in Europe for centuries before the Nazi Party existed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antisemitism. Antisemitism is prejudice against Jewish people in particular. It is the idea the Nazis built their politics on.
2. A   Give up land, cut its army, accept guilt for the war and pay reparations. The Treaty took land and colonies, cut the army to 100,000 soldiers, made Germany accept the guilt for the war and demanded reparations. That is the crisis the Nazis used.
3. A   Jewish people had been persecuted in Europe for centuries before the Nazi Party existed. Your lesson traces antisemitism back through 66 AD, 313 AD, the 1280s, the Black Death years and 1543. The Nazis used an old prejudice; they did not invent it.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community: a group of people who live in the same place and share a way of life. Example: "Jewish communities had been part of European towns and cities for centuries."
• antisemitism: hostility to or prejudice against Jewish people. Example: "Antisemitism in Europe was far older than the Nazi Party."
• expelled: forced to leave a country, with no right to return. Example: "In 1290 every Jewish person in England was expelled by the king."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reparations: money a defeated country is made to pay for the damage of a war. Example: "Germany had to pay reparations after losing the First World War."
• persecution: cruel and unfair treatment of people because of their race, religion or politics. Example: "Persecution of Jewish people in Europe went back many hundreds of years."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Jewish communities had lived in Europe for hundreds of years.
2. In 1933 there were Jewish families in every country in Europe.
3. The largest communities were in Eastern Europe, especially in Poland.
4. In Western Europe the communities were smaller.
5. Some families were strictly religious and some were not religious at all.
6. They were shopkeepers, doctors, teachers, musicians and farmers.
7. Anita Lasker-Wallfisch grew up in Germany in the 1930s.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She later described her earliest memory of antisemitism.
9. Ruth Winkelmann was a schoolgirl who was ten years old in 1938.
10. Antisemitism in Europe was much older than the Nazi Party.
11. Jewish people had been taxed, expelled and blamed for centuries.
12. Then Germany lost the First World War and was left in crisis.
13. Hitler blamed Jewish people for that crisis, and many Germans agreed with him.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Jewish life in Europe before 1933. Say it in your own words, then check understanding with a quick question: ask a pupil from the pre-teach group first, since they met these words and ideas before the lesson. Pupils try to recall before you re-explain.
Before the Nazis came to power there were Jewish communities in every country in Europe, and many of them were centuries old. Your lesson asks you to find the Jewish population of each European country on the map and to read the profile of a real person from each one. The point of that task is simple: these were ordinary lives, lived in particular places, not a single group with a single story.
The communities were also very different from one another. In Eastern Europe, especially Poland, the Jewish population was large, and religious practice was often strict and visible in daily life. In Western Europe the communities were smaller and many families were much less religious, or not religious at all. People were shopkeepers, doctors, teachers, musicians, factory workers and farmers.
Two of the people you meet later in this unit were children in this world. Anita Lasker-Wallfisch grew up in Germany in the 1930s and has described her earliest memory of antisemitism, which came to her as a child, in an ordinary week. Ruth Winkelmann was a schoolgirl who was ten years old in 1938. Keep both of them in mind: this chapter is about what was taken, so it has to begin with what was there.
Tip: If a question asks about pre-war Jewish life, give variety: different countries, different levels of religious belief, different jobs. That variety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Antisemitism was not invented by the Nazis. Say it in your own words, then check understanding with a quick question: ask a pupil from the pre-teach group first, since they met these words and ideas before the lesson. Pupils try to recall before you re-explain.
Antisemitism means hostility to or prejudice against Jewish people, and your lesson shows that it ran through European history long before 1933. In 66 AD Roman rulers persecuted Jewish people and expelled them from areas they controlled, in arguments over race, territory and power. By 313 AD some early Christian writers were blaming Jewish people as a whole for the death of Jesus, who was himself Jewish, and a slur was used to stir up violence against them.
In England it became official policy. In the 1280s King Edward I taxed Jewish moneylenders to pay for his wars, had them arrested when they could no longer pay, made them wear a yellow patch, restricted where they could go and executed the heads of families. In 1290 he expelled every Jewish person from the country. Between 1348 and 1350, when the Black Death killed millions, Jewish people across Europe were accused of causing the deaths by magic or poison. In 1543 Martin Luther, a leading figure of the Reformation, published a pamphlet urging the persecution of Jewish people.
Two things follow from this list, and good answers say both. First, the ideas the Nazis used were old and widely known, which is part of why they spread so quickly. Second, that does not make what followed inevitable. Antisemitism had risen and fallen for centuries without becoming genocide; it took a government that chose to build its politics on it, and a population that largely chose to go along, to turn prejudice into mass murder.
Worked example — model it step by step, thinking aloud: Explain one way in which the persecution of Jewish people stayed the same between the 1280s and the 1930s, and one way in which it changed. (1) Choose your continuity: in both periods Jewish people were marked out in public. Edward I made people wear a yellow patch; the Nazis made people wear a Star of David. (2) Explain why that counts as continuity: in both cases the state used a visible sign so that everyone could see who was Jewish. (3) Choose your change: Edward I expelled Jewish people from England, while the Nazis set out to murder them. (4) Explain the scale of the change: expulsion is the loss of a home and a country; genocide is the attempt to destroy a whole people. Name both, and say which is the greater change. Answer: Continuity: both states forced Jewish people to wear a visible sign. Change: the aim moved from expelling people to murdering them, which is the difference between persecution and genocide..
Tip: Change and continuity questions want both halves. One sentence on what stayed the same, one on what changed, each with a specific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Antisemitism was not invented by the Nazis. Say it in your own words, then check understanding with a quick question: ask a pupil from the pre-teach group first, since they met these words and ideas before the lesson. Pupils try to recall before you re-explain.
Antisemitism means hostility to or prejudice against Jewish people, and your lesson shows that it ran through European history long before 1933. In 66 AD Roman rulers persecuted Jewish people and expelled them from areas they controlled, in arguments over race, territory and power. By 313 AD some early Christian writers were blaming Jewish people as a whole for the death of Jesus, who was himself Jewish, and a slur was used to stir up violence against them.
In England it became official policy. In the 1280s King Edward I taxed Jewish moneylenders to pay for his wars, had them arrested when they could no longer pay, made them wear a yellow patch, restricted where they could go and executed the heads of families. In 1290 he expelled every Jewish person from the country. Between 1348 and 1350, when the Black Death killed millions, Jewish people across Europe were accused of causing the deaths by magic or poison. In 1543 Martin Luther, a leading figure of the Reformation, published a pamphlet urging the persecution of Jewish people.
Two things follow from this list, and good answers say both. First, the ideas the Nazis used were old and widely known, which is part of why they spread so quickly. Second, that does not make what followed inevitable. Antisemitism had risen and fallen for centuries without becoming genocide; it took a government that chose to build its politics on it, and a population that largely chose to go along, to turn prejudice into mass murder.
Worked example — model it step by step, thinking aloud: Explain one way in which the persecution of Jewish people stayed the same between the 1280s and the 1930s, and one way in which it changed. (1) Choose your continuity: in both periods Jewish people were marked out in public. Edward I made people wear a yellow patch; the Nazis made people wear a Star of David. (2) Explain why that counts as continuity: in both cases the state used a visible sign so that everyone could see who was Jewish. (3) Choose your change: Edward I expelled Jewish people from England, while the Nazis set out to murder them. (4) Explain the scale of the change: expulsion is the loss of a home and a country; genocide is the attempt to destroy a whole people. Name both, and say which is the greater change. Answer: Continuity: both states forced Jewish people to wear a visible sign. Change: the aim moved from expelling people to murdering them, which is the difference between persecution and genocide..
Tip: Change and continuity questions want both halves. One sentence on what stayed the same, one on what changed, each with a specific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Antisemitism was not invented by the Nazis. Say it in your own words, then check understanding with a quick question: ask a pupil from the pre-teach group first, since they met these words and ideas before the lesson. Pupils try to recall before you re-explain.
Antisemitism means hostility to or prejudice against Jewish people, and your lesson shows that it ran through European history long before 1933. In 66 AD Roman rulers persecuted Jewish people and expelled them from areas they controlled, in arguments over race, territory and power. By 313 AD some early Christian writers were blaming Jewish people as a whole for the death of Jesus, who was himself Jewish, and a slur was used to stir up violence against them.
In England it became official policy. In the 1280s King Edward I taxed Jewish moneylenders to pay for his wars, had them arrested when they could no longer pay, made them wear a yellow patch, restricted where they could go and executed the heads of families. In 1290 he expelled every Jewish person from the country. Between 1348 and 1350, when the Black Death killed millions, Jewish people across Europe were accused of causing the deaths by magic or poison. In 1543 Martin Luther, a leading figure of the Reformation, published a pamphlet urging the persecution of Jewish people.
Two things follow from this list, and good answers say both. First, the ideas the Nazis used were old and widely known, which is part of why they spread so quickly. Second, that does not make what followed inevitable. Antisemitism had risen and fallen for centuries without becoming genocide; it took a government that chose to build its politics on it, and a population that largely chose to go along, to turn prejudice into mass murder.
Worked example — model it step by step, thinking aloud: Explain one way in which the persecution of Jewish people stayed the same between the 1280s and the 1930s, and one way in which it changed. (1) Choose your continuity: in both periods Jewish people were marked out in public. Edward I made people wear a yellow patch; the Nazis made people wear a Star of David. (2) Explain why that counts as continuity: in both cases the state used a visible sign so that everyone could see who was Jewish. (3) Choose your change: Edward I expelled Jewish people from England, while the Nazis set out to murder them. (4) Explain the scale of the change: expulsion is the loss of a home and a country; genocide is the attempt to destroy a whole people. Name both, and say which is the greater change. Answer: Continuity: both states forced Jewish people to wear a visible sign. Change: the aim moved from expelling people to murdering them, which is the difference between persecution and genocide..
Tip: Change and continuity questions want both halves. One sentence on what stayed the same, one on what changed, each with a specific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Germany's crisis, and Hitler's chance. Say it in your own words, then check understanding with a quick question: ask a pupil from the pre-teach group first, since they met these words and ideas before the lesson. Pupils try to recall before you re-explain.
Germany lost the First World War, and the Treaty of Versailles that followed left the country in an economic and social mess. Germany had to give up land and all its overseas colonies, cut its army to 100,000 soldiers, accept the guilt for the war and pay reparations. Your lesson gives the figure as 6.6 billion pounds. Photographs from the years that followed show shelters for homeless men, women queuing for meat rations and children being given a school meal.
Your lesson dates Hitler's leadership of the Nazi Party to 1925. The Party offered what many Germans wanted to hear: tear up the Treaty, better pensions and more jobs, support for small businesses and landowners, a bigger army, and the claim that the German race was the best and most important in the world. Alongside all of that, Hitler blamed Jewish people for Germany's suffering after the war. Many Germans saw how much he hated Jewish people and gradually came to agree with him. By 1934 he had the power of a dictator and was declared Führer of Germany.
Notice the shape of this. A real crisis gave the Nazis their opening, and an old prejudice gave them a target. Neither of those on its own made the Holocaust happen. What turned them into persecution was a series of decisions: by Hitler, by the Party, by officials who wrote the laws, and by millions of people who decided it was easier to agree than to object.
Tip: When you explain why antisemitism grew in Germany, give the crisis AND the choice. A crisis explains the opportunity; it never excuses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long history,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examples of antisemitism in Europe into chronological order.
Support — work through the steps with the group: (1) Every item has a date in brackets. Read all five dates before you move anything. (2) Two dates are given as AD and are much smaller numbers: those two come first. (3) Then put the four-figure dates in order, smallest first. (4) Check the story reads sensibly: Roman empire, early Christian Europe, medieval England, the Black Death, then the Reformation.
Parallel worked example for Support (model it, do not give the task answer): Put these in chronological order: the Great Fire of London (1666), the Norman Conquest (1066), the first railway line (1825). Read the three dates first.; 1066 is the smallest, so the Conquest comes first.; Then 1666, then 1825.. Answer: The Norman Conquest; the Great Fire of London; the first railway line..
Core — reveal the hint only on request: Smallest date first. The two AD dates are the earliest of all.
Stretch — no help; when finished: Choose two of these five examples and explain what they have in common. Then explain one important difference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long history,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examples of antisemitism in Europe into chronological order.
Support — work through the steps with the group: (1) Every item has a date in brackets. Read all five dates before you move anything. (2) Two dates are given as AD and are much smaller numbers: those two come first. (3) Then put the four-figure dates in order, smallest first. (4) Check the story reads sensibly: Roman empire, early Christian Europe, medieval England, the Black Death, then the Reformation.
Parallel worked example for Support (model it, do not give the task answer): Put these in chronological order: the Great Fire of London (1666), the Norman Conquest (1066), the first railway line (1825). Read the three dates first.; 1066 is the smallest, so the Conquest comes first.; Then 1666, then 1825.. Answer: The Norman Conquest; the Great Fire of London; the first railway line..
Core — reveal the hint only on request: Smallest date first. The two AD dates are the earliest of all.
Stretch — no help; when finished: Choose two of these five examples and explain what they have in common. Then explain one important difference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did so many Germans agree?.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Hitler and the Nazi Party used antisemitism to win support in Germany after the First World War. Write one paragraph of five to seven sentences.
Support — work through the steps with the group: (1) Sentence 1: After the First World War, Germany was in crisis. (2) Sentence 2: give one or two details of the Treaty of Versailles. (3) Sentences 3 and 4: name two Nazi promises, then say who Hitler blamed. (4) Last sentence: say that Germans chose to agree, and give a date.
Parallel worked example for Support (model it, do not give the task answer): Explain how a political party might win support during a shortage of housing. Use the same structure: crisis, promise, target, choice. Crisis: there are not enough homes and rents are high.; Promise: the party promises to build a hundred thousand houses.; Target: it blames one group of people for the shortage.; Choice: voters decide whether to accept the blame or to question it.. Answer: Crisis, then promise, then the group being blamed, then the decision voters make. The same four steps, with no Holocaust content..
Core — reveal the hint only on request: Crisis, promises, blame, choice. Four moves, in that order, with one date.
Stretch — no help; when finished: Explain why historians are careful to say that the crisis gave the Nazis an opportunity rather than that the crisis caused the Holocaust.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did so many Germans agree?.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Hitler and the Nazi Party used antisemitism to win support in Germany after the First World War. Write one paragraph of five to seven sentences.
Support — work through the steps with the group: (1) Sentence 1: After the First World War, Germany was in crisis. (2) Sentence 2: give one or two details of the Treaty of Versailles. (3) Sentences 3 and 4: name two Nazi promises, then say who Hitler blamed. (4) Last sentence: say that Germans chose to agree, and give a date.
Parallel worked example for Support (model it, do not give the task answer): Explain how a political party might win support during a shortage of housing. Use the same structure: crisis, promise, target, choice. Crisis: there are not enough homes and rents are high.; Promise: the party promises to build a hundred thousand houses.; Target: it blames one group of people for the shortage.; Choice: voters decide whether to accept the blame or to question it.. Answer: Crisis, then promise, then the group being blamed, then the decision voters make. The same four steps, with no Holocaust content..
Core — reveal the hint only on request: Crisis, promises, blame, choice. Four moves, in that order, with one date.
Stretch — no help; when finished: Explain why historians are careful to say that the crisis gave the Nazis an opportunity rather than that the crisis caused the Holocaust.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does your lesson spend a whole task on Jewish life in Europe before 1933?
Answer: A   Because the people who were murdered had homes, jobs and families, and should be remembered as people and not only as victims. The lives before matter because they are what was destroyed. A figure tells you how many; a profile, a photograph or a name tells you who, and your lesson sets out to do both.
Source of this question: module 3 task ("Why study the lives before?")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long history, in order. Reveal the answer; pupils mark their own work in a different colour, then read the "why" together. Same destination for every lane, so one answer serves the whole class.
Answer: Roman rulers persecute Jewish people and expel them from areas they control (66 AD)  (C); Early Christian writers blame Jewish people as a whole for the death of Jesus (313 AD)  (B); Edward I expels every Jewish person from England (1290)  (D); Jewish people are blamed for the deaths caused by the Black Death (1348)  (A); Martin Luther publishes a pamphlet urging the persecution of Jewish people (1543)  (E)
Why: 66 AD, 313 AD, 1290, 1348 and 1543. The order matters because it shows that antisemitism was old and familiar across Europe, which is part of why Nazi propaganda spread so fast.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did so many Germans agree?. Reveal the answer; pupils mark their own work in a different colour, then read the "why" together. Same destination for every lane, so one answer serves the whole class.
Answer: I explain the crisis Germany was in after the First World War, using at least one detail from the Treaty of Versailles.; I explain what the Nazi Party promised people, giving at least two of its promises.; I explain how Hitler used antisemitism, and say who he blamed for the crisis.; I make clear that Germans chose to agree with him, rather than writing as though they had no choice.; I use at least one date correctly, such as 1925 or 1934.
Why: A strong answer joins three things: a real crisis caused by the Treaty, promises that answered what people wanted, and an old prejudice given a new use. The best answers add that agreeing with it was a decision people made.
Model answer: After the First World War, Germany was in a deep economic and social crisis. The Treaty of Versailles had taken its land and colonies, cut its army to 100,000 soldiers, made it accept guilt for the war and demanded enormous reparations, and photographs from those years show homeless shelters and women queuing for rations. When Hitler became leader of the Nazi Party in 1925, the Party promised to tear up the Treaty, to bring back jobs and pensions and to rebuild the army, which answered exactly what many Germans were angry and frightened about. Alongside those promises, Hitler blamed Jewish people for Germany's suffering, and claimed that the German race was the best in the world. This gave people a target for their anger and a reason to feel proud again, so support for the Party grew. It is important to say that Germans chose to accept this: many people saw how much Hitler hated Jewish people and gradually agreed with him, and by 1934 he had the power of a dictator.
Success criteria: I explain the crisis Germany was in after the First World War, using at least one detail from the Treaty of Versailles.; I explain what the Nazi Party promised people, giving at least two of its promises.; I explain how Hitler used antisemitism, and say who he blamed for the crisis.; I make clear that Germans chose to agree with him, rather than writing as though they had no choice.; I use at least one date correctly, such as 1925 or 1934.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did so many Germans agree?. Reveal the answer; pupils mark their own work in a different colour, then read the "why" together. Same destination for every lane, so one answer serves the whole class.
Answer: I explain the crisis Germany was in after the First World War, using at least one detail from the Treaty of Versailles.; I explain what the Nazi Party promised people, giving at least two of its promises.; I explain how Hitler used antisemitism, and say who he blamed for the crisis.; I make clear that Germans chose to agree with him, rather than writing as though they had no choice.; I use at least one date correctly, such as 1925 or 1934.
Why: A strong answer joins three things: a real crisis caused by the Treaty, promises that answered what people wanted, and an old prejudice given a new use. The best answers add that agreeing with it was a decision people made.
Model answer: After the First World War, Germany was in a deep economic and social crisis. The Treaty of Versailles had taken its land and colonies, cut its army to 100,000 soldiers, made it accept guilt for the war and demanded enormous reparations, and photographs from those years show homeless shelters and women queuing for rations. When Hitler became leader of the Nazi Party in 1925, the Party promised to tear up the Treaty, to bring back jobs and pensions and to rebuild the army, which answered exactly what many Germans were angry and frightened about. Alongside those promises, Hitler blamed Jewish people for Germany's suffering, and claimed that the German race was the best in the world. This gave people a target for their anger and a reason to feel proud again, so support for the Party grew. It is important to say that Germans chose to accept this: many people saw how much Hitler hated Jewish people and gradually agreed with him, and by 1934 he had the power of a dictator.
Success criteria: I explain the crisis Germany was in after the First World War, using at least one detail from the Treaty of Versailles.; I explain what the Nazi Party promised people, giving at least two of its promises.; I explain how Hitler used antisemitism, and say who he blamed for the crisis.; I make clear that Germans chose to agree with him, rather than writing as though they had no choice.; I use at least one date correctly, such as 1925 or 1934.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Because the people who were murdered had homes, jobs and families, and should be remembered as people and not only as victims
Why: The lives before matter because they are what was destroyed. A figure tells you how many; a profile, a photograph or a name tells you who, and your lesson sets out to do both.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Holocaust · AQA KS3 → 8145</a:t>
            </a:r>
            <a:endParaRPr lang="en-US" sz="1800" dirty="0"/>
          </a:p>
        </p:txBody>
      </p:sp>
      <p:sp>
        <p:nvSpPr>
          <p:cNvPr id="10" name="deck-title"/>
          <p:cNvSpPr txBox="1"/>
          <p:nvPr/>
        </p:nvSpPr>
        <p:spPr>
          <a:xfrm>
            <a:off x="548640" y="220522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Jewish life in Europe before the Nazis, and where antisemitism came from</a:t>
            </a:r>
            <a:endParaRPr lang="en-US" sz="2800" dirty="0"/>
          </a:p>
        </p:txBody>
      </p:sp>
      <p:sp>
        <p:nvSpPr>
          <p:cNvPr id="11" name="lessons-card"/>
          <p:cNvSpPr/>
          <p:nvPr/>
        </p:nvSpPr>
        <p:spPr>
          <a:xfrm>
            <a:off x="548640" y="3947668"/>
            <a:ext cx="5287975" cy="1290320"/>
          </a:xfrm>
          <a:prstGeom prst="roundRect">
            <a:avLst>
              <a:gd name="adj" fmla="val 5669"/>
            </a:avLst>
          </a:prstGeom>
          <a:solidFill>
            <a:srgbClr val="F2EDE9"/>
          </a:solidFill>
          <a:ln/>
        </p:spPr>
      </p:sp>
      <p:sp>
        <p:nvSpPr>
          <p:cNvPr id="12" name="lessons"/>
          <p:cNvSpPr txBox="1"/>
          <p:nvPr/>
        </p:nvSpPr>
        <p:spPr>
          <a:xfrm>
            <a:off x="685800" y="40391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Pre-war Jewish life and early persecution (1933-1939)</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was the Holocaust, how did it happen step by step, and who should be held responsible?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Hostility to or prejudice against Jewish people is called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antisemitism  ·  persecution  ·  reparations</a:t>
            </a:r>
            <a:endParaRPr lang="en-US" sz="24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did the Treaty of Versailles require Germany to do after the First World War?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Give up land, cut its army, accept guilt for the war and pay reparations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Join the Soviet Union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Pay nothing, because the war had ended in a draw</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Hand its government over to Britain and France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statement about antisemitism in Europe is correct?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Jewish people had been persecuted in Europe for centuries before the Nazi Party existed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Antisemitism existed only in Germany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 Jewish people had ever lived in England before the twentieth century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Antisemitism began with the Nazi Party in 1925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antisemitism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Hostility to or prejudice against Jewish people is called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Antisemitism is prejudice against Jewish people in particular. It is the idea the Nazis built their politics on.</a:t>
            </a:r>
            <a:endParaRPr lang="en-US" sz="20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636776"/>
          </a:xfrm>
          <a:prstGeom prst="roundRect">
            <a:avLst>
              <a:gd name="adj" fmla="val 6704"/>
            </a:avLst>
          </a:prstGeom>
          <a:solidFill>
            <a:srgbClr val="EDE1CA"/>
          </a:solidFill>
          <a:ln w="19050">
            <a:solidFill>
              <a:srgbClr val="B8862B"/>
            </a:solidFill>
            <a:prstDash val="solid"/>
          </a:ln>
        </p:spPr>
      </p:sp>
      <p:sp>
        <p:nvSpPr>
          <p:cNvPr id="19" name="answer"/>
          <p:cNvSpPr txBox="1"/>
          <p:nvPr/>
        </p:nvSpPr>
        <p:spPr>
          <a:xfrm>
            <a:off x="4612538"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Give up land, cut its army, accept guilt for the war and pay reparations</a:t>
            </a:r>
            <a:endParaRPr lang="en-US" sz="2200" dirty="0"/>
          </a:p>
        </p:txBody>
      </p:sp>
      <p:sp>
        <p:nvSpPr>
          <p:cNvPr id="20" name="card-body"/>
          <p:cNvSpPr txBox="1"/>
          <p:nvPr/>
        </p:nvSpPr>
        <p:spPr>
          <a:xfrm>
            <a:off x="4521098"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Treaty took land and colonies, cut the army to 100,000 soldiers, made Germany accept the guilt for the war and demanded reparations. That is the crisis…</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Jewish people had been persecuted in Europe for centuries before the Nazi Party existed</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lesson traces antisemitism back through 66 AD, 313 AD, the 1280s, the Black Death years and 1543.…</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community</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group of people who live in the same place and share a way of life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Jewish communities had been part of European towns and cities for centuries.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antisemitism</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hostility to or prejudice against Jewish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Antisemitism in Europe was far older than the Nazi Party.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expelled</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forced to leave a country, with no right to return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1290 every Jewish person in England was expelled by the king.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reparations</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money a defeated country is made to pay for the damage of a war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Germany had to pay reparations after losing the First World War.</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persecution</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cruel and unfair treatment of people because of their race, religion or politics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Persecution of Jewish people in Europe went back many hundreds of years.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Jewish communities had lived in Europe for hundreds of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1933 there were Jewish families in every country in Europe.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largest communities were in Eastern Europe, especially in Poland.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Western Europe the communities were smaller.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families were strictly religious and some were not religious at all.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shopkeepers, doctors, teachers, musicians and farmers.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Anita Lasker-Wallfisch grew up in Germany in the 1930s.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 later described her earliest memory of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antisemitism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Ruth Winkelmann was a schoolgirl who was ten years old in 1938.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Antisemitism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Europe was much older than the Nazi Party.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Jewish people had been taxed,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expelled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blamed for centuries.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Germany lost the First World War and was left in crisis.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Hitler blamed Jewish people for that crisis, and many Germans agreed with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Jewish life in Europe before 1933</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about pre-war Jewish life, give variety: different countries, different levels of religious belief, different jobs. That variety is the point.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Before the Nazis came to power there were Jewish communities in every country in Europe, and many of them were centuries old.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communities were also very different from one another. In Eastern Europe, especially Poland, the Jewish population was large, and religious practice was often strict and visible in daily life.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Two of the people you meet later in this unit were children in this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Antisemitism was not invented by the Nazis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Change and continuity questions want both halves. One sentence on what stayed the same, one on what changed, each with a specific example.</a:t>
            </a:r>
            <a:endParaRPr lang="en-US" sz="1800" dirty="0"/>
          </a:p>
        </p:txBody>
      </p:sp>
      <p:sp>
        <p:nvSpPr>
          <p:cNvPr id="11" name="bullet-card"/>
          <p:cNvSpPr/>
          <p:nvPr/>
        </p:nvSpPr>
        <p:spPr>
          <a:xfrm>
            <a:off x="548640" y="1389888"/>
            <a:ext cx="11094415" cy="984504"/>
          </a:xfrm>
          <a:prstGeom prst="roundRect">
            <a:avLst>
              <a:gd name="adj" fmla="val 7430"/>
            </a:avLst>
          </a:prstGeom>
          <a:solidFill>
            <a:srgbClr val="F4F1ED"/>
          </a:solidFill>
          <a:ln/>
        </p:spPr>
      </p:sp>
      <p:sp>
        <p:nvSpPr>
          <p:cNvPr id="12" name="bullet-hex"/>
          <p:cNvSpPr/>
          <p:nvPr/>
        </p:nvSpPr>
        <p:spPr>
          <a:xfrm>
            <a:off x="676656" y="1715847"/>
            <a:ext cx="384048" cy="332586"/>
          </a:xfrm>
          <a:prstGeom prst="hexagon">
            <a:avLst/>
          </a:prstGeom>
          <a:solidFill>
            <a:srgbClr val="7A4A1E"/>
          </a:solidFill>
          <a:ln/>
        </p:spPr>
      </p:sp>
      <p:sp>
        <p:nvSpPr>
          <p:cNvPr id="13" name="bullet"/>
          <p:cNvSpPr txBox="1"/>
          <p:nvPr/>
        </p:nvSpPr>
        <p:spPr>
          <a:xfrm>
            <a:off x="1143000" y="1389888"/>
            <a:ext cx="10408615" cy="9845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Antisemitism means hostility to or prejudice against Jewish people, and your lesson shows that it ran through European history long before 1933.</a:t>
            </a:r>
            <a:endParaRPr lang="en-US" sz="2200" dirty="0"/>
          </a:p>
        </p:txBody>
      </p:sp>
      <p:sp>
        <p:nvSpPr>
          <p:cNvPr id="14" name="bullet-card"/>
          <p:cNvSpPr/>
          <p:nvPr/>
        </p:nvSpPr>
        <p:spPr>
          <a:xfrm>
            <a:off x="548640" y="2520696"/>
            <a:ext cx="11094415" cy="1666240"/>
          </a:xfrm>
          <a:prstGeom prst="roundRect">
            <a:avLst>
              <a:gd name="adj" fmla="val 4390"/>
            </a:avLst>
          </a:prstGeom>
          <a:solidFill>
            <a:srgbClr val="F4F1ED"/>
          </a:solidFill>
          <a:ln/>
        </p:spPr>
      </p:sp>
      <p:sp>
        <p:nvSpPr>
          <p:cNvPr id="15" name="bullet-hex"/>
          <p:cNvSpPr/>
          <p:nvPr/>
        </p:nvSpPr>
        <p:spPr>
          <a:xfrm>
            <a:off x="676656" y="3187523"/>
            <a:ext cx="384048" cy="332586"/>
          </a:xfrm>
          <a:prstGeom prst="hexagon">
            <a:avLst/>
          </a:prstGeom>
          <a:solidFill>
            <a:srgbClr val="B8862B"/>
          </a:solidFill>
          <a:ln/>
        </p:spPr>
      </p:sp>
      <p:sp>
        <p:nvSpPr>
          <p:cNvPr id="16" name="bullet"/>
          <p:cNvSpPr txBox="1"/>
          <p:nvPr/>
        </p:nvSpPr>
        <p:spPr>
          <a:xfrm>
            <a:off x="1143000" y="2520696"/>
            <a:ext cx="10408615" cy="16662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England it became official policy. In the 1280s King Edward I taxed Jewish moneylenders to pay for his wars, had them arrested when they could no longer pay, made them wear a yellow patch, restricted where they could go and executed the heads of families.</a:t>
            </a:r>
            <a:endParaRPr lang="en-US" sz="2200" dirty="0"/>
          </a:p>
        </p:txBody>
      </p:sp>
      <p:sp>
        <p:nvSpPr>
          <p:cNvPr id="17" name="bullet-card"/>
          <p:cNvSpPr/>
          <p:nvPr/>
        </p:nvSpPr>
        <p:spPr>
          <a:xfrm>
            <a:off x="548640" y="4333240"/>
            <a:ext cx="11094415" cy="742696"/>
          </a:xfrm>
          <a:prstGeom prst="roundRect">
            <a:avLst>
              <a:gd name="adj" fmla="val 9850"/>
            </a:avLst>
          </a:prstGeom>
          <a:solidFill>
            <a:srgbClr val="F4F1ED"/>
          </a:solidFill>
          <a:ln/>
        </p:spPr>
      </p:sp>
      <p:sp>
        <p:nvSpPr>
          <p:cNvPr id="18" name="bullet-hex"/>
          <p:cNvSpPr/>
          <p:nvPr/>
        </p:nvSpPr>
        <p:spPr>
          <a:xfrm>
            <a:off x="676656" y="4538295"/>
            <a:ext cx="384048" cy="332586"/>
          </a:xfrm>
          <a:prstGeom prst="hexagon">
            <a:avLst/>
          </a:prstGeom>
          <a:solidFill>
            <a:srgbClr val="7A4A1E"/>
          </a:solidFill>
          <a:ln/>
        </p:spPr>
      </p:sp>
      <p:sp>
        <p:nvSpPr>
          <p:cNvPr id="19" name="bullet"/>
          <p:cNvSpPr txBox="1"/>
          <p:nvPr/>
        </p:nvSpPr>
        <p:spPr>
          <a:xfrm>
            <a:off x="1143000" y="4333240"/>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Two things follow from this list, and good answers say both.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Antisemitism was not invented by the Nazis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way in which the persecution of Jewish people stayed the same between the 1280s and the 1930s, and one way in which it changed.</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Choose your continuity: in both periods Jewish people were marked out in public. Edward I made people wear a yellow patch; the Nazis made people wear a Star of David.</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why that counts as continuity: in both cases the state used a visible sign so that everyone could see who was Jewish.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Antisemitism was not invented by the Nazis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way in which the persecution of Jewish people stayed the same between the 1280s and the 1930s, and one way in which it changed.</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Choose your change: Edward I expelled Jewish people from England, while the Nazis set out to murder them.</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the scale of the change: expulsion is the loss of a home and a country; genocide is the attempt to destroy a whole people. Name both, and say which is the greater change.</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Continuity: both states forced Jewish people to wear a visible sign. Change: the aim moved from expelling people to murdering them, which is the difference between persecution and genocide.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Germany's crisis, and Hitler's chance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explain why antisemitism grew in Germany, give the crisis AND the choice. A crisis explains the opportunity; it never excuses the decision.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Germany lost the First World War, and the Treaty of Versailles that followed left the country in an economic and social mess.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dates Hitler's leadership of the Nazi Party to 1925.</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Notice the shape of this. A real crisis gave the Nazis their opening, and an old prejudice gave them a target.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long history,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these examples of antisemitism in Europe into chronological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Jewish people are blamed for the deaths caused by the Black Death (1348)</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Early Christian writers blame Jewish people as a whole for the death of Jesus (313 AD)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Roman rulers persecute Jewish people and expel them from areas they control (66 AD)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Edward I expels every Jewish person from England (1290)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Martin Luther publishes a pamphlet urging the persecution of Jewish people (1543)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The long history, in order</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long history,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item has a date in brackets. Read all five dates before you move anything.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dates are given as AD and are much smaller numbers: those two come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put the four-figure dates in order, smallest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reads sensibly: Roman empire, early Christian Europe, medieval England, the Black Death, then the Reformation.</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Smallest date first. The two AD dates are the earliest of all.</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two of these five examples and explain what they have in common. Then explain one important difference between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Why did so many Germans agree?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how Hitler and the Nazi Party used antisemitism to win support in Germany after the First World War.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Why did so many Germans agree?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did so many Germans agree?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Sentence 1: After the First World War, Germany was in crisis.</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Sentence 2: give one or two details of the Treaty of Versailles.</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Sentences 3 and 4: name two Nazi promises, then say who Hitler blamed.</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Last sentence: say that Germans chose to agree, and give a date.</a:t>
            </a:r>
            <a:endParaRPr lang="en-US" sz="20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2000" b="1" dirty="0">
                <a:solidFill>
                  <a:srgbClr val="623B18"/>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Crisis, promises, blame, choice. Four moves, in that order, with one date.</a:t>
            </a:r>
            <a:endParaRPr lang="en-US" sz="20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historians are careful to say that the crisis gave the Nazis an opportunity rather than that the crisis caused the Holocaust.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0111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Why does your lesson spend a whole task on Jewish life in Europe before 1933?</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the people who were murdered had homes, jobs and families, and should be remembered as people and not only as victims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it shows that what happened next could not have been prevented</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pre-war life is more interesting than the rest of the unit</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the Jewish communities of Europe were very small and easy to describe</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long history,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Roman rulers persecute Jewish people and expel them from areas they control (66 AD)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Early Christian writers blame Jewish people as a whole for the death of Jesus (313 AD)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Edward I expels every Jewish person from England (1290)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Jewish people are blamed for the deaths caused by the Black Death (1348)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Martin Luther publishes a pamphlet urging the persecution of Jewish people (1543)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66 AD, 313 AD, 1290, 1348 and 1543. The order matters because it shows that antisemitism was old and familiar across Europe, which is part of why Nazi propaganda spread so fast.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Why did so many Germans agree?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945185"/>
          </a:xfrm>
          <a:prstGeom prst="roundRect">
            <a:avLst>
              <a:gd name="adj" fmla="val 9674"/>
            </a:avLst>
          </a:prstGeom>
          <a:solidFill>
            <a:srgbClr val="F4F1ED"/>
          </a:solidFill>
          <a:ln/>
        </p:spPr>
      </p:sp>
      <p:sp>
        <p:nvSpPr>
          <p:cNvPr id="9" name="tickbox"/>
          <p:cNvSpPr/>
          <p:nvPr/>
        </p:nvSpPr>
        <p:spPr>
          <a:xfrm>
            <a:off x="713232" y="2310536"/>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the crisis Germany was in after the First World War, using at least one detail from the Treaty of Versailles.</a:t>
            </a:r>
            <a:endParaRPr lang="en-US" sz="2200" dirty="0"/>
          </a:p>
        </p:txBody>
      </p:sp>
      <p:sp>
        <p:nvSpPr>
          <p:cNvPr id="11" name="crit-box"/>
          <p:cNvSpPr/>
          <p:nvPr/>
        </p:nvSpPr>
        <p:spPr>
          <a:xfrm>
            <a:off x="548640" y="3020873"/>
            <a:ext cx="11094415" cy="604317"/>
          </a:xfrm>
          <a:prstGeom prst="roundRect">
            <a:avLst>
              <a:gd name="adj" fmla="val 15131"/>
            </a:avLst>
          </a:prstGeom>
          <a:solidFill>
            <a:srgbClr val="F4F1ED"/>
          </a:solidFill>
          <a:ln/>
        </p:spPr>
      </p:sp>
      <p:sp>
        <p:nvSpPr>
          <p:cNvPr id="12" name="tickbox"/>
          <p:cNvSpPr/>
          <p:nvPr/>
        </p:nvSpPr>
        <p:spPr>
          <a:xfrm>
            <a:off x="713232" y="3176727"/>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020873"/>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what the Nazi Party promised people, giving at least two of its promises.</a:t>
            </a:r>
            <a:endParaRPr lang="en-US" sz="2200" dirty="0"/>
          </a:p>
        </p:txBody>
      </p:sp>
      <p:sp>
        <p:nvSpPr>
          <p:cNvPr id="14" name="crit-box"/>
          <p:cNvSpPr/>
          <p:nvPr/>
        </p:nvSpPr>
        <p:spPr>
          <a:xfrm>
            <a:off x="548640" y="3716630"/>
            <a:ext cx="11094415" cy="604317"/>
          </a:xfrm>
          <a:prstGeom prst="roundRect">
            <a:avLst>
              <a:gd name="adj" fmla="val 15131"/>
            </a:avLst>
          </a:prstGeom>
          <a:solidFill>
            <a:srgbClr val="F4F1ED"/>
          </a:solidFill>
          <a:ln/>
        </p:spPr>
      </p:sp>
      <p:sp>
        <p:nvSpPr>
          <p:cNvPr id="15" name="tickbox"/>
          <p:cNvSpPr/>
          <p:nvPr/>
        </p:nvSpPr>
        <p:spPr>
          <a:xfrm>
            <a:off x="713232" y="3872484"/>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716630"/>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how Hitler used antisemitism, and say who he blamed for the crisis.</a:t>
            </a:r>
            <a:endParaRPr lang="en-US" sz="2200" dirty="0"/>
          </a:p>
        </p:txBody>
      </p:sp>
      <p:sp>
        <p:nvSpPr>
          <p:cNvPr id="17" name="crit-box"/>
          <p:cNvSpPr/>
          <p:nvPr/>
        </p:nvSpPr>
        <p:spPr>
          <a:xfrm>
            <a:off x="548640" y="4412386"/>
            <a:ext cx="11094415" cy="945185"/>
          </a:xfrm>
          <a:prstGeom prst="roundRect">
            <a:avLst>
              <a:gd name="adj" fmla="val 9674"/>
            </a:avLst>
          </a:prstGeom>
          <a:solidFill>
            <a:srgbClr val="F4F1ED"/>
          </a:solidFill>
          <a:ln/>
        </p:spPr>
      </p:sp>
      <p:sp>
        <p:nvSpPr>
          <p:cNvPr id="18" name="tickbox"/>
          <p:cNvSpPr/>
          <p:nvPr/>
        </p:nvSpPr>
        <p:spPr>
          <a:xfrm>
            <a:off x="713232" y="4738675"/>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412386"/>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make clear that Germans chose to agree with him, rather than writing as though they had no choice.</a:t>
            </a:r>
            <a:endParaRPr lang="en-US" sz="2200" dirty="0"/>
          </a:p>
        </p:txBody>
      </p:sp>
      <p:sp>
        <p:nvSpPr>
          <p:cNvPr id="20" name="crit-box"/>
          <p:cNvSpPr/>
          <p:nvPr/>
        </p:nvSpPr>
        <p:spPr>
          <a:xfrm>
            <a:off x="548640" y="5449011"/>
            <a:ext cx="11094415" cy="604317"/>
          </a:xfrm>
          <a:prstGeom prst="roundRect">
            <a:avLst>
              <a:gd name="adj" fmla="val 15131"/>
            </a:avLst>
          </a:prstGeom>
          <a:solidFill>
            <a:srgbClr val="F4F1ED"/>
          </a:solidFill>
          <a:ln/>
        </p:spPr>
      </p:sp>
      <p:sp>
        <p:nvSpPr>
          <p:cNvPr id="21" name="tickbox"/>
          <p:cNvSpPr/>
          <p:nvPr/>
        </p:nvSpPr>
        <p:spPr>
          <a:xfrm>
            <a:off x="713232" y="5604866"/>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449011"/>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one date correctly, such as 1925 or 1934.</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Model answer: Why did so many Germans agree?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After the First World War, Germany was in a deep economic and social crisis. The Treaty of Versailles had taken its land and colonies, cut its army to 100,000 soldiers, made it accept guilt for the war and demanded enormous reparations, and photographs from those years show homeless shelters and women queuing for rations. When Hitler became leader of the Nazi Party in 1925, the Party promised to tear up the Treaty, to bring back jobs and pensions and to rebuild the army, which answered exactly what many Germans were angry and frightened about. Alongside those promises, Hitler blamed Jewish people for Germany's suffering, and claimed that the German race was the best in the world. This gave people a target for their anger and a reason to feel proud again, so support for the Party grew. It is important to say that Germans chose to accept this: many people saw how much Hitler hated Jewish people and gradually agreed with him, and by 1934 he had the power of a dictator.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does your lesson spend a whole task on Jewish life in Europe before 1933?</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Because the people who were murdered had homes, jobs and families, and should be remembered as people and not only as victims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lives before matter because they are what was destroyed. A figure tells you how many; a profile, a photograph or a name tells you who, and your lesson sets out to do both.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Holocaust · Chapter 2: Jewish life in Europe before the Nazis, and where antisemitism came from</dc:title>
  <dc:subject>History · Year 9</dc:subject>
  <dc:creator>Dr Vitor Merissi de Carvalho</dc:creator>
  <cp:lastModifiedBy>Dr Vitor Merissi de Carvalho</cp:lastModifiedBy>
  <cp:revision>1</cp:revision>
  <dcterms:created xsi:type="dcterms:W3CDTF">2026-10-19T06:07:54Z</dcterms:created>
  <dcterms:modified xsi:type="dcterms:W3CDTF">2026-10-19T06:07:54Z</dcterms:modified>
</cp:coreProperties>
</file>