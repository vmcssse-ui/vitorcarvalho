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3a1cb88-2c71-e353-e9b7-b017cd94b2c8}">
          <p14:sldIdLst>
            <p14:sldId id="256"/>
          </p14:sldIdLst>
        </p14:section>
        <p14:section name="Gate" id="{c845c70b-86d5-ffa4-b51a-a8083bedb2da}">
          <p14:sldIdLst>
            <p14:sldId id="257"/>
            <p14:sldId id="258"/>
            <p14:sldId id="259"/>
          </p14:sldIdLst>
        </p14:section>
        <p14:section name="Pre-teach" id="{3064c122-b26d-dec8-9c5f-f4ab7fa42f8e}">
          <p14:sldIdLst>
            <p14:sldId id="260"/>
          </p14:sldIdLst>
        </p14:section>
        <p14:section name="Read-along" id="{be8e3616-18e3-e3e5-5067-6517da3b5518}">
          <p14:sldIdLst>
            <p14:sldId id="261"/>
            <p14:sldId id="262"/>
          </p14:sldIdLst>
        </p14:section>
        <p14:section name="Teach" id="{b0f7b8d4-c8f5-dc10-d200-56928ceb4687}">
          <p14:sldIdLst>
            <p14:sldId id="263"/>
            <p14:sldId id="264"/>
            <p14:sldId id="265"/>
            <p14:sldId id="266"/>
          </p14:sldIdLst>
        </p14:section>
        <p14:section name="Routes" id="{1c848fca-4821-2ab5-8ae2-824678e8eaac}">
          <p14:sldIdLst>
            <p14:sldId id="267"/>
            <p14:sldId id="268"/>
            <p14:sldId id="269"/>
            <p14:sldId id="270"/>
            <p14:sldId id="271"/>
          </p14:sldIdLst>
        </p14:section>
        <p14:section name="Close" id="{8f42dfec-d899-cf0a-afcd-136a894a6763}">
          <p14:sldIdLst>
            <p14:sldId id="272"/>
          </p14:sldIdLst>
        </p14:section>
        <p14:section name="Answers" id="{9750a5e0-901e-3fe7-3e28-82339b4cf987}">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Who was responsible, and how do we read the sources?. Perpetrators, bystanders and rescuers; the trials that followed the war; the question of what Britain and America did; and the four-step method your assessment uses to read a source.
This deck covers the department's lessons: 5 (1941-1945: the Final Solution and responsibility: How did the treatment of Jewish people change after 1941, and who should be held responsible?); 6 (Review and assessment: Can you use content, nature, origin and purpose to explain what a source tells you about the Holocaust?).
Read the big question aloud: "What was the Holocaust, how did it happen step by step, and who should be held responsible?"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the difference between a perpetrator and a bystander?  →  A   A perpetrator took part in what was done; a bystander stood by and let it happen
2. In the CNOP method, the ___ of a source means who made it, when they made it and where it came from.  →  origin
3. A poster was made by the Nazis to turn people against Jewish people. It is not trustworthy about Jewish people at all. What is it still useful to a historian for?  →  C   Showing how the Nazis used propaganda to spread antisemitism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the difference between a perpetrator and a bystander?  →  A   A perpetrator took part in what was done; a bystander stood by and let it happen
2. In the CNOP method, the ___ of a source means who made it, when they made it and where it came from.  →  origin
3. A poster was made by the Nazis to turn people against Jewish people. It is not trustworthy about Jewish people at all. What is it still useful to a historian for?  →  C   Showing how the Nazis used propaganda to spread antisemitism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perpetrator took part in what was done; a bystander stood by and let it happen. A perpetrator takes part; a bystander knows and does nothing. Both made a choice, which is why your lesson asks you to compare them.
2. origin. Origin is the third step of CNOP: who, when and where. It is what lets you ask whether the person making the source was in a position to know, and whether they had a reason to shade the truth.
3. C   Showing how the Nazis used propaganda to spread antisemitism. Your lesson's rule is that a source is never useless. A propaganda poster is poor evidence about its target and first-class evidence about the people who made it.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perpetrator: a person who took part in what was done. Example: "A guard, a clerk and an engineer could all be perpetrators."
• bystander: a person who stood by and let it happen. Example: "A neighbour who watched and said nothing was a bystander."
• rescuer: a person who did something to help those being persecuted. Example: "A rescuer might hide a family at great risk to themselves."
• origin: who made a source, when they made it and where it came from. Example: "The origin of the source is a Nazi minister writing in 1938."
• purpose: why a source was made, and what it wants you to believe. Example: "The purpose of a propaganda poster is to change what people think."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Holocaust was too large for one person to carry out alone.
2. It needed the police, the railways, the army and the civil service.
3. It needed clerks who wrote lists and businesses that took the contracts.
4. A perpetrator is a person who took part in what was done.
5. A bystander is a person who stood by and let it happen.
6. A rescuer is a person who did something to help.
7. Every one of those people made a choice.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After the war, leading Nazis were tried at Nuremberg.
9. Adolf Eichmann escaped and hid in Argentina until 1960.
10. At his trial he said he had only been following orders.
11. Historians ask what Britain and America knew, and when.
12. To answer questions like these we have to read sources carefully.
13. We ask about the content, the nature, the origin and the purpose.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Perpetrators, bystanders and rescuers. Say it in your own words, then check understanding with a quick question: ask a pupil from the pre-teach group first, since they met these words and ideas before the lesson. Pupils try to recall before you re-explain.
A perpetrator is a person who took part in what was done. A bystander is a person who stood by and let it happen. A rescuer is a person who did something to help those who were being persecuted, and a victim is a person harmed or killed by what was done. Those four words are the tools your lesson gives you for thinking about responsibility.
It is impossible for one person to carry out an operation the size of the Holocaust alone. It was only possible because it was organised and paid for by a state, which means it needed many groups: the SS and the police, the army, the railways that ran the trains, the civil servants who wrote the lists and the orders, and German businesses and industry that supplied and profited. Your lesson asks you to decide how much responsibility each of those groups should carry.
That is a difficult question, and historians disagree about it. A guard at Auschwitz, a clerk compiling lists, a neighbour watching a shopkeeper sweep up broken glass, someone who noticed trains full of people passing and coming back empty, a person who reported a hidden family, and the Allied governments who knew about the deportations and did not act are not all equally responsible. What they have in common is that each of them faced a choice, and that some people in each group chose differently.
Tip: When you weigh responsibility, say what the person knew, what they did, and what it would have cost them to act otherwise. Those three things are your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trials, and the man who said he was only following orders. Say it in your own words, then check understanding with a quick question: ask a pupil from the pre-teach group first, since they met these words and ideas before the lesson. Pupils try to recall before you re-explain.
When the war ended and the Allies discovered what had been done in the camps, leading Nazis were arrested and put on trial at what became known as the Nuremberg Trials. Many were found guilty and sentenced to death. Two men were missing from the dock. Adolf Hitler had killed himself before he could be captured, and Adolf Eichmann had disappeared.
Eichmann was one of the main organisers of the Final Solution. He was at the Wannsee Conference in 1942, where Nazi officials agreed to murder the Jewish people of Europe, and he organised the deportation of millions of people across the continent. He escaped capture in 1945 and lived in hiding in Argentina until 1960, when he was captured by members of the Israeli Secret Service and taken to Israel to stand trial.
His defence was that he had been an official doing a job, and that the responsibility lay with those who gave the orders. The court did not accept it, and neither do historians, for a simple reason: the Holocaust needed people who were willing to do that work, and Eichmann organised it for years, with energy and care. Following orders is itself something a person decides to do.
Tip: Eichmann is your strongest example for a question about responsibility, because his own defence is the argument you have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did Britain and America do?. Say it in your own words, then check understanding with a quick question: ask a pupil from the pre-teach group first, since they met these words and ideas before the lesson. Pupils try to recall before you re-explain.
In 1944 a detailed report on what was happening at Auschwitz reached Britain and America. It had been written from the account of Rudolf Vrba, who had escaped from the camp in order to warn the world, and it is usually called the Vrba Report. The Allies were slow to act on it, and while they argued about whether it was true and what to do, Jewish people in Hungary were being killed in very large numbers every day.
The historian Jonathan Freedland argues that prejudice shaped that response. British officials dismissed the report as exaggeration and complained about having to discuss Jewish suffering at all; American army officials sent it back on the grounds that it was too much about Jewish victims for their own soldiers to support, because they did not want the public to think they were fighting the war on behalf of Jewish people. Freedland argues that both Churchill and Roosevelt played down the genocide because they feared how their publics would react.
Your lesson asks how much blame Britain and America should receive for allowing the Holocaust to happen. There is no settled answer, and the honest ones are careful: the Allies did not plan or carry out the genocide, and bombing a camp would have killed the prisoners in it, but they knew a great deal by 1944 and chose not to make rescue a war aim. Say what they knew, say what they did, and then make your judgement.
Tip: On this question, separate three things: what the Allies knew, what they could have done, and what they chose to do. Then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CNOP: how to read a source. Say it in your own words, then check understanding with a quick question: ask a pupil from the pre-teach group first, since they met these words and ideas before the lesson. Pupils try to recall before you re-explain.
Your assessment asks what you can learn from two sources about the Holocaust, and your lessons give you a method for answering: CNOP. Content is what the source says or shows, what it is arguing, and what your own knowledge adds. Nature is what type of source it is: a diary, a newspaper interview, a photograph, a poster, a letter, or a historian's interpretation. Origin is who made it, when and where. Purpose is why it was made, and what it wants you to think or believe.
Then weigh it. Every source has limitations, which are the parts that are less useful or less reliable, and your lesson is firm that every source is still useful in some way: a source is never useless. A Nazi poster is almost worthless as evidence about Jewish people and invaluable as evidence about Nazi propaganda. A survivor interviewed eighty years later may not recall every detail, and no document in the world can tell you what she could tell you about what that night felt like to a ten-year-old.
Use your lesson's sentence starters until you no longer need them. The source shows that... According to my own knowledge the source is accurate, or not accurate. I know that... The nature of the source is... The origin of the source is... The purpose of the source would have been... This makes the source more, or less, trustworthy because...
Worked example — model it step by step, thinking aloud: Source B is the diary of Joseph Goebbels, the Nazi minister for propaganda, written on 10 November 1938, the morning after Kristallnacht. It records synagogues burning and Jewish shops being destroyed, says that nothing will be done to stop it, and blames Jewish people for the shooting of the German official in Paris. What can you learn from it, and how far can you trust it? (1) Content: the source shows that Jewish property across Germany was being destroyed, and that the Nazi government had decided not to intervene. It also shows that Goebbels blamed the Jewish community for what was being done to it. (2) Own knowledge: I know that more than 90 Jewish people were killed and 30,000 Jewish men were arrested, and that the attacks were led by the Nazi Party's own private army and the Hitler Youth. That supports the source on what happened and challenges its claim that this was the public's anger. (3) Nature and origin: it is a private diary, written by Hitler's propaganda minister, on the morning after the attacks he had ordered. (4) Purpose and trust: a diary written by the man who gave the orders is not trying to be fair; it is recording and justifying his own decision. That makes it less trustworthy about who was to blame, and extremely useful as evidence of how the Nazi leadership thought. Answer: Content: destruction of Jewish property, with the state standing back. Own knowledge supports the events and challenges the explanation. Origin and purpose: the minister who ordered it, justifying himself, so less trustworthy on blame and very useful on Nazi thinking..
Tip: Finish every source answer with what the source IS good for. That is the sentence that lifts an answer from describing to evaluating.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four steps of CNOP.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steps of the CNOP source method in the order your lesson gives them.
Support — work through the steps with the group: (1) The letters of the name give you the order: C, N, O, P. (2) Start with what the source actually says. That is the content. (3) Then what kind of thing it is, then who made it. (4) The last step is the hardest and the most useful: why was it made at all?
Parallel worked example for Support (model it, do not give the task answer): Put the three steps of a PEE paragraph in order: explain the link; make your point; give the evidence. The point comes first, so the reader knows what you are arguing.; Then the evidence that supports it.; Then the explanation of how the evidence proves the point.. Answer: Make your point; give the evidence; explain the link..
Core — reveal the hint only on request: Say the word CNOP out loud. Each letter is a step.
Stretch — no help; when finished: Explain why purpose comes last, and why an answer that stops after content and origin usually loses the most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four steps of CNOP.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steps of the CNOP source method in the order your lesson gives them.
Support — work through the steps with the group: (1) The letters of the name give you the order: C, N, O, P. (2) Start with what the source actually says. That is the content. (3) Then what kind of thing it is, then who made it. (4) The last step is the hardest and the most useful: why was it made at all?
Parallel worked example for Support (model it, do not give the task answer): Put the three steps of a PEE paragraph in order: explain the link; make your point; give the evidence. The point comes first, so the reader knows what you are arguing.; Then the evidence that supports it.; Then the explanation of how the evidence proves the point.. Answer: Make your point; give the evidence; explain the link..
Core — reveal the hint only on request: Say the word CNOP out loud. Each letter is a step.
Stretch — no help; when finished: Explain why purpose comes last, and why an answer that stops after content and origin usually loses the most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can you learn from this source?.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Source B is the diary of Joseph Goebbels, the Nazi minister for propaganda, written on 10 November 1938, the morning after Kristallnacht. It records synagogues burning and Jewish shops being destroyed, says that nothing will be done to stop it, and blames Jewish people for the shooting of the German official in Paris. What can you learn from Source B about Kristallnacht? Write three short paragraphs: content with your own knowledge; nature and origin; purpose and trustworthiness.
Support — work through the steps with the group: (1) Paragraph 1, content and own knowledge: From Source B I can learn... The source records... According to my own knowledge the source is... I know that... and that... (2) Paragraph 2, nature and origin: The nature of the source is a... The origin of the source is... (3) Paragraph 3, purpose and trust: The purpose of the source was... This makes it less trustworthy about... but it is still useful for... (4) Read it back and check all four CNOP steps are there.
Parallel worked example for Support (model it, do not give the task answer): Source C is a page on a history website, written in 2001, which explains that Hitler organised a boycott of Jewish businesses in April 1933 and that the Nuremberg Laws of 1935 took away Jewish people's citizenship. What can you learn from it, and how far can you trust it? Content: it shows that persecution was carried out through organised boycotts and laws.; Own knowledge: I know the April 1933 boycott was enforced by the SA, which supports it.; Nature and origin: a history website page written long after the events, by writers with access to research.; Purpose and trust: written to inform, so fairly trustworthy, but it is not an eyewitness account and gives no sense of what the laws felt like.. Answer: Reliable as a summary and written to inform, but second hand: useful for the facts, weak on experience..
Core — reveal the hint only on request: One paragraph per stage: content with own knowledge, then nature and origin, then purpose and trust. Finish with what it IS useful for.
Stretch — no help; when finished: Compare Source B with the newspaper interview a survivor gave in 2018. Explain what each source can tell a historian that the other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can you learn from this source?.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Source B is the diary of Joseph Goebbels, the Nazi minister for propaganda, written on 10 November 1938, the morning after Kristallnacht. It records synagogues burning and Jewish shops being destroyed, says that nothing will be done to stop it, and blames Jewish people for the shooting of the German official in Paris. What can you learn from Source B about Kristallnacht? Write three short paragraphs: content with your own knowledge; nature and origin; purpose and trustworthiness.
Support — work through the steps with the group: (1) Paragraph 1, content and own knowledge: From Source B I can learn... The source records... According to my own knowledge the source is... I know that... and that... (2) Paragraph 2, nature and origin: The nature of the source is a... The origin of the source is... (3) Paragraph 3, purpose and trust: The purpose of the source was... This makes it less trustworthy about... but it is still useful for... (4) Read it back and check all four CNOP steps are there.
Parallel worked example for Support (model it, do not give the task answer): Source C is a page on a history website, written in 2001, which explains that Hitler organised a boycott of Jewish businesses in April 1933 and that the Nuremberg Laws of 1935 took away Jewish people's citizenship. What can you learn from it, and how far can you trust it? Content: it shows that persecution was carried out through organised boycotts and laws.; Own knowledge: I know the April 1933 boycott was enforced by the SA, which supports it.; Nature and origin: a history website page written long after the events, by writers with access to research.; Purpose and trust: written to inform, so fairly trustworthy, but it is not an eyewitness account and gives no sense of what the laws felt like.. Answer: Reliable as a summary and written to inform, but second hand: useful for the facts, weak on experience..
Core — reveal the hint only on request: One paragraph per stage: content with own knowledge, then nature and origin, then purpose and trust. Finish with what it IS useful for.
Stretch — no help; when finished: Compare Source B with the newspaper interview a survivor gave in 2018. Explain what each source can tell a historian that the other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can you learn from this source?.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Source B is the diary of Joseph Goebbels, the Nazi minister for propaganda, written on 10 November 1938, the morning after Kristallnacht. It records synagogues burning and Jewish shops being destroyed, says that nothing will be done to stop it, and blames Jewish people for the shooting of the German official in Paris. What can you learn from Source B about Kristallnacht? Write three short paragraphs: content with your own knowledge; nature and origin; purpose and trustworthiness.
Support — work through the steps with the group: (1) Paragraph 1, content and own knowledge: From Source B I can learn... The source records... According to my own knowledge the source is... I know that... and that... (2) Paragraph 2, nature and origin: The nature of the source is a... The origin of the source is... (3) Paragraph 3, purpose and trust: The purpose of the source was... This makes it less trustworthy about... but it is still useful for... (4) Read it back and check all four CNOP steps are there.
Parallel worked example for Support (model it, do not give the task answer): Source C is a page on a history website, written in 2001, which explains that Hitler organised a boycott of Jewish businesses in April 1933 and that the Nuremberg Laws of 1935 took away Jewish people's citizenship. What can you learn from it, and how far can you trust it? Content: it shows that persecution was carried out through organised boycotts and laws.; Own knowledge: I know the April 1933 boycott was enforced by the SA, which supports it.; Nature and origin: a history website page written long after the events, by writers with access to research.; Purpose and trust: written to inform, so fairly trustworthy, but it is not an eyewitness account and gives no sense of what the laws felt like.. Answer: Reliable as a summary and written to inform, but second hand: useful for the facts, weak on experience..
Core — reveal the hint only on request: One paragraph per stage: content with own knowledge, then nature and origin, then purpose and trust. Finish with what it IS useful for.
Stretch — no help; when finished: Compare Source B with the newspaper interview a survivor gave in 2018. Explain what each source can tell a historian that the other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the difference between a perpetrator and a bystander?
Answer: D   A perpetrator took part in what was done; a bystander stood by and let it happen. A perpetrator takes part; a bystander knows and does nothing. Both made a choice, which is why your lesson asks you to compare them.
Source of this question: gate item 1 re-asked (options rotated) — this chapter has no third quick-check module.
The ebook also holds task 3, "Bystanders and perpetrators: how far is that fair?",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four steps of CNOP. Reveal the answer; pupils mark their own work in a different colour, then read the "why" together. Same destination for every lane, so one answer serves the whole class.
Answer: Content: what does the source say or show, and what does my own knowledge add?  (D); Nature: what type of source is it, such as a diary, a photograph or an interview?  (B); Origin: who made it, when and where?  (A); Purpose: why was it made, and what does it want me to think?  (C)
Why: Content, Nature, Origin, Purpose. Content is what it says, nature is what it is, origin is who made it and when, and purpose is why, which is the step that explains the other three.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What can you learn from this source?. Reveal the answer; pupils mark their own work in a different colour, then read the "why" together. Same destination for every lane, so one answer serves the whole class.
Answer: Content: I say what the source shows about Kristallnacht, in my own words, and refer to a detail of it.; Own knowledge: I use at least two facts from chapter 3 and say whether they support or challenge the source.; Nature and origin: I say what type of source it is and who wrote it, when.; Purpose: I explain why it was written and what the writer wanted readers to believe.; Trust: I explain what the source is less trustworthy about and what it is still useful for.
Why: A full answer gives the content with a detail, tests it against specific knowledge from chapter 3, states the nature and origin, explains the purpose, and finishes by saying what the source is less trustworthy about and what it is still good for.
Model answer: From Source B I can learn that Jewish property across Germany was being destroyed during Kristallnacht and that the Nazi government had decided to let it happen. The source records synagogues burning and Jewish shops wrecked, and says that nothing will be done about it, which shows that the state was standing back on purpose rather than losing control. According to my own knowledge the source is accurate about the events. I know that Jewish homes, shops, schools and synagogues were attacked on 9 and 10 November 1938, and that the attacks were led by the Nazi Party's own private army and the Hitler Youth, which supports what the source describes. It is, however, inaccurate about the cause, because it blames the Jewish community for the shooting in Paris, when the Party itself had given the orders. The nature of the source is a private diary, and its origin is Joseph Goebbels, Hitler's minister for propaganda, writing on the morning after the attacks. Its purpose was to record and to justify a decision he had taken himself, and perhaps to prepare the story the Party would tell the public. This makes the source less trustworthy about who was responsible, because the writer was responsible. It is still extremely useful, because it is evidence of how the Nazi leadership thought and of the lie they intended to tell.
Success criteria: Content: I say what the source shows about Kristallnacht, in my own words, and refer to a detail of it.; Own knowledge: I use at least two facts from chapter 3 and say whether they support or challenge the source.; Nature and origin: I say what type of source it is and who wrote it, when.; Purpose: I explain why it was written and what the writer wanted readers to believe.; Trust: I explain what the source is less trustworthy about and what it is still useful for.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What can you learn from this source?. Reveal the answer; pupils mark their own work in a different colour, then read the "why" together. Same destination for every lane, so one answer serves the whole class.
Answer: Content: I say what the source shows about Kristallnacht, in my own words, and refer to a detail of it.; Own knowledge: I use at least two facts from chapter 3 and say whether they support or challenge the source.; Nature and origin: I say what type of source it is and who wrote it, when.; Purpose: I explain why it was written and what the writer wanted readers to believe.; Trust: I explain what the source is less trustworthy about and what it is still useful for.
Why: A full answer gives the content with a detail, tests it against specific knowledge from chapter 3, states the nature and origin, explains the purpose, and finishes by saying what the source is less trustworthy about and what it is still good for.
Model answer: From Source B I can learn that Jewish property across Germany was being destroyed during Kristallnacht and that the Nazi government had decided to let it happen. The source records synagogues burning and Jewish shops wrecked, and says that nothing will be done about it, which shows that the state was standing back on purpose rather than losing control. According to my own knowledge the source is accurate about the events. I know that Jewish homes, shops, schools and synagogues were attacked on 9 and 10 November 1938, and that the attacks were led by the Nazi Party's own private army and the Hitler Youth, which supports what the source describes. It is, however, inaccurate about the cause, because it blames the Jewish community for the shooting in Paris, when the Party itself had given the orders. The nature of the source is a private diary, and its origin is Joseph Goebbels, Hitler's minister for propaganda, writing on the morning after the attacks. Its purpose was to record and to justify a decision he had taken himself, and perhaps to prepare the story the Party would tell the public. This makes the source less trustworthy about who was responsible, because the writer was responsible. It is still extremely useful, because it is evidence of how the Nazi leadership thought and of the lie they intended to tell.
Success criteria: Content: I say what the source shows about Kristallnacht, in my own words, and refer to a detail of it.; Own knowledge: I use at least two facts from chapter 3 and say whether they support or challenge the source.; Nature and origin: I say what type of source it is and who wrote it, when.; Purpose: I explain why it was written and what the writer wanted readers to believe.; Trust: I explain what the source is less trustworthy about and what it is still useful for.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A perpetrator took part in what was done; a bystander stood by and let it happen
Why: A perpetrator takes part; a bystander knows and does nothing. Both made a choice, which is why your lesson asks you to compare them.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Holocaust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Holocaust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Holocaust · AQA KS3 → 8145</a:t>
            </a:r>
            <a:endParaRPr lang="en-US" sz="1800" dirty="0"/>
          </a:p>
        </p:txBody>
      </p:sp>
      <p:sp>
        <p:nvSpPr>
          <p:cNvPr id="10" name="deck-title"/>
          <p:cNvSpPr txBox="1"/>
          <p:nvPr/>
        </p:nvSpPr>
        <p:spPr>
          <a:xfrm>
            <a:off x="548640" y="226237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Who was responsible, and how do we read the sources?</a:t>
            </a:r>
            <a:endParaRPr lang="en-US" sz="2800" dirty="0"/>
          </a:p>
        </p:txBody>
      </p:sp>
      <p:sp>
        <p:nvSpPr>
          <p:cNvPr id="11" name="lessons-card"/>
          <p:cNvSpPr/>
          <p:nvPr/>
        </p:nvSpPr>
        <p:spPr>
          <a:xfrm>
            <a:off x="548640" y="3542538"/>
            <a:ext cx="5287975" cy="1638300"/>
          </a:xfrm>
          <a:prstGeom prst="roundRect">
            <a:avLst>
              <a:gd name="adj" fmla="val 4465"/>
            </a:avLst>
          </a:prstGeom>
          <a:solidFill>
            <a:srgbClr val="F2EDE9"/>
          </a:solidFill>
          <a:ln/>
        </p:spPr>
      </p:sp>
      <p:sp>
        <p:nvSpPr>
          <p:cNvPr id="12" name="lessons"/>
          <p:cNvSpPr txBox="1"/>
          <p:nvPr/>
        </p:nvSpPr>
        <p:spPr>
          <a:xfrm>
            <a:off x="685800" y="363397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1941-1945: the Final Solution and responsibility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Review and assessment</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was the Holocaust, how did it happen step by step, and who should be held responsible?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the difference between a perpetrator and a bystander?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perpetrator took part in what was done; a bystander stood by and let it happen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There is no difference: the words mean the same thing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perpetrator watched; a bystander took part in what was done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perpetrator is a person who was harmed by a crime</a:t>
            </a:r>
            <a:endParaRPr lang="en-US" sz="18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the CNOP method, the ___ of a source means who made it, when they made it and where it came from.</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origin  ·  content  ·  purpose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poster was made by the Nazis to turn people against Jewish people. It is not trustworthy about Jewish people at all. What is it still useful to a historian for?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Showing what Jewish families in Germany were really like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Proving that the claims on the poster were true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Showing how the Nazis used propaganda to spread antisemitism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Showing how the Allied governments responded to the Holocaust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DE1CA"/>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perpetrator took part in what was done; a bystander stood by and let it happen</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perpetrator takes part; a bystander knows and does nothing. Both made a choice, which is why your lesson asks you to compare them.</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origin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Origin is the third step of CNOP: who, when and where. It is what lets you ask whether the person making the source was in a position to know, and whether they had a reason to shade the truth.</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DE1CA"/>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Showing how the Nazis used propaganda to spread antisemitism</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Your lesson's rule is that a source is never useless. A propaganda poster is poor evidence about its target and first-class evidence about the people who made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4F1ED"/>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perpetrator</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person who took part in what was done</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guard, a clerk and an engineer could all be perpetrators.</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bystander</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person who stood by and let it happen</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neighbour who watched and said nothing was a bystander.</a:t>
            </a:r>
            <a:endParaRPr lang="en-US" sz="1800" dirty="0"/>
          </a:p>
        </p:txBody>
      </p:sp>
      <p:sp>
        <p:nvSpPr>
          <p:cNvPr id="21" name="kw-row"/>
          <p:cNvSpPr/>
          <p:nvPr/>
        </p:nvSpPr>
        <p:spPr>
          <a:xfrm>
            <a:off x="548640" y="3639312"/>
            <a:ext cx="11094415" cy="786384"/>
          </a:xfrm>
          <a:prstGeom prst="roundRect">
            <a:avLst>
              <a:gd name="adj" fmla="val 6977"/>
            </a:avLst>
          </a:prstGeom>
          <a:solidFill>
            <a:srgbClr val="F4F1ED"/>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rescuer</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person who did something to help those being persecuted</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rescuer might hide a family at great risk to themselves.</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origin</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who made a source, when they made it and where it came from</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origin of the source is a Nazi minister writing in 1938.</a:t>
            </a:r>
            <a:endParaRPr lang="en-US" sz="1800" dirty="0"/>
          </a:p>
        </p:txBody>
      </p:sp>
      <p:sp>
        <p:nvSpPr>
          <p:cNvPr id="31" name="kw-row"/>
          <p:cNvSpPr/>
          <p:nvPr/>
        </p:nvSpPr>
        <p:spPr>
          <a:xfrm>
            <a:off x="548640" y="5358384"/>
            <a:ext cx="11094415" cy="786384"/>
          </a:xfrm>
          <a:prstGeom prst="roundRect">
            <a:avLst>
              <a:gd name="adj" fmla="val 6977"/>
            </a:avLst>
          </a:prstGeom>
          <a:solidFill>
            <a:srgbClr val="F4F1ED"/>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purpose</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why a source was made, and what it wants you to believe</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purpose of a propaganda poster is to change what people think.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Holocaust was too large for one person to carry out alone.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needed the police, the railways, the army and the civil service.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needed clerks who wrote lists and businesses that took the contracts.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perpetrator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person who took part in what was done.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bystander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person who stood by and let it happen.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rescuer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person who did something to help.</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Every one of those people made a choice.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After the war, leading Nazis were tried at Nuremberg.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Adolf Eichmann escaped and hid in Argentina until 1960.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his trial he said he had only been following orders.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Historians ask what Britain and America knew, and when.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answer questions like these we have to read sources carefully.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ask about the content, the nature,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origin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purpose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Perpetrators, bystanders and rescuers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weigh responsibility, say what the person knew, what they did, and what it would have cost them to act otherwise. Those three things are your evidence.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perpetrator is a person who took part in what was done.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It is impossible for one person to carry out an operation the size of the Holocaust alone.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is a difficult question, and historians disagree about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The trials, and the man who said he was only following orders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Eichmann is your strongest example for a question about responsibility, because his own defence is the argument you have to answer.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When the war ended and the Allies discovered what had been done in the camps, leading Nazis were arrested and put on trial at what became known as the Nuremberg Trials.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Eichmann was one of the main organisers of the Final Solution.</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His defence was that he had been an official doing a job, and that the responsibility lay with those who gave the orders.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did Britain and America do?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On this question, separate three things: what the Allies knew, what they could have done, and what they chose to do. Then judge.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1944 a detailed report on what was happening at Auschwitz reached Britain and America.</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historian Jonathan Freedland argues that prejudice shaped that response.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asks how much blame Britain and America should receive for allowing the Holocaust to happen.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CNOP: how to read a source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Finish every source answer with what the source IS good for. That is the sentence that lifts an answer from describing to evaluating.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assessment asks what you can learn from two sources about the Holocaust, and your lessons give you a method for answering: CNOP.</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Then weigh it. Every source has limitations, which are the parts that are less useful or less reliable, and your lesson is firm that every source is still useful in some way: a source is never useless.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Use your lesson's sentence starters until you no longer need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four steps of CNOP</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four steps of the CNOP source method in the order your lesson gives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Origin: who made it, when and where?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Nature: what type of source is it, such as a diary, a photograph or an interview?</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Purpose: why was it made, and what does it want me to think?</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Content: what does the source say or show, and what does my own knowledge add?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The four steps of CNOP</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four steps of the CNOP source method in the order your lesson gives them.</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ED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letters of the name give you the order: C, N, O, P.</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what the source actually says. That is the content.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what kind of thing it is, then who made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step is the hardest and the most useful: why was it made at all?</a:t>
            </a:r>
            <a:endParaRPr lang="en-US" sz="1800" dirty="0"/>
          </a:p>
        </p:txBody>
      </p:sp>
      <p:sp>
        <p:nvSpPr>
          <p:cNvPr id="17" name="col-Core"/>
          <p:cNvSpPr/>
          <p:nvPr/>
        </p:nvSpPr>
        <p:spPr>
          <a:xfrm>
            <a:off x="5490762" y="2593848"/>
            <a:ext cx="2938987" cy="3550920"/>
          </a:xfrm>
          <a:prstGeom prst="roundRect">
            <a:avLst>
              <a:gd name="adj" fmla="val 1867"/>
            </a:avLst>
          </a:prstGeom>
          <a:solidFill>
            <a:srgbClr val="E2D7C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Say the word CNOP out loud. Each letter is a step.</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purpose comes last, and why an answer that stops after content and origin usually loses the most marks.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What can you learn from this source?</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Source B is the diary of Joseph Goebbels, the Nazi minister for propaganda, written on 10 November 1938, the morning after Kristallnacht. It records synagogues burning and Jewish shops being destroyed, says that nothing will be done to stop it, and blames Jewish people for the shooting of the German official in Paris. What can you learn from Source B about Kristallnacht? Write three short paragraphs: content with your own knowledge; nature and origin; purpose and trustworthiness.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What can you learn from this source?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What can you learn from this source?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398268"/>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What is the difference between a perpetrator and a bystander?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There is no difference: the words mean the same thing</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perpetrator watched; a bystander took part in what was done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perpetrator is a person who was harmed by a crime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perpetrator took part in what was done; a bystander stood by and let it happen</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four steps of CNOP</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Content: what does the source say or show, and what does my own knowledge add?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Nature: what type of source is it, such as a diary, a photograph or an interview?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Origin: who made it, when and where?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Purpose: why was it made, and what does it want me to think?  (C)</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Content, Nature, Origin, Purpose. Content is what it says, nature is what it is, origin is who made it and when, and purpose is why, which is the step that explains the other three.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Answers: What can you learn from this source?</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877011"/>
          </a:xfrm>
          <a:prstGeom prst="roundRect">
            <a:avLst>
              <a:gd name="adj" fmla="val 10426"/>
            </a:avLst>
          </a:prstGeom>
          <a:solidFill>
            <a:srgbClr val="F4F1ED"/>
          </a:solidFill>
          <a:ln/>
        </p:spPr>
      </p:sp>
      <p:sp>
        <p:nvSpPr>
          <p:cNvPr id="9" name="tickbox"/>
          <p:cNvSpPr/>
          <p:nvPr/>
        </p:nvSpPr>
        <p:spPr>
          <a:xfrm>
            <a:off x="713232" y="2276450"/>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8770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Content: I say what the source shows about Kristallnacht, in my own words, and refer to a detail of it.</a:t>
            </a:r>
            <a:endParaRPr lang="en-US" sz="2200" dirty="0"/>
          </a:p>
        </p:txBody>
      </p:sp>
      <p:sp>
        <p:nvSpPr>
          <p:cNvPr id="11" name="crit-box"/>
          <p:cNvSpPr/>
          <p:nvPr/>
        </p:nvSpPr>
        <p:spPr>
          <a:xfrm>
            <a:off x="548640" y="2952699"/>
            <a:ext cx="11094415" cy="877011"/>
          </a:xfrm>
          <a:prstGeom prst="roundRect">
            <a:avLst>
              <a:gd name="adj" fmla="val 10426"/>
            </a:avLst>
          </a:prstGeom>
          <a:solidFill>
            <a:srgbClr val="F4F1ED"/>
          </a:solidFill>
          <a:ln/>
        </p:spPr>
      </p:sp>
      <p:sp>
        <p:nvSpPr>
          <p:cNvPr id="12" name="tickbox"/>
          <p:cNvSpPr/>
          <p:nvPr/>
        </p:nvSpPr>
        <p:spPr>
          <a:xfrm>
            <a:off x="713232" y="3244901"/>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952699"/>
            <a:ext cx="10317175" cy="8770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Own knowledge: I use at least two facts from chapter 3 and say whether they support or challenge the source.</a:t>
            </a:r>
            <a:endParaRPr lang="en-US" sz="2200" dirty="0"/>
          </a:p>
        </p:txBody>
      </p:sp>
      <p:sp>
        <p:nvSpPr>
          <p:cNvPr id="14" name="crit-box"/>
          <p:cNvSpPr/>
          <p:nvPr/>
        </p:nvSpPr>
        <p:spPr>
          <a:xfrm>
            <a:off x="548640" y="3921150"/>
            <a:ext cx="11094415" cy="536143"/>
          </a:xfrm>
          <a:prstGeom prst="roundRect">
            <a:avLst>
              <a:gd name="adj" fmla="val 17055"/>
            </a:avLst>
          </a:prstGeom>
          <a:solidFill>
            <a:srgbClr val="F4F1ED"/>
          </a:solidFill>
          <a:ln/>
        </p:spPr>
      </p:sp>
      <p:sp>
        <p:nvSpPr>
          <p:cNvPr id="15" name="tickbox"/>
          <p:cNvSpPr/>
          <p:nvPr/>
        </p:nvSpPr>
        <p:spPr>
          <a:xfrm>
            <a:off x="713232" y="4042918"/>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921150"/>
            <a:ext cx="10317175" cy="5361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Nature and origin: I say what type of source it is and who wrote it, when.</a:t>
            </a:r>
            <a:endParaRPr lang="en-US" sz="2200" dirty="0"/>
          </a:p>
        </p:txBody>
      </p:sp>
      <p:sp>
        <p:nvSpPr>
          <p:cNvPr id="17" name="crit-box"/>
          <p:cNvSpPr/>
          <p:nvPr/>
        </p:nvSpPr>
        <p:spPr>
          <a:xfrm>
            <a:off x="548640" y="4548734"/>
            <a:ext cx="11094415" cy="536143"/>
          </a:xfrm>
          <a:prstGeom prst="roundRect">
            <a:avLst>
              <a:gd name="adj" fmla="val 17055"/>
            </a:avLst>
          </a:prstGeom>
          <a:solidFill>
            <a:srgbClr val="F4F1ED"/>
          </a:solidFill>
          <a:ln/>
        </p:spPr>
      </p:sp>
      <p:sp>
        <p:nvSpPr>
          <p:cNvPr id="18" name="tickbox"/>
          <p:cNvSpPr/>
          <p:nvPr/>
        </p:nvSpPr>
        <p:spPr>
          <a:xfrm>
            <a:off x="713232" y="4670501"/>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548734"/>
            <a:ext cx="10317175" cy="5361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Purpose: I explain why it was written and what the writer wanted readers to believe.</a:t>
            </a:r>
            <a:endParaRPr lang="en-US" sz="2200" dirty="0"/>
          </a:p>
        </p:txBody>
      </p:sp>
      <p:sp>
        <p:nvSpPr>
          <p:cNvPr id="20" name="crit-box"/>
          <p:cNvSpPr/>
          <p:nvPr/>
        </p:nvSpPr>
        <p:spPr>
          <a:xfrm>
            <a:off x="548640" y="5176317"/>
            <a:ext cx="11094415" cy="877011"/>
          </a:xfrm>
          <a:prstGeom prst="roundRect">
            <a:avLst>
              <a:gd name="adj" fmla="val 10426"/>
            </a:avLst>
          </a:prstGeom>
          <a:solidFill>
            <a:srgbClr val="F4F1ED"/>
          </a:solidFill>
          <a:ln/>
        </p:spPr>
      </p:sp>
      <p:sp>
        <p:nvSpPr>
          <p:cNvPr id="21" name="tickbox"/>
          <p:cNvSpPr/>
          <p:nvPr/>
        </p:nvSpPr>
        <p:spPr>
          <a:xfrm>
            <a:off x="713232" y="5468518"/>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176317"/>
            <a:ext cx="10317175" cy="8770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Trust: I explain what the source is less trustworthy about and what it is still useful for.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Model answer: What can you learn from this source?</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From Source B I can learn that Jewish property across Germany was being destroyed during Kristallnacht and that the Nazi government had decided to let it happen. The source records synagogues burning and Jewish shops wrecked, and says that nothing will be done about it, which shows that the state was standing back on purpose rather than losing control. According to my own knowledge the source is accurate about the events. I know that Jewish homes, shops, schools and synagogues were attacked on 9 and 10 November 1938, and that the attacks were led by the Nazi Party's own private army and the Hitler Youth, which supports what the source describes. It is, however, inaccurate about the cause, because it blames the Jewish community for the shooting in Paris, when the Party itself had given the orders. The nature of the source is a private diary, and its origin is Joseph Goebbels, Hitler's minister for propaganda, writing on the morning after the attacks. Its purpose was to record and to justify a decision he had taken himself, and perhaps to prepare the story the Party would tell the public. This makes the source less trustworthy about who was responsible, because the writer was responsible. It is still extremely useful, because it is evidence of how the Nazi leadership thought and of the lie they intended to tell.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the difference between a perpetrator and a bystander?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 perpetrator took part in what was done; a bystander stood by and let it happen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perpetrator takes part; a bystander knows and does nothing. Both made a choice, which is why your lesson asks you to compare them.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Holocaust · Chapter 6: Who was responsible, and how do we read the sources?</dc:title>
  <dc:subject>History · Year 9</dc:subject>
  <dc:creator>Dr Vitor Merissi de Carvalho</dc:creator>
  <cp:lastModifiedBy>Dr Vitor Merissi de Carvalho</cp:lastModifiedBy>
  <cp:revision>1</cp:revision>
  <dcterms:created xsi:type="dcterms:W3CDTF">2026-10-19T16:23:07Z</dcterms:created>
  <dcterms:modified xsi:type="dcterms:W3CDTF">2026-10-19T16:23:07Z</dcterms:modified>
</cp:coreProperties>
</file>