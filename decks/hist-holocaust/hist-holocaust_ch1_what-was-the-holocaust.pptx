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239e22b-7bab-12a2-1c3d-6df117ffbafe}">
          <p14:sldIdLst>
            <p14:sldId id="256"/>
          </p14:sldIdLst>
        </p14:section>
        <p14:section name="Gate" id="{1cd35f70-e242-293f-7df6-45d8ed10f068}">
          <p14:sldIdLst>
            <p14:sldId id="257"/>
            <p14:sldId id="258"/>
            <p14:sldId id="259"/>
          </p14:sldIdLst>
        </p14:section>
        <p14:section name="Pre-teach" id="{88dce73f-7a30-5e0b-a6ed-d2680e16aff4}">
          <p14:sldIdLst>
            <p14:sldId id="260"/>
            <p14:sldId id="261"/>
          </p14:sldIdLst>
        </p14:section>
        <p14:section name="Read-along" id="{846175a2-2a4a-5518-8a2f-7d2ae05703a3}">
          <p14:sldIdLst>
            <p14:sldId id="262"/>
            <p14:sldId id="263"/>
          </p14:sldIdLst>
        </p14:section>
        <p14:section name="Teach" id="{89b033d6-81fb-10b6-6ffe-fa0c698fe8d9}">
          <p14:sldIdLst>
            <p14:sldId id="264"/>
            <p14:sldId id="265"/>
            <p14:sldId id="266"/>
            <p14:sldId id="267"/>
            <p14:sldId id="268"/>
          </p14:sldIdLst>
        </p14:section>
        <p14:section name="Routes" id="{6418fa4d-b5b9-e339-8e7c-4b9b82ebe0bd}">
          <p14:sldIdLst>
            <p14:sldId id="269"/>
            <p14:sldId id="270"/>
            <p14:sldId id="271"/>
            <p14:sldId id="272"/>
          </p14:sldIdLst>
        </p14:section>
        <p14:section name="Close" id="{a5613fd0-753f-7b2c-be9f-818d2b0661b3}">
          <p14:sldIdLst>
            <p14:sldId id="273"/>
          </p14:sldIdLst>
        </p14:section>
        <p14:section name="Answers" id="{490a5ddf-bb39-3986-5576-16b1f9220bd2}">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What was the Holocaust, and why do we study it?. What the Holocaust was, who the Nazis persecuted, the words historians use for it, and why this part of history is studied so carefully.
This deck covers the department's lesson: 1 (Introduction to the Holocaust and the people involved: What was the Holocaust, why do we study it, and who was involved?).
Read the big question aloud: "What was the Holocaust, how did it happen step by step, and who should be held responsible?"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Holocaust?  →  B   The murder of millions of Jewish people, and of other groups, organised by the Nazi Party in Germany
2. The deliberate killing of a large number of people from one nation or group, meaning to destroy that group, is called ___.  →  genocide
3. As well as Jewish people, which groups did the Nazis persecute?  →  C   Roma people, disabled people, gay people and political opponents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Holocaust?  →  B   The murder of millions of Jewish people, and of other groups, organised by the Nazi Party in Germany
2. The deliberate killing of a large number of people from one nation or group, meaning to destroy that group, is called ___.  →  genocide
3. As well as Jewish people, which groups did the Nazis persecute?  →  C   Roma people, disabled people, gay people and political opponents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The murder of millions of Jewish people, and of other groups, organised by the Nazi Party in Germany. The Holocaust was the organised murder of millions of Jewish people, and of other groups the Nazis targeted, before and during the Second World War.
2. genocide. Genocide is the word for an attempt to destroy a whole people. That is what makes the Holocaust a genocide and not only a persecution.
3. C   Roma people, disabled people, gay people and political opponents. Your lesson is clear that the Nazis persecuted many groups: Roma people, disabled people, gay people, people with mental illness and political opponents, as well as Jewish people.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Holocaust: the murder of millions of Jewish people, and of other groups, organised by the Nazi state. Example: "The Holocaust took place in Europe before and during the Second World War."
• genocide: the deliberate killing of a large number of people from one group, meaning to destroy that group. Example: "Historians call the Holocaust a genocide because the Nazis set out to destroy a whole people."
• persecution: cruel and unfair treatment of people because of their race, religion or politics. Example: "Persecution began with unfair laws long before it ended in murder."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antisemitism: hostility to or prejudice against Jewish people. Example: "Antisemitism was not invented by the Nazis, but they built their politics on it."
• victim: a person who is harmed, injured or killed by a crime or by someone's actions. Example: "Every victim of the Holocaust had a name, a family and a life before."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Holocaust happened in Europe before and during the Second World War.
2. Germany's Nazi Party, led by Adolf Hitler, organised it.
3. Millions of Jewish people were murdered because of who they were.
4. Roma people, disabled people and gay people were targeted too.
5. So were political opponents of the Nazis.
6. About eleven million people were killed in the Holocaust.
7. Six million of these people were Jewish.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Each one of them had a name and a family.
9. They had homes, jobs, schools and friends before the Nazis took power.
10. We study the Holocaust so that those people are not forgotten.
11. We also study it because it was not an accident.
12. People planned it, and other people chose to let it happen.
13. Historians ask who took part, who watched, and who helped.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was the Holocaust?. Say it in your own words, then check understanding with a quick question: ask a pupil from the pre-teach group first, since they met these words and ideas before the lesson. Pupils try to recall before you re-explain.
The Holocaust was the organised murder of Europe's Jewish people by the Nazi state, in the years before and during the Second World War. Your lesson's definition is that millions of Jewish people were killed for who they were, and that it was the Nazi Party, under Adolf Hitler, that organised it. The war itself ran from 1939 to 1945, but the persecution that led to the killings began as soon as the Nazis took power, six years earlier.
Jewish people were the main target, but they were not the only one. The Nazis also murdered Roma people and disabled people, and they arrested gay people, people with mental illness and political opponents and took away their rights; many of those people died as a result of how they were treated. It is estimated that eleven million people were killed in the Holocaust. Six million of them were Jewish, which is about two-thirds of all the Jewish people then living in Europe.
Those numbers are so large that they can hide what they are made of. Behind every one of them is a person who had a home, a family, a job or a school place, and a future that was taken from them. Jewish people in Germany were also made to identify themselves in public by wearing a Star of David, so that nobody could forget who they were.
Tip: When you write about this topic, lead with people. A figure is evidence of how many; it is never the whole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words historians use. Say it in your own words, then check understanding with a quick question: ask a pupil from the pre-teach group first, since they met these words and ideas before the lesson. Pupils try to recall before you re-explain.
Genocide means the deliberate killing of a large number of people from one nation or ethnic group, meaning to destroy that nation or group. Persecution is the cruel and unfair treatment of people, especially because of their race, politics or religion. Persecution came first in Nazi Germany, and it was legal: it was written into the law.
Antisemitism means hostility to or prejudice against Jewish people. Extermination means killing, especially of a whole group. A victim is a person who has been harmed, injured or killed by a crime or by someone's actions. You will need all of these words precisely, because the difference between them is the difference between stages of what happened.
In this unit we write Jewish people and the Jewish community, rather than a single label that turns millions of different people into one thing. The Nazis used labels to make people seem less than human, and the words historians choose now refuse to do that. It is a small decision that tells your reader how carefully you are thinking.
Worked example — model it step by step, thinking aloud: A pupil writes: in 1935 the Nazis carried out genocide against Jewish people by passing the Nuremberg Laws. What is wrong with this sentence, and how would you correct it? (1) Check the word against its meaning: genocide means killing a group in order to destroy it. (2) Check what the Nuremberg Laws actually did: they removed citizenship and rights. Nobody was killed by the Act itself. (3) So the word is wrong for 1935. The right word for unfair and cruel treatment under the law is persecution. (4) Correct it, and keep the chain clear: in 1935 the Nazis increased their persecution of Jewish people by passing the Nuremberg Laws, which took away their citizenship. Answer: Genocide is the wrong word for a law that took away rights. The Nuremberg Laws were persecution; the genocide came later, and the two words mark different stages..
Tip: Persecution, then genocide. Using the right word in the right place is half of a good Year 9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words historians use. Say it in your own words, then check understanding with a quick question: ask a pupil from the pre-teach group first, since they met these words and ideas before the lesson. Pupils try to recall before you re-explain.
Genocide means the deliberate killing of a large number of people from one nation or ethnic group, meaning to destroy that nation or group. Persecution is the cruel and unfair treatment of people, especially because of their race, politics or religion. Persecution came first in Nazi Germany, and it was legal: it was written into the law.
Antisemitism means hostility to or prejudice against Jewish people. Extermination means killing, especially of a whole group. A victim is a person who has been harmed, injured or killed by a crime or by someone's actions. You will need all of these words precisely, because the difference between them is the difference between stages of what happened.
In this unit we write Jewish people and the Jewish community, rather than a single label that turns millions of different people into one thing. The Nazis used labels to make people seem less than human, and the words historians choose now refuse to do that. It is a small decision that tells your reader how carefully you are thinking.
Worked example — model it step by step, thinking aloud: A pupil writes: in 1935 the Nazis carried out genocide against Jewish people by passing the Nuremberg Laws. What is wrong with this sentence, and how would you correct it? (1) Check the word against its meaning: genocide means killing a group in order to destroy it. (2) Check what the Nuremberg Laws actually did: they removed citizenship and rights. Nobody was killed by the Act itself. (3) So the word is wrong for 1935. The right word for unfair and cruel treatment under the law is persecution. (4) Correct it, and keep the chain clear: in 1935 the Nazis increased their persecution of Jewish people by passing the Nuremberg Laws, which took away their citizenship. Answer: Genocide is the wrong word for a law that took away rights. The Nuremberg Laws were persecution; the genocide came later, and the two words mark different stages..
Tip: Persecution, then genocide. Using the right word in the right place is half of a good Year 9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words historians use. Say it in your own words, then check understanding with a quick question: ask a pupil from the pre-teach group first, since they met these words and ideas before the lesson. Pupils try to recall before you re-explain.
Genocide means the deliberate killing of a large number of people from one nation or ethnic group, meaning to destroy that nation or group. Persecution is the cruel and unfair treatment of people, especially because of their race, politics or religion. Persecution came first in Nazi Germany, and it was legal: it was written into the law.
Antisemitism means hostility to or prejudice against Jewish people. Extermination means killing, especially of a whole group. A victim is a person who has been harmed, injured or killed by a crime or by someone's actions. You will need all of these words precisely, because the difference between them is the difference between stages of what happened.
In this unit we write Jewish people and the Jewish community, rather than a single label that turns millions of different people into one thing. The Nazis used labels to make people seem less than human, and the words historians choose now refuse to do that. It is a small decision that tells your reader how carefully you are thinking.
Worked example — model it step by step, thinking aloud: A pupil writes: in 1935 the Nazis carried out genocide against Jewish people by passing the Nuremberg Laws. What is wrong with this sentence, and how would you correct it? (1) Check the word against its meaning: genocide means killing a group in order to destroy it. (2) Check what the Nuremberg Laws actually did: they removed citizenship and rights. Nobody was killed by the Act itself. (3) So the word is wrong for 1935. The right word for unfair and cruel treatment under the law is persecution. (4) Correct it, and keep the chain clear: in 1935 the Nazis increased their persecution of Jewish people by passing the Nuremberg Laws, which took away their citizenship. Answer: Genocide is the wrong word for a law that took away rights. The Nuremberg Laws were persecution; the genocide came later, and the two words mark different stages..
Tip: Persecution, then genocide. Using the right word in the right place is half of a good Year 9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do we study the Holocaust?. Say it in your own words, then check understanding with a quick question: ask a pupil from the pre-teach group first, since they met these words and ideas before the lesson. Pupils try to recall before you re-explain.
Your lesson gives three reasons. First, because for the first and only time a state and those who worked with it set out to murder an entire people, using every resource it had. Second, because the Holocaust destroyed not only millions of individual human beings but also communities and cultures that had existed in Europe for centuries. Third, because studying what happened to those people, and studying their lives before they were victims, helps to make sure they are not forgotten.
There is a fourth reason, which runs through the whole unit. The Holocaust did not arrive in one night. It came in steps: prejudice, then propaganda, then laws, then violence, then murder. Each step was taken by people who could have refused, and some did refuse. Studying the steps is how you learn to recognise them.
Your lesson closes with a warning that is often repeated: people who do not study history may repeat it. That is why the work you do in this unit is treated differently from other topics. You are not only learning what happened; you are learning how it was allowed to happen.
Tip: Learn the five steps as a staircase: prejudice, propaganda, laws, violence, murder. You will use them in the last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words and what they mean.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word to its meaning.
Support — work through the steps with the group: (1) Start with the word you are surest of. Most people know that antisemitism is about Jewish people in particular. (2) Two of the words are about how people are treated. Which of those two means killing, and which means unfair treatment? (3) One word describes a person rather than an action. That is the one left over. (4) Read each pair back as a sentence to check it makes sense.
Parallel worked example for Support (model it, do not give the task answer): Match these words to their meanings: refugee, migrant. Choices: a person who moves to live in another country; a person forced to leave their country to escape danger. Look for the word that carries danger in its meaning: refugee.; The other word is the broader one: migrant means moving to live somewhere else, for any reason.. Answer: Refugee: a person forced to leave their country to escape danger. Migrant: a person who moves to live in another country..
Core — reveal the hint only on request: Two words are about treatment, one is about prejudice against one group, one names a person.
Stretch — no help; when finished: Explain, in two sentences, why a historian would describe Germany in 1935 as a place of persecution but not yet of genocide.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words and what they mean.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word to its meaning.
Support — work through the steps with the group: (1) Start with the word you are surest of. Most people know that antisemitism is about Jewish people in particular. (2) Two of the words are about how people are treated. Which of those two means killing, and which means unfair treatment? (3) One word describes a person rather than an action. That is the one left over. (4) Read each pair back as a sentence to check it makes sense.
Parallel worked example for Support (model it, do not give the task answer): Match these words to their meanings: refugee, migrant. Choices: a person who moves to live in another country; a person forced to leave their country to escape danger. Look for the word that carries danger in its meaning: refugee.; The other word is the broader one: migrant means moving to live somewhere else, for any reason.. Answer: Refugee: a person forced to leave their country to escape danger. Migrant: a person who moves to live in another country..
Core — reveal the hint only on request: Two words are about treatment, one is about prejudice against one group, one names a person.
Stretch — no help; when finished: Explain, in two sentences, why a historian would describe Germany in 1935 as a place of persecution but not yet of genocide.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Perpetrator, or not?.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council office worker typed the lists of names of people who were to be deported. Which role is this?
Support — work through the steps with the group: (1) Ask first: was this person harmed by the Nazis, or not? If not, they are not the victim. (2) Ask next: did they do something, or only know about it? Doing something points to perpetrator or rescuer. (3) Ask last: did what they did help the Nazis, or help the people being persecuted? (4) Paperwork counts as doing something. A list is a tool.
Parallel worked example for Support (model it, do not give the task answer): A railway clerk sold the tickets for a train that carried people to a camp. Which role is this? The clerk was not harmed, so not a victim.; The clerk did something: the train could not run without tickets and timetables.; What they did helped the Nazis, not the people on the train.. Answer: A perpetrator, because the work was part of making the deportation happen..
Core — reveal the hint only on request: Ask whether the person did something, and who that something helped.
Stretch — no help; when finished: Explain why historians argue about where the line falls between a perpetrator and a bystander, and give one example from the list that is hard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Perpetrator, or not?.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council office worker typed the lists of names of people who were to be deported. Which role is this?
Support — work through the steps with the group: (1) Ask first: was this person harmed by the Nazis, or not? If not, they are not the victim. (2) Ask next: did they do something, or only know about it? Doing something points to perpetrator or rescuer. (3) Ask last: did what they did help the Nazis, or help the people being persecuted? (4) Paperwork counts as doing something. A list is a tool.
Parallel worked example for Support (model it, do not give the task answer): A railway clerk sold the tickets for a train that carried people to a camp. Which role is this? The clerk was not harmed, so not a victim.; The clerk did something: the train could not run without tickets and timetables.; What they did helped the Nazis, not the people on the train.. Answer: A perpetrator, because the work was part of making the deportation happen..
Core — reveal the hint only on request: Ask whether the person did something, and who that something helped.
Stretch — no help; when finished: Explain why historians argue about where the line falls between a perpetrator and a bystander, and give one example from the list that is hard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was the Holocaust?
Answer: A   The murder of millions of Jewish people, and of other groups, organised by the Nazi Party in Germany. The Holocaust was the organised murder of millions of Jewish people, and of other groups the Nazis targeted, before and during the Second World War.
Source of this question: gate item 1 re-asked (options rotated) — this chapter has no third quick-check module.
The ebook also holds task 3, "Why we study the Holocaust",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words and what they mean. Reveal the answer; pupils mark their own work in a different colour, then read the "why" together. Same destination for every lane, so one answer serves the whole class.
Answer: Genocide  →  B  The deliberate killing of a large number of people from one nation or group, meaning to destroy that group; Persecution  →  A  Cruel and unfair treatment of people, especially because of their race, politics or religion; Antisemitism  →  C  Hostility to or prejudice against Jewish people; Victim  →  D  A person who is harmed, injured or killed by a crime or by someone's actions
Why: Genocide is an attempt to destroy a whole group; persecution is cruel and unfair treatment; antisemitism is prejudice against Jewish people in particular; a victim is the person harmed. The words mark different stages of the same history.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Perpetrator, or not?. Reveal the answer; pupils mark their own work in a different colour, then read the "why" together. Same destination for every lane, so one answer serves the whole class.
Answer: D   Perpetrator: a person who took part in what was done
Why: A perpetrator takes part in what is done. Work at a desk, in a uniform or at a drawing board all kept the system running; in each case a person could have refused, and that is why historians call it a choice.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The murder of millions of Jewish people, and of other groups, organised by the Nazi Party in Germany
Why: The Holocaust was the organised murder of millions of Jewish people, and of other groups the Nazis targeted, before and during the Second World War.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Holocaust · AQA KS3 → 8145</a:t>
            </a:r>
            <a:endParaRPr lang="en-US" sz="1800" dirty="0"/>
          </a:p>
        </p:txBody>
      </p:sp>
      <p:sp>
        <p:nvSpPr>
          <p:cNvPr id="10" name="deck-title"/>
          <p:cNvSpPr txBox="1"/>
          <p:nvPr/>
        </p:nvSpPr>
        <p:spPr>
          <a:xfrm>
            <a:off x="548640" y="237032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What was the Holocaust, and why do we study it?</a:t>
            </a:r>
            <a:endParaRPr lang="en-US" sz="3200" dirty="0"/>
          </a:p>
        </p:txBody>
      </p:sp>
      <p:sp>
        <p:nvSpPr>
          <p:cNvPr id="11" name="lessons-card"/>
          <p:cNvSpPr/>
          <p:nvPr/>
        </p:nvSpPr>
        <p:spPr>
          <a:xfrm>
            <a:off x="548640" y="3782568"/>
            <a:ext cx="5287975" cy="1290320"/>
          </a:xfrm>
          <a:prstGeom prst="roundRect">
            <a:avLst>
              <a:gd name="adj" fmla="val 5669"/>
            </a:avLst>
          </a:prstGeom>
          <a:solidFill>
            <a:srgbClr val="F2EDE9"/>
          </a:solidFill>
          <a:ln/>
        </p:spPr>
      </p:sp>
      <p:sp>
        <p:nvSpPr>
          <p:cNvPr id="12" name="lessons"/>
          <p:cNvSpPr txBox="1"/>
          <p:nvPr/>
        </p:nvSpPr>
        <p:spPr>
          <a:xfrm>
            <a:off x="685800" y="38740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the Holocaust and the people involved</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was the Holocaust, how did it happen step by step, and who should be held responsible?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was the Holocaust?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district of a city where Jewish people were forced to live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murder of millions of Jewish people, and of other groups, organised by the Nazi Party in Germany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battle fought between Germany and the Soviet Union during the Second World War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law passed in Germany that took away Jewish people's citizenship</a:t>
            </a:r>
            <a:endParaRPr lang="en-US" sz="18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deliberate killing of a large number of people from one nation or group, meaning to destroy that group, is called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genocide  ·  persecution  ·  propaganda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As well as Jewish people, which groups did the Nazis persecute?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Only soldiers who refused to fight for Germany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Only members of the Nazi Party who had fallen out of favour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Roma people, disabled people, gay people and political opponents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Only people who lived outside Germany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2318512"/>
          </a:xfrm>
          <a:prstGeom prst="roundRect">
            <a:avLst>
              <a:gd name="adj" fmla="val 4733"/>
            </a:avLst>
          </a:prstGeom>
          <a:solidFill>
            <a:srgbClr val="EDE1CA"/>
          </a:solidFill>
          <a:ln w="19050">
            <a:solidFill>
              <a:srgbClr val="B8862B"/>
            </a:solidFill>
            <a:prstDash val="solid"/>
          </a:ln>
        </p:spPr>
      </p:sp>
      <p:sp>
        <p:nvSpPr>
          <p:cNvPr id="12" name="answer"/>
          <p:cNvSpPr txBox="1"/>
          <p:nvPr/>
        </p:nvSpPr>
        <p:spPr>
          <a:xfrm>
            <a:off x="822960" y="2428829"/>
            <a:ext cx="2966618" cy="217220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murder of millions of Jewish people, and of other groups, organised by the Nazi Party in Germany</a:t>
            </a:r>
            <a:endParaRPr lang="en-US" sz="2200" dirty="0"/>
          </a:p>
        </p:txBody>
      </p:sp>
      <p:sp>
        <p:nvSpPr>
          <p:cNvPr id="13" name="card-body"/>
          <p:cNvSpPr txBox="1"/>
          <p:nvPr/>
        </p:nvSpPr>
        <p:spPr>
          <a:xfrm>
            <a:off x="731520" y="4857069"/>
            <a:ext cx="3149498" cy="115053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Holocaust was the organised murder of millions of Jewish people, and of other…</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genocide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Genocide is the word for an attempt to destroy a whole people. That is what makes the Holocaust a genocide and not only a persecution.</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DE1CA"/>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Roma people, disabled people, gay people and political opponents</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Your lesson is clear that the Nazis persecuted many groups: Roma people, disabled people, gay people, people with mental illness and political opponents, as well as Jewish…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Holocaust</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murder of millions of Jewish people, and of other groups, organised by the Nazi state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Holocaust took place in Europe before and during the Second World War.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genocide</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deliberate killing of a large number of people from one group, meaning to destroy that group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Historians call the Holocaust a genocide because the Nazis set out to destroy a whole people.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persecution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cruel and unfair treatment of people because of their race, religion or politics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Persecution began with unfair laws long before it ended in murder.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antisemitism</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hostility to or prejudice against Jewish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Antisemitism was not invented by the Nazis, but they built their politics on it.</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victim</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person who is harmed, injured or killed by a crime or by someone's actions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Every victim of the Holocaust had a name, a family and a life before.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Holocaust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happened in Europe before and during the Second World War.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Germany's Nazi Party, led by Adolf Hitler, organised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Millions of Jewish people were murdered because of who they were.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Roma people, disabled people and gay people were targeted too.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were political opponents of the Nazis.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eleven million people were killed in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Holocaust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Six million of these people were Jewish.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Each one of them had a name and a family.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had homes, jobs, schools and friends before the Nazis took power.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study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Holocaust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that those people are not forgotten.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also study it because it was not an accident.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planned it, and other people chose to let it happen.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Historians ask who took part, who watched, and who helped.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was the Holocaust?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this topic, lead with people. A figure is evidence of how many; it is never the whole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Holocaust was the organised murder of Europe's Jewish people by the Nazi state, in the years before and during the Second World War.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Jewish people were the main target, but they were not the only one.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Those numbers are so large that they can hide what they are made of.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words historians use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Persecution, then genocide. Using the right word in the right place is half of a good Year 9 answer.</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Genocide means the deliberate killing of a large number of people from one nation or ethnic group, meaning to destroy that nation or group.</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Antisemitism means hostility to or prejudice against Jewish people. Extermination means killing, especially of a whole group.</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this unit we write Jewish people and the Jewish community, rather than a single label that turns millions of different people into one thing.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(1 of 2): The words historians use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writes: in 1935 the Nazis carried out genocide against Jewish people by passing the Nuremberg Laws. What is wrong with this sentence, and how would you correct it?</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the word against its meaning: genocide means killing a group in order to destroy it.</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what the Nuremberg Laws actually did: they removed citizenship and rights. Nobody was killed by the Act itself.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Worked example (2 of 2): The words historians use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writes: in 1935 the Nazis carried out genocide against Jewish people by passing the Nuremberg Laws. What is wrong with this sentence, and how would you correct it?</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the word is wrong for 1935. The right word for unfair and cruel treatment under the law is persecution.</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Correct it, and keep the chain clear: in 1935 the Nazis increased their persecution of Jewish people by passing the Nuremberg Laws, which took away their citizenship.</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Genocide is the wrong word for a law that took away rights. The Nuremberg Laws were persecution; the genocide came later, and the two words mark different stages.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do we study the Holocaust?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five steps as a staircase: prejudice, propaganda, laws, violence, murder. You will use them in the last chapter.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gives three reasons. First, because for the first and only time a state and those who worked with it set out to murder an entire people, using every resource it had.</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There is a fourth reason, which runs through the whole unit.</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closes with a warning that is often repeated: people who do not study history may repeat 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words and what they mean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word to its meaning.</a:t>
            </a:r>
            <a:endParaRPr lang="en-US" sz="2400" dirty="0"/>
          </a:p>
        </p:txBody>
      </p:sp>
      <p:sp>
        <p:nvSpPr>
          <p:cNvPr id="11" name="match-card"/>
          <p:cNvSpPr/>
          <p:nvPr/>
        </p:nvSpPr>
        <p:spPr>
          <a:xfrm>
            <a:off x="777240" y="2468331"/>
            <a:ext cx="3081437" cy="890026"/>
          </a:xfrm>
          <a:prstGeom prst="roundRect">
            <a:avLst>
              <a:gd name="adj" fmla="val 8219"/>
            </a:avLst>
          </a:prstGeom>
          <a:solidFill>
            <a:srgbClr val="F4F1ED"/>
          </a:solidFill>
          <a:ln/>
        </p:spPr>
      </p:sp>
      <p:sp>
        <p:nvSpPr>
          <p:cNvPr id="12" name="match-hex"/>
          <p:cNvSpPr/>
          <p:nvPr/>
        </p:nvSpPr>
        <p:spPr>
          <a:xfrm>
            <a:off x="850392" y="2747052"/>
            <a:ext cx="384048" cy="332586"/>
          </a:xfrm>
          <a:prstGeom prst="hexagon">
            <a:avLst/>
          </a:prstGeom>
          <a:solidFill>
            <a:srgbClr val="7A4A1E"/>
          </a:solidFill>
          <a:ln/>
        </p:spPr>
      </p:sp>
      <p:sp>
        <p:nvSpPr>
          <p:cNvPr id="13" name="match-hex-label"/>
          <p:cNvSpPr txBox="1"/>
          <p:nvPr/>
        </p:nvSpPr>
        <p:spPr>
          <a:xfrm>
            <a:off x="850392" y="27470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Genocide</a:t>
            </a:r>
            <a:endParaRPr lang="en-US" sz="2200" dirty="0"/>
          </a:p>
        </p:txBody>
      </p:sp>
      <p:sp>
        <p:nvSpPr>
          <p:cNvPr id="15" name="match-card"/>
          <p:cNvSpPr/>
          <p:nvPr/>
        </p:nvSpPr>
        <p:spPr>
          <a:xfrm>
            <a:off x="4224437" y="2468331"/>
            <a:ext cx="7190019" cy="890026"/>
          </a:xfrm>
          <a:prstGeom prst="roundRect">
            <a:avLst>
              <a:gd name="adj" fmla="val 8219"/>
            </a:avLst>
          </a:prstGeom>
          <a:solidFill>
            <a:srgbClr val="F6F0E6"/>
          </a:solidFill>
          <a:ln/>
        </p:spPr>
      </p:sp>
      <p:sp>
        <p:nvSpPr>
          <p:cNvPr id="16" name="match-hex"/>
          <p:cNvSpPr/>
          <p:nvPr/>
        </p:nvSpPr>
        <p:spPr>
          <a:xfrm>
            <a:off x="4297589" y="2747052"/>
            <a:ext cx="384048" cy="332586"/>
          </a:xfrm>
          <a:prstGeom prst="hexagon">
            <a:avLst/>
          </a:prstGeom>
          <a:solidFill>
            <a:srgbClr val="B8862B"/>
          </a:solidFill>
          <a:ln/>
        </p:spPr>
      </p:sp>
      <p:sp>
        <p:nvSpPr>
          <p:cNvPr id="17" name="match-hex-label"/>
          <p:cNvSpPr txBox="1"/>
          <p:nvPr/>
        </p:nvSpPr>
        <p:spPr>
          <a:xfrm>
            <a:off x="4297589" y="274705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Cruel and unfair treatment of people, especially because of their race, politics or religion</a:t>
            </a:r>
            <a:endParaRPr lang="en-US" sz="2200" dirty="0"/>
          </a:p>
        </p:txBody>
      </p:sp>
      <p:sp>
        <p:nvSpPr>
          <p:cNvPr id="19" name="match-card"/>
          <p:cNvSpPr/>
          <p:nvPr/>
        </p:nvSpPr>
        <p:spPr>
          <a:xfrm>
            <a:off x="777240" y="3449798"/>
            <a:ext cx="3081437" cy="890026"/>
          </a:xfrm>
          <a:prstGeom prst="roundRect">
            <a:avLst>
              <a:gd name="adj" fmla="val 8219"/>
            </a:avLst>
          </a:prstGeom>
          <a:solidFill>
            <a:srgbClr val="F4F1ED"/>
          </a:solidFill>
          <a:ln/>
        </p:spPr>
      </p:sp>
      <p:sp>
        <p:nvSpPr>
          <p:cNvPr id="20" name="match-hex"/>
          <p:cNvSpPr/>
          <p:nvPr/>
        </p:nvSpPr>
        <p:spPr>
          <a:xfrm>
            <a:off x="850392" y="3728518"/>
            <a:ext cx="384048" cy="332586"/>
          </a:xfrm>
          <a:prstGeom prst="hexagon">
            <a:avLst/>
          </a:prstGeom>
          <a:solidFill>
            <a:srgbClr val="7A4A1E"/>
          </a:solidFill>
          <a:ln/>
        </p:spPr>
      </p:sp>
      <p:sp>
        <p:nvSpPr>
          <p:cNvPr id="21" name="match-hex-label"/>
          <p:cNvSpPr txBox="1"/>
          <p:nvPr/>
        </p:nvSpPr>
        <p:spPr>
          <a:xfrm>
            <a:off x="850392" y="37285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49798"/>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Persecution</a:t>
            </a:r>
            <a:endParaRPr lang="en-US" sz="2200" dirty="0"/>
          </a:p>
        </p:txBody>
      </p:sp>
      <p:sp>
        <p:nvSpPr>
          <p:cNvPr id="23" name="match-card"/>
          <p:cNvSpPr/>
          <p:nvPr/>
        </p:nvSpPr>
        <p:spPr>
          <a:xfrm>
            <a:off x="4224437" y="3449798"/>
            <a:ext cx="7190019" cy="890026"/>
          </a:xfrm>
          <a:prstGeom prst="roundRect">
            <a:avLst>
              <a:gd name="adj" fmla="val 8219"/>
            </a:avLst>
          </a:prstGeom>
          <a:solidFill>
            <a:srgbClr val="F6F0E6"/>
          </a:solidFill>
          <a:ln/>
        </p:spPr>
      </p:sp>
      <p:sp>
        <p:nvSpPr>
          <p:cNvPr id="24" name="match-hex"/>
          <p:cNvSpPr/>
          <p:nvPr/>
        </p:nvSpPr>
        <p:spPr>
          <a:xfrm>
            <a:off x="4297589" y="3728518"/>
            <a:ext cx="384048" cy="332586"/>
          </a:xfrm>
          <a:prstGeom prst="hexagon">
            <a:avLst/>
          </a:prstGeom>
          <a:solidFill>
            <a:srgbClr val="B8862B"/>
          </a:solidFill>
          <a:ln/>
        </p:spPr>
      </p:sp>
      <p:sp>
        <p:nvSpPr>
          <p:cNvPr id="25" name="match-hex-label"/>
          <p:cNvSpPr txBox="1"/>
          <p:nvPr/>
        </p:nvSpPr>
        <p:spPr>
          <a:xfrm>
            <a:off x="4297589" y="37285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49798"/>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deliberate killing of a large number of people from one nation or group, meaning to destroy that group</a:t>
            </a:r>
            <a:endParaRPr lang="en-US" sz="2200" dirty="0"/>
          </a:p>
        </p:txBody>
      </p:sp>
      <p:sp>
        <p:nvSpPr>
          <p:cNvPr id="27" name="match-card"/>
          <p:cNvSpPr/>
          <p:nvPr/>
        </p:nvSpPr>
        <p:spPr>
          <a:xfrm>
            <a:off x="777240" y="4431264"/>
            <a:ext cx="3081437" cy="549158"/>
          </a:xfrm>
          <a:prstGeom prst="roundRect">
            <a:avLst>
              <a:gd name="adj" fmla="val 13321"/>
            </a:avLst>
          </a:prstGeom>
          <a:solidFill>
            <a:srgbClr val="F4F1ED"/>
          </a:solidFill>
          <a:ln/>
        </p:spPr>
      </p:sp>
      <p:sp>
        <p:nvSpPr>
          <p:cNvPr id="28" name="match-hex"/>
          <p:cNvSpPr/>
          <p:nvPr/>
        </p:nvSpPr>
        <p:spPr>
          <a:xfrm>
            <a:off x="850392" y="4539550"/>
            <a:ext cx="384048" cy="332586"/>
          </a:xfrm>
          <a:prstGeom prst="hexagon">
            <a:avLst/>
          </a:prstGeom>
          <a:solidFill>
            <a:srgbClr val="7A4A1E"/>
          </a:solidFill>
          <a:ln/>
        </p:spPr>
      </p:sp>
      <p:sp>
        <p:nvSpPr>
          <p:cNvPr id="29" name="match-hex-label"/>
          <p:cNvSpPr txBox="1"/>
          <p:nvPr/>
        </p:nvSpPr>
        <p:spPr>
          <a:xfrm>
            <a:off x="850392" y="45395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31264"/>
            <a:ext cx="2487077"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Antisemitism</a:t>
            </a:r>
            <a:endParaRPr lang="en-US" sz="2200" dirty="0"/>
          </a:p>
        </p:txBody>
      </p:sp>
      <p:sp>
        <p:nvSpPr>
          <p:cNvPr id="31" name="match-card"/>
          <p:cNvSpPr/>
          <p:nvPr/>
        </p:nvSpPr>
        <p:spPr>
          <a:xfrm>
            <a:off x="4224437" y="4431264"/>
            <a:ext cx="7190019" cy="549158"/>
          </a:xfrm>
          <a:prstGeom prst="roundRect">
            <a:avLst>
              <a:gd name="adj" fmla="val 13321"/>
            </a:avLst>
          </a:prstGeom>
          <a:solidFill>
            <a:srgbClr val="F6F0E6"/>
          </a:solidFill>
          <a:ln/>
        </p:spPr>
      </p:sp>
      <p:sp>
        <p:nvSpPr>
          <p:cNvPr id="32" name="match-hex"/>
          <p:cNvSpPr/>
          <p:nvPr/>
        </p:nvSpPr>
        <p:spPr>
          <a:xfrm>
            <a:off x="4297589" y="4539550"/>
            <a:ext cx="384048" cy="332586"/>
          </a:xfrm>
          <a:prstGeom prst="hexagon">
            <a:avLst/>
          </a:prstGeom>
          <a:solidFill>
            <a:srgbClr val="B8862B"/>
          </a:solidFill>
          <a:ln/>
        </p:spPr>
      </p:sp>
      <p:sp>
        <p:nvSpPr>
          <p:cNvPr id="33" name="match-hex-label"/>
          <p:cNvSpPr txBox="1"/>
          <p:nvPr/>
        </p:nvSpPr>
        <p:spPr>
          <a:xfrm>
            <a:off x="4297589" y="45395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431264"/>
            <a:ext cx="6595659"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Hostility to or prejudice against Jewish people</a:t>
            </a:r>
            <a:endParaRPr lang="en-US" sz="2200" dirty="0"/>
          </a:p>
        </p:txBody>
      </p:sp>
      <p:sp>
        <p:nvSpPr>
          <p:cNvPr id="35" name="match-card"/>
          <p:cNvSpPr/>
          <p:nvPr/>
        </p:nvSpPr>
        <p:spPr>
          <a:xfrm>
            <a:off x="777240" y="5071862"/>
            <a:ext cx="3081437" cy="890026"/>
          </a:xfrm>
          <a:prstGeom prst="roundRect">
            <a:avLst>
              <a:gd name="adj" fmla="val 8219"/>
            </a:avLst>
          </a:prstGeom>
          <a:solidFill>
            <a:srgbClr val="F4F1ED"/>
          </a:solidFill>
          <a:ln/>
        </p:spPr>
      </p:sp>
      <p:sp>
        <p:nvSpPr>
          <p:cNvPr id="36" name="match-hex"/>
          <p:cNvSpPr/>
          <p:nvPr/>
        </p:nvSpPr>
        <p:spPr>
          <a:xfrm>
            <a:off x="850392" y="5350582"/>
            <a:ext cx="384048" cy="332586"/>
          </a:xfrm>
          <a:prstGeom prst="hexagon">
            <a:avLst/>
          </a:prstGeom>
          <a:solidFill>
            <a:srgbClr val="7A4A1E"/>
          </a:solidFill>
          <a:ln/>
        </p:spPr>
      </p:sp>
      <p:sp>
        <p:nvSpPr>
          <p:cNvPr id="37" name="match-hex-label"/>
          <p:cNvSpPr txBox="1"/>
          <p:nvPr/>
        </p:nvSpPr>
        <p:spPr>
          <a:xfrm>
            <a:off x="850392" y="53505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71862"/>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Victim</a:t>
            </a:r>
            <a:endParaRPr lang="en-US" sz="2200" dirty="0"/>
          </a:p>
        </p:txBody>
      </p:sp>
      <p:sp>
        <p:nvSpPr>
          <p:cNvPr id="39" name="match-card"/>
          <p:cNvSpPr/>
          <p:nvPr/>
        </p:nvSpPr>
        <p:spPr>
          <a:xfrm>
            <a:off x="4224437" y="5071862"/>
            <a:ext cx="7190019" cy="890026"/>
          </a:xfrm>
          <a:prstGeom prst="roundRect">
            <a:avLst>
              <a:gd name="adj" fmla="val 8219"/>
            </a:avLst>
          </a:prstGeom>
          <a:solidFill>
            <a:srgbClr val="F6F0E6"/>
          </a:solidFill>
          <a:ln/>
        </p:spPr>
      </p:sp>
      <p:sp>
        <p:nvSpPr>
          <p:cNvPr id="40" name="match-hex"/>
          <p:cNvSpPr/>
          <p:nvPr/>
        </p:nvSpPr>
        <p:spPr>
          <a:xfrm>
            <a:off x="4297589" y="5350582"/>
            <a:ext cx="384048" cy="332586"/>
          </a:xfrm>
          <a:prstGeom prst="hexagon">
            <a:avLst/>
          </a:prstGeom>
          <a:solidFill>
            <a:srgbClr val="B8862B"/>
          </a:solidFill>
          <a:ln/>
        </p:spPr>
      </p:sp>
      <p:sp>
        <p:nvSpPr>
          <p:cNvPr id="41" name="match-hex-label"/>
          <p:cNvSpPr txBox="1"/>
          <p:nvPr/>
        </p:nvSpPr>
        <p:spPr>
          <a:xfrm>
            <a:off x="4297589" y="53505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071862"/>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person who is harmed, injured or killed by a crime or by someone's actions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The words and what they mean</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words and what they mean</a:t>
            </a:r>
            <a:endParaRPr lang="en-US" sz="2000" dirty="0"/>
          </a:p>
        </p:txBody>
      </p:sp>
      <p:sp>
        <p:nvSpPr>
          <p:cNvPr id="12" name="col-Support"/>
          <p:cNvSpPr/>
          <p:nvPr/>
        </p:nvSpPr>
        <p:spPr>
          <a:xfrm>
            <a:off x="548640" y="2395728"/>
            <a:ext cx="6327465"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word you are surest of. Most people know that antisemitism is about Jewish people in particular.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words are about how people are treated. Which of those two means killing, and which means unfair treatment?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word describes a person rather than an action. That is the one left over.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pair back as a sentence to check it makes sense.</a:t>
            </a:r>
            <a:endParaRPr lang="en-US" sz="1800" dirty="0"/>
          </a:p>
        </p:txBody>
      </p:sp>
      <p:sp>
        <p:nvSpPr>
          <p:cNvPr id="17" name="col-Core"/>
          <p:cNvSpPr/>
          <p:nvPr/>
        </p:nvSpPr>
        <p:spPr>
          <a:xfrm>
            <a:off x="7150425" y="2395728"/>
            <a:ext cx="2109155" cy="3749040"/>
          </a:xfrm>
          <a:prstGeom prst="roundRect">
            <a:avLst>
              <a:gd name="adj" fmla="val 2601"/>
            </a:avLst>
          </a:prstGeom>
          <a:solidFill>
            <a:srgbClr val="E2D7CE"/>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words are about treatment, one is about prejudice against one group, one names a person.</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7A4A1E"/>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in two sentences, why a historian would describe Germany in 1935 as a place of persecution but not yet of genocide.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Perpetrator, or not?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council office worker typed the lists of names of people who were to be deported. Which role is this?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Bystander: a person who stood by and let it happen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Victim: a person harmed by what was done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Rescuer: a person who did something to help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Perpetrator: a person who took part in what was done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Perpetrator, or not?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Perpetrator, or not?</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first: was this person harmed by the Nazis, or not? If not, they are not the victim.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next: did they do something, or only know about it? Doing something points to perpetrator or rescuer.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last: did what they did help the Nazis, or help the people being persecuted?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Paperwork counts as doing something. A list is a tool.</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Ask whether the person did something, and who that something helped.</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historians argue about where the line falls between a perpetrator and a bystander, and give one example from the list that is hard to place.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08148"/>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What was the Holocaust?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murder of millions of Jewish people, and of other groups, organised by the Nazi Party in Germany</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battle fought between Germany and the Soviet Union during the Second World War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law passed in Germany that took away Jewish people's citizenship</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district of a city where Jewish people were forced to live</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words and what they mean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Genocide  →  B  The deliberate killing of a large number of people from one nation or group, meaning to destroy that group</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Persecution  →  A  Cruel and unfair treatment of people, especially because of their race, politics or religion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Antisemitism  →  C  Hostility to or prejudice against Jewish people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Victim  →  D  A person who is harmed, injured or killed by a crime or by someone's actions</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Genocide is an attempt to destroy a whole group; persecution is cruel and unfair treatment; antisemitism is prejudice against Jewish people in particular; a victim is the person harmed. The words mark different stages of the same history.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Perpetrator, or not?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council office worker typed the lists of names of people who were to be deported. Which role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Perpetrator: a person who took part in what was done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perpetrator takes part in what is done. Work at a desk, in a uniform or at a drawing board all kept the system running; in each case a person could have refused, and that is why historians call it a choice.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was the Holocaust?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murder of millions of Jewish people, and of other groups, organised by the Nazi Party in Germany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Holocaust was the organised murder of millions of Jewish people, and of other groups the Nazis targeted, before and during the Second World War.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Holocaust · Chapter 1: What was the Holocaust, and why do we study it?</dc:title>
  <dc:subject>History · Year 9</dc:subject>
  <dc:creator>Dr Vitor Merissi de Carvalho</dc:creator>
  <cp:lastModifiedBy>Dr Vitor Merissi de Carvalho</cp:lastModifiedBy>
  <cp:revision>1</cp:revision>
  <dcterms:created xsi:type="dcterms:W3CDTF">2026-10-19T06:07:54Z</dcterms:created>
  <dcterms:modified xsi:type="dcterms:W3CDTF">2026-10-19T06:07:54Z</dcterms:modified>
</cp:coreProperties>
</file>