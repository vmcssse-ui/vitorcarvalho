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138cb5-0b98-96e1-9679-d568ea7643d0}">
          <p14:sldIdLst>
            <p14:sldId id="256"/>
          </p14:sldIdLst>
        </p14:section>
        <p14:section name="Gate" id="{4463353c-09dc-06f1-49f1-8892f47f3832}">
          <p14:sldIdLst>
            <p14:sldId id="257"/>
            <p14:sldId id="258"/>
          </p14:sldIdLst>
        </p14:section>
        <p14:section name="Pre-teach" id="{e6cfae11-4155-0f3f-4b16-5c1fff467c22}">
          <p14:sldIdLst>
            <p14:sldId id="259"/>
            <p14:sldId id="260"/>
          </p14:sldIdLst>
        </p14:section>
        <p14:section name="Read-along" id="{6b1bb54d-6040-5b3d-967c-924e98b04feb}">
          <p14:sldIdLst>
            <p14:sldId id="261"/>
            <p14:sldId id="262"/>
          </p14:sldIdLst>
        </p14:section>
        <p14:section name="Teach" id="{a1546e45-02c4-4d95-cece-3d892f96f8bc}">
          <p14:sldIdLst>
            <p14:sldId id="263"/>
            <p14:sldId id="264"/>
            <p14:sldId id="265"/>
            <p14:sldId id="266"/>
            <p14:sldId id="267"/>
          </p14:sldIdLst>
        </p14:section>
        <p14:section name="Routes" id="{1c0441d2-a064-407e-3f65-1821be2b5944}">
          <p14:sldIdLst>
            <p14:sldId id="268"/>
            <p14:sldId id="269"/>
            <p14:sldId id="270"/>
            <p14:sldId id="271"/>
          </p14:sldIdLst>
        </p14:section>
        <p14:section name="Close" id="{f99f9f06-1405-c034-b545-a6e4e790f0e2}">
          <p14:sldIdLst>
            <p14:sldId id="272"/>
          </p14:sldIdLst>
        </p14:section>
        <p14:section name="Answers" id="{c5604a25-509a-5420-6ebc-8b7389281ac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A river's journey: processes and landforms. The drainage basin, how a river and its valley change from source to mouth, the processes that shape them, and the landforms of the upper, middle and lower course, with the River Tees as your example.
This deck covers the department's lessons: 12 (River landscapes: the drainage basin and the river's three stages: What is a drainage basin, and how do a river and its valley change from source to mouth?); 13 (River processes: How does a river erode, transport and deposit material, and where along its course does each happen?); 14 (River landforms: the upper course: How do velocity and discharge change downstream, and how are V-shaped valleys, interlocking spurs, waterfalls and gorges formed?); 15 (Middle course river landforms: How are meanders and ox-bow lakes formed?); 16 (Lower course river landforms and the River Tees: How are floodplains, levees and estuaries formed, and what landforms does the River Tees show from source to mouth?).
Read the big question aloud: "How do waves and rivers shape the UK's coasts and valleys, and how should we manage the risks they bring?"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the name for the point where a tributary joins the main river?  →  A   Confluence
2. In the upper course a river mainly erodes ___, cutting down into its bed.  →  vertically
3. On the outside of a meander bend, the water...  →  A   flows fastest and erodes the bank to form a river cliff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Confluence. A confluence is where two rivers meet. Con- means together.
2. vertically. Vertical erosion, cutting downwards, deepens the valley into a V shape. Lateral erosion comes later, in the middle and lower courses.
3. A   flows fastest and erodes the bank to form a river cliff. The fastest current swings to the outside of the bend, where lateral erosion undercuts the bank into a river cliff.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drainage basin: the area of land drained by a river and its tributaries. Example: "Rain falling anywhere in the drainage basin ends up in the river."
• tributary: a smaller river that joins a larger one. Example: "Each tributary adds more water to the main river."
• confluence: the point where two rivers meet. Example: "The town was built at the confluence of two rivers."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vertical erosion: a river cutting downwards into its bed. Example: "Vertical erosion in the upper course makes the valley deep and steep."
• lateral erosion: a river cutting sideways into its banks. Example: "Lateral erosion widens the valley in the middle course."
• meander: a bend in a river. Example: "The river swings from side to side in a series of meanders."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river collects water from an area of land called its drainage basin.
2. The river begins at its source, often high in the hills.
3. Smaller rivers called tributaries join it at a confluence.
4. It ends at its mouth, where it meets the sea or a lake.
5. In the upper course the river cuts downwards and makes a steep V-shaped valley.
6. Here you find waterfalls, gorges and interlocking spurs.
7. In the middle course the river erodes sideways and begins to meander.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meander is a bend in the river.
9. Over time a meander can be cut off to leave an ox-bow lake.
10. In the lower course the river is wide and deep and flows across a flat floodplain.
11. Floods leave layers of silt that build up levees along the banks.
12. The River Tees flows from the North Pennines to the North Sea.
13. You studied its landforms from source to mouth.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drainage basin and the three courses. Say it in your own words, then check understanding with a quick question: ask a pupil from the pre-teach group first, since they met these words and ideas before the lesson. Pupils try to recall before you re-explain.
A drainage basin is the area of land drained by a river and its tributaries. The river starts at its source, usually in high ground. Tributaries (smaller rivers) join it at confluences. The edge of the basin, the high ground that separates it from the next basin, is the watershed. The river ends at its mouth, where it meets the sea or a lake. Rain falling anywhere inside the watershed will eventually reach the river.
A river is split into three stages, or courses. The long profile is a side view from source to mouth: steep in the upper course, gentler in the middle course and almost flat in the lower course. The cross profile is a slice across the valley. In the upper course it is a narrow, steep-sided V shape with a narrow, shallow channel. In the middle course the valley is wider with gentler sides and the channel is wider and deeper. In the lower course the valley is very wide and flat, with a wide, deep channel winding across a floodplain.
Velocity (the speed of the water) and discharge (the amount of water) both increase along the course. That surprises people, because an upland stream looks fast. But in the upper course the channel is shallow and narrow and full of boulders, so a lot of the water is in contact with the bed and banks and friction slows it down. In the lower course the channel is wide and deep and smooth, there is less friction, and all the tributaries have added their discharge, so the river flows faster and carries more water.
Tip: Learn the six drainage-basin words as a set: source, tributary, confluence, watershed, mouth, drainage basin. Draw and label them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River processes. Say it in your own words, then check understanding with a quick question: ask a pupil from the pre-teach group first, since they met these words and ideas before the lesson. Pupils try to recall before you re-explain.
Rivers erode in the same four ways as the sea. Hydraulic action is the force of the moving water forcing air into cracks in the banks and bed, weakening them. Abrasion is rocks carried by the river scraping and scouring the bed and banks like sandpaper. Attrition is rocks in the load smashing together and breaking into smaller, smoother, rounder pieces. Solution is weak acids in the river water dissolving minerals from rocks such as chalk and limestone. Erosion can be vertical (downwards) or lateral (sideways). Vertical erosion happens mostly in the upper course, where it cuts V-shaped valleys and waterfalls; lateral erosion happens in the middle and lower courses, where it widens the valley and forms meanders and ox-bow lakes.
Rivers transport their load in four ways too. Traction rolls large stones and boulders along the bed, mainly when discharge and energy are high. Saltation bounces small pebbles and stones along the bed; as each one lands it dislodges others. Suspension carries fine sand and silt within the flow, which is what gives a river its brown colour. Solution carries dissolved minerals. A river needs energy to carry material: with high energy it moves boulders; with low energy only small particles move, if any.
Deposition happens when the river no longer has enough energy to carry its load. That happens when the gradient reduces, for example where the river meets the sea or a lake; when discharge falls in a dry spell, so there is less water to carry the load; where the channel is shallow and friction is high, such as the inside of a meander bend; and when the river floods and spreads across its floodplain, so the water slows down. The largest material is dropped first, and smaller particles are carried further downstream.
Tip: Upper course: vertical erosion and landforms of erosion. Middle course: lateral erosion and deposition together. Lower course: mostly deposition.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Upper course landforms. Say it in your own words, then check understanding with a quick question: ask a pupil from the pre-teach group first, since they met these words and ideas before the lesson. Pupils try to recall before you re-explain.
The upper course landforms are all made by erosion: V-shaped valleys, interlocking spurs, rapids, waterfalls and gorges. A V-shaped valley forms in four steps. A small stream naturally follows small dips in the landscape. As it flows steeply downhill, its bedload scrapes away the bottom of the channel: vertical erosion. This deepens the valley and leaves the sides steep and exposed. Over time, weathering and gravity wear away the steep sides and feed material into the stream, which the stream uses to cut the valley deeper still.
In the upper course the channel often winds around ridges of harder rock called spurs. The river does not have enough energy to erode through them, so it swings round each one, and the spurs from either side of the valley appear to interlock when you look down the valley. These are interlocking spurs.
A waterfall forms where a band of hard rock lies over softer rock. The river erodes the soft rock faster, by hydraulic action and abrasion, undercutting the hard rock and leaving it as an overhang. Water falling over the step swirls at the bottom and erodes a deep plunge pool. Eventually the overhang cannot support its own weight and collapses into the plunge pool, where the fallen rock is used as a tool for more abrasion. The waterfall has now moved back upstream a little. Repeated over thousands of years, this retreat leaves a steep-sided gorge downstream of the waterfall.
Worked example — model it step by step, thinking aloud: Explain how a waterfall forms. (4 marks) (1) Set the scene: a band of hard rock lies over softer rock. (2) Name the processes and what they do: hydraulic action and abrasion erode the soft rock faster, undercutting the hard rock to leave an overhang, and a plunge pool is eroded at the base. (3) Give the collapse: the unsupported overhang collapses into the plunge pool. (4) Finish with the result: the waterfall retreats upstream, and over time a gorge is left downstream. Answer: Hard rock lies over soft rock. Hydraulic action and abrasion erode the soft rock faster, undercutting the hard rock and forming a plunge pool at the base. The unsupported hard rock overhang collapses. The waterfall moves back upstream and, over time, leaves a gorge..
Tip: Use all the key words: hard rock, soft rock, undercutting, overhang, plunge pool, collapses, moves back, gorge. Each is a mark-earning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Upper course landforms. Say it in your own words, then check understanding with a quick question: ask a pupil from the pre-teach group first, since they met these words and ideas before the lesson. Pupils try to recall before you re-explain.
The upper course landforms are all made by erosion: V-shaped valleys, interlocking spurs, rapids, waterfalls and gorges. A V-shaped valley forms in four steps. A small stream naturally follows small dips in the landscape. As it flows steeply downhill, its bedload scrapes away the bottom of the channel: vertical erosion. This deepens the valley and leaves the sides steep and exposed. Over time, weathering and gravity wear away the steep sides and feed material into the stream, which the stream uses to cut the valley deeper still.
In the upper course the channel often winds around ridges of harder rock called spurs. The river does not have enough energy to erode through them, so it swings round each one, and the spurs from either side of the valley appear to interlock when you look down the valley. These are interlocking spurs.
A waterfall forms where a band of hard rock lies over softer rock. The river erodes the soft rock faster, by hydraulic action and abrasion, undercutting the hard rock and leaving it as an overhang. Water falling over the step swirls at the bottom and erodes a deep plunge pool. Eventually the overhang cannot support its own weight and collapses into the plunge pool, where the fallen rock is used as a tool for more abrasion. The waterfall has now moved back upstream a little. Repeated over thousands of years, this retreat leaves a steep-sided gorge downstream of the waterfall.
Worked example — model it step by step, thinking aloud: Explain how a waterfall forms. (4 marks) (1) Set the scene: a band of hard rock lies over softer rock. (2) Name the processes and what they do: hydraulic action and abrasion erode the soft rock faster, undercutting the hard rock to leave an overhang, and a plunge pool is eroded at the base. (3) Give the collapse: the unsupported overhang collapses into the plunge pool. (4) Finish with the result: the waterfall retreats upstream, and over time a gorge is left downstream. Answer: Hard rock lies over soft rock. Hydraulic action and abrasion erode the soft rock faster, undercutting the hard rock and forming a plunge pool at the base. The unsupported hard rock overhang collapses. The waterfall moves back upstream and, over time, leaves a gorge..
Tip: Use all the key words: hard rock, soft rock, undercutting, overhang, plunge pool, collapses, moves back, gorge. Each is a mark-earning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Middle and lower course landforms, and the River Tees. Say it in your own words, then check understanding with a quick question: ask a pupil from the pre-teach group first, since they met these words and ideas before the lesson. Pupils try to recall before you re-explain.
In the middle course the river begins to meander. Where the channel bends even slightly, the fastest current swings to the outside of the bend, where the water is deeper. Here lateral erosion undercuts the bank to form a steep river cliff. On the inside of the bend the current is slower and the water shallower, so sand and shingle are deposited to form a gentle slip-off slope. Because erosion and deposition carry on at the same time, the meander grows more and more exaggerated, and the neck of land between two bends gets narrower. In a flood, the river cuts straight through the neck, taking the shortest route. Deposition seals off the old bend, which is left as an ox-bow lake. The lake slowly dries out in times of drought.
In the lower course the landforms are made by deposition. The floodplain is the wide area of flat land on either side of the river. Each time the river floods it deposits silt, and the layers build up into a thick layer of fertile alluvium that makes floodplains excellent farmland. Levees are raised river banks built up by many floods: when the river overflows its banks the velocity drops and sediment is deposited, with the coarser sands dropped closest to the channel and the finer silts carried further. Over the years the banks are raised above the floodplain. Where the river meets the sea, its mouth widens into an estuary, where river water mixes with the tide and fine sediment is deposited as mudflats.
Your named UK river is the River Tees, in the north-east of England. It rises in the North Pennines and flows east to its mouth in the North Sea, with the North York Moors to the south of its lower valley. Using the OS map and video clips, you traced its downstream changes: landforms of erosion in its upper course, meanders in its middle course, and the wide floodplain and estuary of its lower course. When an exam question asks for a named example, the Tees is yours.
Tip: Meander words: fastest current, outside, river cliff, erosion; slowest current, inside, slip-off slope, deposition. Say which side you mean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V-shaped valley forms.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 V-shaped valley in the correct order.
Support — work through the steps with the group: (1) Start before any erosion: where does a small stream choose to flow? (2) Then the stream cuts down. What is the word for cutting downwards? (3) Cutting down makes the sides steep. What happens to steep, exposed sides? (4) The material from the sides goes into the stream and helps it cut deeper: that is the last stage.
Parallel worked example for Support (model it, do not give the task answer): Put these stages of a pothole forming in a road in order: traffic breaks up the cracked surface; water seeps into a small crack; the water freezes and widens the crack; a hole is left that gets bigger with every car. Water gets in first.; Freezing widens the crack.; Traffic breaks the surface, then the hole grows.. Answer: Water seeps into a crack; freezing widens it; traffic breaks up the surface; the hole gets bigger..
Core — reveal the hint only on request: Stream first, then cutting down, then steep sides, then the sides wearing away into the stream.
Stretch — no help; when finished: Explain why the valley is V-shaped rather than a narrow slot with vertical sides. What part do weathering and mass movement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a V-shaped valley forms.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 V-shaped valley in the correct order.
Support — work through the steps with the group: (1) Start before any erosion: where does a small stream choose to flow? (2) Then the stream cuts down. What is the word for cutting downwards? (3) Cutting down makes the sides steep. What happens to steep, exposed sides? (4) The material from the sides goes into the stream and helps it cut deeper: that is the last stage.
Parallel worked example for Support (model it, do not give the task answer): Put these stages of a pothole forming in a road in order: traffic breaks up the cracked surface; water seeps into a small crack; the water freezes and widens the crack; a hole is left that gets bigger with every car. Water gets in first.; Freezing widens the crack.; Traffic breaks the surface, then the hole grows.. Answer: Water seeps into a crack; freezing widens it; traffic breaks up the surface; the hole gets bigger..
Core — reveal the hint only on request: Stream first, then cutting down, then steep sides, then the sides wearing away into the stream.
Stretch — no help; when finished: Explain why the valley is V-shaped rather than a narrow slot with vertical sides. What part do weathering and mass movement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meander to ox-bow lake.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an ox-bow lake in the correct order.
Support — work through the steps with the group: (1) Start with a river that has only a slight bend. Which side is fast and which is slow? (2) Fast water erodes and slow water deposits, so the bend grows. What happens to the land between two bends? (3) Something dramatic is needed to cut through the neck: a flood. (4) Finish with what is left behind once the river takes its new course.
Parallel worked example for Support (model it, do not give the task answer): Put these stages of a spit forming in order: the coastline changes direction; longshore drift carries sediment along the coast; the end of the spit is curved by the wind; sediment is deposited in a line out into calmer water. Drift moves sediment first.; The coast turns, but the drift carries on.; Deposition builds the ridge; the wind curves its end.. Answer: Longshore drift carries sediment; the coastline changes direction; sediment is deposited out into calmer water; the end is curved by the wind..
Core — reveal the hint only on request: Slight bend, exaggerated bend with a narrow neck, flood cuts through, lake left behind.
Stretch — no help; when finished: Explain why the ox-bow lake is sealed off by deposition rather than staying connected to the new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meander to ox-bow lake.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in the formation of an ox-bow lake in the correct order.
Support — work through the steps with the group: (1) Start with a river that has only a slight bend. Which side is fast and which is slow? (2) Fast water erodes and slow water deposits, so the bend grows. What happens to the land between two bends? (3) Something dramatic is needed to cut through the neck: a flood. (4) Finish with what is left behind once the river takes its new course.
Parallel worked example for Support (model it, do not give the task answer): Put these stages of a spit forming in order: the coastline changes direction; longshore drift carries sediment along the coast; the end of the spit is curved by the wind; sediment is deposited in a line out into calmer water. Drift moves sediment first.; The coast turns, but the drift carries on.; Deposition builds the ridge; the wind curves its end.. Answer: Longshore drift carries sediment; the coastline changes direction; sediment is deposited out into calmer water; the end is curved by the wind..
Core — reveal the hint only on request: Slight bend, exaggerated bend with a narrow neck, flood cuts through, lake left behind.
Stretch — no help; when finished: Explain why the ox-bow lake is sealed off by deposition rather than staying connected to the new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the name for the point where a tributary joins the main river?
Answer: D   Confluence. A confluence is where two rivers meet. Con- means together.
Source of this question: gate item 1 re-asked (options rotated) — this chapter has no third quick-check module.
The ebook also holds task 3, "Parts of a drainage basin",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a V-shaped valley forms. Reveal the answer; pupils mark their own work in a different colour, then read the "why" together. Same destination for every lane, so one answer serves the whole class.
Answer: A small stream naturally follows small depressions in the landscape  (C); As the stream flows steeply downhill, its bedload scrapes away the bottom of the channel (vertical erosion)  (D); This vertical erosion deepens the valley, making the sides steeper and exposed  (A); Over time, weathering and gravity wear away the steep valley sides, feeding material into the stream, which it uses to cut the valley deeper  (B)
Why: The stream follows a dip; vertical erosion by the bedload deepens the channel; the sides become steep and exposed; weathering and gravity wear the sides into the stream, which uses the material to cut deeper. The result is a V.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meander to ox-bow lake. Reveal the answer; pupils mark their own work in a different colour, then read the "why" together. Same destination for every lane, so one answer serves the whole class.
Answer: At a slight bend, water flows faster on the outside (erosion) and slower on the inside (deposition)  (C); Continued erosion and deposition make the meander more and more exaggerated, so the neck narrows  (B); In a flood, the river cuts through the neck, taking the shortest route, and deposition seals off the old meander  (D); The old meander is cut off completely: the river has a new course and an ox-bow lake is left, which dries out in drought  (A)
Why: Fast water on the outside erodes and slow water on the inside deposits, so the bend grows and the neck narrows; a flood cuts through; deposition seals the old bend as an ox-bow lake.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Confluence
Why: A confluence is where two rivers meet. Con- means together.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Physical Landscapes in the UK: Rivers and Coasts · AQA 8035</a:t>
            </a:r>
            <a:endParaRPr lang="en-US" sz="1800" dirty="0"/>
          </a:p>
        </p:txBody>
      </p:sp>
      <p:sp>
        <p:nvSpPr>
          <p:cNvPr id="10" name="deck-title"/>
          <p:cNvSpPr txBox="1"/>
          <p:nvPr/>
        </p:nvSpPr>
        <p:spPr>
          <a:xfrm>
            <a:off x="548640" y="1643380"/>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A river's journey: processes and landforms</a:t>
            </a:r>
            <a:endParaRPr lang="en-US" sz="3200" dirty="0"/>
          </a:p>
        </p:txBody>
      </p:sp>
      <p:sp>
        <p:nvSpPr>
          <p:cNvPr id="11" name="lessons-card"/>
          <p:cNvSpPr/>
          <p:nvPr/>
        </p:nvSpPr>
        <p:spPr>
          <a:xfrm>
            <a:off x="548640" y="3055620"/>
            <a:ext cx="5287975" cy="2744216"/>
          </a:xfrm>
          <a:prstGeom prst="roundRect">
            <a:avLst>
              <a:gd name="adj" fmla="val 2666"/>
            </a:avLst>
          </a:prstGeom>
          <a:solidFill>
            <a:srgbClr val="E6ECE7"/>
          </a:solidFill>
          <a:ln/>
        </p:spPr>
      </p:sp>
      <p:sp>
        <p:nvSpPr>
          <p:cNvPr id="12" name="lessons"/>
          <p:cNvSpPr txBox="1"/>
          <p:nvPr/>
        </p:nvSpPr>
        <p:spPr>
          <a:xfrm>
            <a:off x="685800" y="3147060"/>
            <a:ext cx="5013655" cy="2561336"/>
          </a:xfrm>
          <a:prstGeom prst="rect">
            <a:avLst/>
          </a:prstGeom>
          <a:noFill/>
          <a:ln/>
        </p:spPr>
        <p:txBody>
          <a:bodyPr wrap="square" lIns="63500" tIns="63500" rIns="63500" bIns="63500" rtlCol="0" anchor="t"/>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Lessons covered</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12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River landscapes: the drainage basin and the river's three stages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13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River processes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14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River landforms: the upper course</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15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Middle course river landforms</a:t>
            </a:r>
            <a:endParaRPr lang="en-US" sz="1800" dirty="0"/>
          </a:p>
          <a:p>
            <a:pPr algn="l" indent="0" marL="0">
              <a:spcAft>
                <a:spcPts val="300"/>
              </a:spcAft>
              <a:buNone/>
            </a:pPr>
            <a:r>
              <a:rPr lang="en-US" sz="1800" b="1" dirty="0">
                <a:solidFill>
                  <a:srgbClr val="9C7225"/>
                </a:solidFill>
                <a:latin typeface="Calibri" pitchFamily="34" charset="0"/>
                <a:ea typeface="Calibri" pitchFamily="34" charset="-122"/>
                <a:cs typeface="Calibri" pitchFamily="34" charset="-120"/>
              </a:rPr>
              <a:t>16  </a:t>
            </a:r>
            <a:pPr algn="l" indent="0" marL="0">
              <a:spcAft>
                <a:spcPts val="300"/>
              </a:spcAft>
              <a:buNone/>
            </a:pPr>
            <a:r>
              <a:rPr lang="en-US" sz="1800" dirty="0">
                <a:solidFill>
                  <a:srgbClr val="1E2229"/>
                </a:solidFill>
                <a:latin typeface="Calibri" pitchFamily="34" charset="0"/>
                <a:ea typeface="Calibri" pitchFamily="34" charset="-122"/>
                <a:cs typeface="Calibri" pitchFamily="34" charset="-120"/>
              </a:rPr>
              <a:t>Lower course river landforms and the River Tees</a:t>
            </a:r>
            <a:endParaRPr lang="en-US" sz="18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waves and rivers shape the UK's coasts and valleys, and how should we manage the risks they bring?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name for the point where a tributary joins the main river?</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Confluence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Watershed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Mouth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Source</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upper course a river mainly erodes ___, cutting down into its bed.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vertically  ·  laterally  ·  upstream</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On the outside of a meander bend, the water...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flows fastest and erodes the bank to form a river cliff</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stops moving and dries out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flows slowest and deposits sand to form a slip-off slope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flows fastest and deposits a levee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Confluence</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the name for the point where a tributary joins the main river?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confluence is where two rivers meet. Con- means together.</a:t>
            </a:r>
            <a:endParaRPr lang="en-US" sz="22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vertically</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the upper course a river mainly erodes ___, cutting down into its bed.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Vertical erosion, cutting downwards, deepens the valley into a V shape. Lateral erosion comes later, in the middle and lower courses.</a:t>
            </a:r>
            <a:endParaRPr lang="en-US" sz="18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BDDC4"/>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flows fastest and erodes the bank to form a river cliff</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On the outside of a meander bend, the water...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fastest current swings to the outside of the bend, where lateral erosion undercuts the bank into a river cliff.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drainage basin</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area of land drained by a river and its tributaries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Rain falling anywhere in the drainage basin ends up in the river.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tributary</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smaller river that joins a larger one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Each tributary adds more water to the main river.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confluence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point where two rivers meet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town was built at the confluence of two rivers.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vertical erosion</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river cutting downwards into its bed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Vertical erosion in the upper course makes the valley deep and steep.</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lateral erosion</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river cutting sideways into its banks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Lateral erosion widens the valley in the middle course.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meander</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bend in a river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river swings from side to side in a series of meanders.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river collects water from an area of land called its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drainage basin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river begins at its source, often high in the hills.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Smaller rivers called tributaries join it at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confluence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ends at its mouth, where it meets the sea or a lake.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upper course the river cuts downwards and makes a steep V-shaped valley.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Here you find waterfalls, gorges and interlocking spurs.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middle course the river erodes sideways and begins to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meander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meander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bend in the river.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Over time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meander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can be cut off to leave an ox-bow lake.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lower course the river is wide and deep and flows across a flat floodplain.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Floods leave layers of silt that build up levees along the banks.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River Tees flows from the North Pennines to the North Sea.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studied its landforms from source to mouth.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drainage basin and the three courses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six drainage-basin words as a set: source, tributary, confluence, watershed, mouth, drainage basin. Draw and label them from memory.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drainage basin is the area of land drained by a river and its tributaries.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river is split into three stages, or courses. The long profile is a side view from source to mouth: steep in the upper course, gentler in the middle course and almost flat in the lower course.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Velocity (the speed of the water) and discharge (the amount of water) both increase along the course.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River processes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Upper course: vertical erosion and landforms of erosion. Middle course: lateral erosion and deposition together. Lower course: mostly deposition.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Rivers erode in the same four ways as the sea.</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Rivers transport their load in four ways too. Traction rolls large stones and boulders along the bed, mainly when discharge and energy are high.</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Deposition happens when the river no longer has enough energy to carry its load.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Upper course landforms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 all the key words: hard rock, soft rock, undercutting, overhang, plunge pool, collapses, moves back, gorge. Each is a mark-earning step.</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upper course landforms are all made by erosion: V-shaped valleys, interlocking spurs, rapids, waterfalls and gorges.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upper course the channel often winds around ridges of harder rock called spurs.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waterfall forms where a band of hard rock lies over softer rock.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Upper course landforms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6ECE7"/>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how a waterfall forms. (4 marks)</a:t>
            </a:r>
            <a:endParaRPr lang="en-US" sz="2000" dirty="0"/>
          </a:p>
        </p:txBody>
      </p:sp>
      <p:sp>
        <p:nvSpPr>
          <p:cNvPr id="9" name="step-box"/>
          <p:cNvSpPr/>
          <p:nvPr/>
        </p:nvSpPr>
        <p:spPr>
          <a:xfrm>
            <a:off x="548640" y="2192528"/>
            <a:ext cx="11094415" cy="519278"/>
          </a:xfrm>
          <a:prstGeom prst="roundRect">
            <a:avLst>
              <a:gd name="adj" fmla="val 14087"/>
            </a:avLst>
          </a:prstGeom>
          <a:solidFill>
            <a:srgbClr val="FFFFFF"/>
          </a:solidFill>
          <a:ln w="15875">
            <a:solidFill>
              <a:srgbClr val="95AE9B"/>
            </a:solidFill>
            <a:prstDash val="solid"/>
          </a:ln>
        </p:spPr>
      </p:sp>
      <p:sp>
        <p:nvSpPr>
          <p:cNvPr id="10" name="step-hex"/>
          <p:cNvSpPr/>
          <p:nvPr/>
        </p:nvSpPr>
        <p:spPr>
          <a:xfrm>
            <a:off x="685800" y="2254199"/>
            <a:ext cx="457200" cy="395935"/>
          </a:xfrm>
          <a:prstGeom prst="hexagon">
            <a:avLst/>
          </a:prstGeom>
          <a:solidFill>
            <a:srgbClr val="3F6B4A"/>
          </a:solidFill>
          <a:ln/>
        </p:spPr>
      </p:sp>
      <p:sp>
        <p:nvSpPr>
          <p:cNvPr id="11" name="step-hex-label"/>
          <p:cNvSpPr txBox="1"/>
          <p:nvPr/>
        </p:nvSpPr>
        <p:spPr>
          <a:xfrm>
            <a:off x="685800" y="225419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Set the scene: a band of hard rock lies over softer rock.</a:t>
            </a:r>
            <a:endParaRPr lang="en-US" sz="1800" dirty="0"/>
          </a:p>
        </p:txBody>
      </p:sp>
      <p:sp>
        <p:nvSpPr>
          <p:cNvPr id="13" name="step-box"/>
          <p:cNvSpPr/>
          <p:nvPr/>
        </p:nvSpPr>
        <p:spPr>
          <a:xfrm>
            <a:off x="548640" y="2784958"/>
            <a:ext cx="11094415" cy="783438"/>
          </a:xfrm>
          <a:prstGeom prst="roundRect">
            <a:avLst>
              <a:gd name="adj" fmla="val 9337"/>
            </a:avLst>
          </a:prstGeom>
          <a:solidFill>
            <a:srgbClr val="FFFFFF"/>
          </a:solidFill>
          <a:ln w="15875">
            <a:solidFill>
              <a:srgbClr val="95AE9B"/>
            </a:solidFill>
            <a:prstDash val="solid"/>
          </a:ln>
        </p:spPr>
      </p:sp>
      <p:sp>
        <p:nvSpPr>
          <p:cNvPr id="14" name="step-hex"/>
          <p:cNvSpPr/>
          <p:nvPr/>
        </p:nvSpPr>
        <p:spPr>
          <a:xfrm>
            <a:off x="685800" y="2978709"/>
            <a:ext cx="457200" cy="395935"/>
          </a:xfrm>
          <a:prstGeom prst="hexagon">
            <a:avLst/>
          </a:prstGeom>
          <a:solidFill>
            <a:srgbClr val="3F6B4A"/>
          </a:solidFill>
          <a:ln/>
        </p:spPr>
      </p:sp>
      <p:sp>
        <p:nvSpPr>
          <p:cNvPr id="15" name="step-hex-label"/>
          <p:cNvSpPr txBox="1"/>
          <p:nvPr/>
        </p:nvSpPr>
        <p:spPr>
          <a:xfrm>
            <a:off x="685800" y="297870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4958"/>
            <a:ext cx="10180015" cy="78343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processes and what they do: hydraulic action and abrasion erode the soft rock faster, undercutting the hard rock to leave an overhang, and a plunge pool is eroded at the base.</a:t>
            </a:r>
            <a:endParaRPr lang="en-US" sz="1800" dirty="0"/>
          </a:p>
        </p:txBody>
      </p:sp>
      <p:sp>
        <p:nvSpPr>
          <p:cNvPr id="17" name="step-box"/>
          <p:cNvSpPr/>
          <p:nvPr/>
        </p:nvSpPr>
        <p:spPr>
          <a:xfrm>
            <a:off x="548640" y="3641547"/>
            <a:ext cx="11094415" cy="519278"/>
          </a:xfrm>
          <a:prstGeom prst="roundRect">
            <a:avLst>
              <a:gd name="adj" fmla="val 14087"/>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154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collapse: the unsupported overhang collapses into the plunge pool.</a:t>
            </a:r>
            <a:endParaRPr lang="en-US" sz="1800" dirty="0"/>
          </a:p>
        </p:txBody>
      </p:sp>
      <p:sp>
        <p:nvSpPr>
          <p:cNvPr id="21" name="step-box"/>
          <p:cNvSpPr/>
          <p:nvPr/>
        </p:nvSpPr>
        <p:spPr>
          <a:xfrm>
            <a:off x="548640" y="4233977"/>
            <a:ext cx="11094415" cy="519278"/>
          </a:xfrm>
          <a:prstGeom prst="roundRect">
            <a:avLst>
              <a:gd name="adj" fmla="val 14087"/>
            </a:avLst>
          </a:prstGeom>
          <a:solidFill>
            <a:srgbClr val="FFFFFF"/>
          </a:solidFill>
          <a:ln w="15875">
            <a:solidFill>
              <a:srgbClr val="95AE9B"/>
            </a:solidFill>
            <a:prstDash val="solid"/>
          </a:ln>
        </p:spPr>
      </p:sp>
      <p:sp>
        <p:nvSpPr>
          <p:cNvPr id="22" name="step-hex"/>
          <p:cNvSpPr/>
          <p:nvPr/>
        </p:nvSpPr>
        <p:spPr>
          <a:xfrm>
            <a:off x="685800" y="4295648"/>
            <a:ext cx="457200" cy="395935"/>
          </a:xfrm>
          <a:prstGeom prst="hexagon">
            <a:avLst/>
          </a:prstGeom>
          <a:solidFill>
            <a:srgbClr val="3F6B4A"/>
          </a:solidFill>
          <a:ln/>
        </p:spPr>
      </p:sp>
      <p:sp>
        <p:nvSpPr>
          <p:cNvPr id="23" name="step-hex-label"/>
          <p:cNvSpPr txBox="1"/>
          <p:nvPr/>
        </p:nvSpPr>
        <p:spPr>
          <a:xfrm>
            <a:off x="685800" y="42956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33977"/>
            <a:ext cx="10180015" cy="5192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Finish with the result: the waterfall retreats upstream, and over time a gorge is left downstream.</a:t>
            </a:r>
            <a:endParaRPr lang="en-US" sz="1800" dirty="0"/>
          </a:p>
        </p:txBody>
      </p:sp>
      <p:sp>
        <p:nvSpPr>
          <p:cNvPr id="25" name="worked-answer"/>
          <p:cNvSpPr/>
          <p:nvPr/>
        </p:nvSpPr>
        <p:spPr>
          <a:xfrm>
            <a:off x="548640" y="4936134"/>
            <a:ext cx="11094415" cy="1109980"/>
          </a:xfrm>
          <a:prstGeom prst="roundRect">
            <a:avLst>
              <a:gd name="adj" fmla="val 12357"/>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Hard rock lies over soft rock. Hydraulic action and abrasion erode the soft rock faster, undercutting the hard rock and forming a plunge pool at the base. The unsupported hard rock overhang collapses. The waterfall moves back upstream and, over time, leaves a gorge.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Middle and lower course landforms, and the River Tees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Meander words: fastest current, outside, river cliff, erosion; slowest current, inside, slip-off slope, deposition. Say which side you mean every time.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the middle course the river begins to meander. Where the channel bends even slightly, the fastest current swings to the outside of the bend, where the water is deeper.</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the lower course the landforms are made by deposition.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named UK river is the River Tees, in the north-east of England.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How a V-shaped valley forms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 stages in the formation of a V-shaped valley in the correct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This vertical erosion deepens the valley, making the sides steeper and exposed</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Over time, weathering and gravity wear away the steep valley sides, feeding material into the stream, which it uses to cut the valley deeper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small stream naturally follows small depressions in the landscape</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As the stream flows steeply downhill, its bedload scrapes away the bottom of the channel (vertical erosion)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How a V-shaped valley forms</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How a V-shaped valley forms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before any erosion: where does a small stream choose to flow?</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Then the stream cuts down. What is the word for cutting downwards?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Cutting down makes the sides steep. What happens to steep, exposed sides?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material from the sides goes into the stream and helps it cut deeper: that is the last stage.</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Stream first, then cutting down, then steep sides, then the sides wearing away into the stream.</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valley is V-shaped rather than a narrow slot with vertical sides. What part do weathering and mass movement play?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meander to ox-bow lake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in the formation of an ox-bow lake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old meander is cut off completely: the river has a new course and an ox-bow lake is left, which dries out in drought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Continued erosion and deposition make the meander more and more exaggerated, so the neck narrows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a slight bend, water flows faster on the outside (erosion) and slower on the inside (deposition)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a flood, the river cuts through the neck, taking the shortest route, and deposition seals off the old meander</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From meander to ox-bow lake</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From meander to ox-bow lake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6ECE7"/>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a river that has only a slight bend. Which side is fast and which is slow?</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Fast water erodes and slow water deposits, so the bend grows. What happens to the land between two bends?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dramatic is needed to cut through the neck: a flood.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with what is left behind once the river takes its new course.</a:t>
            </a:r>
            <a:endParaRPr lang="en-US" sz="1800" dirty="0"/>
          </a:p>
        </p:txBody>
      </p:sp>
      <p:sp>
        <p:nvSpPr>
          <p:cNvPr id="17" name="col-Core"/>
          <p:cNvSpPr/>
          <p:nvPr/>
        </p:nvSpPr>
        <p:spPr>
          <a:xfrm>
            <a:off x="5490762" y="2395728"/>
            <a:ext cx="2938987" cy="3749040"/>
          </a:xfrm>
          <a:prstGeom prst="roundRect">
            <a:avLst>
              <a:gd name="adj" fmla="val 1867"/>
            </a:avLst>
          </a:prstGeom>
          <a:solidFill>
            <a:srgbClr val="CFDAD2"/>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Slight bend, exaggerated bend with a narrow neck, flood cuts through, lake left behind.</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ox-bow lake is sealed off by deposition rather than staying connected to the new channel.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the name for the point where a tributary joins the main river?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Watershed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Mouth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Source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Confluence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a V-shaped valley forms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 small stream naturally follows small depressions in the landscape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As the stream flows steeply downhill, its bedload scrapes away the bottom of the channel (vertical erosion)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This vertical erosion deepens the valley, making the sides steeper and exposed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Over time, weathering and gravity wear away the steep valley sides, feeding material into the stream, which it uses to cut the valley deeper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stream follows a dip; vertical erosion by the bedload deepens the channel; the sides become steep and exposed; weathering and gravity wear the sides into the stream, which uses the material to cut deeper. The result is a V.</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meander to ox-bow lake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At a slight bend, water flows faster on the outside (erosion) and slower on the inside (deposition)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Continued erosion and deposition make the meander more and more exaggerated, so the neck narrows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In a flood, the river cuts through the neck, taking the shortest route, and deposition seals off the old meander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old meander is cut off completely: the river has a new course and an ox-bow lake is left, which dries out in drought  (A)</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Fast water on the outside erodes and slow water on the inside deposits, so the bend grows and the neck narrows; a flood cuts through; deposition seals the old bend as an ox-bow lake.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the name for the point where a tributary joins the main river?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Confluence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confluence is where two rivers meet. Con- means together.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Landscapes in the UK: Rivers and Coasts · Chapter 5: A river's journey: processes and landforms</dc:title>
  <dc:subject>Geography · Year 10</dc:subject>
  <dc:creator>Dr Vitor Merissi de Carvalho</dc:creator>
  <cp:lastModifiedBy>Dr Vitor Merissi de Carvalho</cp:lastModifiedBy>
  <cp:revision>1</cp:revision>
  <dcterms:created xsi:type="dcterms:W3CDTF">2026-10-19T16:22:51Z</dcterms:created>
  <dcterms:modified xsi:type="dcterms:W3CDTF">2026-10-19T16:22:51Z</dcterms:modified>
</cp:coreProperties>
</file>