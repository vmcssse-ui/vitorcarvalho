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393fd56-a2a8-e2bc-c052-8ddf60431532}">
          <p14:sldIdLst>
            <p14:sldId id="256"/>
          </p14:sldIdLst>
        </p14:section>
        <p14:section name="Gate" id="{2d823cee-84f9-52f9-88da-626d116afa57}">
          <p14:sldIdLst>
            <p14:sldId id="257"/>
            <p14:sldId id="258"/>
          </p14:sldIdLst>
        </p14:section>
        <p14:section name="Pre-teach" id="{bddc6134-c5fe-a050-b6e5-e48eac2d07f9}">
          <p14:sldIdLst>
            <p14:sldId id="259"/>
            <p14:sldId id="260"/>
          </p14:sldIdLst>
        </p14:section>
        <p14:section name="Read-along" id="{5207f2fa-e8ab-6aea-6166-c77b50681706}">
          <p14:sldIdLst>
            <p14:sldId id="261"/>
            <p14:sldId id="262"/>
          </p14:sldIdLst>
        </p14:section>
        <p14:section name="Teach" id="{a06b9edd-7764-7f4c-67eb-65cbe043982f}">
          <p14:sldIdLst>
            <p14:sldId id="263"/>
            <p14:sldId id="264"/>
            <p14:sldId id="265"/>
            <p14:sldId id="266"/>
            <p14:sldId id="267"/>
          </p14:sldIdLst>
        </p14:section>
        <p14:section name="Routes" id="{bdc31f17-fec7-1243-63b8-6d911c907ee0}">
          <p14:sldIdLst>
            <p14:sldId id="268"/>
            <p14:sldId id="269"/>
            <p14:sldId id="270"/>
          </p14:sldIdLst>
        </p14:section>
        <p14:section name="Close" id="{de9e110b-bcd7-d18b-befa-493821bac096}">
          <p14:sldIdLst>
            <p14:sldId id="271"/>
          </p14:sldIdLst>
        </p14:section>
        <p14:section name="Answers" id="{afdd9612-762d-52d4-cfde-2aacf4d3c812}">
          <p14:sldIdLst>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6 of 6: Flooding, hydrographs and managing the river. Why rivers flood, how a hydrograph shows a river's response to a storm, which drainage basins flood fastest, and the hard and soft ways of managing floods, with Banbury as your case study.
This deck covers the department's lessons: 17 (River flooding and hydrographs: What causes a river to flood, and how does a hydrograph show a river's response to rainfall?); 18 (Factors increasing flood risk and hydrographs: Which physical and human factors increase flood risk, and what makes a hydrograph flashy or gentle?); 19 (Flood management strategies: What hard and soft engineering strategies are used to manage river floods, and what are their costs and benefits?); 20 (Case study of flood management at Banbury: Where is Banbury, what has been done to reduce its flood risk, and what are the social, economic and environmental issues?).
Read the big question aloud: "How do waves and rivers shape the UK's coasts and valleys, and how should we manage the risks they bring?"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On a hydrograph, peak rainfall was at 06:00 and peak discharge was at 15:00. What was the lag time, in hours?  →  9 hours
2. Which of these is a human cause of flooding?  →  D   Urbanisation
3. A flashy hydrograph has a ___ lag time and a high peak discharge.  →  short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9 hours. Lag time is the time between peak rainfall and peak discharge: 15:00 − 06:00 = 9 hours.
2. D   Urbanisation. Urbanisation is people covering the land in impermeable surfaces and drains, so rain reaches the river fast. The other three are physical.
3. short. Flashy means the river responds quickly: the peak discharge comes soon after the peak rainfall.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discharge: the amount of water passing a point on a river each second. Example: "After the storm the river's discharge doubled."
• hydrograph: a graph showing how a river's discharge changes after rain. Example: "The hydrograph showed a sharp peak six hours after the storm."
• lag time: the time between the heaviest rain and the highest discharge. Example: "A short lag time means the river rises quickly."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peak discharge: the highest discharge the river reaches after rain. Example: "Peak discharge was far above the level of the banks."
• floodplain zoning: deciding what may be built on land that could flood. Example: "Floodplain zoning keeps houses away from the riverside."
• afforestation: planting trees. Example: "Afforestation in the upper basin slows water reaching the river."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1–6 of 12:
1. A river floods when more water enters it than its channel can hold.
2. Heavy rain, steep slopes and impermeable rock all make floods more likely.
3. Melting ice and snow can add to the water too.
4. People make floods worse by building towns and cutting down trees.
5. Hard surfaces and drains send rain into the river quickly.
6. A hydrograph is a graph showing how a river responds to a storm.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7–12 of 12:
7. Discharge is the amount of water passing a point, measured in cumecs.
8. Lag time is the gap between the heaviest rain and the highest discharge.
9. A flashy hydrograph has a short lag time and a high peak.
10. Floods can be managed with hard engineering, such as dams and embankments.
11. Soft engineering includes planting trees and flood warnings.
12. Banbury is your case study of flood management in the UK.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Why rivers flood. Say it in your own words, then check understanding with a quick question: ask a pupil from the pre-teach group first, since they met these words and ideas before the lesson. Pupils try to recall before you re-explain.
A river floods when its discharge is greater than its channel can hold, so water overflows the banks onto the floodplain. Some of the causes are physical. Precipitation is the main one: heavy or prolonged rain, or a sudden thaw of snow and ice (an indirect cause, because the melt adds water that did not fall as rain that day). Geology matters: impermeable rock such as granite or clay does not let water soak in, so it runs straight off into the river. The relief of the drainage basin matters: on steep slopes water reaches the river quickly. A high drainage density, with many streams in the basin, delivers water to the main river faster.
Other causes are human. Urbanisation covers the land in impermeable concrete and tarmac, and drains and sewers carry rain straight to the river. Deforestation removes trees that would intercept rain on their leaves and take up water through their roots, so more water reaches the river faster. Agriculture can leave soil bare or compacted, so rain runs off rather than soaking in. Your sorting task in class put precipitation, rock type, relief, drainage density and ice melt in the physical column, and urbanisation, deforestation and agriculture in the human column.
Flood risk is the combination of these factors. A steep, impermeable, deforested basin with a town in it floods quickly and badly after heavy rain. A gentle, permeable, forested basin soaks the same rain up and releases it slowly.
Tip: Sort first, explain second. Say whether a factor is physical or human, then say how it gets water into the river faster.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hydrograph. Say it in your own words, then check understanding with a quick question: ask a pupil from the pre-teach group first, since they met these words and ideas before the lesson. Pupils try to recall before you re-explain.
A hydrograph is a graph that shows how a river responds to a storm. Time runs along the bottom. Rainfall is shown as bars, and the river's discharge as a line. Discharge is the amount of water passing a given point on the river, measured in cubic metres per second, written cumecs. The line rises after the rain (the rising limb), reaches its peak discharge, the highest discharge after the rainfall, and then falls (the falling limb). Lag time is the difference in time between peak rainfall and peak discharge.
A flashy hydrograph has a short lag time and a high peak discharge: the river rises fast and high, so flooding is likely. A gentle hydrograph has a longer lag time and a lower peak: the water arrives slowly and the river copes. Which one a basin produces depends on the same factors as flood risk. Basin A, with the flashy hydrograph, has steep slopes, impermeable rock, very thin soil, thin grass and moorland, urban land use, limited use of the river and a high drainage density. Basin B, with the gentle hydrograph, has gentle slopes, permeable rock, deep soil, forest, rural land use, a river used for industry with a dam built on it, and a low drainage density.
Worked example — model it step by step, thinking aloud: On a hydrograph, peak rainfall was at 03:00 and peak discharge was at 11:00. What was the lag time? (1) Lag time is the time from peak rainfall to peak discharge, not from the start of the rain. (2) Peak rainfall 03:00; peak discharge 11:00. (3) 11 − 3 = 8. (4) Lag time = 8 hours. A lag time this short, on a big storm, suggests a fairly flashy basin. Answer: 8 hours.
Tip: Read the two peaks, not the start of the rain. Lag time is peak to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Reading a hydrograph. Say it in your own words, then check understanding with a quick question: ask a pupil from the pre-teach group first, since they met these words and ideas before the lesson. Pupils try to recall before you re-explain.
A hydrograph is a graph that shows how a river responds to a storm. Time runs along the bottom. Rainfall is shown as bars, and the river's discharge as a line. Discharge is the amount of water passing a given point on the river, measured in cubic metres per second, written cumecs. The line rises after the rain (the rising limb), reaches its peak discharge, the highest discharge after the rainfall, and then falls (the falling limb). Lag time is the difference in time between peak rainfall and peak discharge.
A flashy hydrograph has a short lag time and a high peak discharge: the river rises fast and high, so flooding is likely. A gentle hydrograph has a longer lag time and a lower peak: the water arrives slowly and the river copes. Which one a basin produces depends on the same factors as flood risk. Basin A, with the flashy hydrograph, has steep slopes, impermeable rock, very thin soil, thin grass and moorland, urban land use, limited use of the river and a high drainage density. Basin B, with the gentle hydrograph, has gentle slopes, permeable rock, deep soil, forest, rural land use, a river used for industry with a dam built on it, and a low drainage density.
Worked example — model it step by step, thinking aloud: On a hydrograph, peak rainfall was at 03:00 and peak discharge was at 11:00. What was the lag time? (1) Lag time is the time from peak rainfall to peak discharge, not from the start of the rain. (2) Peak rainfall 03:00; peak discharge 11:00. (3) 11 − 3 = 8. (4) Lag time = 8 hours. A lag time this short, on a big storm, suggests a fairly flashy basin. Answer: 8 hours.
Tip: Read the two peaks, not the start of the rain. Lag time is peak to peak.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Managing floods: hard and soft engineering. Say it in your own words, then check understanding with a quick question: ask a pupil from the pre-teach group first, since they met these words and ideas before the lesson. Pupils try to recall before you re-explain.
As at the coast, flood management divides into hard and soft engineering. The hard strategies are dams and reservoirs, which hold water back in the upper course and release it slowly; channel straightening, which cuts off meanders so water leaves the area faster; embankments, which raise the banks so the channel holds more water; and flood relief channels, which carry excess water around a town. Hard engineering is expensive, can look unnatural and can simply move the flood problem downstream, but it protects valuable property reliably.
The soft strategies are floodplain zoning, which restricts building on land likely to flood so that only low-value uses such as playing fields sit beside the river; afforestation, planting trees to intercept rain and slow its journey to the river; flood warnings, which give people time to move belongings and themselves; and river restoration, which returns a straightened river to a natural meandering course so its floodplain can store water. Soft strategies are cheaper and more sustainable, but they do not stop a flood on their own, and zoning cannot help a town that is already built.
In your lesson you rated each strategy on a thermometer for its costs and benefits and added case studies where you could. The best schemes, like the one at Banbury, combine hard and soft methods.
Tip: Four hard, four soft: dams, straightening, embankments, relief channels; zoning, afforestation, warnings, restoration. Learn one cost and one benefit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Case study: flood management at Banbury. Say it in your own words, then check understanding with a quick question: ask a pupil from the pre-teach group first, since they met these words and ideas before the lesson. Pupils try to recall before you re-explain.
Banbury is your named example of a UK flood management scheme. In class you used pages 130 and 131 of the textbook to answer four questions, and those four questions are exactly what the exam can ask: where is Banbury; why did it need protecting from floods; what has been done to reduce the flood risk; and what are the social, economic and environmental issues of the scheme.
Use your notes to build a one-page summary with those four headings. Under what has been done, sort the measures into hard and soft engineering. Under the issues, give one social (people and homes), one economic (money and jobs) and one environmental (wildlife and landscape) point, and say whether each is a cost or a benefit of the scheme.
A case-study answer scores when it is specific. Name the town, name a measure, give a number or a place, and then make the geographical point. A general answer about flood management with Banbury written at the top will not reach the top level.
Tip: Where, why, what, and the social, economic and environmental issues: four headings for every management case study in this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Hydrograph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hydrograph term to its meaning.
Support — work through the steps with the group: (1) One term is the whole graph. (2) One term is a time, so its meaning must mention time. (3) Two terms contain the word discharge: one is the amount in general, one is the highest point. (4) The unit cumecs goes with the general measurement.
Parallel worked example for Support (model it, do not give the task answer): Match: rising limb, falling limb. Choices: the part of the line where discharge is going down after the peak; the part of the line where discharge is going up towards the peak. Rising goes up, before the peak.; Falling goes down, after the peak.. Answer: Rising limb: discharge going up towards the peak. Falling limb: discharge going down after the peak..
Core — reveal the hint only on request: One is the graph, one is a time, and two are amounts of water (one of them the biggest).
Stretch — no help; when finished: Explain what a short lag time tells you about the drainage basin, giving two possible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Hydrograph words.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Match each hydrograph term to its meaning.
Support — work through the steps with the group: (1) One term is the whole graph. (2) One term is a time, so its meaning must mention time. (3) Two terms contain the word discharge: one is the amount in general, one is the highest point. (4) The unit cumecs goes with the general measurement.
Parallel worked example for Support (model it, do not give the task answer): Match: rising limb, falling limb. Choices: the part of the line where discharge is going down after the peak; the part of the line where discharge is going up towards the peak. Rising goes up, before the peak.; Falling goes down, after the peak.. Answer: Rising limb: discharge going up towards the peak. Falling limb: discharge going down after the peak..
Core — reveal the hint only on request: One is the graph, one is a time, and two are amounts of water (one of them the biggest).
Stretch — no help; when finished: Explain what a short lag time tells you about the drainage basin, giving two possible reasons.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How much water is that?.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river's discharge is 240 cumecs (cubic metres per second). How many cubic metres of water pass the gauging station in one minute?
Support — work through the steps with the group: (1) Cumecs means cubic metres per second: 240 cubic metres go past every second. (2) How many seconds are there in a minute? 60. (3) Multiply: 240 × 60. (4) 240 × 6 = 1440, so 240 × 60 = 14 400.
Parallel worked example for Support (model it, do not give the task answer): A stream has a discharge of 15 cumecs. How many cubic metres pass in one minute? 15 cubic metres every second.; 60 seconds in a minute.; 15 × 60 = 900.. Answer: 900 cubic metres.
Core — reveal the hint only on request: Per second to per minute: multiply by 60.
Stretch — no help; when finished: A swimming pool holds about 2 500 cubic metres. Estimate how long the river at 240 cumecs would take to fill it, and show your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On a hydrograph, peak rainfall was at 06:00 and peak discharge was at 15:00. What was the lag time, in hours?
Answer: 9 hours. Lag time is the time between peak rainfall and peak discharge: 15:00 − 06:00 = 9 hours.
Source of this question: gate item 1 re-asked (options rotated) — this chapter has no third quick-check module.
The ebook also holds task 3, "People and floods",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Hydrograph words. Reveal the answer; pupils mark their own work in a different colour, then read the "why" together. Same destination for every lane, so one answer serves the whole class.
Answer: Hydrograph  →  D  A graph showing how a river responds to a storm; Discharge  →  B  The amount of water passing a point on the river, in cumecs; Peak discharge  →  A  The highest discharge the river reaches after the rainfall; Lag time  →  C  The time between peak rainfall and peak discharge
Why: The hydrograph is the graph; discharge is the amount of water per second (cumecs); peak discharge is its highest value; lag time is peak rainfall to peak discharge.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How much water is that?. Reveal the answer; pupils mark their own work in a different colour, then read the "why" together. Same destination for every lane, so one answer serves the whole class.
Answer: 14 400 m³
Why: 240 cubic metres pass every second; 60 seconds make a minute; 240 × 60 = 14 400 cubic metres.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9 hours
Why: Lag time is the time between peak rainfall and peak discharge: 15:00 − 06:00 = 9 hours.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CFDAD2"/>
          </a:solidFill>
          <a:ln w="12700">
            <a:solidFill>
              <a:srgbClr val="CFDAD2"/>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Geography · Year 10 · Physical Landscapes in the UK: Rivers and Coasts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3F6B4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D3DDD5"/>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3F6B4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6</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3F6B4A"/>
                </a:solidFill>
                <a:latin typeface="Calibri" pitchFamily="34" charset="0"/>
                <a:ea typeface="Calibri" pitchFamily="34" charset="-122"/>
                <a:cs typeface="Calibri" pitchFamily="34" charset="-120"/>
              </a:rPr>
              <a:t>Geography · Year 10</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Chapter 6/6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Physical Landscapes in the UK: Rivers and Coasts · AQA 8035</a:t>
            </a:r>
            <a:endParaRPr lang="en-US" sz="1800" dirty="0"/>
          </a:p>
        </p:txBody>
      </p:sp>
      <p:sp>
        <p:nvSpPr>
          <p:cNvPr id="10" name="deck-title"/>
          <p:cNvSpPr txBox="1"/>
          <p:nvPr/>
        </p:nvSpPr>
        <p:spPr>
          <a:xfrm>
            <a:off x="548640" y="1627378"/>
            <a:ext cx="5287975" cy="1315720"/>
          </a:xfrm>
          <a:prstGeom prst="rect">
            <a:avLst/>
          </a:prstGeom>
          <a:noFill/>
          <a:ln/>
        </p:spPr>
        <p:txBody>
          <a:bodyPr wrap="square" lIns="63500" tIns="63500" rIns="63500" bIns="63500" rtlCol="0" anchor="t"/>
          <a:lstStyle/>
          <a:p>
            <a:pPr algn="l" indent="0" marL="0">
              <a:buNone/>
            </a:pPr>
            <a:r>
              <a:rPr lang="en-US" sz="3600" b="1" dirty="0">
                <a:solidFill>
                  <a:srgbClr val="1E2229"/>
                </a:solidFill>
                <a:latin typeface="Cambria" pitchFamily="34" charset="0"/>
                <a:ea typeface="Cambria" pitchFamily="34" charset="-122"/>
                <a:cs typeface="Cambria" pitchFamily="34" charset="-120"/>
              </a:rPr>
              <a:t>Flooding, hydrographs and managing the river</a:t>
            </a:r>
            <a:endParaRPr lang="en-US" sz="3600" dirty="0"/>
          </a:p>
        </p:txBody>
      </p:sp>
      <p:sp>
        <p:nvSpPr>
          <p:cNvPr id="11" name="lessons-card"/>
          <p:cNvSpPr/>
          <p:nvPr/>
        </p:nvSpPr>
        <p:spPr>
          <a:xfrm>
            <a:off x="548640" y="3171698"/>
            <a:ext cx="5287975" cy="2644140"/>
          </a:xfrm>
          <a:prstGeom prst="roundRect">
            <a:avLst>
              <a:gd name="adj" fmla="val 2767"/>
            </a:avLst>
          </a:prstGeom>
          <a:solidFill>
            <a:srgbClr val="E6ECE7"/>
          </a:solidFill>
          <a:ln/>
        </p:spPr>
      </p:sp>
      <p:sp>
        <p:nvSpPr>
          <p:cNvPr id="12" name="lessons"/>
          <p:cNvSpPr txBox="1"/>
          <p:nvPr/>
        </p:nvSpPr>
        <p:spPr>
          <a:xfrm>
            <a:off x="685800" y="3263138"/>
            <a:ext cx="5013655" cy="24612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3F6B4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17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River flooding and hydrographs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18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Factors increasing flood risk and hydrographs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19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Flood management strategies</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20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Case study of flood management at Banbury</a:t>
            </a:r>
            <a:endParaRPr lang="en-US" sz="2000" dirty="0"/>
          </a:p>
        </p:txBody>
      </p:sp>
      <p:sp>
        <p:nvSpPr>
          <p:cNvPr id="13" name="plate-frame"/>
          <p:cNvSpPr/>
          <p:nvPr/>
        </p:nvSpPr>
        <p:spPr>
          <a:xfrm>
            <a:off x="6248095" y="411480"/>
            <a:ext cx="5394960" cy="3130677"/>
          </a:xfrm>
          <a:prstGeom prst="rect">
            <a:avLst/>
          </a:prstGeom>
          <a:solidFill>
            <a:srgbClr val="F0E6D2"/>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Geography, Year 10">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E6ECE7"/>
          </a:solidFill>
          <a:ln w="12700">
            <a:solidFill>
              <a:srgbClr val="ACBFB1"/>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3F6B4A"/>
                </a:solidFill>
                <a:latin typeface="Calibri" pitchFamily="34" charset="0"/>
                <a:ea typeface="Calibri" pitchFamily="34" charset="-122"/>
                <a:cs typeface="Calibri" pitchFamily="34" charset="-120"/>
              </a:rPr>
              <a:t>Big question</a:t>
            </a:r>
            <a:endParaRPr lang="en-US" sz="1800" dirty="0"/>
          </a:p>
          <a:p>
            <a:pPr algn="l" indent="0" marL="0">
              <a:buNone/>
            </a:pPr>
            <a:r>
              <a:rPr lang="en-US" sz="2000" i="1" dirty="0">
                <a:solidFill>
                  <a:srgbClr val="1E2229"/>
                </a:solidFill>
                <a:latin typeface="Cambria" pitchFamily="34" charset="0"/>
                <a:ea typeface="Cambria" pitchFamily="34" charset="-122"/>
                <a:cs typeface="Cambria" pitchFamily="34" charset="-120"/>
              </a:rPr>
              <a:t>How do waves and rivers shape the UK's coasts and valleys, and how should we manage the risks they bring?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Do now: three from memory</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On a hydrograph, peak rainfall was at 06:00 and peak discharge was at 15:00. What was the lag time, in hours?</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hours</a:t>
            </a:r>
            <a:endParaRPr lang="en-US" sz="2400" dirty="0"/>
          </a:p>
        </p:txBody>
      </p:sp>
      <p:sp>
        <p:nvSpPr>
          <p:cNvPr id="12"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3" name="card-hex"/>
          <p:cNvSpPr/>
          <p:nvPr/>
        </p:nvSpPr>
        <p:spPr>
          <a:xfrm>
            <a:off x="4521098" y="1572768"/>
            <a:ext cx="640080" cy="554309"/>
          </a:xfrm>
          <a:prstGeom prst="hexagon">
            <a:avLst/>
          </a:prstGeom>
          <a:solidFill>
            <a:srgbClr val="3F6B4A"/>
          </a:solidFill>
          <a:ln/>
        </p:spPr>
      </p:sp>
      <p:sp>
        <p:nvSpPr>
          <p:cNvPr id="14"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4521098"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Which of these is a human cause of flooding?</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Relief of the drainage basin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Precipitation</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Rock type</a:t>
            </a:r>
            <a:endParaRPr lang="en-US" sz="2400" dirty="0"/>
          </a:p>
          <a:p>
            <a:pPr algn="l" indent="0" marL="0">
              <a:spcAft>
                <a:spcPts val="200"/>
              </a:spcAft>
              <a:buNone/>
            </a:pPr>
            <a:r>
              <a:rPr lang="en-US" sz="24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400" dirty="0">
                <a:solidFill>
                  <a:srgbClr val="1E2229"/>
                </a:solidFill>
                <a:latin typeface="Calibri" pitchFamily="34" charset="0"/>
                <a:ea typeface="Calibri" pitchFamily="34" charset="-122"/>
                <a:cs typeface="Calibri" pitchFamily="34" charset="-120"/>
              </a:rPr>
              <a:t>Urbanisation</a:t>
            </a:r>
            <a:endParaRPr lang="en-US" sz="2400" dirty="0"/>
          </a:p>
        </p:txBody>
      </p:sp>
      <p:sp>
        <p:nvSpPr>
          <p:cNvPr id="17"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18" name="card-hex"/>
          <p:cNvSpPr/>
          <p:nvPr/>
        </p:nvSpPr>
        <p:spPr>
          <a:xfrm>
            <a:off x="8310677" y="1572768"/>
            <a:ext cx="640080" cy="554309"/>
          </a:xfrm>
          <a:prstGeom prst="hexagon">
            <a:avLst/>
          </a:prstGeom>
          <a:solidFill>
            <a:srgbClr val="3F6B4A"/>
          </a:solidFill>
          <a:ln/>
        </p:spPr>
      </p:sp>
      <p:sp>
        <p:nvSpPr>
          <p:cNvPr id="19"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0"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Fill the gap</a:t>
            </a:r>
            <a:endParaRPr lang="en-US" sz="1800" dirty="0"/>
          </a:p>
        </p:txBody>
      </p:sp>
      <p:sp>
        <p:nvSpPr>
          <p:cNvPr id="21" name="card-body"/>
          <p:cNvSpPr txBox="1"/>
          <p:nvPr/>
        </p:nvSpPr>
        <p:spPr>
          <a:xfrm>
            <a:off x="8310677" y="2355677"/>
            <a:ext cx="3149498"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flashy hydrograph has a ___ lag time and a high peak discharge.</a:t>
            </a:r>
            <a:endParaRPr lang="en-US" sz="2400" dirty="0"/>
          </a:p>
          <a:p>
            <a:pPr algn="l" indent="0" marL="0">
              <a:buNone/>
            </a:pPr>
            <a:r>
              <a:rPr lang="en-US" sz="2400" b="1" dirty="0">
                <a:solidFill>
                  <a:srgbClr val="3F6B4A"/>
                </a:solidFill>
                <a:latin typeface="Calibri" pitchFamily="34" charset="0"/>
                <a:ea typeface="Calibri" pitchFamily="34" charset="-122"/>
                <a:cs typeface="Calibri" pitchFamily="34" charset="-120"/>
              </a:rPr>
              <a:t>Word bank:  </a:t>
            </a:r>
            <a:pPr algn="l" indent="0" marL="0">
              <a:buNone/>
            </a:pPr>
            <a:r>
              <a:rPr lang="en-US" sz="2400" dirty="0">
                <a:solidFill>
                  <a:srgbClr val="1E2229"/>
                </a:solidFill>
                <a:latin typeface="Calibri" pitchFamily="34" charset="0"/>
                <a:ea typeface="Calibri" pitchFamily="34" charset="-122"/>
                <a:cs typeface="Calibri" pitchFamily="34" charset="-120"/>
              </a:rPr>
              <a:t>short  ·  long  ·  zero</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CF0ED"/>
          </a:solidFill>
          <a:ln w="12700">
            <a:solidFill>
              <a:srgbClr val="B6C7BA"/>
            </a:solidFill>
            <a:prstDash val="solid"/>
          </a:ln>
        </p:spPr>
      </p:sp>
      <p:sp>
        <p:nvSpPr>
          <p:cNvPr id="8" name="card-hex"/>
          <p:cNvSpPr/>
          <p:nvPr/>
        </p:nvSpPr>
        <p:spPr>
          <a:xfrm>
            <a:off x="731520" y="1572768"/>
            <a:ext cx="640080" cy="554309"/>
          </a:xfrm>
          <a:prstGeom prst="hexagon">
            <a:avLst/>
          </a:prstGeom>
          <a:solidFill>
            <a:srgbClr val="3F6B4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614172"/>
          </a:xfrm>
          <a:prstGeom prst="roundRect">
            <a:avLst>
              <a:gd name="adj" fmla="val 17866"/>
            </a:avLst>
          </a:prstGeom>
          <a:solidFill>
            <a:srgbClr val="EBDDC4"/>
          </a:solidFill>
          <a:ln w="19050">
            <a:solidFill>
              <a:srgbClr val="B8862B"/>
            </a:solidFill>
            <a:prstDash val="solid"/>
          </a:ln>
        </p:spPr>
      </p:sp>
      <p:sp>
        <p:nvSpPr>
          <p:cNvPr id="12" name="answer"/>
          <p:cNvSpPr txBox="1"/>
          <p:nvPr/>
        </p:nvSpPr>
        <p:spPr>
          <a:xfrm>
            <a:off x="822960"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9 hours</a:t>
            </a:r>
            <a:endParaRPr lang="en-US" sz="2200" dirty="0"/>
          </a:p>
        </p:txBody>
      </p:sp>
      <p:sp>
        <p:nvSpPr>
          <p:cNvPr id="13" name="card-body"/>
          <p:cNvSpPr txBox="1"/>
          <p:nvPr/>
        </p:nvSpPr>
        <p:spPr>
          <a:xfrm>
            <a:off x="731520"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On a hydrograph, peak rainfall was at 06:00 and peak discharge was at 15:00. What was the lag time, in hours?</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Lag time is the time between peak rainfall and peak discharge: 15:00 − 06:00 = 9 hours.</a:t>
            </a:r>
            <a:endParaRPr lang="en-US" sz="1800" dirty="0"/>
          </a:p>
        </p:txBody>
      </p:sp>
      <p:sp>
        <p:nvSpPr>
          <p:cNvPr id="14" name="card"/>
          <p:cNvSpPr/>
          <p:nvPr/>
        </p:nvSpPr>
        <p:spPr>
          <a:xfrm>
            <a:off x="4338218" y="1389888"/>
            <a:ext cx="3515258" cy="4754880"/>
          </a:xfrm>
          <a:prstGeom prst="roundRect">
            <a:avLst>
              <a:gd name="adj" fmla="val 1561"/>
            </a:avLst>
          </a:prstGeom>
          <a:solidFill>
            <a:srgbClr val="ECF0ED"/>
          </a:solidFill>
          <a:ln w="12700">
            <a:solidFill>
              <a:srgbClr val="B6C7BA"/>
            </a:solidFill>
            <a:prstDash val="solid"/>
          </a:ln>
        </p:spPr>
      </p:sp>
      <p:sp>
        <p:nvSpPr>
          <p:cNvPr id="15" name="card-hex"/>
          <p:cNvSpPr/>
          <p:nvPr/>
        </p:nvSpPr>
        <p:spPr>
          <a:xfrm>
            <a:off x="4521098" y="1572768"/>
            <a:ext cx="640080" cy="554309"/>
          </a:xfrm>
          <a:prstGeom prst="hexagon">
            <a:avLst/>
          </a:prstGeom>
          <a:solidFill>
            <a:srgbClr val="3F6B4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614172"/>
          </a:xfrm>
          <a:prstGeom prst="roundRect">
            <a:avLst>
              <a:gd name="adj" fmla="val 17866"/>
            </a:avLst>
          </a:prstGeom>
          <a:solidFill>
            <a:srgbClr val="EBDDC4"/>
          </a:solidFill>
          <a:ln w="19050">
            <a:solidFill>
              <a:srgbClr val="B8862B"/>
            </a:solidFill>
            <a:prstDash val="solid"/>
          </a:ln>
        </p:spPr>
      </p:sp>
      <p:sp>
        <p:nvSpPr>
          <p:cNvPr id="19" name="answer"/>
          <p:cNvSpPr txBox="1"/>
          <p:nvPr/>
        </p:nvSpPr>
        <p:spPr>
          <a:xfrm>
            <a:off x="4612538"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D   Urbanisation</a:t>
            </a:r>
            <a:endParaRPr lang="en-US" sz="2200" dirty="0"/>
          </a:p>
        </p:txBody>
      </p:sp>
      <p:sp>
        <p:nvSpPr>
          <p:cNvPr id="20" name="card-body"/>
          <p:cNvSpPr txBox="1"/>
          <p:nvPr/>
        </p:nvSpPr>
        <p:spPr>
          <a:xfrm>
            <a:off x="4521098"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Which of these is a human cause of flooding?</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Urbanisation is people covering the land in impermeable surfaces and drains, so rain reaches the river fast. The other three are physical.</a:t>
            </a:r>
            <a:endParaRPr lang="en-US" sz="2000" dirty="0"/>
          </a:p>
        </p:txBody>
      </p:sp>
      <p:sp>
        <p:nvSpPr>
          <p:cNvPr id="21" name="card"/>
          <p:cNvSpPr/>
          <p:nvPr/>
        </p:nvSpPr>
        <p:spPr>
          <a:xfrm>
            <a:off x="8127797" y="1389888"/>
            <a:ext cx="3515258" cy="4754880"/>
          </a:xfrm>
          <a:prstGeom prst="roundRect">
            <a:avLst>
              <a:gd name="adj" fmla="val 1561"/>
            </a:avLst>
          </a:prstGeom>
          <a:solidFill>
            <a:srgbClr val="ECF0ED"/>
          </a:solidFill>
          <a:ln w="12700">
            <a:solidFill>
              <a:srgbClr val="B6C7BA"/>
            </a:solidFill>
            <a:prstDash val="solid"/>
          </a:ln>
        </p:spPr>
      </p:sp>
      <p:sp>
        <p:nvSpPr>
          <p:cNvPr id="22" name="card-hex"/>
          <p:cNvSpPr/>
          <p:nvPr/>
        </p:nvSpPr>
        <p:spPr>
          <a:xfrm>
            <a:off x="8310677" y="1572768"/>
            <a:ext cx="640080" cy="554309"/>
          </a:xfrm>
          <a:prstGeom prst="hexagon">
            <a:avLst/>
          </a:prstGeom>
          <a:solidFill>
            <a:srgbClr val="3F6B4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BDDC4"/>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short</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flashy hydrograph has a ___ lag time and a high peak discharge.</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Flashy means the river responds quickly: the peak discharge comes soon after the peak rainfall.</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discharge</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amount of water passing a point on a river each second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After the storm the river's discharge doubled.</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587414"/>
            <a:ext cx="502920" cy="435529"/>
          </a:xfrm>
          <a:prstGeom prst="hexagon">
            <a:avLst/>
          </a:prstGeom>
          <a:solidFill>
            <a:srgbClr val="B8862B"/>
          </a:solidFill>
          <a:ln/>
        </p:spPr>
      </p:sp>
      <p:sp>
        <p:nvSpPr>
          <p:cNvPr id="15" name="word-hex-label"/>
          <p:cNvSpPr txBox="1"/>
          <p:nvPr/>
        </p:nvSpPr>
        <p:spPr>
          <a:xfrm>
            <a:off x="4475378"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16" name="word"/>
          <p:cNvSpPr txBox="1"/>
          <p:nvPr/>
        </p:nvSpPr>
        <p:spPr>
          <a:xfrm>
            <a:off x="5069738"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hydrograph</a:t>
            </a:r>
            <a:endParaRPr lang="en-US" sz="2600" dirty="0"/>
          </a:p>
        </p:txBody>
      </p:sp>
      <p:sp>
        <p:nvSpPr>
          <p:cNvPr id="17" name="word-rule"/>
          <p:cNvSpPr/>
          <p:nvPr/>
        </p:nvSpPr>
        <p:spPr>
          <a:xfrm>
            <a:off x="4521098" y="2129028"/>
            <a:ext cx="3149498" cy="0"/>
          </a:xfrm>
          <a:prstGeom prst="line">
            <a:avLst/>
          </a:prstGeom>
          <a:ln w="12700">
            <a:solidFill>
              <a:srgbClr val="ACBFB1"/>
            </a:solidFill>
            <a:prstDash val="solid"/>
          </a:ln>
        </p:spPr>
      </p:sp>
      <p:sp>
        <p:nvSpPr>
          <p:cNvPr id="18" name="word-body"/>
          <p:cNvSpPr txBox="1"/>
          <p:nvPr/>
        </p:nvSpPr>
        <p:spPr>
          <a:xfrm>
            <a:off x="4521098"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a graph showing how a river's discharge changes after rain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The hydrograph showed a sharp peak six hours after the storm.</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lag time</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time between the heaviest rain and the highest discharge</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 short lag time means the river rises quickly.</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Key words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word-card"/>
          <p:cNvSpPr/>
          <p:nvPr/>
        </p:nvSpPr>
        <p:spPr>
          <a:xfrm>
            <a:off x="548640" y="1389888"/>
            <a:ext cx="3515258" cy="4754880"/>
          </a:xfrm>
          <a:prstGeom prst="roundRect">
            <a:avLst>
              <a:gd name="adj" fmla="val 1561"/>
            </a:avLst>
          </a:prstGeom>
          <a:solidFill>
            <a:srgbClr val="EAEFEB"/>
          </a:solidFill>
          <a:ln w="12700">
            <a:solidFill>
              <a:srgbClr val="ACBFB1"/>
            </a:solidFill>
            <a:prstDash val="solid"/>
          </a:ln>
        </p:spPr>
      </p:sp>
      <p:sp>
        <p:nvSpPr>
          <p:cNvPr id="8" name="word-hex"/>
          <p:cNvSpPr/>
          <p:nvPr/>
        </p:nvSpPr>
        <p:spPr>
          <a:xfrm>
            <a:off x="685800" y="1587414"/>
            <a:ext cx="502920" cy="435529"/>
          </a:xfrm>
          <a:prstGeom prst="hexagon">
            <a:avLst/>
          </a:prstGeom>
          <a:solidFill>
            <a:srgbClr val="B8862B"/>
          </a:solidFill>
          <a:ln/>
        </p:spPr>
      </p:sp>
      <p:sp>
        <p:nvSpPr>
          <p:cNvPr id="9" name="word-hex-label"/>
          <p:cNvSpPr txBox="1"/>
          <p:nvPr/>
        </p:nvSpPr>
        <p:spPr>
          <a:xfrm>
            <a:off x="685800"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10" name="word"/>
          <p:cNvSpPr txBox="1"/>
          <p:nvPr/>
        </p:nvSpPr>
        <p:spPr>
          <a:xfrm>
            <a:off x="1280160"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peak discharge</a:t>
            </a:r>
            <a:endParaRPr lang="en-US" sz="2600" dirty="0"/>
          </a:p>
        </p:txBody>
      </p:sp>
      <p:sp>
        <p:nvSpPr>
          <p:cNvPr id="11" name="word-rule"/>
          <p:cNvSpPr/>
          <p:nvPr/>
        </p:nvSpPr>
        <p:spPr>
          <a:xfrm>
            <a:off x="731520" y="2129028"/>
            <a:ext cx="3149498" cy="0"/>
          </a:xfrm>
          <a:prstGeom prst="line">
            <a:avLst/>
          </a:prstGeom>
          <a:ln w="12700">
            <a:solidFill>
              <a:srgbClr val="ACBFB1"/>
            </a:solidFill>
            <a:prstDash val="solid"/>
          </a:ln>
        </p:spPr>
      </p:sp>
      <p:sp>
        <p:nvSpPr>
          <p:cNvPr id="12" name="word-body"/>
          <p:cNvSpPr txBox="1"/>
          <p:nvPr/>
        </p:nvSpPr>
        <p:spPr>
          <a:xfrm>
            <a:off x="731520"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the highest discharge the river reaches after rain</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Peak discharge was far above the level of the banks.</a:t>
            </a:r>
            <a:endParaRPr lang="en-US" sz="2200" dirty="0"/>
          </a:p>
        </p:txBody>
      </p:sp>
      <p:sp>
        <p:nvSpPr>
          <p:cNvPr id="13" name="word-card"/>
          <p:cNvSpPr/>
          <p:nvPr/>
        </p:nvSpPr>
        <p:spPr>
          <a:xfrm>
            <a:off x="4338218" y="1389888"/>
            <a:ext cx="3515258" cy="4754880"/>
          </a:xfrm>
          <a:prstGeom prst="roundRect">
            <a:avLst>
              <a:gd name="adj" fmla="val 1561"/>
            </a:avLst>
          </a:prstGeom>
          <a:solidFill>
            <a:srgbClr val="EAEFEB"/>
          </a:solidFill>
          <a:ln w="12700">
            <a:solidFill>
              <a:srgbClr val="ACBFB1"/>
            </a:solidFill>
            <a:prstDash val="solid"/>
          </a:ln>
        </p:spPr>
      </p:sp>
      <p:sp>
        <p:nvSpPr>
          <p:cNvPr id="14" name="word-hex"/>
          <p:cNvSpPr/>
          <p:nvPr/>
        </p:nvSpPr>
        <p:spPr>
          <a:xfrm>
            <a:off x="4475378" y="1802044"/>
            <a:ext cx="502920" cy="435529"/>
          </a:xfrm>
          <a:prstGeom prst="hexagon">
            <a:avLst/>
          </a:prstGeom>
          <a:solidFill>
            <a:srgbClr val="B8862B"/>
          </a:solidFill>
          <a:ln/>
        </p:spPr>
      </p:sp>
      <p:sp>
        <p:nvSpPr>
          <p:cNvPr id="15" name="word-hex-label"/>
          <p:cNvSpPr txBox="1"/>
          <p:nvPr/>
        </p:nvSpPr>
        <p:spPr>
          <a:xfrm>
            <a:off x="4475378" y="180204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5</a:t>
            </a:r>
            <a:endParaRPr lang="en-US" sz="1800" dirty="0"/>
          </a:p>
        </p:txBody>
      </p:sp>
      <p:sp>
        <p:nvSpPr>
          <p:cNvPr id="16" name="word"/>
          <p:cNvSpPr txBox="1"/>
          <p:nvPr/>
        </p:nvSpPr>
        <p:spPr>
          <a:xfrm>
            <a:off x="5069738" y="1527048"/>
            <a:ext cx="2646578" cy="98552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floodplain zoning</a:t>
            </a:r>
            <a:endParaRPr lang="en-US" sz="2600" dirty="0"/>
          </a:p>
        </p:txBody>
      </p:sp>
      <p:sp>
        <p:nvSpPr>
          <p:cNvPr id="17" name="word-rule"/>
          <p:cNvSpPr/>
          <p:nvPr/>
        </p:nvSpPr>
        <p:spPr>
          <a:xfrm>
            <a:off x="4521098" y="2558288"/>
            <a:ext cx="3149498" cy="0"/>
          </a:xfrm>
          <a:prstGeom prst="line">
            <a:avLst/>
          </a:prstGeom>
          <a:ln w="12700">
            <a:solidFill>
              <a:srgbClr val="ACBFB1"/>
            </a:solidFill>
            <a:prstDash val="solid"/>
          </a:ln>
        </p:spPr>
      </p:sp>
      <p:sp>
        <p:nvSpPr>
          <p:cNvPr id="18" name="word-body"/>
          <p:cNvSpPr txBox="1"/>
          <p:nvPr/>
        </p:nvSpPr>
        <p:spPr>
          <a:xfrm>
            <a:off x="4521098" y="2604008"/>
            <a:ext cx="3149498" cy="340360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deciding what may be built on land that could flood</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Floodplain zoning keeps houses away from the riverside.</a:t>
            </a:r>
            <a:endParaRPr lang="en-US" sz="2200" dirty="0"/>
          </a:p>
        </p:txBody>
      </p:sp>
      <p:sp>
        <p:nvSpPr>
          <p:cNvPr id="19" name="word-card"/>
          <p:cNvSpPr/>
          <p:nvPr/>
        </p:nvSpPr>
        <p:spPr>
          <a:xfrm>
            <a:off x="8127797" y="1389888"/>
            <a:ext cx="3515258" cy="4754880"/>
          </a:xfrm>
          <a:prstGeom prst="roundRect">
            <a:avLst>
              <a:gd name="adj" fmla="val 1561"/>
            </a:avLst>
          </a:prstGeom>
          <a:solidFill>
            <a:srgbClr val="EAEFEB"/>
          </a:solidFill>
          <a:ln w="12700">
            <a:solidFill>
              <a:srgbClr val="ACBFB1"/>
            </a:solidFill>
            <a:prstDash val="solid"/>
          </a:ln>
        </p:spPr>
      </p:sp>
      <p:sp>
        <p:nvSpPr>
          <p:cNvPr id="20" name="word-hex"/>
          <p:cNvSpPr/>
          <p:nvPr/>
        </p:nvSpPr>
        <p:spPr>
          <a:xfrm>
            <a:off x="8264957" y="1587414"/>
            <a:ext cx="502920" cy="435529"/>
          </a:xfrm>
          <a:prstGeom prst="hexagon">
            <a:avLst/>
          </a:prstGeom>
          <a:solidFill>
            <a:srgbClr val="B8862B"/>
          </a:solidFill>
          <a:ln/>
        </p:spPr>
      </p:sp>
      <p:sp>
        <p:nvSpPr>
          <p:cNvPr id="21" name="word-hex-label"/>
          <p:cNvSpPr txBox="1"/>
          <p:nvPr/>
        </p:nvSpPr>
        <p:spPr>
          <a:xfrm>
            <a:off x="8264957" y="1587414"/>
            <a:ext cx="502920" cy="435529"/>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6</a:t>
            </a:r>
            <a:endParaRPr lang="en-US" sz="1800" dirty="0"/>
          </a:p>
        </p:txBody>
      </p:sp>
      <p:sp>
        <p:nvSpPr>
          <p:cNvPr id="22" name="word"/>
          <p:cNvSpPr txBox="1"/>
          <p:nvPr/>
        </p:nvSpPr>
        <p:spPr>
          <a:xfrm>
            <a:off x="8859317" y="1527048"/>
            <a:ext cx="2646578" cy="556260"/>
          </a:xfrm>
          <a:prstGeom prst="rect">
            <a:avLst/>
          </a:prstGeom>
          <a:noFill/>
          <a:ln/>
        </p:spPr>
        <p:txBody>
          <a:bodyPr wrap="square" lIns="63500" tIns="63500" rIns="63500" bIns="63500" rtlCol="0" anchor="ctr"/>
          <a:lstStyle/>
          <a:p>
            <a:pPr algn="l" indent="0" marL="0">
              <a:buNone/>
            </a:pPr>
            <a:r>
              <a:rPr lang="en-US" sz="2600" b="1" dirty="0">
                <a:solidFill>
                  <a:srgbClr val="3F6B4A"/>
                </a:solidFill>
                <a:latin typeface="Cambria" pitchFamily="34" charset="0"/>
                <a:ea typeface="Cambria" pitchFamily="34" charset="-122"/>
                <a:cs typeface="Cambria" pitchFamily="34" charset="-120"/>
              </a:rPr>
              <a:t>afforestation</a:t>
            </a:r>
            <a:endParaRPr lang="en-US" sz="2600" dirty="0"/>
          </a:p>
        </p:txBody>
      </p:sp>
      <p:sp>
        <p:nvSpPr>
          <p:cNvPr id="23" name="word-rule"/>
          <p:cNvSpPr/>
          <p:nvPr/>
        </p:nvSpPr>
        <p:spPr>
          <a:xfrm>
            <a:off x="8310677" y="2129028"/>
            <a:ext cx="3149498" cy="0"/>
          </a:xfrm>
          <a:prstGeom prst="line">
            <a:avLst/>
          </a:prstGeom>
          <a:ln w="12700">
            <a:solidFill>
              <a:srgbClr val="ACBFB1"/>
            </a:solidFill>
            <a:prstDash val="solid"/>
          </a:ln>
        </p:spPr>
      </p:sp>
      <p:sp>
        <p:nvSpPr>
          <p:cNvPr id="24" name="word-body"/>
          <p:cNvSpPr txBox="1"/>
          <p:nvPr/>
        </p:nvSpPr>
        <p:spPr>
          <a:xfrm>
            <a:off x="8310677" y="2174748"/>
            <a:ext cx="3149498" cy="3832860"/>
          </a:xfrm>
          <a:prstGeom prst="rect">
            <a:avLst/>
          </a:prstGeom>
          <a:noFill/>
          <a:ln/>
        </p:spPr>
        <p:txBody>
          <a:bodyPr wrap="square" lIns="63500" tIns="63500" rIns="63500" bIns="63500" rtlCol="0" anchor="t"/>
          <a:lstStyle/>
          <a:p>
            <a:pPr algn="l" indent="0" marL="0">
              <a:spcAft>
                <a:spcPts val="800"/>
              </a:spcAft>
              <a:buNone/>
            </a:pPr>
            <a:r>
              <a:rPr lang="en-US" sz="2200" dirty="0">
                <a:solidFill>
                  <a:srgbClr val="1E2229"/>
                </a:solidFill>
                <a:latin typeface="Calibri" pitchFamily="34" charset="0"/>
                <a:ea typeface="Calibri" pitchFamily="34" charset="-122"/>
                <a:cs typeface="Calibri" pitchFamily="34" charset="-120"/>
              </a:rPr>
              <a:t>planting trees</a:t>
            </a:r>
            <a:endParaRPr lang="en-US" sz="2200" dirty="0"/>
          </a:p>
          <a:p>
            <a:pPr algn="l" indent="0" marL="0">
              <a:buNone/>
            </a:pPr>
            <a:r>
              <a:rPr lang="en-US" sz="2200" i="1" dirty="0">
                <a:solidFill>
                  <a:srgbClr val="4A505C"/>
                </a:solidFill>
                <a:latin typeface="Calibri" pitchFamily="34" charset="0"/>
                <a:ea typeface="Calibri" pitchFamily="34" charset="-122"/>
                <a:cs typeface="Calibri" pitchFamily="34" charset="-120"/>
              </a:rPr>
              <a:t>Afforestation in the upper basin slows water reaching the river.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river floods when more water enters it than its channel can hold.</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Heavy rain, steep slopes and impermeable rock all make floods more likely.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Melting ice and snow can add to the water too.</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People make floods worse by building towns and cutting down trees.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Hard surfaces and drains send rain into the river quickly.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hydrograph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a graph showing how a river responds to a storm.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3F6B4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CF0ED"/>
          </a:solidFill>
          <a:ln w="12700">
            <a:solidFill>
              <a:srgbClr val="C0CEC3"/>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Discharge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amount of water passing a point, measured in cumecs.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Lag time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the gap between the heaviest rain and the highest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discharge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flashy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hydrograph</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has a short </a:t>
            </a:r>
            <a:pPr algn="l" indent="0" marL="0">
              <a:spcAft>
                <a:spcPts val="600"/>
              </a:spcAft>
              <a:buNone/>
            </a:pPr>
            <a:r>
              <a:rPr lang="en-US" sz="2400" b="1" dirty="0">
                <a:solidFill>
                  <a:srgbClr val="3F6B4A"/>
                </a:solidFill>
                <a:latin typeface="Calibri" pitchFamily="34" charset="0"/>
                <a:ea typeface="Calibri" pitchFamily="34" charset="-122"/>
                <a:cs typeface="Calibri" pitchFamily="34" charset="-120"/>
              </a:rPr>
              <a:t>lag time</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a high peak.</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Floods can be managed with hard engineering, such as dams and embankments.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Soft engineering includes planting trees and flood warnings.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Banbury is your case study of flood management in the UK.</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Why rivers flood</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Sort first, explain second. Say whether a factor is physical or human, then say how it gets water into the river faster.</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river floods when its discharge is greater than its channel can hold, so water overflows the banks onto the floodplain.</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Other causes are human. Urbanisation covers the land in impermeable concrete and tarmac, and drains and sewers carry rain straight to the river.</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Flood risk is the combination of these factors. A steep, impermeable, deforested basin with a town in it floods quickly and badly after heavy rain.</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Reading a hydrograph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2E9D9"/>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Read the two peaks, not the start of the rain. Lag time is peak to peak.</a:t>
            </a:r>
            <a:endParaRPr lang="en-US" sz="1800" dirty="0"/>
          </a:p>
        </p:txBody>
      </p:sp>
      <p:sp>
        <p:nvSpPr>
          <p:cNvPr id="11" name="point-card"/>
          <p:cNvSpPr/>
          <p:nvPr/>
        </p:nvSpPr>
        <p:spPr>
          <a:xfrm>
            <a:off x="548640" y="1389888"/>
            <a:ext cx="5410048" cy="3964940"/>
          </a:xfrm>
          <a:prstGeom prst="roundRect">
            <a:avLst>
              <a:gd name="adj" fmla="val 1384"/>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hydrograph is a graph that shows how a river responds to a storm.</a:t>
            </a:r>
            <a:endParaRPr lang="en-US" sz="2400" dirty="0"/>
          </a:p>
        </p:txBody>
      </p:sp>
      <p:sp>
        <p:nvSpPr>
          <p:cNvPr id="15" name="point-card"/>
          <p:cNvSpPr/>
          <p:nvPr/>
        </p:nvSpPr>
        <p:spPr>
          <a:xfrm>
            <a:off x="6233008" y="1389888"/>
            <a:ext cx="5410048" cy="3964940"/>
          </a:xfrm>
          <a:prstGeom prst="roundRect">
            <a:avLst>
              <a:gd name="adj" fmla="val 1384"/>
            </a:avLst>
          </a:prstGeom>
          <a:solidFill>
            <a:srgbClr val="F4EDDF"/>
          </a:solidFill>
          <a:ln/>
        </p:spPr>
      </p:sp>
      <p:sp>
        <p:nvSpPr>
          <p:cNvPr id="16" name="point-hex"/>
          <p:cNvSpPr/>
          <p:nvPr/>
        </p:nvSpPr>
        <p:spPr>
          <a:xfrm>
            <a:off x="6415888" y="1572768"/>
            <a:ext cx="685800" cy="593903"/>
          </a:xfrm>
          <a:prstGeom prst="hexagon">
            <a:avLst/>
          </a:prstGeom>
          <a:solidFill>
            <a:srgbClr val="B8862B"/>
          </a:solidFill>
          <a:ln/>
        </p:spPr>
      </p:sp>
      <p:sp>
        <p:nvSpPr>
          <p:cNvPr id="17" name="point-hex-label"/>
          <p:cNvSpPr txBox="1"/>
          <p:nvPr/>
        </p:nvSpPr>
        <p:spPr>
          <a:xfrm>
            <a:off x="641588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6415888" y="2350008"/>
            <a:ext cx="504428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flashy hydrograph has a short lag time and a high peak discharge: the river rises fast and high, so flooding is likely.</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Worked example: Reading a hydrograph</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E6ECE7"/>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On a hydrograph, peak rainfall was at 03:00 and peak discharge was at 11:00. What was the lag time?</a:t>
            </a:r>
            <a:endParaRPr lang="en-US" sz="2200" dirty="0"/>
          </a:p>
        </p:txBody>
      </p:sp>
      <p:sp>
        <p:nvSpPr>
          <p:cNvPr id="9" name="step-box"/>
          <p:cNvSpPr/>
          <p:nvPr/>
        </p:nvSpPr>
        <p:spPr>
          <a:xfrm>
            <a:off x="548640" y="2655824"/>
            <a:ext cx="2464994" cy="2252980"/>
          </a:xfrm>
          <a:prstGeom prst="roundRect">
            <a:avLst>
              <a:gd name="adj" fmla="val 3247"/>
            </a:avLst>
          </a:prstGeom>
          <a:solidFill>
            <a:srgbClr val="FFFFFF"/>
          </a:solidFill>
          <a:ln w="15875">
            <a:solidFill>
              <a:srgbClr val="95AE9B"/>
            </a:solidFill>
            <a:prstDash val="solid"/>
          </a:ln>
        </p:spPr>
      </p:sp>
      <p:sp>
        <p:nvSpPr>
          <p:cNvPr id="10" name="step-hex"/>
          <p:cNvSpPr/>
          <p:nvPr/>
        </p:nvSpPr>
        <p:spPr>
          <a:xfrm>
            <a:off x="685800" y="2765552"/>
            <a:ext cx="530352" cy="459285"/>
          </a:xfrm>
          <a:prstGeom prst="hexagon">
            <a:avLst/>
          </a:prstGeom>
          <a:solidFill>
            <a:srgbClr val="3F6B4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Lag time is the time from peak rainfall to peak discharge, not from the start of the rain.</a:t>
            </a:r>
            <a:endParaRPr lang="en-US" sz="1800" dirty="0"/>
          </a:p>
        </p:txBody>
      </p:sp>
      <p:sp>
        <p:nvSpPr>
          <p:cNvPr id="13" name="arrow"/>
          <p:cNvSpPr/>
          <p:nvPr/>
        </p:nvSpPr>
        <p:spPr>
          <a:xfrm>
            <a:off x="3086786" y="3645154"/>
            <a:ext cx="274320" cy="274320"/>
          </a:xfrm>
          <a:prstGeom prst="rightArrow">
            <a:avLst/>
          </a:prstGeom>
          <a:solidFill>
            <a:srgbClr val="B8862B"/>
          </a:solidFill>
          <a:ln/>
        </p:spPr>
      </p:sp>
      <p:sp>
        <p:nvSpPr>
          <p:cNvPr id="14" name="step-box"/>
          <p:cNvSpPr/>
          <p:nvPr/>
        </p:nvSpPr>
        <p:spPr>
          <a:xfrm>
            <a:off x="3425114" y="2655824"/>
            <a:ext cx="2464994" cy="2252980"/>
          </a:xfrm>
          <a:prstGeom prst="roundRect">
            <a:avLst>
              <a:gd name="adj" fmla="val 3247"/>
            </a:avLst>
          </a:prstGeom>
          <a:solidFill>
            <a:srgbClr val="FFFFFF"/>
          </a:solidFill>
          <a:ln w="15875">
            <a:solidFill>
              <a:srgbClr val="95AE9B"/>
            </a:solidFill>
            <a:prstDash val="solid"/>
          </a:ln>
        </p:spPr>
      </p:sp>
      <p:sp>
        <p:nvSpPr>
          <p:cNvPr id="15" name="step-hex"/>
          <p:cNvSpPr/>
          <p:nvPr/>
        </p:nvSpPr>
        <p:spPr>
          <a:xfrm>
            <a:off x="3562274" y="2765552"/>
            <a:ext cx="530352" cy="459285"/>
          </a:xfrm>
          <a:prstGeom prst="hexagon">
            <a:avLst/>
          </a:prstGeom>
          <a:solidFill>
            <a:srgbClr val="3F6B4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Peak rainfall 03:00; peak discharge 11:00.</a:t>
            </a:r>
            <a:endParaRPr lang="en-US" sz="1800" dirty="0"/>
          </a:p>
        </p:txBody>
      </p:sp>
      <p:sp>
        <p:nvSpPr>
          <p:cNvPr id="18" name="arrow"/>
          <p:cNvSpPr/>
          <p:nvPr/>
        </p:nvSpPr>
        <p:spPr>
          <a:xfrm>
            <a:off x="5963260" y="3645154"/>
            <a:ext cx="274320" cy="274320"/>
          </a:xfrm>
          <a:prstGeom prst="rightArrow">
            <a:avLst/>
          </a:prstGeom>
          <a:solidFill>
            <a:srgbClr val="B8862B"/>
          </a:solidFill>
          <a:ln/>
        </p:spPr>
      </p:sp>
      <p:sp>
        <p:nvSpPr>
          <p:cNvPr id="19" name="step-box"/>
          <p:cNvSpPr/>
          <p:nvPr/>
        </p:nvSpPr>
        <p:spPr>
          <a:xfrm>
            <a:off x="6301588" y="2655824"/>
            <a:ext cx="2464994" cy="2252980"/>
          </a:xfrm>
          <a:prstGeom prst="roundRect">
            <a:avLst>
              <a:gd name="adj" fmla="val 3247"/>
            </a:avLst>
          </a:prstGeom>
          <a:solidFill>
            <a:srgbClr val="FFFFFF"/>
          </a:solidFill>
          <a:ln w="15875">
            <a:solidFill>
              <a:srgbClr val="95AE9B"/>
            </a:solidFill>
            <a:prstDash val="solid"/>
          </a:ln>
        </p:spPr>
      </p:sp>
      <p:sp>
        <p:nvSpPr>
          <p:cNvPr id="20" name="step-hex"/>
          <p:cNvSpPr/>
          <p:nvPr/>
        </p:nvSpPr>
        <p:spPr>
          <a:xfrm>
            <a:off x="6438748" y="2765552"/>
            <a:ext cx="530352" cy="459285"/>
          </a:xfrm>
          <a:prstGeom prst="hexagon">
            <a:avLst/>
          </a:prstGeom>
          <a:solidFill>
            <a:srgbClr val="3F6B4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11 − 3 = 8.</a:t>
            </a:r>
            <a:endParaRPr lang="en-US" sz="1800" dirty="0"/>
          </a:p>
        </p:txBody>
      </p:sp>
      <p:sp>
        <p:nvSpPr>
          <p:cNvPr id="23" name="arrow"/>
          <p:cNvSpPr/>
          <p:nvPr/>
        </p:nvSpPr>
        <p:spPr>
          <a:xfrm>
            <a:off x="8839733" y="3645154"/>
            <a:ext cx="274320" cy="274320"/>
          </a:xfrm>
          <a:prstGeom prst="rightArrow">
            <a:avLst/>
          </a:prstGeom>
          <a:solidFill>
            <a:srgbClr val="B8862B"/>
          </a:solidFill>
          <a:ln/>
        </p:spPr>
      </p:sp>
      <p:sp>
        <p:nvSpPr>
          <p:cNvPr id="24" name="step-box"/>
          <p:cNvSpPr/>
          <p:nvPr/>
        </p:nvSpPr>
        <p:spPr>
          <a:xfrm>
            <a:off x="9178061" y="2655824"/>
            <a:ext cx="2464994" cy="2252980"/>
          </a:xfrm>
          <a:prstGeom prst="roundRect">
            <a:avLst>
              <a:gd name="adj" fmla="val 3247"/>
            </a:avLst>
          </a:prstGeom>
          <a:solidFill>
            <a:srgbClr val="FFFFFF"/>
          </a:solidFill>
          <a:ln w="15875">
            <a:solidFill>
              <a:srgbClr val="95AE9B"/>
            </a:solidFill>
            <a:prstDash val="solid"/>
          </a:ln>
        </p:spPr>
      </p:sp>
      <p:sp>
        <p:nvSpPr>
          <p:cNvPr id="25" name="step-hex"/>
          <p:cNvSpPr/>
          <p:nvPr/>
        </p:nvSpPr>
        <p:spPr>
          <a:xfrm>
            <a:off x="9315221" y="2765552"/>
            <a:ext cx="530352" cy="459285"/>
          </a:xfrm>
          <a:prstGeom prst="hexagon">
            <a:avLst/>
          </a:prstGeom>
          <a:solidFill>
            <a:srgbClr val="3F6B4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567180"/>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Lag time = 8 hours. A lag time this short, on a big storm, suggests a fairly flashy basin.</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BDDC4"/>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8 hours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Managing floods: hard and soft engineering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Four hard, four soft: dams, straightening, embankments, relief channels; zoning, afforestation, warnings, restoration. Learn one cost and one benefit for each.</a:t>
            </a:r>
            <a:endParaRPr lang="en-US" sz="1800" dirty="0"/>
          </a:p>
        </p:txBody>
      </p:sp>
      <p:sp>
        <p:nvSpPr>
          <p:cNvPr id="11" name="bullet-card"/>
          <p:cNvSpPr/>
          <p:nvPr/>
        </p:nvSpPr>
        <p:spPr>
          <a:xfrm>
            <a:off x="548640" y="1389888"/>
            <a:ext cx="11094415" cy="701379"/>
          </a:xfrm>
          <a:prstGeom prst="roundRect">
            <a:avLst>
              <a:gd name="adj" fmla="val 10430"/>
            </a:avLst>
          </a:prstGeom>
          <a:solidFill>
            <a:srgbClr val="EAEFEB"/>
          </a:solidFill>
          <a:ln/>
        </p:spPr>
      </p:sp>
      <p:sp>
        <p:nvSpPr>
          <p:cNvPr id="12" name="bullet-hex"/>
          <p:cNvSpPr/>
          <p:nvPr/>
        </p:nvSpPr>
        <p:spPr>
          <a:xfrm>
            <a:off x="676656" y="1574285"/>
            <a:ext cx="384048" cy="332586"/>
          </a:xfrm>
          <a:prstGeom prst="hexagon">
            <a:avLst/>
          </a:prstGeom>
          <a:solidFill>
            <a:srgbClr val="3F6B4A"/>
          </a:solidFill>
          <a:ln/>
        </p:spPr>
      </p:sp>
      <p:sp>
        <p:nvSpPr>
          <p:cNvPr id="13" name="bullet"/>
          <p:cNvSpPr txBox="1"/>
          <p:nvPr/>
        </p:nvSpPr>
        <p:spPr>
          <a:xfrm>
            <a:off x="1143000" y="1389888"/>
            <a:ext cx="10408615" cy="701379"/>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As at the coast, flood management divides into hard and soft engineering.</a:t>
            </a:r>
            <a:endParaRPr lang="en-US" sz="2000" dirty="0"/>
          </a:p>
        </p:txBody>
      </p:sp>
      <p:sp>
        <p:nvSpPr>
          <p:cNvPr id="14" name="bullet-card"/>
          <p:cNvSpPr/>
          <p:nvPr/>
        </p:nvSpPr>
        <p:spPr>
          <a:xfrm>
            <a:off x="548640" y="2237571"/>
            <a:ext cx="11094415" cy="1810851"/>
          </a:xfrm>
          <a:prstGeom prst="roundRect">
            <a:avLst>
              <a:gd name="adj" fmla="val 4040"/>
            </a:avLst>
          </a:prstGeom>
          <a:solidFill>
            <a:srgbClr val="EAEFEB"/>
          </a:solidFill>
          <a:ln/>
        </p:spPr>
      </p:sp>
      <p:sp>
        <p:nvSpPr>
          <p:cNvPr id="15" name="bullet-hex"/>
          <p:cNvSpPr/>
          <p:nvPr/>
        </p:nvSpPr>
        <p:spPr>
          <a:xfrm>
            <a:off x="676656" y="2976703"/>
            <a:ext cx="384048" cy="332586"/>
          </a:xfrm>
          <a:prstGeom prst="hexagon">
            <a:avLst/>
          </a:prstGeom>
          <a:solidFill>
            <a:srgbClr val="B8862B"/>
          </a:solidFill>
          <a:ln/>
        </p:spPr>
      </p:sp>
      <p:sp>
        <p:nvSpPr>
          <p:cNvPr id="16" name="bullet"/>
          <p:cNvSpPr txBox="1"/>
          <p:nvPr/>
        </p:nvSpPr>
        <p:spPr>
          <a:xfrm>
            <a:off x="1143000" y="2237571"/>
            <a:ext cx="10408615" cy="1810851"/>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The soft strategies are floodplain zoning, which restricts building on land likely to flood so that only low-value uses such as playing fields sit beside the river; afforestation, planting trees to intercept rain and slow its journey to the river; flood warnings, which give people time to move belongings and themselves; and river restoration, which returns a straightened river to a natural meandering course so its floodplain can store water.</a:t>
            </a:r>
            <a:endParaRPr lang="en-US" sz="2000" dirty="0"/>
          </a:p>
        </p:txBody>
      </p:sp>
      <p:sp>
        <p:nvSpPr>
          <p:cNvPr id="17" name="bullet-card"/>
          <p:cNvSpPr/>
          <p:nvPr/>
        </p:nvSpPr>
        <p:spPr>
          <a:xfrm>
            <a:off x="548640" y="4194725"/>
            <a:ext cx="11094415" cy="881211"/>
          </a:xfrm>
          <a:prstGeom prst="roundRect">
            <a:avLst>
              <a:gd name="adj" fmla="val 8301"/>
            </a:avLst>
          </a:prstGeom>
          <a:solidFill>
            <a:srgbClr val="EAEFEB"/>
          </a:solidFill>
          <a:ln/>
        </p:spPr>
      </p:sp>
      <p:sp>
        <p:nvSpPr>
          <p:cNvPr id="18" name="bullet-hex"/>
          <p:cNvSpPr/>
          <p:nvPr/>
        </p:nvSpPr>
        <p:spPr>
          <a:xfrm>
            <a:off x="676656" y="4469038"/>
            <a:ext cx="384048" cy="332586"/>
          </a:xfrm>
          <a:prstGeom prst="hexagon">
            <a:avLst/>
          </a:prstGeom>
          <a:solidFill>
            <a:srgbClr val="3F6B4A"/>
          </a:solidFill>
          <a:ln/>
        </p:spPr>
      </p:sp>
      <p:sp>
        <p:nvSpPr>
          <p:cNvPr id="19" name="bullet"/>
          <p:cNvSpPr txBox="1"/>
          <p:nvPr/>
        </p:nvSpPr>
        <p:spPr>
          <a:xfrm>
            <a:off x="1143000" y="4194725"/>
            <a:ext cx="10408615" cy="881211"/>
          </a:xfrm>
          <a:prstGeom prst="rect">
            <a:avLst/>
          </a:prstGeom>
          <a:noFill/>
          <a:ln/>
        </p:spPr>
        <p:txBody>
          <a:bodyPr wrap="square" lIns="63500" tIns="63500" rIns="63500" bIns="63500" rtlCol="0" anchor="ctr"/>
          <a:lstStyle/>
          <a:p>
            <a:pPr algn="l" indent="0" marL="0">
              <a:buNone/>
            </a:pPr>
            <a:r>
              <a:rPr lang="en-US" sz="2000" dirty="0">
                <a:solidFill>
                  <a:srgbClr val="1E2229"/>
                </a:solidFill>
                <a:latin typeface="Calibri" pitchFamily="34" charset="0"/>
                <a:ea typeface="Calibri" pitchFamily="34" charset="-122"/>
                <a:cs typeface="Calibri" pitchFamily="34" charset="-120"/>
              </a:rPr>
              <a:t>In your lesson you rated each strategy on a thermometer for its costs and benefits and added case studies where you could.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Case study: flood management at Banbury</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11094415" cy="794512"/>
          </a:xfrm>
          <a:prstGeom prst="roundRect">
            <a:avLst>
              <a:gd name="adj" fmla="val 17263"/>
            </a:avLst>
          </a:prstGeom>
          <a:solidFill>
            <a:srgbClr val="F2E9D9"/>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10225735"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Where, why, what, and the social, economic and environmental issues: four headings for every management case study in this unit.</a:t>
            </a:r>
            <a:endParaRPr lang="en-US" sz="1800" dirty="0"/>
          </a:p>
        </p:txBody>
      </p:sp>
      <p:sp>
        <p:nvSpPr>
          <p:cNvPr id="11" name="point-card"/>
          <p:cNvSpPr/>
          <p:nvPr/>
        </p:nvSpPr>
        <p:spPr>
          <a:xfrm>
            <a:off x="548640" y="1389888"/>
            <a:ext cx="3515258" cy="3686048"/>
          </a:xfrm>
          <a:prstGeom prst="roundRect">
            <a:avLst>
              <a:gd name="adj" fmla="val 1561"/>
            </a:avLst>
          </a:prstGeom>
          <a:solidFill>
            <a:srgbClr val="E6ECE7"/>
          </a:solidFill>
          <a:ln/>
        </p:spPr>
      </p:sp>
      <p:sp>
        <p:nvSpPr>
          <p:cNvPr id="12" name="point-hex"/>
          <p:cNvSpPr/>
          <p:nvPr/>
        </p:nvSpPr>
        <p:spPr>
          <a:xfrm>
            <a:off x="731520" y="1572768"/>
            <a:ext cx="685800" cy="593903"/>
          </a:xfrm>
          <a:prstGeom prst="hexagon">
            <a:avLst/>
          </a:prstGeom>
          <a:solidFill>
            <a:srgbClr val="3F6B4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Banbury is your named example of a UK flood management scheme.</a:t>
            </a:r>
            <a:endParaRPr lang="en-US" sz="2200" dirty="0"/>
          </a:p>
        </p:txBody>
      </p:sp>
      <p:sp>
        <p:nvSpPr>
          <p:cNvPr id="15" name="point-card"/>
          <p:cNvSpPr/>
          <p:nvPr/>
        </p:nvSpPr>
        <p:spPr>
          <a:xfrm>
            <a:off x="4338218" y="1389888"/>
            <a:ext cx="3515258" cy="3686048"/>
          </a:xfrm>
          <a:prstGeom prst="roundRect">
            <a:avLst>
              <a:gd name="adj" fmla="val 1561"/>
            </a:avLst>
          </a:prstGeom>
          <a:solidFill>
            <a:srgbClr val="F4EDDF"/>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Use your notes to build a one-page summary with those four headings.</a:t>
            </a:r>
            <a:endParaRPr lang="en-US" sz="2200" dirty="0"/>
          </a:p>
        </p:txBody>
      </p:sp>
      <p:sp>
        <p:nvSpPr>
          <p:cNvPr id="19" name="point-card"/>
          <p:cNvSpPr/>
          <p:nvPr/>
        </p:nvSpPr>
        <p:spPr>
          <a:xfrm>
            <a:off x="8127797" y="1389888"/>
            <a:ext cx="3515258" cy="3686048"/>
          </a:xfrm>
          <a:prstGeom prst="roundRect">
            <a:avLst>
              <a:gd name="adj" fmla="val 1561"/>
            </a:avLst>
          </a:prstGeom>
          <a:solidFill>
            <a:srgbClr val="E6ECE7"/>
          </a:solidFill>
          <a:ln/>
        </p:spPr>
      </p:sp>
      <p:sp>
        <p:nvSpPr>
          <p:cNvPr id="20" name="point-hex"/>
          <p:cNvSpPr/>
          <p:nvPr/>
        </p:nvSpPr>
        <p:spPr>
          <a:xfrm>
            <a:off x="8310677" y="1572768"/>
            <a:ext cx="685800" cy="593903"/>
          </a:xfrm>
          <a:prstGeom prst="hexagon">
            <a:avLst/>
          </a:prstGeom>
          <a:solidFill>
            <a:srgbClr val="3F6B4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588768"/>
          </a:xfrm>
          <a:prstGeom prst="rect">
            <a:avLst/>
          </a:prstGeom>
          <a:noFill/>
          <a:ln/>
        </p:spPr>
        <p:txBody>
          <a:bodyPr wrap="square" lIns="63500" tIns="63500" rIns="63500" bIns="63500" rtlCol="0" anchor="t"/>
          <a:lstStyle/>
          <a:p>
            <a:pPr algn="l" indent="0" marL="0">
              <a:buNone/>
            </a:pPr>
            <a:r>
              <a:rPr lang="en-US" sz="2200" dirty="0">
                <a:solidFill>
                  <a:srgbClr val="1E2229"/>
                </a:solidFill>
                <a:latin typeface="Calibri" pitchFamily="34" charset="0"/>
                <a:ea typeface="Calibri" pitchFamily="34" charset="-122"/>
                <a:cs typeface="Calibri" pitchFamily="34" charset="-120"/>
              </a:rPr>
              <a:t>A case-study answer scores when it is specific. Name the town, name a measure, give a number or a place, and then make the geographical point.</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The task: Hydrograph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Same task</a:t>
            </a:r>
            <a:endParaRPr lang="en-US" sz="1800" dirty="0"/>
          </a:p>
        </p:txBody>
      </p:sp>
      <p:sp>
        <p:nvSpPr>
          <p:cNvPr id="7" name="task-box"/>
          <p:cNvSpPr/>
          <p:nvPr/>
        </p:nvSpPr>
        <p:spPr>
          <a:xfrm>
            <a:off x="548640" y="1389888"/>
            <a:ext cx="11094415" cy="4754880"/>
          </a:xfrm>
          <a:prstGeom prst="roundRect">
            <a:avLst>
              <a:gd name="adj" fmla="val 962"/>
            </a:avLst>
          </a:prstGeom>
          <a:solidFill>
            <a:srgbClr val="FFFFFF"/>
          </a:solidFill>
          <a:ln w="31750">
            <a:solidFill>
              <a:srgbClr val="B8862B"/>
            </a:solidFill>
            <a:prstDash val="solid"/>
          </a:ln>
        </p:spPr>
      </p:sp>
      <p:sp>
        <p:nvSpPr>
          <p:cNvPr id="8" name="task-hex"/>
          <p:cNvSpPr/>
          <p:nvPr/>
        </p:nvSpPr>
        <p:spPr>
          <a:xfrm>
            <a:off x="822960" y="1664208"/>
            <a:ext cx="822960" cy="712683"/>
          </a:xfrm>
          <a:prstGeom prst="hexagon">
            <a:avLst/>
          </a:prstGeom>
          <a:solidFill>
            <a:srgbClr val="B8862B"/>
          </a:solidFill>
          <a:ln/>
        </p:spPr>
      </p:sp>
      <p:sp>
        <p:nvSpPr>
          <p:cNvPr id="9" name="task-hex-label"/>
          <p:cNvSpPr txBox="1"/>
          <p:nvPr/>
        </p:nvSpPr>
        <p:spPr>
          <a:xfrm>
            <a:off x="822960" y="1664208"/>
            <a:ext cx="822960" cy="712683"/>
          </a:xfrm>
          <a:prstGeom prst="rect">
            <a:avLst/>
          </a:prstGeom>
          <a:noFill/>
          <a:ln/>
        </p:spPr>
        <p:txBody>
          <a:bodyPr wrap="square" lIns="0" tIns="0" rIns="0" bIns="0" rtlCol="0" anchor="ctr"/>
          <a:lstStyle/>
          <a:p>
            <a:pPr algn="ctr" indent="0" marL="0">
              <a:buNone/>
            </a:pPr>
            <a:r>
              <a:rPr lang="en-US" sz="2800" b="1" dirty="0">
                <a:solidFill>
                  <a:srgbClr val="FFFFFF"/>
                </a:solidFill>
                <a:latin typeface="Cambria" pitchFamily="34" charset="0"/>
                <a:ea typeface="Cambria" pitchFamily="34" charset="-122"/>
                <a:cs typeface="Cambria" pitchFamily="34" charset="-120"/>
              </a:rPr>
              <a:t>1</a:t>
            </a:r>
            <a:endParaRPr lang="en-US" sz="2800" dirty="0"/>
          </a:p>
        </p:txBody>
      </p:sp>
      <p:sp>
        <p:nvSpPr>
          <p:cNvPr id="10" name="task"/>
          <p:cNvSpPr txBox="1"/>
          <p:nvPr/>
        </p:nvSpPr>
        <p:spPr>
          <a:xfrm>
            <a:off x="1828800" y="1618488"/>
            <a:ext cx="8534095" cy="498856"/>
          </a:xfrm>
          <a:prstGeom prst="rect">
            <a:avLst/>
          </a:prstGeom>
          <a:noFill/>
          <a:ln/>
        </p:spPr>
        <p:txBody>
          <a:bodyPr wrap="square" lIns="63500" tIns="63500" rIns="63500" bIns="63500" rtlCol="0" anchor="t"/>
          <a:lstStyle/>
          <a:p>
            <a:pPr algn="ctr" indent="0" marL="0">
              <a:buNone/>
            </a:pPr>
            <a:r>
              <a:rPr lang="en-US" sz="2400" b="1" dirty="0">
                <a:solidFill>
                  <a:srgbClr val="1E2229"/>
                </a:solidFill>
                <a:latin typeface="Calibri" pitchFamily="34" charset="0"/>
                <a:ea typeface="Calibri" pitchFamily="34" charset="-122"/>
                <a:cs typeface="Calibri" pitchFamily="34" charset="-120"/>
              </a:rPr>
              <a:t>Match each hydrograph term to its meaning.</a:t>
            </a:r>
            <a:endParaRPr lang="en-US" sz="2400" dirty="0"/>
          </a:p>
        </p:txBody>
      </p:sp>
      <p:sp>
        <p:nvSpPr>
          <p:cNvPr id="11" name="match-card"/>
          <p:cNvSpPr/>
          <p:nvPr/>
        </p:nvSpPr>
        <p:spPr>
          <a:xfrm>
            <a:off x="777240" y="2468331"/>
            <a:ext cx="3081437" cy="975243"/>
          </a:xfrm>
          <a:prstGeom prst="roundRect">
            <a:avLst>
              <a:gd name="adj" fmla="val 7501"/>
            </a:avLst>
          </a:prstGeom>
          <a:solidFill>
            <a:srgbClr val="EAEFEB"/>
          </a:solidFill>
          <a:ln/>
        </p:spPr>
      </p:sp>
      <p:sp>
        <p:nvSpPr>
          <p:cNvPr id="12" name="match-hex"/>
          <p:cNvSpPr/>
          <p:nvPr/>
        </p:nvSpPr>
        <p:spPr>
          <a:xfrm>
            <a:off x="850392" y="2789660"/>
            <a:ext cx="384048" cy="332586"/>
          </a:xfrm>
          <a:prstGeom prst="hexagon">
            <a:avLst/>
          </a:prstGeom>
          <a:solidFill>
            <a:srgbClr val="3F6B4A"/>
          </a:solidFill>
          <a:ln/>
        </p:spPr>
      </p:sp>
      <p:sp>
        <p:nvSpPr>
          <p:cNvPr id="13" name="match-hex-label"/>
          <p:cNvSpPr txBox="1"/>
          <p:nvPr/>
        </p:nvSpPr>
        <p:spPr>
          <a:xfrm>
            <a:off x="850392" y="27896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4" name="match-text"/>
          <p:cNvSpPr txBox="1"/>
          <p:nvPr/>
        </p:nvSpPr>
        <p:spPr>
          <a:xfrm>
            <a:off x="1298448" y="2468331"/>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Hydrograph</a:t>
            </a:r>
            <a:endParaRPr lang="en-US" sz="2200" dirty="0"/>
          </a:p>
        </p:txBody>
      </p:sp>
      <p:sp>
        <p:nvSpPr>
          <p:cNvPr id="15" name="match-card"/>
          <p:cNvSpPr/>
          <p:nvPr/>
        </p:nvSpPr>
        <p:spPr>
          <a:xfrm>
            <a:off x="4224437" y="2468331"/>
            <a:ext cx="7190019" cy="975243"/>
          </a:xfrm>
          <a:prstGeom prst="roundRect">
            <a:avLst>
              <a:gd name="adj" fmla="val 7501"/>
            </a:avLst>
          </a:prstGeom>
          <a:solidFill>
            <a:srgbClr val="F4EDDF"/>
          </a:solidFill>
          <a:ln/>
        </p:spPr>
      </p:sp>
      <p:sp>
        <p:nvSpPr>
          <p:cNvPr id="16" name="match-hex"/>
          <p:cNvSpPr/>
          <p:nvPr/>
        </p:nvSpPr>
        <p:spPr>
          <a:xfrm>
            <a:off x="4297589" y="2789660"/>
            <a:ext cx="384048" cy="332586"/>
          </a:xfrm>
          <a:prstGeom prst="hexagon">
            <a:avLst/>
          </a:prstGeom>
          <a:solidFill>
            <a:srgbClr val="B8862B"/>
          </a:solidFill>
          <a:ln/>
        </p:spPr>
      </p:sp>
      <p:sp>
        <p:nvSpPr>
          <p:cNvPr id="17" name="match-hex-label"/>
          <p:cNvSpPr txBox="1"/>
          <p:nvPr/>
        </p:nvSpPr>
        <p:spPr>
          <a:xfrm>
            <a:off x="4297589" y="2789660"/>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18" name="match-text"/>
          <p:cNvSpPr txBox="1"/>
          <p:nvPr/>
        </p:nvSpPr>
        <p:spPr>
          <a:xfrm>
            <a:off x="4745645" y="2468331"/>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highest discharge the river reaches after the rainfall</a:t>
            </a:r>
            <a:endParaRPr lang="en-US" sz="2200" dirty="0"/>
          </a:p>
        </p:txBody>
      </p:sp>
      <p:sp>
        <p:nvSpPr>
          <p:cNvPr id="19" name="match-card"/>
          <p:cNvSpPr/>
          <p:nvPr/>
        </p:nvSpPr>
        <p:spPr>
          <a:xfrm>
            <a:off x="777240" y="3535015"/>
            <a:ext cx="3081437" cy="975243"/>
          </a:xfrm>
          <a:prstGeom prst="roundRect">
            <a:avLst>
              <a:gd name="adj" fmla="val 7501"/>
            </a:avLst>
          </a:prstGeom>
          <a:solidFill>
            <a:srgbClr val="EAEFEB"/>
          </a:solidFill>
          <a:ln/>
        </p:spPr>
      </p:sp>
      <p:sp>
        <p:nvSpPr>
          <p:cNvPr id="20" name="match-hex"/>
          <p:cNvSpPr/>
          <p:nvPr/>
        </p:nvSpPr>
        <p:spPr>
          <a:xfrm>
            <a:off x="850392" y="3856343"/>
            <a:ext cx="384048" cy="332586"/>
          </a:xfrm>
          <a:prstGeom prst="hexagon">
            <a:avLst/>
          </a:prstGeom>
          <a:solidFill>
            <a:srgbClr val="3F6B4A"/>
          </a:solidFill>
          <a:ln/>
        </p:spPr>
      </p:sp>
      <p:sp>
        <p:nvSpPr>
          <p:cNvPr id="21" name="match-hex-label"/>
          <p:cNvSpPr txBox="1"/>
          <p:nvPr/>
        </p:nvSpPr>
        <p:spPr>
          <a:xfrm>
            <a:off x="850392" y="38563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2" name="match-text"/>
          <p:cNvSpPr txBox="1"/>
          <p:nvPr/>
        </p:nvSpPr>
        <p:spPr>
          <a:xfrm>
            <a:off x="1298448" y="3535015"/>
            <a:ext cx="2487077"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Discharge</a:t>
            </a:r>
            <a:endParaRPr lang="en-US" sz="2200" dirty="0"/>
          </a:p>
        </p:txBody>
      </p:sp>
      <p:sp>
        <p:nvSpPr>
          <p:cNvPr id="23" name="match-card"/>
          <p:cNvSpPr/>
          <p:nvPr/>
        </p:nvSpPr>
        <p:spPr>
          <a:xfrm>
            <a:off x="4224437" y="3535015"/>
            <a:ext cx="7190019" cy="975243"/>
          </a:xfrm>
          <a:prstGeom prst="roundRect">
            <a:avLst>
              <a:gd name="adj" fmla="val 7501"/>
            </a:avLst>
          </a:prstGeom>
          <a:solidFill>
            <a:srgbClr val="F4EDDF"/>
          </a:solidFill>
          <a:ln/>
        </p:spPr>
      </p:sp>
      <p:sp>
        <p:nvSpPr>
          <p:cNvPr id="24" name="match-hex"/>
          <p:cNvSpPr/>
          <p:nvPr/>
        </p:nvSpPr>
        <p:spPr>
          <a:xfrm>
            <a:off x="4297589" y="3856343"/>
            <a:ext cx="384048" cy="332586"/>
          </a:xfrm>
          <a:prstGeom prst="hexagon">
            <a:avLst/>
          </a:prstGeom>
          <a:solidFill>
            <a:srgbClr val="B8862B"/>
          </a:solidFill>
          <a:ln/>
        </p:spPr>
      </p:sp>
      <p:sp>
        <p:nvSpPr>
          <p:cNvPr id="25" name="match-hex-label"/>
          <p:cNvSpPr txBox="1"/>
          <p:nvPr/>
        </p:nvSpPr>
        <p:spPr>
          <a:xfrm>
            <a:off x="4297589" y="3856343"/>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26" name="match-text"/>
          <p:cNvSpPr txBox="1"/>
          <p:nvPr/>
        </p:nvSpPr>
        <p:spPr>
          <a:xfrm>
            <a:off x="4745645" y="3535015"/>
            <a:ext cx="6595659" cy="975243"/>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amount of water passing a point on the river, in cumecs</a:t>
            </a:r>
            <a:endParaRPr lang="en-US" sz="2200" dirty="0"/>
          </a:p>
        </p:txBody>
      </p:sp>
      <p:sp>
        <p:nvSpPr>
          <p:cNvPr id="27" name="match-card"/>
          <p:cNvSpPr/>
          <p:nvPr/>
        </p:nvSpPr>
        <p:spPr>
          <a:xfrm>
            <a:off x="777240" y="4601698"/>
            <a:ext cx="3081437" cy="634375"/>
          </a:xfrm>
          <a:prstGeom prst="roundRect">
            <a:avLst>
              <a:gd name="adj" fmla="val 11531"/>
            </a:avLst>
          </a:prstGeom>
          <a:solidFill>
            <a:srgbClr val="EAEFEB"/>
          </a:solidFill>
          <a:ln/>
        </p:spPr>
      </p:sp>
      <p:sp>
        <p:nvSpPr>
          <p:cNvPr id="28" name="match-hex"/>
          <p:cNvSpPr/>
          <p:nvPr/>
        </p:nvSpPr>
        <p:spPr>
          <a:xfrm>
            <a:off x="850392" y="4752592"/>
            <a:ext cx="384048" cy="332586"/>
          </a:xfrm>
          <a:prstGeom prst="hexagon">
            <a:avLst/>
          </a:prstGeom>
          <a:solidFill>
            <a:srgbClr val="3F6B4A"/>
          </a:solidFill>
          <a:ln/>
        </p:spPr>
      </p:sp>
      <p:sp>
        <p:nvSpPr>
          <p:cNvPr id="29" name="match-hex-label"/>
          <p:cNvSpPr txBox="1"/>
          <p:nvPr/>
        </p:nvSpPr>
        <p:spPr>
          <a:xfrm>
            <a:off x="850392" y="47525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30" name="match-text"/>
          <p:cNvSpPr txBox="1"/>
          <p:nvPr/>
        </p:nvSpPr>
        <p:spPr>
          <a:xfrm>
            <a:off x="1298448" y="4601698"/>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Peak discharge</a:t>
            </a:r>
            <a:endParaRPr lang="en-US" sz="2200" dirty="0"/>
          </a:p>
        </p:txBody>
      </p:sp>
      <p:sp>
        <p:nvSpPr>
          <p:cNvPr id="31" name="match-card"/>
          <p:cNvSpPr/>
          <p:nvPr/>
        </p:nvSpPr>
        <p:spPr>
          <a:xfrm>
            <a:off x="4224437" y="4601698"/>
            <a:ext cx="7190019" cy="634375"/>
          </a:xfrm>
          <a:prstGeom prst="roundRect">
            <a:avLst>
              <a:gd name="adj" fmla="val 11531"/>
            </a:avLst>
          </a:prstGeom>
          <a:solidFill>
            <a:srgbClr val="F4EDDF"/>
          </a:solidFill>
          <a:ln/>
        </p:spPr>
      </p:sp>
      <p:sp>
        <p:nvSpPr>
          <p:cNvPr id="32" name="match-hex"/>
          <p:cNvSpPr/>
          <p:nvPr/>
        </p:nvSpPr>
        <p:spPr>
          <a:xfrm>
            <a:off x="4297589" y="4752592"/>
            <a:ext cx="384048" cy="332586"/>
          </a:xfrm>
          <a:prstGeom prst="hexagon">
            <a:avLst/>
          </a:prstGeom>
          <a:solidFill>
            <a:srgbClr val="B8862B"/>
          </a:solidFill>
          <a:ln/>
        </p:spPr>
      </p:sp>
      <p:sp>
        <p:nvSpPr>
          <p:cNvPr id="33" name="match-hex-label"/>
          <p:cNvSpPr txBox="1"/>
          <p:nvPr/>
        </p:nvSpPr>
        <p:spPr>
          <a:xfrm>
            <a:off x="4297589" y="4752592"/>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34" name="match-text"/>
          <p:cNvSpPr txBox="1"/>
          <p:nvPr/>
        </p:nvSpPr>
        <p:spPr>
          <a:xfrm>
            <a:off x="4745645" y="4601698"/>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time between peak rainfall and peak discharge</a:t>
            </a:r>
            <a:endParaRPr lang="en-US" sz="2200" dirty="0"/>
          </a:p>
        </p:txBody>
      </p:sp>
      <p:sp>
        <p:nvSpPr>
          <p:cNvPr id="35" name="match-card"/>
          <p:cNvSpPr/>
          <p:nvPr/>
        </p:nvSpPr>
        <p:spPr>
          <a:xfrm>
            <a:off x="777240" y="5327513"/>
            <a:ext cx="3081437" cy="634375"/>
          </a:xfrm>
          <a:prstGeom prst="roundRect">
            <a:avLst>
              <a:gd name="adj" fmla="val 11531"/>
            </a:avLst>
          </a:prstGeom>
          <a:solidFill>
            <a:srgbClr val="EAEFEB"/>
          </a:solidFill>
          <a:ln/>
        </p:spPr>
      </p:sp>
      <p:sp>
        <p:nvSpPr>
          <p:cNvPr id="36" name="match-hex"/>
          <p:cNvSpPr/>
          <p:nvPr/>
        </p:nvSpPr>
        <p:spPr>
          <a:xfrm>
            <a:off x="850392" y="5478408"/>
            <a:ext cx="384048" cy="332586"/>
          </a:xfrm>
          <a:prstGeom prst="hexagon">
            <a:avLst/>
          </a:prstGeom>
          <a:solidFill>
            <a:srgbClr val="3F6B4A"/>
          </a:solidFill>
          <a:ln/>
        </p:spPr>
      </p:sp>
      <p:sp>
        <p:nvSpPr>
          <p:cNvPr id="37" name="match-hex-label"/>
          <p:cNvSpPr txBox="1"/>
          <p:nvPr/>
        </p:nvSpPr>
        <p:spPr>
          <a:xfrm>
            <a:off x="850392" y="547840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38" name="match-text"/>
          <p:cNvSpPr txBox="1"/>
          <p:nvPr/>
        </p:nvSpPr>
        <p:spPr>
          <a:xfrm>
            <a:off x="1298448" y="5327513"/>
            <a:ext cx="2487077"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Lag time</a:t>
            </a:r>
            <a:endParaRPr lang="en-US" sz="2200" dirty="0"/>
          </a:p>
        </p:txBody>
      </p:sp>
      <p:sp>
        <p:nvSpPr>
          <p:cNvPr id="39" name="match-card"/>
          <p:cNvSpPr/>
          <p:nvPr/>
        </p:nvSpPr>
        <p:spPr>
          <a:xfrm>
            <a:off x="4224437" y="5327513"/>
            <a:ext cx="7190019" cy="634375"/>
          </a:xfrm>
          <a:prstGeom prst="roundRect">
            <a:avLst>
              <a:gd name="adj" fmla="val 11531"/>
            </a:avLst>
          </a:prstGeom>
          <a:solidFill>
            <a:srgbClr val="F4EDDF"/>
          </a:solidFill>
          <a:ln/>
        </p:spPr>
      </p:sp>
      <p:sp>
        <p:nvSpPr>
          <p:cNvPr id="40" name="match-hex"/>
          <p:cNvSpPr/>
          <p:nvPr/>
        </p:nvSpPr>
        <p:spPr>
          <a:xfrm>
            <a:off x="4297589" y="5478408"/>
            <a:ext cx="384048" cy="332586"/>
          </a:xfrm>
          <a:prstGeom prst="hexagon">
            <a:avLst/>
          </a:prstGeom>
          <a:solidFill>
            <a:srgbClr val="B8862B"/>
          </a:solidFill>
          <a:ln/>
        </p:spPr>
      </p:sp>
      <p:sp>
        <p:nvSpPr>
          <p:cNvPr id="41" name="match-hex-label"/>
          <p:cNvSpPr txBox="1"/>
          <p:nvPr/>
        </p:nvSpPr>
        <p:spPr>
          <a:xfrm>
            <a:off x="4297589" y="5478408"/>
            <a:ext cx="384048" cy="332586"/>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42" name="match-text"/>
          <p:cNvSpPr txBox="1"/>
          <p:nvPr/>
        </p:nvSpPr>
        <p:spPr>
          <a:xfrm>
            <a:off x="4745645" y="5327513"/>
            <a:ext cx="6595659" cy="634375"/>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A graph showing how a river responds to a storm</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Same task, three ways in: Hydrograph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914400"/>
          </a:xfrm>
          <a:prstGeom prst="roundRect">
            <a:avLst>
              <a:gd name="adj" fmla="val 10000"/>
            </a:avLst>
          </a:prstGeom>
          <a:solidFill>
            <a:srgbClr val="FFFFFF"/>
          </a:solidFill>
          <a:ln w="31750">
            <a:solidFill>
              <a:srgbClr val="B8862B"/>
            </a:solidFill>
            <a:prstDash val="solid"/>
          </a:ln>
        </p:spPr>
      </p:sp>
      <p:sp>
        <p:nvSpPr>
          <p:cNvPr id="8" name="task-hex"/>
          <p:cNvSpPr/>
          <p:nvPr/>
        </p:nvSpPr>
        <p:spPr>
          <a:xfrm>
            <a:off x="777240" y="1530340"/>
            <a:ext cx="731520" cy="633496"/>
          </a:xfrm>
          <a:prstGeom prst="hexagon">
            <a:avLst/>
          </a:prstGeom>
          <a:solidFill>
            <a:srgbClr val="B8862B"/>
          </a:solidFill>
          <a:ln/>
        </p:spPr>
      </p:sp>
      <p:sp>
        <p:nvSpPr>
          <p:cNvPr id="9" name="task-hex-label"/>
          <p:cNvSpPr txBox="1"/>
          <p:nvPr/>
        </p:nvSpPr>
        <p:spPr>
          <a:xfrm>
            <a:off x="777240" y="1530340"/>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572768"/>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731520"/>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Match each hydrograph term to its meaning.</a:t>
            </a:r>
            <a:endParaRPr lang="en-US" sz="2000" dirty="0"/>
          </a:p>
        </p:txBody>
      </p:sp>
      <p:sp>
        <p:nvSpPr>
          <p:cNvPr id="12" name="col-Support"/>
          <p:cNvSpPr/>
          <p:nvPr/>
        </p:nvSpPr>
        <p:spPr>
          <a:xfrm>
            <a:off x="548640" y="2578608"/>
            <a:ext cx="4667802" cy="3566160"/>
          </a:xfrm>
          <a:prstGeom prst="roundRect">
            <a:avLst>
              <a:gd name="adj" fmla="val 1538"/>
            </a:avLst>
          </a:prstGeom>
          <a:solidFill>
            <a:srgbClr val="E6ECE7"/>
          </a:solidFill>
          <a:ln/>
        </p:spPr>
      </p:sp>
      <p:sp>
        <p:nvSpPr>
          <p:cNvPr id="13" name="col-hex"/>
          <p:cNvSpPr/>
          <p:nvPr/>
        </p:nvSpPr>
        <p:spPr>
          <a:xfrm>
            <a:off x="658368" y="2651760"/>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615184"/>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218688"/>
            <a:ext cx="4393482" cy="2816352"/>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term is the whole graph.</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One term is a time, so its meaning must mention time.</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Two terms contain the word discharge: one is the amount in general, one is the highest point.</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The unit cumecs goes with the general measurement.</a:t>
            </a:r>
            <a:endParaRPr lang="en-US" sz="1800" dirty="0"/>
          </a:p>
        </p:txBody>
      </p:sp>
      <p:sp>
        <p:nvSpPr>
          <p:cNvPr id="17" name="col-Core"/>
          <p:cNvSpPr/>
          <p:nvPr/>
        </p:nvSpPr>
        <p:spPr>
          <a:xfrm>
            <a:off x="5490762" y="2578608"/>
            <a:ext cx="2938987" cy="3566160"/>
          </a:xfrm>
          <a:prstGeom prst="roundRect">
            <a:avLst>
              <a:gd name="adj" fmla="val 1867"/>
            </a:avLst>
          </a:prstGeom>
          <a:solidFill>
            <a:srgbClr val="CFDAD2"/>
          </a:solidFill>
          <a:ln/>
        </p:spPr>
      </p:sp>
      <p:sp>
        <p:nvSpPr>
          <p:cNvPr id="18" name="col-hex"/>
          <p:cNvSpPr/>
          <p:nvPr/>
        </p:nvSpPr>
        <p:spPr>
          <a:xfrm>
            <a:off x="5600490" y="2651760"/>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One is the graph, one is a time, and two are amounts of water (one of them the biggest).</a:t>
            </a:r>
            <a:endParaRPr lang="en-US" sz="1800" dirty="0"/>
          </a:p>
        </p:txBody>
      </p:sp>
      <p:sp>
        <p:nvSpPr>
          <p:cNvPr id="22" name="col-Stretch"/>
          <p:cNvSpPr/>
          <p:nvPr/>
        </p:nvSpPr>
        <p:spPr>
          <a:xfrm>
            <a:off x="8704069" y="2578608"/>
            <a:ext cx="2938987" cy="3566160"/>
          </a:xfrm>
          <a:prstGeom prst="roundRect">
            <a:avLst>
              <a:gd name="adj" fmla="val 1867"/>
            </a:avLst>
          </a:prstGeom>
          <a:solidFill>
            <a:srgbClr val="3F6B4A"/>
          </a:solidFill>
          <a:ln/>
        </p:spPr>
      </p:sp>
      <p:sp>
        <p:nvSpPr>
          <p:cNvPr id="23" name="col-hex"/>
          <p:cNvSpPr/>
          <p:nvPr/>
        </p:nvSpPr>
        <p:spPr>
          <a:xfrm>
            <a:off x="8813797" y="2651760"/>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2651760"/>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615184"/>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218688"/>
            <a:ext cx="2664667" cy="2816352"/>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Explain what a short lag time tells you about the drainage basin, giving two possible reasons.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800" b="1" dirty="0">
                <a:solidFill>
                  <a:srgbClr val="3F6B4A"/>
                </a:solidFill>
                <a:latin typeface="Cambria" pitchFamily="34" charset="0"/>
                <a:ea typeface="Cambria" pitchFamily="34" charset="-122"/>
                <a:cs typeface="Cambria" pitchFamily="34" charset="-120"/>
              </a:rPr>
              <a:t>Same task, three ways in: How much water is that?</a:t>
            </a:r>
            <a:endParaRPr lang="en-US" sz="28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river's discharge is 240 cumecs (cubic metres per second). How many cubic metres of water pass the gauging station in one minute?</a:t>
            </a:r>
            <a:endParaRPr lang="en-US" sz="2000" dirty="0"/>
          </a:p>
          <a:p>
            <a:pPr algn="ctr" indent="0" marL="0">
              <a:buNone/>
            </a:pPr>
            <a:r>
              <a:rPr lang="en-US" sz="1800" b="1" dirty="0">
                <a:solidFill>
                  <a:srgbClr val="3F6B4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m³</a:t>
            </a:r>
            <a:endParaRPr lang="en-US" sz="2000" dirty="0"/>
          </a:p>
        </p:txBody>
      </p:sp>
      <p:sp>
        <p:nvSpPr>
          <p:cNvPr id="12" name="col-Support"/>
          <p:cNvSpPr/>
          <p:nvPr/>
        </p:nvSpPr>
        <p:spPr>
          <a:xfrm>
            <a:off x="548640" y="2948940"/>
            <a:ext cx="4667802" cy="3195828"/>
          </a:xfrm>
          <a:prstGeom prst="roundRect">
            <a:avLst>
              <a:gd name="adj" fmla="val 1717"/>
            </a:avLst>
          </a:prstGeom>
          <a:solidFill>
            <a:srgbClr val="E6ECE7"/>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3936282"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4393482" cy="244602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Cumecs means cubic metres per second: 240 cubic metres go past every second.</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How many seconds are there in a minute? 60.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Multiply: 240 × 60.</a:t>
            </a:r>
            <a:endParaRPr lang="en-US" sz="1800" dirty="0"/>
          </a:p>
          <a:p>
            <a:pPr algn="l" indent="0" marL="0">
              <a:spcAft>
                <a:spcPts val="600"/>
              </a:spcAft>
              <a:buNone/>
            </a:pPr>
            <a:r>
              <a:rPr lang="en-US" sz="1800" b="1" dirty="0">
                <a:solidFill>
                  <a:srgbClr val="3F6B4A"/>
                </a:solidFill>
                <a:latin typeface="Calibri" pitchFamily="34" charset="0"/>
                <a:ea typeface="Calibri" pitchFamily="34" charset="-122"/>
                <a:cs typeface="Calibri" pitchFamily="34" charset="-120"/>
              </a:rPr>
              <a:t>4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240 × 6 = 1440, so 240 × 60 = 14 400.</a:t>
            </a:r>
            <a:endParaRPr lang="en-US" sz="1800" dirty="0"/>
          </a:p>
        </p:txBody>
      </p:sp>
      <p:sp>
        <p:nvSpPr>
          <p:cNvPr id="17" name="col-Core"/>
          <p:cNvSpPr/>
          <p:nvPr/>
        </p:nvSpPr>
        <p:spPr>
          <a:xfrm>
            <a:off x="5490762" y="2948940"/>
            <a:ext cx="2938987" cy="3195828"/>
          </a:xfrm>
          <a:prstGeom prst="roundRect">
            <a:avLst>
              <a:gd name="adj" fmla="val 1867"/>
            </a:avLst>
          </a:prstGeom>
          <a:solidFill>
            <a:srgbClr val="CFDAD2"/>
          </a:solidFill>
          <a:ln/>
        </p:spPr>
      </p:sp>
      <p:sp>
        <p:nvSpPr>
          <p:cNvPr id="18" name="col-hex"/>
          <p:cNvSpPr/>
          <p:nvPr/>
        </p:nvSpPr>
        <p:spPr>
          <a:xfrm>
            <a:off x="5600490"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2C4B34"/>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32563B"/>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Per second to per minute: multiply by 60.</a:t>
            </a:r>
            <a:endParaRPr lang="en-US" sz="1800" dirty="0"/>
          </a:p>
        </p:txBody>
      </p:sp>
      <p:sp>
        <p:nvSpPr>
          <p:cNvPr id="22" name="col-Stretch"/>
          <p:cNvSpPr/>
          <p:nvPr/>
        </p:nvSpPr>
        <p:spPr>
          <a:xfrm>
            <a:off x="8704069" y="2948940"/>
            <a:ext cx="2938987" cy="3195828"/>
          </a:xfrm>
          <a:prstGeom prst="roundRect">
            <a:avLst>
              <a:gd name="adj" fmla="val 1867"/>
            </a:avLst>
          </a:prstGeom>
          <a:solidFill>
            <a:srgbClr val="3F6B4A"/>
          </a:solidFill>
          <a:ln/>
        </p:spPr>
      </p:sp>
      <p:sp>
        <p:nvSpPr>
          <p:cNvPr id="23" name="col-hex"/>
          <p:cNvSpPr/>
          <p:nvPr/>
        </p:nvSpPr>
        <p:spPr>
          <a:xfrm>
            <a:off x="8813797"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298551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589020"/>
            <a:ext cx="2664667" cy="244602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A swimming pool holds about 2 500 cubic metres. Estimate how long the river at 240 cumecs would take to fill it, and show your working.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3F6B4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3F6B4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870712"/>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On a hydrograph, peak rainfall was at 06:00 and peak discharge was at 15:00. What was the lag time, in hours?</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CF0ED"/>
          </a:solidFill>
          <a:ln w="12700">
            <a:solidFill>
              <a:srgbClr val="99B19F"/>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My answer (hours):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Hydrograph words</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1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Hydrograph  →  D  A graph showing how a river responds to a storm</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2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Discharge  →  B  The amount of water passing a point on the river, in cumecs</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3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Peak discharge  →  A  The highest discharge the river reaches after the rainfall</a:t>
            </a:r>
            <a:endParaRPr lang="en-US" sz="2400" dirty="0"/>
          </a:p>
          <a:p>
            <a:pPr algn="l" indent="0" marL="0">
              <a:spcAft>
                <a:spcPts val="1000"/>
              </a:spcAft>
              <a:buNone/>
            </a:pPr>
            <a:r>
              <a:rPr lang="en-US" sz="2400" b="1" dirty="0">
                <a:solidFill>
                  <a:srgbClr val="815E1E"/>
                </a:solidFill>
                <a:latin typeface="Calibri" pitchFamily="34" charset="0"/>
                <a:ea typeface="Calibri" pitchFamily="34" charset="-122"/>
                <a:cs typeface="Calibri" pitchFamily="34" charset="-120"/>
              </a:rPr>
              <a:t>4  </a:t>
            </a:r>
            <a:pPr algn="l" indent="0" marL="0">
              <a:spcAft>
                <a:spcPts val="1000"/>
              </a:spcAft>
              <a:buNone/>
            </a:pPr>
            <a:r>
              <a:rPr lang="en-US" sz="2400" dirty="0">
                <a:solidFill>
                  <a:srgbClr val="1E2229"/>
                </a:solidFill>
                <a:latin typeface="Calibri" pitchFamily="34" charset="0"/>
                <a:ea typeface="Calibri" pitchFamily="34" charset="-122"/>
                <a:cs typeface="Calibri" pitchFamily="34" charset="-120"/>
              </a:rPr>
              <a:t>Lag time  →  C  The time between peak rainfall and peak discharge</a:t>
            </a:r>
            <a:endParaRPr lang="en-US" sz="24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hydrograph is the graph; discharge is the amount of water per second (cumecs); peak discharge is its highest value; lag time is peak rainfall to peak discharge.</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How much water is that?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river's discharge is 240 cumecs (cubic metres per second). How many cubic metres of water pass the gauging station in one minute?</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14 400 m³</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240 cubic metres pass every second; 60 seconds make a minute; 240 × 60 = 14 400 cubic metres.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3F6B4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3F6B4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3F6B4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4EDDF"/>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On a hydrograph, peak rainfall was at 06:00 and peak discharge was at 15:00. What was the lag time, in hours?</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9 hours</a:t>
            </a:r>
            <a:endParaRPr lang="en-US" sz="1800" dirty="0"/>
          </a:p>
        </p:txBody>
      </p:sp>
      <p:sp>
        <p:nvSpPr>
          <p:cNvPr id="10" name="why-panel"/>
          <p:cNvSpPr/>
          <p:nvPr/>
        </p:nvSpPr>
        <p:spPr>
          <a:xfrm>
            <a:off x="7223760" y="1389888"/>
            <a:ext cx="4419295" cy="4754880"/>
          </a:xfrm>
          <a:prstGeom prst="roundRect">
            <a:avLst>
              <a:gd name="adj" fmla="val 1035"/>
            </a:avLst>
          </a:prstGeom>
          <a:solidFill>
            <a:srgbClr val="E6ECE7"/>
          </a:solidFill>
          <a:ln/>
        </p:spPr>
      </p:sp>
      <p:sp>
        <p:nvSpPr>
          <p:cNvPr id="11" name="why-hex"/>
          <p:cNvSpPr/>
          <p:nvPr/>
        </p:nvSpPr>
        <p:spPr>
          <a:xfrm>
            <a:off x="7406640" y="1572768"/>
            <a:ext cx="685800" cy="593903"/>
          </a:xfrm>
          <a:prstGeom prst="hexagon">
            <a:avLst/>
          </a:prstGeom>
          <a:solidFill>
            <a:srgbClr val="3F6B4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Lag time is the time between peak rainfall and peak discharge: 15:00 − 06:00 = 9 hours.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396043"/>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theme/theme1.xml><?xml version="1.0" encoding="utf-8"?>
<a:theme xmlns:a="http://schemas.openxmlformats.org/drawingml/2006/main" name="Ad Astra geography">
  <a:themeElements>
    <a:clrScheme name="Ad Astra geography">
      <a:dk1>
        <a:srgbClr val="1E2229"/>
      </a:dk1>
      <a:lt1>
        <a:srgbClr val="FFFFFF"/>
      </a:lt1>
      <a:dk2>
        <a:srgbClr val="32563B"/>
      </a:dk2>
      <a:lt2>
        <a:srgbClr val="E6ECE7"/>
      </a:lt2>
      <a:accent1>
        <a:srgbClr val="3F6B4A"/>
      </a:accent1>
      <a:accent2>
        <a:srgbClr val="B8862B"/>
      </a:accent2>
      <a:accent3>
        <a:srgbClr val="8CA692"/>
      </a:accent3>
      <a:accent4>
        <a:srgbClr val="815E1E"/>
      </a:accent4>
      <a:accent5>
        <a:srgbClr val="4A505C"/>
      </a:accent5>
      <a:accent6>
        <a:srgbClr val="D9BF8F"/>
      </a:accent6>
      <a:hlink>
        <a:srgbClr val="3F6B4A"/>
      </a:hlink>
      <a:folHlink>
        <a:srgbClr val="2C4B34"/>
      </a:folHlink>
    </a:clrScheme>
    <a:fontScheme name="Ad Astra geograph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Physical Landscapes in the UK: Rivers and Coasts · Chapter 6: Flooding, hydrographs and managing the river</dc:title>
  <dc:subject>Geography · Year 10</dc:subject>
  <dc:creator>Dr Vitor Merissi de Carvalho</dc:creator>
  <cp:lastModifiedBy>Dr Vitor Merissi de Carvalho</cp:lastModifiedBy>
  <cp:revision>1</cp:revision>
  <dcterms:created xsi:type="dcterms:W3CDTF">2026-10-19T06:07:39Z</dcterms:created>
  <dcterms:modified xsi:type="dcterms:W3CDTF">2026-10-19T06:07:39Z</dcterms:modified>
</cp:coreProperties>
</file>