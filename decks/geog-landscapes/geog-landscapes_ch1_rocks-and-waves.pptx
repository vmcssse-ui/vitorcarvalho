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4ef8274-972d-973d-753f-4abcf909d939}">
          <p14:sldIdLst>
            <p14:sldId id="256"/>
          </p14:sldIdLst>
        </p14:section>
        <p14:section name="Gate" id="{473d3c7c-8231-df56-9eb2-3315bdb6f37e}">
          <p14:sldIdLst>
            <p14:sldId id="257"/>
            <p14:sldId id="258"/>
          </p14:sldIdLst>
        </p14:section>
        <p14:section name="Pre-teach" id="{5aa11ff0-b4b0-f5c2-f92c-7a7f21d87b5a}">
          <p14:sldIdLst>
            <p14:sldId id="259"/>
            <p14:sldId id="260"/>
          </p14:sldIdLst>
        </p14:section>
        <p14:section name="Read-along" id="{21148a90-3efc-3d1c-a830-25d9a1a4f7a8}">
          <p14:sldIdLst>
            <p14:sldId id="261"/>
            <p14:sldId id="262"/>
          </p14:sldIdLst>
        </p14:section>
        <p14:section name="Teach" id="{3de239ef-5922-f53d-a043-75c9858a251a}">
          <p14:sldIdLst>
            <p14:sldId id="263"/>
            <p14:sldId id="264"/>
            <p14:sldId id="265"/>
            <p14:sldId id="266"/>
            <p14:sldId id="267"/>
          </p14:sldIdLst>
        </p14:section>
        <p14:section name="Routes" id="{1c46c09d-adb0-332b-6abd-601d2de79697}">
          <p14:sldIdLst>
            <p14:sldId id="268"/>
            <p14:sldId id="269"/>
            <p14:sldId id="270"/>
            <p14:sldId id="271"/>
          </p14:sldIdLst>
        </p14:section>
        <p14:section name="Close" id="{8133f990-a14b-1c4d-5307-9fd3d9e3d60c}">
          <p14:sldIdLst>
            <p14:sldId id="272"/>
          </p14:sldIdLst>
        </p14:section>
        <p14:section name="Answers" id="{6cd06c7b-e76d-318f-78b0-111fde5b335f}">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The UK's rocks and the restless coast. Why the UK has so many different landscapes, what the two kinds of wave do to a beach, and how weathering and mass movement weaken and move the rock of a cliff.
This deck covers the department's lessons: 1 (UK physical landscapes: rock types: How do the UK's four main rock types create its different landscapes, and where is each found?); 2 (Coastal processes: waves and weathering: How is the coast shaped by waves and by weathering?); 3 (Mass movement, coastal erosion and longshore drift: How does material move down a cliff, how does the sea erode it, and how is it carried along the beach?).
Read the big question aloud: "How do waves and rivers shape the UK's coasts and valleys, and how should we manage the risks they bring?"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rock type forms the tors found on Dartmoor?  →  A   Granite
2. Weathering is the breakdown of rock ___, without it being carried away.  →  in place
3. Which pair of features describes a destructive wave?  →  A   Weak swash and strong backwash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Granite. Tors are blocks of hard granite left standing after weathering has attacked the joints around them. Dartmoor is the UK example.
2. in place. Weathering happens in situ, in place. Once the pieces are carried away, that is erosion and transportation.
3. A   Weak swash and strong backwash. A destructive wave's strong backwash drags more material down the beach than its weak swash brings up, so the beach is eroded.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permeable: lets water soak through it. Example: "Chalk is permeable, so rain soaks into it instead of running off."
• impermeable: does not let water through. Example: "Clay is impermeable, so water stays on the surface and forms streams."
• tor: a pile of bare granite rock sticking out of a hillside. Example: "A famous tor stands on the top of Dartmoor."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swash: the water that rushes up the beach when a wave breaks. Example: "A strong swash carries sand up the beach."
• backwash: the water that drains back down the beach to the sea. Example: "A strong backwash drags sand back out to sea."
• weathering: the breakdown of rock where it stands. Example: "Frost, rain and plant roots all cause weathering of the cliff."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UK has many different landscapes.
2. They are shaped by the rock underneath them.
3. Granite is a hard rock that forms rocky tors, like those on Dartmoor.
4. Chalk is softer and lets water soak through it.
5. It forms gentle hills inland and white cliffs at the coast.
6. Clay is soft and easily worn away, so it forms low, flat vales.
7. Carboniferous limestone is cracked into blocks and makes limestone pavements.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At the coast, waves do most of the work.
9. Constructive waves have a strong swash and build up the beach.
10. Destructive waves have a strong backwash and wear the beach away.
11. Weathering breaks rock down where it stands, by frost, chemicals or living things.
12. Weakened rock can slide or fall down the cliff.
13. This is called mass movement.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rocks, four landscapes. Say it in your own words, then check understanding with a quick question: ask a pupil from the pre-teach group first, since they met these words and ideas before the lesson. Pupils try to recall before you re-explain.
Look at a map of the UK's rocks and you see that they are spread unevenly. Four rock types matter most for this unit. Granite is an igneous rock, formed from magma deep inside the Earth. It is hard and impermeable, so water cannot soak into it: granite areas have surface streams and boggy ground. Granite is cracked by joints, and freeze-thaw and chemical weathering attack these joints until only the toughest blocks are left standing as tors. Dartmoor, in south-west England, is the classic example.
Chalk and clay are sedimentary rocks, and they are often found together in the south and east of England. Chalk is made of calcium carbonate and is porous and permeable: rain soaks in, so there are few surface rivers and many dry valleys, cut by fast-flowing streams towards the end of the last Ice Age. Chalk resists erosion well enough to stand higher than the land around it, forming gentle hills inland (the South Downs) and steep white cliffs at the coast (the Seven Sisters in East Sussex). Where permeable chalk meets impermeable clay, springs appear and rivers begin to flow at the surface. Clay is soft and impermeable: it is easily eroded, so it is left as low, flat clay vales with surface streams, such as the vale below Devil's Dyke in West Sussex.
Carboniferous limestone is a hard grey rock cut by many joints, horizontal and vertical cracks that separate it into blocks. Water drains down the joints, so the rock is permeable and surface streams disappear underground. Slightly acidic rainwater slowly dissolves the limestone along the joints (chemical weathering), opening caves and caverns where dripping water builds stalactites and stalagmites. On the surface, the joints widen into a limestone pavement: flat slabs called clints separated by deep gaps called grykes. Landscapes like this are called karst. The limestone pavement above Malham Cove, in the Yorkshire Dales, is the famous UK example.
Tip: When you describe the distribution of a rock type, use compass directions and named places: granite in the south-west (Dartmoor) and other parts of the north and west; chalk across the south and east (the Downs); carboniferous limestone in the Yorkshire Dales.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kinds of wave. Say it in your own words, then check understanding with a quick question: ask a pupil from the pre-teach group first, since they met these words and ideas before the lesson. Pupils try to recall before you re-explain.
Waves are made by the wind blowing across the sea. The further the wind has blown over open water (the fetch), the bigger the waves. When a wave breaks on a beach, the water that rushes up the sand is the swash, and the water that drains back down to the sea is the backwash. Everything a wave does to a beach comes down to which of these two is stronger.
Constructive waves are low, with a long wavelength and a gentle gradient. Their swash is strong and their backwash is weak, so each wave carries sand and shingle up the beach and leaves most of it there. Constructive waves build the beach up by deposition. Destructive waves are tall, with a short wavelength and a steep gradient. Their swash is weak and their backwash is strong, so each wave drags more material back down than it brought up. Destructive waves erode the beach.
Which kind of wave you see depends on the weather. Calm weather and a sheltered coast give constructive waves; storms with a long fetch give destructive waves. Many UK beaches gain sand in a calm summer and lose it again in winter storms.
Worked example — model it step by step, thinking aloud: Describe two differences between a constructive wave and a destructive wave. (2 marks) (1) Pick a feature that is different for the two waves: the swash and backwash. (2) State it for both waves in one sentence: a constructive wave has a strong swash and weak backwash, whereas a destructive wave has a weak swash and strong backwash. (3) Pick a second feature: shape. A constructive wave is low with a long wavelength, whereas a destructive wave is tall with a short wavelength. (4) Two clear differences, each stated for both waves, earns both marks. Answer: Constructive waves have a strong swash and weak backwash, whereas destructive waves have a weak swash and strong backwash. Constructive waves are low with a long wavelength, whereas destructive waves are tall with a short wavelength..
Tip: Describe asks for what is true, not why. Save the explanation for an explain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kinds of wave. Say it in your own words, then check understanding with a quick question: ask a pupil from the pre-teach group first, since they met these words and ideas before the lesson. Pupils try to recall before you re-explain.
Waves are made by the wind blowing across the sea. The further the wind has blown over open water (the fetch), the bigger the waves. When a wave breaks on a beach, the water that rushes up the sand is the swash, and the water that drains back down to the sea is the backwash. Everything a wave does to a beach comes down to which of these two is stronger.
Constructive waves are low, with a long wavelength and a gentle gradient. Their swash is strong and their backwash is weak, so each wave carries sand and shingle up the beach and leaves most of it there. Constructive waves build the beach up by deposition. Destructive waves are tall, with a short wavelength and a steep gradient. Their swash is weak and their backwash is strong, so each wave drags more material back down than it brought up. Destructive waves erode the beach.
Which kind of wave you see depends on the weather. Calm weather and a sheltered coast give constructive waves; storms with a long fetch give destructive waves. Many UK beaches gain sand in a calm summer and lose it again in winter storms.
Worked example — model it step by step, thinking aloud: Describe two differences between a constructive wave and a destructive wave. (2 marks) (1) Pick a feature that is different for the two waves: the swash and backwash. (2) State it for both waves in one sentence: a constructive wave has a strong swash and weak backwash, whereas a destructive wave has a weak swash and strong backwash. (3) Pick a second feature: shape. A constructive wave is low with a long wavelength, whereas a destructive wave is tall with a short wavelength. (4) Two clear differences, each stated for both waves, earns both marks. Answer: Constructive waves have a strong swash and weak backwash, whereas destructive waves have a weak swash and strong backwash. Constructive waves are low with a long wavelength, whereas destructive waves are tall with a short wavelength..
Tip: Describe asks for what is true, not why. Save the explanation for an explain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Weathering: breaking rock where it stands. Say it in your own words, then check understanding with a quick question: ask a pupil from the pre-teach group first, since they met these words and ideas before the lesson. Pupils try to recall before you re-explain.
Weathering is the breakdown of rock in situ, which means in place. The rock is weakened and broken into pieces, but nothing carries the pieces away. That is the difference between weathering and erosion: erosion wears rock away and removes it. A cliff is weathered from above and eroded by the sea from below, and the two work together.
There are three kinds of weathering. Mechanical (or physical) weathering breaks rock apart without changing what it is made of; the main example is freeze-thaw, where water in a crack freezes, expands, thaws and refreezes until fragments split off. Chemical weathering happens when chemicals in rain or sea water alter the structure of the rock; slightly acidic water dissolves chalk and limestone. Biological weathering is caused by living things: plant roots growing into cracks and animals burrowing into the cliff.
Weathering matters at the coast because it prepares the rock. A cliff face loosened by frost, rain and roots is far easier for the waves to remove.
Tip: Weathering weakens; erosion removes. If a question says weathering, do not write about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Mass movement. Say it in your own words, then check understanding with a quick question: ask a pupil from the pre-teach group first, since they met these words and ideas before the lesson. Pupils try to recall before you re-explain.
Once rock has been weakened by weathering, gravity can pull it down the slope. Geographers call this mass movement, and it happens in several ways. In a rockfall, fragments of rock break away and fall from the cliff face, often after freeze-thaw. In a landslide, large blocks of rock slide downhill along a slope. In a mudflow, soil or weak rock that has become saturated with water flows down the slope like thick liquid. In a rotational slip, or slump, saturated soil or weak rock slumps down along a curved surface.
Mass movement delivers material to the foot of the cliff and the beach. The sea then erodes and transports it, which means weathering and mass movement are the start of the whole coastal system.
Tip: Match the word to the movement: fall (rockfall), slide (landslide), flow (mudflow), slump along a curve (rotational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rock makes which landscape?.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rock type to the landscape it creates.
Support — work through the steps with the group: (1) Start with the hardest rock. Hard rock is left standing when softer rock is worn away. (2) Ask: does water soak in (permeable) or stay on the surface (impermeable)? Surface streams mean impermeable rock. (3) Think about the named places: Dartmoor, the Seven Sisters, Malham Cove. Which rock did the lesson link to each? (4) The one left over is the soft rock that forms low ground.
Parallel worked example for Support (model it, do not give the task answer): Match: sandstone, slate. Choices: a rock that splits into thin sheets used for roofs; a rock made of sand grains cemented together. Sandstone is named after what it is made of: sand grains.; Slate is the rock that splits into thin sheets.. Answer: Sandstone: sand grains cemented together. Slate: splits into thin sheets used for roofs..
Core — reveal the hint only on request: Two of these rocks are permeable and form high ground; one is impermeable and soft; one is impermeable and very hard.
Stretch — no help; when finished: Explain why chalk and clay are often found side by side in the landscape, and what happens where the two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rock makes which landscape?.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rock type to the landscape it creates.
Support — work through the steps with the group: (1) Start with the hardest rock. Hard rock is left standing when softer rock is worn away. (2) Ask: does water soak in (permeable) or stay on the surface (impermeable)? Surface streams mean impermeable rock. (3) Think about the named places: Dartmoor, the Seven Sisters, Malham Cove. Which rock did the lesson link to each? (4) The one left over is the soft rock that forms low ground.
Parallel worked example for Support (model it, do not give the task answer): Match: sandstone, slate. Choices: a rock that splits into thin sheets used for roofs; a rock made of sand grains cemented together. Sandstone is named after what it is made of: sand grains.; Slate is the rock that splits into thin sheets.. Answer: Sandstone: sand grains cemented together. Slate: splits into thin sheets used for roofs..
Core — reveal the hint only on request: Two of these rocks are permeable and form high ground; one is impermeable and soft; one is impermeable and very hard.
Stretch — no help; when finished: Explain why chalk and clay are often found side by side in the landscape, and what happens where the two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wave built this beach?.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beach has been growing all summer, with more sand each week. Which type of wave has been breaking on it?
Support — work through the steps with the group: (1) Ask: is the beach gaining or losing material? Gaining means deposition. (2) Deposition happens when the swash (up the beach) is stronger than the backwash (back down). (3) Which wave has a strong swash and a weak backwash? (4) Check the whole option: the wave name AND the swash and backwash description must both be right.
Parallel worked example for Support (model it, do not give the task answer): After a winter storm, a shingle beach is much smaller than before. Which wave type has been at work, and why? The beach has lost material, so it has been eroded.; Erosion happens when the backwash is stronger than the swash.; That is a destructive wave.. Answer: Destructive waves: their strong backwash dragged shingle down the beach faster than their weak swash brought it up..
Core — reveal the hint only on request: A growing beach means more material comes up than goes back down. Which part of the wave carries material up?
Stretch — no help; when finished: Explain why the same beach might gain sand in summer and lose it in winter, using fetch and the weather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wave built this beach?.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beach has been growing all summer, with more sand each week. Which type of wave has been breaking on it?
Support — work through the steps with the group: (1) Ask: is the beach gaining or losing material? Gaining means deposition. (2) Deposition happens when the swash (up the beach) is stronger than the backwash (back down). (3) Which wave has a strong swash and a weak backwash? (4) Check the whole option: the wave name AND the swash and backwash description must both be right.
Parallel worked example for Support (model it, do not give the task answer): After a winter storm, a shingle beach is much smaller than before. Which wave type has been at work, and why? The beach has lost material, so it has been eroded.; Erosion happens when the backwash is stronger than the swash.; That is a destructive wave.. Answer: Destructive waves: their strong backwash dragged shingle down the beach faster than their weak swash brought it up..
Core — reveal the hint only on request: A growing beach means more material comes up than goes back down. Which part of the wave carries material up?
Stretch — no help; when finished: Explain why the same beach might gain sand in summer and lose it in winter, using fetch and the weather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rock type forms the tors found on Dartmoor?
Answer: D   Granite. Tors are blocks of hard granite left standing after weathering has attacked the joints around them. Dartmoor is the UK example.
Source of this question: gate item 1 re-asked (options rotated) — this chapter has no third quick-check module.
The ebook also holds task 3, "Four kinds of mass movement",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rock makes which landscape?. Reveal the answer; pupils mark their own work in a different colour, then read the "why" together. Same destination for every lane, so one answer serves the whole class.
Answer: Granite  →  A  Tors on Dartmoor; Chalk  →  C  Gentle hills and steep white cliffs, such as the Seven Sisters; Clay  →  D  Low, flat vales with surface streams; Carboniferous limestone  →  B  Limestone pavement at Malham Cove
Why: Granite is hard and impermeable and weathers along its joints to leave tors. Chalk is permeable and resistant, so it stands as hills and cliffs. Clay is soft and impermeable, so it is eroded to low vales with streams. Carboniferous limestone is dissolved along its joints into pavements and caves.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wave built this beach?. Reveal the answer; pupils mark their own work in a different colour, then read the "why" together. Same destination for every lane, so one answer serves the whole class.
Answer: A   Constructive waves, with a strong swash and weak backwash
Why: The beach is gaining sand, so deposition is happening. Constructive waves have a strong swash that carries sand up the beach and a weak backwash that leaves most of it there.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Granite
Why: Tors are blocks of hard granite left standing after weathering has attacked the joints around them. Dartmoor is the UK example.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Physical Landscapes in the UK: Rivers and Coasts · AQA 8035</a:t>
            </a:r>
            <a:endParaRPr lang="en-US" sz="1800" dirty="0"/>
          </a:p>
        </p:txBody>
      </p:sp>
      <p:sp>
        <p:nvSpPr>
          <p:cNvPr id="10" name="deck-title"/>
          <p:cNvSpPr txBox="1"/>
          <p:nvPr/>
        </p:nvSpPr>
        <p:spPr>
          <a:xfrm>
            <a:off x="548640" y="189026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UK's rocks and the restless coast</a:t>
            </a:r>
            <a:endParaRPr lang="en-US" sz="4000" dirty="0"/>
          </a:p>
        </p:txBody>
      </p:sp>
      <p:sp>
        <p:nvSpPr>
          <p:cNvPr id="11" name="lessons-card"/>
          <p:cNvSpPr/>
          <p:nvPr/>
        </p:nvSpPr>
        <p:spPr>
          <a:xfrm>
            <a:off x="548640" y="3566668"/>
            <a:ext cx="5287975" cy="1986280"/>
          </a:xfrm>
          <a:prstGeom prst="roundRect">
            <a:avLst>
              <a:gd name="adj" fmla="val 3683"/>
            </a:avLst>
          </a:prstGeom>
          <a:solidFill>
            <a:srgbClr val="E6ECE7"/>
          </a:solidFill>
          <a:ln/>
        </p:spPr>
      </p:sp>
      <p:sp>
        <p:nvSpPr>
          <p:cNvPr id="12" name="lessons"/>
          <p:cNvSpPr txBox="1"/>
          <p:nvPr/>
        </p:nvSpPr>
        <p:spPr>
          <a:xfrm>
            <a:off x="685800" y="3658108"/>
            <a:ext cx="5013655" cy="18034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UK physical landscapes: rock types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Coastal processes: waves and weathering</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Mass movement, coastal erosion and longshore drift</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waves and rivers shape the UK's coasts and valleys, and how should we manage the risks they bring?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rock type forms the tors found on Dartmoor?</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Granite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Chalk</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Clay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Carboniferous limestone</a:t>
            </a:r>
            <a:endParaRPr lang="en-US" sz="24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Weathering is the breakdown of rock ___, without it being carried away.</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 place  ·  by the sea  ·  downstream</a:t>
            </a:r>
            <a:endParaRPr lang="en-US" sz="24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pair of features describes a destructive wave?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Weak swash and strong backwash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Strong swash and weak backwash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Long wavelength and low height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Gentle gradient and strong swash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Granite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rock type forms the tors found on Dartmoor?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Tors are blocks of hard granite left standing after weathering has attacked the joints around them. Dartmoor is the UK example.</a:t>
            </a:r>
            <a:endParaRPr lang="en-US" sz="20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 place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Weathering is the breakdown of rock ___, without it being carried away.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Weathering happens in situ, in place. Once the pieces are carried away, that is erosion and transportation.</a:t>
            </a:r>
            <a:endParaRPr lang="en-US" sz="20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BDDC4"/>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Weak swash and strong backwash</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pair of features describes a destructive wave?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destructive wave's strong backwash drags more material down the beach than its weak swash brings up, so the beach is eroded.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permeable</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lets water soak through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Chalk is permeable, so rain soaks into it instead of running off.</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impermeable</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does not let water through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Clay is impermeable, so water stays on the surface and forms streams.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tor</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pile of bare granite rock sticking out of a hillside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famous tor stands on the top of Dartmoor.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swash</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water that rushes up the beach when a wave breaks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strong swash carries sand up the beach.</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backwash</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water that drains back down the beach to the sea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strong backwash drags sand back out to sea.</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weathering</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breakdown of rock where it stands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Frost, rain and plant roots all cause weathering of the cliff.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UK has many different landscapes.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are shaped by the rock underneath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Granite is a hard rock that forms rocky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tors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like those on Dartmoor.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Chalk is softer and lets water soak through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forms gentle hills inland and white cliffs at the coast.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Clay is soft and easily worn away, so it forms low, flat vales.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Carboniferous limestone is cracked into blocks and makes limestone pavements.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the coast, waves do most of the work.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Constructive waves have a strong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swash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build up the beach.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Destructive waves have a strong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backwash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wear the beach away.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Weathering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breaks rock down where it stands, by frost, chemicals or living things.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Weakened rock can slide or fall down the cliff.</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called mass movement.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Four rocks, four landscapes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describe the distribution of a rock type, use compass directions and named places: granite in the south-west (Dartmoor) and other parts of the north and west; chalk across the south and east (the Downs); carboniferous limestone in the Yorkshire Dales.</a:t>
            </a:r>
            <a:endParaRPr lang="en-US" sz="1800" dirty="0"/>
          </a:p>
        </p:txBody>
      </p:sp>
      <p:sp>
        <p:nvSpPr>
          <p:cNvPr id="11" name="point-card"/>
          <p:cNvSpPr/>
          <p:nvPr/>
        </p:nvSpPr>
        <p:spPr>
          <a:xfrm>
            <a:off x="548640" y="1389888"/>
            <a:ext cx="3515258" cy="3407156"/>
          </a:xfrm>
          <a:prstGeom prst="roundRect">
            <a:avLst>
              <a:gd name="adj" fmla="val 1610"/>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309876"/>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Look at a map of the UK's rocks and you see that they are spread unevenly.</a:t>
            </a:r>
            <a:endParaRPr lang="en-US" sz="2200" dirty="0"/>
          </a:p>
        </p:txBody>
      </p:sp>
      <p:sp>
        <p:nvSpPr>
          <p:cNvPr id="15" name="point-card"/>
          <p:cNvSpPr/>
          <p:nvPr/>
        </p:nvSpPr>
        <p:spPr>
          <a:xfrm>
            <a:off x="4338218" y="1389888"/>
            <a:ext cx="3515258" cy="3407156"/>
          </a:xfrm>
          <a:prstGeom prst="roundRect">
            <a:avLst>
              <a:gd name="adj" fmla="val 1610"/>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309876"/>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Chalk and clay are sedimentary rocks, and they are often found together in the south and east of England.</a:t>
            </a:r>
            <a:endParaRPr lang="en-US" sz="2200" dirty="0"/>
          </a:p>
        </p:txBody>
      </p:sp>
      <p:sp>
        <p:nvSpPr>
          <p:cNvPr id="19" name="point-card"/>
          <p:cNvSpPr/>
          <p:nvPr/>
        </p:nvSpPr>
        <p:spPr>
          <a:xfrm>
            <a:off x="8127797" y="1389888"/>
            <a:ext cx="3515258" cy="3407156"/>
          </a:xfrm>
          <a:prstGeom prst="roundRect">
            <a:avLst>
              <a:gd name="adj" fmla="val 1610"/>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309876"/>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Carboniferous limestone is a hard grey rock cut by many joints, horizontal and vertical cracks that separate it into blocks.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Two kinds of wave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asks for what is true, not why. Save the explanation for an explain question.</a:t>
            </a:r>
            <a:endParaRPr lang="en-US" sz="1800" dirty="0"/>
          </a:p>
        </p:txBody>
      </p:sp>
      <p:sp>
        <p:nvSpPr>
          <p:cNvPr id="11" name="point-card"/>
          <p:cNvSpPr/>
          <p:nvPr/>
        </p:nvSpPr>
        <p:spPr>
          <a:xfrm>
            <a:off x="548640" y="1389888"/>
            <a:ext cx="3515258" cy="3964940"/>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Waves are made by the wind blowing across the sea.</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Constructive waves are low, with a long wavelength and a gentle gradient.</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Which kind of wave you see depends on the weather.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Two kinds of wave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6ECE7"/>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Describe two differences between a constructive wave and a destructive wave. (2 marks)</a:t>
            </a:r>
            <a:endParaRPr lang="en-US" sz="2000" dirty="0"/>
          </a:p>
        </p:txBody>
      </p:sp>
      <p:sp>
        <p:nvSpPr>
          <p:cNvPr id="9" name="step-box"/>
          <p:cNvSpPr/>
          <p:nvPr/>
        </p:nvSpPr>
        <p:spPr>
          <a:xfrm>
            <a:off x="548640" y="2192528"/>
            <a:ext cx="11094415" cy="466446"/>
          </a:xfrm>
          <a:prstGeom prst="roundRect">
            <a:avLst>
              <a:gd name="adj" fmla="val 15683"/>
            </a:avLst>
          </a:prstGeom>
          <a:solidFill>
            <a:srgbClr val="FFFFFF"/>
          </a:solidFill>
          <a:ln w="15875">
            <a:solidFill>
              <a:srgbClr val="95AE9B"/>
            </a:solidFill>
            <a:prstDash val="solid"/>
          </a:ln>
        </p:spPr>
      </p:sp>
      <p:sp>
        <p:nvSpPr>
          <p:cNvPr id="10" name="step-hex"/>
          <p:cNvSpPr/>
          <p:nvPr/>
        </p:nvSpPr>
        <p:spPr>
          <a:xfrm>
            <a:off x="685800" y="2227783"/>
            <a:ext cx="457200" cy="395935"/>
          </a:xfrm>
          <a:prstGeom prst="hexagon">
            <a:avLst/>
          </a:prstGeom>
          <a:solidFill>
            <a:srgbClr val="3F6B4A"/>
          </a:solidFill>
          <a:ln/>
        </p:spPr>
      </p:sp>
      <p:sp>
        <p:nvSpPr>
          <p:cNvPr id="11" name="step-hex-label"/>
          <p:cNvSpPr txBox="1"/>
          <p:nvPr/>
        </p:nvSpPr>
        <p:spPr>
          <a:xfrm>
            <a:off x="685800" y="222778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6644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Pick a feature that is different for the two waves: the swash and backwash.</a:t>
            </a:r>
            <a:endParaRPr lang="en-US" sz="1800" dirty="0"/>
          </a:p>
        </p:txBody>
      </p:sp>
      <p:sp>
        <p:nvSpPr>
          <p:cNvPr id="13" name="step-box"/>
          <p:cNvSpPr/>
          <p:nvPr/>
        </p:nvSpPr>
        <p:spPr>
          <a:xfrm>
            <a:off x="548640" y="2732126"/>
            <a:ext cx="11094415" cy="730606"/>
          </a:xfrm>
          <a:prstGeom prst="roundRect">
            <a:avLst>
              <a:gd name="adj" fmla="val 10013"/>
            </a:avLst>
          </a:prstGeom>
          <a:solidFill>
            <a:srgbClr val="FFFFFF"/>
          </a:solidFill>
          <a:ln w="15875">
            <a:solidFill>
              <a:srgbClr val="95AE9B"/>
            </a:solidFill>
            <a:prstDash val="solid"/>
          </a:ln>
        </p:spPr>
      </p:sp>
      <p:sp>
        <p:nvSpPr>
          <p:cNvPr id="14" name="step-hex"/>
          <p:cNvSpPr/>
          <p:nvPr/>
        </p:nvSpPr>
        <p:spPr>
          <a:xfrm>
            <a:off x="685800" y="2899461"/>
            <a:ext cx="457200" cy="395935"/>
          </a:xfrm>
          <a:prstGeom prst="hexagon">
            <a:avLst/>
          </a:prstGeom>
          <a:solidFill>
            <a:srgbClr val="3F6B4A"/>
          </a:solidFill>
          <a:ln/>
        </p:spPr>
      </p:sp>
      <p:sp>
        <p:nvSpPr>
          <p:cNvPr id="15" name="step-hex-label"/>
          <p:cNvSpPr txBox="1"/>
          <p:nvPr/>
        </p:nvSpPr>
        <p:spPr>
          <a:xfrm>
            <a:off x="685800" y="289946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32126"/>
            <a:ext cx="10180015" cy="7306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State it for both waves in one sentence: a constructive wave has a strong swash and weak backwash, whereas a destructive wave has a weak swash and strong backwash.</a:t>
            </a:r>
            <a:endParaRPr lang="en-US" sz="1800" dirty="0"/>
          </a:p>
        </p:txBody>
      </p:sp>
      <p:sp>
        <p:nvSpPr>
          <p:cNvPr id="17" name="step-box"/>
          <p:cNvSpPr/>
          <p:nvPr/>
        </p:nvSpPr>
        <p:spPr>
          <a:xfrm>
            <a:off x="548640" y="3535883"/>
            <a:ext cx="11094415" cy="730606"/>
          </a:xfrm>
          <a:prstGeom prst="roundRect">
            <a:avLst>
              <a:gd name="adj" fmla="val 10013"/>
            </a:avLst>
          </a:prstGeom>
          <a:solidFill>
            <a:srgbClr val="FFFFFF"/>
          </a:solidFill>
          <a:ln w="15875">
            <a:solidFill>
              <a:srgbClr val="95AE9B"/>
            </a:solidFill>
            <a:prstDash val="solid"/>
          </a:ln>
        </p:spPr>
      </p:sp>
      <p:sp>
        <p:nvSpPr>
          <p:cNvPr id="18" name="step-hex"/>
          <p:cNvSpPr/>
          <p:nvPr/>
        </p:nvSpPr>
        <p:spPr>
          <a:xfrm>
            <a:off x="685800" y="3703218"/>
            <a:ext cx="457200" cy="395935"/>
          </a:xfrm>
          <a:prstGeom prst="hexagon">
            <a:avLst/>
          </a:prstGeom>
          <a:solidFill>
            <a:srgbClr val="3F6B4A"/>
          </a:solidFill>
          <a:ln/>
        </p:spPr>
      </p:sp>
      <p:sp>
        <p:nvSpPr>
          <p:cNvPr id="19" name="step-hex-label"/>
          <p:cNvSpPr txBox="1"/>
          <p:nvPr/>
        </p:nvSpPr>
        <p:spPr>
          <a:xfrm>
            <a:off x="685800" y="370321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35883"/>
            <a:ext cx="10180015" cy="7306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Pick a second feature: shape. A constructive wave is low with a long wavelength, whereas a destructive wave is tall with a short wavelength.</a:t>
            </a:r>
            <a:endParaRPr lang="en-US" sz="1800" dirty="0"/>
          </a:p>
        </p:txBody>
      </p:sp>
      <p:sp>
        <p:nvSpPr>
          <p:cNvPr id="21" name="step-box"/>
          <p:cNvSpPr/>
          <p:nvPr/>
        </p:nvSpPr>
        <p:spPr>
          <a:xfrm>
            <a:off x="548640" y="4339641"/>
            <a:ext cx="11094415" cy="466446"/>
          </a:xfrm>
          <a:prstGeom prst="roundRect">
            <a:avLst>
              <a:gd name="adj" fmla="val 15683"/>
            </a:avLst>
          </a:prstGeom>
          <a:solidFill>
            <a:srgbClr val="FFFFFF"/>
          </a:solidFill>
          <a:ln w="15875">
            <a:solidFill>
              <a:srgbClr val="95AE9B"/>
            </a:solidFill>
            <a:prstDash val="solid"/>
          </a:ln>
        </p:spPr>
      </p:sp>
      <p:sp>
        <p:nvSpPr>
          <p:cNvPr id="22" name="step-hex"/>
          <p:cNvSpPr/>
          <p:nvPr/>
        </p:nvSpPr>
        <p:spPr>
          <a:xfrm>
            <a:off x="685800" y="4374896"/>
            <a:ext cx="457200" cy="395935"/>
          </a:xfrm>
          <a:prstGeom prst="hexagon">
            <a:avLst/>
          </a:prstGeom>
          <a:solidFill>
            <a:srgbClr val="3F6B4A"/>
          </a:solidFill>
          <a:ln/>
        </p:spPr>
      </p:sp>
      <p:sp>
        <p:nvSpPr>
          <p:cNvPr id="23" name="step-hex-label"/>
          <p:cNvSpPr txBox="1"/>
          <p:nvPr/>
        </p:nvSpPr>
        <p:spPr>
          <a:xfrm>
            <a:off x="685800" y="437489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39641"/>
            <a:ext cx="10180015" cy="46644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Two clear differences, each stated for both waves, earns both marks.</a:t>
            </a:r>
            <a:endParaRPr lang="en-US" sz="1800" dirty="0"/>
          </a:p>
        </p:txBody>
      </p:sp>
      <p:sp>
        <p:nvSpPr>
          <p:cNvPr id="25" name="worked-answer"/>
          <p:cNvSpPr/>
          <p:nvPr/>
        </p:nvSpPr>
        <p:spPr>
          <a:xfrm>
            <a:off x="548640" y="4988966"/>
            <a:ext cx="11094415" cy="1109980"/>
          </a:xfrm>
          <a:prstGeom prst="roundRect">
            <a:avLst>
              <a:gd name="adj" fmla="val 12357"/>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Constructive waves have a strong swash and weak backwash, whereas destructive waves have a weak swash and strong backwash. Constructive waves are low with a long wavelength, whereas destructive waves are tall with a short wavelength.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Weathering: breaking rock where it stands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Weathering weakens; erosion removes. If a question says weathering, do not write about waves.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Weathering is the breakdown of rock in situ, which means in place.</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There are three kinds of weathering. Mechanical (or physical) weathering breaks rock apart without changing what it is made of; the main example is freeze-thaw, where water in a crack freezes, expands, thaws and refreezes until fragments split off.</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Weathering matters at the coast because it prepares the rock.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Mass movement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Match the word to the movement: fall (rockfall), slide (landslide), flow (mudflow), slump along a curve (rotational slip).</a:t>
            </a:r>
            <a:endParaRPr lang="en-US" sz="1800" dirty="0"/>
          </a:p>
        </p:txBody>
      </p:sp>
      <p:sp>
        <p:nvSpPr>
          <p:cNvPr id="11" name="point-card"/>
          <p:cNvSpPr/>
          <p:nvPr/>
        </p:nvSpPr>
        <p:spPr>
          <a:xfrm>
            <a:off x="548640" y="1389888"/>
            <a:ext cx="5410048" cy="3686048"/>
          </a:xfrm>
          <a:prstGeom prst="roundRect">
            <a:avLst>
              <a:gd name="adj" fmla="val 1488"/>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Once rock has been weakened by weathering, gravity can pull it down the slope.</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Mass movement delivers material to the foot of the cliff and the beach.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rock makes which landscape?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rock type to the landscape it creates.</a:t>
            </a:r>
            <a:endParaRPr lang="en-US" sz="2400" dirty="0"/>
          </a:p>
        </p:txBody>
      </p:sp>
      <p:sp>
        <p:nvSpPr>
          <p:cNvPr id="11" name="match-card"/>
          <p:cNvSpPr/>
          <p:nvPr/>
        </p:nvSpPr>
        <p:spPr>
          <a:xfrm>
            <a:off x="777240" y="2468331"/>
            <a:ext cx="3152625" cy="634375"/>
          </a:xfrm>
          <a:prstGeom prst="roundRect">
            <a:avLst>
              <a:gd name="adj" fmla="val 11531"/>
            </a:avLst>
          </a:prstGeom>
          <a:solidFill>
            <a:srgbClr val="EAEFEB"/>
          </a:solidFill>
          <a:ln/>
        </p:spPr>
      </p:sp>
      <p:sp>
        <p:nvSpPr>
          <p:cNvPr id="12" name="match-hex"/>
          <p:cNvSpPr/>
          <p:nvPr/>
        </p:nvSpPr>
        <p:spPr>
          <a:xfrm>
            <a:off x="850392" y="2619226"/>
            <a:ext cx="384048" cy="332586"/>
          </a:xfrm>
          <a:prstGeom prst="hexagon">
            <a:avLst/>
          </a:prstGeom>
          <a:solidFill>
            <a:srgbClr val="3F6B4A"/>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558265"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Granite</a:t>
            </a:r>
            <a:endParaRPr lang="en-US" sz="2200" dirty="0"/>
          </a:p>
        </p:txBody>
      </p:sp>
      <p:sp>
        <p:nvSpPr>
          <p:cNvPr id="15" name="match-card"/>
          <p:cNvSpPr/>
          <p:nvPr/>
        </p:nvSpPr>
        <p:spPr>
          <a:xfrm>
            <a:off x="4295625" y="2468331"/>
            <a:ext cx="7118830" cy="634375"/>
          </a:xfrm>
          <a:prstGeom prst="roundRect">
            <a:avLst>
              <a:gd name="adj" fmla="val 11531"/>
            </a:avLst>
          </a:prstGeom>
          <a:solidFill>
            <a:srgbClr val="F4EDDF"/>
          </a:solidFill>
          <a:ln/>
        </p:spPr>
      </p:sp>
      <p:sp>
        <p:nvSpPr>
          <p:cNvPr id="16" name="match-hex"/>
          <p:cNvSpPr/>
          <p:nvPr/>
        </p:nvSpPr>
        <p:spPr>
          <a:xfrm>
            <a:off x="4368777" y="2619226"/>
            <a:ext cx="384048" cy="332586"/>
          </a:xfrm>
          <a:prstGeom prst="hexagon">
            <a:avLst/>
          </a:prstGeom>
          <a:solidFill>
            <a:srgbClr val="B8862B"/>
          </a:solidFill>
          <a:ln/>
        </p:spPr>
      </p:sp>
      <p:sp>
        <p:nvSpPr>
          <p:cNvPr id="17" name="match-hex-label"/>
          <p:cNvSpPr txBox="1"/>
          <p:nvPr/>
        </p:nvSpPr>
        <p:spPr>
          <a:xfrm>
            <a:off x="4368777"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816833" y="2468331"/>
            <a:ext cx="6524470"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Tors on Dartmoor</a:t>
            </a:r>
            <a:endParaRPr lang="en-US" sz="2200" dirty="0"/>
          </a:p>
        </p:txBody>
      </p:sp>
      <p:sp>
        <p:nvSpPr>
          <p:cNvPr id="19" name="match-card"/>
          <p:cNvSpPr/>
          <p:nvPr/>
        </p:nvSpPr>
        <p:spPr>
          <a:xfrm>
            <a:off x="777240" y="3194147"/>
            <a:ext cx="3152625" cy="634375"/>
          </a:xfrm>
          <a:prstGeom prst="roundRect">
            <a:avLst>
              <a:gd name="adj" fmla="val 11531"/>
            </a:avLst>
          </a:prstGeom>
          <a:solidFill>
            <a:srgbClr val="EAEFEB"/>
          </a:solidFill>
          <a:ln/>
        </p:spPr>
      </p:sp>
      <p:sp>
        <p:nvSpPr>
          <p:cNvPr id="20" name="match-hex"/>
          <p:cNvSpPr/>
          <p:nvPr/>
        </p:nvSpPr>
        <p:spPr>
          <a:xfrm>
            <a:off x="850392" y="3345041"/>
            <a:ext cx="384048" cy="332586"/>
          </a:xfrm>
          <a:prstGeom prst="hexagon">
            <a:avLst/>
          </a:prstGeom>
          <a:solidFill>
            <a:srgbClr val="3F6B4A"/>
          </a:solidFill>
          <a:ln/>
        </p:spPr>
      </p:sp>
      <p:sp>
        <p:nvSpPr>
          <p:cNvPr id="21" name="match-hex-label"/>
          <p:cNvSpPr txBox="1"/>
          <p:nvPr/>
        </p:nvSpPr>
        <p:spPr>
          <a:xfrm>
            <a:off x="850392"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2558265"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Chalk</a:t>
            </a:r>
            <a:endParaRPr lang="en-US" sz="2200" dirty="0"/>
          </a:p>
        </p:txBody>
      </p:sp>
      <p:sp>
        <p:nvSpPr>
          <p:cNvPr id="23" name="match-card"/>
          <p:cNvSpPr/>
          <p:nvPr/>
        </p:nvSpPr>
        <p:spPr>
          <a:xfrm>
            <a:off x="4295625" y="3194147"/>
            <a:ext cx="7118830" cy="634375"/>
          </a:xfrm>
          <a:prstGeom prst="roundRect">
            <a:avLst>
              <a:gd name="adj" fmla="val 11531"/>
            </a:avLst>
          </a:prstGeom>
          <a:solidFill>
            <a:srgbClr val="F4EDDF"/>
          </a:solidFill>
          <a:ln/>
        </p:spPr>
      </p:sp>
      <p:sp>
        <p:nvSpPr>
          <p:cNvPr id="24" name="match-hex"/>
          <p:cNvSpPr/>
          <p:nvPr/>
        </p:nvSpPr>
        <p:spPr>
          <a:xfrm>
            <a:off x="4368777" y="3345041"/>
            <a:ext cx="384048" cy="332586"/>
          </a:xfrm>
          <a:prstGeom prst="hexagon">
            <a:avLst/>
          </a:prstGeom>
          <a:solidFill>
            <a:srgbClr val="B8862B"/>
          </a:solidFill>
          <a:ln/>
        </p:spPr>
      </p:sp>
      <p:sp>
        <p:nvSpPr>
          <p:cNvPr id="25" name="match-hex-label"/>
          <p:cNvSpPr txBox="1"/>
          <p:nvPr/>
        </p:nvSpPr>
        <p:spPr>
          <a:xfrm>
            <a:off x="4368777"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816833" y="3194147"/>
            <a:ext cx="6524470"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Limestone pavement at Malham Cove</a:t>
            </a:r>
            <a:endParaRPr lang="en-US" sz="2200" dirty="0"/>
          </a:p>
        </p:txBody>
      </p:sp>
      <p:sp>
        <p:nvSpPr>
          <p:cNvPr id="27" name="match-card"/>
          <p:cNvSpPr/>
          <p:nvPr/>
        </p:nvSpPr>
        <p:spPr>
          <a:xfrm>
            <a:off x="777240" y="3919962"/>
            <a:ext cx="3152625" cy="975243"/>
          </a:xfrm>
          <a:prstGeom prst="roundRect">
            <a:avLst>
              <a:gd name="adj" fmla="val 7501"/>
            </a:avLst>
          </a:prstGeom>
          <a:solidFill>
            <a:srgbClr val="EAEFEB"/>
          </a:solidFill>
          <a:ln/>
        </p:spPr>
      </p:sp>
      <p:sp>
        <p:nvSpPr>
          <p:cNvPr id="28" name="match-hex"/>
          <p:cNvSpPr/>
          <p:nvPr/>
        </p:nvSpPr>
        <p:spPr>
          <a:xfrm>
            <a:off x="850392" y="4241290"/>
            <a:ext cx="384048" cy="332586"/>
          </a:xfrm>
          <a:prstGeom prst="hexagon">
            <a:avLst/>
          </a:prstGeom>
          <a:solidFill>
            <a:srgbClr val="3F6B4A"/>
          </a:solidFill>
          <a:ln/>
        </p:spPr>
      </p:sp>
      <p:sp>
        <p:nvSpPr>
          <p:cNvPr id="29" name="match-hex-label"/>
          <p:cNvSpPr txBox="1"/>
          <p:nvPr/>
        </p:nvSpPr>
        <p:spPr>
          <a:xfrm>
            <a:off x="850392"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19962"/>
            <a:ext cx="2558265"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Clay</a:t>
            </a:r>
            <a:endParaRPr lang="en-US" sz="2200" dirty="0"/>
          </a:p>
        </p:txBody>
      </p:sp>
      <p:sp>
        <p:nvSpPr>
          <p:cNvPr id="31" name="match-card"/>
          <p:cNvSpPr/>
          <p:nvPr/>
        </p:nvSpPr>
        <p:spPr>
          <a:xfrm>
            <a:off x="4295625" y="3919962"/>
            <a:ext cx="7118830" cy="975243"/>
          </a:xfrm>
          <a:prstGeom prst="roundRect">
            <a:avLst>
              <a:gd name="adj" fmla="val 7501"/>
            </a:avLst>
          </a:prstGeom>
          <a:solidFill>
            <a:srgbClr val="F4EDDF"/>
          </a:solidFill>
          <a:ln/>
        </p:spPr>
      </p:sp>
      <p:sp>
        <p:nvSpPr>
          <p:cNvPr id="32" name="match-hex"/>
          <p:cNvSpPr/>
          <p:nvPr/>
        </p:nvSpPr>
        <p:spPr>
          <a:xfrm>
            <a:off x="4368777" y="4241290"/>
            <a:ext cx="384048" cy="332586"/>
          </a:xfrm>
          <a:prstGeom prst="hexagon">
            <a:avLst/>
          </a:prstGeom>
          <a:solidFill>
            <a:srgbClr val="B8862B"/>
          </a:solidFill>
          <a:ln/>
        </p:spPr>
      </p:sp>
      <p:sp>
        <p:nvSpPr>
          <p:cNvPr id="33" name="match-hex-label"/>
          <p:cNvSpPr txBox="1"/>
          <p:nvPr/>
        </p:nvSpPr>
        <p:spPr>
          <a:xfrm>
            <a:off x="4368777"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816833" y="3919962"/>
            <a:ext cx="6524470"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Gentle hills and steep white cliffs, such as the Seven Sisters</a:t>
            </a:r>
            <a:endParaRPr lang="en-US" sz="2200" dirty="0"/>
          </a:p>
        </p:txBody>
      </p:sp>
      <p:sp>
        <p:nvSpPr>
          <p:cNvPr id="35" name="match-card"/>
          <p:cNvSpPr/>
          <p:nvPr/>
        </p:nvSpPr>
        <p:spPr>
          <a:xfrm>
            <a:off x="777240" y="4986645"/>
            <a:ext cx="3152625" cy="975243"/>
          </a:xfrm>
          <a:prstGeom prst="roundRect">
            <a:avLst>
              <a:gd name="adj" fmla="val 7501"/>
            </a:avLst>
          </a:prstGeom>
          <a:solidFill>
            <a:srgbClr val="EAEFEB"/>
          </a:solidFill>
          <a:ln/>
        </p:spPr>
      </p:sp>
      <p:sp>
        <p:nvSpPr>
          <p:cNvPr id="36" name="match-hex"/>
          <p:cNvSpPr/>
          <p:nvPr/>
        </p:nvSpPr>
        <p:spPr>
          <a:xfrm>
            <a:off x="850392" y="5307974"/>
            <a:ext cx="384048" cy="332586"/>
          </a:xfrm>
          <a:prstGeom prst="hexagon">
            <a:avLst/>
          </a:prstGeom>
          <a:solidFill>
            <a:srgbClr val="3F6B4A"/>
          </a:solidFill>
          <a:ln/>
        </p:spPr>
      </p:sp>
      <p:sp>
        <p:nvSpPr>
          <p:cNvPr id="37" name="match-hex-label"/>
          <p:cNvSpPr txBox="1"/>
          <p:nvPr/>
        </p:nvSpPr>
        <p:spPr>
          <a:xfrm>
            <a:off x="85039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86645"/>
            <a:ext cx="2558265"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Carboniferous limestone</a:t>
            </a:r>
            <a:endParaRPr lang="en-US" sz="2200" dirty="0"/>
          </a:p>
        </p:txBody>
      </p:sp>
      <p:sp>
        <p:nvSpPr>
          <p:cNvPr id="39" name="match-card"/>
          <p:cNvSpPr/>
          <p:nvPr/>
        </p:nvSpPr>
        <p:spPr>
          <a:xfrm>
            <a:off x="4295625" y="4986645"/>
            <a:ext cx="7118830" cy="975243"/>
          </a:xfrm>
          <a:prstGeom prst="roundRect">
            <a:avLst>
              <a:gd name="adj" fmla="val 7501"/>
            </a:avLst>
          </a:prstGeom>
          <a:solidFill>
            <a:srgbClr val="F4EDDF"/>
          </a:solidFill>
          <a:ln/>
        </p:spPr>
      </p:sp>
      <p:sp>
        <p:nvSpPr>
          <p:cNvPr id="40" name="match-hex"/>
          <p:cNvSpPr/>
          <p:nvPr/>
        </p:nvSpPr>
        <p:spPr>
          <a:xfrm>
            <a:off x="4368777" y="5307974"/>
            <a:ext cx="384048" cy="332586"/>
          </a:xfrm>
          <a:prstGeom prst="hexagon">
            <a:avLst/>
          </a:prstGeom>
          <a:solidFill>
            <a:srgbClr val="B8862B"/>
          </a:solidFill>
          <a:ln/>
        </p:spPr>
      </p:sp>
      <p:sp>
        <p:nvSpPr>
          <p:cNvPr id="41" name="match-hex-label"/>
          <p:cNvSpPr txBox="1"/>
          <p:nvPr/>
        </p:nvSpPr>
        <p:spPr>
          <a:xfrm>
            <a:off x="4368777"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816833" y="4986645"/>
            <a:ext cx="6524470"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Low, flat vales with surface streams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Which rock makes which landscape?</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Which rock makes which landscape?</a:t>
            </a:r>
            <a:endParaRPr lang="en-US" sz="2000" dirty="0"/>
          </a:p>
        </p:txBody>
      </p:sp>
      <p:sp>
        <p:nvSpPr>
          <p:cNvPr id="12" name="col-Support"/>
          <p:cNvSpPr/>
          <p:nvPr/>
        </p:nvSpPr>
        <p:spPr>
          <a:xfrm>
            <a:off x="548640" y="2395728"/>
            <a:ext cx="6327465"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hardest rock. Hard rock is left standing when softer rock is worn away.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does water soak in (permeable) or stay on the surface (impermeable)? Surface streams mean impermeable rock.</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Think about the named places: Dartmoor, the Seven Sisters, Malham Cove. Which rock did the lesson link to each?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over is the soft rock that forms low ground.</a:t>
            </a:r>
            <a:endParaRPr lang="en-US" sz="1800" dirty="0"/>
          </a:p>
        </p:txBody>
      </p:sp>
      <p:sp>
        <p:nvSpPr>
          <p:cNvPr id="17" name="col-Core"/>
          <p:cNvSpPr/>
          <p:nvPr/>
        </p:nvSpPr>
        <p:spPr>
          <a:xfrm>
            <a:off x="7150425" y="2395728"/>
            <a:ext cx="2109155" cy="3749040"/>
          </a:xfrm>
          <a:prstGeom prst="roundRect">
            <a:avLst>
              <a:gd name="adj" fmla="val 2601"/>
            </a:avLst>
          </a:prstGeom>
          <a:solidFill>
            <a:srgbClr val="CFDAD2"/>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of these rocks are permeable and form high ground; one is impermeable and soft; one is impermeable and very hard.</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3F6B4A"/>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chalk and clay are often found side by side in the landscape, and what happens where the two meet.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wave built this beach?</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beach has been growing all summer, with more sand each week. Which type of wave has been breaking on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Constructive waves, with a strong swash and weak backwash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Destructive waves, with a weak swash and strong backwash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Destructive waves, with a strong swash and strong backwash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Constructive waves, with a weak swash and strong backwash</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Which wave built this beach?</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wave built this beach?</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is the beach gaining or losing material? Gaining means deposition.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Deposition happens when the swash (up the beach) is stronger than the backwash (back down).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wave has a strong swash and a weak backwash?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whole option: the wave name AND the swash and backwash description must both be right.</a:t>
            </a:r>
            <a:endParaRPr lang="en-US" sz="1800" dirty="0"/>
          </a:p>
        </p:txBody>
      </p:sp>
      <p:sp>
        <p:nvSpPr>
          <p:cNvPr id="17" name="col-Core"/>
          <p:cNvSpPr/>
          <p:nvPr/>
        </p:nvSpPr>
        <p:spPr>
          <a:xfrm>
            <a:off x="6425403" y="2395728"/>
            <a:ext cx="2471666" cy="3749040"/>
          </a:xfrm>
          <a:prstGeom prst="roundRect">
            <a:avLst>
              <a:gd name="adj" fmla="val 2220"/>
            </a:avLst>
          </a:prstGeom>
          <a:solidFill>
            <a:srgbClr val="CFDAD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growing beach means more material comes up than goes back down. Which part of the wave carries material up?</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same beach might gain sand in summer and lose it in winter, using fetch and the weather in your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rock type forms the tors found on Dartmoor?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Chalk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Clay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Carboniferous limestone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Granite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rock makes which landscape?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Granite  →  A  Tors on Dartmoor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Chalk  →  C  Gentle hills and steep white cliffs, such as the Seven Sisters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Clay  →  D  Low, flat vales with surface streams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Carboniferous limestone  →  B  Limestone pavement at Malham Cove</a:t>
            </a:r>
            <a:endParaRPr lang="en-US" sz="24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Granite is hard and impermeable and weathers along its joints to leave tors. Chalk is permeable and resistant, so it stands as hills and cliffs. Clay is soft and impermeable, so it is eroded to low vales with streams. Carboniferous limestone is dissolved along its joints into pavements and caves.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wave built this beach?</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beach has been growing all summer, with more sand each week. Which type of wave has been breaking on it?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Constructive waves, with a strong swash and weak backwash</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beach is gaining sand, so deposition is happening. Constructive waves have a strong swash that carries sand up the beach and a weak backwash that leaves most of it there.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rock type forms the tors found on Dartmoor?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Granite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Tors are blocks of hard granite left standing after weathering has attacked the joints around them. Dartmoor is the UK example.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Landscapes in the UK: Rivers and Coasts · Chapter 1: The UK's rocks and the restless coast</dc:title>
  <dc:subject>Geography · Year 10</dc:subject>
  <dc:creator>Dr Vitor Merissi de Carvalho</dc:creator>
  <cp:lastModifiedBy>Dr Vitor Merissi de Carvalho</cp:lastModifiedBy>
  <cp:revision>1</cp:revision>
  <dcterms:created xsi:type="dcterms:W3CDTF">2026-10-18T21:47:51Z</dcterms:created>
  <dcterms:modified xsi:type="dcterms:W3CDTF">2026-10-18T21:47:51Z</dcterms:modified>
</cp:coreProperties>
</file>