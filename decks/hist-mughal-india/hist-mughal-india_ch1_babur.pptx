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a7d8129-d0a0-fe9a-fdae-ace5c513efaa}">
          <p14:sldIdLst>
            <p14:sldId id="256"/>
          </p14:sldIdLst>
        </p14:section>
        <p14:section name="Gate" id="{9c4df0a3-2118-c669-aa2f-7c1117516bf1}">
          <p14:sldIdLst>
            <p14:sldId id="257"/>
            <p14:sldId id="258"/>
          </p14:sldIdLst>
        </p14:section>
        <p14:section name="Pre-teach" id="{2e49d708-a905-c7ad-ee51-f40d8a475310}">
          <p14:sldIdLst>
            <p14:sldId id="259"/>
          </p14:sldIdLst>
        </p14:section>
        <p14:section name="Read-along" id="{27af3a4d-049c-98a1-d82b-465406e7cadc}">
          <p14:sldIdLst>
            <p14:sldId id="260"/>
            <p14:sldId id="261"/>
          </p14:sldIdLst>
        </p14:section>
        <p14:section name="Teach" id="{4e7bfc06-82f6-ec16-e588-32b8fc5cee1b}">
          <p14:sldIdLst>
            <p14:sldId id="262"/>
            <p14:sldId id="263"/>
            <p14:sldId id="264"/>
            <p14:sldId id="265"/>
            <p14:sldId id="266"/>
          </p14:sldIdLst>
        </p14:section>
        <p14:section name="Routes" id="{62e00d1f-592a-31b1-dcec-5d0ead3568be}">
          <p14:sldIdLst>
            <p14:sldId id="267"/>
            <p14:sldId id="268"/>
            <p14:sldId id="269"/>
            <p14:sldId id="270"/>
          </p14:sldIdLst>
        </p14:section>
        <p14:section name="Close" id="{c1797987-1d38-5f56-da75-a2e222501c1f}">
          <p14:sldIdLst>
            <p14:sldId id="271"/>
          </p14:sldIdLst>
        </p14:section>
        <p14:section name="Answers" id="{4052cd1a-2bd2-b04b-8a51-12f514033555}">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Babur and the creation of the Mughal Empire. Who the Mughals were, where Babur came from, how a small army won the Battle of Panipat in 1526, and what Babur left behind.
This deck covers the department's lesson: 1 (Creation of the Mughal Empire: What was the Mughal Empire, how was it founded, and why is Babur important in the history of India?).
Read the big question aloud: "How far do you agree that the Mughal Empire achieved a legacy of greatness?"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battle did Babur win in 1526 to create the Mughal Empire?  →  D   The Battle of Panipat
2. In which year did Babur win the Battle of Panipat?  →  1526
3. Babur was the first leader to use ___ in a battle in India.  →  field artillery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The Battle of Panipat. Babur defeated Ibrahim Lodi's much larger army at Panipat in April 1526, and historians count this as the creation of the Mughal Empire.
2. 1526. The battle was fought in April 1526. By May 1526 Babur held Delhi and Agra.
3. field artillery. Babur's cannons on the battlefield, field artillery, were new to India and frightened the Lodi war elephants.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Mughal: the Muslim dynasty that ruled much of India from 1526. Example: "The Mughal emperors ruled India for more than 300 years."
• dynasty: a family of rulers who pass power from parent to child. Example: "Babur founded a dynasty that his son and grandson carried on."
• Sultan: a Muslim king. Example: "Ibrahim Lodi was the Sultan of Delhi before Babur arrived."
• field artillery: cannons used on the battlefield during a battle. Example: "Babur was the first leader to use field artillery in India."
• legacy: what a ruler leaves behind for those who come after. Example: "Babur's legacy was a new empire, but one with very little money."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Mughals were a Muslim dynasty who ruled much of India for more than 300 years.
2. Their first emperor was Babur.
3. Babur was born in Fergana, in what is now Uzbekistan.
4. His father ruled a small kingdom there.
5. When his father died, Babur took over and set out to expand it.
6. In 1504 he captured Kabul, in Afghanistan.
7. Then he set his sights on the wealth of India.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Northern India was ruled by Ibrahim Lodi, the Sultan of Delhi.
9. In April 1526 the two armies met at Panipat.
10. Babur had 12,000 men against about 70,000 soldiers and 1,000 war elephants.
11. His cannons frightened the elephants, and Babur won.
12. Historians see this victory as the moment the Mughal Empire was created.
13. Babur died in 1530, leaving an empire with very little money.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Who were the Mughals?. Say it in your own words, then check understanding with a quick question: ask a pupil from the pre-teach group first, since they met these words and ideas before the lesson. Pupils try to recall before you re-explain.
The Mughals were a Muslim dynasty, a ruling family, whose founder Babur came from Central Asia and ruled from Kabul in Afghanistan. In 1526 they conquered northern India and then spread south until, at their largest, they ruled lands that today are India, Pakistan, Afghanistan and Bangladesh.
In this unit you study the Empire from 1526, when it was founded, to 1707, the year its decline begins. The Empire lasted much longer than that: it was only replaced in 1858, when the British took over India. You will meet that story in your next topic.
The big question for the whole unit is: how far did the Mughal Empire achieve a legacy of greatness? A legacy is what a ruler or an empire leaves behind. Keep asking of every emperor, battle and building: does this add to the case for greatness, or take away from it?
Tip: Learn the two bookend dates first: 1526 (founded at Panipat) and 1707 (Aurangzeb dies and the decline begins). Every other date sits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did Babur come from?. Say it in your own words, then check understanding with a quick question: ask a pupil from the pre-teach group first, since they met these words and ideas before the lesson. Pupils try to recall before you re-explain.
Babur was born in Fergana, in what is now Uzbekistan, where his father ruled a small kingdom. When his father died, Babur took over. He did not want a small kingdom. He wanted the whole of Afghanistan and northern India.
In 1504 he captured Kabul in Afghanistan and made it his base. From Kabul he looked towards India, drawn by its huge rivers, its resources and the wealth they created. Northern India was then ruled by the Lodi dynasty, led by Ibrahim Lodi, the Sultan (king) of Delhi.
Babur attacked Delhi more than once. On the way he faced harsh weather, strong enemies and unhappiness among his own followers. He kept them with him through threats, promises and appeals, and through speeches that inspired them. Historians count this ability to hold an army together as a mark of strong leadership.
Worked example — model it step by step, thinking aloud: How many years passed between Babur capturing Kabul (1504) and his victory at Panipat (1526)? (1) Write the later date first: 1526. (2) Subtract the earlier date: 1526 − 1504. (3) The 15 hundreds cancel, so work out 26 − 4 = 22. (4) Check it makes sense: a little over twenty years of campaigning before the great victory. Answer: 22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did Babur come from?. Say it in your own words, then check understanding with a quick question: ask a pupil from the pre-teach group first, since they met these words and ideas before the lesson. Pupils try to recall before you re-explain.
Babur was born in Fergana, in what is now Uzbekistan, where his father ruled a small kingdom. When his father died, Babur took over. He did not want a small kingdom. He wanted the whole of Afghanistan and northern India.
In 1504 he captured Kabul in Afghanistan and made it his base. From Kabul he looked towards India, drawn by its huge rivers, its resources and the wealth they created. Northern India was then ruled by the Lodi dynasty, led by Ibrahim Lodi, the Sultan (king) of Delhi.
Babur attacked Delhi more than once. On the way he faced harsh weather, strong enemies and unhappiness among his own followers. He kept them with him through threats, promises and appeals, and through speeches that inspired them. Historians count this ability to hold an army together as a mark of strong leadership.
Worked example — model it step by step, thinking aloud: How many years passed between Babur capturing Kabul (1504) and his victory at Panipat (1526)? (1) Write the later date first: 1526. (2) Subtract the earlier date: 1526 − 1504. (3) The 15 hundreds cancel, so work out 26 − 4 = 22. (4) Check it makes sense: a little over twenty years of campaigning before the great victory. Answer: 22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Battle of Panipat, April 1526. Say it in your own words, then check understanding with a quick question: ask a pupil from the pre-teach group first, since they met these words and ideas before the lesson. Pupils try to recall before you re-explain.
In April 1526 Babur's army met the Lodi army at Panipat, north of Delhi. The numbers were against him: your lesson gives Babur only 12,000 men against about 70,000 soldiers and 1,000 war elephants. On paper, he should have lost.
Babur won because of his tactics and his weapons. He built a barricade so the enemy had to come to him. He used cannons on the battlefield, field artillery, the first time this had been done in India. The noise of the cannon fire terrified the Lodi war elephants, which turned and trampled their own soldiers.
Ibrahim Lodi was captured and killed as his army retreated. By May 1526 Babur held both Delhi and Agra. Historians see the victory at Panipat in 1526 as the moment the Mughal Empire was created, which is why the date matters so much.
Tip: Panipat in three words: cannons, elephants, panic. If you can explain the link between them, you can explain why a smaller army won.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Babur's legacy. Say it in your own words, then check understanding with a quick question: ask a pupil from the pre-teach group first, since they met these words and ideas before the lesson. Pupils try to recall before you re-explain.
Babur ruled as emperor from 1526 to 1530, only four years. In that time he laid the foundations of an empire that would rule India for more than 300 years. He is remembered as a modern military leader, for his use of artillery, and as a strong leader, for keeping his followers united.
But there was a weakness. Babur did not set up the administration an empire needs: the systems for collecting tax and running the land. So when he died in 1530, leaving the throne to his son Humayun, the Empire had very little money and was not safe from invaders.
When you judge Babur, hold both sides together. He was significant because he created the Empire and showed how to win in India. His legacy was weaker because he left the Empire poor and unprotected.
Tip: A legacy question wants successes AND weaknesses. One sentence on each, then say which outweighs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Babur's rise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of Babur's rise in chronological order.
Support — work through the steps with the group: (1) One step has no date: it is Babur's starting point, so it goes first. (2) Four steps have dates in brackets. Find the smallest year: that comes next. (3) Two steps share the year 1526. April comes before May. (4) Check the story makes sense: he needs a base (Kabul) before he can attack India, and he must win the battle before he can take the cities.
Parallel worked example for Support (model it, do not give the task answer): Put these steps of William of Normandy's rise in order: William is crowned King of England (December 1066); William defeats Harold at Hastings (October 1066); William becomes Duke of Normandy as a boy; the Domesday Book is made (1086). The undated step is his starting point: Duke of Normandy.; Two steps share 1066; October comes before December.; 1086 is last.. Answer: Duke of Normandy; Hastings (October 1066); crowned (December 1066); Domesday (1086).
Core — reveal the hint only on request: Start with the undated step. Where two steps share a year, use the month.
Stretch — no help; when finished: Explain why capturing Kabul in 1504 mattered for everything that came after it. What did a base in Afghanistan give Babur?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Babur's rise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of Babur's rise in chronological order.
Support — work through the steps with the group: (1) One step has no date: it is Babur's starting point, so it goes first. (2) Four steps have dates in brackets. Find the smallest year: that comes next. (3) Two steps share the year 1526. April comes before May. (4) Check the story makes sense: he needs a base (Kabul) before he can attack India, and he must win the battle before he can take the cities.
Parallel worked example for Support (model it, do not give the task answer): Put these steps of William of Normandy's rise in order: William is crowned King of England (December 1066); William defeats Harold at Hastings (October 1066); William becomes Duke of Normandy as a boy; the Domesday Book is made (1086). The undated step is his starting point: Duke of Normandy.; Two steps share 1066; October comes before December.; 1086 is last.. Answer: Duke of Normandy; Hastings (October 1066); crowned (December 1066); Domesday (1086).
Core — reveal the hint only on request: Start with the undated step. Where two steps share a year, use the month.
Stretch — no help; when finished: Explain why capturing Kabul in 1504 mattered for everything that came after it. What did a base in Afghanistan give Babur?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did the Empire start poor?.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Despite his military reputation, why do historians say Babur left the Mughal Empire in a bad way when he died in 1530?
Support — work through the steps with the group: (1) Ask: what does an empire need as well as an army? It needs money coming in. (2) Where does an empire's money come from? Taxes, collected by a system of officials. (3) Did Babur set up that system? Your lesson says he did not. (4) So what state was the treasury in when he died in 1530? Nearly empty.
Parallel worked example for Support (model it, do not give the task answer): A football club wins the cup but has no ticket office, no sponsors and no accounts. What will the club look like a year later, and why? Winning brings glory, not steady income.; Without a system for collecting money, nothing comes in.; So a year later the club is broke, however good the team was.. Answer: The club will be broke, because success on the pitch does not replace a system for bringing in money..
Core — reveal the hint only on request: Think about what Babur did NOT build, rather than any battle he fought.
Stretch — no help; when finished: Explain why a new empire with no tax system is also not safe from invaders. What links money to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did the Empire start poor?.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Despite his military reputation, why do historians say Babur left the Mughal Empire in a bad way when he died in 1530?
Support — work through the steps with the group: (1) Ask: what does an empire need as well as an army? It needs money coming in. (2) Where does an empire's money come from? Taxes, collected by a system of officials. (3) Did Babur set up that system? Your lesson says he did not. (4) So what state was the treasury in when he died in 1530? Nearly empty.
Parallel worked example for Support (model it, do not give the task answer): A football club wins the cup but has no ticket office, no sponsors and no accounts. What will the club look like a year later, and why? Winning brings glory, not steady income.; Without a system for collecting money, nothing comes in.; So a year later the club is broke, however good the team was.. Answer: The club will be broke, because success on the pitch does not replace a system for bringing in money..
Core — reveal the hint only on request: Think about what Babur did NOT build, rather than any battle he fought.
Stretch — no help; when finished: Explain why a new empire with no tax system is also not safe from invaders. What links money to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battle did Babur win in 1526 to create the Mughal Empire?
Answer: C   The Battle of Panipat. Babur defeated Ibrahim Lodi's much larger army at Panipat in April 1526, and historians count this as the creation of the Mughal Empire.
Source of this question: gate item 1 re-asked (options rotated) — this chapter has no third quick-check module.
The ebook also holds task 3, "Babur's significance",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Babur's rise in order. Reveal the answer; pupils mark their own work in a different colour, then read the "why" together. Same destination for every lane, so one answer serves the whole class.
Answer: Babur takes over his father's small kingdom in Fergana  (E); Babur captures Kabul in Afghanistan (1504)  (D); Babur defeats Ibrahim Lodi at the Battle of Panipat (April 1526)  (B); Babur takes control of Delhi and Agra (May 1526)  (C); Babur dies, leaving an empire with very little money (1530)  (A)
Why: Babur inherits Fergana; he takes Kabul in 1504 as his base; he defeats the Lodi army at Panipat in April 1526; he takes Delhi and Agra by May 1526; he dies in 1530 leaving the Empire poor.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did the Empire start poor?. Reveal the answer; pupils mark their own work in a different colour, then read the "why" together. Same destination for every lane, so one answer serves the whole class.
Answer: B   He had not set up systems such as tax collection, so the Empire had very little money
Why: Babur's reign was short and spent on conquest. He never created the administration, above all a tax collection system, that would give the Empire a steady income, so it was poor and vulnerable when Humayun inherited it in 1530.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The Battle of Panipat
Why: Babur defeated Ibrahim Lodi's much larger army at Panipat in April 1526, and historians count this as the creation of the Mughal Empire.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Mughal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Mughal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Mughal India · AQA KS3 → 8145</a:t>
            </a:r>
            <a:endParaRPr lang="en-US" sz="1800" dirty="0"/>
          </a:p>
        </p:txBody>
      </p:sp>
      <p:sp>
        <p:nvSpPr>
          <p:cNvPr id="10" name="deck-title"/>
          <p:cNvSpPr txBox="1"/>
          <p:nvPr/>
        </p:nvSpPr>
        <p:spPr>
          <a:xfrm>
            <a:off x="548640" y="245922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Babur and the creation of the Mughal Empire</a:t>
            </a:r>
            <a:endParaRPr lang="en-US" sz="3600" dirty="0"/>
          </a:p>
        </p:txBody>
      </p:sp>
      <p:sp>
        <p:nvSpPr>
          <p:cNvPr id="11" name="lessons-card"/>
          <p:cNvSpPr/>
          <p:nvPr/>
        </p:nvSpPr>
        <p:spPr>
          <a:xfrm>
            <a:off x="548640" y="4003548"/>
            <a:ext cx="5287975" cy="980440"/>
          </a:xfrm>
          <a:prstGeom prst="roundRect">
            <a:avLst>
              <a:gd name="adj" fmla="val 7461"/>
            </a:avLst>
          </a:prstGeom>
          <a:solidFill>
            <a:srgbClr val="F4F0EC"/>
          </a:solidFill>
          <a:ln/>
        </p:spPr>
      </p:sp>
      <p:sp>
        <p:nvSpPr>
          <p:cNvPr id="12" name="lessons"/>
          <p:cNvSpPr txBox="1"/>
          <p:nvPr/>
        </p:nvSpPr>
        <p:spPr>
          <a:xfrm>
            <a:off x="685800" y="409498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Creation of the Mughal Empire</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far do you agree that the Mughal Empire achieved a legacy of greatness?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battle did Babur win in 1526 to create the Mughal Empire?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Battle of Agra</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Battle of Fergana</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Battle of Kabul</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Battle of Panipat</a:t>
            </a:r>
            <a:endParaRPr lang="en-US" sz="2400" dirty="0"/>
          </a:p>
        </p:txBody>
      </p:sp>
      <p:sp>
        <p:nvSpPr>
          <p:cNvPr id="12"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did Babur win the Battle of Panipat?</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7"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Babur was the first leader to use ___ in a battle in India.</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field artillery  ·  war elephants  ·  a navy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Battle of Panipat</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battle did Babur win in 1526 to create the Mughal Empire?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Babur defeated Ibrahim Lodi's much larger army at Panipat in April 1526, and historians count this as the creation of the Mughal Empire.</a:t>
            </a:r>
            <a:endParaRPr lang="en-US" sz="18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1526</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In which year did Babur win the Battle of Panipat?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battle was fought in April 1526. By May 1526 Babur held Delhi and Agra.</a:t>
            </a:r>
            <a:endParaRPr lang="en-US" sz="22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field artillery</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Babur was the first leader to use ___ in a battle in India.</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Babur's cannons on the battlefield, field artillery, were new to India and frightened the Lodi war elephants.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7A4A1E"/>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6F3F0"/>
          </a:solidFill>
          <a:ln/>
        </p:spPr>
      </p:sp>
      <p:sp>
        <p:nvSpPr>
          <p:cNvPr id="12" name="kw-hex"/>
          <p:cNvSpPr/>
          <p:nvPr/>
        </p:nvSpPr>
        <p:spPr>
          <a:xfrm>
            <a:off x="658368" y="2135261"/>
            <a:ext cx="411480" cy="356342"/>
          </a:xfrm>
          <a:prstGeom prst="hexagon">
            <a:avLst/>
          </a:prstGeom>
          <a:solidFill>
            <a:srgbClr val="7A4A1E"/>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Mughal</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Muslim dynasty that ruled much of India from 1526</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Mughal emperors ruled India for more than 300 years.</a:t>
            </a:r>
            <a:endParaRPr lang="en-US" sz="1800" dirty="0"/>
          </a:p>
        </p:txBody>
      </p:sp>
      <p:sp>
        <p:nvSpPr>
          <p:cNvPr id="16" name="kw-row"/>
          <p:cNvSpPr/>
          <p:nvPr/>
        </p:nvSpPr>
        <p:spPr>
          <a:xfrm>
            <a:off x="548640" y="2779776"/>
            <a:ext cx="11094415" cy="786384"/>
          </a:xfrm>
          <a:prstGeom prst="roundRect">
            <a:avLst>
              <a:gd name="adj" fmla="val 6977"/>
            </a:avLst>
          </a:prstGeom>
          <a:solidFill>
            <a:srgbClr val="F8F2E9"/>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dynasty</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family of rulers who pass power from parent to child</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Babur founded a dynasty that his son and grandson carried on.</a:t>
            </a:r>
            <a:endParaRPr lang="en-US" sz="1800" dirty="0"/>
          </a:p>
        </p:txBody>
      </p:sp>
      <p:sp>
        <p:nvSpPr>
          <p:cNvPr id="21" name="kw-row"/>
          <p:cNvSpPr/>
          <p:nvPr/>
        </p:nvSpPr>
        <p:spPr>
          <a:xfrm>
            <a:off x="548640" y="3639312"/>
            <a:ext cx="11094415" cy="786384"/>
          </a:xfrm>
          <a:prstGeom prst="roundRect">
            <a:avLst>
              <a:gd name="adj" fmla="val 6977"/>
            </a:avLst>
          </a:prstGeom>
          <a:solidFill>
            <a:srgbClr val="F6F3F0"/>
          </a:solidFill>
          <a:ln/>
        </p:spPr>
      </p:sp>
      <p:sp>
        <p:nvSpPr>
          <p:cNvPr id="22" name="kw-hex"/>
          <p:cNvSpPr/>
          <p:nvPr/>
        </p:nvSpPr>
        <p:spPr>
          <a:xfrm>
            <a:off x="658368" y="3854333"/>
            <a:ext cx="411480" cy="356342"/>
          </a:xfrm>
          <a:prstGeom prst="hexagon">
            <a:avLst/>
          </a:prstGeom>
          <a:solidFill>
            <a:srgbClr val="7A4A1E"/>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Sultan</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Muslim king</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Ibrahim Lodi was the Sultan of Delhi before Babur arrived.</a:t>
            </a:r>
            <a:endParaRPr lang="en-US" sz="1800" dirty="0"/>
          </a:p>
        </p:txBody>
      </p:sp>
      <p:sp>
        <p:nvSpPr>
          <p:cNvPr id="26" name="kw-row"/>
          <p:cNvSpPr/>
          <p:nvPr/>
        </p:nvSpPr>
        <p:spPr>
          <a:xfrm>
            <a:off x="548640" y="4498848"/>
            <a:ext cx="11094415" cy="786384"/>
          </a:xfrm>
          <a:prstGeom prst="roundRect">
            <a:avLst>
              <a:gd name="adj" fmla="val 6977"/>
            </a:avLst>
          </a:prstGeom>
          <a:solidFill>
            <a:srgbClr val="F8F2E9"/>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field artillery</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cannons used on the battlefield during a battle</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Babur was the first leader to use field artillery in India.</a:t>
            </a:r>
            <a:endParaRPr lang="en-US" sz="1800" dirty="0"/>
          </a:p>
        </p:txBody>
      </p:sp>
      <p:sp>
        <p:nvSpPr>
          <p:cNvPr id="31" name="kw-row"/>
          <p:cNvSpPr/>
          <p:nvPr/>
        </p:nvSpPr>
        <p:spPr>
          <a:xfrm>
            <a:off x="548640" y="5358384"/>
            <a:ext cx="11094415" cy="786384"/>
          </a:xfrm>
          <a:prstGeom prst="roundRect">
            <a:avLst>
              <a:gd name="adj" fmla="val 6977"/>
            </a:avLst>
          </a:prstGeom>
          <a:solidFill>
            <a:srgbClr val="F6F3F0"/>
          </a:solidFill>
          <a:ln/>
        </p:spPr>
      </p:sp>
      <p:sp>
        <p:nvSpPr>
          <p:cNvPr id="32" name="kw-hex"/>
          <p:cNvSpPr/>
          <p:nvPr/>
        </p:nvSpPr>
        <p:spPr>
          <a:xfrm>
            <a:off x="658368" y="5573405"/>
            <a:ext cx="411480" cy="356342"/>
          </a:xfrm>
          <a:prstGeom prst="hexagon">
            <a:avLst/>
          </a:prstGeom>
          <a:solidFill>
            <a:srgbClr val="7A4A1E"/>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legacy</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what a ruler leaves behind for those who come after</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Babur's legacy was a new empire, but one with very little money.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Mughals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were a Muslim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dynasty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who ruled much of India for more than 300 years.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Their first emperor was Babur.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Babur was born in Fergana, in what is now Uzbekistan.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 father ruled a small kingdom there.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When his father died, Babur took over and set out to expand 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1504 he captured Kabul, in Afghanistan.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Then he set his sights on the wealth of India.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Northern India was ruled by Ibrahim Lodi,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Sultan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of Delhi.</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April 1526 the two armies met at Panipat.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Babur had 12,000 men against about 70,000 soldiers and 1,000 war elephants.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 cannons frightened the elephants, and Babur won.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Historians see this victory as the moment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Mughal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Empire was created.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Babur died in 1530, leaving an empire with very little money.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Who were the Mughals?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two bookend dates first: 1526 (founded at Panipat) and 1707 (Aurangzeb dies and the decline begins). Every other date sits between them.</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Mughals were a Muslim dynasty, a ruling family, whose founder Babur came from Central Asia and ruled from Kabul in Afghanistan.</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In this unit you study the Empire from 1526, when it was founded, to 1707, the year its decline begins.</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big question for the whole unit is: how far did the Mughal Empire achieve a legacy of greatness?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Where did Babur come from?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4F0EC"/>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Babur was born in Fergana, in what is now Uzbekistan, where his father ruled a small kingdom.</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8F2E9"/>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1504 he captured Kabul in Afghanistan and made it his base.</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4F0EC"/>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Babur attacked Delhi more than once. On the way he faced harsh weather, strong enemies and unhappiness among his own followers.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Worked example: Where did Babur come from?</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How many years passed between Babur capturing Kabul (1504) and his victory at Panipat (1526)?</a:t>
            </a:r>
            <a:endParaRPr lang="en-US" sz="2200" dirty="0"/>
          </a:p>
        </p:txBody>
      </p:sp>
      <p:sp>
        <p:nvSpPr>
          <p:cNvPr id="9" name="step-box"/>
          <p:cNvSpPr/>
          <p:nvPr/>
        </p:nvSpPr>
        <p:spPr>
          <a:xfrm>
            <a:off x="548640" y="2655824"/>
            <a:ext cx="2464994" cy="2252980"/>
          </a:xfrm>
          <a:prstGeom prst="roundRect">
            <a:avLst>
              <a:gd name="adj" fmla="val 3247"/>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the later date first: 1526.</a:t>
            </a:r>
            <a:endParaRPr lang="en-US" sz="1800" dirty="0"/>
          </a:p>
        </p:txBody>
      </p:sp>
      <p:sp>
        <p:nvSpPr>
          <p:cNvPr id="13" name="arrow"/>
          <p:cNvSpPr/>
          <p:nvPr/>
        </p:nvSpPr>
        <p:spPr>
          <a:xfrm>
            <a:off x="3086786" y="3645154"/>
            <a:ext cx="274320" cy="274320"/>
          </a:xfrm>
          <a:prstGeom prst="rightArrow">
            <a:avLst/>
          </a:prstGeom>
          <a:solidFill>
            <a:srgbClr val="B8862B"/>
          </a:solidFill>
          <a:ln/>
        </p:spPr>
      </p:sp>
      <p:sp>
        <p:nvSpPr>
          <p:cNvPr id="14" name="step-box"/>
          <p:cNvSpPr/>
          <p:nvPr/>
        </p:nvSpPr>
        <p:spPr>
          <a:xfrm>
            <a:off x="3425114" y="2655824"/>
            <a:ext cx="2464994" cy="2252980"/>
          </a:xfrm>
          <a:prstGeom prst="roundRect">
            <a:avLst>
              <a:gd name="adj" fmla="val 3247"/>
            </a:avLst>
          </a:prstGeom>
          <a:solidFill>
            <a:srgbClr val="FFFFFF"/>
          </a:solidFill>
          <a:ln w="15875">
            <a:solidFill>
              <a:srgbClr val="B69B83"/>
            </a:solidFill>
            <a:prstDash val="solid"/>
          </a:ln>
        </p:spPr>
      </p:sp>
      <p:sp>
        <p:nvSpPr>
          <p:cNvPr id="15" name="step-hex"/>
          <p:cNvSpPr/>
          <p:nvPr/>
        </p:nvSpPr>
        <p:spPr>
          <a:xfrm>
            <a:off x="3562274" y="2765552"/>
            <a:ext cx="530352" cy="459285"/>
          </a:xfrm>
          <a:prstGeom prst="hexagon">
            <a:avLst/>
          </a:prstGeom>
          <a:solidFill>
            <a:srgbClr val="7A4A1E"/>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Subtract the earlier date: 1526 − 1504.</a:t>
            </a:r>
            <a:endParaRPr lang="en-US" sz="1800" dirty="0"/>
          </a:p>
        </p:txBody>
      </p:sp>
      <p:sp>
        <p:nvSpPr>
          <p:cNvPr id="18" name="arrow"/>
          <p:cNvSpPr/>
          <p:nvPr/>
        </p:nvSpPr>
        <p:spPr>
          <a:xfrm>
            <a:off x="5963260" y="3645154"/>
            <a:ext cx="274320" cy="274320"/>
          </a:xfrm>
          <a:prstGeom prst="rightArrow">
            <a:avLst/>
          </a:prstGeom>
          <a:solidFill>
            <a:srgbClr val="B8862B"/>
          </a:solidFill>
          <a:ln/>
        </p:spPr>
      </p:sp>
      <p:sp>
        <p:nvSpPr>
          <p:cNvPr id="19" name="step-box"/>
          <p:cNvSpPr/>
          <p:nvPr/>
        </p:nvSpPr>
        <p:spPr>
          <a:xfrm>
            <a:off x="6301588" y="2655824"/>
            <a:ext cx="2464994" cy="2252980"/>
          </a:xfrm>
          <a:prstGeom prst="roundRect">
            <a:avLst>
              <a:gd name="adj" fmla="val 3247"/>
            </a:avLst>
          </a:prstGeom>
          <a:solidFill>
            <a:srgbClr val="FFFFFF"/>
          </a:solidFill>
          <a:ln w="15875">
            <a:solidFill>
              <a:srgbClr val="B69B83"/>
            </a:solidFill>
            <a:prstDash val="solid"/>
          </a:ln>
        </p:spPr>
      </p:sp>
      <p:sp>
        <p:nvSpPr>
          <p:cNvPr id="20" name="step-hex"/>
          <p:cNvSpPr/>
          <p:nvPr/>
        </p:nvSpPr>
        <p:spPr>
          <a:xfrm>
            <a:off x="6438748" y="2765552"/>
            <a:ext cx="530352" cy="459285"/>
          </a:xfrm>
          <a:prstGeom prst="hexagon">
            <a:avLst/>
          </a:prstGeom>
          <a:solidFill>
            <a:srgbClr val="7A4A1E"/>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15 hundreds cancel, so work out 26 − 4 = 22.</a:t>
            </a:r>
            <a:endParaRPr lang="en-US" sz="1800" dirty="0"/>
          </a:p>
        </p:txBody>
      </p:sp>
      <p:sp>
        <p:nvSpPr>
          <p:cNvPr id="23" name="arrow"/>
          <p:cNvSpPr/>
          <p:nvPr/>
        </p:nvSpPr>
        <p:spPr>
          <a:xfrm>
            <a:off x="8839733" y="3645154"/>
            <a:ext cx="274320" cy="274320"/>
          </a:xfrm>
          <a:prstGeom prst="rightArrow">
            <a:avLst/>
          </a:prstGeom>
          <a:solidFill>
            <a:srgbClr val="B8862B"/>
          </a:solidFill>
          <a:ln/>
        </p:spPr>
      </p:sp>
      <p:sp>
        <p:nvSpPr>
          <p:cNvPr id="24" name="step-box"/>
          <p:cNvSpPr/>
          <p:nvPr/>
        </p:nvSpPr>
        <p:spPr>
          <a:xfrm>
            <a:off x="9178061" y="2655824"/>
            <a:ext cx="2464994" cy="2252980"/>
          </a:xfrm>
          <a:prstGeom prst="roundRect">
            <a:avLst>
              <a:gd name="adj" fmla="val 3247"/>
            </a:avLst>
          </a:prstGeom>
          <a:solidFill>
            <a:srgbClr val="FFFFFF"/>
          </a:solidFill>
          <a:ln w="15875">
            <a:solidFill>
              <a:srgbClr val="B69B83"/>
            </a:solidFill>
            <a:prstDash val="solid"/>
          </a:ln>
        </p:spPr>
      </p:sp>
      <p:sp>
        <p:nvSpPr>
          <p:cNvPr id="25" name="step-hex"/>
          <p:cNvSpPr/>
          <p:nvPr/>
        </p:nvSpPr>
        <p:spPr>
          <a:xfrm>
            <a:off x="9315221" y="2765552"/>
            <a:ext cx="530352" cy="459285"/>
          </a:xfrm>
          <a:prstGeom prst="hexagon">
            <a:avLst/>
          </a:prstGeom>
          <a:solidFill>
            <a:srgbClr val="7A4A1E"/>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it makes sense: a little over twenty years of campaigning before the great victory.</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22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Battle of Panipat, April 1526</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Panipat in three words: cannons, elephants, panic. If you can explain the link between them, you can explain why a smaller army won.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April 1526 Babur's army met the Lodi army at Panipat, north of Delhi.</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Babur won because of his tactics and his weapons. He built a barricade so the enemy had to come to him.</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Ibrahim Lodi was captured and killed as his army retreated.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Babur's legacy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legacy question wants successes AND weaknesses. One sentence on each, then say which outweighs the other.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Babur ruled as emperor from 1526 to 1530, only four years.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But there was a weakness. Babur did not set up the administration an empire needs: the systems for collecting tax and running the land.</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When you judge Babur, hold both sides together. He was significant because he created the Empire and showed how to win in India.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Babur's rise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steps of Babur's rise in chronological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Babur dies, leaving an empire with very little money (1530)</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Babur defeats Ibrahim Lodi at the Battle of Panipat (April 1526)</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Babur takes control of Delhi and Agra (May 1526)</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Babur captures Kabul in Afghanistan (1504)</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Babur takes over his father's small kingdom in Fergana</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Babur's rise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Babur's rise in order</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step has no date: it is Babur's starting point, so it goes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Four steps have dates in brackets. Find the smallest year: that comes next.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steps share the year 1526. April comes before May.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story makes sense: he needs a base (Kabul) before he can attack India, and he must win the battle before he can take the cities.</a:t>
            </a:r>
            <a:endParaRPr lang="en-US" sz="1800" dirty="0"/>
          </a:p>
        </p:txBody>
      </p:sp>
      <p:sp>
        <p:nvSpPr>
          <p:cNvPr id="17" name="col-Core"/>
          <p:cNvSpPr/>
          <p:nvPr/>
        </p:nvSpPr>
        <p:spPr>
          <a:xfrm>
            <a:off x="6425403" y="2395728"/>
            <a:ext cx="2471666" cy="3749040"/>
          </a:xfrm>
          <a:prstGeom prst="roundRect">
            <a:avLst>
              <a:gd name="adj" fmla="val 2220"/>
            </a:avLst>
          </a:prstGeom>
          <a:solidFill>
            <a:srgbClr val="E4DAD1"/>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Start with the undated step. Where two steps share a year, use the month.</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capturing Kabul in 1504 mattered for everything that came after it. What did a base in Afghanistan give Babur?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Why did the Empire start poor?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Despite his military reputation, why do historians say Babur left the Mughal Empire in a bad way when he died in 1530?</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 had spent all the Empire's money building the Taj Mahal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 had not set up systems such as tax collection, so the Empire had very little money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 had banned the use of cannons, so the army fell behind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 had lost the Battle of Panipat and given Delhi back to the Lodi dynasty</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Why did the Empire start poor?</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Why did the Empire start poor?</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does an empire need as well as an army? It needs money coming in.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Where does an empire's money come from? Taxes, collected by a system of officials.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Did Babur set up that system? Your lesson says he did not.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 what state was the treasury in when he died in 1530? Nearly empty.</a:t>
            </a:r>
            <a:endParaRPr lang="en-US" sz="1800" dirty="0"/>
          </a:p>
        </p:txBody>
      </p:sp>
      <p:sp>
        <p:nvSpPr>
          <p:cNvPr id="17" name="col-Core"/>
          <p:cNvSpPr/>
          <p:nvPr/>
        </p:nvSpPr>
        <p:spPr>
          <a:xfrm>
            <a:off x="5490762" y="2395728"/>
            <a:ext cx="2938987" cy="3749040"/>
          </a:xfrm>
          <a:prstGeom prst="roundRect">
            <a:avLst>
              <a:gd name="adj" fmla="val 1867"/>
            </a:avLst>
          </a:prstGeom>
          <a:solidFill>
            <a:srgbClr val="E4DAD1"/>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Think about what Babur did NOT build, rather than any battle he fought.</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new empire with no tax system is also not safe from invaders. What links money to safety?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battle did Babur win in 1526 to create the Mughal Empire?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Battle of Fergana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Battle of Kabul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Battle of Panipat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Battle of Agra</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Babur's rise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Babur takes over his father's small kingdom in Fergana  (E)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Babur captures Kabul in Afghanistan (1504)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Babur defeats Ibrahim Lodi at the Battle of Panipat (April 1526)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Babur takes control of Delhi and Agra (May 1526)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Babur dies, leaving an empire with very little money (1530)  (A)</a:t>
            </a:r>
            <a:endParaRPr lang="en-US" sz="22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Babur inherits Fergana; he takes Kabul in 1504 as his base; he defeats the Lodi army at Panipat in April 1526; he takes Delhi and Agra by May 1526; he dies in 1530 leaving the Empire poor.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Why did the Empire start poor?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Despite his military reputation, why do historians say Babur left the Mughal Empire in a bad way when he died in 1530?</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He had not set up systems such as tax collection, so the Empire had very little money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Babur's reign was short and spent on conquest. He never created the administration, above all a tax collection system, that would give the Empire a steady income, so it was poor and vulnerable when Humayun inherited it in 1530.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battle did Babur win in 1526 to create the Mughal Empire?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The Battle of Panipat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Babur defeated Ibrahim Lodi's much larger army at Panipat in April 1526, and historians count this as the creation of the Mughal Empire.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Mughal India · Chapter 1: Babur and the creation of the Mughal Empire</dc:title>
  <dc:subject>History · Year 8</dc:subject>
  <dc:creator>Dr Vitor Merissi de Carvalho</dc:creator>
  <cp:lastModifiedBy>Dr Vitor Merissi de Carvalho</cp:lastModifiedBy>
  <cp:revision>1</cp:revision>
  <dcterms:created xsi:type="dcterms:W3CDTF">2026-10-19T06:07:56Z</dcterms:created>
  <dcterms:modified xsi:type="dcterms:W3CDTF">2026-10-19T06:07:56Z</dcterms:modified>
</cp:coreProperties>
</file>