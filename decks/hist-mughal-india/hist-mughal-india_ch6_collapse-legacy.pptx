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b548869-1bf9-29ac-5c86-7c30789434e7}">
          <p14:sldIdLst>
            <p14:sldId id="256"/>
          </p14:sldIdLst>
        </p14:section>
        <p14:section name="Gate" id="{fb3f336c-f0ae-2b19-8386-2698e868d3c3}">
          <p14:sldIdLst>
            <p14:sldId id="257"/>
            <p14:sldId id="258"/>
          </p14:sldIdLst>
        </p14:section>
        <p14:section name="Pre-teach" id="{220721f5-dc28-79ff-37d6-f9af15835a5e}">
          <p14:sldIdLst>
            <p14:sldId id="259"/>
          </p14:sldIdLst>
        </p14:section>
        <p14:section name="Read-along" id="{1f32ca0f-da5b-0f67-fd1e-7cca06ba9842}">
          <p14:sldIdLst>
            <p14:sldId id="260"/>
            <p14:sldId id="261"/>
          </p14:sldIdLst>
        </p14:section>
        <p14:section name="Teach" id="{92890f98-3bd8-8f82-1a16-3004c17c324f}">
          <p14:sldIdLst>
            <p14:sldId id="262"/>
            <p14:sldId id="263"/>
            <p14:sldId id="264"/>
            <p14:sldId id="265"/>
            <p14:sldId id="266"/>
          </p14:sldIdLst>
        </p14:section>
        <p14:section name="Routes" id="{beb887c7-82f4-7c12-c072-38c18d8fcfd3}">
          <p14:sldIdLst>
            <p14:sldId id="267"/>
            <p14:sldId id="268"/>
            <p14:sldId id="269"/>
            <p14:sldId id="270"/>
          </p14:sldIdLst>
        </p14:section>
        <p14:section name="Close" id="{4b39681d-a9b9-d71d-68a8-37a7079a9e27}">
          <p14:sldIdLst>
            <p14:sldId id="271"/>
          </p14:sldIdLst>
        </p14:section>
        <p14:section name="Answers" id="{50c68683-751a-26ec-94ed-b1d2ef74c8c8}">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Collapse after 1707, and the verdict: a legacy of greatness?. What happened to the Empire after Aurangzeb died, how to review the whole topic under three headings, how to use an interpretation and evidence, and how to write the assessment essay.
This deck covers the department's lessons: 5 (Collapse of the Empire and Review: What happened to the Mughal Empire after 1707, and was it a success or a failure?); 6 (Assessment: Did the Mughal Empire achieve a legacy of greatness?).
Read the big question aloud: "How far do you agree that the Mughal Empire achieved a legacy of greatness?"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did Aurangzeb die, the year your lesson gives as the start of the Empire's decline?  →  1707
2. By 1757, who had taken financial and political control in India?  →  B   The British East India Company
3. An ___ is a historian's view of what happened in the past and why.  →  interpretation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1707. Aurangzeb died in 1707 after a fifty-year reign. The unit's period of study runs from 1526 to 1707.
2. B   The British East India Company. Your lesson says that by 1757 the British East India Company controlled both the money and the government of India, fifty years after Aurangzeb's death.
3. interpretation. Section B of your assessment gives you an interpretation: one historian's considered view, which you test against your own knowledge.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collapse: falling apart completely. Example: "The collapse of the Empire followed Aurangzeb's death in 1707."
• East India Company: the British trading company that took control of India. Example: "By 1757 the East India Company held financial and political control."
• interpretation: a historian's view of what happened and why. Example: "An interpretation is one historian's view, and other historians may disagree."
• evidence: specific facts that prove a statement. Example: "Dates, names and numbers are the evidence that proves a statement true."
• judgement: your overall decision after weighing both sides. Example: "A conclusion must end with a clear judgement."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Aurangzeb died in 1707.
2. After his death, the Empire's weaknesses showed quickly.
3. It was too large to control and divided along religious lines.
4. Enemies surrounded it, and its army and weapons were old-fashioned.
5. By 1757 the British East India Company had taken financial and political control in India.
6. The Mughal Empire was finally replaced by the British in 1858.
7. To judge the Empire, your lesson sorts what you know into three areas.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They are rulers and leadership, the military, and culture.
9. Each area has successes and failures.
10. In your assessment you will read an interpretation written by a historian.
11. You will prove statements true with specific evidence.
12. Then you will write an essay with one paragraph for, one against, and a conclusion.
13. Your conclusion must weigh the evidence and give a clear judgement.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After Aurangzeb: from decline to collapse. Say it in your own words, then check understanding with a quick question: ask a pupil from the pre-teach group first, since they met these words and ideas before the lesson. Pupils try to recall before you re-explain.
Aurangzeb died in 1707. He left behind the largest Empire the Mughals had ever ruled, the largest army in Asia and heroic victories. But he also left a tired army, angry Hindus, a badly run and corrupt government, a bankrupt treasury, many enemies around the borders and an heir who was not ready to rule. Your homework asks you to sort that legacy into positives and negatives.
The weaknesses that had been building for fifty years now showed quickly. The Empire was too large to control from the centre, and Aurangzeb's religious policies had divided its people. Fifty years after his death, by 1757, the British East India Company had taken financial and political control in India. That story is your next topic. The Mughal Empire was finally replaced by the British in 1858.
Why was it relatively easy for Britain to take over after 1707? Put the factors together: a divided society, a government that had wasted its wealth, old-fashioned weapons and no navy to challenge British ships. The decline under Aurangzeb explains the collapse that followed.
Worked example — model it step by step, thinking aloud: How many years passed between Aurangzeb's death (1707) and the East India Company taking control (1757)? (1) Later date first: 1757. (2) Subtract: 1757 − 1707. (3) The 17 hundreds cancel: 57 − 7 = 50. (4) Check: half a century, which is about the same as the length of Aurangzeb's reign. Answer: 50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After Aurangzeb: from decline to collapse. Say it in your own words, then check understanding with a quick question: ask a pupil from the pre-teach group first, since they met these words and ideas before the lesson. Pupils try to recall before you re-explain.
Aurangzeb died in 1707. He left behind the largest Empire the Mughals had ever ruled, the largest army in Asia and heroic victories. But he also left a tired army, angry Hindus, a badly run and corrupt government, a bankrupt treasury, many enemies around the borders and an heir who was not ready to rule. Your homework asks you to sort that legacy into positives and negatives.
The weaknesses that had been building for fifty years now showed quickly. The Empire was too large to control from the centre, and Aurangzeb's religious policies had divided its people. Fifty years after his death, by 1757, the British East India Company had taken financial and political control in India. That story is your next topic. The Mughal Empire was finally replaced by the British in 1858.
Why was it relatively easy for Britain to take over after 1707? Put the factors together: a divided society, a government that had wasted its wealth, old-fashioned weapons and no navy to challenge British ships. The decline under Aurangzeb explains the collapse that followed.
Worked example — model it step by step, thinking aloud: How many years passed between Aurangzeb's death (1707) and the East India Company taking control (1757)? (1) Later date first: 1757. (2) Subtract: 1757 − 1707. (3) The 17 hundreds cancel: 57 − 7 = 50. (4) Check: half a century, which is about the same as the length of Aurangzeb's reign. Answer: 50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Reviewing the topic: three areas, successes and failures. Say it in your own words, then check understanding with a quick question: ask a pupil from the pre-teach group first, since they met these words and ideas before the lesson. Pupils try to recall before you re-explain.
To decide whether the Empire achieved a legacy of greatness, your lesson organises everything you know under three headings: Mughal rulers and leadership, the Mughal military, and Mughal culture. Under each heading you list successes and failures, then rank the three areas from most to least successful.
Rulers and leadership: good government with the Navratnas and Akbar's promotion of Hindus is a success; Aurangzeb's peasant tax and wasted conquests are failures. Military: muskets, cannons and elephants, and an Empire covering almost all of India, are successes; the Deccan war, old-fashioned weapons and no navy are failures.
Culture: architecture still standing, the Urdu language and music that united peoples are successes; Aurangzeb cancelling festivals, banning music and demolishing temples are failures. Your lesson rates each area from 5, a great Empire, down to 1, a complete failure. Decide your rating for each area and be ready to justify it.
Tip: Three headings, two columns each. If one column is empty, you have not finished reviewing.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Using an interpretation and giving evidence. Say it in your own words, then check understanding with a quick question: ask a pupil from the pre-teach group first, since they met these words and ideas before the lesson. Pupils try to recall before you re-explain.
Your assessment has four sections. Section A is multiple choice. Section B gives you an interpretation: a historian's view of Mughal India. An interpretation is one historian's considered opinion, and other historians may see it differently. To use it well, say what the historian is arguing, then test it against your own knowledge: what evidence supports the view, and what might challenge it?
Section C asks you to prove statements with specific evidence. Specific means names, dates and numbers, not general phrases. For the statement that Humayun was a weak leader, the evidence is that he was forced into exile in 1540 and took fifteen years to return. For the statement that the Mughals did not invest in new technologies, the evidence is that they bought telescopes from Europe and let their weapons grow old-fashioned.
The habit to practise is this: every time you make a claim, ask yourself which fact proves it. If you cannot name one, the claim is not yet evidence.
Tip: Specific evidence has a name, a date or a number in it. Check every sentence of your Section C answers for one of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the essay: both sides, then a judgement. Say it in your own words, then check understanding with a quick question: ask a pupil from the pre-teach group first, since they met these words and ideas before the lesson. Pupils try to recall before you re-explain.
Section D is the essay: did the Mughal Empire achieve a legacy of greatness? Write two paragraphs showing both sides of the argument, one agreeing with the statement and one disagreeing. Each paragraph follows the same success criteria you used in your progress check: a reason that uses the wording of the question, evidence from your own knowledge, an explanation of how the evidence shows greatness or its absence, and a link back to the question.
Your lesson gives you the opening words: I agree that the Mughal Empire achieved a legacy of greatness because… and I disagree that the Mughal Empire achieved a legacy of greatness because… Use them. They keep you on the question.
The essay must end in a conclusion that weighs the evidence and gives an overall judgement. Weighing means saying which side is stronger and why, not just repeating both. A conclusion that says how far, mostly or partly is already doing this.
Tip: You have 45 minutes for the whole assessment. Plan the essay in three lines (for, against, judgement) before you write a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death to takeover.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Aurangzeb died in 1707. By 1757 the East India Company had taken control in India. How many years apart are these two events?
Support — work through the steps with the group: (1) Write the later date first: 1757. (2) Subtract the earlier date: 1757 − 1707. (3) The hundreds are the same, so just do 57 − 7 = 50. (4) Check: half a century, which is about the length of one long reign.
Parallel worked example for Support (model it, do not give the task answer): The Battle of Hastings was in 1066 and the Domesday Book was made in 1086. How many years apart are they? Later date first: 1086.; Subtract: 1086 − 1066.; 86 − 66 = 20.. Answer: 20 years.
Core — reveal the hint only on request: Later date minus earlier date. Use 1757, not 1858.
Stretch — no help; when finished: Fifty years is roughly one reign. Explain why historians still say the collapse was quick, given the Empire had taken almost two centuries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Prove the statement.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assessment statement to the specific evidence that proves it true.
Support — work through the steps with the group: (1) Read each statement and underline the emperor's name, or the word Mughals if there is no name. (2) Find the evidence that mentions that emperor's story: exile is Humayun, alcohol is Jahangir, the Deccan is Aurangzeb. (3) The statement with no name is about the whole Empire: look for telescopes and weapons. (4) Check each piece of evidence has a name, a date or a number in it: that is what makes it specific.
Parallel worked example for Support (model it, do not give the task answer): Match the statement to the evidence: Babur was a skilled general; Akbar was a tolerant ruler. Choices: he welcomed all religions and promoted Hindus to power; he won Panipat in 1526 with 12,000 men against 70,000. A general's skill is proved by a battle: Panipat.; Tolerance is proved by welcoming religions.. Answer: Babur: Panipat with 12,000 against 70,000. Akbar: welcomed all religions and promoted Hindus..
Core — reveal the hint only on request: Exile, alcohol, the Deccan, telescopes: one key word for each statement.
Stretch — no help; when finished: Your assessment also lists the statement that Akbar used new technology to win battles. Your lesson's clearest technology example is Babur's cannons at Panipat. What would you need to find out before you could prove the statement about Akbar?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Prove the statement.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assessment statement to the specific evidence that proves it true.
Support — work through the steps with the group: (1) Read each statement and underline the emperor's name, or the word Mughals if there is no name. (2) Find the evidence that mentions that emperor's story: exile is Humayun, alcohol is Jahangir, the Deccan is Aurangzeb. (3) The statement with no name is about the whole Empire: look for telescopes and weapons. (4) Check each piece of evidence has a name, a date or a number in it: that is what makes it specific.
Parallel worked example for Support (model it, do not give the task answer): Match the statement to the evidence: Babur was a skilled general; Akbar was a tolerant ruler. Choices: he welcomed all religions and promoted Hindus to power; he won Panipat in 1526 with 12,000 men against 70,000. A general's skill is proved by a battle: Panipat.; Tolerance is proved by welcoming religions.. Answer: Babur: Panipat with 12,000 against 70,000. Akbar: welcomed all religions and promoted Hindus..
Core — reveal the hint only on request: Exile, alcohol, the Deccan, telescopes: one key word for each statement.
Stretch — no help; when finished: Your assessment also lists the statement that Akbar used new technology to win battles. Your lesson's clearest technology example is Babur's cannons at Panipat. What would you need to find out before you could prove the statement about Akbar?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Prove the statement.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assessment statement to the specific evidence that proves it true.
Support — work through the steps with the group: (1) Read each statement and underline the emperor's name, or the word Mughals if there is no name. (2) Find the evidence that mentions that emperor's story: exile is Humayun, alcohol is Jahangir, the Deccan is Aurangzeb. (3) The statement with no name is about the whole Empire: look for telescopes and weapons. (4) Check each piece of evidence has a name, a date or a number in it: that is what makes it specific.
Parallel worked example for Support (model it, do not give the task answer): Match the statement to the evidence: Babur was a skilled general; Akbar was a tolerant ruler. Choices: he welcomed all religions and promoted Hindus to power; he won Panipat in 1526 with 12,000 men against 70,000. A general's skill is proved by a battle: Panipat.; Tolerance is proved by welcoming religions.. Answer: Babur: Panipat with 12,000 against 70,000. Akbar: welcomed all religions and promoted Hindus..
Core — reveal the hint only on request: Exile, alcohol, the Deccan, telescopes: one key word for each statement.
Stretch — no help; when finished: Your assessment also lists the statement that Akbar used new technology to win battles. Your lesson's clearest technology example is Babur's cannons at Panipat. What would you need to find out before you could prove the statement about Akbar?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year did Aurangzeb die, the year your lesson gives as the start of the Empire's decline?
Answer: 1707. Aurangzeb died in 1707 after a fifty-year reign. The unit's period of study runs from 1526 to 1707.
Source of this question: gate item 1 re-asked (options rotated) — this chapter has no third quick-check module.
The ebook also holds task 3, "The assessment essay",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death to takeover. Reveal the answer; pupils mark their own work in a different colour, then read the "why" together. Same destination for every lane, so one answer serves the whole class.
Answer: 50 years
Why: 1757 − 1707 = 50 years. An Empire that had taken from 1526 to 1707 to reach its greatest size lost control of India within fifty years of Aurangzeb's death.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Prove the statement. Reveal the answer; pupils mark their own work in a different colour, then read the "why" together. Same destination for every lane, so one answer serves the whole class.
Answer: Humayun was a weak leader  →  A  He was forced into exile in 1540 and took fifteen years to win back his throne; Jahangir was a poor leader  →  C  He was addicted to alcohol and drugs, took little interest in war and left many in poverty; Aurangzeb focused on deadly wars instead of culture  →  B  He spent 26 years fighting in the Deccan and banned music at his court; The Mughals did not invest in new technologies  →  D  They bought telescopes from Europe and let their weapons grow old-fashioned
Why: Humayun: exile in 1540, fifteen years away. Jahangir: alcohol and drugs, no interest in war, poverty. Aurangzeb: the 26-year Deccan war and the ban on court music. The Mughals: telescopes from Europe and old-fashioned weapons.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1707
Why: Aurangzeb died in 1707 after a fifty-year reign. The unit's period of study runs from 1526 to 1707.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Mughal India · AQA KS3 → 8145</a:t>
            </a:r>
            <a:endParaRPr lang="en-US" sz="1800" dirty="0"/>
          </a:p>
        </p:txBody>
      </p:sp>
      <p:sp>
        <p:nvSpPr>
          <p:cNvPr id="10" name="deck-title"/>
          <p:cNvSpPr txBox="1"/>
          <p:nvPr/>
        </p:nvSpPr>
        <p:spPr>
          <a:xfrm>
            <a:off x="548640" y="241731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Collapse after 1707, and the verdict: a legacy of greatness?</a:t>
            </a:r>
            <a:endParaRPr lang="en-US" sz="2800" dirty="0"/>
          </a:p>
        </p:txBody>
      </p:sp>
      <p:sp>
        <p:nvSpPr>
          <p:cNvPr id="11" name="lessons-card"/>
          <p:cNvSpPr/>
          <p:nvPr/>
        </p:nvSpPr>
        <p:spPr>
          <a:xfrm>
            <a:off x="548640" y="3697478"/>
            <a:ext cx="5287975" cy="1328420"/>
          </a:xfrm>
          <a:prstGeom prst="roundRect">
            <a:avLst>
              <a:gd name="adj" fmla="val 5507"/>
            </a:avLst>
          </a:prstGeom>
          <a:solidFill>
            <a:srgbClr val="F4F0EC"/>
          </a:solidFill>
          <a:ln/>
        </p:spPr>
      </p:sp>
      <p:sp>
        <p:nvSpPr>
          <p:cNvPr id="12" name="lessons"/>
          <p:cNvSpPr txBox="1"/>
          <p:nvPr/>
        </p:nvSpPr>
        <p:spPr>
          <a:xfrm>
            <a:off x="685800" y="378891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Collapse of the Empire and Review</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Assessment</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far do you agree that the Mughal Empire achieved a legacy of greatness?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Aurangzeb die, the year your lesson gives as the start of the Empire's decline?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By 1757, who had taken financial and political control in India?</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Lodi dynasty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British East India Company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Navratnas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Portuguese navy</a:t>
            </a:r>
            <a:endParaRPr lang="en-US" sz="2200" dirty="0"/>
          </a:p>
        </p:txBody>
      </p:sp>
      <p:sp>
        <p:nvSpPr>
          <p:cNvPr id="17"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An ___ is a historian's view of what happened in the past and why.</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interpretation  ·  artefact  ·  inference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1707</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did Aurangzeb die, the year your lesson gives as the start of the Empire's decline?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Aurangzeb died in 1707 after a fifty-year reign. The unit's period of study runs from 1526 to 1707.</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EE3CD"/>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British East India Company</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By 1757, who had taken financial and political control in India?</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Your lesson says that by 1757 the British East India Company controlled both the money and the government of India, fifty years after Aurangzeb's death.</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interpretation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An ___ is a historian's view of what happened in the past and why.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Section B of your assessment gives you an interpretation: one historian's considered view, which you test against your own knowledge.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65861"/>
          </a:xfrm>
          <a:prstGeom prst="roundRect">
            <a:avLst>
              <a:gd name="adj" fmla="val 7164"/>
            </a:avLst>
          </a:prstGeom>
          <a:solidFill>
            <a:srgbClr val="F6F3F0"/>
          </a:solidFill>
          <a:ln/>
        </p:spPr>
      </p:sp>
      <p:sp>
        <p:nvSpPr>
          <p:cNvPr id="12" name="kw-hex"/>
          <p:cNvSpPr/>
          <p:nvPr/>
        </p:nvSpPr>
        <p:spPr>
          <a:xfrm>
            <a:off x="658368" y="2125000"/>
            <a:ext cx="411480" cy="356342"/>
          </a:xfrm>
          <a:prstGeom prst="hexagon">
            <a:avLst/>
          </a:prstGeom>
          <a:solidFill>
            <a:srgbClr val="7A4A1E"/>
          </a:solidFill>
          <a:ln/>
        </p:spPr>
      </p:sp>
      <p:sp>
        <p:nvSpPr>
          <p:cNvPr id="13" name="kw-cell"/>
          <p:cNvSpPr txBox="1"/>
          <p:nvPr/>
        </p:nvSpPr>
        <p:spPr>
          <a:xfrm>
            <a:off x="1143000" y="1920240"/>
            <a:ext cx="2331720" cy="76586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collapse</a:t>
            </a:r>
            <a:endParaRPr lang="en-US" sz="2000" dirty="0"/>
          </a:p>
        </p:txBody>
      </p:sp>
      <p:sp>
        <p:nvSpPr>
          <p:cNvPr id="14" name="kw-cell"/>
          <p:cNvSpPr txBox="1"/>
          <p:nvPr/>
        </p:nvSpPr>
        <p:spPr>
          <a:xfrm>
            <a:off x="3657600" y="1920240"/>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falling apart completely</a:t>
            </a:r>
            <a:endParaRPr lang="en-US" sz="1800" dirty="0"/>
          </a:p>
        </p:txBody>
      </p:sp>
      <p:sp>
        <p:nvSpPr>
          <p:cNvPr id="15" name="kw-cell"/>
          <p:cNvSpPr txBox="1"/>
          <p:nvPr/>
        </p:nvSpPr>
        <p:spPr>
          <a:xfrm>
            <a:off x="7315200" y="1920240"/>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collapse of the Empire followed Aurangzeb's death in 1707.</a:t>
            </a:r>
            <a:endParaRPr lang="en-US" sz="1800" dirty="0"/>
          </a:p>
        </p:txBody>
      </p:sp>
      <p:sp>
        <p:nvSpPr>
          <p:cNvPr id="16" name="kw-row"/>
          <p:cNvSpPr/>
          <p:nvPr/>
        </p:nvSpPr>
        <p:spPr>
          <a:xfrm>
            <a:off x="548640" y="2759253"/>
            <a:ext cx="11094415" cy="868477"/>
          </a:xfrm>
          <a:prstGeom prst="roundRect">
            <a:avLst>
              <a:gd name="adj" fmla="val 6317"/>
            </a:avLst>
          </a:prstGeom>
          <a:solidFill>
            <a:srgbClr val="F8F2E9"/>
          </a:solidFill>
          <a:ln/>
        </p:spPr>
      </p:sp>
      <p:sp>
        <p:nvSpPr>
          <p:cNvPr id="17" name="kw-hex"/>
          <p:cNvSpPr/>
          <p:nvPr/>
        </p:nvSpPr>
        <p:spPr>
          <a:xfrm>
            <a:off x="658368" y="3015320"/>
            <a:ext cx="411480" cy="356342"/>
          </a:xfrm>
          <a:prstGeom prst="hexagon">
            <a:avLst/>
          </a:prstGeom>
          <a:solidFill>
            <a:srgbClr val="B8862B"/>
          </a:solidFill>
          <a:ln/>
        </p:spPr>
      </p:sp>
      <p:sp>
        <p:nvSpPr>
          <p:cNvPr id="18" name="kw-cell"/>
          <p:cNvSpPr txBox="1"/>
          <p:nvPr/>
        </p:nvSpPr>
        <p:spPr>
          <a:xfrm>
            <a:off x="1143000" y="2759253"/>
            <a:ext cx="2331720" cy="868477"/>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East India Company</a:t>
            </a:r>
            <a:endParaRPr lang="en-US" sz="2000" dirty="0"/>
          </a:p>
        </p:txBody>
      </p:sp>
      <p:sp>
        <p:nvSpPr>
          <p:cNvPr id="19" name="kw-cell"/>
          <p:cNvSpPr txBox="1"/>
          <p:nvPr/>
        </p:nvSpPr>
        <p:spPr>
          <a:xfrm>
            <a:off x="3657600" y="2759253"/>
            <a:ext cx="3474720" cy="8684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British trading company that took control of India</a:t>
            </a:r>
            <a:endParaRPr lang="en-US" sz="1800" dirty="0"/>
          </a:p>
        </p:txBody>
      </p:sp>
      <p:sp>
        <p:nvSpPr>
          <p:cNvPr id="20" name="kw-cell"/>
          <p:cNvSpPr txBox="1"/>
          <p:nvPr/>
        </p:nvSpPr>
        <p:spPr>
          <a:xfrm>
            <a:off x="7315200" y="2759253"/>
            <a:ext cx="4236415" cy="86847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By 1757 the East India Company held financial and political control.</a:t>
            </a:r>
            <a:endParaRPr lang="en-US" sz="1800" dirty="0"/>
          </a:p>
        </p:txBody>
      </p:sp>
      <p:sp>
        <p:nvSpPr>
          <p:cNvPr id="21" name="kw-row"/>
          <p:cNvSpPr/>
          <p:nvPr/>
        </p:nvSpPr>
        <p:spPr>
          <a:xfrm>
            <a:off x="548640" y="3700882"/>
            <a:ext cx="11094415" cy="765861"/>
          </a:xfrm>
          <a:prstGeom prst="roundRect">
            <a:avLst>
              <a:gd name="adj" fmla="val 7164"/>
            </a:avLst>
          </a:prstGeom>
          <a:solidFill>
            <a:srgbClr val="F6F3F0"/>
          </a:solidFill>
          <a:ln/>
        </p:spPr>
      </p:sp>
      <p:sp>
        <p:nvSpPr>
          <p:cNvPr id="22" name="kw-hex"/>
          <p:cNvSpPr/>
          <p:nvPr/>
        </p:nvSpPr>
        <p:spPr>
          <a:xfrm>
            <a:off x="658368" y="3905641"/>
            <a:ext cx="411480" cy="356342"/>
          </a:xfrm>
          <a:prstGeom prst="hexagon">
            <a:avLst/>
          </a:prstGeom>
          <a:solidFill>
            <a:srgbClr val="7A4A1E"/>
          </a:solidFill>
          <a:ln/>
        </p:spPr>
      </p:sp>
      <p:sp>
        <p:nvSpPr>
          <p:cNvPr id="23" name="kw-cell"/>
          <p:cNvSpPr txBox="1"/>
          <p:nvPr/>
        </p:nvSpPr>
        <p:spPr>
          <a:xfrm>
            <a:off x="1143000" y="3700882"/>
            <a:ext cx="2331720" cy="76586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interpretation</a:t>
            </a:r>
            <a:endParaRPr lang="en-US" sz="2000" dirty="0"/>
          </a:p>
        </p:txBody>
      </p:sp>
      <p:sp>
        <p:nvSpPr>
          <p:cNvPr id="24" name="kw-cell"/>
          <p:cNvSpPr txBox="1"/>
          <p:nvPr/>
        </p:nvSpPr>
        <p:spPr>
          <a:xfrm>
            <a:off x="3657600" y="3700882"/>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historian's view of what happened and why</a:t>
            </a:r>
            <a:endParaRPr lang="en-US" sz="1800" dirty="0"/>
          </a:p>
        </p:txBody>
      </p:sp>
      <p:sp>
        <p:nvSpPr>
          <p:cNvPr id="25" name="kw-cell"/>
          <p:cNvSpPr txBox="1"/>
          <p:nvPr/>
        </p:nvSpPr>
        <p:spPr>
          <a:xfrm>
            <a:off x="7315200" y="3700882"/>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An interpretation is one historian's view, and other historians may disagree.</a:t>
            </a:r>
            <a:endParaRPr lang="en-US" sz="1800" dirty="0"/>
          </a:p>
        </p:txBody>
      </p:sp>
      <p:sp>
        <p:nvSpPr>
          <p:cNvPr id="26" name="kw-row"/>
          <p:cNvSpPr/>
          <p:nvPr/>
        </p:nvSpPr>
        <p:spPr>
          <a:xfrm>
            <a:off x="548640" y="4539894"/>
            <a:ext cx="11094415" cy="765861"/>
          </a:xfrm>
          <a:prstGeom prst="roundRect">
            <a:avLst>
              <a:gd name="adj" fmla="val 7164"/>
            </a:avLst>
          </a:prstGeom>
          <a:solidFill>
            <a:srgbClr val="F8F2E9"/>
          </a:solidFill>
          <a:ln/>
        </p:spPr>
      </p:sp>
      <p:sp>
        <p:nvSpPr>
          <p:cNvPr id="27" name="kw-hex"/>
          <p:cNvSpPr/>
          <p:nvPr/>
        </p:nvSpPr>
        <p:spPr>
          <a:xfrm>
            <a:off x="658368" y="4744654"/>
            <a:ext cx="411480" cy="356342"/>
          </a:xfrm>
          <a:prstGeom prst="hexagon">
            <a:avLst/>
          </a:prstGeom>
          <a:solidFill>
            <a:srgbClr val="B8862B"/>
          </a:solidFill>
          <a:ln/>
        </p:spPr>
      </p:sp>
      <p:sp>
        <p:nvSpPr>
          <p:cNvPr id="28" name="kw-cell"/>
          <p:cNvSpPr txBox="1"/>
          <p:nvPr/>
        </p:nvSpPr>
        <p:spPr>
          <a:xfrm>
            <a:off x="1143000" y="4539894"/>
            <a:ext cx="2331720" cy="76586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evidence</a:t>
            </a:r>
            <a:endParaRPr lang="en-US" sz="2000" dirty="0"/>
          </a:p>
        </p:txBody>
      </p:sp>
      <p:sp>
        <p:nvSpPr>
          <p:cNvPr id="29" name="kw-cell"/>
          <p:cNvSpPr txBox="1"/>
          <p:nvPr/>
        </p:nvSpPr>
        <p:spPr>
          <a:xfrm>
            <a:off x="3657600" y="4539894"/>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specific facts that prove a statement</a:t>
            </a:r>
            <a:endParaRPr lang="en-US" sz="1800" dirty="0"/>
          </a:p>
        </p:txBody>
      </p:sp>
      <p:sp>
        <p:nvSpPr>
          <p:cNvPr id="30" name="kw-cell"/>
          <p:cNvSpPr txBox="1"/>
          <p:nvPr/>
        </p:nvSpPr>
        <p:spPr>
          <a:xfrm>
            <a:off x="7315200" y="4539894"/>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Dates, names and numbers are the evidence that proves a statement true.</a:t>
            </a:r>
            <a:endParaRPr lang="en-US" sz="1800" dirty="0"/>
          </a:p>
        </p:txBody>
      </p:sp>
      <p:sp>
        <p:nvSpPr>
          <p:cNvPr id="31" name="kw-row"/>
          <p:cNvSpPr/>
          <p:nvPr/>
        </p:nvSpPr>
        <p:spPr>
          <a:xfrm>
            <a:off x="548640" y="5378907"/>
            <a:ext cx="11094415" cy="765861"/>
          </a:xfrm>
          <a:prstGeom prst="roundRect">
            <a:avLst>
              <a:gd name="adj" fmla="val 7164"/>
            </a:avLst>
          </a:prstGeom>
          <a:solidFill>
            <a:srgbClr val="F6F3F0"/>
          </a:solidFill>
          <a:ln/>
        </p:spPr>
      </p:sp>
      <p:sp>
        <p:nvSpPr>
          <p:cNvPr id="32" name="kw-hex"/>
          <p:cNvSpPr/>
          <p:nvPr/>
        </p:nvSpPr>
        <p:spPr>
          <a:xfrm>
            <a:off x="658368" y="5583667"/>
            <a:ext cx="411480" cy="356342"/>
          </a:xfrm>
          <a:prstGeom prst="hexagon">
            <a:avLst/>
          </a:prstGeom>
          <a:solidFill>
            <a:srgbClr val="7A4A1E"/>
          </a:solidFill>
          <a:ln/>
        </p:spPr>
      </p:sp>
      <p:sp>
        <p:nvSpPr>
          <p:cNvPr id="33" name="kw-cell"/>
          <p:cNvSpPr txBox="1"/>
          <p:nvPr/>
        </p:nvSpPr>
        <p:spPr>
          <a:xfrm>
            <a:off x="1143000" y="5378907"/>
            <a:ext cx="2331720" cy="76586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judgement</a:t>
            </a:r>
            <a:endParaRPr lang="en-US" sz="2000" dirty="0"/>
          </a:p>
        </p:txBody>
      </p:sp>
      <p:sp>
        <p:nvSpPr>
          <p:cNvPr id="34" name="kw-cell"/>
          <p:cNvSpPr txBox="1"/>
          <p:nvPr/>
        </p:nvSpPr>
        <p:spPr>
          <a:xfrm>
            <a:off x="3657600" y="5378907"/>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overall decision after weighing both sides</a:t>
            </a:r>
            <a:endParaRPr lang="en-US" sz="1800" dirty="0"/>
          </a:p>
        </p:txBody>
      </p:sp>
      <p:sp>
        <p:nvSpPr>
          <p:cNvPr id="35" name="kw-cell"/>
          <p:cNvSpPr txBox="1"/>
          <p:nvPr/>
        </p:nvSpPr>
        <p:spPr>
          <a:xfrm>
            <a:off x="7315200" y="5378907"/>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conclusion must end with a clear judgement.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Aurangzeb died in 1707.</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After his death, the Empire's weaknesses showed quickly.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was too large to control and divided along religious lines.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Enemies surrounded it, and its army and weapons were old-fashioned.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By 1757 the British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East India Company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had taken financial and political control in India.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Mughal Empire was finally replaced by the British in 1858.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judge the Empire, your lesson sorts what you know into three areas.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are rulers and leadership, the military, and culture.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Each area has successes and failures.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your assessment you will read an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interpretation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written by a historian.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will prove statements true with specific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evidence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you will write an essay with one paragraph for, one against, and a conclusion.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Your conclusion must weigh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evidence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give a clear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judgement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After Aurangzeb: from decline to collapse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4F0EC"/>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Aurangzeb died in 1707. He left behind the largest Empire the Mughals had ever ruled, the largest army in Asia and heroic victories.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weaknesses that had been building for fifty years now showed quickly.</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4F0EC"/>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Why was it relatively easy for Britain to take over after 1707?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After Aurangzeb: from decline to collapse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How many years passed between Aurangzeb's death (1707) and the East India Company taking control (1757)?</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Later date first: 1757.</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3562274" y="2765552"/>
            <a:ext cx="530352" cy="459285"/>
          </a:xfrm>
          <a:prstGeom prst="hexagon">
            <a:avLst/>
          </a:prstGeom>
          <a:solidFill>
            <a:srgbClr val="7A4A1E"/>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Subtract: 1757 − 1707.</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B69B83"/>
            </a:solidFill>
            <a:prstDash val="solid"/>
          </a:ln>
        </p:spPr>
      </p:sp>
      <p:sp>
        <p:nvSpPr>
          <p:cNvPr id="20" name="step-hex"/>
          <p:cNvSpPr/>
          <p:nvPr/>
        </p:nvSpPr>
        <p:spPr>
          <a:xfrm>
            <a:off x="6438748" y="2765552"/>
            <a:ext cx="530352" cy="459285"/>
          </a:xfrm>
          <a:prstGeom prst="hexagon">
            <a:avLst/>
          </a:prstGeom>
          <a:solidFill>
            <a:srgbClr val="7A4A1E"/>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17 hundreds cancel: 57 − 7 = 50.</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B69B83"/>
            </a:solidFill>
            <a:prstDash val="solid"/>
          </a:ln>
        </p:spPr>
      </p:sp>
      <p:sp>
        <p:nvSpPr>
          <p:cNvPr id="25" name="step-hex"/>
          <p:cNvSpPr/>
          <p:nvPr/>
        </p:nvSpPr>
        <p:spPr>
          <a:xfrm>
            <a:off x="9315221" y="2765552"/>
            <a:ext cx="530352" cy="459285"/>
          </a:xfrm>
          <a:prstGeom prst="hexagon">
            <a:avLst/>
          </a:prstGeom>
          <a:solidFill>
            <a:srgbClr val="7A4A1E"/>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half a century, which is about the same as the length of Aurangzeb's reign.</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50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Reviewing the topic: three areas, successes and failures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headings, two columns each. If one column is empty, you have not finished reviewing.</a:t>
            </a:r>
            <a:endParaRPr lang="en-US" sz="1800" dirty="0"/>
          </a:p>
        </p:txBody>
      </p:sp>
      <p:sp>
        <p:nvSpPr>
          <p:cNvPr id="11" name="point-card"/>
          <p:cNvSpPr/>
          <p:nvPr/>
        </p:nvSpPr>
        <p:spPr>
          <a:xfrm>
            <a:off x="548640" y="1389888"/>
            <a:ext cx="3515258" cy="3964940"/>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To decide whether the Empire achieved a legacy of greatness, your lesson organises everything you know under three headings: Mughal rulers and leadership, the Mughal military, and Mughal culture.</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Rulers and leadership: good government with the Navratnas and Akbar's promotion of Hindus is a success; Aurangzeb's peasant tax and wasted conquests are failures.</a:t>
            </a:r>
            <a:endParaRPr lang="en-US" sz="1800" dirty="0"/>
          </a:p>
        </p:txBody>
      </p:sp>
      <p:sp>
        <p:nvSpPr>
          <p:cNvPr id="19" name="point-card"/>
          <p:cNvSpPr/>
          <p:nvPr/>
        </p:nvSpPr>
        <p:spPr>
          <a:xfrm>
            <a:off x="8127797" y="1389888"/>
            <a:ext cx="3515258" cy="3964940"/>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Culture: architecture still standing, the Urdu language and music that united peoples are successes; Aurangzeb cancelling festivals, banning music and demolishing temples are failures.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Using an interpretation and giving evidence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Specific evidence has a name, a date or a number in it. Check every sentence of your Section C answers for one of the three.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assessment has four sections. Section A is multiple choice.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Section C asks you to prove statements with specific evidence.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habit to practise is this: every time you make a claim, ask yourself which fact proves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Writing the essay: both sides, then a judgement</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You have 45 minutes for the whole assessment. Plan the essay in three lines (for, against, judgement) before you write a word.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Section D is the essay: did the Mughal Empire achieve a legacy of greatness?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gives you the opening words: I agree that the Mughal Empire achieved a legacy of greatness because… and I disagree that the Mughal Empire achieved a legacy of greatness because… Use them.</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essay must end in a conclusion that weighs the evidence and gives an overall judgement.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From death to takeover</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Aurangzeb died in 1707. By 1757 the East India Company had taken control in India. How many years apart are these two events?</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4F0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date first: 1757.</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earlier date: 1757 − 1707.</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hundreds are the same, so just do 57 − 7 = 50.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half a century, which is about the length of one long reign.</a:t>
            </a:r>
            <a:endParaRPr lang="en-US" sz="1800" dirty="0"/>
          </a:p>
        </p:txBody>
      </p:sp>
      <p:sp>
        <p:nvSpPr>
          <p:cNvPr id="17" name="col-Core"/>
          <p:cNvSpPr/>
          <p:nvPr/>
        </p:nvSpPr>
        <p:spPr>
          <a:xfrm>
            <a:off x="5490762" y="2948940"/>
            <a:ext cx="2938987" cy="3195828"/>
          </a:xfrm>
          <a:prstGeom prst="roundRect">
            <a:avLst>
              <a:gd name="adj" fmla="val 1867"/>
            </a:avLst>
          </a:prstGeom>
          <a:solidFill>
            <a:srgbClr val="E4DAD1"/>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date minus earlier date. Use 1757, not 1858.</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7A4A1E"/>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Fifty years is roughly one reign. Explain why historians still say the collapse was quick, given the Empire had taken almost two centuries to build.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Prove the statement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assessment statement to the specific evidence that proves it true.</a:t>
            </a:r>
            <a:endParaRPr lang="en-US" sz="2400" dirty="0"/>
          </a:p>
        </p:txBody>
      </p:sp>
      <p:sp>
        <p:nvSpPr>
          <p:cNvPr id="11" name="match-card"/>
          <p:cNvSpPr/>
          <p:nvPr/>
        </p:nvSpPr>
        <p:spPr>
          <a:xfrm>
            <a:off x="777240" y="2672080"/>
            <a:ext cx="3859974" cy="753872"/>
          </a:xfrm>
          <a:prstGeom prst="roundRect">
            <a:avLst>
              <a:gd name="adj" fmla="val 9704"/>
            </a:avLst>
          </a:prstGeom>
          <a:solidFill>
            <a:srgbClr val="F6F3F0"/>
          </a:solidFill>
          <a:ln/>
        </p:spPr>
      </p:sp>
      <p:sp>
        <p:nvSpPr>
          <p:cNvPr id="12" name="match-hex"/>
          <p:cNvSpPr/>
          <p:nvPr/>
        </p:nvSpPr>
        <p:spPr>
          <a:xfrm>
            <a:off x="850392" y="2882723"/>
            <a:ext cx="384048" cy="332586"/>
          </a:xfrm>
          <a:prstGeom prst="hexagon">
            <a:avLst/>
          </a:prstGeom>
          <a:solidFill>
            <a:srgbClr val="7A4A1E"/>
          </a:solidFill>
          <a:ln/>
        </p:spPr>
      </p:sp>
      <p:sp>
        <p:nvSpPr>
          <p:cNvPr id="13" name="match-hex-label"/>
          <p:cNvSpPr txBox="1"/>
          <p:nvPr/>
        </p:nvSpPr>
        <p:spPr>
          <a:xfrm>
            <a:off x="850392"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265614"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Humayun was a weak leader</a:t>
            </a:r>
            <a:endParaRPr lang="en-US" sz="1800" dirty="0"/>
          </a:p>
        </p:txBody>
      </p:sp>
      <p:sp>
        <p:nvSpPr>
          <p:cNvPr id="15" name="match-card"/>
          <p:cNvSpPr/>
          <p:nvPr/>
        </p:nvSpPr>
        <p:spPr>
          <a:xfrm>
            <a:off x="5002974" y="2672080"/>
            <a:ext cx="6411482" cy="753872"/>
          </a:xfrm>
          <a:prstGeom prst="roundRect">
            <a:avLst>
              <a:gd name="adj" fmla="val 9704"/>
            </a:avLst>
          </a:prstGeom>
          <a:solidFill>
            <a:srgbClr val="F8F2E9"/>
          </a:solidFill>
          <a:ln/>
        </p:spPr>
      </p:sp>
      <p:sp>
        <p:nvSpPr>
          <p:cNvPr id="16" name="match-hex"/>
          <p:cNvSpPr/>
          <p:nvPr/>
        </p:nvSpPr>
        <p:spPr>
          <a:xfrm>
            <a:off x="5076126" y="2882723"/>
            <a:ext cx="384048" cy="332586"/>
          </a:xfrm>
          <a:prstGeom prst="hexagon">
            <a:avLst/>
          </a:prstGeom>
          <a:solidFill>
            <a:srgbClr val="B8862B"/>
          </a:solidFill>
          <a:ln/>
        </p:spPr>
      </p:sp>
      <p:sp>
        <p:nvSpPr>
          <p:cNvPr id="17" name="match-hex-label"/>
          <p:cNvSpPr txBox="1"/>
          <p:nvPr/>
        </p:nvSpPr>
        <p:spPr>
          <a:xfrm>
            <a:off x="5076126"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524182" y="2672080"/>
            <a:ext cx="5817122"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 was forced into exile in 1540 and took fifteen years to win back his throne</a:t>
            </a:r>
            <a:endParaRPr lang="en-US" sz="1800" dirty="0"/>
          </a:p>
        </p:txBody>
      </p:sp>
      <p:sp>
        <p:nvSpPr>
          <p:cNvPr id="19" name="match-card"/>
          <p:cNvSpPr/>
          <p:nvPr/>
        </p:nvSpPr>
        <p:spPr>
          <a:xfrm>
            <a:off x="777240" y="3517392"/>
            <a:ext cx="3859974" cy="753872"/>
          </a:xfrm>
          <a:prstGeom prst="roundRect">
            <a:avLst>
              <a:gd name="adj" fmla="val 9704"/>
            </a:avLst>
          </a:prstGeom>
          <a:solidFill>
            <a:srgbClr val="F6F3F0"/>
          </a:solidFill>
          <a:ln/>
        </p:spPr>
      </p:sp>
      <p:sp>
        <p:nvSpPr>
          <p:cNvPr id="20" name="match-hex"/>
          <p:cNvSpPr/>
          <p:nvPr/>
        </p:nvSpPr>
        <p:spPr>
          <a:xfrm>
            <a:off x="850392" y="3728035"/>
            <a:ext cx="384048" cy="332586"/>
          </a:xfrm>
          <a:prstGeom prst="hexagon">
            <a:avLst/>
          </a:prstGeom>
          <a:solidFill>
            <a:srgbClr val="7A4A1E"/>
          </a:solidFill>
          <a:ln/>
        </p:spPr>
      </p:sp>
      <p:sp>
        <p:nvSpPr>
          <p:cNvPr id="21" name="match-hex-label"/>
          <p:cNvSpPr txBox="1"/>
          <p:nvPr/>
        </p:nvSpPr>
        <p:spPr>
          <a:xfrm>
            <a:off x="850392"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17392"/>
            <a:ext cx="3265614"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Jahangir was a poor leader</a:t>
            </a:r>
            <a:endParaRPr lang="en-US" sz="1800" dirty="0"/>
          </a:p>
        </p:txBody>
      </p:sp>
      <p:sp>
        <p:nvSpPr>
          <p:cNvPr id="23" name="match-card"/>
          <p:cNvSpPr/>
          <p:nvPr/>
        </p:nvSpPr>
        <p:spPr>
          <a:xfrm>
            <a:off x="5002974" y="3517392"/>
            <a:ext cx="6411482" cy="753872"/>
          </a:xfrm>
          <a:prstGeom prst="roundRect">
            <a:avLst>
              <a:gd name="adj" fmla="val 9704"/>
            </a:avLst>
          </a:prstGeom>
          <a:solidFill>
            <a:srgbClr val="F8F2E9"/>
          </a:solidFill>
          <a:ln/>
        </p:spPr>
      </p:sp>
      <p:sp>
        <p:nvSpPr>
          <p:cNvPr id="24" name="match-hex"/>
          <p:cNvSpPr/>
          <p:nvPr/>
        </p:nvSpPr>
        <p:spPr>
          <a:xfrm>
            <a:off x="5076126" y="3728035"/>
            <a:ext cx="384048" cy="332586"/>
          </a:xfrm>
          <a:prstGeom prst="hexagon">
            <a:avLst/>
          </a:prstGeom>
          <a:solidFill>
            <a:srgbClr val="B8862B"/>
          </a:solidFill>
          <a:ln/>
        </p:spPr>
      </p:sp>
      <p:sp>
        <p:nvSpPr>
          <p:cNvPr id="25" name="match-hex-label"/>
          <p:cNvSpPr txBox="1"/>
          <p:nvPr/>
        </p:nvSpPr>
        <p:spPr>
          <a:xfrm>
            <a:off x="5076126"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524182" y="3517392"/>
            <a:ext cx="5817122"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 spent 26 years fighting in the Deccan and banned music at his court</a:t>
            </a:r>
            <a:endParaRPr lang="en-US" sz="1800" dirty="0"/>
          </a:p>
        </p:txBody>
      </p:sp>
      <p:sp>
        <p:nvSpPr>
          <p:cNvPr id="27" name="match-card"/>
          <p:cNvSpPr/>
          <p:nvPr/>
        </p:nvSpPr>
        <p:spPr>
          <a:xfrm>
            <a:off x="777240" y="4362704"/>
            <a:ext cx="3859974" cy="753872"/>
          </a:xfrm>
          <a:prstGeom prst="roundRect">
            <a:avLst>
              <a:gd name="adj" fmla="val 9704"/>
            </a:avLst>
          </a:prstGeom>
          <a:solidFill>
            <a:srgbClr val="F6F3F0"/>
          </a:solidFill>
          <a:ln/>
        </p:spPr>
      </p:sp>
      <p:sp>
        <p:nvSpPr>
          <p:cNvPr id="28" name="match-hex"/>
          <p:cNvSpPr/>
          <p:nvPr/>
        </p:nvSpPr>
        <p:spPr>
          <a:xfrm>
            <a:off x="850392" y="4573347"/>
            <a:ext cx="384048" cy="332586"/>
          </a:xfrm>
          <a:prstGeom prst="hexagon">
            <a:avLst/>
          </a:prstGeom>
          <a:solidFill>
            <a:srgbClr val="7A4A1E"/>
          </a:solidFill>
          <a:ln/>
        </p:spPr>
      </p:sp>
      <p:sp>
        <p:nvSpPr>
          <p:cNvPr id="29" name="match-hex-label"/>
          <p:cNvSpPr txBox="1"/>
          <p:nvPr/>
        </p:nvSpPr>
        <p:spPr>
          <a:xfrm>
            <a:off x="850392"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362704"/>
            <a:ext cx="3265614"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Aurangzeb focused on deadly wars instead of culture</a:t>
            </a:r>
            <a:endParaRPr lang="en-US" sz="1800" dirty="0"/>
          </a:p>
        </p:txBody>
      </p:sp>
      <p:sp>
        <p:nvSpPr>
          <p:cNvPr id="31" name="match-card"/>
          <p:cNvSpPr/>
          <p:nvPr/>
        </p:nvSpPr>
        <p:spPr>
          <a:xfrm>
            <a:off x="5002974" y="4362704"/>
            <a:ext cx="6411482" cy="753872"/>
          </a:xfrm>
          <a:prstGeom prst="roundRect">
            <a:avLst>
              <a:gd name="adj" fmla="val 9704"/>
            </a:avLst>
          </a:prstGeom>
          <a:solidFill>
            <a:srgbClr val="F8F2E9"/>
          </a:solidFill>
          <a:ln/>
        </p:spPr>
      </p:sp>
      <p:sp>
        <p:nvSpPr>
          <p:cNvPr id="32" name="match-hex"/>
          <p:cNvSpPr/>
          <p:nvPr/>
        </p:nvSpPr>
        <p:spPr>
          <a:xfrm>
            <a:off x="5076126" y="4573347"/>
            <a:ext cx="384048" cy="332586"/>
          </a:xfrm>
          <a:prstGeom prst="hexagon">
            <a:avLst/>
          </a:prstGeom>
          <a:solidFill>
            <a:srgbClr val="B8862B"/>
          </a:solidFill>
          <a:ln/>
        </p:spPr>
      </p:sp>
      <p:sp>
        <p:nvSpPr>
          <p:cNvPr id="33" name="match-hex-label"/>
          <p:cNvSpPr txBox="1"/>
          <p:nvPr/>
        </p:nvSpPr>
        <p:spPr>
          <a:xfrm>
            <a:off x="5076126"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524182" y="4362704"/>
            <a:ext cx="5817122"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 was addicted to alcohol and drugs, took little interest in war and left many in poverty</a:t>
            </a:r>
            <a:endParaRPr lang="en-US" sz="1800" dirty="0"/>
          </a:p>
        </p:txBody>
      </p:sp>
      <p:sp>
        <p:nvSpPr>
          <p:cNvPr id="35" name="match-card"/>
          <p:cNvSpPr/>
          <p:nvPr/>
        </p:nvSpPr>
        <p:spPr>
          <a:xfrm>
            <a:off x="777240" y="5208016"/>
            <a:ext cx="3859974" cy="753872"/>
          </a:xfrm>
          <a:prstGeom prst="roundRect">
            <a:avLst>
              <a:gd name="adj" fmla="val 9704"/>
            </a:avLst>
          </a:prstGeom>
          <a:solidFill>
            <a:srgbClr val="F6F3F0"/>
          </a:solidFill>
          <a:ln/>
        </p:spPr>
      </p:sp>
      <p:sp>
        <p:nvSpPr>
          <p:cNvPr id="36" name="match-hex"/>
          <p:cNvSpPr/>
          <p:nvPr/>
        </p:nvSpPr>
        <p:spPr>
          <a:xfrm>
            <a:off x="850392" y="5418659"/>
            <a:ext cx="384048" cy="332586"/>
          </a:xfrm>
          <a:prstGeom prst="hexagon">
            <a:avLst/>
          </a:prstGeom>
          <a:solidFill>
            <a:srgbClr val="7A4A1E"/>
          </a:solidFill>
          <a:ln/>
        </p:spPr>
      </p:sp>
      <p:sp>
        <p:nvSpPr>
          <p:cNvPr id="37" name="match-hex-label"/>
          <p:cNvSpPr txBox="1"/>
          <p:nvPr/>
        </p:nvSpPr>
        <p:spPr>
          <a:xfrm>
            <a:off x="850392"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208016"/>
            <a:ext cx="3265614"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Mughals did not invest in new technologies</a:t>
            </a:r>
            <a:endParaRPr lang="en-US" sz="1800" dirty="0"/>
          </a:p>
        </p:txBody>
      </p:sp>
      <p:sp>
        <p:nvSpPr>
          <p:cNvPr id="39" name="match-card"/>
          <p:cNvSpPr/>
          <p:nvPr/>
        </p:nvSpPr>
        <p:spPr>
          <a:xfrm>
            <a:off x="5002974" y="5208016"/>
            <a:ext cx="6411482" cy="753872"/>
          </a:xfrm>
          <a:prstGeom prst="roundRect">
            <a:avLst>
              <a:gd name="adj" fmla="val 9704"/>
            </a:avLst>
          </a:prstGeom>
          <a:solidFill>
            <a:srgbClr val="F8F2E9"/>
          </a:solidFill>
          <a:ln/>
        </p:spPr>
      </p:sp>
      <p:sp>
        <p:nvSpPr>
          <p:cNvPr id="40" name="match-hex"/>
          <p:cNvSpPr/>
          <p:nvPr/>
        </p:nvSpPr>
        <p:spPr>
          <a:xfrm>
            <a:off x="5076126" y="5418659"/>
            <a:ext cx="384048" cy="332586"/>
          </a:xfrm>
          <a:prstGeom prst="hexagon">
            <a:avLst/>
          </a:prstGeom>
          <a:solidFill>
            <a:srgbClr val="B8862B"/>
          </a:solidFill>
          <a:ln/>
        </p:spPr>
      </p:sp>
      <p:sp>
        <p:nvSpPr>
          <p:cNvPr id="41" name="match-hex-label"/>
          <p:cNvSpPr txBox="1"/>
          <p:nvPr/>
        </p:nvSpPr>
        <p:spPr>
          <a:xfrm>
            <a:off x="5076126"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524182" y="5208016"/>
            <a:ext cx="5817122"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They bought telescopes from Europe and let their weapons grow old-fashioned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(1 of 2): Prove the statement</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assessment statement to the specific evidence that proves it true.</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F4F0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Read each statement and underline the emperor's name, or the word Mughals if there is no name.</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Find the evidence that mentions that emperor's story: exile is Humayun, alcohol is Jahangir, the Deccan is Aurangzeb.</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statement with no name is about the whole Empire: look for telescopes and weapons.</a:t>
            </a:r>
            <a:endParaRPr lang="en-US" sz="2000" dirty="0"/>
          </a:p>
          <a:p>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Check each piece of evidence has a name, a date or a number in it: that is what makes it specific.</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(2 of 2): Prove the statement</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assessment statement to the specific evidence that proves it true.</a:t>
            </a:r>
            <a:endParaRPr lang="en-US" sz="2000" dirty="0"/>
          </a:p>
        </p:txBody>
      </p:sp>
      <p:sp>
        <p:nvSpPr>
          <p:cNvPr id="12" name="col-Core"/>
          <p:cNvSpPr/>
          <p:nvPr/>
        </p:nvSpPr>
        <p:spPr>
          <a:xfrm>
            <a:off x="548640" y="2593848"/>
            <a:ext cx="5410048" cy="3550920"/>
          </a:xfrm>
          <a:prstGeom prst="roundRect">
            <a:avLst>
              <a:gd name="adj" fmla="val 1545"/>
            </a:avLst>
          </a:prstGeom>
          <a:solidFill>
            <a:srgbClr val="E4DAD1"/>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Exile, alcohol, the Deccan, telescopes: one key word for each statement.</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7A4A1E"/>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Your assessment also lists the statement that Akbar used new technology to win battles. Your lesson's clearest technology example is Babur's cannons at Panipat. What would you need to find out before you could prove the statement about Akbar?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year did Aurangzeb die, the year your lesson gives as the start of the Empire's decline?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From death to takeover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Aurangzeb died in 1707. By 1757 the East India Company had taken control in India. How many years apart are these two events?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50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1757 − 1707 = 50 years. An Empire that had taken from 1526 to 1707 to reach its greatest size lost control of India within fifty years of Aurangzeb's death.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Prove the statement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Humayun was a weak leader  →  A  He was forced into exile in 1540 and took fifteen years to win back his throne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Jahangir was a poor leader  →  C  He was addicted to alcohol and drugs, took little interest in war and left many in poverty</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Aurangzeb focused on deadly wars instead of culture  →  B  He spent 26 years fighting in the Deccan and banned music at his court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Mughals did not invest in new technologies  →  D  They bought telescopes from Europe and let their weapons grow old-fashioned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Humayun: exile in 1540, fifteen years away. Jahangir: alcohol and drugs, no interest in war, poverty. Aurangzeb: the 26-year Deccan war and the ban on court music. The Mughals: telescopes from Europe and old-fashioned weapons.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year did Aurangzeb die, the year your lesson gives as the start of the Empire's decline?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1707</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Aurangzeb died in 1707 after a fifty-year reign. The unit's period of study runs from 1526 to 1707.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Mughal India · Chapter 6: Collapse after 1707, and the verdict: a legacy of greatness?</dc:title>
  <dc:subject>History · Year 8</dc:subject>
  <dc:creator>Dr Vitor Merissi de Carvalho</dc:creator>
  <cp:lastModifiedBy>Dr Vitor Merissi de Carvalho</cp:lastModifiedBy>
  <cp:revision>1</cp:revision>
  <dcterms:created xsi:type="dcterms:W3CDTF">2026-10-19T16:23:09Z</dcterms:created>
  <dcterms:modified xsi:type="dcterms:W3CDTF">2026-10-19T16:23:09Z</dcterms:modified>
</cp:coreProperties>
</file>