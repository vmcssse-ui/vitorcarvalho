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8ec8179-0340-5da5-51c2-73b0829a441d}">
          <p14:sldIdLst>
            <p14:sldId id="256"/>
          </p14:sldIdLst>
        </p14:section>
        <p14:section name="Gate" id="{aeb875aa-ff94-7c13-1aec-ba019f679cd4}">
          <p14:sldIdLst>
            <p14:sldId id="257"/>
            <p14:sldId id="258"/>
          </p14:sldIdLst>
        </p14:section>
        <p14:section name="Pre-teach" id="{8531b112-42f4-7850-382f-a194e932779b}">
          <p14:sldIdLst>
            <p14:sldId id="259"/>
            <p14:sldId id="260"/>
          </p14:sldIdLst>
        </p14:section>
        <p14:section name="Read-along" id="{39960208-4525-c5d6-43dc-52e486b9f47d}">
          <p14:sldIdLst>
            <p14:sldId id="261"/>
            <p14:sldId id="262"/>
          </p14:sldIdLst>
        </p14:section>
        <p14:section name="Teach" id="{02758ffd-c588-2a58-1061-bde7b0daa5a6}">
          <p14:sldIdLst>
            <p14:sldId id="263"/>
            <p14:sldId id="264"/>
            <p14:sldId id="265"/>
            <p14:sldId id="266"/>
            <p14:sldId id="267"/>
          </p14:sldIdLst>
        </p14:section>
        <p14:section name="Routes" id="{ca423cce-34f4-456a-9597-eaf4cdd4ae5e}">
          <p14:sldIdLst>
            <p14:sldId id="268"/>
            <p14:sldId id="269"/>
            <p14:sldId id="270"/>
            <p14:sldId id="271"/>
          </p14:sldIdLst>
        </p14:section>
        <p14:section name="Close" id="{87049e63-b88d-de12-8f94-1f4f2e42c461}">
          <p14:sldIdLst>
            <p14:sldId id="272"/>
          </p14:sldIdLst>
        </p14:section>
        <p14:section name="Answers" id="{9d6b46f5-31d9-2b56-6eee-945b4d6de984}">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Why did the Empire begin to decline under Aurangzeb?. How Aurangzeb took the throne, the three factors behind the decline (religious intolerance, poor leadership, lack of new technology), and how far one man was to blame.
This deck covers the department's lesson: 4 (Decline under Aurangzeb: Why did the Mughal Empire begin to decline, and how far was Aurangzeb responsible?).
Read the big question aloud: "How far do you agree that the Mughal Empire achieved a legacy of greatness?"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Under Aurangzeb, peasants had to pay ___ of their income to the Emperor.  →  half
2. Which religious festival did Aurangzeb ban?  →  D   Diwali
3. Which region of India did Aurangzeb spend 26 years trying to conquer?  →  D   The Deccan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half. Your lesson says the peasants paid 50 per cent, half of their income, in tax, which made them very unhappy with their government.
2. D   Diwali. Aurangzeb banned the Hindu festival of Diwali as part of his policy of enforcing Islam across the Empire.
3. D   The Deccan. Aurangzeb's 26-year campaign in the Deccan, in southern India, cost over 100,000 lives and huge amounts of gold.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decline: growing weaker over time. Example: "The decline of the Empire began during Aurangzeb's reign."
• intolerance: refusing to accept other religions or ways of life. Example: "Aurangzeb's religious intolerance divided his people."
• peasant: a poor farmer who works the land. Example: "Every peasant had to hand half of what they earned to the Emperor."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Deccan: the large plateau of southern India. Example: "Aurangzeb spent 26 years fighting in the Deccan."
• persecute: to treat people badly because of their religion. Example: "Hindus were persecuted when their festivals were banned."
• navy: a country's warships and the sailors who crew them. Example: "The Mughals never built a strong navy."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When Shah Jahan fell ill, his sons fought a war over the succession.
2. Shah Jahan wanted his son Dara to rule, but Aurangzeb defeated him.
3. Aurangzeb ruled for 50 years and made the Empire bigger than ever.
4. But historians say his reign planted the seeds of decline.
5. Your lesson gives three factors behind the decline.
6. The first is religious intolerance.
7. Aurangzeb banned Diwali, destroyed over 80 temples and taxed non-Muslims more heavily.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The second is poor leadership.
9. Peasants had to pay half their income in tax, and many revolted.
10. Aurangzeb spent 26 years and huge sums fighting in the Deccan.
11. The third is a lack of new technology.
12. The Mughals bought telescopes from Europe instead of inventing their own.
13. Their weapons grew old-fashioned, and they never built a strong navy.
14. By 1707, when Aurangzeb died, the Empire was too big and too divided to hold together.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Aurangzeb takes the throne. Say it in your own words, then check understanding with a quick question: ask a pupil from the pre-teach group first, since they met these words and ideas before the lesson. Pupils try to recall before you re-explain.
Shah Jahan wanted his eldest son Dara to succeed him. But when the Emperor fell ill in 1657, his sons fought a war of succession, and it was Aurangzeb who won. Dara was defeated and later put to death. Your lesson dates Aurangzeb's reign from 1657 to 1707: fifty years. He is known as the last great Mughal emperor.
His reign had real successes. He expanded the Empire to the largest it had ever been, so that by 1707 it covered almost all of India. He was a skilled general, a devout and disciplined man who dressed simply and spent nothing on luxuries.
Yet many historians see the same fifty years as sowing the seeds of failure. After Aurangzeb's death in 1707 the Empire broke up quickly, and by 1757 the British East India Company had taken financial and political control in India. The question your lesson asks is: was Aurangzeb responsible for the decline?
Tip: Hold two ideas at once: Aurangzeb made the Empire its biggest AND began its decline. Both are true, and a good essay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Factor one: religious intolerance. Say it in your own words, then check understanding with a quick question: ask a pupil from the pre-teach group first, since they met these words and ideas before the lesson. Pupils try to recall before you re-explain.
Akbar had welcomed all religions. Aurangzeb abandoned that policy. He tried to make Islam the religion of the whole Empire, and other religions, especially Hinduism, were persecuted. The Hindu festival of Diwali was banned.
Aurangzeb favoured Muslims in the laws he passed. Muslims were given tax breaks or paid no tax at all, while non-Muslims had to pay. His policy of temple destruction saw over 80 non-Muslim temples destroyed, and large mosques built in their place.
The effect was to divide Mughal society along religious lines. Akbar had used tolerance to bring people together; Aurangzeb's intolerance pushed them apart, and the divisions helped the Empire split after his death.
Tip: For intolerance, you have three concrete examples: Diwali banned, over 80 temples destroyed, non-Muslims taxed. Use the numbers and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Factor two: poor leadership. Say it in your own words, then check understanding with a quick question: ask a pupil from the pre-teach group first, since they met these words and ideas before the lesson. Pupils try to recall before you re-explain.
Under Aurangzeb, the peasants of India had to pay 50 per cent of their income, half of everything they earned, to the Emperor. The peasants in the countryside were very unhappy with their government, and many revolted.
Aurangzeb focused on capturing new lands instead of developing the land he already had. It cost the Empire a great deal to conquer and then run new territory that brought no reward. The clearest example is the Deccan, in southern India, where he spent 26 years fighting. The campaign cost over 100,000 Mughal lives and huge amounts of gold.
Culture suffered too. Aurangzeb banned music at his court, where Akbar had used music to bring the Empire's many cultures together. Few paintings survive from his reign. The things that had made the Mughal court great were allowed to fade.
Worked example — model it step by step, thinking aloud: Which of the three factors does this reason belong to: Aurangzeb spent 26 years and huge amounts of gold trying to conquer the Deccan? (1) Ask: is this about religion? No, there is no festival, temple or faith involved. (2) Ask: is this about weapons, inventions or a navy? No. (3) Ask: is this a decision by the ruler about how to spend the Empire's money and effort? Yes. (4) So it belongs under poor leadership. Answer: Poor leadership: the Deccan war was a ruler's choice to spend lives and gold on conquest rather than on developing the Empire..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Factor two: poor leadership. Say it in your own words, then check understanding with a quick question: ask a pupil from the pre-teach group first, since they met these words and ideas before the lesson. Pupils try to recall before you re-explain.
Under Aurangzeb, the peasants of India had to pay 50 per cent of their income, half of everything they earned, to the Emperor. The peasants in the countryside were very unhappy with their government, and many revolted.
Aurangzeb focused on capturing new lands instead of developing the land he already had. It cost the Empire a great deal to conquer and then run new territory that brought no reward. The clearest example is the Deccan, in southern India, where he spent 26 years fighting. The campaign cost over 100,000 Mughal lives and huge amounts of gold.
Culture suffered too. Aurangzeb banned music at his court, where Akbar had used music to bring the Empire's many cultures together. Few paintings survive from his reign. The things that had made the Mughal court great were allowed to fade.
Worked example — model it step by step, thinking aloud: Which of the three factors does this reason belong to: Aurangzeb spent 26 years and huge amounts of gold trying to conquer the Deccan? (1) Ask: is this about religion? No, there is no festival, temple or faith involved. (2) Ask: is this about weapons, inventions or a navy? No. (3) Ask: is this a decision by the ruler about how to spend the Empire's money and effort? Yes. (4) So it belongs under poor leadership. Answer: Poor leadership: the Deccan war was a ruler's choice to spend lives and gold on conquest rather than on developing the Empire..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Factor three: falling behind in technology. Say it in your own words, then check understanding with a quick question: ask a pupil from the pre-teach group first, since they met these words and ideas before the lesson. Pupils try to recall before you re-explain.
The Mughals did not develop their own technology. Instead they spent a lot of money buying things like telescopes from Europe. Their weapons became old-fashioned because they did not invest in new designs, so in time their army was no match for its European rivals.
Several emperors, not only Aurangzeb, showed little interest in building a strong navy. This was a serious disadvantage, because European countries, especially Britain, were building huge navies. Without ships of its own the Empire missed out on trading with the wider world.
Notice that this factor is not only about Aurangzeb. The failure to build a navy stretched over many reigns. That matters when you decide how far he alone was responsible for the decline.
Tip: Technology is the factor that helps you argue against blaming Aurangzeb alone: the navy problem belonged to many emperors.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Sort the reasons.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reason for decline to the factor it belongs under.
Support — work through the steps with the group: (1) Does the reason mention a faith, a festival or a temple? Then it is religious intolerance. (2) Does it mention weapons, inventions, telescopes or ships? Then it is technology. (3) Is it a decision about money, war or how to treat the people? Then it is poor leadership. (4) Check each pair against those three questions.
Parallel worked example for Support (model it, do not give the task answer): Sort these reasons for a football club's relegation into three factors (manager, money, injuries): the star striker broke his leg; the manager picked the wrong team; the club could not afford new players. A broken leg is injuries.; Picking the team is the manager.; Affording players is money.. Answer: Striker's leg: injuries. Wrong team: manager. No money for players: money..
Core — reveal the hint only on request: Faith, weapons, or a ruler's choice: three questions, three factors.
Stretch — no help; when finished: Some reasons could fit two factors. Explain why banning music at court could be filed under poor leadership as well as religious intolerance.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Sort the reasons.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reason for decline to the factor it belongs under.
Support — work through the steps with the group: (1) Does the reason mention a faith, a festival or a temple? Then it is religious intolerance. (2) Does it mention weapons, inventions, telescopes or ships? Then it is technology. (3) Is it a decision about money, war or how to treat the people? Then it is poor leadership. (4) Check each pair against those three questions.
Parallel worked example for Support (model it, do not give the task answer): Sort these reasons for a football club's relegation into three factors (manager, money, injuries): the star striker broke his leg; the manager picked the wrong team; the club could not afford new players. A broken leg is injuries.; Picking the team is the manager.; Affording players is money.. Answer: Striker's leg: injuries. Wrong team: manager. No money for players: money..
Core — reveal the hint only on request: Faith, weapons, or a ruler's choice: three questions, three factors.
Stretch — no help; when finished: Some reasons could fit two factors. Explain why banning music at court could be filed under poor leadership as well as religious intolerance.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factor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Aurangzeb banned the Hindu festival of Diwali. Which of the three factors of decline does this reason belong to?
Support — work through the steps with the group: (1) Read the reason and underline the key noun: festival, temple, tax, weapon, navy, war. (2) Festival, temple, faith: religious intolerance. (3) Weapon, telescope, navy: technology. (4) War, tax on peasants, wasted money: poor leadership. Which word did you underline?
Parallel worked example for Support (model it, do not give the task answer): The Mughals bought telescopes from Europe instead of developing their own. Which factor is this? The key noun is telescopes: an invention.; Inventions belong to technology.; So: lack of technological development.. Answer: Lack of technological development..
Core — reveal the hint only on request: Underline the key noun. A festival is about faith.
Stretch — no help; when finished: Explain how religious intolerance and poor leadership are linked: how did one make the other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factor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Aurangzeb banned the Hindu festival of Diwali. Which of the three factors of decline does this reason belong to?
Support — work through the steps with the group: (1) Read the reason and underline the key noun: festival, temple, tax, weapon, navy, war. (2) Festival, temple, faith: religious intolerance. (3) Weapon, telescope, navy: technology. (4) War, tax on peasants, wasted money: poor leadership. Which word did you underline?
Parallel worked example for Support (model it, do not give the task answer): The Mughals bought telescopes from Europe instead of developing their own. Which factor is this? The key noun is telescopes: an invention.; Inventions belong to technology.; So: lack of technological development.. Answer: Lack of technological development..
Core — reveal the hint only on request: Underline the key noun. A festival is about faith.
Stretch — no help; when finished: Explain how religious intolerance and poor leadership are linked: how did one make the other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Under Aurangzeb, peasants had to pay ___ of their income to the Emperor.
Answer: Under Aurangzeb, peasants had to pay half of their income to the Emperor.. Your lesson says the peasants paid 50 per cent, half of their income, in tax, which made them very unhappy with their government.
Source of this question: gate item 1 re-asked (options rotated) — this chapter has no third quick-check module.
The ebook also holds task 3, "Was it all Aurangzeb's fault?",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Sort the reasons. Reveal the answer; pupils mark their own work in a different colour, then read the "why" together. Same destination for every lane, so one answer serves the whole class.
Answer: Over 80 temples were destroyed and mosques built in their place  →  C  Religious intolerance; Peasants had to pay 50 per cent of their income and many revolted  →  A  Poor leadership; Weapons grew old-fashioned and no strong navy was built  →  B  Lack of technological development
Why: Temples and mosques are about religion. Taxing peasants to the point of revolt is a leader's choice. Old weapons and no navy are technology.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factor is this?. Reveal the answer; pupils mark their own work in a different colour, then read the "why" together. Same destination for every lane, so one answer serves the whole class.
Answer: A   Religious intolerance
Why: Diwali is a Hindu festival, so banning it is religious intolerance. The same test works for the temples and the unequal taxes: each is about how people of a faith were treated.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Under Aurangzeb, peasants had to pay half of their income to the Emperor.
Why: Your lesson says the peasants paid 50 per cent, half of their income, in tax, which made them very unhappy with their government.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Mughal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Mughal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Mughal India · AQA KS3 → 8145</a:t>
            </a:r>
            <a:endParaRPr lang="en-US" sz="1800" dirty="0"/>
          </a:p>
        </p:txBody>
      </p:sp>
      <p:sp>
        <p:nvSpPr>
          <p:cNvPr id="10" name="deck-title"/>
          <p:cNvSpPr txBox="1"/>
          <p:nvPr/>
        </p:nvSpPr>
        <p:spPr>
          <a:xfrm>
            <a:off x="548640" y="259130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Why did the Empire begin to decline under Aurangzeb?</a:t>
            </a:r>
            <a:endParaRPr lang="en-US" sz="2800" dirty="0"/>
          </a:p>
        </p:txBody>
      </p:sp>
      <p:sp>
        <p:nvSpPr>
          <p:cNvPr id="11" name="lessons-card"/>
          <p:cNvSpPr/>
          <p:nvPr/>
        </p:nvSpPr>
        <p:spPr>
          <a:xfrm>
            <a:off x="548640" y="3871468"/>
            <a:ext cx="5287975" cy="980440"/>
          </a:xfrm>
          <a:prstGeom prst="roundRect">
            <a:avLst>
              <a:gd name="adj" fmla="val 7461"/>
            </a:avLst>
          </a:prstGeom>
          <a:solidFill>
            <a:srgbClr val="F4F0EC"/>
          </a:solidFill>
          <a:ln/>
        </p:spPr>
      </p:sp>
      <p:sp>
        <p:nvSpPr>
          <p:cNvPr id="12" name="lessons"/>
          <p:cNvSpPr txBox="1"/>
          <p:nvPr/>
        </p:nvSpPr>
        <p:spPr>
          <a:xfrm>
            <a:off x="685800" y="396290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Decline under Aurangzeb</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far do you agree that the Mughal Empire achieved a legacy of greatness?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Under Aurangzeb, peasants had to pay ___ of their income to the Emperor.</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half  ·  a tenth  ·  a quarter</a:t>
            </a:r>
            <a:endParaRPr lang="en-US" sz="2400" dirty="0"/>
          </a:p>
        </p:txBody>
      </p:sp>
      <p:sp>
        <p:nvSpPr>
          <p:cNvPr id="12"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religious festival did Aurangzeb ban?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Vaisakhi</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Eid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Christmas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Diwali</a:t>
            </a:r>
            <a:endParaRPr lang="en-US" sz="2400" dirty="0"/>
          </a:p>
        </p:txBody>
      </p:sp>
      <p:sp>
        <p:nvSpPr>
          <p:cNvPr id="17"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region of India did Aurangzeb spend 26 years trying to conquer?</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Fergana</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Kabul</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Delhi</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Deccan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half</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Under Aurangzeb, peasants had to pay ___ of their income to the Emperor.</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Your lesson says the peasants paid 50 per cent, half of their income, in tax, which made them very unhappy with their government.</a:t>
            </a:r>
            <a:endParaRPr lang="en-US" sz="1800" dirty="0"/>
          </a:p>
        </p:txBody>
      </p:sp>
      <p:sp>
        <p:nvSpPr>
          <p:cNvPr id="14"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Diwali</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religious festival did Aurangzeb ban?</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Aurangzeb banned the Hindu festival of Diwali as part of his policy of enforcing Islam across the Empire.</a:t>
            </a:r>
            <a:endParaRPr lang="en-US" sz="2200" dirty="0"/>
          </a:p>
        </p:txBody>
      </p:sp>
      <p:sp>
        <p:nvSpPr>
          <p:cNvPr id="21"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 Deccan</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region of India did Aurangzeb spend 26 years trying to conquer?</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Aurangzeb's 26-year campaign in the Deccan, in southern India, cost over 100,000 lives and huge amounts of gold.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decline</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growing weaker over time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decline of the Empire began during Aurangzeb's reign.</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intolerance</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refusing to accept other religions or ways of life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Aurangzeb's religious intolerance divided his people.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peasant</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poor farmer who works the land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Every peasant had to hand half of what they earned to the Emperor.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Deccan</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large plateau of southern India</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Aurangzeb spent 26 years fighting in the Deccan.</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persecute</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treat people badly because of their religion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Hindus were persecuted when their festivals were banned.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navy</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country's warships and the sailors who crew them</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Mughals never built a strong navy.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When Shah Jahan fell ill, his sons fought a war over the succession.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Shah Jahan wanted his son Dara to rule, but Aurangzeb defeated him.</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Aurangzeb ruled for 50 years and made the Empire bigger than ever.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But historians say his reign planted the seeds of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decline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Your lesson gives three factors behind the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decline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first is religious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intolerance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Aurangzeb banned Diwali, destroyed over 80 temples and taxed non-Muslims more heavily.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second is poor leadership.</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Peasants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had to pay half their income in tax, and many revolted.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Aurangzeb spent 26 years and huge sums fighting in the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Deccan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third is a lack of new technology.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Mughals bought telescopes from Europe instead of inventing their own.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Their weapons grew old-fashioned, and they never built a strong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navy</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By 1707, when Aurangzeb died, the Empire was too big and too divided to hold together.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Aurangzeb takes the throne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Hold two ideas at once: Aurangzeb made the Empire its biggest AND began its decline. Both are true, and a good essay says so.</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Shah Jahan wanted his eldest son Dara to succeed him.</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His reign had real successes. He expanded the Empire to the largest it had ever been, so that by 1707 it covered almost all of India.</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Yet many historians see the same fifty years as sowing the seeds of failure.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Factor one: religious intolerance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intolerance, you have three concrete examples: Diwali banned, over 80 temples destroyed, non-Muslims taxed. Use the numbers and names.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Akbar had welcomed all religions. Aurangzeb abandoned that policy.</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Aurangzeb favoured Muslims in the laws he passed. Muslims were given tax breaks or paid no tax at all, while non-Muslims had to pay.</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effect was to divide Mughal society along religious lines.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Factor two: poor leadership</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4F0EC"/>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Under Aurangzeb, the peasants of India had to pay 50 per cent of their income, half of everything they earned, to the Emperor.</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8F2E9"/>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Aurangzeb focused on capturing new lands instead of developing the land he already had.</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4F0EC"/>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Culture suffered too. Aurangzeb banned music at his court, where Akbar had used music to bring the Empire's many cultures together.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Worked example: Factor two: poor leadership</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F0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Which of the three factors does this reason belong to: Aurangzeb spent 26 years and huge amounts of gold trying to conquer the Deccan?</a:t>
            </a:r>
            <a:endParaRPr lang="en-US" sz="2200" dirty="0"/>
          </a:p>
        </p:txBody>
      </p:sp>
      <p:sp>
        <p:nvSpPr>
          <p:cNvPr id="9" name="step-box"/>
          <p:cNvSpPr/>
          <p:nvPr/>
        </p:nvSpPr>
        <p:spPr>
          <a:xfrm>
            <a:off x="548640" y="2655824"/>
            <a:ext cx="2464994" cy="2252980"/>
          </a:xfrm>
          <a:prstGeom prst="roundRect">
            <a:avLst>
              <a:gd name="adj" fmla="val 3247"/>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Ask: is this about religion? No, there is no festival, temple or faith involved.</a:t>
            </a:r>
            <a:endParaRPr lang="en-US" sz="1800" dirty="0"/>
          </a:p>
        </p:txBody>
      </p:sp>
      <p:sp>
        <p:nvSpPr>
          <p:cNvPr id="13" name="arrow"/>
          <p:cNvSpPr/>
          <p:nvPr/>
        </p:nvSpPr>
        <p:spPr>
          <a:xfrm>
            <a:off x="3086786" y="3645154"/>
            <a:ext cx="274320" cy="274320"/>
          </a:xfrm>
          <a:prstGeom prst="rightArrow">
            <a:avLst/>
          </a:prstGeom>
          <a:solidFill>
            <a:srgbClr val="B8862B"/>
          </a:solidFill>
          <a:ln/>
        </p:spPr>
      </p:sp>
      <p:sp>
        <p:nvSpPr>
          <p:cNvPr id="14" name="step-box"/>
          <p:cNvSpPr/>
          <p:nvPr/>
        </p:nvSpPr>
        <p:spPr>
          <a:xfrm>
            <a:off x="3425114" y="2655824"/>
            <a:ext cx="2464994" cy="2252980"/>
          </a:xfrm>
          <a:prstGeom prst="roundRect">
            <a:avLst>
              <a:gd name="adj" fmla="val 3247"/>
            </a:avLst>
          </a:prstGeom>
          <a:solidFill>
            <a:srgbClr val="FFFFFF"/>
          </a:solidFill>
          <a:ln w="15875">
            <a:solidFill>
              <a:srgbClr val="B69B83"/>
            </a:solidFill>
            <a:prstDash val="solid"/>
          </a:ln>
        </p:spPr>
      </p:sp>
      <p:sp>
        <p:nvSpPr>
          <p:cNvPr id="15" name="step-hex"/>
          <p:cNvSpPr/>
          <p:nvPr/>
        </p:nvSpPr>
        <p:spPr>
          <a:xfrm>
            <a:off x="3562274" y="2765552"/>
            <a:ext cx="530352" cy="459285"/>
          </a:xfrm>
          <a:prstGeom prst="hexagon">
            <a:avLst/>
          </a:prstGeom>
          <a:solidFill>
            <a:srgbClr val="7A4A1E"/>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Ask: is this about weapons, inventions or a navy? No.</a:t>
            </a:r>
            <a:endParaRPr lang="en-US" sz="1800" dirty="0"/>
          </a:p>
        </p:txBody>
      </p:sp>
      <p:sp>
        <p:nvSpPr>
          <p:cNvPr id="18" name="arrow"/>
          <p:cNvSpPr/>
          <p:nvPr/>
        </p:nvSpPr>
        <p:spPr>
          <a:xfrm>
            <a:off x="5963260" y="3645154"/>
            <a:ext cx="274320" cy="274320"/>
          </a:xfrm>
          <a:prstGeom prst="rightArrow">
            <a:avLst/>
          </a:prstGeom>
          <a:solidFill>
            <a:srgbClr val="B8862B"/>
          </a:solidFill>
          <a:ln/>
        </p:spPr>
      </p:sp>
      <p:sp>
        <p:nvSpPr>
          <p:cNvPr id="19" name="step-box"/>
          <p:cNvSpPr/>
          <p:nvPr/>
        </p:nvSpPr>
        <p:spPr>
          <a:xfrm>
            <a:off x="6301588" y="2655824"/>
            <a:ext cx="2464994" cy="2252980"/>
          </a:xfrm>
          <a:prstGeom prst="roundRect">
            <a:avLst>
              <a:gd name="adj" fmla="val 3247"/>
            </a:avLst>
          </a:prstGeom>
          <a:solidFill>
            <a:srgbClr val="FFFFFF"/>
          </a:solidFill>
          <a:ln w="15875">
            <a:solidFill>
              <a:srgbClr val="B69B83"/>
            </a:solidFill>
            <a:prstDash val="solid"/>
          </a:ln>
        </p:spPr>
      </p:sp>
      <p:sp>
        <p:nvSpPr>
          <p:cNvPr id="20" name="step-hex"/>
          <p:cNvSpPr/>
          <p:nvPr/>
        </p:nvSpPr>
        <p:spPr>
          <a:xfrm>
            <a:off x="6438748" y="2765552"/>
            <a:ext cx="530352" cy="459285"/>
          </a:xfrm>
          <a:prstGeom prst="hexagon">
            <a:avLst/>
          </a:prstGeom>
          <a:solidFill>
            <a:srgbClr val="7A4A1E"/>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Ask: is this a decision by the ruler about how to spend the Empire's money and effort? Yes.</a:t>
            </a:r>
            <a:endParaRPr lang="en-US" sz="1800" dirty="0"/>
          </a:p>
        </p:txBody>
      </p:sp>
      <p:sp>
        <p:nvSpPr>
          <p:cNvPr id="23" name="arrow"/>
          <p:cNvSpPr/>
          <p:nvPr/>
        </p:nvSpPr>
        <p:spPr>
          <a:xfrm>
            <a:off x="8839733" y="3645154"/>
            <a:ext cx="274320" cy="274320"/>
          </a:xfrm>
          <a:prstGeom prst="rightArrow">
            <a:avLst/>
          </a:prstGeom>
          <a:solidFill>
            <a:srgbClr val="B8862B"/>
          </a:solidFill>
          <a:ln/>
        </p:spPr>
      </p:sp>
      <p:sp>
        <p:nvSpPr>
          <p:cNvPr id="24" name="step-box"/>
          <p:cNvSpPr/>
          <p:nvPr/>
        </p:nvSpPr>
        <p:spPr>
          <a:xfrm>
            <a:off x="9178061" y="2655824"/>
            <a:ext cx="2464994" cy="2252980"/>
          </a:xfrm>
          <a:prstGeom prst="roundRect">
            <a:avLst>
              <a:gd name="adj" fmla="val 3247"/>
            </a:avLst>
          </a:prstGeom>
          <a:solidFill>
            <a:srgbClr val="FFFFFF"/>
          </a:solidFill>
          <a:ln w="15875">
            <a:solidFill>
              <a:srgbClr val="B69B83"/>
            </a:solidFill>
            <a:prstDash val="solid"/>
          </a:ln>
        </p:spPr>
      </p:sp>
      <p:sp>
        <p:nvSpPr>
          <p:cNvPr id="25" name="step-hex"/>
          <p:cNvSpPr/>
          <p:nvPr/>
        </p:nvSpPr>
        <p:spPr>
          <a:xfrm>
            <a:off x="9315221" y="2765552"/>
            <a:ext cx="530352" cy="459285"/>
          </a:xfrm>
          <a:prstGeom prst="hexagon">
            <a:avLst/>
          </a:prstGeom>
          <a:solidFill>
            <a:srgbClr val="7A4A1E"/>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 it belongs under poor leadership.</a:t>
            </a:r>
            <a:endParaRPr lang="en-US" sz="1800" dirty="0"/>
          </a:p>
        </p:txBody>
      </p:sp>
      <p:sp>
        <p:nvSpPr>
          <p:cNvPr id="28" name="worked-answer"/>
          <p:cNvSpPr/>
          <p:nvPr/>
        </p:nvSpPr>
        <p:spPr>
          <a:xfrm>
            <a:off x="1463040" y="5313680"/>
            <a:ext cx="9265615" cy="831088"/>
          </a:xfrm>
          <a:prstGeom prst="roundRect">
            <a:avLst>
              <a:gd name="adj" fmla="val 22005"/>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Poor leadership: the Deccan war was a ruler's choice to spend lives and gold on conquest rather than on developing the Empire.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Factor three: falling behind in technology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Technology is the factor that helps you argue against blaming Aurangzeb alone: the navy problem belonged to many emperors.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Mughals did not develop their own technology. Instead they spent a lot of money buying things like telescopes from Europe.</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Several emperors, not only Aurangzeb, showed little interest in building a strong navy.</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Notice that this factor is not only about Aurangzeb. The failure to build a navy stretched over many reigns.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Sort the reasons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reason for decline to the factor it belongs under.</a:t>
            </a:r>
            <a:endParaRPr lang="en-US" sz="2400" dirty="0"/>
          </a:p>
        </p:txBody>
      </p:sp>
      <p:sp>
        <p:nvSpPr>
          <p:cNvPr id="11" name="match-card"/>
          <p:cNvSpPr/>
          <p:nvPr/>
        </p:nvSpPr>
        <p:spPr>
          <a:xfrm>
            <a:off x="777240" y="2468331"/>
            <a:ext cx="5135728" cy="1103559"/>
          </a:xfrm>
          <a:prstGeom prst="roundRect">
            <a:avLst>
              <a:gd name="adj" fmla="val 6629"/>
            </a:avLst>
          </a:prstGeom>
          <a:solidFill>
            <a:srgbClr val="F6F3F0"/>
          </a:solidFill>
          <a:ln/>
        </p:spPr>
      </p:sp>
      <p:sp>
        <p:nvSpPr>
          <p:cNvPr id="12" name="match-hex"/>
          <p:cNvSpPr/>
          <p:nvPr/>
        </p:nvSpPr>
        <p:spPr>
          <a:xfrm>
            <a:off x="850392" y="2853818"/>
            <a:ext cx="384048" cy="332586"/>
          </a:xfrm>
          <a:prstGeom prst="hexagon">
            <a:avLst/>
          </a:prstGeom>
          <a:solidFill>
            <a:srgbClr val="7A4A1E"/>
          </a:solidFill>
          <a:ln/>
        </p:spPr>
      </p:sp>
      <p:sp>
        <p:nvSpPr>
          <p:cNvPr id="13" name="match-hex-label"/>
          <p:cNvSpPr txBox="1"/>
          <p:nvPr/>
        </p:nvSpPr>
        <p:spPr>
          <a:xfrm>
            <a:off x="850392"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Over 80 temples were destroyed and mosques built in their place</a:t>
            </a:r>
            <a:endParaRPr lang="en-US" sz="2200" dirty="0"/>
          </a:p>
        </p:txBody>
      </p:sp>
      <p:sp>
        <p:nvSpPr>
          <p:cNvPr id="15" name="match-card"/>
          <p:cNvSpPr/>
          <p:nvPr/>
        </p:nvSpPr>
        <p:spPr>
          <a:xfrm>
            <a:off x="6278728" y="2468331"/>
            <a:ext cx="5135728" cy="1103559"/>
          </a:xfrm>
          <a:prstGeom prst="roundRect">
            <a:avLst>
              <a:gd name="adj" fmla="val 6629"/>
            </a:avLst>
          </a:prstGeom>
          <a:solidFill>
            <a:srgbClr val="F8F2E9"/>
          </a:solidFill>
          <a:ln/>
        </p:spPr>
      </p:sp>
      <p:sp>
        <p:nvSpPr>
          <p:cNvPr id="16" name="match-hex"/>
          <p:cNvSpPr/>
          <p:nvPr/>
        </p:nvSpPr>
        <p:spPr>
          <a:xfrm>
            <a:off x="6351880" y="2853818"/>
            <a:ext cx="384048" cy="332586"/>
          </a:xfrm>
          <a:prstGeom prst="hexagon">
            <a:avLst/>
          </a:prstGeom>
          <a:solidFill>
            <a:srgbClr val="B8862B"/>
          </a:solidFill>
          <a:ln/>
        </p:spPr>
      </p:sp>
      <p:sp>
        <p:nvSpPr>
          <p:cNvPr id="17" name="match-hex-label"/>
          <p:cNvSpPr txBox="1"/>
          <p:nvPr/>
        </p:nvSpPr>
        <p:spPr>
          <a:xfrm>
            <a:off x="6351880"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Poor leadership</a:t>
            </a:r>
            <a:endParaRPr lang="en-US" sz="2200" dirty="0"/>
          </a:p>
        </p:txBody>
      </p:sp>
      <p:sp>
        <p:nvSpPr>
          <p:cNvPr id="19" name="match-card"/>
          <p:cNvSpPr/>
          <p:nvPr/>
        </p:nvSpPr>
        <p:spPr>
          <a:xfrm>
            <a:off x="777240" y="3663330"/>
            <a:ext cx="5135728" cy="1103559"/>
          </a:xfrm>
          <a:prstGeom prst="roundRect">
            <a:avLst>
              <a:gd name="adj" fmla="val 6629"/>
            </a:avLst>
          </a:prstGeom>
          <a:solidFill>
            <a:srgbClr val="F6F3F0"/>
          </a:solidFill>
          <a:ln/>
        </p:spPr>
      </p:sp>
      <p:sp>
        <p:nvSpPr>
          <p:cNvPr id="20" name="match-hex"/>
          <p:cNvSpPr/>
          <p:nvPr/>
        </p:nvSpPr>
        <p:spPr>
          <a:xfrm>
            <a:off x="850392" y="4048817"/>
            <a:ext cx="384048" cy="332586"/>
          </a:xfrm>
          <a:prstGeom prst="hexagon">
            <a:avLst/>
          </a:prstGeom>
          <a:solidFill>
            <a:srgbClr val="7A4A1E"/>
          </a:solidFill>
          <a:ln/>
        </p:spPr>
      </p:sp>
      <p:sp>
        <p:nvSpPr>
          <p:cNvPr id="21"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63330"/>
            <a:ext cx="4541368"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Peasants had to pay 50 per cent of their income and many revolted</a:t>
            </a:r>
            <a:endParaRPr lang="en-US" sz="2200" dirty="0"/>
          </a:p>
        </p:txBody>
      </p:sp>
      <p:sp>
        <p:nvSpPr>
          <p:cNvPr id="23" name="match-card"/>
          <p:cNvSpPr/>
          <p:nvPr/>
        </p:nvSpPr>
        <p:spPr>
          <a:xfrm>
            <a:off x="6278728" y="3663330"/>
            <a:ext cx="5135728" cy="1103559"/>
          </a:xfrm>
          <a:prstGeom prst="roundRect">
            <a:avLst>
              <a:gd name="adj" fmla="val 6629"/>
            </a:avLst>
          </a:prstGeom>
          <a:solidFill>
            <a:srgbClr val="F8F2E9"/>
          </a:solidFill>
          <a:ln/>
        </p:spPr>
      </p:sp>
      <p:sp>
        <p:nvSpPr>
          <p:cNvPr id="24" name="match-hex"/>
          <p:cNvSpPr/>
          <p:nvPr/>
        </p:nvSpPr>
        <p:spPr>
          <a:xfrm>
            <a:off x="6351880" y="4048817"/>
            <a:ext cx="384048" cy="332586"/>
          </a:xfrm>
          <a:prstGeom prst="hexagon">
            <a:avLst/>
          </a:prstGeom>
          <a:solidFill>
            <a:srgbClr val="B8862B"/>
          </a:solidFill>
          <a:ln/>
        </p:spPr>
      </p:sp>
      <p:sp>
        <p:nvSpPr>
          <p:cNvPr id="25" name="match-hex-label"/>
          <p:cNvSpPr txBox="1"/>
          <p:nvPr/>
        </p:nvSpPr>
        <p:spPr>
          <a:xfrm>
            <a:off x="6351880"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663330"/>
            <a:ext cx="4541368"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Lack of technological development</a:t>
            </a:r>
            <a:endParaRPr lang="en-US" sz="2200" dirty="0"/>
          </a:p>
        </p:txBody>
      </p:sp>
      <p:sp>
        <p:nvSpPr>
          <p:cNvPr id="27" name="match-card"/>
          <p:cNvSpPr/>
          <p:nvPr/>
        </p:nvSpPr>
        <p:spPr>
          <a:xfrm>
            <a:off x="777240" y="4858329"/>
            <a:ext cx="5135728" cy="1103559"/>
          </a:xfrm>
          <a:prstGeom prst="roundRect">
            <a:avLst>
              <a:gd name="adj" fmla="val 6629"/>
            </a:avLst>
          </a:prstGeom>
          <a:solidFill>
            <a:srgbClr val="F6F3F0"/>
          </a:solidFill>
          <a:ln/>
        </p:spPr>
      </p:sp>
      <p:sp>
        <p:nvSpPr>
          <p:cNvPr id="28" name="match-hex"/>
          <p:cNvSpPr/>
          <p:nvPr/>
        </p:nvSpPr>
        <p:spPr>
          <a:xfrm>
            <a:off x="850392" y="5243816"/>
            <a:ext cx="384048" cy="332586"/>
          </a:xfrm>
          <a:prstGeom prst="hexagon">
            <a:avLst/>
          </a:prstGeom>
          <a:solidFill>
            <a:srgbClr val="7A4A1E"/>
          </a:solidFill>
          <a:ln/>
        </p:spPr>
      </p:sp>
      <p:sp>
        <p:nvSpPr>
          <p:cNvPr id="29" name="match-hex-label"/>
          <p:cNvSpPr txBox="1"/>
          <p:nvPr/>
        </p:nvSpPr>
        <p:spPr>
          <a:xfrm>
            <a:off x="850392"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858329"/>
            <a:ext cx="4541368"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Weapons grew old-fashioned and no strong navy was built</a:t>
            </a:r>
            <a:endParaRPr lang="en-US" sz="2200" dirty="0"/>
          </a:p>
        </p:txBody>
      </p:sp>
      <p:sp>
        <p:nvSpPr>
          <p:cNvPr id="31" name="match-card"/>
          <p:cNvSpPr/>
          <p:nvPr/>
        </p:nvSpPr>
        <p:spPr>
          <a:xfrm>
            <a:off x="6278728" y="4858329"/>
            <a:ext cx="5135728" cy="1103559"/>
          </a:xfrm>
          <a:prstGeom prst="roundRect">
            <a:avLst>
              <a:gd name="adj" fmla="val 6629"/>
            </a:avLst>
          </a:prstGeom>
          <a:solidFill>
            <a:srgbClr val="F8F2E9"/>
          </a:solidFill>
          <a:ln/>
        </p:spPr>
      </p:sp>
      <p:sp>
        <p:nvSpPr>
          <p:cNvPr id="32" name="match-hex"/>
          <p:cNvSpPr/>
          <p:nvPr/>
        </p:nvSpPr>
        <p:spPr>
          <a:xfrm>
            <a:off x="6351880" y="5243816"/>
            <a:ext cx="384048" cy="332586"/>
          </a:xfrm>
          <a:prstGeom prst="hexagon">
            <a:avLst/>
          </a:prstGeom>
          <a:solidFill>
            <a:srgbClr val="B8862B"/>
          </a:solidFill>
          <a:ln/>
        </p:spPr>
      </p:sp>
      <p:sp>
        <p:nvSpPr>
          <p:cNvPr id="33" name="match-hex-label"/>
          <p:cNvSpPr txBox="1"/>
          <p:nvPr/>
        </p:nvSpPr>
        <p:spPr>
          <a:xfrm>
            <a:off x="6351880"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4858329"/>
            <a:ext cx="4541368"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Religious intolerance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Sort the reasons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Sort the reasons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Does the reason mention a faith, a festival or a temple? Then it is religious intolerance.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Does it mention weapons, inventions, telescopes or ships? Then it is technology.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Is it a decision about money, war or how to treat the people? Then it is poor leadership.</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each pair against those three questions.</a:t>
            </a:r>
            <a:endParaRPr lang="en-US" sz="1800" dirty="0"/>
          </a:p>
        </p:txBody>
      </p:sp>
      <p:sp>
        <p:nvSpPr>
          <p:cNvPr id="17" name="col-Core"/>
          <p:cNvSpPr/>
          <p:nvPr/>
        </p:nvSpPr>
        <p:spPr>
          <a:xfrm>
            <a:off x="5490762" y="2395728"/>
            <a:ext cx="2938987" cy="3749040"/>
          </a:xfrm>
          <a:prstGeom prst="roundRect">
            <a:avLst>
              <a:gd name="adj" fmla="val 1867"/>
            </a:avLst>
          </a:prstGeom>
          <a:solidFill>
            <a:srgbClr val="E4DAD1"/>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Faith, weapons, or a ruler's choice: three questions, three factors.</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Some reasons could fit two factors. Explain why banning music at court could be filed under poor leadership as well as religious intolerance.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Which factor is this?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Aurangzeb banned the Hindu festival of Diwali. Which of the three factors of decline does this reason belong to?</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Religious intolerance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None of the three: it was a success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Lack of technological development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Poor leadership</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Which factor is this?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Which factor is this?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the reason and underline the key noun: festival, temple, tax, weapon, navy, war.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Festival, temple, faith: religious intolerance.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Weapon, telescope, navy: technology.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War, tax on peasants, wasted money: poor leadership. Which word did you underline?</a:t>
            </a:r>
            <a:endParaRPr lang="en-US" sz="1800" dirty="0"/>
          </a:p>
        </p:txBody>
      </p:sp>
      <p:sp>
        <p:nvSpPr>
          <p:cNvPr id="17" name="col-Core"/>
          <p:cNvSpPr/>
          <p:nvPr/>
        </p:nvSpPr>
        <p:spPr>
          <a:xfrm>
            <a:off x="5490762" y="2395728"/>
            <a:ext cx="2938987" cy="3749040"/>
          </a:xfrm>
          <a:prstGeom prst="roundRect">
            <a:avLst>
              <a:gd name="adj" fmla="val 1867"/>
            </a:avLst>
          </a:prstGeom>
          <a:solidFill>
            <a:srgbClr val="E4DAD1"/>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Underline the key noun. A festival is about faith.</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religious intolerance and poor leadership are linked: how did one make the other worse?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36398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Under Aurangzeb, peasants had to pay ___ of their income to the Emperor.</a:t>
            </a:r>
            <a:endParaRPr lang="en-US" sz="2400" dirty="0"/>
          </a:p>
          <a:p>
            <a:pPr algn="l" indent="0" marL="0">
              <a:buNone/>
            </a:pPr>
            <a:r>
              <a:rPr lang="en-US" sz="2200" b="1" dirty="0">
                <a:solidFill>
                  <a:srgbClr val="7A4A1E"/>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half   ·   a tenth   ·   a quarter</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Sort the reasons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Over 80 temples were destroyed and mosques built in their place  →  C  Religious intolerance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Peasants had to pay 50 per cent of their income and many revolted  →  A  Poor leadership</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Weapons grew old-fashioned and no strong navy was built  →  B  Lack of technological development</a:t>
            </a:r>
            <a:endParaRPr lang="en-US" sz="24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Temples and mosques are about religion. Taxing peasants to the point of revolt is a leader's choice. Old weapons and no navy are technology.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Which factor is this?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Aurangzeb banned the Hindu festival of Diwali. Which of the three factors of decline does this reason belong to?</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Religious intolerance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Diwali is a Hindu festival, so banning it is religious intolerance. The same test works for the temples and the unequal taxes: each is about how people of a faith were treated.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Under Aurangzeb, peasants had to pay ___ of their income to the Emperor.</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Under Aurangzeb, peasants had to pay half of their income to the Emperor.</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says the peasants paid 50 per cent, half of their income, in tax, which made them very unhappy with their government.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Mughal India · Chapter 5: Why did the Empire begin to decline under Aurangzeb?</dc:title>
  <dc:subject>History · Year 8</dc:subject>
  <dc:creator>Dr Vitor Merissi de Carvalho</dc:creator>
  <cp:lastModifiedBy>Dr Vitor Merissi de Carvalho</cp:lastModifiedBy>
  <cp:revision>1</cp:revision>
  <dcterms:created xsi:type="dcterms:W3CDTF">2026-10-19T06:07:57Z</dcterms:created>
  <dcterms:modified xsi:type="dcterms:W3CDTF">2026-10-19T06:07:57Z</dcterms:modified>
</cp:coreProperties>
</file>