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9051362-f559-d172-a0b9-6c0a11e804b8}">
          <p14:sldIdLst>
            <p14:sldId id="256"/>
          </p14:sldIdLst>
        </p14:section>
        <p14:section name="Gate" id="{2c722016-940d-4f56-f728-0568b56d12f1}">
          <p14:sldIdLst>
            <p14:sldId id="257"/>
            <p14:sldId id="258"/>
          </p14:sldIdLst>
        </p14:section>
        <p14:section name="Pre-teach" id="{ea38a2c7-66d8-4411-9f90-567c65be3384}">
          <p14:sldIdLst>
            <p14:sldId id="259"/>
          </p14:sldIdLst>
        </p14:section>
        <p14:section name="Read-along" id="{fe04d135-17bd-9694-84d1-a5f81a2447f7}">
          <p14:sldIdLst>
            <p14:sldId id="260"/>
            <p14:sldId id="261"/>
          </p14:sldIdLst>
        </p14:section>
        <p14:section name="Teach" id="{29740553-8a53-973b-5f14-92a4d99b0fe6}">
          <p14:sldIdLst>
            <p14:sldId id="262"/>
            <p14:sldId id="263"/>
            <p14:sldId id="264"/>
            <p14:sldId id="265"/>
          </p14:sldIdLst>
        </p14:section>
        <p14:section name="Routes" id="{68854b0f-148f-4262-9753-358b4bb5fb6c}">
          <p14:sldIdLst>
            <p14:sldId id="266"/>
            <p14:sldId id="267"/>
            <p14:sldId id="268"/>
          </p14:sldIdLst>
        </p14:section>
        <p14:section name="Close" id="{fcbb1194-c94b-54a0-eb0d-4704c03c92b2}">
          <p14:sldIdLst>
            <p14:sldId id="269"/>
          </p14:sldIdLst>
        </p14:section>
        <p14:section name="Answers" id="{c29b26f3-58ae-0649-d00c-6bc363f7fa78}">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Six emperors, 1526 to 1707: who was the greatest?. The six Mughal emperors in order, what each achieved and where each failed, and how to decide what greatness means.
This deck covers the department's lesson: 1 (Creation of the Mughal Empire: What was the Mughal Empire, how was it founded, and why is Babur important in the history of India?).
Read the big question aloud: "How far do you agree that the Mughal Empire achieved a legacy of greatness?"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emperor is known as the Great for his tolerance, his administration and his support for culture?  →  B   Akbar
2. In 1540 Humayun was forced into ___ and did not win back his throne until 1555.  →  exile
3. Which emperor paid for the building of the Taj Mahal?  →  C   Shah Jahan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Akbar. Akbar reigned for 49 years, built the tax system, welcomed all religions and paid for the arts, so he is remembered as Akbar the Great.
2. exile. Humayun had to leave the Empire in 1540 and spent fifteen years finding support before he retook the throne in 1555.
3. C   Shah Jahan. Shah Jahan, who reigned from 1627, paid for many great buildings, and the Taj Mahal is the most famous of them.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reign: the time a ruler is in power. Example: "Akbar's reign lasted 49 years."
• exile: being forced to leave your own country. Example: "Humayun spent fifteen years in exile before he won back his throne."
• administration: the systems that run an empire, such as collecting taxes. Example: "Akbar built the administration that his grandfather had never set up."
• tolerance: accepting people whose religion is different from yours. Example: "Akbar's tolerance meant all religions were welcome in his Empire."
• succession: who becomes ruler next. Example: "A fight over the succession followed Shah Jahan's reign."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Six emperors ruled the Mughal Empire between 1526 and 1707.
2. Babur founded the Empire but left it poor.
3. His son Humayun was weak, lost his throne in 1540, and won it back in 1555.
4. Humayun's son Akbar ruled for 49 years.
5. Akbar built a tax system, welcomed all religions and made the Empire rich.
6. People called him Akbar the Great.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His son Jahangir loved art but struggled with alcohol and drugs.
8. Jahangir's wife, Nur Jahan, was a talented leader who made up for his faults.
9. Shah Jahan took the Empire to the height of its power and built the Taj Mahal.
10. His sons then fought over who should rule next.
11. Aurangzeb won and ruled for 50 years, making the Empire its largest ever.
12. But he was intolerant of other religions, and the decline began after he died in 1707.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Humayun: a throne lost and won back. Say it in your own words, then check understanding with a quick question: ask a pupil from the pre-teach group first, since they met these words and ideas before the lesson. Pupils try to recall before you re-explain.
Humayun, Babur's son, became emperor in 1530 at 22 years old. He was inexperienced as a politician and a soldier, and he preferred writing poetry to the battlefield. He faced constant challenges to his rule and could not stamp his control on the Empire.
In 1540 he was forced into exile: he had to leave the Empire and look for allies who would help him return. It took him fifteen years. In 1555 he marched his forces back into northern India and retook the throne.
Back in power, Humayun began to set up the administration that had been missing under his father, including a system for collecting tax. Then, in 1556, he died suddenly after falling down a flight of stone stairs. His legacy was to set the stage for his son Akbar.
Worked example — model it step by step, thinking aloud: How long was Humayun in exile? (1) Find the two dates: forced into exile in 1540, retook the throne in 1555. (2) Later date minus earlier date: 1555 − 1540. (3) 55 − 40 = 15. (4) Check: your lesson says it took him fifteen years to take back control. Answer: 15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Akbar the Great and Jahangir. Say it in your own words, then check understanding with a quick question: ask a pupil from the pre-teach group first, since they met these words and ideas before the lesson. Pupils try to recall before you re-explain.
Akbar, Humayun's son, became emperor in 1556 and reigned for 49 years, until 1605. He fought to take control of more than half of India, greatly increasing the size of the Empire. He set up excellent communication across his lands and a proper tax system, so the Empire became very wealthy. That wealth paid for palaces and for the artists whose paintings still survive.
Akbar made sure that all religions were welcomed in his Empire, and by the standards of his time people saw him as an extremely tolerant ruler. For his tolerance, his skill at administration and his support for culture he is known as Akbar the Great.
His son took the name Jahangir, meaning Holder of the World, when he became emperor in 1605. He tried to continue his father's tolerance and wanted to improve his people's lives, but he was addicted to alcohol and drugs, which made him a weak leader with little interest in war. His wife Nur Jahan, whom he married in 1611, was a talented leader who made up for his faults, and the years after their marriage were peaceful. Many paintings date from his reign. But he was slow to set up trade links with Europe, and many people lived in poverty.
Tip: Akbar is the yardstick. When you judge any other emperor, ask: did they keep Akbar's tolerance and his tax system, or lose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Shah Jahan and Aurangzeb. Say it in your own words, then check understanding with a quick question: ask a pupil from the pre-teach group first, since they met these words and ideas before the lesson. Pupils try to recall before you re-explain.
Shah Jahan became emperor in 1627 and reigned for thirty years. Under him the power and influence of the Empire reached its peak. He developed the communication and tax systems further and made sure his power reached every corner of his lands. He paid for many great buildings, including the Taj Mahal, and trained an army to take more land. Yet he is also remembered for the struggle over the succession, the fight between his sons about who would rule next.
Aurangzeb won that struggle. Your lesson dates his reign from 1657, when Shah Jahan fell ill and the fighting began, to 1707: fifty years. Aurangzeb was deeply religious, dressed simply, avoided alcohol and drugs and did not spend money on things he thought unnecessary. He had little interest in paintings, so few survive from his reign. He was a skilled general who gained control of most of India, and by 1707 the Empire had reached its greatest extent.
But Aurangzeb is also remembered for religious intolerance. He tried to make Islam the religion of the whole Empire, demolished temples and made Hindus pay a tax for protection. Keeping control of such a huge area was proving very difficult, and historians see his reign as the beginning of the Empire's decline.
Tip: Shah Jahan: peak and the Taj Mahal. Aurangzeb: largest size, but intolerance and the start of decline. Two emperors, two turning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do you decide who was greatest?. Say it in your own words, then check understanding with a quick question: ask a pupil from the pre-teach group first, since they met these words and ideas before the lesson. Pupils try to recall before you re-explain.
Your lesson asks you to rank the six emperors in a diamond, with the greatest at the top. Before you rank anyone, decide your criteria: the tests you will use. Size of the Empire? Wealth and good government? Tolerance and peace? Buildings and art? A fair judge uses the same tests for every emperor.
Notice how the answer changes with the test. By size, Aurangzeb wins. By culture, Shah Jahan or Jahangir might. By government and tolerance, Akbar does. By founding the Empire at all, Babur has a claim. Historians disagree about greatness because they weigh these tests differently.
So when you give your answer, say your criteria first, then your choice, then your evidence. That is what makes a judgement a historical one rather than a guess.
Tip: Criteria first, choice second, evidence third. Say it in that order and your answer will always be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emperors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six Mughal emperors in the order they ruled.
Support — work through the steps with the group: (1) Each name has the year his reign began in brackets. Find the smallest: that emperor came first. (2) Remember the family line: Babur, then his son, then his son's son, and so on. (3) Akbar is the grandson of the founder, so he is third. (4) The Taj Mahal was built before the decline began, so Shah Jahan comes before Aurangzeb.
Parallel worked example for Support (model it, do not give the task answer): Put these Tudor monarchs in order: Elizabeth I (1558), Henry VII (1485), Henry VIII (1509), Mary I (1553). Smallest year first: 1485.; Then 1509, 1553, 1558.. Answer: Henry VII; Henry VIII; Mary I; Elizabeth I.
Core — reveal the hint only on request: Founder first, then his son, grandson and so on. The years in brackets settle any doubt.
Stretch — no help; when finished: Explain why historians treat Akbar as a turning point in this sequence. What did the Empire have after him that it did not have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emperors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six Mughal emperors in the order they ruled.
Support — work through the steps with the group: (1) Each name has the year his reign began in brackets. Find the smallest: that emperor came first. (2) Remember the family line: Babur, then his son, then his son's son, and so on. (3) Akbar is the grandson of the founder, so he is third. (4) The Taj Mahal was built before the decline began, so Shah Jahan comes before Aurangzeb.
Parallel worked example for Support (model it, do not give the task answer): Put these Tudor monarchs in order: Elizabeth I (1558), Henry VII (1485), Henry VIII (1509), Mary I (1553). Smallest year first: 1485.; Then 1509, 1553, 1558.. Answer: Henry VII; Henry VIII; Mary I; Elizabeth I.
Core — reveal the hint only on request: Founder first, then his son, grandson and so on. The years in brackets settle any doubt.
Stretch — no help; when finished: Explain why historians treat Akbar as a turning point in this sequence. What did the Empire have after him that it did not have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long did Akbar reign?.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Akbar became emperor in 1556 and died in 1605. How many years did he reign?
Support — work through the steps with the group: (1) Write the later date first: 1605. (2) Subtract the earlier date: 1605 − 1556. (3) Do it in two parts: 1605 − 1500 = 105, then 105 − 56 = 49. (4) Check it is close to half a century, as your lesson says: a long reign.
Parallel worked example for Support (model it, do not give the task answer): Elizabeth I became queen in 1558 and died in 1603. How many years did she reign? Later date first: 1603.; Subtract: 1603 − 1558.; 1603 − 1500 = 103, then 103 − 58 = 45.. Answer: 45 years.
Core — reveal the hint only on request: Later date minus earlier date. Do not count both end years.
Stretch — no help; when finished: Aurangzeb also reigned for about fifty years. Explain why a long reign helped Akbar but, in the end, did not save Aurangzeb.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emperor is known as the Great for his tolerance, his administration and his support for culture?
Answer: A   Akbar. Akbar reigned for 49 years, built the tax system, welcomed all religions and paid for the arts, so he is remembered as Akbar the Great.
Source of this question: gate item 1 re-asked (options rotated) — this chapter has no third quick-check module.
The ebook also holds task 3, "Match the emperor to the legacy",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emperors in order. Reveal the answer; pupils mark their own work in a different colour, then read the "why" together. Same destination for every lane, so one answer serves the whole class.
Answer: Babur, founder of the Empire (1526)  (C); Humayun, exiled and restored (1530)  (D); Akbar the Great (1556)  (B); Jahangir, Holder of the World (1605)  (A); Shah Jahan, builder of the Taj Mahal (1627)  (F); Aurangzeb, the last great Mughal (1657)  (E)
Why: Babur 1526, Humayun 1530, Akbar 1556, Jahangir 1605, Shah Jahan 1627, Aurangzeb 1657: father to son for six reigns.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long did Akbar reign?. Reveal the answer; pupils mark their own work in a different colour, then read the "why" together. Same destination for every lane, so one answer serves the whole class.
Answer: 49 years
Why: 1605 − 1556 = 49 years. A long, stable reign gave Akbar time to build the tax system, the communication network and the tolerant court that made the Empire rich.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Akbar
Why: Akbar reigned for 49 years, built the tax system, welcomed all religions and paid for the arts, so he is remembered as Akbar the Great.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Mughal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Mughal India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Mughal India · AQA KS3 → 8145</a:t>
            </a:r>
            <a:endParaRPr lang="en-US" sz="1800" dirty="0"/>
          </a:p>
        </p:txBody>
      </p:sp>
      <p:sp>
        <p:nvSpPr>
          <p:cNvPr id="10" name="deck-title"/>
          <p:cNvSpPr txBox="1"/>
          <p:nvPr/>
        </p:nvSpPr>
        <p:spPr>
          <a:xfrm>
            <a:off x="548640" y="252526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Six emperors, 1526 to 1707: who was the greatest?</a:t>
            </a:r>
            <a:endParaRPr lang="en-US" sz="3200" dirty="0"/>
          </a:p>
        </p:txBody>
      </p:sp>
      <p:sp>
        <p:nvSpPr>
          <p:cNvPr id="11" name="lessons-card"/>
          <p:cNvSpPr/>
          <p:nvPr/>
        </p:nvSpPr>
        <p:spPr>
          <a:xfrm>
            <a:off x="548640" y="3937508"/>
            <a:ext cx="5287975" cy="980440"/>
          </a:xfrm>
          <a:prstGeom prst="roundRect">
            <a:avLst>
              <a:gd name="adj" fmla="val 7461"/>
            </a:avLst>
          </a:prstGeom>
          <a:solidFill>
            <a:srgbClr val="F4F0EC"/>
          </a:solidFill>
          <a:ln/>
        </p:spPr>
      </p:sp>
      <p:sp>
        <p:nvSpPr>
          <p:cNvPr id="12" name="lessons"/>
          <p:cNvSpPr txBox="1"/>
          <p:nvPr/>
        </p:nvSpPr>
        <p:spPr>
          <a:xfrm>
            <a:off x="685800" y="402894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Creation of the Mughal Empire</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far do you agree that the Mughal Empire achieved a legacy of greatness?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emperor is known as the Great for his tolerance, his administration and his support for culture?</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Babur</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Akbar</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Jahangir</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Aurangzeb</a:t>
            </a:r>
            <a:endParaRPr lang="en-US" sz="2200" dirty="0"/>
          </a:p>
        </p:txBody>
      </p:sp>
      <p:sp>
        <p:nvSpPr>
          <p:cNvPr id="12"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1540 Humayun was forced into ___ and did not win back his throne until 1555.</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exile  ·  prison  ·  retirement</a:t>
            </a:r>
            <a:endParaRPr lang="en-US" sz="2400" dirty="0"/>
          </a:p>
        </p:txBody>
      </p:sp>
      <p:sp>
        <p:nvSpPr>
          <p:cNvPr id="17"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emperor paid for the building of the Taj Mahal?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Humayun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Aurangzeb</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Shah Jahan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Akbar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Akbar</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emperor is known as the Great for his tolerance, his administration and his support for culture?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Akbar reigned for 49 years, built the tax system, welcomed all religions and paid for the arts, so he is remembered as Akbar the Great.</a:t>
            </a:r>
            <a:endParaRPr lang="en-US" sz="1800" dirty="0"/>
          </a:p>
        </p:txBody>
      </p:sp>
      <p:sp>
        <p:nvSpPr>
          <p:cNvPr id="14"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exile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1540 Humayun was forced into ___ and did not win back his throne until 1555.</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Humayun had to leave the Empire in 1540 and spent fifteen years finding support before he retook the throne in 1555.</a:t>
            </a:r>
            <a:endParaRPr lang="en-US" sz="1800" dirty="0"/>
          </a:p>
        </p:txBody>
      </p:sp>
      <p:sp>
        <p:nvSpPr>
          <p:cNvPr id="21"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Shah Jahan</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emperor paid for the building of the Taj Mahal?</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Shah Jahan, who reigned from 1627, paid for many great buildings, and the Taj Mahal is the most famous of them.</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7A4A1E"/>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604317"/>
          </a:xfrm>
          <a:prstGeom prst="roundRect">
            <a:avLst>
              <a:gd name="adj" fmla="val 9079"/>
            </a:avLst>
          </a:prstGeom>
          <a:solidFill>
            <a:srgbClr val="F6F3F0"/>
          </a:solidFill>
          <a:ln/>
        </p:spPr>
      </p:sp>
      <p:sp>
        <p:nvSpPr>
          <p:cNvPr id="12" name="kw-hex"/>
          <p:cNvSpPr/>
          <p:nvPr/>
        </p:nvSpPr>
        <p:spPr>
          <a:xfrm>
            <a:off x="658368" y="2044228"/>
            <a:ext cx="411480" cy="356342"/>
          </a:xfrm>
          <a:prstGeom prst="hexagon">
            <a:avLst/>
          </a:prstGeom>
          <a:solidFill>
            <a:srgbClr val="7A4A1E"/>
          </a:solidFill>
          <a:ln/>
        </p:spPr>
      </p:sp>
      <p:sp>
        <p:nvSpPr>
          <p:cNvPr id="13" name="kw-cell"/>
          <p:cNvSpPr txBox="1"/>
          <p:nvPr/>
        </p:nvSpPr>
        <p:spPr>
          <a:xfrm>
            <a:off x="1143000" y="1920240"/>
            <a:ext cx="2331720" cy="604317"/>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reign</a:t>
            </a:r>
            <a:endParaRPr lang="en-US" sz="2000" dirty="0"/>
          </a:p>
        </p:txBody>
      </p:sp>
      <p:sp>
        <p:nvSpPr>
          <p:cNvPr id="14" name="kw-cell"/>
          <p:cNvSpPr txBox="1"/>
          <p:nvPr/>
        </p:nvSpPr>
        <p:spPr>
          <a:xfrm>
            <a:off x="3657600" y="1920240"/>
            <a:ext cx="3474720" cy="60431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time a ruler is in power</a:t>
            </a:r>
            <a:endParaRPr lang="en-US" sz="1800" dirty="0"/>
          </a:p>
        </p:txBody>
      </p:sp>
      <p:sp>
        <p:nvSpPr>
          <p:cNvPr id="15" name="kw-cell"/>
          <p:cNvSpPr txBox="1"/>
          <p:nvPr/>
        </p:nvSpPr>
        <p:spPr>
          <a:xfrm>
            <a:off x="7315200" y="1920240"/>
            <a:ext cx="4236415" cy="60431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Akbar's reign lasted 49 years.</a:t>
            </a:r>
            <a:endParaRPr lang="en-US" sz="1800" dirty="0"/>
          </a:p>
        </p:txBody>
      </p:sp>
      <p:sp>
        <p:nvSpPr>
          <p:cNvPr id="16" name="kw-row"/>
          <p:cNvSpPr/>
          <p:nvPr/>
        </p:nvSpPr>
        <p:spPr>
          <a:xfrm>
            <a:off x="548640" y="2597709"/>
            <a:ext cx="11094415" cy="831901"/>
          </a:xfrm>
          <a:prstGeom prst="roundRect">
            <a:avLst>
              <a:gd name="adj" fmla="val 6595"/>
            </a:avLst>
          </a:prstGeom>
          <a:solidFill>
            <a:srgbClr val="F8F2E9"/>
          </a:solidFill>
          <a:ln/>
        </p:spPr>
      </p:sp>
      <p:sp>
        <p:nvSpPr>
          <p:cNvPr id="17" name="kw-hex"/>
          <p:cNvSpPr/>
          <p:nvPr/>
        </p:nvSpPr>
        <p:spPr>
          <a:xfrm>
            <a:off x="658368" y="2835488"/>
            <a:ext cx="411480" cy="356342"/>
          </a:xfrm>
          <a:prstGeom prst="hexagon">
            <a:avLst/>
          </a:prstGeom>
          <a:solidFill>
            <a:srgbClr val="B8862B"/>
          </a:solidFill>
          <a:ln/>
        </p:spPr>
      </p:sp>
      <p:sp>
        <p:nvSpPr>
          <p:cNvPr id="18" name="kw-cell"/>
          <p:cNvSpPr txBox="1"/>
          <p:nvPr/>
        </p:nvSpPr>
        <p:spPr>
          <a:xfrm>
            <a:off x="1143000" y="2597709"/>
            <a:ext cx="2331720" cy="831901"/>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exile</a:t>
            </a:r>
            <a:endParaRPr lang="en-US" sz="2000" dirty="0"/>
          </a:p>
        </p:txBody>
      </p:sp>
      <p:sp>
        <p:nvSpPr>
          <p:cNvPr id="19" name="kw-cell"/>
          <p:cNvSpPr txBox="1"/>
          <p:nvPr/>
        </p:nvSpPr>
        <p:spPr>
          <a:xfrm>
            <a:off x="3657600" y="2597709"/>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being forced to leave your own country</a:t>
            </a:r>
            <a:endParaRPr lang="en-US" sz="1800" dirty="0"/>
          </a:p>
        </p:txBody>
      </p:sp>
      <p:sp>
        <p:nvSpPr>
          <p:cNvPr id="20" name="kw-cell"/>
          <p:cNvSpPr txBox="1"/>
          <p:nvPr/>
        </p:nvSpPr>
        <p:spPr>
          <a:xfrm>
            <a:off x="7315200" y="2597709"/>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Humayun spent fifteen years in exile before he won back his throne.</a:t>
            </a:r>
            <a:endParaRPr lang="en-US" sz="1800" dirty="0"/>
          </a:p>
        </p:txBody>
      </p:sp>
      <p:sp>
        <p:nvSpPr>
          <p:cNvPr id="21" name="kw-row"/>
          <p:cNvSpPr/>
          <p:nvPr/>
        </p:nvSpPr>
        <p:spPr>
          <a:xfrm>
            <a:off x="548640" y="3502762"/>
            <a:ext cx="11094415" cy="831901"/>
          </a:xfrm>
          <a:prstGeom prst="roundRect">
            <a:avLst>
              <a:gd name="adj" fmla="val 6595"/>
            </a:avLst>
          </a:prstGeom>
          <a:solidFill>
            <a:srgbClr val="F6F3F0"/>
          </a:solidFill>
          <a:ln/>
        </p:spPr>
      </p:sp>
      <p:sp>
        <p:nvSpPr>
          <p:cNvPr id="22" name="kw-hex"/>
          <p:cNvSpPr/>
          <p:nvPr/>
        </p:nvSpPr>
        <p:spPr>
          <a:xfrm>
            <a:off x="658368" y="3740541"/>
            <a:ext cx="411480" cy="356342"/>
          </a:xfrm>
          <a:prstGeom prst="hexagon">
            <a:avLst/>
          </a:prstGeom>
          <a:solidFill>
            <a:srgbClr val="7A4A1E"/>
          </a:solidFill>
          <a:ln/>
        </p:spPr>
      </p:sp>
      <p:sp>
        <p:nvSpPr>
          <p:cNvPr id="23" name="kw-cell"/>
          <p:cNvSpPr txBox="1"/>
          <p:nvPr/>
        </p:nvSpPr>
        <p:spPr>
          <a:xfrm>
            <a:off x="1143000" y="3502762"/>
            <a:ext cx="2331720" cy="831901"/>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administration</a:t>
            </a:r>
            <a:endParaRPr lang="en-US" sz="2000" dirty="0"/>
          </a:p>
        </p:txBody>
      </p:sp>
      <p:sp>
        <p:nvSpPr>
          <p:cNvPr id="24" name="kw-cell"/>
          <p:cNvSpPr txBox="1"/>
          <p:nvPr/>
        </p:nvSpPr>
        <p:spPr>
          <a:xfrm>
            <a:off x="3657600" y="3502762"/>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systems that run an empire, such as collecting taxes</a:t>
            </a:r>
            <a:endParaRPr lang="en-US" sz="1800" dirty="0"/>
          </a:p>
        </p:txBody>
      </p:sp>
      <p:sp>
        <p:nvSpPr>
          <p:cNvPr id="25" name="kw-cell"/>
          <p:cNvSpPr txBox="1"/>
          <p:nvPr/>
        </p:nvSpPr>
        <p:spPr>
          <a:xfrm>
            <a:off x="7315200" y="3502762"/>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Akbar built the administration that his grandfather had never set up.</a:t>
            </a:r>
            <a:endParaRPr lang="en-US" sz="1800" dirty="0"/>
          </a:p>
        </p:txBody>
      </p:sp>
      <p:sp>
        <p:nvSpPr>
          <p:cNvPr id="26" name="kw-row"/>
          <p:cNvSpPr/>
          <p:nvPr/>
        </p:nvSpPr>
        <p:spPr>
          <a:xfrm>
            <a:off x="548640" y="4407814"/>
            <a:ext cx="11094415" cy="831901"/>
          </a:xfrm>
          <a:prstGeom prst="roundRect">
            <a:avLst>
              <a:gd name="adj" fmla="val 6595"/>
            </a:avLst>
          </a:prstGeom>
          <a:solidFill>
            <a:srgbClr val="F8F2E9"/>
          </a:solidFill>
          <a:ln/>
        </p:spPr>
      </p:sp>
      <p:sp>
        <p:nvSpPr>
          <p:cNvPr id="27" name="kw-hex"/>
          <p:cNvSpPr/>
          <p:nvPr/>
        </p:nvSpPr>
        <p:spPr>
          <a:xfrm>
            <a:off x="658368" y="4645594"/>
            <a:ext cx="411480" cy="356342"/>
          </a:xfrm>
          <a:prstGeom prst="hexagon">
            <a:avLst/>
          </a:prstGeom>
          <a:solidFill>
            <a:srgbClr val="B8862B"/>
          </a:solidFill>
          <a:ln/>
        </p:spPr>
      </p:sp>
      <p:sp>
        <p:nvSpPr>
          <p:cNvPr id="28" name="kw-cell"/>
          <p:cNvSpPr txBox="1"/>
          <p:nvPr/>
        </p:nvSpPr>
        <p:spPr>
          <a:xfrm>
            <a:off x="1143000" y="4407814"/>
            <a:ext cx="2331720" cy="831901"/>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tolerance</a:t>
            </a:r>
            <a:endParaRPr lang="en-US" sz="2000" dirty="0"/>
          </a:p>
        </p:txBody>
      </p:sp>
      <p:sp>
        <p:nvSpPr>
          <p:cNvPr id="29" name="kw-cell"/>
          <p:cNvSpPr txBox="1"/>
          <p:nvPr/>
        </p:nvSpPr>
        <p:spPr>
          <a:xfrm>
            <a:off x="3657600" y="4407814"/>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accepting people whose religion is different from yours</a:t>
            </a:r>
            <a:endParaRPr lang="en-US" sz="1800" dirty="0"/>
          </a:p>
        </p:txBody>
      </p:sp>
      <p:sp>
        <p:nvSpPr>
          <p:cNvPr id="30" name="kw-cell"/>
          <p:cNvSpPr txBox="1"/>
          <p:nvPr/>
        </p:nvSpPr>
        <p:spPr>
          <a:xfrm>
            <a:off x="7315200" y="4407814"/>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Akbar's tolerance meant all religions were welcome in his Empire.</a:t>
            </a:r>
            <a:endParaRPr lang="en-US" sz="1800" dirty="0"/>
          </a:p>
        </p:txBody>
      </p:sp>
      <p:sp>
        <p:nvSpPr>
          <p:cNvPr id="31" name="kw-row"/>
          <p:cNvSpPr/>
          <p:nvPr/>
        </p:nvSpPr>
        <p:spPr>
          <a:xfrm>
            <a:off x="548640" y="5312867"/>
            <a:ext cx="11094415" cy="831901"/>
          </a:xfrm>
          <a:prstGeom prst="roundRect">
            <a:avLst>
              <a:gd name="adj" fmla="val 6595"/>
            </a:avLst>
          </a:prstGeom>
          <a:solidFill>
            <a:srgbClr val="F6F3F0"/>
          </a:solidFill>
          <a:ln/>
        </p:spPr>
      </p:sp>
      <p:sp>
        <p:nvSpPr>
          <p:cNvPr id="32" name="kw-hex"/>
          <p:cNvSpPr/>
          <p:nvPr/>
        </p:nvSpPr>
        <p:spPr>
          <a:xfrm>
            <a:off x="658368" y="5550647"/>
            <a:ext cx="411480" cy="356342"/>
          </a:xfrm>
          <a:prstGeom prst="hexagon">
            <a:avLst/>
          </a:prstGeom>
          <a:solidFill>
            <a:srgbClr val="7A4A1E"/>
          </a:solidFill>
          <a:ln/>
        </p:spPr>
      </p:sp>
      <p:sp>
        <p:nvSpPr>
          <p:cNvPr id="33" name="kw-cell"/>
          <p:cNvSpPr txBox="1"/>
          <p:nvPr/>
        </p:nvSpPr>
        <p:spPr>
          <a:xfrm>
            <a:off x="1143000" y="5312867"/>
            <a:ext cx="2331720" cy="831901"/>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succession</a:t>
            </a:r>
            <a:endParaRPr lang="en-US" sz="2000" dirty="0"/>
          </a:p>
        </p:txBody>
      </p:sp>
      <p:sp>
        <p:nvSpPr>
          <p:cNvPr id="34" name="kw-cell"/>
          <p:cNvSpPr txBox="1"/>
          <p:nvPr/>
        </p:nvSpPr>
        <p:spPr>
          <a:xfrm>
            <a:off x="3657600" y="5312867"/>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who becomes ruler next</a:t>
            </a:r>
            <a:endParaRPr lang="en-US" sz="1800" dirty="0"/>
          </a:p>
        </p:txBody>
      </p:sp>
      <p:sp>
        <p:nvSpPr>
          <p:cNvPr id="35" name="kw-cell"/>
          <p:cNvSpPr txBox="1"/>
          <p:nvPr/>
        </p:nvSpPr>
        <p:spPr>
          <a:xfrm>
            <a:off x="7315200" y="5312867"/>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fight over the succession followed Shah Jahan's reign.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Six emperors ruled the Mughal Empire between 1526 and 1707.</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Babur founded the Empire but left it poor.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 son Humayun was weak, lost his throne in 1540, and won it back in 1555.</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Humayun's son Akbar ruled for 49 years.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Akbar built a tax system, welcomed all religions and made the Empire rich.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People called him Akbar the Great.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 son Jahangir loved art but struggled with alcohol and drugs.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Jahangir's wife, Nur Jahan, was a talented leader who made up for his faults.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Shah Jahan took the Empire to the height of its power and built the Taj Mahal.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 sons then fought over who should rule next.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Aurangzeb won and ruled for 50 years, making the Empire its largest ever.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But he was intolerant of other religions, and the decline began after he died in 1707.</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Humayun: a throne lost and won back</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orked-panel"/>
          <p:cNvSpPr/>
          <p:nvPr/>
        </p:nvSpPr>
        <p:spPr>
          <a:xfrm>
            <a:off x="5989320" y="1389888"/>
            <a:ext cx="5653735" cy="4754880"/>
          </a:xfrm>
          <a:prstGeom prst="roundRect">
            <a:avLst>
              <a:gd name="adj" fmla="val 962"/>
            </a:avLst>
          </a:prstGeom>
          <a:solidFill>
            <a:srgbClr val="FFFFFF"/>
          </a:solidFill>
          <a:ln w="15875">
            <a:solidFill>
              <a:srgbClr val="BEA792"/>
            </a:solidFill>
            <a:prstDash val="solid"/>
          </a:ln>
        </p:spPr>
      </p:sp>
      <p:sp>
        <p:nvSpPr>
          <p:cNvPr id="8" name="worked-tab"/>
          <p:cNvSpPr/>
          <p:nvPr/>
        </p:nvSpPr>
        <p:spPr>
          <a:xfrm>
            <a:off x="6126480" y="1499616"/>
            <a:ext cx="2377440" cy="457200"/>
          </a:xfrm>
          <a:prstGeom prst="roundRect">
            <a:avLst>
              <a:gd name="adj" fmla="val 40000"/>
            </a:avLst>
          </a:prstGeom>
          <a:solidFill>
            <a:srgbClr val="7A4A1E"/>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9" name="worked-q"/>
          <p:cNvSpPr txBox="1"/>
          <p:nvPr/>
        </p:nvSpPr>
        <p:spPr>
          <a:xfrm>
            <a:off x="6126480" y="2066544"/>
            <a:ext cx="5379415" cy="405892"/>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How long was Humayun in exile?</a:t>
            </a:r>
            <a:endParaRPr lang="en-US" sz="1800" dirty="0"/>
          </a:p>
        </p:txBody>
      </p:sp>
      <p:sp>
        <p:nvSpPr>
          <p:cNvPr id="10" name="step-box"/>
          <p:cNvSpPr/>
          <p:nvPr/>
        </p:nvSpPr>
        <p:spPr>
          <a:xfrm>
            <a:off x="6126480" y="2609596"/>
            <a:ext cx="5379415" cy="749808"/>
          </a:xfrm>
          <a:prstGeom prst="roundRect">
            <a:avLst>
              <a:gd name="adj" fmla="val 12195"/>
            </a:avLst>
          </a:prstGeom>
          <a:solidFill>
            <a:srgbClr val="F4F0EC"/>
          </a:solidFill>
          <a:ln/>
        </p:spPr>
      </p:sp>
      <p:sp>
        <p:nvSpPr>
          <p:cNvPr id="11" name="step-hex"/>
          <p:cNvSpPr/>
          <p:nvPr/>
        </p:nvSpPr>
        <p:spPr>
          <a:xfrm>
            <a:off x="6217920" y="2802370"/>
            <a:ext cx="420624" cy="364260"/>
          </a:xfrm>
          <a:prstGeom prst="hexagon">
            <a:avLst/>
          </a:prstGeom>
          <a:solidFill>
            <a:srgbClr val="7A4A1E"/>
          </a:solidFill>
          <a:ln/>
        </p:spPr>
      </p:sp>
      <p:sp>
        <p:nvSpPr>
          <p:cNvPr id="12" name="step-hex-label"/>
          <p:cNvSpPr txBox="1"/>
          <p:nvPr/>
        </p:nvSpPr>
        <p:spPr>
          <a:xfrm>
            <a:off x="6217920" y="280237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3" name="step"/>
          <p:cNvSpPr txBox="1"/>
          <p:nvPr/>
        </p:nvSpPr>
        <p:spPr>
          <a:xfrm>
            <a:off x="6766560" y="2609596"/>
            <a:ext cx="4739335" cy="74980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Find the two dates: forced into exile in 1540, retook the throne in 1555.</a:t>
            </a:r>
            <a:endParaRPr lang="en-US" sz="1800" dirty="0"/>
          </a:p>
        </p:txBody>
      </p:sp>
      <p:sp>
        <p:nvSpPr>
          <p:cNvPr id="14" name="step-box"/>
          <p:cNvSpPr/>
          <p:nvPr/>
        </p:nvSpPr>
        <p:spPr>
          <a:xfrm>
            <a:off x="6126480" y="3450844"/>
            <a:ext cx="5379415" cy="522224"/>
          </a:xfrm>
          <a:prstGeom prst="roundRect">
            <a:avLst>
              <a:gd name="adj" fmla="val 17510"/>
            </a:avLst>
          </a:prstGeom>
          <a:solidFill>
            <a:srgbClr val="F4F0EC"/>
          </a:solidFill>
          <a:ln/>
        </p:spPr>
      </p:sp>
      <p:sp>
        <p:nvSpPr>
          <p:cNvPr id="15" name="step-hex"/>
          <p:cNvSpPr/>
          <p:nvPr/>
        </p:nvSpPr>
        <p:spPr>
          <a:xfrm>
            <a:off x="6217920" y="3529826"/>
            <a:ext cx="420624" cy="364260"/>
          </a:xfrm>
          <a:prstGeom prst="hexagon">
            <a:avLst/>
          </a:prstGeom>
          <a:solidFill>
            <a:srgbClr val="7A4A1E"/>
          </a:solidFill>
          <a:ln/>
        </p:spPr>
      </p:sp>
      <p:sp>
        <p:nvSpPr>
          <p:cNvPr id="16" name="step-hex-label"/>
          <p:cNvSpPr txBox="1"/>
          <p:nvPr/>
        </p:nvSpPr>
        <p:spPr>
          <a:xfrm>
            <a:off x="6217920" y="352982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step"/>
          <p:cNvSpPr txBox="1"/>
          <p:nvPr/>
        </p:nvSpPr>
        <p:spPr>
          <a:xfrm>
            <a:off x="6766560" y="3450844"/>
            <a:ext cx="4739335" cy="5222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Later date minus earlier date: 1555 − 1540.</a:t>
            </a:r>
            <a:endParaRPr lang="en-US" sz="1800" dirty="0"/>
          </a:p>
        </p:txBody>
      </p:sp>
      <p:sp>
        <p:nvSpPr>
          <p:cNvPr id="18" name="step-box"/>
          <p:cNvSpPr/>
          <p:nvPr/>
        </p:nvSpPr>
        <p:spPr>
          <a:xfrm>
            <a:off x="6126480" y="4064508"/>
            <a:ext cx="5379415" cy="522224"/>
          </a:xfrm>
          <a:prstGeom prst="roundRect">
            <a:avLst>
              <a:gd name="adj" fmla="val 17510"/>
            </a:avLst>
          </a:prstGeom>
          <a:solidFill>
            <a:srgbClr val="F4F0EC"/>
          </a:solidFill>
          <a:ln/>
        </p:spPr>
      </p:sp>
      <p:sp>
        <p:nvSpPr>
          <p:cNvPr id="19" name="step-hex"/>
          <p:cNvSpPr/>
          <p:nvPr/>
        </p:nvSpPr>
        <p:spPr>
          <a:xfrm>
            <a:off x="6217920" y="4143490"/>
            <a:ext cx="420624" cy="364260"/>
          </a:xfrm>
          <a:prstGeom prst="hexagon">
            <a:avLst/>
          </a:prstGeom>
          <a:solidFill>
            <a:srgbClr val="7A4A1E"/>
          </a:solidFill>
          <a:ln/>
        </p:spPr>
      </p:sp>
      <p:sp>
        <p:nvSpPr>
          <p:cNvPr id="20" name="step-hex-label"/>
          <p:cNvSpPr txBox="1"/>
          <p:nvPr/>
        </p:nvSpPr>
        <p:spPr>
          <a:xfrm>
            <a:off x="6217920" y="41434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step"/>
          <p:cNvSpPr txBox="1"/>
          <p:nvPr/>
        </p:nvSpPr>
        <p:spPr>
          <a:xfrm>
            <a:off x="6766560" y="4064508"/>
            <a:ext cx="4739335" cy="5222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55 − 40 = 15.</a:t>
            </a:r>
            <a:endParaRPr lang="en-US" sz="1800" dirty="0"/>
          </a:p>
        </p:txBody>
      </p:sp>
      <p:sp>
        <p:nvSpPr>
          <p:cNvPr id="22" name="step-box"/>
          <p:cNvSpPr/>
          <p:nvPr/>
        </p:nvSpPr>
        <p:spPr>
          <a:xfrm>
            <a:off x="6126480" y="4678172"/>
            <a:ext cx="5379415" cy="749808"/>
          </a:xfrm>
          <a:prstGeom prst="roundRect">
            <a:avLst>
              <a:gd name="adj" fmla="val 12195"/>
            </a:avLst>
          </a:prstGeom>
          <a:solidFill>
            <a:srgbClr val="F4F0EC"/>
          </a:solidFill>
          <a:ln/>
        </p:spPr>
      </p:sp>
      <p:sp>
        <p:nvSpPr>
          <p:cNvPr id="23" name="step-hex"/>
          <p:cNvSpPr/>
          <p:nvPr/>
        </p:nvSpPr>
        <p:spPr>
          <a:xfrm>
            <a:off x="6217920" y="4870946"/>
            <a:ext cx="420624" cy="364260"/>
          </a:xfrm>
          <a:prstGeom prst="hexagon">
            <a:avLst/>
          </a:prstGeom>
          <a:solidFill>
            <a:srgbClr val="7A4A1E"/>
          </a:solidFill>
          <a:ln/>
        </p:spPr>
      </p:sp>
      <p:sp>
        <p:nvSpPr>
          <p:cNvPr id="24" name="step-hex-label"/>
          <p:cNvSpPr txBox="1"/>
          <p:nvPr/>
        </p:nvSpPr>
        <p:spPr>
          <a:xfrm>
            <a:off x="6217920" y="487094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5" name="step"/>
          <p:cNvSpPr txBox="1"/>
          <p:nvPr/>
        </p:nvSpPr>
        <p:spPr>
          <a:xfrm>
            <a:off x="6766560" y="4678172"/>
            <a:ext cx="4739335" cy="74980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your lesson says it took him fifteen years to take back control.</a:t>
            </a:r>
            <a:endParaRPr lang="en-US" sz="1800" dirty="0"/>
          </a:p>
        </p:txBody>
      </p:sp>
      <p:sp>
        <p:nvSpPr>
          <p:cNvPr id="26" name="worked-answer"/>
          <p:cNvSpPr/>
          <p:nvPr/>
        </p:nvSpPr>
        <p:spPr>
          <a:xfrm>
            <a:off x="6126480" y="5565140"/>
            <a:ext cx="5379415" cy="552196"/>
          </a:xfrm>
          <a:prstGeom prst="roundRect">
            <a:avLst>
              <a:gd name="adj" fmla="val 33119"/>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15 years</a:t>
            </a:r>
            <a:endParaRPr lang="en-US" sz="1800" dirty="0"/>
          </a:p>
        </p:txBody>
      </p:sp>
      <p:sp>
        <p:nvSpPr>
          <p:cNvPr id="27" name="bullet-card"/>
          <p:cNvSpPr/>
          <p:nvPr/>
        </p:nvSpPr>
        <p:spPr>
          <a:xfrm>
            <a:off x="548640" y="1389888"/>
            <a:ext cx="5074920" cy="919311"/>
          </a:xfrm>
          <a:prstGeom prst="roundRect">
            <a:avLst>
              <a:gd name="adj" fmla="val 7957"/>
            </a:avLst>
          </a:prstGeom>
          <a:solidFill>
            <a:srgbClr val="F6F3F0"/>
          </a:solidFill>
          <a:ln/>
        </p:spPr>
      </p:sp>
      <p:sp>
        <p:nvSpPr>
          <p:cNvPr id="28" name="bullet-hex"/>
          <p:cNvSpPr/>
          <p:nvPr/>
        </p:nvSpPr>
        <p:spPr>
          <a:xfrm>
            <a:off x="676656" y="1683251"/>
            <a:ext cx="384048" cy="332586"/>
          </a:xfrm>
          <a:prstGeom prst="hexagon">
            <a:avLst/>
          </a:prstGeom>
          <a:solidFill>
            <a:srgbClr val="7A4A1E"/>
          </a:solidFill>
          <a:ln/>
        </p:spPr>
      </p:sp>
      <p:sp>
        <p:nvSpPr>
          <p:cNvPr id="29" name="bullet"/>
          <p:cNvSpPr txBox="1"/>
          <p:nvPr/>
        </p:nvSpPr>
        <p:spPr>
          <a:xfrm>
            <a:off x="1143000" y="1389888"/>
            <a:ext cx="4389120" cy="91931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Humayun, Babur's son, became emperor in 1530 at 22 years old.</a:t>
            </a:r>
            <a:endParaRPr lang="en-US" sz="2200" dirty="0"/>
          </a:p>
        </p:txBody>
      </p:sp>
      <p:sp>
        <p:nvSpPr>
          <p:cNvPr id="30" name="bullet-card"/>
          <p:cNvSpPr/>
          <p:nvPr/>
        </p:nvSpPr>
        <p:spPr>
          <a:xfrm>
            <a:off x="548640" y="2455503"/>
            <a:ext cx="5074920" cy="1601047"/>
          </a:xfrm>
          <a:prstGeom prst="roundRect">
            <a:avLst>
              <a:gd name="adj" fmla="val 4569"/>
            </a:avLst>
          </a:prstGeom>
          <a:solidFill>
            <a:srgbClr val="F6F3F0"/>
          </a:solidFill>
          <a:ln/>
        </p:spPr>
      </p:sp>
      <p:sp>
        <p:nvSpPr>
          <p:cNvPr id="31" name="bullet-hex"/>
          <p:cNvSpPr/>
          <p:nvPr/>
        </p:nvSpPr>
        <p:spPr>
          <a:xfrm>
            <a:off x="676656" y="3089733"/>
            <a:ext cx="384048" cy="332586"/>
          </a:xfrm>
          <a:prstGeom prst="hexagon">
            <a:avLst/>
          </a:prstGeom>
          <a:solidFill>
            <a:srgbClr val="B8862B"/>
          </a:solidFill>
          <a:ln/>
        </p:spPr>
      </p:sp>
      <p:sp>
        <p:nvSpPr>
          <p:cNvPr id="32" name="bullet"/>
          <p:cNvSpPr txBox="1"/>
          <p:nvPr/>
        </p:nvSpPr>
        <p:spPr>
          <a:xfrm>
            <a:off x="1143000" y="2455503"/>
            <a:ext cx="4389120" cy="160104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 1540 he was forced into exile: he had to leave the Empire and look for allies who would help him return.</a:t>
            </a:r>
            <a:endParaRPr lang="en-US" sz="2200" dirty="0"/>
          </a:p>
        </p:txBody>
      </p:sp>
      <p:sp>
        <p:nvSpPr>
          <p:cNvPr id="33" name="bullet-card"/>
          <p:cNvSpPr/>
          <p:nvPr/>
        </p:nvSpPr>
        <p:spPr>
          <a:xfrm>
            <a:off x="548640" y="4202853"/>
            <a:ext cx="5074920" cy="1941915"/>
          </a:xfrm>
          <a:prstGeom prst="roundRect">
            <a:avLst>
              <a:gd name="adj" fmla="val 3767"/>
            </a:avLst>
          </a:prstGeom>
          <a:solidFill>
            <a:srgbClr val="F6F3F0"/>
          </a:solidFill>
          <a:ln/>
        </p:spPr>
      </p:sp>
      <p:sp>
        <p:nvSpPr>
          <p:cNvPr id="34" name="bullet-hex"/>
          <p:cNvSpPr/>
          <p:nvPr/>
        </p:nvSpPr>
        <p:spPr>
          <a:xfrm>
            <a:off x="676656" y="5007518"/>
            <a:ext cx="384048" cy="332586"/>
          </a:xfrm>
          <a:prstGeom prst="hexagon">
            <a:avLst/>
          </a:prstGeom>
          <a:solidFill>
            <a:srgbClr val="7A4A1E"/>
          </a:solidFill>
          <a:ln/>
        </p:spPr>
      </p:sp>
      <p:sp>
        <p:nvSpPr>
          <p:cNvPr id="35" name="bullet"/>
          <p:cNvSpPr txBox="1"/>
          <p:nvPr/>
        </p:nvSpPr>
        <p:spPr>
          <a:xfrm>
            <a:off x="1143000" y="4202853"/>
            <a:ext cx="4389120" cy="194191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Back in power, Humayun began to set up the administration that had been missing under his father, including a system for collecting tax.</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Akbar the Great and Jahangir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Akbar is the yardstick. When you judge any other emperor, ask: did they keep Akbar's tolerance and his tax system, or lose them?</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Akbar, Humayun's son, became emperor in 1556 and reigned for 49 years, until 1605.</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Akbar made sure that all religions were welcomed in his Empire, and by the standards of his time people saw him as an extremely tolerant ruler.</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His son took the name Jahangir, meaning Holder of the World, when he became emperor in 1605.</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Shah Jahan and Aurangzeb</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Shah Jahan: peak and the Taj Mahal. Aurangzeb: largest size, but intolerance and the start of decline. Two emperors, two turning points.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Shah Jahan became emperor in 1627 and reigned for thirty years.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Aurangzeb won that struggle. Your lesson dates his reign from 1657, when Shah Jahan fell ill and the fighting began, to 1707: fifty years.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But Aurangzeb is also remembered for religious intolerance. He tried to make Islam the religion of the whole Empire, demolished temples and made Hindus pay a tax for protection.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How do you decide who was greatest?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Criteria first, choice second, evidence third. Say it in that order and your answer will always be fair.</a:t>
            </a:r>
            <a:endParaRPr lang="en-US" sz="1800" dirty="0"/>
          </a:p>
        </p:txBody>
      </p:sp>
      <p:sp>
        <p:nvSpPr>
          <p:cNvPr id="11" name="point-card"/>
          <p:cNvSpPr/>
          <p:nvPr/>
        </p:nvSpPr>
        <p:spPr>
          <a:xfrm>
            <a:off x="548640" y="1389888"/>
            <a:ext cx="3515258" cy="3964940"/>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asks you to rank the six emperors in a diamond, with the greatest at the top.</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Notice how the answer changes with the test. By size, Aurangzeb wins.</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 when you give your answer, say your criteria first, then your choice, then your evidence.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emperors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six Mughal emperors in the order they ruled.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Jahangir, Holder of the World (1605)</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Akbar the Great (1556)</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Babur, founder of the Empire (1526)</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Humayun, exiled and restored (1530)</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Aurangzeb, the last great Mughal (1657)</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Shah Jahan, builder of the Taj Mahal (1627)</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The emperors in order</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emperors in order</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Each name has the year his reign began in brackets. Find the smallest: that emperor came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Remember the family line: Babur, then his son, then his son's son, and so on.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Akbar is the grandson of the founder, so he is third.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Taj Mahal was built before the decline began, so Shah Jahan comes before Aurangzeb.</a:t>
            </a:r>
            <a:endParaRPr lang="en-US" sz="1800" dirty="0"/>
          </a:p>
        </p:txBody>
      </p:sp>
      <p:sp>
        <p:nvSpPr>
          <p:cNvPr id="17" name="col-Core"/>
          <p:cNvSpPr/>
          <p:nvPr/>
        </p:nvSpPr>
        <p:spPr>
          <a:xfrm>
            <a:off x="6425403" y="2395728"/>
            <a:ext cx="2471666" cy="3749040"/>
          </a:xfrm>
          <a:prstGeom prst="roundRect">
            <a:avLst>
              <a:gd name="adj" fmla="val 2220"/>
            </a:avLst>
          </a:prstGeom>
          <a:solidFill>
            <a:srgbClr val="E4DAD1"/>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Founder first, then his son, grandson and so on. The years in brackets settle any doubt.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historians treat Akbar as a turning point in this sequence. What did the Empire have after him that it did not have before?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How long did Akbar reign?</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Akbar became emperor in 1556 and died in 1605. How many years did he reign?</a:t>
            </a:r>
            <a:endParaRPr lang="en-US" sz="2000" dirty="0"/>
          </a:p>
          <a:p>
            <a:pPr algn="ctr" indent="0" marL="0">
              <a:buNone/>
            </a:pPr>
            <a:r>
              <a:rPr lang="en-US" sz="1800" b="1" dirty="0">
                <a:solidFill>
                  <a:srgbClr val="7A4A1E"/>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years</a:t>
            </a:r>
            <a:endParaRPr lang="en-US" sz="2000" dirty="0"/>
          </a:p>
        </p:txBody>
      </p:sp>
      <p:sp>
        <p:nvSpPr>
          <p:cNvPr id="12" name="col-Support"/>
          <p:cNvSpPr/>
          <p:nvPr/>
        </p:nvSpPr>
        <p:spPr>
          <a:xfrm>
            <a:off x="548640" y="2948940"/>
            <a:ext cx="4667802" cy="3195828"/>
          </a:xfrm>
          <a:prstGeom prst="roundRect">
            <a:avLst>
              <a:gd name="adj" fmla="val 1717"/>
            </a:avLst>
          </a:prstGeom>
          <a:solidFill>
            <a:srgbClr val="F4F0EC"/>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later date first: 1605.</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the earlier date: 1605 − 1556.</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Do it in two parts: 1605 − 1500 = 105, then 105 − 56 = 49.</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it is close to half a century, as your lesson says: a long reign.</a:t>
            </a:r>
            <a:endParaRPr lang="en-US" sz="1800" dirty="0"/>
          </a:p>
        </p:txBody>
      </p:sp>
      <p:sp>
        <p:nvSpPr>
          <p:cNvPr id="17" name="col-Core"/>
          <p:cNvSpPr/>
          <p:nvPr/>
        </p:nvSpPr>
        <p:spPr>
          <a:xfrm>
            <a:off x="5490762" y="2948940"/>
            <a:ext cx="2938987" cy="3195828"/>
          </a:xfrm>
          <a:prstGeom prst="roundRect">
            <a:avLst>
              <a:gd name="adj" fmla="val 1867"/>
            </a:avLst>
          </a:prstGeom>
          <a:solidFill>
            <a:srgbClr val="E4DAD1"/>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Later date minus earlier date. Do not count both end years.</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7A4A1E"/>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Aurangzeb also reigned for about fifty years. Explain why a long reign helped Akbar but, in the end, did not save Aurangzeb.</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emperor is known as the Great for his tolerance, his administration and his support for culture?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Akbar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Jahangir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Aurangzeb</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Babur</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emperors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Babur, founder of the Empire (1526)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Humayun, exiled and restored (1530)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Akbar the Great (1556)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Jahangir, Holder of the World (1605)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Shah Jahan, builder of the Taj Mahal (1627)  (F)</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Aurangzeb, the last great Mughal (1657)  (E)</a:t>
            </a:r>
            <a:endParaRPr lang="en-US" sz="24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Babur 1526, Humayun 1530, Akbar 1556, Jahangir 1605, Shah Jahan 1627, Aurangzeb 1657: father to son for six reigns.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How long did Akbar reign?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Akbar became emperor in 1556 and died in 1605. How many years did he reign?</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49 years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1605 − 1556 = 49 years. A long, stable reign gave Akbar time to build the tax system, the communication network and the tolerant court that made the Empire rich.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emperor is known as the Great for his tolerance, his administration and his support for culture?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Akbar</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Akbar reigned for 49 years, built the tax system, welcomed all religions and paid for the arts, so he is remembered as Akbar the Great.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Mughal India · Chapter 2: Six emperors, 1526 to 1707: who was the greatest?</dc:title>
  <dc:subject>History · Year 8</dc:subject>
  <dc:creator>Dr Vitor Merissi de Carvalho</dc:creator>
  <cp:lastModifiedBy>Dr Vitor Merissi de Carvalho</cp:lastModifiedBy>
  <cp:revision>1</cp:revision>
  <dcterms:created xsi:type="dcterms:W3CDTF">2026-10-19T06:07:56Z</dcterms:created>
  <dcterms:modified xsi:type="dcterms:W3CDTF">2026-10-19T06:07:56Z</dcterms:modified>
</cp:coreProperties>
</file>