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f6de2c3-21be-dbdb-f2e9-69c960a83337}">
          <p14:sldIdLst>
            <p14:sldId id="256"/>
          </p14:sldIdLst>
        </p14:section>
        <p14:section name="Gate" id="{02e303e2-9095-631c-e3f1-ad26f4b8ad9e}">
          <p14:sldIdLst>
            <p14:sldId id="257"/>
            <p14:sldId id="258"/>
          </p14:sldIdLst>
        </p14:section>
        <p14:section name="Pre-teach" id="{22b55cbe-3984-2a47-e693-627f4fe03d19}">
          <p14:sldIdLst>
            <p14:sldId id="259"/>
            <p14:sldId id="260"/>
          </p14:sldIdLst>
        </p14:section>
        <p14:section name="Read-along" id="{254adc1d-cd35-d6c5-14e1-5ab928d6eb7b}">
          <p14:sldIdLst>
            <p14:sldId id="261"/>
            <p14:sldId id="262"/>
          </p14:sldIdLst>
        </p14:section>
        <p14:section name="Teach" id="{0bb7fbbd-0f27-7787-778f-38ca06f9a9b5}">
          <p14:sldIdLst>
            <p14:sldId id="263"/>
            <p14:sldId id="264"/>
            <p14:sldId id="265"/>
            <p14:sldId id="266"/>
            <p14:sldId id="267"/>
            <p14:sldId id="268"/>
          </p14:sldIdLst>
        </p14:section>
        <p14:section name="Routes" id="{98559a6b-7034-e147-8b62-b413a099f7ab}">
          <p14:sldIdLst>
            <p14:sldId id="269"/>
            <p14:sldId id="270"/>
            <p14:sldId id="271"/>
            <p14:sldId id="272"/>
          </p14:sldIdLst>
        </p14:section>
        <p14:section name="Close" id="{dd97c484-cc51-3ba0-6b17-def50465eed6}">
          <p14:sldIdLst>
            <p14:sldId id="273"/>
          </p14:sldIdLst>
        </p14:section>
        <p14:section name="Answers" id="{1de8fd88-f03d-508e-aaa9-3aefa561c1d7}">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What made the Mughal Empire great?. What success means for an empire, the four factors that made the Mughals great, and how to build a PEEL paragraph that explains greatness.
This deck covers the department's lesson: 3 (Mughal Successes and Progress Check: How successful was the Mughal Empire at its peak, and why is it remembered as a great Empire?).
Read the big question aloud: "How far do you agree that the Mughal Empire achieved a legacy of greatness?"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According to your lesson, how many people did the Mughal Empire rule at its height?  →  B   Over 145 million
2. Akbar was helped to rule by nine talented advisers known as the ___.  →  Navratnas
3. Which of Akbar's policies brought a long period of peace to the Empire?  →  D   Welcoming all religions and promoting Hindus to positions in government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Over 145 million. Your lesson says the Empire expanded to cover most of India and ruled over 145 million people.
2. Navratnas. The Navratnas, the nine jewels, were the group of advisers who helped Akbar govern the Empire.
3. D   Welcoming all religions and promoting Hindus to positions in government. Akbar's religious tolerance, including giving Hindus power in government, meant the whole population felt included and brought peace and harmony.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success: achieving what you set out to do. Example: "Before judging success, decide what an empire is trying to achieve."
• expansion: growing bigger by taking more land. Example: "Expansion under Akbar and Aurangzeb made the Empire huge."
• tactics: the clever plans a general uses in battle. Example: "Babur's tactics beat an army six times the size of his own."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musket: an early type of gun fired from the shoulder. Example: "Mughal soldiers armed with muskets were very hard to beat."
• Navratnas: the nine jewels, Akbar's group of talented advisers. Example: "The Navratnas helped Akbar rule a vast Empire wisely."
• significance: why something matters, then and now. Example: "The long-term significance of the Mughals can still be seen in India today."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To judge an empire, you first have to decide what success means.
2. Your lesson gives four factors that made the Mughal Empire great.
3. The first is military success and expansion.
4. Mughal armies used clever tactics, muskets, cannons and war elephants.
5. The Empire grew to cover most of India and ruled over 145 million people.
6. The second factor is successful rulers and good government.
7. Akbar built a tax system and was helped by nine advisers called the Navratnas.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third factor is religion.
9. Akbar welcomed all religions and gave Hindus important jobs in government.
10. This brought a long period of peace.
11. The fourth factor is long-term impact.
12. Mughal buildings, music and the Urdu language are all still alive in India today.
13. Together, these factors explain why the Empire is remembered as great.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do we mean by success?. Say it in your own words, then check understanding with a quick question: ask a pupil from the pre-teach group first, since they met these words and ideas before the lesson. Pupils try to recall before you re-explain.
Before you can say whether the Mughal Empire was great, you need to know what you are measuring. Your lesson asks: what does success mean for an empire? If you were a Mughal emperor, what would you want to achieve? Land, wealth, peace, buildings that last, a people who accept your rule?
The lesson sorts the Empire's successes into four factors: expansion and military success; successful rulers and government; religious success; and long-term impact. Each factor is a different kind of greatness, and a strong answer uses more than one.
Keep the four factors as headings in your mind. When you meet a new fact about the Mughals, file it under one of them. That habit will build your essay for you.
Tip: Four headings: Military, Rulers and Government, Religion, Long-term. Every fact in this unit fits under at least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Military success and expansion. Say it in your own words, then check understanding with a quick question: ask a pupil from the pre-teach group first, since they met these words and ideas before the lesson. Pupils try to recall before you re-explain.
The Mughal army won because of good strategy and tactics. When Babur was fighting for Delhi he built a barricade and forced the enemy to come to him, then defeated them. The Mughals were among the early users of gunpowder weapons in India: their muskets, a type of gun, and their cannons made the army very powerful, and their giant war elephants frightened enemies.
With this army the Empire expanded until it covered most of India. Your lesson says that at its height it ruled over 145 million people, which made it one of the most powerful empires of its age. Akbar took more than half of India; Aurangzeb took most of the rest.
Expansion is the most visible kind of success, but notice its cost. Later in the unit you will see that the land Aurangzeb conquered in the Deccan took 26 years and a huge price in lives and gold. Success and failure can come from the same campaign.
Worked example — model it step by step, thinking aloud: Build a PEEL paragraph answering: Why is the Mughal Empire remembered as a great Empire? Use the factor of religion. (1) Point (SC1): One reason the Mughal Empire is remembered as great is its religious tolerance under Akbar. (2) Evidence (SC2): For example, Akbar welcomed all religions and promoted Hindus to positions of power in his government. (3) Explain (SC3): This shows the Empire was great because it brought a long period of peace and meant decisions took account of the whole population, not only its Muslim rulers. (4) Link (SC4): Therefore the Empire is remembered as great because its rulers united many different peoples rather than dividing them. Answer: Point, Evidence, Explain, Link: tolerance; Hindus in government; peace and fair decisions; so the Empire united its peoples..
Tip: Your progress check has four success criteria, SC1 to SC4. They are Point, Evidence, Explain, Link in disguise.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Military success and expansion. Say it in your own words, then check understanding with a quick question: ask a pupil from the pre-teach group first, since they met these words and ideas before the lesson. Pupils try to recall before you re-explain.
The Mughal army won because of good strategy and tactics. When Babur was fighting for Delhi he built a barricade and forced the enemy to come to him, then defeated them. The Mughals were among the early users of gunpowder weapons in India: their muskets, a type of gun, and their cannons made the army very powerful, and their giant war elephants frightened enemies.
With this army the Empire expanded until it covered most of India. Your lesson says that at its height it ruled over 145 million people, which made it one of the most powerful empires of its age. Akbar took more than half of India; Aurangzeb took most of the rest.
Expansion is the most visible kind of success, but notice its cost. Later in the unit you will see that the land Aurangzeb conquered in the Deccan took 26 years and a huge price in lives and gold. Success and failure can come from the same campaign.
Worked example — model it step by step, thinking aloud: Build a PEEL paragraph answering: Why is the Mughal Empire remembered as a great Empire? Use the factor of religion. (1) Point (SC1): One reason the Mughal Empire is remembered as great is its religious tolerance under Akbar. (2) Evidence (SC2): For example, Akbar welcomed all religions and promoted Hindus to positions of power in his government. (3) Explain (SC3): This shows the Empire was great because it brought a long period of peace and meant decisions took account of the whole population, not only its Muslim rulers. (4) Link (SC4): Therefore the Empire is remembered as great because its rulers united many different peoples rather than dividing them. Answer: Point, Evidence, Explain, Link: tolerance; Hindus in government; peace and fair decisions; so the Empire united its peoples..
Tip: Your progress check has four success criteria, SC1 to SC4. They are Point, Evidence, Explain, Link in disguise.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Military success and expansion. Say it in your own words, then check understanding with a quick question: ask a pupil from the pre-teach group first, since they met these words and ideas before the lesson. Pupils try to recall before you re-explain.
The Mughal army won because of good strategy and tactics. When Babur was fighting for Delhi he built a barricade and forced the enemy to come to him, then defeated them. The Mughals were among the early users of gunpowder weapons in India: their muskets, a type of gun, and their cannons made the army very powerful, and their giant war elephants frightened enemies.
With this army the Empire expanded until it covered most of India. Your lesson says that at its height it ruled over 145 million people, which made it one of the most powerful empires of its age. Akbar took more than half of India; Aurangzeb took most of the rest.
Expansion is the most visible kind of success, but notice its cost. Later in the unit you will see that the land Aurangzeb conquered in the Deccan took 26 years and a huge price in lives and gold. Success and failure can come from the same campaign.
Worked example — model it step by step, thinking aloud: Build a PEEL paragraph answering: Why is the Mughal Empire remembered as a great Empire? Use the factor of religion. (1) Point (SC1): One reason the Mughal Empire is remembered as great is its religious tolerance under Akbar. (2) Evidence (SC2): For example, Akbar welcomed all religions and promoted Hindus to positions of power in his government. (3) Explain (SC3): This shows the Empire was great because it brought a long period of peace and meant decisions took account of the whole population, not only its Muslim rulers. (4) Link (SC4): Therefore the Empire is remembered as great because its rulers united many different peoples rather than dividing them. Answer: Point, Evidence, Explain, Link: tolerance; Hindus in government; peace and fair decisions; so the Empire united its peoples..
Tip: Your progress check has four success criteria, SC1 to SC4. They are Point, Evidence, Explain, Link in disguise.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Rulers, government and religion. Say it in your own words, then check understanding with a quick question: ask a pupil from the pre-teach group first, since they met these words and ideas before the lesson. Pupils try to recall before you re-explain.
An empire needs more than an army. The Mughals were known for good government. Akbar set up a system for collecting tax and excellent communication across his lands, so the Empire became rich and the emperor's orders reached every province. He was helped by the Navratnas, the nine jewels: a group of nine talented advisers who helped him rule.
Religion was a success too, at least under Akbar. He welcomed all faiths and promoted Hindus to positions of power in the government. This meant the views of the whole population were taken into account when decisions were made, not just the views of the Muslim rulers, and it brought a long period of peace and harmony.
Aurangzeb shows the other side. He is remembered very positively by some, as a strong and devout ruler who made the Empire its largest, and very negatively by others, for his intolerance. When you use the factor of rulers, say which ruler you mean.
Tip: Akbar is your best example for government AND religion. Name him, name the Navratnas, name the tax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Long-term significance. Say it in your own words, then check understanding with a quick question: ask a pupil from the pre-teach group first, since they met these words and ideas before the lesson. Pupils try to recall before you re-explain.
The fourth factor is what the Empire left behind. Mughal monuments such as the Taj Mahal still stand and are visited by millions, which shows the Empire's lasting importance. The Urdu language, born in the Empire, is still spoken today. The music that mingled Hindu and Muslim styles at Akbar's court became the music of India.
Historians also argue that the Mughals helped to create modern India: a single state uniting many peoples, languages and faiths, run by a central government with a tax system. That idea outlived the emperors themselves.
When you write about long-term significance, use the word still: still standing, still spoken, still heard. It is the clearest signal that an impact has lasted.
Tip: Long-term impact needs the word still. If you cannot say still, it is probably a short-term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factors, four examples.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of Mughal greatness to the example that belongs under it.
Support — work through the steps with the group: (1) Weapons and land belong under military. (2) Tax and advisers are about running the Empire: government. (3) Welcoming all faiths is religion. (4) The word still points to long-term impact.
Parallel worked example for Support (model it, do not give the task answer): Match the factor to the example for the Roman Empire: Military; Long-term impact. Choices: legions conquered Gaul and Britain; Latin words are still in English today. Conquest is military.; Still in English today is long-term impact.. Answer: Military: the legions' conquests. Long-term: Latin words still in English..
Core — reveal the hint only on request: Weapons, tax, faith, still. One word unlocks each factor.
Stretch — no help; when finished: Choose the factor you think matters most for the word great and explain why in two sentences. Then say which factor a critic of the Empire would attack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factors, four examples.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of Mughal greatness to the example that belongs under it.
Support — work through the steps with the group: (1) Weapons and land belong under military. (2) Tax and advisers are about running the Empire: government. (3) Welcoming all faiths is religion. (4) The word still points to long-term impact.
Parallel worked example for Support (model it, do not give the task answer): Match the factor to the example for the Roman Empire: Military; Long-term impact. Choices: legions conquered Gaul and Britain; Latin words are still in English today. Conquest is military.; Still in English today is long-term impact.. Answer: Military: the legions' conquests. Long-term: Latin words still in English..
Core — reveal the hint only on request: Weapons, tax, faith, still. One word unlocks each factor.
Stretch — no help; when finished: Choose the factor you think matters most for the word great and explain why in two sentences. Then say which factor a critic of the Empire would attack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PEEL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parts of a progress-check paragraph in the order you write them.
Support — work through the steps with the group: (1) You cannot give an example before you have said what it is an example of, so Point comes first. (2) Evidence follows the Point: For example… (3) Then you explain what the evidence shows: This shows… because… (4) Finally link back to the question: Therefore…
Parallel worked example for Support (model it, do not give the task answer): Put these parts of a science conclusion in order: therefore my prediction was correct; my results show that; this is because the particles; I predicted that. The prediction comes first.; Then the results.; Then the explanation.; Then the therefore.. Answer: I predicted that; my results show that; this is because the particles; therefore my prediction was correct.
Core — reveal the hint only on request: P, E, E, L: the first letters spell the order.
Stretch — no help; when finished: Explain why the Link sentence is not just a repeat of the Point. What should it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PEEL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parts of a progress-check paragraph in the order you write them.
Support — work through the steps with the group: (1) You cannot give an example before you have said what it is an example of, so Point comes first. (2) Evidence follows the Point: For example… (3) Then you explain what the evidence shows: This shows… because… (4) Finally link back to the question: Therefore…
Parallel worked example for Support (model it, do not give the task answer): Put these parts of a science conclusion in order: therefore my prediction was correct; my results show that; this is because the particles; I predicted that. The prediction comes first.; Then the results.; Then the explanation.; Then the therefore.. Answer: I predicted that; my results show that; this is because the particles; therefore my prediction was correct.
Core — reveal the hint only on request: P, E, E, L: the first letters spell the order.
Stretch — no help; when finished: Explain why the Link sentence is not just a repeat of the Point. What should it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According to your lesson, how many people did the Mughal Empire rule at its height?
Answer: A   Over 145 million. Your lesson says the Empire expanded to cover most of India and ruled over 145 million people.
Source of this question: gate item 1 re-asked (options rotated) — this chapter has no third quick-check module.
The ebook also holds task 3, "Progress check: why great?",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Four factors, four examples. Reveal the answer; pupils mark their own work in a different colour, then read the "why" together. Same destination for every lane, so one answer serves the whole class.
Answer: Military success and expansion  →  B  Muskets, cannons and war elephants helped the Empire cover most of India; Successful rulers and government  →  D  Akbar's tax system and the nine Navratnas who helped him rule; Religious success  →  A  Akbar welcomed all religions and promoted Hindus in government; Long-term impact  →  C  The Taj Mahal still stands and Urdu is still spoken today
Why: Military: muskets, cannons, elephants and most of India. Government: the tax system and Navratnas. Religion: Akbar's tolerance. Long-term: the Taj Mahal and Urdu, still here today.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PEEL in order. Reveal the answer; pupils mark their own work in a different colour, then read the "why" together. Same destination for every lane, so one answer serves the whole class.
Answer: Point: One reason the Mughal Empire is remembered as great is because of…  (A); Evidence: For example… An example of this is…  (B); Explain: This shows that the Mughal Empire was great because…  (D); Link: Therefore, the Mughal Empire is remembered as a great Empire because…  (C)
Why: Point, Evidence, Explain, Link. Your lesson's success criteria SC1 to SC4 follow exactly this order.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Over 145 million
Why: Your lesson says the Empire expanded to cover most of India and ruled over 145 million people.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Mughal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Mughal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Mughal India · AQA KS3 → 8145</a:t>
            </a:r>
            <a:endParaRPr lang="en-US" sz="1800" dirty="0"/>
          </a:p>
        </p:txBody>
      </p:sp>
      <p:sp>
        <p:nvSpPr>
          <p:cNvPr id="10" name="deck-title"/>
          <p:cNvSpPr txBox="1"/>
          <p:nvPr/>
        </p:nvSpPr>
        <p:spPr>
          <a:xfrm>
            <a:off x="548640" y="245922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What made the Mughal Empire great?</a:t>
            </a:r>
            <a:endParaRPr lang="en-US" sz="3600" dirty="0"/>
          </a:p>
        </p:txBody>
      </p:sp>
      <p:sp>
        <p:nvSpPr>
          <p:cNvPr id="11" name="lessons-card"/>
          <p:cNvSpPr/>
          <p:nvPr/>
        </p:nvSpPr>
        <p:spPr>
          <a:xfrm>
            <a:off x="548640" y="4003548"/>
            <a:ext cx="5287975" cy="980440"/>
          </a:xfrm>
          <a:prstGeom prst="roundRect">
            <a:avLst>
              <a:gd name="adj" fmla="val 7461"/>
            </a:avLst>
          </a:prstGeom>
          <a:solidFill>
            <a:srgbClr val="F4F0EC"/>
          </a:solidFill>
          <a:ln/>
        </p:spPr>
      </p:sp>
      <p:sp>
        <p:nvSpPr>
          <p:cNvPr id="12" name="lessons"/>
          <p:cNvSpPr txBox="1"/>
          <p:nvPr/>
        </p:nvSpPr>
        <p:spPr>
          <a:xfrm>
            <a:off x="685800" y="409498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Mughal Successes and Progress Check</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far do you agree that the Mughal Empire achieved a legacy of greatness?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According to your lesson, how many people did the Mughal Empire rule at its height?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About 12,000</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Over 145 million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About 70,000</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Nearly 36</a:t>
            </a:r>
            <a:endParaRPr lang="en-US" sz="2000" dirty="0"/>
          </a:p>
        </p:txBody>
      </p:sp>
      <p:sp>
        <p:nvSpPr>
          <p:cNvPr id="12" name="card"/>
          <p:cNvSpPr/>
          <p:nvPr/>
        </p:nvSpPr>
        <p:spPr>
          <a:xfrm>
            <a:off x="3459404" y="1389888"/>
            <a:ext cx="2636444" cy="4754880"/>
          </a:xfrm>
          <a:prstGeom prst="roundRect">
            <a:avLst>
              <a:gd name="adj" fmla="val 2081"/>
            </a:avLst>
          </a:prstGeom>
          <a:solidFill>
            <a:srgbClr val="F8F5F3"/>
          </a:solidFill>
          <a:ln w="12700">
            <a:solidFill>
              <a:srgbClr val="D2C2B4"/>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Akbar was helped to rule by nine talented advisers known as the ___.</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Navratnas  ·  Sultans  ·  Lodis</a:t>
            </a:r>
            <a:endParaRPr lang="en-US" sz="2200" dirty="0"/>
          </a:p>
        </p:txBody>
      </p:sp>
      <p:sp>
        <p:nvSpPr>
          <p:cNvPr id="17" name="card"/>
          <p:cNvSpPr/>
          <p:nvPr/>
        </p:nvSpPr>
        <p:spPr>
          <a:xfrm>
            <a:off x="6370168" y="1389888"/>
            <a:ext cx="5272888" cy="4754880"/>
          </a:xfrm>
          <a:prstGeom prst="roundRect">
            <a:avLst>
              <a:gd name="adj" fmla="val 1154"/>
            </a:avLst>
          </a:prstGeom>
          <a:solidFill>
            <a:srgbClr val="F8F5F3"/>
          </a:solidFill>
          <a:ln w="12700">
            <a:solidFill>
              <a:srgbClr val="D2C2B4"/>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of Akbar's policies brought a long period of peace to the Empire?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Making non-Muslims pay higher taxes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Spending 26 years conquering the Deccan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Banning the festival of Diwali</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Welcoming all religions and promoting Hindus to positions in government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955040"/>
          </a:xfrm>
          <a:prstGeom prst="roundRect">
            <a:avLst>
              <a:gd name="adj" fmla="val 11489"/>
            </a:avLst>
          </a:prstGeom>
          <a:solidFill>
            <a:srgbClr val="EEE3CD"/>
          </a:solidFill>
          <a:ln w="19050">
            <a:solidFill>
              <a:srgbClr val="B8862B"/>
            </a:solidFill>
            <a:prstDash val="solid"/>
          </a:ln>
        </p:spPr>
      </p:sp>
      <p:sp>
        <p:nvSpPr>
          <p:cNvPr id="12" name="answer"/>
          <p:cNvSpPr txBox="1"/>
          <p:nvPr/>
        </p:nvSpPr>
        <p:spPr>
          <a:xfrm>
            <a:off x="822960" y="2428829"/>
            <a:ext cx="2087804"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Over 145 million</a:t>
            </a:r>
            <a:endParaRPr lang="en-US" sz="2200" dirty="0"/>
          </a:p>
        </p:txBody>
      </p:sp>
      <p:sp>
        <p:nvSpPr>
          <p:cNvPr id="13" name="card-body"/>
          <p:cNvSpPr txBox="1"/>
          <p:nvPr/>
        </p:nvSpPr>
        <p:spPr>
          <a:xfrm>
            <a:off x="731520" y="3493597"/>
            <a:ext cx="2270684"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Your lesson says the Empire expanded to cover most of India and ruled over 145 million people.</a:t>
            </a:r>
            <a:endParaRPr lang="en-US" sz="1800" dirty="0"/>
          </a:p>
        </p:txBody>
      </p:sp>
      <p:sp>
        <p:nvSpPr>
          <p:cNvPr id="14" name="card"/>
          <p:cNvSpPr/>
          <p:nvPr/>
        </p:nvSpPr>
        <p:spPr>
          <a:xfrm>
            <a:off x="3459404" y="1389888"/>
            <a:ext cx="2636444" cy="4754880"/>
          </a:xfrm>
          <a:prstGeom prst="roundRect">
            <a:avLst>
              <a:gd name="adj" fmla="val 2081"/>
            </a:avLst>
          </a:prstGeom>
          <a:solidFill>
            <a:srgbClr val="F8F5F3"/>
          </a:solidFill>
          <a:ln w="12700">
            <a:solidFill>
              <a:srgbClr val="D2C2B4"/>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Navratnas</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Akbar was helped to rule by nine talented advisers known as the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Navratnas, the nine jewels, were the group of advisers who helped Akbar govern the Empire.</a:t>
            </a:r>
            <a:endParaRPr lang="en-US" sz="1800" dirty="0"/>
          </a:p>
        </p:txBody>
      </p:sp>
      <p:sp>
        <p:nvSpPr>
          <p:cNvPr id="21" name="card"/>
          <p:cNvSpPr/>
          <p:nvPr/>
        </p:nvSpPr>
        <p:spPr>
          <a:xfrm>
            <a:off x="6370168" y="1389888"/>
            <a:ext cx="5272888" cy="4754880"/>
          </a:xfrm>
          <a:prstGeom prst="roundRect">
            <a:avLst>
              <a:gd name="adj" fmla="val 1154"/>
            </a:avLst>
          </a:prstGeom>
          <a:solidFill>
            <a:srgbClr val="F8F5F3"/>
          </a:solidFill>
          <a:ln w="12700">
            <a:solidFill>
              <a:srgbClr val="D2C2B4"/>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1295908"/>
          </a:xfrm>
          <a:prstGeom prst="roundRect">
            <a:avLst>
              <a:gd name="adj" fmla="val 8467"/>
            </a:avLst>
          </a:prstGeom>
          <a:solidFill>
            <a:srgbClr val="EEE3CD"/>
          </a:solidFill>
          <a:ln w="19050">
            <a:solidFill>
              <a:srgbClr val="B8862B"/>
            </a:solidFill>
            <a:prstDash val="solid"/>
          </a:ln>
        </p:spPr>
      </p:sp>
      <p:sp>
        <p:nvSpPr>
          <p:cNvPr id="26" name="answer"/>
          <p:cNvSpPr txBox="1"/>
          <p:nvPr/>
        </p:nvSpPr>
        <p:spPr>
          <a:xfrm>
            <a:off x="6644488"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Welcoming all religions and promoting Hindus to positions in government</a:t>
            </a:r>
            <a:endParaRPr lang="en-US" sz="2200" dirty="0"/>
          </a:p>
        </p:txBody>
      </p:sp>
      <p:sp>
        <p:nvSpPr>
          <p:cNvPr id="27" name="card-body"/>
          <p:cNvSpPr txBox="1"/>
          <p:nvPr/>
        </p:nvSpPr>
        <p:spPr>
          <a:xfrm>
            <a:off x="6553048"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Akbar's policies brought a long period of peace to the Empire?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Akbar's religious tolerance, including giving Hindus power in government, meant the whole population felt included and brought peace and harmony.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success</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achieving what you set out to do</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Before judging success, decide what an empire is trying to achieve.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expansion</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growing bigger by taking more 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Expansion under Akbar and Aurangzeb made the Empire huge.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tactics</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clever plans a general uses in battle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Babur's tactics beat an army six times the size of his own.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musket</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early type of gun fired from the shoulder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Mughal soldiers armed with muskets were very hard to beat.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Navratnas</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nine jewels, Akbar's group of talented advisers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Navratnas helped Akbar rule a vast Empire wisely.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significance</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why something matters, then and now</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long-term significance of the Mughals can still be seen in India today.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judge an empire, you first have to decide what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success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means.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Your lesson gives four factors that made the Mughal Empire great.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first is military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success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and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expansion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Mughal armies used clever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tactics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muskets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cannons and war elephants.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Empire grew to cover most of India and ruled over 145 million people.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second factor is successful rulers and good government.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Akbar built a tax system and was helped by nine advisers called the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Navratnas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third factor is religion.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Akbar welcomed all religions and gave Hindus important jobs in government.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This brought a long period of peace.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fourth factor is long-term impact.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Mughal buildings, music and the Urdu language are all still alive in India today.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Together, these factors explain why the Empire is remembered as great.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do we mean by success?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headings: Military, Rulers and Government, Religion, Long-term. Every fact in this unit fits under at least one.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Before you can say whether the Mughal Empire was great, you need to know what you are measuring.</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lesson sorts the Empire's successes into four factors: expansion and military success; successful rulers and government; religious success; and long-term impact.</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Keep the four factors as headings in your mind. When you meet a new fact about the Mughals, file it under one of them.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Military success and expansion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Your progress check has four success criteria, SC1 to SC4. They are Point, Evidence, Explain, Link in disguise.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Mughal army won because of good strategy and tactics.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With this army the Empire expanded until it covered most of India.</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Expansion is the most visible kind of success, but notice its cost.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(1 of 2): Military success and expansion</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Build a PEEL paragraph answering: Why is the Mughal Empire remembered as a great Empire? Use the factor of religion.</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(SC1): One reason the Mughal Empire is remembered as great is its religious tolerance under Akbar.</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(SC2): For example, Akbar welcomed all religions and promoted Hindus to positions of power in his government.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(2 of 2): Military success and expansion</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Build a PEEL paragraph answering: Why is the Mughal Empire remembered as a great Empire? Use the factor of religion.</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(SC3): This shows the Empire was great because it brought a long period of peace and meant decisions took account of the whole population, not only its Muslim rulers.</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(SC4): Therefore the Empire is remembered as great because its rulers united many different peoples rather than dividing them.</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Evidence, Explain, Link: tolerance; Hindus in government; peace and fair decisions; so the Empire united its peoples.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Rulers, government and religion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Akbar is your best example for government AND religion. Name him, name the Navratnas, name the tax system.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An empire needs more than an army. The Mughals were known for good government.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Religion was a success too, at least under Akbar. He welcomed all faiths and promoted Hindus to positions of power in the government.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Aurangzeb shows the other side. He is remembered very positively by some, as a strong and devout ruler who made the Empire its largest, and very negatively by others, for his intolerance.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Long-term significance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Long-term impact needs the word still. If you cannot say still, it is probably a short-term success.</a:t>
            </a:r>
            <a:endParaRPr lang="en-US" sz="1800" dirty="0"/>
          </a:p>
        </p:txBody>
      </p:sp>
      <p:sp>
        <p:nvSpPr>
          <p:cNvPr id="11" name="point-card"/>
          <p:cNvSpPr/>
          <p:nvPr/>
        </p:nvSpPr>
        <p:spPr>
          <a:xfrm>
            <a:off x="548640" y="1389888"/>
            <a:ext cx="3515258" cy="3964940"/>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fourth factor is what the Empire left behind. Mughal monuments such as the Taj Mahal still stand and are visited by millions, which shows the Empire's lasting importance.</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Historians also argue that the Mughals helped to create modern India: a single state uniting many peoples, languages and faiths, run by a central government with a tax system.</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you write about long-term significance, use the word still: still standing, still spoken, still heard.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Four factors, four examples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factor of Mughal greatness to the example that belongs under it.</a:t>
            </a:r>
            <a:endParaRPr lang="en-US" sz="2400" dirty="0"/>
          </a:p>
        </p:txBody>
      </p:sp>
      <p:sp>
        <p:nvSpPr>
          <p:cNvPr id="11" name="match-card"/>
          <p:cNvSpPr/>
          <p:nvPr/>
        </p:nvSpPr>
        <p:spPr>
          <a:xfrm>
            <a:off x="777240" y="2672080"/>
            <a:ext cx="3423818" cy="826262"/>
          </a:xfrm>
          <a:prstGeom prst="roundRect">
            <a:avLst>
              <a:gd name="adj" fmla="val 8853"/>
            </a:avLst>
          </a:prstGeom>
          <a:solidFill>
            <a:srgbClr val="F6F3F0"/>
          </a:solidFill>
          <a:ln/>
        </p:spPr>
      </p:sp>
      <p:sp>
        <p:nvSpPr>
          <p:cNvPr id="12" name="match-hex"/>
          <p:cNvSpPr/>
          <p:nvPr/>
        </p:nvSpPr>
        <p:spPr>
          <a:xfrm>
            <a:off x="850392" y="2918918"/>
            <a:ext cx="384048" cy="332586"/>
          </a:xfrm>
          <a:prstGeom prst="hexagon">
            <a:avLst/>
          </a:prstGeom>
          <a:solidFill>
            <a:srgbClr val="7A4A1E"/>
          </a:solidFill>
          <a:ln/>
        </p:spPr>
      </p:sp>
      <p:sp>
        <p:nvSpPr>
          <p:cNvPr id="13" name="match-hex-label"/>
          <p:cNvSpPr txBox="1"/>
          <p:nvPr/>
        </p:nvSpPr>
        <p:spPr>
          <a:xfrm>
            <a:off x="850392" y="29189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829458"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Military success and expansion</a:t>
            </a:r>
            <a:endParaRPr lang="en-US" sz="2000" dirty="0"/>
          </a:p>
        </p:txBody>
      </p:sp>
      <p:sp>
        <p:nvSpPr>
          <p:cNvPr id="15" name="match-card"/>
          <p:cNvSpPr/>
          <p:nvPr/>
        </p:nvSpPr>
        <p:spPr>
          <a:xfrm>
            <a:off x="4566818" y="2672080"/>
            <a:ext cx="6847637" cy="826262"/>
          </a:xfrm>
          <a:prstGeom prst="roundRect">
            <a:avLst>
              <a:gd name="adj" fmla="val 8853"/>
            </a:avLst>
          </a:prstGeom>
          <a:solidFill>
            <a:srgbClr val="F8F2E9"/>
          </a:solidFill>
          <a:ln/>
        </p:spPr>
      </p:sp>
      <p:sp>
        <p:nvSpPr>
          <p:cNvPr id="16" name="match-hex"/>
          <p:cNvSpPr/>
          <p:nvPr/>
        </p:nvSpPr>
        <p:spPr>
          <a:xfrm>
            <a:off x="4639970" y="2918918"/>
            <a:ext cx="384048" cy="332586"/>
          </a:xfrm>
          <a:prstGeom prst="hexagon">
            <a:avLst/>
          </a:prstGeom>
          <a:solidFill>
            <a:srgbClr val="B8862B"/>
          </a:solidFill>
          <a:ln/>
        </p:spPr>
      </p:sp>
      <p:sp>
        <p:nvSpPr>
          <p:cNvPr id="17" name="match-hex-label"/>
          <p:cNvSpPr txBox="1"/>
          <p:nvPr/>
        </p:nvSpPr>
        <p:spPr>
          <a:xfrm>
            <a:off x="4639970" y="29189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088026" y="2672080"/>
            <a:ext cx="6253277"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Akbar welcomed all religions and promoted Hindus in government</a:t>
            </a:r>
            <a:endParaRPr lang="en-US" sz="2000" dirty="0"/>
          </a:p>
        </p:txBody>
      </p:sp>
      <p:sp>
        <p:nvSpPr>
          <p:cNvPr id="19" name="match-card"/>
          <p:cNvSpPr/>
          <p:nvPr/>
        </p:nvSpPr>
        <p:spPr>
          <a:xfrm>
            <a:off x="777240" y="3589782"/>
            <a:ext cx="3423818" cy="826262"/>
          </a:xfrm>
          <a:prstGeom prst="roundRect">
            <a:avLst>
              <a:gd name="adj" fmla="val 8853"/>
            </a:avLst>
          </a:prstGeom>
          <a:solidFill>
            <a:srgbClr val="F6F3F0"/>
          </a:solidFill>
          <a:ln/>
        </p:spPr>
      </p:sp>
      <p:sp>
        <p:nvSpPr>
          <p:cNvPr id="20" name="match-hex"/>
          <p:cNvSpPr/>
          <p:nvPr/>
        </p:nvSpPr>
        <p:spPr>
          <a:xfrm>
            <a:off x="850392" y="3836620"/>
            <a:ext cx="384048" cy="332586"/>
          </a:xfrm>
          <a:prstGeom prst="hexagon">
            <a:avLst/>
          </a:prstGeom>
          <a:solidFill>
            <a:srgbClr val="7A4A1E"/>
          </a:solidFill>
          <a:ln/>
        </p:spPr>
      </p:sp>
      <p:sp>
        <p:nvSpPr>
          <p:cNvPr id="21" name="match-hex-label"/>
          <p:cNvSpPr txBox="1"/>
          <p:nvPr/>
        </p:nvSpPr>
        <p:spPr>
          <a:xfrm>
            <a:off x="850392" y="383662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89782"/>
            <a:ext cx="2829458"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Successful rulers and government</a:t>
            </a:r>
            <a:endParaRPr lang="en-US" sz="2000" dirty="0"/>
          </a:p>
        </p:txBody>
      </p:sp>
      <p:sp>
        <p:nvSpPr>
          <p:cNvPr id="23" name="match-card"/>
          <p:cNvSpPr/>
          <p:nvPr/>
        </p:nvSpPr>
        <p:spPr>
          <a:xfrm>
            <a:off x="4566818" y="3589782"/>
            <a:ext cx="6847637" cy="826262"/>
          </a:xfrm>
          <a:prstGeom prst="roundRect">
            <a:avLst>
              <a:gd name="adj" fmla="val 8853"/>
            </a:avLst>
          </a:prstGeom>
          <a:solidFill>
            <a:srgbClr val="F8F2E9"/>
          </a:solidFill>
          <a:ln/>
        </p:spPr>
      </p:sp>
      <p:sp>
        <p:nvSpPr>
          <p:cNvPr id="24" name="match-hex"/>
          <p:cNvSpPr/>
          <p:nvPr/>
        </p:nvSpPr>
        <p:spPr>
          <a:xfrm>
            <a:off x="4639970" y="3836620"/>
            <a:ext cx="384048" cy="332586"/>
          </a:xfrm>
          <a:prstGeom prst="hexagon">
            <a:avLst/>
          </a:prstGeom>
          <a:solidFill>
            <a:srgbClr val="B8862B"/>
          </a:solidFill>
          <a:ln/>
        </p:spPr>
      </p:sp>
      <p:sp>
        <p:nvSpPr>
          <p:cNvPr id="25" name="match-hex-label"/>
          <p:cNvSpPr txBox="1"/>
          <p:nvPr/>
        </p:nvSpPr>
        <p:spPr>
          <a:xfrm>
            <a:off x="4639970" y="383662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088026" y="3589782"/>
            <a:ext cx="6253277"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Muskets, cannons and war elephants helped the Empire cover most of India</a:t>
            </a:r>
            <a:endParaRPr lang="en-US" sz="2000" dirty="0"/>
          </a:p>
        </p:txBody>
      </p:sp>
      <p:sp>
        <p:nvSpPr>
          <p:cNvPr id="27" name="match-card"/>
          <p:cNvSpPr/>
          <p:nvPr/>
        </p:nvSpPr>
        <p:spPr>
          <a:xfrm>
            <a:off x="777240" y="4507484"/>
            <a:ext cx="3423818" cy="536702"/>
          </a:xfrm>
          <a:prstGeom prst="roundRect">
            <a:avLst>
              <a:gd name="adj" fmla="val 13630"/>
            </a:avLst>
          </a:prstGeom>
          <a:solidFill>
            <a:srgbClr val="F6F3F0"/>
          </a:solidFill>
          <a:ln/>
        </p:spPr>
      </p:sp>
      <p:sp>
        <p:nvSpPr>
          <p:cNvPr id="28" name="match-hex"/>
          <p:cNvSpPr/>
          <p:nvPr/>
        </p:nvSpPr>
        <p:spPr>
          <a:xfrm>
            <a:off x="850392" y="4609542"/>
            <a:ext cx="384048" cy="332586"/>
          </a:xfrm>
          <a:prstGeom prst="hexagon">
            <a:avLst/>
          </a:prstGeom>
          <a:solidFill>
            <a:srgbClr val="7A4A1E"/>
          </a:solidFill>
          <a:ln/>
        </p:spPr>
      </p:sp>
      <p:sp>
        <p:nvSpPr>
          <p:cNvPr id="29" name="match-hex-label"/>
          <p:cNvSpPr txBox="1"/>
          <p:nvPr/>
        </p:nvSpPr>
        <p:spPr>
          <a:xfrm>
            <a:off x="850392" y="46095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507484"/>
            <a:ext cx="2829458" cy="53670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Religious success</a:t>
            </a:r>
            <a:endParaRPr lang="en-US" sz="2000" dirty="0"/>
          </a:p>
        </p:txBody>
      </p:sp>
      <p:sp>
        <p:nvSpPr>
          <p:cNvPr id="31" name="match-card"/>
          <p:cNvSpPr/>
          <p:nvPr/>
        </p:nvSpPr>
        <p:spPr>
          <a:xfrm>
            <a:off x="4566818" y="4507484"/>
            <a:ext cx="6847637" cy="536702"/>
          </a:xfrm>
          <a:prstGeom prst="roundRect">
            <a:avLst>
              <a:gd name="adj" fmla="val 13630"/>
            </a:avLst>
          </a:prstGeom>
          <a:solidFill>
            <a:srgbClr val="F8F2E9"/>
          </a:solidFill>
          <a:ln/>
        </p:spPr>
      </p:sp>
      <p:sp>
        <p:nvSpPr>
          <p:cNvPr id="32" name="match-hex"/>
          <p:cNvSpPr/>
          <p:nvPr/>
        </p:nvSpPr>
        <p:spPr>
          <a:xfrm>
            <a:off x="4639970" y="4609542"/>
            <a:ext cx="384048" cy="332586"/>
          </a:xfrm>
          <a:prstGeom prst="hexagon">
            <a:avLst/>
          </a:prstGeom>
          <a:solidFill>
            <a:srgbClr val="B8862B"/>
          </a:solidFill>
          <a:ln/>
        </p:spPr>
      </p:sp>
      <p:sp>
        <p:nvSpPr>
          <p:cNvPr id="33" name="match-hex-label"/>
          <p:cNvSpPr txBox="1"/>
          <p:nvPr/>
        </p:nvSpPr>
        <p:spPr>
          <a:xfrm>
            <a:off x="4639970" y="46095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088026" y="4507484"/>
            <a:ext cx="6253277" cy="53670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Taj Mahal still stands and Urdu is still spoken today</a:t>
            </a:r>
            <a:endParaRPr lang="en-US" sz="2000" dirty="0"/>
          </a:p>
        </p:txBody>
      </p:sp>
      <p:sp>
        <p:nvSpPr>
          <p:cNvPr id="35" name="match-card"/>
          <p:cNvSpPr/>
          <p:nvPr/>
        </p:nvSpPr>
        <p:spPr>
          <a:xfrm>
            <a:off x="777240" y="5135626"/>
            <a:ext cx="3423818" cy="826262"/>
          </a:xfrm>
          <a:prstGeom prst="roundRect">
            <a:avLst>
              <a:gd name="adj" fmla="val 8853"/>
            </a:avLst>
          </a:prstGeom>
          <a:solidFill>
            <a:srgbClr val="F6F3F0"/>
          </a:solidFill>
          <a:ln/>
        </p:spPr>
      </p:sp>
      <p:sp>
        <p:nvSpPr>
          <p:cNvPr id="36" name="match-hex"/>
          <p:cNvSpPr/>
          <p:nvPr/>
        </p:nvSpPr>
        <p:spPr>
          <a:xfrm>
            <a:off x="850392" y="5382464"/>
            <a:ext cx="384048" cy="332586"/>
          </a:xfrm>
          <a:prstGeom prst="hexagon">
            <a:avLst/>
          </a:prstGeom>
          <a:solidFill>
            <a:srgbClr val="7A4A1E"/>
          </a:solidFill>
          <a:ln/>
        </p:spPr>
      </p:sp>
      <p:sp>
        <p:nvSpPr>
          <p:cNvPr id="37" name="match-hex-label"/>
          <p:cNvSpPr txBox="1"/>
          <p:nvPr/>
        </p:nvSpPr>
        <p:spPr>
          <a:xfrm>
            <a:off x="850392" y="538246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35626"/>
            <a:ext cx="2829458"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Long-term impact</a:t>
            </a:r>
            <a:endParaRPr lang="en-US" sz="2000" dirty="0"/>
          </a:p>
        </p:txBody>
      </p:sp>
      <p:sp>
        <p:nvSpPr>
          <p:cNvPr id="39" name="match-card"/>
          <p:cNvSpPr/>
          <p:nvPr/>
        </p:nvSpPr>
        <p:spPr>
          <a:xfrm>
            <a:off x="4566818" y="5135626"/>
            <a:ext cx="6847637" cy="826262"/>
          </a:xfrm>
          <a:prstGeom prst="roundRect">
            <a:avLst>
              <a:gd name="adj" fmla="val 8853"/>
            </a:avLst>
          </a:prstGeom>
          <a:solidFill>
            <a:srgbClr val="F8F2E9"/>
          </a:solidFill>
          <a:ln/>
        </p:spPr>
      </p:sp>
      <p:sp>
        <p:nvSpPr>
          <p:cNvPr id="40" name="match-hex"/>
          <p:cNvSpPr/>
          <p:nvPr/>
        </p:nvSpPr>
        <p:spPr>
          <a:xfrm>
            <a:off x="4639970" y="5382464"/>
            <a:ext cx="384048" cy="332586"/>
          </a:xfrm>
          <a:prstGeom prst="hexagon">
            <a:avLst/>
          </a:prstGeom>
          <a:solidFill>
            <a:srgbClr val="B8862B"/>
          </a:solidFill>
          <a:ln/>
        </p:spPr>
      </p:sp>
      <p:sp>
        <p:nvSpPr>
          <p:cNvPr id="41" name="match-hex-label"/>
          <p:cNvSpPr txBox="1"/>
          <p:nvPr/>
        </p:nvSpPr>
        <p:spPr>
          <a:xfrm>
            <a:off x="4639970" y="538246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088026" y="5135626"/>
            <a:ext cx="6253277" cy="82626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Akbar's tax system and the nine Navratnas who helped him rule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Four factors, four examples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factor of Mughal greatness to the example that belongs under it.</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Weapons and land belong under military.</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Tax and advisers are about running the Empire: government.</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Welcoming all faiths is religion.</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word still points to long-term impact.</a:t>
            </a:r>
            <a:endParaRPr lang="en-US" sz="2000" dirty="0"/>
          </a:p>
        </p:txBody>
      </p:sp>
      <p:sp>
        <p:nvSpPr>
          <p:cNvPr id="17" name="col-Core"/>
          <p:cNvSpPr/>
          <p:nvPr/>
        </p:nvSpPr>
        <p:spPr>
          <a:xfrm>
            <a:off x="5490762" y="2578608"/>
            <a:ext cx="2938987" cy="3566160"/>
          </a:xfrm>
          <a:prstGeom prst="roundRect">
            <a:avLst>
              <a:gd name="adj" fmla="val 1867"/>
            </a:avLst>
          </a:prstGeom>
          <a:solidFill>
            <a:srgbClr val="E4DAD1"/>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623B18"/>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Weapons, tax, faith, still. One word unlocks each factor.</a:t>
            </a:r>
            <a:endParaRPr lang="en-US" sz="20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Choose the factor you think matters most for the word great and explain why in two sentences. Then say which factor a critic of the Empire would attack first.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PEEL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four parts of a progress-check paragraph in the order you write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Point: One reason the Mughal Empire is remembered as great is because of…</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Evidence: For example… An example of this is…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Link: Therefore, the Mughal Empire is remembered as a great Empire because…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Explain: This shows that the Mughal Empire was great because…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PEEL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four parts of a progress-check paragraph in the order you write them.</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4F0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cannot give an example before you have said what it is an example of, so Point comes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Evidence follows the Point: For example…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you explain what the evidence shows: This shows… because…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Finally link back to the question: Therefore…</a:t>
            </a:r>
            <a:endParaRPr lang="en-US" sz="1800" dirty="0"/>
          </a:p>
        </p:txBody>
      </p:sp>
      <p:sp>
        <p:nvSpPr>
          <p:cNvPr id="17" name="col-Core"/>
          <p:cNvSpPr/>
          <p:nvPr/>
        </p:nvSpPr>
        <p:spPr>
          <a:xfrm>
            <a:off x="5490762" y="2593848"/>
            <a:ext cx="2938987" cy="3550920"/>
          </a:xfrm>
          <a:prstGeom prst="roundRect">
            <a:avLst>
              <a:gd name="adj" fmla="val 1867"/>
            </a:avLst>
          </a:prstGeom>
          <a:solidFill>
            <a:srgbClr val="E4DAD1"/>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 E, E, L: the first letters spell the order.</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Link sentence is not just a repeat of the Point. What should it add?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According to your lesson, how many people did the Mughal Empire rule at its height?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Over 145 million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About 70,000</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Nearly 36</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About 12,000</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Four factors, four examples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Military success and expansion  →  B  Muskets, cannons and war elephants helped the Empire cover most of India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Successful rulers and government  →  D  Akbar's tax system and the nine Navratnas who helped him rule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Religious success  →  A  Akbar welcomed all religions and promoted Hindus in government</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Long-term impact  →  C  The Taj Mahal still stands and Urdu is still spoken today</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Military: muskets, cannons, elephants and most of India. Government: the tax system and Navratnas. Religion: Akbar's tolerance. Long-term: the Taj Mahal and Urdu, still here today.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PEEL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Point: One reason the Mughal Empire is remembered as great is because of…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Evidence: For example… An example of this is…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Explain: This shows that the Mughal Empire was great because…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Link: Therefore, the Mughal Empire is remembered as a great Empire because…  (C)</a:t>
            </a:r>
            <a:endParaRPr lang="en-US" sz="24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Point, Evidence, Explain, Link. Your lesson's success criteria SC1 to SC4 follow exactly this order.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According to your lesson, how many people did the Mughal Empire rule at its height?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Over 145 million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says the Empire expanded to cover most of India and ruled over 145 million people.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Mughal India · Chapter 4: What made the Mughal Empire great?</dc:title>
  <dc:subject>History · Year 8</dc:subject>
  <dc:creator>Dr Vitor Merissi de Carvalho</dc:creator>
  <cp:lastModifiedBy>Dr Vitor Merissi de Carvalho</cp:lastModifiedBy>
  <cp:revision>1</cp:revision>
  <dcterms:created xsi:type="dcterms:W3CDTF">2026-10-19T06:07:57Z</dcterms:created>
  <dcterms:modified xsi:type="dcterms:W3CDTF">2026-10-19T06:07:57Z</dcterms:modified>
</cp:coreProperties>
</file>