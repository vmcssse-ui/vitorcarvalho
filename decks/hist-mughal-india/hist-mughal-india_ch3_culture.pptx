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0804f1-9e9b-ddf4-38aa-558638f1244f}">
          <p14:sldIdLst>
            <p14:sldId id="256"/>
          </p14:sldIdLst>
        </p14:section>
        <p14:section name="Gate" id="{877c7fe3-5903-fd3e-2042-6ff4f83097d2}">
          <p14:sldIdLst>
            <p14:sldId id="257"/>
            <p14:sldId id="258"/>
          </p14:sldIdLst>
        </p14:section>
        <p14:section name="Pre-teach" id="{defed0fc-f32e-5eea-1a30-98c99efb4376}">
          <p14:sldIdLst>
            <p14:sldId id="259"/>
            <p14:sldId id="260"/>
          </p14:sldIdLst>
        </p14:section>
        <p14:section name="Read-along" id="{d1c96c84-ba3f-f8c5-5b1b-a6929467fc30}">
          <p14:sldIdLst>
            <p14:sldId id="261"/>
            <p14:sldId id="262"/>
          </p14:sldIdLst>
        </p14:section>
        <p14:section name="Teach" id="{df924e26-52bd-0a28-e597-939a9230d44e}">
          <p14:sldIdLst>
            <p14:sldId id="263"/>
            <p14:sldId id="264"/>
            <p14:sldId id="265"/>
            <p14:sldId id="266"/>
            <p14:sldId id="267"/>
          </p14:sldIdLst>
        </p14:section>
        <p14:section name="Routes" id="{9e470db1-829b-6be8-1372-6f82679c40cb}">
          <p14:sldIdLst>
            <p14:sldId id="268"/>
            <p14:sldId id="269"/>
            <p14:sldId id="270"/>
            <p14:sldId id="271"/>
          </p14:sldIdLst>
        </p14:section>
        <p14:section name="Close" id="{6846dced-822b-aa00-690e-7e0497a0fa7e}">
          <p14:sldIdLst>
            <p14:sldId id="272"/>
          </p14:sldIdLst>
        </p14:section>
        <p14:section name="Answers" id="{e9a49a46-8b10-d94f-e62b-39885158107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Mughal culture: buildings, paintings, music and words. What culture means, why emperors built monuments and sat for portraits, how Mughal art blended styles, and which aspect of culture was the greatest.
This deck covers the department's lesson: 2 (Mughal Culture: What was culture in Mughal India, what was it for, and which aspect of it was the greatest?).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Mughal paintings are called ___ because they were small enough to fit into a book.  →  miniatures
2. Mughal architecture is a blend of which three styles?  →  C   Persian, Turkish and Indian
3. Which language was born in the Mughal Empire and is still spoken today?  →  B   Urdu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miniatures. A miniature is a small, detailed painting; Mughal painters made them to be kept in books.
2. C   Persian, Turkish and Indian. Mughal buildings such as the Taj Mahal mix Persian, Turkish and Indian styles, reflecting an empire that drew on many cultures.
3. B   Urdu. Urdu grew up in the Mughal Empire and is spoken by millions today; it is one of the Empire's clearest long-term legacies.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culture: the art, music, buildings, language and ways of life of a people. Example: "Mughal culture mixed Persian, Turkish and Indian styles."
• architecture: the art of designing and building. Example: "The Mughals are best known for their architecture."
• miniature: a small, detailed painting that could fit inside a book. Example: "Each emperor had his portrait painted as a miniature."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symbol: a picture that stands for an idea. Example: "A halo in a painting was a symbol of being close to God."
• Akbarnama: the Book of Akbar, a history of his reign written at his court. Example: "The Akbarnama tells us how Akbar wanted his rule to be remembered."
• Urdu: a language that grew up in the Mughal Empire. Example: "Urdu is still spoken by millions of people today."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Culture means the buildings, art, music, language and ways of life of a people.
2. The Mughals are best known for their architecture.
3. Emperors built palaces, tombs, forts and great gates across the Empire.
4. The most famous is the Taj Mahal, built for Shah Jahan in Agra.
5. Mughal buildings blend Persian, Turkish and Indian styles.
6. Mughal paintings are called miniatures because they were small enough to fit in a book.
7. Painters gave emperors a halo to show they were close to God.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Akbar loved music and kept 36 musicians at his court.
9. There, Hindu and Muslim music mingled and became one.
10. Akbar's court historian wrote the Akbarnama, the Book of Akbar, in three volumes.
11. Many books were translated into Persian so more people could read them.
12. A new language, Urdu, was born in the Empire and is still spoken today.
13. Even the game of Ludo comes from Pachisi, a Mughal favourite.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culture, and why study it?. Say it in your own words, then check understanding with a quick question: ask a pupil from the pre-teach group first, since they met these words and ideas before the lesson. Pupils try to recall before you re-explain.
Culture is everything a people makes and shares: its buildings, paintings, music, books, languages, clothes and games. Your lesson looks at Mughal culture for one reason: to decide whether it shows that the Empire deserves a legacy of greatness. The three aspects you study most closely are architecture, paintings and music.
Culture had a purpose for the emperors too. A monument spread across the map showed the emperor's power reaching every corner of his lands. A portrait showed how he wanted to be seen. Think back to other rulers you have studied who built castles or cathedrals: they were saying something about themselves in stone.
So as you read, keep asking two questions. What did this building or painting mean to the emperor who paid for it? And what does it tell us, as historians, about how he wanted to be remembered?
Tip: Every piece of Mughal culture answers two questions: what was it for then, and what does it tell us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Architecture: the Taj Mahal and the forts. Say it in your own words, then check understanding with a quick question: ask a pupil from the pre-teach group first, since they met these words and ideas before the lesson. Pupils try to recall before you re-explain.
Architecture is the art of designing and constructing buildings, and the Mughals are probably best known for it. The emperors built palaces, tombs for the dead, military forts and magnificent gates. Some of their buildings are among the most visited in the world.
Mughal architecture is a blend of Persian, Turkish and Indian styles, which is itself a sign of an empire that drew on many cultures. The Agra Fort and the Taj Mahal, both in Agra, still stand. Shah Jahan ordered the Taj Mahal as a tomb for his wife, Mumtaz Mahal, and he was later buried there himself.
Why were monuments spread out in different areas of the Empire? Because each one reminded the people who saw it who ruled them. A tomb or a fort said: the emperor's power reaches even here.
Worked example — model it step by step, thinking aloud: A historian wants to use the Taj Mahal as evidence about Shah Jahan. What can it tell her, and what can it not? (1) Describe: it is a huge, costly marble tomb in a blended Persian, Turkish and Indian style. (2) Infer: Shah Jahan had great wealth and wanted to be remembered for beauty and for love of his wife. (3) Use own knowledge: this fits his reign being the peak of Mughal power and wealth. (4) Limit: a building cannot tell her how ordinary people lived, or what his critics thought. Answer: It shows wealth, power and the image he wanted to leave; it cannot show ordinary life or opposition. Describe, infer, own knowledge, then limit..
Tip: When you describe a Mughal building, name the three styles it blends. That one fact shows you understand what made the Empire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Architecture: the Taj Mahal and the forts. Say it in your own words, then check understanding with a quick question: ask a pupil from the pre-teach group first, since they met these words and ideas before the lesson. Pupils try to recall before you re-explain.
Architecture is the art of designing and constructing buildings, and the Mughals are probably best known for it. The emperors built palaces, tombs for the dead, military forts and magnificent gates. Some of their buildings are among the most visited in the world.
Mughal architecture is a blend of Persian, Turkish and Indian styles, which is itself a sign of an empire that drew on many cultures. The Agra Fort and the Taj Mahal, both in Agra, still stand. Shah Jahan ordered the Taj Mahal as a tomb for his wife, Mumtaz Mahal, and he was later buried there himself.
Why were monuments spread out in different areas of the Empire? Because each one reminded the people who saw it who ruled them. A tomb or a fort said: the emperor's power reaches even here.
Worked example — model it step by step, thinking aloud: A historian wants to use the Taj Mahal as evidence about Shah Jahan. What can it tell her, and what can it not? (1) Describe: it is a huge, costly marble tomb in a blended Persian, Turkish and Indian style. (2) Infer: Shah Jahan had great wealth and wanted to be remembered for beauty and for love of his wife. (3) Use own knowledge: this fits his reign being the peak of Mughal power and wealth. (4) Limit: a building cannot tell her how ordinary people lived, or what his critics thought. Answer: It shows wealth, power and the image he wanted to leave; it cannot show ordinary life or opposition. Describe, infer, own knowledge, then limit..
Tip: When you describe a Mughal building, name the three styles it blends. That one fact shows you understand what made the Empire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Miniature paintings and the halo. Say it in your own words, then check understanding with a quick question: ask a pupil from the pre-teach group first, since they met these words and ideas before the lesson. Pupils try to recall before you re-explain.
Mughal paintings are called miniatures, because they were painted small, often small enough to sit on the page of a book. Like the buildings, they blend styles: the bold, vivid colours Indian painters loved, the fine delicate lines Persian painters preferred, and a European influence brought to India by missionaries.
Paintings in history are full of symbols. A halo around an emperor's head is a symbol that he was religious and close to God. Fine clothes, jewels and elephants were symbols of wealth and power. When you look at a portrait of an emperor, ask what the painter was told to make you see and think.
This creates a problem for historians, which your lesson's plenary asks about. A portrait shows how the emperor wanted to be remembered, not necessarily how he was. Jahangir's portraits show a calm, godly ruler; your own knowledge tells you he struggled with alcohol and drugs. The painting is evidence about his image, not proof about his life.
Tip: Describe, infer, own knowledge: that is the three-step route through any Mughal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Music, books, languages and games. Say it in your own words, then check understanding with a quick question: ask a pupil from the pre-teach group first, since they met these words and ideas before the lesson. Pupils try to recall before you re-explain.
Many emperors enjoyed music, and Akbar was a musician himself who liked singing Hindu songs. He kept 36 experienced musicians at his court, and it was there that Hindu and Muslim music mingled and became one. The Empire is remembered for merging these two styles into the music of India today. Music, in other words, helped bring different peoples together.
Akbar had his court historian write the Akbarnama, the Book of Akbar, in three volumes: one on his birth and on the reigns of Babur and Humayun, one on his own reign, and one on the Empire and the many cultures of India. It is a valuable source for historians today. Poetry thrived, and many Greek, Arabic, Turkish and Sanskrit books were translated into Persian so that more people could read them.
The Empire had many languages, including Persian, Arabic and Hindavi, and a new one, Urdu, was born there and is still spoken today. Mughals played chess and Pachisi, the ancestor of Ludo, and watched jugglers, wrestling and even elephant fights. Elephants, like velvet and silk clothing, were a sign of wealth and power.
Tip: If a question asks about long-term impact, Urdu and Indian music are your strongest examples: both are still alive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a portrait.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miniature shows Emperor Jahangir with a bright halo around his head. What does the halo tell you about how he wanted to be seen?
Support — work through the steps with the group: (1) Describe: what is actually in the picture? A ring of light around the head. (2) Ask: is that something a real person has? No, so it is a symbol. (3) Infer: what idea does a halo stand for in religious art? Holiness, closeness to God. (4) Finish: so the emperor wanted to be seen as a godly ruler.
Parallel worked example for Support (model it, do not give the task answer): A medieval painting shows a king holding a sword in one hand and a set of scales in the other. What do the two objects tell you about how he wanted to be seen? Describe: a sword and a pair of scales.; They are symbols, not everyday objects.; A sword stands for strength; scales stand for fair judgement.; So he wanted to be seen as both strong and just.. Answer: As a king who was both powerful and fair..
Core — reveal the hint only on request: A halo is not real. Ask what idea it stands for in religious pictures.
Stretch — no help; when finished: Explain why a portrait with a halo is useful evidence about an emperor's image but weak evidence about his actual behaviour. Use Jahangir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a portrait.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miniature shows Emperor Jahangir with a bright halo around his head. What does the halo tell you about how he wanted to be seen?
Support — work through the steps with the group: (1) Describe: what is actually in the picture? A ring of light around the head. (2) Ask: is that something a real person has? No, so it is a symbol. (3) Infer: what idea does a halo stand for in religious art? Holiness, closeness to God. (4) Finish: so the emperor wanted to be seen as a godly ruler.
Parallel worked example for Support (model it, do not give the task answer): A medieval painting shows a king holding a sword in one hand and a set of scales in the other. What do the two objects tell you about how he wanted to be seen? Describe: a sword and a pair of scales.; They are symbols, not everyday objects.; A sword stands for strength; scales stand for fair judgement.; So he wanted to be seen as both strong and just.. Answer: As a king who was both powerful and fair..
Core — reveal the hint only on request: A halo is not real. Ask what idea it stands for in religious pictures.
Stretch — no help; when finished: Explain why a portrait with a halo is useful evidence about an emperor's image but weak evidence about his actual behaviour. Use Jahangir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Match the aspect to the example.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aspect of Mughal culture to the example your lesson gives.
Support — work through the steps with the group: (1) Architecture means buildings, so look for the Taj Mahal. (2) Miniature paintings are small, so look for the words fit in a book. (3) Music needs musicians: find the 36. (4) A biography is a book about a person's life: the Akbarnama. What is left is the language, Urdu.
Parallel worked example for Support (model it, do not give the task answer): Match the aspect of Tudor culture to the example: Theatre; Music. Choices: Shakespeare's plays at the Globe; lute songs at Elizabeth's court. Theatre means plays: Shakespeare at the Globe.; Music: lute songs at court.. Answer: Theatre: Shakespeare's plays. Music: lute songs at court..
Core — reveal the hint only on request: Buildings, small pictures, musicians, a book about a life, a spoken tongue. Five clues.
Stretch — no help; when finished: Rank these five aspects by their long-term impact on India today,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Match the aspect to the example.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aspect of Mughal culture to the example your lesson gives.
Support — work through the steps with the group: (1) Architecture means buildings, so look for the Taj Mahal. (2) Miniature paintings are small, so look for the words fit in a book. (3) Music needs musicians: find the 36. (4) A biography is a book about a person's life: the Akbarnama. What is left is the language, Urdu.
Parallel worked example for Support (model it, do not give the task answer): Match the aspect of Tudor culture to the example: Theatre; Music. Choices: Shakespeare's plays at the Globe; lute songs at Elizabeth's court. Theatre means plays: Shakespeare at the Globe.; Music: lute songs at court.. Answer: Theatre: Shakespeare's plays. Music: lute songs at court..
Core — reveal the hint only on request: Buildings, small pictures, musicians, a book about a life, a spoken tongue. Five clues.
Stretch — no help; when finished: Rank these five aspects by their long-term impact on India today,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Mughal paintings are called ___ because they were small enough to fit into a book.
Answer: Mughal paintings are called miniatures because they were small enough to fit into a book.. A miniature is a small, detailed painting; Mughal painters made them to be kept in books.
Source of this question: gate item 1 re-asked (options rotated) — this chapter has no third quick-check module.
The ebook also holds task 3, "The greatest aspect of Mughal culture",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Reading a portrait. Reveal the answer; pupils mark their own work in a different colour, then read the "why" together. Same destination for every lane, so one answer serves the whole class.
Answer: D   As a religious ruler who was close to God
Why: The halo is a symbol chosen by the emperor and his painter. It tells us he wanted to be remembered as religious and close to God; it does not tell us what he was like, which is why we check portraits against our own knowledge.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Match the aspect to the example. Reveal the answer; pupils mark their own work in a different colour, then read the "why" together. Same destination for every lane, so one answer serves the whole class.
Answer: Architecture  →  A  The Taj Mahal and the Agra Fort, blending Persian, Turkish and Indian styles; Miniature paintings  →  E  Portraits of the emperors with halos, small enough to fit in a book; Music  →  B  Akbar's 36 court musicians, where Hindu and Muslim music became one; Biography  →  C  The Akbarnama, three volumes written by Akbar's court historian; Language  →  D  Urdu, born in the Empire and still spoken today
Why: Architecture: the Taj Mahal and Agra Fort. Miniatures: the small portraits with halos. Music: Akbar's 36 musicians. Biography: the Akbarnama. Language: Urdu.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Mughal paintings are called miniatures because they were small enough to fit into a book.
Why: A miniature is a small, detailed painting; Mughal painters made them to be kept in books.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Mughal culture: buildings, paintings, music and words</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Mughal Culture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Mughal paintings are called ___ because they were small enough to fit into a book.</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miniatures  ·  murals  ·  portraits</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Mughal architecture is a blend of which three styles?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Egyptian, Arabic and Turkish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Greek, Roman and Indian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Persian, Turkish and Indian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Chinese, Persian and British</a:t>
            </a:r>
            <a:endParaRPr lang="en-US" sz="18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language was born in the Mughal Empire and is still spoken today?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English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Urdu</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Latin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Greek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miniatures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Mughal paintings are called ___ because they were small enough to fit into a book.</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miniature is a small, detailed painting; Mughal painters made them to be kept in books.</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Persian, Turkish and Indian</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Mughal architecture is a blend of which three styles?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Mughal buildings such as the Taj Mahal mix Persian, Turkish and Indian styles, reflecting an empire that drew on many cultures.</a:t>
            </a:r>
            <a:endParaRPr lang="en-US" sz="20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Urdu</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language was born in the Mughal Empire and is still spoken today?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Urdu grew up in the Mughal Empire and is spoken by millions today; it is one of the Empire's clearest long-term legacies.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culture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art, music, buildings, language and ways of life of a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Mughal culture mixed Persian, Turkish and Indian styles.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architecture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art of designing and building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Mughals are best known for their architecture.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miniature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detailed painting that could fit inside a book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emperor had his portrait painted as a miniature.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symbol</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that stands for an idea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halo in a painting was a symbol of being close to God.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Akbarnama</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Book of Akbar, a history of his reign written at his court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Akbarnama tells us how Akbar wanted his rule to be remembered.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Urdu</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language that grew up in the Mughal Empire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Urdu is still spoken by millions of people today.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Culture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the buildings, art, music, language and ways of life of a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Mughals are best known for their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architecture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Emperors built palaces, tombs, forts and great gates across the Empire.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most famous is the Taj Mahal, built for Shah Jahan in Agra.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Mughal buildings blend Persian, Turkish and Indian styles.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Mughal paintings are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miniatures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because they were small enough to fit in a book.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Painters gave emperors a halo to show they were close to God.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Akbar loved music and kept 36 musicians at his court.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Hindu and Muslim music mingled and became 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Akbar's court historian wrote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Akbarnama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Book of Akbar, in three volumes.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books were translated into Persian so more people could read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new language,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Urdu</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born in the Empire and is still spoken today.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Even the game of Ludo comes from Pachisi, a Mughal favourite.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is culture, and why study 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piece of Mughal culture answers two questions: what was it for then, and what does it tell us now.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Culture is everything a people makes and shares: its buildings, paintings, music, books, languages, clothes and games.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Culture had a purpose for the emperors too. A monument spread across the map showed the emperor's power reaching every corner of his lands.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as you read, keep asking two questions. What did this building or painting mean to the emperor who paid for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Architecture: the Taj Mahal and the forts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describe a Mughal building, name the three styles it blends. That one fact shows you understand what made the Empire different.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Architecture is the art of designing and constructing buildings, and the Mughals are probably best known for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Mughal architecture is a blend of Persian, Turkish and Indian styles, which is itself a sign of an empire that drew on many cultures.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Why were monuments spread out in different areas of the Empire?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Architecture: the Taj Mahal and the forts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historian wants to use the Taj Mahal as evidence about Shah Jahan. What can it tell her, and what can it not?</a:t>
            </a:r>
            <a:endParaRPr lang="en-US" sz="2000" dirty="0"/>
          </a:p>
        </p:txBody>
      </p:sp>
      <p:sp>
        <p:nvSpPr>
          <p:cNvPr id="9" name="step-box"/>
          <p:cNvSpPr/>
          <p:nvPr/>
        </p:nvSpPr>
        <p:spPr>
          <a:xfrm>
            <a:off x="548640" y="2502408"/>
            <a:ext cx="11094415" cy="565912"/>
          </a:xfrm>
          <a:prstGeom prst="roundRect">
            <a:avLst>
              <a:gd name="adj" fmla="val 12926"/>
            </a:avLst>
          </a:prstGeom>
          <a:solidFill>
            <a:srgbClr val="FFFFFF"/>
          </a:solidFill>
          <a:ln w="15875">
            <a:solidFill>
              <a:srgbClr val="B69B83"/>
            </a:solidFill>
            <a:prstDash val="solid"/>
          </a:ln>
        </p:spPr>
      </p:sp>
      <p:sp>
        <p:nvSpPr>
          <p:cNvPr id="10" name="step-hex"/>
          <p:cNvSpPr/>
          <p:nvPr/>
        </p:nvSpPr>
        <p:spPr>
          <a:xfrm>
            <a:off x="685800" y="2587396"/>
            <a:ext cx="457200" cy="395935"/>
          </a:xfrm>
          <a:prstGeom prst="hexagon">
            <a:avLst/>
          </a:prstGeom>
          <a:solidFill>
            <a:srgbClr val="7A4A1E"/>
          </a:solidFill>
          <a:ln/>
        </p:spPr>
      </p:sp>
      <p:sp>
        <p:nvSpPr>
          <p:cNvPr id="11" name="step-hex-label"/>
          <p:cNvSpPr txBox="1"/>
          <p:nvPr/>
        </p:nvSpPr>
        <p:spPr>
          <a:xfrm>
            <a:off x="685800" y="25873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it is a huge, costly marble tomb in a blended Persian, Turkish and Indian style.</a:t>
            </a:r>
            <a:endParaRPr lang="en-US" sz="1800" dirty="0"/>
          </a:p>
        </p:txBody>
      </p:sp>
      <p:sp>
        <p:nvSpPr>
          <p:cNvPr id="13" name="step-box"/>
          <p:cNvSpPr/>
          <p:nvPr/>
        </p:nvSpPr>
        <p:spPr>
          <a:xfrm>
            <a:off x="548640" y="3141472"/>
            <a:ext cx="11094415" cy="565912"/>
          </a:xfrm>
          <a:prstGeom prst="roundRect">
            <a:avLst>
              <a:gd name="adj" fmla="val 12926"/>
            </a:avLst>
          </a:prstGeom>
          <a:solidFill>
            <a:srgbClr val="FFFFFF"/>
          </a:solidFill>
          <a:ln w="15875">
            <a:solidFill>
              <a:srgbClr val="B69B83"/>
            </a:solidFill>
            <a:prstDash val="solid"/>
          </a:ln>
        </p:spPr>
      </p:sp>
      <p:sp>
        <p:nvSpPr>
          <p:cNvPr id="14" name="step-hex"/>
          <p:cNvSpPr/>
          <p:nvPr/>
        </p:nvSpPr>
        <p:spPr>
          <a:xfrm>
            <a:off x="685800" y="3226460"/>
            <a:ext cx="457200" cy="395935"/>
          </a:xfrm>
          <a:prstGeom prst="hexagon">
            <a:avLst/>
          </a:prstGeom>
          <a:solidFill>
            <a:srgbClr val="7A4A1E"/>
          </a:solidFill>
          <a:ln/>
        </p:spPr>
      </p:sp>
      <p:sp>
        <p:nvSpPr>
          <p:cNvPr id="15" name="step-hex-label"/>
          <p:cNvSpPr txBox="1"/>
          <p:nvPr/>
        </p:nvSpPr>
        <p:spPr>
          <a:xfrm>
            <a:off x="685800" y="32264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1472"/>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Infer: Shah Jahan had great wealth and wanted to be remembered for beauty and for love of his wife.</a:t>
            </a:r>
            <a:endParaRPr lang="en-US" sz="1800" dirty="0"/>
          </a:p>
        </p:txBody>
      </p:sp>
      <p:sp>
        <p:nvSpPr>
          <p:cNvPr id="17" name="step-box"/>
          <p:cNvSpPr/>
          <p:nvPr/>
        </p:nvSpPr>
        <p:spPr>
          <a:xfrm>
            <a:off x="548640" y="3780536"/>
            <a:ext cx="11094415" cy="565912"/>
          </a:xfrm>
          <a:prstGeom prst="roundRect">
            <a:avLst>
              <a:gd name="adj" fmla="val 12926"/>
            </a:avLst>
          </a:prstGeom>
          <a:solidFill>
            <a:srgbClr val="FFFFFF"/>
          </a:solidFill>
          <a:ln w="15875">
            <a:solidFill>
              <a:srgbClr val="B69B83"/>
            </a:solidFill>
            <a:prstDash val="solid"/>
          </a:ln>
        </p:spPr>
      </p:sp>
      <p:sp>
        <p:nvSpPr>
          <p:cNvPr id="18" name="step-hex"/>
          <p:cNvSpPr/>
          <p:nvPr/>
        </p:nvSpPr>
        <p:spPr>
          <a:xfrm>
            <a:off x="685800" y="3865524"/>
            <a:ext cx="457200" cy="395935"/>
          </a:xfrm>
          <a:prstGeom prst="hexagon">
            <a:avLst/>
          </a:prstGeom>
          <a:solidFill>
            <a:srgbClr val="7A4A1E"/>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0536"/>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own knowledge: this fits his reign being the peak of Mughal power and wealth.</a:t>
            </a:r>
            <a:endParaRPr lang="en-US" sz="1800" dirty="0"/>
          </a:p>
        </p:txBody>
      </p:sp>
      <p:sp>
        <p:nvSpPr>
          <p:cNvPr id="21" name="step-box"/>
          <p:cNvSpPr/>
          <p:nvPr/>
        </p:nvSpPr>
        <p:spPr>
          <a:xfrm>
            <a:off x="548640" y="4419600"/>
            <a:ext cx="11094415" cy="565912"/>
          </a:xfrm>
          <a:prstGeom prst="roundRect">
            <a:avLst>
              <a:gd name="adj" fmla="val 12926"/>
            </a:avLst>
          </a:prstGeom>
          <a:solidFill>
            <a:srgbClr val="FFFFFF"/>
          </a:solidFill>
          <a:ln w="15875">
            <a:solidFill>
              <a:srgbClr val="B69B83"/>
            </a:solidFill>
            <a:prstDash val="solid"/>
          </a:ln>
        </p:spPr>
      </p:sp>
      <p:sp>
        <p:nvSpPr>
          <p:cNvPr id="22" name="step-hex"/>
          <p:cNvSpPr/>
          <p:nvPr/>
        </p:nvSpPr>
        <p:spPr>
          <a:xfrm>
            <a:off x="685800" y="4504588"/>
            <a:ext cx="457200" cy="395935"/>
          </a:xfrm>
          <a:prstGeom prst="hexagon">
            <a:avLst/>
          </a:prstGeom>
          <a:solidFill>
            <a:srgbClr val="7A4A1E"/>
          </a:solidFill>
          <a:ln/>
        </p:spPr>
      </p:sp>
      <p:sp>
        <p:nvSpPr>
          <p:cNvPr id="23" name="step-hex-label"/>
          <p:cNvSpPr txBox="1"/>
          <p:nvPr/>
        </p:nvSpPr>
        <p:spPr>
          <a:xfrm>
            <a:off x="685800" y="45045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19600"/>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Limit: a building cannot tell her how ordinary people lived, or what his critics thought.</a:t>
            </a:r>
            <a:endParaRPr lang="en-US" sz="1800" dirty="0"/>
          </a:p>
        </p:txBody>
      </p:sp>
      <p:sp>
        <p:nvSpPr>
          <p:cNvPr id="25" name="worked-answer"/>
          <p:cNvSpPr/>
          <p:nvPr/>
        </p:nvSpPr>
        <p:spPr>
          <a:xfrm>
            <a:off x="548640" y="516839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It shows wealth, power and the image he wanted to leave; it cannot show ordinary life or opposition. Describe, infer, own knowledge, then limit.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Miniature paintings and the halo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infer, own knowledge: that is the three-step route through any Mughal portrait.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Mughal paintings are called miniatures, because they were painted small, often small enough to sit on the page of a book.</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Paintings in history are full of symbols. A halo around an emperor's head is a symbol that he was religious and close to God.</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creates a problem for historians, which your lesson's plenary asks about.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Music, books, languages and games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about long-term impact, Urdu and Indian music are your strongest examples: both are still alive today.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Many emperors enjoyed music, and Akbar was a musician himself who liked singing Hindu songs.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Akbar had his court historian write the Akbarnama, the Book of Akbar, in three volumes: one on his birth and on the reigns of Babur and Humayun, one on his own reign, and one on the Empire and the many cultures of India.</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Empire had many languages, including Persian, Arabic and Hindavi, and a new one, Urdu, was born there and is still spoken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Reading a portrait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miniature shows Emperor Jahangir with a bright halo around his head. What does the halo tell you about how he wanted to be seen?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a man who was ill and needed to be protected from the sun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a ruler who had won many battles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an emperor who disliked paintings and sat for them unwillingly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a religious ruler who was close to God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Reading a portrait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miniature shows Emperor Jahangir with a bright halo around his head. What does the halo tell you about how he wanted to be seen?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what is actually in the picture? A ring of light around the head.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that something a real person has? No, so it is a symbol.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Infer: what idea does a halo stand for in religious art? Holiness, closeness to God.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so the emperor wanted to be seen as a godly ruler.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halo is not real. Ask what idea it stands for in religious pictures.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portrait with a halo is useful evidence about an emperor's image but weak evidence about his actual behaviour. Use Jahangir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Match the aspect to the example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aspect of Mughal culture to the example your lesson gives.</a:t>
            </a:r>
            <a:endParaRPr lang="en-US" sz="2000" dirty="0"/>
          </a:p>
        </p:txBody>
      </p:sp>
      <p:sp>
        <p:nvSpPr>
          <p:cNvPr id="11" name="match-card"/>
          <p:cNvSpPr/>
          <p:nvPr/>
        </p:nvSpPr>
        <p:spPr>
          <a:xfrm>
            <a:off x="777240" y="2468331"/>
            <a:ext cx="3081437" cy="762110"/>
          </a:xfrm>
          <a:prstGeom prst="roundRect">
            <a:avLst>
              <a:gd name="adj" fmla="val 9599"/>
            </a:avLst>
          </a:prstGeom>
          <a:solidFill>
            <a:srgbClr val="F6F3F0"/>
          </a:solidFill>
          <a:ln/>
        </p:spPr>
      </p:sp>
      <p:sp>
        <p:nvSpPr>
          <p:cNvPr id="12" name="match-hex"/>
          <p:cNvSpPr/>
          <p:nvPr/>
        </p:nvSpPr>
        <p:spPr>
          <a:xfrm>
            <a:off x="850392" y="2683093"/>
            <a:ext cx="384048" cy="332586"/>
          </a:xfrm>
          <a:prstGeom prst="hexagon">
            <a:avLst/>
          </a:prstGeom>
          <a:solidFill>
            <a:srgbClr val="7A4A1E"/>
          </a:solidFill>
          <a:ln/>
        </p:spPr>
      </p:sp>
      <p:sp>
        <p:nvSpPr>
          <p:cNvPr id="13" name="match-hex-label"/>
          <p:cNvSpPr txBox="1"/>
          <p:nvPr/>
        </p:nvSpPr>
        <p:spPr>
          <a:xfrm>
            <a:off x="850392" y="268309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Architecture</a:t>
            </a:r>
            <a:endParaRPr lang="en-US" sz="1800" dirty="0"/>
          </a:p>
        </p:txBody>
      </p:sp>
      <p:sp>
        <p:nvSpPr>
          <p:cNvPr id="15" name="match-card"/>
          <p:cNvSpPr/>
          <p:nvPr/>
        </p:nvSpPr>
        <p:spPr>
          <a:xfrm>
            <a:off x="4224437" y="2468331"/>
            <a:ext cx="7190019" cy="762110"/>
          </a:xfrm>
          <a:prstGeom prst="roundRect">
            <a:avLst>
              <a:gd name="adj" fmla="val 9599"/>
            </a:avLst>
          </a:prstGeom>
          <a:solidFill>
            <a:srgbClr val="F8F2E9"/>
          </a:solidFill>
          <a:ln/>
        </p:spPr>
      </p:sp>
      <p:sp>
        <p:nvSpPr>
          <p:cNvPr id="16" name="match-hex"/>
          <p:cNvSpPr/>
          <p:nvPr/>
        </p:nvSpPr>
        <p:spPr>
          <a:xfrm>
            <a:off x="4297589" y="2683093"/>
            <a:ext cx="384048" cy="332586"/>
          </a:xfrm>
          <a:prstGeom prst="hexagon">
            <a:avLst/>
          </a:prstGeom>
          <a:solidFill>
            <a:srgbClr val="B8862B"/>
          </a:solidFill>
          <a:ln/>
        </p:spPr>
      </p:sp>
      <p:sp>
        <p:nvSpPr>
          <p:cNvPr id="17" name="match-hex-label"/>
          <p:cNvSpPr txBox="1"/>
          <p:nvPr/>
        </p:nvSpPr>
        <p:spPr>
          <a:xfrm>
            <a:off x="4297589" y="268309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Taj Mahal and the Agra Fort, blending Persian, Turkish and Indian styles</a:t>
            </a:r>
            <a:endParaRPr lang="en-US" sz="1800" dirty="0"/>
          </a:p>
        </p:txBody>
      </p:sp>
      <p:sp>
        <p:nvSpPr>
          <p:cNvPr id="19" name="match-card"/>
          <p:cNvSpPr/>
          <p:nvPr/>
        </p:nvSpPr>
        <p:spPr>
          <a:xfrm>
            <a:off x="777240" y="3321881"/>
            <a:ext cx="3081437" cy="762110"/>
          </a:xfrm>
          <a:prstGeom prst="roundRect">
            <a:avLst>
              <a:gd name="adj" fmla="val 9599"/>
            </a:avLst>
          </a:prstGeom>
          <a:solidFill>
            <a:srgbClr val="F6F3F0"/>
          </a:solidFill>
          <a:ln/>
        </p:spPr>
      </p:sp>
      <p:sp>
        <p:nvSpPr>
          <p:cNvPr id="20" name="match-hex"/>
          <p:cNvSpPr/>
          <p:nvPr/>
        </p:nvSpPr>
        <p:spPr>
          <a:xfrm>
            <a:off x="850392" y="3536643"/>
            <a:ext cx="384048" cy="332586"/>
          </a:xfrm>
          <a:prstGeom prst="hexagon">
            <a:avLst/>
          </a:prstGeom>
          <a:solidFill>
            <a:srgbClr val="7A4A1E"/>
          </a:solidFill>
          <a:ln/>
        </p:spPr>
      </p:sp>
      <p:sp>
        <p:nvSpPr>
          <p:cNvPr id="21" name="match-hex-label"/>
          <p:cNvSpPr txBox="1"/>
          <p:nvPr/>
        </p:nvSpPr>
        <p:spPr>
          <a:xfrm>
            <a:off x="850392" y="3536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21881"/>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Miniature paintings</a:t>
            </a:r>
            <a:endParaRPr lang="en-US" sz="1800" dirty="0"/>
          </a:p>
        </p:txBody>
      </p:sp>
      <p:sp>
        <p:nvSpPr>
          <p:cNvPr id="23" name="match-card"/>
          <p:cNvSpPr/>
          <p:nvPr/>
        </p:nvSpPr>
        <p:spPr>
          <a:xfrm>
            <a:off x="4224437" y="3321881"/>
            <a:ext cx="7190019" cy="762110"/>
          </a:xfrm>
          <a:prstGeom prst="roundRect">
            <a:avLst>
              <a:gd name="adj" fmla="val 9599"/>
            </a:avLst>
          </a:prstGeom>
          <a:solidFill>
            <a:srgbClr val="F8F2E9"/>
          </a:solidFill>
          <a:ln/>
        </p:spPr>
      </p:sp>
      <p:sp>
        <p:nvSpPr>
          <p:cNvPr id="24" name="match-hex"/>
          <p:cNvSpPr/>
          <p:nvPr/>
        </p:nvSpPr>
        <p:spPr>
          <a:xfrm>
            <a:off x="4297589" y="3536643"/>
            <a:ext cx="384048" cy="332586"/>
          </a:xfrm>
          <a:prstGeom prst="hexagon">
            <a:avLst/>
          </a:prstGeom>
          <a:solidFill>
            <a:srgbClr val="B8862B"/>
          </a:solidFill>
          <a:ln/>
        </p:spPr>
      </p:sp>
      <p:sp>
        <p:nvSpPr>
          <p:cNvPr id="25" name="match-hex-label"/>
          <p:cNvSpPr txBox="1"/>
          <p:nvPr/>
        </p:nvSpPr>
        <p:spPr>
          <a:xfrm>
            <a:off x="4297589" y="3536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21881"/>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Akbar's 36 court musicians, where Hindu and Muslim music became one</a:t>
            </a:r>
            <a:endParaRPr lang="en-US" sz="1800" dirty="0"/>
          </a:p>
        </p:txBody>
      </p:sp>
      <p:sp>
        <p:nvSpPr>
          <p:cNvPr id="27" name="match-card"/>
          <p:cNvSpPr/>
          <p:nvPr/>
        </p:nvSpPr>
        <p:spPr>
          <a:xfrm>
            <a:off x="777240" y="4175431"/>
            <a:ext cx="3081437" cy="534526"/>
          </a:xfrm>
          <a:prstGeom prst="roundRect">
            <a:avLst>
              <a:gd name="adj" fmla="val 13685"/>
            </a:avLst>
          </a:prstGeom>
          <a:solidFill>
            <a:srgbClr val="F6F3F0"/>
          </a:solidFill>
          <a:ln/>
        </p:spPr>
      </p:sp>
      <p:sp>
        <p:nvSpPr>
          <p:cNvPr id="28" name="match-hex"/>
          <p:cNvSpPr/>
          <p:nvPr/>
        </p:nvSpPr>
        <p:spPr>
          <a:xfrm>
            <a:off x="850392" y="4276401"/>
            <a:ext cx="384048" cy="332586"/>
          </a:xfrm>
          <a:prstGeom prst="hexagon">
            <a:avLst/>
          </a:prstGeom>
          <a:solidFill>
            <a:srgbClr val="7A4A1E"/>
          </a:solidFill>
          <a:ln/>
        </p:spPr>
      </p:sp>
      <p:sp>
        <p:nvSpPr>
          <p:cNvPr id="29" name="match-hex-label"/>
          <p:cNvSpPr txBox="1"/>
          <p:nvPr/>
        </p:nvSpPr>
        <p:spPr>
          <a:xfrm>
            <a:off x="850392" y="42764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75431"/>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Music</a:t>
            </a:r>
            <a:endParaRPr lang="en-US" sz="1800" dirty="0"/>
          </a:p>
        </p:txBody>
      </p:sp>
      <p:sp>
        <p:nvSpPr>
          <p:cNvPr id="31" name="match-card"/>
          <p:cNvSpPr/>
          <p:nvPr/>
        </p:nvSpPr>
        <p:spPr>
          <a:xfrm>
            <a:off x="4224437" y="4175431"/>
            <a:ext cx="7190019" cy="534526"/>
          </a:xfrm>
          <a:prstGeom prst="roundRect">
            <a:avLst>
              <a:gd name="adj" fmla="val 13685"/>
            </a:avLst>
          </a:prstGeom>
          <a:solidFill>
            <a:srgbClr val="F8F2E9"/>
          </a:solidFill>
          <a:ln/>
        </p:spPr>
      </p:sp>
      <p:sp>
        <p:nvSpPr>
          <p:cNvPr id="32" name="match-hex"/>
          <p:cNvSpPr/>
          <p:nvPr/>
        </p:nvSpPr>
        <p:spPr>
          <a:xfrm>
            <a:off x="4297589" y="4276401"/>
            <a:ext cx="384048" cy="332586"/>
          </a:xfrm>
          <a:prstGeom prst="hexagon">
            <a:avLst/>
          </a:prstGeom>
          <a:solidFill>
            <a:srgbClr val="B8862B"/>
          </a:solidFill>
          <a:ln/>
        </p:spPr>
      </p:sp>
      <p:sp>
        <p:nvSpPr>
          <p:cNvPr id="33" name="match-hex-label"/>
          <p:cNvSpPr txBox="1"/>
          <p:nvPr/>
        </p:nvSpPr>
        <p:spPr>
          <a:xfrm>
            <a:off x="4297589" y="42764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175431"/>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Akbarnama, three volumes written by Akbar's court historian</a:t>
            </a:r>
            <a:endParaRPr lang="en-US" sz="1800" dirty="0"/>
          </a:p>
        </p:txBody>
      </p:sp>
      <p:sp>
        <p:nvSpPr>
          <p:cNvPr id="35" name="match-card"/>
          <p:cNvSpPr/>
          <p:nvPr/>
        </p:nvSpPr>
        <p:spPr>
          <a:xfrm>
            <a:off x="777240" y="4801397"/>
            <a:ext cx="3081437" cy="534526"/>
          </a:xfrm>
          <a:prstGeom prst="roundRect">
            <a:avLst>
              <a:gd name="adj" fmla="val 13685"/>
            </a:avLst>
          </a:prstGeom>
          <a:solidFill>
            <a:srgbClr val="F6F3F0"/>
          </a:solidFill>
          <a:ln/>
        </p:spPr>
      </p:sp>
      <p:sp>
        <p:nvSpPr>
          <p:cNvPr id="36" name="match-hex"/>
          <p:cNvSpPr/>
          <p:nvPr/>
        </p:nvSpPr>
        <p:spPr>
          <a:xfrm>
            <a:off x="850392" y="4902367"/>
            <a:ext cx="384048" cy="332586"/>
          </a:xfrm>
          <a:prstGeom prst="hexagon">
            <a:avLst/>
          </a:prstGeom>
          <a:solidFill>
            <a:srgbClr val="7A4A1E"/>
          </a:solidFill>
          <a:ln/>
        </p:spPr>
      </p:sp>
      <p:sp>
        <p:nvSpPr>
          <p:cNvPr id="37" name="match-hex-label"/>
          <p:cNvSpPr txBox="1"/>
          <p:nvPr/>
        </p:nvSpPr>
        <p:spPr>
          <a:xfrm>
            <a:off x="850392" y="49023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01397"/>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Biography</a:t>
            </a:r>
            <a:endParaRPr lang="en-US" sz="1800" dirty="0"/>
          </a:p>
        </p:txBody>
      </p:sp>
      <p:sp>
        <p:nvSpPr>
          <p:cNvPr id="39" name="match-card"/>
          <p:cNvSpPr/>
          <p:nvPr/>
        </p:nvSpPr>
        <p:spPr>
          <a:xfrm>
            <a:off x="4224437" y="4801397"/>
            <a:ext cx="7190019" cy="534526"/>
          </a:xfrm>
          <a:prstGeom prst="roundRect">
            <a:avLst>
              <a:gd name="adj" fmla="val 13685"/>
            </a:avLst>
          </a:prstGeom>
          <a:solidFill>
            <a:srgbClr val="F8F2E9"/>
          </a:solidFill>
          <a:ln/>
        </p:spPr>
      </p:sp>
      <p:sp>
        <p:nvSpPr>
          <p:cNvPr id="40" name="match-hex"/>
          <p:cNvSpPr/>
          <p:nvPr/>
        </p:nvSpPr>
        <p:spPr>
          <a:xfrm>
            <a:off x="4297589" y="4902367"/>
            <a:ext cx="384048" cy="332586"/>
          </a:xfrm>
          <a:prstGeom prst="hexagon">
            <a:avLst/>
          </a:prstGeom>
          <a:solidFill>
            <a:srgbClr val="B8862B"/>
          </a:solidFill>
          <a:ln/>
        </p:spPr>
      </p:sp>
      <p:sp>
        <p:nvSpPr>
          <p:cNvPr id="41" name="match-hex-label"/>
          <p:cNvSpPr txBox="1"/>
          <p:nvPr/>
        </p:nvSpPr>
        <p:spPr>
          <a:xfrm>
            <a:off x="4297589" y="49023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01397"/>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Urdu, born in the Empire and still spoken today</a:t>
            </a:r>
            <a:endParaRPr lang="en-US" sz="1800" dirty="0"/>
          </a:p>
        </p:txBody>
      </p:sp>
      <p:sp>
        <p:nvSpPr>
          <p:cNvPr id="43" name="match-card"/>
          <p:cNvSpPr/>
          <p:nvPr/>
        </p:nvSpPr>
        <p:spPr>
          <a:xfrm>
            <a:off x="777240" y="5427362"/>
            <a:ext cx="3081437" cy="534526"/>
          </a:xfrm>
          <a:prstGeom prst="roundRect">
            <a:avLst>
              <a:gd name="adj" fmla="val 13685"/>
            </a:avLst>
          </a:prstGeom>
          <a:solidFill>
            <a:srgbClr val="F6F3F0"/>
          </a:solidFill>
          <a:ln/>
        </p:spPr>
      </p:sp>
      <p:sp>
        <p:nvSpPr>
          <p:cNvPr id="44" name="match-hex"/>
          <p:cNvSpPr/>
          <p:nvPr/>
        </p:nvSpPr>
        <p:spPr>
          <a:xfrm>
            <a:off x="850392" y="5528332"/>
            <a:ext cx="384048" cy="332586"/>
          </a:xfrm>
          <a:prstGeom prst="hexagon">
            <a:avLst/>
          </a:prstGeom>
          <a:solidFill>
            <a:srgbClr val="7A4A1E"/>
          </a:solidFill>
          <a:ln/>
        </p:spPr>
      </p:sp>
      <p:sp>
        <p:nvSpPr>
          <p:cNvPr id="45" name="match-hex-label"/>
          <p:cNvSpPr txBox="1"/>
          <p:nvPr/>
        </p:nvSpPr>
        <p:spPr>
          <a:xfrm>
            <a:off x="850392" y="55283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27362"/>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a:t>
            </a:r>
            <a:endParaRPr lang="en-US" sz="1800" dirty="0"/>
          </a:p>
        </p:txBody>
      </p:sp>
      <p:sp>
        <p:nvSpPr>
          <p:cNvPr id="47" name="match-card"/>
          <p:cNvSpPr/>
          <p:nvPr/>
        </p:nvSpPr>
        <p:spPr>
          <a:xfrm>
            <a:off x="4224437" y="5427362"/>
            <a:ext cx="7190019" cy="534526"/>
          </a:xfrm>
          <a:prstGeom prst="roundRect">
            <a:avLst>
              <a:gd name="adj" fmla="val 13685"/>
            </a:avLst>
          </a:prstGeom>
          <a:solidFill>
            <a:srgbClr val="F8F2E9"/>
          </a:solidFill>
          <a:ln/>
        </p:spPr>
      </p:sp>
      <p:sp>
        <p:nvSpPr>
          <p:cNvPr id="48" name="match-hex"/>
          <p:cNvSpPr/>
          <p:nvPr/>
        </p:nvSpPr>
        <p:spPr>
          <a:xfrm>
            <a:off x="4297589" y="5528332"/>
            <a:ext cx="384048" cy="332586"/>
          </a:xfrm>
          <a:prstGeom prst="hexagon">
            <a:avLst/>
          </a:prstGeom>
          <a:solidFill>
            <a:srgbClr val="B8862B"/>
          </a:solidFill>
          <a:ln/>
        </p:spPr>
      </p:sp>
      <p:sp>
        <p:nvSpPr>
          <p:cNvPr id="49" name="match-hex-label"/>
          <p:cNvSpPr txBox="1"/>
          <p:nvPr/>
        </p:nvSpPr>
        <p:spPr>
          <a:xfrm>
            <a:off x="4297589" y="55283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27362"/>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Portraits of the emperors with halos, small enough to fit in a book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Match the aspect to the example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aspect of Mughal culture to the example your lesson gives.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Architecture means buildings, so look for the Taj Mahal.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Miniature paintings are small, so look for the words fit in a book.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Music needs musicians: find the 36.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biography is a book about a person's life: the Akbarnama. What is left is the language, Urdu.</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Buildings, small pictures, musicians, a book about a life, a spoken tongue. Five clues.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these five aspects by their long-term impact on India today, and justify your top choice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Mughal paintings are called ___ because they were small enough to fit into a book.</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miniatures   ·   murals   ·   portraits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Reading a portrait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miniature shows Emperor Jahangir with a bright halo around his head. What does the halo tell you about how he wanted to be seen?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As a religious ruler who was close to God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halo is a symbol chosen by the emperor and his painter. It tells us he wanted to be remembered as religious and close to God; it does not tell us what he was like, which is why we check portraits against our own knowledge.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Match the aspect to the example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Architecture  →  A  The Taj Mahal and the Agra Fort, blending Persian, Turkish and Indian styles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Miniature paintings  →  E  Portraits of the emperors with halos, small enough to fit in a book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Music  →  B  Akbar's 36 court musicians, where Hindu and Muslim music became one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Biography  →  C  The Akbarnama, three volumes written by Akbar's court historian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Language  →  D  Urdu, born in the Empire and still spoken today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Architecture: the Taj Mahal and Agra Fort. Miniatures: the small portraits with halos. Music: Akbar's 36 musicians. Biography: the Akbarnama. Language: Urdu.</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Mughal paintings are called ___ because they were small enough to fit into a book.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Mughal paintings are called miniatures because they were small enough to fit into a book.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miniature is a small, detailed painting; Mughal painters made them to be kept in books.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3: Mughal culture: buildings, paintings, music and words</dc:title>
  <dc:subject>History · Year 8</dc:subject>
  <dc:creator>Dr Vitor Merissi de Carvalho</dc:creator>
  <cp:lastModifiedBy>Dr Vitor Merissi de Carvalho</cp:lastModifiedBy>
  <cp:revision>1</cp:revision>
  <dcterms:created xsi:type="dcterms:W3CDTF">2026-10-19T16:23:09Z</dcterms:created>
  <dcterms:modified xsi:type="dcterms:W3CDTF">2026-10-19T16:23:09Z</dcterms:modified>
</cp:coreProperties>
</file>