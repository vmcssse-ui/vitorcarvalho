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db412d9-180a-f931-c7cb-ebb9f3cbb987}">
          <p14:sldIdLst>
            <p14:sldId id="256"/>
          </p14:sldIdLst>
        </p14:section>
        <p14:section name="Gate" id="{418c24d6-b0e5-2607-6567-6f94bd27845a}">
          <p14:sldIdLst>
            <p14:sldId id="257"/>
            <p14:sldId id="258"/>
          </p14:sldIdLst>
        </p14:section>
        <p14:section name="Pre-teach" id="{63dc497f-cf51-ebce-7a4a-0c2a45a5f27f}">
          <p14:sldIdLst>
            <p14:sldId id="259"/>
            <p14:sldId id="260"/>
          </p14:sldIdLst>
        </p14:section>
        <p14:section name="Read-along" id="{dfe4af94-ad6f-841a-1373-2887220ce412}">
          <p14:sldIdLst>
            <p14:sldId id="261"/>
            <p14:sldId id="262"/>
          </p14:sldIdLst>
        </p14:section>
        <p14:section name="Teach" id="{f3d6bed6-6841-a7e5-b0a3-f5c98f318f40}">
          <p14:sldIdLst>
            <p14:sldId id="263"/>
            <p14:sldId id="264"/>
            <p14:sldId id="265"/>
            <p14:sldId id="266"/>
            <p14:sldId id="267"/>
            <p14:sldId id="268"/>
          </p14:sldIdLst>
        </p14:section>
        <p14:section name="Routes" id="{a617b5d1-9960-ba71-62d7-785116e8cf57}">
          <p14:sldIdLst>
            <p14:sldId id="269"/>
            <p14:sldId id="270"/>
            <p14:sldId id="271"/>
          </p14:sldIdLst>
        </p14:section>
        <p14:section name="Close" id="{90d1bb90-73b2-8fd1-ff3f-b36561ef3604}">
          <p14:sldIdLst>
            <p14:sldId id="272"/>
          </p14:sldIdLst>
        </p14:section>
        <p14:section name="Answers" id="{e53e1e17-4c24-3f01-1a8e-c0bf69924033}">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Mitigation in action: energy, trees and carbon capture. How the UK's energy mix has changed, what Thanet offshore wind farm does, why planting trees cuts carbon, and how carbon capture would bury the carbon dioxide from power stations under the sea.
This deck covers the department's lesson: 4 (Mitigation: alternative energy, planting trees and carbon capture: How are the UK and other countries reducing the causes of climate change?).
Read the big question aloud: "How do we know the climate is changing, what is causing it, and should we spend our effort on cutting the causes or on adapting to the effects?"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1980 fossil fuels supplied 91% of the UK's energy; in 2015 they supplied 50%. By how many percentage points did the fossil fuel share fall?  →  41 percentage points
2. Thanet offshore wind farm stands in the sea about 12 km from the coast at which town?  →  B   Margate, in Kent
3. Trees are carbon ___: they take in carbon dioxide as they grow and store the carbon in their trunks, branches and roots.  →  sinks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41 percentage points. 91 − 50 = 41 percentage points, over 35 years. The fall was made up for mainly by the rise in renewable energy.
2. B   Margate, in Kent. Thanet offshore wind farm is about 7.4 miles (12 km) off Margate, on the Kent coast. It has 100 turbines.
3. sinks. A carbon sink takes carbon out of the air and stores it. A carbon source, such as a power station, releases it.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renewable energy: energy from sources that do not run out and release no carbon dioxide. Example: "Wind, solar and tidal power are renewable energy."
• energy mix: the share of each energy source a country uses. Example: "The UK's energy mix has far less coal than it had in 1980."
• offshore wind farm: a group of wind turbines standing in the sea. Example: "Thanet offshore wind farm is off the coast of Kent."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carbon sink: something that takes carbon dioxide out of the air and stores it. Example: "A forest is a carbon sink."
• afforestation: planting new forests where there were none. Example: "Afforestation is one way the UK is mitigating climate change."
• carbon capture: catching carbon dioxide from a power station and storing it underground. Example: "Carbon capture would store the gas in old oil fields under the North Sea."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Mitigation means cutting the causes of climate change.
2. The biggest cause is burning fossil fuels for energy.
3. So the first step is to make electricity another way.
4. Wind, solar, tidal, hydro-electric and geothermal power release no carbon dioxide.
5. In 1980, fossil fuels made 91 per cent of the UK's energy.
6. By 2015 that had fallen to 50 per cent.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Thanet offshore wind farm, off Margate in Kent, has 100 turbines.
8. It makes enough electricity for about 220 000 homes a year.
9. Trees are carbon sinks: they take in carbon dioxide as they grow and store the carbon.
10. Forest covered 5 per cent of the UK in 1920 and 13 per cent in 2020.
11. Carbon capture catches carbon dioxide from a power station before it reaches the air.
12. The gas is turned into a liquid and stored deep under the sea in old oil fields.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Alternative energy and the UK's energy mix. Say it in your own words, then check understanding with a quick question: ask a pupil from the pre-teach group first, since they met these words and ideas before the lesson. Pupils try to recall before you re-explain.
Burning coal, oil and gas releases carbon dioxide. Generating electricity another way does not. Renewable sources such as hydro-electric, solar, wind, tidal and geothermal power produce no carbon dioxide when they run, and nuclear power, although not renewable, is also low-carbon. Every unit of electricity made this way is a unit that was not made by burning fossil fuel, which is why switching the energy supply is the most direct form of mitigation.
The UK's energy mix shows how far this has gone. In 1980 fossil fuels supplied 91% of the UK's energy, nuclear 6%, renewables 3% and imports 0%. By 2015 fossil fuels had fallen to 50%, nuclear had risen to 19%, renewables (wind, solar and hydro-electric) to 23%, and imports to 8%. Fossil fuels are the only source that fell; renewables grew the most, from 3% to 23%. The fall in fossil fuels was 41 percentage points in 35 years, which your deck judged to be a reduction to a large extent, made up for mainly by the rise in renewables.
In class you drew these figures as two pie charts. To turn a percentage into an angle, multiply by 3.6, because 360 degrees divided by 100 is 3.6. So 91% becomes 327.6 degrees, 50% becomes 180 degrees, and 23% becomes 82.8 degrees. Check that each pie adds up to 360.
Worked example — model it step by step, thinking aloud: Using the 1980 and 2015 figures, by how many percentage points did the UK's use of fossil fuels fall, and by how many did renewable energy rise? (1) Fossil fuels: 91% in 1980, 50% in 2015. The fall is 91 − 50 = 41 percentage points. (2) Renewables: 3% in 1980, 23% in 2015. The rise is 23 − 3 = 20 percentage points. (3) Nuclear rose 19 − 6 = 13 and imports rose 8 − 0 = 8. The three rises, 20 + 13 + 8 = 41, exactly match the fall, as they must when the mix always totals 100. (4) To say how far the UK is reducing fossil fuels, give the figure, the time (35 years, 1980 to 2015) and a judgement. Answer: Fossil fuels fell by 41 percentage points (91% to 50%); renewables rose by 20 percentage points (3% to 23%)..
Tip: When two percentages are compared, say percentage points, not per cent. A fall from 91% to 50% is a fall of 41 percentage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Alternative energy and the UK's energy mix. Say it in your own words, then check understanding with a quick question: ask a pupil from the pre-teach group first, since they met these words and ideas before the lesson. Pupils try to recall before you re-explain.
Burning coal, oil and gas releases carbon dioxide. Generating electricity another way does not. Renewable sources such as hydro-electric, solar, wind, tidal and geothermal power produce no carbon dioxide when they run, and nuclear power, although not renewable, is also low-carbon. Every unit of electricity made this way is a unit that was not made by burning fossil fuel, which is why switching the energy supply is the most direct form of mitigation.
The UK's energy mix shows how far this has gone. In 1980 fossil fuels supplied 91% of the UK's energy, nuclear 6%, renewables 3% and imports 0%. By 2015 fossil fuels had fallen to 50%, nuclear had risen to 19%, renewables (wind, solar and hydro-electric) to 23%, and imports to 8%. Fossil fuels are the only source that fell; renewables grew the most, from 3% to 23%. The fall in fossil fuels was 41 percentage points in 35 years, which your deck judged to be a reduction to a large extent, made up for mainly by the rise in renewables.
In class you drew these figures as two pie charts. To turn a percentage into an angle, multiply by 3.6, because 360 degrees divided by 100 is 3.6. So 91% becomes 327.6 degrees, 50% becomes 180 degrees, and 23% becomes 82.8 degrees. Check that each pie adds up to 360.
Worked example — model it step by step, thinking aloud: Using the 1980 and 2015 figures, by how many percentage points did the UK's use of fossil fuels fall, and by how many did renewable energy rise? (1) Fossil fuels: 91% in 1980, 50% in 2015. The fall is 91 − 50 = 41 percentage points. (2) Renewables: 3% in 1980, 23% in 2015. The rise is 23 − 3 = 20 percentage points. (3) Nuclear rose 19 − 6 = 13 and imports rose 8 − 0 = 8. The three rises, 20 + 13 + 8 = 41, exactly match the fall, as they must when the mix always totals 100. (4) To say how far the UK is reducing fossil fuels, give the figure, the time (35 years, 1980 to 2015) and a judgement. Answer: Fossil fuels fell by 41 percentage points (91% to 50%); renewables rose by 20 percentage points (3% to 23%)..
Tip: When two percentages are compared, say percentage points, not per cent. A fall from 91% to 50% is a fall of 41 percentage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Case study: Thanet offshore wind farm. Say it in your own words, then check understanding with a quick question: ask a pupil from the pre-teach group first, since they met these words and ideas before the lesson. Pupils try to recall before you re-explain.
Thanet offshore wind farm stands in the sea about 7.4 miles (12 km) off the coast at Margate, in Kent. It currently has 100 turbines and produces enough renewable energy to power around 220 000 UK homes a year. A further 34 giant turbines were planned, which would raise the supply to enough electricity for 430 000 homes.
How does a wind farm mitigate climate change? Each turbine turns wind into electricity without burning anything, so every home it powers is a home whose electricity did not come from a gas or coal power station. The carbon dioxide that power station would have released is never produced. Putting the turbines offshore gives them stronger, steadier winds than on land and keeps them away from homes.
For a four-mark answer using a named example, give the place and two figures, then the mechanism: no fuel is burned, so no carbon dioxide is released, so the cause of climate change is reduced.
Worked example — model it step by step, thinking aloud: If the planned 34 extra turbines are built at Thanet, how many turbines will it have, and how many more homes will it be able to supply? (1) Turbines: 100 now plus 34 planned is 134 turbines. (2) Homes: 430 000 after the extension minus 220 000 now is 210 000 more homes. (3) Notice that 34 new turbines add almost as many homes as the first 100 did, because the new turbines are much bigger. Answer: 134 turbines; about 210 000 more homes..
Tip: Thanet: 12 km off Margate, Kent; 100 turbines; 220 000 homes. Three facts are enough for a four-mark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Case study: Thanet offshore wind farm. Say it in your own words, then check understanding with a quick question: ask a pupil from the pre-teach group first, since they met these words and ideas before the lesson. Pupils try to recall before you re-explain.
Thanet offshore wind farm stands in the sea about 7.4 miles (12 km) off the coast at Margate, in Kent. It currently has 100 turbines and produces enough renewable energy to power around 220 000 UK homes a year. A further 34 giant turbines were planned, which would raise the supply to enough electricity for 430 000 homes.
How does a wind farm mitigate climate change? Each turbine turns wind into electricity without burning anything, so every home it powers is a home whose electricity did not come from a gas or coal power station. The carbon dioxide that power station would have released is never produced. Putting the turbines offshore gives them stronger, steadier winds than on land and keeps them away from homes.
For a four-mark answer using a named example, give the place and two figures, then the mechanism: no fuel is burned, so no carbon dioxide is released, so the cause of climate change is reduced.
Worked example — model it step by step, thinking aloud: If the planned 34 extra turbines are built at Thanet, how many turbines will it have, and how many more homes will it be able to supply? (1) Turbines: 100 now plus 34 planned is 134 turbines. (2) Homes: 430 000 after the extension minus 220 000 now is 210 000 more homes. (3) Notice that 34 new turbines add almost as many homes as the first 100 did, because the new turbines are much bigger. Answer: 134 turbines; about 210 000 more homes..
Tip: Thanet: 12 km off Margate, Kent; 100 turbines; 220 000 homes. Three facts are enough for a four-mark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Planting trees. Say it in your own words, then check understanding with a quick question: ask a pupil from the pre-teach group first, since they met these words and ideas before the lesson. Pupils try to recall before you re-explain.
Trees are carbon sinks. During photosynthesis they take in carbon dioxide from the air and store the carbon in their trunks, branches and roots, where it stays for as long as the tree stands. Reforestation means replanting forests that have been cut down; afforestation means planting new forests where there were none. Doing both, protecting old forests and halting deforestation around the world, takes carbon dioxide out of the atmosphere and so mitigates the root cause of climate change.
The UK has far less forest than most of Europe: forest covers 13% of its land area against a European average of 39%. But the area is growing. Forest covered 5% of the UK in 1920, 6% in 1940, 8% in 1960, 9% in 1980, 11% in 2000 and 13% in 2020. Your deck's example was Thames Chase Community Woodland, on the edge of east London, where new woodland was being planted in the early 2000s.
Describing the forest graph is a two-step job: the overall trend (a steady rise), then figures (from 5% to 13%, a rise of 8 percentage points in 100 years, half of it added in the 40 years since 1980). To judge how far planting trees is mitigating climate change, set that 8-point rise against the 39% European average: real progress, but from a low base.
Tip: Trees cut carbon only while they stand. Say store as well as absorb, and mention protecting old forests as well as planting new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Carbon capture. Say it in your own words, then check understanding with a quick question: ask a pupil from the pre-teach group first, since they met these words and ideas before the lesson. Pupils try to recall before you re-explain.
Carbon capture tackles the problem at the chimney. At a large fossil-fuel power station the fuel is burned as usual, but the carbon dioxide is captured from the exhaust gases instead of going up into the air. The gas is pumped through pipelines to old oil fields, converted into a liquid and injected into the sedimentary rocks deep underground that once held the oil. A layer of impermeable cap rock above stops the carbon dioxide escaping, so it stays locked away.
Your deck's UK example is a project planned for Yorkshire, taking carbon dioxide from the power stations of the Don Valley near Sheffield. Potentially 18% of the UK's carbon emissions could be captured and stored in an old North Sea oil field. The project was costed at £3 billion and would allow one million homes to use low-carbon electricity. The carbon dioxide would first be used to recover hard-to-reach oil before being stored permanently 3 km under the sea bed.
Carbon capture lets a country keep using fossil fuels while cutting what reaches the atmosphere, which is why it is attractive. The arguments against are its cost, the fact that it only works at large single sources such as power stations, and the worry that it lets us carry on burning fuel instead of switching to renewables.
Tip: Describe the process as a chain of four: capture at the power station, pipeline, liquid, injection under cap rock. A chain in order is what a describe-the-process question wants.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Percentages to pie chart.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Renewable energy makes up 23% of the UK's energy mix. To draw this on a pie chart, how many degrees should the renewable sector be? (Multiply the percentage by 3.6.)
Support — work through the steps with the group: (1) A full circle is 360 degrees and stands for 100%. (2) So 1% is 360 ÷ 100 = 3.6 degrees. (3) Multiply the percentage by 3.6: 23 × 3.6. (4) Work it as 20 × 3.6 = 72 and 3 × 3.6 = 10.8, then add: 82.8 degrees.
Parallel worked example for Support (model it, do not give the task answer): In 2015 nuclear power was 19% of the UK's energy mix. How many degrees is its pie chart sector? 1% is 3.6 degrees.; 19 × 3.6: 10 × 3.6 = 36, 9 × 3.6 = 32.4, total 68.4.. Answer: 68.4 degrees.
Core — reveal the hint only on request: 360 degrees is the whole pie, so what is one per cent worth?
Stretch — no help; when finished: Work out the angles for all four 2015 sectors and show that they add up to 360 degrees.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carbon capture works.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carbon capture and storage in the correct order.
Support — work through the steps with the group: (1) Start where the carbon dioxide is made: the power station burning fuel. (2) Before anything can be moved it has to be caught. Capture comes next. (3) Then it travels: pipelines to the oil field. (4) Then it is stored: liquid, injected, and sealed in by the cap rock above.
Parallel worked example for Support (model it, do not give the task answer): Put the stages of the Beckton desalination process in order: salt is removed through membranes; water is pumped from the river; water is filtered through sand; calcium and magnesium are added before disinfecting. Water has to arrive first.; Clean out solids before removing salt.; Finish by adding minerals and disinfecting.. Answer: Water is pumped from the river; filtered through sand; salt removed through membranes; calcium and magnesium added before disinfecting..
Core — reveal the hint only on request: Make it, catch it, move it, bury it, seal it.
Stretch — no help; when finished: Explain why carbon capture is described as mitigation even though the power station still burns fossil fuel.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carbon capture works.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carbon capture and storage in the correct order.
Support — work through the steps with the group: (1) Start where the carbon dioxide is made: the power station burning fuel. (2) Before anything can be moved it has to be caught. Capture comes next. (3) Then it travels: pipelines to the oil field. (4) Then it is stored: liquid, injected, and sealed in by the cap rock above.
Parallel worked example for Support (model it, do not give the task answer): Put the stages of the Beckton desalination process in order: salt is removed through membranes; water is pumped from the river; water is filtered through sand; calcium and magnesium are added before disinfecting. Water has to arrive first.; Clean out solids before removing salt.; Finish by adding minerals and disinfecting.. Answer: Water is pumped from the river; filtered through sand; salt removed through membranes; calcium and magnesium added before disinfecting..
Core — reveal the hint only on request: Make it, catch it, move it, bury it, seal it.
Stretch — no help; when finished: Explain why carbon capture is described as mitigation even though the power station still burns fossil fuel.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1980 fossil fuels supplied 91% of the UK's energy; in 2015 they supplied 50%. By how many percentage points did the fossil fuel share fall?
Answer: 41 percentage points. 91 − 50 = 41 percentage points, over 35 years. The fall was made up for mainly by the rise in renewable energy.
Source of this question: gate item 1 re-asked (options rotated) — this chapter has no third quick-check module.
The ebook also holds task 3, "Why planting trees cuts carbon",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Percentages to pie chart. Reveal the answer; pupils mark their own work in a different colour, then read the "why" together. Same destination for every lane, so one answer serves the whole class.
Answer: 82.8 degrees
Why: A pie chart's 360 degrees stand for 100%, so 1% is 3.6 degrees and 23% is 23 × 3.6 = 82.8 degrees.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carbon capture works. Reveal the answer; pupils mark their own work in a different colour, then read the "why" together. Same destination for every lane, so one answer serves the whole class.
Answer: Fossil fuel is burnt at a large power station  (E); Carbon dioxide is captured from the exhaust gases  (B); The carbon dioxide is pumped through pipelines to an old oil field  (D); It is converted into a liquid and injected into sedimentary rocks deep underground  (A); A layer of impermeable cap rock stops the carbon dioxide escaping  (C)
Why: The fuel is burned, the carbon dioxide is captured from the exhaust, pumped by pipeline to an old oil field, turned into a liquid and injected into the rock, and sealed in by impermeable cap rock above.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41 percentage points
Why: 91 − 50 = 41 percentage points, over 35 years. The fall was made up for mainly by the rise in renewable energy.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Climate Change: Evidence, Causes, Effects and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Climate Change: Evidence, Causes, Effects and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FDA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Climate Change: Evidence, Causes, Effects and Management</a:t>
            </a:r>
            <a:endParaRPr lang="en-US" sz="1800" dirty="0"/>
          </a:p>
        </p:txBody>
      </p:sp>
      <p:sp>
        <p:nvSpPr>
          <p:cNvPr id="10" name="deck-title"/>
          <p:cNvSpPr txBox="1"/>
          <p:nvPr/>
        </p:nvSpPr>
        <p:spPr>
          <a:xfrm>
            <a:off x="548640" y="243636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Mitigation in action: energy, trees and carbon capture</a:t>
            </a:r>
            <a:endParaRPr lang="en-US" sz="2800" dirty="0"/>
          </a:p>
        </p:txBody>
      </p:sp>
      <p:sp>
        <p:nvSpPr>
          <p:cNvPr id="11" name="lessons-card"/>
          <p:cNvSpPr/>
          <p:nvPr/>
        </p:nvSpPr>
        <p:spPr>
          <a:xfrm>
            <a:off x="548640" y="3716528"/>
            <a:ext cx="5287975" cy="1290320"/>
          </a:xfrm>
          <a:prstGeom prst="roundRect">
            <a:avLst>
              <a:gd name="adj" fmla="val 5669"/>
            </a:avLst>
          </a:prstGeom>
          <a:solidFill>
            <a:srgbClr val="E2E9E4"/>
          </a:solidFill>
          <a:ln/>
        </p:spPr>
      </p:sp>
      <p:sp>
        <p:nvSpPr>
          <p:cNvPr id="12" name="lessons"/>
          <p:cNvSpPr txBox="1"/>
          <p:nvPr/>
        </p:nvSpPr>
        <p:spPr>
          <a:xfrm>
            <a:off x="685800" y="380796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Mitigation: alternative energy, planting trees and carbon capture</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9E4"/>
          </a:solidFill>
          <a:ln w="12700">
            <a:solidFill>
              <a:srgbClr val="A9BCAE"/>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1800" i="1" dirty="0">
                <a:solidFill>
                  <a:srgbClr val="1E2229"/>
                </a:solidFill>
                <a:latin typeface="Cambria" pitchFamily="34" charset="0"/>
                <a:ea typeface="Cambria" pitchFamily="34" charset="-122"/>
                <a:cs typeface="Cambria" pitchFamily="34" charset="-120"/>
              </a:rPr>
              <a:t>How do we know the climate is changing, what is causing it, and should we spend our effort on cutting the causes or on adapting to the effects?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In 1980 fossil fuels supplied 91% of the UK's energy; in 2015 they supplied 50%. By how many percentage points did the fossil fuel share fall?</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 percentage points</a:t>
            </a:r>
            <a:endParaRPr lang="en-US" sz="2200" dirty="0"/>
          </a:p>
        </p:txBody>
      </p:sp>
      <p:sp>
        <p:nvSpPr>
          <p:cNvPr id="12" name="card"/>
          <p:cNvSpPr/>
          <p:nvPr/>
        </p:nvSpPr>
        <p:spPr>
          <a:xfrm>
            <a:off x="4338218" y="1389888"/>
            <a:ext cx="3515258" cy="4754880"/>
          </a:xfrm>
          <a:prstGeom prst="roundRect">
            <a:avLst>
              <a:gd name="adj" fmla="val 1561"/>
            </a:avLst>
          </a:prstGeom>
          <a:solidFill>
            <a:srgbClr val="E8EDE9"/>
          </a:solidFill>
          <a:ln w="12700">
            <a:solidFill>
              <a:srgbClr val="B2C4B7"/>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Thanet offshore wind farm stands in the sea about 12 km from the coast at which town?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Sheffield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Margate, in Kent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Scaynes Hill, in West Sussex</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Beckton, in east London</a:t>
            </a:r>
            <a:endParaRPr lang="en-US" sz="2000" dirty="0"/>
          </a:p>
        </p:txBody>
      </p:sp>
      <p:sp>
        <p:nvSpPr>
          <p:cNvPr id="17" name="card"/>
          <p:cNvSpPr/>
          <p:nvPr/>
        </p:nvSpPr>
        <p:spPr>
          <a:xfrm>
            <a:off x="8127797" y="1389888"/>
            <a:ext cx="3515258" cy="4754880"/>
          </a:xfrm>
          <a:prstGeom prst="roundRect">
            <a:avLst>
              <a:gd name="adj" fmla="val 1561"/>
            </a:avLst>
          </a:prstGeom>
          <a:solidFill>
            <a:srgbClr val="E8EDE9"/>
          </a:solidFill>
          <a:ln w="12700">
            <a:solidFill>
              <a:srgbClr val="B2C4B7"/>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Trees are carbon ___: they take in carbon dioxide as they grow and store the carbon in their trunks, branches and roots.</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sinks  ·  sources  ·  markets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ADBBF"/>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41 percentage points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1980 fossil fuels supplied 91% of the UK's energy; in 2015 they supplied 50%. By how many percentage points did the fossil fuel share fall?</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91 − 50 = 41 percentage points, over 35 years. The fall was made up for mainly by the rise in renewable energy.</a:t>
            </a:r>
            <a:endParaRPr lang="en-US" sz="1800" dirty="0"/>
          </a:p>
        </p:txBody>
      </p:sp>
      <p:sp>
        <p:nvSpPr>
          <p:cNvPr id="14" name="card"/>
          <p:cNvSpPr/>
          <p:nvPr/>
        </p:nvSpPr>
        <p:spPr>
          <a:xfrm>
            <a:off x="4338218" y="1389888"/>
            <a:ext cx="3515258" cy="4754880"/>
          </a:xfrm>
          <a:prstGeom prst="roundRect">
            <a:avLst>
              <a:gd name="adj" fmla="val 1561"/>
            </a:avLst>
          </a:prstGeom>
          <a:solidFill>
            <a:srgbClr val="E8EDE9"/>
          </a:solidFill>
          <a:ln w="12700">
            <a:solidFill>
              <a:srgbClr val="B2C4B7"/>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Margate, in Kent</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Thanet offshore wind farm stands in the sea about 12 km from the coast at which town?</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Thanet offshore wind farm is about 7.4 miles (12 km) off Margate, on the Kent coast. It has 100 turbines.</a:t>
            </a:r>
            <a:endParaRPr lang="en-US" sz="2000" dirty="0"/>
          </a:p>
        </p:txBody>
      </p:sp>
      <p:sp>
        <p:nvSpPr>
          <p:cNvPr id="21" name="card"/>
          <p:cNvSpPr/>
          <p:nvPr/>
        </p:nvSpPr>
        <p:spPr>
          <a:xfrm>
            <a:off x="8127797" y="1389888"/>
            <a:ext cx="3515258" cy="4754880"/>
          </a:xfrm>
          <a:prstGeom prst="roundRect">
            <a:avLst>
              <a:gd name="adj" fmla="val 1561"/>
            </a:avLst>
          </a:prstGeom>
          <a:solidFill>
            <a:srgbClr val="E8EDE9"/>
          </a:solidFill>
          <a:ln w="12700">
            <a:solidFill>
              <a:srgbClr val="B2C4B7"/>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sinks</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Trees are carbon ___: they take in carbon dioxide as they grow and store the carbon in their trunks, branches and roots.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carbon sink takes carbon out of the air and stores it. A carbon source, such as a power station, releases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renewable energy</a:t>
            </a:r>
            <a:endParaRPr lang="en-US" sz="2600" dirty="0"/>
          </a:p>
        </p:txBody>
      </p:sp>
      <p:sp>
        <p:nvSpPr>
          <p:cNvPr id="11" name="word-rule"/>
          <p:cNvSpPr/>
          <p:nvPr/>
        </p:nvSpPr>
        <p:spPr>
          <a:xfrm>
            <a:off x="731520" y="2558288"/>
            <a:ext cx="3149498" cy="0"/>
          </a:xfrm>
          <a:prstGeom prst="line">
            <a:avLst/>
          </a:prstGeom>
          <a:ln w="12700">
            <a:solidFill>
              <a:srgbClr val="A9BCAE"/>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energy from sources that do not run out and release no carbon dioxide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Wind, solar and tidal power are renewable energy.</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energy mix</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share of each energy source a country uses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UK's energy mix has far less coal than it had in 1980.</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offshore wind farm</a:t>
            </a:r>
            <a:endParaRPr lang="en-US" sz="2600" dirty="0"/>
          </a:p>
        </p:txBody>
      </p:sp>
      <p:sp>
        <p:nvSpPr>
          <p:cNvPr id="23" name="word-rule"/>
          <p:cNvSpPr/>
          <p:nvPr/>
        </p:nvSpPr>
        <p:spPr>
          <a:xfrm>
            <a:off x="8310677" y="2558288"/>
            <a:ext cx="3149498" cy="0"/>
          </a:xfrm>
          <a:prstGeom prst="line">
            <a:avLst/>
          </a:prstGeom>
          <a:ln w="12700">
            <a:solidFill>
              <a:srgbClr val="A9BCAE"/>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group of wind turbines standing in the sea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Thanet offshore wind farm is off the coast of Kent.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carbon sink</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that takes carbon dioxide out of the air and stores 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forest is a carbon sink.</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afforestation</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planting new forests where there were none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Afforestation is one way the UK is mitigating climate change.</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carbon capture</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catching carbon dioxide from a power station and storing it underground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Carbon capture would store the gas in old oil fields under the North Sea.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Mitigation means cutting the causes of climate change.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biggest cause is burning fossil fuels for energy.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 the first step is to make electricity another way.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Wind, solar, tidal, hydro-electric and geothermal power release no carbon dioxide.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1980, fossil fuels made 91 per cent of the UK's energy.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By 2015 that had fallen to 50 per cent.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Thanet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offshore wind farm</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off Margate in Kent, has 100 turbines.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 makes enough electricity for about 220 000 homes a year.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Trees are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carbon sinks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they take in carbon dioxide as they grow and store the carbon.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Forest covered 5 per cent of the UK in 1920 and 13 per cent in 2020.</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Carbon capture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catches carbon dioxide from a power station before it reaches the air.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gas is turned into a liquid and stored deep under the sea in old oil fields.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Alternative energy and the UK's energy mix</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two percentages are compared, say percentage points, not per cent. A fall from 91% to 50% is a fall of 41 percentage points.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Burning coal, oil and gas releases carbon dioxide. Generating electricity another way does not.</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UK's energy mix shows how far this has gone.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class you drew these figures as two pie charts.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Alternative energy and the UK's energy mix</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2E9E4"/>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Using the 1980 and 2015 figures, by how many percentage points did the UK's use of fossil fuels fall, and by how many did renewable energy rise?</a:t>
            </a:r>
            <a:endParaRPr lang="en-US" sz="2000" dirty="0"/>
          </a:p>
        </p:txBody>
      </p:sp>
      <p:sp>
        <p:nvSpPr>
          <p:cNvPr id="9" name="step-box"/>
          <p:cNvSpPr/>
          <p:nvPr/>
        </p:nvSpPr>
        <p:spPr>
          <a:xfrm>
            <a:off x="548640" y="2502408"/>
            <a:ext cx="11094415" cy="460248"/>
          </a:xfrm>
          <a:prstGeom prst="roundRect">
            <a:avLst>
              <a:gd name="adj" fmla="val 15894"/>
            </a:avLst>
          </a:prstGeom>
          <a:solidFill>
            <a:srgbClr val="FFFFFF"/>
          </a:solidFill>
          <a:ln w="15875">
            <a:solidFill>
              <a:srgbClr val="95AE9B"/>
            </a:solidFill>
            <a:prstDash val="solid"/>
          </a:ln>
        </p:spPr>
      </p:sp>
      <p:sp>
        <p:nvSpPr>
          <p:cNvPr id="10" name="step-hex"/>
          <p:cNvSpPr/>
          <p:nvPr/>
        </p:nvSpPr>
        <p:spPr>
          <a:xfrm>
            <a:off x="685800" y="2534564"/>
            <a:ext cx="457200" cy="395935"/>
          </a:xfrm>
          <a:prstGeom prst="hexagon">
            <a:avLst/>
          </a:prstGeom>
          <a:solidFill>
            <a:srgbClr val="3F6B4A"/>
          </a:solidFill>
          <a:ln/>
        </p:spPr>
      </p:sp>
      <p:sp>
        <p:nvSpPr>
          <p:cNvPr id="11" name="step-hex-label"/>
          <p:cNvSpPr txBox="1"/>
          <p:nvPr/>
        </p:nvSpPr>
        <p:spPr>
          <a:xfrm>
            <a:off x="685800" y="253456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4602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Fossil fuels: 91% in 1980, 50% in 2015. The fall is 91 − 50 = 41 percentage points.</a:t>
            </a:r>
            <a:endParaRPr lang="en-US" sz="1800" dirty="0"/>
          </a:p>
        </p:txBody>
      </p:sp>
      <p:sp>
        <p:nvSpPr>
          <p:cNvPr id="13" name="step-box"/>
          <p:cNvSpPr/>
          <p:nvPr/>
        </p:nvSpPr>
        <p:spPr>
          <a:xfrm>
            <a:off x="548640" y="3035808"/>
            <a:ext cx="11094415" cy="460248"/>
          </a:xfrm>
          <a:prstGeom prst="roundRect">
            <a:avLst>
              <a:gd name="adj" fmla="val 15894"/>
            </a:avLst>
          </a:prstGeom>
          <a:solidFill>
            <a:srgbClr val="FFFFFF"/>
          </a:solidFill>
          <a:ln w="15875">
            <a:solidFill>
              <a:srgbClr val="95AE9B"/>
            </a:solidFill>
            <a:prstDash val="solid"/>
          </a:ln>
        </p:spPr>
      </p:sp>
      <p:sp>
        <p:nvSpPr>
          <p:cNvPr id="14" name="step-hex"/>
          <p:cNvSpPr/>
          <p:nvPr/>
        </p:nvSpPr>
        <p:spPr>
          <a:xfrm>
            <a:off x="685800" y="3067964"/>
            <a:ext cx="457200" cy="395935"/>
          </a:xfrm>
          <a:prstGeom prst="hexagon">
            <a:avLst/>
          </a:prstGeom>
          <a:solidFill>
            <a:srgbClr val="3F6B4A"/>
          </a:solidFill>
          <a:ln/>
        </p:spPr>
      </p:sp>
      <p:sp>
        <p:nvSpPr>
          <p:cNvPr id="15" name="step-hex-label"/>
          <p:cNvSpPr txBox="1"/>
          <p:nvPr/>
        </p:nvSpPr>
        <p:spPr>
          <a:xfrm>
            <a:off x="685800" y="306796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35808"/>
            <a:ext cx="10180015" cy="4602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Renewables: 3% in 1980, 23% in 2015. The rise is 23 − 3 = 20 percentage points.</a:t>
            </a:r>
            <a:endParaRPr lang="en-US" sz="1800" dirty="0"/>
          </a:p>
        </p:txBody>
      </p:sp>
      <p:sp>
        <p:nvSpPr>
          <p:cNvPr id="17" name="step-box"/>
          <p:cNvSpPr/>
          <p:nvPr/>
        </p:nvSpPr>
        <p:spPr>
          <a:xfrm>
            <a:off x="548640" y="3569208"/>
            <a:ext cx="11094415" cy="724408"/>
          </a:xfrm>
          <a:prstGeom prst="roundRect">
            <a:avLst>
              <a:gd name="adj" fmla="val 10098"/>
            </a:avLst>
          </a:prstGeom>
          <a:solidFill>
            <a:srgbClr val="FFFFFF"/>
          </a:solidFill>
          <a:ln w="15875">
            <a:solidFill>
              <a:srgbClr val="95AE9B"/>
            </a:solidFill>
            <a:prstDash val="solid"/>
          </a:ln>
        </p:spPr>
      </p:sp>
      <p:sp>
        <p:nvSpPr>
          <p:cNvPr id="18" name="step-hex"/>
          <p:cNvSpPr/>
          <p:nvPr/>
        </p:nvSpPr>
        <p:spPr>
          <a:xfrm>
            <a:off x="685800" y="3733444"/>
            <a:ext cx="457200" cy="395935"/>
          </a:xfrm>
          <a:prstGeom prst="hexagon">
            <a:avLst/>
          </a:prstGeom>
          <a:solidFill>
            <a:srgbClr val="3F6B4A"/>
          </a:solidFill>
          <a:ln/>
        </p:spPr>
      </p:sp>
      <p:sp>
        <p:nvSpPr>
          <p:cNvPr id="19" name="step-hex-label"/>
          <p:cNvSpPr txBox="1"/>
          <p:nvPr/>
        </p:nvSpPr>
        <p:spPr>
          <a:xfrm>
            <a:off x="685800" y="373344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569208"/>
            <a:ext cx="10180015" cy="72440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Nuclear rose 19 − 6 = 13 and imports rose 8 − 0 = 8. The three rises, 20 + 13 + 8 = 41, exactly match the fall, as they must when the mix always totals 100.</a:t>
            </a:r>
            <a:endParaRPr lang="en-US" sz="1800" dirty="0"/>
          </a:p>
        </p:txBody>
      </p:sp>
      <p:sp>
        <p:nvSpPr>
          <p:cNvPr id="21" name="step-box"/>
          <p:cNvSpPr/>
          <p:nvPr/>
        </p:nvSpPr>
        <p:spPr>
          <a:xfrm>
            <a:off x="548640" y="4366768"/>
            <a:ext cx="11094415" cy="724408"/>
          </a:xfrm>
          <a:prstGeom prst="roundRect">
            <a:avLst>
              <a:gd name="adj" fmla="val 10098"/>
            </a:avLst>
          </a:prstGeom>
          <a:solidFill>
            <a:srgbClr val="FFFFFF"/>
          </a:solidFill>
          <a:ln w="15875">
            <a:solidFill>
              <a:srgbClr val="95AE9B"/>
            </a:solidFill>
            <a:prstDash val="solid"/>
          </a:ln>
        </p:spPr>
      </p:sp>
      <p:sp>
        <p:nvSpPr>
          <p:cNvPr id="22" name="step-hex"/>
          <p:cNvSpPr/>
          <p:nvPr/>
        </p:nvSpPr>
        <p:spPr>
          <a:xfrm>
            <a:off x="685800" y="4531004"/>
            <a:ext cx="457200" cy="395935"/>
          </a:xfrm>
          <a:prstGeom prst="hexagon">
            <a:avLst/>
          </a:prstGeom>
          <a:solidFill>
            <a:srgbClr val="3F6B4A"/>
          </a:solidFill>
          <a:ln/>
        </p:spPr>
      </p:sp>
      <p:sp>
        <p:nvSpPr>
          <p:cNvPr id="23" name="step-hex-label"/>
          <p:cNvSpPr txBox="1"/>
          <p:nvPr/>
        </p:nvSpPr>
        <p:spPr>
          <a:xfrm>
            <a:off x="685800" y="453100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366768"/>
            <a:ext cx="10180015" cy="72440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say how far the UK is reducing fossil fuels, give the figure, the time (35 years, 1980 to 2015) and a judgement.</a:t>
            </a:r>
            <a:endParaRPr lang="en-US" sz="1800" dirty="0"/>
          </a:p>
        </p:txBody>
      </p:sp>
      <p:sp>
        <p:nvSpPr>
          <p:cNvPr id="25" name="worked-answer"/>
          <p:cNvSpPr/>
          <p:nvPr/>
        </p:nvSpPr>
        <p:spPr>
          <a:xfrm>
            <a:off x="548640" y="5274056"/>
            <a:ext cx="11094415" cy="831088"/>
          </a:xfrm>
          <a:prstGeom prst="roundRect">
            <a:avLst>
              <a:gd name="adj" fmla="val 16504"/>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Fossil fuels fell by 41 percentage points (91% to 50%); renewables rose by 20 percentage points (3% to 23%).</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Case study: Thanet offshore wind farm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Thanet: 12 km off Margate, Kent; 100 turbines; 220 000 homes. Three facts are enough for a four-mark example.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Thanet offshore wind farm stands in the sea about 7.4 miles (12 km) off the coast at Margate, in Kent.</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How does a wind farm mitigate climate change? Each turbine turns wind into electricity without burning anything, so every home it powers is a home whose electricity did not come from a gas or coal power station.</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For a four-mark answer using a named example, give the place and two figures, then the mechanism: no fuel is burned, so no carbon dioxide is released, so the cause of climate change is reduced.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Worked example: Case study: Thanet offshore wind farm</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2E9E4"/>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If the planned 34 extra turbines are built at Thanet, how many turbines will it have, and how many more homes will it be able to supply?</a:t>
            </a:r>
            <a:endParaRPr lang="en-US" sz="2200" dirty="0"/>
          </a:p>
        </p:txBody>
      </p:sp>
      <p:sp>
        <p:nvSpPr>
          <p:cNvPr id="9" name="step-box"/>
          <p:cNvSpPr/>
          <p:nvPr/>
        </p:nvSpPr>
        <p:spPr>
          <a:xfrm>
            <a:off x="548640" y="2655824"/>
            <a:ext cx="3423818"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Turbines: 100 now plus 34 planned is 134 turbines.</a:t>
            </a:r>
            <a:endParaRPr lang="en-US" sz="1800" dirty="0"/>
          </a:p>
        </p:txBody>
      </p:sp>
      <p:sp>
        <p:nvSpPr>
          <p:cNvPr id="13" name="arrow"/>
          <p:cNvSpPr/>
          <p:nvPr/>
        </p:nvSpPr>
        <p:spPr>
          <a:xfrm>
            <a:off x="4045610" y="3505708"/>
            <a:ext cx="274320" cy="274320"/>
          </a:xfrm>
          <a:prstGeom prst="rightArrow">
            <a:avLst/>
          </a:prstGeom>
          <a:solidFill>
            <a:srgbClr val="B8862B"/>
          </a:solidFill>
          <a:ln/>
        </p:spPr>
      </p:sp>
      <p:sp>
        <p:nvSpPr>
          <p:cNvPr id="14" name="step-box"/>
          <p:cNvSpPr/>
          <p:nvPr/>
        </p:nvSpPr>
        <p:spPr>
          <a:xfrm>
            <a:off x="4383938" y="2655824"/>
            <a:ext cx="3423818"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4521098" y="2765552"/>
            <a:ext cx="530352" cy="459285"/>
          </a:xfrm>
          <a:prstGeom prst="hexagon">
            <a:avLst/>
          </a:prstGeom>
          <a:solidFill>
            <a:srgbClr val="3F6B4A"/>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Homes: 430 000 after the extension minus 220 000 now is 210 000 more homes.</a:t>
            </a:r>
            <a:endParaRPr lang="en-US" sz="1800" dirty="0"/>
          </a:p>
        </p:txBody>
      </p:sp>
      <p:sp>
        <p:nvSpPr>
          <p:cNvPr id="18" name="arrow"/>
          <p:cNvSpPr/>
          <p:nvPr/>
        </p:nvSpPr>
        <p:spPr>
          <a:xfrm>
            <a:off x="7880909" y="3505708"/>
            <a:ext cx="274320" cy="274320"/>
          </a:xfrm>
          <a:prstGeom prst="rightArrow">
            <a:avLst/>
          </a:prstGeom>
          <a:solidFill>
            <a:srgbClr val="B8862B"/>
          </a:solidFill>
          <a:ln/>
        </p:spPr>
      </p:sp>
      <p:sp>
        <p:nvSpPr>
          <p:cNvPr id="19" name="step-box"/>
          <p:cNvSpPr/>
          <p:nvPr/>
        </p:nvSpPr>
        <p:spPr>
          <a:xfrm>
            <a:off x="8219237" y="2655824"/>
            <a:ext cx="3423818"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8356397" y="2765552"/>
            <a:ext cx="530352" cy="459285"/>
          </a:xfrm>
          <a:prstGeom prst="hexagon">
            <a:avLst/>
          </a:prstGeom>
          <a:solidFill>
            <a:srgbClr val="3F6B4A"/>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Notice that 34 new turbines add almost as many homes as the first 100 did, because the new turbines are much bigger.</a:t>
            </a:r>
            <a:endParaRPr lang="en-US" sz="1800" dirty="0"/>
          </a:p>
        </p:txBody>
      </p:sp>
      <p:sp>
        <p:nvSpPr>
          <p:cNvPr id="23" name="worked-answer"/>
          <p:cNvSpPr/>
          <p:nvPr/>
        </p:nvSpPr>
        <p:spPr>
          <a:xfrm>
            <a:off x="1463040" y="5592572"/>
            <a:ext cx="92656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134 turbines; about 210 000 more homes.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Planting trees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Trees cut carbon only while they stand. Say store as well as absorb, and mention protecting old forests as well as planting new ones.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Trees are carbon sinks. During photosynthesis they take in carbon dioxide from the air and store the carbon in their trunks, branches and roots, where it stays for as long as the tree stands.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UK has far less forest than most of Europe: forest covers 13% of its land area against a European average of 39%.</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Describing the forest graph is a two-step job: the overall trend (a steady rise), then figures (from 5% to 13%, a rise of 8 percentage points in 100 years, half of it added in the 40 years since 1980).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Carbon capture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Describe the process as a chain of four: capture at the power station, pipeline, liquid, injection under cap rock. A chain in order is what a describe-the-process question wants.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Carbon capture tackles the problem at the chimney. At a large fossil-fuel power station the fuel is burned as usual, but the carbon dioxide is captured from the exhaust gases instead of going up into the air.</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deck's UK example is a project planned for Yorkshire, taking carbon dioxide from the power stations of the Don Valley near Sheffield.</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Carbon capture lets a country keep using fossil fuels while cutting what reaches the atmosphere, which is why it is attractive.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Percentages to pie chart</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94612"/>
          </a:xfrm>
          <a:prstGeom prst="roundRect">
            <a:avLst>
              <a:gd name="adj" fmla="val 5734"/>
            </a:avLst>
          </a:prstGeom>
          <a:solidFill>
            <a:srgbClr val="FFFFFF"/>
          </a:solidFill>
          <a:ln w="31750">
            <a:solidFill>
              <a:srgbClr val="B8862B"/>
            </a:solidFill>
            <a:prstDash val="solid"/>
          </a:ln>
        </p:spPr>
      </p:sp>
      <p:sp>
        <p:nvSpPr>
          <p:cNvPr id="8" name="task-hex"/>
          <p:cNvSpPr/>
          <p:nvPr/>
        </p:nvSpPr>
        <p:spPr>
          <a:xfrm>
            <a:off x="777240" y="1870446"/>
            <a:ext cx="731520" cy="633496"/>
          </a:xfrm>
          <a:prstGeom prst="hexagon">
            <a:avLst/>
          </a:prstGeom>
          <a:solidFill>
            <a:srgbClr val="B8862B"/>
          </a:solidFill>
          <a:ln/>
        </p:spPr>
      </p:sp>
      <p:sp>
        <p:nvSpPr>
          <p:cNvPr id="9" name="task-hex-label"/>
          <p:cNvSpPr txBox="1"/>
          <p:nvPr/>
        </p:nvSpPr>
        <p:spPr>
          <a:xfrm>
            <a:off x="777240" y="187044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91287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41173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Renewable energy makes up 23% of the UK's energy mix. To draw this on a pie chart, how many degrees should the renewable sector be? (Multiply the percentage by 3.6.)</a:t>
            </a:r>
            <a:endParaRPr lang="en-US" sz="2000" dirty="0"/>
          </a:p>
          <a:p>
            <a:pPr algn="ctr" indent="0" marL="0">
              <a:buNone/>
            </a:pPr>
            <a:r>
              <a:rPr lang="en-US" sz="1800" b="1" dirty="0">
                <a:solidFill>
                  <a:srgbClr val="3F6B4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degrees</a:t>
            </a:r>
            <a:endParaRPr lang="en-US" sz="2000" dirty="0"/>
          </a:p>
        </p:txBody>
      </p:sp>
      <p:sp>
        <p:nvSpPr>
          <p:cNvPr id="12" name="col-Support"/>
          <p:cNvSpPr/>
          <p:nvPr/>
        </p:nvSpPr>
        <p:spPr>
          <a:xfrm>
            <a:off x="548640" y="3258820"/>
            <a:ext cx="4667802" cy="2885948"/>
          </a:xfrm>
          <a:prstGeom prst="roundRect">
            <a:avLst>
              <a:gd name="adj" fmla="val 1901"/>
            </a:avLst>
          </a:prstGeom>
          <a:solidFill>
            <a:srgbClr val="E2E9E4"/>
          </a:solidFill>
          <a:ln/>
        </p:spPr>
      </p:sp>
      <p:sp>
        <p:nvSpPr>
          <p:cNvPr id="13" name="col-hex"/>
          <p:cNvSpPr/>
          <p:nvPr/>
        </p:nvSpPr>
        <p:spPr>
          <a:xfrm>
            <a:off x="658368" y="333197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29539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898900"/>
            <a:ext cx="4393482" cy="213614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full circle is 360 degrees and stands for 100%.</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 1% is 360 ÷ 100 = 3.6 degrees.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the percentage by 3.6: 23 × 3.6.</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Work it as 20 × 3.6 = 72 and 3 × 3.6 = 10.8, then add: 82.8 degrees.</a:t>
            </a:r>
            <a:endParaRPr lang="en-US" sz="1800" dirty="0"/>
          </a:p>
        </p:txBody>
      </p:sp>
      <p:sp>
        <p:nvSpPr>
          <p:cNvPr id="17" name="col-Core"/>
          <p:cNvSpPr/>
          <p:nvPr/>
        </p:nvSpPr>
        <p:spPr>
          <a:xfrm>
            <a:off x="5490762" y="3258820"/>
            <a:ext cx="2938987" cy="2885948"/>
          </a:xfrm>
          <a:prstGeom prst="roundRect">
            <a:avLst>
              <a:gd name="adj" fmla="val 1901"/>
            </a:avLst>
          </a:prstGeom>
          <a:solidFill>
            <a:srgbClr val="CBD7CE"/>
          </a:solidFill>
          <a:ln/>
        </p:spPr>
      </p:sp>
      <p:sp>
        <p:nvSpPr>
          <p:cNvPr id="18" name="col-hex"/>
          <p:cNvSpPr/>
          <p:nvPr/>
        </p:nvSpPr>
        <p:spPr>
          <a:xfrm>
            <a:off x="5600490" y="333197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360 degrees is the whole pie, so what is one per cent worth?</a:t>
            </a:r>
            <a:endParaRPr lang="en-US" sz="1800" dirty="0"/>
          </a:p>
        </p:txBody>
      </p:sp>
      <p:sp>
        <p:nvSpPr>
          <p:cNvPr id="22" name="col-Stretch"/>
          <p:cNvSpPr/>
          <p:nvPr/>
        </p:nvSpPr>
        <p:spPr>
          <a:xfrm>
            <a:off x="8704069" y="3258820"/>
            <a:ext cx="2938987" cy="2885948"/>
          </a:xfrm>
          <a:prstGeom prst="roundRect">
            <a:avLst>
              <a:gd name="adj" fmla="val 1901"/>
            </a:avLst>
          </a:prstGeom>
          <a:solidFill>
            <a:srgbClr val="3F6B4A"/>
          </a:solidFill>
          <a:ln/>
        </p:spPr>
      </p:sp>
      <p:sp>
        <p:nvSpPr>
          <p:cNvPr id="23" name="col-hex"/>
          <p:cNvSpPr/>
          <p:nvPr/>
        </p:nvSpPr>
        <p:spPr>
          <a:xfrm>
            <a:off x="8813797" y="333197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Work out the angles for all four 2015 sectors and show that they add up to 360 degrees.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How carbon capture works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stages of carbon capture and storage in the correct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is converted into a liquid and injected into sedimentary rocks deep underground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Carbon dioxide is captured from the exhaust gases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layer of impermeable cap rock stops the carbon dioxide escaping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carbon dioxide is pumped through pipelines to an old oil field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Fossil fuel is burnt at a large power station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How carbon capture works</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stages of carbon capture and storage in the correct order.</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2E9E4"/>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where the carbon dioxide is made: the power station burning fuel.</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Before anything can be moved it has to be caught. Capture comes next.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it travels: pipelines to the oil field.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it is stored: liquid, injected, and sealed in by the cap rock above.</a:t>
            </a:r>
            <a:endParaRPr lang="en-US" sz="1800" dirty="0"/>
          </a:p>
        </p:txBody>
      </p:sp>
      <p:sp>
        <p:nvSpPr>
          <p:cNvPr id="17" name="col-Core"/>
          <p:cNvSpPr/>
          <p:nvPr/>
        </p:nvSpPr>
        <p:spPr>
          <a:xfrm>
            <a:off x="5490762" y="2578608"/>
            <a:ext cx="2938987" cy="3566160"/>
          </a:xfrm>
          <a:prstGeom prst="roundRect">
            <a:avLst>
              <a:gd name="adj" fmla="val 1867"/>
            </a:avLst>
          </a:prstGeom>
          <a:solidFill>
            <a:srgbClr val="CBD7CE"/>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Make it, catch it, move it, bury it, seal it.</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carbon capture is described as mitigation even though the power station still burns fossil fuel.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1980 fossil fuels supplied 91% of the UK's energy; in 2015 they supplied 50%. By how many percentage points did the fossil fuel share fall?</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8EDE9"/>
          </a:solidFill>
          <a:ln w="12700">
            <a:solidFill>
              <a:srgbClr val="95AE9B"/>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 (percentage points):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Percentages to pie chart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Renewable energy makes up 23% of the UK's energy mix. To draw this on a pie chart, how many degrees should the renewable sector be? (Multiply the percentage by 3.6.)</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82.8 degrees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pie chart's 360 degrees stand for 100%, so 1% is 3.6 degrees and 23% is 23 × 3.6 = 82.8 degrees.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How carbon capture works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Fossil fuel is burnt at a large power station  (E)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Carbon dioxide is captured from the exhaust gases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carbon dioxide is pumped through pipelines to an old oil field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It is converted into a liquid and injected into sedimentary rocks deep underground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 layer of impermeable cap rock stops the carbon dioxide escaping  (C)</a:t>
            </a:r>
            <a:endParaRPr lang="en-US" sz="22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fuel is burned, the carbon dioxide is captured from the exhaust, pumped by pipeline to an old oil field, turned into a liquid and injected into the rock, and sealed in by impermeable cap rock above.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1980 fossil fuels supplied 91% of the UK's energy; in 2015 they supplied 50%. By how many percentage points did the fossil fuel share fall?</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41 percentage points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91 − 50 = 41 percentage points, over 35 years. The fall was made up for mainly by the rise in renewable energy.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2E9E4"/>
      </a:lt2>
      <a:accent1>
        <a:srgbClr val="3F6B4A"/>
      </a:accent1>
      <a:accent2>
        <a:srgbClr val="B8862B"/>
      </a:accent2>
      <a:accent3>
        <a:srgbClr val="8CA692"/>
      </a:accent3>
      <a:accent4>
        <a:srgbClr val="815E1E"/>
      </a:accent4>
      <a:accent5>
        <a:srgbClr val="4A505C"/>
      </a:accent5>
      <a:accent6>
        <a:srgbClr val="D8BC8A"/>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Climate Change: Evidence, Causes, Effects and Management · Chapter 5: Mitigation in action: energy, trees and carbon capture</dc:title>
  <dc:subject>Geography · Year 11</dc:subject>
  <dc:creator>Dr Vitor Merissi de Carvalho</dc:creator>
  <cp:lastModifiedBy>Dr Vitor Merissi de Carvalho</cp:lastModifiedBy>
  <cp:revision>1</cp:revision>
  <dcterms:created xsi:type="dcterms:W3CDTF">2026-10-19T06:07:35Z</dcterms:created>
  <dcterms:modified xsi:type="dcterms:W3CDTF">2026-10-19T06:07:35Z</dcterms:modified>
</cp:coreProperties>
</file>