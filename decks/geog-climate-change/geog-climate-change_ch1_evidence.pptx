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d9ac111-7102-7707-c877-31f789ce4903}">
          <p14:sldIdLst>
            <p14:sldId id="256"/>
          </p14:sldIdLst>
        </p14:section>
        <p14:section name="Gate" id="{59f3929f-4128-50bf-ecb5-9a1123dc9ee8}">
          <p14:sldIdLst>
            <p14:sldId id="257"/>
            <p14:sldId id="258"/>
          </p14:sldIdLst>
        </p14:section>
        <p14:section name="Pre-teach" id="{7252c3d5-f796-583f-5b32-eb085fb5633f}">
          <p14:sldIdLst>
            <p14:sldId id="259"/>
            <p14:sldId id="260"/>
          </p14:sldIdLst>
        </p14:section>
        <p14:section name="Read-along" id="{9c5d88e8-12e8-0ed4-e0a2-58f269e5711a}">
          <p14:sldIdLst>
            <p14:sldId id="261"/>
            <p14:sldId id="262"/>
          </p14:sldIdLst>
        </p14:section>
        <p14:section name="Teach" id="{3cffd2a0-18be-ad6b-2e19-ad3131c7bc30}">
          <p14:sldIdLst>
            <p14:sldId id="263"/>
            <p14:sldId id="264"/>
            <p14:sldId id="265"/>
            <p14:sldId id="266"/>
            <p14:sldId id="267"/>
          </p14:sldIdLst>
        </p14:section>
        <p14:section name="Routes" id="{1b186e3d-e194-bc12-34b8-cc200cbdf0a8}">
          <p14:sldIdLst>
            <p14:sldId id="268"/>
            <p14:sldId id="269"/>
            <p14:sldId id="270"/>
            <p14:sldId id="271"/>
          </p14:sldIdLst>
        </p14:section>
        <p14:section name="Close" id="{8bc338bb-226e-ee1c-9bf8-7b19e967d9b4}">
          <p14:sldIdLst>
            <p14:sldId id="272"/>
          </p14:sldIdLst>
        </p14:section>
        <p14:section name="Answers" id="{d5c8cee8-4e3b-54b9-21c5-9e9f8d7c28cd}">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How do we know the climate is changing?. The difference between weather and climate, why one hot summer proves nothing, and the four kinds of evidence geographers use to read the climate of the last 2000 years and beyond.
This deck covers the department's lesson: 1 (Evidence for climate change: What is the evidence that the global climate has changed over the last 2000 years, and how good is it?).
Read the big question aloud: "How do we know the climate is changing, what is causing it, and should we spend our effort on cutting the causes or on adapting to the effects?"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statement gives the correct meaning of climate?  →  B   The pattern of weather in a place over many years
2. Trees add a new ___ every year, and a wide one means a warm, wet growing season.  →  ring
3. Tree ring data can give an accurate record of the climate for about how many years into the past?  →  10 000 years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The pattern of weather in a place over many years. Climate is the pattern of weather over many years. Weather is what happens on a particular day, and one summer or one month is weather, not climate.
2. ring. Trees grow a new ring of wood each year in a layer of cells near the bark. Measuring the rings is called dendrochronology.
3. 10 000 years. By matching rings from living trees, old timbers and preserved wood, dendrochronology gives data for the last 10 000 years.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weather: the rainfall and temperature of a place from day to day. Example: "The weather today is cold and wet, but tomorrow it may be sunny."
• climate: the pattern of weather in a place over many years. Example: "The climate of the UK is mild and damp."
• trend: the overall direction a graph is going in. Example: "The trend of the temperature graph is upwards."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ice core: a long sample drilled from old layers of snow and ice. Example: "An ice core from Antarctica holds a record of the past climate."
• tree ring: the layer of wood a tree adds each year. Example: "A wide tree ring means the tree had a good growing season."
• glacial retreat: a glacier shrinking back up its valley. Example: "Photographs show the glacial retreat of Helheim Glacier in Greenland."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11:
1. Weather is what happens from day to day.
2. Climate is the pattern of weather in a place over many years.
3. Climate change is a long-term change in that pattern.
4. One hot summer or one dry spring does not prove the climate has changed.
5. We can only be sure when the figures change and stay changed for many years.
6. Thermometer records go back to about 1880 and show the world getting warmer.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7–11 of 11:
7. For earlier times, scientists read the clues that nature leaves behind.
8. Trees add a new ring every year, and a wide ring means a warm, wet year.
9. Ice cores hold layers of snow that fell thousands of years ago.
10. Glaciers that are shrinking tell us the ice is melting faster than it forms.
11. Put together, these records show temperatures are higher now than at any time in the last 2000 years.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Weather, climate and climate change. Say it in your own words, then check understanding with a quick question: ask a pupil from the pre-teach group first, since they met these words and ideas before the lesson. Pupils try to recall before you re-explain.
Start with two words that people mix up. Weather is what is happening in the air today: the rainfall and temperature of a place right now. Climate is the pattern of that weather over many years, the normal you would expect for a place in each season. The UK's weather changes by the hour; its climate, mild and damp, changes very slowly. Climate change means a long-term change in that pattern, lasting decades rather than days.
That is why climate change is hard to spot from where you stand. Every place has some extreme weather now and then: a drought, a heatwave, a flood. One bad year is weather, not climate. We can only be sure that the climate has changed when the rainfall and temperature figures of a place shift and then stay shifted for many years. To see that, you need long records and a graph.
Your deck also made one more point that runs through this whole unit. Some causes of climate change are natural, such as changes in the Earth's orbit and volcanic activity, and we cannot do anything about them. So when people talk about reducing climate change, they are talking about the human causes, above all burning fossil fuels. Keep that distinction in mind: it comes back in chapter 2 and again in chapter 4.
Tip: If a question asks for the difference between weather and climate, use the word pattern and the phrase over many years. Those are the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 temperature graph. Say it in your own words, then check understanding with a quick question: ask a pupil from the pre-teach group first, since they met these words and ideas before the lesson. Pupils try to recall before you re-explain.
The first piece of evidence is the simplest: thermometers. Reliable temperature measurements exist for most of the world from about 1880, so the graph you studied in class runs from 1880 to 2015. It wobbles up and down from year to year, because weather is noisy, but the overall direction, the trend, is upwards, and the rise gets steeper towards the end. The second graph in your lesson covered the last 100 years and showed the same thing.
When you describe a trend, do three things. Give the overall direction (temperatures have risen). Give the size of the change with figures from the axes (from about this value to about that value). Then point out anything that breaks the pattern, such as a flat spell or a dip. A description with no numbers is only worth half the marks.
Is a thermometer record good evidence? Its strength is that it is a direct measurement. Its weakness is that 135 years is a very short time in the history of the climate, and early readings came from fewer places. That is why scientists look for evidence that reaches further back.
Worked example — model it step by step, thinking aloud: A graph shows global average temperature from 1880 to 2015. Describe the trend it shows. (2 marks) (1) State the overall direction first: temperatures have risen over the period. (2) Add the time span and shape: the rise covers 135 years (2015 − 1880) and is steepest after about 1980. (3) Mention what breaks the pattern: there are short dips and flat spells, because the line shows weather from year to year as well as climate. (4) Two clear points, one of them with a figure, earns both marks. Answer: Global temperature has risen overall across the 135 years from 1880 to 2015. The rise is not steady: there are short dips and flat spells, and the line climbs most steeply in the last few decades..
Tip: Describe means say what the graph shows, with figures. Do not explain why until the question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 temperature graph. Say it in your own words, then check understanding with a quick question: ask a pupil from the pre-teach group first, since they met these words and ideas before the lesson. Pupils try to recall before you re-explain.
The first piece of evidence is the simplest: thermometers. Reliable temperature measurements exist for most of the world from about 1880, so the graph you studied in class runs from 1880 to 2015. It wobbles up and down from year to year, because weather is noisy, but the overall direction, the trend, is upwards, and the rise gets steeper towards the end. The second graph in your lesson covered the last 100 years and showed the same thing.
When you describe a trend, do three things. Give the overall direction (temperatures have risen). Give the size of the change with figures from the axes (from about this value to about that value). Then point out anything that breaks the pattern, such as a flat spell or a dip. A description with no numbers is only worth half the marks.
Is a thermometer record good evidence? Its strength is that it is a direct measurement. Its weakness is that 135 years is a very short time in the history of the climate, and early readings came from fewer places. That is why scientists look for evidence that reaches further back.
Worked example — model it step by step, thinking aloud: A graph shows global average temperature from 1880 to 2015. Describe the trend it shows. (2 marks) (1) State the overall direction first: temperatures have risen over the period. (2) Add the time span and shape: the rise covers 135 years (2015 − 1880) and is steepest after about 1980. (3) Mention what breaks the pattern: there are short dips and flat spells, because the line shows weather from year to year as well as climate. (4) Two clear points, one of them with a figure, earns both marks. Answer: Global temperature has risen overall across the 135 years from 1880 to 2015. The rise is not steady: there are short dips and flat spells, and the line climbs most steeply in the last few decades..
Tip: Describe means say what the graph shows, with figures. Do not explain why until the question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Tree rings, ice cores and shrinking glaciers. Say it in your own words, then check understanding with a quick question: ask a pupil from the pre-teach group first, since they met these words and ideas before the lesson. Pupils try to recall before you re-explain.
To see further back than thermometers, scientists read records that nature keeps. Trees add a new ring every year, in a layer of cells just under the bark. A good growing season, with plenty of rain and warm temperatures, makes a wide ring; a poor one makes a narrow ring. Measuring tree rings is called dendrochronology, and by matching rings from living trees, old timbers and preserved wood it can give data for the last 10 000 years.
Ice cores reach back far further. In Antarctica and Greenland, snow has fallen on snow for hundreds of thousands of years and been squeezed into ice. A core drilled down through it is a stack of yearly layers. Each layer records the temperature when it fell and holds tiny bubbles of the air the snow fell through, so it tells us about the atmosphere as well. The Vostok core in Antarctica is the famous example, and scientists believe the oldest ice they could date is 1.5 million years old.
Glaciers are a third record. Photographs, maps and old paintings show whether a glacier has advanced or retreated, and ice that is retreating is evidence that temperatures have risen. Your deck showed Greenland's Helheim Glacier pulling back between 2001 and 2005. Other sources you listed in class include measurements of ice cover, changes in the oceans and the amount of rainfall.
Tip: Order the evidence by how far back it reaches: thermometers (about 1880), tree rings (10 000 years), ice cores (over a million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last 2000 years, and is the evidence enough?. Say it in your own words, then check understanding with a quick question: ask a pupil from the pre-teach group first, since they met these words and ideas before the lesson. Pupils try to recall before you re-explain.
Put the records together and you get the graph of the last 2000 years, drawn with several coloured lines, one for each kind of evidence: ice cores, tree rings, preserved pollen, boreholes, corals, and the mud at the bottom of lakes and oceans. The lines do not agree exactly, but they tell the same story. There was a warmer spell in the Middle Ages, the Medieval Warm Period, and a cooler spell afterwards, the Little Ice Age. Then, at the end of the record, every line turns sharply upwards. Temperatures today are higher than at any point in the last 2000 years.
Your class discussed whether this is enough to prove climate change, and whether anyone could argue the other way. The strongest point for the evidence is agreement: several independent methods, measuring different things, all show the same recent rise. The honest points against are that natural records are indirect, that old measurements are patchy, and that the climate has varied naturally before. A good geographer weighs both and reaches a judgement, which is exactly what an evaluate question asks you to do.
Tip: Evaluate means weigh up. Give a strength, a weakness and a judgement: the evidence is strong because the different sources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kinds of evidence.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source of evidence to what it tells us about past climate.
Support — work through the steps with the group: (1) Start with the direct one. Only one source uses an instrument that measures temperature itself. (2) Two sources are layers that build up year by year. One is wood, one is ice. Which one holds bubbles of air? (3) The one left over is about a thing getting smaller. (4) Check each pair reads as a sensible sentence before you move on.
Parallel worked example for Support (model it, do not give the task answer): Match: coral, lake sediment. Choices: mud that settles on a lake bed in yearly layers; a sea creature whose skeleton grows in bands that record sea temperature. Coral lives in the sea and grows in bands.; Sediment is the mud that settles at the bottom of water.. Answer: Coral: skeleton bands that record sea temperature. Lake sediment: yearly layers of mud on a lake bed..
Core — reveal the hint only on request: Thermometers measure; rings and cores record year by year; glaciers show change by their size.
Stretch — no help; when finished: Explain why scientists trust the evidence more when several of these sources agree than when only one shows 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kinds of evidence.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source of evidence to what it tells us about past climate.
Support — work through the steps with the group: (1) Start with the direct one. Only one source uses an instrument that measures temperature itself. (2) Two sources are layers that build up year by year. One is wood, one is ice. Which one holds bubbles of air? (3) The one left over is about a thing getting smaller. (4) Check each pair reads as a sensible sentence before you move on.
Parallel worked example for Support (model it, do not give the task answer): Match: coral, lake sediment. Choices: mud that settles on a lake bed in yearly layers; a sea creature whose skeleton grows in bands that record sea temperature. Coral lives in the sea and grows in bands.; Sediment is the mud that settles at the bottom of water.. Answer: Coral: skeleton bands that record sea temperature. Lake sediment: yearly layers of mud on a lake bed..
Core — reveal the hint only on request: Thermometers measure; rings and cores record year by year; glaciers show change by their size.
Stretch — no help; when finished: Explain why scientists trust the evidence more when several of these sources agree than when only one shows 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the 2000-year graph shows.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graph of global temperature over the last 2000 years is drawn from ice cores, tree rings, pollen, corals and sediments. Which statement does it support?
Support — work through the steps with the group: (1) Remember the two named spells: the Medieval Warm Period (warmer) and the Little Ice Age (cooler). So the graph is not flat and not steady. (2) Ask what the deck said about today: higher than at any point in the last 2000 years. (3) Rule out any option that says the graph is flat, steady, or peaks in the Little Ice Age. (4) The right option mentions both the ups and downs and today's record high.
Parallel worked example for Support (model it, do not give the task answer): A graph of a town's rainfall over 100 years goes up and down but ends at its highest ever value. Which is the best one-sentence description? Say that it varies.; Say where it ends: at a record high.. Answer: Rainfall has varied from year to year, but it is now higher than at any point in the 100 years..
Core — reveal the hint only on request: Two named spells break the pattern, but where does the line finish?
Stretch — no help; when finished: Explain why the Medieval Warm Period is sometimes used to argue against human-caused climate change, and how a geographer would answer that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the 2000-year graph shows.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graph of global temperature over the last 2000 years is drawn from ice cores, tree rings, pollen, corals and sediments. Which statement does it support?
Support — work through the steps with the group: (1) Remember the two named spells: the Medieval Warm Period (warmer) and the Little Ice Age (cooler). So the graph is not flat and not steady. (2) Ask what the deck said about today: higher than at any point in the last 2000 years. (3) Rule out any option that says the graph is flat, steady, or peaks in the Little Ice Age. (4) The right option mentions both the ups and downs and today's record high.
Parallel worked example for Support (model it, do not give the task answer): A graph of a town's rainfall over 100 years goes up and down but ends at its highest ever value. Which is the best one-sentence description? Say that it varies.; Say where it ends: at a record high.. Answer: Rainfall has varied from year to year, but it is now higher than at any point in the 100 years..
Core — reveal the hint only on request: Two named spells break the pattern, but where does the line finish?
Stretch — no help; when finished: Explain why the Medieval Warm Period is sometimes used to argue against human-caused climate change, and how a geographer would answer that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statement gives the correct meaning of climate?
Answer: A   The pattern of weather in a place over many years. Climate is the pattern of weather over many years. Weather is what happens on a particular day, and one summer or one month is weather, not climate.
Source of this question: gate item 1 re-asked (options rotated) — this chapter has no third quick-check module.
The ebook also holds task 3, "Is the evidence enough?",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Four kinds of evidence. Reveal the answer; pupils mark their own work in a different colour, then read the "why" together. Same destination for every lane, so one answer serves the whole class.
Answer: Ice cores  →  D  Layers of old snow record the temperature and the gases in the air when each layer fell; Tree rings  →  A  Wide rings show warm, wet growing seasons; narrow rings show poor ones; Glacial retreat  →  C  Ice shrinking back up its valley shows that melting is beating snowfall; Temperature measurements  →  B  Direct thermometer readings since about 1880 show the recent rise
Why: Thermometers give direct readings but only since about 1880. Tree rings and ice cores are yearly layers that record the growing season and the ancient air. A retreating glacier shows that the ice is melting faster than snow replaces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the 2000-year graph shows. Reveal the answer; pupils mark their own work in a different colour, then read the "why" together. Same destination for every lane, so one answer serves the whole class.
Answer: B   Temperatures have gone up and down, but today they are higher than at any point in the last 2000 years
Why: The record shows natural variation, including the Medieval Warm Period and the Little Ice Age, but every line turns sharply upwards at the end of the record, and today's temperatures are the highest in the 2000 years.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The pattern of weather in a place over many years
Why: Climate is the pattern of weather over many years. Weather is what happens on a particular day, and one summer or one month is weather, not climate.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Climate Change: Evidence, Causes, Effects and Management</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How do we know the climate is changing?</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2E9E4"/>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Evidence for climate change</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1800" i="1" dirty="0">
                <a:solidFill>
                  <a:srgbClr val="1E2229"/>
                </a:solidFill>
                <a:latin typeface="Cambria" pitchFamily="34" charset="0"/>
                <a:ea typeface="Cambria" pitchFamily="34" charset="-122"/>
                <a:cs typeface="Cambria" pitchFamily="34" charset="-120"/>
              </a:rPr>
              <a:t>How do we know the climate is changing, what is causing it, and should we spend our effort on cutting the causes or on adapting to the effects?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statement gives the correct meaning of climate?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amount of rain that falls in one month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pattern of weather in a place over many years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rainfall and temperature of a place on a particular day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long, hot summer</a:t>
            </a:r>
            <a:endParaRPr lang="en-US" sz="1800" dirty="0"/>
          </a:p>
        </p:txBody>
      </p:sp>
      <p:sp>
        <p:nvSpPr>
          <p:cNvPr id="12"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Trees add a new ___ every year, and a wide one means a warm, wet growing season.</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ring  ·  root  ·  leaf</a:t>
            </a:r>
            <a:endParaRPr lang="en-US" sz="2400" dirty="0"/>
          </a:p>
        </p:txBody>
      </p:sp>
      <p:sp>
        <p:nvSpPr>
          <p:cNvPr id="17"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Tree ring data can give an accurate record of the climate for about how many years into the past?</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ADBBF"/>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pattern of weather in a place over many years</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Climate is the pattern of weather over many years. Weather is what happens on a particular day, and one summer or one month is weather, not climate.</a:t>
            </a:r>
            <a:endParaRPr lang="en-US" sz="1800" dirty="0"/>
          </a:p>
        </p:txBody>
      </p:sp>
      <p:sp>
        <p:nvSpPr>
          <p:cNvPr id="14"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ring</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Trees add a new ___ every year, and a wide one means a warm, wet growing season.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Trees grow a new ring of wood each year in a layer of cells near the bark. Measuring the rings is called dendrochronology.</a:t>
            </a:r>
            <a:endParaRPr lang="en-US" sz="1800" dirty="0"/>
          </a:p>
        </p:txBody>
      </p:sp>
      <p:sp>
        <p:nvSpPr>
          <p:cNvPr id="21"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10 000 years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Tree ring data can give an accurate record of the climate for about how many years into the past?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By matching rings from living trees, old timbers and preserved wood, dendrochronology gives data for the last 10 000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weather</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rainfall and temperature of a place from day to day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weather today is cold and wet, but tomorrow it may be sunny.</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climate</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pattern of weather in a place over many years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climate of the UK is mild and damp.</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trend</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overall direction a graph is going 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trend of the temperature graph is upwards.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ice core</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 sample drilled from old layers of snow and ice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ice core from Antarctica holds a record of the past climate.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tree ring</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layer of wood a tree adds each year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wide tree ring means the tree had a good growing season.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glacial retreat</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glacier shrinking back up its valley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Photographs show the glacial retreat of Helheim Glacier in Greenland.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what happens from day to day.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Climate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pattern of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a place over many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Climate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change is a long-term change in that pattern.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One hot summer or one dry spring does not prove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climate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has changed.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can only be sure when the figures change and stay changed for many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Thermometer records go back to about 1880 and show the world getting warmer.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For earlier times, scientists read the clues that nature leaves behind.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Trees add a new ring every year, and a wide ring means a warm, wet year.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Ice cores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hold layers of snow that fell thousands of years ago.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Glaciers that are shrinking tell us the ice is melting faster than it forms.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Put together, these records show temperatures are higher now than at any time in the last 2000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Weather, climate and climate change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asks for the difference between weather and climate, use the word pattern and the phrase over many years. Those are the marks.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Start with two words that people mix up. Weather is what is happening in the air today: the rainfall and temperature of a place right now.</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That is why climate change is hard to spot from where you stand.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deck also made one more point that runs through this whole unit.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Reading a temperature 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means say what the graph shows, with figures. Do not explain why until the question asks.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first piece of evidence is the simplest: thermometers. Reliable temperature measurements exist for most of the world from about 1880, so the graph you studied in class runs from 1880 to 2015.</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When you describe a trend, do three things. Give the overall direction (temperatures have risen).</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Is a thermometer record good evidence? Its strength is that it is a direct measurement.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Reading a temperature graph</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9E4"/>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graph shows global average temperature from 1880 to 2015. Describe the trend it shows. (2 marks)</a:t>
            </a:r>
            <a:endParaRPr lang="en-US" sz="2000" dirty="0"/>
          </a:p>
        </p:txBody>
      </p:sp>
      <p:sp>
        <p:nvSpPr>
          <p:cNvPr id="9" name="step-box"/>
          <p:cNvSpPr/>
          <p:nvPr/>
        </p:nvSpPr>
        <p:spPr>
          <a:xfrm>
            <a:off x="548640" y="2502408"/>
            <a:ext cx="11094415" cy="513080"/>
          </a:xfrm>
          <a:prstGeom prst="roundRect">
            <a:avLst>
              <a:gd name="adj" fmla="val 14257"/>
            </a:avLst>
          </a:prstGeom>
          <a:solidFill>
            <a:srgbClr val="FFFFFF"/>
          </a:solidFill>
          <a:ln w="15875">
            <a:solidFill>
              <a:srgbClr val="95AE9B"/>
            </a:solidFill>
            <a:prstDash val="solid"/>
          </a:ln>
        </p:spPr>
      </p:sp>
      <p:sp>
        <p:nvSpPr>
          <p:cNvPr id="10" name="step-hex"/>
          <p:cNvSpPr/>
          <p:nvPr/>
        </p:nvSpPr>
        <p:spPr>
          <a:xfrm>
            <a:off x="685800" y="2560980"/>
            <a:ext cx="457200" cy="395935"/>
          </a:xfrm>
          <a:prstGeom prst="hexagon">
            <a:avLst/>
          </a:prstGeom>
          <a:solidFill>
            <a:srgbClr val="3F6B4A"/>
          </a:solidFill>
          <a:ln/>
        </p:spPr>
      </p:sp>
      <p:sp>
        <p:nvSpPr>
          <p:cNvPr id="11" name="step-hex-label"/>
          <p:cNvSpPr txBox="1"/>
          <p:nvPr/>
        </p:nvSpPr>
        <p:spPr>
          <a:xfrm>
            <a:off x="685800" y="25609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State the overall direction first: temperatures have risen over the period.</a:t>
            </a:r>
            <a:endParaRPr lang="en-US" sz="1800" dirty="0"/>
          </a:p>
        </p:txBody>
      </p:sp>
      <p:sp>
        <p:nvSpPr>
          <p:cNvPr id="13" name="step-box"/>
          <p:cNvSpPr/>
          <p:nvPr/>
        </p:nvSpPr>
        <p:spPr>
          <a:xfrm>
            <a:off x="548640" y="3088640"/>
            <a:ext cx="11094415" cy="513080"/>
          </a:xfrm>
          <a:prstGeom prst="roundRect">
            <a:avLst>
              <a:gd name="adj" fmla="val 14257"/>
            </a:avLst>
          </a:prstGeom>
          <a:solidFill>
            <a:srgbClr val="FFFFFF"/>
          </a:solidFill>
          <a:ln w="15875">
            <a:solidFill>
              <a:srgbClr val="95AE9B"/>
            </a:solidFill>
            <a:prstDash val="solid"/>
          </a:ln>
        </p:spPr>
      </p:sp>
      <p:sp>
        <p:nvSpPr>
          <p:cNvPr id="14" name="step-hex"/>
          <p:cNvSpPr/>
          <p:nvPr/>
        </p:nvSpPr>
        <p:spPr>
          <a:xfrm>
            <a:off x="685800" y="3147212"/>
            <a:ext cx="457200" cy="395935"/>
          </a:xfrm>
          <a:prstGeom prst="hexagon">
            <a:avLst/>
          </a:prstGeom>
          <a:solidFill>
            <a:srgbClr val="3F6B4A"/>
          </a:solidFill>
          <a:ln/>
        </p:spPr>
      </p:sp>
      <p:sp>
        <p:nvSpPr>
          <p:cNvPr id="15" name="step-hex-label"/>
          <p:cNvSpPr txBox="1"/>
          <p:nvPr/>
        </p:nvSpPr>
        <p:spPr>
          <a:xfrm>
            <a:off x="685800" y="314721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88640"/>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time span and shape: the rise covers 135 years (2015 − 1880) and is steepest after about 1980.</a:t>
            </a:r>
            <a:endParaRPr lang="en-US" sz="1800" dirty="0"/>
          </a:p>
        </p:txBody>
      </p:sp>
      <p:sp>
        <p:nvSpPr>
          <p:cNvPr id="17" name="step-box"/>
          <p:cNvSpPr/>
          <p:nvPr/>
        </p:nvSpPr>
        <p:spPr>
          <a:xfrm>
            <a:off x="548640" y="3674872"/>
            <a:ext cx="11094415" cy="777240"/>
          </a:xfrm>
          <a:prstGeom prst="roundRect">
            <a:avLst>
              <a:gd name="adj" fmla="val 9412"/>
            </a:avLst>
          </a:prstGeom>
          <a:solidFill>
            <a:srgbClr val="FFFFFF"/>
          </a:solidFill>
          <a:ln w="15875">
            <a:solidFill>
              <a:srgbClr val="95AE9B"/>
            </a:solidFill>
            <a:prstDash val="solid"/>
          </a:ln>
        </p:spPr>
      </p:sp>
      <p:sp>
        <p:nvSpPr>
          <p:cNvPr id="18" name="step-hex"/>
          <p:cNvSpPr/>
          <p:nvPr/>
        </p:nvSpPr>
        <p:spPr>
          <a:xfrm>
            <a:off x="685800" y="3865524"/>
            <a:ext cx="457200" cy="395935"/>
          </a:xfrm>
          <a:prstGeom prst="hexagon">
            <a:avLst/>
          </a:prstGeom>
          <a:solidFill>
            <a:srgbClr val="3F6B4A"/>
          </a:solidFill>
          <a:ln/>
        </p:spPr>
      </p:sp>
      <p:sp>
        <p:nvSpPr>
          <p:cNvPr id="19" name="step-hex-label"/>
          <p:cNvSpPr txBox="1"/>
          <p:nvPr/>
        </p:nvSpPr>
        <p:spPr>
          <a:xfrm>
            <a:off x="685800" y="386552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74872"/>
            <a:ext cx="10180015" cy="77724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Mention what breaks the pattern: there are short dips and flat spells, because the line shows weather from year to year as well as climate.</a:t>
            </a:r>
            <a:endParaRPr lang="en-US" sz="1800" dirty="0"/>
          </a:p>
        </p:txBody>
      </p:sp>
      <p:sp>
        <p:nvSpPr>
          <p:cNvPr id="21" name="step-box"/>
          <p:cNvSpPr/>
          <p:nvPr/>
        </p:nvSpPr>
        <p:spPr>
          <a:xfrm>
            <a:off x="548640" y="4525264"/>
            <a:ext cx="11094415" cy="513080"/>
          </a:xfrm>
          <a:prstGeom prst="roundRect">
            <a:avLst>
              <a:gd name="adj" fmla="val 14257"/>
            </a:avLst>
          </a:prstGeom>
          <a:solidFill>
            <a:srgbClr val="FFFFFF"/>
          </a:solidFill>
          <a:ln w="15875">
            <a:solidFill>
              <a:srgbClr val="95AE9B"/>
            </a:solidFill>
            <a:prstDash val="solid"/>
          </a:ln>
        </p:spPr>
      </p:sp>
      <p:sp>
        <p:nvSpPr>
          <p:cNvPr id="22" name="step-hex"/>
          <p:cNvSpPr/>
          <p:nvPr/>
        </p:nvSpPr>
        <p:spPr>
          <a:xfrm>
            <a:off x="685800" y="4583836"/>
            <a:ext cx="457200" cy="395935"/>
          </a:xfrm>
          <a:prstGeom prst="hexagon">
            <a:avLst/>
          </a:prstGeom>
          <a:solidFill>
            <a:srgbClr val="3F6B4A"/>
          </a:solidFill>
          <a:ln/>
        </p:spPr>
      </p:sp>
      <p:sp>
        <p:nvSpPr>
          <p:cNvPr id="23" name="step-hex-label"/>
          <p:cNvSpPr txBox="1"/>
          <p:nvPr/>
        </p:nvSpPr>
        <p:spPr>
          <a:xfrm>
            <a:off x="685800" y="45838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25264"/>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Two clear points, one of them with a figure, earns both marks.</a:t>
            </a:r>
            <a:endParaRPr lang="en-US" sz="1800" dirty="0"/>
          </a:p>
        </p:txBody>
      </p:sp>
      <p:sp>
        <p:nvSpPr>
          <p:cNvPr id="25" name="worked-answer"/>
          <p:cNvSpPr/>
          <p:nvPr/>
        </p:nvSpPr>
        <p:spPr>
          <a:xfrm>
            <a:off x="548640" y="5221224"/>
            <a:ext cx="11094415" cy="831088"/>
          </a:xfrm>
          <a:prstGeom prst="roundRect">
            <a:avLst>
              <a:gd name="adj" fmla="val 16504"/>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Global temperature has risen overall across the 135 years from 1880 to 2015. The rise is not steady: there are short dips and flat spells, and the line climbs most steeply in the last few decades.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Tree rings, ice cores and shrinking glaciers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Order the evidence by how far back it reaches: thermometers (about 1880), tree rings (10 000 years), ice cores (over a million years).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To see further back than thermometers, scientists read records that nature keeps.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Ice cores reach back far further. In Antarctica and Greenland, snow has fallen on snow for hundreds of thousands of years and been squeezed into ice.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Glaciers are a third record. Photographs, maps and old paintings show whether a glacier has advanced or retreated, and ice that is retreating is evidence that temperatures have risen.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last 2000 years, and is the evidence enough?</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Evaluate means weigh up. Give a strength, a weakness and a judgement: the evidence is strong because the different sources agree.</a:t>
            </a:r>
            <a:endParaRPr lang="en-US" sz="1800" dirty="0"/>
          </a:p>
        </p:txBody>
      </p:sp>
      <p:sp>
        <p:nvSpPr>
          <p:cNvPr id="11" name="point-card"/>
          <p:cNvSpPr/>
          <p:nvPr/>
        </p:nvSpPr>
        <p:spPr>
          <a:xfrm>
            <a:off x="548640" y="1389888"/>
            <a:ext cx="5410048" cy="3686048"/>
          </a:xfrm>
          <a:prstGeom prst="roundRect">
            <a:avLst>
              <a:gd name="adj" fmla="val 1488"/>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Put the records together and you get the graph of the last 2000 years, drawn with several coloured lines, one for each kind of evidence: ice cores, tree rings, preserved pollen, boreholes, corals, and the mud at the bottom of lakes and oceans.</a:t>
            </a:r>
            <a:endParaRPr lang="en-US" sz="2200" dirty="0"/>
          </a:p>
        </p:txBody>
      </p:sp>
      <p:sp>
        <p:nvSpPr>
          <p:cNvPr id="15" name="point-card"/>
          <p:cNvSpPr/>
          <p:nvPr/>
        </p:nvSpPr>
        <p:spPr>
          <a:xfrm>
            <a:off x="6233008" y="1389888"/>
            <a:ext cx="5410048" cy="3686048"/>
          </a:xfrm>
          <a:prstGeom prst="roundRect">
            <a:avLst>
              <a:gd name="adj" fmla="val 1488"/>
            </a:avLst>
          </a:prstGeom>
          <a:solidFill>
            <a:srgbClr val="F3EADB"/>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class discussed whether this is enough to prove climate change, and whether anyone could argue the other way.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Four kinds of evidence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source of evidence to what it tells us about past climate.</a:t>
            </a:r>
            <a:endParaRPr lang="en-US" sz="2200" dirty="0"/>
          </a:p>
        </p:txBody>
      </p:sp>
      <p:sp>
        <p:nvSpPr>
          <p:cNvPr id="11" name="match-card"/>
          <p:cNvSpPr/>
          <p:nvPr/>
        </p:nvSpPr>
        <p:spPr>
          <a:xfrm>
            <a:off x="777240" y="2468331"/>
            <a:ext cx="3081437" cy="804809"/>
          </a:xfrm>
          <a:prstGeom prst="roundRect">
            <a:avLst>
              <a:gd name="adj" fmla="val 9089"/>
            </a:avLst>
          </a:prstGeom>
          <a:solidFill>
            <a:srgbClr val="E6ECE7"/>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Ice cores</a:t>
            </a:r>
            <a:endParaRPr lang="en-US" sz="2000" dirty="0"/>
          </a:p>
        </p:txBody>
      </p:sp>
      <p:sp>
        <p:nvSpPr>
          <p:cNvPr id="15" name="match-card"/>
          <p:cNvSpPr/>
          <p:nvPr/>
        </p:nvSpPr>
        <p:spPr>
          <a:xfrm>
            <a:off x="4224437" y="2468331"/>
            <a:ext cx="7190019" cy="804809"/>
          </a:xfrm>
          <a:prstGeom prst="roundRect">
            <a:avLst>
              <a:gd name="adj" fmla="val 9089"/>
            </a:avLst>
          </a:prstGeom>
          <a:solidFill>
            <a:srgbClr val="F3EADB"/>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Wide rings show warm, wet growing seasons; narrow rings show poor ones</a:t>
            </a:r>
            <a:endParaRPr lang="en-US" sz="2000" dirty="0"/>
          </a:p>
        </p:txBody>
      </p:sp>
      <p:sp>
        <p:nvSpPr>
          <p:cNvPr id="19" name="match-card"/>
          <p:cNvSpPr/>
          <p:nvPr/>
        </p:nvSpPr>
        <p:spPr>
          <a:xfrm>
            <a:off x="777240" y="3364581"/>
            <a:ext cx="3081437" cy="804809"/>
          </a:xfrm>
          <a:prstGeom prst="roundRect">
            <a:avLst>
              <a:gd name="adj" fmla="val 9089"/>
            </a:avLst>
          </a:prstGeom>
          <a:solidFill>
            <a:srgbClr val="E6ECE7"/>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Tree rings</a:t>
            </a:r>
            <a:endParaRPr lang="en-US" sz="2000" dirty="0"/>
          </a:p>
        </p:txBody>
      </p:sp>
      <p:sp>
        <p:nvSpPr>
          <p:cNvPr id="23" name="match-card"/>
          <p:cNvSpPr/>
          <p:nvPr/>
        </p:nvSpPr>
        <p:spPr>
          <a:xfrm>
            <a:off x="4224437" y="3364581"/>
            <a:ext cx="7190019" cy="804809"/>
          </a:xfrm>
          <a:prstGeom prst="roundRect">
            <a:avLst>
              <a:gd name="adj" fmla="val 9089"/>
            </a:avLst>
          </a:prstGeom>
          <a:solidFill>
            <a:srgbClr val="F3EADB"/>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Direct thermometer readings since about 1880 show the recent rise</a:t>
            </a:r>
            <a:endParaRPr lang="en-US" sz="2000" dirty="0"/>
          </a:p>
        </p:txBody>
      </p:sp>
      <p:sp>
        <p:nvSpPr>
          <p:cNvPr id="27" name="match-card"/>
          <p:cNvSpPr/>
          <p:nvPr/>
        </p:nvSpPr>
        <p:spPr>
          <a:xfrm>
            <a:off x="777240" y="4260830"/>
            <a:ext cx="3081437" cy="804809"/>
          </a:xfrm>
          <a:prstGeom prst="roundRect">
            <a:avLst>
              <a:gd name="adj" fmla="val 9089"/>
            </a:avLst>
          </a:prstGeom>
          <a:solidFill>
            <a:srgbClr val="E6ECE7"/>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Glacial retreat</a:t>
            </a:r>
            <a:endParaRPr lang="en-US" sz="2000" dirty="0"/>
          </a:p>
        </p:txBody>
      </p:sp>
      <p:sp>
        <p:nvSpPr>
          <p:cNvPr id="31" name="match-card"/>
          <p:cNvSpPr/>
          <p:nvPr/>
        </p:nvSpPr>
        <p:spPr>
          <a:xfrm>
            <a:off x="4224437" y="4260830"/>
            <a:ext cx="7190019" cy="804809"/>
          </a:xfrm>
          <a:prstGeom prst="roundRect">
            <a:avLst>
              <a:gd name="adj" fmla="val 9089"/>
            </a:avLst>
          </a:prstGeom>
          <a:solidFill>
            <a:srgbClr val="F3EADB"/>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Ice shrinking back up its valley shows that melting is beating snowfall</a:t>
            </a:r>
            <a:endParaRPr lang="en-US" sz="2000" dirty="0"/>
          </a:p>
        </p:txBody>
      </p:sp>
      <p:sp>
        <p:nvSpPr>
          <p:cNvPr id="35" name="match-card"/>
          <p:cNvSpPr/>
          <p:nvPr/>
        </p:nvSpPr>
        <p:spPr>
          <a:xfrm>
            <a:off x="777240" y="5157079"/>
            <a:ext cx="3081437" cy="804809"/>
          </a:xfrm>
          <a:prstGeom prst="roundRect">
            <a:avLst>
              <a:gd name="adj" fmla="val 9089"/>
            </a:avLst>
          </a:prstGeom>
          <a:solidFill>
            <a:srgbClr val="E6ECE7"/>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Temperature measurements</a:t>
            </a:r>
            <a:endParaRPr lang="en-US" sz="2000" dirty="0"/>
          </a:p>
        </p:txBody>
      </p:sp>
      <p:sp>
        <p:nvSpPr>
          <p:cNvPr id="39" name="match-card"/>
          <p:cNvSpPr/>
          <p:nvPr/>
        </p:nvSpPr>
        <p:spPr>
          <a:xfrm>
            <a:off x="4224437" y="5157079"/>
            <a:ext cx="7190019" cy="804809"/>
          </a:xfrm>
          <a:prstGeom prst="roundRect">
            <a:avLst>
              <a:gd name="adj" fmla="val 9089"/>
            </a:avLst>
          </a:prstGeom>
          <a:solidFill>
            <a:srgbClr val="F3EADB"/>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Layers of old snow record the temperature and the gases in the air when each layer fell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Four kinds of evidence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Four kinds of evidence</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direct one. Only one source uses an instrument that measures temperature itself.</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sources are layers that build up year by year. One is wood, one is ice. Which one holds bubbles of air?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over is about a thing getting smaller.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each pair reads as a sensible sentence before you move on.</a:t>
            </a:r>
            <a:endParaRPr lang="en-US" sz="1800" dirty="0"/>
          </a:p>
        </p:txBody>
      </p:sp>
      <p:sp>
        <p:nvSpPr>
          <p:cNvPr id="17" name="col-Core"/>
          <p:cNvSpPr/>
          <p:nvPr/>
        </p:nvSpPr>
        <p:spPr>
          <a:xfrm>
            <a:off x="6425403" y="2395728"/>
            <a:ext cx="2471666" cy="3749040"/>
          </a:xfrm>
          <a:prstGeom prst="roundRect">
            <a:avLst>
              <a:gd name="adj" fmla="val 2220"/>
            </a:avLst>
          </a:prstGeom>
          <a:solidFill>
            <a:srgbClr val="CB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Thermometers measure; rings and cores record year by year; glaciers show change by their size.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scientists trust the evidence more when several of these sources agree than when only one shows a change.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What the 2000-year graph shows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graph of global temperature over the last 2000 years is drawn from ice cores, tree rings, pollen, corals and sediments. Which statement does it support?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Temperatures were highest during the Little Ice Age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Temperatures have gone up and down, but today they are higher than at any point in the last 2000 years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Temperatures rose steadily every single year without any variation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Temperatures have stayed the same for 2000 years and only started to rise in 2015</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What the 2000-year graph shows</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What the 2000-year graph shows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the two named spells: the Medieval Warm Period (warmer) and the Little Ice Age (cooler). So the graph is not flat and not steady.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the deck said about today: higher than at any point in the last 2000 years.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any option that says the graph is flat, steady, or peaks in the Little Ice Age.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right option mentions both the ups and downs and today's record high.</a:t>
            </a:r>
            <a:endParaRPr lang="en-US" sz="1800" dirty="0"/>
          </a:p>
        </p:txBody>
      </p:sp>
      <p:sp>
        <p:nvSpPr>
          <p:cNvPr id="17" name="col-Core"/>
          <p:cNvSpPr/>
          <p:nvPr/>
        </p:nvSpPr>
        <p:spPr>
          <a:xfrm>
            <a:off x="6425403" y="2395728"/>
            <a:ext cx="2471666" cy="3749040"/>
          </a:xfrm>
          <a:prstGeom prst="roundRect">
            <a:avLst>
              <a:gd name="adj" fmla="val 2220"/>
            </a:avLst>
          </a:prstGeom>
          <a:solidFill>
            <a:srgbClr val="CB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named spells break the pattern, but where does the line finish?</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Medieval Warm Period is sometimes used to argue against human-caused climate change, and how a geographer would answer that argument.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statement gives the correct meaning of climate?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pattern of weather in a place over many years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rainfall and temperature of a place on a particular day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long, hot summer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amount of rain that falls in one month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Four kinds of evidence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Ice cores  →  D  Layers of old snow record the temperature and the gases in the air when each layer fell</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Tree rings  →  A  Wide rings show warm, wet growing seasons; narrow rings show poor ones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Glacial retreat  →  C  Ice shrinking back up its valley shows that melting is beating snowfall</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Temperature measurements  →  B  Direct thermometer readings since about 1880 show the recent rise</a:t>
            </a:r>
            <a:endParaRPr lang="en-US" sz="20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Thermometers give direct readings but only since about 1880. Tree rings and ice cores are yearly layers that record the growing season and the ancient air. A retreating glacier shows that the ice is melting faster than snow replaces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What the 2000-year graph shows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graph of global temperature over the last 2000 years is drawn from ice cores, tree rings, pollen, corals and sediments. Which statement does it support?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Temperatures have gone up and down, but today they are higher than at any point in the last 2000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record shows natural variation, including the Medieval Warm Period and the Little Ice Age, but every line turns sharply upwards at the end of the record, and today's temperatures are the highest in the 2000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statement gives the correct meaning of climate?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pattern of weather in a place over many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Climate is the pattern of weather over many years. Weather is what happens on a particular day, and one summer or one month is weather, not climate.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Change: Evidence, Causes, Effects and Management · Chapter 1: How do we know the climate is changing?</dc:title>
  <dc:subject>Geography · Year 11</dc:subject>
  <dc:creator>Dr Vitor Merissi de Carvalho</dc:creator>
  <cp:lastModifiedBy>Dr Vitor Merissi de Carvalho</cp:lastModifiedBy>
  <cp:revision>1</cp:revision>
  <dcterms:created xsi:type="dcterms:W3CDTF">2026-10-19T16:22:46Z</dcterms:created>
  <dcterms:modified xsi:type="dcterms:W3CDTF">2026-10-19T16:22:46Z</dcterms:modified>
</cp:coreProperties>
</file>