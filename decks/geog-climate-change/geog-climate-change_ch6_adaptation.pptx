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2c1dc7a-faa6-d7cc-0e94-09f9f51ff194}">
          <p14:sldIdLst>
            <p14:sldId id="256"/>
          </p14:sldIdLst>
        </p14:section>
        <p14:section name="Gate" id="{03e6c749-5e71-fad0-700d-9ce5df7a642c}">
          <p14:sldIdLst>
            <p14:sldId id="257"/>
            <p14:sldId id="258"/>
          </p14:sldIdLst>
        </p14:section>
        <p14:section name="Pre-teach" id="{ef5d26aa-10db-f517-3a69-dae45cba85a8}">
          <p14:sldIdLst>
            <p14:sldId id="259"/>
            <p14:sldId id="260"/>
          </p14:sldIdLst>
        </p14:section>
        <p14:section name="Read-along" id="{afc15b26-5a95-a573-54e1-424f03898253}">
          <p14:sldIdLst>
            <p14:sldId id="261"/>
            <p14:sldId id="262"/>
          </p14:sldIdLst>
        </p14:section>
        <p14:section name="Teach" id="{01456081-520b-80a3-baa1-71f7b1dec172}">
          <p14:sldIdLst>
            <p14:sldId id="263"/>
            <p14:sldId id="264"/>
            <p14:sldId id="265"/>
            <p14:sldId id="266"/>
            <p14:sldId id="267"/>
          </p14:sldIdLst>
        </p14:section>
        <p14:section name="Routes" id="{6b10f2a4-9237-4d31-fc05-f12a22490100}">
          <p14:sldIdLst>
            <p14:sldId id="268"/>
            <p14:sldId id="269"/>
            <p14:sldId id="270"/>
            <p14:sldId id="271"/>
          </p14:sldIdLst>
        </p14:section>
        <p14:section name="Close" id="{4d74159c-4713-8731-db9b-da7fee15f61d}">
          <p14:sldIdLst>
            <p14:sldId id="272"/>
          </p14:sldIdLst>
        </p14:section>
        <p14:section name="Answers" id="{c825697b-e494-bf1a-b3d6-187f60083d0b}">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Adapting to climate change: farming, water and the rising sea. The three ways countries adapt to a climate that is already changing, with the UK's vineyards, the Beckton desalination plant, the Thames Barrier and the Maldives as your examples, and the nine-mark question that puts mitigation and adaptation side by side.
This deck covers the department's lessons: 6 (Adapting to climate change: agriculture and water supply: How can changing farming and managing the water supply help countries adapt to climate change?); 7 (Adapting to climate change: rising sea levels, and the 9-mark question: How can countries reduce the risk from rising sea levels, and how do you write a 9-mark answer on managing climate change?).
Read the big question aloud: "How do we know the climate is changing, what is causing it, and should we spend our effort on cutting the causes or on adapting to the effects?"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an example of adaptation to climate change?  →  C   Growing grapes in West Sussex, which a warmer climate now allows
2. The area of woodland in the UK rose from 786 thousand hectares in 2011 to 961 thousand hectares in 2015. By how many thousand hectares did it increase?  →  175 thousand hectares
3. A desalination plant takes the ___ out of sea water so that it can be used as fresh water.  →  salt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Growing grapes in West Sussex, which a warmer climate now allows. Changing the crops grown to suit a warmer climate is adaptation: responding to the change. The other three reduce the causes, so they are mitigation.
2. 175 thousand hectares. 961 − 786 = 175 thousand hectares. Woodland and cereals were the two land uses that grew between 2011 and 2015.
3. salt. Desalination removes salt from sea water, at Beckton by pumping the water through membranes. The fresh water can then be used in a drought.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adaptation: changing how we live to cope with climate change. Example: "Growing new crops is a form of adaptation."
• agricultural system: the type of farming in a place and the crops it grows. Example: "A warmer climate changes the agricultural system of southern England."
• desalination: taking the salt out of sea water to make fresh water. Example: "The desalination plant at Beckton supplies London in a drought."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reservoir: a large artificial lake that stores water. Example: "Kielder Water is the UK's largest reservoir."
• water transfer: moving water from a region with plenty to a region with a shortage. Example: "A water transfer scheme carries water through pipes and canals."
• barrage: a barrier built right across an estuary to hold back the sea. Example: "A new barrage could be built across the Thames if seas rise by 4 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Adaptation means responding to climate change, not stopping it.
2. There are three main ways to adapt.
3. The first is to change farming.
4. Rice grows in hot, wet places, and oats grow in cooler ones.
5. As the climate warms, farmers change what they grow, and vines now grow in West Sussex.
6. The second is to manage the water supply as droughts become more common.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Countries use water more carefully, build reservoirs and move water from wet areas to dry ones.
8. At Beckton, on the Thames Estuary, a plant takes the salt out of river water.
9. The third is to reduce the risk from rising sea levels.
10. The Maldives has built sea walls, including a 3 m wall around its capital.
11. The Thames Barrier protects London, and its defences are being raised.
12. Adaptation protects people now, while mitigation works on the causes.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Changing agricultural systems. Say it in your own words, then check understanding with a quick question: ask a pupil from the pre-teach group first, since they met these words and ideas before the lesson. Pupils try to recall before you re-explain.
The type of farming found in a place depends on its rainfall and temperature. Some crops grow well in hot, wet climates, such as rice; others suit cooler climates, such as oats. As rainfall and temperature rise or fall, farmers have to change the crops they grow, or switch to a different land use altogether, such as woodland. Your deck's pictures were a vineyard at Scaynes Hill in West Sussex and a wheat field in Buckinghamshire: grapes are a crop that southern England's warming climate now allows.
The figures show change already under way. Between 2011 and 2015, in thousands of hectares, cereals rose from 3000 to 3100 and woodland from 786 to 961, while oilseeds fell from 742 to 670, potatoes from 142 to 129 and horticultural crops from 175 to 174. So more cereals are being grown and the area of woodland is increasing, while oilseeds and potatoes shrink. In 2016 the UK mean temperature was 9.2°C, which is 0.4°C above the 1981 to 2010 long-term average, and rainfall was 1272 mm, 110% of that average. Climate change could mean a UK that is warmer and wetter than before.
Changing what is grown helps a country adapt because food keeps coming even as the climate shifts, farmers keep their income, and land that no longer suits one crop is put to a use that fits the new conditions. The cost is that change is expensive and uncertain for the farmer, and some traditional crops and landscapes are lost.
Worked example — model it step by step, thinking aloud: The UK's mean temperature in 2016 reached 9.2°C, 0.4°C above the 1981 to 2010 average, and its rainfall came to 1272 mm, 110% of that average. What were the long-term average temperature and rainfall? (1) Temperature: 2016 was 0.4°C above the average, so the average is 9.2 − 0.4 = 8.8°C. (2) Rainfall: 1272 mm is 110% of the average, so the average is 1272 ÷ 1.10, which is about 1156 mm. (3) Check the sense: 1156 mm is lower than 1272 mm, as it should be if 2016 was wetter than usual. (4) Use both figures to say what the data suggests: a year that was both warmer and wetter than the long-term normal. Answer: Average temperature 8.8°C; average rainfall about 1156 mm..
Tip: For agriculture, pair a trend with a figure: more cereals (3000 to 3100 thousand hectares) and more woodland (786 to 961), fewer oilseeds and potatoes.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Changing agricultural systems. Say it in your own words, then check understanding with a quick question: ask a pupil from the pre-teach group first, since they met these words and ideas before the lesson. Pupils try to recall before you re-explain.
The type of farming found in a place depends on its rainfall and temperature. Some crops grow well in hot, wet climates, such as rice; others suit cooler climates, such as oats. As rainfall and temperature rise or fall, farmers have to change the crops they grow, or switch to a different land use altogether, such as woodland. Your deck's pictures were a vineyard at Scaynes Hill in West Sussex and a wheat field in Buckinghamshire: grapes are a crop that southern England's warming climate now allows.
The figures show change already under way. Between 2011 and 2015, in thousands of hectares, cereals rose from 3000 to 3100 and woodland from 786 to 961, while oilseeds fell from 742 to 670, potatoes from 142 to 129 and horticultural crops from 175 to 174. So more cereals are being grown and the area of woodland is increasing, while oilseeds and potatoes shrink. In 2016 the UK mean temperature was 9.2°C, which is 0.4°C above the 1981 to 2010 long-term average, and rainfall was 1272 mm, 110% of that average. Climate change could mean a UK that is warmer and wetter than before.
Changing what is grown helps a country adapt because food keeps coming even as the climate shifts, farmers keep their income, and land that no longer suits one crop is put to a use that fits the new conditions. The cost is that change is expensive and uncertain for the farmer, and some traditional crops and landscapes are lost.
Worked example — model it step by step, thinking aloud: The UK's mean temperature in 2016 reached 9.2°C, 0.4°C above the 1981 to 2010 average, and its rainfall came to 1272 mm, 110% of that average. What were the long-term average temperature and rainfall? (1) Temperature: 2016 was 0.4°C above the average, so the average is 9.2 − 0.4 = 8.8°C. (2) Rainfall: 1272 mm is 110% of the average, so the average is 1272 ÷ 1.10, which is about 1156 mm. (3) Check the sense: 1156 mm is lower than 1272 mm, as it should be if 2016 was wetter than usual. (4) Use both figures to say what the data suggests: a year that was both warmer and wetter than the long-term normal. Answer: Average temperature 8.8°C; average rainfall about 1156 mm..
Tip: For agriculture, pair a trend with a figure: more cereals (3000 to 3100 thousand hectares) and more woodland (786 to 961), fewer oilseeds and potatoes.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Managing the water supply. Say it in your own words, then check understanding with a quick question: ask a pupil from the pre-teach group first, since they met these words and ideas before the lesson. Pupils try to recall before you re-explain.
As droughts become more frequent, managing the supply of water matters more. Countries are using a mix of measures to make sure people have enough water all year round: using water more efficiently in homes, farming and industry; building desalination plants that take the salt out of sea water; building more reservoirs to store water, such as Kielder Water in Northumberland, the UK's largest reservoir; and building water transfer schemes that move water from areas of surplus to areas of deficit.
The UK example is the Thames Gateway Water Treatment Works at Beckton, on the Thames Estuary, built by Thames Water to give London a reliable supply of fresh water in a drought. Up to 180 million litres of water a day are pumped from the river. Chemicals are added to bind together any suspended material, the water is filtered through sand in steel containers, then pumped through membranes to remove the salt, and finally calcium and magnesium are added before it is disinfected.
Managing water helps a country adapt because it breaks the link between a dry year and a water shortage: stored, transferred or desalinated water is there when the rain is not. Against this, desalination uses a great deal of energy, which can add to carbon emissions unless the energy is renewable, reservoirs flood valleys, and transfer schemes are expensive and can cause conflict between the regions that give and the regions that receive.
Tip: Four ways to manage water: use less, desalinate, store, transfer. One UK example for each strand earns the application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Reducing the risk from rising sea levels. Say it in your own words, then check understanding with a quick question: ask a pupil from the pre-teach group first, since they met these words and ideas before the lesson. Pupils try to recall before you re-explain.
As the world gets warmer, ice on land melts and the sea rises, by up to 2 m by 2100 on the projection your deck used. Low-lying countries are preparing by building new, better flood defences. The other option is to change the land use along the coast so that, if the sea does come in, only farmland is lost rather than homes and businesses.
The Maldives is the sharpest example. Its roughly 1000 islands are very low-lying, and many places are only 2.5 m above sea level, so a 2 m rise would flood much of the country. Sea walls have been built to hold the water back and protect property. After the islands were flooded by the 2004 tsunami, a 3 m high wall was built around the capital, Malé, paid for by Japan, and land is being reclaimed from the sea.
In the UK, sea levels in the Thames Estuary could rise by up to 2 m by 2100. The Thames Barrier, built after the 1953 floods and completed in 1984, protects the estuary from flooding; its huge steel gates can be raised in 45 minutes. Along the river, defences are being built higher and new basins dug to hold flood water back, keeping London safe from future floods caused by higher seas, higher and more frequent storm surges and higher river flows. If sea levels rise by 4 m, a new barrage would be built across the estuary.
Tip: Give the Maldives figures (2.5 m, 2 m, 3 m wall) and the Thames figures (1953, 1984, 45 minutes, 2 m, 4 m). Numbers turn a description into a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Mitigation and adaptation side by side: the nine-mark question. Say it in your own words, then check understanding with a quick question: ask a pupil from the pre-teach group first, since they met these words and ideas before the lesson. Pupils try to recall before you re-explain.
The exam question your deck ended with gave you two pictures, a new community woodland in east London and a vineyard in West Sussex, and asked you to use them and your own knowledge to discuss the ways of mitigating and adapting to climate change for nine marks. The trick is to see what each picture is for. The woodland is mitigation: planting trees removes carbon dioxide and attacks the cause. The vineyard is adaptation: a new crop that a warmer climate allows, responding to the change.
The mark scheme rewarded three things. First, correctly identifying one way to mitigate (planting trees) and one way to adapt (changing the crops grown) from the figures, which is the basic level. Second, using both figures and your own knowledge to cover both mitigation and adaptation clearly, the middle level. Third, a detailed and well-organised answer that names examples and backs every one of them with figures, for the top level.
So build the answer in four parts: what mitigation is, with the woodland and two more examples (renewable energy such as Thanet, international agreements, carbon capture); what adaptation is, with the vineyard and two more (managing water at Beckton, the Thames Barrier); a sentence on how the two differ in who benefits, globally against locally; and a judgement about whether a country needs both. Nine marks, four paragraphs, a figure in each.
Tip: Globally responsible against locally responsible: mitigation helps everyone a little, adaptation helps the place that does it a lot. That contrast is worth a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Three ways to adapt, four UK examples.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way of adapting to climate change to its UK example.
Support — work through the steps with the group: (1) Farming means crops. Which example is a crop? (2) Desalination removes salt, so its example is a treatment works on an estuary where river meets sea. (3) Storage means a reservoir: a big artificial lake. (4) Sea level means a barrier against the sea.
Parallel worked example for Support (model it, do not give the task answer): Match: Thanet offshore wind farm, Thames Chase Community Woodland. Choices: planting trees as carbon sinks; renewable electricity for 220 000 homes. A wind farm makes electricity.; A woodland is trees.. Answer: Thanet offshore wind farm: renewable electricity for 220 000 homes. Thames Chase Community Woodland: planting trees as carbon sinks..
Core — reveal the hint only on request: Crop, salt, store, sea: four words, four examples.
Stretch — no help; when finished: For each example, write one sentence saying what effect of climate change it responds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Three ways to adapt, four UK examples.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way of adapting to climate change to its UK example.
Support — work through the steps with the group: (1) Farming means crops. Which example is a crop? (2) Desalination removes salt, so its example is a treatment works on an estuary where river meets sea. (3) Storage means a reservoir: a big artificial lake. (4) Sea level means a barrier against the sea.
Parallel worked example for Support (model it, do not give the task answer): Match: Thanet offshore wind farm, Thames Chase Community Woodland. Choices: planting trees as carbon sinks; renewable electricity for 220 000 homes. A wind farm makes electricity.; A woodland is trees.. Answer: Thanet offshore wind farm: renewable electricity for 220 000 homes. Thames Chase Community Woodland: planting trees as carbon sinks..
Core — reveal the hint only on request: Crop, salt, store, sea: four words, four examples.
Stretch — no help; when finished: For each example, write one sentence saying what effect of climate change it responds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much margin is left?.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Many places in the Maldives are only 2.5 m above sea level. If the sea rises by 2 m by 2100, as your deck's projection says, how many metres above the sea would those places be left?
Support — work through the steps with the group: (1) Write down the height now: 2.5 m above the sea. (2) Write down the rise: 2 m. (3) A rising sea reduces the gap, so subtract: 2.5 − 2. (4) Answer: 0.5 m, which is half a metre. Say what that means: one storm surge away from flooding.
Parallel worked example for Support (model it, do not give the task answer): The 3 m wall around Malé was built after the 2004 tsunami. If the sea rose by 2 m, how much of the wall would still stand above the new sea level? The wall is 3 m high.; Take away the 2 m rise.. Answer: 1 m.
Core — reveal the hint only on request: The sea comes up; the land does not. Which way does the gap go?
Stretch — no help; when finished: Explain why a 3 m wall around the capital is not a complete answer for a country of about 1000 low-lying islands.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much margin is left?.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Many places in the Maldives are only 2.5 m above sea level. If the sea rises by 2 m by 2100, as your deck's projection says, how many metres above the sea would those places be left?
Support — work through the steps with the group: (1) Write down the height now: 2.5 m above the sea. (2) Write down the rise: 2 m. (3) A rising sea reduces the gap, so subtract: 2.5 − 2. (4) Answer: 0.5 m, which is half a metre. Say what that means: one storm surge away from flooding.
Parallel worked example for Support (model it, do not give the task answer): The 3 m wall around Malé was built after the 2004 tsunami. If the sea rose by 2 m, how much of the wall would still stand above the new sea level? The wall is 3 m high.; Take away the 2 m rise.. Answer: 1 m.
Core — reveal the hint only on request: The sea comes up; the land does not. Which way does the gap go?
Stretch — no help; when finished: Explain why a 3 m wall around the capital is not a complete answer for a country of about 1000 low-lying islands.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an example of adaptation to climate change?
Answer: B   Growing grapes in West Sussex, which a warmer climate now allows. Changing the crops grown to suit a warmer climate is adaptation: responding to the change. The other three reduce the causes, so they are mitigation.
Source of this question: gate item 1 re-asked (options rotated) — this chapter has no third quick-check module.
The ebook also holds task 3, "Mitigation and adaptation together",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Three ways to adapt, four UK examples. Reveal the answer; pupils mark their own work in a different colour, then read the "why" together. Same destination for every lane, so one answer serves the whole class.
Answer: Changing agricultural systems  →  D  Vines growing at Scaynes Hill in West Sussex; Managing water supply by desalination  →  C  The Thames Water plant at Beckton on the Thames Estuary; Managing water supply by storage  →  B  Kielder Water in Northumberland, the UK's largest reservoir; Reducing the risk from rising sea levels  →  A  The Thames Barrier, completed in 1984 and now being backed by raised defences
Why: Vines at Scaynes Hill show farming changing with a warmer climate; Beckton desalinates estuary water for drought; Kielder Water stores it; the Thames Barrier holds back a rising sea. All four respond to the effects of climate change rather than reducing its causes.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much margin is left?. Reveal the answer; pupils mark their own work in a different colour, then read the "why" together. Same destination for every lane, so one answer serves the whole class.
Answer: 0.5 m
Why: 2.5 − 2 = 0.5 m. Half a metre of margin would be wiped out by a storm surge or a high tide, which is why the Maldives is building sea walls and reclaiming land now.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Growing grapes in West Sussex, which a warmer climate now allows
Why: Changing the crops grown to suit a warmer climate is adaptation: responding to the change. The other three reduce the causes, so they are mitigation.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Climate Change: Evidence, Causes, Effects and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Climate Change: Evidence, Causes, Effects and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FDA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Climate Change: Evidence, Causes, Effects and Management</a:t>
            </a:r>
            <a:endParaRPr lang="en-US" sz="1800" dirty="0"/>
          </a:p>
        </p:txBody>
      </p:sp>
      <p:sp>
        <p:nvSpPr>
          <p:cNvPr id="10" name="deck-title"/>
          <p:cNvSpPr txBox="1"/>
          <p:nvPr/>
        </p:nvSpPr>
        <p:spPr>
          <a:xfrm>
            <a:off x="548640" y="187629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Adapting to climate change: farming, water and the rising sea</a:t>
            </a:r>
            <a:endParaRPr lang="en-US" sz="2800" dirty="0"/>
          </a:p>
        </p:txBody>
      </p:sp>
      <p:sp>
        <p:nvSpPr>
          <p:cNvPr id="11" name="lessons-card"/>
          <p:cNvSpPr/>
          <p:nvPr/>
        </p:nvSpPr>
        <p:spPr>
          <a:xfrm>
            <a:off x="548640" y="3618738"/>
            <a:ext cx="5287975" cy="1948180"/>
          </a:xfrm>
          <a:prstGeom prst="roundRect">
            <a:avLst>
              <a:gd name="adj" fmla="val 3755"/>
            </a:avLst>
          </a:prstGeom>
          <a:solidFill>
            <a:srgbClr val="E2E9E4"/>
          </a:solidFill>
          <a:ln/>
        </p:spPr>
      </p:sp>
      <p:sp>
        <p:nvSpPr>
          <p:cNvPr id="12" name="lessons"/>
          <p:cNvSpPr txBox="1"/>
          <p:nvPr/>
        </p:nvSpPr>
        <p:spPr>
          <a:xfrm>
            <a:off x="685800" y="371017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Adapting to climate change: agriculture and water supply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Adapting to climate change: rising sea levels, and the 9-mark question</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9E4"/>
          </a:solidFill>
          <a:ln w="12700">
            <a:solidFill>
              <a:srgbClr val="A9BCAE"/>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1800" i="1" dirty="0">
                <a:solidFill>
                  <a:srgbClr val="1E2229"/>
                </a:solidFill>
                <a:latin typeface="Cambria" pitchFamily="34" charset="0"/>
                <a:ea typeface="Cambria" pitchFamily="34" charset="-122"/>
                <a:cs typeface="Cambria" pitchFamily="34" charset="-120"/>
              </a:rPr>
              <a:t>How do we know the climate is changing, what is causing it, and should we spend our effort on cutting the causes or on adapting to the effects?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an example of adaptation to climate change?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Signing the Paris agreement</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Building an offshore wind farm</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Growing grapes in West Sussex, which a warmer climate now allows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Capturing carbon dioxide from a power station</a:t>
            </a:r>
            <a:endParaRPr lang="en-US" sz="2400" dirty="0"/>
          </a:p>
        </p:txBody>
      </p:sp>
      <p:sp>
        <p:nvSpPr>
          <p:cNvPr id="12" name="card"/>
          <p:cNvSpPr/>
          <p:nvPr/>
        </p:nvSpPr>
        <p:spPr>
          <a:xfrm>
            <a:off x="6095848" y="1389888"/>
            <a:ext cx="2636444" cy="4754880"/>
          </a:xfrm>
          <a:prstGeom prst="roundRect">
            <a:avLst>
              <a:gd name="adj" fmla="val 2081"/>
            </a:avLst>
          </a:prstGeom>
          <a:solidFill>
            <a:srgbClr val="E8EDE9"/>
          </a:solidFill>
          <a:ln w="12700">
            <a:solidFill>
              <a:srgbClr val="B2C4B7"/>
            </a:solidFill>
            <a:prstDash val="solid"/>
          </a:ln>
        </p:spPr>
      </p:sp>
      <p:sp>
        <p:nvSpPr>
          <p:cNvPr id="13" name="card-hex"/>
          <p:cNvSpPr/>
          <p:nvPr/>
        </p:nvSpPr>
        <p:spPr>
          <a:xfrm>
            <a:off x="6278728" y="1572768"/>
            <a:ext cx="640080" cy="554309"/>
          </a:xfrm>
          <a:prstGeom prst="hexagon">
            <a:avLst/>
          </a:prstGeom>
          <a:solidFill>
            <a:srgbClr val="3F6B4A"/>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The area of woodland in the UK rose from 786 thousand hectares in 2011 to 961 thousand hectares in 2015. By how many thousand hectares did it increase?</a:t>
            </a:r>
            <a:endParaRPr lang="en-US" sz="1800" dirty="0"/>
          </a:p>
          <a:p>
            <a:pPr algn="l" indent="0" marL="0">
              <a:buNone/>
            </a:pPr>
            <a:r>
              <a:rPr lang="en-US" sz="1800" b="1" dirty="0">
                <a:solidFill>
                  <a:srgbClr val="3F6B4A"/>
                </a:solidFill>
                <a:latin typeface="Calibri" pitchFamily="34" charset="0"/>
                <a:ea typeface="Calibri" pitchFamily="34" charset="-122"/>
                <a:cs typeface="Calibri" pitchFamily="34" charset="-120"/>
              </a:rPr>
              <a:t>Answer:  </a:t>
            </a:r>
            <a:pPr algn="l" indent="0" marL="0">
              <a:buNone/>
            </a:pPr>
            <a:r>
              <a:rPr lang="en-US" sz="1800" dirty="0">
                <a:solidFill>
                  <a:srgbClr val="1E2229"/>
                </a:solidFill>
                <a:latin typeface="Calibri" pitchFamily="34" charset="0"/>
                <a:ea typeface="Calibri" pitchFamily="34" charset="-122"/>
                <a:cs typeface="Calibri" pitchFamily="34" charset="-120"/>
              </a:rPr>
              <a:t>________ thousand hectares</a:t>
            </a:r>
            <a:endParaRPr lang="en-US" sz="1800" dirty="0"/>
          </a:p>
        </p:txBody>
      </p:sp>
      <p:sp>
        <p:nvSpPr>
          <p:cNvPr id="17" name="card"/>
          <p:cNvSpPr/>
          <p:nvPr/>
        </p:nvSpPr>
        <p:spPr>
          <a:xfrm>
            <a:off x="9006611" y="1389888"/>
            <a:ext cx="2636444" cy="4754880"/>
          </a:xfrm>
          <a:prstGeom prst="roundRect">
            <a:avLst>
              <a:gd name="adj" fmla="val 2081"/>
            </a:avLst>
          </a:prstGeom>
          <a:solidFill>
            <a:srgbClr val="E8EDE9"/>
          </a:solidFill>
          <a:ln w="12700">
            <a:solidFill>
              <a:srgbClr val="B2C4B7"/>
            </a:solidFill>
            <a:prstDash val="solid"/>
          </a:ln>
        </p:spPr>
      </p:sp>
      <p:sp>
        <p:nvSpPr>
          <p:cNvPr id="18" name="card-hex"/>
          <p:cNvSpPr/>
          <p:nvPr/>
        </p:nvSpPr>
        <p:spPr>
          <a:xfrm>
            <a:off x="9189491" y="1572768"/>
            <a:ext cx="640080" cy="554309"/>
          </a:xfrm>
          <a:prstGeom prst="hexagon">
            <a:avLst/>
          </a:prstGeom>
          <a:solidFill>
            <a:srgbClr val="3F6B4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 desalination plant takes the ___ out of sea water so that it can be used as fresh water.</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salt  ·  carbon  ·  oxygen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955040"/>
          </a:xfrm>
          <a:prstGeom prst="roundRect">
            <a:avLst>
              <a:gd name="adj" fmla="val 11489"/>
            </a:avLst>
          </a:prstGeom>
          <a:solidFill>
            <a:srgbClr val="EADBBF"/>
          </a:solidFill>
          <a:ln w="19050">
            <a:solidFill>
              <a:srgbClr val="B8862B"/>
            </a:solidFill>
            <a:prstDash val="solid"/>
          </a:ln>
        </p:spPr>
      </p:sp>
      <p:sp>
        <p:nvSpPr>
          <p:cNvPr id="12" name="answer"/>
          <p:cNvSpPr txBox="1"/>
          <p:nvPr/>
        </p:nvSpPr>
        <p:spPr>
          <a:xfrm>
            <a:off x="822960"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Growing grapes in West Sussex, which a warmer climate now allows</a:t>
            </a:r>
            <a:endParaRPr lang="en-US" sz="2200" dirty="0"/>
          </a:p>
        </p:txBody>
      </p:sp>
      <p:sp>
        <p:nvSpPr>
          <p:cNvPr id="13" name="card-body"/>
          <p:cNvSpPr txBox="1"/>
          <p:nvPr/>
        </p:nvSpPr>
        <p:spPr>
          <a:xfrm>
            <a:off x="731520"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an example of adaptation to climate change?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Changing the crops grown to suit a warmer climate is adaptation: responding to the change. The other three reduce the causes, so they are mitigation.</a:t>
            </a:r>
            <a:endParaRPr lang="en-US" sz="2000" dirty="0"/>
          </a:p>
        </p:txBody>
      </p:sp>
      <p:sp>
        <p:nvSpPr>
          <p:cNvPr id="14" name="card"/>
          <p:cNvSpPr/>
          <p:nvPr/>
        </p:nvSpPr>
        <p:spPr>
          <a:xfrm>
            <a:off x="6095848" y="1389888"/>
            <a:ext cx="2636444" cy="4754880"/>
          </a:xfrm>
          <a:prstGeom prst="roundRect">
            <a:avLst>
              <a:gd name="adj" fmla="val 2081"/>
            </a:avLst>
          </a:prstGeom>
          <a:solidFill>
            <a:srgbClr val="E8EDE9"/>
          </a:solidFill>
          <a:ln w="12700">
            <a:solidFill>
              <a:srgbClr val="B2C4B7"/>
            </a:solidFill>
            <a:prstDash val="solid"/>
          </a:ln>
        </p:spPr>
      </p:sp>
      <p:sp>
        <p:nvSpPr>
          <p:cNvPr id="15" name="card-hex"/>
          <p:cNvSpPr/>
          <p:nvPr/>
        </p:nvSpPr>
        <p:spPr>
          <a:xfrm>
            <a:off x="6278728" y="1572768"/>
            <a:ext cx="640080" cy="554309"/>
          </a:xfrm>
          <a:prstGeom prst="hexagon">
            <a:avLst/>
          </a:prstGeom>
          <a:solidFill>
            <a:srgbClr val="3F6B4A"/>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955040"/>
          </a:xfrm>
          <a:prstGeom prst="roundRect">
            <a:avLst>
              <a:gd name="adj" fmla="val 11489"/>
            </a:avLst>
          </a:prstGeom>
          <a:solidFill>
            <a:srgbClr val="EADBBF"/>
          </a:solidFill>
          <a:ln w="19050">
            <a:solidFill>
              <a:srgbClr val="B8862B"/>
            </a:solidFill>
            <a:prstDash val="solid"/>
          </a:ln>
        </p:spPr>
      </p:sp>
      <p:sp>
        <p:nvSpPr>
          <p:cNvPr id="19" name="answer"/>
          <p:cNvSpPr txBox="1"/>
          <p:nvPr/>
        </p:nvSpPr>
        <p:spPr>
          <a:xfrm>
            <a:off x="6370168" y="2428829"/>
            <a:ext cx="2087804"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175 thousand hectares</a:t>
            </a:r>
            <a:endParaRPr lang="en-US" sz="2200" dirty="0"/>
          </a:p>
        </p:txBody>
      </p:sp>
      <p:sp>
        <p:nvSpPr>
          <p:cNvPr id="20" name="card-body"/>
          <p:cNvSpPr txBox="1"/>
          <p:nvPr/>
        </p:nvSpPr>
        <p:spPr>
          <a:xfrm>
            <a:off x="6278728" y="3493597"/>
            <a:ext cx="2270684"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961 − 786 = 175 thousand hectares. Woodland and cereals were the two land uses that grew between 2011 and 2015.</a:t>
            </a:r>
            <a:endParaRPr lang="en-US" sz="1800" dirty="0"/>
          </a:p>
        </p:txBody>
      </p:sp>
      <p:sp>
        <p:nvSpPr>
          <p:cNvPr id="21" name="card"/>
          <p:cNvSpPr/>
          <p:nvPr/>
        </p:nvSpPr>
        <p:spPr>
          <a:xfrm>
            <a:off x="9006611" y="1389888"/>
            <a:ext cx="2636444" cy="4754880"/>
          </a:xfrm>
          <a:prstGeom prst="roundRect">
            <a:avLst>
              <a:gd name="adj" fmla="val 2081"/>
            </a:avLst>
          </a:prstGeom>
          <a:solidFill>
            <a:srgbClr val="E8EDE9"/>
          </a:solidFill>
          <a:ln w="12700">
            <a:solidFill>
              <a:srgbClr val="B2C4B7"/>
            </a:solidFill>
            <a:prstDash val="solid"/>
          </a:ln>
        </p:spPr>
      </p:sp>
      <p:sp>
        <p:nvSpPr>
          <p:cNvPr id="22" name="card-hex"/>
          <p:cNvSpPr/>
          <p:nvPr/>
        </p:nvSpPr>
        <p:spPr>
          <a:xfrm>
            <a:off x="9189491" y="1572768"/>
            <a:ext cx="640080" cy="554309"/>
          </a:xfrm>
          <a:prstGeom prst="hexagon">
            <a:avLst/>
          </a:prstGeom>
          <a:solidFill>
            <a:srgbClr val="3F6B4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salt</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Desalination removes salt from sea water, at Beckton by pumping the water through membranes. The fresh water can then be used in a drought.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adaptation</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changing how we live to cope with climate change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Growing new crops is a form of adaptation.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agricultural system</a:t>
            </a:r>
            <a:endParaRPr lang="en-US" sz="2600" dirty="0"/>
          </a:p>
        </p:txBody>
      </p:sp>
      <p:sp>
        <p:nvSpPr>
          <p:cNvPr id="17" name="word-rule"/>
          <p:cNvSpPr/>
          <p:nvPr/>
        </p:nvSpPr>
        <p:spPr>
          <a:xfrm>
            <a:off x="4521098" y="2558288"/>
            <a:ext cx="3149498" cy="0"/>
          </a:xfrm>
          <a:prstGeom prst="line">
            <a:avLst/>
          </a:prstGeom>
          <a:ln w="12700">
            <a:solidFill>
              <a:srgbClr val="A9BCAE"/>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type of farming in a place and the crops it grows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warmer climate changes the agricultural system of southern England.</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desalination</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taking the salt out of sea water to make fresh water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desalination plant at Beckton supplies London in a drought.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reservoir</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large artificial lake that stores water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Kielder Water is the UK's largest reservoir.</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water transfer</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moving water from a region with plenty to a region with a shortage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water transfer scheme carries water through pipes and canals.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barrage</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barrier built right across an estuary to hold back the sea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new barrage could be built across the Thames if seas rise by 4 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Adaptation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means responding to climate change, not stopping it.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There are three main ways to adapt.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first is to change farming.</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Rice grows in hot, wet places, and oats grow in cooler ones.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As the climate warms, farmers change what they grow, and vines now grow in West Sussex.</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second is to manage the water supply as droughts become more common.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Countries use water more carefully, build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reservoirs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and move water from wet areas to dry ones.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Beckton, on the Thames Estuary, a plant takes the salt out of river water.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third is to reduce the risk from rising sea levels.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Maldives has built sea walls, including a 3 m wall around its capital.</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Thames Barrier protects London, and its defences are being raised.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Adaptation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protects people now, while mitigation works on the causes.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Changing agricultural systems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agriculture, pair a trend with a figure: more cereals (3000 to 3100 thousand hectares) and more woodland (786 to 961), fewer oilseeds and potatoes.</a:t>
            </a:r>
            <a:endParaRPr lang="en-US" sz="1800" dirty="0"/>
          </a:p>
        </p:txBody>
      </p:sp>
      <p:sp>
        <p:nvSpPr>
          <p:cNvPr id="11" name="bullet-card"/>
          <p:cNvSpPr/>
          <p:nvPr/>
        </p:nvSpPr>
        <p:spPr>
          <a:xfrm>
            <a:off x="548640" y="1389888"/>
            <a:ext cx="11094415" cy="629073"/>
          </a:xfrm>
          <a:prstGeom prst="roundRect">
            <a:avLst>
              <a:gd name="adj" fmla="val 11629"/>
            </a:avLst>
          </a:prstGeom>
          <a:solidFill>
            <a:srgbClr val="E6ECE7"/>
          </a:solidFill>
          <a:ln/>
        </p:spPr>
      </p:sp>
      <p:sp>
        <p:nvSpPr>
          <p:cNvPr id="12" name="bullet-hex"/>
          <p:cNvSpPr/>
          <p:nvPr/>
        </p:nvSpPr>
        <p:spPr>
          <a:xfrm>
            <a:off x="676656" y="1538132"/>
            <a:ext cx="384048" cy="332586"/>
          </a:xfrm>
          <a:prstGeom prst="hexagon">
            <a:avLst/>
          </a:prstGeom>
          <a:solidFill>
            <a:srgbClr val="3F6B4A"/>
          </a:solidFill>
          <a:ln/>
        </p:spPr>
      </p:sp>
      <p:sp>
        <p:nvSpPr>
          <p:cNvPr id="13" name="bullet"/>
          <p:cNvSpPr txBox="1"/>
          <p:nvPr/>
        </p:nvSpPr>
        <p:spPr>
          <a:xfrm>
            <a:off x="1143000" y="1389888"/>
            <a:ext cx="10408615" cy="62907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type of farming found in a place depends on its rainfall and temperature.</a:t>
            </a:r>
            <a:endParaRPr lang="en-US" sz="2200" dirty="0"/>
          </a:p>
        </p:txBody>
      </p:sp>
      <p:sp>
        <p:nvSpPr>
          <p:cNvPr id="14" name="bullet-card"/>
          <p:cNvSpPr/>
          <p:nvPr/>
        </p:nvSpPr>
        <p:spPr>
          <a:xfrm>
            <a:off x="548640" y="2165265"/>
            <a:ext cx="11094415" cy="1552617"/>
          </a:xfrm>
          <a:prstGeom prst="roundRect">
            <a:avLst>
              <a:gd name="adj" fmla="val 4712"/>
            </a:avLst>
          </a:prstGeom>
          <a:solidFill>
            <a:srgbClr val="E6ECE7"/>
          </a:solidFill>
          <a:ln/>
        </p:spPr>
      </p:sp>
      <p:sp>
        <p:nvSpPr>
          <p:cNvPr id="15" name="bullet-hex"/>
          <p:cNvSpPr/>
          <p:nvPr/>
        </p:nvSpPr>
        <p:spPr>
          <a:xfrm>
            <a:off x="676656" y="2775281"/>
            <a:ext cx="384048" cy="332586"/>
          </a:xfrm>
          <a:prstGeom prst="hexagon">
            <a:avLst/>
          </a:prstGeom>
          <a:solidFill>
            <a:srgbClr val="B8862B"/>
          </a:solidFill>
          <a:ln/>
        </p:spPr>
      </p:sp>
      <p:sp>
        <p:nvSpPr>
          <p:cNvPr id="16" name="bullet"/>
          <p:cNvSpPr txBox="1"/>
          <p:nvPr/>
        </p:nvSpPr>
        <p:spPr>
          <a:xfrm>
            <a:off x="1143000" y="2165265"/>
            <a:ext cx="10408615" cy="15526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figures show change already under way. Between 2011 and 2015, in thousands of hectares, cereals rose from 3000 to 3100 and woodland from 786 to 961, while oilseeds fell from 742 to 670, potatoes from 142 to 129 and horticultural crops from 175 to 174.</a:t>
            </a:r>
            <a:endParaRPr lang="en-US" sz="2200" dirty="0"/>
          </a:p>
        </p:txBody>
      </p:sp>
      <p:sp>
        <p:nvSpPr>
          <p:cNvPr id="17" name="bullet-card"/>
          <p:cNvSpPr/>
          <p:nvPr/>
        </p:nvSpPr>
        <p:spPr>
          <a:xfrm>
            <a:off x="548640" y="3864187"/>
            <a:ext cx="11094415" cy="1211749"/>
          </a:xfrm>
          <a:prstGeom prst="roundRect">
            <a:avLst>
              <a:gd name="adj" fmla="val 6037"/>
            </a:avLst>
          </a:prstGeom>
          <a:solidFill>
            <a:srgbClr val="E6ECE7"/>
          </a:solidFill>
          <a:ln/>
        </p:spPr>
      </p:sp>
      <p:sp>
        <p:nvSpPr>
          <p:cNvPr id="18" name="bullet-hex"/>
          <p:cNvSpPr/>
          <p:nvPr/>
        </p:nvSpPr>
        <p:spPr>
          <a:xfrm>
            <a:off x="676656" y="4303769"/>
            <a:ext cx="384048" cy="332586"/>
          </a:xfrm>
          <a:prstGeom prst="hexagon">
            <a:avLst/>
          </a:prstGeom>
          <a:solidFill>
            <a:srgbClr val="3F6B4A"/>
          </a:solidFill>
          <a:ln/>
        </p:spPr>
      </p:sp>
      <p:sp>
        <p:nvSpPr>
          <p:cNvPr id="19" name="bullet"/>
          <p:cNvSpPr txBox="1"/>
          <p:nvPr/>
        </p:nvSpPr>
        <p:spPr>
          <a:xfrm>
            <a:off x="1143000" y="3864187"/>
            <a:ext cx="10408615" cy="121174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Changing what is grown helps a country adapt because food keeps coming even as the climate shifts, farmers keep their income, and land that no longer suits one crop is put to a use that fits the new conditions.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Worked example: Changing agricultural systems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239520"/>
          </a:xfrm>
          <a:prstGeom prst="roundRect">
            <a:avLst>
              <a:gd name="adj" fmla="val 7377"/>
            </a:avLst>
          </a:prstGeom>
          <a:solidFill>
            <a:srgbClr val="E2E9E4"/>
          </a:solidFill>
          <a:ln/>
        </p:spPr>
      </p:sp>
      <p:sp>
        <p:nvSpPr>
          <p:cNvPr id="8" name="worked-q"/>
          <p:cNvSpPr txBox="1"/>
          <p:nvPr/>
        </p:nvSpPr>
        <p:spPr>
          <a:xfrm>
            <a:off x="731520" y="1481328"/>
            <a:ext cx="10728655" cy="105664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The UK's mean temperature in 2016 reached 9.2°C, 0.4°C above the 1981 to 2010 average, and its rainfall came to 1272 mm, 110% of that average. What were the long-term average temperature and rainfall?</a:t>
            </a:r>
            <a:endParaRPr lang="en-US" sz="2000" dirty="0"/>
          </a:p>
        </p:txBody>
      </p:sp>
      <p:sp>
        <p:nvSpPr>
          <p:cNvPr id="9" name="step-box"/>
          <p:cNvSpPr/>
          <p:nvPr/>
        </p:nvSpPr>
        <p:spPr>
          <a:xfrm>
            <a:off x="548640" y="2812288"/>
            <a:ext cx="11094415" cy="506882"/>
          </a:xfrm>
          <a:prstGeom prst="roundRect">
            <a:avLst>
              <a:gd name="adj" fmla="val 14432"/>
            </a:avLst>
          </a:prstGeom>
          <a:solidFill>
            <a:srgbClr val="FFFFFF"/>
          </a:solidFill>
          <a:ln w="15875">
            <a:solidFill>
              <a:srgbClr val="95AE9B"/>
            </a:solidFill>
            <a:prstDash val="solid"/>
          </a:ln>
        </p:spPr>
      </p:sp>
      <p:sp>
        <p:nvSpPr>
          <p:cNvPr id="10" name="step-hex"/>
          <p:cNvSpPr/>
          <p:nvPr/>
        </p:nvSpPr>
        <p:spPr>
          <a:xfrm>
            <a:off x="685800" y="2867762"/>
            <a:ext cx="457200" cy="395935"/>
          </a:xfrm>
          <a:prstGeom prst="hexagon">
            <a:avLst/>
          </a:prstGeom>
          <a:solidFill>
            <a:srgbClr val="3F6B4A"/>
          </a:solidFill>
          <a:ln/>
        </p:spPr>
      </p:sp>
      <p:sp>
        <p:nvSpPr>
          <p:cNvPr id="11" name="step-hex-label"/>
          <p:cNvSpPr txBox="1"/>
          <p:nvPr/>
        </p:nvSpPr>
        <p:spPr>
          <a:xfrm>
            <a:off x="685800" y="286776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812288"/>
            <a:ext cx="10180015" cy="50688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Temperature: 2016 was 0.4°C above the average, so the average is 9.2 − 0.4 = 8.8°C.</a:t>
            </a:r>
            <a:endParaRPr lang="en-US" sz="1800" dirty="0"/>
          </a:p>
        </p:txBody>
      </p:sp>
      <p:sp>
        <p:nvSpPr>
          <p:cNvPr id="13" name="step-box"/>
          <p:cNvSpPr/>
          <p:nvPr/>
        </p:nvSpPr>
        <p:spPr>
          <a:xfrm>
            <a:off x="548640" y="3392322"/>
            <a:ext cx="11094415" cy="506882"/>
          </a:xfrm>
          <a:prstGeom prst="roundRect">
            <a:avLst>
              <a:gd name="adj" fmla="val 14432"/>
            </a:avLst>
          </a:prstGeom>
          <a:solidFill>
            <a:srgbClr val="FFFFFF"/>
          </a:solidFill>
          <a:ln w="15875">
            <a:solidFill>
              <a:srgbClr val="95AE9B"/>
            </a:solidFill>
            <a:prstDash val="solid"/>
          </a:ln>
        </p:spPr>
      </p:sp>
      <p:sp>
        <p:nvSpPr>
          <p:cNvPr id="14" name="step-hex"/>
          <p:cNvSpPr/>
          <p:nvPr/>
        </p:nvSpPr>
        <p:spPr>
          <a:xfrm>
            <a:off x="685800" y="3447796"/>
            <a:ext cx="457200" cy="395935"/>
          </a:xfrm>
          <a:prstGeom prst="hexagon">
            <a:avLst/>
          </a:prstGeom>
          <a:solidFill>
            <a:srgbClr val="3F6B4A"/>
          </a:solidFill>
          <a:ln/>
        </p:spPr>
      </p:sp>
      <p:sp>
        <p:nvSpPr>
          <p:cNvPr id="15" name="step-hex-label"/>
          <p:cNvSpPr txBox="1"/>
          <p:nvPr/>
        </p:nvSpPr>
        <p:spPr>
          <a:xfrm>
            <a:off x="685800" y="344779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392322"/>
            <a:ext cx="10180015" cy="50688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Rainfall: 1272 mm is 110% of the average, so the average is 1272 ÷ 1.10, which is about 1156 mm.</a:t>
            </a:r>
            <a:endParaRPr lang="en-US" sz="1800" dirty="0"/>
          </a:p>
        </p:txBody>
      </p:sp>
      <p:sp>
        <p:nvSpPr>
          <p:cNvPr id="17" name="step-box"/>
          <p:cNvSpPr/>
          <p:nvPr/>
        </p:nvSpPr>
        <p:spPr>
          <a:xfrm>
            <a:off x="548640" y="3972357"/>
            <a:ext cx="11094415" cy="506882"/>
          </a:xfrm>
          <a:prstGeom prst="roundRect">
            <a:avLst>
              <a:gd name="adj" fmla="val 14432"/>
            </a:avLst>
          </a:prstGeom>
          <a:solidFill>
            <a:srgbClr val="FFFFFF"/>
          </a:solidFill>
          <a:ln w="15875">
            <a:solidFill>
              <a:srgbClr val="95AE9B"/>
            </a:solidFill>
            <a:prstDash val="solid"/>
          </a:ln>
        </p:spPr>
      </p:sp>
      <p:sp>
        <p:nvSpPr>
          <p:cNvPr id="18" name="step-hex"/>
          <p:cNvSpPr/>
          <p:nvPr/>
        </p:nvSpPr>
        <p:spPr>
          <a:xfrm>
            <a:off x="685800" y="4027830"/>
            <a:ext cx="457200" cy="395935"/>
          </a:xfrm>
          <a:prstGeom prst="hexagon">
            <a:avLst/>
          </a:prstGeom>
          <a:solidFill>
            <a:srgbClr val="3F6B4A"/>
          </a:solidFill>
          <a:ln/>
        </p:spPr>
      </p:sp>
      <p:sp>
        <p:nvSpPr>
          <p:cNvPr id="19" name="step-hex-label"/>
          <p:cNvSpPr txBox="1"/>
          <p:nvPr/>
        </p:nvSpPr>
        <p:spPr>
          <a:xfrm>
            <a:off x="685800" y="402783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972357"/>
            <a:ext cx="10180015" cy="50688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sense: 1156 mm is lower than 1272 mm, as it should be if 2016 was wetter than usual.</a:t>
            </a:r>
            <a:endParaRPr lang="en-US" sz="1800" dirty="0"/>
          </a:p>
        </p:txBody>
      </p:sp>
      <p:sp>
        <p:nvSpPr>
          <p:cNvPr id="21" name="step-box"/>
          <p:cNvSpPr/>
          <p:nvPr/>
        </p:nvSpPr>
        <p:spPr>
          <a:xfrm>
            <a:off x="548640" y="4552391"/>
            <a:ext cx="11094415" cy="771042"/>
          </a:xfrm>
          <a:prstGeom prst="roundRect">
            <a:avLst>
              <a:gd name="adj" fmla="val 9487"/>
            </a:avLst>
          </a:prstGeom>
          <a:solidFill>
            <a:srgbClr val="FFFFFF"/>
          </a:solidFill>
          <a:ln w="15875">
            <a:solidFill>
              <a:srgbClr val="95AE9B"/>
            </a:solidFill>
            <a:prstDash val="solid"/>
          </a:ln>
        </p:spPr>
      </p:sp>
      <p:sp>
        <p:nvSpPr>
          <p:cNvPr id="22" name="step-hex"/>
          <p:cNvSpPr/>
          <p:nvPr/>
        </p:nvSpPr>
        <p:spPr>
          <a:xfrm>
            <a:off x="685800" y="4739945"/>
            <a:ext cx="457200" cy="395935"/>
          </a:xfrm>
          <a:prstGeom prst="hexagon">
            <a:avLst/>
          </a:prstGeom>
          <a:solidFill>
            <a:srgbClr val="3F6B4A"/>
          </a:solidFill>
          <a:ln/>
        </p:spPr>
      </p:sp>
      <p:sp>
        <p:nvSpPr>
          <p:cNvPr id="23" name="step-hex-label"/>
          <p:cNvSpPr txBox="1"/>
          <p:nvPr/>
        </p:nvSpPr>
        <p:spPr>
          <a:xfrm>
            <a:off x="685800" y="4739945"/>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52391"/>
            <a:ext cx="10180015" cy="77104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Use both figures to say what the data suggests: a year that was both warmer and wetter than the long-term normal.</a:t>
            </a:r>
            <a:endParaRPr lang="en-US" sz="1800" dirty="0"/>
          </a:p>
        </p:txBody>
      </p:sp>
      <p:sp>
        <p:nvSpPr>
          <p:cNvPr id="25" name="worked-answer"/>
          <p:cNvSpPr/>
          <p:nvPr/>
        </p:nvSpPr>
        <p:spPr>
          <a:xfrm>
            <a:off x="548640" y="5506314"/>
            <a:ext cx="11094415" cy="552196"/>
          </a:xfrm>
          <a:prstGeom prst="roundRect">
            <a:avLst>
              <a:gd name="adj" fmla="val 2483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Average temperature 8.8°C; average rainfall about 1156 mm.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Managing the water supply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Four ways to manage water: use less, desalinate, store, transfer. One UK example for each strand earns the application marks.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 droughts become more frequent, managing the supply of water matters more.</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UK example is the Thames Gateway Water Treatment Works at Beckton, on the Thames Estuary, built by Thames Water to give London a reliable supply of fresh water in a drought.</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Managing water helps a country adapt because it breaks the link between a dry year and a water shortage: stored, transferred or desalinated water is there when the rain is not.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Reducing the risk from rising sea levels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Give the Maldives figures (2.5 m, 2 m, 3 m wall) and the Thames figures (1953, 1984, 45 minutes, 2 m, 4 m). Numbers turn a description into a case study.</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 the world gets warmer, ice on land melts and the sea rises, by up to 2 m by 2100 on the projection your deck used.</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Maldives is the sharpest example. Its roughly 1000 islands are very low-lying, and many places are only 2.5 m above sea level, so a 2 m rise would flood much of the country.</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the UK, sea levels in the Thames Estuary could rise by up to 2 m by 2100.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Mitigation and adaptation side by side: the nine-mark question</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Globally responsible against locally responsible: mitigation helps everyone a little, adaptation helps the place that does it a lot. That contrast is worth a paragraph.</a:t>
            </a:r>
            <a:endParaRPr lang="en-US" sz="1800" dirty="0"/>
          </a:p>
        </p:txBody>
      </p:sp>
      <p:sp>
        <p:nvSpPr>
          <p:cNvPr id="11" name="bullet-card"/>
          <p:cNvSpPr/>
          <p:nvPr/>
        </p:nvSpPr>
        <p:spPr>
          <a:xfrm>
            <a:off x="548640" y="1389888"/>
            <a:ext cx="11094415" cy="1131147"/>
          </a:xfrm>
          <a:prstGeom prst="roundRect">
            <a:avLst>
              <a:gd name="adj" fmla="val 6467"/>
            </a:avLst>
          </a:prstGeom>
          <a:solidFill>
            <a:srgbClr val="E6ECE7"/>
          </a:solidFill>
          <a:ln/>
        </p:spPr>
      </p:sp>
      <p:sp>
        <p:nvSpPr>
          <p:cNvPr id="12" name="bullet-hex"/>
          <p:cNvSpPr/>
          <p:nvPr/>
        </p:nvSpPr>
        <p:spPr>
          <a:xfrm>
            <a:off x="676656" y="1789169"/>
            <a:ext cx="384048" cy="332586"/>
          </a:xfrm>
          <a:prstGeom prst="hexagon">
            <a:avLst/>
          </a:prstGeom>
          <a:solidFill>
            <a:srgbClr val="3F6B4A"/>
          </a:solidFill>
          <a:ln/>
        </p:spPr>
      </p:sp>
      <p:sp>
        <p:nvSpPr>
          <p:cNvPr id="13" name="bullet"/>
          <p:cNvSpPr txBox="1"/>
          <p:nvPr/>
        </p:nvSpPr>
        <p:spPr>
          <a:xfrm>
            <a:off x="1143000" y="1389888"/>
            <a:ext cx="10408615"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exam question your deck ended with gave you two pictures, a new community woodland in east London and a vineyard in West Sussex, and asked you to use them and your own knowledge to discuss the ways of mitigating and adapting to climate change for nine marks.</a:t>
            </a:r>
            <a:endParaRPr lang="en-US" sz="1800" dirty="0"/>
          </a:p>
        </p:txBody>
      </p:sp>
      <p:sp>
        <p:nvSpPr>
          <p:cNvPr id="14" name="bullet-card"/>
          <p:cNvSpPr/>
          <p:nvPr/>
        </p:nvSpPr>
        <p:spPr>
          <a:xfrm>
            <a:off x="548640" y="2667339"/>
            <a:ext cx="11094415" cy="852255"/>
          </a:xfrm>
          <a:prstGeom prst="roundRect">
            <a:avLst>
              <a:gd name="adj" fmla="val 8583"/>
            </a:avLst>
          </a:prstGeom>
          <a:solidFill>
            <a:srgbClr val="E6ECE7"/>
          </a:solidFill>
          <a:ln/>
        </p:spPr>
      </p:sp>
      <p:sp>
        <p:nvSpPr>
          <p:cNvPr id="15" name="bullet-hex"/>
          <p:cNvSpPr/>
          <p:nvPr/>
        </p:nvSpPr>
        <p:spPr>
          <a:xfrm>
            <a:off x="676656" y="2927173"/>
            <a:ext cx="384048" cy="332586"/>
          </a:xfrm>
          <a:prstGeom prst="hexagon">
            <a:avLst/>
          </a:prstGeom>
          <a:solidFill>
            <a:srgbClr val="B8862B"/>
          </a:solidFill>
          <a:ln/>
        </p:spPr>
      </p:sp>
      <p:sp>
        <p:nvSpPr>
          <p:cNvPr id="16" name="bullet"/>
          <p:cNvSpPr txBox="1"/>
          <p:nvPr/>
        </p:nvSpPr>
        <p:spPr>
          <a:xfrm>
            <a:off x="1143000" y="2667339"/>
            <a:ext cx="10408615"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mark scheme rewarded three things. First, correctly identifying one way to mitigate (planting trees) and one way to adapt (changing the crops grown) from the figures, which is the basic level.</a:t>
            </a:r>
            <a:endParaRPr lang="en-US" sz="1800" dirty="0"/>
          </a:p>
        </p:txBody>
      </p:sp>
      <p:sp>
        <p:nvSpPr>
          <p:cNvPr id="17" name="bullet-card"/>
          <p:cNvSpPr/>
          <p:nvPr/>
        </p:nvSpPr>
        <p:spPr>
          <a:xfrm>
            <a:off x="548640" y="3665897"/>
            <a:ext cx="11094415" cy="1410039"/>
          </a:xfrm>
          <a:prstGeom prst="roundRect">
            <a:avLst>
              <a:gd name="adj" fmla="val 5188"/>
            </a:avLst>
          </a:prstGeom>
          <a:solidFill>
            <a:srgbClr val="E6ECE7"/>
          </a:solidFill>
          <a:ln/>
        </p:spPr>
      </p:sp>
      <p:sp>
        <p:nvSpPr>
          <p:cNvPr id="18" name="bullet-hex"/>
          <p:cNvSpPr/>
          <p:nvPr/>
        </p:nvSpPr>
        <p:spPr>
          <a:xfrm>
            <a:off x="676656" y="4204624"/>
            <a:ext cx="384048" cy="332586"/>
          </a:xfrm>
          <a:prstGeom prst="hexagon">
            <a:avLst/>
          </a:prstGeom>
          <a:solidFill>
            <a:srgbClr val="3F6B4A"/>
          </a:solidFill>
          <a:ln/>
        </p:spPr>
      </p:sp>
      <p:sp>
        <p:nvSpPr>
          <p:cNvPr id="19" name="bullet"/>
          <p:cNvSpPr txBox="1"/>
          <p:nvPr/>
        </p:nvSpPr>
        <p:spPr>
          <a:xfrm>
            <a:off x="1143000" y="3665897"/>
            <a:ext cx="10408615" cy="141003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 build the answer in four parts: what mitigation is, with the woodland and two more examples (renewable energy such as Thanet, international agreements, carbon capture); what adaptation is, with the vineyard and two more (managing water at Beckton, the Thames Barrier); a sentence on how the two differ in who benefits, globally against locally; and a judgement about whether a country needs both.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The task: Three ways to adapt, four UK examples</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way of adapting to climate change to its UK example.</a:t>
            </a:r>
            <a:endParaRPr lang="en-US" sz="2200" dirty="0"/>
          </a:p>
        </p:txBody>
      </p:sp>
      <p:sp>
        <p:nvSpPr>
          <p:cNvPr id="11" name="match-card"/>
          <p:cNvSpPr/>
          <p:nvPr/>
        </p:nvSpPr>
        <p:spPr>
          <a:xfrm>
            <a:off x="777240" y="2468331"/>
            <a:ext cx="3706991" cy="804809"/>
          </a:xfrm>
          <a:prstGeom prst="roundRect">
            <a:avLst>
              <a:gd name="adj" fmla="val 9089"/>
            </a:avLst>
          </a:prstGeom>
          <a:solidFill>
            <a:srgbClr val="E6ECE7"/>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3112631"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Changing agricultural systems</a:t>
            </a:r>
            <a:endParaRPr lang="en-US" sz="2000" dirty="0"/>
          </a:p>
        </p:txBody>
      </p:sp>
      <p:sp>
        <p:nvSpPr>
          <p:cNvPr id="15" name="match-card"/>
          <p:cNvSpPr/>
          <p:nvPr/>
        </p:nvSpPr>
        <p:spPr>
          <a:xfrm>
            <a:off x="4849991" y="2468331"/>
            <a:ext cx="6564464" cy="804809"/>
          </a:xfrm>
          <a:prstGeom prst="roundRect">
            <a:avLst>
              <a:gd name="adj" fmla="val 9089"/>
            </a:avLst>
          </a:prstGeom>
          <a:solidFill>
            <a:srgbClr val="F3EADB"/>
          </a:solidFill>
          <a:ln/>
        </p:spPr>
      </p:sp>
      <p:sp>
        <p:nvSpPr>
          <p:cNvPr id="16" name="match-hex"/>
          <p:cNvSpPr/>
          <p:nvPr/>
        </p:nvSpPr>
        <p:spPr>
          <a:xfrm>
            <a:off x="4923143" y="2704443"/>
            <a:ext cx="384048" cy="332586"/>
          </a:xfrm>
          <a:prstGeom prst="hexagon">
            <a:avLst/>
          </a:prstGeom>
          <a:solidFill>
            <a:srgbClr val="B8862B"/>
          </a:solidFill>
          <a:ln/>
        </p:spPr>
      </p:sp>
      <p:sp>
        <p:nvSpPr>
          <p:cNvPr id="17" name="match-hex-label"/>
          <p:cNvSpPr txBox="1"/>
          <p:nvPr/>
        </p:nvSpPr>
        <p:spPr>
          <a:xfrm>
            <a:off x="4923143"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371199" y="2468331"/>
            <a:ext cx="5970104"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Thames Barrier, completed in 1984 and now being backed by raised defences</a:t>
            </a:r>
            <a:endParaRPr lang="en-US" sz="2000" dirty="0"/>
          </a:p>
        </p:txBody>
      </p:sp>
      <p:sp>
        <p:nvSpPr>
          <p:cNvPr id="19" name="match-card"/>
          <p:cNvSpPr/>
          <p:nvPr/>
        </p:nvSpPr>
        <p:spPr>
          <a:xfrm>
            <a:off x="777240" y="3364581"/>
            <a:ext cx="3706991" cy="804809"/>
          </a:xfrm>
          <a:prstGeom prst="roundRect">
            <a:avLst>
              <a:gd name="adj" fmla="val 9089"/>
            </a:avLst>
          </a:prstGeom>
          <a:solidFill>
            <a:srgbClr val="E6ECE7"/>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3112631"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Managing water supply by desalination</a:t>
            </a:r>
            <a:endParaRPr lang="en-US" sz="2000" dirty="0"/>
          </a:p>
        </p:txBody>
      </p:sp>
      <p:sp>
        <p:nvSpPr>
          <p:cNvPr id="23" name="match-card"/>
          <p:cNvSpPr/>
          <p:nvPr/>
        </p:nvSpPr>
        <p:spPr>
          <a:xfrm>
            <a:off x="4849991" y="3364581"/>
            <a:ext cx="6564464" cy="804809"/>
          </a:xfrm>
          <a:prstGeom prst="roundRect">
            <a:avLst>
              <a:gd name="adj" fmla="val 9089"/>
            </a:avLst>
          </a:prstGeom>
          <a:solidFill>
            <a:srgbClr val="F3EADB"/>
          </a:solidFill>
          <a:ln/>
        </p:spPr>
      </p:sp>
      <p:sp>
        <p:nvSpPr>
          <p:cNvPr id="24" name="match-hex"/>
          <p:cNvSpPr/>
          <p:nvPr/>
        </p:nvSpPr>
        <p:spPr>
          <a:xfrm>
            <a:off x="4923143" y="3600692"/>
            <a:ext cx="384048" cy="332586"/>
          </a:xfrm>
          <a:prstGeom prst="hexagon">
            <a:avLst/>
          </a:prstGeom>
          <a:solidFill>
            <a:srgbClr val="B8862B"/>
          </a:solidFill>
          <a:ln/>
        </p:spPr>
      </p:sp>
      <p:sp>
        <p:nvSpPr>
          <p:cNvPr id="25" name="match-hex-label"/>
          <p:cNvSpPr txBox="1"/>
          <p:nvPr/>
        </p:nvSpPr>
        <p:spPr>
          <a:xfrm>
            <a:off x="4923143"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371199" y="3364581"/>
            <a:ext cx="5970104"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Kielder Water in Northumberland, the UK's largest reservoir</a:t>
            </a:r>
            <a:endParaRPr lang="en-US" sz="2000" dirty="0"/>
          </a:p>
        </p:txBody>
      </p:sp>
      <p:sp>
        <p:nvSpPr>
          <p:cNvPr id="27" name="match-card"/>
          <p:cNvSpPr/>
          <p:nvPr/>
        </p:nvSpPr>
        <p:spPr>
          <a:xfrm>
            <a:off x="777240" y="4260830"/>
            <a:ext cx="3706991" cy="804809"/>
          </a:xfrm>
          <a:prstGeom prst="roundRect">
            <a:avLst>
              <a:gd name="adj" fmla="val 9089"/>
            </a:avLst>
          </a:prstGeom>
          <a:solidFill>
            <a:srgbClr val="E6ECE7"/>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3112631"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Managing water supply by storage</a:t>
            </a:r>
            <a:endParaRPr lang="en-US" sz="2000" dirty="0"/>
          </a:p>
        </p:txBody>
      </p:sp>
      <p:sp>
        <p:nvSpPr>
          <p:cNvPr id="31" name="match-card"/>
          <p:cNvSpPr/>
          <p:nvPr/>
        </p:nvSpPr>
        <p:spPr>
          <a:xfrm>
            <a:off x="4849991" y="4260830"/>
            <a:ext cx="6564464" cy="804809"/>
          </a:xfrm>
          <a:prstGeom prst="roundRect">
            <a:avLst>
              <a:gd name="adj" fmla="val 9089"/>
            </a:avLst>
          </a:prstGeom>
          <a:solidFill>
            <a:srgbClr val="F3EADB"/>
          </a:solidFill>
          <a:ln/>
        </p:spPr>
      </p:sp>
      <p:sp>
        <p:nvSpPr>
          <p:cNvPr id="32" name="match-hex"/>
          <p:cNvSpPr/>
          <p:nvPr/>
        </p:nvSpPr>
        <p:spPr>
          <a:xfrm>
            <a:off x="4923143" y="4496941"/>
            <a:ext cx="384048" cy="332586"/>
          </a:xfrm>
          <a:prstGeom prst="hexagon">
            <a:avLst/>
          </a:prstGeom>
          <a:solidFill>
            <a:srgbClr val="B8862B"/>
          </a:solidFill>
          <a:ln/>
        </p:spPr>
      </p:sp>
      <p:sp>
        <p:nvSpPr>
          <p:cNvPr id="33" name="match-hex-label"/>
          <p:cNvSpPr txBox="1"/>
          <p:nvPr/>
        </p:nvSpPr>
        <p:spPr>
          <a:xfrm>
            <a:off x="4923143"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371199" y="4260830"/>
            <a:ext cx="5970104"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Thames Water plant at Beckton on the Thames Estuary</a:t>
            </a:r>
            <a:endParaRPr lang="en-US" sz="2000" dirty="0"/>
          </a:p>
        </p:txBody>
      </p:sp>
      <p:sp>
        <p:nvSpPr>
          <p:cNvPr id="35" name="match-card"/>
          <p:cNvSpPr/>
          <p:nvPr/>
        </p:nvSpPr>
        <p:spPr>
          <a:xfrm>
            <a:off x="777240" y="5157079"/>
            <a:ext cx="3706991" cy="804809"/>
          </a:xfrm>
          <a:prstGeom prst="roundRect">
            <a:avLst>
              <a:gd name="adj" fmla="val 9089"/>
            </a:avLst>
          </a:prstGeom>
          <a:solidFill>
            <a:srgbClr val="E6ECE7"/>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3112631"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Reducing the risk from rising sea levels</a:t>
            </a:r>
            <a:endParaRPr lang="en-US" sz="2000" dirty="0"/>
          </a:p>
        </p:txBody>
      </p:sp>
      <p:sp>
        <p:nvSpPr>
          <p:cNvPr id="39" name="match-card"/>
          <p:cNvSpPr/>
          <p:nvPr/>
        </p:nvSpPr>
        <p:spPr>
          <a:xfrm>
            <a:off x="4849991" y="5157079"/>
            <a:ext cx="6564464" cy="804809"/>
          </a:xfrm>
          <a:prstGeom prst="roundRect">
            <a:avLst>
              <a:gd name="adj" fmla="val 9089"/>
            </a:avLst>
          </a:prstGeom>
          <a:solidFill>
            <a:srgbClr val="F3EADB"/>
          </a:solidFill>
          <a:ln/>
        </p:spPr>
      </p:sp>
      <p:sp>
        <p:nvSpPr>
          <p:cNvPr id="40" name="match-hex"/>
          <p:cNvSpPr/>
          <p:nvPr/>
        </p:nvSpPr>
        <p:spPr>
          <a:xfrm>
            <a:off x="4923143" y="5393191"/>
            <a:ext cx="384048" cy="332586"/>
          </a:xfrm>
          <a:prstGeom prst="hexagon">
            <a:avLst/>
          </a:prstGeom>
          <a:solidFill>
            <a:srgbClr val="B8862B"/>
          </a:solidFill>
          <a:ln/>
        </p:spPr>
      </p:sp>
      <p:sp>
        <p:nvSpPr>
          <p:cNvPr id="41" name="match-hex-label"/>
          <p:cNvSpPr txBox="1"/>
          <p:nvPr/>
        </p:nvSpPr>
        <p:spPr>
          <a:xfrm>
            <a:off x="4923143"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371199" y="5157079"/>
            <a:ext cx="5970104"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Vines growing at Scaynes Hill in West Sussex</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Three ways to adapt, four UK examples</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way of adapting to climate change to its UK example.</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2E9E4"/>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Farming means crops. Which example is a crop?</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Desalination removes salt, so its example is a treatment works on an estuary where river meets sea.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Storage means a reservoir: a big artificial lake.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Sea level means a barrier against the sea.</a:t>
            </a:r>
            <a:endParaRPr lang="en-US" sz="1800" dirty="0"/>
          </a:p>
        </p:txBody>
      </p:sp>
      <p:sp>
        <p:nvSpPr>
          <p:cNvPr id="17" name="col-Core"/>
          <p:cNvSpPr/>
          <p:nvPr/>
        </p:nvSpPr>
        <p:spPr>
          <a:xfrm>
            <a:off x="5490762" y="2578608"/>
            <a:ext cx="2938987" cy="3566160"/>
          </a:xfrm>
          <a:prstGeom prst="roundRect">
            <a:avLst>
              <a:gd name="adj" fmla="val 1867"/>
            </a:avLst>
          </a:prstGeom>
          <a:solidFill>
            <a:srgbClr val="CBD7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Crop, salt, store, sea: four words, four examples.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For each example, write one sentence saying what effect of climate change it responds to.</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much margin is left?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Many places in the Maldives are only 2.5 m above sea level. If the sea rises by 2 m by 2100, as your deck's projection says, how many metres above the sea would those places be left?</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m</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How much margin is left?</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How much margin is left?</a:t>
            </a:r>
            <a:endParaRPr lang="en-US" sz="2000" dirty="0"/>
          </a:p>
        </p:txBody>
      </p:sp>
      <p:sp>
        <p:nvSpPr>
          <p:cNvPr id="12" name="col-Support"/>
          <p:cNvSpPr/>
          <p:nvPr/>
        </p:nvSpPr>
        <p:spPr>
          <a:xfrm>
            <a:off x="548640" y="2395728"/>
            <a:ext cx="3515258" cy="3749040"/>
          </a:xfrm>
          <a:prstGeom prst="roundRect">
            <a:avLst>
              <a:gd name="adj" fmla="val 1561"/>
            </a:avLst>
          </a:prstGeom>
          <a:solidFill>
            <a:srgbClr val="E2E9E4"/>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3240938"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the height now: 2.5 m above the sea.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the rise: 2 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rising sea reduces the gap, so subtract: 2.5 − 2.</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Answer: 0.5 m, which is half a metre. Say what that means: one storm surge away from flooding.</a:t>
            </a:r>
            <a:endParaRPr lang="en-US" sz="1800" dirty="0"/>
          </a:p>
        </p:txBody>
      </p:sp>
      <p:sp>
        <p:nvSpPr>
          <p:cNvPr id="17" name="col-Core"/>
          <p:cNvSpPr/>
          <p:nvPr/>
        </p:nvSpPr>
        <p:spPr>
          <a:xfrm>
            <a:off x="4338218" y="2395728"/>
            <a:ext cx="3515258" cy="3749040"/>
          </a:xfrm>
          <a:prstGeom prst="roundRect">
            <a:avLst>
              <a:gd name="adj" fmla="val 1561"/>
            </a:avLst>
          </a:prstGeom>
          <a:solidFill>
            <a:srgbClr val="CBD7CE"/>
          </a:solidFill>
          <a:ln/>
        </p:spPr>
      </p:sp>
      <p:sp>
        <p:nvSpPr>
          <p:cNvPr id="18" name="col-hex"/>
          <p:cNvSpPr/>
          <p:nvPr/>
        </p:nvSpPr>
        <p:spPr>
          <a:xfrm>
            <a:off x="4447946"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sea comes up; the land does not. Which way does the gap go?</a:t>
            </a:r>
            <a:endParaRPr lang="en-US" sz="1800" dirty="0"/>
          </a:p>
        </p:txBody>
      </p:sp>
      <p:sp>
        <p:nvSpPr>
          <p:cNvPr id="22" name="col-Stretch"/>
          <p:cNvSpPr/>
          <p:nvPr/>
        </p:nvSpPr>
        <p:spPr>
          <a:xfrm>
            <a:off x="8127797" y="2395728"/>
            <a:ext cx="3515258" cy="3749040"/>
          </a:xfrm>
          <a:prstGeom prst="roundRect">
            <a:avLst>
              <a:gd name="adj" fmla="val 1561"/>
            </a:avLst>
          </a:prstGeom>
          <a:solidFill>
            <a:srgbClr val="3F6B4A"/>
          </a:solidFill>
          <a:ln/>
        </p:spPr>
      </p:sp>
      <p:sp>
        <p:nvSpPr>
          <p:cNvPr id="23" name="col-hex"/>
          <p:cNvSpPr/>
          <p:nvPr/>
        </p:nvSpPr>
        <p:spPr>
          <a:xfrm>
            <a:off x="8237525"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3 m wall around the capital is not a complete answer for a country of about 1000 low-lying islands.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is an example of adaptation to climate change?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Building an offshore wind farm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Growing grapes in West Sussex, which a warmer climate now allows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Capturing carbon dioxide from a power station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Signing the Paris agreement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8EDE9"/>
          </a:solidFill>
          <a:ln w="12700">
            <a:solidFill>
              <a:srgbClr val="95AE9B"/>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Answers: Three ways to adapt, four UK examples</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Changing agricultural systems  →  D  Vines growing at Scaynes Hill in West Sussex</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Managing water supply by desalination  →  C  The Thames Water plant at Beckton on the Thames Estuary</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Managing water supply by storage  →  B  Kielder Water in Northumberland, the UK's largest reservoir</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Reducing the risk from rising sea levels  →  A  The Thames Barrier, completed in 1984 and now being backed by raised defences</a:t>
            </a:r>
            <a:endParaRPr lang="en-US" sz="20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Vines at Scaynes Hill show farming changing with a warmer climate; Beckton desalinates estuary water for drought; Kielder Water stores it; the Thames Barrier holds back a rising sea. All four respond to the effects of climate change rather than reducing its causes.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much margin is left?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Many places in the Maldives are only 2.5 m above sea level. If the sea rises by 2 m by 2100, as your deck's projection says, how many metres above the sea would those places be left?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0.5 m</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2.5 − 2 = 0.5 m. Half a metre of margin would be wiped out by a storm surge or a high tide, which is why the Maldives is building sea walls and reclaiming land now.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an example of adaptation to climate change?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Growing grapes in West Sussex, which a warmer climate now allows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Changing the crops grown to suit a warmer climate is adaptation: responding to the change. The other three reduce the causes, so they are mitigation.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2E9E4"/>
      </a:lt2>
      <a:accent1>
        <a:srgbClr val="3F6B4A"/>
      </a:accent1>
      <a:accent2>
        <a:srgbClr val="B8862B"/>
      </a:accent2>
      <a:accent3>
        <a:srgbClr val="8CA692"/>
      </a:accent3>
      <a:accent4>
        <a:srgbClr val="815E1E"/>
      </a:accent4>
      <a:accent5>
        <a:srgbClr val="4A505C"/>
      </a:accent5>
      <a:accent6>
        <a:srgbClr val="D8BC8A"/>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Climate Change: Evidence, Causes, Effects and Management · Chapter 6: Adapting to climate change: farming, water and the rising sea</dc:title>
  <dc:subject>Geography · Year 11</dc:subject>
  <dc:creator>Dr Vitor Merissi de Carvalho</dc:creator>
  <cp:lastModifiedBy>Dr Vitor Merissi de Carvalho</cp:lastModifiedBy>
  <cp:revision>1</cp:revision>
  <dcterms:created xsi:type="dcterms:W3CDTF">2026-10-19T16:22:47Z</dcterms:created>
  <dcterms:modified xsi:type="dcterms:W3CDTF">2026-10-19T16:22:47Z</dcterms:modified>
</cp:coreProperties>
</file>