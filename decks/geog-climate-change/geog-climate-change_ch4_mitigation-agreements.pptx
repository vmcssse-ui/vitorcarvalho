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a2ad87-968c-fe16-1420-dae29a1f745d}">
          <p14:sldIdLst>
            <p14:sldId id="256"/>
          </p14:sldIdLst>
        </p14:section>
        <p14:section name="Gate" id="{b58b9bdf-0e7a-541e-d38f-1d20b6a9560a}">
          <p14:sldIdLst>
            <p14:sldId id="257"/>
            <p14:sldId id="258"/>
          </p14:sldIdLst>
        </p14:section>
        <p14:section name="Pre-teach" id="{a109b655-b307-f9b3-4ce7-a1a1d4eba7da}">
          <p14:sldIdLst>
            <p14:sldId id="259"/>
            <p14:sldId id="260"/>
          </p14:sldIdLst>
        </p14:section>
        <p14:section name="Read-along" id="{e8ef003c-c95e-e29c-af14-878a5857d4af}">
          <p14:sldIdLst>
            <p14:sldId id="261"/>
            <p14:sldId id="262"/>
          </p14:sldIdLst>
        </p14:section>
        <p14:section name="Teach" id="{042ca52b-5887-72cb-8aa5-e42a56443a1d}">
          <p14:sldIdLst>
            <p14:sldId id="263"/>
            <p14:sldId id="264"/>
            <p14:sldId id="265"/>
            <p14:sldId id="266"/>
            <p14:sldId id="267"/>
            <p14:sldId id="268"/>
            <p14:sldId id="269"/>
            <p14:sldId id="270"/>
          </p14:sldIdLst>
        </p14:section>
        <p14:section name="Routes" id="{33d62c46-d6e7-fc0c-c36d-08096a604316}">
          <p14:sldIdLst>
            <p14:sldId id="271"/>
            <p14:sldId id="272"/>
            <p14:sldId id="273"/>
            <p14:sldId id="274"/>
          </p14:sldIdLst>
        </p14:section>
        <p14:section name="Close" id="{7a0015d0-3acb-f605-3a4f-c5b58b186359}">
          <p14:sldIdLst>
            <p14:sldId id="275"/>
          </p14:sldIdLst>
        </p14:section>
        <p14:section name="Answers" id="{ca88f6bb-06e9-e5ae-9322-aa9299fcf94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Managing climate change: mitigation and international agreements. The two ways of managing climate change, why the atmosphere is a global common that no country can protect alone, and the three agreements, Kyoto, Copenhagen and Paris, that tried to get the world to act together.
This deck covers the department's lesson: 3 (Managing climate change: mitigation and international agreements: What is the difference between mitigation and adaptation, and how do international agreements help to slow the causes of climate change?).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mitigation mean, when we talk about managing climate change?  →  C   Reducing the causes of climate change, such as cutting carbon emissions
2. In which year did 194 countries, including the UK, sign the United Nations Paris agreement to keep the rise in global temperatures below 2.0°C?  →  2015
3. The atmosphere is a global ___, which means it is shared by all countries.  →  common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Reducing the causes of climate change, such as cutting carbon emissions. Mitigation is action that reduces the causes of climate change. Responding to the effects is adaptation.
2. 2015. The Paris agreement was signed in 2015 by 194 countries, after Kyoto in 1997 and Copenhagen in 2009.
3. common. A global common is something shared by everyone and owned by no one. Because the atmosphere is one, emissions anywhere affect the whole planet.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mitigation: actions that reduce the causes of climate change. Example: "Building wind farms instead of coal power stations is mitigation."
• adaptation: actions that respond to climate change and its effects. Example: "Building a higher sea wall is adaptation."
• carbon emissions: the carbon dioxide released into the air by burning fuels. Example: "Countries agreed to cut their carbon emissions."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global common: something shared by every country, such as the atmosphere. Example: "Because the atmosphere is a global common, one country's pollution affects all."
• international agreement: a deal between many countries to act together. Example: "The Paris agreement is an international agreement on climate change."
• climate finance: money from richer countries to help poorer ones deal with climate change. Example: "Climate finance pays for solar power and flood defences in poorer nations."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There are two ways to manage climate change.
2. Mitigation means reducing the causes, such as cutting carbon emissions.
3. Adaptation means responding to the change, such as building higher sea walls.
4. This chapter is about mitigation.
5. The atmosphere is shared by every country on Earth.
6. Carbon dioxide released in one place warms the whole planet.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So no country can fix the problem on its own.
8. Countries have to agree to act together.
9. In 1997, at Kyoto, 162 countries agreed to cut their carbon emissions.
10. In 2009, at Copenhagen, 183 countries agreed to try to limit warming to 2 degrees.
11. In 2015, in Paris, 194 countries agreed to keep the rise below 2 degrees and to help poorer nations.
12. Each agreement went further than the one before.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Mitigation and adaptation. Say it in your own words, then check understanding with a quick question: ask a pupil from the pre-teach group first, since they met these words and ideas before the lesson. Pupils try to recall before you re-explain.
Managing climate change involves two very different kinds of action, and the exam will expect you to tell them apart every time. Mitigation is anything that reduces the causes of climate change: cutting carbon emissions by using renewable energy, capturing carbon, planting trees, and agreeing with other countries to do the same. Your deck calls this the globally responsible approach, because the whole world benefits from every tonne of carbon that is not released.
Adaptation is anything that responds to climate change that is already happening or already certain: changing what farmers grow, managing water supplies for a drier future, and reducing the risk from rising sea levels. Your deck calls this the locally responsible approach, because the benefit is felt in the place that adapts. Chapter 6 is about adaptation; this chapter and the next are about mitigation.
Why do we need both? Mitigation works slowly, because the carbon dioxide already in the atmosphere will keep warming the planet for decades. Adaptation protects people now, but it does nothing to stop the problem growing. A country that only adapts will have to adapt again and again; a country that only mitigates will suffer the effects that are already on their way.
Tip: Mitigation attacks the cause; adaptation copes with the effect. If you can swap in the word prevent, it is mitigation; if you can swap in cope, it is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atmosphere as a global common. Say it in your own words, then check understanding with a quick question: ask a pupil from the pre-teach group first, since they met these words and ideas before the lesson. Pupils try to recall before you re-explain.
The atmosphere is a global common: it is shared by all countries, and nobody owns it. Carbon dioxide released by a power station in one country does not stay above that country. It mixes through the whole atmosphere and warms the whole planet. Every country is already feeling the effects, from more extreme weather to rising sea levels, and every country's emissions add to them.
That creates a problem. If one country cuts its emissions at great cost while its neighbours carry on, it pays the price and shares the benefit with everyone else. So countries have little reason to act alone and every reason to act together. The main cause of climate change is burning fossil fuels, and fossil fuels are burned everywhere, so cutting carbon emissions only works if countries agree to do it at the same time. That is why international agreements exist.
There is a fairness question too. Richer countries built their wealth by burning fossil fuels for two centuries; poorer countries are now being asked not to. The agreements you will meet in the next section try to deal with this by asking richer countries to help poorer ones with money and technology, which is what the Paris agreement calls climate finance.
Worked example — model it step by step, thinking aloud: Explain why it is important for all countries, not just a few, to agree to reduce their carbon emissions. (4 marks) (1) Point 1: the atmosphere is a global common, shared by every country, so emissions from one place warm the whole planet. (2) Point 2: if only some countries cut emissions, the others carry on and the total barely falls, and the countries that acted have paid for nothing. (3) Develop each point with an example or consequence: the effects (extreme weather, rising seas) fall on everyone, including the countries that cut. (4) Two points, each developed, earns the four marks. The Kyoto Protocol first bound countries to cut emissions in 1997; by the Paris agreement in 2015, 18 years later, 194 countries had signed up. Answer: 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
Tip: The phrase global common is worth a mark on its own. Then show the consequence: shared air means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atmosphere as a global common. Say it in your own words, then check understanding with a quick question: ask a pupil from the pre-teach group first, since they met these words and ideas before the lesson. Pupils try to recall before you re-explain.
The atmosphere is a global common: it is shared by all countries, and nobody owns it. Carbon dioxide released by a power station in one country does not stay above that country. It mixes through the whole atmosphere and warms the whole planet. Every country is already feeling the effects, from more extreme weather to rising sea levels, and every country's emissions add to them.
That creates a problem. If one country cuts its emissions at great cost while its neighbours carry on, it pays the price and shares the benefit with everyone else. So countries have little reason to act alone and every reason to act together. The main cause of climate change is burning fossil fuels, and fossil fuels are burned everywhere, so cutting carbon emissions only works if countries agree to do it at the same time. That is why international agreements exist.
There is a fairness question too. Richer countries built their wealth by burning fossil fuels for two centuries; poorer countries are now being asked not to. The agreements you will meet in the next section try to deal with this by asking richer countries to help poorer ones with money and technology, which is what the Paris agreement calls climate finance.
Worked example — model it step by step, thinking aloud: Explain why it is important for all countries, not just a few, to agree to reduce their carbon emissions. (4 marks) (1) Point 1: the atmosphere is a global common, shared by every country, so emissions from one place warm the whole planet. (2) Point 2: if only some countries cut emissions, the others carry on and the total barely falls, and the countries that acted have paid for nothing. (3) Develop each point with an example or consequence: the effects (extreme weather, rising seas) fall on everyone, including the countries that cut. (4) Two points, each developed, earns the four marks. The Kyoto Protocol first bound countries to cut emissions in 1997; by the Paris agreement in 2015, 18 years later, 194 countries had signed up. Answer: 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
Tip: The phrase global common is worth a mark on its own. Then show the consequence: shared air means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atmosphere as a global common. Say it in your own words, then check understanding with a quick question: ask a pupil from the pre-teach group first, since they met these words and ideas before the lesson. Pupils try to recall before you re-explain.
The atmosphere is a global common: it is shared by all countries, and nobody owns it. Carbon dioxide released by a power station in one country does not stay above that country. It mixes through the whole atmosphere and warms the whole planet. Every country is already feeling the effects, from more extreme weather to rising sea levels, and every country's emissions add to them.
That creates a problem. If one country cuts its emissions at great cost while its neighbours carry on, it pays the price and shares the benefit with everyone else. So countries have little reason to act alone and every reason to act together. The main cause of climate change is burning fossil fuels, and fossil fuels are burned everywhere, so cutting carbon emissions only works if countries agree to do it at the same time. That is why international agreements exist.
There is a fairness question too. Richer countries built their wealth by burning fossil fuels for two centuries; poorer countries are now being asked not to. The agreements you will meet in the next section try to deal with this by asking richer countries to help poorer ones with money and technology, which is what the Paris agreement calls climate finance.
Worked example — model it step by step, thinking aloud: Explain why it is important for all countries, not just a few, to agree to reduce their carbon emissions. (4 marks) (1) Point 1: the atmosphere is a global common, shared by every country, so emissions from one place warm the whole planet. (2) Point 2: if only some countries cut emissions, the others carry on and the total barely falls, and the countries that acted have paid for nothing. (3) Develop each point with an example or consequence: the effects (extreme weather, rising seas) fall on everyone, including the countries that cut. (4) Two points, each developed, earns the four marks. The Kyoto Protocol first bound countries to cut emissions in 1997; by the Paris agreement in 2015, 18 years later, 194 countries had signed up. Answer: 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
Tip: The phrase global common is worth a mark on its own. Then show the consequence: shared air means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atmosphere as a global common. Say it in your own words, then check understanding with a quick question: ask a pupil from the pre-teach group first, since they met these words and ideas before the lesson. Pupils try to recall before you re-explain.
The atmosphere is a global common: it is shared by all countries, and nobody owns it. Carbon dioxide released by a power station in one country does not stay above that country. It mixes through the whole atmosphere and warms the whole planet. Every country is already feeling the effects, from more extreme weather to rising sea levels, and every country's emissions add to them.
That creates a problem. If one country cuts its emissions at great cost while its neighbours carry on, it pays the price and shares the benefit with everyone else. So countries have little reason to act alone and every reason to act together. The main cause of climate change is burning fossil fuels, and fossil fuels are burned everywhere, so cutting carbon emissions only works if countries agree to do it at the same time. That is why international agreements exist.
There is a fairness question too. Richer countries built their wealth by burning fossil fuels for two centuries; poorer countries are now being asked not to. The agreements you will meet in the next section try to deal with this by asking richer countries to help poorer ones with money and technology, which is what the Paris agreement calls climate finance.
Worked example — model it step by step, thinking aloud: Explain why it is important for all countries, not just a few, to agree to reduce their carbon emissions. (4 marks) (1) Point 1: the atmosphere is a global common, shared by every country, so emissions from one place warm the whole planet. (2) Point 2: if only some countries cut emissions, the others carry on and the total barely falls, and the countries that acted have paid for nothing. (3) Develop each point with an example or consequence: the effects (extreme weather, rising seas) fall on everyone, including the countries that cut. (4) Two points, each developed, earns the four marks. The Kyoto Protocol first bound countries to cut emissions in 1997; by the Paris agreement in 2015, 18 years later, 194 countries had signed up. Answer: 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
Tip: The phrase global common is worth a mark on its own. Then show the consequence: shared air means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atmosphere as a global common. Say it in your own words, then check understanding with a quick question: ask a pupil from the pre-teach group first, since they met these words and ideas before the lesson. Pupils try to recall before you re-explain.
The atmosphere is a global common: it is shared by all countries, and nobody owns it. Carbon dioxide released by a power station in one country does not stay above that country. It mixes through the whole atmosphere and warms the whole planet. Every country is already feeling the effects, from more extreme weather to rising sea levels, and every country's emissions add to them.
That creates a problem. If one country cuts its emissions at great cost while its neighbours carry on, it pays the price and shares the benefit with everyone else. So countries have little reason to act alone and every reason to act together. The main cause of climate change is burning fossil fuels, and fossil fuels are burned everywhere, so cutting carbon emissions only works if countries agree to do it at the same time. That is why international agreements exist.
There is a fairness question too. Richer countries built their wealth by burning fossil fuels for two centuries; poorer countries are now being asked not to. The agreements you will meet in the next section try to deal with this by asking richer countries to help poorer ones with money and technology, which is what the Paris agreement calls climate finance.
Worked example — model it step by step, thinking aloud: Explain why it is important for all countries, not just a few, to agree to reduce their carbon emissions. (4 marks) (1) Point 1: the atmosphere is a global common, shared by every country, so emissions from one place warm the whole planet. (2) Point 2: if only some countries cut emissions, the others carry on and the total barely falls, and the countries that acted have paid for nothing. (3) Develop each point with an example or consequence: the effects (extreme weather, rising seas) fall on everyone, including the countries that cut. (4) Two points, each developed, earns the four marks. The Kyoto Protocol first bound countries to cut emissions in 1997; by the Paris agreement in 2015, 18 years later, 194 countries had signed up. Answer: 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
Tip: The phrase global common is worth a mark on its own. Then show the consequence: shared air means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Kyoto, Copenhagen and Paris. Say it in your own words, then check understanding with a quick question: ask a pupil from the pre-teach group first, since they met these words and ideas before the lesson. Pupils try to recall before you re-explain.
The Kyoto Protocol, 1997. At Kyoto in Japan, 162 countries including the UK agreed to cut their carbon emissions. The target was to bring emissions down by an average of 5.2% below 1990 levels by 2012. It was the first agreement with binding targets, but not every major emitter took part, and the target was small.
The Copenhagen agreement, 2009. At Copenhagen in Denmark, 183 countries, the UK among them, promised to bring their carbon emissions down so that global temperature would climb no more than 2°C, to help developing nations cope with the impacts of climate change, and to explore carbon markets and carbon trading, in which permission to emit can be bought and sold so that cuts are made where they are cheapest.
The Paris agreement, 2015. At the United Nations conference in Paris, 194 countries, the UK among them, promised to hold the warming of the planet to below 2.0°C; to limit the greenhouse gases emitted by human activity to the levels that trees, soil and oceans can absorb naturally; and for richer countries to help poorer nations with climate finance, so they can adapt to climate change and switch to renewable energy. The stretch task in your deck asked you to add COP 26, the conference held in 2021, to your notes: its location, its date, why it was needed and what was agreed.
Tip: Three agreements, three dates, three country counts: Kyoto 1997 and 162; Copenhagen 2009 and 183; Paris 2015 and 194. The numbers rise each time, which is itself a point you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agreements work? Writing the discuss answer. Say it in your own words, then check understanding with a quick question: ask a pupil from the pre-teach group first, since they met these words and ideas before the lesson. Pupils try to recall before you re-explain.
A discuss question wants both sides and a judgement. On the plus side, agreements set shared targets, so no country is acting alone; they bring in money for poorer nations through climate finance; they create carbon markets that make cuts cheaper; and each agreement has been bigger than the last, from 162 countries at Kyoto to 194 in Paris. The Paris target of staying below 2.0°C gives every country the same goal to plan towards.
On the minus side, targets are only promises. Kyoto's 5.2% cut was small, and the countries that did not take part carried on emitting. Agreements take years to negotiate, and the atmosphere keeps warming while they are argued over. Poorer countries say the burden should fall on the richer ones that caused most of the problem, and richer countries worry about the cost to their industries. Measuring whether a country has kept its promise is hard.
So can agreements slow down the causes of climate change? A fair judgement is that they are necessary but not sufficient: without them no country has a reason to act, but on their own they change nothing unless countries actually switch to renewable energy, capture carbon and plant trees, which is the subject of the next chapter.
Tip: For nine marks, structure as for, against, judgement, with a named agreement and a figure in each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agreements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international agreements on climate change in the order they were made, earliest first.
Support — work through the steps with the group: (1) Recall the three dates: 1997, 2009, 2015. Then COP 26 is 2021. (2) Match each date to a place: Kyoto first, then Copenhagen, then Paris. (3) Check with the country counts: 162, then 183, then 194. The numbers go up over time. (4) COP 26 is the most recent, so it goes last.
Parallel worked example for Support (model it, do not give the task answer): Put these in date order: the Thames Barrier is completed (1984); the 1953 floods; a new barrage would be built if seas rise by 4 m (future). The floods came first and caused the barrier to be built.; The future plan goes last.. Answer: The 1953 floods; the Thames Barrier completed in 1984; a future barrage if seas rise by 4 m..
Core — reveal the hint only on request: The country counts rise with each agreement: 162, 183, 194. Which is which?
Stretch — no help; when finished: Explain one way the Paris agreement went further than Kyoto, and one problem that all three agreements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agreements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international agreements on climate change in the order they were made, earliest first.
Support — work through the steps with the group: (1) Recall the three dates: 1997, 2009, 2015. Then COP 26 is 2021. (2) Match each date to a place: Kyoto first, then Copenhagen, then Paris. (3) Check with the country counts: 162, then 183, then 194. The numbers go up over time. (4) COP 26 is the most recent, so it goes last.
Parallel worked example for Support (model it, do not give the task answer): Put these in date order: the Thames Barrier is completed (1984); the 1953 floods; a new barrage would be built if seas rise by 4 m (future). The floods came first and caused the barrier to be built.; The future plan goes last.. Answer: The 1953 floods; the Thames Barrier completed in 1984; a future barrage if seas rise by 4 m..
Core — reveal the hint only on request: The country counts rise with each agreement: 162, 183, 194. Which is which?
Stretch — no help; when finished: Explain one way the Paris agreement went further than Kyoto, and one problem that all three agreements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more countries?.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Paris agreement was signed by 194 countries and the Kyoto Protocol by 162. How many more countries signed in Paris than at Kyoto?
Support — work through the steps with the group: (1) Write the two figures down: Paris 194, Kyoto 162. (2) How many more means the difference, so subtract the smaller from the larger. (3) 194 − 162: count up from 162 to 194. 162 to 192 is 30, then 2 more. (4) State the answer with its unit: 32 countries.
Parallel worked example for Support (model it, do not give the task answer): The Copenhagen agreement was signed by 183 countries and the Kyoto Protocol by 162. How many more signed at Copenhagen? The difference is 183 − 162.; 162 to 182 is 20, then 1 more.. Answer: 21 countries.
Core — reveal the hint only on request: How many more is a subtraction. Which figure is the larger one?
Stretch — no help; when finished: Suggest two reasons why more countries were willing to sign in 2015 than in 1997.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many more countries?.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Paris agreement was signed by 194 countries and the Kyoto Protocol by 162. How many more countries signed in Paris than at Kyoto?
Support — work through the steps with the group: (1) Write the two figures down: Paris 194, Kyoto 162. (2) How many more means the difference, so subtract the smaller from the larger. (3) 194 − 162: count up from 162 to 194. 162 to 192 is 30, then 2 more. (4) State the answer with its unit: 32 countries.
Parallel worked example for Support (model it, do not give the task answer): The Copenhagen agreement was signed by 183 countries and the Kyoto Protocol by 162. How many more signed at Copenhagen? The difference is 183 − 162.; 162 to 182 is 20, then 1 more.. Answer: 21 countries.
Core — reveal the hint only on request: How many more is a subtraction. Which figure is the larger one?
Stretch — no help; when finished: Suggest two reasons why more countries were willing to sign in 2015 than in 1997.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mitigation mean, when we talk about managing climate change?
Answer: B   Reducing the causes of climate change, such as cutting carbon emissions. Mitigation is action that reduces the causes of climate change. Responding to the effects is adaptation.
Source of this question: gate item 1 re-asked (options rotated) — this chapter has no third quick-check module.
The ebook also holds task 3, "Can agreements slow climate change?",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agreements in order. Reveal the answer; pupils mark their own work in a different colour, then read the "why" together. Same destination for every lane, so one answer serves the whole class.
Answer: The Kyoto Protocol: 162 countries agree to cut their carbon emissions  (B); The Copenhagen agreement: 183 countries agree to aim to limit warming to 2°C and to explore carbon trading  (A); The Paris agreement: 194 countries agree to keep warming below 2.0°C and to provide climate finance  (C); COP 26: the conference your deck asked you to research and add to your notes  (D)
Why: Kyoto came first in 1997 with 162 countries; Copenhagen followed in 2009 with 183; Paris in 2015 brought 194 countries; COP 26 in 2021 is the most recent.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many more countries?. Reveal the answer; pupils mark their own work in a different colour, then read the "why" together. Same destination for every lane, so one answer serves the whole class.
Answer: 32 countries
Why: 194 − 162 = 32. Each agreement has been signed by more countries than the one before, which matters because the atmosphere is a global common and cuts only add up when most countries make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Reducing the causes of climate change, such as cutting carbon emissions
Why: Mitigation is action that reduces the causes of climate change. Responding to the effects is adaptation.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220522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Managing climate change: mitigation and international agreements</a:t>
            </a:r>
            <a:endParaRPr lang="en-US" sz="2800" dirty="0"/>
          </a:p>
        </p:txBody>
      </p:sp>
      <p:sp>
        <p:nvSpPr>
          <p:cNvPr id="11" name="lessons-card"/>
          <p:cNvSpPr/>
          <p:nvPr/>
        </p:nvSpPr>
        <p:spPr>
          <a:xfrm>
            <a:off x="548640" y="3947668"/>
            <a:ext cx="5287975" cy="1290320"/>
          </a:xfrm>
          <a:prstGeom prst="roundRect">
            <a:avLst>
              <a:gd name="adj" fmla="val 5669"/>
            </a:avLst>
          </a:prstGeom>
          <a:solidFill>
            <a:srgbClr val="E2E9E4"/>
          </a:solidFill>
          <a:ln/>
        </p:spPr>
      </p:sp>
      <p:sp>
        <p:nvSpPr>
          <p:cNvPr id="12" name="lessons"/>
          <p:cNvSpPr txBox="1"/>
          <p:nvPr/>
        </p:nvSpPr>
        <p:spPr>
          <a:xfrm>
            <a:off x="685800" y="40391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Managing climate change: mitigation and international agreements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does mitigation mean, when we talk about managing climate change?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Measuring how much the climate has changed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Moving people away from flooded coasts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Reducing the causes of climate change, such as cutting carbon emissions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Responding to the effects of climate change, such as building higher sea walls</a:t>
            </a:r>
            <a:endParaRPr lang="en-US" sz="2000" dirty="0"/>
          </a:p>
        </p:txBody>
      </p:sp>
      <p:sp>
        <p:nvSpPr>
          <p:cNvPr id="12" name="card"/>
          <p:cNvSpPr/>
          <p:nvPr/>
        </p:nvSpPr>
        <p:spPr>
          <a:xfrm>
            <a:off x="6095848" y="1389888"/>
            <a:ext cx="2636444" cy="4754880"/>
          </a:xfrm>
          <a:prstGeom prst="roundRect">
            <a:avLst>
              <a:gd name="adj" fmla="val 2081"/>
            </a:avLst>
          </a:prstGeom>
          <a:solidFill>
            <a:srgbClr val="E8EDE9"/>
          </a:solidFill>
          <a:ln w="12700">
            <a:solidFill>
              <a:srgbClr val="B2C4B7"/>
            </a:solidFill>
            <a:prstDash val="solid"/>
          </a:ln>
        </p:spPr>
      </p:sp>
      <p:sp>
        <p:nvSpPr>
          <p:cNvPr id="13" name="card-hex"/>
          <p:cNvSpPr/>
          <p:nvPr/>
        </p:nvSpPr>
        <p:spPr>
          <a:xfrm>
            <a:off x="6278728" y="1572768"/>
            <a:ext cx="640080" cy="554309"/>
          </a:xfrm>
          <a:prstGeom prst="hexagon">
            <a:avLst/>
          </a:prstGeom>
          <a:solidFill>
            <a:srgbClr val="3F6B4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In which year did 194 countries, including the UK, sign the United Nations Paris agreement to keep the rise in global temperatures below 2.0°C?</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a:t>
            </a:r>
            <a:endParaRPr lang="en-US" sz="2000" dirty="0"/>
          </a:p>
        </p:txBody>
      </p:sp>
      <p:sp>
        <p:nvSpPr>
          <p:cNvPr id="17" name="card"/>
          <p:cNvSpPr/>
          <p:nvPr/>
        </p:nvSpPr>
        <p:spPr>
          <a:xfrm>
            <a:off x="9006611" y="1389888"/>
            <a:ext cx="2636444" cy="4754880"/>
          </a:xfrm>
          <a:prstGeom prst="roundRect">
            <a:avLst>
              <a:gd name="adj" fmla="val 2081"/>
            </a:avLst>
          </a:prstGeom>
          <a:solidFill>
            <a:srgbClr val="E8EDE9"/>
          </a:solidFill>
          <a:ln w="12700">
            <a:solidFill>
              <a:srgbClr val="B2C4B7"/>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atmosphere is a global ___, which means it is shared by all countries.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common  ·  market  ·  border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Reducing the causes of climate change, such as cutting carbon emissions</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mitigation mean, when we talk about managing climate change?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Mitigation is action that reduces the causes of climate change. Responding to the effects is adaptation.</a:t>
            </a:r>
            <a:endParaRPr lang="en-US" sz="2200" dirty="0"/>
          </a:p>
        </p:txBody>
      </p:sp>
      <p:sp>
        <p:nvSpPr>
          <p:cNvPr id="14" name="card"/>
          <p:cNvSpPr/>
          <p:nvPr/>
        </p:nvSpPr>
        <p:spPr>
          <a:xfrm>
            <a:off x="6095848" y="1389888"/>
            <a:ext cx="2636444" cy="4754880"/>
          </a:xfrm>
          <a:prstGeom prst="roundRect">
            <a:avLst>
              <a:gd name="adj" fmla="val 2081"/>
            </a:avLst>
          </a:prstGeom>
          <a:solidFill>
            <a:srgbClr val="E8EDE9"/>
          </a:solidFill>
          <a:ln w="12700">
            <a:solidFill>
              <a:srgbClr val="B2C4B7"/>
            </a:solidFill>
            <a:prstDash val="solid"/>
          </a:ln>
        </p:spPr>
      </p:sp>
      <p:sp>
        <p:nvSpPr>
          <p:cNvPr id="15" name="card-hex"/>
          <p:cNvSpPr/>
          <p:nvPr/>
        </p:nvSpPr>
        <p:spPr>
          <a:xfrm>
            <a:off x="6278728" y="1572768"/>
            <a:ext cx="640080" cy="554309"/>
          </a:xfrm>
          <a:prstGeom prst="hexagon">
            <a:avLst/>
          </a:prstGeom>
          <a:solidFill>
            <a:srgbClr val="3F6B4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2015</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Paris agreement was signed in 2015 by 194 countries, after Kyoto in 1997 and Copenhagen in 2009.</a:t>
            </a:r>
            <a:endParaRPr lang="en-US" sz="1800" dirty="0"/>
          </a:p>
        </p:txBody>
      </p:sp>
      <p:sp>
        <p:nvSpPr>
          <p:cNvPr id="21" name="card"/>
          <p:cNvSpPr/>
          <p:nvPr/>
        </p:nvSpPr>
        <p:spPr>
          <a:xfrm>
            <a:off x="9006611" y="1389888"/>
            <a:ext cx="2636444" cy="4754880"/>
          </a:xfrm>
          <a:prstGeom prst="roundRect">
            <a:avLst>
              <a:gd name="adj" fmla="val 2081"/>
            </a:avLst>
          </a:prstGeom>
          <a:solidFill>
            <a:srgbClr val="E8EDE9"/>
          </a:solidFill>
          <a:ln w="12700">
            <a:solidFill>
              <a:srgbClr val="B2C4B7"/>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common</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global common is something shared by everyone and owned by no one. Because the atmosphere is one, emissions anywhere affect the whole planet.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mitigation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actions that reduce the causes of climate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Building wind farms instead of coal power stations is mitigation.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adaptation</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actions that respond to climate change and its effects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Building a higher sea wall is adaptation.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carbon emissions</a:t>
            </a:r>
            <a:endParaRPr lang="en-US" sz="2600" dirty="0"/>
          </a:p>
        </p:txBody>
      </p:sp>
      <p:sp>
        <p:nvSpPr>
          <p:cNvPr id="23" name="word-rule"/>
          <p:cNvSpPr/>
          <p:nvPr/>
        </p:nvSpPr>
        <p:spPr>
          <a:xfrm>
            <a:off x="8310677" y="2558288"/>
            <a:ext cx="3149498" cy="0"/>
          </a:xfrm>
          <a:prstGeom prst="line">
            <a:avLst/>
          </a:prstGeom>
          <a:ln w="12700">
            <a:solidFill>
              <a:srgbClr val="A9BCAE"/>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carbon dioxide released into the air by burning fuels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Countries agreed to cut their carbon emissions.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global common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shared by every country, such as the atmosphere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Because the atmosphere is a global common, one country's pollution affects all.</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international agreement</a:t>
            </a:r>
            <a:endParaRPr lang="en-US" sz="2600" dirty="0"/>
          </a:p>
        </p:txBody>
      </p:sp>
      <p:sp>
        <p:nvSpPr>
          <p:cNvPr id="17" name="word-rule"/>
          <p:cNvSpPr/>
          <p:nvPr/>
        </p:nvSpPr>
        <p:spPr>
          <a:xfrm>
            <a:off x="4521098" y="2558288"/>
            <a:ext cx="3149498" cy="0"/>
          </a:xfrm>
          <a:prstGeom prst="line">
            <a:avLst/>
          </a:prstGeom>
          <a:ln w="12700">
            <a:solidFill>
              <a:srgbClr val="A9BCAE"/>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deal between many countries to act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Paris agreement is an international agreement on climate change.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 finance</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money from richer countries to help poorer ones deal with climate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Climate finance pays for solar power and flood defences in poorer nations.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two ways to manage climate change.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Mitigation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reducing the causes, such as cutting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carbon emissions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Adaptation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responding to the change, such as building higher sea walls.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chapter is about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mitigation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atmosphere is shared by every country on Earth.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Carbon dioxide released in one place warms the whole planet.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no country can fix the problem on its own.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Countries have to agree to act together.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1997, at Kyoto, 162 countries agreed to cut their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carbon emissions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2009, at Copenhagen, 183 countries agreed to try to limit warming to 2 degrees.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2015, in Paris, 194 countries agreed to keep the rise below 2 degrees and to help poorer nations.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agreement went further than the one before.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Mitigation and adaptation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Mitigation attacks the cause; adaptation copes with the effect. If you can swap in the word prevent, it is mitigation; if you can swap in cope, it is adaptation.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Managing climate change involves two very different kinds of action, and the exam will expect you to tell them apart every time.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Adaptation is anything that responds to climate change that is already happening or already certain: changing what farmers grow, managing water supplies for a drier future, and reducing the risk from rising sea levels.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Why do we need both? Mitigation works slowly, because the carbon dioxide already in the atmosphere will keep warming the planet for decades.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atmosphere as a global common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phrase global common is worth a mark on its own. Then show the consequence: shared air means shared responsibility.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atmosphere is a global common: it is shared by all countries, and nobody owns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creates a problem. If one country cuts its emissions at great cost while its neighbours carry on, it pays the price and shares the benefit with everyone else.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is a fairness question too. Richer countries built their wealth by burning fossil fuels for two centuries; poorer countries are now being asked not to.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(1 of 4): The atmosphere as a global common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it is important for all countries, not just a few, to agree to reduce their carbon emissions.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1: the atmosphere is a global common, shared by every country, so emissions from one place warm the whole planet.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4): The atmosphere as a global common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it is important for all countries, not just a few, to agree to reduce their carbon emissions.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2: if only some countries cut emissions, the others carry on and the total barely falls, and the countries that acted have paid for nothing.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(3 of 4): The atmosphere as a global common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it is important for all countries, not just a few, to agree to reduce their carbon emissions.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Develop each point with an example or consequence: the effects (extreme weather, rising seas) fall on everyone, including the countries that cut.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(4 of 4): The atmosphere as a global common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it is important for all countries, not just a few, to agree to reduce their carbon emissions.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Two points, each developed, earns the four marks. The Kyoto Protocol first bound countries to cut emissions in 1997; by the Paris agreement in 2015, 18 years later, 194 countries had signed up.</a:t>
            </a:r>
            <a:endParaRPr lang="en-US" sz="1800" dirty="0"/>
          </a:p>
        </p:txBody>
      </p:sp>
      <p:sp>
        <p:nvSpPr>
          <p:cNvPr id="13" name="worked-answer"/>
          <p:cNvSpPr/>
          <p:nvPr/>
        </p:nvSpPr>
        <p:spPr>
          <a:xfrm>
            <a:off x="1463040" y="4477004"/>
            <a:ext cx="9265615" cy="1667764"/>
          </a:xfrm>
          <a:prstGeom prst="roundRect">
            <a:avLst>
              <a:gd name="adj" fmla="val 10966"/>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atmosphere is a global common, so carbon dioxide released anywhere warms the whole planet and its effects, such as more extreme weather and rising seas, fall on every country. If only a few countries cut their emissions while others carry on burning fossil fuels, the total barely falls and the countries that acted have paid the cost for no benefit. Only when all countries agree, as 194 did in Paris in 2015, do the cuts add up to a real reduction.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Kyoto, Copenhagen and Paris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agreements, three dates, three country counts: Kyoto 1997 and 162; Copenhagen 2009 and 183; Paris 2015 and 194. The numbers rise each time, which is itself a point you can make.</a:t>
            </a:r>
            <a:endParaRPr lang="en-US" sz="1800" dirty="0"/>
          </a:p>
        </p:txBody>
      </p:sp>
      <p:sp>
        <p:nvSpPr>
          <p:cNvPr id="11" name="bullet-card"/>
          <p:cNvSpPr/>
          <p:nvPr/>
        </p:nvSpPr>
        <p:spPr>
          <a:xfrm>
            <a:off x="548640" y="1389888"/>
            <a:ext cx="11094415" cy="1088136"/>
          </a:xfrm>
          <a:prstGeom prst="roundRect">
            <a:avLst>
              <a:gd name="adj" fmla="val 6723"/>
            </a:avLst>
          </a:prstGeom>
          <a:solidFill>
            <a:srgbClr val="E6ECE7"/>
          </a:solidFill>
          <a:ln/>
        </p:spPr>
      </p:sp>
      <p:sp>
        <p:nvSpPr>
          <p:cNvPr id="12" name="bullet-hex"/>
          <p:cNvSpPr/>
          <p:nvPr/>
        </p:nvSpPr>
        <p:spPr>
          <a:xfrm>
            <a:off x="676656" y="1767663"/>
            <a:ext cx="384048" cy="332586"/>
          </a:xfrm>
          <a:prstGeom prst="hexagon">
            <a:avLst/>
          </a:prstGeom>
          <a:solidFill>
            <a:srgbClr val="3F6B4A"/>
          </a:solidFill>
          <a:ln/>
        </p:spPr>
      </p:sp>
      <p:sp>
        <p:nvSpPr>
          <p:cNvPr id="13" name="bullet"/>
          <p:cNvSpPr txBox="1"/>
          <p:nvPr/>
        </p:nvSpPr>
        <p:spPr>
          <a:xfrm>
            <a:off x="1143000" y="1389888"/>
            <a:ext cx="10408615" cy="10881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Kyoto Protocol, 1997. At Kyoto in Japan, 162 countries including the UK agreed to cut their carbon emissions.</a:t>
            </a:r>
            <a:endParaRPr lang="en-US" sz="2200" dirty="0"/>
          </a:p>
        </p:txBody>
      </p:sp>
      <p:sp>
        <p:nvSpPr>
          <p:cNvPr id="14" name="bullet-card"/>
          <p:cNvSpPr/>
          <p:nvPr/>
        </p:nvSpPr>
        <p:spPr>
          <a:xfrm>
            <a:off x="548640" y="2624328"/>
            <a:ext cx="11094415" cy="2451608"/>
          </a:xfrm>
          <a:prstGeom prst="roundRect">
            <a:avLst>
              <a:gd name="adj" fmla="val 2984"/>
            </a:avLst>
          </a:prstGeom>
          <a:solidFill>
            <a:srgbClr val="E6ECE7"/>
          </a:solidFill>
          <a:ln/>
        </p:spPr>
      </p:sp>
      <p:sp>
        <p:nvSpPr>
          <p:cNvPr id="15" name="bullet-hex"/>
          <p:cNvSpPr/>
          <p:nvPr/>
        </p:nvSpPr>
        <p:spPr>
          <a:xfrm>
            <a:off x="676656" y="3683839"/>
            <a:ext cx="384048" cy="332586"/>
          </a:xfrm>
          <a:prstGeom prst="hexagon">
            <a:avLst/>
          </a:prstGeom>
          <a:solidFill>
            <a:srgbClr val="B8862B"/>
          </a:solidFill>
          <a:ln/>
        </p:spPr>
      </p:sp>
      <p:sp>
        <p:nvSpPr>
          <p:cNvPr id="16" name="bullet"/>
          <p:cNvSpPr txBox="1"/>
          <p:nvPr/>
        </p:nvSpPr>
        <p:spPr>
          <a:xfrm>
            <a:off x="1143000" y="2624328"/>
            <a:ext cx="10408615" cy="245160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Copenhagen agreement, 2009. At Copenhagen in Denmark, 183 countries, the UK among them, promised to bring their carbon emissions down so that global temperature would climb no more than 2°C, to help developing nations cope with the impacts of climate change, and to explore carbon markets and carbon trading, in which permission to emit can be bought and sold so that cuts are made where they are cheapest.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Do agreements work? Writing the discuss answer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nine marks, structure as for, against, judgement, with a named agreement and a figure in each paragraph.</a:t>
            </a:r>
            <a:endParaRPr lang="en-US" sz="1800" dirty="0"/>
          </a:p>
        </p:txBody>
      </p:sp>
      <p:sp>
        <p:nvSpPr>
          <p:cNvPr id="11" name="bullet-card"/>
          <p:cNvSpPr/>
          <p:nvPr/>
        </p:nvSpPr>
        <p:spPr>
          <a:xfrm>
            <a:off x="548640" y="1389888"/>
            <a:ext cx="11094415" cy="1893485"/>
          </a:xfrm>
          <a:prstGeom prst="roundRect">
            <a:avLst>
              <a:gd name="adj" fmla="val 3863"/>
            </a:avLst>
          </a:prstGeom>
          <a:solidFill>
            <a:srgbClr val="E6ECE7"/>
          </a:solidFill>
          <a:ln/>
        </p:spPr>
      </p:sp>
      <p:sp>
        <p:nvSpPr>
          <p:cNvPr id="12" name="bullet-hex"/>
          <p:cNvSpPr/>
          <p:nvPr/>
        </p:nvSpPr>
        <p:spPr>
          <a:xfrm>
            <a:off x="676656" y="2170338"/>
            <a:ext cx="384048" cy="332586"/>
          </a:xfrm>
          <a:prstGeom prst="hexagon">
            <a:avLst/>
          </a:prstGeom>
          <a:solidFill>
            <a:srgbClr val="3F6B4A"/>
          </a:solidFill>
          <a:ln/>
        </p:spPr>
      </p:sp>
      <p:sp>
        <p:nvSpPr>
          <p:cNvPr id="13" name="bullet"/>
          <p:cNvSpPr txBox="1"/>
          <p:nvPr/>
        </p:nvSpPr>
        <p:spPr>
          <a:xfrm>
            <a:off x="1143000" y="1389888"/>
            <a:ext cx="10408615" cy="18934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discuss question wants both sides and a judgement. On the plus side, agreements set shared targets, so no country is acting alone; they bring in money for poorer nations through climate finance; they create carbon markets that make cuts cheaper; and each agreement has been bigger than the last, from 162 countries at Kyoto to 194 in Paris.</a:t>
            </a:r>
            <a:endParaRPr lang="en-US" sz="2200" dirty="0"/>
          </a:p>
        </p:txBody>
      </p:sp>
      <p:sp>
        <p:nvSpPr>
          <p:cNvPr id="14" name="bullet-card"/>
          <p:cNvSpPr/>
          <p:nvPr/>
        </p:nvSpPr>
        <p:spPr>
          <a:xfrm>
            <a:off x="548640" y="3429677"/>
            <a:ext cx="11094415" cy="870881"/>
          </a:xfrm>
          <a:prstGeom prst="roundRect">
            <a:avLst>
              <a:gd name="adj" fmla="val 8400"/>
            </a:avLst>
          </a:prstGeom>
          <a:solidFill>
            <a:srgbClr val="E6ECE7"/>
          </a:solidFill>
          <a:ln/>
        </p:spPr>
      </p:sp>
      <p:sp>
        <p:nvSpPr>
          <p:cNvPr id="15" name="bullet-hex"/>
          <p:cNvSpPr/>
          <p:nvPr/>
        </p:nvSpPr>
        <p:spPr>
          <a:xfrm>
            <a:off x="676656" y="3698825"/>
            <a:ext cx="384048" cy="332586"/>
          </a:xfrm>
          <a:prstGeom prst="hexagon">
            <a:avLst/>
          </a:prstGeom>
          <a:solidFill>
            <a:srgbClr val="B8862B"/>
          </a:solidFill>
          <a:ln/>
        </p:spPr>
      </p:sp>
      <p:sp>
        <p:nvSpPr>
          <p:cNvPr id="16" name="bullet"/>
          <p:cNvSpPr txBox="1"/>
          <p:nvPr/>
        </p:nvSpPr>
        <p:spPr>
          <a:xfrm>
            <a:off x="1143000" y="3429677"/>
            <a:ext cx="10408615" cy="87088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the minus side, targets are only promises. Kyoto's 5.2% cut was small, and the countries that did not take part carried on emitting.</a:t>
            </a:r>
            <a:endParaRPr lang="en-US" sz="2200" dirty="0"/>
          </a:p>
        </p:txBody>
      </p:sp>
      <p:sp>
        <p:nvSpPr>
          <p:cNvPr id="17" name="bullet-card"/>
          <p:cNvSpPr/>
          <p:nvPr/>
        </p:nvSpPr>
        <p:spPr>
          <a:xfrm>
            <a:off x="548640" y="4446863"/>
            <a:ext cx="11094415" cy="629073"/>
          </a:xfrm>
          <a:prstGeom prst="roundRect">
            <a:avLst>
              <a:gd name="adj" fmla="val 11629"/>
            </a:avLst>
          </a:prstGeom>
          <a:solidFill>
            <a:srgbClr val="E6ECE7"/>
          </a:solidFill>
          <a:ln/>
        </p:spPr>
      </p:sp>
      <p:sp>
        <p:nvSpPr>
          <p:cNvPr id="18" name="bullet-hex"/>
          <p:cNvSpPr/>
          <p:nvPr/>
        </p:nvSpPr>
        <p:spPr>
          <a:xfrm>
            <a:off x="676656" y="4595107"/>
            <a:ext cx="384048" cy="332586"/>
          </a:xfrm>
          <a:prstGeom prst="hexagon">
            <a:avLst/>
          </a:prstGeom>
          <a:solidFill>
            <a:srgbClr val="3F6B4A"/>
          </a:solidFill>
          <a:ln/>
        </p:spPr>
      </p:sp>
      <p:sp>
        <p:nvSpPr>
          <p:cNvPr id="19" name="bullet"/>
          <p:cNvSpPr txBox="1"/>
          <p:nvPr/>
        </p:nvSpPr>
        <p:spPr>
          <a:xfrm>
            <a:off x="1143000" y="4446863"/>
            <a:ext cx="10408615" cy="6290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can agreements slow down the causes of climate change?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Three agreements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international agreements on climate change in the order they were made,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Copenhagen agreement: 183 countries agree to aim to limit warming to 2°C and to explore carbon trading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Kyoto Protocol: 162 countries agree to cut their carbon emissions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Paris agreement: 194 countries agree to keep warming below 2.0°C and to provide climate finance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COP 26: the conference your deck asked you to research and add to your notes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Three agreements in order</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international agreements on climate change in the order they were made, earliest first.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2E9E4"/>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the three dates: 1997, 2009, 2015. Then COP 26 is 2021.</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each date to a place: Kyoto first, then Copenhagen, then Paris.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with the country counts: 162, then 183, then 194. The numbers go up over time.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COP 26 is the most recent, so it goes last.</a:t>
            </a:r>
            <a:endParaRPr lang="en-US" sz="1800" dirty="0"/>
          </a:p>
        </p:txBody>
      </p:sp>
      <p:sp>
        <p:nvSpPr>
          <p:cNvPr id="17" name="col-Core"/>
          <p:cNvSpPr/>
          <p:nvPr/>
        </p:nvSpPr>
        <p:spPr>
          <a:xfrm>
            <a:off x="5490762" y="2593848"/>
            <a:ext cx="2938987" cy="3550920"/>
          </a:xfrm>
          <a:prstGeom prst="roundRect">
            <a:avLst>
              <a:gd name="adj" fmla="val 1867"/>
            </a:avLst>
          </a:prstGeom>
          <a:solidFill>
            <a:srgbClr val="CB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country counts rise with each agreement: 162, 183, 194. Which is which?</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one way the Paris agreement went further than Kyoto, and one problem that all three agreements share.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many more countries?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Paris agreement was signed by 194 countries and the Kyoto Protocol by 162. How many more countries signed in Paris than at Kyoto?</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countries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How many more countries?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Paris agreement was signed by 194 countries and the Kyoto Protocol by 162. How many more countries signed in Paris than at Kyoto?</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2E9E4"/>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two figures down: Paris 194, Kyoto 162.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many more means the difference, so subtract the smaller from the larger.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194 − 162: count up from 162 to 194. 162 to 192 is 30, then 2 more.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State the answer with its unit: 32 countries.</a:t>
            </a:r>
            <a:endParaRPr lang="en-US" sz="1800" dirty="0"/>
          </a:p>
        </p:txBody>
      </p:sp>
      <p:sp>
        <p:nvSpPr>
          <p:cNvPr id="17" name="col-Core"/>
          <p:cNvSpPr/>
          <p:nvPr/>
        </p:nvSpPr>
        <p:spPr>
          <a:xfrm>
            <a:off x="5490762" y="2593848"/>
            <a:ext cx="2938987" cy="3550920"/>
          </a:xfrm>
          <a:prstGeom prst="roundRect">
            <a:avLst>
              <a:gd name="adj" fmla="val 1867"/>
            </a:avLst>
          </a:prstGeom>
          <a:solidFill>
            <a:srgbClr val="CB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more is a subtraction. Which figure is the larger one?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Suggest two reasons why more countries were willing to sign in 2015 than in 1997.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490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What does mitigation mean, when we talk about managing climate change?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Moving people away from flooded coasts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Reducing the causes of climate change, such as cutting carbon emissions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Responding to the effects of climate change, such as building higher sea walls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Measuring how much the climate has changed</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Three agreements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Kyoto Protocol: 162 countries agree to cut their carbon emissions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Copenhagen agreement: 183 countries agree to aim to limit warming to 2°C and to explore carbon trading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Paris agreement: 194 countries agree to keep warming below 2.0°C and to provide climate finance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COP 26: the conference your deck asked you to research and add to your notes  (D)</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Kyoto came first in 1997 with 162 countries; Copenhagen followed in 2009 with 183; Paris in 2015 brought 194 countries; COP 26 in 2021 is the most recent.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many more countries?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Paris agreement was signed by 194 countries and the Kyoto Protocol by 162. How many more countries signed in Paris than at Kyoto?</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32 countries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194 − 162 = 32. Each agreement has been signed by more countries than the one before, which matters because the atmosphere is a global common and cuts only add up when most countries make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mitigation mean, when we talk about managing climate change?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Reducing the causes of climate change, such as cutting carbon emissions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Mitigation is action that reduces the causes of climate change. Responding to the effects is adaptation.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4: Managing climate change: mitigation and international agreements</dc:title>
  <dc:subject>Geography · Year 11</dc:subject>
  <dc:creator>Dr Vitor Merissi de Carvalho</dc:creator>
  <cp:lastModifiedBy>Dr Vitor Merissi de Carvalho</cp:lastModifiedBy>
  <cp:revision>1</cp:revision>
  <dcterms:created xsi:type="dcterms:W3CDTF">2026-10-19T16:22:47Z</dcterms:created>
  <dcterms:modified xsi:type="dcterms:W3CDTF">2026-10-19T16:22:47Z</dcterms:modified>
</cp:coreProperties>
</file>