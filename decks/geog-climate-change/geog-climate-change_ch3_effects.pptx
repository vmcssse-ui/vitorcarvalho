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e0c9c44-511c-71ee-fb1e-97eff51b5435}">
          <p14:sldIdLst>
            <p14:sldId id="256"/>
          </p14:sldIdLst>
        </p14:section>
        <p14:section name="Gate" id="{b3fcc9ae-e38c-cca1-1e8d-790301049ae2}">
          <p14:sldIdLst>
            <p14:sldId id="257"/>
            <p14:sldId id="258"/>
          </p14:sldIdLst>
        </p14:section>
        <p14:section name="Pre-teach" id="{f0862927-0c39-54a8-e9e1-33f8e8b1dce0}">
          <p14:sldIdLst>
            <p14:sldId id="259"/>
            <p14:sldId id="260"/>
          </p14:sldIdLst>
        </p14:section>
        <p14:section name="Read-along" id="{d740a379-1115-e089-434b-b34d765a8e73}">
          <p14:sldIdLst>
            <p14:sldId id="261"/>
            <p14:sldId id="262"/>
          </p14:sldIdLst>
        </p14:section>
        <p14:section name="Teach" id="{b31a47f6-e39a-fa13-3d60-f4781319264e}">
          <p14:sldIdLst>
            <p14:sldId id="263"/>
            <p14:sldId id="264"/>
            <p14:sldId id="265"/>
            <p14:sldId id="266"/>
            <p14:sldId id="267"/>
          </p14:sldIdLst>
        </p14:section>
        <p14:section name="Routes" id="{6d86e2c1-69ae-9892-5b20-602d98db22c8}">
          <p14:sldIdLst>
            <p14:sldId id="268"/>
            <p14:sldId id="269"/>
            <p14:sldId id="270"/>
            <p14:sldId id="271"/>
          </p14:sldIdLst>
        </p14:section>
        <p14:section name="Close" id="{d03756ab-0580-9f97-1085-baa2aa9c99b6}">
          <p14:sldIdLst>
            <p14:sldId id="272"/>
          </p14:sldIdLst>
        </p14:section>
        <p14:section name="Answers" id="{8428a4da-7dbe-23c8-f2ff-fe9c47a61301}">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effects of climate change on people and the environment. The long list of effects your deck gave you, sorted into effects on the environment and effects on people, and how to decide which are the most significant.
This deck covers the department's lesson: 5 (The effects of climate change: What effects does climate change have on people and the environment, and which are the most significant?).
Read the big question aloud: "How do we know the climate is changing, what is causing it, and should we spend our effort on cutting the causes or on adapting to the effects?"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does climate change cause sea levels to rise?  →  A   Because melting ice on land flows into the sea and warmer water expands
2. When sea ice melts, polar bears lose their natural ___.  →  habitat
3. Which of these effects of climate change is mainly an effect on people rather than on the environment?  →  D   Increased migration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Because melting ice on land flows into the sea and warmer water expands. Warmer temperatures melt glaciers and ice sheets on land, adding water to the oceans, and warmer sea water takes up more space.
2. habitat. A habitat is the natural home of a plant or animal. Melting sea ice destroys the polar bear's hunting ground, which is the destruction of a natural habitat.
3. D   Increased migration. Migration is people moving home because of floods, drought or failed harvests. Melting glaciers, lost habitats and shrinking forests are effects on the environment.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effect: something that happens as a result of a change. Example: "Rising sea levels are an effect of climate change."
• habitat: the natural home of a plant or animal. Example: "Melting sea ice destroys the habitat of the polar bear."
• yield: the amount of crop a farm produces. Example: "Drought lowers the yield of wheat."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migration: people moving to live in another place. Example: "Floods and drought can force migration."
• extreme weather: very severe weather such as floods, heatwaves and droughts. Example: "Extreme weather is becoming more common."
• significant: important, with big consequences. Example: "Rising sea levels are a significant effect for low-lying countries."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warmer world changes many things at once.
2. Ice sheets and glaciers melt, and the sea level rises.
3. Low-lying coasts and islands are at risk of flooding.
4. Natural habitats are destroyed, and animals such as polar bears lose their homes.
5. Extreme weather, such as floods, heatwaves and droughts, becomes more common.
6. Farmers find that their crops give different yields as rainfall and temperature change.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Some places run short of water.
8. Diseases spread into new areas as they get warmer.
9. Health risks rise, and more people may have to migrate.
10. There may be more conflict over land and water.
11. Energy supplies and transport networks come under strain.
12. Some of these effects hit the environment first; others hit people first.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Fourteen effects. Say it in your own words, then check understanding with a quick question: ask a pupil from the pre-teach group first, since they met these words and ideas before the lesson. Pupils try to recall before you re-explain.
Your deck gave you a long list, and it is worth having it in front of you. Warmer temperatures. Rising sea levels. Destruction of natural habitats, for example the sea ice that polar bears hunt from. Melting ice and glaciers. Changes to agricultural yields. More extreme weather events such as flooding, heatwaves and drought. Increased migration. Lack of water. Increased health risks. Increased spread of disease. Increased levels of conflict. Increased vulnerability of energy sources. Increased maintenance of transport networks. Reduction in forest coverage.
Fourteen items is too many to learn as a list, so sort them. Some are effects on the environment: warmer temperatures, melting ice, rising seas, lost habitats, shrinking forests. Some are effects on people: migration, health, disease, conflict, water shortage, energy and transport. Some sit in the middle, because they start in the environment and end with people: extreme weather and changing crop yields.
Notice too that the effects form chains. Warmer temperatures melt ice; melting ice raises the sea; a higher sea floods low coasts; flooded homes push people to migrate; migration can lead to conflict. When you explain an effect in the exam, show the chain, not just the end of it.
Tip: Sort the fourteen effects into environment, people and both. A sorted list is easier to recall and gives you a ready-made paragraph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Effects on the environment. Say it in your own words, then check understanding with a quick question: ask a pupil from the pre-teach group first, since they met these words and ideas before the lesson. Pupils try to recall before you re-explain.
The first effect is the one all the others grow from: the world is getting warmer. Warmer air melts ice, both the glaciers in mountain valleys, which you met as evidence in chapter 1, and the great ice sheets of Greenland and Antarctica. Water from melting land ice flows into the sea, and warmer sea water also takes up more room, so sea levels rise.
Habitats change faster than many species can cope with. Sea ice that polar bears hunt from forms later and melts earlier. Coral reefs are damaged by warmer water. Plants and animals that need cool conditions have to move uphill or towards the poles, and some have nowhere to go. Forest coverage can fall as drought and fire increase, which matters twice over, because forests also store carbon.
Extreme weather becomes more frequent. A warmer atmosphere holds more water, so when it rains it can rain harder, bringing floods. Hotter summers bring heatwaves and, where rain fails, droughts. These events are the point where effects on the environment turn into effects on people.
Tip: Melting ice is both evidence of climate change (chapter 1) and an effect of it. Use the same fact in both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Effects on people, and which matter most. Say it in your own words, then check understanding with a quick question: ask a pupil from the pre-teach group first, since they met these words and ideas before the lesson. Pupils try to recall before you re-explain.
Farming depends on rainfall and temperature, so as these change, yields change too. In some places harvests fall and food prices rise; in others new crops become possible, as you will see with vines in southern England in chapter 6. Where droughts become common there is a lack of water for homes, farms and industry. Warmer conditions let insects that carry diseases spread into new areas, so the spread of disease and health risks rise, and heatwaves are dangerous to the old and the very young.
When land floods, crops fail or water runs out, people move. Increased migration puts pressure on the places people move to, and competition for land and water can raise the level of conflict. Energy sources become more vulnerable, for example when power stations need cooling water in a drought, and transport networks need more maintenance as roads buckle in heat and railways flood.
Your lesson ended with a continuum: a line from most significant to least significant on which you placed the effects and justified your choices. There is no single right order, but there are good reasons. Rising sea levels are often placed near the top because they threaten whole countries and cannot be reversed. Extreme weather ranks high because it kills people now. The skill the examiner wants is the justification: say who is affected, how many, how badly and for how long.
Worked example — model it step by step, thinking aloud: Which is more significant, rising sea levels or increased maintenance of transport networks? Justify your answer. (4 marks) (1) Pick a judgement first: rising sea levels are more significant. (2) Give a reason about scale: whole low-lying countries and millions of people on coasts are at risk, whereas transport maintenance is a cost that can be paid. (3) Give a reason about time: sea level rise cannot be reversed for centuries, whereas a damaged road can be repaired. (4) Finish by linking the two: higher seas will themselves damage coastal roads and railways, so one effect causes the other. Answer: Rising sea levels are more significant. They threaten whole low-lying countries and millions of people living on coasts, and they cannot be reversed for centuries, whereas extra transport maintenance is a cost that can be paid and a road can be repaired. In fact, higher seas will themselves flood coastal roads and railways, so the first effect causes the second..
Tip: Justify means give reasons for your choice. Use scale (how many people), severity (how badly) and time (how long) as your three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Effects on people, and which matter most. Say it in your own words, then check understanding with a quick question: ask a pupil from the pre-teach group first, since they met these words and ideas before the lesson. Pupils try to recall before you re-explain.
Farming depends on rainfall and temperature, so as these change, yields change too. In some places harvests fall and food prices rise; in others new crops become possible, as you will see with vines in southern England in chapter 6. Where droughts become common there is a lack of water for homes, farms and industry. Warmer conditions let insects that carry diseases spread into new areas, so the spread of disease and health risks rise, and heatwaves are dangerous to the old and the very young.
When land floods, crops fail or water runs out, people move. Increased migration puts pressure on the places people move to, and competition for land and water can raise the level of conflict. Energy sources become more vulnerable, for example when power stations need cooling water in a drought, and transport networks need more maintenance as roads buckle in heat and railways flood.
Your lesson ended with a continuum: a line from most significant to least significant on which you placed the effects and justified your choices. There is no single right order, but there are good reasons. Rising sea levels are often placed near the top because they threaten whole countries and cannot be reversed. Extreme weather ranks high because it kills people now. The skill the examiner wants is the justification: say who is affected, how many, how badly and for how long.
Worked example — model it step by step, thinking aloud: Which is more significant, rising sea levels or increased maintenance of transport networks? Justify your answer. (4 marks) (1) Pick a judgement first: rising sea levels are more significant. (2) Give a reason about scale: whole low-lying countries and millions of people on coasts are at risk, whereas transport maintenance is a cost that can be paid. (3) Give a reason about time: sea level rise cannot be reversed for centuries, whereas a damaged road can be repaired. (4) Finish by linking the two: higher seas will themselves damage coastal roads and railways, so one effect causes the other. Answer: Rising sea levels are more significant. They threaten whole low-lying countries and millions of people living on coasts, and they cannot be reversed for centuries, whereas extra transport maintenance is a cost that can be paid and a road can be repaired. In fact, higher seas will themselves flood coastal roads and railways, so the first effect causes the second..
Tip: Justify means give reasons for your choice. Use scale (how many people), severity (how badly) and time (how long) as your three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Effects on people, and which matter most. Say it in your own words, then check understanding with a quick question: ask a pupil from the pre-teach group first, since they met these words and ideas before the lesson. Pupils try to recall before you re-explain.
Farming depends on rainfall and temperature, so as these change, yields change too. In some places harvests fall and food prices rise; in others new crops become possible, as you will see with vines in southern England in chapter 6. Where droughts become common there is a lack of water for homes, farms and industry. Warmer conditions let insects that carry diseases spread into new areas, so the spread of disease and health risks rise, and heatwaves are dangerous to the old and the very young.
When land floods, crops fail or water runs out, people move. Increased migration puts pressure on the places people move to, and competition for land and water can raise the level of conflict. Energy sources become more vulnerable, for example when power stations need cooling water in a drought, and transport networks need more maintenance as roads buckle in heat and railways flood.
Your lesson ended with a continuum: a line from most significant to least significant on which you placed the effects and justified your choices. There is no single right order, but there are good reasons. Rising sea levels are often placed near the top because they threaten whole countries and cannot be reversed. Extreme weather ranks high because it kills people now. The skill the examiner wants is the justification: say who is affected, how many, how badly and for how long.
Worked example — model it step by step, thinking aloud: Which is more significant, rising sea levels or increased maintenance of transport networks? Justify your answer. (4 marks) (1) Pick a judgement first: rising sea levels are more significant. (2) Give a reason about scale: whole low-lying countries and millions of people on coasts are at risk, whereas transport maintenance is a cost that can be paid. (3) Give a reason about time: sea level rise cannot be reversed for centuries, whereas a damaged road can be repaired. (4) Finish by linking the two: higher seas will themselves damage coastal roads and railways, so one effect causes the other. Answer: Rising sea levels are more significant. They threaten whole low-lying countries and millions of people living on coasts, and they cannot be reversed for centuries, whereas extra transport maintenance is a cost that can be paid and a road can be repaired. In fact, higher seas will themselves flood coastal roads and railways, so the first effect causes the second..
Tip: Justify means give reasons for your choice. Use scale (how many people), severity (how badly) and time (how long) as your three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Chains of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effect of climate change to the chain that leads to it.
Support — work through the steps with the group: (1) Work backwards from each effect: ask what must have happened just before it. (2) Sea level is about water; which chain adds water to the sea? (3) Yields are about crops; disease is about insects; migration is about people moving. (4) Read each finished pair as a because sentence to check it makes sense.
Parallel worked example for Support (model it, do not give the task answer): Match: lack of water, increased conflict. Choices: groups compete for scarce land and water; droughts become more frequent so rivers and reservoirs run low. Lack of water comes from drought.; Conflict comes from competition over what is scarce.. Answer: Lack of water: droughts become more frequent so rivers and reservoirs run low. Increased conflict: groups compete for scarce land and water..
Core — reveal the hint only on request: Each chain ends with the thing it explains: water into the sea, crops, insects, people moving.
Stretch — no help; when finished: Join two of the chains together to show how an effect on the environment becomes an effect 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Chains of effects.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effect of climate change to the chain that leads to it.
Support — work through the steps with the group: (1) Work backwards from each effect: ask what must have happened just before it. (2) Sea level is about water; which chain adds water to the sea? (3) Yields are about crops; disease is about insects; migration is about people moving. (4) Read each finished pair as a because sentence to check it makes sense.
Parallel worked example for Support (model it, do not give the task answer): Match: lack of water, increased conflict. Choices: groups compete for scarce land and water; droughts become more frequent so rivers and reservoirs run low. Lack of water comes from drought.; Conflict comes from competition over what is scarce.. Answer: Lack of water: droughts become more frequent so rivers and reservoirs run low. Increased conflict: groups compete for scarce land and water..
Core — reveal the hint only on request: Each chain ends with the thing it explains: water into the sea, crops, insects, people moving.
Stretch — no help; when finished: Join two of the chains together to show how an effect on the environment becomes an effect on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most significant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small country is made of low-lying islands only a few metres above the sea. Which effect of climate change is most significant for it, and why?
Support — work through the steps with the group: (1) Ask what the place is like: low-lying islands, a few metres above the sea. (2) Ask which effect could remove the country altogether. That is the most significant. (3) Check the reason in the option matches: a threat to the whole country that cannot be undone. (4) Rule out effects the place does not have, such as glaciers on a tropical island.
Parallel worked example for Support (model it, do not give the task answer): For a farming region that depends on summer rain, which effect of climate change is likely to be most significant, and why? Ask what the region depends on: rain for crops.; Which effect attacks that directly?. Answer: Changes to agricultural yields caused by more frequent drought, because the region's food and income depend on summer rain..
Core — reveal the hint only on request: Significance depends on the place. What is the one thing a few metres of sea could take away from an island nation?
Stretch — no help; when finished: Explain why the same effect, rising sea levels, might be placed low on the continuum by a country in the middle of a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The most significant effect.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small country is made of low-lying islands only a few metres above the sea. Which effect of climate change is most significant for it, and why?
Support — work through the steps with the group: (1) Ask what the place is like: low-lying islands, a few metres above the sea. (2) Ask which effect could remove the country altogether. That is the most significant. (3) Check the reason in the option matches: a threat to the whole country that cannot be undone. (4) Rule out effects the place does not have, such as glaciers on a tropical island.
Parallel worked example for Support (model it, do not give the task answer): For a farming region that depends on summer rain, which effect of climate change is likely to be most significant, and why? Ask what the region depends on: rain for crops.; Which effect attacks that directly?. Answer: Changes to agricultural yields caused by more frequent drought, because the region's food and income depend on summer rain..
Core — reveal the hint only on request: Significance depends on the place. What is the one thing a few metres of sea could take away from an island nation?
Stretch — no help; when finished: Explain why the same effect, rising sea levels, might be placed low on the continuum by a country in the middle of a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does climate change cause sea levels to rise?
Answer: D   Because melting ice on land flows into the sea and warmer water expands. Warmer temperatures melt glaciers and ice sheets on land, adding water to the oceans, and warmer sea water takes up more space.
Source of this question: gate item 1 re-asked (options rotated) — this chapter has no third quick-check module.
The ebook also holds task 3, "Effects on people",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Chains of effects. Reveal the answer; pupils mark their own work in a different colour, then read the "why" together. Same destination for every lane, so one answer serves the whole class.
Answer: Rising sea levels  →  D  Warmer temperatures melt ice on land, and the water flows into the sea; Changes to agricultural yields  →  C  Rainfall and temperature change, so crops grow better or worse than before; Increased spread of disease  →  B  Warmer conditions let insects that carry disease move into new areas; Increased migration  →  A  People leave places hit by flooding, drought or failed harvests
Why: Each effect has a cause behind it: melting land ice raises the sea; changing rainfall and temperature change yields; warmth lets disease-carrying insects spread; disasters push people to move. Showing the chain is what turns a list into an explanation.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The most significant effect. Reveal the answer; pupils mark their own work in a different colour, then read the "why" together. Same destination for every lane, so one answer serves the whole class.
Answer: C   Rising sea levels, because they threaten to flood the whole country and cannot be reversed
Why: Significance depends on who is affected, how badly and for how long. For islands a few metres above the sea, rising sea levels threaten the whole country and cannot be reversed, which places them at the top of the continuum.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Because melting ice on land flows into the sea and warmer water expands
Why: Warmer temperatures melt glaciers and ice sheets on land, adding water to the oceans, and warmer sea water takes up more space.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Climate Change: Evidence, Causes, Effects and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Climate Change: Evidence, Causes, Effects and Management</a:t>
            </a:r>
            <a:endParaRPr lang="en-US" sz="1800" dirty="0"/>
          </a:p>
        </p:txBody>
      </p:sp>
      <p:sp>
        <p:nvSpPr>
          <p:cNvPr id="10" name="deck-title"/>
          <p:cNvSpPr txBox="1"/>
          <p:nvPr/>
        </p:nvSpPr>
        <p:spPr>
          <a:xfrm>
            <a:off x="548640" y="2360168"/>
            <a:ext cx="5287975" cy="151384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The effects of climate change on people and the environment</a:t>
            </a:r>
            <a:endParaRPr lang="en-US" sz="2800" dirty="0"/>
          </a:p>
        </p:txBody>
      </p:sp>
      <p:sp>
        <p:nvSpPr>
          <p:cNvPr id="11" name="lessons-card"/>
          <p:cNvSpPr/>
          <p:nvPr/>
        </p:nvSpPr>
        <p:spPr>
          <a:xfrm>
            <a:off x="548640" y="4102608"/>
            <a:ext cx="5287975" cy="980440"/>
          </a:xfrm>
          <a:prstGeom prst="roundRect">
            <a:avLst>
              <a:gd name="adj" fmla="val 7461"/>
            </a:avLst>
          </a:prstGeom>
          <a:solidFill>
            <a:srgbClr val="E2E9E4"/>
          </a:solidFill>
          <a:ln/>
        </p:spPr>
      </p:sp>
      <p:sp>
        <p:nvSpPr>
          <p:cNvPr id="12" name="lessons"/>
          <p:cNvSpPr txBox="1"/>
          <p:nvPr/>
        </p:nvSpPr>
        <p:spPr>
          <a:xfrm>
            <a:off x="685800" y="419404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effects of climate change</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1800" i="1" dirty="0">
                <a:solidFill>
                  <a:srgbClr val="1E2229"/>
                </a:solidFill>
                <a:latin typeface="Cambria" pitchFamily="34" charset="0"/>
                <a:ea typeface="Cambria" pitchFamily="34" charset="-122"/>
                <a:cs typeface="Cambria" pitchFamily="34" charset="-120"/>
              </a:rPr>
              <a:t>How do we know the climate is changing, what is causing it, and should we spend our effort on cutting the causes or on adapting to the effects?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Why does climate change cause sea levels to rise?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melting ice on land flows into the sea and warmer water expands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the Moon pulls harder on a warmer ocean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rivers flow faster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Because more rain falls into the sea</a:t>
            </a:r>
            <a:endParaRPr lang="en-US" sz="1800" dirty="0"/>
          </a:p>
        </p:txBody>
      </p:sp>
      <p:sp>
        <p:nvSpPr>
          <p:cNvPr id="12"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When sea ice melts, polar bears lose their natural ___.</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habitat  ·  yield  ·  migration</a:t>
            </a:r>
            <a:endParaRPr lang="en-US" sz="2400" dirty="0"/>
          </a:p>
        </p:txBody>
      </p:sp>
      <p:sp>
        <p:nvSpPr>
          <p:cNvPr id="17"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of these effects of climate change is mainly an effect on people rather than on the environment?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Reduction in forest coverage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Destruction of natural habitats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Melting glaciers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Increased migration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ADBBF"/>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Because melting ice on land flows into the sea and warmer water expands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Warmer temperatures melt glaciers and ice sheets on land, adding water to the oceans, and warmer sea water takes up more space.</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habitat</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When sea ice melts, polar bears lose their natural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 habitat is the natural home of a plant or animal. Melting sea ice destroys the polar bear's hunting ground, which is the destruction of a natural habitat.</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Increased migration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Migration is people moving home because of floods, drought or failed harvests. Melting glaciers, lost habitats and shrinking forests are effects on the environment.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effect</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something that happens as a result of a change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Rising sea levels are an effect of climate change.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habitat</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natural home of a plant or animal</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Melting sea ice destroys the habitat of the polar bear.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yield</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amount of crop a farm produces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Drought lowers the yield of wheat.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migration</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moving to live in another place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Floods and drought can force migration.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extreme weather</a:t>
            </a:r>
            <a:endParaRPr lang="en-US" sz="2600" dirty="0"/>
          </a:p>
        </p:txBody>
      </p:sp>
      <p:sp>
        <p:nvSpPr>
          <p:cNvPr id="17" name="word-rule"/>
          <p:cNvSpPr/>
          <p:nvPr/>
        </p:nvSpPr>
        <p:spPr>
          <a:xfrm>
            <a:off x="4521098" y="2558288"/>
            <a:ext cx="3149498" cy="0"/>
          </a:xfrm>
          <a:prstGeom prst="line">
            <a:avLst/>
          </a:prstGeom>
          <a:ln w="12700">
            <a:solidFill>
              <a:srgbClr val="A9BCAE"/>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very severe weather such as floods, heatwaves and droughts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Extreme weather is becoming more common.</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significant</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important, with big consequences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Rising sea levels are a significant effect for low-lying countries.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warmer world changes many things at once.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Ice sheets and glaciers melt, and the sea level rises.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Low-lying coasts and islands are at risk of flooding.</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Natural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habitats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are destroyed, and animals such as polar bears lose their homes.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Extreme weather</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such as floods, heatwaves and droughts, becomes more common.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Farmers find that their crops give different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yields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as rainfall and temperature change.</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places run short of water.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Diseases spread into new areas as they get warmer.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Health risks rise, and more people may have to migrate.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There may be more conflict over land and water.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Energy supplies and transport networks come under strain.</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Some of these </a:t>
            </a:r>
            <a:pPr algn="l" indent="0" marL="0">
              <a:spcAft>
                <a:spcPts val="600"/>
              </a:spcAft>
              <a:buNone/>
            </a:pPr>
            <a:r>
              <a:rPr lang="en-US" sz="2800" b="1" dirty="0">
                <a:solidFill>
                  <a:srgbClr val="3F6B4A"/>
                </a:solidFill>
                <a:latin typeface="Calibri" pitchFamily="34" charset="0"/>
                <a:ea typeface="Calibri" pitchFamily="34" charset="-122"/>
                <a:cs typeface="Calibri" pitchFamily="34" charset="-120"/>
              </a:rPr>
              <a:t>effects</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hit the environment first; others hit people first.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Fourteen effects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the fourteen effects into environment, people and both. A sorted list is easier to recall and gives you a ready-made paragraph plan.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Your deck gave you a long list, and it is worth having it in front of you.</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Fourteen items is too many to learn as a list, so sort them.</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Notice too that the effects form chains. Warmer temperatures melt ice; melting ice raises the sea; a higher sea floods low coasts; flooded homes push people to migrate; migration can lead to conflict.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Effects on the environment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Melting ice is both evidence of climate change (chapter 1) and an effect of it. Use the same fact in both places.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first effect is the one all the others grow from: the world is getting warmer.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Habitats change faster than many species can cope with. Sea ice that polar bears hunt from forms later and melts earlier.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Extreme weather becomes more frequent. A warmer atmosphere holds more water, so when it rains it can rain harder, bringing floods.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Effects on people, and which matter most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Justify means give reasons for your choice. Use scale (how many people), severity (how badly) and time (how long) as your three reasons.</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Farming depends on rainfall and temperature, so as these change, yields change too.</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When land floods, crops fail or water runs out, people move.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ended with a continuum: a line from most significant to least significant on which you placed the effects and justified your choices.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(1 of 2): Effects on people, and which matter most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is more significant, rising sea levels or increased maintenance of transport networks? Justify your answer. (4 marks)</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Pick a judgement first: rising sea levels are more significant.</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a reason about scale: whole low-lying countries and millions of people on coasts are at risk, whereas transport maintenance is a cost that can be paid.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(2 of 2): Effects on people, and which matter most</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2E9E4"/>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Which is more significant, rising sea levels or increased maintenance of transport networks? Justify your answer. (4 marks)</a:t>
            </a:r>
            <a:endParaRPr lang="en-US" sz="2200" dirty="0"/>
          </a:p>
        </p:txBody>
      </p:sp>
      <p:sp>
        <p:nvSpPr>
          <p:cNvPr id="9" name="step-box"/>
          <p:cNvSpPr/>
          <p:nvPr/>
        </p:nvSpPr>
        <p:spPr>
          <a:xfrm>
            <a:off x="548640" y="2655824"/>
            <a:ext cx="5341468" cy="1695196"/>
          </a:xfrm>
          <a:prstGeom prst="roundRect">
            <a:avLst>
              <a:gd name="adj" fmla="val 4315"/>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a reason about time: sea level rise cannot be reversed for centuries, whereas a damaged road can be repaired.</a:t>
            </a:r>
            <a:endParaRPr lang="en-US" sz="1800" dirty="0"/>
          </a:p>
        </p:txBody>
      </p:sp>
      <p:sp>
        <p:nvSpPr>
          <p:cNvPr id="13" name="arrow"/>
          <p:cNvSpPr/>
          <p:nvPr/>
        </p:nvSpPr>
        <p:spPr>
          <a:xfrm>
            <a:off x="5963260" y="3366262"/>
            <a:ext cx="274320" cy="274320"/>
          </a:xfrm>
          <a:prstGeom prst="rightArrow">
            <a:avLst/>
          </a:prstGeom>
          <a:solidFill>
            <a:srgbClr val="B8862B"/>
          </a:solidFill>
          <a:ln/>
        </p:spPr>
      </p:sp>
      <p:sp>
        <p:nvSpPr>
          <p:cNvPr id="14" name="step-box"/>
          <p:cNvSpPr/>
          <p:nvPr/>
        </p:nvSpPr>
        <p:spPr>
          <a:xfrm>
            <a:off x="6301588" y="2655824"/>
            <a:ext cx="5341468" cy="1695196"/>
          </a:xfrm>
          <a:prstGeom prst="roundRect">
            <a:avLst>
              <a:gd name="adj" fmla="val 4315"/>
            </a:avLst>
          </a:prstGeom>
          <a:solidFill>
            <a:srgbClr val="FFFFFF"/>
          </a:solidFill>
          <a:ln w="15875">
            <a:solidFill>
              <a:srgbClr val="95AE9B"/>
            </a:solidFill>
            <a:prstDash val="solid"/>
          </a:ln>
        </p:spPr>
      </p:sp>
      <p:sp>
        <p:nvSpPr>
          <p:cNvPr id="15" name="step-hex"/>
          <p:cNvSpPr/>
          <p:nvPr/>
        </p:nvSpPr>
        <p:spPr>
          <a:xfrm>
            <a:off x="6438748" y="2765552"/>
            <a:ext cx="530352" cy="459285"/>
          </a:xfrm>
          <a:prstGeom prst="hexagon">
            <a:avLst/>
          </a:prstGeom>
          <a:solidFill>
            <a:srgbClr val="3F6B4A"/>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by linking the two: higher seas will themselves damage coastal roads and railways, so one effect causes the other.</a:t>
            </a:r>
            <a:endParaRPr lang="en-US" sz="1800" dirty="0"/>
          </a:p>
        </p:txBody>
      </p:sp>
      <p:sp>
        <p:nvSpPr>
          <p:cNvPr id="18" name="worked-answer"/>
          <p:cNvSpPr/>
          <p:nvPr/>
        </p:nvSpPr>
        <p:spPr>
          <a:xfrm>
            <a:off x="1463040" y="4755896"/>
            <a:ext cx="9265615" cy="1388872"/>
          </a:xfrm>
          <a:prstGeom prst="roundRect">
            <a:avLst>
              <a:gd name="adj" fmla="val 13168"/>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Rising sea levels are more significant. They threaten whole low-lying countries and millions of people living on coasts, and they cannot be reversed for centuries, whereas extra transport maintenance is a cost that can be paid and a road can be repaired. In fact, higher seas will themselves flood coastal roads and railways, so the first effect causes the second.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Chains of effects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effect of climate change to the chain that leads to it.</a:t>
            </a:r>
            <a:endParaRPr lang="en-US" sz="2200" dirty="0"/>
          </a:p>
        </p:txBody>
      </p:sp>
      <p:sp>
        <p:nvSpPr>
          <p:cNvPr id="11" name="match-card"/>
          <p:cNvSpPr/>
          <p:nvPr/>
        </p:nvSpPr>
        <p:spPr>
          <a:xfrm>
            <a:off x="777240" y="2468331"/>
            <a:ext cx="3252627" cy="804809"/>
          </a:xfrm>
          <a:prstGeom prst="roundRect">
            <a:avLst>
              <a:gd name="adj" fmla="val 9089"/>
            </a:avLst>
          </a:prstGeom>
          <a:solidFill>
            <a:srgbClr val="E6ECE7"/>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65826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Rising sea levels</a:t>
            </a:r>
            <a:endParaRPr lang="en-US" sz="2000" dirty="0"/>
          </a:p>
        </p:txBody>
      </p:sp>
      <p:sp>
        <p:nvSpPr>
          <p:cNvPr id="15" name="match-card"/>
          <p:cNvSpPr/>
          <p:nvPr/>
        </p:nvSpPr>
        <p:spPr>
          <a:xfrm>
            <a:off x="4395627" y="2468331"/>
            <a:ext cx="7018828" cy="804809"/>
          </a:xfrm>
          <a:prstGeom prst="roundRect">
            <a:avLst>
              <a:gd name="adj" fmla="val 9089"/>
            </a:avLst>
          </a:prstGeom>
          <a:solidFill>
            <a:srgbClr val="F3EADB"/>
          </a:solidFill>
          <a:ln/>
        </p:spPr>
      </p:sp>
      <p:sp>
        <p:nvSpPr>
          <p:cNvPr id="16" name="match-hex"/>
          <p:cNvSpPr/>
          <p:nvPr/>
        </p:nvSpPr>
        <p:spPr>
          <a:xfrm>
            <a:off x="4468779" y="2704443"/>
            <a:ext cx="384048" cy="332586"/>
          </a:xfrm>
          <a:prstGeom prst="hexagon">
            <a:avLst/>
          </a:prstGeom>
          <a:solidFill>
            <a:srgbClr val="B8862B"/>
          </a:solidFill>
          <a:ln/>
        </p:spPr>
      </p:sp>
      <p:sp>
        <p:nvSpPr>
          <p:cNvPr id="17" name="match-hex-label"/>
          <p:cNvSpPr txBox="1"/>
          <p:nvPr/>
        </p:nvSpPr>
        <p:spPr>
          <a:xfrm>
            <a:off x="446877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916835" y="2468331"/>
            <a:ext cx="64244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People leave places hit by flooding, drought or failed harvests</a:t>
            </a:r>
            <a:endParaRPr lang="en-US" sz="2000" dirty="0"/>
          </a:p>
        </p:txBody>
      </p:sp>
      <p:sp>
        <p:nvSpPr>
          <p:cNvPr id="19" name="match-card"/>
          <p:cNvSpPr/>
          <p:nvPr/>
        </p:nvSpPr>
        <p:spPr>
          <a:xfrm>
            <a:off x="777240" y="3364581"/>
            <a:ext cx="3252627" cy="804809"/>
          </a:xfrm>
          <a:prstGeom prst="roundRect">
            <a:avLst>
              <a:gd name="adj" fmla="val 9089"/>
            </a:avLst>
          </a:prstGeom>
          <a:solidFill>
            <a:srgbClr val="E6ECE7"/>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65826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Changes to agricultural yields</a:t>
            </a:r>
            <a:endParaRPr lang="en-US" sz="2000" dirty="0"/>
          </a:p>
        </p:txBody>
      </p:sp>
      <p:sp>
        <p:nvSpPr>
          <p:cNvPr id="23" name="match-card"/>
          <p:cNvSpPr/>
          <p:nvPr/>
        </p:nvSpPr>
        <p:spPr>
          <a:xfrm>
            <a:off x="4395627" y="3364581"/>
            <a:ext cx="7018828" cy="804809"/>
          </a:xfrm>
          <a:prstGeom prst="roundRect">
            <a:avLst>
              <a:gd name="adj" fmla="val 9089"/>
            </a:avLst>
          </a:prstGeom>
          <a:solidFill>
            <a:srgbClr val="F3EADB"/>
          </a:solidFill>
          <a:ln/>
        </p:spPr>
      </p:sp>
      <p:sp>
        <p:nvSpPr>
          <p:cNvPr id="24" name="match-hex"/>
          <p:cNvSpPr/>
          <p:nvPr/>
        </p:nvSpPr>
        <p:spPr>
          <a:xfrm>
            <a:off x="4468779" y="3600692"/>
            <a:ext cx="384048" cy="332586"/>
          </a:xfrm>
          <a:prstGeom prst="hexagon">
            <a:avLst/>
          </a:prstGeom>
          <a:solidFill>
            <a:srgbClr val="B8862B"/>
          </a:solidFill>
          <a:ln/>
        </p:spPr>
      </p:sp>
      <p:sp>
        <p:nvSpPr>
          <p:cNvPr id="25" name="match-hex-label"/>
          <p:cNvSpPr txBox="1"/>
          <p:nvPr/>
        </p:nvSpPr>
        <p:spPr>
          <a:xfrm>
            <a:off x="446877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916835" y="3364581"/>
            <a:ext cx="64244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Warmer conditions let insects that carry disease move into new areas</a:t>
            </a:r>
            <a:endParaRPr lang="en-US" sz="2000" dirty="0"/>
          </a:p>
        </p:txBody>
      </p:sp>
      <p:sp>
        <p:nvSpPr>
          <p:cNvPr id="27" name="match-card"/>
          <p:cNvSpPr/>
          <p:nvPr/>
        </p:nvSpPr>
        <p:spPr>
          <a:xfrm>
            <a:off x="777240" y="4260830"/>
            <a:ext cx="3252627" cy="804809"/>
          </a:xfrm>
          <a:prstGeom prst="roundRect">
            <a:avLst>
              <a:gd name="adj" fmla="val 9089"/>
            </a:avLst>
          </a:prstGeom>
          <a:solidFill>
            <a:srgbClr val="E6ECE7"/>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65826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Increased spread of disease</a:t>
            </a:r>
            <a:endParaRPr lang="en-US" sz="2000" dirty="0"/>
          </a:p>
        </p:txBody>
      </p:sp>
      <p:sp>
        <p:nvSpPr>
          <p:cNvPr id="31" name="match-card"/>
          <p:cNvSpPr/>
          <p:nvPr/>
        </p:nvSpPr>
        <p:spPr>
          <a:xfrm>
            <a:off x="4395627" y="4260830"/>
            <a:ext cx="7018828" cy="804809"/>
          </a:xfrm>
          <a:prstGeom prst="roundRect">
            <a:avLst>
              <a:gd name="adj" fmla="val 9089"/>
            </a:avLst>
          </a:prstGeom>
          <a:solidFill>
            <a:srgbClr val="F3EADB"/>
          </a:solidFill>
          <a:ln/>
        </p:spPr>
      </p:sp>
      <p:sp>
        <p:nvSpPr>
          <p:cNvPr id="32" name="match-hex"/>
          <p:cNvSpPr/>
          <p:nvPr/>
        </p:nvSpPr>
        <p:spPr>
          <a:xfrm>
            <a:off x="4468779" y="4496941"/>
            <a:ext cx="384048" cy="332586"/>
          </a:xfrm>
          <a:prstGeom prst="hexagon">
            <a:avLst/>
          </a:prstGeom>
          <a:solidFill>
            <a:srgbClr val="B8862B"/>
          </a:solidFill>
          <a:ln/>
        </p:spPr>
      </p:sp>
      <p:sp>
        <p:nvSpPr>
          <p:cNvPr id="33" name="match-hex-label"/>
          <p:cNvSpPr txBox="1"/>
          <p:nvPr/>
        </p:nvSpPr>
        <p:spPr>
          <a:xfrm>
            <a:off x="446877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916835" y="4260830"/>
            <a:ext cx="64244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Rainfall and temperature change, so crops grow better or worse than before</a:t>
            </a:r>
            <a:endParaRPr lang="en-US" sz="2000" dirty="0"/>
          </a:p>
        </p:txBody>
      </p:sp>
      <p:sp>
        <p:nvSpPr>
          <p:cNvPr id="35" name="match-card"/>
          <p:cNvSpPr/>
          <p:nvPr/>
        </p:nvSpPr>
        <p:spPr>
          <a:xfrm>
            <a:off x="777240" y="5157079"/>
            <a:ext cx="3252627" cy="804809"/>
          </a:xfrm>
          <a:prstGeom prst="roundRect">
            <a:avLst>
              <a:gd name="adj" fmla="val 9089"/>
            </a:avLst>
          </a:prstGeom>
          <a:solidFill>
            <a:srgbClr val="E6ECE7"/>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65826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Increased migration</a:t>
            </a:r>
            <a:endParaRPr lang="en-US" sz="2000" dirty="0"/>
          </a:p>
        </p:txBody>
      </p:sp>
      <p:sp>
        <p:nvSpPr>
          <p:cNvPr id="39" name="match-card"/>
          <p:cNvSpPr/>
          <p:nvPr/>
        </p:nvSpPr>
        <p:spPr>
          <a:xfrm>
            <a:off x="4395627" y="5157079"/>
            <a:ext cx="7018828" cy="804809"/>
          </a:xfrm>
          <a:prstGeom prst="roundRect">
            <a:avLst>
              <a:gd name="adj" fmla="val 9089"/>
            </a:avLst>
          </a:prstGeom>
          <a:solidFill>
            <a:srgbClr val="F3EADB"/>
          </a:solidFill>
          <a:ln/>
        </p:spPr>
      </p:sp>
      <p:sp>
        <p:nvSpPr>
          <p:cNvPr id="40" name="match-hex"/>
          <p:cNvSpPr/>
          <p:nvPr/>
        </p:nvSpPr>
        <p:spPr>
          <a:xfrm>
            <a:off x="4468779" y="5393191"/>
            <a:ext cx="384048" cy="332586"/>
          </a:xfrm>
          <a:prstGeom prst="hexagon">
            <a:avLst/>
          </a:prstGeom>
          <a:solidFill>
            <a:srgbClr val="B8862B"/>
          </a:solidFill>
          <a:ln/>
        </p:spPr>
      </p:sp>
      <p:sp>
        <p:nvSpPr>
          <p:cNvPr id="41" name="match-hex-label"/>
          <p:cNvSpPr txBox="1"/>
          <p:nvPr/>
        </p:nvSpPr>
        <p:spPr>
          <a:xfrm>
            <a:off x="446877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916835" y="5157079"/>
            <a:ext cx="6424468"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Warmer temperatures melt ice on land, and the water flows into the sea</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Chains of effects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effect of climate change to the chain that leads to it.</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2E9E4"/>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Work backwards from each effect: ask what must have happened just before it.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Sea level is about water; which chain adds water to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Yields are about crops; disease is about insects; migration is about people moving.</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Read each finished pair as a because sentence to check it makes sense.</a:t>
            </a:r>
            <a:endParaRPr lang="en-US" sz="1800" dirty="0"/>
          </a:p>
        </p:txBody>
      </p:sp>
      <p:sp>
        <p:nvSpPr>
          <p:cNvPr id="17" name="col-Core"/>
          <p:cNvSpPr/>
          <p:nvPr/>
        </p:nvSpPr>
        <p:spPr>
          <a:xfrm>
            <a:off x="5490762" y="2578608"/>
            <a:ext cx="2938987" cy="3566160"/>
          </a:xfrm>
          <a:prstGeom prst="roundRect">
            <a:avLst>
              <a:gd name="adj" fmla="val 1867"/>
            </a:avLst>
          </a:prstGeom>
          <a:solidFill>
            <a:srgbClr val="CB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Each chain ends with the thing it explains: water into the sea, crops, insects, people moving.</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Join two of the chains together to show how an effect on the environment becomes an effect on people.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most significant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small country is made of low-lying islands only a few metres above the sea. Which effect of climate change is most significant for it, and why?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Increased maintenance of transport networks, because roads cost money</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Reduction in forest coverage, because trees store carbon</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Rising sea levels, because they threaten to flood the whole country and cannot be reversed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Melting glaciers, because the islands will lose their ice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The most significant effect</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The most significant effect</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the place is like: low-lying islands, a few metres above the sea.</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which effect could remove the country altogether. That is the most significant.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reason in the option matches: a threat to the whole country that cannot be undone.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Rule out effects the place does not have, such as glaciers on a tropical island.</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Significance depends on the place. What is the one thing a few metres of sea could take away from an island nation?</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the same effect, rising sea levels, might be placed low on the continuum by a country in the middle of a continent.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does climate change cause sea levels to rise?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Because the Moon pulls harder on a warmer ocean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Because rivers flow faster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Because more rain falls into the sea</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Because melting ice on land flows into the sea and warmer water expands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Chains of effects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Rising sea levels  →  D  Warmer temperatures melt ice on land, and the water flows into the sea</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Changes to agricultural yields  →  C  Rainfall and temperature change, so crops grow better or worse than before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Increased spread of disease  →  B  Warmer conditions let insects that carry disease move into new areas</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Increased migration  →  A  People leave places hit by flooding, drought or failed harvests</a:t>
            </a:r>
            <a:endParaRPr lang="en-US" sz="20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Each effect has a cause behind it: melting land ice raises the sea; changing rainfall and temperature change yields; warmth lets disease-carrying insects spread; disasters push people to move. Showing the chain is what turns a list into an explanation.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most significant effect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small country is made of low-lying islands only a few metres above the sea. Which effect of climate change is most significant for it, and why?</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C   Rising sea levels, because they threaten to flood the whole country and cannot be reversed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Significance depends on who is affected, how badly and for how long. For islands a few metres above the sea, rising sea levels threaten the whole country and cannot be reversed, which places them at the top of the continuum.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does climate change cause sea levels to rise?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Because melting ice on land flows into the sea and warmer water expands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Warmer temperatures melt glaciers and ice sheets on land, adding water to the oceans, and warmer sea water takes up more space.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Evidence, Causes, Effects and Management · Chapter 3: The effects of climate change on people and the environment</dc:title>
  <dc:subject>Geography · Year 11</dc:subject>
  <dc:creator>Dr Vitor Merissi de Carvalho</dc:creator>
  <cp:lastModifiedBy>Dr Vitor Merissi de Carvalho</cp:lastModifiedBy>
  <cp:revision>1</cp:revision>
  <dcterms:created xsi:type="dcterms:W3CDTF">2026-10-19T06:07:35Z</dcterms:created>
  <dcterms:modified xsi:type="dcterms:W3CDTF">2026-10-19T06:07:35Z</dcterms:modified>
</cp:coreProperties>
</file>