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a75f771-42a7-ec5e-5f0e-68a0bb397f18}">
          <p14:sldIdLst>
            <p14:sldId id="256"/>
          </p14:sldIdLst>
        </p14:section>
        <p14:section name="Gate" id="{7e7203fc-e04c-b56c-28c8-09a55680ee0a}">
          <p14:sldIdLst>
            <p14:sldId id="257"/>
            <p14:sldId id="258"/>
          </p14:sldIdLst>
        </p14:section>
        <p14:section name="Pre-teach" id="{1dff4496-e03b-6274-9b5f-236b5b494339}">
          <p14:sldIdLst>
            <p14:sldId id="259"/>
            <p14:sldId id="260"/>
          </p14:sldIdLst>
        </p14:section>
        <p14:section name="Read-along" id="{2cc90ac7-e59f-78d6-74b5-65e8986b938c}">
          <p14:sldIdLst>
            <p14:sldId id="261"/>
            <p14:sldId id="262"/>
          </p14:sldIdLst>
        </p14:section>
        <p14:section name="Teach" id="{4f3199c9-0f93-f55b-fb06-0c1062b4ed44}">
          <p14:sldIdLst>
            <p14:sldId id="263"/>
            <p14:sldId id="264"/>
            <p14:sldId id="265"/>
            <p14:sldId id="266"/>
            <p14:sldId id="267"/>
            <p14:sldId id="268"/>
            <p14:sldId id="269"/>
            <p14:sldId id="270"/>
          </p14:sldIdLst>
        </p14:section>
        <p14:section name="Routes" id="{2581356e-b145-2736-5be0-586583aad4ef}">
          <p14:sldIdLst>
            <p14:sldId id="271"/>
            <p14:sldId id="272"/>
            <p14:sldId id="273"/>
            <p14:sldId id="274"/>
          </p14:sldIdLst>
        </p14:section>
        <p14:section name="Close" id="{89f4714b-41b5-4557-cda8-9ba1acd6de31}">
          <p14:sldIdLst>
            <p14:sldId id="275"/>
          </p14:sldIdLst>
        </p14:section>
        <p14:section name="Answers" id="{3e9c1122-11f1-ceaa-06b9-cd41aba2d0da}">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Question 4: comparing the writers’ perspectives. You will work out how each writer feels about the same subject, compare their perspectives, and comment on the methods each writer uses to convey them.
This deck covers the department's lessons: 4 (Question 4: Paper 2: How do the two writers present their feelings and perspectives, and what methods do they use?); 5 (Mid-unit assessment: timings and Questions 1 to 4: How do I time the whole paper and answer Questions 1 to 4 in exam conditions?).
Read the big question aloud: "How do I read two writers’ viewpoints and perspectives, and how do I structure a non-fiction response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many marks is Question 4 worth?  →  C   16
2. In Question 4 you compare the writers’ ideas and ___.  →  perspectives
3. From 2026, what does the second bullet point of Question 4 ask you to do?  →  B   Comment on the methods the writers use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16. Question 4 is worth 16 marks and takes about 20 minutes.
2. perspectives. Question 4 is a comparison of the writers’ ideas and perspectives.
3. B   Comment on the methods the writers use. The second bullet now reads ‘comment on the methods the writers use’; the comparison is of ideas and perspectives.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perspective: how a writer sees and feels about something. Example: "Charlotte’s perspective on the lions is delight; the modern writer’s is doubt."
• convey: get a feeling or idea across to the reader. Example: "Short sentences convey the writer’s unease."
• method: a tool the writer uses on purpose. Example: "Writing in the first person is a method."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contrastingly: in a different or opposite way. Example: "Contrastingly, in Source B the writer feels proud."
• first person: telling it as ‘I’ and ‘we’. Example: "Both sources are written in the first person."
• chronological: in time order. Example: "Both writers tell their day in chronological order."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Question 4 is worth sixteen marks.
2. Spend about twenty minutes on it.
3. It asks you to compare the two writers.
4. A perspective is how a writer sees and feels about something.
5. First, work out how the writer of Source A feels.
6. Underline the evidence.
7. Then do the same for Source B.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Ask why their views might differ.
9. The time they were written matters.
10. Comment on the methods each writer uses.
11. First person, the order of events, the pace, the choice of words.
12. Use the stems: Both writers… In Source A… Contrastingly, in Source B…
13. Finish each point with what the evidence implies.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Question 4 asks. Say it in your own words, then check understanding with a quick question: ask a pupil from the pre-teach group first, since they met these words and ideas before the lesson. Pupils try to recall before you re-explain.
Question 4 is worth 16 marks, the biggest reading question, and should take about 20 minutes. It asks you to use the whole of both sources and to compare how the two writers convey their different perspectives (or attitudes, or feelings) about the shared topic. It is a comparison of ideas and perspectives first; the writers’ methods are there to show how each perspective is conveyed.
From 2026 the question’s second bullet point reads ‘comment on the methods the writers use’, where it used to say ‘compare the methods’. In practice: you still need to write about methods in both sources, but you do not have to find a matching method in each. Compare the perspectives; comment on the methods that carry them; support everything with references to both texts.
Tip: Spend about twenty minutes. Three developed comparisons beat six thin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Find each writer’s feelings and perspective. Say it in your own words, then check understanding with a quick question: ask a pupil from the pre-teach group first, since they met these words and ideas before the lesson. Pupils try to recall before you re-explain.
Start with Source A. Read it again and ask: how does the writer feel about her day, and does that feeling change? At the meerkats she is “completely happy”. At the tiger she grows uneasy: she notices the worn grass, the stare “through us”, the boy banging. By the end she doubts the whole visit: “But what, exactly, have we seen?” Her perspective moves from joy to unease to doubt.
Now Source B. Charlotte is delighted from the first line and proud to be there. She finds the lions wonderful, and the fact that the wild world can be “caged and quiet and safe” in the middle of London is, to her aunt, “the triumph of the age”. Only in the last lines does a flicker of doubt appear: Edward says the lion looked bored, and she thinks “they are both right”.
Then ask why the perspectives differ. Charlotte writes in 1854, when seeing a live lion was a rare wonder and keeping one was a sign of national pride. The modern writer, in 2024, has seen a thousand tigers on screens, and worries about what a caged one is for. The time period is part of the explanation, and examiners reward you for saying so.
Quotation: "I stood as near as I was permitted and looked into the creature’s great golden eyes, and I thought how wonderful it is that we may stand in the middle of London and see the wild world brought to our very feet, caged and quiet and safe, for the price of a shilling. Aunt Lydia says it is the triumph of the age. Edward says the lion looked bored. I think they are both right, though I shall not tell either of them so." (Source B, Charlotte’s letter (1854), Part 2 — original passage written for Ad Astra). Read it aloud; ask what it shows.
Tip: Underline feelings in one colour for Source A and another for Source B before you write a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Methods that convey perspective. Say it in your own words, then check understanding with a quick question: ask a pupil from the pre-teach group first, since they met these words and ideas before the lesson. Pupils try to recall before you re-explain.
Your teachers list the methods to look for. First-person narrative: both writers say ‘I’, so we trust their feelings as honest and direct. Chronological structure: both tell the day in order, which lets us watch the feeling change. Pace: Source A slows down at the tiger, with long sentences counting his paces, then stops dead on “Tigers: tick.”; Source B speeds up with exclamations, “But the lions, Harriet!”, as the excitement rises.
Word choice and sentence form are methods too. The modern writer asks a question she cannot answer, “But what, exactly, have we seen?”, and the hesitating commas show her doubt. Charlotte piles up positive words in a triple, “caged and quiet and safe”, where the repeated ‘and’ makes the lion sound thoroughly tamed and the writer sound reassured.
Worked example — model it step by step, thinking aloud: Compare one method in each source that conveys the writer’s perspective on the big cat. (1) Source A: the short sentence “Tigers: tick.” after long descriptive sentences. (2) Effect: the day is reduced to a box on a list, which conveys the writer’s growing sense that the visit is hollow. (3) Source B: the exclamation “But the lions, Harriet!”. (4) Effect: the exclamation and the direct address to her sister convey Charlotte’s rush of excitement; she can hardly wait to tell it. Answer: In Source A the writer uses the two-word sentence “Tigers: tick.” to convey her unease: after long sentences about the pacing tiger, the day shrinks to a box on a list. Contrastingly, in Source B the writer uses an exclamation, “But the lions, Harriet!”, to convey her excitement; the direct address makes the reader feel her rush to share the moment..
Tip: A method is only worth naming if you say what perspective it conveys.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Methods that convey perspective. Say it in your own words, then check understanding with a quick question: ask a pupil from the pre-teach group first, since they met these words and ideas before the lesson. Pupils try to recall before you re-explain.
Your teachers list the methods to look for. First-person narrative: both writers say ‘I’, so we trust their feelings as honest and direct. Chronological structure: both tell the day in order, which lets us watch the feeling change. Pace: Source A slows down at the tiger, with long sentences counting his paces, then stops dead on “Tigers: tick.”; Source B speeds up with exclamations, “But the lions, Harriet!”, as the excitement rises.
Word choice and sentence form are methods too. The modern writer asks a question she cannot answer, “But what, exactly, have we seen?”, and the hesitating commas show her doubt. Charlotte piles up positive words in a triple, “caged and quiet and safe”, where the repeated ‘and’ makes the lion sound thoroughly tamed and the writer sound reassured.
Worked example — model it step by step, thinking aloud: Compare one method in each source that conveys the writer’s perspective on the big cat. (1) Source A: the short sentence “Tigers: tick.” after long descriptive sentences. (2) Effect: the day is reduced to a box on a list, which conveys the writer’s growing sense that the visit is hollow. (3) Source B: the exclamation “But the lions, Harriet!”. (4) Effect: the exclamation and the direct address to her sister convey Charlotte’s rush of excitement; she can hardly wait to tell it. Answer: In Source A the writer uses the two-word sentence “Tigers: tick.” to convey her unease: after long sentences about the pacing tiger, the day shrinks to a box on a list. Contrastingly, in Source B the writer uses an exclamation, “But the lions, Harriet!”, to convey her excitement; the direct address makes the reader feel her rush to share the moment..
Tip: A method is only worth naming if you say what perspective it conveys.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Methods that convey perspective. Say it in your own words, then check understanding with a quick question: ask a pupil from the pre-teach group first, since they met these words and ideas before the lesson. Pupils try to recall before you re-explain.
Your teachers list the methods to look for. First-person narrative: both writers say ‘I’, so we trust their feelings as honest and direct. Chronological structure: both tell the day in order, which lets us watch the feeling change. Pace: Source A slows down at the tiger, with long sentences counting his paces, then stops dead on “Tigers: tick.”; Source B speeds up with exclamations, “But the lions, Harriet!”, as the excitement rises.
Word choice and sentence form are methods too. The modern writer asks a question she cannot answer, “But what, exactly, have we seen?”, and the hesitating commas show her doubt. Charlotte piles up positive words in a triple, “caged and quiet and safe”, where the repeated ‘and’ makes the lion sound thoroughly tamed and the writer sound reassured.
Worked example — model it step by step, thinking aloud: Compare one method in each source that conveys the writer’s perspective on the big cat. (1) Source A: the short sentence “Tigers: tick.” after long descriptive sentences. (2) Effect: the day is reduced to a box on a list, which conveys the writer’s growing sense that the visit is hollow. (3) Source B: the exclamation “But the lions, Harriet!”. (4) Effect: the exclamation and the direct address to her sister convey Charlotte’s rush of excitement; she can hardly wait to tell it. Answer: In Source A the writer uses the two-word sentence “Tigers: tick.” to convey her unease: after long sentences about the pacing tiger, the day shrinks to a box on a list. Contrastingly, in Source B the writer uses an exclamation, “But the lions, Harriet!”, to convey her excitement; the direct address makes the reader feel her rush to share the moment..
Tip: A method is only worth naming if you say what perspective it conveys.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Methods that convey perspective. Say it in your own words, then check understanding with a quick question: ask a pupil from the pre-teach group first, since they met these words and ideas before the lesson. Pupils try to recall before you re-explain.
Your teachers list the methods to look for. First-person narrative: both writers say ‘I’, so we trust their feelings as honest and direct. Chronological structure: both tell the day in order, which lets us watch the feeling change. Pace: Source A slows down at the tiger, with long sentences counting his paces, then stops dead on “Tigers: tick.”; Source B speeds up with exclamations, “But the lions, Harriet!”, as the excitement rises.
Word choice and sentence form are methods too. The modern writer asks a question she cannot answer, “But what, exactly, have we seen?”, and the hesitating commas show her doubt. Charlotte piles up positive words in a triple, “caged and quiet and safe”, where the repeated ‘and’ makes the lion sound thoroughly tamed and the writer sound reassured.
Worked example — model it step by step, thinking aloud: Compare one method in each source that conveys the writer’s perspective on the big cat. (1) Source A: the short sentence “Tigers: tick.” after long descriptive sentences. (2) Effect: the day is reduced to a box on a list, which conveys the writer’s growing sense that the visit is hollow. (3) Source B: the exclamation “But the lions, Harriet!”. (4) Effect: the exclamation and the direct address to her sister convey Charlotte’s rush of excitement; she can hardly wait to tell it. Answer: In Source A the writer uses the two-word sentence “Tigers: tick.” to convey her unease: after long sentences about the pacing tiger, the day shrinks to a box on a list. Contrastingly, in Source B the writer uses an exclamation, “But the lions, Harriet!”, to convey her excitement; the direct address makes the reader feel her rush to share the moment..
Tip: A method is only worth naming if you say what perspective it conveys.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Methods that convey perspective. Say it in your own words, then check understanding with a quick question: ask a pupil from the pre-teach group first, since they met these words and ideas before the lesson. Pupils try to recall before you re-explain.
Your teachers list the methods to look for. First-person narrative: both writers say ‘I’, so we trust their feelings as honest and direct. Chronological structure: both tell the day in order, which lets us watch the feeling change. Pace: Source A slows down at the tiger, with long sentences counting his paces, then stops dead on “Tigers: tick.”; Source B speeds up with exclamations, “But the lions, Harriet!”, as the excitement rises.
Word choice and sentence form are methods too. The modern writer asks a question she cannot answer, “But what, exactly, have we seen?”, and the hesitating commas show her doubt. Charlotte piles up positive words in a triple, “caged and quiet and safe”, where the repeated ‘and’ makes the lion sound thoroughly tamed and the writer sound reassured.
Worked example — model it step by step, thinking aloud: Compare one method in each source that conveys the writer’s perspective on the big cat. (1) Source A: the short sentence “Tigers: tick.” after long descriptive sentences. (2) Effect: the day is reduced to a box on a list, which conveys the writer’s growing sense that the visit is hollow. (3) Source B: the exclamation “But the lions, Harriet!”. (4) Effect: the exclamation and the direct address to her sister convey Charlotte’s rush of excitement; she can hardly wait to tell it. Answer: In Source A the writer uses the two-word sentence “Tigers: tick.” to convey her unease: after long sentences about the pacing tiger, the day shrinks to a box on a list. Contrastingly, in Source B the writer uses an exclamation, “But the lions, Harriet!”, to convey her excitement; the direct address makes the reader feel her rush to share the moment..
Tip: A method is only worth naming if you say what perspective it conveys.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the comparison. Say it in your own words, then check understanding with a quick question: ask a pupil from the pre-teach group first, since they met these words and ideas before the lesson. Pupils try to recall before you re-explain.
Use your teachers’ sentence stems. Open with the shared ground: ‘Both writers suggest…’ or ‘Both writers show…’. Then: ‘In Source A the writer…’, ‘This is shown by…’ (add a short quotation), ‘This implies / suggests / highlights…’. Then turn: ‘Similarly, in Source B…’ or ‘Contrastingly, in Source B…’, ‘This is shown when…’, ‘This implies…’. Each turn of the frame is one comparison.
Aim for three comparisons in twenty minutes: perhaps how each writer feels at the start, how each describes the big cat, and how each ends. In every one, name a method and say what it conveys. Finish by returning to the question: whose perspective is more troubled, and why might that be, given when each text was written?
Tip: If a paragraph only retells what happened, ask: how does the writer convey what she feels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Whose perspective?.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statement best sums up how the two writers’ perspectives differ?
Support — work through the steps with the group: (1) Find how Source A ends: a question the writer cannot answer. (2) Find how Source B ends: the triumph of the age, with one small doubt. (3) Pick the statement that gives each writer the right feeling.
Parallel worked example for Support (model it, do not give the task answer): Two reviews of the same film: one calls it ‘two hours I will never get back’, the other ‘the best night out this year’. How do their perspectives differ? The first is negative throughout.; The second is positive throughout.. Answer: The first reviewer thinks the film wasted their time; the second thinks it was worth every minute..
Core — reveal the hint only on request: One writer uses the word ‘wonderful’. The other asks a question she cannot answer.
Stretch — no help; when finished: Charlotte admits Edward is ‘right’ that the lion looked bored. Explain how that one line brings the two perspectives closer than they first seem.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Whose perspective?.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statement best sums up how the two writers’ perspectives differ?
Support — work through the steps with the group: (1) Find how Source A ends: a question the writer cannot answer. (2) Find how Source B ends: the triumph of the age, with one small doubt. (3) Pick the statement that gives each writer the right feeling.
Parallel worked example for Support (model it, do not give the task answer): Two reviews of the same film: one calls it ‘two hours I will never get back’, the other ‘the best night out this year’. How do their perspectives differ? The first is negative throughout.; The second is positive throughout.. Answer: The first reviewer thinks the film wasted their time; the second thinks it was worth every minute..
Core — reveal the hint only on request: One writer uses the word ‘wonderful’. The other asks a question she cannot answer.
Stretch — no help; when finished: Charlotte admits Edward is ‘right’ that the lion looked bored. Explain how that one line brings the two perspectives closer than they first seem.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Build the comparison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parts of a Question 4 comparison in the order your teachers’ stems use.
Support — work through the steps with the group: (1) Start with what both writers share. (2) Deal with Source A completely before you turn to Source B. (3) Each source gets: perspective, evidence, meaning. (4) The turning word, ‘Similarly’ or ‘Contrastingly’, begins the Source B half.
Parallel worked example for Support (model it, do not give the task answer): Order these parts of a comparison of two football reports: the second report’s view, the shared topic, the first report’s view with evidence. Shared topic first.; First report, with evidence.; Then the second.. Answer: Shared topic, first report with evidence, second report with evidence..
Core — reveal the hint only on request: The frame is a mirror: Source A gets perspective, evidence, meaning; then Source B gets the same three.
Stretch — no help; when finished: Explain why naming the method inside ‘This implies…’ is stronger than listing methods in a separate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Build the comparison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parts of a Question 4 comparison in the order your teachers’ stems use.
Support — work through the steps with the group: (1) Start with what both writers share. (2) Deal with Source A completely before you turn to Source B. (3) Each source gets: perspective, evidence, meaning. (4) The turning word, ‘Similarly’ or ‘Contrastingly’, begins the Source B half.
Parallel worked example for Support (model it, do not give the task answer): Order these parts of a comparison of two football reports: the second report’s view, the shared topic, the first report’s view with evidence. Shared topic first.; First report, with evidence.; Then the second.. Answer: Shared topic, first report with evidence, second report with evidence..
Core — reveal the hint only on request: The frame is a mirror: Source A gets perspective, evidence, meaning; then Source B gets the same three.
Stretch — no help; when finished: Explain why naming the method inside ‘This implies…’ is stronger than listing methods in a separate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How many marks is Question 4 worth?
Answer: B   16. Question 4 is worth 16 marks and takes about 20 minutes.
Source of this question: gate item 1 re-asked (options rotated) — this chapter has no third quick-check module.
The ebook also holds task 3, "Question 4 practice answer",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Whose perspective?. Reveal the answer; pupils mark their own work in a different colour, then read the "why" together. Same destination for every lane, so one answer serves the whole class.
Answer: B   Charlotte sees the Gardens as a triumph, while the modern writer comes to doubt what the park is for.
Why: Charlotte finds the caged lion wonderful and calls the Gardens a triumph; the modern writer, happy at first, ends unsure what the visit has given anyone.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Build the comparison in order. Reveal the answer; pupils mark their own work in a different colour, then read the "why" together. Same destination for every lane, so one answer serves the whole class.
Answer: Both writers show… (the shared ground)  (C); In Source A the writer… (her perspective)  (D); This is shown by… (a short quotation)  (E); This implies… (what it suggests, and the method that conveys it)  (A); Contrastingly, in Source B the writer… (her perspective)  (B); This is shown when… This implies… (quotation, method, meaning)  (F)
Why: Both writers; Source A, evidence, meaning; then Contrastingly, Source B, evidence, meaning: one comparison, with the methods commented on as you go.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16
Why: Question 4 is worth 16 marks and takes about 20 minutes.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5CFD1"/>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Language Paper 2 · AQA 8700</a:t>
            </a:r>
            <a:endParaRPr lang="en-US" sz="1800" dirty="0"/>
          </a:p>
        </p:txBody>
      </p:sp>
      <p:sp>
        <p:nvSpPr>
          <p:cNvPr id="10" name="deck-title"/>
          <p:cNvSpPr txBox="1"/>
          <p:nvPr/>
        </p:nvSpPr>
        <p:spPr>
          <a:xfrm>
            <a:off x="548640" y="219633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Question 4: comparing the writers’ perspectives</a:t>
            </a:r>
            <a:endParaRPr lang="en-US" sz="3200" dirty="0"/>
          </a:p>
        </p:txBody>
      </p:sp>
      <p:sp>
        <p:nvSpPr>
          <p:cNvPr id="11" name="lessons-card"/>
          <p:cNvSpPr/>
          <p:nvPr/>
        </p:nvSpPr>
        <p:spPr>
          <a:xfrm>
            <a:off x="548640" y="3608578"/>
            <a:ext cx="5287975" cy="1638300"/>
          </a:xfrm>
          <a:prstGeom prst="roundRect">
            <a:avLst>
              <a:gd name="adj" fmla="val 4465"/>
            </a:avLst>
          </a:prstGeom>
          <a:solidFill>
            <a:srgbClr val="F0E4E5"/>
          </a:solidFill>
          <a:ln/>
        </p:spPr>
      </p:sp>
      <p:sp>
        <p:nvSpPr>
          <p:cNvPr id="12" name="lessons"/>
          <p:cNvSpPr txBox="1"/>
          <p:nvPr/>
        </p:nvSpPr>
        <p:spPr>
          <a:xfrm>
            <a:off x="685800" y="370001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Question 4: Paper 2</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Mid-unit assessment: timings and Questions 1 to 4</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E4E5"/>
          </a:solidFill>
          <a:ln w="12700">
            <a:solidFill>
              <a:srgbClr val="CEA6A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I read two writers’ viewpoints and perspectives, and how do I structure a non-fiction response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marks is Question 4 worth?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20</a:t>
            </a:r>
            <a:endParaRPr lang="en-US" sz="2400" dirty="0"/>
          </a:p>
        </p:txBody>
      </p:sp>
      <p:sp>
        <p:nvSpPr>
          <p:cNvPr id="12"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Question 4 you compare the writers’ ideas and ___.</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perspectives  ·  spellings  ·  paragraphs</a:t>
            </a:r>
            <a:endParaRPr lang="en-US" sz="2400" dirty="0"/>
          </a:p>
        </p:txBody>
      </p:sp>
      <p:sp>
        <p:nvSpPr>
          <p:cNvPr id="17"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From 2026, what does the second bullet point of Question 4 ask you to do?</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Compare the methods the writers use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Comment on the methods the writers use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Summarise the two sources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four true statements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16</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marks is Question 4 worth?</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Question 4 is worth 16 marks and takes about 20 minutes.</a:t>
            </a:r>
            <a:endParaRPr lang="en-US" sz="2200" dirty="0"/>
          </a:p>
        </p:txBody>
      </p:sp>
      <p:sp>
        <p:nvSpPr>
          <p:cNvPr id="14"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perspectives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Question 4 you compare the writers’ ideas and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Question 4 is a comparison of the writers’ ideas and perspectives.</a:t>
            </a:r>
            <a:endParaRPr lang="en-US" sz="2200" dirty="0"/>
          </a:p>
        </p:txBody>
      </p:sp>
      <p:sp>
        <p:nvSpPr>
          <p:cNvPr id="21"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Comment on the methods the writers use</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second bullet now reads ‘comment on the methods the writers use’; the comparison is of ideas and perspectives.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8E9"/>
          </a:solidFill>
          <a:ln w="12700">
            <a:solidFill>
              <a:srgbClr val="CEA6A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perspective</a:t>
            </a:r>
            <a:endParaRPr lang="en-US" sz="2600" dirty="0"/>
          </a:p>
        </p:txBody>
      </p:sp>
      <p:sp>
        <p:nvSpPr>
          <p:cNvPr id="11" name="word-rule"/>
          <p:cNvSpPr/>
          <p:nvPr/>
        </p:nvSpPr>
        <p:spPr>
          <a:xfrm>
            <a:off x="731520" y="2129028"/>
            <a:ext cx="3149498" cy="0"/>
          </a:xfrm>
          <a:prstGeom prst="line">
            <a:avLst/>
          </a:prstGeom>
          <a:ln w="12700">
            <a:solidFill>
              <a:srgbClr val="CEA6A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a writer sees and feels about something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Charlotte’s perspective on the lions is delight; the modern writer’s is doubt.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8E9"/>
          </a:solidFill>
          <a:ln w="12700">
            <a:solidFill>
              <a:srgbClr val="CEA6A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convey</a:t>
            </a:r>
            <a:endParaRPr lang="en-US" sz="2600" dirty="0"/>
          </a:p>
        </p:txBody>
      </p:sp>
      <p:sp>
        <p:nvSpPr>
          <p:cNvPr id="17" name="word-rule"/>
          <p:cNvSpPr/>
          <p:nvPr/>
        </p:nvSpPr>
        <p:spPr>
          <a:xfrm>
            <a:off x="4521098" y="2129028"/>
            <a:ext cx="3149498" cy="0"/>
          </a:xfrm>
          <a:prstGeom prst="line">
            <a:avLst/>
          </a:prstGeom>
          <a:ln w="12700">
            <a:solidFill>
              <a:srgbClr val="CEA6A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get a feeling or idea across to the reader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Short sentences convey the writer’s unease.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8E9"/>
          </a:solidFill>
          <a:ln w="12700">
            <a:solidFill>
              <a:srgbClr val="CEA6A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method</a:t>
            </a:r>
            <a:endParaRPr lang="en-US" sz="2600" dirty="0"/>
          </a:p>
        </p:txBody>
      </p:sp>
      <p:sp>
        <p:nvSpPr>
          <p:cNvPr id="23" name="word-rule"/>
          <p:cNvSpPr/>
          <p:nvPr/>
        </p:nvSpPr>
        <p:spPr>
          <a:xfrm>
            <a:off x="8310677" y="2129028"/>
            <a:ext cx="3149498" cy="0"/>
          </a:xfrm>
          <a:prstGeom prst="line">
            <a:avLst/>
          </a:prstGeom>
          <a:ln w="12700">
            <a:solidFill>
              <a:srgbClr val="CEA6A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tool the writer uses on purpose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Writing in the first person is a method.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8E9"/>
          </a:solidFill>
          <a:ln w="12700">
            <a:solidFill>
              <a:srgbClr val="CEA6A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contrastingly</a:t>
            </a:r>
            <a:endParaRPr lang="en-US" sz="2600" dirty="0"/>
          </a:p>
        </p:txBody>
      </p:sp>
      <p:sp>
        <p:nvSpPr>
          <p:cNvPr id="11" name="word-rule"/>
          <p:cNvSpPr/>
          <p:nvPr/>
        </p:nvSpPr>
        <p:spPr>
          <a:xfrm>
            <a:off x="731520" y="2129028"/>
            <a:ext cx="3149498" cy="0"/>
          </a:xfrm>
          <a:prstGeom prst="line">
            <a:avLst/>
          </a:prstGeom>
          <a:ln w="12700">
            <a:solidFill>
              <a:srgbClr val="CEA6A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in a different or opposite way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Contrastingly, in Source B the writer feels proud.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8E9"/>
          </a:solidFill>
          <a:ln w="12700">
            <a:solidFill>
              <a:srgbClr val="CEA6A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first person</a:t>
            </a:r>
            <a:endParaRPr lang="en-US" sz="2600" dirty="0"/>
          </a:p>
        </p:txBody>
      </p:sp>
      <p:sp>
        <p:nvSpPr>
          <p:cNvPr id="17" name="word-rule"/>
          <p:cNvSpPr/>
          <p:nvPr/>
        </p:nvSpPr>
        <p:spPr>
          <a:xfrm>
            <a:off x="4521098" y="2129028"/>
            <a:ext cx="3149498" cy="0"/>
          </a:xfrm>
          <a:prstGeom prst="line">
            <a:avLst/>
          </a:prstGeom>
          <a:ln w="12700">
            <a:solidFill>
              <a:srgbClr val="CEA6A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telling it as ‘I’ and ‘we’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Both sources are written in the first person.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8E9"/>
          </a:solidFill>
          <a:ln w="12700">
            <a:solidFill>
              <a:srgbClr val="CEA6A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chronological</a:t>
            </a:r>
            <a:endParaRPr lang="en-US" sz="2600" dirty="0"/>
          </a:p>
        </p:txBody>
      </p:sp>
      <p:sp>
        <p:nvSpPr>
          <p:cNvPr id="23" name="word-rule"/>
          <p:cNvSpPr/>
          <p:nvPr/>
        </p:nvSpPr>
        <p:spPr>
          <a:xfrm>
            <a:off x="8310677" y="2129028"/>
            <a:ext cx="3149498" cy="0"/>
          </a:xfrm>
          <a:prstGeom prst="line">
            <a:avLst/>
          </a:prstGeom>
          <a:ln w="12700">
            <a:solidFill>
              <a:srgbClr val="CEA6A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in time order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Both writers tell their day in chronological order.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Question 4 is worth sixteen marks.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Spend about twenty minutes on 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asks you to compare the two writers.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perspective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how a writer sees and feels about something.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First, work out how the writer of Source A feels.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Underline the evidence.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do the same for Source B.</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Ask why their views might differ.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time they were written matters.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Comment on the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methods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each writer uses.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First person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order of events, the pace, the choice of words.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Use the stems: Both writers… In Source A…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Contrastingly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 Source B…</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Finish each point with what the evidence implies.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What Question 4 asks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Spend about twenty minutes. Three developed comparisons beat six thin ones.</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Question 4 is worth 16 marks, the biggest reading question, and should take about 20 minutes.</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From 2026 the question’s second bullet point reads ‘comment on the methods the writers use’, where it used to say ‘compare the methods’.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Find each writer’s feelings and perspective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Underline feelings in one colour for Source A and another for Source B before you write a word.</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0E4E5"/>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1800" i="1" dirty="0">
                <a:solidFill>
                  <a:srgbClr val="1E2229"/>
                </a:solidFill>
                <a:latin typeface="Cambria" pitchFamily="34" charset="0"/>
                <a:ea typeface="Cambria" pitchFamily="34" charset="-122"/>
                <a:cs typeface="Cambria" pitchFamily="34" charset="-120"/>
              </a:rPr>
              <a:t>I stood as near as I was permitted and looked into the creature’s great golden eyes, and I thought how wonderful it is that we may stand in the middle of London and see the wild world brought to our very feet, caged and quiet and safe, for the price of a shilling. Aunt Lydia says it is the triumph of the age. Edward says the lion looked bored. I think they are both right, though I shall not tell either of them so.</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 Source B, Charlotte’s letter (1854), Part 2 — original passage written for Ad Astra</a:t>
            </a:r>
            <a:endParaRPr lang="en-US" sz="1800" dirty="0"/>
          </a:p>
        </p:txBody>
      </p:sp>
      <p:sp>
        <p:nvSpPr>
          <p:cNvPr id="14" name="bullet-card"/>
          <p:cNvSpPr/>
          <p:nvPr/>
        </p:nvSpPr>
        <p:spPr>
          <a:xfrm>
            <a:off x="548640" y="1389888"/>
            <a:ext cx="5074920" cy="1038183"/>
          </a:xfrm>
          <a:prstGeom prst="roundRect">
            <a:avLst>
              <a:gd name="adj" fmla="val 7046"/>
            </a:avLst>
          </a:prstGeom>
          <a:solidFill>
            <a:srgbClr val="F2E8E9"/>
          </a:solidFill>
          <a:ln/>
        </p:spPr>
      </p:sp>
      <p:sp>
        <p:nvSpPr>
          <p:cNvPr id="15" name="bullet-hex"/>
          <p:cNvSpPr/>
          <p:nvPr/>
        </p:nvSpPr>
        <p:spPr>
          <a:xfrm>
            <a:off x="676656" y="1742687"/>
            <a:ext cx="384048" cy="332586"/>
          </a:xfrm>
          <a:prstGeom prst="hexagon">
            <a:avLst/>
          </a:prstGeom>
          <a:solidFill>
            <a:srgbClr val="8C2F39"/>
          </a:solidFill>
          <a:ln/>
        </p:spPr>
      </p:sp>
      <p:sp>
        <p:nvSpPr>
          <p:cNvPr id="16" name="bullet"/>
          <p:cNvSpPr txBox="1"/>
          <p:nvPr/>
        </p:nvSpPr>
        <p:spPr>
          <a:xfrm>
            <a:off x="1143000" y="1389888"/>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with Source A. Read it again and ask: how does the writer feel about her day, and does that feeling change?</a:t>
            </a:r>
            <a:endParaRPr lang="en-US" sz="1800" dirty="0"/>
          </a:p>
        </p:txBody>
      </p:sp>
      <p:sp>
        <p:nvSpPr>
          <p:cNvPr id="17" name="bullet-card"/>
          <p:cNvSpPr/>
          <p:nvPr/>
        </p:nvSpPr>
        <p:spPr>
          <a:xfrm>
            <a:off x="548640" y="2574375"/>
            <a:ext cx="5074920" cy="759291"/>
          </a:xfrm>
          <a:prstGeom prst="roundRect">
            <a:avLst>
              <a:gd name="adj" fmla="val 9634"/>
            </a:avLst>
          </a:prstGeom>
          <a:solidFill>
            <a:srgbClr val="F2E8E9"/>
          </a:solidFill>
          <a:ln/>
        </p:spPr>
      </p:sp>
      <p:sp>
        <p:nvSpPr>
          <p:cNvPr id="18" name="bullet-hex"/>
          <p:cNvSpPr/>
          <p:nvPr/>
        </p:nvSpPr>
        <p:spPr>
          <a:xfrm>
            <a:off x="676656" y="2787727"/>
            <a:ext cx="384048" cy="332586"/>
          </a:xfrm>
          <a:prstGeom prst="hexagon">
            <a:avLst/>
          </a:prstGeom>
          <a:solidFill>
            <a:srgbClr val="B8862B"/>
          </a:solidFill>
          <a:ln/>
        </p:spPr>
      </p:sp>
      <p:sp>
        <p:nvSpPr>
          <p:cNvPr id="19" name="bullet"/>
          <p:cNvSpPr txBox="1"/>
          <p:nvPr/>
        </p:nvSpPr>
        <p:spPr>
          <a:xfrm>
            <a:off x="1143000" y="2574375"/>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Now Source B. Charlotte is delighted from the first line and proud to be there.</a:t>
            </a:r>
            <a:endParaRPr lang="en-US" sz="1800" dirty="0"/>
          </a:p>
        </p:txBody>
      </p:sp>
      <p:sp>
        <p:nvSpPr>
          <p:cNvPr id="20" name="bullet-card"/>
          <p:cNvSpPr/>
          <p:nvPr/>
        </p:nvSpPr>
        <p:spPr>
          <a:xfrm>
            <a:off x="548640" y="3479969"/>
            <a:ext cx="5074920" cy="1317075"/>
          </a:xfrm>
          <a:prstGeom prst="roundRect">
            <a:avLst>
              <a:gd name="adj" fmla="val 5554"/>
            </a:avLst>
          </a:prstGeom>
          <a:solidFill>
            <a:srgbClr val="F2E8E9"/>
          </a:solidFill>
          <a:ln/>
        </p:spPr>
      </p:sp>
      <p:sp>
        <p:nvSpPr>
          <p:cNvPr id="21" name="bullet-hex"/>
          <p:cNvSpPr/>
          <p:nvPr/>
        </p:nvSpPr>
        <p:spPr>
          <a:xfrm>
            <a:off x="676656" y="3972214"/>
            <a:ext cx="384048" cy="332586"/>
          </a:xfrm>
          <a:prstGeom prst="hexagon">
            <a:avLst/>
          </a:prstGeom>
          <a:solidFill>
            <a:srgbClr val="8C2F39"/>
          </a:solidFill>
          <a:ln/>
        </p:spPr>
      </p:sp>
      <p:sp>
        <p:nvSpPr>
          <p:cNvPr id="22" name="bullet"/>
          <p:cNvSpPr txBox="1"/>
          <p:nvPr/>
        </p:nvSpPr>
        <p:spPr>
          <a:xfrm>
            <a:off x="1143000" y="3479969"/>
            <a:ext cx="4389120"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ask why the perspectives differ. Charlotte writes in 1854, when seeing a live lion was a rare wonder and keeping one was a sign of national pride.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Methods that convey perspective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method is only worth naming if you say what perspective it conveys.</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teachers list the methods to look for. First-person narrative: both writers say ‘I’, so we trust their feelings as honest and direct.</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Word choice and sentence form are methods too. The modern writer asks a question she cannot answer, “But what, exactly, have we seen?”, and the hesitating commas show her doubt.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(1 of 4): Methods that convey perspective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E4E5"/>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Compare one method in each source that conveys the writer’s perspective on the big cat.</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Source A: the short sentence “Tigers: tick.” after long descriptive sentences.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(2 of 4): Methods that convey perspective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E4E5"/>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Compare one method in each source that conveys the writer’s perspective on the big cat.</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Effect: the day is reduced to a box on a list, which conveys the writer’s growing sense that the visit is hollow.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(3 of 4): Methods that convey perspective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E4E5"/>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Compare one method in each source that conveys the writer’s perspective on the big cat.</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Source B: the exclamation “But the lions, Harriet!”.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(4 of 4): Methods that convey perspective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E4E5"/>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Compare one method in each source that conveys the writer’s perspective on the big cat.</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Effect: the exclamation and the direct address to her sister convey Charlotte’s rush of excitement; she can hardly wait to tell it.</a:t>
            </a:r>
            <a:endParaRPr lang="en-US" sz="1800" dirty="0"/>
          </a:p>
        </p:txBody>
      </p:sp>
      <p:sp>
        <p:nvSpPr>
          <p:cNvPr id="13" name="worked-answer"/>
          <p:cNvSpPr/>
          <p:nvPr/>
        </p:nvSpPr>
        <p:spPr>
          <a:xfrm>
            <a:off x="1463040" y="4477004"/>
            <a:ext cx="9265615" cy="1667764"/>
          </a:xfrm>
          <a:prstGeom prst="roundRect">
            <a:avLst>
              <a:gd name="adj" fmla="val 10966"/>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In Source A the writer uses the two-word sentence “Tigers: tick.” to convey her unease: after long sentences about the pacing tiger, the day shrinks to a box on a list. Contrastingly, in Source B the writer uses an exclamation, “But the lions, Harriet!”, to convey her excitement; the direct address makes the reader feel her rush to share the moment.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Writing the comparison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paragraph only retells what happened, ask: how does the writer convey what she feels about it?</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Use your teachers’ sentence stems. Open with the shared ground: ‘Both writers suggest…’ or ‘Both writers show…’.</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Aim for three comparisons in twenty minutes: perhaps how each writer feels at the start, how each describes the big cat, and how each ends.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Whose perspective?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statement best sums up how the two writers’ perspectives differ?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Both writers are delighted from the first line to the last.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Charlotte sees the Gardens as a triumph, while the modern writer comes to doubt what the park is for.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Charlotte is frightened of the animals, while the modern writer is bored by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Both writers believe wild animals should never be kept for people to look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Whose perspective?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statement best sums up how the two writers’ perspectives differ?</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0E4E5"/>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how Source A ends: a question the writer cannot answer.</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how Source B ends: the triumph of the age, with one small doubt.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Pick the statement that gives each writer the right feeling.</a:t>
            </a:r>
            <a:endParaRPr lang="en-US" sz="1800" dirty="0"/>
          </a:p>
        </p:txBody>
      </p:sp>
      <p:sp>
        <p:nvSpPr>
          <p:cNvPr id="17" name="col-Core"/>
          <p:cNvSpPr/>
          <p:nvPr/>
        </p:nvSpPr>
        <p:spPr>
          <a:xfrm>
            <a:off x="4338218" y="2578608"/>
            <a:ext cx="3515258" cy="3566160"/>
          </a:xfrm>
          <a:prstGeom prst="roundRect">
            <a:avLst>
              <a:gd name="adj" fmla="val 1561"/>
            </a:avLst>
          </a:prstGeom>
          <a:solidFill>
            <a:srgbClr val="E2CBCE"/>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writer uses the word ‘wonderful’. The other asks a question she cannot answer.</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8C2F39"/>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Charlotte admits Edward is ‘right’ that the lion looked bored. Explain how that one line brings the two perspectives closer than they first seem.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Build the comparison in order</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parts of a Question 4 comparison in the order your teachers’ stems use.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This implies… (what it suggests, and the method that conveys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Contrastingly, in Source B the writer… (her perspective)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Both writers show… (the shared ground)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 Source A the writer… (her perspective)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This is shown by… (a short quotation)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This is shown when… This implies… (quotation, method, meaning)</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Same task, three ways in: Build the comparison in order</a:t>
            </a:r>
            <a:endParaRPr lang="en-US" sz="26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parts of a Question 4 comparison in the order your teachers’ stems use.</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0E4E5"/>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what both writers share.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Deal with Source A completely before you turn to Source B.</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source gets: perspective, evidence, meaning.</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turning word, ‘Similarly’ or ‘Contrastingly’, begins the Source B half.</a:t>
            </a:r>
            <a:endParaRPr lang="en-US" sz="1800" dirty="0"/>
          </a:p>
        </p:txBody>
      </p:sp>
      <p:sp>
        <p:nvSpPr>
          <p:cNvPr id="17" name="col-Core"/>
          <p:cNvSpPr/>
          <p:nvPr/>
        </p:nvSpPr>
        <p:spPr>
          <a:xfrm>
            <a:off x="5490762" y="2593848"/>
            <a:ext cx="2938987" cy="3550920"/>
          </a:xfrm>
          <a:prstGeom prst="roundRect">
            <a:avLst>
              <a:gd name="adj" fmla="val 1867"/>
            </a:avLst>
          </a:prstGeom>
          <a:solidFill>
            <a:srgbClr val="E2CB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frame is a mirror: Source A gets perspective, evidence, meaning; then Source B gets the same three.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8C2F39"/>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naming the method inside ‘This implies…’ is stronger than listing methods in a separate paragraph.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How many marks is Question 4 worth?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12</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16</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20</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8</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EAEB"/>
          </a:solidFill>
          <a:ln w="12700">
            <a:solidFill>
              <a:srgbClr val="C29196"/>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Whose perspective?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statement best sums up how the two writers’ perspectives differ?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Charlotte sees the Gardens as a triumph, while the modern writer comes to doubt what the park is for.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Charlotte finds the caged lion wonderful and calls the Gardens a triumph; the modern writer, happy at first, ends unsure what the visit has given anyone.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Build the comparison in order</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Both writers show… (the shared ground)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In Source A the writer… (her perspective)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This is shown by… (a short quotation)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This implies… (what it suggests, and the method that conveys it)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Contrastingly, in Source B the writer… (her perspective)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This is shown when… This implies… (quotation, method, meaning)  (F)</a:t>
            </a:r>
            <a:endParaRPr lang="en-US" sz="22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Both writers; Source A, evidence, meaning; then Contrastingly, Source B, evidence, meaning: one comparison, with the methods commented on as you go.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many marks is Question 4 worth?</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16</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Question 4 is worth 16 marks and takes about 20 minutes.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0E4E5"/>
      </a:lt2>
      <a:accent1>
        <a:srgbClr val="8C2F39"/>
      </a:accent1>
      <a:accent2>
        <a:srgbClr val="B8862B"/>
      </a:accent2>
      <a:accent3>
        <a:srgbClr val="BA8288"/>
      </a:accent3>
      <a:accent4>
        <a:srgbClr val="815E1E"/>
      </a:accent4>
      <a:accent5>
        <a:srgbClr val="4A505C"/>
      </a:accent5>
      <a:accent6>
        <a:srgbClr val="D9BF8F"/>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Paper 2 · Chapter 4: Question 4: comparing the writers’ perspectives</dc:title>
  <dc:subject>English Language · Year 10</dc:subject>
  <dc:creator>Dr Vitor Merissi de Carvalho</dc:creator>
  <cp:lastModifiedBy>Dr Vitor Merissi de Carvalho</cp:lastModifiedBy>
  <cp:revision>1</cp:revision>
  <dcterms:created xsi:type="dcterms:W3CDTF">2026-10-18T17:47:04Z</dcterms:created>
  <dcterms:modified xsi:type="dcterms:W3CDTF">2026-10-18T17:47:04Z</dcterms:modified>
</cp:coreProperties>
</file>