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c8eab2-b300-990f-ac6a-51f4431c1919}">
          <p14:sldIdLst>
            <p14:sldId id="256"/>
          </p14:sldIdLst>
        </p14:section>
        <p14:section name="Gate" id="{375c0b7a-4ee5-13db-b090-6094d5b861d6}">
          <p14:sldIdLst>
            <p14:sldId id="257"/>
            <p14:sldId id="258"/>
          </p14:sldIdLst>
        </p14:section>
        <p14:section name="Pre-teach" id="{604186ff-566e-2458-f202-527a39dcf79d}">
          <p14:sldIdLst>
            <p14:sldId id="259"/>
          </p14:sldIdLst>
        </p14:section>
        <p14:section name="Read-along" id="{82c2b879-6a88-e2e8-4598-9415efedfab3}">
          <p14:sldIdLst>
            <p14:sldId id="260"/>
            <p14:sldId id="261"/>
          </p14:sldIdLst>
        </p14:section>
        <p14:section name="Teach" id="{53fc5ba6-f2ee-7371-fc8d-869f9406f518}">
          <p14:sldIdLst>
            <p14:sldId id="262"/>
            <p14:sldId id="263"/>
            <p14:sldId id="264"/>
            <p14:sldId id="265"/>
            <p14:sldId id="266"/>
            <p14:sldId id="267"/>
            <p14:sldId id="268"/>
            <p14:sldId id="269"/>
            <p14:sldId id="270"/>
            <p14:sldId id="271"/>
          </p14:sldIdLst>
        </p14:section>
        <p14:section name="Routes" id="{9b90aee0-e938-388c-23da-5a20e7501eb8}">
          <p14:sldIdLst>
            <p14:sldId id="272"/>
            <p14:sldId id="273"/>
            <p14:sldId id="274"/>
            <p14:sldId id="275"/>
          </p14:sldIdLst>
        </p14:section>
        <p14:section name="Close" id="{4db5c9fd-98ed-1c64-b0dd-613fe86794fc}">
          <p14:sldIdLst>
            <p14:sldId id="276"/>
          </p14:sldIdLst>
        </p14:section>
        <p14:section name="Answers" id="{93cb15ec-fc63-2722-c3ce-d47b75082ff8}">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Questions 1 and 2: true statements, then inference. You will pick the four true statements quickly and accurately, then infer what the two sources suggest about their differences, in comparative paragraphs.
This deck covers the department's lessons: 2 (Language Paper 2: Question 1 and Question 2: How do I choose the true statements for Question 1, and what can I infer about the differences between the two sources?); 6 (Inference vs analysis: Question 2 and Question 3: What is the difference between inferring and analysing, and which question wants which?).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statements are true in Question 1, and how do you show them?  →  C   Four; shade the box beside each one
2. In Question 2 you ___ what the sources suggest, rather than repeating what they say.  →  infer
3. How many marks is Question 2 worth?  →  B   8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Four; shade the box beside each one. Four of the eight statements are true. You shade the box beside each one.
2. infer. Question 2 always uses the word ‘infer’: say what the details suggest.
3. B   8. Question 2 is worth 8 marks and takes about 10 minutes.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statement: a sentence that says something is the case. Example: "Read each statement slowly before you decide if it is true."
• shade: fill in a box to show your choice. Example: "Shade the box beside each true statement."
• infer: work out what the writer suggests but does not say. Example: "From the worn grass, you can infer that the tiger paces every day."
• comparative: showing how two things differ or are alike. Example: "A comparative paragraph talks about Source A and then Source B."
• evidence: words from the text that prove your point. Example: "Give a short quotation as evidence for every inference."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Question 1 is worth four marks and takes about two minutes.
2. It asks about the opening lines of Source A.
3. You read eight statements.
4. Four are true and four are not.
5. Shade the box beside each true statement.
6. If you make a mistake, cross out the whole box.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Question 2 is worth eight marks and takes about ten minutes.
8. It asks what you can infer about the differences between the two sources.
9. To infer is to read between the lines.
10. Find a detail in Source A and say what it suggests.
11. Then find a different detail in Source B and say what that suggests.
12. Write two or three comparative paragraphs.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Question 1: shade the true statements. Say it in your own words, then check understanding with a quick question: ask a pupil from the pre-teach group first, since they met these words and ideas before the lesson. Pupils try to recall before you re-explain.
Question 1 is worth 4 marks and should take about 2 minutes. It names some lines at the start of Source A and gives you a list of eight statements. Four are true and four are not. You shade the box beside each statement you think is true, and you choose exactly four. If you shade a box by mistake, put a cross through the whole box so the marker knows you have changed your mind.
The wrong statements are written to look right. Watch for a changed detail (a number, a time, a colour), a statement that is true later in the source but not in the lines you were given, and a statement that is an opinion the writer never gives. Put your finger on the sentence that proves each true statement before you shade.
From 2026, Paper 1’s Question 1 uses the same instructions as this one, so the habit you build here pays twice.
Worked example — model it step by step, thinking aloud: Which of these statements about the opening of Source A are true? A: The writer arrives at the park in the afternoon. B: Her daughter has a plastic giraffe. C: There are twenty meerkats in the first enclosure. (1) A changes a detail: the text says “It is nine o’clock” and the family is waiting for the park to open, so it is morning, not afternoon. (2) B matches the text: “She has a plastic giraffe in one hand”. (3) C matches the text: “Twenty of them sit upright on a mound of sand”. Answer: B and C are true. A is a distractor that changes the time..
Tip: Count your shaded boxes before you move on. The instructions say a maximum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Question 1: shade the true statements. Say it in your own words, then check understanding with a quick question: ask a pupil from the pre-teach group first, since they met these words and ideas before the lesson. Pupils try to recall before you re-explain.
Question 1 is worth 4 marks and should take about 2 minutes. It names some lines at the start of Source A and gives you a list of eight statements. Four are true and four are not. You shade the box beside each statement you think is true, and you choose exactly four. If you shade a box by mistake, put a cross through the whole box so the marker knows you have changed your mind.
The wrong statements are written to look right. Watch for a changed detail (a number, a time, a colour), a statement that is true later in the source but not in the lines you were given, and a statement that is an opinion the writer never gives. Put your finger on the sentence that proves each true statement before you shade.
From 2026, Paper 1’s Question 1 uses the same instructions as this one, so the habit you build here pays twice.
Worked example — model it step by step, thinking aloud: Which of these statements about the opening of Source A are true? A: The writer arrives at the park in the afternoon. B: Her daughter has a plastic giraffe. C: There are twenty meerkats in the first enclosure. (1) A changes a detail: the text says “It is nine o’clock” and the family is waiting for the park to open, so it is morning, not afternoon. (2) B matches the text: “She has a plastic giraffe in one hand”. (3) C matches the text: “Twenty of them sit upright on a mound of sand”. Answer: B and C are true. A is a distractor that changes the time..
Tip: Count your shaded boxes before you move on. The instructions say a maximum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Question 2: what can you infer?. Say it in your own words, then check understanding with a quick question: ask a pupil from the pre-teach group first, since they met these words and ideas before the lesson. Pupils try to recall before you re-explain.
Question 2 is worth 8 marks and should take about 10 minutes. It is the first question that uses both sources. From 2026 it is always worded with the verb ‘infer’: ‘What can you infer about the differences between…’ (or, sometimes, the similarities). The task is to read between the lines of both texts and show what they suggest about the thing the question names.
Inference is not retrieval. If you write ‘Source A says the enclosure is the size of two football pitches’, you have repeated the text. If you write ‘the sign boasts about the size of the enclosure, which suggests the park expects visitors to worry about space’, you have inferred. Read the second part of Source A now, and notice how much the writer suggests without saying it.
Quotation: "Then we reach the tiger. The sign says his name is Rajan and that his enclosure is the size of two football pitches. It does not feel that way. He is walking the same line along the fence, nine paces one way and nine paces back, and the grass along that line has been worn to bare earth. His shoulders roll under his skin like something moving beneath a blanket. Every few paces he lifts his head and stares, not at us but through us, at a point far beyond the car park. A boy next to me bangs on the glass. The tiger does not even blink. I look at the list in my daughter’s hand. Tigers: tick. We have seen one. But what, exactly, have we seen? On the way out I buy her a toy tiger, a soft one, and tell myself that at least she will remember him. I am not sure that is a good thing." (Source A, ‘Behind the Glass’, Part 2 — original passage written for Ad Astra). Read it aloud; ask what it shows.
Tip: After every quotation ask: ‘which suggests…?’ If you cannot finish that sentence, you have not inferred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Question 2: what can you infer?. Say it in your own words, then check understanding with a quick question: ask a pupil from the pre-teach group first, since they met these words and ideas before the lesson. Pupils try to recall before you re-explain.
Question 2 is worth 8 marks and should take about 10 minutes. It is the first question that uses both sources. From 2026 it is always worded with the verb ‘infer’: ‘What can you infer about the differences between…’ (or, sometimes, the similarities). The task is to read between the lines of both texts and show what they suggest about the thing the question names.
Inference is not retrieval. If you write ‘Source A says the enclosure is the size of two football pitches’, you have repeated the text. If you write ‘the sign boasts about the size of the enclosure, which suggests the park expects visitors to worry about space’, you have inferred. Read the second part of Source A now, and notice how much the writer suggests without saying it.
Quotation: "Then we reach the tiger. The sign says his name is Rajan and that his enclosure is the size of two football pitches. It does not feel that way. He is walking the same line along the fence, nine paces one way and nine paces back, and the grass along that line has been worn to bare earth. His shoulders roll under his skin like something moving beneath a blanket. Every few paces he lifts his head and stares, not at us but through us, at a point far beyond the car park. A boy next to me bangs on the glass. The tiger does not even blink. I look at the list in my daughter’s hand. Tigers: tick. We have seen one. But what, exactly, have we seen? On the way out I buy her a toy tiger, a soft one, and tell myself that at least she will remember him. I am not sure that is a good thing." (Source A, ‘Behind the Glass’, Part 2 — original passage written for Ad Astra). Read it aloud; ask what it shows.
Tip: After every quotation ask: ‘which suggests…?’ If you cannot finish that sentence, you have not inferred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 a comparative paragraph. Say it in your own words, then check understanding with a quick question: ask a pupil from the pre-teach group first, since they met these words and ideas before the lesson. Pupils try to recall before you re-explain.
Draw a quick table with two columns, Source A and Source B, and note what each source tells you about the thing the question names. Then choose two or three pairs of points that you can develop. For each pair, write: a point about Source A with a short quotation; what you can infer from it; a comparative point about Source B (‘However, in Source B…’) with a quotation; and what you can infer from that.
When you check your answer, use your teachers’ peer-marking questions. Are you inferring, rather than repeating what the writer has already said? Are you using textual references to support each point? Are the quotations relevant? Are you exploring the differences in enough detail? Here is the second part of Source B, so that you can practise on the two big cats.
Worked example — model it step by step, thinking aloud: Write one comparative paragraph about how the two big cats are kept. (1) Point about Source A with a quotation: the tiger is “walking the same line along the fence”. (2) Infer: the enclosure may be large on paper, but the tiger behaves like an animal in a very small space, so the park’s promise does not match what visitors see. (3) Comparative point about Source B: the lions are kept “in a long house of iron bars”. (4) Infer: the Victorian animals were kept in plain cages close to the crowd, and nobody expected anything else; the writer finds it wonderful rather than troubling. Answer: 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
Quotation: "But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 (Source B, Charlotte’s letter (1854), Part 2 — original passage written for Ad Astra). Read it aloud; ask what it shows.
Tip: Use the paragraph frame once, then again with a new pair of details. Two developed pairs beat four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 a comparative paragraph. Say it in your own words, then check understanding with a quick question: ask a pupil from the pre-teach group first, since they met these words and ideas before the lesson. Pupils try to recall before you re-explain.
Draw a quick table with two columns, Source A and Source B, and note what each source tells you about the thing the question names. Then choose two or three pairs of points that you can develop. For each pair, write: a point about Source A with a short quotation; what you can infer from it; a comparative point about Source B (‘However, in Source B…’) with a quotation; and what you can infer from that.
When you check your answer, use your teachers’ peer-marking questions. Are you inferring, rather than repeating what the writer has already said? Are you using textual references to support each point? Are the quotations relevant? Are you exploring the differences in enough detail? Here is the second part of Source B, so that you can practise on the two big cats.
Worked example — model it step by step, thinking aloud: Write one comparative paragraph about how the two big cats are kept. (1) Point about Source A with a quotation: the tiger is “walking the same line along the fence”. (2) Infer: the enclosure may be large on paper, but the tiger behaves like an animal in a very small space, so the park’s promise does not match what visitors see. (3) Comparative point about Source B: the lions are kept “in a long house of iron bars”. (4) Infer: the Victorian animals were kept in plain cages close to the crowd, and nobody expected anything else; the writer finds it wonderful rather than troubling. Answer: 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
Quotation: "But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 (Source B, Charlotte’s letter (1854), Part 2 — original passage written for Ad Astra). Read it aloud; ask what it shows.
Tip: Use the paragraph frame once, then again with a new pair of details. Two developed pairs beat four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 a comparative paragraph. Say it in your own words, then check understanding with a quick question: ask a pupil from the pre-teach group first, since they met these words and ideas before the lesson. Pupils try to recall before you re-explain.
Draw a quick table with two columns, Source A and Source B, and note what each source tells you about the thing the question names. Then choose two or three pairs of points that you can develop. For each pair, write: a point about Source A with a short quotation; what you can infer from it; a comparative point about Source B (‘However, in Source B…’) with a quotation; and what you can infer from that.
When you check your answer, use your teachers’ peer-marking questions. Are you inferring, rather than repeating what the writer has already said? Are you using textual references to support each point? Are the quotations relevant? Are you exploring the differences in enough detail? Here is the second part of Source B, so that you can practise on the two big cats.
Worked example — model it step by step, thinking aloud: Write one comparative paragraph about how the two big cats are kept. (1) Point about Source A with a quotation: the tiger is “walking the same line along the fence”. (2) Infer: the enclosure may be large on paper, but the tiger behaves like an animal in a very small space, so the park’s promise does not match what visitors see. (3) Comparative point about Source B: the lions are kept “in a long house of iron bars”. (4) Infer: the Victorian animals were kept in plain cages close to the crowd, and nobody expected anything else; the writer finds it wonderful rather than troubling. Answer: 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
Quotation: "But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 (Source B, Charlotte’s letter (1854), Part 2 — original passage written for Ad Astra). Read it aloud; ask what it shows.
Tip: Use the paragraph frame once, then again with a new pair of details. Two developed pairs beat four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 a comparative paragraph. Say it in your own words, then check understanding with a quick question: ask a pupil from the pre-teach group first, since they met these words and ideas before the lesson. Pupils try to recall before you re-explain.
Draw a quick table with two columns, Source A and Source B, and note what each source tells you about the thing the question names. Then choose two or three pairs of points that you can develop. For each pair, write: a point about Source A with a short quotation; what you can infer from it; a comparative point about Source B (‘However, in Source B…’) with a quotation; and what you can infer from that.
When you check your answer, use your teachers’ peer-marking questions. Are you inferring, rather than repeating what the writer has already said? Are you using textual references to support each point? Are the quotations relevant? Are you exploring the differences in enough detail? Here is the second part of Source B, so that you can practise on the two big cats.
Worked example — model it step by step, thinking aloud: Write one comparative paragraph about how the two big cats are kept. (1) Point about Source A with a quotation: the tiger is “walking the same line along the fence”. (2) Infer: the enclosure may be large on paper, but the tiger behaves like an animal in a very small space, so the park’s promise does not match what visitors see. (3) Comparative point about Source B: the lions are kept “in a long house of iron bars”. (4) Infer: the Victorian animals were kept in plain cages close to the crowd, and nobody expected anything else; the writer finds it wonderful rather than troubling. Answer: 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
Quotation: "But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 (Source B, Charlotte’s letter (1854), Part 2 — original passage written for Ad Astra). Read it aloud; ask what it shows.
Tip: Use the paragraph frame once, then again with a new pair of details. Two developed pairs beat four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 a comparative paragraph. Say it in your own words, then check understanding with a quick question: ask a pupil from the pre-teach group first, since they met these words and ideas before the lesson. Pupils try to recall before you re-explain.
Draw a quick table with two columns, Source A and Source B, and note what each source tells you about the thing the question names. Then choose two or three pairs of points that you can develop. For each pair, write: a point about Source A with a short quotation; what you can infer from it; a comparative point about Source B (‘However, in Source B…’) with a quotation; and what you can infer from that.
When you check your answer, use your teachers’ peer-marking questions. Are you inferring, rather than repeating what the writer has already said? Are you using textual references to support each point? Are the quotations relevant? Are you exploring the differences in enough detail? Here is the second part of Source B, so that you can practise on the two big cats.
Worked example — model it step by step, thinking aloud: Write one comparative paragraph about how the two big cats are kept. (1) Point about Source A with a quotation: the tiger is “walking the same line along the fence”. (2) Infer: the enclosure may be large on paper, but the tiger behaves like an animal in a very small space, so the park’s promise does not match what visitors see. (3) Comparative point about Source B: the lions are kept “in a long house of iron bars”. (4) Infer: the Victorian animals were kept in plain cages close to the crowd, and nobody expected anything else; the writer finds it wonderful rather than troubling. Answer: 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
Quotation: "But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 (Source B, Charlotte’s letter (1854), Part 2 — original passage written for Ad Astra). Read it aloud; ask what it shows.
Tip: Use the paragraph frame once, then again with a new pair of details. Two developed pairs beat four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 a comparative paragraph. Say it in your own words, then check understanding with a quick question: ask a pupil from the pre-teach group first, since they met these words and ideas before the lesson. Pupils try to recall before you re-explain.
Draw a quick table with two columns, Source A and Source B, and note what each source tells you about the thing the question names. Then choose two or three pairs of points that you can develop. For each pair, write: a point about Source A with a short quotation; what you can infer from it; a comparative point about Source B (‘However, in Source B…’) with a quotation; and what you can infer from that.
When you check your answer, use your teachers’ peer-marking questions. Are you inferring, rather than repeating what the writer has already said? Are you using textual references to support each point? Are the quotations relevant? Are you exploring the differences in enough detail? Here is the second part of Source B, so that you can practise on the two big cats.
Worked example — model it step by step, thinking aloud: Write one comparative paragraph about how the two big cats are kept. (1) Point about Source A with a quotation: the tiger is “walking the same line along the fence”. (2) Infer: the enclosure may be large on paper, but the tiger behaves like an animal in a very small space, so the park’s promise does not match what visitors see. (3) Comparative point about Source B: the lions are kept “in a long house of iron bars”. (4) Infer: the Victorian animals were kept in plain cages close to the crowd, and nobody expected anything else; the writer finds it wonderful rather than troubling. Answer: 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
Quotation: "But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 (Source B, Charlotte’s letter (1854), Part 2 — original passage written for Ad Astra). Read it aloud; ask what it shows.
Tip: Use the paragraph frame once, then again with a new pair of details. Two developed pairs beat four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Question 1 practice: the true statement.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Question 1 practice. Read Source A, Part 1. Which ONE of these statements is true?
Support — work through the steps with the group: (1) Underline the key detail in each statement: two hours, nine years old, noon, tiger. (2) Find each detail in Part 1, or show that it is not there. (3) Only one statement is proved by a sentence in the text.
Parallel worked example for Support (model it, do not give the task answer): Read: “The weather was exceedingly fine.” Which is true? A: It was raining. B: The weather was very good. C: It was snowing. ‘Exceedingly fine’ means very good.; A and C contradict the text.. Answer: B: The weather was very good..
Core — reveal the hint only on request: Two statements take a true number or time and attach it to the wrong thing.
Stretch — no help; when finished: Write two more statements about Part 1, one true and one false, that a classmate would find hard to tell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Question 1 practice: the true statement.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Question 1 practice. Read Source A, Part 1. Which ONE of these statements is true?
Support — work through the steps with the group: (1) Underline the key detail in each statement: two hours, nine years old, noon, tiger. (2) Find each detail in Part 1, or show that it is not there. (3) Only one statement is proved by a sentence in the text.
Parallel worked example for Support (model it, do not give the task answer): Read: “The weather was exceedingly fine.” Which is true? A: It was raining. B: The weather was very good. C: It was snowing. ‘Exceedingly fine’ means very good.; A and C contradict the text.. Answer: B: The weather was very good..
Core — reveal the hint only on request: Two statements take a true number or time and attach it to the wrong thing.
Stretch — no help; when finished: Write two more statements about Part 1, one true and one false, that a classmate would find hard to tell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detail to inference.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detail from the sources to what it suggests.
Support — work through the steps with the group: (1) Read the detail and ask: what must be true for this to happen? (2) Worn grass does not appear in a day. Covered ears mean noise. A shilling was a small sum. (3) Match each detail to the inference that it proves, not to one it merely sits near.
Parallel worked example for Support (model it, do not give the task answer): What can you infer from “She has a plastic giraffe in one hand and a list in the other”? A list means she planned the day.; A toy means she is young and excited.. Answer: The daughter is young, excited and has planned exactly what she wants to see..
Core — reveal the hint only on request: Ask ‘how long?’, ‘how loud?’, ‘how much?’ and ‘how far?’ of the four details.
Stretch — no help; when finished: Choose one pair and write it as a full Question 2 sentence: quotation, then ‘which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detail to inference.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detail from the sources to what it suggests.
Support — work through the steps with the group: (1) Read the detail and ask: what must be true for this to happen? (2) Worn grass does not appear in a day. Covered ears mean noise. A shilling was a small sum. (3) Match each detail to the inference that it proves, not to one it merely sits near.
Parallel worked example for Support (model it, do not give the task answer): What can you infer from “She has a plastic giraffe in one hand and a list in the other”? A list means she planned the day.; A toy means she is young and excited.. Answer: The daughter is young, excited and has planned exactly what she wants to see..
Core — reveal the hint only on request: Ask ‘how long?’, ‘how loud?’, ‘how much?’ and ‘how far?’ of the four details.
Stretch — no help; when finished: Choose one pair and write it as a full Question 2 sentence: quotation, then ‘which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statements are true in Question 1, and how do you show them?
Answer: B   Four; shade the box beside each one. Four of the eight statements are true. You shade the box beside each one.
Source of this question: gate item 1 re-asked (options rotated) — this chapter has no third quick-check module.
The ebook also holds task 3, "Question 2 practice paragraphs",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Question 1 practice: the true statement. Reveal the answer; pupils mark their own work in a different colour, then read the "why" together. Same destination for every lane, so one answer serves the whole class.
Answer: C   The family has driven for two hours to reach the park.
Why: “We have driven for two hours to be here.” The daughter is six, the family arrives at nine o’clock, and the meerkats come first.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detail to inference. Reveal the answer; pupils mark their own work in a different colour, then read the "why" together. Same destination for every lane, so one answer serves the whole class.
Answer: “the grass along that line has been worn to bare earth”  →  D  The tiger has paced this same route for a very long time.; “the poor beast sat down and covered its ears”  →  B  The band is painfully loud, even for the bear.; “for the price of a shilling”  →  A  Seeing wild animals was a cheap, everyday treat for Victorians.; “We have driven for two hours to be here.”  →  C  The family treats the visit as a special occasion worth real effort.
Why: An inference is what the detail proves without saying: time (worn grass), noise (covered ears), cost (a shilling), effort (a two-hour drive).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Four; shade the box beside each one
Why: Four of the eight statements are true. You shade the box beside each 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2 · AQA 8700</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Questions 1 and 2: true statements, then inference</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F0E4E5"/>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2: Question 1 and Question 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Inference vs analysis: Question 2 and Question 3</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read two writers’ viewpoints and perspectives, and how do I structure a non-fiction response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How many statements are true in Question 1, and how do you show them?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One; circle it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Eight; underline them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Four; shade the box beside each one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Two; tick them</a:t>
            </a:r>
            <a:endParaRPr lang="en-US" sz="22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Question 2 you ___ what the sources suggest, rather than repeating what they say.</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infer  ·  copy  ·  shade</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Question 2 worth?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Four; shade the box beside each one</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many statements are true in Question 1, and how do you show them?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Four of the eight statements are true. You shade the box beside each one.</a:t>
            </a:r>
            <a:endParaRPr lang="en-US" sz="20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infer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Question 2 you ___ what the sources suggest, rather than repeating what they say.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2 always uses the word ‘infer’: say what the details suggest.</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8</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marks is Question 2 worth?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2 is worth 8 marks and takes about 10 minutes.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2E8E9"/>
          </a:solidFill>
          <a:ln/>
        </p:spPr>
      </p:sp>
      <p:sp>
        <p:nvSpPr>
          <p:cNvPr id="12" name="kw-hex"/>
          <p:cNvSpPr/>
          <p:nvPr/>
        </p:nvSpPr>
        <p:spPr>
          <a:xfrm>
            <a:off x="658368" y="2158020"/>
            <a:ext cx="411480" cy="356342"/>
          </a:xfrm>
          <a:prstGeom prst="hexagon">
            <a:avLst/>
          </a:prstGeom>
          <a:solidFill>
            <a:srgbClr val="8C2F39"/>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statement</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sentence that says something is the case</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Read each statement slowly before you decide if it is true.</a:t>
            </a:r>
            <a:endParaRPr lang="en-US" sz="1800" dirty="0"/>
          </a:p>
        </p:txBody>
      </p:sp>
      <p:sp>
        <p:nvSpPr>
          <p:cNvPr id="16" name="kw-row"/>
          <p:cNvSpPr/>
          <p:nvPr/>
        </p:nvSpPr>
        <p:spPr>
          <a:xfrm>
            <a:off x="548640" y="2825293"/>
            <a:ext cx="11094415" cy="604317"/>
          </a:xfrm>
          <a:prstGeom prst="roundRect">
            <a:avLst>
              <a:gd name="adj" fmla="val 9079"/>
            </a:avLst>
          </a:prstGeom>
          <a:solidFill>
            <a:srgbClr val="F4EDDF"/>
          </a:solidFill>
          <a:ln/>
        </p:spPr>
      </p:sp>
      <p:sp>
        <p:nvSpPr>
          <p:cNvPr id="17" name="kw-hex"/>
          <p:cNvSpPr/>
          <p:nvPr/>
        </p:nvSpPr>
        <p:spPr>
          <a:xfrm>
            <a:off x="658368" y="2949280"/>
            <a:ext cx="411480" cy="356342"/>
          </a:xfrm>
          <a:prstGeom prst="hexagon">
            <a:avLst/>
          </a:prstGeom>
          <a:solidFill>
            <a:srgbClr val="B8862B"/>
          </a:solidFill>
          <a:ln/>
        </p:spPr>
      </p:sp>
      <p:sp>
        <p:nvSpPr>
          <p:cNvPr id="18" name="kw-cell"/>
          <p:cNvSpPr txBox="1"/>
          <p:nvPr/>
        </p:nvSpPr>
        <p:spPr>
          <a:xfrm>
            <a:off x="1143000" y="2825293"/>
            <a:ext cx="2331720" cy="604317"/>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shade</a:t>
            </a:r>
            <a:endParaRPr lang="en-US" sz="2000" dirty="0"/>
          </a:p>
        </p:txBody>
      </p:sp>
      <p:sp>
        <p:nvSpPr>
          <p:cNvPr id="19" name="kw-cell"/>
          <p:cNvSpPr txBox="1"/>
          <p:nvPr/>
        </p:nvSpPr>
        <p:spPr>
          <a:xfrm>
            <a:off x="3657600" y="2825293"/>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fill in a box to show your choice</a:t>
            </a:r>
            <a:endParaRPr lang="en-US" sz="1800" dirty="0"/>
          </a:p>
        </p:txBody>
      </p:sp>
      <p:sp>
        <p:nvSpPr>
          <p:cNvPr id="20" name="kw-cell"/>
          <p:cNvSpPr txBox="1"/>
          <p:nvPr/>
        </p:nvSpPr>
        <p:spPr>
          <a:xfrm>
            <a:off x="7315200" y="2825293"/>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Shade the box beside each true statement.</a:t>
            </a:r>
            <a:endParaRPr lang="en-US" sz="1800" dirty="0"/>
          </a:p>
        </p:txBody>
      </p:sp>
      <p:sp>
        <p:nvSpPr>
          <p:cNvPr id="21" name="kw-row"/>
          <p:cNvSpPr/>
          <p:nvPr/>
        </p:nvSpPr>
        <p:spPr>
          <a:xfrm>
            <a:off x="548640" y="3502762"/>
            <a:ext cx="11094415" cy="831901"/>
          </a:xfrm>
          <a:prstGeom prst="roundRect">
            <a:avLst>
              <a:gd name="adj" fmla="val 6595"/>
            </a:avLst>
          </a:prstGeom>
          <a:solidFill>
            <a:srgbClr val="F2E8E9"/>
          </a:solidFill>
          <a:ln/>
        </p:spPr>
      </p:sp>
      <p:sp>
        <p:nvSpPr>
          <p:cNvPr id="22" name="kw-hex"/>
          <p:cNvSpPr/>
          <p:nvPr/>
        </p:nvSpPr>
        <p:spPr>
          <a:xfrm>
            <a:off x="658368" y="3740541"/>
            <a:ext cx="411480" cy="356342"/>
          </a:xfrm>
          <a:prstGeom prst="hexagon">
            <a:avLst/>
          </a:prstGeom>
          <a:solidFill>
            <a:srgbClr val="8C2F39"/>
          </a:solidFill>
          <a:ln/>
        </p:spPr>
      </p:sp>
      <p:sp>
        <p:nvSpPr>
          <p:cNvPr id="23" name="kw-cell"/>
          <p:cNvSpPr txBox="1"/>
          <p:nvPr/>
        </p:nvSpPr>
        <p:spPr>
          <a:xfrm>
            <a:off x="1143000" y="3502762"/>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infer</a:t>
            </a:r>
            <a:endParaRPr lang="en-US" sz="2000" dirty="0"/>
          </a:p>
        </p:txBody>
      </p:sp>
      <p:sp>
        <p:nvSpPr>
          <p:cNvPr id="24" name="kw-cell"/>
          <p:cNvSpPr txBox="1"/>
          <p:nvPr/>
        </p:nvSpPr>
        <p:spPr>
          <a:xfrm>
            <a:off x="3657600" y="3502762"/>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work out what the writer suggests but does not say</a:t>
            </a:r>
            <a:endParaRPr lang="en-US" sz="1800" dirty="0"/>
          </a:p>
        </p:txBody>
      </p:sp>
      <p:sp>
        <p:nvSpPr>
          <p:cNvPr id="25" name="kw-cell"/>
          <p:cNvSpPr txBox="1"/>
          <p:nvPr/>
        </p:nvSpPr>
        <p:spPr>
          <a:xfrm>
            <a:off x="7315200" y="3502762"/>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From the worn grass, you can infer that the tiger paces every day.</a:t>
            </a:r>
            <a:endParaRPr lang="en-US" sz="1800" dirty="0"/>
          </a:p>
        </p:txBody>
      </p:sp>
      <p:sp>
        <p:nvSpPr>
          <p:cNvPr id="26" name="kw-row"/>
          <p:cNvSpPr/>
          <p:nvPr/>
        </p:nvSpPr>
        <p:spPr>
          <a:xfrm>
            <a:off x="548640" y="4407814"/>
            <a:ext cx="11094415" cy="831901"/>
          </a:xfrm>
          <a:prstGeom prst="roundRect">
            <a:avLst>
              <a:gd name="adj" fmla="val 6595"/>
            </a:avLst>
          </a:prstGeom>
          <a:solidFill>
            <a:srgbClr val="F4EDDF"/>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comparative</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showing how two things differ or are alike</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comparative paragraph talks about Source A and then Source B.</a:t>
            </a:r>
            <a:endParaRPr lang="en-US" sz="1800" dirty="0"/>
          </a:p>
        </p:txBody>
      </p:sp>
      <p:sp>
        <p:nvSpPr>
          <p:cNvPr id="31" name="kw-row"/>
          <p:cNvSpPr/>
          <p:nvPr/>
        </p:nvSpPr>
        <p:spPr>
          <a:xfrm>
            <a:off x="548640" y="5312867"/>
            <a:ext cx="11094415" cy="831901"/>
          </a:xfrm>
          <a:prstGeom prst="roundRect">
            <a:avLst>
              <a:gd name="adj" fmla="val 6595"/>
            </a:avLst>
          </a:prstGeom>
          <a:solidFill>
            <a:srgbClr val="F2E8E9"/>
          </a:solidFill>
          <a:ln/>
        </p:spPr>
      </p:sp>
      <p:sp>
        <p:nvSpPr>
          <p:cNvPr id="32" name="kw-hex"/>
          <p:cNvSpPr/>
          <p:nvPr/>
        </p:nvSpPr>
        <p:spPr>
          <a:xfrm>
            <a:off x="658368" y="5550647"/>
            <a:ext cx="411480" cy="356342"/>
          </a:xfrm>
          <a:prstGeom prst="hexagon">
            <a:avLst/>
          </a:prstGeom>
          <a:solidFill>
            <a:srgbClr val="8C2F39"/>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evidence</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words from the text that prove your point</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Give a short quotation as evidence for every inference.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1 is worth four marks and takes about two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asks about the opening lines of Source 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read eight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statements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Four are true and four are not.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Shade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box beside each true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statement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you make a mistake, cross out the whole box.</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2 is worth eight marks and takes about ten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asks what you can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infer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about the differences between the two sources.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infer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to read between the lines.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Find a detail in Source A and say what it suggests.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find a different detail in Source B and say what that suggests.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Write two or three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comparative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paragraphs.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Question 1: shade the true statements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your shaded boxes before you move on. The instructions say a maximum of four.</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Question 1 is worth 4 marks and should take about 2 minutes.</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wrong statements are written to look right. Watch for a changed detail (a number, a time, a colour), a statement that is true later in the source but not in the lines you were given, and a statement that is an opinion the writer never gives.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From 2026, Paper 1’s Question 1 uses the same instructions as this one, so the habit you build here pays twice.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Question 1: shade the true statements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F0E4E5"/>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of these statements about the opening of Source A are true? A: The writer arrives at the park in the afternoon. B: Her daughter has a plastic giraffe. C: There are twenty meerkats in the first enclosure.</a:t>
            </a:r>
            <a:endParaRPr lang="en-US" sz="2200" dirty="0"/>
          </a:p>
        </p:txBody>
      </p:sp>
      <p:sp>
        <p:nvSpPr>
          <p:cNvPr id="9" name="step-box"/>
          <p:cNvSpPr/>
          <p:nvPr/>
        </p:nvSpPr>
        <p:spPr>
          <a:xfrm>
            <a:off x="548640" y="2996692"/>
            <a:ext cx="3423818" cy="2252980"/>
          </a:xfrm>
          <a:prstGeom prst="roundRect">
            <a:avLst>
              <a:gd name="adj" fmla="val 3247"/>
            </a:avLst>
          </a:prstGeom>
          <a:solidFill>
            <a:srgbClr val="FFFFFF"/>
          </a:solidFill>
          <a:ln w="15875">
            <a:solidFill>
              <a:srgbClr val="C08D92"/>
            </a:solidFill>
            <a:prstDash val="solid"/>
          </a:ln>
        </p:spPr>
      </p:sp>
      <p:sp>
        <p:nvSpPr>
          <p:cNvPr id="10" name="step-hex"/>
          <p:cNvSpPr/>
          <p:nvPr/>
        </p:nvSpPr>
        <p:spPr>
          <a:xfrm>
            <a:off x="685800" y="3106420"/>
            <a:ext cx="530352" cy="459285"/>
          </a:xfrm>
          <a:prstGeom prst="hexagon">
            <a:avLst/>
          </a:prstGeom>
          <a:solidFill>
            <a:srgbClr val="8C2F39"/>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changes a detail: the text says “It is nine o’clock” and the family is waiting for the park to open, so it is morning, not afternoon.</a:t>
            </a:r>
            <a:endParaRPr lang="en-US" sz="1800" dirty="0"/>
          </a:p>
        </p:txBody>
      </p:sp>
      <p:sp>
        <p:nvSpPr>
          <p:cNvPr id="13" name="arrow"/>
          <p:cNvSpPr/>
          <p:nvPr/>
        </p:nvSpPr>
        <p:spPr>
          <a:xfrm>
            <a:off x="4045610" y="3986022"/>
            <a:ext cx="274320" cy="274320"/>
          </a:xfrm>
          <a:prstGeom prst="rightArrow">
            <a:avLst/>
          </a:prstGeom>
          <a:solidFill>
            <a:srgbClr val="B8862B"/>
          </a:solidFill>
          <a:ln/>
        </p:spPr>
      </p:sp>
      <p:sp>
        <p:nvSpPr>
          <p:cNvPr id="14" name="step-box"/>
          <p:cNvSpPr/>
          <p:nvPr/>
        </p:nvSpPr>
        <p:spPr>
          <a:xfrm>
            <a:off x="4383938" y="2996692"/>
            <a:ext cx="3423818" cy="2252980"/>
          </a:xfrm>
          <a:prstGeom prst="roundRect">
            <a:avLst>
              <a:gd name="adj" fmla="val 3247"/>
            </a:avLst>
          </a:prstGeom>
          <a:solidFill>
            <a:srgbClr val="FFFFFF"/>
          </a:solidFill>
          <a:ln w="15875">
            <a:solidFill>
              <a:srgbClr val="C08D92"/>
            </a:solidFill>
            <a:prstDash val="solid"/>
          </a:ln>
        </p:spPr>
      </p:sp>
      <p:sp>
        <p:nvSpPr>
          <p:cNvPr id="15" name="step-hex"/>
          <p:cNvSpPr/>
          <p:nvPr/>
        </p:nvSpPr>
        <p:spPr>
          <a:xfrm>
            <a:off x="4521098" y="3106420"/>
            <a:ext cx="530352" cy="459285"/>
          </a:xfrm>
          <a:prstGeom prst="hexagon">
            <a:avLst/>
          </a:prstGeom>
          <a:solidFill>
            <a:srgbClr val="8C2F39"/>
          </a:solidFill>
          <a:ln/>
        </p:spPr>
      </p:sp>
      <p:sp>
        <p:nvSpPr>
          <p:cNvPr id="16" name="step-hex-label"/>
          <p:cNvSpPr txBox="1"/>
          <p:nvPr/>
        </p:nvSpPr>
        <p:spPr>
          <a:xfrm>
            <a:off x="452109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591052"/>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 matches the text: “She has a plastic giraffe in one hand”.</a:t>
            </a:r>
            <a:endParaRPr lang="en-US" sz="1800" dirty="0"/>
          </a:p>
        </p:txBody>
      </p:sp>
      <p:sp>
        <p:nvSpPr>
          <p:cNvPr id="18" name="arrow"/>
          <p:cNvSpPr/>
          <p:nvPr/>
        </p:nvSpPr>
        <p:spPr>
          <a:xfrm>
            <a:off x="7880909" y="3986022"/>
            <a:ext cx="274320" cy="274320"/>
          </a:xfrm>
          <a:prstGeom prst="rightArrow">
            <a:avLst/>
          </a:prstGeom>
          <a:solidFill>
            <a:srgbClr val="B8862B"/>
          </a:solidFill>
          <a:ln/>
        </p:spPr>
      </p:sp>
      <p:sp>
        <p:nvSpPr>
          <p:cNvPr id="19" name="step-box"/>
          <p:cNvSpPr/>
          <p:nvPr/>
        </p:nvSpPr>
        <p:spPr>
          <a:xfrm>
            <a:off x="8219237" y="2996692"/>
            <a:ext cx="3423818" cy="2252980"/>
          </a:xfrm>
          <a:prstGeom prst="roundRect">
            <a:avLst>
              <a:gd name="adj" fmla="val 3247"/>
            </a:avLst>
          </a:prstGeom>
          <a:solidFill>
            <a:srgbClr val="FFFFFF"/>
          </a:solidFill>
          <a:ln w="15875">
            <a:solidFill>
              <a:srgbClr val="C08D92"/>
            </a:solidFill>
            <a:prstDash val="solid"/>
          </a:ln>
        </p:spPr>
      </p:sp>
      <p:sp>
        <p:nvSpPr>
          <p:cNvPr id="20" name="step-hex"/>
          <p:cNvSpPr/>
          <p:nvPr/>
        </p:nvSpPr>
        <p:spPr>
          <a:xfrm>
            <a:off x="8356397" y="3106420"/>
            <a:ext cx="530352" cy="459285"/>
          </a:xfrm>
          <a:prstGeom prst="hexagon">
            <a:avLst/>
          </a:prstGeom>
          <a:solidFill>
            <a:srgbClr val="8C2F39"/>
          </a:solidFill>
          <a:ln/>
        </p:spPr>
      </p:sp>
      <p:sp>
        <p:nvSpPr>
          <p:cNvPr id="21" name="step-hex-label"/>
          <p:cNvSpPr txBox="1"/>
          <p:nvPr/>
        </p:nvSpPr>
        <p:spPr>
          <a:xfrm>
            <a:off x="8356397"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591052"/>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 matches the text: “Twenty of them sit upright on a mound of sand”.</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 and C are true. A is a distractor that changes the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Question 2: what can you infer?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After every quotation ask: ‘which suggests…?’ If you cannot finish that sentence, you have not inferred yet.</a:t>
            </a:r>
            <a:endParaRPr lang="en-US" sz="1800" dirty="0"/>
          </a:p>
        </p:txBody>
      </p:sp>
      <p:sp>
        <p:nvSpPr>
          <p:cNvPr id="11" name="point-card"/>
          <p:cNvSpPr/>
          <p:nvPr/>
        </p:nvSpPr>
        <p:spPr>
          <a:xfrm>
            <a:off x="548640" y="1389888"/>
            <a:ext cx="5410048" cy="3686048"/>
          </a:xfrm>
          <a:prstGeom prst="roundRect">
            <a:avLst>
              <a:gd name="adj" fmla="val 1488"/>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2 is worth 8 marks and should take about 10 minutes.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Inference is not retrieval. If you write ‘Source A says the enclosure is the size of two football pitches’, you have repeated the text.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Question 2: what can you infer?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Then we reach the tiger. The sign says his name is Rajan and that his enclosure is the size of two football pitches. It does not feel that way. He is walking the same line along the fence, nine paces one way and nine paces back, and the grass along that line has been worn to bare earth. His shoulders roll under his skin like something moving beneath a blanket. Every few paces he lifts his head and stares, not at us but through us, at a point far beyond the car park. A boy next to me bangs on the glass. The tiger does not even blink. I look at the list in my daughter’s hand. Tigers: tick. We have seen one. But what, exactly, have we seen? On the way out I buy her a toy tiger, a soft one, and tell myself that at least she will remember him. I am not sure that is a good thing.</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Source A, ‘Behind the Glass’, Part 2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Build a comparative paragraph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 the paragraph frame once, then again with a new pair of details. Two developed pairs beat four thin ones.</a:t>
            </a:r>
            <a:endParaRPr lang="en-US" sz="1800" dirty="0"/>
          </a:p>
        </p:txBody>
      </p:sp>
      <p:sp>
        <p:nvSpPr>
          <p:cNvPr id="11" name="point-card"/>
          <p:cNvSpPr/>
          <p:nvPr/>
        </p:nvSpPr>
        <p:spPr>
          <a:xfrm>
            <a:off x="548640" y="1389888"/>
            <a:ext cx="5410048" cy="3686048"/>
          </a:xfrm>
          <a:prstGeom prst="roundRect">
            <a:avLst>
              <a:gd name="adj" fmla="val 1488"/>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Draw a quick table with two columns, Source A and Source B, and note what each source tells you about the thing the question names.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you check your answer, use your teachers’ peer-marking questions.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(1 of 4): Build a comparative paragraph</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E4E5"/>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one comparative paragraph about how the two big cats are kept.</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about Source A with a quotation: the tiger is “walking the same line along the fence”.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(2 of 4): Build a comparative paragraph</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E4E5"/>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one comparative paragraph about how the two big cats are kept.</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Infer: the enclosure may be large on paper, but the tiger behaves like an animal in a very small space, so the park’s promise does not match what visitors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(3 of 4): Build a comparative paragraph</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E4E5"/>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one comparative paragraph about how the two big cats are kept.</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Comparative point about Source B: the lions are kept “in a long house of iron bars”.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(4 of 4): Build a comparative paragraph</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E4E5"/>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one comparative paragraph about how the two big cats are kept.</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Infer: the Victorian animals were kept in plain cages close to the crowd, and nobody expected anything else; the writer finds it wonderful rather than troubling.</a:t>
            </a:r>
            <a:endParaRPr lang="en-US" sz="1800" dirty="0"/>
          </a:p>
        </p:txBody>
      </p:sp>
      <p:sp>
        <p:nvSpPr>
          <p:cNvPr id="13" name="worked-answer"/>
          <p:cNvSpPr/>
          <p:nvPr/>
        </p:nvSpPr>
        <p:spPr>
          <a:xfrm>
            <a:off x="1463040" y="4477004"/>
            <a:ext cx="9265615" cy="1667764"/>
          </a:xfrm>
          <a:prstGeom prst="roundRect">
            <a:avLst>
              <a:gd name="adj" fmla="val 10966"/>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In Source A the tiger is “walking the same line along the fence”, which suggests that, whatever the sign says about size, the animal behaves as if it has almost no room. However, in Source B the lions are kept “in a long house of iron bars”. This suggests that Victorian visitors expected animals to be caged and close, and Charlotte sees nothing wrong in it: for her the bars are part of the wonder.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Build a comparative paragraph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But the lions, Harriet! I must tell you of the lions. They are kept in a long house of iron bars, and the keeper, a stout fellow with a whip he never uses, told us that one of them was brought from Africa not six months since. When he roared the whole house trembled, and a lady beside me fainted clean away and had to be revived with salts. I did not faint.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Your most affectionate sister, Charlotte</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Source B, Charlotte’s letter (1854), Part 2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The task: Question 1 practice: the true statement</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Question 1 practice. Read Source A, Part 1. Which ONE of these statements is true?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writer’s daughter is nine years old.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first enclosure they see is the tiger.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family has driven for two hours to reach the park.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gates open at noon.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Same task, three ways in: Question 1 practice: the true statement</a:t>
            </a:r>
            <a:endParaRPr lang="en-US" sz="24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Question 1 practice. Read Source A, Part 1. Which ONE of these statements is true?</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0E4E5"/>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Underline the key detail in each statement: two hours, nine years old, noon, tiger.</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each detail in Part 1, or show that it is not there.</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Only one statement is proved by a sentence in the text.</a:t>
            </a:r>
            <a:endParaRPr lang="en-US" sz="2000" dirty="0"/>
          </a:p>
        </p:txBody>
      </p:sp>
      <p:sp>
        <p:nvSpPr>
          <p:cNvPr id="17" name="col-Core"/>
          <p:cNvSpPr/>
          <p:nvPr/>
        </p:nvSpPr>
        <p:spPr>
          <a:xfrm>
            <a:off x="4338218" y="2593848"/>
            <a:ext cx="3515258" cy="3550920"/>
          </a:xfrm>
          <a:prstGeom prst="roundRect">
            <a:avLst>
              <a:gd name="adj" fmla="val 1561"/>
            </a:avLst>
          </a:prstGeom>
          <a:solidFill>
            <a:srgbClr val="E2CBC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Two statements take a true number or time and attach it to the wrong thing.</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Write two more statements about Part 1, one true and one false, that a classmate would find hard to tell apart.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From detail to inference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detail from the sources to what it suggests.</a:t>
            </a:r>
            <a:endParaRPr lang="en-US" sz="2400" dirty="0"/>
          </a:p>
        </p:txBody>
      </p:sp>
      <p:sp>
        <p:nvSpPr>
          <p:cNvPr id="11" name="match-card"/>
          <p:cNvSpPr/>
          <p:nvPr/>
        </p:nvSpPr>
        <p:spPr>
          <a:xfrm>
            <a:off x="777240" y="2468331"/>
            <a:ext cx="4655408" cy="804809"/>
          </a:xfrm>
          <a:prstGeom prst="roundRect">
            <a:avLst>
              <a:gd name="adj" fmla="val 9089"/>
            </a:avLst>
          </a:prstGeom>
          <a:solidFill>
            <a:srgbClr val="F2E8E9"/>
          </a:solidFill>
          <a:ln/>
        </p:spPr>
      </p:sp>
      <p:sp>
        <p:nvSpPr>
          <p:cNvPr id="12" name="match-hex"/>
          <p:cNvSpPr/>
          <p:nvPr/>
        </p:nvSpPr>
        <p:spPr>
          <a:xfrm>
            <a:off x="850392" y="2704443"/>
            <a:ext cx="384048" cy="332586"/>
          </a:xfrm>
          <a:prstGeom prst="hexagon">
            <a:avLst/>
          </a:prstGeom>
          <a:solidFill>
            <a:srgbClr val="8C2F39"/>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06104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grass along that line has been worn to bare earth”</a:t>
            </a:r>
            <a:endParaRPr lang="en-US" sz="2000" dirty="0"/>
          </a:p>
        </p:txBody>
      </p:sp>
      <p:sp>
        <p:nvSpPr>
          <p:cNvPr id="15" name="match-card"/>
          <p:cNvSpPr/>
          <p:nvPr/>
        </p:nvSpPr>
        <p:spPr>
          <a:xfrm>
            <a:off x="5798408" y="2468331"/>
            <a:ext cx="5616047" cy="804809"/>
          </a:xfrm>
          <a:prstGeom prst="roundRect">
            <a:avLst>
              <a:gd name="adj" fmla="val 9089"/>
            </a:avLst>
          </a:prstGeom>
          <a:solidFill>
            <a:srgbClr val="F4EDDF"/>
          </a:solidFill>
          <a:ln/>
        </p:spPr>
      </p:sp>
      <p:sp>
        <p:nvSpPr>
          <p:cNvPr id="16" name="match-hex"/>
          <p:cNvSpPr/>
          <p:nvPr/>
        </p:nvSpPr>
        <p:spPr>
          <a:xfrm>
            <a:off x="5871560" y="2704443"/>
            <a:ext cx="384048" cy="332586"/>
          </a:xfrm>
          <a:prstGeom prst="hexagon">
            <a:avLst/>
          </a:prstGeom>
          <a:solidFill>
            <a:srgbClr val="B8862B"/>
          </a:solidFill>
          <a:ln/>
        </p:spPr>
      </p:sp>
      <p:sp>
        <p:nvSpPr>
          <p:cNvPr id="17" name="match-hex-label"/>
          <p:cNvSpPr txBox="1"/>
          <p:nvPr/>
        </p:nvSpPr>
        <p:spPr>
          <a:xfrm>
            <a:off x="587156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319616" y="2468331"/>
            <a:ext cx="502168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Seeing wild animals was a cheap, everyday treat for Victorians.</a:t>
            </a:r>
            <a:endParaRPr lang="en-US" sz="2000" dirty="0"/>
          </a:p>
        </p:txBody>
      </p:sp>
      <p:sp>
        <p:nvSpPr>
          <p:cNvPr id="19" name="match-card"/>
          <p:cNvSpPr/>
          <p:nvPr/>
        </p:nvSpPr>
        <p:spPr>
          <a:xfrm>
            <a:off x="777240" y="3364581"/>
            <a:ext cx="4655408" cy="804809"/>
          </a:xfrm>
          <a:prstGeom prst="roundRect">
            <a:avLst>
              <a:gd name="adj" fmla="val 9089"/>
            </a:avLst>
          </a:prstGeom>
          <a:solidFill>
            <a:srgbClr val="F2E8E9"/>
          </a:solidFill>
          <a:ln/>
        </p:spPr>
      </p:sp>
      <p:sp>
        <p:nvSpPr>
          <p:cNvPr id="20" name="match-hex"/>
          <p:cNvSpPr/>
          <p:nvPr/>
        </p:nvSpPr>
        <p:spPr>
          <a:xfrm>
            <a:off x="850392" y="3600692"/>
            <a:ext cx="384048" cy="332586"/>
          </a:xfrm>
          <a:prstGeom prst="hexagon">
            <a:avLst/>
          </a:prstGeom>
          <a:solidFill>
            <a:srgbClr val="8C2F39"/>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06104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poor beast sat down and covered its ears”</a:t>
            </a:r>
            <a:endParaRPr lang="en-US" sz="2000" dirty="0"/>
          </a:p>
        </p:txBody>
      </p:sp>
      <p:sp>
        <p:nvSpPr>
          <p:cNvPr id="23" name="match-card"/>
          <p:cNvSpPr/>
          <p:nvPr/>
        </p:nvSpPr>
        <p:spPr>
          <a:xfrm>
            <a:off x="5798408" y="3364581"/>
            <a:ext cx="5616047" cy="804809"/>
          </a:xfrm>
          <a:prstGeom prst="roundRect">
            <a:avLst>
              <a:gd name="adj" fmla="val 9089"/>
            </a:avLst>
          </a:prstGeom>
          <a:solidFill>
            <a:srgbClr val="F4EDDF"/>
          </a:solidFill>
          <a:ln/>
        </p:spPr>
      </p:sp>
      <p:sp>
        <p:nvSpPr>
          <p:cNvPr id="24" name="match-hex"/>
          <p:cNvSpPr/>
          <p:nvPr/>
        </p:nvSpPr>
        <p:spPr>
          <a:xfrm>
            <a:off x="5871560" y="3600692"/>
            <a:ext cx="384048" cy="332586"/>
          </a:xfrm>
          <a:prstGeom prst="hexagon">
            <a:avLst/>
          </a:prstGeom>
          <a:solidFill>
            <a:srgbClr val="B8862B"/>
          </a:solidFill>
          <a:ln/>
        </p:spPr>
      </p:sp>
      <p:sp>
        <p:nvSpPr>
          <p:cNvPr id="25" name="match-hex-label"/>
          <p:cNvSpPr txBox="1"/>
          <p:nvPr/>
        </p:nvSpPr>
        <p:spPr>
          <a:xfrm>
            <a:off x="587156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319616" y="3364581"/>
            <a:ext cx="502168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band is painfully loud, even for the bear.</a:t>
            </a:r>
            <a:endParaRPr lang="en-US" sz="2000" dirty="0"/>
          </a:p>
        </p:txBody>
      </p:sp>
      <p:sp>
        <p:nvSpPr>
          <p:cNvPr id="27" name="match-card"/>
          <p:cNvSpPr/>
          <p:nvPr/>
        </p:nvSpPr>
        <p:spPr>
          <a:xfrm>
            <a:off x="777240" y="4260830"/>
            <a:ext cx="4655408" cy="804809"/>
          </a:xfrm>
          <a:prstGeom prst="roundRect">
            <a:avLst>
              <a:gd name="adj" fmla="val 9089"/>
            </a:avLst>
          </a:prstGeom>
          <a:solidFill>
            <a:srgbClr val="F2E8E9"/>
          </a:solidFill>
          <a:ln/>
        </p:spPr>
      </p:sp>
      <p:sp>
        <p:nvSpPr>
          <p:cNvPr id="28" name="match-hex"/>
          <p:cNvSpPr/>
          <p:nvPr/>
        </p:nvSpPr>
        <p:spPr>
          <a:xfrm>
            <a:off x="850392" y="4496941"/>
            <a:ext cx="384048" cy="332586"/>
          </a:xfrm>
          <a:prstGeom prst="hexagon">
            <a:avLst/>
          </a:prstGeom>
          <a:solidFill>
            <a:srgbClr val="8C2F39"/>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06104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the price of a shilling”</a:t>
            </a:r>
            <a:endParaRPr lang="en-US" sz="2000" dirty="0"/>
          </a:p>
        </p:txBody>
      </p:sp>
      <p:sp>
        <p:nvSpPr>
          <p:cNvPr id="31" name="match-card"/>
          <p:cNvSpPr/>
          <p:nvPr/>
        </p:nvSpPr>
        <p:spPr>
          <a:xfrm>
            <a:off x="5798408" y="4260830"/>
            <a:ext cx="5616047" cy="804809"/>
          </a:xfrm>
          <a:prstGeom prst="roundRect">
            <a:avLst>
              <a:gd name="adj" fmla="val 9089"/>
            </a:avLst>
          </a:prstGeom>
          <a:solidFill>
            <a:srgbClr val="F4EDDF"/>
          </a:solidFill>
          <a:ln/>
        </p:spPr>
      </p:sp>
      <p:sp>
        <p:nvSpPr>
          <p:cNvPr id="32" name="match-hex"/>
          <p:cNvSpPr/>
          <p:nvPr/>
        </p:nvSpPr>
        <p:spPr>
          <a:xfrm>
            <a:off x="5871560" y="4496941"/>
            <a:ext cx="384048" cy="332586"/>
          </a:xfrm>
          <a:prstGeom prst="hexagon">
            <a:avLst/>
          </a:prstGeom>
          <a:solidFill>
            <a:srgbClr val="B8862B"/>
          </a:solidFill>
          <a:ln/>
        </p:spPr>
      </p:sp>
      <p:sp>
        <p:nvSpPr>
          <p:cNvPr id="33" name="match-hex-label"/>
          <p:cNvSpPr txBox="1"/>
          <p:nvPr/>
        </p:nvSpPr>
        <p:spPr>
          <a:xfrm>
            <a:off x="587156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319616" y="4260830"/>
            <a:ext cx="502168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family treats the visit as a special occasion worth real effort.</a:t>
            </a:r>
            <a:endParaRPr lang="en-US" sz="2000" dirty="0"/>
          </a:p>
        </p:txBody>
      </p:sp>
      <p:sp>
        <p:nvSpPr>
          <p:cNvPr id="35" name="match-card"/>
          <p:cNvSpPr/>
          <p:nvPr/>
        </p:nvSpPr>
        <p:spPr>
          <a:xfrm>
            <a:off x="777240" y="5157079"/>
            <a:ext cx="4655408" cy="804809"/>
          </a:xfrm>
          <a:prstGeom prst="roundRect">
            <a:avLst>
              <a:gd name="adj" fmla="val 9089"/>
            </a:avLst>
          </a:prstGeom>
          <a:solidFill>
            <a:srgbClr val="F2E8E9"/>
          </a:solidFill>
          <a:ln/>
        </p:spPr>
      </p:sp>
      <p:sp>
        <p:nvSpPr>
          <p:cNvPr id="36" name="match-hex"/>
          <p:cNvSpPr/>
          <p:nvPr/>
        </p:nvSpPr>
        <p:spPr>
          <a:xfrm>
            <a:off x="850392" y="5393191"/>
            <a:ext cx="384048" cy="332586"/>
          </a:xfrm>
          <a:prstGeom prst="hexagon">
            <a:avLst/>
          </a:prstGeom>
          <a:solidFill>
            <a:srgbClr val="8C2F39"/>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06104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“We have driven for two hours to be here.”</a:t>
            </a:r>
            <a:endParaRPr lang="en-US" sz="2000" dirty="0"/>
          </a:p>
        </p:txBody>
      </p:sp>
      <p:sp>
        <p:nvSpPr>
          <p:cNvPr id="39" name="match-card"/>
          <p:cNvSpPr/>
          <p:nvPr/>
        </p:nvSpPr>
        <p:spPr>
          <a:xfrm>
            <a:off x="5798408" y="5157079"/>
            <a:ext cx="5616047" cy="804809"/>
          </a:xfrm>
          <a:prstGeom prst="roundRect">
            <a:avLst>
              <a:gd name="adj" fmla="val 9089"/>
            </a:avLst>
          </a:prstGeom>
          <a:solidFill>
            <a:srgbClr val="F4EDDF"/>
          </a:solidFill>
          <a:ln/>
        </p:spPr>
      </p:sp>
      <p:sp>
        <p:nvSpPr>
          <p:cNvPr id="40" name="match-hex"/>
          <p:cNvSpPr/>
          <p:nvPr/>
        </p:nvSpPr>
        <p:spPr>
          <a:xfrm>
            <a:off x="5871560" y="5393191"/>
            <a:ext cx="384048" cy="332586"/>
          </a:xfrm>
          <a:prstGeom prst="hexagon">
            <a:avLst/>
          </a:prstGeom>
          <a:solidFill>
            <a:srgbClr val="B8862B"/>
          </a:solidFill>
          <a:ln/>
        </p:spPr>
      </p:sp>
      <p:sp>
        <p:nvSpPr>
          <p:cNvPr id="41" name="match-hex-label"/>
          <p:cNvSpPr txBox="1"/>
          <p:nvPr/>
        </p:nvSpPr>
        <p:spPr>
          <a:xfrm>
            <a:off x="587156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319616" y="5157079"/>
            <a:ext cx="502168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tiger has paced this same route for a very long time.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Same task, three ways in: From detail to inference</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detail from the sources to what it suggests.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 the detail and ask: what must be true for this to happen?</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Worn grass does not appear in a day. Covered ears mean noise. A shilling was a small sum.</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Match each detail to the inference that it proves, not to one it merely sits near.</a:t>
            </a:r>
            <a:endParaRPr lang="en-US" sz="2000" dirty="0"/>
          </a:p>
        </p:txBody>
      </p:sp>
      <p:sp>
        <p:nvSpPr>
          <p:cNvPr id="17" name="col-Core"/>
          <p:cNvSpPr/>
          <p:nvPr/>
        </p:nvSpPr>
        <p:spPr>
          <a:xfrm>
            <a:off x="5490762" y="2578608"/>
            <a:ext cx="2938987" cy="3566160"/>
          </a:xfrm>
          <a:prstGeom prst="roundRect">
            <a:avLst>
              <a:gd name="adj" fmla="val 1867"/>
            </a:avLst>
          </a:prstGeom>
          <a:solidFill>
            <a:srgbClr val="E2CB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Ask ‘how long?’, ‘how loud?’, ‘how much?’ and ‘how far?’ of the four details.</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Choose one pair and write it as a full Question 2 sentence: quotation, then ‘which suggests…’.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statements are true in Question 1, and how do you show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Eight; underline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Four; shade the box beside each one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Two; tick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One; circle it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Answers: Question 1 practice: the true statement</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Question 1 practice. Read Source A, Part 1. Which ONE of these statements is true?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family has driven for two hours to reach the park.</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“We have driven for two hours to be here.” The daughter is six, the family arrives at nine o’clock, and the meerkats come first.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From detail to inference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grass along that line has been worn to bare earth”  →  D  The tiger has paced this same route for a very long time.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poor beast sat down and covered its ears”  →  B  The band is painfully loud, even for the bear.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“for the price of a shilling”  →  A  Seeing wild animals was a cheap, everyday treat for Victorians.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“We have driven for two hours to be here.”  →  C  The family treats the visit as a special occasion worth real effort.</a:t>
            </a:r>
            <a:endParaRPr lang="en-US" sz="20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inference is what the detail proves without saying: time (worn grass), noise (covered ears), cost (a shilling), effort (a two-hour drive).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statements are true in Question 1, and how do you show them?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Four; shade the box beside each one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Four of the eight statements are true. You shade the box beside each 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2 · Chapter 2: Questions 1 and 2: true statements, then inference</dc:title>
  <dc:subject>English Language · Year 10</dc:subject>
  <dc:creator>Dr Vitor Merissi de Carvalho</dc:creator>
  <cp:lastModifiedBy>Dr Vitor Merissi de Carvalho</cp:lastModifiedBy>
  <cp:revision>1</cp:revision>
  <dcterms:created xsi:type="dcterms:W3CDTF">2026-10-19T16:22:35Z</dcterms:created>
  <dcterms:modified xsi:type="dcterms:W3CDTF">2026-10-19T16:22:35Z</dcterms:modified>
</cp:coreProperties>
</file>