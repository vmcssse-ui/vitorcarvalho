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4e1b8d-650c-227f-6874-d1782f5d9fd9}">
          <p14:sldIdLst>
            <p14:sldId id="256"/>
          </p14:sldIdLst>
        </p14:section>
        <p14:section name="Gate" id="{b2ff47ac-8590-a72f-efc4-4911469314f9}">
          <p14:sldIdLst>
            <p14:sldId id="257"/>
            <p14:sldId id="258"/>
          </p14:sldIdLst>
        </p14:section>
        <p14:section name="Pre-teach" id="{f1a8b365-3805-9b03-8295-c6e4736641f7}">
          <p14:sldIdLst>
            <p14:sldId id="259"/>
            <p14:sldId id="260"/>
          </p14:sldIdLst>
        </p14:section>
        <p14:section name="Read-along" id="{9fa608d4-1f2e-6e31-043f-1242ada24af4}">
          <p14:sldIdLst>
            <p14:sldId id="261"/>
            <p14:sldId id="262"/>
          </p14:sldIdLst>
        </p14:section>
        <p14:section name="Teach" id="{9c3a4f9b-89d5-0640-b1ec-ab1e0388e502}">
          <p14:sldIdLst>
            <p14:sldId id="263"/>
            <p14:sldId id="264"/>
            <p14:sldId id="265"/>
            <p14:sldId id="266"/>
            <p14:sldId id="267"/>
            <p14:sldId id="268"/>
            <p14:sldId id="269"/>
            <p14:sldId id="270"/>
          </p14:sldIdLst>
        </p14:section>
        <p14:section name="Routes" id="{aa97aaea-0e6f-ce9e-2737-8c72f64f94a6}">
          <p14:sldIdLst>
            <p14:sldId id="271"/>
            <p14:sldId id="272"/>
            <p14:sldId id="273"/>
            <p14:sldId id="274"/>
          </p14:sldIdLst>
        </p14:section>
        <p14:section name="Close" id="{a9891c03-58eb-75b0-d6dc-5acd711b93fe}">
          <p14:sldIdLst>
            <p14:sldId id="275"/>
          </p14:sldIdLst>
        </p14:section>
        <p14:section name="Answers" id="{d8b33746-94e8-c9f0-d5a0-51fd7e27456f}">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Question 3: how the writer uses language. You will box the lines, find the focus of the question, zoom in on word choices and techniques, and write two developed paragraphs about their effects.
This deck covers the department's lessons: 3 (Question 3: Language Paper 2 analysis: How does the writer use language to make the subject seem a particular way?); 6 (Inference vs analysis: Question 2 and Question 3: What is the difference between inferring and analysing, and which question wants which?).
Read the big question aloud: "How do I read two writers’ viewpoints and perspectives, and how do I structure a non-fiction response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marks is Question 3 worth?  →  B   12
2. A group of words built around a noun, such as ‘a wet Saturday in March’, is called a ___ phrase.  →  noun
3. Which of these phrases from Source A is a simile?  →  D   “like something moving beneath a blanket”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12. Question 3 is worth 12 marks and takes about 15 minutes.
2. noun. A noun phrase is built around a noun: here, ‘Saturday’.
3. D   “like something moving beneath a blanket”. A simile compares with ‘like’ or ‘as’: the shoulders move like something under a blanket.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analyse: break down how the writer’s choices work. Example: "Question 3 asks you to analyse the language in a few lines."
• noun phrase: a group of words built around a noun. Example: "‘A long house of iron bars’ is a noun phrase."
• active verb: a verb that shows the subject doing something. Example: "‘Stares’ and ‘bangs’ are active verbs."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adverbial phrase: words that tell you how, when or where. Example: "‘Every few paces’ is an adverbial phrase of time."
• zoom in: look closely at one word and what it suggests. Example: "Zoom in on the word ‘worn’ and ask what it suggests."
• effect: what the words make the reader think or feel. Example: "Always explain the effect of the words you quote."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Question 3 is worth twelve marks.
2. Spend about fifteen minutes on it.
3. It points you to some lines in one source.
4. Draw a box around those lines.
5. Underline the focus of the question.
6. Find words and phrases that fit that focus.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Name the type of word or the technique.
8. A noun phrase, an active verb, a simile, personification.
9. Zoom in on one word and ask what it suggests.
10. Then add a second technique to develop your point.
11. Aim for two developed paragraphs.
12. Every point must answer the question.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Question 3 asks. Say it in your own words, then check understanding with a quick question: ask a pupil from the pre-teach group first, since they met these words and ideas before the lesson. Pupils try to recall before you re-explain.
Question 3 is worth 12 marks and should take about 15 minutes. It names a few lines in one source and asks how the writer uses language to describe something or to make something seem a particular way: ‘How does the writer use language to describe the tiger?’ The first thing to do is draw a box around the lines, so you do not drift outside them. The second is to underline the focus of the question: here, the tiger.
This is a language question, not a structure question. You are looking at words and phrases, techniques and sentence forms, and explaining what they suggest. Everything you underline in the box should fit the focus. A beautiful phrase about the car park earns nothing if the question is about the tiger.
Tip: Roughly a minute a mark, with a little extra: 12 marks, 15 minutes, two developed paragraphs.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Your language toolkit. Say it in your own words, then check understanding with a quick question: ask a pupil from the pre-teach group first, since they met these words and ideas before the lesson. Pupils try to recall before you re-explain.
Your teachers’ toolkit for Question 3 has six tools. Noun phrases: a group of words built around a noun, such as “a point far beyond the car park”, which tells you where the tiger is really looking. Active verbs: the tiger “lifts his head and stares”, and a boy “bangs on the glass”; active verbs carry energy and attitude. Adverbial phrases tell you how, when or where: “Every few paces”, “along the fence”.
Then the figurative tools. A metaphor describes one thing as another. A simile compares with ‘like’ or ‘as’: the tiger’s shoulders roll “like something moving beneath a blanket”, so the animal seems hidden and uneasy, as if even his body is covered up. Personification gives human actions or feelings to something that is not human: in Source B the camel looks at the party “with such an expression of contempt”, as though it were a snobbish gentleman.
Sentence forms count as language too. “Tigers: tick.” is two words and a colon. After long, careful sentences about the pacing animal, its shortness is cold and blunt, like ticking a box.
Quotation: "He is walking the same line along the fence, nine paces one way and nine paces back, and the grass along that line has been worn to bare earth. His shoulders roll under his skin like something moving beneath a blanket. Every few paces he lifts his head and stares, not at us but through us, at a point far beyond the car park." (Source A, ‘Behind the Glass’, Part 2 — original passage written for Ad Astra). Read it aloud; ask what it shows.
Tip: Name a tool only when you can say what it does. A label with no effect earns very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Quotation explosion: zoom in, then develop. Say it in your own words, then check understanding with a quick question: ask a pupil from the pre-teach group first, since they met these words and ideas before the lesson. Pupils try to recall before you re-explain.
A quotation explosion is your teachers’ name for this: write the quotation in the middle of the page, circle the words that carry the most meaning, and write what each one suggests around it. Then build the paragraph. Your checklist, from the mid-unit lesson: What is the writer showing or feeling? Evidence. Technique or method. Analyse: zoom in on a word. Develop the analysis with a second technique or method.
The sentence frames your teachers model are simple and strong: ‘The phrase … portrays the tiger as …’, ‘The writer uses the word … as it connotes …’, ‘Furthermore, the single-syllable verb … implies …’. Use them until they are yours.
Worked example — model it step by step, thinking aloud: Explode the quotation “nine paces one way and nine paces back” and write it up as the first half of a paragraph. (1) Focus: the tiger. The writer shows him as trapped and mechanical. (2) Technique: the repetition of ‘nine’ inside two adverbial phrases of direction, ‘one way’ and ‘back’. (3) Zoom in: ‘nine’ is exact. Someone has counted, so the walk is the same every time, like a prisoner measuring a cell. (4) Develop: add the noun phrase “bare earth”. Grass does not wear away in a day, so the pacing has gone on for months or years. Answer: The writer presents the tiger as trapped in a routine he cannot break. The adverbial phrases “nine paces one way and nine paces back” repeat the exact number, which suggests that the walk never changes and that someone has counted it, like a prisoner measuring a cell. Furthermore, the noun phrase “bare earth” implies that this has gone on for a very long time, since grass does not wear away in a day: the tiger’s whole life is this one line..
Tip: Two developed paragraphs, each with a zoom-in and a second technique, score better than five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Quotation explosion: zoom in, then develop. Say it in your own words, then check understanding with a quick question: ask a pupil from the pre-teach group first, since they met these words and ideas before the lesson. Pupils try to recall before you re-explain.
A quotation explosion is your teachers’ name for this: write the quotation in the middle of the page, circle the words that carry the most meaning, and write what each one suggests around it. Then build the paragraph. Your checklist, from the mid-unit lesson: What is the writer showing or feeling? Evidence. Technique or method. Analyse: zoom in on a word. Develop the analysis with a second technique or method.
The sentence frames your teachers model are simple and strong: ‘The phrase … portrays the tiger as …’, ‘The writer uses the word … as it connotes …’, ‘Furthermore, the single-syllable verb … implies …’. Use them until they are yours.
Worked example — model it step by step, thinking aloud: Explode the quotation “nine paces one way and nine paces back” and write it up as the first half of a paragraph. (1) Focus: the tiger. The writer shows him as trapped and mechanical. (2) Technique: the repetition of ‘nine’ inside two adverbial phrases of direction, ‘one way’ and ‘back’. (3) Zoom in: ‘nine’ is exact. Someone has counted, so the walk is the same every time, like a prisoner measuring a cell. (4) Develop: add the noun phrase “bare earth”. Grass does not wear away in a day, so the pacing has gone on for months or years. Answer: The writer presents the tiger as trapped in a routine he cannot break. The adverbial phrases “nine paces one way and nine paces back” repeat the exact number, which suggests that the walk never changes and that someone has counted it, like a prisoner measuring a cell. Furthermore, the noun phrase “bare earth” implies that this has gone on for a very long time, since grass does not wear away in a day: the tiger’s whole life is this one line..
Tip: Two developed paragraphs, each with a zoom-in and a second technique, score better than five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Quotation explosion: zoom in, then develop. Say it in your own words, then check understanding with a quick question: ask a pupil from the pre-teach group first, since they met these words and ideas before the lesson. Pupils try to recall before you re-explain.
A quotation explosion is your teachers’ name for this: write the quotation in the middle of the page, circle the words that carry the most meaning, and write what each one suggests around it. Then build the paragraph. Your checklist, from the mid-unit lesson: What is the writer showing or feeling? Evidence. Technique or method. Analyse: zoom in on a word. Develop the analysis with a second technique or method.
The sentence frames your teachers model are simple and strong: ‘The phrase … portrays the tiger as …’, ‘The writer uses the word … as it connotes …’, ‘Furthermore, the single-syllable verb … implies …’. Use them until they are yours.
Worked example — model it step by step, thinking aloud: Explode the quotation “nine paces one way and nine paces back” and write it up as the first half of a paragraph. (1) Focus: the tiger. The writer shows him as trapped and mechanical. (2) Technique: the repetition of ‘nine’ inside two adverbial phrases of direction, ‘one way’ and ‘back’. (3) Zoom in: ‘nine’ is exact. Someone has counted, so the walk is the same every time, like a prisoner measuring a cell. (4) Develop: add the noun phrase “bare earth”. Grass does not wear away in a day, so the pacing has gone on for months or years. Answer: The writer presents the tiger as trapped in a routine he cannot break. The adverbial phrases “nine paces one way and nine paces back” repeat the exact number, which suggests that the walk never changes and that someone has counted it, like a prisoner measuring a cell. Furthermore, the noun phrase “bare earth” implies that this has gone on for a very long time, since grass does not wear away in a day: the tiger’s whole life is this one line..
Tip: Two developed paragraphs, each with a zoom-in and a second technique, score better than five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Quotation explosion: zoom in, then develop. Say it in your own words, then check understanding with a quick question: ask a pupil from the pre-teach group first, since they met these words and ideas before the lesson. Pupils try to recall before you re-explain.
A quotation explosion is your teachers’ name for this: write the quotation in the middle of the page, circle the words that carry the most meaning, and write what each one suggests around it. Then build the paragraph. Your checklist, from the mid-unit lesson: What is the writer showing or feeling? Evidence. Technique or method. Analyse: zoom in on a word. Develop the analysis with a second technique or method.
The sentence frames your teachers model are simple and strong: ‘The phrase … portrays the tiger as …’, ‘The writer uses the word … as it connotes …’, ‘Furthermore, the single-syllable verb … implies …’. Use them until they are yours.
Worked example — model it step by step, thinking aloud: Explode the quotation “nine paces one way and nine paces back” and write it up as the first half of a paragraph. (1) Focus: the tiger. The writer shows him as trapped and mechanical. (2) Technique: the repetition of ‘nine’ inside two adverbial phrases of direction, ‘one way’ and ‘back’. (3) Zoom in: ‘nine’ is exact. Someone has counted, so the walk is the same every time, like a prisoner measuring a cell. (4) Develop: add the noun phrase “bare earth”. Grass does not wear away in a day, so the pacing has gone on for months or years. Answer: The writer presents the tiger as trapped in a routine he cannot break. The adverbial phrases “nine paces one way and nine paces back” repeat the exact number, which suggests that the walk never changes and that someone has counted it, like a prisoner measuring a cell. Furthermore, the noun phrase “bare earth” implies that this has gone on for a very long time, since grass does not wear away in a day: the tiger’s whole life is this one line..
Tip: Two developed paragraphs, each with a zoom-in and a second technique, score better than five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Quotation explosion: zoom in, then develop. Say it in your own words, then check understanding with a quick question: ask a pupil from the pre-teach group first, since they met these words and ideas before the lesson. Pupils try to recall before you re-explain.
A quotation explosion is your teachers’ name for this: write the quotation in the middle of the page, circle the words that carry the most meaning, and write what each one suggests around it. Then build the paragraph. Your checklist, from the mid-unit lesson: What is the writer showing or feeling? Evidence. Technique or method. Analyse: zoom in on a word. Develop the analysis with a second technique or method.
The sentence frames your teachers model are simple and strong: ‘The phrase … portrays the tiger as …’, ‘The writer uses the word … as it connotes …’, ‘Furthermore, the single-syllable verb … implies …’. Use them until they are yours.
Worked example — model it step by step, thinking aloud: Explode the quotation “nine paces one way and nine paces back” and write it up as the first half of a paragraph. (1) Focus: the tiger. The writer shows him as trapped and mechanical. (2) Technique: the repetition of ‘nine’ inside two adverbial phrases of direction, ‘one way’ and ‘back’. (3) Zoom in: ‘nine’ is exact. Someone has counted, so the walk is the same every time, like a prisoner measuring a cell. (4) Develop: add the noun phrase “bare earth”. Grass does not wear away in a day, so the pacing has gone on for months or years. Answer: The writer presents the tiger as trapped in a routine he cannot break. The adverbial phrases “nine paces one way and nine paces back” repeat the exact number, which suggests that the walk never changes and that someone has counted it, like a prisoner measuring a cell. Furthermore, the noun phrase “bare earth” implies that this has gone on for a very long time, since grass does not wear away in a day: the tiger’s whole life is this one line..
Tip: Two developed paragraphs, each with a zoom-in and a second technique, score better than five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Inference or analysis?. Say it in your own words, then check understanding with a quick question: ask a pupil from the pre-teach group first, since they met these words and ideas before the lesson. Pupils try to recall before you re-explain.
Questions 2 and 3 feel similar, because both start from a detail in the text. They are not the same. Inference (Question 2) reads between the lines: it uses textual clues and combines them with what you know to work out what the text suggests. Analysis (Question 3) breaks the text into its parts, asks why the writer made those choices, and supports every interpretation with evidence.
So in Question 2 you might write that the lion house suggests Victorian animals were kept close to the crowd. In Question 3 you would zoom in on the noun phrase “a long house of iron bars”, where ‘iron’ connotes coldness and strength, and the writer lists bars before she ever mentions the lion.
Tip: Question 2 asks what the text suggests. Question 3 asks how the words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technique.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Source A to the type of language it shows.
Support — work through the steps with the group: (1) Look for ‘like’ or ‘as’: that is a simile. (2) Single action words are verbs; if the subject is doing the action, they are active verbs. (3) A phrase that answers ‘when?’ or ‘where?’ is adverbial. (4) A phrase that names a thing or place, built around a noun, is a noun phrase.
Parallel worked example for Support (model it, do not give the task answer): Name the type of language in “a trunk as gentle as a kitten”. It contains ‘as … as’.; It compares a trunk to a kitten.. Answer: A simile..
Core — reveal the hint only on request: Only one quotation contains ‘like’. Only one is a list of three single words.
Stretch — no help; when finished: Choose one quotation and explain its effect in a single sentence, zooming in on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technique.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Source A to the type of language it shows.
Support — work through the steps with the group: (1) Look for ‘like’ or ‘as’: that is a simile. (2) Single action words are verbs; if the subject is doing the action, they are active verbs. (3) A phrase that answers ‘when?’ or ‘where?’ is adverbial. (4) A phrase that names a thing or place, built around a noun, is a noun phrase.
Parallel worked example for Support (model it, do not give the task answer): Name the type of language in “a trunk as gentle as a kitten”. It contains ‘as … as’.; It compares a trunk to a kitten.. Answer: A simile..
Core — reveal the hint only on request: Only one quotation contains ‘like’. Only one is a list of three single words.
Stretch — no help; when finished: Choose one quotation and explain its effect in a single sentence, zooming in on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effect of two actions.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writer says a boy “bangs on the glass” and “The tiger does not even blink.” What is the most likely effect of putting these two actions together?
Support — work through the steps with the group: (1) Find the two actions: the boy bangs; the tiger does not blink. (2) Notice the contrast: a loud, violent verb against no movement at all. (3) Ask what the tiger’s non-reaction suggests about his state of mind.
Parallel worked example for Support (model it, do not give the task answer): In Source B, the lion roars and “a lady beside me fainted clean away”, but Charlotte writes “I did not faint.” What is the effect of the contrast? One person reacts dramatically; the writer does not.; The short sentence sounds proud.. Answer: It makes Charlotte seem brave and a little pleased with herself, and it shows the lion’s power through the lady’s reaction..
Core — reveal the hint only on request: A banging fist usually gets a reaction. What does it mean when it gets none?
Stretch — no help; when finished: Explain how this pairing prepares the reader for the question “But what, exactly, have we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effect of two actions.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writer says a boy “bangs on the glass” and “The tiger does not even blink.” What is the most likely effect of putting these two actions together?
Support — work through the steps with the group: (1) Find the two actions: the boy bangs; the tiger does not blink. (2) Notice the contrast: a loud, violent verb against no movement at all. (3) Ask what the tiger’s non-reaction suggests about his state of mind.
Parallel worked example for Support (model it, do not give the task answer): In Source B, the lion roars and “a lady beside me fainted clean away”, but Charlotte writes “I did not faint.” What is the effect of the contrast? One person reacts dramatically; the writer does not.; The short sentence sounds proud.. Answer: It makes Charlotte seem brave and a little pleased with herself, and it shows the lion’s power through the lady’s reaction..
Core — reveal the hint only on request: A banging fist usually gets a reaction. What does it mean when it gets none?
Stretch — no help; when finished: Explain how this pairing prepares the reader for the question “But what, exactly, have we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many marks is Question 3 worth?
Answer: A   12. Question 3 is worth 12 marks and takes about 15 minutes.
Source of this question: gate item 1 re-asked (options rotated) — this chapter has no third quick-check module.
The ebook also holds task 3, "Question 3 practice answer",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the technique. Reveal the answer; pupils mark their own work in a different colour, then read the "why" together. Same destination for every lane, so one answer serves the whole class.
Answer: “like something moving beneath a blanket”  →  B  simile; “lifts”, “stares”, “bangs”  →  C  active verbs; “Every few paces”  →  A  adverbial phrase; “a point far beyond the car park”  →  D  noun phrase
Why: ‘Like’ marks the simile; the three single words are active verbs; “Every few paces” tells you when; “a point far beyond the car park” names a place.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effect of two actions. Reveal the answer; pupils mark their own work in a different colour, then read the "why" together. Same destination for every lane, so one answer serves the whole class.
Answer: B   It shows that the tiger has stopped reacting to people, as if they no longer exist for him.
Why: The violent verb “bangs” meets no reaction at all. The tiger has stopped treating people as real, which makes the reader uneasy about what the park has done to him.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12
Why: Question 3 is worth 12 marks and takes about 15 minutes.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2 · AQA 8700</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Question 3: how the writer uses language</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F0E4E5"/>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Question 3: Language Paper 2 analysis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Inference vs analysis: Question 2 and Question 3</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read two writers’ viewpoints and perspectives, and how do I structure a non-fiction response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marks is Question 3 worth?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8</a:t>
            </a:r>
            <a:endParaRPr lang="en-US" sz="24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group of words built around a noun, such as ‘a wet Saturday in March’, is called a ___ phrase.</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noun  ·  verb  ·  adverbial</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of these phrases from Source A is a simile?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“nine paces one way and nine paces back”</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“Tigers: tick.”</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tiger does not even blink.”</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“like something moving beneath a blanket”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12</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marks is Question 3 worth?</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3 is worth 12 marks and takes about 15 minutes.</a:t>
            </a:r>
            <a:endParaRPr lang="en-US" sz="22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noun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group of words built around a noun, such as ‘a wet Saturday in March’, is called a ___ phrase.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noun phrase is built around a noun: here, ‘Saturday’.</a:t>
            </a:r>
            <a:endParaRPr lang="en-US" sz="22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“like something moving beneath a blanket”</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phrases from Source A is a simile?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simile compares with ‘like’ or ‘as’: the shoulders move like something under a blanket.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analyse</a:t>
            </a:r>
            <a:endParaRPr lang="en-US" sz="2600" dirty="0"/>
          </a:p>
        </p:txBody>
      </p:sp>
      <p:sp>
        <p:nvSpPr>
          <p:cNvPr id="11" name="word-rule"/>
          <p:cNvSpPr/>
          <p:nvPr/>
        </p:nvSpPr>
        <p:spPr>
          <a:xfrm>
            <a:off x="731520" y="2129028"/>
            <a:ext cx="3149498" cy="0"/>
          </a:xfrm>
          <a:prstGeom prst="line">
            <a:avLst/>
          </a:prstGeom>
          <a:ln w="12700">
            <a:solidFill>
              <a:srgbClr val="CEA6A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break down how the writer’s choices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Question 3 asks you to analyse the language in a few lines.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noun phrase</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group of words built around a noun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long house of iron bars’ is a noun phrase.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active verb</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verb that shows the subject doing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‘Stares’ and ‘bangs’ are active verbs.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adverbial phrase</a:t>
            </a:r>
            <a:endParaRPr lang="en-US" sz="2600" dirty="0"/>
          </a:p>
        </p:txBody>
      </p:sp>
      <p:sp>
        <p:nvSpPr>
          <p:cNvPr id="11" name="word-rule"/>
          <p:cNvSpPr/>
          <p:nvPr/>
        </p:nvSpPr>
        <p:spPr>
          <a:xfrm>
            <a:off x="731520" y="2558288"/>
            <a:ext cx="3149498" cy="0"/>
          </a:xfrm>
          <a:prstGeom prst="line">
            <a:avLst/>
          </a:prstGeom>
          <a:ln w="12700">
            <a:solidFill>
              <a:srgbClr val="CEA6AA"/>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words that tell you how, when or where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‘Every few paces’ is an adverbial phrase of time.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zoom in</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look closely at one word and what it suggests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Zoom in on the word ‘worn’ and ask what it suggests.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effect</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the words make the reader think or feel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Always explain the effect of the words you quote.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Question 3 is worth twelve marks.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Spend about fifteen minutes on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points you to some lines in one source.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Draw a box around those lines.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Underline the focus of the question.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Find words and phrases that fit that focus.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Name the type of word or the technique.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noun phrase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active verb</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 simile, personification.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Zoom in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on one word and ask what it suggests.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add a second technique to develop your point.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Aim for two developed paragraphs.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Every point must answer the question.</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Question 3 asks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Roughly a minute a mark, with a little extra: 12 marks, 15 minutes, two developed paragraphs.</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3 is worth 12 marks and should take about 15 minutes.</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a language question, not a structure question. You are looking at words and phrases, techniques and sentence forms, and explaining what they suggest.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Your language toolkit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Name a tool only when you can say what it does. A label with no effect earns very little.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0E4E5"/>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000" i="1" dirty="0">
                <a:solidFill>
                  <a:srgbClr val="1E2229"/>
                </a:solidFill>
                <a:latin typeface="Cambria" pitchFamily="34" charset="0"/>
                <a:ea typeface="Cambria" pitchFamily="34" charset="-122"/>
                <a:cs typeface="Cambria" pitchFamily="34" charset="-120"/>
              </a:rPr>
              <a:t>He is walking the same line along the fence, nine paces one way and nine paces back, and the grass along that line has been worn to bare earth. His shoulders roll under his skin like something moving beneath a blanket. Every few paces he lifts his head and stares, not at us but through us, at a point far beyond the car park.</a:t>
            </a:r>
            <a:endParaRPr lang="en-US" sz="2000" dirty="0"/>
          </a:p>
          <a:p>
            <a:pPr algn="l" indent="0" marL="0">
              <a:buNone/>
            </a:pPr>
            <a:r>
              <a:rPr lang="en-US" sz="1800" dirty="0">
                <a:solidFill>
                  <a:srgbClr val="4A505C"/>
                </a:solidFill>
                <a:latin typeface="Calibri" pitchFamily="34" charset="0"/>
                <a:ea typeface="Calibri" pitchFamily="34" charset="-122"/>
                <a:cs typeface="Calibri" pitchFamily="34" charset="-120"/>
              </a:rPr>
              <a:t>— Source A, ‘Behind the Glass’, Part 2 — original passage written for Ad Astra</a:t>
            </a:r>
            <a:endParaRPr lang="en-US" sz="2000" dirty="0"/>
          </a:p>
        </p:txBody>
      </p:sp>
      <p:sp>
        <p:nvSpPr>
          <p:cNvPr id="14" name="bullet-card"/>
          <p:cNvSpPr/>
          <p:nvPr/>
        </p:nvSpPr>
        <p:spPr>
          <a:xfrm>
            <a:off x="548640" y="1389888"/>
            <a:ext cx="5074920" cy="1595967"/>
          </a:xfrm>
          <a:prstGeom prst="roundRect">
            <a:avLst>
              <a:gd name="adj" fmla="val 4584"/>
            </a:avLst>
          </a:prstGeom>
          <a:solidFill>
            <a:srgbClr val="F2E8E9"/>
          </a:solidFill>
          <a:ln/>
        </p:spPr>
      </p:sp>
      <p:sp>
        <p:nvSpPr>
          <p:cNvPr id="15" name="bullet-hex"/>
          <p:cNvSpPr/>
          <p:nvPr/>
        </p:nvSpPr>
        <p:spPr>
          <a:xfrm>
            <a:off x="676656" y="2021579"/>
            <a:ext cx="384048" cy="332586"/>
          </a:xfrm>
          <a:prstGeom prst="hexagon">
            <a:avLst/>
          </a:prstGeom>
          <a:solidFill>
            <a:srgbClr val="8C2F39"/>
          </a:solidFill>
          <a:ln/>
        </p:spPr>
      </p:sp>
      <p:sp>
        <p:nvSpPr>
          <p:cNvPr id="16" name="bullet"/>
          <p:cNvSpPr txBox="1"/>
          <p:nvPr/>
        </p:nvSpPr>
        <p:spPr>
          <a:xfrm>
            <a:off x="1143000" y="1389888"/>
            <a:ext cx="4389120" cy="1595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teachers’ toolkit for Question 3 has six tools. Noun phrases: a group of words built around a noun, such as “a point far beyond the car park”, which tells you where the tiger is really looking.</a:t>
            </a:r>
            <a:endParaRPr lang="en-US" sz="1800" dirty="0"/>
          </a:p>
        </p:txBody>
      </p:sp>
      <p:sp>
        <p:nvSpPr>
          <p:cNvPr id="17" name="bullet-card"/>
          <p:cNvSpPr/>
          <p:nvPr/>
        </p:nvSpPr>
        <p:spPr>
          <a:xfrm>
            <a:off x="548640" y="3132159"/>
            <a:ext cx="5074920" cy="759291"/>
          </a:xfrm>
          <a:prstGeom prst="roundRect">
            <a:avLst>
              <a:gd name="adj" fmla="val 9634"/>
            </a:avLst>
          </a:prstGeom>
          <a:solidFill>
            <a:srgbClr val="F2E8E9"/>
          </a:solidFill>
          <a:ln/>
        </p:spPr>
      </p:sp>
      <p:sp>
        <p:nvSpPr>
          <p:cNvPr id="18" name="bullet-hex"/>
          <p:cNvSpPr/>
          <p:nvPr/>
        </p:nvSpPr>
        <p:spPr>
          <a:xfrm>
            <a:off x="676656" y="3345511"/>
            <a:ext cx="384048" cy="332586"/>
          </a:xfrm>
          <a:prstGeom prst="hexagon">
            <a:avLst/>
          </a:prstGeom>
          <a:solidFill>
            <a:srgbClr val="B8862B"/>
          </a:solidFill>
          <a:ln/>
        </p:spPr>
      </p:sp>
      <p:sp>
        <p:nvSpPr>
          <p:cNvPr id="19" name="bullet"/>
          <p:cNvSpPr txBox="1"/>
          <p:nvPr/>
        </p:nvSpPr>
        <p:spPr>
          <a:xfrm>
            <a:off x="1143000" y="3132159"/>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the figurative tools. A metaphor describes one thing as another.</a:t>
            </a:r>
            <a:endParaRPr lang="en-US" sz="1800" dirty="0"/>
          </a:p>
        </p:txBody>
      </p:sp>
      <p:sp>
        <p:nvSpPr>
          <p:cNvPr id="20" name="bullet-card"/>
          <p:cNvSpPr/>
          <p:nvPr/>
        </p:nvSpPr>
        <p:spPr>
          <a:xfrm>
            <a:off x="548640" y="4037753"/>
            <a:ext cx="5074920" cy="759291"/>
          </a:xfrm>
          <a:prstGeom prst="roundRect">
            <a:avLst>
              <a:gd name="adj" fmla="val 9634"/>
            </a:avLst>
          </a:prstGeom>
          <a:solidFill>
            <a:srgbClr val="F2E8E9"/>
          </a:solidFill>
          <a:ln/>
        </p:spPr>
      </p:sp>
      <p:sp>
        <p:nvSpPr>
          <p:cNvPr id="21" name="bullet-hex"/>
          <p:cNvSpPr/>
          <p:nvPr/>
        </p:nvSpPr>
        <p:spPr>
          <a:xfrm>
            <a:off x="676656" y="4251106"/>
            <a:ext cx="384048" cy="332586"/>
          </a:xfrm>
          <a:prstGeom prst="hexagon">
            <a:avLst/>
          </a:prstGeom>
          <a:solidFill>
            <a:srgbClr val="8C2F39"/>
          </a:solidFill>
          <a:ln/>
        </p:spPr>
      </p:sp>
      <p:sp>
        <p:nvSpPr>
          <p:cNvPr id="22" name="bullet"/>
          <p:cNvSpPr txBox="1"/>
          <p:nvPr/>
        </p:nvSpPr>
        <p:spPr>
          <a:xfrm>
            <a:off x="1143000" y="4037753"/>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Sentence forms count as language too. “Tigers: tick.” is two words and a colon.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Quotation explosion: zoom in, then develop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developed paragraphs, each with a zoom-in and a second technique, score better than five labels.</a:t>
            </a:r>
            <a:endParaRPr lang="en-US" sz="1800" dirty="0"/>
          </a:p>
        </p:txBody>
      </p:sp>
      <p:sp>
        <p:nvSpPr>
          <p:cNvPr id="11" name="point-card"/>
          <p:cNvSpPr/>
          <p:nvPr/>
        </p:nvSpPr>
        <p:spPr>
          <a:xfrm>
            <a:off x="548640" y="1389888"/>
            <a:ext cx="5410048" cy="3686048"/>
          </a:xfrm>
          <a:prstGeom prst="roundRect">
            <a:avLst>
              <a:gd name="adj" fmla="val 1488"/>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quotation explosion is your teachers’ name for this: write the quotation in the middle of the page, circle the words that carry the most meaning, and write what each one suggests around it.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sentence frames your teachers model are simple and strong: ‘The phrase … portrays the tiger as …’, ‘The writer uses the word … as it connotes …’, ‘Furthermore, the single-syllable verb … implies …’.</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(1 of 4): Quotation explosion: zoom in, then develop</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Explode the quotation “nine paces one way and nine paces back” and write it up as the first half of a paragraph.</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Focus: the tiger. The writer shows him as trapped and mechanical.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(2 of 4): Quotation explosion: zoom in, then develop</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Explode the quotation “nine paces one way and nine paces back” and write it up as the first half of a paragraph.</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Technique: the repetition of ‘nine’ inside two adverbial phrases of direction, ‘one way’ and ‘back’.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(3 of 4): Quotation explosion: zoom in, then develop</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Explode the quotation “nine paces one way and nine paces back” and write it up as the first half of a paragraph.</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Zoom in: ‘nine’ is exact. Someone has counted, so the walk is the same every time, like a prisoner measuring a cell.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(4 of 4): Quotation explosion: zoom in, then develop</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E4E5"/>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Explode the quotation “nine paces one way and nine paces back” and write it up as the first half of a paragraph.</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Develop: add the noun phrase “bare earth”. Grass does not wear away in a day, so the pacing has gone on for months or years.</a:t>
            </a:r>
            <a:endParaRPr lang="en-US" sz="1800" dirty="0"/>
          </a:p>
        </p:txBody>
      </p:sp>
      <p:sp>
        <p:nvSpPr>
          <p:cNvPr id="13" name="worked-answer"/>
          <p:cNvSpPr/>
          <p:nvPr/>
        </p:nvSpPr>
        <p:spPr>
          <a:xfrm>
            <a:off x="1463040" y="4477004"/>
            <a:ext cx="9265615" cy="1667764"/>
          </a:xfrm>
          <a:prstGeom prst="roundRect">
            <a:avLst>
              <a:gd name="adj" fmla="val 10966"/>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writer presents the tiger as trapped in a routine he cannot break. The adverbial phrases “nine paces one way and nine paces back” repeat the exact number, which suggests that the walk never changes and that someone has counted it, like a prisoner measuring a cell. Furthermore, the noun phrase “bare earth” implies that this has gone on for a very long time, since grass does not wear away in a day: the tiger’s whole life is this one line.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Inference or analysis?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Question 2 asks what the text suggests. Question 3 asks how the words do it.</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Questions 2 and 3 feel similar, because both start from a detail in the text.</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in Question 2 you might write that the lion house suggests Victorian animals were kept close to the crowd.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quotation from Source A to the type of language it shows.</a:t>
            </a:r>
            <a:endParaRPr lang="en-US" sz="2000" dirty="0"/>
          </a:p>
        </p:txBody>
      </p:sp>
      <p:sp>
        <p:nvSpPr>
          <p:cNvPr id="11" name="match-card"/>
          <p:cNvSpPr/>
          <p:nvPr/>
        </p:nvSpPr>
        <p:spPr>
          <a:xfrm>
            <a:off x="777240" y="2468331"/>
            <a:ext cx="5135728" cy="1060460"/>
          </a:xfrm>
          <a:prstGeom prst="roundRect">
            <a:avLst>
              <a:gd name="adj" fmla="val 6898"/>
            </a:avLst>
          </a:prstGeom>
          <a:solidFill>
            <a:srgbClr val="F2E8E9"/>
          </a:solidFill>
          <a:ln/>
        </p:spPr>
      </p:sp>
      <p:sp>
        <p:nvSpPr>
          <p:cNvPr id="12" name="match-hex"/>
          <p:cNvSpPr/>
          <p:nvPr/>
        </p:nvSpPr>
        <p:spPr>
          <a:xfrm>
            <a:off x="850392" y="2832269"/>
            <a:ext cx="384048" cy="332586"/>
          </a:xfrm>
          <a:prstGeom prst="hexagon">
            <a:avLst/>
          </a:prstGeom>
          <a:solidFill>
            <a:srgbClr val="8C2F39"/>
          </a:solidFill>
          <a:ln/>
        </p:spPr>
      </p:sp>
      <p:sp>
        <p:nvSpPr>
          <p:cNvPr id="13" name="match-hex-label"/>
          <p:cNvSpPr txBox="1"/>
          <p:nvPr/>
        </p:nvSpPr>
        <p:spPr>
          <a:xfrm>
            <a:off x="850392" y="283226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“like something moving beneath a blanket”</a:t>
            </a:r>
            <a:endParaRPr lang="en-US" sz="2200" dirty="0"/>
          </a:p>
        </p:txBody>
      </p:sp>
      <p:sp>
        <p:nvSpPr>
          <p:cNvPr id="15" name="match-card"/>
          <p:cNvSpPr/>
          <p:nvPr/>
        </p:nvSpPr>
        <p:spPr>
          <a:xfrm>
            <a:off x="6278728" y="2468331"/>
            <a:ext cx="5135728" cy="1060460"/>
          </a:xfrm>
          <a:prstGeom prst="roundRect">
            <a:avLst>
              <a:gd name="adj" fmla="val 6898"/>
            </a:avLst>
          </a:prstGeom>
          <a:solidFill>
            <a:srgbClr val="F4EDDF"/>
          </a:solidFill>
          <a:ln/>
        </p:spPr>
      </p:sp>
      <p:sp>
        <p:nvSpPr>
          <p:cNvPr id="16" name="match-hex"/>
          <p:cNvSpPr/>
          <p:nvPr/>
        </p:nvSpPr>
        <p:spPr>
          <a:xfrm>
            <a:off x="6351880" y="2832269"/>
            <a:ext cx="384048" cy="332586"/>
          </a:xfrm>
          <a:prstGeom prst="hexagon">
            <a:avLst/>
          </a:prstGeom>
          <a:solidFill>
            <a:srgbClr val="B8862B"/>
          </a:solidFill>
          <a:ln/>
        </p:spPr>
      </p:sp>
      <p:sp>
        <p:nvSpPr>
          <p:cNvPr id="17" name="match-hex-label"/>
          <p:cNvSpPr txBox="1"/>
          <p:nvPr/>
        </p:nvSpPr>
        <p:spPr>
          <a:xfrm>
            <a:off x="6351880" y="283226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adverbial phrase</a:t>
            </a:r>
            <a:endParaRPr lang="en-US" sz="2200" dirty="0"/>
          </a:p>
        </p:txBody>
      </p:sp>
      <p:sp>
        <p:nvSpPr>
          <p:cNvPr id="19" name="match-card"/>
          <p:cNvSpPr/>
          <p:nvPr/>
        </p:nvSpPr>
        <p:spPr>
          <a:xfrm>
            <a:off x="777240" y="3620232"/>
            <a:ext cx="5135728" cy="719592"/>
          </a:xfrm>
          <a:prstGeom prst="roundRect">
            <a:avLst>
              <a:gd name="adj" fmla="val 10166"/>
            </a:avLst>
          </a:prstGeom>
          <a:solidFill>
            <a:srgbClr val="F2E8E9"/>
          </a:solidFill>
          <a:ln/>
        </p:spPr>
      </p:sp>
      <p:sp>
        <p:nvSpPr>
          <p:cNvPr id="20" name="match-hex"/>
          <p:cNvSpPr/>
          <p:nvPr/>
        </p:nvSpPr>
        <p:spPr>
          <a:xfrm>
            <a:off x="850392" y="3813735"/>
            <a:ext cx="384048" cy="332586"/>
          </a:xfrm>
          <a:prstGeom prst="hexagon">
            <a:avLst/>
          </a:prstGeom>
          <a:solidFill>
            <a:srgbClr val="8C2F39"/>
          </a:solidFill>
          <a:ln/>
        </p:spPr>
      </p:sp>
      <p:sp>
        <p:nvSpPr>
          <p:cNvPr id="21" name="match-hex-label"/>
          <p:cNvSpPr txBox="1"/>
          <p:nvPr/>
        </p:nvSpPr>
        <p:spPr>
          <a:xfrm>
            <a:off x="850392" y="38137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20232"/>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“lifts”, “stares”, “bangs”</a:t>
            </a:r>
            <a:endParaRPr lang="en-US" sz="2200" dirty="0"/>
          </a:p>
        </p:txBody>
      </p:sp>
      <p:sp>
        <p:nvSpPr>
          <p:cNvPr id="23" name="match-card"/>
          <p:cNvSpPr/>
          <p:nvPr/>
        </p:nvSpPr>
        <p:spPr>
          <a:xfrm>
            <a:off x="6278728" y="3620232"/>
            <a:ext cx="5135728" cy="719592"/>
          </a:xfrm>
          <a:prstGeom prst="roundRect">
            <a:avLst>
              <a:gd name="adj" fmla="val 10166"/>
            </a:avLst>
          </a:prstGeom>
          <a:solidFill>
            <a:srgbClr val="F4EDDF"/>
          </a:solidFill>
          <a:ln/>
        </p:spPr>
      </p:sp>
      <p:sp>
        <p:nvSpPr>
          <p:cNvPr id="24" name="match-hex"/>
          <p:cNvSpPr/>
          <p:nvPr/>
        </p:nvSpPr>
        <p:spPr>
          <a:xfrm>
            <a:off x="6351880" y="3813735"/>
            <a:ext cx="384048" cy="332586"/>
          </a:xfrm>
          <a:prstGeom prst="hexagon">
            <a:avLst/>
          </a:prstGeom>
          <a:solidFill>
            <a:srgbClr val="B8862B"/>
          </a:solidFill>
          <a:ln/>
        </p:spPr>
      </p:sp>
      <p:sp>
        <p:nvSpPr>
          <p:cNvPr id="25" name="match-hex-label"/>
          <p:cNvSpPr txBox="1"/>
          <p:nvPr/>
        </p:nvSpPr>
        <p:spPr>
          <a:xfrm>
            <a:off x="6351880" y="38137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620232"/>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simile</a:t>
            </a:r>
            <a:endParaRPr lang="en-US" sz="2200" dirty="0"/>
          </a:p>
        </p:txBody>
      </p:sp>
      <p:sp>
        <p:nvSpPr>
          <p:cNvPr id="27" name="match-card"/>
          <p:cNvSpPr/>
          <p:nvPr/>
        </p:nvSpPr>
        <p:spPr>
          <a:xfrm>
            <a:off x="777240" y="4431264"/>
            <a:ext cx="5135728" cy="719592"/>
          </a:xfrm>
          <a:prstGeom prst="roundRect">
            <a:avLst>
              <a:gd name="adj" fmla="val 10166"/>
            </a:avLst>
          </a:prstGeom>
          <a:solidFill>
            <a:srgbClr val="F2E8E9"/>
          </a:solidFill>
          <a:ln/>
        </p:spPr>
      </p:sp>
      <p:sp>
        <p:nvSpPr>
          <p:cNvPr id="28" name="match-hex"/>
          <p:cNvSpPr/>
          <p:nvPr/>
        </p:nvSpPr>
        <p:spPr>
          <a:xfrm>
            <a:off x="850392" y="4624767"/>
            <a:ext cx="384048" cy="332586"/>
          </a:xfrm>
          <a:prstGeom prst="hexagon">
            <a:avLst/>
          </a:prstGeom>
          <a:solidFill>
            <a:srgbClr val="8C2F39"/>
          </a:solidFill>
          <a:ln/>
        </p:spPr>
      </p:sp>
      <p:sp>
        <p:nvSpPr>
          <p:cNvPr id="29" name="match-hex-label"/>
          <p:cNvSpPr txBox="1"/>
          <p:nvPr/>
        </p:nvSpPr>
        <p:spPr>
          <a:xfrm>
            <a:off x="850392" y="46247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31264"/>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“Every few paces”</a:t>
            </a:r>
            <a:endParaRPr lang="en-US" sz="2200" dirty="0"/>
          </a:p>
        </p:txBody>
      </p:sp>
      <p:sp>
        <p:nvSpPr>
          <p:cNvPr id="31" name="match-card"/>
          <p:cNvSpPr/>
          <p:nvPr/>
        </p:nvSpPr>
        <p:spPr>
          <a:xfrm>
            <a:off x="6278728" y="4431264"/>
            <a:ext cx="5135728" cy="719592"/>
          </a:xfrm>
          <a:prstGeom prst="roundRect">
            <a:avLst>
              <a:gd name="adj" fmla="val 10166"/>
            </a:avLst>
          </a:prstGeom>
          <a:solidFill>
            <a:srgbClr val="F4EDDF"/>
          </a:solidFill>
          <a:ln/>
        </p:spPr>
      </p:sp>
      <p:sp>
        <p:nvSpPr>
          <p:cNvPr id="32" name="match-hex"/>
          <p:cNvSpPr/>
          <p:nvPr/>
        </p:nvSpPr>
        <p:spPr>
          <a:xfrm>
            <a:off x="6351880" y="4624767"/>
            <a:ext cx="384048" cy="332586"/>
          </a:xfrm>
          <a:prstGeom prst="hexagon">
            <a:avLst/>
          </a:prstGeom>
          <a:solidFill>
            <a:srgbClr val="B8862B"/>
          </a:solidFill>
          <a:ln/>
        </p:spPr>
      </p:sp>
      <p:sp>
        <p:nvSpPr>
          <p:cNvPr id="33" name="match-hex-label"/>
          <p:cNvSpPr txBox="1"/>
          <p:nvPr/>
        </p:nvSpPr>
        <p:spPr>
          <a:xfrm>
            <a:off x="6351880" y="46247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431264"/>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active verbs</a:t>
            </a:r>
            <a:endParaRPr lang="en-US" sz="2200" dirty="0"/>
          </a:p>
        </p:txBody>
      </p:sp>
      <p:sp>
        <p:nvSpPr>
          <p:cNvPr id="35" name="match-card"/>
          <p:cNvSpPr/>
          <p:nvPr/>
        </p:nvSpPr>
        <p:spPr>
          <a:xfrm>
            <a:off x="777240" y="5242296"/>
            <a:ext cx="5135728" cy="719592"/>
          </a:xfrm>
          <a:prstGeom prst="roundRect">
            <a:avLst>
              <a:gd name="adj" fmla="val 10166"/>
            </a:avLst>
          </a:prstGeom>
          <a:solidFill>
            <a:srgbClr val="F2E8E9"/>
          </a:solidFill>
          <a:ln/>
        </p:spPr>
      </p:sp>
      <p:sp>
        <p:nvSpPr>
          <p:cNvPr id="36" name="match-hex"/>
          <p:cNvSpPr/>
          <p:nvPr/>
        </p:nvSpPr>
        <p:spPr>
          <a:xfrm>
            <a:off x="850392" y="5435799"/>
            <a:ext cx="384048" cy="332586"/>
          </a:xfrm>
          <a:prstGeom prst="hexagon">
            <a:avLst/>
          </a:prstGeom>
          <a:solidFill>
            <a:srgbClr val="8C2F39"/>
          </a:solidFill>
          <a:ln/>
        </p:spPr>
      </p:sp>
      <p:sp>
        <p:nvSpPr>
          <p:cNvPr id="37" name="match-hex-label"/>
          <p:cNvSpPr txBox="1"/>
          <p:nvPr/>
        </p:nvSpPr>
        <p:spPr>
          <a:xfrm>
            <a:off x="850392" y="54357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42296"/>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point far beyond the car park”</a:t>
            </a:r>
            <a:endParaRPr lang="en-US" sz="2200" dirty="0"/>
          </a:p>
        </p:txBody>
      </p:sp>
      <p:sp>
        <p:nvSpPr>
          <p:cNvPr id="39" name="match-card"/>
          <p:cNvSpPr/>
          <p:nvPr/>
        </p:nvSpPr>
        <p:spPr>
          <a:xfrm>
            <a:off x="6278728" y="5242296"/>
            <a:ext cx="5135728" cy="719592"/>
          </a:xfrm>
          <a:prstGeom prst="roundRect">
            <a:avLst>
              <a:gd name="adj" fmla="val 10166"/>
            </a:avLst>
          </a:prstGeom>
          <a:solidFill>
            <a:srgbClr val="F4EDDF"/>
          </a:solidFill>
          <a:ln/>
        </p:spPr>
      </p:sp>
      <p:sp>
        <p:nvSpPr>
          <p:cNvPr id="40" name="match-hex"/>
          <p:cNvSpPr/>
          <p:nvPr/>
        </p:nvSpPr>
        <p:spPr>
          <a:xfrm>
            <a:off x="6351880" y="5435799"/>
            <a:ext cx="384048" cy="332586"/>
          </a:xfrm>
          <a:prstGeom prst="hexagon">
            <a:avLst/>
          </a:prstGeom>
          <a:solidFill>
            <a:srgbClr val="B8862B"/>
          </a:solidFill>
          <a:ln/>
        </p:spPr>
      </p:sp>
      <p:sp>
        <p:nvSpPr>
          <p:cNvPr id="41" name="match-hex-label"/>
          <p:cNvSpPr txBox="1"/>
          <p:nvPr/>
        </p:nvSpPr>
        <p:spPr>
          <a:xfrm>
            <a:off x="6351880" y="54357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242296"/>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noun phrase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quotation from Source A to the type of language it shows.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‘like’ or ‘as’: that is a simile.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Single action words are verbs; if the subject is doing the action, they are active verbs.</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phrase that answers ‘when?’ or ‘where?’ is adverbial.</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phrase that names a thing or place, built around a noun, is a noun phrase.</a:t>
            </a:r>
            <a:endParaRPr lang="en-US" sz="1800" dirty="0"/>
          </a:p>
        </p:txBody>
      </p:sp>
      <p:sp>
        <p:nvSpPr>
          <p:cNvPr id="17" name="col-Core"/>
          <p:cNvSpPr/>
          <p:nvPr/>
        </p:nvSpPr>
        <p:spPr>
          <a:xfrm>
            <a:off x="5490762" y="2578608"/>
            <a:ext cx="2938987" cy="3566160"/>
          </a:xfrm>
          <a:prstGeom prst="roundRect">
            <a:avLst>
              <a:gd name="adj" fmla="val 1867"/>
            </a:avLst>
          </a:prstGeom>
          <a:solidFill>
            <a:srgbClr val="E2CB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Only one quotation contains ‘like’. Only one is a list of three single words.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one quotation and explain its effect in a single sentence, zooming in on one word.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The effect of two actions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writer says a boy “bangs on the glass” and “The tiger does not even blink.” What is the most likely effect of putting these two actions together?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makes the scene light-hearted and funny.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shows that the tiger has stopped reacting to people, as if they no longer exist for him.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shows that the tiger is about to attack the boy.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tells the reader that the glass is very thick.</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Same task, three ways in: The effect of two actions</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writer says a boy “bangs on the glass” and “The tiger does not even blink.” What is the most likely effect of putting these two actions together?</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0E4E5"/>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two actions: the boy bangs; the tiger does not blink.</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Notice the contrast: a loud, violent verb against no movement at all.</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the tiger’s non-reaction suggests about his state of mind.</a:t>
            </a:r>
            <a:endParaRPr lang="en-US" sz="1800" dirty="0"/>
          </a:p>
        </p:txBody>
      </p:sp>
      <p:sp>
        <p:nvSpPr>
          <p:cNvPr id="17" name="col-Core"/>
          <p:cNvSpPr/>
          <p:nvPr/>
        </p:nvSpPr>
        <p:spPr>
          <a:xfrm>
            <a:off x="4338218" y="2593848"/>
            <a:ext cx="3515258" cy="3550920"/>
          </a:xfrm>
          <a:prstGeom prst="roundRect">
            <a:avLst>
              <a:gd name="adj" fmla="val 1561"/>
            </a:avLst>
          </a:prstGeom>
          <a:solidFill>
            <a:srgbClr val="E2CBCE"/>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banging fist usually gets a reaction. What does it mean when it gets none?</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8C2F39"/>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this pairing prepares the reader for the question “But what, exactly, have we seen?”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many marks is Question 3 worth?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12</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4</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8</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16</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“like something moving beneath a blanket”  →  B  simile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“lifts”, “stares”, “bangs”  →  C  active verbs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“Every few paces”  →  A  adverbial phrase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point far beyond the car park”  →  D  noun phrase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‘Like’ marks the simile; the three single words are active verbs; “Every few paces” tells you when; “a point far beyond the car park” names a place.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The effect of two actions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writer says a boy “bangs on the glass” and “The tiger does not even blink.” What is the most likely effect of putting these two actions together?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It shows that the tiger has stopped reacting to people, as if they no longer exist for him.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violent verb “bangs” meets no reaction at all. The tiger has stopped treating people as real, which makes the reader uneasy about what the park has done to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marks is Question 3 worth?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12</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3 is worth 12 marks and takes about 15 minutes.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2 · Chapter 3: Question 3: how the writer uses language</dc:title>
  <dc:subject>English Language · Year 10</dc:subject>
  <dc:creator>Dr Vitor Merissi de Carvalho</dc:creator>
  <cp:lastModifiedBy>Dr Vitor Merissi de Carvalho</cp:lastModifiedBy>
  <cp:revision>1</cp:revision>
  <dcterms:created xsi:type="dcterms:W3CDTF">2026-10-19T16:22:35Z</dcterms:created>
  <dcterms:modified xsi:type="dcterms:W3CDTF">2026-10-19T16:22:35Z</dcterms:modified>
</cp:coreProperties>
</file>