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9b03b6-2619-a519-12a9-2240c5ec35c1}">
          <p14:sldIdLst>
            <p14:sldId id="256"/>
            <p14:sldId id="257"/>
          </p14:sldIdLst>
        </p14:section>
        <p14:section name="Gate" id="{6f65f784-9aa4-09b1-1030-628d7440a453}">
          <p14:sldIdLst>
            <p14:sldId id="258"/>
            <p14:sldId id="259"/>
          </p14:sldIdLst>
        </p14:section>
        <p14:section name="Pre-teach" id="{488e453b-6757-97e2-bd31-bbcf1a54398c}">
          <p14:sldIdLst>
            <p14:sldId id="260"/>
            <p14:sldId id="261"/>
          </p14:sldIdLst>
        </p14:section>
        <p14:section name="Read-along" id="{f2061e87-1127-9706-5715-9fa1d2416473}">
          <p14:sldIdLst>
            <p14:sldId id="262"/>
            <p14:sldId id="263"/>
          </p14:sldIdLst>
        </p14:section>
        <p14:section name="Teach" id="{a06e98c2-8b3a-dd0d-e667-7822f8235017}">
          <p14:sldIdLst>
            <p14:sldId id="264"/>
            <p14:sldId id="265"/>
            <p14:sldId id="266"/>
            <p14:sldId id="267"/>
            <p14:sldId id="268"/>
          </p14:sldIdLst>
        </p14:section>
        <p14:section name="Routes" id="{60c74c1d-eb72-a6f5-98e2-e6cbdfa31050}">
          <p14:sldIdLst>
            <p14:sldId id="269"/>
            <p14:sldId id="270"/>
            <p14:sldId id="271"/>
            <p14:sldId id="272"/>
          </p14:sldIdLst>
        </p14:section>
        <p14:section name="Close" id="{44da7134-4ff1-b621-0a13-2c4cf524243b}">
          <p14:sldIdLst>
            <p14:sldId id="273"/>
          </p14:sldIdLst>
        </p14:section>
        <p14:section name="Answers" id="{2e2565d7-92ae-dba8-ee82-5d820158e1c6}">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Question 5: know your form, audience and purpose. You will recognise what Question 5 asks, read form, audience and purpose off the task, and use the conventions of letters, speeches, articles, reviews and guides.
This deck covers the department's lessons: 7 (Question 5: structuring a non-fiction response: How do we structure a non-fiction response?); 11 (Transactional writing: speech practice: What makes a good speech, and how do I hook my listeners?); 13 (Transactional writing: information guide: What makes a successful information guide?); 14 (Transactional writing: form, purpose and audience: What is transactional writing, and how do I show form, purpose and audience from my first line?); 15 (Transactional writing: speeches: How do speeches, letters and articles differ, and how do I signpost a speech?); 16 (Transactional writing: a speech about an achievement: How do I set the scene for, and build, a speech about my greatest achievement?); 17 (Transactional writing: letters: What are the conventions of a letter, and how do I develop a paragraph with PED?); 18 (Transactional writing: reflective article (1): How is a reflective or entertaining article structured?); 19 (Transactional writing: reflective article (2): How do I plan and write a reflective article in 45 minutes?); 20 (Transactional writing: reviews: What are the purpose and features of a review?); 21 (Models of reviews: audience, purpose and tone: How do reviews differ from speeches, and how do I adapt my tone to my audience?); 22 (Review structure: How do I plan and structure a whole review?); 23 (Transactional writing: article openings (cover lesson): How do I open and close an article so that the examiner trusts me from the first line?); 24 (Speeches and rhetorical devices (cover lesson): Which rhetorical devices do famous speeches use, and to what effect?).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Question 5: know your form, audience and purpose. You will recognise what Question 5 asks, read form, audience and purpose off the task, and use the conventions of letters, speeches, articles, reviews and guides.
This deck covers the department's lessons: 7 (Question 5: structuring a non-fiction response: How do we structure a non-fiction response?); 11 (Transactional writing: speech practice: What makes a good speech, and how do I hook my listeners?); 13 (Transactional writing: information guide: What makes a successful information guide?); 14 (Transactional writing: form, purpose and audience: What is transactional writing, and how do I show form, purpose and audience from my first line?); 15 (Transactional writing: speeches: How do speeches, letters and articles differ, and how do I signpost a speech?); 16 (Transactional writing: a speech about an achievement: How do I set the scene for, and build, a speech about my greatest achievement?); 17 (Transactional writing: letters: What are the conventions of a letter, and how do I develop a paragraph with PED?); 18 (Transactional writing: reflective article (1): How is a reflective or entertaining article structured?); 19 (Transactional writing: reflective article (2): How do I plan and write a reflective article in 45 minutes?); 20 (Transactional writing: reviews: What are the purpose and features of a review?); 21 (Models of reviews: audience, purpose and tone: How do reviews differ from speeches, and how do I adapt my tone to my audience?); 22 (Review structure: How do I plan and structure a whole review?); 23 (Transactional writing: article openings (cover lesson): How do I open and close an article so that the examiner trusts me from the first line?); 24 (Speeches and rhetorical devices (cover lesson): Which rhetorical devices do famous speeches use, and to what effect?).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Question 5 worth, and how are they split?  →  A   40: 24 for content and organisation, 16 for technical accuracy
2. Non-fiction that passes information or opinion between people, such as a letter or a speech, is called ___ writing.  →  transactional
3. Which sign-off is the safest formal choice for a letter to someone you do not know well?  →  A   Yours sincerely,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40: 24 for content and organisation, 16 for technical accuracy. Question 5 is worth 40 marks: 24 for content and organisation (AO5) and 16 for technical accuracy (AO6).
2. transactional. Your teachers define transactional writing as non-fiction that communicates information between individuals or groups.
3. A   Yours sincerely,. ‘Yours sincerely,’ is the most common formal sign-off; stick to it if unsure.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transactional writing: non-fiction that passes information or opinion between people. Example: "Letters, speeches, articles and reviews are all transactional writing."
• convention: a feature readers expect in a kind of text. Example: "A sign-off is a convention of a letter."
• register: how formal or informal the language is. Example: "A letter to a newspaper needs a formal register."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headline: the title that hooks a reader into an article. Example: "Write a headline that makes the reader curious."
• sign-off: the words that close a letter. Example: "‘Yours sincerely’ is the safest formal sign-off."
• signpost: tell your audience what is coming. Example: "Signpost the three points your speech will make."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Question 5 is the writing question.
2. It is worth forty marks.
3. You have forty-five minutes, including time to plan and check.
4. The task gives you a statement or a topic.
5. It names the form: a letter, an article, a speech, a review or a guide.
6. It tells you who will read or hear it.
7. Work out the purpose: to argue, to persuade, to explain, to inform or to entertain.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Each form has its own conventions.
9. A letter has addresses and a sign-off.
10. A speech talks to its listeners directly.
11. An article has a headline and short paragraphs.
12. Match your register to your audience.
13. Show the form in your very first line.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Question 5 asks. Say it in your own words, then check understanding with a quick question: ask a pupil from the pre-teach group first, since they met these words and ideas before the lesson. Pupils try to recall before you re-explain.
Question 5 is worth 40 marks, as much as the whole of Section A. It gives you a statement or a topic linked to the sources, and asks for a piece of non-fiction: ‘Write a letter to your local newspaper…’, ‘Write a speech for students at your school…’, ‘Write an article for a magazine arguing…’. Your teachers call this transactional writing: non-fiction that communicates information or opinion between individuals or groups.
Of the 40 marks, 24 are for content and organisation (AO5): a tone, style and register matched to purpose and audience; convincing ideas; a clear structure with paragraphs used for effect. The other 16 are for technical accuracy (AO6): sentence demarcation, a range of punctuation and sentence forms, Standard English, spelling and vocabulary.
Before you plan, underline the key information in the task and answer three questions: What is the form? Who is the audience? What is the purpose? Then ask what register and devices that combination needs. Your first line should already show the examiner that you know all three.
Tip: Forty-five minutes: about five to plan, thirty-five to write, five to check. The plan is where the marks are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Letters, speeches and articles. Say it in your own words, then check understanding with a quick question: ask a pupil from the pre-teach group first, since they met these words and ideas before the lesson. Pupils try to recall before you re-explain.
A letter has your address at the top right and the recipient’s on the left, a greeting (‘Dear Editor,’ or ‘Dear Ms Okafor,’), a clear introduction that states why you are writing, several main points each with examples, a conclusion that rounds off your argument, and a sign-off that fits: ‘Yours sincerely,’ is the safe formal choice; ‘Kind regards,’ suits a colleague or friend; ‘With love,’ is for family only.
A speech is written to be heard. Open with a hook (three questions, a bold statement, a statistic, or a direct address: ‘Good morning, Year 10’), introduce your topic, signpost what you will cover, and talk to your listeners with ‘you’ and ‘we’. Ask for a specific action near the end, then finish with a line that hammers your point home.
An article has a headline that hooks, then an opening that drops into an anecdote or a case study. Paragraphs are shorter and packed with information; sub-headings are allowed. The conclusion sums up the argument, and the strongest articles bring the anecdote back for the final word: a cyclical structure.
Worked example — model it step by step, thinking aloud: Read the task: ‘Write a speech for a Year 10 assembly persuading your year group to volunteer in the local community.’ Identify form, audience, purpose and register. (1) Form: a speech, so direct address, signposting and a call to action. (2) Audience: Year 10 pupils, your own year group, so ‘we’ as well as ‘you’. (3) Purpose: to persuade, so DAFOREST devices and a strong ending. (4) Register: formal enough for an assembly, but warm and direct, not stiff. Answer: Form: speech. Audience: Year 10. Purpose: to persuade. Register: formal but direct, speaking as one of them..
Tip: Write the greeting or the headline before anything else. It fixes the form in your head and the examiner’s.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Letters, speeches and articles. Say it in your own words, then check understanding with a quick question: ask a pupil from the pre-teach group first, since they met these words and ideas before the lesson. Pupils try to recall before you re-explain.
A letter has your address at the top right and the recipient’s on the left, a greeting (‘Dear Editor,’ or ‘Dear Ms Okafor,’), a clear introduction that states why you are writing, several main points each with examples, a conclusion that rounds off your argument, and a sign-off that fits: ‘Yours sincerely,’ is the safe formal choice; ‘Kind regards,’ suits a colleague or friend; ‘With love,’ is for family only.
A speech is written to be heard. Open with a hook (three questions, a bold statement, a statistic, or a direct address: ‘Good morning, Year 10’), introduce your topic, signpost what you will cover, and talk to your listeners with ‘you’ and ‘we’. Ask for a specific action near the end, then finish with a line that hammers your point home.
An article has a headline that hooks, then an opening that drops into an anecdote or a case study. Paragraphs are shorter and packed with information; sub-headings are allowed. The conclusion sums up the argument, and the strongest articles bring the anecdote back for the final word: a cyclical structure.
Worked example — model it step by step, thinking aloud: Read the task: ‘Write a speech for a Year 10 assembly persuading your year group to volunteer in the local community.’ Identify form, audience, purpose and register. (1) Form: a speech, so direct address, signposting and a call to action. (2) Audience: Year 10 pupils, your own year group, so ‘we’ as well as ‘you’. (3) Purpose: to persuade, so DAFOREST devices and a strong ending. (4) Register: formal enough for an assembly, but warm and direct, not stiff. Answer: Form: speech. Audience: Year 10. Purpose: to persuade. Register: formal but direct, speaking as one of them..
Tip: Write the greeting or the headline before anything else. It fixes the form in your head and the examiner’s.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Reviews and information guides. Say it in your own words, then check understanding with a quick question: ask a pupil from the pre-teach group first, since they met these words and ideas before the lesson. Pupils try to recall before you re-explain.
A review informs the reader about a specific event, film, place or product, and persuades them a little: should they go, or not? Its features: a heading; the past tense when you describe your experience; shorter, information-packed paragraphs; your personal opinion, built on specific details; contrasting opinions, not only your own; and a clear judgement in the last paragraph, often with a rating.
Your teachers’ structure for a whole review: an introduction that sets the scene and the tone; a description of the relevant details and key facts; your personal experience (did expectation meet reality?); analysis and judgement, weighing the good against the bad; and a conclusion that says whether you recommend it, with one overall reason. A review that is only opinion has turned into a speech. Keep the facts in.
An information guide (for example, ‘Stress-free Settling In’ for new pupils) is organised into sub-sections with sub-headings so the reader can find what they need: a short welcoming introduction, three sections such as finding your way around, meeting people and the feelings new starters have, and a conclusion that ends on a reassuring tone.
Tip: Reviews inform first and persuade second. If every sentence is an opinion, add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Register: the same opinion for different readers. Say it in your own words, then check understanding with a quick question: ask a pupil from the pre-teach group first, since they met these words and ideas before the lesson. Pupils try to recall before you re-explain.
Register is the level of formality, and it changes with the audience even when your opinion does not. To persuade a friend your own age, you can be informal and direct. To inform a teacher, you are professional. To educate someone younger, you simplify and explain. To entertain a large audience in a speech, you can risk a joke. To advise a teacher, you are respectful but clear about what you want.
Two openings to avoid in any form: ‘In this article I am going to write about…’ and ‘I am writing this letter to…’. They waste your first line and show no craft. Instead, open with a question, a fact (or an opinion stated as if it were fact), or a scene. Here is an original model opening for a letter to the editor about the topic of this unit’s sources. Notice that the form is clear from the first two words and the argument from the first sentence.
Quotation: "Dear Editor, Last Saturday I queued for an hour in the rain to watch a tiger walk nine paces in one direction and nine in the other. I paid for the privilege. So did two hundred other people. If that sounds like entertainment to you, read no further; if it sounds like something we should have outgrown, I hope you will give me the rest of this page." (Original model letter opening written for Ad Astra). Read it aloud; ask what it shows.
Tip: The opening and the closing decide what the examiner thinks of you. Craft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form to its convention.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form of transactional writing to the convention that belongs to it.
Support — work through the steps with the group: (1) Ask who receives each form: one person (letter), listeners (speech), readers of a paper (article), someone deciding whether to go (review), someone who needs to find something out (guide). (2) Match the convention that serves that receiver. (3) Check: addresses can only belong to the letter; a judgement can only belong to the review.
Parallel worked example for Support (model it, do not give the task answer): Which form does ‘Good morning, fellow students’ belong to, and why? It speaks directly to a group of listeners.; That is the opening of a speech.. Answer: A speech: it addresses a live audience directly..
Core — reveal the hint only on request: Two forms are read in print by many people; one is heard; one is sent to one reader; one is used to look things up.
Stretch — no help; when finished: Reviews and speeches both give opinions and persuade. Explain, using purpose and audience, what makes them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form to its convention.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form of transactional writing to the convention that belongs to it.
Support — work through the steps with the group: (1) Ask who receives each form: one person (letter), listeners (speech), readers of a paper (article), someone deciding whether to go (review), someone who needs to find something out (guide). (2) Match the convention that serves that receiver. (3) Check: addresses can only belong to the letter; a judgement can only belong to the review.
Parallel worked example for Support (model it, do not give the task answer): Which form does ‘Good morning, fellow students’ belong to, and why? It speaks directly to a group of listeners.; That is the opening of a speech.. Answer: A speech: it addresses a live audience directly..
Core — reveal the hint only on request: Two forms are read in print by many people; one is heard; one is sent to one reader; one is used to look things up.
Stretch — no help; when finished: Reviews and speeches both give opinions and persuade. Explain, using purpose and audience, what makes them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Form, audience, purpose from the task.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Task: ‘Write a letter to the governors of your school giving your views on the statement that homework should be replaced by extra lessons.’ Which line identifies form, audience and purpose correctly?
Support — work through the steps with the group: (1) Underline the form word in the task: ‘letter’. (2) Underline who receives it: ‘the governors of your school’. (3) Underline what you are asked to do: ‘giving your views on the statement’. That is arguing.
Parallel worked example for Support (model it, do not give the task answer): Task: ‘Write a review of a city you have visited for a school magazine.’ Form, audience, purpose? Form: review.; Audience: pupils and their families.; Purpose: to inform and entertain, and to help them decide whether to visit.. Answer: Form: review; audience: readers of a school magazine; purpose: to inform, entertain and recommend..
Core — reveal the hint only on request: Every word you need is in the task. Find the form word, the receiver and the verb.
Stretch — no help; when finished: Rewrite the task as a speech to the same governors. Say which conventions would change and which would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Form, audience, purpose from the task.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Task: ‘Write a letter to the governors of your school giving your views on the statement that homework should be replaced by extra lessons.’ Which line identifies form, audience and purpose correctly?
Support — work through the steps with the group: (1) Underline the form word in the task: ‘letter’. (2) Underline who receives it: ‘the governors of your school’. (3) Underline what you are asked to do: ‘giving your views on the statement’. That is arguing.
Parallel worked example for Support (model it, do not give the task answer): Task: ‘Write a review of a city you have visited for a school magazine.’ Form, audience, purpose? Form: review.; Audience: pupils and their families.; Purpose: to inform and entertain, and to help them decide whether to visit.. Answer: Form: review; audience: readers of a school magazine; purpose: to inform, entertain and recommend..
Core — reveal the hint only on request: Every word you need is in the task. Find the form word, the receiver and the verb.
Stretch — no help; when finished: Rewrite the task as a speech to the same governors. Say which conventions would change and which would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opening suits a formal letter to the editor arguing a point of view?
Answer: B   Dear Editor, Last Saturday I queued for an hour in the rain to watch a tiger walk nine paces in one direction and nine in the other.. ‘Dear Editor,’ fixes the form at once, and the first sentence tells a small story with an argument inside it: formal, personal and already persuading.
Source of this question: module 3 task ("Open in the right register")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form to its convention. Reveal the answer; pupils mark their own work in a different colour, then read the "why" together. Same destination for every lane, so one answer serves the whole class.
Answer: Letter  →  B  Addresses at the top and a sign-off such as ‘Yours sincerely’; Speech  →  A  Direct address to listeners and a call to action near the end; Article  →  C  A headline and short, information-packed paragraphs; Review  →  D  Personal experience in the past tense, with a clear judgement in the last paragraph; Information guide  →  E  Sub-sections with sub-headings that help the reader find what they need
Why: Letters carry addresses and a sign-off; speeches address listeners and ask for action; articles have headlines and short paragraphs; reviews judge an experience in the past tense; guides use sub-sections.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Form, audience, purpose from the task. Reveal the answer; pupils mark their own work in a different colour, then read the "why" together. Same destination for every lane, so one answer serves the whole class.
Answer: C   Form: letter; audience: the school governors; purpose: to argue a point of view
Why: The task names the form (letter), the audience (governors) and the purpose (giving your views, which means arguing). Read it word by word.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Dear Editor, Last Saturday I queued for an hour in the rain to watch a tiger walk nine paces in one direction and nine in the other.
Why: ‘Dear Editor,’ fixes the form at once, and the first sentence tells a small story with an argument inside it: formal, personal and already persuading.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469361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1572768"/>
            <a:ext cx="647669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Question 5: know your form, audience and purpose</a:t>
            </a:r>
            <a:endParaRPr lang="en-US" sz="2800" dirty="0"/>
          </a:p>
        </p:txBody>
      </p:sp>
      <p:sp>
        <p:nvSpPr>
          <p:cNvPr id="11" name="lessons-card"/>
          <p:cNvSpPr/>
          <p:nvPr/>
        </p:nvSpPr>
        <p:spPr>
          <a:xfrm>
            <a:off x="548640" y="2852928"/>
            <a:ext cx="6476695" cy="2820416"/>
          </a:xfrm>
          <a:prstGeom prst="roundRect">
            <a:avLst>
              <a:gd name="adj" fmla="val 2594"/>
            </a:avLst>
          </a:prstGeom>
          <a:solidFill>
            <a:srgbClr val="F0E4E5"/>
          </a:solidFill>
          <a:ln/>
        </p:spPr>
      </p:sp>
      <p:sp>
        <p:nvSpPr>
          <p:cNvPr id="12" name="lessons"/>
          <p:cNvSpPr txBox="1"/>
          <p:nvPr/>
        </p:nvSpPr>
        <p:spPr>
          <a:xfrm>
            <a:off x="685800" y="2944368"/>
            <a:ext cx="6202375" cy="2637536"/>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Question 5: structuring a non-fiction response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speech practice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information guide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form, purpose and audience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speeches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a speech about an achievement</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letters</a:t>
            </a:r>
            <a:endParaRPr lang="en-US" sz="1800" dirty="0"/>
          </a:p>
        </p:txBody>
      </p:sp>
      <p:sp>
        <p:nvSpPr>
          <p:cNvPr id="13" name="plate-frame"/>
          <p:cNvSpPr/>
          <p:nvPr/>
        </p:nvSpPr>
        <p:spPr>
          <a:xfrm>
            <a:off x="7436815" y="411480"/>
            <a:ext cx="4206240" cy="2462022"/>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7546543" y="521208"/>
            <a:ext cx="3986784" cy="2242566"/>
          </a:xfrm>
          <a:prstGeom prst="rect">
            <a:avLst/>
          </a:prstGeom>
        </p:spPr>
      </p:pic>
      <p:sp>
        <p:nvSpPr>
          <p:cNvPr id="15" name="plate-inner"/>
          <p:cNvSpPr/>
          <p:nvPr/>
        </p:nvSpPr>
        <p:spPr>
          <a:xfrm>
            <a:off x="7546543" y="521208"/>
            <a:ext cx="3986784" cy="2242566"/>
          </a:xfrm>
          <a:prstGeom prst="rect">
            <a:avLst/>
          </a:prstGeom>
          <a:ln w="9525">
            <a:solidFill>
              <a:srgbClr val="B8862B"/>
            </a:solidFill>
            <a:prstDash val="solid"/>
          </a:ln>
        </p:spPr>
      </p:sp>
      <p:sp>
        <p:nvSpPr>
          <p:cNvPr id="16" name="stud0"/>
          <p:cNvSpPr/>
          <p:nvPr/>
        </p:nvSpPr>
        <p:spPr>
          <a:xfrm>
            <a:off x="732708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327087" y="277847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778478"/>
            <a:ext cx="219456" cy="190049"/>
          </a:xfrm>
          <a:prstGeom prst="hexagon">
            <a:avLst/>
          </a:prstGeom>
          <a:solidFill>
            <a:srgbClr val="B8862B"/>
          </a:solidFill>
          <a:ln w="12700">
            <a:solidFill>
              <a:srgbClr val="FFFFFF"/>
            </a:solidFill>
            <a:prstDash val="solid"/>
          </a:ln>
        </p:spPr>
      </p:sp>
      <p:sp>
        <p:nvSpPr>
          <p:cNvPr id="20" name="bq-card"/>
          <p:cNvSpPr/>
          <p:nvPr/>
        </p:nvSpPr>
        <p:spPr>
          <a:xfrm>
            <a:off x="7436815" y="3147822"/>
            <a:ext cx="4206240" cy="2722626"/>
          </a:xfrm>
          <a:prstGeom prst="roundRect">
            <a:avLst>
              <a:gd name="adj" fmla="val 2687"/>
            </a:avLst>
          </a:prstGeom>
          <a:solidFill>
            <a:srgbClr val="F0E4E5"/>
          </a:solidFill>
          <a:ln w="12700">
            <a:solidFill>
              <a:srgbClr val="CEA6AA"/>
            </a:solidFill>
            <a:prstDash val="solid"/>
          </a:ln>
        </p:spPr>
      </p:sp>
      <p:sp>
        <p:nvSpPr>
          <p:cNvPr id="21" name="bq-hex"/>
          <p:cNvSpPr/>
          <p:nvPr/>
        </p:nvSpPr>
        <p:spPr>
          <a:xfrm>
            <a:off x="7601407" y="3330702"/>
            <a:ext cx="621792" cy="538472"/>
          </a:xfrm>
          <a:prstGeom prst="hexagon">
            <a:avLst/>
          </a:prstGeom>
          <a:solidFill>
            <a:srgbClr val="B8862B"/>
          </a:solidFill>
          <a:ln/>
        </p:spPr>
      </p:sp>
      <p:sp>
        <p:nvSpPr>
          <p:cNvPr id="22" name="bq-hex-label"/>
          <p:cNvSpPr txBox="1"/>
          <p:nvPr/>
        </p:nvSpPr>
        <p:spPr>
          <a:xfrm>
            <a:off x="7601407" y="333070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332927" y="3239262"/>
            <a:ext cx="3200400" cy="253974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Lessons covered (continued)</a:t>
            </a:r>
            <a:endParaRPr lang="en-US" sz="3200" dirty="0"/>
          </a:p>
        </p:txBody>
      </p:sp>
      <p:sp>
        <p:nvSpPr>
          <p:cNvPr id="4" name="lessons-card"/>
          <p:cNvSpPr/>
          <p:nvPr/>
        </p:nvSpPr>
        <p:spPr>
          <a:xfrm>
            <a:off x="548640" y="1389888"/>
            <a:ext cx="11094415" cy="2490724"/>
          </a:xfrm>
          <a:prstGeom prst="roundRect">
            <a:avLst>
              <a:gd name="adj" fmla="val 2937"/>
            </a:avLst>
          </a:prstGeom>
          <a:solidFill>
            <a:srgbClr val="F0E4E5"/>
          </a:solidFill>
          <a:ln/>
        </p:spPr>
      </p:sp>
      <p:sp>
        <p:nvSpPr>
          <p:cNvPr id="5" name="lessons"/>
          <p:cNvSpPr txBox="1"/>
          <p:nvPr/>
        </p:nvSpPr>
        <p:spPr>
          <a:xfrm>
            <a:off x="685800" y="1481328"/>
            <a:ext cx="10820095" cy="2307844"/>
          </a:xfrm>
          <a:prstGeom prst="rect">
            <a:avLst/>
          </a:prstGeom>
          <a:noFill/>
          <a:ln/>
        </p:spPr>
        <p:txBody>
          <a:bodyPr wrap="square" lIns="63500" tIns="63500" rIns="63500" bIns="63500" rtlCol="0" anchor="t"/>
          <a:lstStyle/>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reflective article (1)</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reflective article (2)</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reviews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Models of reviews: audience, purpose and tone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Review structure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article openings (cover lesson)</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Speeches and rhetorical devices (cover lesson)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many marks is Question 5 worth, and how are they split?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40: 24 for content and organisation, 16 for technical accuracy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24: all for content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40: 20 for content, 20 for accuracy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16: all for accuracy</a:t>
            </a:r>
            <a:endParaRPr lang="en-US" sz="18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Non-fiction that passes information or opinion between people, such as a letter or a speech, is called ___ writing.</a:t>
            </a:r>
            <a:endParaRPr lang="en-US" sz="22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transactional  ·  creative  ·  descriptive</a:t>
            </a:r>
            <a:endParaRPr lang="en-US" sz="22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sign-off is the safest formal choice for a letter to someone you do not know well?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Yours sincerely,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See you soon,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With love,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Kind regards,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40: 24 for content and organisation, 16 for technical accuracy</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How many marks is Question 5 worth, and how are they split?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Question 5 is worth 40 marks: 24 for content and organisation (AO5) and 16 for technical accuracy (AO6).</a:t>
            </a:r>
            <a:endParaRPr lang="en-US" sz="18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transactional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teachers define transactional writing as non-fiction that communicates information between individuals or groups.</a:t>
            </a:r>
            <a:endParaRPr lang="en-US" sz="18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Yours sincerely,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sign-off is the safest formal choice for a letter to someone you do not know well?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‘Yours sincerely,’ is the most common formal sign-off; stick to it if unsure.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transactional writing</a:t>
            </a:r>
            <a:endParaRPr lang="en-US" sz="2600" dirty="0"/>
          </a:p>
        </p:txBody>
      </p:sp>
      <p:sp>
        <p:nvSpPr>
          <p:cNvPr id="11" name="word-rule"/>
          <p:cNvSpPr/>
          <p:nvPr/>
        </p:nvSpPr>
        <p:spPr>
          <a:xfrm>
            <a:off x="731520" y="2558288"/>
            <a:ext cx="3149498" cy="0"/>
          </a:xfrm>
          <a:prstGeom prst="line">
            <a:avLst/>
          </a:prstGeom>
          <a:ln w="12700">
            <a:solidFill>
              <a:srgbClr val="CEA6AA"/>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non-fiction that passes information or opinion between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Letters, speeches, articles and reviews are all transactional writing.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convention</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feature readers expect in a kind of text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sign-off is a convention of a letter.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register</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formal or informal the language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letter to a newspaper needs a formal register.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headline</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title that hooks a reader into an article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Write a headline that makes the reader curious.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sign-off</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words that close a letter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‘Yours sincerely’ is the safest formal sign-off.</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signpost</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tell your audience what is coming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Signpost the three points your speech will make.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Question 5 is the writing question.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worth forty marks.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have forty-five minutes, including time to plan and check.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task gives you a statement or a topic.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names the form: a letter, an article, a speech, a review or a guide.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tells you who will read or hear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Work out the purpose: to argue, to persuade, to explain, to inform or to entertain.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form has its own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conventions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letter has addresses and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sign-off</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speech talks to its listeners directly.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article has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headline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short paragraphs.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Match your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register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your audience.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Show the form in your very first line.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Question 5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Forty-five minutes: about five to plan, thirty-five to write, five to check. The plan is where the marks are decided.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Question 5 is worth 40 marks, as much as the whole of Section A.</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Of the 40 marks, 24 are for content and organisation (AO5): a tone, style and register matched to purpose and audience; convincing ideas; a clear structure with paragraphs used for effect.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Before you plan, underline the key information in the task and answer three questions: What is the form?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Letters, speeches and articles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the greeting or the headline before anything else. It fixes the form in your head and the examiner’s.</a:t>
            </a:r>
            <a:endParaRPr lang="en-US" sz="1800" dirty="0"/>
          </a:p>
        </p:txBody>
      </p:sp>
      <p:sp>
        <p:nvSpPr>
          <p:cNvPr id="11" name="bullet-card"/>
          <p:cNvSpPr/>
          <p:nvPr/>
        </p:nvSpPr>
        <p:spPr>
          <a:xfrm>
            <a:off x="548640" y="1389888"/>
            <a:ext cx="11094415" cy="1449324"/>
          </a:xfrm>
          <a:prstGeom prst="roundRect">
            <a:avLst>
              <a:gd name="adj" fmla="val 5047"/>
            </a:avLst>
          </a:prstGeom>
          <a:solidFill>
            <a:srgbClr val="F2E8E9"/>
          </a:solidFill>
          <a:ln/>
        </p:spPr>
      </p:sp>
      <p:sp>
        <p:nvSpPr>
          <p:cNvPr id="12" name="bullet-hex"/>
          <p:cNvSpPr/>
          <p:nvPr/>
        </p:nvSpPr>
        <p:spPr>
          <a:xfrm>
            <a:off x="676656" y="1948257"/>
            <a:ext cx="384048" cy="332586"/>
          </a:xfrm>
          <a:prstGeom prst="hexagon">
            <a:avLst/>
          </a:prstGeom>
          <a:solidFill>
            <a:srgbClr val="8C2F39"/>
          </a:solidFill>
          <a:ln/>
        </p:spPr>
      </p:sp>
      <p:sp>
        <p:nvSpPr>
          <p:cNvPr id="13" name="bullet"/>
          <p:cNvSpPr txBox="1"/>
          <p:nvPr/>
        </p:nvSpPr>
        <p:spPr>
          <a:xfrm>
            <a:off x="1143000" y="1389888"/>
            <a:ext cx="10408615" cy="14493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letter has your address at the top right and the recipient’s on the left, a greeting (‘Dear Editor,’ or ‘Dear Ms Okafor,’), a clear introduction that states why you are writing, several main points each with examples, a conclusion that rounds off your argument, and a sign-off that fits: ‘Yours sincerely,’ is the safe formal choice; ‘Kind regards,’ suits a colleague or friend; ‘With love,’ is for family only.</a:t>
            </a:r>
            <a:endParaRPr lang="en-US" sz="1800" dirty="0"/>
          </a:p>
        </p:txBody>
      </p:sp>
      <p:sp>
        <p:nvSpPr>
          <p:cNvPr id="14" name="bullet-card"/>
          <p:cNvSpPr/>
          <p:nvPr/>
        </p:nvSpPr>
        <p:spPr>
          <a:xfrm>
            <a:off x="548640" y="2985516"/>
            <a:ext cx="11094415" cy="1170432"/>
          </a:xfrm>
          <a:prstGeom prst="roundRect">
            <a:avLst>
              <a:gd name="adj" fmla="val 6250"/>
            </a:avLst>
          </a:prstGeom>
          <a:solidFill>
            <a:srgbClr val="F2E8E9"/>
          </a:solidFill>
          <a:ln/>
        </p:spPr>
      </p:sp>
      <p:sp>
        <p:nvSpPr>
          <p:cNvPr id="15" name="bullet-hex"/>
          <p:cNvSpPr/>
          <p:nvPr/>
        </p:nvSpPr>
        <p:spPr>
          <a:xfrm>
            <a:off x="676656" y="3404439"/>
            <a:ext cx="384048" cy="332586"/>
          </a:xfrm>
          <a:prstGeom prst="hexagon">
            <a:avLst/>
          </a:prstGeom>
          <a:solidFill>
            <a:srgbClr val="B8862B"/>
          </a:solidFill>
          <a:ln/>
        </p:spPr>
      </p:sp>
      <p:sp>
        <p:nvSpPr>
          <p:cNvPr id="16" name="bullet"/>
          <p:cNvSpPr txBox="1"/>
          <p:nvPr/>
        </p:nvSpPr>
        <p:spPr>
          <a:xfrm>
            <a:off x="1143000" y="2985516"/>
            <a:ext cx="10408615" cy="11704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speech is written to be heard. Open with a hook (three questions, a bold statement, a statistic, or a direct address: ‘Good morning, Year 10’), introduce your topic, signpost what you will cover, and talk to your listeners with ‘you’ and ‘we’.</a:t>
            </a:r>
            <a:endParaRPr lang="en-US" sz="1800" dirty="0"/>
          </a:p>
        </p:txBody>
      </p:sp>
      <p:sp>
        <p:nvSpPr>
          <p:cNvPr id="17" name="bullet-card"/>
          <p:cNvSpPr/>
          <p:nvPr/>
        </p:nvSpPr>
        <p:spPr>
          <a:xfrm>
            <a:off x="548640" y="4302252"/>
            <a:ext cx="11094415" cy="773684"/>
          </a:xfrm>
          <a:prstGeom prst="roundRect">
            <a:avLst>
              <a:gd name="adj" fmla="val 9455"/>
            </a:avLst>
          </a:prstGeom>
          <a:solidFill>
            <a:srgbClr val="F2E8E9"/>
          </a:solidFill>
          <a:ln/>
        </p:spPr>
      </p:sp>
      <p:sp>
        <p:nvSpPr>
          <p:cNvPr id="18" name="bullet-hex"/>
          <p:cNvSpPr/>
          <p:nvPr/>
        </p:nvSpPr>
        <p:spPr>
          <a:xfrm>
            <a:off x="676656" y="4522801"/>
            <a:ext cx="384048" cy="332586"/>
          </a:xfrm>
          <a:prstGeom prst="hexagon">
            <a:avLst/>
          </a:prstGeom>
          <a:solidFill>
            <a:srgbClr val="8C2F39"/>
          </a:solidFill>
          <a:ln/>
        </p:spPr>
      </p:sp>
      <p:sp>
        <p:nvSpPr>
          <p:cNvPr id="19" name="bullet"/>
          <p:cNvSpPr txBox="1"/>
          <p:nvPr/>
        </p:nvSpPr>
        <p:spPr>
          <a:xfrm>
            <a:off x="1143000" y="4302252"/>
            <a:ext cx="10408615" cy="7736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article has a headline that hooks, then an opening that drops into an anecdote or a case study.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Worked example: Letters, speeches and articles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Read the task: ‘Write a speech for a Year 10 assembly persuading your year group to volunteer in the local community.’ Identify form, audience, purpose and register.</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Form: a speech, so direct address, signposting and a call to action.</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3562274" y="2765552"/>
            <a:ext cx="530352" cy="459285"/>
          </a:xfrm>
          <a:prstGeom prst="hexagon">
            <a:avLst/>
          </a:prstGeom>
          <a:solidFill>
            <a:srgbClr val="8C2F39"/>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Audience: Year 10 pupils, your own year group, so ‘we’ as well as ‘you’.</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6438748" y="2765552"/>
            <a:ext cx="530352" cy="459285"/>
          </a:xfrm>
          <a:prstGeom prst="hexagon">
            <a:avLst/>
          </a:prstGeom>
          <a:solidFill>
            <a:srgbClr val="8C2F39"/>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Purpose: to persuade, so DAFOREST devices and a strong ending.</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C08D92"/>
            </a:solidFill>
            <a:prstDash val="solid"/>
          </a:ln>
        </p:spPr>
      </p:sp>
      <p:sp>
        <p:nvSpPr>
          <p:cNvPr id="25" name="step-hex"/>
          <p:cNvSpPr/>
          <p:nvPr/>
        </p:nvSpPr>
        <p:spPr>
          <a:xfrm>
            <a:off x="9315221" y="2765552"/>
            <a:ext cx="530352" cy="459285"/>
          </a:xfrm>
          <a:prstGeom prst="hexagon">
            <a:avLst/>
          </a:prstGeom>
          <a:solidFill>
            <a:srgbClr val="8C2F39"/>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Register: formal enough for an assembly, but warm and direct, not stiff.</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Form: speech. Audience: Year 10. Purpose: to persuade. Register: formal but direct, speaking as one of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Reviews and information guides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Reviews inform first and persuade second. If every sentence is an opinion, add a fact.</a:t>
            </a:r>
            <a:endParaRPr lang="en-US" sz="1800" dirty="0"/>
          </a:p>
        </p:txBody>
      </p:sp>
      <p:sp>
        <p:nvSpPr>
          <p:cNvPr id="11" name="bullet-card"/>
          <p:cNvSpPr/>
          <p:nvPr/>
        </p:nvSpPr>
        <p:spPr>
          <a:xfrm>
            <a:off x="548640" y="1389888"/>
            <a:ext cx="11094415" cy="810937"/>
          </a:xfrm>
          <a:prstGeom prst="roundRect">
            <a:avLst>
              <a:gd name="adj" fmla="val 9021"/>
            </a:avLst>
          </a:prstGeom>
          <a:solidFill>
            <a:srgbClr val="F2E8E9"/>
          </a:solidFill>
          <a:ln/>
        </p:spPr>
      </p:sp>
      <p:sp>
        <p:nvSpPr>
          <p:cNvPr id="12" name="bullet-hex"/>
          <p:cNvSpPr/>
          <p:nvPr/>
        </p:nvSpPr>
        <p:spPr>
          <a:xfrm>
            <a:off x="676656" y="1629064"/>
            <a:ext cx="384048" cy="332586"/>
          </a:xfrm>
          <a:prstGeom prst="hexagon">
            <a:avLst/>
          </a:prstGeom>
          <a:solidFill>
            <a:srgbClr val="8C2F39"/>
          </a:solidFill>
          <a:ln/>
        </p:spPr>
      </p:sp>
      <p:sp>
        <p:nvSpPr>
          <p:cNvPr id="13" name="bullet"/>
          <p:cNvSpPr txBox="1"/>
          <p:nvPr/>
        </p:nvSpPr>
        <p:spPr>
          <a:xfrm>
            <a:off x="1143000" y="1389888"/>
            <a:ext cx="10408615" cy="81093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review informs the reader about a specific event, film, place or product, and persuades them a little: should they go, or not?</a:t>
            </a:r>
            <a:endParaRPr lang="en-US" sz="2000" dirty="0"/>
          </a:p>
        </p:txBody>
      </p:sp>
      <p:sp>
        <p:nvSpPr>
          <p:cNvPr id="14" name="bullet-card"/>
          <p:cNvSpPr/>
          <p:nvPr/>
        </p:nvSpPr>
        <p:spPr>
          <a:xfrm>
            <a:off x="548640" y="2347129"/>
            <a:ext cx="11094415" cy="1430697"/>
          </a:xfrm>
          <a:prstGeom prst="roundRect">
            <a:avLst>
              <a:gd name="adj" fmla="val 5113"/>
            </a:avLst>
          </a:prstGeom>
          <a:solidFill>
            <a:srgbClr val="F2E8E9"/>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347129"/>
            <a:ext cx="10408615" cy="143069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teachers’ structure for a whole review: an introduction that sets the scene and the tone; a description of the relevant details and key facts; your personal experience (did expectation meet reality?); analysis and judgement, weighing the good against the bad; and a conclusion that says whether you recommend it, with one overall reason.</a:t>
            </a:r>
            <a:endParaRPr lang="en-US" sz="2000" dirty="0"/>
          </a:p>
        </p:txBody>
      </p:sp>
      <p:sp>
        <p:nvSpPr>
          <p:cNvPr id="17" name="bullet-card"/>
          <p:cNvSpPr/>
          <p:nvPr/>
        </p:nvSpPr>
        <p:spPr>
          <a:xfrm>
            <a:off x="548640" y="3924131"/>
            <a:ext cx="11094415" cy="1430697"/>
          </a:xfrm>
          <a:prstGeom prst="roundRect">
            <a:avLst>
              <a:gd name="adj" fmla="val 5113"/>
            </a:avLst>
          </a:prstGeom>
          <a:solidFill>
            <a:srgbClr val="F2E8E9"/>
          </a:solidFill>
          <a:ln/>
        </p:spPr>
      </p:sp>
      <p:sp>
        <p:nvSpPr>
          <p:cNvPr id="18" name="bullet-hex"/>
          <p:cNvSpPr/>
          <p:nvPr/>
        </p:nvSpPr>
        <p:spPr>
          <a:xfrm>
            <a:off x="676656" y="4473187"/>
            <a:ext cx="384048" cy="332586"/>
          </a:xfrm>
          <a:prstGeom prst="hexagon">
            <a:avLst/>
          </a:prstGeom>
          <a:solidFill>
            <a:srgbClr val="8C2F39"/>
          </a:solidFill>
          <a:ln/>
        </p:spPr>
      </p:sp>
      <p:sp>
        <p:nvSpPr>
          <p:cNvPr id="19" name="bullet"/>
          <p:cNvSpPr txBox="1"/>
          <p:nvPr/>
        </p:nvSpPr>
        <p:spPr>
          <a:xfrm>
            <a:off x="1143000" y="3924131"/>
            <a:ext cx="10408615" cy="143069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 information guide (for example, ‘Stress-free Settling In’ for new pupils) is organised into sub-sections with sub-headings so the reader can find what they need: a short welcoming introduction, three sections such as finding your way around, meeting people and the feelings new starters have, and a conclusion that ends on a reassuring tone.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Register: the same opinion for different readers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opening and the closing decide what the examiner thinks of you. Craft both.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0E4E5"/>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Dear Editor, Last Saturday I queued for an hour in the rain to watch a tiger walk nine paces in one direction and nine in the other. I paid for the privilege. So did two hundred other people. If that sounds like entertainment to you, read no further; if it sounds like something we should have outgrown, I hope you will give me the rest of this page.</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Original model letter opening written for Ad Astra</a:t>
            </a:r>
            <a:endParaRPr lang="en-US" sz="2000" dirty="0"/>
          </a:p>
        </p:txBody>
      </p:sp>
      <p:sp>
        <p:nvSpPr>
          <p:cNvPr id="14" name="bullet-card"/>
          <p:cNvSpPr/>
          <p:nvPr/>
        </p:nvSpPr>
        <p:spPr>
          <a:xfrm>
            <a:off x="548640" y="1389888"/>
            <a:ext cx="5074920" cy="1459992"/>
          </a:xfrm>
          <a:prstGeom prst="roundRect">
            <a:avLst>
              <a:gd name="adj" fmla="val 5010"/>
            </a:avLst>
          </a:prstGeom>
          <a:solidFill>
            <a:srgbClr val="F2E8E9"/>
          </a:solidFill>
          <a:ln/>
        </p:spPr>
      </p:sp>
      <p:sp>
        <p:nvSpPr>
          <p:cNvPr id="15" name="bullet-hex"/>
          <p:cNvSpPr/>
          <p:nvPr/>
        </p:nvSpPr>
        <p:spPr>
          <a:xfrm>
            <a:off x="676656" y="1953591"/>
            <a:ext cx="384048" cy="332586"/>
          </a:xfrm>
          <a:prstGeom prst="hexagon">
            <a:avLst/>
          </a:prstGeom>
          <a:solidFill>
            <a:srgbClr val="8C2F39"/>
          </a:solidFill>
          <a:ln/>
        </p:spPr>
      </p:sp>
      <p:sp>
        <p:nvSpPr>
          <p:cNvPr id="16" name="bullet"/>
          <p:cNvSpPr txBox="1"/>
          <p:nvPr/>
        </p:nvSpPr>
        <p:spPr>
          <a:xfrm>
            <a:off x="1143000" y="1389888"/>
            <a:ext cx="4389120" cy="14599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Register is the level of formality, and it changes with the audience even when your opinion does not.</a:t>
            </a:r>
            <a:endParaRPr lang="en-US" sz="2200" dirty="0"/>
          </a:p>
        </p:txBody>
      </p:sp>
      <p:sp>
        <p:nvSpPr>
          <p:cNvPr id="17" name="bullet-card"/>
          <p:cNvSpPr/>
          <p:nvPr/>
        </p:nvSpPr>
        <p:spPr>
          <a:xfrm>
            <a:off x="548640" y="2996184"/>
            <a:ext cx="5074920" cy="1800860"/>
          </a:xfrm>
          <a:prstGeom prst="roundRect">
            <a:avLst>
              <a:gd name="adj" fmla="val 4062"/>
            </a:avLst>
          </a:prstGeom>
          <a:solidFill>
            <a:srgbClr val="F2E8E9"/>
          </a:solidFill>
          <a:ln/>
        </p:spPr>
      </p:sp>
      <p:sp>
        <p:nvSpPr>
          <p:cNvPr id="18" name="bullet-hex"/>
          <p:cNvSpPr/>
          <p:nvPr/>
        </p:nvSpPr>
        <p:spPr>
          <a:xfrm>
            <a:off x="676656" y="3730321"/>
            <a:ext cx="384048" cy="332586"/>
          </a:xfrm>
          <a:prstGeom prst="hexagon">
            <a:avLst/>
          </a:prstGeom>
          <a:solidFill>
            <a:srgbClr val="B8862B"/>
          </a:solidFill>
          <a:ln/>
        </p:spPr>
      </p:sp>
      <p:sp>
        <p:nvSpPr>
          <p:cNvPr id="19" name="bullet"/>
          <p:cNvSpPr txBox="1"/>
          <p:nvPr/>
        </p:nvSpPr>
        <p:spPr>
          <a:xfrm>
            <a:off x="1143000" y="2996184"/>
            <a:ext cx="4389120" cy="18008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Two openings to avoid in any form: ‘In this article I am going to write about…’ and ‘I am writing this letter to…’.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Match the form to its convention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form of transactional writing to the convention that belongs to it.</a:t>
            </a:r>
            <a:endParaRPr lang="en-US" sz="2400" dirty="0"/>
          </a:p>
        </p:txBody>
      </p:sp>
      <p:sp>
        <p:nvSpPr>
          <p:cNvPr id="11" name="match-card"/>
          <p:cNvSpPr/>
          <p:nvPr/>
        </p:nvSpPr>
        <p:spPr>
          <a:xfrm>
            <a:off x="777240" y="2672080"/>
            <a:ext cx="3081437" cy="493776"/>
          </a:xfrm>
          <a:prstGeom prst="roundRect">
            <a:avLst>
              <a:gd name="adj" fmla="val 14815"/>
            </a:avLst>
          </a:prstGeom>
          <a:solidFill>
            <a:srgbClr val="F2E8E9"/>
          </a:solidFill>
          <a:ln/>
        </p:spPr>
      </p:sp>
      <p:sp>
        <p:nvSpPr>
          <p:cNvPr id="12" name="match-hex"/>
          <p:cNvSpPr/>
          <p:nvPr/>
        </p:nvSpPr>
        <p:spPr>
          <a:xfrm>
            <a:off x="850392" y="2752675"/>
            <a:ext cx="384048" cy="332586"/>
          </a:xfrm>
          <a:prstGeom prst="hexagon">
            <a:avLst/>
          </a:prstGeom>
          <a:solidFill>
            <a:srgbClr val="8C2F39"/>
          </a:solidFill>
          <a:ln/>
        </p:spPr>
      </p:sp>
      <p:sp>
        <p:nvSpPr>
          <p:cNvPr id="13" name="match-hex-label"/>
          <p:cNvSpPr txBox="1"/>
          <p:nvPr/>
        </p:nvSpPr>
        <p:spPr>
          <a:xfrm>
            <a:off x="850392" y="27526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Letter</a:t>
            </a:r>
            <a:endParaRPr lang="en-US" sz="1800" dirty="0"/>
          </a:p>
        </p:txBody>
      </p:sp>
      <p:sp>
        <p:nvSpPr>
          <p:cNvPr id="15" name="match-card"/>
          <p:cNvSpPr/>
          <p:nvPr/>
        </p:nvSpPr>
        <p:spPr>
          <a:xfrm>
            <a:off x="4224437" y="2672080"/>
            <a:ext cx="7190019" cy="493776"/>
          </a:xfrm>
          <a:prstGeom prst="roundRect">
            <a:avLst>
              <a:gd name="adj" fmla="val 14815"/>
            </a:avLst>
          </a:prstGeom>
          <a:solidFill>
            <a:srgbClr val="F4EDDF"/>
          </a:solidFill>
          <a:ln/>
        </p:spPr>
      </p:sp>
      <p:sp>
        <p:nvSpPr>
          <p:cNvPr id="16" name="match-hex"/>
          <p:cNvSpPr/>
          <p:nvPr/>
        </p:nvSpPr>
        <p:spPr>
          <a:xfrm>
            <a:off x="4297589" y="2752675"/>
            <a:ext cx="384048" cy="332586"/>
          </a:xfrm>
          <a:prstGeom prst="hexagon">
            <a:avLst/>
          </a:prstGeom>
          <a:solidFill>
            <a:srgbClr val="B8862B"/>
          </a:solidFill>
          <a:ln/>
        </p:spPr>
      </p:sp>
      <p:sp>
        <p:nvSpPr>
          <p:cNvPr id="17" name="match-hex-label"/>
          <p:cNvSpPr txBox="1"/>
          <p:nvPr/>
        </p:nvSpPr>
        <p:spPr>
          <a:xfrm>
            <a:off x="4297589" y="27526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Direct address to listeners and a call to action near the end</a:t>
            </a:r>
            <a:endParaRPr lang="en-US" sz="1800" dirty="0"/>
          </a:p>
        </p:txBody>
      </p:sp>
      <p:sp>
        <p:nvSpPr>
          <p:cNvPr id="19" name="match-card"/>
          <p:cNvSpPr/>
          <p:nvPr/>
        </p:nvSpPr>
        <p:spPr>
          <a:xfrm>
            <a:off x="777240" y="3257296"/>
            <a:ext cx="3081437" cy="493776"/>
          </a:xfrm>
          <a:prstGeom prst="roundRect">
            <a:avLst>
              <a:gd name="adj" fmla="val 14815"/>
            </a:avLst>
          </a:prstGeom>
          <a:solidFill>
            <a:srgbClr val="F2E8E9"/>
          </a:solidFill>
          <a:ln/>
        </p:spPr>
      </p:sp>
      <p:sp>
        <p:nvSpPr>
          <p:cNvPr id="20" name="match-hex"/>
          <p:cNvSpPr/>
          <p:nvPr/>
        </p:nvSpPr>
        <p:spPr>
          <a:xfrm>
            <a:off x="850392" y="3337891"/>
            <a:ext cx="384048" cy="332586"/>
          </a:xfrm>
          <a:prstGeom prst="hexagon">
            <a:avLst/>
          </a:prstGeom>
          <a:solidFill>
            <a:srgbClr val="8C2F39"/>
          </a:solidFill>
          <a:ln/>
        </p:spPr>
      </p:sp>
      <p:sp>
        <p:nvSpPr>
          <p:cNvPr id="21" name="match-hex-label"/>
          <p:cNvSpPr txBox="1"/>
          <p:nvPr/>
        </p:nvSpPr>
        <p:spPr>
          <a:xfrm>
            <a:off x="850392" y="33378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257296"/>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Speech</a:t>
            </a:r>
            <a:endParaRPr lang="en-US" sz="1800" dirty="0"/>
          </a:p>
        </p:txBody>
      </p:sp>
      <p:sp>
        <p:nvSpPr>
          <p:cNvPr id="23" name="match-card"/>
          <p:cNvSpPr/>
          <p:nvPr/>
        </p:nvSpPr>
        <p:spPr>
          <a:xfrm>
            <a:off x="4224437" y="3257296"/>
            <a:ext cx="7190019" cy="493776"/>
          </a:xfrm>
          <a:prstGeom prst="roundRect">
            <a:avLst>
              <a:gd name="adj" fmla="val 14815"/>
            </a:avLst>
          </a:prstGeom>
          <a:solidFill>
            <a:srgbClr val="F4EDDF"/>
          </a:solidFill>
          <a:ln/>
        </p:spPr>
      </p:sp>
      <p:sp>
        <p:nvSpPr>
          <p:cNvPr id="24" name="match-hex"/>
          <p:cNvSpPr/>
          <p:nvPr/>
        </p:nvSpPr>
        <p:spPr>
          <a:xfrm>
            <a:off x="4297589" y="3337891"/>
            <a:ext cx="384048" cy="332586"/>
          </a:xfrm>
          <a:prstGeom prst="hexagon">
            <a:avLst/>
          </a:prstGeom>
          <a:solidFill>
            <a:srgbClr val="B8862B"/>
          </a:solidFill>
          <a:ln/>
        </p:spPr>
      </p:sp>
      <p:sp>
        <p:nvSpPr>
          <p:cNvPr id="25" name="match-hex-label"/>
          <p:cNvSpPr txBox="1"/>
          <p:nvPr/>
        </p:nvSpPr>
        <p:spPr>
          <a:xfrm>
            <a:off x="4297589" y="33378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257296"/>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Addresses at the top and a sign-off such as ‘Yours sincerely’</a:t>
            </a:r>
            <a:endParaRPr lang="en-US" sz="1800" dirty="0"/>
          </a:p>
        </p:txBody>
      </p:sp>
      <p:sp>
        <p:nvSpPr>
          <p:cNvPr id="27" name="match-card"/>
          <p:cNvSpPr/>
          <p:nvPr/>
        </p:nvSpPr>
        <p:spPr>
          <a:xfrm>
            <a:off x="777240" y="3842512"/>
            <a:ext cx="3081437" cy="493776"/>
          </a:xfrm>
          <a:prstGeom prst="roundRect">
            <a:avLst>
              <a:gd name="adj" fmla="val 14815"/>
            </a:avLst>
          </a:prstGeom>
          <a:solidFill>
            <a:srgbClr val="F2E8E9"/>
          </a:solidFill>
          <a:ln/>
        </p:spPr>
      </p:sp>
      <p:sp>
        <p:nvSpPr>
          <p:cNvPr id="28" name="match-hex"/>
          <p:cNvSpPr/>
          <p:nvPr/>
        </p:nvSpPr>
        <p:spPr>
          <a:xfrm>
            <a:off x="850392" y="3923107"/>
            <a:ext cx="384048" cy="332586"/>
          </a:xfrm>
          <a:prstGeom prst="hexagon">
            <a:avLst/>
          </a:prstGeom>
          <a:solidFill>
            <a:srgbClr val="8C2F39"/>
          </a:solidFill>
          <a:ln/>
        </p:spPr>
      </p:sp>
      <p:sp>
        <p:nvSpPr>
          <p:cNvPr id="29" name="match-hex-label"/>
          <p:cNvSpPr txBox="1"/>
          <p:nvPr/>
        </p:nvSpPr>
        <p:spPr>
          <a:xfrm>
            <a:off x="850392" y="39231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842512"/>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Article</a:t>
            </a:r>
            <a:endParaRPr lang="en-US" sz="1800" dirty="0"/>
          </a:p>
        </p:txBody>
      </p:sp>
      <p:sp>
        <p:nvSpPr>
          <p:cNvPr id="31" name="match-card"/>
          <p:cNvSpPr/>
          <p:nvPr/>
        </p:nvSpPr>
        <p:spPr>
          <a:xfrm>
            <a:off x="4224437" y="3842512"/>
            <a:ext cx="7190019" cy="493776"/>
          </a:xfrm>
          <a:prstGeom prst="roundRect">
            <a:avLst>
              <a:gd name="adj" fmla="val 14815"/>
            </a:avLst>
          </a:prstGeom>
          <a:solidFill>
            <a:srgbClr val="F4EDDF"/>
          </a:solidFill>
          <a:ln/>
        </p:spPr>
      </p:sp>
      <p:sp>
        <p:nvSpPr>
          <p:cNvPr id="32" name="match-hex"/>
          <p:cNvSpPr/>
          <p:nvPr/>
        </p:nvSpPr>
        <p:spPr>
          <a:xfrm>
            <a:off x="4297589" y="3923107"/>
            <a:ext cx="384048" cy="332586"/>
          </a:xfrm>
          <a:prstGeom prst="hexagon">
            <a:avLst/>
          </a:prstGeom>
          <a:solidFill>
            <a:srgbClr val="B8862B"/>
          </a:solidFill>
          <a:ln/>
        </p:spPr>
      </p:sp>
      <p:sp>
        <p:nvSpPr>
          <p:cNvPr id="33" name="match-hex-label"/>
          <p:cNvSpPr txBox="1"/>
          <p:nvPr/>
        </p:nvSpPr>
        <p:spPr>
          <a:xfrm>
            <a:off x="4297589" y="39231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842512"/>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headline and short, information-packed paragraphs</a:t>
            </a:r>
            <a:endParaRPr lang="en-US" sz="1800" dirty="0"/>
          </a:p>
        </p:txBody>
      </p:sp>
      <p:sp>
        <p:nvSpPr>
          <p:cNvPr id="35" name="match-card"/>
          <p:cNvSpPr/>
          <p:nvPr/>
        </p:nvSpPr>
        <p:spPr>
          <a:xfrm>
            <a:off x="777240" y="4427728"/>
            <a:ext cx="3081437" cy="721360"/>
          </a:xfrm>
          <a:prstGeom prst="roundRect">
            <a:avLst>
              <a:gd name="adj" fmla="val 10141"/>
            </a:avLst>
          </a:prstGeom>
          <a:solidFill>
            <a:srgbClr val="F2E8E9"/>
          </a:solidFill>
          <a:ln/>
        </p:spPr>
      </p:sp>
      <p:sp>
        <p:nvSpPr>
          <p:cNvPr id="36" name="match-hex"/>
          <p:cNvSpPr/>
          <p:nvPr/>
        </p:nvSpPr>
        <p:spPr>
          <a:xfrm>
            <a:off x="850392" y="4622115"/>
            <a:ext cx="384048" cy="332586"/>
          </a:xfrm>
          <a:prstGeom prst="hexagon">
            <a:avLst/>
          </a:prstGeom>
          <a:solidFill>
            <a:srgbClr val="8C2F39"/>
          </a:solidFill>
          <a:ln/>
        </p:spPr>
      </p:sp>
      <p:sp>
        <p:nvSpPr>
          <p:cNvPr id="37" name="match-hex-label"/>
          <p:cNvSpPr txBox="1"/>
          <p:nvPr/>
        </p:nvSpPr>
        <p:spPr>
          <a:xfrm>
            <a:off x="850392" y="46221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27728"/>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Review</a:t>
            </a:r>
            <a:endParaRPr lang="en-US" sz="1800" dirty="0"/>
          </a:p>
        </p:txBody>
      </p:sp>
      <p:sp>
        <p:nvSpPr>
          <p:cNvPr id="39" name="match-card"/>
          <p:cNvSpPr/>
          <p:nvPr/>
        </p:nvSpPr>
        <p:spPr>
          <a:xfrm>
            <a:off x="4224437" y="4427728"/>
            <a:ext cx="7190019" cy="721360"/>
          </a:xfrm>
          <a:prstGeom prst="roundRect">
            <a:avLst>
              <a:gd name="adj" fmla="val 10141"/>
            </a:avLst>
          </a:prstGeom>
          <a:solidFill>
            <a:srgbClr val="F4EDDF"/>
          </a:solidFill>
          <a:ln/>
        </p:spPr>
      </p:sp>
      <p:sp>
        <p:nvSpPr>
          <p:cNvPr id="40" name="match-hex"/>
          <p:cNvSpPr/>
          <p:nvPr/>
        </p:nvSpPr>
        <p:spPr>
          <a:xfrm>
            <a:off x="4297589" y="4622115"/>
            <a:ext cx="384048" cy="332586"/>
          </a:xfrm>
          <a:prstGeom prst="hexagon">
            <a:avLst/>
          </a:prstGeom>
          <a:solidFill>
            <a:srgbClr val="B8862B"/>
          </a:solidFill>
          <a:ln/>
        </p:spPr>
      </p:sp>
      <p:sp>
        <p:nvSpPr>
          <p:cNvPr id="41" name="match-hex-label"/>
          <p:cNvSpPr txBox="1"/>
          <p:nvPr/>
        </p:nvSpPr>
        <p:spPr>
          <a:xfrm>
            <a:off x="4297589" y="46221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427728"/>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Personal experience in the past tense, with a clear judgement in the last paragraph</a:t>
            </a:r>
            <a:endParaRPr lang="en-US" sz="1800" dirty="0"/>
          </a:p>
        </p:txBody>
      </p:sp>
      <p:sp>
        <p:nvSpPr>
          <p:cNvPr id="43" name="match-card"/>
          <p:cNvSpPr/>
          <p:nvPr/>
        </p:nvSpPr>
        <p:spPr>
          <a:xfrm>
            <a:off x="777240" y="5240528"/>
            <a:ext cx="3081437" cy="721360"/>
          </a:xfrm>
          <a:prstGeom prst="roundRect">
            <a:avLst>
              <a:gd name="adj" fmla="val 10141"/>
            </a:avLst>
          </a:prstGeom>
          <a:solidFill>
            <a:srgbClr val="F2E8E9"/>
          </a:solidFill>
          <a:ln/>
        </p:spPr>
      </p:sp>
      <p:sp>
        <p:nvSpPr>
          <p:cNvPr id="44" name="match-hex"/>
          <p:cNvSpPr/>
          <p:nvPr/>
        </p:nvSpPr>
        <p:spPr>
          <a:xfrm>
            <a:off x="850392" y="5434915"/>
            <a:ext cx="384048" cy="332586"/>
          </a:xfrm>
          <a:prstGeom prst="hexagon">
            <a:avLst/>
          </a:prstGeom>
          <a:solidFill>
            <a:srgbClr val="8C2F39"/>
          </a:solidFill>
          <a:ln/>
        </p:spPr>
      </p:sp>
      <p:sp>
        <p:nvSpPr>
          <p:cNvPr id="45" name="match-hex-label"/>
          <p:cNvSpPr txBox="1"/>
          <p:nvPr/>
        </p:nvSpPr>
        <p:spPr>
          <a:xfrm>
            <a:off x="850392" y="54349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240528"/>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Information guide</a:t>
            </a:r>
            <a:endParaRPr lang="en-US" sz="1800" dirty="0"/>
          </a:p>
        </p:txBody>
      </p:sp>
      <p:sp>
        <p:nvSpPr>
          <p:cNvPr id="47" name="match-card"/>
          <p:cNvSpPr/>
          <p:nvPr/>
        </p:nvSpPr>
        <p:spPr>
          <a:xfrm>
            <a:off x="4224437" y="5240528"/>
            <a:ext cx="7190019" cy="721360"/>
          </a:xfrm>
          <a:prstGeom prst="roundRect">
            <a:avLst>
              <a:gd name="adj" fmla="val 10141"/>
            </a:avLst>
          </a:prstGeom>
          <a:solidFill>
            <a:srgbClr val="F4EDDF"/>
          </a:solidFill>
          <a:ln/>
        </p:spPr>
      </p:sp>
      <p:sp>
        <p:nvSpPr>
          <p:cNvPr id="48" name="match-hex"/>
          <p:cNvSpPr/>
          <p:nvPr/>
        </p:nvSpPr>
        <p:spPr>
          <a:xfrm>
            <a:off x="4297589" y="5434915"/>
            <a:ext cx="384048" cy="332586"/>
          </a:xfrm>
          <a:prstGeom prst="hexagon">
            <a:avLst/>
          </a:prstGeom>
          <a:solidFill>
            <a:srgbClr val="B8862B"/>
          </a:solidFill>
          <a:ln/>
        </p:spPr>
      </p:sp>
      <p:sp>
        <p:nvSpPr>
          <p:cNvPr id="49" name="match-hex-label"/>
          <p:cNvSpPr txBox="1"/>
          <p:nvPr/>
        </p:nvSpPr>
        <p:spPr>
          <a:xfrm>
            <a:off x="4297589" y="54349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240528"/>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Sub-sections with sub-headings that help the reader find what they need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Same task, three ways in: Match the form to its convention</a:t>
            </a:r>
            <a:endParaRPr lang="en-US" sz="24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Match the form to its convention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0E4E5"/>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receives each form: one person (letter), listeners (speech), readers of a paper (article), someone deciding whether to go (review), someone who needs to find something out (guide).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convention that serves that receiver.</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addresses can only belong to the letter; a judgement can only belong to the review.</a:t>
            </a:r>
            <a:endParaRPr lang="en-US" sz="1800" dirty="0"/>
          </a:p>
        </p:txBody>
      </p:sp>
      <p:sp>
        <p:nvSpPr>
          <p:cNvPr id="17" name="col-Core"/>
          <p:cNvSpPr/>
          <p:nvPr/>
        </p:nvSpPr>
        <p:spPr>
          <a:xfrm>
            <a:off x="6425403" y="2395728"/>
            <a:ext cx="2471666" cy="3749040"/>
          </a:xfrm>
          <a:prstGeom prst="roundRect">
            <a:avLst>
              <a:gd name="adj" fmla="val 2220"/>
            </a:avLst>
          </a:prstGeom>
          <a:solidFill>
            <a:srgbClr val="E2CB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forms are read in print by many people; one is heard; one is sent to one reader; one is used to look things up.</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8C2F39"/>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Reviews and speeches both give opinions and persuade. Explain, using purpose and audience, what makes them different.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The task: Form, audience, purpose from the task</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Task: ‘Write a letter to the governors of your school giving your views on the statement that homework should be replaced by extra lessons.’ Which line identifies form, audience and purpose correctly?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Form: speech; audience: pupils; purpose: to inform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Form: article; audience: parents; purpose: to entertain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Form: letter; audience: the school governors; purpose: to argue a point of view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Form: review; audience: teachers; purpose: to advise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Same task, three ways in: Form, audience, purpose from the task</a:t>
            </a:r>
            <a:endParaRPr lang="en-US" sz="24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Task: ‘Write a letter to the governors of your school giving your views on the statement that homework should be replaced by extra lessons.’ Which line identifies form, audience and purpose correctly?</a:t>
            </a:r>
            <a:endParaRPr lang="en-US" sz="2000" dirty="0"/>
          </a:p>
        </p:txBody>
      </p:sp>
      <p:sp>
        <p:nvSpPr>
          <p:cNvPr id="12" name="col-Support"/>
          <p:cNvSpPr/>
          <p:nvPr/>
        </p:nvSpPr>
        <p:spPr>
          <a:xfrm>
            <a:off x="548640" y="2903728"/>
            <a:ext cx="3515258" cy="3241040"/>
          </a:xfrm>
          <a:prstGeom prst="roundRect">
            <a:avLst>
              <a:gd name="adj" fmla="val 1693"/>
            </a:avLst>
          </a:prstGeom>
          <a:solidFill>
            <a:srgbClr val="F0E4E5"/>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form word in the task: ‘letter’.</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who receives it: ‘the governors of your school’.</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what you are asked to do: ‘giving your views on the statement’. That is arguing.</a:t>
            </a:r>
            <a:endParaRPr lang="en-US" sz="1800" dirty="0"/>
          </a:p>
        </p:txBody>
      </p:sp>
      <p:sp>
        <p:nvSpPr>
          <p:cNvPr id="17" name="col-Core"/>
          <p:cNvSpPr/>
          <p:nvPr/>
        </p:nvSpPr>
        <p:spPr>
          <a:xfrm>
            <a:off x="4338218" y="2903728"/>
            <a:ext cx="3515258" cy="3241040"/>
          </a:xfrm>
          <a:prstGeom prst="roundRect">
            <a:avLst>
              <a:gd name="adj" fmla="val 1693"/>
            </a:avLst>
          </a:prstGeom>
          <a:solidFill>
            <a:srgbClr val="E2CBCE"/>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Every word you need is in the task. Find the form word, the receiver and the verb.</a:t>
            </a:r>
            <a:endParaRPr lang="en-US" sz="1800" dirty="0"/>
          </a:p>
        </p:txBody>
      </p:sp>
      <p:sp>
        <p:nvSpPr>
          <p:cNvPr id="22" name="col-Stretch"/>
          <p:cNvSpPr/>
          <p:nvPr/>
        </p:nvSpPr>
        <p:spPr>
          <a:xfrm>
            <a:off x="8127797" y="2903728"/>
            <a:ext cx="3515258" cy="3241040"/>
          </a:xfrm>
          <a:prstGeom prst="roundRect">
            <a:avLst>
              <a:gd name="adj" fmla="val 1693"/>
            </a:avLst>
          </a:prstGeom>
          <a:solidFill>
            <a:srgbClr val="8C2F39"/>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the task as a speech to the same governors. Say which conventions would change and which would stay.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Which opening suits a formal letter to the editor arguing a point of view?</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this letter I am going to write about zoos and give my opinion on them.</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Dear Editor, Last Saturday I queued for an hour in the rain to watch a tiger walk nine paces in one direction and nine in the other.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Hey, so I was thinking about zoos the other day and, like, they are kind of rubbish.</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Zoos are places where animals are kept. There are many zoos in Britain.</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Match the form to its convention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Letter  →  B  Addresses at the top and a sign-off such as ‘Yours sincerely’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Speech  →  A  Direct address to listeners and a call to action near the end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Article  →  C  A headline and short, information-packed paragraphs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Review  →  D  Personal experience in the past tense, with a clear judgement in the last paragraph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Information guide  →  E  Sub-sections with sub-headings that help the reader find what they need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Letters carry addresses and a sign-off; speeches address listeners and ask for action; articles have headlines and short paragraphs; reviews judge an experience in the past tense; guides use sub-sections.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Answers: Form, audience, purpose from the task</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Task: ‘Write a letter to the governors of your school giving your views on the statement that homework should be replaced by extra lessons.’ Which line identifies form, audience and purpose correctly?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Form: letter; audience: the school governors; purpose: to argue a point of view</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task names the form (letter), the audience (governors) and the purpose (giving your views, which means arguing). Read it word by word.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opening suits a formal letter to the editor arguing a point of view?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Dear Editor, Last Saturday I queued for an hour in the rain to watch a tiger walk nine paces in one direction and nine in the other.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‘Dear Editor,’ fixes the form at once, and the first sentence tells a small story with an argument inside it: formal, personal and already persuading.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5: Question 5: know your form, audience and purpose</dc:title>
  <dc:subject>English Language · Year 10</dc:subject>
  <dc:creator>Dr Vitor Merissi de Carvalho</dc:creator>
  <cp:lastModifiedBy>Dr Vitor Merissi de Carvalho</cp:lastModifiedBy>
  <cp:revision>1</cp:revision>
  <dcterms:created xsi:type="dcterms:W3CDTF">2026-10-19T16:22:35Z</dcterms:created>
  <dcterms:modified xsi:type="dcterms:W3CDTF">2026-10-19T16:22:35Z</dcterms:modified>
</cp:coreProperties>
</file>