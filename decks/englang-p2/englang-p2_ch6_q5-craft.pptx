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b4c02a-1eb5-900a-8f86-b7a8f88eb07f}">
          <p14:sldIdLst>
            <p14:sldId id="256"/>
            <p14:sldId id="257"/>
          </p14:sldIdLst>
        </p14:section>
        <p14:section name="Gate" id="{fb75ce2b-6821-143a-0929-11999fb10199}">
          <p14:sldIdLst>
            <p14:sldId id="258"/>
            <p14:sldId id="259"/>
          </p14:sldIdLst>
        </p14:section>
        <p14:section name="Pre-teach" id="{7d0da5b0-1832-8b36-f3e3-3862465cc4c3}">
          <p14:sldIdLst>
            <p14:sldId id="260"/>
            <p14:sldId id="261"/>
          </p14:sldIdLst>
        </p14:section>
        <p14:section name="Read-along" id="{f248f172-edeb-1593-8556-ff3e07476385}">
          <p14:sldIdLst>
            <p14:sldId id="262"/>
            <p14:sldId id="263"/>
          </p14:sldIdLst>
        </p14:section>
        <p14:section name="Teach" id="{27a49d01-0f77-72e5-eec7-4230ea14ba17}">
          <p14:sldIdLst>
            <p14:sldId id="264"/>
            <p14:sldId id="265"/>
            <p14:sldId id="266"/>
            <p14:sldId id="267"/>
            <p14:sldId id="268"/>
            <p14:sldId id="269"/>
            <p14:sldId id="270"/>
          </p14:sldIdLst>
        </p14:section>
        <p14:section name="Routes" id="{e9ab28d7-c88b-eaa6-eae3-6124957a4796}">
          <p14:sldIdLst>
            <p14:sldId id="271"/>
            <p14:sldId id="272"/>
            <p14:sldId id="273"/>
            <p14:sldId id="274"/>
            <p14:sldId id="275"/>
            <p14:sldId id="276"/>
          </p14:sldIdLst>
        </p14:section>
        <p14:section name="Close" id="{e54cd1ab-23da-c7ae-b77b-8b191858ef03}">
          <p14:sldIdLst>
            <p14:sldId id="277"/>
          </p14:sldIdLst>
        </p14:section>
        <p14:section name="Answers" id="{d6fe9448-563c-258f-dff9-76b67c687075}">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Question 5: build the argument, craft the sentences. You will hook your reader, structure an argument with evidence and a counter-argument, bring it full circle, and show the range of punctuation and sentences that earns technical-accuracy marks.
This deck covers the department's lessons: 7 (Question 5: structuring a non-fiction response: How do we structure a non-fiction response?); 8 (Article writing to argue: How do we construct an argument?); 9 (Writing an article to persuade: AO6 focus: How can we use SPAG to improve our writing?); 10 (Persuasive writing: hooks and counter-arguments: How do I hook my audience, make a point and answer the other side?); 12 (Revising AFOREST features and quick planning: How do I turn a boring sentence into an interesting one, and plan any Question 5 task in five minutes?); 18 (Transactional writing: reflective article (1): How is a reflective or entertaining article structured?); 19 (Transactional writing: reflective article (2): How do I plan and write a reflective article in 45 minutes?); 23 (Transactional writing: article openings (cover lesson): How do I open and close an article so that the examiner trusts me from the first line?).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Question 5: build the argument, craft the sentences. You will hook your reader, structure an argument with evidence and a counter-argument, bring it full circle, and show the range of punctuation and sentences that earns technical-accuracy marks.
This deck covers the department's lessons: 7 (Question 5: structuring a non-fiction response: How do we structure a non-fiction response?); 8 (Article writing to argue: How do we construct an argument?); 9 (Writing an article to persuade: AO6 focus: How can we use SPAG to improve our writing?); 10 (Persuasive writing: hooks and counter-arguments: How do I hook my audience, make a point and answer the other side?); 12 (Revising AFOREST features and quick planning: How do I turn a boring sentence into an interesting one, and plan any Question 5 task in five minutes?); 18 (Transactional writing: reflective article (1): How is a reflective or entertaining article structured?); 19 (Transactional writing: reflective article (2): How do I plan and write a reflective article in 45 minutes?); 23 (Transactional writing: article openings (cover lesson): How do I open and close an article so that the examiner trusts me from the first line?).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rhetorical question used as a hook?  →  A   Have you ever paid to watch an animal be bored?
2. In an argument, the paragraph that gives the other side’s view and then answers it is the ___-argument.  →  counter
3. Which sentence uses a semicolon correctly?  →  A   The tiger paced; the crowd kept filming.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Have you ever paid to watch an animal be bored?. A rhetorical question is asked for effect, not for an answer, and it makes the reader think before you have made your point.
2. counter. The counter-argument states what someone would argue against you and then refutes it.
3. A   The tiger paced; the crowd kept filming.. A semicolon links two complete sentences that are closely related: ‘The tiger paced; the crowd kept filming.’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hook: an opening that grabs the reader. Example: "A question or a scene makes a good hook."
• anecdote: a short, true-sounding story used as evidence. Example: "An anecdote about one tiger is stronger than a statistic about all tigers."
• counter-argument: the other side’s view, which you answer. Example: "A counter-argument shows you have thought about the other side."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DAFOREST: the list of persuasive devices your teachers use. Example: "DAFOREST starts with direct address and ends with triples."
• semicolon: the mark ; that links two closely related sentences. Example: "A semicolon can replace ‘and’ or ‘but’."
• cyclical: ending where you began. Example: "A cyclical ending returns to the opening image."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good argument has a shape.
2. Start with a hook: a question, a scene, a triple or an appeal to your audience.
3. Make your first point and support it with an anecdote.
4. Make your second point and support it with a fact, a statistic or an expert opinion.
5. Then give the counter-argument.
6. Say what the other side thinks, and explain why they are wrong.
7. Conclude by summing up your view.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End by returning to your opening image.
9. Use DAFOREST devices along the way.
10. Vary your sentence openers.
11. Use a colon, a semicolon and brackets, each at least once.
12. Choose ambitious vocabulary.
13. Leave time to check your spelling and punctuation.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Hook your reader. Say it in your own words, then check understanding with a quick question: ask a pupil from the pre-teach group first, since they met these words and ideas before the lesson. Pupils try to recall before you re-explain.
Your teachers give you four ways to open. A rhetorical question (or three in a row): ‘Have you ever paid to watch an animal be bored?’ Setting the scene: ‘Picture this: a queue of two hundred people in the rain, waiting to look at an animal that would rather not be looked at.’ Triples, often with a repeated word: ‘Ticket: check. Camera: check. Conscience: left in the car park.’ An appeal to the audience: ‘I know you love animals. I know you would never hurt one. So why…?’
The openings to avoid announce instead of beginning: ‘In this article I am going to write about…’. They tell the examiner you have no hook. Equally, you can close with a question, a fact or a scene, and the strongest pieces close with the image they opened with.
Read the original model letter opening again. It opens with a scene told as an anecdote, uses a very short sentence for weight, and ends its first paragraph with a direct appeal to the reader.
Quotation: "Dear Editor, Last Saturday I queued for an hour in the rain to watch a tiger walk nine paces in one direction and nine in the other. I paid for the privilege. So did two hundred other people. If that sounds like entertainment to you, read no further; if it sounds like something we should have outgrown, I hope you will give me the rest of this page." (Original model letter opening written for Ad Astra). Read it aloud; ask what it shows.
Tip: Write your hook last if you are stuck. Plan the argument first; the opening image often comes from your best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Hook your reader. Say it in your own words, then check understanding with a quick question: ask a pupil from the pre-teach group first, since they met these words and ideas before the lesson. Pupils try to recall before you re-explain.
Your teachers give you four ways to open. A rhetorical question (or three in a row): ‘Have you ever paid to watch an animal be bored?’ Setting the scene: ‘Picture this: a queue of two hundred people in the rain, waiting to look at an animal that would rather not be looked at.’ Triples, often with a repeated word: ‘Ticket: check. Camera: check. Conscience: left in the car park.’ An appeal to the audience: ‘I know you love animals. I know you would never hurt one. So why…?’
The openings to avoid announce instead of beginning: ‘In this article I am going to write about…’. They tell the examiner you have no hook. Equally, you can close with a question, a fact or a scene, and the strongest pieces close with the image they opened with.
Read the original model letter opening again. It opens with a scene told as an anecdote, uses a very short sentence for weight, and ends its first paragraph with a direct appeal to the reader.
Quotation: "Dear Editor, Last Saturday I queued for an hour in the rain to watch a tiger walk nine paces in one direction and nine in the other. I paid for the privilege. So did two hundred other people. If that sounds like entertainment to you, read no further; if it sounds like something we should have outgrown, I hope you will give me the rest of this page." (Original model letter opening written for Ad Astra). Read it aloud; ask what it shows.
Tip: Write your hook last if you are stuck. Plan the argument first; the opening image often comes from your best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shape of an argument. Say it in your own words, then check understanding with a quick question: ask a pupil from the pre-teach group first, since they met these words and ideas before the lesson. Pupils try to recall before you re-explain.
Your teachers’ plan for an argument runs: a hook; section 1, your view explained in more detail, linked back to the hook and supported by an anecdote or personal example; section 2, a second point built with an expert opinion, facts or statistics (these can be invented, but keep them realistic); section 3, the counter-argument, what someone would argue against you and how you answer them; section 4, a conclusion that sums up why you are right; and an ending that brings the argument full circle to the opening hook.
Inside each section, use PED: Point, Evidence, Development. State the point with a signpost (‘Firstly’, ‘In addition’). Give the evidence: a fact, a statistic, an expert opinion or an anecdote. Then develop it: explain its significance, add adjectives and examples, and show why it matters to your reader.
A single-sentence paragraph, used once, lands a blow. A strong one-line finish is the ‘punchy’ ending your teachers ask for in persuasive writing.
Worked example — model it step by step, thinking aloud: Plan one PED paragraph for the view that zoos teach children very little. (1) Point: Firstly, a zoo visit teaches a child to tick a list, not to understand an animal. (2) Evidence (anecdote): a six-year-old with a list that says ‘lions, tigers, penguins, the big snake’, ticking the tiger after thirty seconds at the glass. (3) Development: what has she learned? That a tiger is orange, and that it walks up and down. Nothing about where it lives, how it hunts, or why it paces. The list is complete; the understanding is empty. Answer: Point, then an anecdote as evidence, then development that asks what the evidence proves: three moves, one paragraph..
Tip: Facts and statistics may be made up, but they must sound real. ‘Nearly half’ convinces; ‘99.9 per cent’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shape of an argument. Say it in your own words, then check understanding with a quick question: ask a pupil from the pre-teach group first, since they met these words and ideas before the lesson. Pupils try to recall before you re-explain.
Your teachers’ plan for an argument runs: a hook; section 1, your view explained in more detail, linked back to the hook and supported by an anecdote or personal example; section 2, a second point built with an expert opinion, facts or statistics (these can be invented, but keep them realistic); section 3, the counter-argument, what someone would argue against you and how you answer them; section 4, a conclusion that sums up why you are right; and an ending that brings the argument full circle to the opening hook.
Inside each section, use PED: Point, Evidence, Development. State the point with a signpost (‘Firstly’, ‘In addition’). Give the evidence: a fact, a statistic, an expert opinion or an anecdote. Then develop it: explain its significance, add adjectives and examples, and show why it matters to your reader.
A single-sentence paragraph, used once, lands a blow. A strong one-line finish is the ‘punchy’ ending your teachers ask for in persuasive writing.
Worked example — model it step by step, thinking aloud: Plan one PED paragraph for the view that zoos teach children very little. (1) Point: Firstly, a zoo visit teaches a child to tick a list, not to understand an animal. (2) Evidence (anecdote): a six-year-old with a list that says ‘lions, tigers, penguins, the big snake’, ticking the tiger after thirty seconds at the glass. (3) Development: what has she learned? That a tiger is orange, and that it walks up and down. Nothing about where it lives, how it hunts, or why it paces. The list is complete; the understanding is empty. Answer: Point, then an anecdote as evidence, then development that asks what the evidence proves: three moves, one paragraph..
Tip: Facts and statistics may be made up, but they must sound real. ‘Nearly half’ convinces; ‘99.9 per cent’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DAFOREST and the counter-argument. Say it in your own words, then check understanding with a quick question: ask a pupil from the pre-teach group first, since they met these words and ideas before the lesson. Pupils try to recall before you re-explain.
DAFOREST is your teachers’ list of persuasive devices: Direct address; Alliteration and Anecdote; Facts; Opinions, your own and an expert’s; Rhetorical questions and Repetition; Emotive language; Statistics; Triples. Two or three used well beat eight used badly. Use them to serve the argument, not to decorate it.
The counter-argument is where many answers go thin. Give the other side a fair sentence: ‘Now, I know that some will argue that zoos protect endangered species, and that without them several would already be gone.’ Then turn with ‘However…’ and refute it: ‘However, a breeding programme does not need a gift shop, a café and two hundred people banging on the glass.’ A subordinating conjunction (‘Although…’, ‘While…’) is a neat way to hold both sides in one sentence before you come down on yours.
Ambitious vocabulary lifts the argument. Your teachers’ word lists include pernicious, insidious, detrimental, corrosive and debilitating for harm, and vibrant, alluring, captivating and mesmerising for praise. Use one or two where they are exactly right.
Tip: Refute does not mean ignore. Name the other view, then show why yours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AO6: punctuation, sentences and vocabulary. Say it in your own words, then check understanding with a quick question: ask a pupil from the pre-teach group first, since they met these words and ideas before the lesson. Pupils try to recall before you re-explain.
Sixteen of the forty marks are for technical accuracy. The examiner wants secure sentence demarcation, a wide range of punctuation, a full range of sentence forms used for effect, Standard English with control of complex grammar, accurate spelling and interesting vocabulary. Your teachers’ punctuation ladder: a colon to introduce an explanation or a list (‘London is a paradise for food lovers: every street offers something new.’); a semicolon to link two closely related ideas instead of a conjunction (‘The tiger paced; the crowd kept filming.’); brackets for an aside (‘the tiger (whose name, a sign told us, was Rajan)’); an ellipsis for a pause; quotation marks for a quoted opinion; and embedded clauses.
Vary your openers. Your teachers list: a prepositional phrase (‘Under the dripping canopy…’), a fronted adverbial (‘Slowly, …’), a subordinating conjunction (‘Although…’), a modal verb (‘We must…’), a temporal connective (‘After an hour…’), a present or past participle phrase (‘Watching the tiger turn…’, ‘Exhausted by the queue, …’), a sentence inversion (‘Not once did the tiger look at us.’) and a conditional (‘Had we stayed at home…’).
Worked example — model it step by step, thinking aloud: Your teachers’ warm-up: rewrite a boring sentence using at least two DAFOREST techniques, two strong adjectives and punctuation that fits the mood. Boring sentence: ‘The zoo has a lot of animals.’ (1) Add direct address and a rhetorical question: ‘Have you counted them?’ (2) Add a triple and two strong adjectives: ‘restless tigers, bewildered giraffes, bored, blinking lions’. (3) Change the punctuation: a colon to introduce the list, a question mark, a short final sentence. Answer: Have you counted them? Behind the glass the zoo holds hundreds of animals: restless tigers, bewildered giraffes, bored, blinking lions. Every one of them is watching you..
Tip: Before you hand in: one colon, one semicolon, one pair of brackets, three different openers. Tick them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AO6: punctuation, sentences and vocabulary. Say it in your own words, then check understanding with a quick question: ask a pupil from the pre-teach group first, since they met these words and ideas before the lesson. Pupils try to recall before you re-explain.
Sixteen of the forty marks are for technical accuracy. The examiner wants secure sentence demarcation, a wide range of punctuation, a full range of sentence forms used for effect, Standard English with control of complex grammar, accurate spelling and interesting vocabulary. Your teachers’ punctuation ladder: a colon to introduce an explanation or a list (‘London is a paradise for food lovers: every street offers something new.’); a semicolon to link two closely related ideas instead of a conjunction (‘The tiger paced; the crowd kept filming.’); brackets for an aside (‘the tiger (whose name, a sign told us, was Rajan)’); an ellipsis for a pause; quotation marks for a quoted opinion; and embedded clauses.
Vary your openers. Your teachers list: a prepositional phrase (‘Under the dripping canopy…’), a fronted adverbial (‘Slowly, …’), a subordinating conjunction (‘Although…’), a modal verb (‘We must…’), a temporal connective (‘After an hour…’), a present or past participle phrase (‘Watching the tiger turn…’, ‘Exhausted by the queue, …’), a sentence inversion (‘Not once did the tiger look at us.’) and a conditional (‘Had we stayed at home…’).
Worked example — model it step by step, thinking aloud: Your teachers’ warm-up: rewrite a boring sentence using at least two DAFOREST techniques, two strong adjectives and punctuation that fits the mood. Boring sentence: ‘The zoo has a lot of animals.’ (1) Add direct address and a rhetorical question: ‘Have you counted them?’ (2) Add a triple and two strong adjectives: ‘restless tigers, bewildered giraffes, bored, blinking lions’. (3) Change the punctuation: a colon to introduce the list, a question mark, a short final sentence. Answer: Have you counted them? Behind the glass the zoo holds hundreds of animals: restless tigers, bewildered giraffes, bored, blinking lions. Every one of them is watching you..
Tip: Before you hand in: one colon, one semicolon, one pair of brackets, three different openers. Tick them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Put the argument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Question 5 argument in the order your teachers plan them.
Support — work through the steps with the group: (1) The hook always comes first; the full-circle ending always comes last. (2) Your own points come before the other side’s. (3) Anecdote comes before expert evidence in your teachers’ plan. (4) The conclusion sums up; the ending echoes the hook.
Parallel worked example for Support (model it, do not give the task answer): Order these parts of a debate speech: the other side’s view, my opening position, my conclusion, my reasons. Open with your position.; Give your reasons.; Answer the other side.; Conclude.. Answer: Opening position, my reasons, the other side’s view, conclusion..
Core — reveal the hint only on request: Hook, two points, the other side, sum up, echo the hook.
Stretch — no help; when finished: Explain why a counter-argument placed just before the conclusion makes the conclusion more convincing,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Put the argument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Question 5 argument in the order your teachers plan them.
Support — work through the steps with the group: (1) The hook always comes first; the full-circle ending always comes last. (2) Your own points come before the other side’s. (3) Anecdote comes before expert evidence in your teachers’ plan. (4) The conclusion sums up; the ending echoes the hook.
Parallel worked example for Support (model it, do not give the task answer): Order these parts of a debate speech: the other side’s view, my opening position, my conclusion, my reasons. Open with your position.; Give your reasons.; Answer the other side.; Conclude.. Answer: Opening position, my reasons, the other side’s view, conclusion..
Core — reveal the hint only on request: Hook, two points, the other side, sum up, echo the hook.
Stretch — no help; when finished: Explain why a counter-argument placed just before the conclusion makes the conclusion more convincing,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DAFOREST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DAFOREST device it mainly uses.
Support — work through the steps with the group: (1) ‘You’ speaking straight to the reader is direct address. (2) Three items in a row is a triple. (3) A number from a survey or study is a statistic. (4) Words chosen to make you feel (‘a whole life’, ‘measured out’) are emotive language. (5) A named specialist’s view is an expert opinion.
Parallel worked example for Support (model it, do not give the task answer): Which device is ‘Bored, blinking, broken.’? Three words.; They start with the same sound.. Answer: A triple (with alliteration)..
Core — reveal the hint only on request: Look for ‘you’, for three, for a number, for feeling, for a name with a job.
Stretch — no help; when finished: Write one sentence that uses two DAFOREST devices at once, and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DAFOREST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DAFOREST device it mainly uses.
Support — work through the steps with the group: (1) ‘You’ speaking straight to the reader is direct address. (2) Three items in a row is a triple. (3) A number from a survey or study is a statistic. (4) Words chosen to make you feel (‘a whole life’, ‘measured out’) are emotive language. (5) A named specialist’s view is an expert opinion.
Parallel worked example for Support (model it, do not give the task answer): Which device is ‘Bored, blinking, broken.’? Three words.; They start with the same sound.. Answer: A triple (with alliteration)..
Core — reveal the hint only on request: Look for ‘you’, for three, for a number, for feeling, for a name with a job.
Stretch — no help; when finished: Write one sentence that uses two DAFOREST devices at once, and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DAFOREST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DAFOREST device it mainly uses.
Support — work through the steps with the group: (1) ‘You’ speaking straight to the reader is direct address. (2) Three items in a row is a triple. (3) A number from a survey or study is a statistic. (4) Words chosen to make you feel (‘a whole life’, ‘measured out’) are emotive language. (5) A named specialist’s view is an expert opinion.
Parallel worked example for Support (model it, do not give the task answer): Which device is ‘Bored, blinking, broken.’? Three words.; They start with the same sound.. Answer: A triple (with alliteration)..
Core — reveal the hint only on request: Look for ‘you’, for three, for a number, for feeling, for a name with a job.
Stretch — no help; when finished: Write one sentence that uses two DAFOREST devices at once, and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DAFOREST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DAFOREST device it mainly uses.
Support — work through the steps with the group: (1) ‘You’ speaking straight to the reader is direct address. (2) Three items in a row is a triple. (3) A number from a survey or study is a statistic. (4) Words chosen to make you feel (‘a whole life’, ‘measured out’) are emotive language. (5) A named specialist’s view is an expert opinion.
Parallel worked example for Support (model it, do not give the task answer): Which device is ‘Bored, blinking, broken.’? Three words.; They start with the same sound.. Answer: A triple (with alliteration)..
Core — reveal the hint only on request: Look for ‘you’, for three, for a number, for feeling, for a name with a job.
Stretch — no help; when finished: Write one sentence that uses two DAFOREST devices at once, and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rhetorical question used as a hook?
Answer: D   Have you ever paid to watch an animal be bored?. A rhetorical question is asked for effect, not for an answer, and it makes the reader think before you have made your point.
Source of this question: gate item 1 re-asked (options rotated) — this chapter has no third quick-check module.
The ebook also holds task 3, "Question 5 practice: argue your view",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Put the argument in order. Reveal the answer; pupils mark their own work in a different colour, then read the "why" together. Same destination for every lane, so one answer serves the whole class.
Answer: Hook the reader (a question, a scene, a triple or an appeal)  (F); First point, supported by an anecdote or personal example  (A); Second point, supported by an expert opinion, facts or statistics  (E); Counter-argument: what the other side says, and why they are wrong  (C); Conclusion: sum up why your view is right  (D); Ending: return to your opening hook (full circle)  (B)
Why: Hook; point with anecdote; point with expert evidence; counter-argument refuted; conclusion; full circle. The shape keeps the reader with you from first line to last.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DAFOREST device. Reveal the answer; pupils mark their own work in a different colour, then read the "why" together. Same destination for every lane, so one answer serves the whole class.
Answer: ‘You know that feeling, don’t you? The one where you look away.’  →  C  direct address; ‘Cold, cramped and cruel.’  →  E  triple; ‘A survey of two thousand visitors found that nearly half left within two hours.’  →  A  statistic; ‘Imagine a whole life measured out in nine paces.’  →  D  emotive language; ‘Professor Ali, who has studied big cats for thirty years, calls it a slow cruelty.’  →  B  expert opinion
Why: Direct address speaks to ‘you’; a triple comes in threes; a statistic is a number; emotive language makes the reader feel; an expert opinion comes with a name and a title. The survey and the professor are invented, as your teachers allow, but kept realistic.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Have you ever paid to watch an animal be bored?
Why: A rhetorical question is asked for effect, not for an answer, and it makes the reader think before you have made your point.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469361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1572768"/>
            <a:ext cx="647669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Question 5: build the argument, craft the sentences</a:t>
            </a:r>
            <a:endParaRPr lang="en-US" sz="2800" dirty="0"/>
          </a:p>
        </p:txBody>
      </p:sp>
      <p:sp>
        <p:nvSpPr>
          <p:cNvPr id="11" name="lessons-card"/>
          <p:cNvSpPr/>
          <p:nvPr/>
        </p:nvSpPr>
        <p:spPr>
          <a:xfrm>
            <a:off x="548640" y="2852928"/>
            <a:ext cx="6476695" cy="2820416"/>
          </a:xfrm>
          <a:prstGeom prst="roundRect">
            <a:avLst>
              <a:gd name="adj" fmla="val 2594"/>
            </a:avLst>
          </a:prstGeom>
          <a:solidFill>
            <a:srgbClr val="F0E4E5"/>
          </a:solidFill>
          <a:ln/>
        </p:spPr>
      </p:sp>
      <p:sp>
        <p:nvSpPr>
          <p:cNvPr id="12" name="lessons"/>
          <p:cNvSpPr txBox="1"/>
          <p:nvPr/>
        </p:nvSpPr>
        <p:spPr>
          <a:xfrm>
            <a:off x="685800" y="2944368"/>
            <a:ext cx="6202375" cy="2637536"/>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Question 5: structuring a non-fiction response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Article writing to argue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Writing an article to persuade: AO6 focus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Persuasive writing: hooks and counter-arguments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Revising AFOREST features and quick planning</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reflective article (1)</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reflective article (2)</a:t>
            </a:r>
            <a:endParaRPr lang="en-US" sz="1800" dirty="0"/>
          </a:p>
        </p:txBody>
      </p:sp>
      <p:sp>
        <p:nvSpPr>
          <p:cNvPr id="13" name="plate-frame"/>
          <p:cNvSpPr/>
          <p:nvPr/>
        </p:nvSpPr>
        <p:spPr>
          <a:xfrm>
            <a:off x="7436815" y="411480"/>
            <a:ext cx="4206240" cy="2462022"/>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7546543" y="521208"/>
            <a:ext cx="3986784" cy="2242566"/>
          </a:xfrm>
          <a:prstGeom prst="rect">
            <a:avLst/>
          </a:prstGeom>
        </p:spPr>
      </p:pic>
      <p:sp>
        <p:nvSpPr>
          <p:cNvPr id="15" name="plate-inner"/>
          <p:cNvSpPr/>
          <p:nvPr/>
        </p:nvSpPr>
        <p:spPr>
          <a:xfrm>
            <a:off x="7546543" y="521208"/>
            <a:ext cx="3986784" cy="2242566"/>
          </a:xfrm>
          <a:prstGeom prst="rect">
            <a:avLst/>
          </a:prstGeom>
          <a:ln w="9525">
            <a:solidFill>
              <a:srgbClr val="B8862B"/>
            </a:solidFill>
            <a:prstDash val="solid"/>
          </a:ln>
        </p:spPr>
      </p:sp>
      <p:sp>
        <p:nvSpPr>
          <p:cNvPr id="16" name="stud0"/>
          <p:cNvSpPr/>
          <p:nvPr/>
        </p:nvSpPr>
        <p:spPr>
          <a:xfrm>
            <a:off x="732708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327087" y="277847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778478"/>
            <a:ext cx="219456" cy="190049"/>
          </a:xfrm>
          <a:prstGeom prst="hexagon">
            <a:avLst/>
          </a:prstGeom>
          <a:solidFill>
            <a:srgbClr val="B8862B"/>
          </a:solidFill>
          <a:ln w="12700">
            <a:solidFill>
              <a:srgbClr val="FFFFFF"/>
            </a:solidFill>
            <a:prstDash val="solid"/>
          </a:ln>
        </p:spPr>
      </p:sp>
      <p:sp>
        <p:nvSpPr>
          <p:cNvPr id="20" name="bq-card"/>
          <p:cNvSpPr/>
          <p:nvPr/>
        </p:nvSpPr>
        <p:spPr>
          <a:xfrm>
            <a:off x="7436815" y="3147822"/>
            <a:ext cx="4206240" cy="2722626"/>
          </a:xfrm>
          <a:prstGeom prst="roundRect">
            <a:avLst>
              <a:gd name="adj" fmla="val 2687"/>
            </a:avLst>
          </a:prstGeom>
          <a:solidFill>
            <a:srgbClr val="F0E4E5"/>
          </a:solidFill>
          <a:ln w="12700">
            <a:solidFill>
              <a:srgbClr val="CEA6AA"/>
            </a:solidFill>
            <a:prstDash val="solid"/>
          </a:ln>
        </p:spPr>
      </p:sp>
      <p:sp>
        <p:nvSpPr>
          <p:cNvPr id="21" name="bq-hex"/>
          <p:cNvSpPr/>
          <p:nvPr/>
        </p:nvSpPr>
        <p:spPr>
          <a:xfrm>
            <a:off x="7601407" y="3330702"/>
            <a:ext cx="621792" cy="538472"/>
          </a:xfrm>
          <a:prstGeom prst="hexagon">
            <a:avLst/>
          </a:prstGeom>
          <a:solidFill>
            <a:srgbClr val="B8862B"/>
          </a:solidFill>
          <a:ln/>
        </p:spPr>
      </p:sp>
      <p:sp>
        <p:nvSpPr>
          <p:cNvPr id="22" name="bq-hex-label"/>
          <p:cNvSpPr txBox="1"/>
          <p:nvPr/>
        </p:nvSpPr>
        <p:spPr>
          <a:xfrm>
            <a:off x="7601407" y="333070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332927" y="3239262"/>
            <a:ext cx="3200400" cy="253974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Lessons covered (continued)</a:t>
            </a:r>
            <a:endParaRPr lang="en-US" sz="3200" dirty="0"/>
          </a:p>
        </p:txBody>
      </p:sp>
      <p:sp>
        <p:nvSpPr>
          <p:cNvPr id="4" name="lessons-card"/>
          <p:cNvSpPr/>
          <p:nvPr/>
        </p:nvSpPr>
        <p:spPr>
          <a:xfrm>
            <a:off x="548640" y="1389888"/>
            <a:ext cx="11094415" cy="588772"/>
          </a:xfrm>
          <a:prstGeom prst="roundRect">
            <a:avLst>
              <a:gd name="adj" fmla="val 12425"/>
            </a:avLst>
          </a:prstGeom>
          <a:solidFill>
            <a:srgbClr val="F0E4E5"/>
          </a:solidFill>
          <a:ln/>
        </p:spPr>
      </p:sp>
      <p:sp>
        <p:nvSpPr>
          <p:cNvPr id="5" name="lessons"/>
          <p:cNvSpPr txBox="1"/>
          <p:nvPr/>
        </p:nvSpPr>
        <p:spPr>
          <a:xfrm>
            <a:off x="685800" y="1481328"/>
            <a:ext cx="10820095" cy="405892"/>
          </a:xfrm>
          <a:prstGeom prst="rect">
            <a:avLst/>
          </a:prstGeom>
          <a:noFill/>
          <a:ln/>
        </p:spPr>
        <p:txBody>
          <a:bodyPr wrap="square" lIns="63500" tIns="63500" rIns="63500" bIns="63500" rtlCol="0" anchor="t"/>
          <a:lstStyle/>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Transactional writing: article openings (cover lesson)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rhetorical question used as a hook?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Have you ever paid to watch an animal be bored?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Zoos were first opened to the public in the nineteenth century.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 think zoos are wrong.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Please visit the zoo this weekend.</a:t>
            </a:r>
            <a:endParaRPr lang="en-US" sz="18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an argument, the paragraph that gives the other side’s view and then answers it is the ___-argument.</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counter  ·  main  ·  closing</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sentence uses a semicolon correctly?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tiger paced; the crowd kept filming.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tiger; paced along the fence.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tiger paced along; the fence.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tiger paced, the crowd kept filming;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Have you ever paid to watch an animal be bored?</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rhetorical question is asked for effect, not for an answer, and it makes the reader think before you have made your point.</a:t>
            </a:r>
            <a:endParaRPr lang="en-US" sz="18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counter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an argument, the paragraph that gives the other side’s view and then answers it is the ___-argument.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counter-argument states what someone would argue against you and then refutes it.</a:t>
            </a:r>
            <a:endParaRPr lang="en-US" sz="18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tiger paced; the crowd kept filming.</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sentence uses a semicolon correctly?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semicolon links two complete sentences that are closely related: ‘The tiger paced; the crowd kept filming.’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hook</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opening that grabs the reader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question or a scene makes a good hook.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anecdote</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short, true-sounding story used as evidence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anecdote about one tiger is stronger than a statistic about all tigers.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counter-argument</a:t>
            </a:r>
            <a:endParaRPr lang="en-US" sz="2600" dirty="0"/>
          </a:p>
        </p:txBody>
      </p:sp>
      <p:sp>
        <p:nvSpPr>
          <p:cNvPr id="23" name="word-rule"/>
          <p:cNvSpPr/>
          <p:nvPr/>
        </p:nvSpPr>
        <p:spPr>
          <a:xfrm>
            <a:off x="8310677" y="2558288"/>
            <a:ext cx="3149498" cy="0"/>
          </a:xfrm>
          <a:prstGeom prst="line">
            <a:avLst/>
          </a:prstGeom>
          <a:ln w="12700">
            <a:solidFill>
              <a:srgbClr val="CEA6AA"/>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other side’s view, which you answer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counter-argument shows you have thought about the other side.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DAFOREST</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list of persuasive devices your teachers use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DAFOREST starts with direct address and ends with triples.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semicolon</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mark ; that links two closely related sentences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semicolon can replace ‘and’ or ‘but’.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cyclical</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ending where you began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cyclical ending returns to the opening image.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good argument has a shape.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Start with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hook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question, a scene, a triple or an appeal to your audience.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Make your first point and support it with an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anecdote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Make your second point and support it with a fact, a statistic or an expert opinion.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give the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counter-argument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Say what the other side thinks, and explain why they are wrong.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Conclude by summing up your view.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End by returning to your opening image.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Use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DAFOREST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devices along the 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Vary your sentence openers.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Use a colon, a </a:t>
            </a:r>
            <a:pPr algn="l" indent="0" marL="0">
              <a:spcAft>
                <a:spcPts val="600"/>
              </a:spcAft>
              <a:buNone/>
            </a:pPr>
            <a:r>
              <a:rPr lang="en-US" sz="2400" b="1" dirty="0">
                <a:solidFill>
                  <a:srgbClr val="8C2F39"/>
                </a:solidFill>
                <a:latin typeface="Calibri" pitchFamily="34" charset="0"/>
                <a:ea typeface="Calibri" pitchFamily="34" charset="-122"/>
                <a:cs typeface="Calibri" pitchFamily="34" charset="-120"/>
              </a:rPr>
              <a:t>semicolon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brackets, each at least once.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Choose ambitious vocabulary.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Leave time to check your spelling and punctuation.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Hook your reader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your hook last if you are stuck. Plan the argument first; the opening image often comes from your best paragraph.</a:t>
            </a:r>
            <a:endParaRPr lang="en-US" sz="1800" dirty="0"/>
          </a:p>
        </p:txBody>
      </p:sp>
      <p:sp>
        <p:nvSpPr>
          <p:cNvPr id="11" name="bullet-card"/>
          <p:cNvSpPr/>
          <p:nvPr/>
        </p:nvSpPr>
        <p:spPr>
          <a:xfrm>
            <a:off x="548640" y="1389888"/>
            <a:ext cx="11094415" cy="1544320"/>
          </a:xfrm>
          <a:prstGeom prst="roundRect">
            <a:avLst>
              <a:gd name="adj" fmla="val 4737"/>
            </a:avLst>
          </a:prstGeom>
          <a:solidFill>
            <a:srgbClr val="F2E8E9"/>
          </a:solidFill>
          <a:ln/>
        </p:spPr>
      </p:sp>
      <p:sp>
        <p:nvSpPr>
          <p:cNvPr id="12" name="bullet-hex"/>
          <p:cNvSpPr/>
          <p:nvPr/>
        </p:nvSpPr>
        <p:spPr>
          <a:xfrm>
            <a:off x="676656" y="1995755"/>
            <a:ext cx="384048" cy="332586"/>
          </a:xfrm>
          <a:prstGeom prst="hexagon">
            <a:avLst/>
          </a:prstGeom>
          <a:solidFill>
            <a:srgbClr val="8C2F39"/>
          </a:solidFill>
          <a:ln/>
        </p:spPr>
      </p:sp>
      <p:sp>
        <p:nvSpPr>
          <p:cNvPr id="13" name="bullet"/>
          <p:cNvSpPr txBox="1"/>
          <p:nvPr/>
        </p:nvSpPr>
        <p:spPr>
          <a:xfrm>
            <a:off x="1143000" y="1389888"/>
            <a:ext cx="10408615" cy="15443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teachers give you four ways to open. A rhetorical question (or three in a row): ‘Have you ever paid to watch an animal be bored?’ Setting the scene: ‘Picture this: a queue of two hundred people in the rain, waiting to look at an animal that would rather not be looked at.’ Triples, often with a repeated word: ‘Ticket: check.</a:t>
            </a:r>
            <a:endParaRPr lang="en-US" sz="2000" dirty="0"/>
          </a:p>
        </p:txBody>
      </p:sp>
      <p:sp>
        <p:nvSpPr>
          <p:cNvPr id="14" name="bullet-card"/>
          <p:cNvSpPr/>
          <p:nvPr/>
        </p:nvSpPr>
        <p:spPr>
          <a:xfrm>
            <a:off x="548640" y="3080512"/>
            <a:ext cx="11094415" cy="924560"/>
          </a:xfrm>
          <a:prstGeom prst="roundRect">
            <a:avLst>
              <a:gd name="adj" fmla="val 7912"/>
            </a:avLst>
          </a:prstGeom>
          <a:solidFill>
            <a:srgbClr val="F2E8E9"/>
          </a:solidFill>
          <a:ln/>
        </p:spPr>
      </p:sp>
      <p:sp>
        <p:nvSpPr>
          <p:cNvPr id="15" name="bullet-hex"/>
          <p:cNvSpPr/>
          <p:nvPr/>
        </p:nvSpPr>
        <p:spPr>
          <a:xfrm>
            <a:off x="676656" y="3376499"/>
            <a:ext cx="384048" cy="332586"/>
          </a:xfrm>
          <a:prstGeom prst="hexagon">
            <a:avLst/>
          </a:prstGeom>
          <a:solidFill>
            <a:srgbClr val="B8862B"/>
          </a:solidFill>
          <a:ln/>
        </p:spPr>
      </p:sp>
      <p:sp>
        <p:nvSpPr>
          <p:cNvPr id="16" name="bullet"/>
          <p:cNvSpPr txBox="1"/>
          <p:nvPr/>
        </p:nvSpPr>
        <p:spPr>
          <a:xfrm>
            <a:off x="1143000" y="3080512"/>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openings to avoid announce instead of beginning: ‘In this article I am going to write about…’.</a:t>
            </a:r>
            <a:endParaRPr lang="en-US" sz="2000" dirty="0"/>
          </a:p>
        </p:txBody>
      </p:sp>
      <p:sp>
        <p:nvSpPr>
          <p:cNvPr id="17" name="bullet-card"/>
          <p:cNvSpPr/>
          <p:nvPr/>
        </p:nvSpPr>
        <p:spPr>
          <a:xfrm>
            <a:off x="548640" y="4151376"/>
            <a:ext cx="11094415" cy="924560"/>
          </a:xfrm>
          <a:prstGeom prst="roundRect">
            <a:avLst>
              <a:gd name="adj" fmla="val 7912"/>
            </a:avLst>
          </a:prstGeom>
          <a:solidFill>
            <a:srgbClr val="F2E8E9"/>
          </a:solidFill>
          <a:ln/>
        </p:spPr>
      </p:sp>
      <p:sp>
        <p:nvSpPr>
          <p:cNvPr id="18" name="bullet-hex"/>
          <p:cNvSpPr/>
          <p:nvPr/>
        </p:nvSpPr>
        <p:spPr>
          <a:xfrm>
            <a:off x="676656" y="4447363"/>
            <a:ext cx="384048" cy="332586"/>
          </a:xfrm>
          <a:prstGeom prst="hexagon">
            <a:avLst/>
          </a:prstGeom>
          <a:solidFill>
            <a:srgbClr val="8C2F39"/>
          </a:solidFill>
          <a:ln/>
        </p:spPr>
      </p:sp>
      <p:sp>
        <p:nvSpPr>
          <p:cNvPr id="19" name="bullet"/>
          <p:cNvSpPr txBox="1"/>
          <p:nvPr/>
        </p:nvSpPr>
        <p:spPr>
          <a:xfrm>
            <a:off x="1143000" y="4151376"/>
            <a:ext cx="10408615"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Read the original model letter opening again. It opens with a scene told as an anecdote, uses a very short sentence for weight, and ends its first paragraph with a direct appeal to the reader.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Hook your reader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Dear Editor, Last Saturday I queued for an hour in the rain to watch a tiger walk nine paces in one direction and nine in the other. I paid for the privilege. So did two hundred other people. If that sounds like entertainment to you, read no further; if it sounds like something we should have outgrown, I hope you will give me the rest of this page.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Original model letter opening written for Ad Astra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shape of an argument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Facts and statistics may be made up, but they must sound real. ‘Nearly half’ convinces; ‘99.9 per cent’ does not.</a:t>
            </a:r>
            <a:endParaRPr lang="en-US" sz="1800" dirty="0"/>
          </a:p>
        </p:txBody>
      </p:sp>
      <p:sp>
        <p:nvSpPr>
          <p:cNvPr id="11" name="bullet-card"/>
          <p:cNvSpPr/>
          <p:nvPr/>
        </p:nvSpPr>
        <p:spPr>
          <a:xfrm>
            <a:off x="548640" y="1389888"/>
            <a:ext cx="11094415" cy="1874859"/>
          </a:xfrm>
          <a:prstGeom prst="roundRect">
            <a:avLst>
              <a:gd name="adj" fmla="val 3902"/>
            </a:avLst>
          </a:prstGeom>
          <a:solidFill>
            <a:srgbClr val="F2E8E9"/>
          </a:solidFill>
          <a:ln/>
        </p:spPr>
      </p:sp>
      <p:sp>
        <p:nvSpPr>
          <p:cNvPr id="12" name="bullet-hex"/>
          <p:cNvSpPr/>
          <p:nvPr/>
        </p:nvSpPr>
        <p:spPr>
          <a:xfrm>
            <a:off x="676656" y="2161025"/>
            <a:ext cx="384048" cy="332586"/>
          </a:xfrm>
          <a:prstGeom prst="hexagon">
            <a:avLst/>
          </a:prstGeom>
          <a:solidFill>
            <a:srgbClr val="8C2F39"/>
          </a:solidFill>
          <a:ln/>
        </p:spPr>
      </p:sp>
      <p:sp>
        <p:nvSpPr>
          <p:cNvPr id="13" name="bullet"/>
          <p:cNvSpPr txBox="1"/>
          <p:nvPr/>
        </p:nvSpPr>
        <p:spPr>
          <a:xfrm>
            <a:off x="1143000" y="1389888"/>
            <a:ext cx="10408615" cy="187485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plan for an argument runs: a hook; section 1, your view explained in more detail, linked back to the hook and supported by an anecdote or personal example; section 2, a second point built with an expert opinion, facts or statistics (these can be invented, but keep them realistic); section 3, the counter-argument, what someone would argue against you and how you answer them; section 4, a conclusion that sums up why you are right; and an ending that brings the argument full circle to the opening hook.</a:t>
            </a:r>
            <a:endParaRPr lang="en-US" sz="1800" dirty="0"/>
          </a:p>
        </p:txBody>
      </p:sp>
      <p:sp>
        <p:nvSpPr>
          <p:cNvPr id="14" name="bullet-card"/>
          <p:cNvSpPr/>
          <p:nvPr/>
        </p:nvSpPr>
        <p:spPr>
          <a:xfrm>
            <a:off x="548640" y="3411051"/>
            <a:ext cx="11094415" cy="759291"/>
          </a:xfrm>
          <a:prstGeom prst="roundRect">
            <a:avLst>
              <a:gd name="adj" fmla="val 9634"/>
            </a:avLst>
          </a:prstGeom>
          <a:solidFill>
            <a:srgbClr val="F2E8E9"/>
          </a:solidFill>
          <a:ln/>
        </p:spPr>
      </p:sp>
      <p:sp>
        <p:nvSpPr>
          <p:cNvPr id="15" name="bullet-hex"/>
          <p:cNvSpPr/>
          <p:nvPr/>
        </p:nvSpPr>
        <p:spPr>
          <a:xfrm>
            <a:off x="676656" y="3624403"/>
            <a:ext cx="384048" cy="332586"/>
          </a:xfrm>
          <a:prstGeom prst="hexagon">
            <a:avLst/>
          </a:prstGeom>
          <a:solidFill>
            <a:srgbClr val="B8862B"/>
          </a:solidFill>
          <a:ln/>
        </p:spPr>
      </p:sp>
      <p:sp>
        <p:nvSpPr>
          <p:cNvPr id="16" name="bullet"/>
          <p:cNvSpPr txBox="1"/>
          <p:nvPr/>
        </p:nvSpPr>
        <p:spPr>
          <a:xfrm>
            <a:off x="1143000" y="3411051"/>
            <a:ext cx="10408615"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Inside each section, use PED: Point, Evidence, Development. State the point with a signpost (‘Firstly’, ‘In addition’).</a:t>
            </a:r>
            <a:endParaRPr lang="en-US" sz="1800" dirty="0"/>
          </a:p>
        </p:txBody>
      </p:sp>
      <p:sp>
        <p:nvSpPr>
          <p:cNvPr id="17" name="bullet-card"/>
          <p:cNvSpPr/>
          <p:nvPr/>
        </p:nvSpPr>
        <p:spPr>
          <a:xfrm>
            <a:off x="548640" y="4316645"/>
            <a:ext cx="11094415" cy="759291"/>
          </a:xfrm>
          <a:prstGeom prst="roundRect">
            <a:avLst>
              <a:gd name="adj" fmla="val 9634"/>
            </a:avLst>
          </a:prstGeom>
          <a:solidFill>
            <a:srgbClr val="F2E8E9"/>
          </a:solidFill>
          <a:ln/>
        </p:spPr>
      </p:sp>
      <p:sp>
        <p:nvSpPr>
          <p:cNvPr id="18" name="bullet-hex"/>
          <p:cNvSpPr/>
          <p:nvPr/>
        </p:nvSpPr>
        <p:spPr>
          <a:xfrm>
            <a:off x="676656" y="4529998"/>
            <a:ext cx="384048" cy="332586"/>
          </a:xfrm>
          <a:prstGeom prst="hexagon">
            <a:avLst/>
          </a:prstGeom>
          <a:solidFill>
            <a:srgbClr val="8C2F39"/>
          </a:solidFill>
          <a:ln/>
        </p:spPr>
      </p:sp>
      <p:sp>
        <p:nvSpPr>
          <p:cNvPr id="19" name="bullet"/>
          <p:cNvSpPr txBox="1"/>
          <p:nvPr/>
        </p:nvSpPr>
        <p:spPr>
          <a:xfrm>
            <a:off x="1143000" y="4316645"/>
            <a:ext cx="10408615"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single-sentence paragraph, used once, lands a blow. A strong one-line finish is the ‘punchy’ ending your teachers ask for in persuasive writing.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The shape of an argument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0E4E5"/>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Plan one PED paragraph for the view that zoos teach children very little.</a:t>
            </a:r>
            <a:endParaRPr lang="en-US" sz="2000" dirty="0"/>
          </a:p>
        </p:txBody>
      </p:sp>
      <p:sp>
        <p:nvSpPr>
          <p:cNvPr id="9" name="step-box"/>
          <p:cNvSpPr/>
          <p:nvPr/>
        </p:nvSpPr>
        <p:spPr>
          <a:xfrm>
            <a:off x="548640" y="2192528"/>
            <a:ext cx="11094415" cy="603504"/>
          </a:xfrm>
          <a:prstGeom prst="roundRect">
            <a:avLst>
              <a:gd name="adj" fmla="val 12121"/>
            </a:avLst>
          </a:prstGeom>
          <a:solidFill>
            <a:srgbClr val="FFFFFF"/>
          </a:solidFill>
          <a:ln w="15875">
            <a:solidFill>
              <a:srgbClr val="C08D92"/>
            </a:solidFill>
            <a:prstDash val="solid"/>
          </a:ln>
        </p:spPr>
      </p:sp>
      <p:sp>
        <p:nvSpPr>
          <p:cNvPr id="10" name="step-hex"/>
          <p:cNvSpPr/>
          <p:nvPr/>
        </p:nvSpPr>
        <p:spPr>
          <a:xfrm>
            <a:off x="685800" y="2296312"/>
            <a:ext cx="457200" cy="395935"/>
          </a:xfrm>
          <a:prstGeom prst="hexagon">
            <a:avLst/>
          </a:prstGeom>
          <a:solidFill>
            <a:srgbClr val="8C2F39"/>
          </a:solidFill>
          <a:ln/>
        </p:spPr>
      </p:sp>
      <p:sp>
        <p:nvSpPr>
          <p:cNvPr id="11" name="step-hex-label"/>
          <p:cNvSpPr txBox="1"/>
          <p:nvPr/>
        </p:nvSpPr>
        <p:spPr>
          <a:xfrm>
            <a:off x="685800" y="22963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Firstly, a zoo visit teaches a child to tick a list, not to understand an animal.</a:t>
            </a:r>
            <a:endParaRPr lang="en-US" sz="1800" dirty="0"/>
          </a:p>
        </p:txBody>
      </p:sp>
      <p:sp>
        <p:nvSpPr>
          <p:cNvPr id="13" name="step-box"/>
          <p:cNvSpPr/>
          <p:nvPr/>
        </p:nvSpPr>
        <p:spPr>
          <a:xfrm>
            <a:off x="548640" y="2869184"/>
            <a:ext cx="11094415" cy="867664"/>
          </a:xfrm>
          <a:prstGeom prst="roundRect">
            <a:avLst>
              <a:gd name="adj" fmla="val 8431"/>
            </a:avLst>
          </a:prstGeom>
          <a:solidFill>
            <a:srgbClr val="FFFFFF"/>
          </a:solidFill>
          <a:ln w="15875">
            <a:solidFill>
              <a:srgbClr val="C08D92"/>
            </a:solidFill>
            <a:prstDash val="solid"/>
          </a:ln>
        </p:spPr>
      </p:sp>
      <p:sp>
        <p:nvSpPr>
          <p:cNvPr id="14" name="step-hex"/>
          <p:cNvSpPr/>
          <p:nvPr/>
        </p:nvSpPr>
        <p:spPr>
          <a:xfrm>
            <a:off x="685800" y="3105048"/>
            <a:ext cx="457200" cy="395935"/>
          </a:xfrm>
          <a:prstGeom prst="hexagon">
            <a:avLst/>
          </a:prstGeom>
          <a:solidFill>
            <a:srgbClr val="8C2F39"/>
          </a:solidFill>
          <a:ln/>
        </p:spPr>
      </p:sp>
      <p:sp>
        <p:nvSpPr>
          <p:cNvPr id="15" name="step-hex-label"/>
          <p:cNvSpPr txBox="1"/>
          <p:nvPr/>
        </p:nvSpPr>
        <p:spPr>
          <a:xfrm>
            <a:off x="685800" y="31050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9184"/>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(anecdote): a six-year-old with a list that says ‘lions, tigers, penguins, the big snake’, ticking the tiger after thirty seconds at the glass.</a:t>
            </a:r>
            <a:endParaRPr lang="en-US" sz="1800" dirty="0"/>
          </a:p>
        </p:txBody>
      </p:sp>
      <p:sp>
        <p:nvSpPr>
          <p:cNvPr id="17" name="step-box"/>
          <p:cNvSpPr/>
          <p:nvPr/>
        </p:nvSpPr>
        <p:spPr>
          <a:xfrm>
            <a:off x="548640" y="3810000"/>
            <a:ext cx="11094415" cy="867664"/>
          </a:xfrm>
          <a:prstGeom prst="roundRect">
            <a:avLst>
              <a:gd name="adj" fmla="val 8431"/>
            </a:avLst>
          </a:prstGeom>
          <a:solidFill>
            <a:srgbClr val="FFFFFF"/>
          </a:solidFill>
          <a:ln w="15875">
            <a:solidFill>
              <a:srgbClr val="C08D92"/>
            </a:solidFill>
            <a:prstDash val="solid"/>
          </a:ln>
        </p:spPr>
      </p:sp>
      <p:sp>
        <p:nvSpPr>
          <p:cNvPr id="18" name="step-hex"/>
          <p:cNvSpPr/>
          <p:nvPr/>
        </p:nvSpPr>
        <p:spPr>
          <a:xfrm>
            <a:off x="685800" y="4045864"/>
            <a:ext cx="457200" cy="395935"/>
          </a:xfrm>
          <a:prstGeom prst="hexagon">
            <a:avLst/>
          </a:prstGeom>
          <a:solidFill>
            <a:srgbClr val="8C2F39"/>
          </a:solidFill>
          <a:ln/>
        </p:spPr>
      </p:sp>
      <p:sp>
        <p:nvSpPr>
          <p:cNvPr id="19" name="step-hex-label"/>
          <p:cNvSpPr txBox="1"/>
          <p:nvPr/>
        </p:nvSpPr>
        <p:spPr>
          <a:xfrm>
            <a:off x="685800" y="40458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10000"/>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Development: what has she learned? That a tiger is orange, and that it walks up and down. Nothing about where it lives, how it hunts, or why it paces. The list is complete; the understanding is empty.</a:t>
            </a:r>
            <a:endParaRPr lang="en-US" sz="1800" dirty="0"/>
          </a:p>
        </p:txBody>
      </p:sp>
      <p:sp>
        <p:nvSpPr>
          <p:cNvPr id="21" name="worked-answer"/>
          <p:cNvSpPr/>
          <p:nvPr/>
        </p:nvSpPr>
        <p:spPr>
          <a:xfrm>
            <a:off x="548640" y="4860544"/>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then an anecdote as evidence, then development that asks what the evidence proves: three moves, one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DAFOREST and the counter-argument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Refute does not mean ignore. Name the other view, then show why yours is stronger.</a:t>
            </a:r>
            <a:endParaRPr lang="en-US" sz="1800" dirty="0"/>
          </a:p>
        </p:txBody>
      </p:sp>
      <p:sp>
        <p:nvSpPr>
          <p:cNvPr id="11" name="bullet-card"/>
          <p:cNvSpPr/>
          <p:nvPr/>
        </p:nvSpPr>
        <p:spPr>
          <a:xfrm>
            <a:off x="548640" y="1389888"/>
            <a:ext cx="11094415" cy="1038183"/>
          </a:xfrm>
          <a:prstGeom prst="roundRect">
            <a:avLst>
              <a:gd name="adj" fmla="val 7046"/>
            </a:avLst>
          </a:prstGeom>
          <a:solidFill>
            <a:srgbClr val="F2E8E9"/>
          </a:solidFill>
          <a:ln/>
        </p:spPr>
      </p:sp>
      <p:sp>
        <p:nvSpPr>
          <p:cNvPr id="12" name="bullet-hex"/>
          <p:cNvSpPr/>
          <p:nvPr/>
        </p:nvSpPr>
        <p:spPr>
          <a:xfrm>
            <a:off x="676656" y="1742687"/>
            <a:ext cx="384048" cy="332586"/>
          </a:xfrm>
          <a:prstGeom prst="hexagon">
            <a:avLst/>
          </a:prstGeom>
          <a:solidFill>
            <a:srgbClr val="8C2F39"/>
          </a:solidFill>
          <a:ln/>
        </p:spPr>
      </p:sp>
      <p:sp>
        <p:nvSpPr>
          <p:cNvPr id="13" name="bullet"/>
          <p:cNvSpPr txBox="1"/>
          <p:nvPr/>
        </p:nvSpPr>
        <p:spPr>
          <a:xfrm>
            <a:off x="1143000" y="1389888"/>
            <a:ext cx="10408615"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DAFOREST is your teachers’ list of persuasive devices: Direct address; Alliteration and Anecdote; Facts; Opinions, your own and an expert’s; Rhetorical questions and Repetition; Emotive language; Statistics; Triples.</a:t>
            </a:r>
            <a:endParaRPr lang="en-US" sz="1800" dirty="0"/>
          </a:p>
        </p:txBody>
      </p:sp>
      <p:sp>
        <p:nvSpPr>
          <p:cNvPr id="14" name="bullet-card"/>
          <p:cNvSpPr/>
          <p:nvPr/>
        </p:nvSpPr>
        <p:spPr>
          <a:xfrm>
            <a:off x="548640" y="2574375"/>
            <a:ext cx="11094415" cy="1595967"/>
          </a:xfrm>
          <a:prstGeom prst="roundRect">
            <a:avLst>
              <a:gd name="adj" fmla="val 4584"/>
            </a:avLst>
          </a:prstGeom>
          <a:solidFill>
            <a:srgbClr val="F2E8E9"/>
          </a:solidFill>
          <a:ln/>
        </p:spPr>
      </p:sp>
      <p:sp>
        <p:nvSpPr>
          <p:cNvPr id="15" name="bullet-hex"/>
          <p:cNvSpPr/>
          <p:nvPr/>
        </p:nvSpPr>
        <p:spPr>
          <a:xfrm>
            <a:off x="676656" y="3206065"/>
            <a:ext cx="384048" cy="332586"/>
          </a:xfrm>
          <a:prstGeom prst="hexagon">
            <a:avLst/>
          </a:prstGeom>
          <a:solidFill>
            <a:srgbClr val="B8862B"/>
          </a:solidFill>
          <a:ln/>
        </p:spPr>
      </p:sp>
      <p:sp>
        <p:nvSpPr>
          <p:cNvPr id="16" name="bullet"/>
          <p:cNvSpPr txBox="1"/>
          <p:nvPr/>
        </p:nvSpPr>
        <p:spPr>
          <a:xfrm>
            <a:off x="1143000" y="2574375"/>
            <a:ext cx="10408615"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counter-argument is where many answers go thin. Give the other side a fair sentence: ‘Now, I know that some will argue that zoos protect endangered species, and that without them several would already be gone.’ Then turn with ‘However…’ and refute it: ‘However, a breeding programme does not need a gift shop, a café and two hundred people banging on the glass.’ A subordinating conjunction (‘Although…’, ‘While…’) is a neat way to hold both sides in one sentence before you come down on yours.</a:t>
            </a:r>
            <a:endParaRPr lang="en-US" sz="1800" dirty="0"/>
          </a:p>
        </p:txBody>
      </p:sp>
      <p:sp>
        <p:nvSpPr>
          <p:cNvPr id="17" name="bullet-card"/>
          <p:cNvSpPr/>
          <p:nvPr/>
        </p:nvSpPr>
        <p:spPr>
          <a:xfrm>
            <a:off x="548640" y="4316645"/>
            <a:ext cx="11094415" cy="1038183"/>
          </a:xfrm>
          <a:prstGeom prst="roundRect">
            <a:avLst>
              <a:gd name="adj" fmla="val 7046"/>
            </a:avLst>
          </a:prstGeom>
          <a:solidFill>
            <a:srgbClr val="F2E8E9"/>
          </a:solidFill>
          <a:ln/>
        </p:spPr>
      </p:sp>
      <p:sp>
        <p:nvSpPr>
          <p:cNvPr id="18" name="bullet-hex"/>
          <p:cNvSpPr/>
          <p:nvPr/>
        </p:nvSpPr>
        <p:spPr>
          <a:xfrm>
            <a:off x="676656" y="4669444"/>
            <a:ext cx="384048" cy="332586"/>
          </a:xfrm>
          <a:prstGeom prst="hexagon">
            <a:avLst/>
          </a:prstGeom>
          <a:solidFill>
            <a:srgbClr val="8C2F39"/>
          </a:solidFill>
          <a:ln/>
        </p:spPr>
      </p:sp>
      <p:sp>
        <p:nvSpPr>
          <p:cNvPr id="19" name="bullet"/>
          <p:cNvSpPr txBox="1"/>
          <p:nvPr/>
        </p:nvSpPr>
        <p:spPr>
          <a:xfrm>
            <a:off x="1143000" y="4316645"/>
            <a:ext cx="10408615"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Ambitious vocabulary lifts the argument. Your teachers’ word lists include pernicious, insidious, detrimental, corrosive and debilitating for harm, and vibrant, alluring, captivating and mesmerising for praise.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AO6: punctuation, sentences and vocabulary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hand in: one colon, one semicolon, one pair of brackets, three different openers. Tick them off.</a:t>
            </a:r>
            <a:endParaRPr lang="en-US" sz="1800" dirty="0"/>
          </a:p>
        </p:txBody>
      </p:sp>
      <p:sp>
        <p:nvSpPr>
          <p:cNvPr id="11" name="bullet-card"/>
          <p:cNvSpPr/>
          <p:nvPr/>
        </p:nvSpPr>
        <p:spPr>
          <a:xfrm>
            <a:off x="548640" y="1389888"/>
            <a:ext cx="11094415" cy="1614932"/>
          </a:xfrm>
          <a:prstGeom prst="roundRect">
            <a:avLst>
              <a:gd name="adj" fmla="val 4530"/>
            </a:avLst>
          </a:prstGeom>
          <a:solidFill>
            <a:srgbClr val="F2E8E9"/>
          </a:solidFill>
          <a:ln/>
        </p:spPr>
      </p:sp>
      <p:sp>
        <p:nvSpPr>
          <p:cNvPr id="12" name="bullet-hex"/>
          <p:cNvSpPr/>
          <p:nvPr/>
        </p:nvSpPr>
        <p:spPr>
          <a:xfrm>
            <a:off x="676656" y="2031061"/>
            <a:ext cx="384048" cy="332586"/>
          </a:xfrm>
          <a:prstGeom prst="hexagon">
            <a:avLst/>
          </a:prstGeom>
          <a:solidFill>
            <a:srgbClr val="8C2F39"/>
          </a:solidFill>
          <a:ln/>
        </p:spPr>
      </p:sp>
      <p:sp>
        <p:nvSpPr>
          <p:cNvPr id="13" name="bullet"/>
          <p:cNvSpPr txBox="1"/>
          <p:nvPr/>
        </p:nvSpPr>
        <p:spPr>
          <a:xfrm>
            <a:off x="1143000" y="1389888"/>
            <a:ext cx="10408615" cy="161493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Sixteen of the forty marks are for technical accuracy. The examiner wants secure sentence demarcation, a wide range of punctuation, a full range of sentence forms used for effect, Standard English with control of complex grammar, accurate spelling and interesting vocabulary.</a:t>
            </a:r>
            <a:endParaRPr lang="en-US" sz="2000" dirty="0"/>
          </a:p>
        </p:txBody>
      </p:sp>
      <p:sp>
        <p:nvSpPr>
          <p:cNvPr id="14" name="bullet-card"/>
          <p:cNvSpPr/>
          <p:nvPr/>
        </p:nvSpPr>
        <p:spPr>
          <a:xfrm>
            <a:off x="548640" y="3151124"/>
            <a:ext cx="11094415" cy="1924812"/>
          </a:xfrm>
          <a:prstGeom prst="roundRect">
            <a:avLst>
              <a:gd name="adj" fmla="val 3800"/>
            </a:avLst>
          </a:prstGeom>
          <a:solidFill>
            <a:srgbClr val="F2E8E9"/>
          </a:solidFill>
          <a:ln/>
        </p:spPr>
      </p:sp>
      <p:sp>
        <p:nvSpPr>
          <p:cNvPr id="15" name="bullet-hex"/>
          <p:cNvSpPr/>
          <p:nvPr/>
        </p:nvSpPr>
        <p:spPr>
          <a:xfrm>
            <a:off x="676656" y="3947237"/>
            <a:ext cx="384048" cy="332586"/>
          </a:xfrm>
          <a:prstGeom prst="hexagon">
            <a:avLst/>
          </a:prstGeom>
          <a:solidFill>
            <a:srgbClr val="B8862B"/>
          </a:solidFill>
          <a:ln/>
        </p:spPr>
      </p:sp>
      <p:sp>
        <p:nvSpPr>
          <p:cNvPr id="16" name="bullet"/>
          <p:cNvSpPr txBox="1"/>
          <p:nvPr/>
        </p:nvSpPr>
        <p:spPr>
          <a:xfrm>
            <a:off x="1143000" y="3151124"/>
            <a:ext cx="10408615" cy="192481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Vary your openers. Your teachers list: a prepositional phrase (‘Under the dripping canopy…’), a fronted adverbial (‘Slowly, …’), a subordinating conjunction (‘Although…’), a modal verb (‘We must…’), a temporal connective (‘After an hour…’), a present or past participle phrase (‘Watching the tiger turn…’, ‘Exhausted by the queue, …’), a sentence inversion (‘Not once did the tiger look at us.’) and a conditional (‘Had we stayed at home…’).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AO6: punctuation, sentences and vocabulary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F0E4E5"/>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Your teachers’ warm-up: rewrite a boring sentence using at least two DAFOREST techniques, two strong adjectives and punctuation that fits the mood. Boring sentence: ‘The zoo has a lot of animals.’</a:t>
            </a:r>
            <a:endParaRPr lang="en-US" sz="2200" dirty="0"/>
          </a:p>
        </p:txBody>
      </p:sp>
      <p:sp>
        <p:nvSpPr>
          <p:cNvPr id="9" name="step-box"/>
          <p:cNvSpPr/>
          <p:nvPr/>
        </p:nvSpPr>
        <p:spPr>
          <a:xfrm>
            <a:off x="548640" y="2996692"/>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3106420"/>
            <a:ext cx="530352" cy="459285"/>
          </a:xfrm>
          <a:prstGeom prst="hexagon">
            <a:avLst/>
          </a:prstGeom>
          <a:solidFill>
            <a:srgbClr val="8C2F39"/>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direct address and a rhetorical question: ‘Have you counted them?’</a:t>
            </a:r>
            <a:endParaRPr lang="en-US" sz="1800" dirty="0"/>
          </a:p>
        </p:txBody>
      </p:sp>
      <p:sp>
        <p:nvSpPr>
          <p:cNvPr id="13" name="arrow"/>
          <p:cNvSpPr/>
          <p:nvPr/>
        </p:nvSpPr>
        <p:spPr>
          <a:xfrm>
            <a:off x="4045610" y="3846576"/>
            <a:ext cx="274320" cy="274320"/>
          </a:xfrm>
          <a:prstGeom prst="rightArrow">
            <a:avLst/>
          </a:prstGeom>
          <a:solidFill>
            <a:srgbClr val="B8862B"/>
          </a:solidFill>
          <a:ln/>
        </p:spPr>
      </p:sp>
      <p:sp>
        <p:nvSpPr>
          <p:cNvPr id="14" name="step-box"/>
          <p:cNvSpPr/>
          <p:nvPr/>
        </p:nvSpPr>
        <p:spPr>
          <a:xfrm>
            <a:off x="4383938" y="2996692"/>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3106420"/>
            <a:ext cx="530352" cy="459285"/>
          </a:xfrm>
          <a:prstGeom prst="hexagon">
            <a:avLst/>
          </a:prstGeom>
          <a:solidFill>
            <a:srgbClr val="8C2F39"/>
          </a:solidFill>
          <a:ln/>
        </p:spPr>
      </p:sp>
      <p:sp>
        <p:nvSpPr>
          <p:cNvPr id="16" name="step-hex-label"/>
          <p:cNvSpPr txBox="1"/>
          <p:nvPr/>
        </p:nvSpPr>
        <p:spPr>
          <a:xfrm>
            <a:off x="452109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a triple and two strong adjectives: ‘restless tigers, bewildered giraffes, bored, blinking lions’.</a:t>
            </a:r>
            <a:endParaRPr lang="en-US" sz="1800" dirty="0"/>
          </a:p>
        </p:txBody>
      </p:sp>
      <p:sp>
        <p:nvSpPr>
          <p:cNvPr id="18" name="arrow"/>
          <p:cNvSpPr/>
          <p:nvPr/>
        </p:nvSpPr>
        <p:spPr>
          <a:xfrm>
            <a:off x="7880909" y="3846576"/>
            <a:ext cx="274320" cy="274320"/>
          </a:xfrm>
          <a:prstGeom prst="rightArrow">
            <a:avLst/>
          </a:prstGeom>
          <a:solidFill>
            <a:srgbClr val="B8862B"/>
          </a:solidFill>
          <a:ln/>
        </p:spPr>
      </p:sp>
      <p:sp>
        <p:nvSpPr>
          <p:cNvPr id="19" name="step-box"/>
          <p:cNvSpPr/>
          <p:nvPr/>
        </p:nvSpPr>
        <p:spPr>
          <a:xfrm>
            <a:off x="8219237" y="2996692"/>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3106420"/>
            <a:ext cx="530352" cy="459285"/>
          </a:xfrm>
          <a:prstGeom prst="hexagon">
            <a:avLst/>
          </a:prstGeom>
          <a:solidFill>
            <a:srgbClr val="8C2F39"/>
          </a:solidFill>
          <a:ln/>
        </p:spPr>
      </p:sp>
      <p:sp>
        <p:nvSpPr>
          <p:cNvPr id="21" name="step-hex-label"/>
          <p:cNvSpPr txBox="1"/>
          <p:nvPr/>
        </p:nvSpPr>
        <p:spPr>
          <a:xfrm>
            <a:off x="8356397"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Change the punctuation: a colon to introduce the list, a question mark, a short final sentence.</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Have you counted them? Behind the glass the zoo holds hundreds of animals: restless tigers, bewildered giraffes, bored, blinking lions. Every one of them is watching you.</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Put the argument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parts of a Question 5 argument in the order your teachers plan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First point, supported by an anecdote or personal example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Ending: return to your opening hook (full circle)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Counter-argument: what the other side says, and why they are wrong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 sum up why your view is right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Second point, supported by an expert opinion, facts or statistics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Hook the reader (a question, a scene, a triple or an appeal)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Put the argument in order</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Question 5 argument in the order your teachers plan them.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hook always comes first; the full-circle ending always comes last.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own points come before the other side’s.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Anecdote comes before expert evidence in your teachers’ plan.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conclusion sums up; the ending echoes the hook.</a:t>
            </a:r>
            <a:endParaRPr lang="en-US" sz="1800" dirty="0"/>
          </a:p>
        </p:txBody>
      </p:sp>
      <p:sp>
        <p:nvSpPr>
          <p:cNvPr id="17" name="col-Core"/>
          <p:cNvSpPr/>
          <p:nvPr/>
        </p:nvSpPr>
        <p:spPr>
          <a:xfrm>
            <a:off x="5490762" y="2593848"/>
            <a:ext cx="2938987" cy="3550920"/>
          </a:xfrm>
          <a:prstGeom prst="roundRect">
            <a:avLst>
              <a:gd name="adj" fmla="val 1867"/>
            </a:avLst>
          </a:prstGeom>
          <a:solidFill>
            <a:srgbClr val="E2CB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Hook, two points, the other side, sum up, echo the hook.</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8C2F39"/>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counter-argument placed just before the conclusion makes the conclusion more convincing, not less.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DAFOREST device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to the DAFOREST device it mainly uses.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(1 of 2): Name the DAFOREST device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to the DAFOREST device it mainly uses.</a:t>
            </a:r>
            <a:endParaRPr lang="en-US" sz="2400" dirty="0"/>
          </a:p>
        </p:txBody>
      </p:sp>
      <p:sp>
        <p:nvSpPr>
          <p:cNvPr id="11" name="match-card"/>
          <p:cNvSpPr/>
          <p:nvPr/>
        </p:nvSpPr>
        <p:spPr>
          <a:xfrm>
            <a:off x="777240" y="2468331"/>
            <a:ext cx="5135728" cy="1103559"/>
          </a:xfrm>
          <a:prstGeom prst="roundRect">
            <a:avLst>
              <a:gd name="adj" fmla="val 6629"/>
            </a:avLst>
          </a:prstGeom>
          <a:solidFill>
            <a:srgbClr val="F2E8E9"/>
          </a:solidFill>
          <a:ln/>
        </p:spPr>
      </p:sp>
      <p:sp>
        <p:nvSpPr>
          <p:cNvPr id="12" name="match-hex"/>
          <p:cNvSpPr/>
          <p:nvPr/>
        </p:nvSpPr>
        <p:spPr>
          <a:xfrm>
            <a:off x="850392" y="2853818"/>
            <a:ext cx="384048" cy="332586"/>
          </a:xfrm>
          <a:prstGeom prst="hexagon">
            <a:avLst/>
          </a:prstGeom>
          <a:solidFill>
            <a:srgbClr val="8C2F39"/>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 know that feeling, don’t you? The one where you look away.’</a:t>
            </a:r>
            <a:endParaRPr lang="en-US" sz="2200" dirty="0"/>
          </a:p>
        </p:txBody>
      </p:sp>
      <p:sp>
        <p:nvSpPr>
          <p:cNvPr id="15" name="match-card"/>
          <p:cNvSpPr/>
          <p:nvPr/>
        </p:nvSpPr>
        <p:spPr>
          <a:xfrm>
            <a:off x="6278728" y="2468331"/>
            <a:ext cx="5135728" cy="1103559"/>
          </a:xfrm>
          <a:prstGeom prst="roundRect">
            <a:avLst>
              <a:gd name="adj" fmla="val 6629"/>
            </a:avLst>
          </a:prstGeom>
          <a:solidFill>
            <a:srgbClr val="F4EDDF"/>
          </a:solidFill>
          <a:ln/>
        </p:spPr>
      </p:sp>
      <p:sp>
        <p:nvSpPr>
          <p:cNvPr id="16" name="match-hex"/>
          <p:cNvSpPr/>
          <p:nvPr/>
        </p:nvSpPr>
        <p:spPr>
          <a:xfrm>
            <a:off x="6351880" y="2853818"/>
            <a:ext cx="384048" cy="332586"/>
          </a:xfrm>
          <a:prstGeom prst="hexagon">
            <a:avLst/>
          </a:prstGeom>
          <a:solidFill>
            <a:srgbClr val="B8862B"/>
          </a:solidFill>
          <a:ln/>
        </p:spPr>
      </p:sp>
      <p:sp>
        <p:nvSpPr>
          <p:cNvPr id="17" name="match-hex-label"/>
          <p:cNvSpPr txBox="1"/>
          <p:nvPr/>
        </p:nvSpPr>
        <p:spPr>
          <a:xfrm>
            <a:off x="6351880"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statistic</a:t>
            </a:r>
            <a:endParaRPr lang="en-US" sz="2200" dirty="0"/>
          </a:p>
        </p:txBody>
      </p:sp>
      <p:sp>
        <p:nvSpPr>
          <p:cNvPr id="19" name="match-card"/>
          <p:cNvSpPr/>
          <p:nvPr/>
        </p:nvSpPr>
        <p:spPr>
          <a:xfrm>
            <a:off x="777240" y="3663330"/>
            <a:ext cx="5135728" cy="762691"/>
          </a:xfrm>
          <a:prstGeom prst="roundRect">
            <a:avLst>
              <a:gd name="adj" fmla="val 9591"/>
            </a:avLst>
          </a:prstGeom>
          <a:solidFill>
            <a:srgbClr val="F2E8E9"/>
          </a:solidFill>
          <a:ln/>
        </p:spPr>
      </p:sp>
      <p:sp>
        <p:nvSpPr>
          <p:cNvPr id="20" name="match-hex"/>
          <p:cNvSpPr/>
          <p:nvPr/>
        </p:nvSpPr>
        <p:spPr>
          <a:xfrm>
            <a:off x="850392" y="3878383"/>
            <a:ext cx="384048" cy="332586"/>
          </a:xfrm>
          <a:prstGeom prst="hexagon">
            <a:avLst/>
          </a:prstGeom>
          <a:solidFill>
            <a:srgbClr val="8C2F39"/>
          </a:solidFill>
          <a:ln/>
        </p:spPr>
      </p:sp>
      <p:sp>
        <p:nvSpPr>
          <p:cNvPr id="21" name="match-hex-label"/>
          <p:cNvSpPr txBox="1"/>
          <p:nvPr/>
        </p:nvSpPr>
        <p:spPr>
          <a:xfrm>
            <a:off x="850392"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4541368" cy="76269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‘Cold, cramped and cruel.’</a:t>
            </a:r>
            <a:endParaRPr lang="en-US" sz="2200" dirty="0"/>
          </a:p>
        </p:txBody>
      </p:sp>
      <p:sp>
        <p:nvSpPr>
          <p:cNvPr id="23" name="match-card"/>
          <p:cNvSpPr/>
          <p:nvPr/>
        </p:nvSpPr>
        <p:spPr>
          <a:xfrm>
            <a:off x="6278728" y="3663330"/>
            <a:ext cx="5135728" cy="762691"/>
          </a:xfrm>
          <a:prstGeom prst="roundRect">
            <a:avLst>
              <a:gd name="adj" fmla="val 9591"/>
            </a:avLst>
          </a:prstGeom>
          <a:solidFill>
            <a:srgbClr val="F4EDDF"/>
          </a:solidFill>
          <a:ln/>
        </p:spPr>
      </p:sp>
      <p:sp>
        <p:nvSpPr>
          <p:cNvPr id="24" name="match-hex"/>
          <p:cNvSpPr/>
          <p:nvPr/>
        </p:nvSpPr>
        <p:spPr>
          <a:xfrm>
            <a:off x="6351880" y="3878383"/>
            <a:ext cx="384048" cy="332586"/>
          </a:xfrm>
          <a:prstGeom prst="hexagon">
            <a:avLst/>
          </a:prstGeom>
          <a:solidFill>
            <a:srgbClr val="B8862B"/>
          </a:solidFill>
          <a:ln/>
        </p:spPr>
      </p:sp>
      <p:sp>
        <p:nvSpPr>
          <p:cNvPr id="25" name="match-hex-label"/>
          <p:cNvSpPr txBox="1"/>
          <p:nvPr/>
        </p:nvSpPr>
        <p:spPr>
          <a:xfrm>
            <a:off x="6351880"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63330"/>
            <a:ext cx="4541368" cy="76269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direct address</a:t>
            </a:r>
            <a:endParaRPr lang="en-US" sz="2200" dirty="0"/>
          </a:p>
        </p:txBody>
      </p:sp>
      <p:sp>
        <p:nvSpPr>
          <p:cNvPr id="27" name="match-card"/>
          <p:cNvSpPr/>
          <p:nvPr/>
        </p:nvSpPr>
        <p:spPr>
          <a:xfrm>
            <a:off x="777240" y="4517461"/>
            <a:ext cx="5135728" cy="1444427"/>
          </a:xfrm>
          <a:prstGeom prst="roundRect">
            <a:avLst>
              <a:gd name="adj" fmla="val 5064"/>
            </a:avLst>
          </a:prstGeom>
          <a:solidFill>
            <a:srgbClr val="F2E8E9"/>
          </a:solidFill>
          <a:ln/>
        </p:spPr>
      </p:sp>
      <p:sp>
        <p:nvSpPr>
          <p:cNvPr id="28" name="match-hex"/>
          <p:cNvSpPr/>
          <p:nvPr/>
        </p:nvSpPr>
        <p:spPr>
          <a:xfrm>
            <a:off x="850392" y="5073382"/>
            <a:ext cx="384048" cy="332586"/>
          </a:xfrm>
          <a:prstGeom prst="hexagon">
            <a:avLst/>
          </a:prstGeom>
          <a:solidFill>
            <a:srgbClr val="8C2F39"/>
          </a:solidFill>
          <a:ln/>
        </p:spPr>
      </p:sp>
      <p:sp>
        <p:nvSpPr>
          <p:cNvPr id="29" name="match-hex-label"/>
          <p:cNvSpPr txBox="1"/>
          <p:nvPr/>
        </p:nvSpPr>
        <p:spPr>
          <a:xfrm>
            <a:off x="850392" y="50733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517461"/>
            <a:ext cx="4541368" cy="14444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survey of two thousand visitors found that nearly half left within two hours.’</a:t>
            </a:r>
            <a:endParaRPr lang="en-US" sz="2200" dirty="0"/>
          </a:p>
        </p:txBody>
      </p:sp>
      <p:sp>
        <p:nvSpPr>
          <p:cNvPr id="31" name="match-card"/>
          <p:cNvSpPr/>
          <p:nvPr/>
        </p:nvSpPr>
        <p:spPr>
          <a:xfrm>
            <a:off x="6278728" y="4517461"/>
            <a:ext cx="5135728" cy="1444427"/>
          </a:xfrm>
          <a:prstGeom prst="roundRect">
            <a:avLst>
              <a:gd name="adj" fmla="val 5064"/>
            </a:avLst>
          </a:prstGeom>
          <a:solidFill>
            <a:srgbClr val="F4EDDF"/>
          </a:solidFill>
          <a:ln/>
        </p:spPr>
      </p:sp>
      <p:sp>
        <p:nvSpPr>
          <p:cNvPr id="32" name="match-hex"/>
          <p:cNvSpPr/>
          <p:nvPr/>
        </p:nvSpPr>
        <p:spPr>
          <a:xfrm>
            <a:off x="6351880" y="5073382"/>
            <a:ext cx="384048" cy="332586"/>
          </a:xfrm>
          <a:prstGeom prst="hexagon">
            <a:avLst/>
          </a:prstGeom>
          <a:solidFill>
            <a:srgbClr val="B8862B"/>
          </a:solidFill>
          <a:ln/>
        </p:spPr>
      </p:sp>
      <p:sp>
        <p:nvSpPr>
          <p:cNvPr id="33" name="match-hex-label"/>
          <p:cNvSpPr txBox="1"/>
          <p:nvPr/>
        </p:nvSpPr>
        <p:spPr>
          <a:xfrm>
            <a:off x="6351880" y="50733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517461"/>
            <a:ext cx="4541368" cy="14444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triple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(2 of 2): Name the DAFOREST device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to the DAFOREST device it mainly uses.</a:t>
            </a:r>
            <a:endParaRPr lang="en-US" sz="2400" dirty="0"/>
          </a:p>
        </p:txBody>
      </p:sp>
      <p:sp>
        <p:nvSpPr>
          <p:cNvPr id="11" name="match-card"/>
          <p:cNvSpPr/>
          <p:nvPr/>
        </p:nvSpPr>
        <p:spPr>
          <a:xfrm>
            <a:off x="777240" y="2468331"/>
            <a:ext cx="5135728" cy="1165352"/>
          </a:xfrm>
          <a:prstGeom prst="roundRect">
            <a:avLst>
              <a:gd name="adj" fmla="val 6277"/>
            </a:avLst>
          </a:prstGeom>
          <a:solidFill>
            <a:srgbClr val="F2E8E9"/>
          </a:solidFill>
          <a:ln/>
        </p:spPr>
      </p:sp>
      <p:sp>
        <p:nvSpPr>
          <p:cNvPr id="12" name="match-hex"/>
          <p:cNvSpPr/>
          <p:nvPr/>
        </p:nvSpPr>
        <p:spPr>
          <a:xfrm>
            <a:off x="850392" y="2884715"/>
            <a:ext cx="384048" cy="332586"/>
          </a:xfrm>
          <a:prstGeom prst="hexagon">
            <a:avLst/>
          </a:prstGeom>
          <a:solidFill>
            <a:srgbClr val="8C2F39"/>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‘Imagine a whole life measured out in nine paces.’</a:t>
            </a:r>
            <a:endParaRPr lang="en-US" sz="2200" dirty="0"/>
          </a:p>
        </p:txBody>
      </p:sp>
      <p:sp>
        <p:nvSpPr>
          <p:cNvPr id="15" name="match-card"/>
          <p:cNvSpPr/>
          <p:nvPr/>
        </p:nvSpPr>
        <p:spPr>
          <a:xfrm>
            <a:off x="6278728" y="2468331"/>
            <a:ext cx="5135728" cy="1165352"/>
          </a:xfrm>
          <a:prstGeom prst="roundRect">
            <a:avLst>
              <a:gd name="adj" fmla="val 6277"/>
            </a:avLst>
          </a:prstGeom>
          <a:solidFill>
            <a:srgbClr val="F4EDDF"/>
          </a:solidFill>
          <a:ln/>
        </p:spPr>
      </p:sp>
      <p:sp>
        <p:nvSpPr>
          <p:cNvPr id="16" name="match-hex"/>
          <p:cNvSpPr/>
          <p:nvPr/>
        </p:nvSpPr>
        <p:spPr>
          <a:xfrm>
            <a:off x="6351880" y="2884715"/>
            <a:ext cx="384048" cy="332586"/>
          </a:xfrm>
          <a:prstGeom prst="hexagon">
            <a:avLst/>
          </a:prstGeom>
          <a:solidFill>
            <a:srgbClr val="B8862B"/>
          </a:solidFill>
          <a:ln/>
        </p:spPr>
      </p:sp>
      <p:sp>
        <p:nvSpPr>
          <p:cNvPr id="17" name="match-hex-label"/>
          <p:cNvSpPr txBox="1"/>
          <p:nvPr/>
        </p:nvSpPr>
        <p:spPr>
          <a:xfrm>
            <a:off x="6351880"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expert opinion</a:t>
            </a:r>
            <a:endParaRPr lang="en-US" sz="2200" dirty="0"/>
          </a:p>
        </p:txBody>
      </p:sp>
      <p:sp>
        <p:nvSpPr>
          <p:cNvPr id="19" name="match-card"/>
          <p:cNvSpPr/>
          <p:nvPr/>
        </p:nvSpPr>
        <p:spPr>
          <a:xfrm>
            <a:off x="777240" y="3725123"/>
            <a:ext cx="5135728" cy="1506220"/>
          </a:xfrm>
          <a:prstGeom prst="roundRect">
            <a:avLst>
              <a:gd name="adj" fmla="val 4857"/>
            </a:avLst>
          </a:prstGeom>
          <a:solidFill>
            <a:srgbClr val="F2E8E9"/>
          </a:solidFill>
          <a:ln/>
        </p:spPr>
      </p:sp>
      <p:sp>
        <p:nvSpPr>
          <p:cNvPr id="20" name="match-hex"/>
          <p:cNvSpPr/>
          <p:nvPr/>
        </p:nvSpPr>
        <p:spPr>
          <a:xfrm>
            <a:off x="850392" y="4311941"/>
            <a:ext cx="384048" cy="332586"/>
          </a:xfrm>
          <a:prstGeom prst="hexagon">
            <a:avLst/>
          </a:prstGeom>
          <a:solidFill>
            <a:srgbClr val="8C2F39"/>
          </a:solidFill>
          <a:ln/>
        </p:spPr>
      </p:sp>
      <p:sp>
        <p:nvSpPr>
          <p:cNvPr id="21" name="match-hex-label"/>
          <p:cNvSpPr txBox="1"/>
          <p:nvPr/>
        </p:nvSpPr>
        <p:spPr>
          <a:xfrm>
            <a:off x="850392" y="4311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‘Professor Ali, who has studied big cats for thirty years, calls it a slow cruelty.’</a:t>
            </a:r>
            <a:endParaRPr lang="en-US" sz="2200" dirty="0"/>
          </a:p>
        </p:txBody>
      </p:sp>
      <p:sp>
        <p:nvSpPr>
          <p:cNvPr id="23" name="match-card"/>
          <p:cNvSpPr/>
          <p:nvPr/>
        </p:nvSpPr>
        <p:spPr>
          <a:xfrm>
            <a:off x="6278728" y="3725123"/>
            <a:ext cx="5135728" cy="1506220"/>
          </a:xfrm>
          <a:prstGeom prst="roundRect">
            <a:avLst>
              <a:gd name="adj" fmla="val 4857"/>
            </a:avLst>
          </a:prstGeom>
          <a:solidFill>
            <a:srgbClr val="F4EDDF"/>
          </a:solidFill>
          <a:ln/>
        </p:spPr>
      </p:sp>
      <p:sp>
        <p:nvSpPr>
          <p:cNvPr id="24" name="match-hex"/>
          <p:cNvSpPr/>
          <p:nvPr/>
        </p:nvSpPr>
        <p:spPr>
          <a:xfrm>
            <a:off x="6351880" y="4311941"/>
            <a:ext cx="384048" cy="332586"/>
          </a:xfrm>
          <a:prstGeom prst="hexagon">
            <a:avLst/>
          </a:prstGeom>
          <a:solidFill>
            <a:srgbClr val="B8862B"/>
          </a:solidFill>
          <a:ln/>
        </p:spPr>
      </p:sp>
      <p:sp>
        <p:nvSpPr>
          <p:cNvPr id="25" name="match-hex-label"/>
          <p:cNvSpPr txBox="1"/>
          <p:nvPr/>
        </p:nvSpPr>
        <p:spPr>
          <a:xfrm>
            <a:off x="6351880" y="4311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725123"/>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emotive language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8C2F39"/>
                </a:solidFill>
                <a:latin typeface="Cambria" pitchFamily="34" charset="0"/>
                <a:ea typeface="Cambria" pitchFamily="34" charset="-122"/>
                <a:cs typeface="Cambria" pitchFamily="34" charset="-120"/>
              </a:rPr>
              <a:t>Same task, three ways in: Name the DAFOREST device</a:t>
            </a:r>
            <a:endParaRPr lang="en-US" sz="28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the DAFOREST device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0E4E5"/>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speaking straight to the reader is direct address.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items in a row is a triple.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number from a survey or study is a statistic.</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Words chosen to make you feel (‘a whole life’, ‘measured out’) are emotive language.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named specialist’s view is an expert opinion.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E2CB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for ‘you’, for three, for a number, for feeling, for a name with a job.</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8C2F39"/>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one sentence that uses two DAFOREST devices at once, and name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rhetorical question used as a hook?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Zoos were first opened to the public in the nineteenth century.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 think zoos are wrong.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Please visit the zoo this weekend.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Have you ever paid to watch an animal be bored?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Put the argument in order</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Hook the reader (a question, a scene, a triple or an appeal)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First point, supported by an anecdote or personal example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Second point, supported by an expert opinion, facts or statistics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Counter-argument: what the other side says, and why they are wrong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Conclusion: sum up why your view is right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Ending: return to your opening hook (full circle)  (B)</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Hook; point with anecdote; point with expert evidence; counter-argument refuted; conclusion; full circle. The shape keeps the reader with you from first line to last.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DAFOREST device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‘You know that feeling, don’t you? The one where you look away.’  →  C  direct address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‘Cold, cramped and cruel.’  →  E  triple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survey of two thousand visitors found that nearly half left within two hours.’  →  A  statistic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‘Imagine a whole life measured out in nine paces.’  →  D  emotive language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‘Professor Ali, who has studied big cats for thirty years, calls it a slow cruelty.’  →  B  expert opinion</a:t>
            </a:r>
            <a:endParaRPr lang="en-US" sz="20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Direct address speaks to ‘you’; a triple comes in threes; a statistic is a number; emotive language makes the reader feel; an expert opinion comes with a name and a title. The survey and the professor are invented, as your teachers allow, but kept realistic.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rhetorical question used as a hook?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Have you ever paid to watch an animal be bored?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rhetorical question is asked for effect, not for an answer, and it makes the reader think before you have made your point.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6: Question 5: build the argument, craft the sentences</dc:title>
  <dc:subject>English Language · Year 10</dc:subject>
  <dc:creator>Dr Vitor Merissi de Carvalho</dc:creator>
  <cp:lastModifiedBy>Dr Vitor Merissi de Carvalho</cp:lastModifiedBy>
  <cp:revision>1</cp:revision>
  <dcterms:created xsi:type="dcterms:W3CDTF">2026-10-18T17:47:04Z</dcterms:created>
  <dcterms:modified xsi:type="dcterms:W3CDTF">2026-10-18T17:47:04Z</dcterms:modified>
</cp:coreProperties>
</file>