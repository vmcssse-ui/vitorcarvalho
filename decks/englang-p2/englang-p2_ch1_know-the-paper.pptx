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641c0949-b1db-9f21-324b-536b3aa38cee}">
          <p14:sldIdLst>
            <p14:sldId id="256"/>
          </p14:sldIdLst>
        </p14:section>
        <p14:section name="Gate" id="{44d374f6-57de-f1ac-979a-932cc1db3636}">
          <p14:sldIdLst>
            <p14:sldId id="257"/>
            <p14:sldId id="258"/>
          </p14:sldIdLst>
        </p14:section>
        <p14:section name="Pre-teach" id="{f799aa9a-7815-ceb9-f040-86374af10382}">
          <p14:sldIdLst>
            <p14:sldId id="259"/>
          </p14:sldIdLst>
        </p14:section>
        <p14:section name="Read-along" id="{4fb85f29-19ab-a4ee-15f2-518861daeaf5}">
          <p14:sldIdLst>
            <p14:sldId id="260"/>
            <p14:sldId id="261"/>
          </p14:sldIdLst>
        </p14:section>
        <p14:section name="Teach" id="{6320361d-99e9-e6c6-f576-83dca0a2bb07}">
          <p14:sldIdLst>
            <p14:sldId id="262"/>
            <p14:sldId id="263"/>
            <p14:sldId id="264"/>
            <p14:sldId id="265"/>
            <p14:sldId id="266"/>
            <p14:sldId id="267"/>
          </p14:sldIdLst>
        </p14:section>
        <p14:section name="Routes" id="{61027563-f8fc-b466-72bb-dc3ab5a40969}">
          <p14:sldIdLst>
            <p14:sldId id="268"/>
            <p14:sldId id="269"/>
            <p14:sldId id="270"/>
            <p14:sldId id="271"/>
          </p14:sldIdLst>
        </p14:section>
        <p14:section name="Close" id="{7664c8e3-9f8a-31b3-4d05-099d49caa4b0}">
          <p14:sldIdLst>
            <p14:sldId id="272"/>
          </p14:sldIdLst>
        </p14:section>
        <p14:section name="Answers" id="{c1e47725-1094-6aaa-dc87-2751a06efdca}">
          <p14:sldIdLst>
            <p14:sldId id="273"/>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1 of 6: Know the paper: two sources, three questions to ask, and your timings. You will know what Paper 2 asks, how to read two non-fiction sources with form, audience and purpose in mind, and how to split your 1 hour 45 minutes.
This deck covers the department's lessons: 1 (Language Paper 2: overview: What does Paper 2 involve, and how do form, audience and purpose help me read the two sources?); 5 (Mid-unit assessment: timings and Questions 1 to 4: How do I time the whole paper and answer Questions 1 to 4 in exam conditions?).
Read the big question aloud: "How do I read two writers’ viewpoints and perspectives, and how do I structure a non-fiction response of my own?"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How long is Paper 2, and how many marks is it worth?  →  B   1 hour 45 minutes, 80 marks
2. Which two kinds of source does Paper 2 give you?  →  B   One nineteenth-century non-fiction text and one modern non-fiction text
3. Before you read a source, ask about its form, its audience and its ___.  →  purpose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B   1 hour 45 minutes, 80 marks. Paper 2 lasts 1 hour 45 minutes and is worth 80 marks: 40 for reading and 40 for writing.
2. B   One nineteenth-century non-fiction text and one modern non-fiction text. Both sources are non-fiction, linked by topic: one from the nineteenth century and one modern.
3. purpose. Form, audience and purpose are the three questions to ask before you read.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non-fiction: writing about real people, places, events and ideas. Example: "A letter, a speech and a newspaper article are all non-fiction."
• source: one of the two texts printed in the exam. Example: "Source A is modern and Source B is from the nineteenth century."
• form: the kind of text it is. Example: "The form of Source B is a letter to a sister."
• audience: the people a text is written for. Example: "The audience for a school magazine is pupils and their families."
• purpose: what the writer wants the writing to do. Example: "The purpose of a review is to inform and to help you decide."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1–7 of 14:
1. Paper 2 is one exam that lasts one hour and forty-five minutes.
2. It is worth half of your English Language GCSE.
3. Section A is reading and Section B is writing.
4. You read two non-fiction sources.
5. One was written in the nineteenth century.
6. The other is modern.
7. They share a topic, but the writers see it differently.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8–14 of 14:
8. Before you read, ask three questions.
9. What form is it: a letter, an article, a speech?
10. Who is the audience?
11. What is the purpose: to inform, to entertain, to persuade, to argue?
12. Spend thirteen minutes reading both sources and the questions.
13. Then answer the four reading questions in order.
14. Keep forty-five minutes for Question 5.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What is in the paper. Say it in your own words, then check understanding with a quick question: ask a pupil from the pre-teach group first, since they met these words and ideas before the lesson. Pupils try to recall before you re-explain.
Paper 2 is called ‘Writers’ viewpoints and perspectives’. It is half of your English Language GCSE and lasts 1 hour 45 minutes. Section A is reading: you are given two non-fiction sources, Source A and Source B, and you answer four questions about them, worth 40 marks together. Section B is writing: one task, Question 5, also worth 40 marks.
The two sources are always linked by a topic, and one is always from the nineteenth century while the other is modern. Each has a short introduction in a box above it. Read that box first: it tells you the form (a letter, a diary, an article, a speech), who wrote it and when. That is your first clue to the audience and the purpose.
Question 1 (4 marks) asks you to find true statements about the opening of Source A. Question 2 (8 marks) asks what you can infer about differences or similarities between the two sources. Question 3 (12 marks) asks how one writer uses language. Question 4 (16 marks) asks you to compare the writers’ perspectives. Question 5 (40 marks) asks you to write your own non-fiction: 24 marks are for content and organisation, and 16 are for technical accuracy.
Tip: Paper 2 is 80 marks: 40 for reading, 40 for writing. The marks climb through Section A, so your time should climb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Timing your 1 hour 45 minutes. Say it in your own words, then check understanding with a quick question: ask a pupil from the pre-teach group first, since they met these words and ideas before the lesson. Pupils try to recall before you re-explain.
Your teachers’ plan is this: 13 minutes to read the questions and both sources, annotating as you go if that helps; 2 minutes for Question 1; 10 for Question 2; 15 for Question 3; 20 for Question 4; and 45 for Question 5. The 45 minutes for Question 5 includes about 5 minutes to plan and a few minutes at the end to check.
Notice how the time grows with the marks. Question 1 is worth 4 marks and takes 2 minutes; Question 4 is worth 16 and takes 20. If you find yourself still on Question 2 after a quarter of an hour, stop, write your final sentence and move on. Marks you never reach cannot be earned.
Worked example — model it step by step, thinking aloud: Check that the department’s timings fit the exam exactly. (1) Reading both sources and the questions: 13 minutes. (2) Questions 1 to 4: 2 + 10 + 15 + 20 = 47 minutes. (3) Question 5, including planning and checking: 45 minutes. Answer: 13 + 2 + 10 + 15 + 20 + 45 = 105 minutes, which is exactly 1 hour 45 minutes..
Tip: Write your finish time for each question in the margin before you start writing.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Three questions before you read: form, audience, purpose. Say it in your own words, then check understanding with a quick question: ask a pupil from the pre-teach group first, since they met these words and ideas before the lesson. Pupils try to recall before you re-explain.
Non-fiction is written by somebody, for somebody, to do something. Before you read a source, ask: What form is it (an article, a review, a letter, a speech)? Who is the intended audience? What is the purpose: to inform, to advise, to entertain, to persuade, to argue? The box above each source answers most of this for you.
Here is the box for Source A, the modern text you will use throughout this unit: ‘Source A is an original article published on a travel website in 2024. The writer describes a day at a wildlife park with her six-year-old daughter.’ Form: an online article, written in the first person like a personal story. Audience: adults, especially parents and people who like days out. Purpose: to entertain, and to make the reader think.
Now read the opening of Source A, ‘Behind the Glass’. As you read, ask what is happening at the beginning, and how the writer makes it engaging.
Quotation: "It is nine o’clock on a wet Saturday in March, and I am standing in a queue with two hundred other people, waiting for a wildlife park to open. My daughter, who is six, has been awake since five. She has a plastic giraffe in one hand and a list in the other. The list says: lions, tigers, penguins, the big snake. We have driven for two hours to be here. When the gates finally swing back, the crowd moves as one, past the gift shop and the café and a sign promising a day we will never forget. The first enclosure is the meerkats. Twenty of them sit upright on a mound of sand, turning their heads together like a crowd at a tennis match, and my daughter laughs so hard she drops the giraffe. I laugh too. It is impossible not to. For the first hour, I am completely happy." (Source A, ‘Behind the Glass’, Part 1 — original passage written for Ad Astra). Read it aloud; ask what it shows.
Tip: If the box says ‘letter’, you already know the audience is one person and the register is personal.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Three questions before you read: form, audience, purpose. Say it in your own words, then check understanding with a quick question: ask a pupil from the pre-teach group first, since they met these words and ideas before the lesson. Pupils try to recall before you re-explain.
Non-fiction is written by somebody, for somebody, to do something. Before you read a source, ask: What form is it (an article, a review, a letter, a speech)? Who is the intended audience? What is the purpose: to inform, to advise, to entertain, to persuade, to argue? The box above each source answers most of this for you.
Here is the box for Source A, the modern text you will use throughout this unit: ‘Source A is an original article published on a travel website in 2024. The writer describes a day at a wildlife park with her six-year-old daughter.’ Form: an online article, written in the first person like a personal story. Audience: adults, especially parents and people who like days out. Purpose: to entertain, and to make the reader think.
Now read the opening of Source A, ‘Behind the Glass’. As you read, ask what is happening at the beginning, and how the writer makes it engaging.
Quotation: "It is nine o’clock on a wet Saturday in March, and I am standing in a queue with two hundred other people, waiting for a wildlife park to open. My daughter, who is six, has been awake since five. She has a plastic giraffe in one hand and a list in the other. The list says: lions, tigers, penguins, the big snake. We have driven for two hours to be here. When the gates finally swing back, the crowd moves as one, past the gift shop and the café and a sign promising a day we will never forget. The first enclosure is the meerkats. Twenty of them sit upright on a mound of sand, turning their heads together like a crowd at a tennis match, and my daughter laughs so hard she drops the giraffe. I laugh too. It is impossible not to. For the first hour, I am completely happy." (Source A, ‘Behind the Glass’, Part 1 — original passage written for Ad Astra). Read it aloud; ask what it shows.
Tip: If the box says ‘letter’, you already know the audience is one person and the register is personal.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Reading the two sources: beginning, middle, end. Say it in your own words, then check understanding with a quick question: ask a pupil from the pre-teach group first, since they met these words and ideas before the lesson. Pupils try to recall before you re-explain.
Spend about five minutes on Source A. Read with the questions in mind: what is happening at the beginning, in the middle and at the end? How has the writer tried to make it engaging? Underline language that stands out, and notice where the writer’s feelings change. Then do the same for Source B.
Source B is the nineteenth-century text. Its box reads: ‘Source B is an original letter written in 1854 by a young woman, Charlotte, to her sister Harriet, after an afternoon at the Zoological Gardens in London.’ Form: a personal letter. Audience: one reader, her sister. Purpose: to entertain her and to share her excitement. Read its opening below, then write a five-bullet summary of each source. You will use those summaries for Questions 2 and 4.
Quotation: "My dear Harriet, You will scarcely believe where I have spent this afternoon, and in what company. Aunt Lydia, who declares that fresh air is the only physician she trusts, carried us off after luncheon to the Zoological Gardens, and I confess I have never passed three hours more agreeably in my life. The weather was exceedingly fine. The walks were thronged with ladies in their best bonnets and gentlemen who had plainly come to be looked at rather than to look, and the band played so loudly beside the bear pit that the poor beast sat down and covered its ears. We saw the elephant, who took a bun from my very hand with a trunk as gentle as a kitten; we saw the giraffes, which Aunt Lydia pronounced to be an impossibility; and we saw a camel, which regarded us with such an expression of contempt that Cousin Edward laughed until he was obliged to sit upon a bench." (Source B, Charlotte’s letter (1854), Part 1 — original passage written for Ad Astra). Read it aloud; ask what it shows.
Tip: You cannot answer Question 4 unless you know how each writer feels at the start and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Reading the two sources: beginning, middle, end. Say it in your own words, then check understanding with a quick question: ask a pupil from the pre-teach group first, since they met these words and ideas before the lesson. Pupils try to recall before you re-explain.
Spend about five minutes on Source A. Read with the questions in mind: what is happening at the beginning, in the middle and at the end? How has the writer tried to make it engaging? Underline language that stands out, and notice where the writer’s feelings change. Then do the same for Source B.
Source B is the nineteenth-century text. Its box reads: ‘Source B is an original letter written in 1854 by a young woman, Charlotte, to her sister Harriet, after an afternoon at the Zoological Gardens in London.’ Form: a personal letter. Audience: one reader, her sister. Purpose: to entertain her and to share her excitement. Read its opening below, then write a five-bullet summary of each source. You will use those summaries for Questions 2 and 4.
Quotation: "My dear Harriet, You will scarcely believe where I have spent this afternoon, and in what company. Aunt Lydia, who declares that fresh air is the only physician she trusts, carried us off after luncheon to the Zoological Gardens, and I confess I have never passed three hours more agreeably in my life. The weather was exceedingly fine. The walks were thronged with ladies in their best bonnets and gentlemen who had plainly come to be looked at rather than to look, and the band played so loudly beside the bear pit that the poor beast sat down and covered its ears. We saw the elephant, who took a bun from my very hand with a trunk as gentle as a kitten; we saw the giraffes, which Aunt Lydia pronounced to be an impossibility; and we saw a camel, which regarded us with such an expression of contempt that Cousin Edward laughed until he was obliged to sit upon a bench." (Source B, Charlotte’s letter (1854), Part 1 — original passage written for Ad Astra). Read it aloud; ask what it shows.
Tip: You cannot answer Question 4 unless you know how each writer feels at the start and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Match each question to its job.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Paper 2 question to what it asks you to do.
Support — work through the steps with the group: (1) Questions 1 to 4 are reading; Question 5 is writing. (2) Question 1 is the quickest: true statements about Source A only. (3) Question 2 is the first one that uses both sources: inference. (4) Question 3 is language in one source; Question 4 is perspectives across both.
Parallel worked example for Support (model it, do not give the task answer): Which questions use both sources, and which use only one? Question 1 names lines in Source A only.; Question 3 names lines in one source only.; Questions 2 and 4 ask about both.. Answer: Questions 2 and 4 use both sources; Questions 1 and 3 use one..
Core — reveal the hint only on request: Language is Question 3; perspectives are Question 4. Both sources appear in the even-numbered questions.
Stretch — no help; when finished: Explain why Question 4 needs the skills from both Question 2 and Question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Match each question to its job.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Paper 2 question to what it asks you to do.
Support — work through the steps with the group: (1) Questions 1 to 4 are reading; Question 5 is writing. (2) Question 1 is the quickest: true statements about Source A only. (3) Question 2 is the first one that uses both sources: inference. (4) Question 3 is language in one source; Question 4 is perspectives across both.
Parallel worked example for Support (model it, do not give the task answer): Which questions use both sources, and which use only one? Question 1 names lines in Source A only.; Question 3 names lines in one source only.; Questions 2 and 4 ask about both.. Answer: Questions 2 and 4 use both sources; Questions 1 and 3 use one..
Core — reveal the hint only on request: Language is Question 3; perspectives are Question 4. Both sources appear in the even-numbered questions.
Stretch — no help; when finished: Explain why Question 4 needs the skills from both Question 2 and Question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Plan your time.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Put the stages of the exam in the order you should do them.
Support — work through the steps with the group: (1) Reading always comes before answering. (2) The reading questions go in number order, and the time grows with the marks. (3) Section B, Question 5, comes last and takes the longest.
Parallel worked example for Support (model it, do not give the task answer): Order these steps for a homework essay: write it, plan it, read the task, check it. You must know the task first.; Then plan, then write.; Checking is always last.. Answer: Read the task, plan it, write it, check it..
Core — reveal the hint only on request: Thirteen minutes of reading first, then 2, 10, 15, 20, and finally 45.
Stretch — no help; when finished: Some pupils spend 20 minutes on Question 2 and run out of time for Question 4. Explain, using the marks, why that is a bad trade.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Plan your time.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Put the stages of the exam in the order you should do them.
Support — work through the steps with the group: (1) Reading always comes before answering. (2) The reading questions go in number order, and the time grows with the marks. (3) Section B, Question 5, comes last and takes the longest.
Parallel worked example for Support (model it, do not give the task answer): Order these steps for a homework essay: write it, plan it, read the task, check it. You must know the task first.; Then plan, then write.; Checking is always last.. Answer: Read the task, plan it, write it, check it..
Core — reveal the hint only on request: Thirteen minutes of reading first, then 2, 10, 15, 20, and finally 45.
Stretch — no help; when finished: Some pupils spend 20 minutes on Question 2 and run out of time for Question 4. Explain, using the marks, why that is a bad trade.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Source B is a letter from Charlotte to her sister Harriet, written in 1854. Which line describes its form, audience and purpose best?
Answer: B   A personal letter to one reader, written to entertain and share excitement. A letter to a sister has one reader and a personal register. Charlotte’s purpose is to entertain Harriet and share her delight.
Source of this question: module 3 task ("Form, audience, purpose: Source B") from the manifest.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Match each question to its job. Reveal the answer; pupils mark their own work in a different colour, then read the "why" together. Same destination for every lane, so one answer serves the whole class.
Answer: Question 1  →  A  Choose the true statements about the opening of Source A; Question 2  →  B  Infer the differences (or similarities) between the two sources; Question 3  →  E  Analyse how one writer uses language; Question 4  →  D  Compare the writers’ perspectives and comment on their methods; Question 5  →  C  Write your own non-fiction, giving your point of view
Why: Q1 finds true statements, Q2 infers across both sources, Q3 analyses language, Q4 compares perspectives, and Q5 is your own writing.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Plan your time. Reveal the answer; pupils mark their own work in a different colour, then read the "why" together. Same destination for every lane, so one answer serves the whole class.
Answer: Read the questions and both sources (13 minutes)  (F); Question 1: true statements (2 minutes)  (C); Question 2: inference (10 minutes)  (D); Question 3: language (15 minutes)  (A); Question 4: perspectives (20 minutes)  (E); Question 5: plan, write and check (45 minutes)  (B)
Why: Read (13), then Questions 1 to 4 (2, 10, 15, 20), then Question 5 (45): 105 minutes, which is 1 hour 45 minutes.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B   A personal letter to one reader, written to entertain and share excitement
Why: A letter to a sister has one reader and a personal register. Charlotte’s purpose is to entertain Harriet and share her delight.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E2CBCE"/>
          </a:solidFill>
          <a:ln w="12700">
            <a:solidFill>
              <a:srgbClr val="E2CBCE"/>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English Language · Year 10 · Language Paper 2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E2CBCE"/>
          </a:solidFill>
          <a:ln w="12700">
            <a:solidFill>
              <a:srgbClr val="E2CBCE"/>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English Language · Year 10 · Language Paper 2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8C2F39"/>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E5CFD1"/>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8C2F39"/>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1</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8C2F39"/>
                </a:solidFill>
                <a:latin typeface="Calibri" pitchFamily="34" charset="0"/>
                <a:ea typeface="Calibri" pitchFamily="34" charset="-122"/>
                <a:cs typeface="Calibri" pitchFamily="34" charset="-120"/>
              </a:rPr>
              <a:t>English Language · Year 10</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1/6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Language Paper 2 · AQA 8700</a:t>
            </a:r>
            <a:endParaRPr lang="en-US" sz="1800" dirty="0"/>
          </a:p>
        </p:txBody>
      </p:sp>
      <p:sp>
        <p:nvSpPr>
          <p:cNvPr id="10" name="deck-title"/>
          <p:cNvSpPr txBox="1"/>
          <p:nvPr/>
        </p:nvSpPr>
        <p:spPr>
          <a:xfrm>
            <a:off x="548640" y="2031238"/>
            <a:ext cx="5287975" cy="1513840"/>
          </a:xfrm>
          <a:prstGeom prst="rect">
            <a:avLst/>
          </a:prstGeom>
          <a:noFill/>
          <a:ln/>
        </p:spPr>
        <p:txBody>
          <a:bodyPr wrap="square" lIns="63500" tIns="63500" rIns="63500" bIns="63500" rtlCol="0" anchor="t"/>
          <a:lstStyle/>
          <a:p>
            <a:pPr algn="l" indent="0" marL="0">
              <a:buNone/>
            </a:pPr>
            <a:r>
              <a:rPr lang="en-US" sz="2800" b="1" dirty="0">
                <a:solidFill>
                  <a:srgbClr val="1E2229"/>
                </a:solidFill>
                <a:latin typeface="Cambria" pitchFamily="34" charset="0"/>
                <a:ea typeface="Cambria" pitchFamily="34" charset="-122"/>
                <a:cs typeface="Cambria" pitchFamily="34" charset="-120"/>
              </a:rPr>
              <a:t>Know the paper: two sources, three questions to ask, and your timings</a:t>
            </a:r>
            <a:endParaRPr lang="en-US" sz="2800" dirty="0"/>
          </a:p>
        </p:txBody>
      </p:sp>
      <p:sp>
        <p:nvSpPr>
          <p:cNvPr id="11" name="lessons-card"/>
          <p:cNvSpPr/>
          <p:nvPr/>
        </p:nvSpPr>
        <p:spPr>
          <a:xfrm>
            <a:off x="548640" y="3773678"/>
            <a:ext cx="5287975" cy="1638300"/>
          </a:xfrm>
          <a:prstGeom prst="roundRect">
            <a:avLst>
              <a:gd name="adj" fmla="val 4465"/>
            </a:avLst>
          </a:prstGeom>
          <a:solidFill>
            <a:srgbClr val="F0E4E5"/>
          </a:solidFill>
          <a:ln/>
        </p:spPr>
      </p:sp>
      <p:sp>
        <p:nvSpPr>
          <p:cNvPr id="12" name="lessons"/>
          <p:cNvSpPr txBox="1"/>
          <p:nvPr/>
        </p:nvSpPr>
        <p:spPr>
          <a:xfrm>
            <a:off x="685800" y="3865118"/>
            <a:ext cx="5013655" cy="145542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8C2F39"/>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1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Language Paper 2: overview</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5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Mid-unit assessment: timings and Questions 1 to 4</a:t>
            </a:r>
            <a:endParaRPr lang="en-US" sz="2000" dirty="0"/>
          </a:p>
        </p:txBody>
      </p:sp>
      <p:sp>
        <p:nvSpPr>
          <p:cNvPr id="13" name="plate-frame"/>
          <p:cNvSpPr/>
          <p:nvPr/>
        </p:nvSpPr>
        <p:spPr>
          <a:xfrm>
            <a:off x="6248095" y="411480"/>
            <a:ext cx="5394960" cy="3130677"/>
          </a:xfrm>
          <a:prstGeom prst="rect">
            <a:avLst/>
          </a:prstGeom>
          <a:solidFill>
            <a:srgbClr val="F0E6D2"/>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English Language, Year 10">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F0E4E5"/>
          </a:solidFill>
          <a:ln w="12700">
            <a:solidFill>
              <a:srgbClr val="CEA6AA"/>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8C2F39"/>
                </a:solidFill>
                <a:latin typeface="Calibri" pitchFamily="34" charset="0"/>
                <a:ea typeface="Calibri" pitchFamily="34" charset="-122"/>
                <a:cs typeface="Calibri" pitchFamily="34" charset="-120"/>
              </a:rPr>
              <a:t>Big question</a:t>
            </a:r>
            <a:endParaRPr lang="en-US" sz="1800" dirty="0"/>
          </a:p>
          <a:p>
            <a:pPr algn="l" indent="0" marL="0">
              <a:buNone/>
            </a:pPr>
            <a:r>
              <a:rPr lang="en-US" sz="2000" i="1" dirty="0">
                <a:solidFill>
                  <a:srgbClr val="1E2229"/>
                </a:solidFill>
                <a:latin typeface="Cambria" pitchFamily="34" charset="0"/>
                <a:ea typeface="Cambria" pitchFamily="34" charset="-122"/>
                <a:cs typeface="Cambria" pitchFamily="34" charset="-120"/>
              </a:rPr>
              <a:t>How do I read two writers’ viewpoints and perspectives, and how do I structure a non-fiction response of my own?</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2636444" cy="4754880"/>
          </a:xfrm>
          <a:prstGeom prst="roundRect">
            <a:avLst>
              <a:gd name="adj" fmla="val 2081"/>
            </a:avLst>
          </a:prstGeom>
          <a:solidFill>
            <a:srgbClr val="F4EAEB"/>
          </a:solidFill>
          <a:ln w="12700">
            <a:solidFill>
              <a:srgbClr val="D3B0B4"/>
            </a:solidFill>
            <a:prstDash val="solid"/>
          </a:ln>
        </p:spPr>
      </p:sp>
      <p:sp>
        <p:nvSpPr>
          <p:cNvPr id="8" name="card-hex"/>
          <p:cNvSpPr/>
          <p:nvPr/>
        </p:nvSpPr>
        <p:spPr>
          <a:xfrm>
            <a:off x="731520" y="1572768"/>
            <a:ext cx="640080" cy="554309"/>
          </a:xfrm>
          <a:prstGeom prst="hexagon">
            <a:avLst/>
          </a:prstGeom>
          <a:solidFill>
            <a:srgbClr val="8C2F39"/>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2270684" cy="3651931"/>
          </a:xfrm>
          <a:prstGeom prst="rect">
            <a:avLst/>
          </a:prstGeom>
          <a:noFill/>
          <a:ln/>
        </p:spPr>
        <p:txBody>
          <a:bodyPr wrap="square" lIns="63500" tIns="63500" rIns="63500" bIns="63500" rtlCol="0" anchor="t"/>
          <a:lstStyle/>
          <a:p>
            <a:pPr algn="l" indent="0" marL="0">
              <a:spcAft>
                <a:spcPts val="1000"/>
              </a:spcAft>
              <a:buNone/>
            </a:pPr>
            <a:r>
              <a:rPr lang="en-US" sz="2000" b="1" dirty="0">
                <a:solidFill>
                  <a:srgbClr val="1E2229"/>
                </a:solidFill>
                <a:latin typeface="Calibri" pitchFamily="34" charset="0"/>
                <a:ea typeface="Calibri" pitchFamily="34" charset="-122"/>
                <a:cs typeface="Calibri" pitchFamily="34" charset="-120"/>
              </a:rPr>
              <a:t>How long is Paper 2, and how many marks is it worth?</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1 hour, 60 marks</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1 hour 45 minutes, 80 marks</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2 hours, 80 marks</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1 hour 45 minutes, 100 marks</a:t>
            </a:r>
            <a:endParaRPr lang="en-US" sz="2000" dirty="0"/>
          </a:p>
        </p:txBody>
      </p:sp>
      <p:sp>
        <p:nvSpPr>
          <p:cNvPr id="12" name="card"/>
          <p:cNvSpPr/>
          <p:nvPr/>
        </p:nvSpPr>
        <p:spPr>
          <a:xfrm>
            <a:off x="3459404" y="1389888"/>
            <a:ext cx="5272888" cy="4754880"/>
          </a:xfrm>
          <a:prstGeom prst="roundRect">
            <a:avLst>
              <a:gd name="adj" fmla="val 1154"/>
            </a:avLst>
          </a:prstGeom>
          <a:solidFill>
            <a:srgbClr val="F4EAEB"/>
          </a:solidFill>
          <a:ln w="12700">
            <a:solidFill>
              <a:srgbClr val="D3B0B4"/>
            </a:solidFill>
            <a:prstDash val="solid"/>
          </a:ln>
        </p:spPr>
      </p:sp>
      <p:sp>
        <p:nvSpPr>
          <p:cNvPr id="13" name="card-hex"/>
          <p:cNvSpPr/>
          <p:nvPr/>
        </p:nvSpPr>
        <p:spPr>
          <a:xfrm>
            <a:off x="3642284" y="1572768"/>
            <a:ext cx="640080" cy="554309"/>
          </a:xfrm>
          <a:prstGeom prst="hexagon">
            <a:avLst/>
          </a:prstGeom>
          <a:solidFill>
            <a:srgbClr val="8C2F39"/>
          </a:solidFill>
          <a:ln/>
        </p:spPr>
      </p:sp>
      <p:sp>
        <p:nvSpPr>
          <p:cNvPr id="14" name="card-hex-label"/>
          <p:cNvSpPr txBox="1"/>
          <p:nvPr/>
        </p:nvSpPr>
        <p:spPr>
          <a:xfrm>
            <a:off x="3642284"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4373804" y="1572768"/>
            <a:ext cx="4267048" cy="566928"/>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Choose one</a:t>
            </a:r>
            <a:endParaRPr lang="en-US" sz="1800" dirty="0"/>
          </a:p>
        </p:txBody>
      </p:sp>
      <p:sp>
        <p:nvSpPr>
          <p:cNvPr id="16" name="card-body"/>
          <p:cNvSpPr txBox="1"/>
          <p:nvPr/>
        </p:nvSpPr>
        <p:spPr>
          <a:xfrm>
            <a:off x="3642284" y="2355677"/>
            <a:ext cx="4907128" cy="3651931"/>
          </a:xfrm>
          <a:prstGeom prst="rect">
            <a:avLst/>
          </a:prstGeom>
          <a:noFill/>
          <a:ln/>
        </p:spPr>
        <p:txBody>
          <a:bodyPr wrap="square" lIns="63500" tIns="63500" rIns="63500" bIns="63500" rtlCol="0" anchor="t"/>
          <a:lstStyle/>
          <a:p>
            <a:pPr algn="l" indent="0" marL="0">
              <a:spcAft>
                <a:spcPts val="1000"/>
              </a:spcAft>
              <a:buNone/>
            </a:pPr>
            <a:r>
              <a:rPr lang="en-US" sz="2200" b="1" dirty="0">
                <a:solidFill>
                  <a:srgbClr val="1E2229"/>
                </a:solidFill>
                <a:latin typeface="Calibri" pitchFamily="34" charset="0"/>
                <a:ea typeface="Calibri" pitchFamily="34" charset="-122"/>
                <a:cs typeface="Calibri" pitchFamily="34" charset="-120"/>
              </a:rPr>
              <a:t>Which two kinds of source does Paper 2 give you?</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Two fiction extracts from the twentieth century</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One nineteenth-century non-fiction text and one modern non-fiction text</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Two poems on the same theme</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One fiction extract and one non-fiction extract</a:t>
            </a:r>
            <a:endParaRPr lang="en-US" sz="2200" dirty="0"/>
          </a:p>
        </p:txBody>
      </p:sp>
      <p:sp>
        <p:nvSpPr>
          <p:cNvPr id="17" name="card"/>
          <p:cNvSpPr/>
          <p:nvPr/>
        </p:nvSpPr>
        <p:spPr>
          <a:xfrm>
            <a:off x="9006611" y="1389888"/>
            <a:ext cx="2636444" cy="4754880"/>
          </a:xfrm>
          <a:prstGeom prst="roundRect">
            <a:avLst>
              <a:gd name="adj" fmla="val 2081"/>
            </a:avLst>
          </a:prstGeom>
          <a:solidFill>
            <a:srgbClr val="F4EAEB"/>
          </a:solidFill>
          <a:ln w="12700">
            <a:solidFill>
              <a:srgbClr val="D3B0B4"/>
            </a:solidFill>
            <a:prstDash val="solid"/>
          </a:ln>
        </p:spPr>
      </p:sp>
      <p:sp>
        <p:nvSpPr>
          <p:cNvPr id="18" name="card-hex"/>
          <p:cNvSpPr/>
          <p:nvPr/>
        </p:nvSpPr>
        <p:spPr>
          <a:xfrm>
            <a:off x="9189491" y="1572768"/>
            <a:ext cx="640080" cy="554309"/>
          </a:xfrm>
          <a:prstGeom prst="hexagon">
            <a:avLst/>
          </a:prstGeom>
          <a:solidFill>
            <a:srgbClr val="8C2F39"/>
          </a:solidFill>
          <a:ln/>
        </p:spPr>
      </p:sp>
      <p:sp>
        <p:nvSpPr>
          <p:cNvPr id="19" name="card-hex-label"/>
          <p:cNvSpPr txBox="1"/>
          <p:nvPr/>
        </p:nvSpPr>
        <p:spPr>
          <a:xfrm>
            <a:off x="9189491"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9921011"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Fill the gap</a:t>
            </a:r>
            <a:endParaRPr lang="en-US" sz="1800" dirty="0"/>
          </a:p>
        </p:txBody>
      </p:sp>
      <p:sp>
        <p:nvSpPr>
          <p:cNvPr id="21" name="card-body"/>
          <p:cNvSpPr txBox="1"/>
          <p:nvPr/>
        </p:nvSpPr>
        <p:spPr>
          <a:xfrm>
            <a:off x="9189491" y="2355677"/>
            <a:ext cx="2270684"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Before you read a source, ask about its form, its audience and its ___.</a:t>
            </a:r>
            <a:endParaRPr lang="en-US" sz="2400" dirty="0"/>
          </a:p>
          <a:p>
            <a:pPr algn="l" indent="0" marL="0">
              <a:buNone/>
            </a:pPr>
            <a:r>
              <a:rPr lang="en-US" sz="2400" b="1" dirty="0">
                <a:solidFill>
                  <a:srgbClr val="8C2F39"/>
                </a:solidFill>
                <a:latin typeface="Calibri" pitchFamily="34" charset="0"/>
                <a:ea typeface="Calibri" pitchFamily="34" charset="-122"/>
                <a:cs typeface="Calibri" pitchFamily="34" charset="-120"/>
              </a:rPr>
              <a:t>Word bank:  </a:t>
            </a:r>
            <a:pPr algn="l" indent="0" marL="0">
              <a:buNone/>
            </a:pPr>
            <a:r>
              <a:rPr lang="en-US" sz="2400" dirty="0">
                <a:solidFill>
                  <a:srgbClr val="1E2229"/>
                </a:solidFill>
                <a:latin typeface="Calibri" pitchFamily="34" charset="0"/>
                <a:ea typeface="Calibri" pitchFamily="34" charset="-122"/>
                <a:cs typeface="Calibri" pitchFamily="34" charset="-120"/>
              </a:rPr>
              <a:t>purpose  ·  price  ·  paragraphs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2636444" cy="4754880"/>
          </a:xfrm>
          <a:prstGeom prst="roundRect">
            <a:avLst>
              <a:gd name="adj" fmla="val 2081"/>
            </a:avLst>
          </a:prstGeom>
          <a:solidFill>
            <a:srgbClr val="F4EAEB"/>
          </a:solidFill>
          <a:ln w="12700">
            <a:solidFill>
              <a:srgbClr val="D3B0B4"/>
            </a:solidFill>
            <a:prstDash val="solid"/>
          </a:ln>
        </p:spPr>
      </p:sp>
      <p:sp>
        <p:nvSpPr>
          <p:cNvPr id="8" name="card-hex"/>
          <p:cNvSpPr/>
          <p:nvPr/>
        </p:nvSpPr>
        <p:spPr>
          <a:xfrm>
            <a:off x="731520" y="1572768"/>
            <a:ext cx="640080" cy="554309"/>
          </a:xfrm>
          <a:prstGeom prst="hexagon">
            <a:avLst/>
          </a:prstGeom>
          <a:solidFill>
            <a:srgbClr val="8C2F39"/>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2270684" cy="1295908"/>
          </a:xfrm>
          <a:prstGeom prst="roundRect">
            <a:avLst>
              <a:gd name="adj" fmla="val 8467"/>
            </a:avLst>
          </a:prstGeom>
          <a:solidFill>
            <a:srgbClr val="EBDDC4"/>
          </a:solidFill>
          <a:ln w="19050">
            <a:solidFill>
              <a:srgbClr val="B8862B"/>
            </a:solidFill>
            <a:prstDash val="solid"/>
          </a:ln>
        </p:spPr>
      </p:sp>
      <p:sp>
        <p:nvSpPr>
          <p:cNvPr id="12" name="answer"/>
          <p:cNvSpPr txBox="1"/>
          <p:nvPr/>
        </p:nvSpPr>
        <p:spPr>
          <a:xfrm>
            <a:off x="822960" y="2428829"/>
            <a:ext cx="2087804" cy="1149604"/>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B   1 hour 45 minutes, 80 marks</a:t>
            </a:r>
            <a:endParaRPr lang="en-US" sz="2200" dirty="0"/>
          </a:p>
        </p:txBody>
      </p:sp>
      <p:sp>
        <p:nvSpPr>
          <p:cNvPr id="13" name="card-body"/>
          <p:cNvSpPr txBox="1"/>
          <p:nvPr/>
        </p:nvSpPr>
        <p:spPr>
          <a:xfrm>
            <a:off x="731520" y="3834465"/>
            <a:ext cx="2270684" cy="2173143"/>
          </a:xfrm>
          <a:prstGeom prst="rect">
            <a:avLst/>
          </a:prstGeom>
          <a:noFill/>
          <a:ln/>
        </p:spPr>
        <p:txBody>
          <a:bodyPr wrap="square" lIns="63500" tIns="63500" rIns="63500" bIns="63500" rtlCol="0" anchor="t"/>
          <a:lstStyle/>
          <a:p>
            <a:pPr algn="l" indent="0" marL="0">
              <a:buNone/>
            </a:pPr>
            <a:r>
              <a:rPr lang="en-US" sz="1800" i="1" dirty="0">
                <a:solidFill>
                  <a:srgbClr val="1E2229"/>
                </a:solidFill>
                <a:latin typeface="Calibri" pitchFamily="34" charset="0"/>
                <a:ea typeface="Calibri" pitchFamily="34" charset="-122"/>
                <a:cs typeface="Calibri" pitchFamily="34" charset="-120"/>
              </a:rPr>
              <a:t>Paper 2 lasts 1 hour 45 minutes and is worth 80 marks: 40 for reading and 40 for writing.</a:t>
            </a:r>
            <a:endParaRPr lang="en-US" sz="1800" dirty="0"/>
          </a:p>
        </p:txBody>
      </p:sp>
      <p:sp>
        <p:nvSpPr>
          <p:cNvPr id="14" name="card"/>
          <p:cNvSpPr/>
          <p:nvPr/>
        </p:nvSpPr>
        <p:spPr>
          <a:xfrm>
            <a:off x="3459404" y="1389888"/>
            <a:ext cx="5272888" cy="4754880"/>
          </a:xfrm>
          <a:prstGeom prst="roundRect">
            <a:avLst>
              <a:gd name="adj" fmla="val 1154"/>
            </a:avLst>
          </a:prstGeom>
          <a:solidFill>
            <a:srgbClr val="F4EAEB"/>
          </a:solidFill>
          <a:ln w="12700">
            <a:solidFill>
              <a:srgbClr val="D3B0B4"/>
            </a:solidFill>
            <a:prstDash val="solid"/>
          </a:ln>
        </p:spPr>
      </p:sp>
      <p:sp>
        <p:nvSpPr>
          <p:cNvPr id="15" name="card-hex"/>
          <p:cNvSpPr/>
          <p:nvPr/>
        </p:nvSpPr>
        <p:spPr>
          <a:xfrm>
            <a:off x="3642284" y="1572768"/>
            <a:ext cx="640080" cy="554309"/>
          </a:xfrm>
          <a:prstGeom prst="hexagon">
            <a:avLst/>
          </a:prstGeom>
          <a:solidFill>
            <a:srgbClr val="8C2F39"/>
          </a:solidFill>
          <a:ln/>
        </p:spPr>
      </p:sp>
      <p:sp>
        <p:nvSpPr>
          <p:cNvPr id="16" name="card-hex-label"/>
          <p:cNvSpPr txBox="1"/>
          <p:nvPr/>
        </p:nvSpPr>
        <p:spPr>
          <a:xfrm>
            <a:off x="3642284"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4373804" y="1572768"/>
            <a:ext cx="4267048" cy="566928"/>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3642284" y="2355677"/>
            <a:ext cx="4907128" cy="955040"/>
          </a:xfrm>
          <a:prstGeom prst="roundRect">
            <a:avLst>
              <a:gd name="adj" fmla="val 11489"/>
            </a:avLst>
          </a:prstGeom>
          <a:solidFill>
            <a:srgbClr val="EBDDC4"/>
          </a:solidFill>
          <a:ln w="19050">
            <a:solidFill>
              <a:srgbClr val="B8862B"/>
            </a:solidFill>
            <a:prstDash val="solid"/>
          </a:ln>
        </p:spPr>
      </p:sp>
      <p:sp>
        <p:nvSpPr>
          <p:cNvPr id="19" name="answer"/>
          <p:cNvSpPr txBox="1"/>
          <p:nvPr/>
        </p:nvSpPr>
        <p:spPr>
          <a:xfrm>
            <a:off x="3733724" y="2428829"/>
            <a:ext cx="4724248"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B   One nineteenth-century non-fiction text and one modern non-fiction text</a:t>
            </a:r>
            <a:endParaRPr lang="en-US" sz="2200" dirty="0"/>
          </a:p>
        </p:txBody>
      </p:sp>
      <p:sp>
        <p:nvSpPr>
          <p:cNvPr id="20" name="card-body"/>
          <p:cNvSpPr txBox="1"/>
          <p:nvPr/>
        </p:nvSpPr>
        <p:spPr>
          <a:xfrm>
            <a:off x="3642284" y="3493597"/>
            <a:ext cx="4907128" cy="2514011"/>
          </a:xfrm>
          <a:prstGeom prst="rect">
            <a:avLst/>
          </a:prstGeom>
          <a:noFill/>
          <a:ln/>
        </p:spPr>
        <p:txBody>
          <a:bodyPr wrap="square" lIns="63500" tIns="63500" rIns="63500" bIns="63500" rtlCol="0" anchor="t"/>
          <a:lstStyle/>
          <a:p>
            <a:pPr algn="l" indent="0" marL="0">
              <a:spcAft>
                <a:spcPts val="1000"/>
              </a:spcAft>
              <a:buNone/>
            </a:pPr>
            <a:r>
              <a:rPr lang="en-US" sz="2200" dirty="0">
                <a:solidFill>
                  <a:srgbClr val="4A505C"/>
                </a:solidFill>
                <a:latin typeface="Calibri" pitchFamily="34" charset="0"/>
                <a:ea typeface="Calibri" pitchFamily="34" charset="-122"/>
                <a:cs typeface="Calibri" pitchFamily="34" charset="-120"/>
              </a:rPr>
              <a:t>Which two kinds of source does Paper 2 give you?</a:t>
            </a:r>
            <a:endParaRPr lang="en-US" sz="2200" dirty="0"/>
          </a:p>
          <a:p>
            <a:pPr algn="l" indent="0" marL="0">
              <a:buNone/>
            </a:pPr>
            <a:r>
              <a:rPr lang="en-US" sz="2200" i="1" dirty="0">
                <a:solidFill>
                  <a:srgbClr val="1E2229"/>
                </a:solidFill>
                <a:latin typeface="Calibri" pitchFamily="34" charset="0"/>
                <a:ea typeface="Calibri" pitchFamily="34" charset="-122"/>
                <a:cs typeface="Calibri" pitchFamily="34" charset="-120"/>
              </a:rPr>
              <a:t>Both sources are non-fiction, linked by topic: one from the nineteenth century and one modern.</a:t>
            </a:r>
            <a:endParaRPr lang="en-US" sz="2200" dirty="0"/>
          </a:p>
        </p:txBody>
      </p:sp>
      <p:sp>
        <p:nvSpPr>
          <p:cNvPr id="21" name="card"/>
          <p:cNvSpPr/>
          <p:nvPr/>
        </p:nvSpPr>
        <p:spPr>
          <a:xfrm>
            <a:off x="9006611" y="1389888"/>
            <a:ext cx="2636444" cy="4754880"/>
          </a:xfrm>
          <a:prstGeom prst="roundRect">
            <a:avLst>
              <a:gd name="adj" fmla="val 2081"/>
            </a:avLst>
          </a:prstGeom>
          <a:solidFill>
            <a:srgbClr val="F4EAEB"/>
          </a:solidFill>
          <a:ln w="12700">
            <a:solidFill>
              <a:srgbClr val="D3B0B4"/>
            </a:solidFill>
            <a:prstDash val="solid"/>
          </a:ln>
        </p:spPr>
      </p:sp>
      <p:sp>
        <p:nvSpPr>
          <p:cNvPr id="22" name="card-hex"/>
          <p:cNvSpPr/>
          <p:nvPr/>
        </p:nvSpPr>
        <p:spPr>
          <a:xfrm>
            <a:off x="9189491" y="1572768"/>
            <a:ext cx="640080" cy="554309"/>
          </a:xfrm>
          <a:prstGeom prst="hexagon">
            <a:avLst/>
          </a:prstGeom>
          <a:solidFill>
            <a:srgbClr val="8C2F39"/>
          </a:solidFill>
          <a:ln/>
        </p:spPr>
      </p:sp>
      <p:sp>
        <p:nvSpPr>
          <p:cNvPr id="23" name="card-hex-label"/>
          <p:cNvSpPr txBox="1"/>
          <p:nvPr/>
        </p:nvSpPr>
        <p:spPr>
          <a:xfrm>
            <a:off x="9189491"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921011"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9189491" y="2355677"/>
            <a:ext cx="2270684" cy="614172"/>
          </a:xfrm>
          <a:prstGeom prst="roundRect">
            <a:avLst>
              <a:gd name="adj" fmla="val 17866"/>
            </a:avLst>
          </a:prstGeom>
          <a:solidFill>
            <a:srgbClr val="EBDDC4"/>
          </a:solidFill>
          <a:ln w="19050">
            <a:solidFill>
              <a:srgbClr val="B8862B"/>
            </a:solidFill>
            <a:prstDash val="solid"/>
          </a:ln>
        </p:spPr>
      </p:sp>
      <p:sp>
        <p:nvSpPr>
          <p:cNvPr id="26" name="answer"/>
          <p:cNvSpPr txBox="1"/>
          <p:nvPr/>
        </p:nvSpPr>
        <p:spPr>
          <a:xfrm>
            <a:off x="9280931" y="2428829"/>
            <a:ext cx="2087804"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purpose</a:t>
            </a:r>
            <a:endParaRPr lang="en-US" sz="2200" dirty="0"/>
          </a:p>
        </p:txBody>
      </p:sp>
      <p:sp>
        <p:nvSpPr>
          <p:cNvPr id="27" name="card-body"/>
          <p:cNvSpPr txBox="1"/>
          <p:nvPr/>
        </p:nvSpPr>
        <p:spPr>
          <a:xfrm>
            <a:off x="9189491" y="3152729"/>
            <a:ext cx="2270684" cy="2854879"/>
          </a:xfrm>
          <a:prstGeom prst="rect">
            <a:avLst/>
          </a:prstGeom>
          <a:noFill/>
          <a:ln/>
        </p:spPr>
        <p:txBody>
          <a:bodyPr wrap="square" lIns="63500" tIns="63500" rIns="63500" bIns="63500" rtlCol="0" anchor="t"/>
          <a:lstStyle/>
          <a:p>
            <a:pPr algn="l" indent="0" marL="0">
              <a:spcAft>
                <a:spcPts val="1000"/>
              </a:spcAft>
              <a:buNone/>
            </a:pPr>
            <a:r>
              <a:rPr lang="en-US" sz="1800" dirty="0">
                <a:solidFill>
                  <a:srgbClr val="4A505C"/>
                </a:solidFill>
                <a:latin typeface="Calibri" pitchFamily="34" charset="0"/>
                <a:ea typeface="Calibri" pitchFamily="34" charset="-122"/>
                <a:cs typeface="Calibri" pitchFamily="34" charset="-120"/>
              </a:rPr>
              <a:t>Before you read a source, ask about its form, its audience and its ___.</a:t>
            </a:r>
            <a:endParaRPr lang="en-US" sz="1800" dirty="0"/>
          </a:p>
          <a:p>
            <a:pPr algn="l" indent="0" marL="0">
              <a:buNone/>
            </a:pPr>
            <a:r>
              <a:rPr lang="en-US" sz="1800" i="1" dirty="0">
                <a:solidFill>
                  <a:srgbClr val="1E2229"/>
                </a:solidFill>
                <a:latin typeface="Calibri" pitchFamily="34" charset="0"/>
                <a:ea typeface="Calibri" pitchFamily="34" charset="-122"/>
                <a:cs typeface="Calibri" pitchFamily="34" charset="-120"/>
              </a:rPr>
              <a:t>Form, audience and purpose are the three questions to ask before you read.</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Key words</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Pre-teach</a:t>
            </a:r>
            <a:endParaRPr lang="en-US" sz="1800" dirty="0"/>
          </a:p>
        </p:txBody>
      </p:sp>
      <p:sp>
        <p:nvSpPr>
          <p:cNvPr id="7" name="kw-head"/>
          <p:cNvSpPr/>
          <p:nvPr/>
        </p:nvSpPr>
        <p:spPr>
          <a:xfrm>
            <a:off x="548640" y="1389888"/>
            <a:ext cx="11094415" cy="457200"/>
          </a:xfrm>
          <a:prstGeom prst="roundRect">
            <a:avLst>
              <a:gd name="adj" fmla="val 16000"/>
            </a:avLst>
          </a:prstGeom>
          <a:solidFill>
            <a:srgbClr val="8C2F39"/>
          </a:solidFill>
          <a:ln/>
        </p:spPr>
      </p:sp>
      <p:sp>
        <p:nvSpPr>
          <p:cNvPr id="8" name="kw-headtext"/>
          <p:cNvSpPr txBox="1"/>
          <p:nvPr/>
        </p:nvSpPr>
        <p:spPr>
          <a:xfrm>
            <a:off x="1143000" y="1389888"/>
            <a:ext cx="2331720"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Word</a:t>
            </a:r>
            <a:endParaRPr lang="en-US" sz="1800" dirty="0"/>
          </a:p>
        </p:txBody>
      </p:sp>
      <p:sp>
        <p:nvSpPr>
          <p:cNvPr id="9" name="kw-headtext"/>
          <p:cNvSpPr txBox="1"/>
          <p:nvPr/>
        </p:nvSpPr>
        <p:spPr>
          <a:xfrm>
            <a:off x="3657600" y="1389888"/>
            <a:ext cx="3474720"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What it means</a:t>
            </a:r>
            <a:endParaRPr lang="en-US" sz="1800" dirty="0"/>
          </a:p>
        </p:txBody>
      </p:sp>
      <p:sp>
        <p:nvSpPr>
          <p:cNvPr id="10" name="kw-headtext"/>
          <p:cNvSpPr txBox="1"/>
          <p:nvPr/>
        </p:nvSpPr>
        <p:spPr>
          <a:xfrm>
            <a:off x="7315200" y="1389888"/>
            <a:ext cx="4236415"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In a sentence</a:t>
            </a:r>
            <a:endParaRPr lang="en-US" sz="1800" dirty="0"/>
          </a:p>
        </p:txBody>
      </p:sp>
      <p:sp>
        <p:nvSpPr>
          <p:cNvPr id="11" name="kw-row"/>
          <p:cNvSpPr/>
          <p:nvPr/>
        </p:nvSpPr>
        <p:spPr>
          <a:xfrm>
            <a:off x="548640" y="1920240"/>
            <a:ext cx="11094415" cy="831901"/>
          </a:xfrm>
          <a:prstGeom prst="roundRect">
            <a:avLst>
              <a:gd name="adj" fmla="val 6595"/>
            </a:avLst>
          </a:prstGeom>
          <a:solidFill>
            <a:srgbClr val="F2E8E9"/>
          </a:solidFill>
          <a:ln/>
        </p:spPr>
      </p:sp>
      <p:sp>
        <p:nvSpPr>
          <p:cNvPr id="12" name="kw-hex"/>
          <p:cNvSpPr/>
          <p:nvPr/>
        </p:nvSpPr>
        <p:spPr>
          <a:xfrm>
            <a:off x="658368" y="2158020"/>
            <a:ext cx="411480" cy="356342"/>
          </a:xfrm>
          <a:prstGeom prst="hexagon">
            <a:avLst/>
          </a:prstGeom>
          <a:solidFill>
            <a:srgbClr val="8C2F39"/>
          </a:solidFill>
          <a:ln/>
        </p:spPr>
      </p:sp>
      <p:sp>
        <p:nvSpPr>
          <p:cNvPr id="13" name="kw-cell"/>
          <p:cNvSpPr txBox="1"/>
          <p:nvPr/>
        </p:nvSpPr>
        <p:spPr>
          <a:xfrm>
            <a:off x="1143000" y="1920240"/>
            <a:ext cx="2331720" cy="831901"/>
          </a:xfrm>
          <a:prstGeom prst="rect">
            <a:avLst/>
          </a:prstGeom>
          <a:noFill/>
          <a:ln/>
        </p:spPr>
        <p:txBody>
          <a:bodyPr wrap="square" lIns="63500" tIns="63500" rIns="63500" bIns="63500" rtlCol="0" anchor="ctr"/>
          <a:lstStyle/>
          <a:p>
            <a:pPr algn="l" indent="0" marL="0">
              <a:buNone/>
            </a:pPr>
            <a:r>
              <a:rPr lang="en-US" sz="2000" b="1" dirty="0">
                <a:solidFill>
                  <a:srgbClr val="8C2F39"/>
                </a:solidFill>
                <a:latin typeface="Cambria" pitchFamily="34" charset="0"/>
                <a:ea typeface="Cambria" pitchFamily="34" charset="-122"/>
                <a:cs typeface="Cambria" pitchFamily="34" charset="-120"/>
              </a:rPr>
              <a:t>non-fiction</a:t>
            </a:r>
            <a:endParaRPr lang="en-US" sz="2000" dirty="0"/>
          </a:p>
        </p:txBody>
      </p:sp>
      <p:sp>
        <p:nvSpPr>
          <p:cNvPr id="14" name="kw-cell"/>
          <p:cNvSpPr txBox="1"/>
          <p:nvPr/>
        </p:nvSpPr>
        <p:spPr>
          <a:xfrm>
            <a:off x="3657600" y="1920240"/>
            <a:ext cx="3474720" cy="831901"/>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writing about real people, places, events and ideas</a:t>
            </a:r>
            <a:endParaRPr lang="en-US" sz="1800" dirty="0"/>
          </a:p>
        </p:txBody>
      </p:sp>
      <p:sp>
        <p:nvSpPr>
          <p:cNvPr id="15" name="kw-cell"/>
          <p:cNvSpPr txBox="1"/>
          <p:nvPr/>
        </p:nvSpPr>
        <p:spPr>
          <a:xfrm>
            <a:off x="7315200" y="1920240"/>
            <a:ext cx="4236415" cy="831901"/>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A letter, a speech and a newspaper article are all non-fiction.</a:t>
            </a:r>
            <a:endParaRPr lang="en-US" sz="1800" dirty="0"/>
          </a:p>
        </p:txBody>
      </p:sp>
      <p:sp>
        <p:nvSpPr>
          <p:cNvPr id="16" name="kw-row"/>
          <p:cNvSpPr/>
          <p:nvPr/>
        </p:nvSpPr>
        <p:spPr>
          <a:xfrm>
            <a:off x="548640" y="2825293"/>
            <a:ext cx="11094415" cy="831901"/>
          </a:xfrm>
          <a:prstGeom prst="roundRect">
            <a:avLst>
              <a:gd name="adj" fmla="val 6595"/>
            </a:avLst>
          </a:prstGeom>
          <a:solidFill>
            <a:srgbClr val="F4EDDF"/>
          </a:solidFill>
          <a:ln/>
        </p:spPr>
      </p:sp>
      <p:sp>
        <p:nvSpPr>
          <p:cNvPr id="17" name="kw-hex"/>
          <p:cNvSpPr/>
          <p:nvPr/>
        </p:nvSpPr>
        <p:spPr>
          <a:xfrm>
            <a:off x="658368" y="3063072"/>
            <a:ext cx="411480" cy="356342"/>
          </a:xfrm>
          <a:prstGeom prst="hexagon">
            <a:avLst/>
          </a:prstGeom>
          <a:solidFill>
            <a:srgbClr val="B8862B"/>
          </a:solidFill>
          <a:ln/>
        </p:spPr>
      </p:sp>
      <p:sp>
        <p:nvSpPr>
          <p:cNvPr id="18" name="kw-cell"/>
          <p:cNvSpPr txBox="1"/>
          <p:nvPr/>
        </p:nvSpPr>
        <p:spPr>
          <a:xfrm>
            <a:off x="1143000" y="2825293"/>
            <a:ext cx="2331720" cy="831901"/>
          </a:xfrm>
          <a:prstGeom prst="rect">
            <a:avLst/>
          </a:prstGeom>
          <a:noFill/>
          <a:ln/>
        </p:spPr>
        <p:txBody>
          <a:bodyPr wrap="square" lIns="63500" tIns="63500" rIns="63500" bIns="63500" rtlCol="0" anchor="ctr"/>
          <a:lstStyle/>
          <a:p>
            <a:pPr algn="l" indent="0" marL="0">
              <a:buNone/>
            </a:pPr>
            <a:r>
              <a:rPr lang="en-US" sz="2000" b="1" dirty="0">
                <a:solidFill>
                  <a:srgbClr val="8C2F39"/>
                </a:solidFill>
                <a:latin typeface="Cambria" pitchFamily="34" charset="0"/>
                <a:ea typeface="Cambria" pitchFamily="34" charset="-122"/>
                <a:cs typeface="Cambria" pitchFamily="34" charset="-120"/>
              </a:rPr>
              <a:t>source</a:t>
            </a:r>
            <a:endParaRPr lang="en-US" sz="2000" dirty="0"/>
          </a:p>
        </p:txBody>
      </p:sp>
      <p:sp>
        <p:nvSpPr>
          <p:cNvPr id="19" name="kw-cell"/>
          <p:cNvSpPr txBox="1"/>
          <p:nvPr/>
        </p:nvSpPr>
        <p:spPr>
          <a:xfrm>
            <a:off x="3657600" y="2825293"/>
            <a:ext cx="3474720" cy="831901"/>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one of the two texts printed in the exam</a:t>
            </a:r>
            <a:endParaRPr lang="en-US" sz="1800" dirty="0"/>
          </a:p>
        </p:txBody>
      </p:sp>
      <p:sp>
        <p:nvSpPr>
          <p:cNvPr id="20" name="kw-cell"/>
          <p:cNvSpPr txBox="1"/>
          <p:nvPr/>
        </p:nvSpPr>
        <p:spPr>
          <a:xfrm>
            <a:off x="7315200" y="2825293"/>
            <a:ext cx="4236415" cy="831901"/>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Source A is modern and Source B is from the nineteenth century.</a:t>
            </a:r>
            <a:endParaRPr lang="en-US" sz="1800" dirty="0"/>
          </a:p>
        </p:txBody>
      </p:sp>
      <p:sp>
        <p:nvSpPr>
          <p:cNvPr id="21" name="kw-row"/>
          <p:cNvSpPr/>
          <p:nvPr/>
        </p:nvSpPr>
        <p:spPr>
          <a:xfrm>
            <a:off x="548640" y="3730346"/>
            <a:ext cx="11094415" cy="604317"/>
          </a:xfrm>
          <a:prstGeom prst="roundRect">
            <a:avLst>
              <a:gd name="adj" fmla="val 9079"/>
            </a:avLst>
          </a:prstGeom>
          <a:solidFill>
            <a:srgbClr val="F2E8E9"/>
          </a:solidFill>
          <a:ln/>
        </p:spPr>
      </p:sp>
      <p:sp>
        <p:nvSpPr>
          <p:cNvPr id="22" name="kw-hex"/>
          <p:cNvSpPr/>
          <p:nvPr/>
        </p:nvSpPr>
        <p:spPr>
          <a:xfrm>
            <a:off x="658368" y="3854333"/>
            <a:ext cx="411480" cy="356342"/>
          </a:xfrm>
          <a:prstGeom prst="hexagon">
            <a:avLst/>
          </a:prstGeom>
          <a:solidFill>
            <a:srgbClr val="8C2F39"/>
          </a:solidFill>
          <a:ln/>
        </p:spPr>
      </p:sp>
      <p:sp>
        <p:nvSpPr>
          <p:cNvPr id="23" name="kw-cell"/>
          <p:cNvSpPr txBox="1"/>
          <p:nvPr/>
        </p:nvSpPr>
        <p:spPr>
          <a:xfrm>
            <a:off x="1143000" y="3730346"/>
            <a:ext cx="2331720" cy="604317"/>
          </a:xfrm>
          <a:prstGeom prst="rect">
            <a:avLst/>
          </a:prstGeom>
          <a:noFill/>
          <a:ln/>
        </p:spPr>
        <p:txBody>
          <a:bodyPr wrap="square" lIns="63500" tIns="63500" rIns="63500" bIns="63500" rtlCol="0" anchor="ctr"/>
          <a:lstStyle/>
          <a:p>
            <a:pPr algn="l" indent="0" marL="0">
              <a:buNone/>
            </a:pPr>
            <a:r>
              <a:rPr lang="en-US" sz="2000" b="1" dirty="0">
                <a:solidFill>
                  <a:srgbClr val="8C2F39"/>
                </a:solidFill>
                <a:latin typeface="Cambria" pitchFamily="34" charset="0"/>
                <a:ea typeface="Cambria" pitchFamily="34" charset="-122"/>
                <a:cs typeface="Cambria" pitchFamily="34" charset="-120"/>
              </a:rPr>
              <a:t>form</a:t>
            </a:r>
            <a:endParaRPr lang="en-US" sz="2000" dirty="0"/>
          </a:p>
        </p:txBody>
      </p:sp>
      <p:sp>
        <p:nvSpPr>
          <p:cNvPr id="24" name="kw-cell"/>
          <p:cNvSpPr txBox="1"/>
          <p:nvPr/>
        </p:nvSpPr>
        <p:spPr>
          <a:xfrm>
            <a:off x="3657600" y="3730346"/>
            <a:ext cx="3474720" cy="604317"/>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the kind of text it is</a:t>
            </a:r>
            <a:endParaRPr lang="en-US" sz="1800" dirty="0"/>
          </a:p>
        </p:txBody>
      </p:sp>
      <p:sp>
        <p:nvSpPr>
          <p:cNvPr id="25" name="kw-cell"/>
          <p:cNvSpPr txBox="1"/>
          <p:nvPr/>
        </p:nvSpPr>
        <p:spPr>
          <a:xfrm>
            <a:off x="7315200" y="3730346"/>
            <a:ext cx="4236415" cy="604317"/>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The form of Source B is a letter to a sister.</a:t>
            </a:r>
            <a:endParaRPr lang="en-US" sz="1800" dirty="0"/>
          </a:p>
        </p:txBody>
      </p:sp>
      <p:sp>
        <p:nvSpPr>
          <p:cNvPr id="26" name="kw-row"/>
          <p:cNvSpPr/>
          <p:nvPr/>
        </p:nvSpPr>
        <p:spPr>
          <a:xfrm>
            <a:off x="548640" y="4407814"/>
            <a:ext cx="11094415" cy="831901"/>
          </a:xfrm>
          <a:prstGeom prst="roundRect">
            <a:avLst>
              <a:gd name="adj" fmla="val 6595"/>
            </a:avLst>
          </a:prstGeom>
          <a:solidFill>
            <a:srgbClr val="F4EDDF"/>
          </a:solidFill>
          <a:ln/>
        </p:spPr>
      </p:sp>
      <p:sp>
        <p:nvSpPr>
          <p:cNvPr id="27" name="kw-hex"/>
          <p:cNvSpPr/>
          <p:nvPr/>
        </p:nvSpPr>
        <p:spPr>
          <a:xfrm>
            <a:off x="658368" y="4645594"/>
            <a:ext cx="411480" cy="356342"/>
          </a:xfrm>
          <a:prstGeom prst="hexagon">
            <a:avLst/>
          </a:prstGeom>
          <a:solidFill>
            <a:srgbClr val="B8862B"/>
          </a:solidFill>
          <a:ln/>
        </p:spPr>
      </p:sp>
      <p:sp>
        <p:nvSpPr>
          <p:cNvPr id="28" name="kw-cell"/>
          <p:cNvSpPr txBox="1"/>
          <p:nvPr/>
        </p:nvSpPr>
        <p:spPr>
          <a:xfrm>
            <a:off x="1143000" y="4407814"/>
            <a:ext cx="2331720" cy="831901"/>
          </a:xfrm>
          <a:prstGeom prst="rect">
            <a:avLst/>
          </a:prstGeom>
          <a:noFill/>
          <a:ln/>
        </p:spPr>
        <p:txBody>
          <a:bodyPr wrap="square" lIns="63500" tIns="63500" rIns="63500" bIns="63500" rtlCol="0" anchor="ctr"/>
          <a:lstStyle/>
          <a:p>
            <a:pPr algn="l" indent="0" marL="0">
              <a:buNone/>
            </a:pPr>
            <a:r>
              <a:rPr lang="en-US" sz="2000" b="1" dirty="0">
                <a:solidFill>
                  <a:srgbClr val="8C2F39"/>
                </a:solidFill>
                <a:latin typeface="Cambria" pitchFamily="34" charset="0"/>
                <a:ea typeface="Cambria" pitchFamily="34" charset="-122"/>
                <a:cs typeface="Cambria" pitchFamily="34" charset="-120"/>
              </a:rPr>
              <a:t>audience</a:t>
            </a:r>
            <a:endParaRPr lang="en-US" sz="2000" dirty="0"/>
          </a:p>
        </p:txBody>
      </p:sp>
      <p:sp>
        <p:nvSpPr>
          <p:cNvPr id="29" name="kw-cell"/>
          <p:cNvSpPr txBox="1"/>
          <p:nvPr/>
        </p:nvSpPr>
        <p:spPr>
          <a:xfrm>
            <a:off x="3657600" y="4407814"/>
            <a:ext cx="3474720" cy="831901"/>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the people a text is written for</a:t>
            </a:r>
            <a:endParaRPr lang="en-US" sz="1800" dirty="0"/>
          </a:p>
        </p:txBody>
      </p:sp>
      <p:sp>
        <p:nvSpPr>
          <p:cNvPr id="30" name="kw-cell"/>
          <p:cNvSpPr txBox="1"/>
          <p:nvPr/>
        </p:nvSpPr>
        <p:spPr>
          <a:xfrm>
            <a:off x="7315200" y="4407814"/>
            <a:ext cx="4236415" cy="831901"/>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The audience for a school magazine is pupils and their families.</a:t>
            </a:r>
            <a:endParaRPr lang="en-US" sz="1800" dirty="0"/>
          </a:p>
        </p:txBody>
      </p:sp>
      <p:sp>
        <p:nvSpPr>
          <p:cNvPr id="31" name="kw-row"/>
          <p:cNvSpPr/>
          <p:nvPr/>
        </p:nvSpPr>
        <p:spPr>
          <a:xfrm>
            <a:off x="548640" y="5312867"/>
            <a:ext cx="11094415" cy="831901"/>
          </a:xfrm>
          <a:prstGeom prst="roundRect">
            <a:avLst>
              <a:gd name="adj" fmla="val 6595"/>
            </a:avLst>
          </a:prstGeom>
          <a:solidFill>
            <a:srgbClr val="F2E8E9"/>
          </a:solidFill>
          <a:ln/>
        </p:spPr>
      </p:sp>
      <p:sp>
        <p:nvSpPr>
          <p:cNvPr id="32" name="kw-hex"/>
          <p:cNvSpPr/>
          <p:nvPr/>
        </p:nvSpPr>
        <p:spPr>
          <a:xfrm>
            <a:off x="658368" y="5550647"/>
            <a:ext cx="411480" cy="356342"/>
          </a:xfrm>
          <a:prstGeom prst="hexagon">
            <a:avLst/>
          </a:prstGeom>
          <a:solidFill>
            <a:srgbClr val="8C2F39"/>
          </a:solidFill>
          <a:ln/>
        </p:spPr>
      </p:sp>
      <p:sp>
        <p:nvSpPr>
          <p:cNvPr id="33" name="kw-cell"/>
          <p:cNvSpPr txBox="1"/>
          <p:nvPr/>
        </p:nvSpPr>
        <p:spPr>
          <a:xfrm>
            <a:off x="1143000" y="5312867"/>
            <a:ext cx="2331720" cy="831901"/>
          </a:xfrm>
          <a:prstGeom prst="rect">
            <a:avLst/>
          </a:prstGeom>
          <a:noFill/>
          <a:ln/>
        </p:spPr>
        <p:txBody>
          <a:bodyPr wrap="square" lIns="63500" tIns="63500" rIns="63500" bIns="63500" rtlCol="0" anchor="ctr"/>
          <a:lstStyle/>
          <a:p>
            <a:pPr algn="l" indent="0" marL="0">
              <a:buNone/>
            </a:pPr>
            <a:r>
              <a:rPr lang="en-US" sz="2000" b="1" dirty="0">
                <a:solidFill>
                  <a:srgbClr val="8C2F39"/>
                </a:solidFill>
                <a:latin typeface="Cambria" pitchFamily="34" charset="0"/>
                <a:ea typeface="Cambria" pitchFamily="34" charset="-122"/>
                <a:cs typeface="Cambria" pitchFamily="34" charset="-120"/>
              </a:rPr>
              <a:t>purpose</a:t>
            </a:r>
            <a:endParaRPr lang="en-US" sz="2000" dirty="0"/>
          </a:p>
        </p:txBody>
      </p:sp>
      <p:sp>
        <p:nvSpPr>
          <p:cNvPr id="34" name="kw-cell"/>
          <p:cNvSpPr txBox="1"/>
          <p:nvPr/>
        </p:nvSpPr>
        <p:spPr>
          <a:xfrm>
            <a:off x="3657600" y="5312867"/>
            <a:ext cx="3474720" cy="831901"/>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what the writer wants the writing to do</a:t>
            </a:r>
            <a:endParaRPr lang="en-US" sz="1800" dirty="0"/>
          </a:p>
        </p:txBody>
      </p:sp>
      <p:sp>
        <p:nvSpPr>
          <p:cNvPr id="35" name="kw-cell"/>
          <p:cNvSpPr txBox="1"/>
          <p:nvPr/>
        </p:nvSpPr>
        <p:spPr>
          <a:xfrm>
            <a:off x="7315200" y="5312867"/>
            <a:ext cx="4236415" cy="831901"/>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The purpose of a review is to inform and to help you decide.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8C2F39"/>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4EAEB"/>
          </a:solidFill>
          <a:ln w="12700">
            <a:solidFill>
              <a:srgbClr val="D9BABE"/>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Paper 2 is one exam that lasts one hour and forty-five minutes.</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It is worth half of your English Language GCSE.</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Section A is reading and Section B is writing.</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You read two </a:t>
            </a:r>
            <a:pPr algn="l" indent="0" marL="0">
              <a:spcAft>
                <a:spcPts val="600"/>
              </a:spcAft>
              <a:buNone/>
            </a:pPr>
            <a:r>
              <a:rPr lang="en-US" sz="2600" b="1" dirty="0">
                <a:solidFill>
                  <a:srgbClr val="8C2F39"/>
                </a:solidFill>
                <a:latin typeface="Calibri" pitchFamily="34" charset="0"/>
                <a:ea typeface="Calibri" pitchFamily="34" charset="-122"/>
                <a:cs typeface="Calibri" pitchFamily="34" charset="-120"/>
              </a:rPr>
              <a:t>non-fiction</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a:t>
            </a:r>
            <a:pPr algn="l" indent="0" marL="0">
              <a:spcAft>
                <a:spcPts val="600"/>
              </a:spcAft>
              <a:buNone/>
            </a:pPr>
            <a:r>
              <a:rPr lang="en-US" sz="2600" b="1" dirty="0">
                <a:solidFill>
                  <a:srgbClr val="8C2F39"/>
                </a:solidFill>
                <a:latin typeface="Calibri" pitchFamily="34" charset="0"/>
                <a:ea typeface="Calibri" pitchFamily="34" charset="-122"/>
                <a:cs typeface="Calibri" pitchFamily="34" charset="-120"/>
              </a:rPr>
              <a:t>sources</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One was written in the nineteenth century.</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The other is modern.</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They share a topic, but the writers see it differently.</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8C2F39"/>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4EAEB"/>
          </a:solidFill>
          <a:ln w="12700">
            <a:solidFill>
              <a:srgbClr val="D9BABE"/>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Before you read, ask three questions.</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What </a:t>
            </a:r>
            <a:pPr algn="l" indent="0" marL="0">
              <a:spcAft>
                <a:spcPts val="600"/>
              </a:spcAft>
              <a:buNone/>
            </a:pPr>
            <a:r>
              <a:rPr lang="en-US" sz="2600" b="1" dirty="0">
                <a:solidFill>
                  <a:srgbClr val="8C2F39"/>
                </a:solidFill>
                <a:latin typeface="Calibri" pitchFamily="34" charset="0"/>
                <a:ea typeface="Calibri" pitchFamily="34" charset="-122"/>
                <a:cs typeface="Calibri" pitchFamily="34" charset="-120"/>
              </a:rPr>
              <a:t>form</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is it: a letter, an article, a speech?</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Who is the </a:t>
            </a:r>
            <a:pPr algn="l" indent="0" marL="0">
              <a:spcAft>
                <a:spcPts val="600"/>
              </a:spcAft>
              <a:buNone/>
            </a:pPr>
            <a:r>
              <a:rPr lang="en-US" sz="2600" b="1" dirty="0">
                <a:solidFill>
                  <a:srgbClr val="8C2F39"/>
                </a:solidFill>
                <a:latin typeface="Calibri" pitchFamily="34" charset="0"/>
                <a:ea typeface="Calibri" pitchFamily="34" charset="-122"/>
                <a:cs typeface="Calibri" pitchFamily="34" charset="-120"/>
              </a:rPr>
              <a:t>audience</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What is the </a:t>
            </a:r>
            <a:pPr algn="l" indent="0" marL="0">
              <a:spcAft>
                <a:spcPts val="600"/>
              </a:spcAft>
              <a:buNone/>
            </a:pPr>
            <a:r>
              <a:rPr lang="en-US" sz="2600" b="1" dirty="0">
                <a:solidFill>
                  <a:srgbClr val="8C2F39"/>
                </a:solidFill>
                <a:latin typeface="Calibri" pitchFamily="34" charset="0"/>
                <a:ea typeface="Calibri" pitchFamily="34" charset="-122"/>
                <a:cs typeface="Calibri" pitchFamily="34" charset="-120"/>
              </a:rPr>
              <a:t>purpose</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to inform, to entertain, to persuade, to argue?</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Spend thirteen minutes reading both </a:t>
            </a:r>
            <a:pPr algn="l" indent="0" marL="0">
              <a:spcAft>
                <a:spcPts val="600"/>
              </a:spcAft>
              <a:buNone/>
            </a:pPr>
            <a:r>
              <a:rPr lang="en-US" sz="2600" b="1" dirty="0">
                <a:solidFill>
                  <a:srgbClr val="8C2F39"/>
                </a:solidFill>
                <a:latin typeface="Calibri" pitchFamily="34" charset="0"/>
                <a:ea typeface="Calibri" pitchFamily="34" charset="-122"/>
                <a:cs typeface="Calibri" pitchFamily="34" charset="-120"/>
              </a:rPr>
              <a:t>sources</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and the questions.</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13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Then answer the four reading questions in order.</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14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Keep forty-five minutes for Question 5.</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What is in the paper</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2E9D9"/>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Paper 2 is 80 marks: 40 for reading, 40 for writing. The marks climb through Section A, so your time should climb too.</a:t>
            </a:r>
            <a:endParaRPr lang="en-US" sz="1800" dirty="0"/>
          </a:p>
        </p:txBody>
      </p:sp>
      <p:sp>
        <p:nvSpPr>
          <p:cNvPr id="11" name="point-card"/>
          <p:cNvSpPr/>
          <p:nvPr/>
        </p:nvSpPr>
        <p:spPr>
          <a:xfrm>
            <a:off x="548640" y="1389888"/>
            <a:ext cx="3515258" cy="3686048"/>
          </a:xfrm>
          <a:prstGeom prst="roundRect">
            <a:avLst>
              <a:gd name="adj" fmla="val 1561"/>
            </a:avLst>
          </a:prstGeom>
          <a:solidFill>
            <a:srgbClr val="F0E4E5"/>
          </a:solidFill>
          <a:ln/>
        </p:spPr>
      </p:sp>
      <p:sp>
        <p:nvSpPr>
          <p:cNvPr id="12" name="point-hex"/>
          <p:cNvSpPr/>
          <p:nvPr/>
        </p:nvSpPr>
        <p:spPr>
          <a:xfrm>
            <a:off x="731520" y="1572768"/>
            <a:ext cx="685800" cy="593903"/>
          </a:xfrm>
          <a:prstGeom prst="hexagon">
            <a:avLst/>
          </a:prstGeom>
          <a:solidFill>
            <a:srgbClr val="8C2F39"/>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Paper 2 is called ‘Writers’ viewpoints and perspectives’. It is half of your English Language GCSE and lasts 1 hour 45 minutes.</a:t>
            </a:r>
            <a:endParaRPr lang="en-US" sz="2200" dirty="0"/>
          </a:p>
        </p:txBody>
      </p:sp>
      <p:sp>
        <p:nvSpPr>
          <p:cNvPr id="15" name="point-card"/>
          <p:cNvSpPr/>
          <p:nvPr/>
        </p:nvSpPr>
        <p:spPr>
          <a:xfrm>
            <a:off x="4338218" y="1389888"/>
            <a:ext cx="3515258" cy="3686048"/>
          </a:xfrm>
          <a:prstGeom prst="roundRect">
            <a:avLst>
              <a:gd name="adj" fmla="val 1561"/>
            </a:avLst>
          </a:prstGeom>
          <a:solidFill>
            <a:srgbClr val="F4EDDF"/>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The two sources are always linked by a topic, and one is always from the nineteenth century while the other is modern.</a:t>
            </a:r>
            <a:endParaRPr lang="en-US" sz="2200" dirty="0"/>
          </a:p>
        </p:txBody>
      </p:sp>
      <p:sp>
        <p:nvSpPr>
          <p:cNvPr id="19" name="point-card"/>
          <p:cNvSpPr/>
          <p:nvPr/>
        </p:nvSpPr>
        <p:spPr>
          <a:xfrm>
            <a:off x="8127797" y="1389888"/>
            <a:ext cx="3515258" cy="3686048"/>
          </a:xfrm>
          <a:prstGeom prst="roundRect">
            <a:avLst>
              <a:gd name="adj" fmla="val 1561"/>
            </a:avLst>
          </a:prstGeom>
          <a:solidFill>
            <a:srgbClr val="F0E4E5"/>
          </a:solidFill>
          <a:ln/>
        </p:spPr>
      </p:sp>
      <p:sp>
        <p:nvSpPr>
          <p:cNvPr id="20" name="point-hex"/>
          <p:cNvSpPr/>
          <p:nvPr/>
        </p:nvSpPr>
        <p:spPr>
          <a:xfrm>
            <a:off x="8310677" y="1572768"/>
            <a:ext cx="685800" cy="593903"/>
          </a:xfrm>
          <a:prstGeom prst="hexagon">
            <a:avLst/>
          </a:prstGeom>
          <a:solidFill>
            <a:srgbClr val="8C2F39"/>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Question 1 (4 marks) asks you to find true statements about the opening of Source A.</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Timing your 1 hour 45 minutes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071364"/>
            <a:ext cx="5074920" cy="1073404"/>
          </a:xfrm>
          <a:prstGeom prst="roundRect">
            <a:avLst>
              <a:gd name="adj" fmla="val 12778"/>
            </a:avLst>
          </a:prstGeom>
          <a:solidFill>
            <a:srgbClr val="F2E9D9"/>
          </a:solidFill>
          <a:ln w="15875">
            <a:solidFill>
              <a:srgbClr val="B8862B"/>
            </a:solidFill>
            <a:prstDash val="solid"/>
          </a:ln>
        </p:spPr>
      </p:sp>
      <p:sp>
        <p:nvSpPr>
          <p:cNvPr id="8" name="tip-hex"/>
          <p:cNvSpPr/>
          <p:nvPr/>
        </p:nvSpPr>
        <p:spPr>
          <a:xfrm>
            <a:off x="685800" y="5410098"/>
            <a:ext cx="457200" cy="395935"/>
          </a:xfrm>
          <a:prstGeom prst="hexagon">
            <a:avLst/>
          </a:prstGeom>
          <a:solidFill>
            <a:srgbClr val="B8862B"/>
          </a:solidFill>
          <a:ln/>
        </p:spPr>
      </p:sp>
      <p:sp>
        <p:nvSpPr>
          <p:cNvPr id="9" name="tip-hex-label"/>
          <p:cNvSpPr txBox="1"/>
          <p:nvPr/>
        </p:nvSpPr>
        <p:spPr>
          <a:xfrm>
            <a:off x="685800" y="5410098"/>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126228"/>
            <a:ext cx="4206240" cy="963676"/>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Write your finish time for each question in the margin before you start writing.</a:t>
            </a:r>
            <a:endParaRPr lang="en-US" sz="1800" dirty="0"/>
          </a:p>
        </p:txBody>
      </p:sp>
      <p:sp>
        <p:nvSpPr>
          <p:cNvPr id="11" name="worked-panel"/>
          <p:cNvSpPr/>
          <p:nvPr/>
        </p:nvSpPr>
        <p:spPr>
          <a:xfrm>
            <a:off x="5989320" y="1389888"/>
            <a:ext cx="5653735" cy="4754880"/>
          </a:xfrm>
          <a:prstGeom prst="roundRect">
            <a:avLst>
              <a:gd name="adj" fmla="val 962"/>
            </a:avLst>
          </a:prstGeom>
          <a:solidFill>
            <a:srgbClr val="FFFFFF"/>
          </a:solidFill>
          <a:ln w="15875">
            <a:solidFill>
              <a:srgbClr val="C29196"/>
            </a:solidFill>
            <a:prstDash val="solid"/>
          </a:ln>
        </p:spPr>
      </p:sp>
      <p:sp>
        <p:nvSpPr>
          <p:cNvPr id="12" name="worked-tab"/>
          <p:cNvSpPr/>
          <p:nvPr/>
        </p:nvSpPr>
        <p:spPr>
          <a:xfrm>
            <a:off x="6126480" y="1499616"/>
            <a:ext cx="2377440" cy="457200"/>
          </a:xfrm>
          <a:prstGeom prst="roundRect">
            <a:avLst>
              <a:gd name="adj" fmla="val 40000"/>
            </a:avLst>
          </a:prstGeom>
          <a:solidFill>
            <a:srgbClr val="8C2F39"/>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Worked example</a:t>
            </a:r>
            <a:endParaRPr lang="en-US" sz="1800" dirty="0"/>
          </a:p>
        </p:txBody>
      </p:sp>
      <p:sp>
        <p:nvSpPr>
          <p:cNvPr id="13" name="worked-q"/>
          <p:cNvSpPr txBox="1"/>
          <p:nvPr/>
        </p:nvSpPr>
        <p:spPr>
          <a:xfrm>
            <a:off x="6126480" y="2066544"/>
            <a:ext cx="5379415" cy="684784"/>
          </a:xfrm>
          <a:prstGeom prst="rect">
            <a:avLst/>
          </a:prstGeom>
          <a:noFill/>
          <a:ln/>
        </p:spPr>
        <p:txBody>
          <a:bodyPr wrap="square" lIns="63500" tIns="63500" rIns="63500" bIns="63500" rtlCol="0" anchor="t"/>
          <a:lstStyle/>
          <a:p>
            <a:pPr algn="l" indent="0" marL="0">
              <a:buNone/>
            </a:pPr>
            <a:r>
              <a:rPr lang="en-US" sz="1800" b="1" dirty="0">
                <a:solidFill>
                  <a:srgbClr val="1E2229"/>
                </a:solidFill>
                <a:latin typeface="Calibri" pitchFamily="34" charset="0"/>
                <a:ea typeface="Calibri" pitchFamily="34" charset="-122"/>
                <a:cs typeface="Calibri" pitchFamily="34" charset="-120"/>
              </a:rPr>
              <a:t>Check that the department’s timings fit the exam exactly.</a:t>
            </a:r>
            <a:endParaRPr lang="en-US" sz="1800" dirty="0"/>
          </a:p>
        </p:txBody>
      </p:sp>
      <p:sp>
        <p:nvSpPr>
          <p:cNvPr id="14" name="step-box"/>
          <p:cNvSpPr/>
          <p:nvPr/>
        </p:nvSpPr>
        <p:spPr>
          <a:xfrm>
            <a:off x="6126480" y="2888488"/>
            <a:ext cx="5379415" cy="768435"/>
          </a:xfrm>
          <a:prstGeom prst="roundRect">
            <a:avLst>
              <a:gd name="adj" fmla="val 11900"/>
            </a:avLst>
          </a:prstGeom>
          <a:solidFill>
            <a:srgbClr val="F0E4E5"/>
          </a:solidFill>
          <a:ln/>
        </p:spPr>
      </p:sp>
      <p:sp>
        <p:nvSpPr>
          <p:cNvPr id="15" name="step-hex"/>
          <p:cNvSpPr/>
          <p:nvPr/>
        </p:nvSpPr>
        <p:spPr>
          <a:xfrm>
            <a:off x="6217920" y="3090575"/>
            <a:ext cx="420624" cy="364260"/>
          </a:xfrm>
          <a:prstGeom prst="hexagon">
            <a:avLst/>
          </a:prstGeom>
          <a:solidFill>
            <a:srgbClr val="8C2F39"/>
          </a:solidFill>
          <a:ln/>
        </p:spPr>
      </p:sp>
      <p:sp>
        <p:nvSpPr>
          <p:cNvPr id="16" name="step-hex-label"/>
          <p:cNvSpPr txBox="1"/>
          <p:nvPr/>
        </p:nvSpPr>
        <p:spPr>
          <a:xfrm>
            <a:off x="6217920" y="3090575"/>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7" name="step"/>
          <p:cNvSpPr txBox="1"/>
          <p:nvPr/>
        </p:nvSpPr>
        <p:spPr>
          <a:xfrm>
            <a:off x="6766560" y="2888488"/>
            <a:ext cx="4739335" cy="768435"/>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Reading both sources and the questions: 13 minutes.</a:t>
            </a:r>
            <a:endParaRPr lang="en-US" sz="1800" dirty="0"/>
          </a:p>
        </p:txBody>
      </p:sp>
      <p:sp>
        <p:nvSpPr>
          <p:cNvPr id="18" name="step-box"/>
          <p:cNvSpPr/>
          <p:nvPr/>
        </p:nvSpPr>
        <p:spPr>
          <a:xfrm>
            <a:off x="6126480" y="3748363"/>
            <a:ext cx="5379415" cy="540851"/>
          </a:xfrm>
          <a:prstGeom prst="roundRect">
            <a:avLst>
              <a:gd name="adj" fmla="val 16907"/>
            </a:avLst>
          </a:prstGeom>
          <a:solidFill>
            <a:srgbClr val="F0E4E5"/>
          </a:solidFill>
          <a:ln/>
        </p:spPr>
      </p:sp>
      <p:sp>
        <p:nvSpPr>
          <p:cNvPr id="19" name="step-hex"/>
          <p:cNvSpPr/>
          <p:nvPr/>
        </p:nvSpPr>
        <p:spPr>
          <a:xfrm>
            <a:off x="6217920" y="3836658"/>
            <a:ext cx="420624" cy="364260"/>
          </a:xfrm>
          <a:prstGeom prst="hexagon">
            <a:avLst/>
          </a:prstGeom>
          <a:solidFill>
            <a:srgbClr val="8C2F39"/>
          </a:solidFill>
          <a:ln/>
        </p:spPr>
      </p:sp>
      <p:sp>
        <p:nvSpPr>
          <p:cNvPr id="20" name="step-hex-label"/>
          <p:cNvSpPr txBox="1"/>
          <p:nvPr/>
        </p:nvSpPr>
        <p:spPr>
          <a:xfrm>
            <a:off x="6217920" y="3836658"/>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1" name="step"/>
          <p:cNvSpPr txBox="1"/>
          <p:nvPr/>
        </p:nvSpPr>
        <p:spPr>
          <a:xfrm>
            <a:off x="6766560" y="3748363"/>
            <a:ext cx="4739335" cy="540851"/>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Questions 1 to 4: 2 + 10 + 15 + 20 = 47 minutes.</a:t>
            </a:r>
            <a:endParaRPr lang="en-US" sz="1800" dirty="0"/>
          </a:p>
        </p:txBody>
      </p:sp>
      <p:sp>
        <p:nvSpPr>
          <p:cNvPr id="22" name="step-box"/>
          <p:cNvSpPr/>
          <p:nvPr/>
        </p:nvSpPr>
        <p:spPr>
          <a:xfrm>
            <a:off x="6126480" y="4380653"/>
            <a:ext cx="5379415" cy="768435"/>
          </a:xfrm>
          <a:prstGeom prst="roundRect">
            <a:avLst>
              <a:gd name="adj" fmla="val 11900"/>
            </a:avLst>
          </a:prstGeom>
          <a:solidFill>
            <a:srgbClr val="F0E4E5"/>
          </a:solidFill>
          <a:ln/>
        </p:spPr>
      </p:sp>
      <p:sp>
        <p:nvSpPr>
          <p:cNvPr id="23" name="step-hex"/>
          <p:cNvSpPr/>
          <p:nvPr/>
        </p:nvSpPr>
        <p:spPr>
          <a:xfrm>
            <a:off x="6217920" y="4582740"/>
            <a:ext cx="420624" cy="364260"/>
          </a:xfrm>
          <a:prstGeom prst="hexagon">
            <a:avLst/>
          </a:prstGeom>
          <a:solidFill>
            <a:srgbClr val="8C2F39"/>
          </a:solidFill>
          <a:ln/>
        </p:spPr>
      </p:sp>
      <p:sp>
        <p:nvSpPr>
          <p:cNvPr id="24" name="step-hex-label"/>
          <p:cNvSpPr txBox="1"/>
          <p:nvPr/>
        </p:nvSpPr>
        <p:spPr>
          <a:xfrm>
            <a:off x="6217920" y="4582740"/>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step"/>
          <p:cNvSpPr txBox="1"/>
          <p:nvPr/>
        </p:nvSpPr>
        <p:spPr>
          <a:xfrm>
            <a:off x="6766560" y="4380653"/>
            <a:ext cx="4739335" cy="768435"/>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Question 5, including planning and checking: 45 minutes.</a:t>
            </a:r>
            <a:endParaRPr lang="en-US" sz="1800" dirty="0"/>
          </a:p>
        </p:txBody>
      </p:sp>
      <p:sp>
        <p:nvSpPr>
          <p:cNvPr id="26" name="worked-answer"/>
          <p:cNvSpPr/>
          <p:nvPr/>
        </p:nvSpPr>
        <p:spPr>
          <a:xfrm>
            <a:off x="6126480" y="5286248"/>
            <a:ext cx="5379415" cy="831088"/>
          </a:xfrm>
          <a:prstGeom prst="roundRect">
            <a:avLst>
              <a:gd name="adj" fmla="val 22005"/>
            </a:avLst>
          </a:prstGeom>
          <a:solidFill>
            <a:srgbClr val="EBDDC4"/>
          </a:solidFill>
          <a:ln w="19050">
            <a:solidFill>
              <a:srgbClr val="B8862B"/>
            </a:solid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Answer  </a:t>
            </a:r>
            <a:pPr algn="l" indent="0" marL="0">
              <a:buNone/>
            </a:pPr>
            <a:r>
              <a:rPr lang="en-US" sz="1800" b="1" dirty="0">
                <a:solidFill>
                  <a:srgbClr val="1E2229"/>
                </a:solidFill>
                <a:latin typeface="Calibri" pitchFamily="34" charset="0"/>
                <a:ea typeface="Calibri" pitchFamily="34" charset="-122"/>
                <a:cs typeface="Calibri" pitchFamily="34" charset="-120"/>
              </a:rPr>
              <a:t>13 + 2 + 10 + 15 + 20 + 45 = 105 minutes, which is exactly 1 hour 45 minutes.</a:t>
            </a:r>
            <a:endParaRPr lang="en-US" sz="1800" dirty="0"/>
          </a:p>
        </p:txBody>
      </p:sp>
      <p:sp>
        <p:nvSpPr>
          <p:cNvPr id="27" name="bullet-card"/>
          <p:cNvSpPr/>
          <p:nvPr/>
        </p:nvSpPr>
        <p:spPr>
          <a:xfrm>
            <a:off x="548640" y="1389888"/>
            <a:ext cx="5074920" cy="1909318"/>
          </a:xfrm>
          <a:prstGeom prst="roundRect">
            <a:avLst>
              <a:gd name="adj" fmla="val 3831"/>
            </a:avLst>
          </a:prstGeom>
          <a:solidFill>
            <a:srgbClr val="F2E8E9"/>
          </a:solidFill>
          <a:ln/>
        </p:spPr>
      </p:sp>
      <p:sp>
        <p:nvSpPr>
          <p:cNvPr id="28" name="bullet-hex"/>
          <p:cNvSpPr/>
          <p:nvPr/>
        </p:nvSpPr>
        <p:spPr>
          <a:xfrm>
            <a:off x="676656" y="2178254"/>
            <a:ext cx="384048" cy="332586"/>
          </a:xfrm>
          <a:prstGeom prst="hexagon">
            <a:avLst/>
          </a:prstGeom>
          <a:solidFill>
            <a:srgbClr val="8C2F39"/>
          </a:solidFill>
          <a:ln/>
        </p:spPr>
      </p:sp>
      <p:sp>
        <p:nvSpPr>
          <p:cNvPr id="29" name="bullet"/>
          <p:cNvSpPr txBox="1"/>
          <p:nvPr/>
        </p:nvSpPr>
        <p:spPr>
          <a:xfrm>
            <a:off x="1143000" y="1389888"/>
            <a:ext cx="4389120" cy="190931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Your teachers’ plan is this: 13 minutes to read the questions and both sources, annotating as you go if that helps; 2 minutes for Question 1; 10 for Question 2; 15 for Question 3; 20 for Question 4; and 45 for Question 5.</a:t>
            </a:r>
            <a:endParaRPr lang="en-US" sz="1800" dirty="0"/>
          </a:p>
        </p:txBody>
      </p:sp>
      <p:sp>
        <p:nvSpPr>
          <p:cNvPr id="30" name="bullet-card"/>
          <p:cNvSpPr/>
          <p:nvPr/>
        </p:nvSpPr>
        <p:spPr>
          <a:xfrm>
            <a:off x="548640" y="3445510"/>
            <a:ext cx="5074920" cy="1351534"/>
          </a:xfrm>
          <a:prstGeom prst="roundRect">
            <a:avLst>
              <a:gd name="adj" fmla="val 5413"/>
            </a:avLst>
          </a:prstGeom>
          <a:solidFill>
            <a:srgbClr val="F2E8E9"/>
          </a:solidFill>
          <a:ln/>
        </p:spPr>
      </p:sp>
      <p:sp>
        <p:nvSpPr>
          <p:cNvPr id="31" name="bullet-hex"/>
          <p:cNvSpPr/>
          <p:nvPr/>
        </p:nvSpPr>
        <p:spPr>
          <a:xfrm>
            <a:off x="676656" y="3954984"/>
            <a:ext cx="384048" cy="332586"/>
          </a:xfrm>
          <a:prstGeom prst="hexagon">
            <a:avLst/>
          </a:prstGeom>
          <a:solidFill>
            <a:srgbClr val="B8862B"/>
          </a:solidFill>
          <a:ln/>
        </p:spPr>
      </p:sp>
      <p:sp>
        <p:nvSpPr>
          <p:cNvPr id="32" name="bullet"/>
          <p:cNvSpPr txBox="1"/>
          <p:nvPr/>
        </p:nvSpPr>
        <p:spPr>
          <a:xfrm>
            <a:off x="1143000" y="3445510"/>
            <a:ext cx="4389120" cy="135153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Notice how the time grows with the marks. Question 1 is worth 4 marks and takes 2 minutes; Question 4 is worth 16 and takes 20.</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600" b="1" dirty="0">
                <a:solidFill>
                  <a:srgbClr val="8C2F39"/>
                </a:solidFill>
                <a:latin typeface="Cambria" pitchFamily="34" charset="0"/>
                <a:ea typeface="Cambria" pitchFamily="34" charset="-122"/>
                <a:cs typeface="Cambria" pitchFamily="34" charset="-120"/>
              </a:rPr>
              <a:t>Three questions before you read: form, audience, purpose</a:t>
            </a:r>
            <a:endParaRPr lang="en-US" sz="26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629148"/>
            <a:ext cx="11094415" cy="515620"/>
          </a:xfrm>
          <a:prstGeom prst="roundRect">
            <a:avLst>
              <a:gd name="adj" fmla="val 26601"/>
            </a:avLst>
          </a:prstGeom>
          <a:solidFill>
            <a:srgbClr val="F2E9D9"/>
          </a:solidFill>
          <a:ln w="15875">
            <a:solidFill>
              <a:srgbClr val="B8862B"/>
            </a:solidFill>
            <a:prstDash val="solid"/>
          </a:ln>
        </p:spPr>
      </p:sp>
      <p:sp>
        <p:nvSpPr>
          <p:cNvPr id="8" name="tip-hex"/>
          <p:cNvSpPr/>
          <p:nvPr/>
        </p:nvSpPr>
        <p:spPr>
          <a:xfrm>
            <a:off x="685800" y="5688990"/>
            <a:ext cx="457200" cy="395935"/>
          </a:xfrm>
          <a:prstGeom prst="hexagon">
            <a:avLst/>
          </a:prstGeom>
          <a:solidFill>
            <a:srgbClr val="B8862B"/>
          </a:solidFill>
          <a:ln/>
        </p:spPr>
      </p:sp>
      <p:sp>
        <p:nvSpPr>
          <p:cNvPr id="9" name="tip-hex-label"/>
          <p:cNvSpPr txBox="1"/>
          <p:nvPr/>
        </p:nvSpPr>
        <p:spPr>
          <a:xfrm>
            <a:off x="685800" y="5688990"/>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684012"/>
            <a:ext cx="10225735" cy="405892"/>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If the box says ‘letter’, you already know the audience is one person and the register is personal.</a:t>
            </a:r>
            <a:endParaRPr lang="en-US" sz="1800" dirty="0"/>
          </a:p>
        </p:txBody>
      </p:sp>
      <p:sp>
        <p:nvSpPr>
          <p:cNvPr id="11" name="point-card"/>
          <p:cNvSpPr/>
          <p:nvPr/>
        </p:nvSpPr>
        <p:spPr>
          <a:xfrm>
            <a:off x="548640" y="1389888"/>
            <a:ext cx="3515258" cy="3964940"/>
          </a:xfrm>
          <a:prstGeom prst="roundRect">
            <a:avLst>
              <a:gd name="adj" fmla="val 1561"/>
            </a:avLst>
          </a:prstGeom>
          <a:solidFill>
            <a:srgbClr val="F0E4E5"/>
          </a:solidFill>
          <a:ln/>
        </p:spPr>
      </p:sp>
      <p:sp>
        <p:nvSpPr>
          <p:cNvPr id="12" name="point-hex"/>
          <p:cNvSpPr/>
          <p:nvPr/>
        </p:nvSpPr>
        <p:spPr>
          <a:xfrm>
            <a:off x="731520" y="1572768"/>
            <a:ext cx="685800" cy="593903"/>
          </a:xfrm>
          <a:prstGeom prst="hexagon">
            <a:avLst/>
          </a:prstGeom>
          <a:solidFill>
            <a:srgbClr val="8C2F39"/>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Non-fiction is written by somebody, for somebody, to do something.</a:t>
            </a:r>
            <a:endParaRPr lang="en-US" sz="2400" dirty="0"/>
          </a:p>
        </p:txBody>
      </p:sp>
      <p:sp>
        <p:nvSpPr>
          <p:cNvPr id="15" name="point-card"/>
          <p:cNvSpPr/>
          <p:nvPr/>
        </p:nvSpPr>
        <p:spPr>
          <a:xfrm>
            <a:off x="4338218" y="1389888"/>
            <a:ext cx="3515258" cy="3964940"/>
          </a:xfrm>
          <a:prstGeom prst="roundRect">
            <a:avLst>
              <a:gd name="adj" fmla="val 1561"/>
            </a:avLst>
          </a:prstGeom>
          <a:solidFill>
            <a:srgbClr val="F4EDDF"/>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Here is the box for Source A, the modern text you will use throughout this unit: ‘Source A is an original article published on a travel website in 2024.</a:t>
            </a:r>
            <a:endParaRPr lang="en-US" sz="2400" dirty="0"/>
          </a:p>
        </p:txBody>
      </p:sp>
      <p:sp>
        <p:nvSpPr>
          <p:cNvPr id="19" name="point-card"/>
          <p:cNvSpPr/>
          <p:nvPr/>
        </p:nvSpPr>
        <p:spPr>
          <a:xfrm>
            <a:off x="8127797" y="1389888"/>
            <a:ext cx="3515258" cy="3964940"/>
          </a:xfrm>
          <a:prstGeom prst="roundRect">
            <a:avLst>
              <a:gd name="adj" fmla="val 1561"/>
            </a:avLst>
          </a:prstGeom>
          <a:solidFill>
            <a:srgbClr val="F0E4E5"/>
          </a:solidFill>
          <a:ln/>
        </p:spPr>
      </p:sp>
      <p:sp>
        <p:nvSpPr>
          <p:cNvPr id="20" name="point-hex"/>
          <p:cNvSpPr/>
          <p:nvPr/>
        </p:nvSpPr>
        <p:spPr>
          <a:xfrm>
            <a:off x="8310677" y="1572768"/>
            <a:ext cx="685800" cy="593903"/>
          </a:xfrm>
          <a:prstGeom prst="hexagon">
            <a:avLst/>
          </a:prstGeom>
          <a:solidFill>
            <a:srgbClr val="8C2F39"/>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Now read the opening of Source A, ‘Behind the Glass’.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600" b="1" dirty="0">
                <a:solidFill>
                  <a:srgbClr val="8C2F39"/>
                </a:solidFill>
                <a:latin typeface="Cambria" pitchFamily="34" charset="0"/>
                <a:ea typeface="Cambria" pitchFamily="34" charset="-122"/>
                <a:cs typeface="Cambria" pitchFamily="34" charset="-120"/>
              </a:rPr>
              <a:t>Three questions before you read: form, audience, purpose</a:t>
            </a:r>
            <a:endParaRPr lang="en-US" sz="26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quote-panel"/>
          <p:cNvSpPr/>
          <p:nvPr/>
        </p:nvSpPr>
        <p:spPr>
          <a:xfrm>
            <a:off x="548640" y="1389888"/>
            <a:ext cx="11094415" cy="4754880"/>
          </a:xfrm>
          <a:prstGeom prst="roundRect">
            <a:avLst>
              <a:gd name="adj" fmla="val 1154"/>
            </a:avLst>
          </a:prstGeom>
          <a:solidFill>
            <a:srgbClr val="F0E4E5"/>
          </a:solidFill>
          <a:ln/>
        </p:spPr>
      </p:sp>
      <p:sp>
        <p:nvSpPr>
          <p:cNvPr id="8" name="quote-mark"/>
          <p:cNvSpPr txBox="1"/>
          <p:nvPr/>
        </p:nvSpPr>
        <p:spPr>
          <a:xfrm>
            <a:off x="685800" y="1572768"/>
            <a:ext cx="868680" cy="1280160"/>
          </a:xfrm>
          <a:prstGeom prst="rect">
            <a:avLst/>
          </a:prstGeom>
          <a:noFill/>
          <a:ln/>
        </p:spPr>
        <p:txBody>
          <a:bodyPr wrap="square" lIns="63500" tIns="63500" rIns="63500" bIns="63500" rtlCol="0" anchor="t"/>
          <a:lstStyle/>
          <a:p>
            <a:pPr algn="l" indent="0" marL="0">
              <a:buNone/>
            </a:pPr>
            <a:r>
              <a:rPr lang="en-US" sz="7200" b="1" dirty="0">
                <a:solidFill>
                  <a:srgbClr val="B8862B"/>
                </a:solidFill>
                <a:latin typeface="Cambria" pitchFamily="34" charset="0"/>
                <a:ea typeface="Cambria" pitchFamily="34" charset="-122"/>
                <a:cs typeface="Cambria" pitchFamily="34" charset="-120"/>
              </a:rPr>
              <a:t>“</a:t>
            </a:r>
            <a:endParaRPr lang="en-US" sz="7200" dirty="0"/>
          </a:p>
        </p:txBody>
      </p:sp>
      <p:sp>
        <p:nvSpPr>
          <p:cNvPr id="9" name="quote"/>
          <p:cNvSpPr txBox="1"/>
          <p:nvPr/>
        </p:nvSpPr>
        <p:spPr>
          <a:xfrm>
            <a:off x="1600200" y="1664208"/>
            <a:ext cx="9768535" cy="4206240"/>
          </a:xfrm>
          <a:prstGeom prst="rect">
            <a:avLst/>
          </a:prstGeom>
          <a:noFill/>
          <a:ln/>
        </p:spPr>
        <p:txBody>
          <a:bodyPr wrap="square" lIns="63500" tIns="63500" rIns="63500" bIns="63500" rtlCol="0" anchor="ctr"/>
          <a:lstStyle/>
          <a:p>
            <a:pPr algn="l" indent="0" marL="0">
              <a:spcAft>
                <a:spcPts val="1000"/>
              </a:spcAft>
              <a:buNone/>
            </a:pPr>
            <a:r>
              <a:rPr lang="en-US" sz="2200" i="1" dirty="0">
                <a:solidFill>
                  <a:srgbClr val="1E2229"/>
                </a:solidFill>
                <a:latin typeface="Cambria" pitchFamily="34" charset="0"/>
                <a:ea typeface="Cambria" pitchFamily="34" charset="-122"/>
                <a:cs typeface="Cambria" pitchFamily="34" charset="-120"/>
              </a:rPr>
              <a:t>It is nine o’clock on a wet Saturday in March, and I am standing in a queue with two hundred other people, waiting for a wildlife park to open. My daughter, who is six, has been awake since five. She has a plastic giraffe in one hand and a list in the other. The list says: lions, tigers, penguins, the big snake. We have driven for two hours to be here. When the gates finally swing back, the crowd moves as one, past the gift shop and the café and a sign promising a day we will never forget. The first enclosure is the meerkats. Twenty of them sit upright on a mound of sand, turning their heads together like a crowd at a tennis match, and my daughter laughs so hard she drops the giraffe. I laugh too. It is impossible not to. For the first hour, I am completely happy.</a:t>
            </a:r>
            <a:endParaRPr lang="en-US" sz="2200" dirty="0"/>
          </a:p>
          <a:p>
            <a:pPr algn="l" indent="0" marL="0">
              <a:buNone/>
            </a:pPr>
            <a:r>
              <a:rPr lang="en-US" sz="1800" dirty="0">
                <a:solidFill>
                  <a:srgbClr val="4A505C"/>
                </a:solidFill>
                <a:latin typeface="Calibri" pitchFamily="34" charset="0"/>
                <a:ea typeface="Calibri" pitchFamily="34" charset="-122"/>
                <a:cs typeface="Calibri" pitchFamily="34" charset="-120"/>
              </a:rPr>
              <a:t>— Source A, ‘Behind the Glass’, Part 1 — original passage written for Ad Astra</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000" b="1" dirty="0">
                <a:solidFill>
                  <a:srgbClr val="8C2F39"/>
                </a:solidFill>
                <a:latin typeface="Cambria" pitchFamily="34" charset="0"/>
                <a:ea typeface="Cambria" pitchFamily="34" charset="-122"/>
                <a:cs typeface="Cambria" pitchFamily="34" charset="-120"/>
              </a:rPr>
              <a:t>Reading the two sources: beginning, middle, end</a:t>
            </a:r>
            <a:endParaRPr lang="en-US" sz="30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629148"/>
            <a:ext cx="11094415" cy="515620"/>
          </a:xfrm>
          <a:prstGeom prst="roundRect">
            <a:avLst>
              <a:gd name="adj" fmla="val 26601"/>
            </a:avLst>
          </a:prstGeom>
          <a:solidFill>
            <a:srgbClr val="F2E9D9"/>
          </a:solidFill>
          <a:ln w="15875">
            <a:solidFill>
              <a:srgbClr val="B8862B"/>
            </a:solidFill>
            <a:prstDash val="solid"/>
          </a:ln>
        </p:spPr>
      </p:sp>
      <p:sp>
        <p:nvSpPr>
          <p:cNvPr id="8" name="tip-hex"/>
          <p:cNvSpPr/>
          <p:nvPr/>
        </p:nvSpPr>
        <p:spPr>
          <a:xfrm>
            <a:off x="685800" y="5688990"/>
            <a:ext cx="457200" cy="395935"/>
          </a:xfrm>
          <a:prstGeom prst="hexagon">
            <a:avLst/>
          </a:prstGeom>
          <a:solidFill>
            <a:srgbClr val="B8862B"/>
          </a:solidFill>
          <a:ln/>
        </p:spPr>
      </p:sp>
      <p:sp>
        <p:nvSpPr>
          <p:cNvPr id="9" name="tip-hex-label"/>
          <p:cNvSpPr txBox="1"/>
          <p:nvPr/>
        </p:nvSpPr>
        <p:spPr>
          <a:xfrm>
            <a:off x="685800" y="5688990"/>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684012"/>
            <a:ext cx="10225735" cy="405892"/>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You cannot answer Question 4 unless you know how each writer feels at the start and at the end.</a:t>
            </a:r>
            <a:endParaRPr lang="en-US" sz="1800" dirty="0"/>
          </a:p>
        </p:txBody>
      </p:sp>
      <p:sp>
        <p:nvSpPr>
          <p:cNvPr id="11" name="point-card"/>
          <p:cNvSpPr/>
          <p:nvPr/>
        </p:nvSpPr>
        <p:spPr>
          <a:xfrm>
            <a:off x="548640" y="1389888"/>
            <a:ext cx="5410048" cy="3964940"/>
          </a:xfrm>
          <a:prstGeom prst="roundRect">
            <a:avLst>
              <a:gd name="adj" fmla="val 1384"/>
            </a:avLst>
          </a:prstGeom>
          <a:solidFill>
            <a:srgbClr val="F0E4E5"/>
          </a:solidFill>
          <a:ln/>
        </p:spPr>
      </p:sp>
      <p:sp>
        <p:nvSpPr>
          <p:cNvPr id="12" name="point-hex"/>
          <p:cNvSpPr/>
          <p:nvPr/>
        </p:nvSpPr>
        <p:spPr>
          <a:xfrm>
            <a:off x="731520" y="1572768"/>
            <a:ext cx="685800" cy="593903"/>
          </a:xfrm>
          <a:prstGeom prst="hexagon">
            <a:avLst/>
          </a:prstGeom>
          <a:solidFill>
            <a:srgbClr val="8C2F39"/>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504428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Spend about five minutes on Source A. Read with the questions in mind: what is happening at the beginning, in the middle and at the end?</a:t>
            </a:r>
            <a:endParaRPr lang="en-US" sz="2400" dirty="0"/>
          </a:p>
        </p:txBody>
      </p:sp>
      <p:sp>
        <p:nvSpPr>
          <p:cNvPr id="15" name="point-card"/>
          <p:cNvSpPr/>
          <p:nvPr/>
        </p:nvSpPr>
        <p:spPr>
          <a:xfrm>
            <a:off x="6233008" y="1389888"/>
            <a:ext cx="5410048" cy="3964940"/>
          </a:xfrm>
          <a:prstGeom prst="roundRect">
            <a:avLst>
              <a:gd name="adj" fmla="val 1384"/>
            </a:avLst>
          </a:prstGeom>
          <a:solidFill>
            <a:srgbClr val="F4EDDF"/>
          </a:solidFill>
          <a:ln/>
        </p:spPr>
      </p:sp>
      <p:sp>
        <p:nvSpPr>
          <p:cNvPr id="16" name="point-hex"/>
          <p:cNvSpPr/>
          <p:nvPr/>
        </p:nvSpPr>
        <p:spPr>
          <a:xfrm>
            <a:off x="6415888" y="1572768"/>
            <a:ext cx="685800" cy="593903"/>
          </a:xfrm>
          <a:prstGeom prst="hexagon">
            <a:avLst/>
          </a:prstGeom>
          <a:solidFill>
            <a:srgbClr val="B8862B"/>
          </a:solidFill>
          <a:ln/>
        </p:spPr>
      </p:sp>
      <p:sp>
        <p:nvSpPr>
          <p:cNvPr id="17" name="point-hex-label"/>
          <p:cNvSpPr txBox="1"/>
          <p:nvPr/>
        </p:nvSpPr>
        <p:spPr>
          <a:xfrm>
            <a:off x="641588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6415888" y="2350008"/>
            <a:ext cx="504428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Source B is the nineteenth-century text. Its box reads: ‘Source B is an original letter written in 1854 by a young woman, Charlotte, to her sister Harriet, after an afternoon at the Zoological Gardens in London.’ Form: a personal letter.</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000" b="1" dirty="0">
                <a:solidFill>
                  <a:srgbClr val="8C2F39"/>
                </a:solidFill>
                <a:latin typeface="Cambria" pitchFamily="34" charset="0"/>
                <a:ea typeface="Cambria" pitchFamily="34" charset="-122"/>
                <a:cs typeface="Cambria" pitchFamily="34" charset="-120"/>
              </a:rPr>
              <a:t>Reading the two sources: beginning, middle, end</a:t>
            </a:r>
            <a:endParaRPr lang="en-US" sz="30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quote-panel"/>
          <p:cNvSpPr/>
          <p:nvPr/>
        </p:nvSpPr>
        <p:spPr>
          <a:xfrm>
            <a:off x="548640" y="1389888"/>
            <a:ext cx="11094415" cy="4754880"/>
          </a:xfrm>
          <a:prstGeom prst="roundRect">
            <a:avLst>
              <a:gd name="adj" fmla="val 1154"/>
            </a:avLst>
          </a:prstGeom>
          <a:solidFill>
            <a:srgbClr val="F0E4E5"/>
          </a:solidFill>
          <a:ln/>
        </p:spPr>
      </p:sp>
      <p:sp>
        <p:nvSpPr>
          <p:cNvPr id="8" name="quote-mark"/>
          <p:cNvSpPr txBox="1"/>
          <p:nvPr/>
        </p:nvSpPr>
        <p:spPr>
          <a:xfrm>
            <a:off x="685800" y="1572768"/>
            <a:ext cx="868680" cy="1280160"/>
          </a:xfrm>
          <a:prstGeom prst="rect">
            <a:avLst/>
          </a:prstGeom>
          <a:noFill/>
          <a:ln/>
        </p:spPr>
        <p:txBody>
          <a:bodyPr wrap="square" lIns="63500" tIns="63500" rIns="63500" bIns="63500" rtlCol="0" anchor="t"/>
          <a:lstStyle/>
          <a:p>
            <a:pPr algn="l" indent="0" marL="0">
              <a:buNone/>
            </a:pPr>
            <a:r>
              <a:rPr lang="en-US" sz="7200" b="1" dirty="0">
                <a:solidFill>
                  <a:srgbClr val="B8862B"/>
                </a:solidFill>
                <a:latin typeface="Cambria" pitchFamily="34" charset="0"/>
                <a:ea typeface="Cambria" pitchFamily="34" charset="-122"/>
                <a:cs typeface="Cambria" pitchFamily="34" charset="-120"/>
              </a:rPr>
              <a:t>“</a:t>
            </a:r>
            <a:endParaRPr lang="en-US" sz="7200" dirty="0"/>
          </a:p>
        </p:txBody>
      </p:sp>
      <p:sp>
        <p:nvSpPr>
          <p:cNvPr id="9" name="quote"/>
          <p:cNvSpPr txBox="1"/>
          <p:nvPr/>
        </p:nvSpPr>
        <p:spPr>
          <a:xfrm>
            <a:off x="1600200" y="1664208"/>
            <a:ext cx="9768535" cy="4206240"/>
          </a:xfrm>
          <a:prstGeom prst="rect">
            <a:avLst/>
          </a:prstGeom>
          <a:noFill/>
          <a:ln/>
        </p:spPr>
        <p:txBody>
          <a:bodyPr wrap="square" lIns="63500" tIns="63500" rIns="63500" bIns="63500" rtlCol="0" anchor="ctr"/>
          <a:lstStyle/>
          <a:p>
            <a:pPr algn="l" indent="0" marL="0">
              <a:spcAft>
                <a:spcPts val="1000"/>
              </a:spcAft>
              <a:buNone/>
            </a:pPr>
            <a:r>
              <a:rPr lang="en-US" sz="2000" i="1" dirty="0">
                <a:solidFill>
                  <a:srgbClr val="1E2229"/>
                </a:solidFill>
                <a:latin typeface="Cambria" pitchFamily="34" charset="0"/>
                <a:ea typeface="Cambria" pitchFamily="34" charset="-122"/>
                <a:cs typeface="Cambria" pitchFamily="34" charset="-120"/>
              </a:rPr>
              <a:t>My dear Harriet, You will scarcely believe where I have spent this afternoon, and in what company. Aunt Lydia, who declares that fresh air is the only physician she trusts, carried us off after luncheon to the Zoological Gardens, and I confess I have never passed three hours more agreeably in my life. The weather was exceedingly fine. The walks were thronged with ladies in their best bonnets and gentlemen who had plainly come to be looked at rather than to look, and the band played so loudly beside the bear pit that the poor beast sat down and covered its ears. We saw the elephant, who took a bun from my very hand with a trunk as gentle as a kitten; we saw the giraffes, which Aunt Lydia pronounced to be an impossibility; and we saw a camel, which regarded us with such an expression of contempt that Cousin Edward laughed until he was obliged to sit upon a bench.</a:t>
            </a:r>
            <a:endParaRPr lang="en-US" sz="2000" dirty="0"/>
          </a:p>
          <a:p>
            <a:pPr algn="l" indent="0" marL="0">
              <a:buNone/>
            </a:pPr>
            <a:r>
              <a:rPr lang="en-US" sz="1800" dirty="0">
                <a:solidFill>
                  <a:srgbClr val="4A505C"/>
                </a:solidFill>
                <a:latin typeface="Calibri" pitchFamily="34" charset="0"/>
                <a:ea typeface="Calibri" pitchFamily="34" charset="-122"/>
                <a:cs typeface="Calibri" pitchFamily="34" charset="-120"/>
              </a:rPr>
              <a:t>— Source B, Charlotte’s letter (1854), Part 1 — original passage written for Ad Astra</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The task: Match each question to its job</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618488"/>
            <a:ext cx="8534095" cy="498856"/>
          </a:xfrm>
          <a:prstGeom prst="rect">
            <a:avLst/>
          </a:prstGeom>
          <a:noFill/>
          <a:ln/>
        </p:spPr>
        <p:txBody>
          <a:bodyPr wrap="square" lIns="63500" tIns="63500" rIns="63500" bIns="63500" rtlCol="0" anchor="t"/>
          <a:lstStyle/>
          <a:p>
            <a:pPr algn="ctr" indent="0" marL="0">
              <a:buNone/>
            </a:pPr>
            <a:r>
              <a:rPr lang="en-US" sz="2400" b="1" dirty="0">
                <a:solidFill>
                  <a:srgbClr val="1E2229"/>
                </a:solidFill>
                <a:latin typeface="Calibri" pitchFamily="34" charset="0"/>
                <a:ea typeface="Calibri" pitchFamily="34" charset="-122"/>
                <a:cs typeface="Calibri" pitchFamily="34" charset="-120"/>
              </a:rPr>
              <a:t>Match each Paper 2 question to what it asks you to do.</a:t>
            </a:r>
            <a:endParaRPr lang="en-US" sz="2400" dirty="0"/>
          </a:p>
        </p:txBody>
      </p:sp>
      <p:sp>
        <p:nvSpPr>
          <p:cNvPr id="11" name="match-card"/>
          <p:cNvSpPr/>
          <p:nvPr/>
        </p:nvSpPr>
        <p:spPr>
          <a:xfrm>
            <a:off x="777240" y="2468331"/>
            <a:ext cx="3081437" cy="509735"/>
          </a:xfrm>
          <a:prstGeom prst="roundRect">
            <a:avLst>
              <a:gd name="adj" fmla="val 14351"/>
            </a:avLst>
          </a:prstGeom>
          <a:solidFill>
            <a:srgbClr val="F2E8E9"/>
          </a:solidFill>
          <a:ln/>
        </p:spPr>
      </p:sp>
      <p:sp>
        <p:nvSpPr>
          <p:cNvPr id="12" name="match-hex"/>
          <p:cNvSpPr/>
          <p:nvPr/>
        </p:nvSpPr>
        <p:spPr>
          <a:xfrm>
            <a:off x="850392" y="2556906"/>
            <a:ext cx="384048" cy="332586"/>
          </a:xfrm>
          <a:prstGeom prst="hexagon">
            <a:avLst/>
          </a:prstGeom>
          <a:solidFill>
            <a:srgbClr val="8C2F39"/>
          </a:solidFill>
          <a:ln/>
        </p:spPr>
      </p:sp>
      <p:sp>
        <p:nvSpPr>
          <p:cNvPr id="13" name="match-hex-label"/>
          <p:cNvSpPr txBox="1"/>
          <p:nvPr/>
        </p:nvSpPr>
        <p:spPr>
          <a:xfrm>
            <a:off x="850392" y="2556906"/>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4" name="match-text"/>
          <p:cNvSpPr txBox="1"/>
          <p:nvPr/>
        </p:nvSpPr>
        <p:spPr>
          <a:xfrm>
            <a:off x="1298448" y="2468331"/>
            <a:ext cx="2487077" cy="509735"/>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Question 1</a:t>
            </a:r>
            <a:endParaRPr lang="en-US" sz="2000" dirty="0"/>
          </a:p>
        </p:txBody>
      </p:sp>
      <p:sp>
        <p:nvSpPr>
          <p:cNvPr id="15" name="match-card"/>
          <p:cNvSpPr/>
          <p:nvPr/>
        </p:nvSpPr>
        <p:spPr>
          <a:xfrm>
            <a:off x="4224437" y="2468331"/>
            <a:ext cx="7190019" cy="509735"/>
          </a:xfrm>
          <a:prstGeom prst="roundRect">
            <a:avLst>
              <a:gd name="adj" fmla="val 14351"/>
            </a:avLst>
          </a:prstGeom>
          <a:solidFill>
            <a:srgbClr val="F4EDDF"/>
          </a:solidFill>
          <a:ln/>
        </p:spPr>
      </p:sp>
      <p:sp>
        <p:nvSpPr>
          <p:cNvPr id="16" name="match-hex"/>
          <p:cNvSpPr/>
          <p:nvPr/>
        </p:nvSpPr>
        <p:spPr>
          <a:xfrm>
            <a:off x="4297589" y="2556906"/>
            <a:ext cx="384048" cy="332586"/>
          </a:xfrm>
          <a:prstGeom prst="hexagon">
            <a:avLst/>
          </a:prstGeom>
          <a:solidFill>
            <a:srgbClr val="B8862B"/>
          </a:solidFill>
          <a:ln/>
        </p:spPr>
      </p:sp>
      <p:sp>
        <p:nvSpPr>
          <p:cNvPr id="17" name="match-hex-label"/>
          <p:cNvSpPr txBox="1"/>
          <p:nvPr/>
        </p:nvSpPr>
        <p:spPr>
          <a:xfrm>
            <a:off x="4297589" y="2556906"/>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8" name="match-text"/>
          <p:cNvSpPr txBox="1"/>
          <p:nvPr/>
        </p:nvSpPr>
        <p:spPr>
          <a:xfrm>
            <a:off x="4745645" y="2468331"/>
            <a:ext cx="6595659" cy="509735"/>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Choose the true statements about the opening of Source A</a:t>
            </a:r>
            <a:endParaRPr lang="en-US" sz="2000" dirty="0"/>
          </a:p>
        </p:txBody>
      </p:sp>
      <p:sp>
        <p:nvSpPr>
          <p:cNvPr id="19" name="match-card"/>
          <p:cNvSpPr/>
          <p:nvPr/>
        </p:nvSpPr>
        <p:spPr>
          <a:xfrm>
            <a:off x="777240" y="3069507"/>
            <a:ext cx="3081437" cy="799295"/>
          </a:xfrm>
          <a:prstGeom prst="roundRect">
            <a:avLst>
              <a:gd name="adj" fmla="val 9152"/>
            </a:avLst>
          </a:prstGeom>
          <a:solidFill>
            <a:srgbClr val="F2E8E9"/>
          </a:solidFill>
          <a:ln/>
        </p:spPr>
      </p:sp>
      <p:sp>
        <p:nvSpPr>
          <p:cNvPr id="20" name="match-hex"/>
          <p:cNvSpPr/>
          <p:nvPr/>
        </p:nvSpPr>
        <p:spPr>
          <a:xfrm>
            <a:off x="850392" y="3302862"/>
            <a:ext cx="384048" cy="332586"/>
          </a:xfrm>
          <a:prstGeom prst="hexagon">
            <a:avLst/>
          </a:prstGeom>
          <a:solidFill>
            <a:srgbClr val="8C2F39"/>
          </a:solidFill>
          <a:ln/>
        </p:spPr>
      </p:sp>
      <p:sp>
        <p:nvSpPr>
          <p:cNvPr id="21" name="match-hex-label"/>
          <p:cNvSpPr txBox="1"/>
          <p:nvPr/>
        </p:nvSpPr>
        <p:spPr>
          <a:xfrm>
            <a:off x="850392" y="3302862"/>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2" name="match-text"/>
          <p:cNvSpPr txBox="1"/>
          <p:nvPr/>
        </p:nvSpPr>
        <p:spPr>
          <a:xfrm>
            <a:off x="1298448" y="3069507"/>
            <a:ext cx="2487077" cy="799295"/>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Question 2</a:t>
            </a:r>
            <a:endParaRPr lang="en-US" sz="2000" dirty="0"/>
          </a:p>
        </p:txBody>
      </p:sp>
      <p:sp>
        <p:nvSpPr>
          <p:cNvPr id="23" name="match-card"/>
          <p:cNvSpPr/>
          <p:nvPr/>
        </p:nvSpPr>
        <p:spPr>
          <a:xfrm>
            <a:off x="4224437" y="3069507"/>
            <a:ext cx="7190019" cy="799295"/>
          </a:xfrm>
          <a:prstGeom prst="roundRect">
            <a:avLst>
              <a:gd name="adj" fmla="val 9152"/>
            </a:avLst>
          </a:prstGeom>
          <a:solidFill>
            <a:srgbClr val="F4EDDF"/>
          </a:solidFill>
          <a:ln/>
        </p:spPr>
      </p:sp>
      <p:sp>
        <p:nvSpPr>
          <p:cNvPr id="24" name="match-hex"/>
          <p:cNvSpPr/>
          <p:nvPr/>
        </p:nvSpPr>
        <p:spPr>
          <a:xfrm>
            <a:off x="4297589" y="3302862"/>
            <a:ext cx="384048" cy="332586"/>
          </a:xfrm>
          <a:prstGeom prst="hexagon">
            <a:avLst/>
          </a:prstGeom>
          <a:solidFill>
            <a:srgbClr val="B8862B"/>
          </a:solidFill>
          <a:ln/>
        </p:spPr>
      </p:sp>
      <p:sp>
        <p:nvSpPr>
          <p:cNvPr id="25" name="match-hex-label"/>
          <p:cNvSpPr txBox="1"/>
          <p:nvPr/>
        </p:nvSpPr>
        <p:spPr>
          <a:xfrm>
            <a:off x="4297589" y="3302862"/>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26" name="match-text"/>
          <p:cNvSpPr txBox="1"/>
          <p:nvPr/>
        </p:nvSpPr>
        <p:spPr>
          <a:xfrm>
            <a:off x="4745645" y="3069507"/>
            <a:ext cx="6595659" cy="799295"/>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Infer the differences (or similarities) between the two sources</a:t>
            </a:r>
            <a:endParaRPr lang="en-US" sz="2000" dirty="0"/>
          </a:p>
        </p:txBody>
      </p:sp>
      <p:sp>
        <p:nvSpPr>
          <p:cNvPr id="27" name="match-card"/>
          <p:cNvSpPr/>
          <p:nvPr/>
        </p:nvSpPr>
        <p:spPr>
          <a:xfrm>
            <a:off x="777240" y="3960242"/>
            <a:ext cx="3081437" cy="509735"/>
          </a:xfrm>
          <a:prstGeom prst="roundRect">
            <a:avLst>
              <a:gd name="adj" fmla="val 14351"/>
            </a:avLst>
          </a:prstGeom>
          <a:solidFill>
            <a:srgbClr val="F2E8E9"/>
          </a:solidFill>
          <a:ln/>
        </p:spPr>
      </p:sp>
      <p:sp>
        <p:nvSpPr>
          <p:cNvPr id="28" name="match-hex"/>
          <p:cNvSpPr/>
          <p:nvPr/>
        </p:nvSpPr>
        <p:spPr>
          <a:xfrm>
            <a:off x="850392" y="4048817"/>
            <a:ext cx="384048" cy="332586"/>
          </a:xfrm>
          <a:prstGeom prst="hexagon">
            <a:avLst/>
          </a:prstGeom>
          <a:solidFill>
            <a:srgbClr val="8C2F39"/>
          </a:solidFill>
          <a:ln/>
        </p:spPr>
      </p:sp>
      <p:sp>
        <p:nvSpPr>
          <p:cNvPr id="29" name="match-hex-label"/>
          <p:cNvSpPr txBox="1"/>
          <p:nvPr/>
        </p:nvSpPr>
        <p:spPr>
          <a:xfrm>
            <a:off x="850392" y="4048817"/>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30" name="match-text"/>
          <p:cNvSpPr txBox="1"/>
          <p:nvPr/>
        </p:nvSpPr>
        <p:spPr>
          <a:xfrm>
            <a:off x="1298448" y="3960242"/>
            <a:ext cx="2487077" cy="509735"/>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Question 3</a:t>
            </a:r>
            <a:endParaRPr lang="en-US" sz="2000" dirty="0"/>
          </a:p>
        </p:txBody>
      </p:sp>
      <p:sp>
        <p:nvSpPr>
          <p:cNvPr id="31" name="match-card"/>
          <p:cNvSpPr/>
          <p:nvPr/>
        </p:nvSpPr>
        <p:spPr>
          <a:xfrm>
            <a:off x="4224437" y="3960242"/>
            <a:ext cx="7190019" cy="509735"/>
          </a:xfrm>
          <a:prstGeom prst="roundRect">
            <a:avLst>
              <a:gd name="adj" fmla="val 14351"/>
            </a:avLst>
          </a:prstGeom>
          <a:solidFill>
            <a:srgbClr val="F4EDDF"/>
          </a:solidFill>
          <a:ln/>
        </p:spPr>
      </p:sp>
      <p:sp>
        <p:nvSpPr>
          <p:cNvPr id="32" name="match-hex"/>
          <p:cNvSpPr/>
          <p:nvPr/>
        </p:nvSpPr>
        <p:spPr>
          <a:xfrm>
            <a:off x="4297589" y="4048817"/>
            <a:ext cx="384048" cy="332586"/>
          </a:xfrm>
          <a:prstGeom prst="hexagon">
            <a:avLst/>
          </a:prstGeom>
          <a:solidFill>
            <a:srgbClr val="B8862B"/>
          </a:solidFill>
          <a:ln/>
        </p:spPr>
      </p:sp>
      <p:sp>
        <p:nvSpPr>
          <p:cNvPr id="33" name="match-hex-label"/>
          <p:cNvSpPr txBox="1"/>
          <p:nvPr/>
        </p:nvSpPr>
        <p:spPr>
          <a:xfrm>
            <a:off x="4297589" y="4048817"/>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34" name="match-text"/>
          <p:cNvSpPr txBox="1"/>
          <p:nvPr/>
        </p:nvSpPr>
        <p:spPr>
          <a:xfrm>
            <a:off x="4745645" y="3960242"/>
            <a:ext cx="6595659" cy="509735"/>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Write your own non-fiction, giving your point of view</a:t>
            </a:r>
            <a:endParaRPr lang="en-US" sz="2000" dirty="0"/>
          </a:p>
        </p:txBody>
      </p:sp>
      <p:sp>
        <p:nvSpPr>
          <p:cNvPr id="35" name="match-card"/>
          <p:cNvSpPr/>
          <p:nvPr/>
        </p:nvSpPr>
        <p:spPr>
          <a:xfrm>
            <a:off x="777240" y="4561417"/>
            <a:ext cx="3081437" cy="799295"/>
          </a:xfrm>
          <a:prstGeom prst="roundRect">
            <a:avLst>
              <a:gd name="adj" fmla="val 9152"/>
            </a:avLst>
          </a:prstGeom>
          <a:solidFill>
            <a:srgbClr val="F2E8E9"/>
          </a:solidFill>
          <a:ln/>
        </p:spPr>
      </p:sp>
      <p:sp>
        <p:nvSpPr>
          <p:cNvPr id="36" name="match-hex"/>
          <p:cNvSpPr/>
          <p:nvPr/>
        </p:nvSpPr>
        <p:spPr>
          <a:xfrm>
            <a:off x="850392" y="4794772"/>
            <a:ext cx="384048" cy="332586"/>
          </a:xfrm>
          <a:prstGeom prst="hexagon">
            <a:avLst/>
          </a:prstGeom>
          <a:solidFill>
            <a:srgbClr val="8C2F39"/>
          </a:solidFill>
          <a:ln/>
        </p:spPr>
      </p:sp>
      <p:sp>
        <p:nvSpPr>
          <p:cNvPr id="37" name="match-hex-label"/>
          <p:cNvSpPr txBox="1"/>
          <p:nvPr/>
        </p:nvSpPr>
        <p:spPr>
          <a:xfrm>
            <a:off x="850392" y="4794772"/>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38" name="match-text"/>
          <p:cNvSpPr txBox="1"/>
          <p:nvPr/>
        </p:nvSpPr>
        <p:spPr>
          <a:xfrm>
            <a:off x="1298448" y="4561417"/>
            <a:ext cx="2487077" cy="799295"/>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Question 4</a:t>
            </a:r>
            <a:endParaRPr lang="en-US" sz="2000" dirty="0"/>
          </a:p>
        </p:txBody>
      </p:sp>
      <p:sp>
        <p:nvSpPr>
          <p:cNvPr id="39" name="match-card"/>
          <p:cNvSpPr/>
          <p:nvPr/>
        </p:nvSpPr>
        <p:spPr>
          <a:xfrm>
            <a:off x="4224437" y="4561417"/>
            <a:ext cx="7190019" cy="799295"/>
          </a:xfrm>
          <a:prstGeom prst="roundRect">
            <a:avLst>
              <a:gd name="adj" fmla="val 9152"/>
            </a:avLst>
          </a:prstGeom>
          <a:solidFill>
            <a:srgbClr val="F4EDDF"/>
          </a:solidFill>
          <a:ln/>
        </p:spPr>
      </p:sp>
      <p:sp>
        <p:nvSpPr>
          <p:cNvPr id="40" name="match-hex"/>
          <p:cNvSpPr/>
          <p:nvPr/>
        </p:nvSpPr>
        <p:spPr>
          <a:xfrm>
            <a:off x="4297589" y="4794772"/>
            <a:ext cx="384048" cy="332586"/>
          </a:xfrm>
          <a:prstGeom prst="hexagon">
            <a:avLst/>
          </a:prstGeom>
          <a:solidFill>
            <a:srgbClr val="B8862B"/>
          </a:solidFill>
          <a:ln/>
        </p:spPr>
      </p:sp>
      <p:sp>
        <p:nvSpPr>
          <p:cNvPr id="41" name="match-hex-label"/>
          <p:cNvSpPr txBox="1"/>
          <p:nvPr/>
        </p:nvSpPr>
        <p:spPr>
          <a:xfrm>
            <a:off x="4297589" y="4794772"/>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42" name="match-text"/>
          <p:cNvSpPr txBox="1"/>
          <p:nvPr/>
        </p:nvSpPr>
        <p:spPr>
          <a:xfrm>
            <a:off x="4745645" y="4561417"/>
            <a:ext cx="6595659" cy="799295"/>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Compare the writers’ perspectives and comment on their methods</a:t>
            </a:r>
            <a:endParaRPr lang="en-US" sz="2000" dirty="0"/>
          </a:p>
        </p:txBody>
      </p:sp>
      <p:sp>
        <p:nvSpPr>
          <p:cNvPr id="43" name="match-card"/>
          <p:cNvSpPr/>
          <p:nvPr/>
        </p:nvSpPr>
        <p:spPr>
          <a:xfrm>
            <a:off x="777240" y="5452153"/>
            <a:ext cx="3081437" cy="509735"/>
          </a:xfrm>
          <a:prstGeom prst="roundRect">
            <a:avLst>
              <a:gd name="adj" fmla="val 14351"/>
            </a:avLst>
          </a:prstGeom>
          <a:solidFill>
            <a:srgbClr val="F2E8E9"/>
          </a:solidFill>
          <a:ln/>
        </p:spPr>
      </p:sp>
      <p:sp>
        <p:nvSpPr>
          <p:cNvPr id="44" name="match-hex"/>
          <p:cNvSpPr/>
          <p:nvPr/>
        </p:nvSpPr>
        <p:spPr>
          <a:xfrm>
            <a:off x="850392" y="5540728"/>
            <a:ext cx="384048" cy="332586"/>
          </a:xfrm>
          <a:prstGeom prst="hexagon">
            <a:avLst/>
          </a:prstGeom>
          <a:solidFill>
            <a:srgbClr val="8C2F39"/>
          </a:solidFill>
          <a:ln/>
        </p:spPr>
      </p:sp>
      <p:sp>
        <p:nvSpPr>
          <p:cNvPr id="45" name="match-hex-label"/>
          <p:cNvSpPr txBox="1"/>
          <p:nvPr/>
        </p:nvSpPr>
        <p:spPr>
          <a:xfrm>
            <a:off x="850392" y="5540728"/>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46" name="match-text"/>
          <p:cNvSpPr txBox="1"/>
          <p:nvPr/>
        </p:nvSpPr>
        <p:spPr>
          <a:xfrm>
            <a:off x="1298448" y="5452153"/>
            <a:ext cx="2487077" cy="509735"/>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Question 5</a:t>
            </a:r>
            <a:endParaRPr lang="en-US" sz="2000" dirty="0"/>
          </a:p>
        </p:txBody>
      </p:sp>
      <p:sp>
        <p:nvSpPr>
          <p:cNvPr id="47" name="match-card"/>
          <p:cNvSpPr/>
          <p:nvPr/>
        </p:nvSpPr>
        <p:spPr>
          <a:xfrm>
            <a:off x="4224437" y="5452153"/>
            <a:ext cx="7190019" cy="509735"/>
          </a:xfrm>
          <a:prstGeom prst="roundRect">
            <a:avLst>
              <a:gd name="adj" fmla="val 14351"/>
            </a:avLst>
          </a:prstGeom>
          <a:solidFill>
            <a:srgbClr val="F4EDDF"/>
          </a:solidFill>
          <a:ln/>
        </p:spPr>
      </p:sp>
      <p:sp>
        <p:nvSpPr>
          <p:cNvPr id="48" name="match-hex"/>
          <p:cNvSpPr/>
          <p:nvPr/>
        </p:nvSpPr>
        <p:spPr>
          <a:xfrm>
            <a:off x="4297589" y="5540728"/>
            <a:ext cx="384048" cy="332586"/>
          </a:xfrm>
          <a:prstGeom prst="hexagon">
            <a:avLst/>
          </a:prstGeom>
          <a:solidFill>
            <a:srgbClr val="B8862B"/>
          </a:solidFill>
          <a:ln/>
        </p:spPr>
      </p:sp>
      <p:sp>
        <p:nvSpPr>
          <p:cNvPr id="49" name="match-hex-label"/>
          <p:cNvSpPr txBox="1"/>
          <p:nvPr/>
        </p:nvSpPr>
        <p:spPr>
          <a:xfrm>
            <a:off x="4297589" y="5540728"/>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E</a:t>
            </a:r>
            <a:endParaRPr lang="en-US" sz="1800" dirty="0"/>
          </a:p>
        </p:txBody>
      </p:sp>
      <p:sp>
        <p:nvSpPr>
          <p:cNvPr id="50" name="match-text"/>
          <p:cNvSpPr txBox="1"/>
          <p:nvPr/>
        </p:nvSpPr>
        <p:spPr>
          <a:xfrm>
            <a:off x="4745645" y="5452153"/>
            <a:ext cx="6595659" cy="509735"/>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Analyse how one writer uses language</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600" b="1" dirty="0">
                <a:solidFill>
                  <a:srgbClr val="8C2F39"/>
                </a:solidFill>
                <a:latin typeface="Cambria" pitchFamily="34" charset="0"/>
                <a:ea typeface="Cambria" pitchFamily="34" charset="-122"/>
                <a:cs typeface="Cambria" pitchFamily="34" charset="-120"/>
              </a:rPr>
              <a:t>Same task, three ways in: Match each question to its job</a:t>
            </a:r>
            <a:endParaRPr lang="en-US" sz="26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14400"/>
          </a:xfrm>
          <a:prstGeom prst="roundRect">
            <a:avLst>
              <a:gd name="adj" fmla="val 10000"/>
            </a:avLst>
          </a:prstGeom>
          <a:solidFill>
            <a:srgbClr val="FFFFFF"/>
          </a:solidFill>
          <a:ln w="31750">
            <a:solidFill>
              <a:srgbClr val="B8862B"/>
            </a:solidFill>
            <a:prstDash val="solid"/>
          </a:ln>
        </p:spPr>
      </p:sp>
      <p:sp>
        <p:nvSpPr>
          <p:cNvPr id="8" name="task-hex"/>
          <p:cNvSpPr/>
          <p:nvPr/>
        </p:nvSpPr>
        <p:spPr>
          <a:xfrm>
            <a:off x="777240" y="1530340"/>
            <a:ext cx="731520" cy="633496"/>
          </a:xfrm>
          <a:prstGeom prst="hexagon">
            <a:avLst/>
          </a:prstGeom>
          <a:solidFill>
            <a:srgbClr val="B8862B"/>
          </a:solidFill>
          <a:ln/>
        </p:spPr>
      </p:sp>
      <p:sp>
        <p:nvSpPr>
          <p:cNvPr id="9" name="task-hex-label"/>
          <p:cNvSpPr txBox="1"/>
          <p:nvPr/>
        </p:nvSpPr>
        <p:spPr>
          <a:xfrm>
            <a:off x="777240" y="153034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57276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3152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Match each Paper 2 question to what it asks you to do.</a:t>
            </a:r>
            <a:endParaRPr lang="en-US" sz="2000" dirty="0"/>
          </a:p>
        </p:txBody>
      </p:sp>
      <p:sp>
        <p:nvSpPr>
          <p:cNvPr id="12" name="col-Support"/>
          <p:cNvSpPr/>
          <p:nvPr/>
        </p:nvSpPr>
        <p:spPr>
          <a:xfrm>
            <a:off x="548640" y="2578608"/>
            <a:ext cx="4667802" cy="3566160"/>
          </a:xfrm>
          <a:prstGeom prst="roundRect">
            <a:avLst>
              <a:gd name="adj" fmla="val 1538"/>
            </a:avLst>
          </a:prstGeom>
          <a:solidFill>
            <a:srgbClr val="F0E4E5"/>
          </a:solidFill>
          <a:ln/>
        </p:spPr>
      </p:sp>
      <p:sp>
        <p:nvSpPr>
          <p:cNvPr id="13" name="col-hex"/>
          <p:cNvSpPr/>
          <p:nvPr/>
        </p:nvSpPr>
        <p:spPr>
          <a:xfrm>
            <a:off x="658368" y="265176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15184"/>
            <a:ext cx="3936282" cy="566928"/>
          </a:xfrm>
          <a:prstGeom prst="rect">
            <a:avLst/>
          </a:prstGeom>
          <a:noFill/>
          <a:ln/>
        </p:spPr>
        <p:txBody>
          <a:bodyPr wrap="square" lIns="63500" tIns="63500" rIns="63500" bIns="63500" rtlCol="0" anchor="ctr"/>
          <a:lstStyle/>
          <a:p>
            <a:pPr algn="l" indent="0" marL="0">
              <a:buNone/>
            </a:pPr>
            <a:r>
              <a:rPr lang="en-US" sz="2000" b="1" dirty="0">
                <a:solidFill>
                  <a:srgbClr val="622128"/>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18688"/>
            <a:ext cx="4393482" cy="281635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8C2F39"/>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Questions 1 to 4 are reading; Question 5 is writing.</a:t>
            </a:r>
            <a:endParaRPr lang="en-US" sz="1800" dirty="0"/>
          </a:p>
          <a:p>
            <a:pPr algn="l" indent="0" marL="0">
              <a:spcAft>
                <a:spcPts val="600"/>
              </a:spcAft>
              <a:buNone/>
            </a:pPr>
            <a:r>
              <a:rPr lang="en-US" sz="1800" b="1" dirty="0">
                <a:solidFill>
                  <a:srgbClr val="8C2F39"/>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Question 1 is the quickest: true statements about Source A only.</a:t>
            </a:r>
            <a:endParaRPr lang="en-US" sz="1800" dirty="0"/>
          </a:p>
          <a:p>
            <a:pPr algn="l" indent="0" marL="0">
              <a:spcAft>
                <a:spcPts val="600"/>
              </a:spcAft>
              <a:buNone/>
            </a:pPr>
            <a:r>
              <a:rPr lang="en-US" sz="1800" b="1" dirty="0">
                <a:solidFill>
                  <a:srgbClr val="8C2F39"/>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Question 2 is the first one that uses both sources: inference.</a:t>
            </a:r>
            <a:endParaRPr lang="en-US" sz="1800" dirty="0"/>
          </a:p>
          <a:p>
            <a:pPr algn="l" indent="0" marL="0">
              <a:spcAft>
                <a:spcPts val="600"/>
              </a:spcAft>
              <a:buNone/>
            </a:pPr>
            <a:r>
              <a:rPr lang="en-US" sz="1800" b="1" dirty="0">
                <a:solidFill>
                  <a:srgbClr val="8C2F39"/>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Question 3 is language in one source; Question 4 is perspectives across both.</a:t>
            </a:r>
            <a:endParaRPr lang="en-US" sz="1800" dirty="0"/>
          </a:p>
        </p:txBody>
      </p:sp>
      <p:sp>
        <p:nvSpPr>
          <p:cNvPr id="17" name="col-Core"/>
          <p:cNvSpPr/>
          <p:nvPr/>
        </p:nvSpPr>
        <p:spPr>
          <a:xfrm>
            <a:off x="5490762" y="2578608"/>
            <a:ext cx="2938987" cy="3566160"/>
          </a:xfrm>
          <a:prstGeom prst="roundRect">
            <a:avLst>
              <a:gd name="adj" fmla="val 1867"/>
            </a:avLst>
          </a:prstGeom>
          <a:solidFill>
            <a:srgbClr val="E2CBCE"/>
          </a:solidFill>
          <a:ln/>
        </p:spPr>
      </p:sp>
      <p:sp>
        <p:nvSpPr>
          <p:cNvPr id="18" name="col-hex"/>
          <p:cNvSpPr/>
          <p:nvPr/>
        </p:nvSpPr>
        <p:spPr>
          <a:xfrm>
            <a:off x="5600490" y="265176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615184"/>
            <a:ext cx="2207467" cy="566928"/>
          </a:xfrm>
          <a:prstGeom prst="rect">
            <a:avLst/>
          </a:prstGeom>
          <a:noFill/>
          <a:ln/>
        </p:spPr>
        <p:txBody>
          <a:bodyPr wrap="square" lIns="63500" tIns="63500" rIns="63500" bIns="63500" rtlCol="0" anchor="ctr"/>
          <a:lstStyle/>
          <a:p>
            <a:pPr algn="l" indent="0" marL="0">
              <a:buNone/>
            </a:pPr>
            <a:r>
              <a:rPr lang="en-US" sz="2000" b="1" dirty="0">
                <a:solidFill>
                  <a:srgbClr val="622128"/>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218688"/>
            <a:ext cx="2664667" cy="2816352"/>
          </a:xfrm>
          <a:prstGeom prst="rect">
            <a:avLst/>
          </a:prstGeom>
          <a:noFill/>
          <a:ln/>
        </p:spPr>
        <p:txBody>
          <a:bodyPr wrap="square" lIns="63500" tIns="63500" rIns="63500" bIns="63500" rtlCol="0" anchor="t"/>
          <a:lstStyle/>
          <a:p>
            <a:pPr algn="l" indent="0" marL="0">
              <a:buNone/>
            </a:pPr>
            <a:r>
              <a:rPr lang="en-US" sz="1800" b="1" dirty="0">
                <a:solidFill>
                  <a:srgbClr val="70262E"/>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Language is Question 3; perspectives are Question 4. Both sources appear in the even-numbered questions.</a:t>
            </a:r>
            <a:endParaRPr lang="en-US" sz="1800" dirty="0"/>
          </a:p>
        </p:txBody>
      </p:sp>
      <p:sp>
        <p:nvSpPr>
          <p:cNvPr id="22" name="col-Stretch"/>
          <p:cNvSpPr/>
          <p:nvPr/>
        </p:nvSpPr>
        <p:spPr>
          <a:xfrm>
            <a:off x="8704069" y="2578608"/>
            <a:ext cx="2938987" cy="3566160"/>
          </a:xfrm>
          <a:prstGeom prst="roundRect">
            <a:avLst>
              <a:gd name="adj" fmla="val 1867"/>
            </a:avLst>
          </a:prstGeom>
          <a:solidFill>
            <a:srgbClr val="8C2F39"/>
          </a:solidFill>
          <a:ln/>
        </p:spPr>
      </p:sp>
      <p:sp>
        <p:nvSpPr>
          <p:cNvPr id="23" name="col-hex"/>
          <p:cNvSpPr/>
          <p:nvPr/>
        </p:nvSpPr>
        <p:spPr>
          <a:xfrm>
            <a:off x="8813797" y="265176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61518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218688"/>
            <a:ext cx="2664667" cy="281635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Explain why Question 4 needs the skills from both Question 2 and Question 3.</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The task: Plan your time</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Put the stages of the exam in the order you should do them.</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Question 3: language (15 minutes)</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Question 5: plan, write and check (45 minutes)</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Question 1: true statements (2 minutes)</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Question 2: inference (10 minutes)</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E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Question 4: perspectives (20 minutes)</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F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Read the questions and both sources (13 minutes)</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Same task, three ways in: Plan your time</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14400"/>
          </a:xfrm>
          <a:prstGeom prst="roundRect">
            <a:avLst>
              <a:gd name="adj" fmla="val 10000"/>
            </a:avLst>
          </a:prstGeom>
          <a:solidFill>
            <a:srgbClr val="FFFFFF"/>
          </a:solidFill>
          <a:ln w="31750">
            <a:solidFill>
              <a:srgbClr val="B8862B"/>
            </a:solidFill>
            <a:prstDash val="solid"/>
          </a:ln>
        </p:spPr>
      </p:sp>
      <p:sp>
        <p:nvSpPr>
          <p:cNvPr id="8" name="task-hex"/>
          <p:cNvSpPr/>
          <p:nvPr/>
        </p:nvSpPr>
        <p:spPr>
          <a:xfrm>
            <a:off x="777240" y="1530340"/>
            <a:ext cx="731520" cy="633496"/>
          </a:xfrm>
          <a:prstGeom prst="hexagon">
            <a:avLst/>
          </a:prstGeom>
          <a:solidFill>
            <a:srgbClr val="B8862B"/>
          </a:solidFill>
          <a:ln/>
        </p:spPr>
      </p:sp>
      <p:sp>
        <p:nvSpPr>
          <p:cNvPr id="9" name="task-hex-label"/>
          <p:cNvSpPr txBox="1"/>
          <p:nvPr/>
        </p:nvSpPr>
        <p:spPr>
          <a:xfrm>
            <a:off x="777240" y="153034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57276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3152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Put the stages of the exam in the order you should do them.</a:t>
            </a:r>
            <a:endParaRPr lang="en-US" sz="2000" dirty="0"/>
          </a:p>
        </p:txBody>
      </p:sp>
      <p:sp>
        <p:nvSpPr>
          <p:cNvPr id="12" name="col-Support"/>
          <p:cNvSpPr/>
          <p:nvPr/>
        </p:nvSpPr>
        <p:spPr>
          <a:xfrm>
            <a:off x="548640" y="2578608"/>
            <a:ext cx="3515258" cy="3566160"/>
          </a:xfrm>
          <a:prstGeom prst="roundRect">
            <a:avLst>
              <a:gd name="adj" fmla="val 1561"/>
            </a:avLst>
          </a:prstGeom>
          <a:solidFill>
            <a:srgbClr val="F0E4E5"/>
          </a:solidFill>
          <a:ln/>
        </p:spPr>
      </p:sp>
      <p:sp>
        <p:nvSpPr>
          <p:cNvPr id="13" name="col-hex"/>
          <p:cNvSpPr/>
          <p:nvPr/>
        </p:nvSpPr>
        <p:spPr>
          <a:xfrm>
            <a:off x="658368" y="265176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15184"/>
            <a:ext cx="2783738" cy="566928"/>
          </a:xfrm>
          <a:prstGeom prst="rect">
            <a:avLst/>
          </a:prstGeom>
          <a:noFill/>
          <a:ln/>
        </p:spPr>
        <p:txBody>
          <a:bodyPr wrap="square" lIns="63500" tIns="63500" rIns="63500" bIns="63500" rtlCol="0" anchor="ctr"/>
          <a:lstStyle/>
          <a:p>
            <a:pPr algn="l" indent="0" marL="0">
              <a:buNone/>
            </a:pPr>
            <a:r>
              <a:rPr lang="en-US" sz="2000" b="1" dirty="0">
                <a:solidFill>
                  <a:srgbClr val="622128"/>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18688"/>
            <a:ext cx="3240938" cy="2816352"/>
          </a:xfrm>
          <a:prstGeom prst="rect">
            <a:avLst/>
          </a:prstGeom>
          <a:noFill/>
          <a:ln/>
        </p:spPr>
        <p:txBody>
          <a:bodyPr wrap="square" lIns="63500" tIns="63500" rIns="63500" bIns="63500" rtlCol="0" anchor="t"/>
          <a:lstStyle/>
          <a:p>
            <a:pPr algn="l" indent="0" marL="0">
              <a:spcAft>
                <a:spcPts val="600"/>
              </a:spcAft>
              <a:buNone/>
            </a:pPr>
            <a:r>
              <a:rPr lang="en-US" sz="2000" b="1" dirty="0">
                <a:solidFill>
                  <a:srgbClr val="8C2F39"/>
                </a:solidFill>
                <a:latin typeface="Calibri" pitchFamily="34" charset="0"/>
                <a:ea typeface="Calibri" pitchFamily="34" charset="-122"/>
                <a:cs typeface="Calibri" pitchFamily="34" charset="-120"/>
              </a:rPr>
              <a:t>1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Reading always comes before answering.</a:t>
            </a:r>
            <a:endParaRPr lang="en-US" sz="2000" dirty="0"/>
          </a:p>
          <a:p>
            <a:pPr algn="l" indent="0" marL="0">
              <a:spcAft>
                <a:spcPts val="600"/>
              </a:spcAft>
              <a:buNone/>
            </a:pPr>
            <a:r>
              <a:rPr lang="en-US" sz="2000" b="1" dirty="0">
                <a:solidFill>
                  <a:srgbClr val="8C2F39"/>
                </a:solidFill>
                <a:latin typeface="Calibri" pitchFamily="34" charset="0"/>
                <a:ea typeface="Calibri" pitchFamily="34" charset="-122"/>
                <a:cs typeface="Calibri" pitchFamily="34" charset="-120"/>
              </a:rPr>
              <a:t>2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The reading questions go in number order, and the time grows with the marks.</a:t>
            </a:r>
            <a:endParaRPr lang="en-US" sz="2000" dirty="0"/>
          </a:p>
          <a:p>
            <a:pPr algn="l" indent="0" marL="0">
              <a:spcAft>
                <a:spcPts val="600"/>
              </a:spcAft>
              <a:buNone/>
            </a:pPr>
            <a:r>
              <a:rPr lang="en-US" sz="2000" b="1" dirty="0">
                <a:solidFill>
                  <a:srgbClr val="8C2F39"/>
                </a:solidFill>
                <a:latin typeface="Calibri" pitchFamily="34" charset="0"/>
                <a:ea typeface="Calibri" pitchFamily="34" charset="-122"/>
                <a:cs typeface="Calibri" pitchFamily="34" charset="-120"/>
              </a:rPr>
              <a:t>3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Section B, Question 5, comes last and takes the longest.</a:t>
            </a:r>
            <a:endParaRPr lang="en-US" sz="2000" dirty="0"/>
          </a:p>
        </p:txBody>
      </p:sp>
      <p:sp>
        <p:nvSpPr>
          <p:cNvPr id="17" name="col-Core"/>
          <p:cNvSpPr/>
          <p:nvPr/>
        </p:nvSpPr>
        <p:spPr>
          <a:xfrm>
            <a:off x="4338218" y="2578608"/>
            <a:ext cx="3515258" cy="3566160"/>
          </a:xfrm>
          <a:prstGeom prst="roundRect">
            <a:avLst>
              <a:gd name="adj" fmla="val 1561"/>
            </a:avLst>
          </a:prstGeom>
          <a:solidFill>
            <a:srgbClr val="E2CBCE"/>
          </a:solidFill>
          <a:ln/>
        </p:spPr>
      </p:sp>
      <p:sp>
        <p:nvSpPr>
          <p:cNvPr id="18" name="col-hex"/>
          <p:cNvSpPr/>
          <p:nvPr/>
        </p:nvSpPr>
        <p:spPr>
          <a:xfrm>
            <a:off x="4447946" y="265176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4447946"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4978298" y="2615184"/>
            <a:ext cx="2783738" cy="566928"/>
          </a:xfrm>
          <a:prstGeom prst="rect">
            <a:avLst/>
          </a:prstGeom>
          <a:noFill/>
          <a:ln/>
        </p:spPr>
        <p:txBody>
          <a:bodyPr wrap="square" lIns="63500" tIns="63500" rIns="63500" bIns="63500" rtlCol="0" anchor="ctr"/>
          <a:lstStyle/>
          <a:p>
            <a:pPr algn="l" indent="0" marL="0">
              <a:buNone/>
            </a:pPr>
            <a:r>
              <a:rPr lang="en-US" sz="2000" b="1" dirty="0">
                <a:solidFill>
                  <a:srgbClr val="622128"/>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4475378" y="3218688"/>
            <a:ext cx="3240938" cy="2816352"/>
          </a:xfrm>
          <a:prstGeom prst="rect">
            <a:avLst/>
          </a:prstGeom>
          <a:noFill/>
          <a:ln/>
        </p:spPr>
        <p:txBody>
          <a:bodyPr wrap="square" lIns="63500" tIns="63500" rIns="63500" bIns="63500" rtlCol="0" anchor="t"/>
          <a:lstStyle/>
          <a:p>
            <a:pPr algn="l" indent="0" marL="0">
              <a:buNone/>
            </a:pPr>
            <a:r>
              <a:rPr lang="en-US" sz="2000" b="1" dirty="0">
                <a:solidFill>
                  <a:srgbClr val="70262E"/>
                </a:solidFill>
                <a:latin typeface="Calibri" pitchFamily="34" charset="0"/>
                <a:ea typeface="Calibri" pitchFamily="34" charset="-122"/>
                <a:cs typeface="Calibri" pitchFamily="34" charset="-120"/>
              </a:rPr>
              <a:t>Hint:  </a:t>
            </a:r>
            <a:pPr algn="l" indent="0" marL="0">
              <a:buNone/>
            </a:pPr>
            <a:r>
              <a:rPr lang="en-US" sz="2000" dirty="0">
                <a:solidFill>
                  <a:srgbClr val="1E2229"/>
                </a:solidFill>
                <a:latin typeface="Calibri" pitchFamily="34" charset="0"/>
                <a:ea typeface="Calibri" pitchFamily="34" charset="-122"/>
                <a:cs typeface="Calibri" pitchFamily="34" charset="-120"/>
              </a:rPr>
              <a:t>Thirteen minutes of reading first, then 2, 10, 15, 20, and finally 45.</a:t>
            </a:r>
            <a:endParaRPr lang="en-US" sz="2000" dirty="0"/>
          </a:p>
        </p:txBody>
      </p:sp>
      <p:sp>
        <p:nvSpPr>
          <p:cNvPr id="22" name="col-Stretch"/>
          <p:cNvSpPr/>
          <p:nvPr/>
        </p:nvSpPr>
        <p:spPr>
          <a:xfrm>
            <a:off x="8127797" y="2578608"/>
            <a:ext cx="3515258" cy="3566160"/>
          </a:xfrm>
          <a:prstGeom prst="roundRect">
            <a:avLst>
              <a:gd name="adj" fmla="val 1561"/>
            </a:avLst>
          </a:prstGeom>
          <a:solidFill>
            <a:srgbClr val="8C2F39"/>
          </a:solidFill>
          <a:ln/>
        </p:spPr>
      </p:sp>
      <p:sp>
        <p:nvSpPr>
          <p:cNvPr id="23" name="col-hex"/>
          <p:cNvSpPr/>
          <p:nvPr/>
        </p:nvSpPr>
        <p:spPr>
          <a:xfrm>
            <a:off x="8237525" y="265176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237525"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8767877" y="2615184"/>
            <a:ext cx="2783738"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264957" y="3218688"/>
            <a:ext cx="3240938" cy="2816352"/>
          </a:xfrm>
          <a:prstGeom prst="rect">
            <a:avLst/>
          </a:prstGeom>
          <a:noFill/>
          <a:ln/>
        </p:spPr>
        <p:txBody>
          <a:bodyPr wrap="square" lIns="63500" tIns="63500" rIns="63500" bIns="63500" rtlCol="0" anchor="t"/>
          <a:lstStyle/>
          <a:p>
            <a:pPr algn="l" indent="0" marL="0">
              <a:buNone/>
            </a:pPr>
            <a:r>
              <a:rPr lang="en-US" sz="2000" b="1" dirty="0">
                <a:solidFill>
                  <a:srgbClr val="D4B680"/>
                </a:solidFill>
                <a:latin typeface="Calibri" pitchFamily="34" charset="0"/>
                <a:ea typeface="Calibri" pitchFamily="34" charset="-122"/>
                <a:cs typeface="Calibri" pitchFamily="34" charset="-120"/>
              </a:rPr>
              <a:t>Then:  </a:t>
            </a:r>
            <a:pPr algn="l" indent="0" marL="0">
              <a:buNone/>
            </a:pPr>
            <a:r>
              <a:rPr lang="en-US" sz="2000" dirty="0">
                <a:solidFill>
                  <a:srgbClr val="FFFFFF"/>
                </a:solidFill>
                <a:latin typeface="Calibri" pitchFamily="34" charset="0"/>
                <a:ea typeface="Calibri" pitchFamily="34" charset="-122"/>
                <a:cs typeface="Calibri" pitchFamily="34" charset="-120"/>
              </a:rPr>
              <a:t>Some pupils spend 20 minutes on Question 2 and run out of time for Question 4. Explain, using the marks, why that is a bad trade.</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8C2F39"/>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8C2F39"/>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3080004"/>
          </a:xfrm>
          <a:prstGeom prst="rect">
            <a:avLst/>
          </a:prstGeom>
          <a:noFill/>
          <a:ln/>
        </p:spPr>
        <p:txBody>
          <a:bodyPr wrap="square" lIns="63500" tIns="63500" rIns="63500" bIns="63500" rtlCol="0" anchor="t"/>
          <a:lstStyle/>
          <a:p>
            <a:pPr algn="l" indent="0" marL="0">
              <a:spcAft>
                <a:spcPts val="1200"/>
              </a:spcAft>
              <a:buNone/>
            </a:pPr>
            <a:r>
              <a:rPr lang="en-US" sz="2200" b="1" dirty="0">
                <a:solidFill>
                  <a:srgbClr val="1E2229"/>
                </a:solidFill>
                <a:latin typeface="Calibri" pitchFamily="34" charset="0"/>
                <a:ea typeface="Calibri" pitchFamily="34" charset="-122"/>
                <a:cs typeface="Calibri" pitchFamily="34" charset="-120"/>
              </a:rPr>
              <a:t>Source B is a letter from Charlotte to her sister Harriet, written in 1854. Which line describes its form, audience and purpose best?</a:t>
            </a:r>
            <a:endParaRPr lang="en-US" sz="22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A newspaper report for the general public, written to inform</a:t>
            </a:r>
            <a:endParaRPr lang="en-US" sz="22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A personal letter to one reader, written to entertain and share excitement</a:t>
            </a:r>
            <a:endParaRPr lang="en-US" sz="22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A speech to a large audience, written to persuade</a:t>
            </a:r>
            <a:endParaRPr lang="en-US" sz="22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A guidebook for tourists, written to advise</a:t>
            </a:r>
            <a:endParaRPr lang="en-US" sz="2200" dirty="0"/>
          </a:p>
        </p:txBody>
      </p:sp>
      <p:sp>
        <p:nvSpPr>
          <p:cNvPr id="11" name="exit-answer-box"/>
          <p:cNvSpPr/>
          <p:nvPr/>
        </p:nvSpPr>
        <p:spPr>
          <a:xfrm>
            <a:off x="2286000" y="5047488"/>
            <a:ext cx="7619695" cy="822960"/>
          </a:xfrm>
          <a:prstGeom prst="roundRect">
            <a:avLst>
              <a:gd name="adj" fmla="val 11111"/>
            </a:avLst>
          </a:prstGeom>
          <a:solidFill>
            <a:srgbClr val="F4EAEB"/>
          </a:solidFill>
          <a:ln w="12700">
            <a:solidFill>
              <a:srgbClr val="C29196"/>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Answers: Match each question to its job</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4EDDF"/>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Question 1  →  A  Choose the true statements about the opening of Source A</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Question 2  →  B  Infer the differences (or similarities) between the two sources</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Question 3  →  E  Analyse how one writer uses language</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Question 4  →  D  Compare the writers’ perspectives and comment on their methods</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5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Question 5  →  C  Write your own non-fiction, giving your point of view</a:t>
            </a:r>
            <a:endParaRPr lang="en-US" sz="2000" dirty="0"/>
          </a:p>
        </p:txBody>
      </p:sp>
      <p:sp>
        <p:nvSpPr>
          <p:cNvPr id="10" name="why-panel"/>
          <p:cNvSpPr/>
          <p:nvPr/>
        </p:nvSpPr>
        <p:spPr>
          <a:xfrm>
            <a:off x="7223760" y="1389888"/>
            <a:ext cx="4419295" cy="4754880"/>
          </a:xfrm>
          <a:prstGeom prst="roundRect">
            <a:avLst>
              <a:gd name="adj" fmla="val 1035"/>
            </a:avLst>
          </a:prstGeom>
          <a:solidFill>
            <a:srgbClr val="F0E4E5"/>
          </a:solidFill>
          <a:ln/>
        </p:spPr>
      </p:sp>
      <p:sp>
        <p:nvSpPr>
          <p:cNvPr id="11" name="why-hex"/>
          <p:cNvSpPr/>
          <p:nvPr/>
        </p:nvSpPr>
        <p:spPr>
          <a:xfrm>
            <a:off x="7406640" y="1572768"/>
            <a:ext cx="685800" cy="593903"/>
          </a:xfrm>
          <a:prstGeom prst="hexagon">
            <a:avLst/>
          </a:prstGeom>
          <a:solidFill>
            <a:srgbClr val="8C2F39"/>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Q1 finds true statements, Q2 infers across both sources, Q3 analyses language, Q4 compares perspectives, and Q5 is your own writing.</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Answers: Plan your time</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4EDDF"/>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Read the questions and both sources (13 minutes)  (F)</a:t>
            </a:r>
            <a:endParaRPr lang="en-US" sz="2200" dirty="0"/>
          </a:p>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Question 1: true statements (2 minutes)  (C)</a:t>
            </a:r>
            <a:endParaRPr lang="en-US" sz="2200" dirty="0"/>
          </a:p>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Question 2: inference (10 minutes)  (D)</a:t>
            </a:r>
            <a:endParaRPr lang="en-US" sz="2200" dirty="0"/>
          </a:p>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Question 3: language (15 minutes)  (A)</a:t>
            </a:r>
            <a:endParaRPr lang="en-US" sz="2200" dirty="0"/>
          </a:p>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5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Question 4: perspectives (20 minutes)  (E)</a:t>
            </a:r>
            <a:endParaRPr lang="en-US" sz="2200" dirty="0"/>
          </a:p>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6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Question 5: plan, write and check (45 minutes)  (B)</a:t>
            </a:r>
            <a:endParaRPr lang="en-US" sz="2200" dirty="0"/>
          </a:p>
        </p:txBody>
      </p:sp>
      <p:sp>
        <p:nvSpPr>
          <p:cNvPr id="10" name="why-panel"/>
          <p:cNvSpPr/>
          <p:nvPr/>
        </p:nvSpPr>
        <p:spPr>
          <a:xfrm>
            <a:off x="7223760" y="1389888"/>
            <a:ext cx="4419295" cy="4754880"/>
          </a:xfrm>
          <a:prstGeom prst="roundRect">
            <a:avLst>
              <a:gd name="adj" fmla="val 1035"/>
            </a:avLst>
          </a:prstGeom>
          <a:solidFill>
            <a:srgbClr val="F0E4E5"/>
          </a:solidFill>
          <a:ln/>
        </p:spPr>
      </p:sp>
      <p:sp>
        <p:nvSpPr>
          <p:cNvPr id="11" name="why-hex"/>
          <p:cNvSpPr/>
          <p:nvPr/>
        </p:nvSpPr>
        <p:spPr>
          <a:xfrm>
            <a:off x="7406640" y="1572768"/>
            <a:ext cx="685800" cy="593903"/>
          </a:xfrm>
          <a:prstGeom prst="hexagon">
            <a:avLst/>
          </a:prstGeom>
          <a:solidFill>
            <a:srgbClr val="8C2F39"/>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Read (13), then Questions 1 to 4 (2, 10, 15, 20), then Question 5 (45): 105 minutes, which is 1 hour 45 minutes.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4EDDF"/>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Source B is a letter from Charlotte to her sister Harriet, written in 1854. Which line describes its form, audience and purpose best?</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B   A personal letter to one reader, written to entertain and share excitement</a:t>
            </a:r>
            <a:endParaRPr lang="en-US" sz="1800" dirty="0"/>
          </a:p>
        </p:txBody>
      </p:sp>
      <p:sp>
        <p:nvSpPr>
          <p:cNvPr id="10" name="why-panel"/>
          <p:cNvSpPr/>
          <p:nvPr/>
        </p:nvSpPr>
        <p:spPr>
          <a:xfrm>
            <a:off x="7223760" y="1389888"/>
            <a:ext cx="4419295" cy="4754880"/>
          </a:xfrm>
          <a:prstGeom prst="roundRect">
            <a:avLst>
              <a:gd name="adj" fmla="val 1035"/>
            </a:avLst>
          </a:prstGeom>
          <a:solidFill>
            <a:srgbClr val="F0E4E5"/>
          </a:solidFill>
          <a:ln/>
        </p:spPr>
      </p:sp>
      <p:sp>
        <p:nvSpPr>
          <p:cNvPr id="11" name="why-hex"/>
          <p:cNvSpPr/>
          <p:nvPr/>
        </p:nvSpPr>
        <p:spPr>
          <a:xfrm>
            <a:off x="7406640" y="1572768"/>
            <a:ext cx="685800" cy="593903"/>
          </a:xfrm>
          <a:prstGeom prst="hexagon">
            <a:avLst/>
          </a:prstGeom>
          <a:solidFill>
            <a:srgbClr val="8C2F39"/>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A letter to a sister has one reader and a personal register. Charlotte’s purpose is to entertain Harriet and share her delight.</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theme/theme1.xml><?xml version="1.0" encoding="utf-8"?>
<a:theme xmlns:a="http://schemas.openxmlformats.org/drawingml/2006/main" name="Ad Astra english">
  <a:themeElements>
    <a:clrScheme name="Ad Astra english">
      <a:dk1>
        <a:srgbClr val="1E2229"/>
      </a:dk1>
      <a:lt1>
        <a:srgbClr val="FFFFFF"/>
      </a:lt1>
      <a:dk2>
        <a:srgbClr val="70262E"/>
      </a:dk2>
      <a:lt2>
        <a:srgbClr val="F0E4E5"/>
      </a:lt2>
      <a:accent1>
        <a:srgbClr val="8C2F39"/>
      </a:accent1>
      <a:accent2>
        <a:srgbClr val="B8862B"/>
      </a:accent2>
      <a:accent3>
        <a:srgbClr val="BA8288"/>
      </a:accent3>
      <a:accent4>
        <a:srgbClr val="815E1E"/>
      </a:accent4>
      <a:accent5>
        <a:srgbClr val="4A505C"/>
      </a:accent5>
      <a:accent6>
        <a:srgbClr val="D9BF8F"/>
      </a:accent6>
      <a:hlink>
        <a:srgbClr val="8C2F39"/>
      </a:hlink>
      <a:folHlink>
        <a:srgbClr val="622128"/>
      </a:folHlink>
    </a:clrScheme>
    <a:fontScheme name="Ad Astra english">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Language Paper 2 · Chapter 1: Know the paper: two sources, three questions to ask, and your timings</dc:title>
  <dc:subject>English Language · Year 10</dc:subject>
  <dc:creator>Dr Vitor Merissi de Carvalho</dc:creator>
  <cp:lastModifiedBy>Dr Vitor Merissi de Carvalho</cp:lastModifiedBy>
  <cp:revision>1</cp:revision>
  <dcterms:created xsi:type="dcterms:W3CDTF">2026-10-18T17:47:03Z</dcterms:created>
  <dcterms:modified xsi:type="dcterms:W3CDTF">2026-10-18T17:47:03Z</dcterms:modified>
</cp:coreProperties>
</file>