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a637a8f-9201-57e0-4844-d7e470b163a2}">
          <p14:sldIdLst>
            <p14:sldId id="256"/>
          </p14:sldIdLst>
        </p14:section>
        <p14:section name="Gate" id="{03647136-3c97-bef5-f114-5b6f02f29b4a}">
          <p14:sldIdLst>
            <p14:sldId id="257"/>
            <p14:sldId id="258"/>
          </p14:sldIdLst>
        </p14:section>
        <p14:section name="Pre-teach" id="{65c11d84-7590-5ed4-d093-33f80a01430e}">
          <p14:sldIdLst>
            <p14:sldId id="259"/>
          </p14:sldIdLst>
        </p14:section>
        <p14:section name="Read-along" id="{c3332994-d3de-01e1-039b-f9318e1db303}">
          <p14:sldIdLst>
            <p14:sldId id="260"/>
            <p14:sldId id="261"/>
          </p14:sldIdLst>
        </p14:section>
        <p14:section name="Teach" id="{ac0d6d6d-83cb-c47d-504e-e6b7f98d123a}">
          <p14:sldIdLst>
            <p14:sldId id="262"/>
            <p14:sldId id="263"/>
            <p14:sldId id="264"/>
            <p14:sldId id="265"/>
            <p14:sldId id="266"/>
          </p14:sldIdLst>
        </p14:section>
        <p14:section name="Routes" id="{7a184092-e1cf-d938-183f-eba0ae9c05f9}">
          <p14:sldIdLst>
            <p14:sldId id="267"/>
            <p14:sldId id="268"/>
            <p14:sldId id="269"/>
            <p14:sldId id="270"/>
          </p14:sldIdLst>
        </p14:section>
        <p14:section name="Close" id="{4e8b13a5-2771-d81d-ad0d-090ba4e5c550}">
          <p14:sldIdLst>
            <p14:sldId id="271"/>
          </p14:sldIdLst>
        </p14:section>
        <p14:section name="Answers" id="{0410c51d-3139-c337-631e-607fb2906890}">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of 6: Population change and the five stages. How a population changes as a country develops: the demographic transition model stage by stage, why birth and death rates rise and fall, what a population pyramid shows, and what the model cannot tell you.
This deck covers the department's lessons: 4 (The demographic transition model: What is the demographic transition model and what happens to birth rate, death rate and population in each of its five stages?); 5 (Reasons for population change and the limits of the DTM: Why do birth and death rates rise and fall, and what are the limitations of the demographic transition model?); 6 (Population pyramids: What does a population pyramid show, and how do the pyramids of HICs and LICs differ?).
Read the big question aloud: "Why is the world's wealth so unevenly shared, and what can countries such as Nigeria and the UK do about the gaps between them and within them?"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A country has a high birth rate and a high death rate, so its population stays low and does not grow much. Which stage of the demographic transition model is it in?  →  D   Stage 1
2. A country has a birth rate of 32 per 1000 and a death rate of 11 per 1000. What is its natural increase, per 1000 people?  →  21 per 1000 people
3. A population pyramid with a wide base shows that the country has a large proportion of ___ people.  →  young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D   Stage 1. In stage 1 both rates are high, so they cancel out and the population stays low and steady. Only a few groups in the world, such as people living deep in the Amazon rainforest, are still at this stage.
2. 21 per 1000 people. Natural increase is the birth rate minus the death rate: 32 − 11 = 21 per 1000 people a year.
3. young. The bars at the bottom of a pyramid are the youngest age groups, so a wide base means a large proportion of children and a high birth rate.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birth rate: the number of babies born each year for every 1000 people. Example: "A high birth rate means many babies are born each year."
• death rate: the number of people who die each year for every 1000 people. Example: "Better healthcare makes the death rate fall."
• natural increase: population growth when more people are born than die. Example: "Natural increase is the birth rate minus the death rate."
• model: a simple picture of how something usually changes. Example: "A model shows the general pattern, not one real country."
• population pyramid: a graph showing how many people are in each age group. Example: "A population pyramid has two bars for every age group, male and female."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The demographic transition model shows how a population changes over time.
2. It is called the DTM for short.
3. It is a model, so it does not follow one real country.
4. The DTM has five stages.
5. In stage 1 the birth rate and the death rate are both high.
6. The population stays low and steady.
7. In stage 2 the death rate falls but the birth rate stays high.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The population grows quickly.
9. In stage 3 the birth rate falls too, so growth slows down.
10. In stage 4 both rates are low and the population is high and steady.
11. In stage 5 the birth rate drops below the death rate.
12. The population begins to fall.
13. A population pyramid shows how many people are in each age group.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five stages of the demographic transition model. Say it in your own words, then check understanding with a quick question: ask a pupil from the pre-teach group first, since they met these words and ideas before the lesson. Pupils try to recall before you re-explain.
The demographic transition model, or DTM, shows the changes to a population over time. Demographic means to do with people and numbers; transition means a change from one state to another. It is a model, which means it is not designed to follow one specific country or area: it shows the pattern that populations usually follow. It is broken into five stages, each with its own conditions, and you can judge a country's level of development by working out where it would sit on the model.
In stage 1 the birth rate is high, with many babies being born, and the death rate is high too, with many people dying young. Because the two cancel each other out, the total population stays low and steady; it may rise and fall with war, famine or disease. Very few places in the world are still at this stage, although small groups living in the Amazon rainforest may be. In stage 2 the death rate falls while the birth rate stays high, so the total population begins to grow rapidly. Afghanistan is a stage 2 country, and this is common in many low income countries. In stage 3 the birth rate falls as well, and the death rate keeps falling but more slowly. The population still grows, but more slowly than before. Nigeria, a newly emerging economy, is the example to remember.
In stage 4 the birth rate stays low and the death rate is low, so the population is high and steady. The birth rate can rise and fall with the economy: when times are good, families feel they can afford more children. The United States is a stage 4 country, with healthcare available at a cost and a high number of women following careers. In stage 5 the birth rate falls below the death rate for the first time. The death rate rises slightly because the population is ageing, and the overall population starts to fall. There may be migration into the country to make up the shortfall. Japan is the example to remember, and Germany is at this stage too.
Tip: Learn the stages by what the two lines are doing, not by the numbers: stage 1 both high, stage 2 death rate falling, stage 3 birth rate falling, stage 4 both low, stage 5 birth rate below death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Birth rates, death rates and natural increase. Say it in your own words, then check understanding with a quick question: ask a pupil from the pre-teach group first, since they met these words and ideas before the lesson. Pupils try to recall before you re-explain.
Birth rate is the number of births in a year for every 1000 people in the population. Death rate is the number of deaths in a year for every 1000 people. Natural increase is what you get when you subtract the death rate from the birth rate: it is the growth of the population from births and deaths alone, with migration left out. If the death rate is larger than the birth rate the answer is negative, and geographers call it natural decrease. That is what has happened in stage 5.
Why are birth rates high in some countries and low in others? A birth rate stays high where children are needed to work on the land, and where having children gives parents added status in the community. A birth rate falls where it costs a lot to feed, clothe and educate children, and where the government looks after people through pensions and healthcare, so families do not need children to support them in old age. Death rates are high where there is a lack of food and clean water, and fall as healthcare, diet and sanitation improve. Education matters in both columns: as women become educated and take up careers, the birth rate falls.
Worked example — model it step by step, thinking aloud: A country has a birth rate of 38 per 1000 and a death rate of 14 per 1000. Work out its natural increase per 1000 people. (1) Natural increase means births minus deaths, so set up a subtraction. (2) Both rates are already per 1000 people, so you can subtract them directly. (3) Work it out: 38 − 14 = 24. (4) Give the units: the natural increase is 24 per 1000 people per year. Answer: 24 per 1000 people.
Tip: If your natural increase comes out larger than the birth rate, you have added instead of subtracting.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Birth rates, death rates and natural increase. Say it in your own words, then check understanding with a quick question: ask a pupil from the pre-teach group first, since they met these words and ideas before the lesson. Pupils try to recall before you re-explain.
Birth rate is the number of births in a year for every 1000 people in the population. Death rate is the number of deaths in a year for every 1000 people. Natural increase is what you get when you subtract the death rate from the birth rate: it is the growth of the population from births and deaths alone, with migration left out. If the death rate is larger than the birth rate the answer is negative, and geographers call it natural decrease. That is what has happened in stage 5.
Why are birth rates high in some countries and low in others? A birth rate stays high where children are needed to work on the land, and where having children gives parents added status in the community. A birth rate falls where it costs a lot to feed, clothe and educate children, and where the government looks after people through pensions and healthcare, so families do not need children to support them in old age. Death rates are high where there is a lack of food and clean water, and fall as healthcare, diet and sanitation improve. Education matters in both columns: as women become educated and take up careers, the birth rate falls.
Worked example — model it step by step, thinking aloud: A country has a birth rate of 38 per 1000 and a death rate of 14 per 1000. Work out its natural increase per 1000 people. (1) Natural increase means births minus deaths, so set up a subtraction. (2) Both rates are already per 1000 people, so you can subtract them directly. (3) Work it out: 38 − 14 = 24. (4) Give the units: the natural increase is 24 per 1000 people per year. Answer: 24 per 1000 people.
Tip: If your natural increase comes out larger than the birth rate, you have added instead of subtracting.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Reading a population pyramid. Say it in your own words, then check understanding with a quick question: ask a pupil from the pre-teach group first, since they met these words and ideas before the lesson. Pupils try to recall before you re-explain.
A population pyramid shows the structure of a population. The bars are age groups, stacked from the youngest at the bottom to the oldest at the top, and they are split down the middle into males on one side and females on the other. The length of each bar is the percentage of the whole population in that age and sex group, so you can read a figure straight off it: a bar reaching 4 on the female side at ages 25 to 29 tells you that 4 in every 100 people in the country are women of that age.
A pyramid for a high income country has a narrow base, a wider middle and stays quite wide at the top. The narrow base means the birth rate is low; the wide middle means people are living longer and fewer babies are dying; the wide top means a long life expectancy, with more older women than men. Italy and Japan have pyramids this shape. A pyramid for a low income country has a wide base, which means a large proportion of young people, and becomes narrow very quickly towards the top, which means few elderly people and a lower life expectancy. Kenya, Ethiopia and Vietnam have pyramids this shape.
The dependency ratio compares the people who are not of working age, those aged 0 to 14 and those over 65, with the people who are. A wide-based pyramid and a wide-topped pyramid both give a high dependency ratio, but for opposite reasons: in the first case a country has many children to feed and educate, and in the second it has many pensioners to support. That is why the shape of the pyramid matters so much to a government planning schools, hospitals and pensions.
Tip: Describe a pyramid in three moves: the base, the middle, the top. For each one say what the shape is and what it tells you about births, deaths or life expectancy.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the model cannot show. Say it in your own words, then check understanding with a quick question: ask a pupil from the pre-teach group first, since they met these words and ideas before the lesson. Pupils try to recall before you re-explain.
The demographic transition model is useful, but it has real limitations and the exam likes to ask about them. It was developed after studying high income countries, so some low income countries may not follow the same pattern. It assumes that every country will pass through the same five stages, and that the reasons for high and low birth and death rates are the same everywhere, which they are not. It has no time scale, so it cannot tell you how long a stage lasts. It leaves out migration altogether, even though migration can change a population faster than births and deaths. It cannot show sudden swings caused by war, famine, a natural disaster or a disease epidemic such as AIDS, and it says nothing about the part a government plays, for good or ill.
Japan shows why stage 5 is more than a line on a graph. Its population is shrinking and ageing at the same time, so the number of elderly people who depend on the state is rising while the number of workers paying tax is falling. That is a problem for pensions, for healthcare and for the economy as a whole. It can also be an opportunity: fewer children can mean more spent on each one, and businesses that serve older people grow. Japanese families face real barriers to having more children, from the cost of housing to long working hours, and governments are often reluctant to encourage immigration to fill the gap.
Tip: A six-mark question on the model wants the pattern and the exception: describe what the stage shows, name a country at that stage, then say why a real country might not 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Put the five stages in order.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five stages of the demographic transition model in the correct order, from stage 1 to stage 5.
Support — work through the steps with the group: (1) Find the stage where nothing is growing and both rates are high: that is the start. (2) Next comes the stage where only the death rate has fallen, which is why growth is fastest. (3) Then the birth rate starts to fall too, so growth slows. (4) Then both rates are low and the population levels off. (5) Last comes the stage where the birth rate drops below the death rate and the population falls.
Parallel worked example for Support (model it, do not give the task answer): Put these three stages of a country's healthcare in order: hospitals and clean water for everyone; no doctors and no clean water; clean water for most people but few doctors. Start with the least developed situation.; Then the partial improvement.; Then the full improvement.. Answer: No doctors and no clean water; clean water for most people but few doctors; hospitals and clean water for everyone..
Core — reveal the hint only on request: The death rate always falls before the birth rate. That single rule fixes stages 2 and 3.
Stretch — no help; when finished: Explain why the gap between the two lines, not the height of either, tells you how fast the population is growing.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Put the five stages in order.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five stages of the demographic transition model in the correct order, from stage 1 to stage 5.
Support — work through the steps with the group: (1) Find the stage where nothing is growing and both rates are high: that is the start. (2) Next comes the stage where only the death rate has fallen, which is why growth is fastest. (3) Then the birth rate starts to fall too, so growth slows. (4) Then both rates are low and the population levels off. (5) Last comes the stage where the birth rate drops below the death rate and the population falls.
Parallel worked example for Support (model it, do not give the task answer): Put these three stages of a country's healthcare in order: hospitals and clean water for everyone; no doctors and no clean water; clean water for most people but few doctors. Start with the least developed situation.; Then the partial improvement.; Then the full improvement.. Answer: No doctors and no clean water; clean water for most people but few doctors; hospitals and clean water for everyone..
Core — reveal the hint only on request: The death rate always falls before the birth rate. That single rule fixes stages 2 and 3.
Stretch — no help; when finished: Explain why the gap between the two lines, not the height of either, tells you how fast the population is growing.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Which country is at stage 5?.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Which country is the example of a population at stage 5, where the birth rate has fallen below the death rate and the total population is falling?
Support — work through the steps with the group: (1) Stage 5 means the population is falling, not just growing slowly. (2) Cross out any country whose population is still growing quickly. (3) Cross out the country used as the stage 4 example, where the population is steady. (4) The one left has an ageing population and a shrinking total.
Parallel worked example for Support (model it, do not give the task answer): Which country is the example of a stage 2 population, where the death rate has fallen but the birth rate is still high? Stage 2 means fast growth.; Look for the low income country in the list.. Answer: Afghanistan..
Core — reveal the hint only on request: Only one of these four countries has more deaths than births each year.
Stretch — no help; when finished: Germany is also placed at stage 5. Explain what Germany and Japan have in common that puts them there, and name one thing a government in that position can do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Which country is at stage 5?.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Which country is the example of a population at stage 5, where the birth rate has fallen below the death rate and the total population is falling?
Support — work through the steps with the group: (1) Stage 5 means the population is falling, not just growing slowly. (2) Cross out any country whose population is still growing quickly. (3) Cross out the country used as the stage 4 example, where the population is steady. (4) The one left has an ageing population and a shrinking total.
Parallel worked example for Support (model it, do not give the task answer): Which country is the example of a stage 2 population, where the death rate has fallen but the birth rate is still high? Stage 2 means fast growth.; Look for the low income country in the list.. Answer: Afghanistan..
Core — reveal the hint only on request: Only one of these four countries has more deaths than births each year.
Stretch — no help; when finished: Germany is also placed at stage 5. Explain what Germany and Japan have in common that puts them there, and name one thing a government in that position can do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A country has a high birth rate and a high death rate, so its population stays low and does not grow much. Which stage of the demographic transition model is it in?
Answer: C   Stage 1. In stage 1 both rates are high, so they cancel out and the population stays low and steady. Only a few groups in the world, such as people living deep in the Amazon rainforest, are still at this stage.
Source of this question: gate item 1 re-asked (options rotated) — this chapter has no third quick-check module.
The ebook also holds task 3, "Reading a stage from the evidence",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Put the five stages in order. Reveal the answer; pupils mark their own work in a different colour, then read the "why" together. Same destination for every lane, so one answer serves the whole class.
Answer: Stage 1: the birth rate and the death rate are both high, so the population stays low and steady.  (C); Stage 2: the death rate falls while the birth rate stays high, so the population grows quickly.  (A); Stage 3: the birth rate falls as well, so the population still grows but more slowly.  (E); Stage 4: the birth rate and the death rate are both low, so the population is high and steady.  (D); Stage 5: the birth rate falls below the death rate, so the population begins to fall.  (B)
Why: The order is stage 1 (both rates high, population low and steady), stage 2 (death rate falls, population grows quickly), stage 3 (birth rate falls, growth slows), stage 4 (both rates low, population high and steady), stage 5 (birth rate below death rate, population falls). The death rate always falls first, because healthcare, food and clean water improve before family sizes change.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Which country is at stage 5?. Reveal the answer; pupils mark their own work in a different colour, then read the "why" together. Same destination for every lane, so one answer serves the whole class.
Answer: A   Japan
Why: Japan is the stage 5 example: its birth rate has fallen below its death rate, the death rate has risen slightly because the population is ageing, and the total population is falling. Afghanistan is stage 2, Nigeria stage 3 and the United States stage 4.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C   Stage 1
Why: In stage 1 both rates are high, so they cancel out and the population stays low and steady. Only a few groups in the world, such as people living deep in the Amazon rainforest, are still at this stage.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FDAD2"/>
          </a:solidFill>
          <a:ln w="12700">
            <a:solidFill>
              <a:srgbClr val="CFDAD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10 · The Changing Economic World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FDAD2"/>
          </a:solidFill>
          <a:ln w="12700">
            <a:solidFill>
              <a:srgbClr val="CFDAD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10 · The Changing Economic World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3DDD5"/>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10</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2/6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Changing Economic World · AQA 8035</a:t>
            </a:r>
            <a:endParaRPr lang="en-US" sz="1800" dirty="0"/>
          </a:p>
        </p:txBody>
      </p:sp>
      <p:sp>
        <p:nvSpPr>
          <p:cNvPr id="10" name="deck-title"/>
          <p:cNvSpPr txBox="1"/>
          <p:nvPr/>
        </p:nvSpPr>
        <p:spPr>
          <a:xfrm>
            <a:off x="548640" y="189026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Population change and the five stages</a:t>
            </a:r>
            <a:endParaRPr lang="en-US" sz="4000" dirty="0"/>
          </a:p>
        </p:txBody>
      </p:sp>
      <p:sp>
        <p:nvSpPr>
          <p:cNvPr id="11" name="lessons-card"/>
          <p:cNvSpPr/>
          <p:nvPr/>
        </p:nvSpPr>
        <p:spPr>
          <a:xfrm>
            <a:off x="548640" y="3566668"/>
            <a:ext cx="5287975" cy="1986280"/>
          </a:xfrm>
          <a:prstGeom prst="roundRect">
            <a:avLst>
              <a:gd name="adj" fmla="val 3683"/>
            </a:avLst>
          </a:prstGeom>
          <a:solidFill>
            <a:srgbClr val="E6ECE7"/>
          </a:solidFill>
          <a:ln/>
        </p:spPr>
      </p:sp>
      <p:sp>
        <p:nvSpPr>
          <p:cNvPr id="12" name="lessons"/>
          <p:cNvSpPr txBox="1"/>
          <p:nvPr/>
        </p:nvSpPr>
        <p:spPr>
          <a:xfrm>
            <a:off x="685800" y="3658108"/>
            <a:ext cx="5013655" cy="180340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4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The demographic transition model</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5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Reasons for population change and the limits of the DTM</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6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Population pyramids</a:t>
            </a:r>
            <a:endParaRPr lang="en-US" sz="2000" dirty="0"/>
          </a:p>
        </p:txBody>
      </p:sp>
      <p:sp>
        <p:nvSpPr>
          <p:cNvPr id="13" name="plate-frame"/>
          <p:cNvSpPr/>
          <p:nvPr/>
        </p:nvSpPr>
        <p:spPr>
          <a:xfrm>
            <a:off x="6248095" y="411480"/>
            <a:ext cx="5394960" cy="3130677"/>
          </a:xfrm>
          <a:prstGeom prst="rect">
            <a:avLst/>
          </a:prstGeom>
          <a:solidFill>
            <a:srgbClr val="F0E6D2"/>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10">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6ECE7"/>
          </a:solidFill>
          <a:ln w="12700">
            <a:solidFill>
              <a:srgbClr val="ACBFB1"/>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Why is the world's wealth so unevenly shared, and what can countries such as Nigeria and the UK do about the gaps between them and within them?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CF0ED"/>
          </a:solidFill>
          <a:ln w="12700">
            <a:solidFill>
              <a:srgbClr val="B6C7BA"/>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A country has a high birth rate and a high death rate, so its population stays low and does not grow much. Which stage of the demographic transition model is it in?</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Stage 5</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Stage 2</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Stage 3</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Stage 1</a:t>
            </a:r>
            <a:endParaRPr lang="en-US" sz="1800" dirty="0"/>
          </a:p>
        </p:txBody>
      </p:sp>
      <p:sp>
        <p:nvSpPr>
          <p:cNvPr id="12" name="card"/>
          <p:cNvSpPr/>
          <p:nvPr/>
        </p:nvSpPr>
        <p:spPr>
          <a:xfrm>
            <a:off x="4338218" y="1389888"/>
            <a:ext cx="3515258" cy="4754880"/>
          </a:xfrm>
          <a:prstGeom prst="roundRect">
            <a:avLst>
              <a:gd name="adj" fmla="val 1561"/>
            </a:avLst>
          </a:prstGeom>
          <a:solidFill>
            <a:srgbClr val="ECF0ED"/>
          </a:solidFill>
          <a:ln w="12700">
            <a:solidFill>
              <a:srgbClr val="B6C7BA"/>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Work it out</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country has a birth rate of 32 per 1000 and a death rate of 11 per 1000. What is its natural increase, per 1000 people?</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per 1000 people</a:t>
            </a:r>
            <a:endParaRPr lang="en-US" sz="2400" dirty="0"/>
          </a:p>
        </p:txBody>
      </p:sp>
      <p:sp>
        <p:nvSpPr>
          <p:cNvPr id="17" name="card"/>
          <p:cNvSpPr/>
          <p:nvPr/>
        </p:nvSpPr>
        <p:spPr>
          <a:xfrm>
            <a:off x="8127797" y="1389888"/>
            <a:ext cx="3515258" cy="4754880"/>
          </a:xfrm>
          <a:prstGeom prst="roundRect">
            <a:avLst>
              <a:gd name="adj" fmla="val 1561"/>
            </a:avLst>
          </a:prstGeom>
          <a:solidFill>
            <a:srgbClr val="ECF0ED"/>
          </a:solidFill>
          <a:ln w="12700">
            <a:solidFill>
              <a:srgbClr val="B6C7BA"/>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population pyramid with a wide base shows that the country has a large proportion of ___ people.</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young  ·  elderly  ·  working</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CF0ED"/>
          </a:solidFill>
          <a:ln w="12700">
            <a:solidFill>
              <a:srgbClr val="B6C7BA"/>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BDDC4"/>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Stage 1</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In stage 1 both rates are high, so they cancel out and the population stays low and steady. Only a few groups in the world, such as people living deep in the Amazon rainforest, are still at this stage.</a:t>
            </a:r>
            <a:endParaRPr lang="en-US" sz="1800" dirty="0"/>
          </a:p>
        </p:txBody>
      </p:sp>
      <p:sp>
        <p:nvSpPr>
          <p:cNvPr id="14" name="card"/>
          <p:cNvSpPr/>
          <p:nvPr/>
        </p:nvSpPr>
        <p:spPr>
          <a:xfrm>
            <a:off x="4338218" y="1389888"/>
            <a:ext cx="3515258" cy="4754880"/>
          </a:xfrm>
          <a:prstGeom prst="roundRect">
            <a:avLst>
              <a:gd name="adj" fmla="val 1561"/>
            </a:avLst>
          </a:prstGeom>
          <a:solidFill>
            <a:srgbClr val="ECF0ED"/>
          </a:solidFill>
          <a:ln w="12700">
            <a:solidFill>
              <a:srgbClr val="B6C7BA"/>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BDDC4"/>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21 per 1000 people</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A country has a birth rate of 32 per 1000 and a death rate of 11 per 1000. What is its natural increase, per 1000 people?</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Natural increase is the birth rate minus the death rate: 32 − 11 = 21 per 1000 people a year.</a:t>
            </a:r>
            <a:endParaRPr lang="en-US" sz="1800" dirty="0"/>
          </a:p>
        </p:txBody>
      </p:sp>
      <p:sp>
        <p:nvSpPr>
          <p:cNvPr id="21" name="card"/>
          <p:cNvSpPr/>
          <p:nvPr/>
        </p:nvSpPr>
        <p:spPr>
          <a:xfrm>
            <a:off x="8127797" y="1389888"/>
            <a:ext cx="3515258" cy="4754880"/>
          </a:xfrm>
          <a:prstGeom prst="roundRect">
            <a:avLst>
              <a:gd name="adj" fmla="val 1561"/>
            </a:avLst>
          </a:prstGeom>
          <a:solidFill>
            <a:srgbClr val="ECF0ED"/>
          </a:solidFill>
          <a:ln w="12700">
            <a:solidFill>
              <a:srgbClr val="B6C7BA"/>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BDDC4"/>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young</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A population pyramid with a wide base shows that the country has a large proportion of ___ people.</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The bars at the bottom of a pyramid are the youngest age groups, so a wide base means a large proportion of children and a high birth rate.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3F6B4A"/>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65861"/>
          </a:xfrm>
          <a:prstGeom prst="roundRect">
            <a:avLst>
              <a:gd name="adj" fmla="val 7164"/>
            </a:avLst>
          </a:prstGeom>
          <a:solidFill>
            <a:srgbClr val="EAEFEB"/>
          </a:solidFill>
          <a:ln/>
        </p:spPr>
      </p:sp>
      <p:sp>
        <p:nvSpPr>
          <p:cNvPr id="12" name="kw-hex"/>
          <p:cNvSpPr/>
          <p:nvPr/>
        </p:nvSpPr>
        <p:spPr>
          <a:xfrm>
            <a:off x="658368" y="2125000"/>
            <a:ext cx="411480" cy="356342"/>
          </a:xfrm>
          <a:prstGeom prst="hexagon">
            <a:avLst/>
          </a:prstGeom>
          <a:solidFill>
            <a:srgbClr val="3F6B4A"/>
          </a:solidFill>
          <a:ln/>
        </p:spPr>
      </p:sp>
      <p:sp>
        <p:nvSpPr>
          <p:cNvPr id="13" name="kw-cell"/>
          <p:cNvSpPr txBox="1"/>
          <p:nvPr/>
        </p:nvSpPr>
        <p:spPr>
          <a:xfrm>
            <a:off x="1143000" y="1920240"/>
            <a:ext cx="2331720" cy="765861"/>
          </a:xfrm>
          <a:prstGeom prst="rect">
            <a:avLst/>
          </a:prstGeom>
          <a:noFill/>
          <a:ln/>
        </p:spPr>
        <p:txBody>
          <a:bodyPr wrap="square" lIns="63500" tIns="63500" rIns="63500" bIns="63500" rtlCol="0" anchor="ctr"/>
          <a:lstStyle/>
          <a:p>
            <a:pPr algn="l" indent="0" marL="0">
              <a:buNone/>
            </a:pPr>
            <a:r>
              <a:rPr lang="en-US" sz="2000" b="1" dirty="0">
                <a:solidFill>
                  <a:srgbClr val="3F6B4A"/>
                </a:solidFill>
                <a:latin typeface="Cambria" pitchFamily="34" charset="0"/>
                <a:ea typeface="Cambria" pitchFamily="34" charset="-122"/>
                <a:cs typeface="Cambria" pitchFamily="34" charset="-120"/>
              </a:rPr>
              <a:t>birth rate</a:t>
            </a:r>
            <a:endParaRPr lang="en-US" sz="2000" dirty="0"/>
          </a:p>
        </p:txBody>
      </p:sp>
      <p:sp>
        <p:nvSpPr>
          <p:cNvPr id="14" name="kw-cell"/>
          <p:cNvSpPr txBox="1"/>
          <p:nvPr/>
        </p:nvSpPr>
        <p:spPr>
          <a:xfrm>
            <a:off x="3657600" y="1920240"/>
            <a:ext cx="3474720" cy="76586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number of babies born each year for every 1000 people</a:t>
            </a:r>
            <a:endParaRPr lang="en-US" sz="1800" dirty="0"/>
          </a:p>
        </p:txBody>
      </p:sp>
      <p:sp>
        <p:nvSpPr>
          <p:cNvPr id="15" name="kw-cell"/>
          <p:cNvSpPr txBox="1"/>
          <p:nvPr/>
        </p:nvSpPr>
        <p:spPr>
          <a:xfrm>
            <a:off x="7315200" y="1920240"/>
            <a:ext cx="4236415" cy="76586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high birth rate means many babies are born each year.</a:t>
            </a:r>
            <a:endParaRPr lang="en-US" sz="1800" dirty="0"/>
          </a:p>
        </p:txBody>
      </p:sp>
      <p:sp>
        <p:nvSpPr>
          <p:cNvPr id="16" name="kw-row"/>
          <p:cNvSpPr/>
          <p:nvPr/>
        </p:nvSpPr>
        <p:spPr>
          <a:xfrm>
            <a:off x="548640" y="2759253"/>
            <a:ext cx="11094415" cy="765861"/>
          </a:xfrm>
          <a:prstGeom prst="roundRect">
            <a:avLst>
              <a:gd name="adj" fmla="val 7164"/>
            </a:avLst>
          </a:prstGeom>
          <a:solidFill>
            <a:srgbClr val="F4EDDF"/>
          </a:solidFill>
          <a:ln/>
        </p:spPr>
      </p:sp>
      <p:sp>
        <p:nvSpPr>
          <p:cNvPr id="17" name="kw-hex"/>
          <p:cNvSpPr/>
          <p:nvPr/>
        </p:nvSpPr>
        <p:spPr>
          <a:xfrm>
            <a:off x="658368" y="2964012"/>
            <a:ext cx="411480" cy="356342"/>
          </a:xfrm>
          <a:prstGeom prst="hexagon">
            <a:avLst/>
          </a:prstGeom>
          <a:solidFill>
            <a:srgbClr val="B8862B"/>
          </a:solidFill>
          <a:ln/>
        </p:spPr>
      </p:sp>
      <p:sp>
        <p:nvSpPr>
          <p:cNvPr id="18" name="kw-cell"/>
          <p:cNvSpPr txBox="1"/>
          <p:nvPr/>
        </p:nvSpPr>
        <p:spPr>
          <a:xfrm>
            <a:off x="1143000" y="2759253"/>
            <a:ext cx="2331720" cy="765861"/>
          </a:xfrm>
          <a:prstGeom prst="rect">
            <a:avLst/>
          </a:prstGeom>
          <a:noFill/>
          <a:ln/>
        </p:spPr>
        <p:txBody>
          <a:bodyPr wrap="square" lIns="63500" tIns="63500" rIns="63500" bIns="63500" rtlCol="0" anchor="ctr"/>
          <a:lstStyle/>
          <a:p>
            <a:pPr algn="l" indent="0" marL="0">
              <a:buNone/>
            </a:pPr>
            <a:r>
              <a:rPr lang="en-US" sz="2000" b="1" dirty="0">
                <a:solidFill>
                  <a:srgbClr val="3F6B4A"/>
                </a:solidFill>
                <a:latin typeface="Cambria" pitchFamily="34" charset="0"/>
                <a:ea typeface="Cambria" pitchFamily="34" charset="-122"/>
                <a:cs typeface="Cambria" pitchFamily="34" charset="-120"/>
              </a:rPr>
              <a:t>death rate</a:t>
            </a:r>
            <a:endParaRPr lang="en-US" sz="2000" dirty="0"/>
          </a:p>
        </p:txBody>
      </p:sp>
      <p:sp>
        <p:nvSpPr>
          <p:cNvPr id="19" name="kw-cell"/>
          <p:cNvSpPr txBox="1"/>
          <p:nvPr/>
        </p:nvSpPr>
        <p:spPr>
          <a:xfrm>
            <a:off x="3657600" y="2759253"/>
            <a:ext cx="3474720" cy="76586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number of people who die each year for every 1000 people</a:t>
            </a:r>
            <a:endParaRPr lang="en-US" sz="1800" dirty="0"/>
          </a:p>
        </p:txBody>
      </p:sp>
      <p:sp>
        <p:nvSpPr>
          <p:cNvPr id="20" name="kw-cell"/>
          <p:cNvSpPr txBox="1"/>
          <p:nvPr/>
        </p:nvSpPr>
        <p:spPr>
          <a:xfrm>
            <a:off x="7315200" y="2759253"/>
            <a:ext cx="4236415" cy="76586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Better healthcare makes the death rate fall.</a:t>
            </a:r>
            <a:endParaRPr lang="en-US" sz="1800" dirty="0"/>
          </a:p>
        </p:txBody>
      </p:sp>
      <p:sp>
        <p:nvSpPr>
          <p:cNvPr id="21" name="kw-row"/>
          <p:cNvSpPr/>
          <p:nvPr/>
        </p:nvSpPr>
        <p:spPr>
          <a:xfrm>
            <a:off x="548640" y="3598266"/>
            <a:ext cx="11094415" cy="765861"/>
          </a:xfrm>
          <a:prstGeom prst="roundRect">
            <a:avLst>
              <a:gd name="adj" fmla="val 7164"/>
            </a:avLst>
          </a:prstGeom>
          <a:solidFill>
            <a:srgbClr val="EAEFEB"/>
          </a:solidFill>
          <a:ln/>
        </p:spPr>
      </p:sp>
      <p:sp>
        <p:nvSpPr>
          <p:cNvPr id="22" name="kw-hex"/>
          <p:cNvSpPr/>
          <p:nvPr/>
        </p:nvSpPr>
        <p:spPr>
          <a:xfrm>
            <a:off x="658368" y="3803025"/>
            <a:ext cx="411480" cy="356342"/>
          </a:xfrm>
          <a:prstGeom prst="hexagon">
            <a:avLst/>
          </a:prstGeom>
          <a:solidFill>
            <a:srgbClr val="3F6B4A"/>
          </a:solidFill>
          <a:ln/>
        </p:spPr>
      </p:sp>
      <p:sp>
        <p:nvSpPr>
          <p:cNvPr id="23" name="kw-cell"/>
          <p:cNvSpPr txBox="1"/>
          <p:nvPr/>
        </p:nvSpPr>
        <p:spPr>
          <a:xfrm>
            <a:off x="1143000" y="3598266"/>
            <a:ext cx="2331720" cy="765861"/>
          </a:xfrm>
          <a:prstGeom prst="rect">
            <a:avLst/>
          </a:prstGeom>
          <a:noFill/>
          <a:ln/>
        </p:spPr>
        <p:txBody>
          <a:bodyPr wrap="square" lIns="63500" tIns="63500" rIns="63500" bIns="63500" rtlCol="0" anchor="ctr"/>
          <a:lstStyle/>
          <a:p>
            <a:pPr algn="l" indent="0" marL="0">
              <a:buNone/>
            </a:pPr>
            <a:r>
              <a:rPr lang="en-US" sz="2000" b="1" dirty="0">
                <a:solidFill>
                  <a:srgbClr val="3F6B4A"/>
                </a:solidFill>
                <a:latin typeface="Cambria" pitchFamily="34" charset="0"/>
                <a:ea typeface="Cambria" pitchFamily="34" charset="-122"/>
                <a:cs typeface="Cambria" pitchFamily="34" charset="-120"/>
              </a:rPr>
              <a:t>natural increase</a:t>
            </a:r>
            <a:endParaRPr lang="en-US" sz="2000" dirty="0"/>
          </a:p>
        </p:txBody>
      </p:sp>
      <p:sp>
        <p:nvSpPr>
          <p:cNvPr id="24" name="kw-cell"/>
          <p:cNvSpPr txBox="1"/>
          <p:nvPr/>
        </p:nvSpPr>
        <p:spPr>
          <a:xfrm>
            <a:off x="3657600" y="3598266"/>
            <a:ext cx="3474720" cy="76586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population growth when more people are born than die</a:t>
            </a:r>
            <a:endParaRPr lang="en-US" sz="1800" dirty="0"/>
          </a:p>
        </p:txBody>
      </p:sp>
      <p:sp>
        <p:nvSpPr>
          <p:cNvPr id="25" name="kw-cell"/>
          <p:cNvSpPr txBox="1"/>
          <p:nvPr/>
        </p:nvSpPr>
        <p:spPr>
          <a:xfrm>
            <a:off x="7315200" y="3598266"/>
            <a:ext cx="4236415" cy="76586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Natural increase is the birth rate minus the death rate.</a:t>
            </a:r>
            <a:endParaRPr lang="en-US" sz="1800" dirty="0"/>
          </a:p>
        </p:txBody>
      </p:sp>
      <p:sp>
        <p:nvSpPr>
          <p:cNvPr id="26" name="kw-row"/>
          <p:cNvSpPr/>
          <p:nvPr/>
        </p:nvSpPr>
        <p:spPr>
          <a:xfrm>
            <a:off x="548640" y="4437278"/>
            <a:ext cx="11094415" cy="765861"/>
          </a:xfrm>
          <a:prstGeom prst="roundRect">
            <a:avLst>
              <a:gd name="adj" fmla="val 7164"/>
            </a:avLst>
          </a:prstGeom>
          <a:solidFill>
            <a:srgbClr val="F4EDDF"/>
          </a:solidFill>
          <a:ln/>
        </p:spPr>
      </p:sp>
      <p:sp>
        <p:nvSpPr>
          <p:cNvPr id="27" name="kw-hex"/>
          <p:cNvSpPr/>
          <p:nvPr/>
        </p:nvSpPr>
        <p:spPr>
          <a:xfrm>
            <a:off x="658368" y="4642038"/>
            <a:ext cx="411480" cy="356342"/>
          </a:xfrm>
          <a:prstGeom prst="hexagon">
            <a:avLst/>
          </a:prstGeom>
          <a:solidFill>
            <a:srgbClr val="B8862B"/>
          </a:solidFill>
          <a:ln/>
        </p:spPr>
      </p:sp>
      <p:sp>
        <p:nvSpPr>
          <p:cNvPr id="28" name="kw-cell"/>
          <p:cNvSpPr txBox="1"/>
          <p:nvPr/>
        </p:nvSpPr>
        <p:spPr>
          <a:xfrm>
            <a:off x="1143000" y="4437278"/>
            <a:ext cx="2331720" cy="765861"/>
          </a:xfrm>
          <a:prstGeom prst="rect">
            <a:avLst/>
          </a:prstGeom>
          <a:noFill/>
          <a:ln/>
        </p:spPr>
        <p:txBody>
          <a:bodyPr wrap="square" lIns="63500" tIns="63500" rIns="63500" bIns="63500" rtlCol="0" anchor="ctr"/>
          <a:lstStyle/>
          <a:p>
            <a:pPr algn="l" indent="0" marL="0">
              <a:buNone/>
            </a:pPr>
            <a:r>
              <a:rPr lang="en-US" sz="2000" b="1" dirty="0">
                <a:solidFill>
                  <a:srgbClr val="3F6B4A"/>
                </a:solidFill>
                <a:latin typeface="Cambria" pitchFamily="34" charset="0"/>
                <a:ea typeface="Cambria" pitchFamily="34" charset="-122"/>
                <a:cs typeface="Cambria" pitchFamily="34" charset="-120"/>
              </a:rPr>
              <a:t>model</a:t>
            </a:r>
            <a:endParaRPr lang="en-US" sz="2000" dirty="0"/>
          </a:p>
        </p:txBody>
      </p:sp>
      <p:sp>
        <p:nvSpPr>
          <p:cNvPr id="29" name="kw-cell"/>
          <p:cNvSpPr txBox="1"/>
          <p:nvPr/>
        </p:nvSpPr>
        <p:spPr>
          <a:xfrm>
            <a:off x="3657600" y="4437278"/>
            <a:ext cx="3474720" cy="76586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simple picture of how something usually changes</a:t>
            </a:r>
            <a:endParaRPr lang="en-US" sz="1800" dirty="0"/>
          </a:p>
        </p:txBody>
      </p:sp>
      <p:sp>
        <p:nvSpPr>
          <p:cNvPr id="30" name="kw-cell"/>
          <p:cNvSpPr txBox="1"/>
          <p:nvPr/>
        </p:nvSpPr>
        <p:spPr>
          <a:xfrm>
            <a:off x="7315200" y="4437278"/>
            <a:ext cx="4236415" cy="76586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model shows the general pattern, not one real country.</a:t>
            </a:r>
            <a:endParaRPr lang="en-US" sz="1800" dirty="0"/>
          </a:p>
        </p:txBody>
      </p:sp>
      <p:sp>
        <p:nvSpPr>
          <p:cNvPr id="31" name="kw-row"/>
          <p:cNvSpPr/>
          <p:nvPr/>
        </p:nvSpPr>
        <p:spPr>
          <a:xfrm>
            <a:off x="548640" y="5276291"/>
            <a:ext cx="11094415" cy="868477"/>
          </a:xfrm>
          <a:prstGeom prst="roundRect">
            <a:avLst>
              <a:gd name="adj" fmla="val 6317"/>
            </a:avLst>
          </a:prstGeom>
          <a:solidFill>
            <a:srgbClr val="EAEFEB"/>
          </a:solidFill>
          <a:ln/>
        </p:spPr>
      </p:sp>
      <p:sp>
        <p:nvSpPr>
          <p:cNvPr id="32" name="kw-hex"/>
          <p:cNvSpPr/>
          <p:nvPr/>
        </p:nvSpPr>
        <p:spPr>
          <a:xfrm>
            <a:off x="658368" y="5532359"/>
            <a:ext cx="411480" cy="356342"/>
          </a:xfrm>
          <a:prstGeom prst="hexagon">
            <a:avLst/>
          </a:prstGeom>
          <a:solidFill>
            <a:srgbClr val="3F6B4A"/>
          </a:solidFill>
          <a:ln/>
        </p:spPr>
      </p:sp>
      <p:sp>
        <p:nvSpPr>
          <p:cNvPr id="33" name="kw-cell"/>
          <p:cNvSpPr txBox="1"/>
          <p:nvPr/>
        </p:nvSpPr>
        <p:spPr>
          <a:xfrm>
            <a:off x="1143000" y="5276291"/>
            <a:ext cx="2331720" cy="868477"/>
          </a:xfrm>
          <a:prstGeom prst="rect">
            <a:avLst/>
          </a:prstGeom>
          <a:noFill/>
          <a:ln/>
        </p:spPr>
        <p:txBody>
          <a:bodyPr wrap="square" lIns="63500" tIns="63500" rIns="63500" bIns="63500" rtlCol="0" anchor="ctr"/>
          <a:lstStyle/>
          <a:p>
            <a:pPr algn="l" indent="0" marL="0">
              <a:buNone/>
            </a:pPr>
            <a:r>
              <a:rPr lang="en-US" sz="2000" b="1" dirty="0">
                <a:solidFill>
                  <a:srgbClr val="3F6B4A"/>
                </a:solidFill>
                <a:latin typeface="Cambria" pitchFamily="34" charset="0"/>
                <a:ea typeface="Cambria" pitchFamily="34" charset="-122"/>
                <a:cs typeface="Cambria" pitchFamily="34" charset="-120"/>
              </a:rPr>
              <a:t>population pyramid</a:t>
            </a:r>
            <a:endParaRPr lang="en-US" sz="2000" dirty="0"/>
          </a:p>
        </p:txBody>
      </p:sp>
      <p:sp>
        <p:nvSpPr>
          <p:cNvPr id="34" name="kw-cell"/>
          <p:cNvSpPr txBox="1"/>
          <p:nvPr/>
        </p:nvSpPr>
        <p:spPr>
          <a:xfrm>
            <a:off x="3657600" y="5276291"/>
            <a:ext cx="3474720" cy="86847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graph showing how many people are in each age group</a:t>
            </a:r>
            <a:endParaRPr lang="en-US" sz="1800" dirty="0"/>
          </a:p>
        </p:txBody>
      </p:sp>
      <p:sp>
        <p:nvSpPr>
          <p:cNvPr id="35" name="kw-cell"/>
          <p:cNvSpPr txBox="1"/>
          <p:nvPr/>
        </p:nvSpPr>
        <p:spPr>
          <a:xfrm>
            <a:off x="7315200" y="5276291"/>
            <a:ext cx="4236415" cy="868477"/>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population pyramid has two bars for every age group, male and female.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CF0ED"/>
          </a:solidFill>
          <a:ln w="12700">
            <a:solidFill>
              <a:srgbClr val="C0CEC3"/>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demographic transition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model</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shows how a population changes over time.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It is called the DTM for short.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It is a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model</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so it does not follow one real country.</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DTM has five stages.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In stage 1 the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birth rate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and the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death rate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are both high.</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population stays low and steady.</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In stage 2 the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death rate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falls but the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birth rate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stays high.</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CF0ED"/>
          </a:solidFill>
          <a:ln w="12700">
            <a:solidFill>
              <a:srgbClr val="C0CEC3"/>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population grows quickly.</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In stage 3 the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birth rate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falls too, so growth slows down.</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In stage 4 both rates are low and the population is high and steady.</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In stage 5 the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birth rate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drops below the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death rate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population begins to fall.</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population pyramid</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shows how many people are in each age group.</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3F6B4A"/>
                </a:solidFill>
                <a:latin typeface="Cambria" pitchFamily="34" charset="0"/>
                <a:ea typeface="Cambria" pitchFamily="34" charset="-122"/>
                <a:cs typeface="Cambria" pitchFamily="34" charset="-120"/>
              </a:rPr>
              <a:t>The five stages of the demographic transition model</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Learn the stages by what the two lines are doing, not by the numbers: stage 1 both high, stage 2 death rate falling, stage 3 birth rate falling, stage 4 both low, stage 5 birth rate below death rate.</a:t>
            </a:r>
            <a:endParaRPr lang="en-US" sz="1800" dirty="0"/>
          </a:p>
        </p:txBody>
      </p:sp>
      <p:sp>
        <p:nvSpPr>
          <p:cNvPr id="11" name="point-card"/>
          <p:cNvSpPr/>
          <p:nvPr/>
        </p:nvSpPr>
        <p:spPr>
          <a:xfrm>
            <a:off x="548640" y="1389888"/>
            <a:ext cx="3515258" cy="3686048"/>
          </a:xfrm>
          <a:prstGeom prst="roundRect">
            <a:avLst>
              <a:gd name="adj" fmla="val 1561"/>
            </a:avLst>
          </a:prstGeom>
          <a:solidFill>
            <a:srgbClr val="E6ECE7"/>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demographic transition model, or DTM, shows the changes to a population over time.</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 stage 1 the birth rate is high, with many babies being born, and the death rate is high too, with many people dying young.</a:t>
            </a:r>
            <a:endParaRPr lang="en-US" sz="2400" dirty="0"/>
          </a:p>
        </p:txBody>
      </p:sp>
      <p:sp>
        <p:nvSpPr>
          <p:cNvPr id="19" name="point-card"/>
          <p:cNvSpPr/>
          <p:nvPr/>
        </p:nvSpPr>
        <p:spPr>
          <a:xfrm>
            <a:off x="8127797" y="1389888"/>
            <a:ext cx="3515258" cy="3686048"/>
          </a:xfrm>
          <a:prstGeom prst="roundRect">
            <a:avLst>
              <a:gd name="adj" fmla="val 1561"/>
            </a:avLst>
          </a:prstGeom>
          <a:solidFill>
            <a:srgbClr val="E6ECE7"/>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 stage 4 the birth rate stays low and the death rate is low, so the population is high and steady.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Birth rates, death rates and natural increase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2E9D9"/>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If your natural increase comes out larger than the birth rate, you have added instead of subtracting.</a:t>
            </a:r>
            <a:endParaRPr lang="en-US" sz="1800" dirty="0"/>
          </a:p>
        </p:txBody>
      </p:sp>
      <p:sp>
        <p:nvSpPr>
          <p:cNvPr id="11" name="point-card"/>
          <p:cNvSpPr/>
          <p:nvPr/>
        </p:nvSpPr>
        <p:spPr>
          <a:xfrm>
            <a:off x="548640" y="1389888"/>
            <a:ext cx="5410048" cy="3964940"/>
          </a:xfrm>
          <a:prstGeom prst="roundRect">
            <a:avLst>
              <a:gd name="adj" fmla="val 1384"/>
            </a:avLst>
          </a:prstGeom>
          <a:solidFill>
            <a:srgbClr val="E6ECE7"/>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Birth rate is the number of births in a year for every 1000 people in the population.</a:t>
            </a:r>
            <a:endParaRPr lang="en-US" sz="2400" dirty="0"/>
          </a:p>
        </p:txBody>
      </p:sp>
      <p:sp>
        <p:nvSpPr>
          <p:cNvPr id="15" name="point-card"/>
          <p:cNvSpPr/>
          <p:nvPr/>
        </p:nvSpPr>
        <p:spPr>
          <a:xfrm>
            <a:off x="6233008" y="1389888"/>
            <a:ext cx="5410048" cy="3964940"/>
          </a:xfrm>
          <a:prstGeom prst="roundRect">
            <a:avLst>
              <a:gd name="adj" fmla="val 1384"/>
            </a:avLst>
          </a:prstGeom>
          <a:solidFill>
            <a:srgbClr val="F4EDDF"/>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Why are birth rates high in some countries and low in others?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Worked example: Birth rates, death rates and natural increase</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E6ECE7"/>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country has a birth rate of 38 per 1000 and a death rate of 14 per 1000. Work out its natural increase per 1000 people.</a:t>
            </a:r>
            <a:endParaRPr lang="en-US" sz="2200" dirty="0"/>
          </a:p>
        </p:txBody>
      </p:sp>
      <p:sp>
        <p:nvSpPr>
          <p:cNvPr id="9" name="step-box"/>
          <p:cNvSpPr/>
          <p:nvPr/>
        </p:nvSpPr>
        <p:spPr>
          <a:xfrm>
            <a:off x="548640" y="2655824"/>
            <a:ext cx="2464994" cy="2252980"/>
          </a:xfrm>
          <a:prstGeom prst="roundRect">
            <a:avLst>
              <a:gd name="adj" fmla="val 3247"/>
            </a:avLst>
          </a:prstGeom>
          <a:solidFill>
            <a:srgbClr val="FFFFFF"/>
          </a:solidFill>
          <a:ln w="15875">
            <a:solidFill>
              <a:srgbClr val="95AE9B"/>
            </a:solidFill>
            <a:prstDash val="solid"/>
          </a:ln>
        </p:spPr>
      </p:sp>
      <p:sp>
        <p:nvSpPr>
          <p:cNvPr id="10" name="step-hex"/>
          <p:cNvSpPr/>
          <p:nvPr/>
        </p:nvSpPr>
        <p:spPr>
          <a:xfrm>
            <a:off x="685800" y="2765552"/>
            <a:ext cx="530352" cy="459285"/>
          </a:xfrm>
          <a:prstGeom prst="hexagon">
            <a:avLst/>
          </a:prstGeom>
          <a:solidFill>
            <a:srgbClr val="3F6B4A"/>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Natural increase means births minus deaths, so set up a subtraction.</a:t>
            </a:r>
            <a:endParaRPr lang="en-US" sz="1800" dirty="0"/>
          </a:p>
        </p:txBody>
      </p:sp>
      <p:sp>
        <p:nvSpPr>
          <p:cNvPr id="13" name="arrow"/>
          <p:cNvSpPr/>
          <p:nvPr/>
        </p:nvSpPr>
        <p:spPr>
          <a:xfrm>
            <a:off x="3086786" y="3645154"/>
            <a:ext cx="274320" cy="274320"/>
          </a:xfrm>
          <a:prstGeom prst="rightArrow">
            <a:avLst/>
          </a:prstGeom>
          <a:solidFill>
            <a:srgbClr val="B8862B"/>
          </a:solidFill>
          <a:ln/>
        </p:spPr>
      </p:sp>
      <p:sp>
        <p:nvSpPr>
          <p:cNvPr id="14" name="step-box"/>
          <p:cNvSpPr/>
          <p:nvPr/>
        </p:nvSpPr>
        <p:spPr>
          <a:xfrm>
            <a:off x="3425114" y="2655824"/>
            <a:ext cx="2464994" cy="2252980"/>
          </a:xfrm>
          <a:prstGeom prst="roundRect">
            <a:avLst>
              <a:gd name="adj" fmla="val 3247"/>
            </a:avLst>
          </a:prstGeom>
          <a:solidFill>
            <a:srgbClr val="FFFFFF"/>
          </a:solidFill>
          <a:ln w="15875">
            <a:solidFill>
              <a:srgbClr val="95AE9B"/>
            </a:solidFill>
            <a:prstDash val="solid"/>
          </a:ln>
        </p:spPr>
      </p:sp>
      <p:sp>
        <p:nvSpPr>
          <p:cNvPr id="15" name="step-hex"/>
          <p:cNvSpPr/>
          <p:nvPr/>
        </p:nvSpPr>
        <p:spPr>
          <a:xfrm>
            <a:off x="3562274" y="2765552"/>
            <a:ext cx="530352" cy="459285"/>
          </a:xfrm>
          <a:prstGeom prst="hexagon">
            <a:avLst/>
          </a:prstGeom>
          <a:solidFill>
            <a:srgbClr val="3F6B4A"/>
          </a:solidFill>
          <a:ln/>
        </p:spPr>
      </p:sp>
      <p:sp>
        <p:nvSpPr>
          <p:cNvPr id="16" name="step-hex-label"/>
          <p:cNvSpPr txBox="1"/>
          <p:nvPr/>
        </p:nvSpPr>
        <p:spPr>
          <a:xfrm>
            <a:off x="3562274"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3562274"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Both rates are already per 1000 people, so you can subtract them directly.</a:t>
            </a:r>
            <a:endParaRPr lang="en-US" sz="1800" dirty="0"/>
          </a:p>
        </p:txBody>
      </p:sp>
      <p:sp>
        <p:nvSpPr>
          <p:cNvPr id="18" name="arrow"/>
          <p:cNvSpPr/>
          <p:nvPr/>
        </p:nvSpPr>
        <p:spPr>
          <a:xfrm>
            <a:off x="5963260" y="3645154"/>
            <a:ext cx="274320" cy="274320"/>
          </a:xfrm>
          <a:prstGeom prst="rightArrow">
            <a:avLst/>
          </a:prstGeom>
          <a:solidFill>
            <a:srgbClr val="B8862B"/>
          </a:solidFill>
          <a:ln/>
        </p:spPr>
      </p:sp>
      <p:sp>
        <p:nvSpPr>
          <p:cNvPr id="19" name="step-box"/>
          <p:cNvSpPr/>
          <p:nvPr/>
        </p:nvSpPr>
        <p:spPr>
          <a:xfrm>
            <a:off x="6301588" y="2655824"/>
            <a:ext cx="2464994" cy="2252980"/>
          </a:xfrm>
          <a:prstGeom prst="roundRect">
            <a:avLst>
              <a:gd name="adj" fmla="val 3247"/>
            </a:avLst>
          </a:prstGeom>
          <a:solidFill>
            <a:srgbClr val="FFFFFF"/>
          </a:solidFill>
          <a:ln w="15875">
            <a:solidFill>
              <a:srgbClr val="95AE9B"/>
            </a:solidFill>
            <a:prstDash val="solid"/>
          </a:ln>
        </p:spPr>
      </p:sp>
      <p:sp>
        <p:nvSpPr>
          <p:cNvPr id="20" name="step-hex"/>
          <p:cNvSpPr/>
          <p:nvPr/>
        </p:nvSpPr>
        <p:spPr>
          <a:xfrm>
            <a:off x="6438748" y="2765552"/>
            <a:ext cx="530352" cy="459285"/>
          </a:xfrm>
          <a:prstGeom prst="hexagon">
            <a:avLst/>
          </a:prstGeom>
          <a:solidFill>
            <a:srgbClr val="3F6B4A"/>
          </a:solidFill>
          <a:ln/>
        </p:spPr>
      </p:sp>
      <p:sp>
        <p:nvSpPr>
          <p:cNvPr id="21"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6438748"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Work it out: 38 − 14 = 24.</a:t>
            </a:r>
            <a:endParaRPr lang="en-US" sz="1800" dirty="0"/>
          </a:p>
        </p:txBody>
      </p:sp>
      <p:sp>
        <p:nvSpPr>
          <p:cNvPr id="23" name="arrow"/>
          <p:cNvSpPr/>
          <p:nvPr/>
        </p:nvSpPr>
        <p:spPr>
          <a:xfrm>
            <a:off x="8839733" y="3645154"/>
            <a:ext cx="274320" cy="274320"/>
          </a:xfrm>
          <a:prstGeom prst="rightArrow">
            <a:avLst/>
          </a:prstGeom>
          <a:solidFill>
            <a:srgbClr val="B8862B"/>
          </a:solidFill>
          <a:ln/>
        </p:spPr>
      </p:sp>
      <p:sp>
        <p:nvSpPr>
          <p:cNvPr id="24" name="step-box"/>
          <p:cNvSpPr/>
          <p:nvPr/>
        </p:nvSpPr>
        <p:spPr>
          <a:xfrm>
            <a:off x="9178061" y="2655824"/>
            <a:ext cx="2464994" cy="2252980"/>
          </a:xfrm>
          <a:prstGeom prst="roundRect">
            <a:avLst>
              <a:gd name="adj" fmla="val 3247"/>
            </a:avLst>
          </a:prstGeom>
          <a:solidFill>
            <a:srgbClr val="FFFFFF"/>
          </a:solidFill>
          <a:ln w="15875">
            <a:solidFill>
              <a:srgbClr val="95AE9B"/>
            </a:solidFill>
            <a:prstDash val="solid"/>
          </a:ln>
        </p:spPr>
      </p:sp>
      <p:sp>
        <p:nvSpPr>
          <p:cNvPr id="25" name="step-hex"/>
          <p:cNvSpPr/>
          <p:nvPr/>
        </p:nvSpPr>
        <p:spPr>
          <a:xfrm>
            <a:off x="9315221" y="2765552"/>
            <a:ext cx="530352" cy="459285"/>
          </a:xfrm>
          <a:prstGeom prst="hexagon">
            <a:avLst/>
          </a:prstGeom>
          <a:solidFill>
            <a:srgbClr val="3F6B4A"/>
          </a:solidFill>
          <a:ln/>
        </p:spPr>
      </p:sp>
      <p:sp>
        <p:nvSpPr>
          <p:cNvPr id="26" name="step-hex-label"/>
          <p:cNvSpPr txBox="1"/>
          <p:nvPr/>
        </p:nvSpPr>
        <p:spPr>
          <a:xfrm>
            <a:off x="9315221"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step"/>
          <p:cNvSpPr txBox="1"/>
          <p:nvPr/>
        </p:nvSpPr>
        <p:spPr>
          <a:xfrm>
            <a:off x="9315221"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Give the units: the natural increase is 24 per 1000 people per year.</a:t>
            </a:r>
            <a:endParaRPr lang="en-US" sz="1800" dirty="0"/>
          </a:p>
        </p:txBody>
      </p:sp>
      <p:sp>
        <p:nvSpPr>
          <p:cNvPr id="28" name="worked-answer"/>
          <p:cNvSpPr/>
          <p:nvPr/>
        </p:nvSpPr>
        <p:spPr>
          <a:xfrm>
            <a:off x="1463040" y="5592572"/>
            <a:ext cx="9265615" cy="552196"/>
          </a:xfrm>
          <a:prstGeom prst="roundRect">
            <a:avLst>
              <a:gd name="adj" fmla="val 33119"/>
            </a:avLst>
          </a:prstGeom>
          <a:solidFill>
            <a:srgbClr val="EBDDC4"/>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24 per 1000 people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Reading a population pyramid</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Describe a pyramid in three moves: the base, the middle, the top. For each one say what the shape is and what it tells you about births, deaths or life expectancy.</a:t>
            </a:r>
            <a:endParaRPr lang="en-US" sz="1800" dirty="0"/>
          </a:p>
        </p:txBody>
      </p:sp>
      <p:sp>
        <p:nvSpPr>
          <p:cNvPr id="11" name="point-card"/>
          <p:cNvSpPr/>
          <p:nvPr/>
        </p:nvSpPr>
        <p:spPr>
          <a:xfrm>
            <a:off x="548640" y="1389888"/>
            <a:ext cx="3515258" cy="3686048"/>
          </a:xfrm>
          <a:prstGeom prst="roundRect">
            <a:avLst>
              <a:gd name="adj" fmla="val 1561"/>
            </a:avLst>
          </a:prstGeom>
          <a:solidFill>
            <a:srgbClr val="E6ECE7"/>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 population pyramid shows the structure of a population. The bars are age groups, stacked from the youngest at the bottom to the oldest at the top, and they are split down the middle into males on one side and females on the other.</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 pyramid for a high income country has a narrow base, a wider middle and stays quite wide at the top.</a:t>
            </a:r>
            <a:endParaRPr lang="en-US" sz="1800" dirty="0"/>
          </a:p>
        </p:txBody>
      </p:sp>
      <p:sp>
        <p:nvSpPr>
          <p:cNvPr id="19" name="point-card"/>
          <p:cNvSpPr/>
          <p:nvPr/>
        </p:nvSpPr>
        <p:spPr>
          <a:xfrm>
            <a:off x="8127797" y="1389888"/>
            <a:ext cx="3515258" cy="3686048"/>
          </a:xfrm>
          <a:prstGeom prst="roundRect">
            <a:avLst>
              <a:gd name="adj" fmla="val 1561"/>
            </a:avLst>
          </a:prstGeom>
          <a:solidFill>
            <a:srgbClr val="E6ECE7"/>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dependency ratio compares the people who are not of working age, those aged 0 to 14 and those over 65, with the people who are.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What the model cannot show</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 six-mark question on the model wants the pattern and the exception: describe what the stage shows, name a country at that stage, then say why a real country might not fit.</a:t>
            </a:r>
            <a:endParaRPr lang="en-US" sz="1800" dirty="0"/>
          </a:p>
        </p:txBody>
      </p:sp>
      <p:sp>
        <p:nvSpPr>
          <p:cNvPr id="11" name="point-card"/>
          <p:cNvSpPr/>
          <p:nvPr/>
        </p:nvSpPr>
        <p:spPr>
          <a:xfrm>
            <a:off x="548640" y="1389888"/>
            <a:ext cx="5410048" cy="3686048"/>
          </a:xfrm>
          <a:prstGeom prst="roundRect">
            <a:avLst>
              <a:gd name="adj" fmla="val 1488"/>
            </a:avLst>
          </a:prstGeom>
          <a:solidFill>
            <a:srgbClr val="E6ECE7"/>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demographic transition model is useful, but it has real limitations and the exam likes to ask about them.</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4EDDF"/>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Japan shows why stage 5 is more than a line on a graph.</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Put the five stages in order</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200" b="1" dirty="0">
                <a:solidFill>
                  <a:srgbClr val="1E2229"/>
                </a:solidFill>
                <a:latin typeface="Calibri" pitchFamily="34" charset="0"/>
                <a:ea typeface="Calibri" pitchFamily="34" charset="-122"/>
                <a:cs typeface="Calibri" pitchFamily="34" charset="-120"/>
              </a:rPr>
              <a:t>Put the five stages of the demographic transition model in the correct order, from stage 1 to stage 5.</a:t>
            </a:r>
            <a:endParaRPr lang="en-US" sz="2200" dirty="0"/>
          </a:p>
          <a:p>
            <a:pPr algn="l" indent="0" marL="0">
              <a:spcAft>
                <a:spcPts val="2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000" dirty="0">
                <a:solidFill>
                  <a:srgbClr val="1E2229"/>
                </a:solidFill>
                <a:latin typeface="Calibri" pitchFamily="34" charset="0"/>
                <a:ea typeface="Calibri" pitchFamily="34" charset="-122"/>
                <a:cs typeface="Calibri" pitchFamily="34" charset="-120"/>
              </a:rPr>
              <a:t>Stage 2: the death rate falls while the birth rate stays high, so the population grows quickly.</a:t>
            </a:r>
            <a:endParaRPr lang="en-US" sz="2200" dirty="0"/>
          </a:p>
          <a:p>
            <a:pPr algn="l" indent="0" marL="0">
              <a:spcAft>
                <a:spcPts val="2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000" dirty="0">
                <a:solidFill>
                  <a:srgbClr val="1E2229"/>
                </a:solidFill>
                <a:latin typeface="Calibri" pitchFamily="34" charset="0"/>
                <a:ea typeface="Calibri" pitchFamily="34" charset="-122"/>
                <a:cs typeface="Calibri" pitchFamily="34" charset="-120"/>
              </a:rPr>
              <a:t>Stage 5: the birth rate falls below the death rate, so the population begins to fall.</a:t>
            </a:r>
            <a:endParaRPr lang="en-US" sz="2200" dirty="0"/>
          </a:p>
          <a:p>
            <a:pPr algn="l" indent="0" marL="0">
              <a:spcAft>
                <a:spcPts val="2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000" dirty="0">
                <a:solidFill>
                  <a:srgbClr val="1E2229"/>
                </a:solidFill>
                <a:latin typeface="Calibri" pitchFamily="34" charset="0"/>
                <a:ea typeface="Calibri" pitchFamily="34" charset="-122"/>
                <a:cs typeface="Calibri" pitchFamily="34" charset="-120"/>
              </a:rPr>
              <a:t>Stage 1: the birth rate and the death rate are both high, so the population stays low and steady.</a:t>
            </a:r>
            <a:endParaRPr lang="en-US" sz="2200" dirty="0"/>
          </a:p>
          <a:p>
            <a:pPr algn="l" indent="0" marL="0">
              <a:spcAft>
                <a:spcPts val="2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000" dirty="0">
                <a:solidFill>
                  <a:srgbClr val="1E2229"/>
                </a:solidFill>
                <a:latin typeface="Calibri" pitchFamily="34" charset="0"/>
                <a:ea typeface="Calibri" pitchFamily="34" charset="-122"/>
                <a:cs typeface="Calibri" pitchFamily="34" charset="-120"/>
              </a:rPr>
              <a:t>Stage 4: the birth rate and the death rate are both low, so the population is high and steady.</a:t>
            </a:r>
            <a:endParaRPr lang="en-US" sz="2200" dirty="0"/>
          </a:p>
          <a:p>
            <a:pPr algn="l" indent="0" marL="0">
              <a:spcAft>
                <a:spcPts val="200"/>
              </a:spcAft>
              <a:buNone/>
            </a:pPr>
            <a:r>
              <a:rPr lang="en-US" sz="20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000" dirty="0">
                <a:solidFill>
                  <a:srgbClr val="1E2229"/>
                </a:solidFill>
                <a:latin typeface="Calibri" pitchFamily="34" charset="0"/>
                <a:ea typeface="Calibri" pitchFamily="34" charset="-122"/>
                <a:cs typeface="Calibri" pitchFamily="34" charset="-120"/>
              </a:rPr>
              <a:t>Stage 3: the birth rate falls as well, so the population still grows but more slowly.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3F6B4A"/>
                </a:solidFill>
                <a:latin typeface="Cambria" pitchFamily="34" charset="0"/>
                <a:ea typeface="Cambria" pitchFamily="34" charset="-122"/>
                <a:cs typeface="Cambria" pitchFamily="34" charset="-120"/>
              </a:rPr>
              <a:t>Same task, three ways in: Put the five stages in order</a:t>
            </a:r>
            <a:endParaRPr lang="en-US" sz="28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Put the five stages in order</a:t>
            </a:r>
            <a:endParaRPr lang="en-US" sz="2000" dirty="0"/>
          </a:p>
        </p:txBody>
      </p:sp>
      <p:sp>
        <p:nvSpPr>
          <p:cNvPr id="12" name="col-Support"/>
          <p:cNvSpPr/>
          <p:nvPr/>
        </p:nvSpPr>
        <p:spPr>
          <a:xfrm>
            <a:off x="548640" y="2395728"/>
            <a:ext cx="6327465" cy="3749040"/>
          </a:xfrm>
          <a:prstGeom prst="roundRect">
            <a:avLst>
              <a:gd name="adj" fmla="val 1463"/>
            </a:avLst>
          </a:prstGeom>
          <a:solidFill>
            <a:srgbClr val="E6ECE7"/>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5595945"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6053145"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the stage where nothing is growing and both rates are high: that is the start.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Next comes the stage where only the death rate has fallen, which is why growth is fastest.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Then the birth rate starts to fall too, so growth slows.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Then both rates are low and the population levels off.</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5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Last comes the stage where the birth rate drops below the death rate and the population falls.</a:t>
            </a:r>
            <a:endParaRPr lang="en-US" sz="1800" dirty="0"/>
          </a:p>
        </p:txBody>
      </p:sp>
      <p:sp>
        <p:nvSpPr>
          <p:cNvPr id="17" name="col-Core"/>
          <p:cNvSpPr/>
          <p:nvPr/>
        </p:nvSpPr>
        <p:spPr>
          <a:xfrm>
            <a:off x="7150425" y="2395728"/>
            <a:ext cx="2109155" cy="3749040"/>
          </a:xfrm>
          <a:prstGeom prst="roundRect">
            <a:avLst>
              <a:gd name="adj" fmla="val 2601"/>
            </a:avLst>
          </a:prstGeom>
          <a:solidFill>
            <a:srgbClr val="CFDAD2"/>
          </a:solidFill>
          <a:ln/>
        </p:spPr>
      </p:sp>
      <p:sp>
        <p:nvSpPr>
          <p:cNvPr id="18" name="col-hex"/>
          <p:cNvSpPr/>
          <p:nvPr/>
        </p:nvSpPr>
        <p:spPr>
          <a:xfrm>
            <a:off x="7260153"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7260153"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790505" y="2432304"/>
            <a:ext cx="1377635"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7287585" y="3035808"/>
            <a:ext cx="1834835"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The death rate always falls before the birth rate. That single rule fixes stages 2 and 3.</a:t>
            </a:r>
            <a:endParaRPr lang="en-US" sz="1800" dirty="0"/>
          </a:p>
        </p:txBody>
      </p:sp>
      <p:sp>
        <p:nvSpPr>
          <p:cNvPr id="22" name="col-Stretch"/>
          <p:cNvSpPr/>
          <p:nvPr/>
        </p:nvSpPr>
        <p:spPr>
          <a:xfrm>
            <a:off x="9533900" y="2395728"/>
            <a:ext cx="2109155" cy="3749040"/>
          </a:xfrm>
          <a:prstGeom prst="roundRect">
            <a:avLst>
              <a:gd name="adj" fmla="val 2601"/>
            </a:avLst>
          </a:prstGeom>
          <a:solidFill>
            <a:srgbClr val="3F6B4A"/>
          </a:solidFill>
          <a:ln/>
        </p:spPr>
      </p:sp>
      <p:sp>
        <p:nvSpPr>
          <p:cNvPr id="23" name="col-hex"/>
          <p:cNvSpPr/>
          <p:nvPr/>
        </p:nvSpPr>
        <p:spPr>
          <a:xfrm>
            <a:off x="9643628"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64362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10173980" y="2432304"/>
            <a:ext cx="1377635"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671060" y="3035808"/>
            <a:ext cx="1834835"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the gap between the two lines, not the height of either, tells you how fast the population is growing.</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Which country is at stage 5?</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Which country is the example of a population at stage 5, where the birth rate has fallen below the death rate and the total population is falling?</a:t>
            </a:r>
            <a:endParaRPr lang="en-US" sz="2600" dirty="0"/>
          </a:p>
          <a:p>
            <a:pPr algn="ctr" indent="0" marL="0">
              <a:buNone/>
            </a:pPr>
            <a:r>
              <a:rPr lang="en-US" sz="2400" b="1" dirty="0">
                <a:solidFill>
                  <a:srgbClr val="B8862B"/>
                </a:solidFill>
                <a:latin typeface="Calibri" pitchFamily="34" charset="0"/>
                <a:ea typeface="Calibri" pitchFamily="34" charset="-122"/>
                <a:cs typeface="Calibri" pitchFamily="34" charset="-120"/>
              </a:rPr>
              <a:t>A  </a:t>
            </a:r>
            <a:pPr algn="ctr" indent="0" marL="0">
              <a:buNone/>
            </a:pPr>
            <a:r>
              <a:rPr lang="en-US" sz="2400" dirty="0">
                <a:solidFill>
                  <a:srgbClr val="1E2229"/>
                </a:solidFill>
                <a:latin typeface="Calibri" pitchFamily="34" charset="0"/>
                <a:ea typeface="Calibri" pitchFamily="34" charset="-122"/>
                <a:cs typeface="Calibri" pitchFamily="34" charset="-120"/>
              </a:rPr>
              <a:t>Japan      </a:t>
            </a:r>
            <a:pPr algn="ctr" indent="0" marL="0">
              <a:buNone/>
            </a:pPr>
            <a:r>
              <a:rPr lang="en-US" sz="2400" b="1" dirty="0">
                <a:solidFill>
                  <a:srgbClr val="B8862B"/>
                </a:solidFill>
                <a:latin typeface="Calibri" pitchFamily="34" charset="0"/>
                <a:ea typeface="Calibri" pitchFamily="34" charset="-122"/>
                <a:cs typeface="Calibri" pitchFamily="34" charset="-120"/>
              </a:rPr>
              <a:t>B  </a:t>
            </a:r>
            <a:pPr algn="ctr" indent="0" marL="0">
              <a:buNone/>
            </a:pPr>
            <a:r>
              <a:rPr lang="en-US" sz="2400" dirty="0">
                <a:solidFill>
                  <a:srgbClr val="1E2229"/>
                </a:solidFill>
                <a:latin typeface="Calibri" pitchFamily="34" charset="0"/>
                <a:ea typeface="Calibri" pitchFamily="34" charset="-122"/>
                <a:cs typeface="Calibri" pitchFamily="34" charset="-120"/>
              </a:rPr>
              <a:t>Afghanistan      </a:t>
            </a:r>
            <a:pPr algn="ctr" indent="0" marL="0">
              <a:buNone/>
            </a:pPr>
            <a:r>
              <a:rPr lang="en-US" sz="2400" b="1" dirty="0">
                <a:solidFill>
                  <a:srgbClr val="B8862B"/>
                </a:solidFill>
                <a:latin typeface="Calibri" pitchFamily="34" charset="0"/>
                <a:ea typeface="Calibri" pitchFamily="34" charset="-122"/>
                <a:cs typeface="Calibri" pitchFamily="34" charset="-120"/>
              </a:rPr>
              <a:t>C  </a:t>
            </a:r>
            <a:pPr algn="ctr" indent="0" marL="0">
              <a:buNone/>
            </a:pPr>
            <a:r>
              <a:rPr lang="en-US" sz="2400" dirty="0">
                <a:solidFill>
                  <a:srgbClr val="1E2229"/>
                </a:solidFill>
                <a:latin typeface="Calibri" pitchFamily="34" charset="0"/>
                <a:ea typeface="Calibri" pitchFamily="34" charset="-122"/>
                <a:cs typeface="Calibri" pitchFamily="34" charset="-120"/>
              </a:rPr>
              <a:t>The United States      </a:t>
            </a:r>
            <a:pPr algn="ctr" indent="0" marL="0">
              <a:buNone/>
            </a:pPr>
            <a:r>
              <a:rPr lang="en-US" sz="2400" b="1" dirty="0">
                <a:solidFill>
                  <a:srgbClr val="B8862B"/>
                </a:solidFill>
                <a:latin typeface="Calibri" pitchFamily="34" charset="0"/>
                <a:ea typeface="Calibri" pitchFamily="34" charset="-122"/>
                <a:cs typeface="Calibri" pitchFamily="34" charset="-120"/>
              </a:rPr>
              <a:t>D  </a:t>
            </a:r>
            <a:pPr algn="ctr" indent="0" marL="0">
              <a:buNone/>
            </a:pPr>
            <a:r>
              <a:rPr lang="en-US" sz="2400" dirty="0">
                <a:solidFill>
                  <a:srgbClr val="1E2229"/>
                </a:solidFill>
                <a:latin typeface="Calibri" pitchFamily="34" charset="0"/>
                <a:ea typeface="Calibri" pitchFamily="34" charset="-122"/>
                <a:cs typeface="Calibri" pitchFamily="34" charset="-120"/>
              </a:rPr>
              <a:t>Nigeria</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3F6B4A"/>
                </a:solidFill>
                <a:latin typeface="Cambria" pitchFamily="34" charset="0"/>
                <a:ea typeface="Cambria" pitchFamily="34" charset="-122"/>
                <a:cs typeface="Cambria" pitchFamily="34" charset="-120"/>
              </a:rPr>
              <a:t>Same task, three ways in: Which country is at stage 5?</a:t>
            </a:r>
            <a:endParaRPr lang="en-US" sz="28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Which country is the example of a population at stage 5, where the birth rate has fallen below the death rate and the total population is falling?</a:t>
            </a:r>
            <a:endParaRPr lang="en-US" sz="2000" dirty="0"/>
          </a:p>
        </p:txBody>
      </p:sp>
      <p:sp>
        <p:nvSpPr>
          <p:cNvPr id="12" name="col-Support"/>
          <p:cNvSpPr/>
          <p:nvPr/>
        </p:nvSpPr>
        <p:spPr>
          <a:xfrm>
            <a:off x="548640" y="2593848"/>
            <a:ext cx="4667802" cy="3550920"/>
          </a:xfrm>
          <a:prstGeom prst="roundRect">
            <a:avLst>
              <a:gd name="adj" fmla="val 1545"/>
            </a:avLst>
          </a:prstGeom>
          <a:solidFill>
            <a:srgbClr val="E6ECE7"/>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4393482"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Stage 5 means the population is falling, not just growing slowly.</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Cross out any country whose population is still growing quickly.</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Cross out the country used as the stage 4 example, where the population is steady.</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one left has an ageing population and a shrinking total.</a:t>
            </a:r>
            <a:endParaRPr lang="en-US" sz="1800" dirty="0"/>
          </a:p>
        </p:txBody>
      </p:sp>
      <p:sp>
        <p:nvSpPr>
          <p:cNvPr id="17" name="col-Core"/>
          <p:cNvSpPr/>
          <p:nvPr/>
        </p:nvSpPr>
        <p:spPr>
          <a:xfrm>
            <a:off x="5490762" y="2593848"/>
            <a:ext cx="2938987" cy="3550920"/>
          </a:xfrm>
          <a:prstGeom prst="roundRect">
            <a:avLst>
              <a:gd name="adj" fmla="val 1867"/>
            </a:avLst>
          </a:prstGeom>
          <a:solidFill>
            <a:srgbClr val="CFDAD2"/>
          </a:solidFill>
          <a:ln/>
        </p:spPr>
      </p:sp>
      <p:sp>
        <p:nvSpPr>
          <p:cNvPr id="18" name="col-hex"/>
          <p:cNvSpPr/>
          <p:nvPr/>
        </p:nvSpPr>
        <p:spPr>
          <a:xfrm>
            <a:off x="5600490"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Only one of these four countries has more deaths than births each year.</a:t>
            </a:r>
            <a:endParaRPr lang="en-US" sz="1800" dirty="0"/>
          </a:p>
        </p:txBody>
      </p:sp>
      <p:sp>
        <p:nvSpPr>
          <p:cNvPr id="22" name="col-Stretch"/>
          <p:cNvSpPr/>
          <p:nvPr/>
        </p:nvSpPr>
        <p:spPr>
          <a:xfrm>
            <a:off x="8704069" y="2593848"/>
            <a:ext cx="2938987" cy="3550920"/>
          </a:xfrm>
          <a:prstGeom prst="roundRect">
            <a:avLst>
              <a:gd name="adj" fmla="val 1867"/>
            </a:avLst>
          </a:prstGeom>
          <a:solidFill>
            <a:srgbClr val="3F6B4A"/>
          </a:solidFill>
          <a:ln/>
        </p:spPr>
      </p:sp>
      <p:sp>
        <p:nvSpPr>
          <p:cNvPr id="23" name="col-hex"/>
          <p:cNvSpPr/>
          <p:nvPr/>
        </p:nvSpPr>
        <p:spPr>
          <a:xfrm>
            <a:off x="8813797"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Germany is also placed at stage 5. Explain what Germany and Japan have in common that puts them there, and name one thing a government in that position can do about it.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987040"/>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A country has a high birth rate and a high death rate, so its population stays low and does not grow much. Which stage of the demographic transition model is it in?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Stage 2</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Stage 3</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Stage 1</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Stage 5</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CF0ED"/>
          </a:solidFill>
          <a:ln w="12700">
            <a:solidFill>
              <a:srgbClr val="99B19F"/>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Put the five stages in order</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Stage 1: the birth rate and the death rate are both high, so the population stays low and steady.  (C)</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Stage 2: the death rate falls while the birth rate stays high, so the population grows quickly.  (A)</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Stage 3: the birth rate falls as well, so the population still grows but more slowly.  (E)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Stage 4: the birth rate and the death rate are both low, so the population is high and steady.  (D)</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Stage 5: the birth rate falls below the death rate, so the population begins to fall.  (B)</a:t>
            </a:r>
            <a:endParaRPr lang="en-US" sz="2000" dirty="0"/>
          </a:p>
        </p:txBody>
      </p:sp>
      <p:sp>
        <p:nvSpPr>
          <p:cNvPr id="10" name="why-panel"/>
          <p:cNvSpPr/>
          <p:nvPr/>
        </p:nvSpPr>
        <p:spPr>
          <a:xfrm>
            <a:off x="7223760" y="1389888"/>
            <a:ext cx="4419295" cy="4754880"/>
          </a:xfrm>
          <a:prstGeom prst="roundRect">
            <a:avLst>
              <a:gd name="adj" fmla="val 1035"/>
            </a:avLst>
          </a:prstGeom>
          <a:solidFill>
            <a:srgbClr val="E6ECE7"/>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 order is stage 1 (both rates high, population low and steady), stage 2 (death rate falls, population grows quickly), stage 3 (birth rate falls, growth slows), stage 4 (both rates low, population high and steady), stage 5 (birth rate below death rate, population falls). The death rate always falls first, because healthcare, food and clean water improve before family sizes change.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Which country is at stage 5?</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country is the example of a population at stage 5, where the birth rate has fallen below the death rate and the total population is falling?</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Japan</a:t>
            </a:r>
            <a:endParaRPr lang="en-US" sz="1800" dirty="0"/>
          </a:p>
        </p:txBody>
      </p:sp>
      <p:sp>
        <p:nvSpPr>
          <p:cNvPr id="10" name="why-panel"/>
          <p:cNvSpPr/>
          <p:nvPr/>
        </p:nvSpPr>
        <p:spPr>
          <a:xfrm>
            <a:off x="7223760" y="1389888"/>
            <a:ext cx="4419295" cy="4754880"/>
          </a:xfrm>
          <a:prstGeom prst="roundRect">
            <a:avLst>
              <a:gd name="adj" fmla="val 1035"/>
            </a:avLst>
          </a:prstGeom>
          <a:solidFill>
            <a:srgbClr val="E6ECE7"/>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Japan is the stage 5 example: its birth rate has fallen below its death rate, the death rate has risen slightly because the population is ageing, and the total population is falling. Afghanistan is stage 2, Nigeria stage 3 and the United States stage 4.</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country has a high birth rate and a high death rate, so its population stays low and does not grow much. Which stage of the demographic transition model is it in?</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Stage 1</a:t>
            </a:r>
            <a:endParaRPr lang="en-US" sz="1800" dirty="0"/>
          </a:p>
        </p:txBody>
      </p:sp>
      <p:sp>
        <p:nvSpPr>
          <p:cNvPr id="10" name="why-panel"/>
          <p:cNvSpPr/>
          <p:nvPr/>
        </p:nvSpPr>
        <p:spPr>
          <a:xfrm>
            <a:off x="7223760" y="1389888"/>
            <a:ext cx="4419295" cy="4754880"/>
          </a:xfrm>
          <a:prstGeom prst="roundRect">
            <a:avLst>
              <a:gd name="adj" fmla="val 1035"/>
            </a:avLst>
          </a:prstGeom>
          <a:solidFill>
            <a:srgbClr val="E6ECE7"/>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 stage 1 both rates are high, so they cancel out and the population stays low and steady. Only a few groups in the world, such as people living deep in the Amazon rainforest, are still at this stage.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6ECE7"/>
      </a:lt2>
      <a:accent1>
        <a:srgbClr val="3F6B4A"/>
      </a:accent1>
      <a:accent2>
        <a:srgbClr val="B8862B"/>
      </a:accent2>
      <a:accent3>
        <a:srgbClr val="8CA692"/>
      </a:accent3>
      <a:accent4>
        <a:srgbClr val="815E1E"/>
      </a:accent4>
      <a:accent5>
        <a:srgbClr val="4A505C"/>
      </a:accent5>
      <a:accent6>
        <a:srgbClr val="D9BF8F"/>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Changing Economic World · Chapter 2: Population change and the five stages</dc:title>
  <dc:subject>Geography · Year 10</dc:subject>
  <dc:creator>Dr Vitor Merissi de Carvalho</dc:creator>
  <cp:lastModifiedBy>Dr Vitor Merissi de Carvalho</cp:lastModifiedBy>
  <cp:revision>1</cp:revision>
  <dcterms:created xsi:type="dcterms:W3CDTF">2026-10-19T06:07:36Z</dcterms:created>
  <dcterms:modified xsi:type="dcterms:W3CDTF">2026-10-19T06:07:36Z</dcterms:modified>
</cp:coreProperties>
</file>