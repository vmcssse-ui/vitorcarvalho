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da64ee0-846d-6b72-5aae-504d4466af19}">
          <p14:sldIdLst>
            <p14:sldId id="256"/>
          </p14:sldIdLst>
        </p14:section>
        <p14:section name="Gate" id="{98ee2deb-0d24-e574-277b-343e3a07f8f2}">
          <p14:sldIdLst>
            <p14:sldId id="257"/>
            <p14:sldId id="258"/>
          </p14:sldIdLst>
        </p14:section>
        <p14:section name="Pre-teach" id="{03d83bdf-7815-81e5-2b35-5f087571cd81}">
          <p14:sldIdLst>
            <p14:sldId id="259"/>
            <p14:sldId id="260"/>
          </p14:sldIdLst>
        </p14:section>
        <p14:section name="Read-along" id="{d1ed4e0c-c801-de5d-4c50-763123a170c2}">
          <p14:sldIdLst>
            <p14:sldId id="261"/>
            <p14:sldId id="262"/>
          </p14:sldIdLst>
        </p14:section>
        <p14:section name="Teach" id="{5fec66c7-b2fd-cdfd-69e0-e80d3ed41daa}">
          <p14:sldIdLst>
            <p14:sldId id="263"/>
            <p14:sldId id="264"/>
            <p14:sldId id="265"/>
            <p14:sldId id="266"/>
            <p14:sldId id="267"/>
          </p14:sldIdLst>
        </p14:section>
        <p14:section name="Routes" id="{6e13c135-493b-eb20-8c4d-81a89834fc05}">
          <p14:sldIdLst>
            <p14:sldId id="268"/>
            <p14:sldId id="269"/>
            <p14:sldId id="270"/>
            <p14:sldId id="271"/>
          </p14:sldIdLst>
        </p14:section>
        <p14:section name="Close" id="{c9004b8e-21f5-229f-caf3-d702214b7f07}">
          <p14:sldIdLst>
            <p14:sldId id="272"/>
          </p14:sldIdLst>
        </p14:section>
        <p14:section name="Answers" id="{842855da-63b6-c018-c1d0-c588c8a112ae}">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Measuring development: our unequal world. What development means, why total wealth is a poor guide, how GNI and HDI measure a country, how the world is sorted into HICs, NEEs and LICs, and the factors that speed development up or hold it back.
This deck covers the department's lessons: 1 (Development: what it is and how wealth is measured: What do development, standard of living, quality of life and the development gap mean, and why is total wealth a poor measure?); 2 (Classifying countries and the factors that affect development: How are countries classified as HIC, NEE or LIC, what are the BRICS and MINT groups, and which factors speed up or slow down development?); 3 (HDI and other indicators: strengths, weaknesses and correlation: What does the HDI measure, how does it compare with GNI, and what does a scattergraph of two indicators show?).
Read the big question aloud: "Why is the world's wealth so unevenly shared, and what can countries such as Nigeria and the UK do about the gaps between them and within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of these development indicators is a purely social measure, not based on wealth?  →  D   Infant mortality rate
2. A country has a GNI of 40 billion dollars and a population of 8 million. What is its GNI per capita, in dollars per person?  →  5000 dollars per person
3. The HDI gives every country a score between 0 and ___.  →  1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Infant mortality rate. Infant mortality rate counts babies who die before the age of one; it measures health, not money. GDP, GNI and total wealth are all economic.
2. 5000 dollars per person. Per capita means divide by the population: 40 000 000 000 ÷ 8 000 000 = 5000 dollars per person.
3. 1. The human development index runs from 0 (lowest) to 1 (highest), so a country scoring 0.9 is highly developed.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development: positive change that makes people's lives better. Example: "Development means more children in school and fewer babies dying young."
• standard of living: how much money and material comfort people have. Example: "A high standard of living means people can afford food, housing and goods."
• quality of life: how good people's lives are, including health, safety and freedom. Example: "Clean air and the right to vote are part of quality of life."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GNI: gross national income, the money a country earns in a year. Example: "GNI per capita is the GNI divided by the number of people."
• HDI: human development index, a score from 0 to 1. Example: "The HDI combines health, education and income in one number."
• development gap: the difference in living standards between the richest and poorest countries. Example: "The development gap between Somalia and the UK is very wide."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Development means positive change that makes life better.
2. It usually means a higher standard of living and a better quality of life.
3. Standard of living is about money and the things it buys.
4. Quality of life is wider: health, safety, education and freedom.
5. The development gap is the difference between the richest and poorest countries.
6. Total wealth is not a good way to measure it.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A big country with many people can be rich in total but poor per person.
8. GNI per capita is an economic measure: income divided by population.
9. HDI is a social measure that combines life expectancy, education and income.
10. It gives every country a score between 0 and 1.
11. Rich countries are called HICs, poor countries LICs.
12. Fast-growing countries in between, such as India and China, are NEEs.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development means, and why total wealth misleads. Say it in your own words, then check understanding with a quick question: ask a pupil from the pre-teach group first, since they met these words and ideas before the lesson. Pupils try to recall before you re-explain.
Development means positive change that makes things better. For a country it usually means that people's standard of living and quality of life improve. The two ideas are not the same. Standard of living is about wealth: how much money people have and whether they can afford food, housing and goods. Quality of life is wider and harder to measure: it includes health, education, safety, the quality of the environment and rights such as the vote. A country can raise its standard of living while its quality of life lags behind, for example if factories bring wages but also pollution.
The development gap is the difference in standard of living and wellbeing between the richest and poorest countries in the world. When your class listed the ten richest countries, you probably reached for total wealth. On that measure the United States comes first, then China, Japan and the United Kingdom. But total wealth hides more than it shows. It can hide big differences within a country, where some regions are very rich and others very poor. It ignores the size of the country and its population, so a huge country looks richer than a small one with the same income per person. It ignores national debt, and it says nothing about whether the wealth has come at a cost to the environment.
So geographers use indicators instead: measurable figures that point to how developed a country is. Some are economic, such as GNI. Many are social, such as literacy rate, birth rate, death rate, infant mortality rate and life expectancy. Each has strengths and weaknesses, which is why the exam asks you to use a range of them.
Tip: Odd-one-out check: of GDP, GNI, HDI and infant mortality rate, the infant mortality rate is the only purely social indicator. The other three involve wealth.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GNI: the economic measure. Say it in your own words, then check understanding with a quick question: ask a pupil from the pre-teach group first, since they met these words and ideas before the lesson. Pupils try to recall before you re-explain.
GNI, gross national income, is the economic measure of development. It is the total value of the goods and services a country produces in a year, plus the extra money it earns from trade with other countries. On its own that favours big countries, so it is nearly always given per capita: the total divided by the population, which gives an average income per person. Comparing GNI per capita is how the World Bank sorts countries into income groups.
GNI per capita has real strengths. It is a single, useful figure for comparing countries, and it is often used to rank them so that aid can be shared fairly. It is fairly easy to calculate from official government figures, and it is a good indicator of the state of the economy and of the services a country can afford. But it also has weaknesses. It is an average, so it hides inequality: it does not show how wealth is distributed between rich and poor people. It can be manipulated by governments that want to appear poor in order to collect more aid. And it leaves out subsistence farming and the informal economy, where people grow their own food or trade without records, which matter enormously in less developed countries.
Worked example — model it step by step, thinking aloud: A country has a GNI of 60 billion dollars and a population of 5 million. Work out its GNI per capita. (1) Per capita means per person, so divide the total income by the number of people. (2) Write both numbers in full: 60 billion = 60 000 000 000; 5 million = 5 000 000. (3) Divide: 60 000 000 000 ÷ 5 000 000 = 12 000. (4) Give the units: the GNI per capita is 12 000 dollars per person. Answer: 12 000 dollars per person.
Tip: Billions divided by millions gives thousands. If your answer for a GNI per capita is a few dollars or a few billion, the zeros have gone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GNI: the economic measure. Say it in your own words, then check understanding with a quick question: ask a pupil from the pre-teach group first, since they met these words and ideas before the lesson. Pupils try to recall before you re-explain.
GNI, gross national income, is the economic measure of development. It is the total value of the goods and services a country produces in a year, plus the extra money it earns from trade with other countries. On its own that favours big countries, so it is nearly always given per capita: the total divided by the population, which gives an average income per person. Comparing GNI per capita is how the World Bank sorts countries into income groups.
GNI per capita has real strengths. It is a single, useful figure for comparing countries, and it is often used to rank them so that aid can be shared fairly. It is fairly easy to calculate from official government figures, and it is a good indicator of the state of the economy and of the services a country can afford. But it also has weaknesses. It is an average, so it hides inequality: it does not show how wealth is distributed between rich and poor people. It can be manipulated by governments that want to appear poor in order to collect more aid. And it leaves out subsistence farming and the informal economy, where people grow their own food or trade without records, which matter enormously in less developed countries.
Worked example — model it step by step, thinking aloud: A country has a GNI of 60 billion dollars and a population of 5 million. Work out its GNI per capita. (1) Per capita means per person, so divide the total income by the number of people. (2) Write both numbers in full: 60 billion = 60 000 000 000; 5 million = 5 000 000. (3) Divide: 60 000 000 000 ÷ 5 000 000 = 12 000. (4) Give the units: the GNI per capita is 12 000 dollars per person. Answer: 12 000 dollars per person.
Tip: Billions divided by millions gives thousands. If your answer for a GNI per capita is a few dollars or a few billion, the zeros have gone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HDI and the social indicators. Say it in your own words, then check understanding with a quick question: ask a pupil from the pre-teach group first, since they met these words and ideas before the lesson. Pupils try to recall before you re-explain.
The HDI, human development index, is a social measure of development produced by the United Nations. Every country gets a score between 0 and 1, where 1 is the highest. The score combines three things: life expectancy, the number of years people spend in education, and GNI per capita. Because it includes health and education as well as wealth, it is a better guide to quality of life than GNI alone, and it is widely used to compare countries and reveal clear global patterns. An increase in education and health also shows that a country's infrastructure, its schools and hospitals, is improving.
The HDI has its critics too. Data from some developing countries may not be reliable or easy to confirm. Its education figure says nothing about whether all groups in society have access to school. And, like GNI, it is an average for a whole country, so it cannot show unequal distribution between regions or groups. When you compare a world map of HDI with a map of GNI per capita, the two patterns are broadly similar: the richest countries have the highest HDI. The interesting places are where they differ, where a country's income is higher or lower than its health and education would suggest.
Other social indicators are quicker to read. Birth rate is the number of babies born per 1000 people a year; death rate is the number of deaths per 1000 people a year; infant mortality rate is the number of babies who die before the age of one, per 1000 live births; life expectancy is the average age a person is expected to reach; literacy rate is the percentage of adults who can read and write. Plot one of these against another on a scattergraph and you can look for a correlation, a relationship between the two. If the points rise together the correlation is positive; if one falls as the other rises it is negative; a line of best fit shows the trend. HDI and birth rate, for instance, show a negative correlation: as HDI rises, birth rate falls.
Tip: When a question says use a range of indicators, name at least two, say what each measures, and say whether it is economic or social.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HICs, NEEs and LICs, and what speeds development up. Say it in your own words, then check understanding with a quick question: ask a pupil from the pre-teach group first, since they met these words and ideas before the lesson. Pupils try to recall before you re-explain.
Countries are grouped by their level of development. High income countries (HICs) such as the UK have a high GNI per capita; low income countries (LICs) such as Afghanistan and Somalia have a very low one. In 2013 the World Bank drew the lines at a GNI per capita of 1045 dollars or below for low income and 12 746 dollars or above for high income. Between them sit the newly emerging economies (NEEs), countries such as India and China that have begun to experience rapid economic development, usually through fast industrial growth. Two acronyms name groups of NEEs. BRICS is Brazil, Russia, India, China and South Africa, all at a similar stage of newly advanced development. MINT is Malaysia, Indonesia, Nigeria and Turkey, four countries expected to grow strongly over the coming decade.
Why does one country develop faster than another? Geographers group the factors under four headings. Environmental factors include natural hazards such as earthquakes and hurricanes, which destroy infrastructure and cost money to rebuild. Economic factors include trade and debt: a country that owes a lot or sells only cheap raw materials struggles to invest. Political factors include whether a country has a stable government or is at war. Social factors include access to safe water and education, without which people cannot stay healthy or gain skills. A four-mark question may ask you how countries are grouped by their economic development and their quality of life. Give one way of grouping them, for example income bands worked out from GNI per capita, and say what that tells you about a country; then give a second way, for example HDI, and say what that tells you.
Tip: Describe the distribution of LICs on a world map with compass directions and named regions: most low and lower-middle income countries are in sub-Saharan Africa and parts of south and south-east Asia.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indicator measures what?.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development indicator to what it measures.
Support — work through the steps with the group: (1) Look for the word per capita: it always means divided by the population. (2) Two indicators are about length of life or death: one is an average age, the other counts babies. (3) Literacy is about reading and writing. (4) The one that combines three things into a single score is the composite measure.
Parallel worked example for Support (model it, do not give the task answer): Match: birth rate, death rate. Choices: the number of deaths per 1000 people a year; the number of babies born per 1000 people a year. Birth rate counts births, so it is the babies born per 1000.; Death rate counts deaths per 1000 people.. Answer: Birth rate: babies born per 1000 people a year. Death rate: deaths per 1000 people a year..
Core — reveal the hint only on request: Three of these are single social measures, one is a single economic measure, and one combines several measures in one score.
Stretch — no help; when finished: Explain which of these five indicators would be most useful for comparing the quality of life, rather than the standard of living, of two countries,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indicator measures what?.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development indicator to what it measures.
Support — work through the steps with the group: (1) Look for the word per capita: it always means divided by the population. (2) Two indicators are about length of life or death: one is an average age, the other counts babies. (3) Literacy is about reading and writing. (4) The one that combines three things into a single score is the composite measure.
Parallel worked example for Support (model it, do not give the task answer): Match: birth rate, death rate. Choices: the number of deaths per 1000 people a year; the number of babies born per 1000 people a year. Birth rate counts births, so it is the babies born per 1000.; Death rate counts deaths per 1000 people.. Answer: Birth rate: babies born per 1000 people a year. Death rate: deaths per 1000 people a year..
Core — reveal the hint only on request: Three of these are single social measures, one is a single economic measure, and one combines several measures in one score.
Stretch — no help; when finished: Explain which of these five indicators would be most useful for comparing the quality of life, rather than the standard of living, of two countries,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HIC, NEE or LIC?.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pair of countries are both newly emerging economies (NEEs)?
Support — work through the steps with the group: (1) Recall the three groups: HIC (high income, such as the UK), LIC (low income, such as Afghanistan and Somalia), NEE (in between and growing fast). (2) Cross out any pair that includes the UK: it is an HIC. (3) Cross out any pair made only of LICs. (4) The pair left are both members of BRICS.
Parallel worked example for Support (model it, do not give the task answer): Brazil and the UK: are they both NEEs? Brazil is the B in BRICS, so it is an NEE.; The UK is a high income country.; So the pair is one NEE and one HIC, not two NEEs.. Answer: No: Brazil is an NEE but the UK is an HIC..
Core — reveal the hint only on request: BRICS and MINT list NEEs. Which pair are both in BRICS?
Stretch — no help; when finished: Nigeria is in MINT but has a GNI per capita far below China's. Explain why it can still be classed as an NEE rather than an 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HIC, NEE or LIC?.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pair of countries are both newly emerging economies (NEEs)?
Support — work through the steps with the group: (1) Recall the three groups: HIC (high income, such as the UK), LIC (low income, such as Afghanistan and Somalia), NEE (in between and growing fast). (2) Cross out any pair that includes the UK: it is an HIC. (3) Cross out any pair made only of LICs. (4) The pair left are both members of BRICS.
Parallel worked example for Support (model it, do not give the task answer): Brazil and the UK: are they both NEEs? Brazil is the B in BRICS, so it is an NEE.; The UK is a high income country.; So the pair is one NEE and one HIC, not two NEEs.. Answer: No: Brazil is an NEE but the UK is an HIC..
Core — reveal the hint only on request: BRICS and MINT list NEEs. Which pair are both in BRICS?
Stretch — no help; when finished: Nigeria is in MINT but has a GNI per capita far below China's. Explain why it can still be classed as an NEE rather than an 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of these development indicators is a purely social measure, not based on wealth?
Answer: C   Infant mortality rate. Infant mortality rate counts babies who die before the age of one; it measures health, not money. GDP, GNI and total wealth are all economic.
Source of this question: gate item 1 re-asked (options rotated) — this chapter has no third quick-check module.
The ebook also holds task 3, "Why GNI alone is not enough",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Which indicator measures what?. Reveal the answer; pupils mark their own work in a different colour, then read the "why" together. Same destination for every lane, so one answer serves the whole class.
Answer: GNI per capita  →  B  A country's income in a year divided by its population; Life expectancy  →  A  The average age a person in the country is expected to live to; Infant mortality rate  →  E  The number of babies per 1000 born who die before the age of one; Literacy rate  →  D  The percentage of adults who can read and write; HDI  →  C  A score from 0 to 1 combining health, education and income
Why: GNI per capita is the economic measure: income divided by population. Life expectancy, infant mortality and literacy are single social measures. The HDI combines life expectancy, years in education and GNI per capita into one score between 0 and 1.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HIC, NEE or LIC?. Reveal the answer; pupils mark their own work in a different colour, then read the "why" together. Same destination for every lane, so one answer serves the whole class.
Answer: D   India and China
Why: India and China are both in BRICS: newly emerging economies that have moved from agriculture towards rapid industrial growth. The UK is an HIC; Afghanistan and Somalia are LICs.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Infant mortality rate
Why: Infant mortality rate counts babies who die before the age of one; it measures health, not money. GDP, GNI and total wealth are all economic.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The Changing Economic World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The Changing Economic World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3DD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Changing Economic World · AQA 8035</a:t>
            </a:r>
            <a:endParaRPr lang="en-US" sz="1800" dirty="0"/>
          </a:p>
        </p:txBody>
      </p:sp>
      <p:sp>
        <p:nvSpPr>
          <p:cNvPr id="10" name="deck-title"/>
          <p:cNvSpPr txBox="1"/>
          <p:nvPr/>
        </p:nvSpPr>
        <p:spPr>
          <a:xfrm>
            <a:off x="548640" y="171246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Measuring development: our unequal world</a:t>
            </a:r>
            <a:endParaRPr lang="en-US" sz="3200" dirty="0"/>
          </a:p>
        </p:txBody>
      </p:sp>
      <p:sp>
        <p:nvSpPr>
          <p:cNvPr id="11" name="lessons-card"/>
          <p:cNvSpPr/>
          <p:nvPr/>
        </p:nvSpPr>
        <p:spPr>
          <a:xfrm>
            <a:off x="548640" y="3124708"/>
            <a:ext cx="5287975" cy="2606040"/>
          </a:xfrm>
          <a:prstGeom prst="roundRect">
            <a:avLst>
              <a:gd name="adj" fmla="val 2807"/>
            </a:avLst>
          </a:prstGeom>
          <a:solidFill>
            <a:srgbClr val="E6ECE7"/>
          </a:solidFill>
          <a:ln/>
        </p:spPr>
      </p:sp>
      <p:sp>
        <p:nvSpPr>
          <p:cNvPr id="12" name="lessons"/>
          <p:cNvSpPr txBox="1"/>
          <p:nvPr/>
        </p:nvSpPr>
        <p:spPr>
          <a:xfrm>
            <a:off x="685800" y="3216148"/>
            <a:ext cx="5013655" cy="24231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Development: what it is and how wealth is measured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Classifying countries and the factors that affect development</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HDI and other indicators: strengths, weaknesses and correlation</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6ECE7"/>
          </a:solidFill>
          <a:ln w="12700">
            <a:solidFill>
              <a:srgbClr val="ACBFB1"/>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Why is the world's wealth so unevenly shared, and what can countries such as Nigeria and the UK do about the gaps between them and within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Which of these development indicators is a purely social measure, not based on wealth?</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Total wealth</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GDP</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GNI per capita</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Infant mortality rate</a:t>
            </a:r>
            <a:endParaRPr lang="en-US" sz="2200" dirty="0"/>
          </a:p>
        </p:txBody>
      </p:sp>
      <p:sp>
        <p:nvSpPr>
          <p:cNvPr id="12"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country has a GNI of 40 billion dollars and a population of 8 million. What is its GNI per capita, in dollars per person?</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dollars per person</a:t>
            </a:r>
            <a:endParaRPr lang="en-US" sz="2400" dirty="0"/>
          </a:p>
        </p:txBody>
      </p:sp>
      <p:sp>
        <p:nvSpPr>
          <p:cNvPr id="17"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HDI gives every country a score between 0 and ___.</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1  ·  10  ·  100</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Infant mortality rate</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of these development indicators is a purely social measure, not based on wealth?</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Infant mortality rate counts babies who die before the age of one; it measures health, not money. GDP, GNI and total wealth are all economic.</a:t>
            </a:r>
            <a:endParaRPr lang="en-US" sz="1800" dirty="0"/>
          </a:p>
        </p:txBody>
      </p:sp>
      <p:sp>
        <p:nvSpPr>
          <p:cNvPr id="14"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955040"/>
          </a:xfrm>
          <a:prstGeom prst="roundRect">
            <a:avLst>
              <a:gd name="adj" fmla="val 11489"/>
            </a:avLst>
          </a:prstGeom>
          <a:solidFill>
            <a:srgbClr val="EBDDC4"/>
          </a:solidFill>
          <a:ln w="19050">
            <a:solidFill>
              <a:srgbClr val="B8862B"/>
            </a:solidFill>
            <a:prstDash val="solid"/>
          </a:ln>
        </p:spPr>
      </p:sp>
      <p:sp>
        <p:nvSpPr>
          <p:cNvPr id="19" name="answer"/>
          <p:cNvSpPr txBox="1"/>
          <p:nvPr/>
        </p:nvSpPr>
        <p:spPr>
          <a:xfrm>
            <a:off x="4612538"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5000 dollars per person</a:t>
            </a:r>
            <a:endParaRPr lang="en-US" sz="2200" dirty="0"/>
          </a:p>
        </p:txBody>
      </p:sp>
      <p:sp>
        <p:nvSpPr>
          <p:cNvPr id="20" name="card-body"/>
          <p:cNvSpPr txBox="1"/>
          <p:nvPr/>
        </p:nvSpPr>
        <p:spPr>
          <a:xfrm>
            <a:off x="4521098"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country has a GNI of 40 billion dollars and a population of 8 million. What is its GNI per capita, in dollars per person?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Per capita means divide by the population: 40 000 000 000 ÷ 8 000 000 = 5000 dollars per person.</a:t>
            </a:r>
            <a:endParaRPr lang="en-US" sz="1800" dirty="0"/>
          </a:p>
        </p:txBody>
      </p:sp>
      <p:sp>
        <p:nvSpPr>
          <p:cNvPr id="21"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The HDI gives every country a score between 0 and ___.</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human development index runs from 0 (lowest) to 1 (highest), so a country scoring 0.9 is highly developed.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AEFEB"/>
          </a:solidFill>
          <a:ln w="12700">
            <a:solidFill>
              <a:srgbClr val="ACBFB1"/>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development</a:t>
            </a:r>
            <a:endParaRPr lang="en-US" sz="2600" dirty="0"/>
          </a:p>
        </p:txBody>
      </p:sp>
      <p:sp>
        <p:nvSpPr>
          <p:cNvPr id="11" name="word-rule"/>
          <p:cNvSpPr/>
          <p:nvPr/>
        </p:nvSpPr>
        <p:spPr>
          <a:xfrm>
            <a:off x="731520" y="2129028"/>
            <a:ext cx="3149498" cy="0"/>
          </a:xfrm>
          <a:prstGeom prst="line">
            <a:avLst/>
          </a:prstGeom>
          <a:ln w="12700">
            <a:solidFill>
              <a:srgbClr val="ACBFB1"/>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positive change that makes people's lives better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Development means more children in school and fewer babies dying young.</a:t>
            </a:r>
            <a:endParaRPr lang="en-US" sz="2200" dirty="0"/>
          </a:p>
        </p:txBody>
      </p:sp>
      <p:sp>
        <p:nvSpPr>
          <p:cNvPr id="13" name="word-card"/>
          <p:cNvSpPr/>
          <p:nvPr/>
        </p:nvSpPr>
        <p:spPr>
          <a:xfrm>
            <a:off x="4338218" y="1389888"/>
            <a:ext cx="3515258" cy="4754880"/>
          </a:xfrm>
          <a:prstGeom prst="roundRect">
            <a:avLst>
              <a:gd name="adj" fmla="val 1561"/>
            </a:avLst>
          </a:prstGeom>
          <a:solidFill>
            <a:srgbClr val="EAEFEB"/>
          </a:solidFill>
          <a:ln w="12700">
            <a:solidFill>
              <a:srgbClr val="ACBFB1"/>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standard of living</a:t>
            </a:r>
            <a:endParaRPr lang="en-US" sz="2600" dirty="0"/>
          </a:p>
        </p:txBody>
      </p:sp>
      <p:sp>
        <p:nvSpPr>
          <p:cNvPr id="17" name="word-rule"/>
          <p:cNvSpPr/>
          <p:nvPr/>
        </p:nvSpPr>
        <p:spPr>
          <a:xfrm>
            <a:off x="4521098" y="2558288"/>
            <a:ext cx="3149498" cy="0"/>
          </a:xfrm>
          <a:prstGeom prst="line">
            <a:avLst/>
          </a:prstGeom>
          <a:ln w="12700">
            <a:solidFill>
              <a:srgbClr val="ACBFB1"/>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how much money and material comfort people have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high standard of living means people can afford food, housing and goods.</a:t>
            </a:r>
            <a:endParaRPr lang="en-US" sz="2200" dirty="0"/>
          </a:p>
        </p:txBody>
      </p:sp>
      <p:sp>
        <p:nvSpPr>
          <p:cNvPr id="19" name="word-card"/>
          <p:cNvSpPr/>
          <p:nvPr/>
        </p:nvSpPr>
        <p:spPr>
          <a:xfrm>
            <a:off x="8127797" y="1389888"/>
            <a:ext cx="3515258" cy="4754880"/>
          </a:xfrm>
          <a:prstGeom prst="roundRect">
            <a:avLst>
              <a:gd name="adj" fmla="val 1561"/>
            </a:avLst>
          </a:prstGeom>
          <a:solidFill>
            <a:srgbClr val="EAEFEB"/>
          </a:solidFill>
          <a:ln w="12700">
            <a:solidFill>
              <a:srgbClr val="ACBFB1"/>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quality of life</a:t>
            </a:r>
            <a:endParaRPr lang="en-US" sz="2600" dirty="0"/>
          </a:p>
        </p:txBody>
      </p:sp>
      <p:sp>
        <p:nvSpPr>
          <p:cNvPr id="23" name="word-rule"/>
          <p:cNvSpPr/>
          <p:nvPr/>
        </p:nvSpPr>
        <p:spPr>
          <a:xfrm>
            <a:off x="8310677" y="2129028"/>
            <a:ext cx="3149498" cy="0"/>
          </a:xfrm>
          <a:prstGeom prst="line">
            <a:avLst/>
          </a:prstGeom>
          <a:ln w="12700">
            <a:solidFill>
              <a:srgbClr val="ACBFB1"/>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how good people's lives are, including health, safety and freedom</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Clean air and the right to vote are part of quality of life.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AEFEB"/>
          </a:solidFill>
          <a:ln w="12700">
            <a:solidFill>
              <a:srgbClr val="ACBFB1"/>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GNI</a:t>
            </a:r>
            <a:endParaRPr lang="en-US" sz="2600" dirty="0"/>
          </a:p>
        </p:txBody>
      </p:sp>
      <p:sp>
        <p:nvSpPr>
          <p:cNvPr id="11" name="word-rule"/>
          <p:cNvSpPr/>
          <p:nvPr/>
        </p:nvSpPr>
        <p:spPr>
          <a:xfrm>
            <a:off x="731520" y="2129028"/>
            <a:ext cx="3149498" cy="0"/>
          </a:xfrm>
          <a:prstGeom prst="line">
            <a:avLst/>
          </a:prstGeom>
          <a:ln w="12700">
            <a:solidFill>
              <a:srgbClr val="ACBFB1"/>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gross national income, the money a country earns in a year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GNI per capita is the GNI divided by the number of people.</a:t>
            </a:r>
            <a:endParaRPr lang="en-US" sz="2200" dirty="0"/>
          </a:p>
        </p:txBody>
      </p:sp>
      <p:sp>
        <p:nvSpPr>
          <p:cNvPr id="13" name="word-card"/>
          <p:cNvSpPr/>
          <p:nvPr/>
        </p:nvSpPr>
        <p:spPr>
          <a:xfrm>
            <a:off x="4338218" y="1389888"/>
            <a:ext cx="3515258" cy="4754880"/>
          </a:xfrm>
          <a:prstGeom prst="roundRect">
            <a:avLst>
              <a:gd name="adj" fmla="val 1561"/>
            </a:avLst>
          </a:prstGeom>
          <a:solidFill>
            <a:srgbClr val="EAEFEB"/>
          </a:solidFill>
          <a:ln w="12700">
            <a:solidFill>
              <a:srgbClr val="ACBFB1"/>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HDI</a:t>
            </a:r>
            <a:endParaRPr lang="en-US" sz="2600" dirty="0"/>
          </a:p>
        </p:txBody>
      </p:sp>
      <p:sp>
        <p:nvSpPr>
          <p:cNvPr id="17" name="word-rule"/>
          <p:cNvSpPr/>
          <p:nvPr/>
        </p:nvSpPr>
        <p:spPr>
          <a:xfrm>
            <a:off x="4521098" y="2129028"/>
            <a:ext cx="3149498" cy="0"/>
          </a:xfrm>
          <a:prstGeom prst="line">
            <a:avLst/>
          </a:prstGeom>
          <a:ln w="12700">
            <a:solidFill>
              <a:srgbClr val="ACBFB1"/>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human development index, a score from 0 to 1</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HDI combines health, education and income in one number.</a:t>
            </a:r>
            <a:endParaRPr lang="en-US" sz="2200" dirty="0"/>
          </a:p>
        </p:txBody>
      </p:sp>
      <p:sp>
        <p:nvSpPr>
          <p:cNvPr id="19" name="word-card"/>
          <p:cNvSpPr/>
          <p:nvPr/>
        </p:nvSpPr>
        <p:spPr>
          <a:xfrm>
            <a:off x="8127797" y="1389888"/>
            <a:ext cx="3515258" cy="4754880"/>
          </a:xfrm>
          <a:prstGeom prst="roundRect">
            <a:avLst>
              <a:gd name="adj" fmla="val 1561"/>
            </a:avLst>
          </a:prstGeom>
          <a:solidFill>
            <a:srgbClr val="EAEFEB"/>
          </a:solidFill>
          <a:ln w="12700">
            <a:solidFill>
              <a:srgbClr val="ACBFB1"/>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development gap</a:t>
            </a:r>
            <a:endParaRPr lang="en-US" sz="2600" dirty="0"/>
          </a:p>
        </p:txBody>
      </p:sp>
      <p:sp>
        <p:nvSpPr>
          <p:cNvPr id="23" name="word-rule"/>
          <p:cNvSpPr/>
          <p:nvPr/>
        </p:nvSpPr>
        <p:spPr>
          <a:xfrm>
            <a:off x="8310677" y="2558288"/>
            <a:ext cx="3149498" cy="0"/>
          </a:xfrm>
          <a:prstGeom prst="line">
            <a:avLst/>
          </a:prstGeom>
          <a:ln w="12700">
            <a:solidFill>
              <a:srgbClr val="ACBFB1"/>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difference in living standards between the richest and poorest countries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development gap between Somalia and the UK is very wide.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Development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means positive change that makes life better.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usually means a higher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standard of living</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a better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quality of life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Standard of living</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about money and the things it buys.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Quality of life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wider: health, safety, education and freedom.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development gap</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the difference between the richest and poorest countries.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Total wealth is not a good way to measure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big country with many people can be rich in total but poor per person.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GNI</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per capita is an economic measure: income divided by population.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HDI</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a social measure that combines life expectancy, education and income.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gives every country a score between 0 and 1.</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Rich countries are called HICs, poor countries LICs.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Fast-growing countries in between, such as India and China, are NEEs.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What development means, and why total wealth misleads</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Odd-one-out check: of GDP, GNI, HDI and infant mortality rate, the infant mortality rate is the only purely social indicator. The other three involve wealth.</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Development means positive change that makes things better. For a country it usually means that people's standard of living and quality of life improve.</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development gap is the difference in standard of living and wellbeing between the richest and poorest countries in the world.</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So geographers use indicators instead: measurable figures that point to how developed a country is.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GNI: the economic measure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Billions divided by millions gives thousands. If your answer for a GNI per capita is a few dollars or a few billion, the zeros have gone wrong.</a:t>
            </a:r>
            <a:endParaRPr lang="en-US" sz="1800" dirty="0"/>
          </a:p>
        </p:txBody>
      </p:sp>
      <p:sp>
        <p:nvSpPr>
          <p:cNvPr id="11" name="point-card"/>
          <p:cNvSpPr/>
          <p:nvPr/>
        </p:nvSpPr>
        <p:spPr>
          <a:xfrm>
            <a:off x="548640" y="1389888"/>
            <a:ext cx="5410048" cy="3686048"/>
          </a:xfrm>
          <a:prstGeom prst="roundRect">
            <a:avLst>
              <a:gd name="adj" fmla="val 1488"/>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GNI, gross national income, is the economic measure of development.</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GNI per capita has real strengths. It is a single, useful figure for comparing countries, and it is often used to rank them so that aid can be shared fairly.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GNI: the economic measure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6ECE7"/>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country has a GNI of 60 billion dollars and a population of 5 million. Work out its GNI per capita.</a:t>
            </a:r>
            <a:endParaRPr lang="en-US" sz="2200" dirty="0"/>
          </a:p>
        </p:txBody>
      </p:sp>
      <p:sp>
        <p:nvSpPr>
          <p:cNvPr id="9" name="step-box"/>
          <p:cNvSpPr/>
          <p:nvPr/>
        </p:nvSpPr>
        <p:spPr>
          <a:xfrm>
            <a:off x="548640" y="2655824"/>
            <a:ext cx="2464994" cy="1974088"/>
          </a:xfrm>
          <a:prstGeom prst="roundRect">
            <a:avLst>
              <a:gd name="adj" fmla="val 3706"/>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Per capita means per person, so divide the total income by the number of people.</a:t>
            </a:r>
            <a:endParaRPr lang="en-US" sz="1800" dirty="0"/>
          </a:p>
        </p:txBody>
      </p:sp>
      <p:sp>
        <p:nvSpPr>
          <p:cNvPr id="13" name="arrow"/>
          <p:cNvSpPr/>
          <p:nvPr/>
        </p:nvSpPr>
        <p:spPr>
          <a:xfrm>
            <a:off x="3086786" y="3505708"/>
            <a:ext cx="274320" cy="274320"/>
          </a:xfrm>
          <a:prstGeom prst="rightArrow">
            <a:avLst/>
          </a:prstGeom>
          <a:solidFill>
            <a:srgbClr val="B8862B"/>
          </a:solidFill>
          <a:ln/>
        </p:spPr>
      </p:sp>
      <p:sp>
        <p:nvSpPr>
          <p:cNvPr id="14" name="step-box"/>
          <p:cNvSpPr/>
          <p:nvPr/>
        </p:nvSpPr>
        <p:spPr>
          <a:xfrm>
            <a:off x="3425114" y="2655824"/>
            <a:ext cx="2464994" cy="1974088"/>
          </a:xfrm>
          <a:prstGeom prst="roundRect">
            <a:avLst>
              <a:gd name="adj" fmla="val 3706"/>
            </a:avLst>
          </a:prstGeom>
          <a:solidFill>
            <a:srgbClr val="FFFFFF"/>
          </a:solidFill>
          <a:ln w="15875">
            <a:solidFill>
              <a:srgbClr val="95AE9B"/>
            </a:solidFill>
            <a:prstDash val="solid"/>
          </a:ln>
        </p:spPr>
      </p:sp>
      <p:sp>
        <p:nvSpPr>
          <p:cNvPr id="15" name="step-hex"/>
          <p:cNvSpPr/>
          <p:nvPr/>
        </p:nvSpPr>
        <p:spPr>
          <a:xfrm>
            <a:off x="3562274" y="2765552"/>
            <a:ext cx="530352" cy="459285"/>
          </a:xfrm>
          <a:prstGeom prst="hexagon">
            <a:avLst/>
          </a:prstGeom>
          <a:solidFill>
            <a:srgbClr val="3F6B4A"/>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Write both numbers in full: 60 billion = 60 000 000 000; 5 million = 5 000 000.</a:t>
            </a:r>
            <a:endParaRPr lang="en-US" sz="1800" dirty="0"/>
          </a:p>
        </p:txBody>
      </p:sp>
      <p:sp>
        <p:nvSpPr>
          <p:cNvPr id="18" name="arrow"/>
          <p:cNvSpPr/>
          <p:nvPr/>
        </p:nvSpPr>
        <p:spPr>
          <a:xfrm>
            <a:off x="5963260" y="3505708"/>
            <a:ext cx="274320" cy="274320"/>
          </a:xfrm>
          <a:prstGeom prst="rightArrow">
            <a:avLst/>
          </a:prstGeom>
          <a:solidFill>
            <a:srgbClr val="B8862B"/>
          </a:solidFill>
          <a:ln/>
        </p:spPr>
      </p:sp>
      <p:sp>
        <p:nvSpPr>
          <p:cNvPr id="19" name="step-box"/>
          <p:cNvSpPr/>
          <p:nvPr/>
        </p:nvSpPr>
        <p:spPr>
          <a:xfrm>
            <a:off x="6301588" y="2655824"/>
            <a:ext cx="2464994" cy="1974088"/>
          </a:xfrm>
          <a:prstGeom prst="roundRect">
            <a:avLst>
              <a:gd name="adj" fmla="val 3706"/>
            </a:avLst>
          </a:prstGeom>
          <a:solidFill>
            <a:srgbClr val="FFFFFF"/>
          </a:solidFill>
          <a:ln w="15875">
            <a:solidFill>
              <a:srgbClr val="95AE9B"/>
            </a:solidFill>
            <a:prstDash val="solid"/>
          </a:ln>
        </p:spPr>
      </p:sp>
      <p:sp>
        <p:nvSpPr>
          <p:cNvPr id="20" name="step-hex"/>
          <p:cNvSpPr/>
          <p:nvPr/>
        </p:nvSpPr>
        <p:spPr>
          <a:xfrm>
            <a:off x="6438748" y="2765552"/>
            <a:ext cx="530352" cy="459285"/>
          </a:xfrm>
          <a:prstGeom prst="hexagon">
            <a:avLst/>
          </a:prstGeom>
          <a:solidFill>
            <a:srgbClr val="3F6B4A"/>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Divide: 60 000 000 000 ÷ 5 000 000 = 12 000.</a:t>
            </a:r>
            <a:endParaRPr lang="en-US" sz="1800" dirty="0"/>
          </a:p>
        </p:txBody>
      </p:sp>
      <p:sp>
        <p:nvSpPr>
          <p:cNvPr id="23" name="arrow"/>
          <p:cNvSpPr/>
          <p:nvPr/>
        </p:nvSpPr>
        <p:spPr>
          <a:xfrm>
            <a:off x="8839733" y="3505708"/>
            <a:ext cx="274320" cy="274320"/>
          </a:xfrm>
          <a:prstGeom prst="rightArrow">
            <a:avLst/>
          </a:prstGeom>
          <a:solidFill>
            <a:srgbClr val="B8862B"/>
          </a:solidFill>
          <a:ln/>
        </p:spPr>
      </p:sp>
      <p:sp>
        <p:nvSpPr>
          <p:cNvPr id="24" name="step-box"/>
          <p:cNvSpPr/>
          <p:nvPr/>
        </p:nvSpPr>
        <p:spPr>
          <a:xfrm>
            <a:off x="9178061" y="2655824"/>
            <a:ext cx="2464994" cy="1974088"/>
          </a:xfrm>
          <a:prstGeom prst="roundRect">
            <a:avLst>
              <a:gd name="adj" fmla="val 3706"/>
            </a:avLst>
          </a:prstGeom>
          <a:solidFill>
            <a:srgbClr val="FFFFFF"/>
          </a:solidFill>
          <a:ln w="15875">
            <a:solidFill>
              <a:srgbClr val="95AE9B"/>
            </a:solidFill>
            <a:prstDash val="solid"/>
          </a:ln>
        </p:spPr>
      </p:sp>
      <p:sp>
        <p:nvSpPr>
          <p:cNvPr id="25" name="step-hex"/>
          <p:cNvSpPr/>
          <p:nvPr/>
        </p:nvSpPr>
        <p:spPr>
          <a:xfrm>
            <a:off x="9315221" y="2765552"/>
            <a:ext cx="530352" cy="459285"/>
          </a:xfrm>
          <a:prstGeom prst="hexagon">
            <a:avLst/>
          </a:prstGeom>
          <a:solidFill>
            <a:srgbClr val="3F6B4A"/>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Give the units: the GNI per capita is 12 000 dollars per person.</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12 000 dollars per person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HDI and the social indicators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a question says use a range of indicators, name at least two, say what each measures, and say whether it is economic or social.</a:t>
            </a:r>
            <a:endParaRPr lang="en-US" sz="1800" dirty="0"/>
          </a:p>
        </p:txBody>
      </p:sp>
      <p:sp>
        <p:nvSpPr>
          <p:cNvPr id="11" name="bullet-card"/>
          <p:cNvSpPr/>
          <p:nvPr/>
        </p:nvSpPr>
        <p:spPr>
          <a:xfrm>
            <a:off x="548640" y="1389888"/>
            <a:ext cx="11094415" cy="821267"/>
          </a:xfrm>
          <a:prstGeom prst="roundRect">
            <a:avLst>
              <a:gd name="adj" fmla="val 8907"/>
            </a:avLst>
          </a:prstGeom>
          <a:solidFill>
            <a:srgbClr val="EAEFEB"/>
          </a:solidFill>
          <a:ln/>
        </p:spPr>
      </p:sp>
      <p:sp>
        <p:nvSpPr>
          <p:cNvPr id="12" name="bullet-hex"/>
          <p:cNvSpPr/>
          <p:nvPr/>
        </p:nvSpPr>
        <p:spPr>
          <a:xfrm>
            <a:off x="676656" y="1634229"/>
            <a:ext cx="384048" cy="332586"/>
          </a:xfrm>
          <a:prstGeom prst="hexagon">
            <a:avLst/>
          </a:prstGeom>
          <a:solidFill>
            <a:srgbClr val="3F6B4A"/>
          </a:solidFill>
          <a:ln/>
        </p:spPr>
      </p:sp>
      <p:sp>
        <p:nvSpPr>
          <p:cNvPr id="13" name="bullet"/>
          <p:cNvSpPr txBox="1"/>
          <p:nvPr/>
        </p:nvSpPr>
        <p:spPr>
          <a:xfrm>
            <a:off x="1143000" y="1389888"/>
            <a:ext cx="10408615" cy="82126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HDI, human development index, is a social measure of development produced by the United Nations.</a:t>
            </a:r>
            <a:endParaRPr lang="en-US" sz="2000" dirty="0"/>
          </a:p>
        </p:txBody>
      </p:sp>
      <p:sp>
        <p:nvSpPr>
          <p:cNvPr id="14" name="bullet-card"/>
          <p:cNvSpPr/>
          <p:nvPr/>
        </p:nvSpPr>
        <p:spPr>
          <a:xfrm>
            <a:off x="548640" y="2357459"/>
            <a:ext cx="11094415" cy="821267"/>
          </a:xfrm>
          <a:prstGeom prst="roundRect">
            <a:avLst>
              <a:gd name="adj" fmla="val 8907"/>
            </a:avLst>
          </a:prstGeom>
          <a:solidFill>
            <a:srgbClr val="EAEFEB"/>
          </a:solidFill>
          <a:ln/>
        </p:spPr>
      </p:sp>
      <p:sp>
        <p:nvSpPr>
          <p:cNvPr id="15" name="bullet-hex"/>
          <p:cNvSpPr/>
          <p:nvPr/>
        </p:nvSpPr>
        <p:spPr>
          <a:xfrm>
            <a:off x="676656" y="2601799"/>
            <a:ext cx="384048" cy="332586"/>
          </a:xfrm>
          <a:prstGeom prst="hexagon">
            <a:avLst/>
          </a:prstGeom>
          <a:solidFill>
            <a:srgbClr val="B8862B"/>
          </a:solidFill>
          <a:ln/>
        </p:spPr>
      </p:sp>
      <p:sp>
        <p:nvSpPr>
          <p:cNvPr id="16" name="bullet"/>
          <p:cNvSpPr txBox="1"/>
          <p:nvPr/>
        </p:nvSpPr>
        <p:spPr>
          <a:xfrm>
            <a:off x="1143000" y="2357459"/>
            <a:ext cx="10408615" cy="82126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HDI has its critics too. Data from some developing countries may not be reliable or easy to confirm.</a:t>
            </a:r>
            <a:endParaRPr lang="en-US" sz="2000" dirty="0"/>
          </a:p>
        </p:txBody>
      </p:sp>
      <p:sp>
        <p:nvSpPr>
          <p:cNvPr id="17" name="bullet-card"/>
          <p:cNvSpPr/>
          <p:nvPr/>
        </p:nvSpPr>
        <p:spPr>
          <a:xfrm>
            <a:off x="548640" y="3325029"/>
            <a:ext cx="11094415" cy="1750907"/>
          </a:xfrm>
          <a:prstGeom prst="roundRect">
            <a:avLst>
              <a:gd name="adj" fmla="val 4178"/>
            </a:avLst>
          </a:prstGeom>
          <a:solidFill>
            <a:srgbClr val="EAEFEB"/>
          </a:solidFill>
          <a:ln/>
        </p:spPr>
      </p:sp>
      <p:sp>
        <p:nvSpPr>
          <p:cNvPr id="18" name="bullet-hex"/>
          <p:cNvSpPr/>
          <p:nvPr/>
        </p:nvSpPr>
        <p:spPr>
          <a:xfrm>
            <a:off x="676656" y="4034190"/>
            <a:ext cx="384048" cy="332586"/>
          </a:xfrm>
          <a:prstGeom prst="hexagon">
            <a:avLst/>
          </a:prstGeom>
          <a:solidFill>
            <a:srgbClr val="3F6B4A"/>
          </a:solidFill>
          <a:ln/>
        </p:spPr>
      </p:sp>
      <p:sp>
        <p:nvSpPr>
          <p:cNvPr id="19" name="bullet"/>
          <p:cNvSpPr txBox="1"/>
          <p:nvPr/>
        </p:nvSpPr>
        <p:spPr>
          <a:xfrm>
            <a:off x="1143000" y="3325029"/>
            <a:ext cx="10408615" cy="175090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Other social indicators are quicker to read. Birth rate is the number of babies born per 1000 people a year; death rate is the number of deaths per 1000 people a year; infant mortality rate is the number of babies who die before the age of one, per 1000 live births; life expectancy is the average age a person is expected to reach; literacy rate is the percentage of adults who can read and write.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HICs, NEEs and LICs, and what speeds development up</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11094415"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10225735"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Describe the distribution of LICs on a world map with compass directions and named regions: most low and lower-middle income countries are in sub-Saharan Africa and parts of south and south-east Asia.</a:t>
            </a:r>
            <a:endParaRPr lang="en-US" sz="1800" dirty="0"/>
          </a:p>
        </p:txBody>
      </p:sp>
      <p:sp>
        <p:nvSpPr>
          <p:cNvPr id="11" name="point-card"/>
          <p:cNvSpPr/>
          <p:nvPr/>
        </p:nvSpPr>
        <p:spPr>
          <a:xfrm>
            <a:off x="548640" y="1389888"/>
            <a:ext cx="5410048" cy="3407156"/>
          </a:xfrm>
          <a:prstGeom prst="roundRect">
            <a:avLst>
              <a:gd name="adj" fmla="val 1610"/>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309876"/>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Countries are grouped by their level of development. High income countries (HICs) such as the UK have a high GNI per capita; low income countries (LICs) such as Afghanistan and Somalia have a very low one.</a:t>
            </a:r>
            <a:endParaRPr lang="en-US" sz="2200" dirty="0"/>
          </a:p>
        </p:txBody>
      </p:sp>
      <p:sp>
        <p:nvSpPr>
          <p:cNvPr id="15" name="point-card"/>
          <p:cNvSpPr/>
          <p:nvPr/>
        </p:nvSpPr>
        <p:spPr>
          <a:xfrm>
            <a:off x="6233008" y="1389888"/>
            <a:ext cx="5410048" cy="3407156"/>
          </a:xfrm>
          <a:prstGeom prst="roundRect">
            <a:avLst>
              <a:gd name="adj" fmla="val 1610"/>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309876"/>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Why does one country develop faster than another? Geographers group the factors under four headings.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Which indicator measures what?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development indicator to what it measures.</a:t>
            </a:r>
            <a:endParaRPr lang="en-US" sz="2400" dirty="0"/>
          </a:p>
        </p:txBody>
      </p:sp>
      <p:sp>
        <p:nvSpPr>
          <p:cNvPr id="11" name="match-card"/>
          <p:cNvSpPr/>
          <p:nvPr/>
        </p:nvSpPr>
        <p:spPr>
          <a:xfrm>
            <a:off x="777240" y="2468331"/>
            <a:ext cx="3081437" cy="580043"/>
          </a:xfrm>
          <a:prstGeom prst="roundRect">
            <a:avLst>
              <a:gd name="adj" fmla="val 12611"/>
            </a:avLst>
          </a:prstGeom>
          <a:solidFill>
            <a:srgbClr val="EAEFEB"/>
          </a:solidFill>
          <a:ln/>
        </p:spPr>
      </p:sp>
      <p:sp>
        <p:nvSpPr>
          <p:cNvPr id="12" name="match-hex"/>
          <p:cNvSpPr/>
          <p:nvPr/>
        </p:nvSpPr>
        <p:spPr>
          <a:xfrm>
            <a:off x="850392" y="2592060"/>
            <a:ext cx="384048" cy="332586"/>
          </a:xfrm>
          <a:prstGeom prst="hexagon">
            <a:avLst/>
          </a:prstGeom>
          <a:solidFill>
            <a:srgbClr val="3F6B4A"/>
          </a:solidFill>
          <a:ln/>
        </p:spPr>
      </p:sp>
      <p:sp>
        <p:nvSpPr>
          <p:cNvPr id="13" name="match-hex-label"/>
          <p:cNvSpPr txBox="1"/>
          <p:nvPr/>
        </p:nvSpPr>
        <p:spPr>
          <a:xfrm>
            <a:off x="850392" y="259206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58004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GNI per capita</a:t>
            </a:r>
            <a:endParaRPr lang="en-US" sz="1800" dirty="0"/>
          </a:p>
        </p:txBody>
      </p:sp>
      <p:sp>
        <p:nvSpPr>
          <p:cNvPr id="15" name="match-card"/>
          <p:cNvSpPr/>
          <p:nvPr/>
        </p:nvSpPr>
        <p:spPr>
          <a:xfrm>
            <a:off x="4224437" y="2468331"/>
            <a:ext cx="7190019" cy="580043"/>
          </a:xfrm>
          <a:prstGeom prst="roundRect">
            <a:avLst>
              <a:gd name="adj" fmla="val 12611"/>
            </a:avLst>
          </a:prstGeom>
          <a:solidFill>
            <a:srgbClr val="F4EDDF"/>
          </a:solidFill>
          <a:ln/>
        </p:spPr>
      </p:sp>
      <p:sp>
        <p:nvSpPr>
          <p:cNvPr id="16" name="match-hex"/>
          <p:cNvSpPr/>
          <p:nvPr/>
        </p:nvSpPr>
        <p:spPr>
          <a:xfrm>
            <a:off x="4297589" y="2592060"/>
            <a:ext cx="384048" cy="332586"/>
          </a:xfrm>
          <a:prstGeom prst="hexagon">
            <a:avLst/>
          </a:prstGeom>
          <a:solidFill>
            <a:srgbClr val="B8862B"/>
          </a:solidFill>
          <a:ln/>
        </p:spPr>
      </p:sp>
      <p:sp>
        <p:nvSpPr>
          <p:cNvPr id="17" name="match-hex-label"/>
          <p:cNvSpPr txBox="1"/>
          <p:nvPr/>
        </p:nvSpPr>
        <p:spPr>
          <a:xfrm>
            <a:off x="4297589" y="259206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58004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average age a person in the country is expected to live to</a:t>
            </a:r>
            <a:endParaRPr lang="en-US" sz="1800" dirty="0"/>
          </a:p>
        </p:txBody>
      </p:sp>
      <p:sp>
        <p:nvSpPr>
          <p:cNvPr id="19" name="match-card"/>
          <p:cNvSpPr/>
          <p:nvPr/>
        </p:nvSpPr>
        <p:spPr>
          <a:xfrm>
            <a:off x="777240" y="3139814"/>
            <a:ext cx="3081437" cy="580043"/>
          </a:xfrm>
          <a:prstGeom prst="roundRect">
            <a:avLst>
              <a:gd name="adj" fmla="val 12611"/>
            </a:avLst>
          </a:prstGeom>
          <a:solidFill>
            <a:srgbClr val="EAEFEB"/>
          </a:solidFill>
          <a:ln/>
        </p:spPr>
      </p:sp>
      <p:sp>
        <p:nvSpPr>
          <p:cNvPr id="20" name="match-hex"/>
          <p:cNvSpPr/>
          <p:nvPr/>
        </p:nvSpPr>
        <p:spPr>
          <a:xfrm>
            <a:off x="850392" y="3263542"/>
            <a:ext cx="384048" cy="332586"/>
          </a:xfrm>
          <a:prstGeom prst="hexagon">
            <a:avLst/>
          </a:prstGeom>
          <a:solidFill>
            <a:srgbClr val="3F6B4A"/>
          </a:solidFill>
          <a:ln/>
        </p:spPr>
      </p:sp>
      <p:sp>
        <p:nvSpPr>
          <p:cNvPr id="21" name="match-hex-label"/>
          <p:cNvSpPr txBox="1"/>
          <p:nvPr/>
        </p:nvSpPr>
        <p:spPr>
          <a:xfrm>
            <a:off x="850392" y="326354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39814"/>
            <a:ext cx="2487077" cy="58004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Life expectancy</a:t>
            </a:r>
            <a:endParaRPr lang="en-US" sz="1800" dirty="0"/>
          </a:p>
        </p:txBody>
      </p:sp>
      <p:sp>
        <p:nvSpPr>
          <p:cNvPr id="23" name="match-card"/>
          <p:cNvSpPr/>
          <p:nvPr/>
        </p:nvSpPr>
        <p:spPr>
          <a:xfrm>
            <a:off x="4224437" y="3139814"/>
            <a:ext cx="7190019" cy="580043"/>
          </a:xfrm>
          <a:prstGeom prst="roundRect">
            <a:avLst>
              <a:gd name="adj" fmla="val 12611"/>
            </a:avLst>
          </a:prstGeom>
          <a:solidFill>
            <a:srgbClr val="F4EDDF"/>
          </a:solidFill>
          <a:ln/>
        </p:spPr>
      </p:sp>
      <p:sp>
        <p:nvSpPr>
          <p:cNvPr id="24" name="match-hex"/>
          <p:cNvSpPr/>
          <p:nvPr/>
        </p:nvSpPr>
        <p:spPr>
          <a:xfrm>
            <a:off x="4297589" y="3263542"/>
            <a:ext cx="384048" cy="332586"/>
          </a:xfrm>
          <a:prstGeom prst="hexagon">
            <a:avLst/>
          </a:prstGeom>
          <a:solidFill>
            <a:srgbClr val="B8862B"/>
          </a:solidFill>
          <a:ln/>
        </p:spPr>
      </p:sp>
      <p:sp>
        <p:nvSpPr>
          <p:cNvPr id="25" name="match-hex-label"/>
          <p:cNvSpPr txBox="1"/>
          <p:nvPr/>
        </p:nvSpPr>
        <p:spPr>
          <a:xfrm>
            <a:off x="4297589" y="326354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139814"/>
            <a:ext cx="6595659" cy="58004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country's income in a year divided by its population</a:t>
            </a:r>
            <a:endParaRPr lang="en-US" sz="1800" dirty="0"/>
          </a:p>
        </p:txBody>
      </p:sp>
      <p:sp>
        <p:nvSpPr>
          <p:cNvPr id="27" name="match-card"/>
          <p:cNvSpPr/>
          <p:nvPr/>
        </p:nvSpPr>
        <p:spPr>
          <a:xfrm>
            <a:off x="777240" y="3811296"/>
            <a:ext cx="3081437" cy="580043"/>
          </a:xfrm>
          <a:prstGeom prst="roundRect">
            <a:avLst>
              <a:gd name="adj" fmla="val 12611"/>
            </a:avLst>
          </a:prstGeom>
          <a:solidFill>
            <a:srgbClr val="EAEFEB"/>
          </a:solidFill>
          <a:ln/>
        </p:spPr>
      </p:sp>
      <p:sp>
        <p:nvSpPr>
          <p:cNvPr id="28" name="match-hex"/>
          <p:cNvSpPr/>
          <p:nvPr/>
        </p:nvSpPr>
        <p:spPr>
          <a:xfrm>
            <a:off x="850392" y="3935025"/>
            <a:ext cx="384048" cy="332586"/>
          </a:xfrm>
          <a:prstGeom prst="hexagon">
            <a:avLst/>
          </a:prstGeom>
          <a:solidFill>
            <a:srgbClr val="3F6B4A"/>
          </a:solidFill>
          <a:ln/>
        </p:spPr>
      </p:sp>
      <p:sp>
        <p:nvSpPr>
          <p:cNvPr id="29" name="match-hex-label"/>
          <p:cNvSpPr txBox="1"/>
          <p:nvPr/>
        </p:nvSpPr>
        <p:spPr>
          <a:xfrm>
            <a:off x="850392" y="393502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811296"/>
            <a:ext cx="2487077" cy="58004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Infant mortality rate</a:t>
            </a:r>
            <a:endParaRPr lang="en-US" sz="1800" dirty="0"/>
          </a:p>
        </p:txBody>
      </p:sp>
      <p:sp>
        <p:nvSpPr>
          <p:cNvPr id="31" name="match-card"/>
          <p:cNvSpPr/>
          <p:nvPr/>
        </p:nvSpPr>
        <p:spPr>
          <a:xfrm>
            <a:off x="4224437" y="3811296"/>
            <a:ext cx="7190019" cy="580043"/>
          </a:xfrm>
          <a:prstGeom prst="roundRect">
            <a:avLst>
              <a:gd name="adj" fmla="val 12611"/>
            </a:avLst>
          </a:prstGeom>
          <a:solidFill>
            <a:srgbClr val="F4EDDF"/>
          </a:solidFill>
          <a:ln/>
        </p:spPr>
      </p:sp>
      <p:sp>
        <p:nvSpPr>
          <p:cNvPr id="32" name="match-hex"/>
          <p:cNvSpPr/>
          <p:nvPr/>
        </p:nvSpPr>
        <p:spPr>
          <a:xfrm>
            <a:off x="4297589" y="3935025"/>
            <a:ext cx="384048" cy="332586"/>
          </a:xfrm>
          <a:prstGeom prst="hexagon">
            <a:avLst/>
          </a:prstGeom>
          <a:solidFill>
            <a:srgbClr val="B8862B"/>
          </a:solidFill>
          <a:ln/>
        </p:spPr>
      </p:sp>
      <p:sp>
        <p:nvSpPr>
          <p:cNvPr id="33" name="match-hex-label"/>
          <p:cNvSpPr txBox="1"/>
          <p:nvPr/>
        </p:nvSpPr>
        <p:spPr>
          <a:xfrm>
            <a:off x="4297589" y="393502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3811296"/>
            <a:ext cx="6595659" cy="58004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score from 0 to 1 combining health, education and income</a:t>
            </a:r>
            <a:endParaRPr lang="en-US" sz="1800" dirty="0"/>
          </a:p>
        </p:txBody>
      </p:sp>
      <p:sp>
        <p:nvSpPr>
          <p:cNvPr id="35" name="match-card"/>
          <p:cNvSpPr/>
          <p:nvPr/>
        </p:nvSpPr>
        <p:spPr>
          <a:xfrm>
            <a:off x="777240" y="4482779"/>
            <a:ext cx="3081437" cy="580043"/>
          </a:xfrm>
          <a:prstGeom prst="roundRect">
            <a:avLst>
              <a:gd name="adj" fmla="val 12611"/>
            </a:avLst>
          </a:prstGeom>
          <a:solidFill>
            <a:srgbClr val="EAEFEB"/>
          </a:solidFill>
          <a:ln/>
        </p:spPr>
      </p:sp>
      <p:sp>
        <p:nvSpPr>
          <p:cNvPr id="36" name="match-hex"/>
          <p:cNvSpPr/>
          <p:nvPr/>
        </p:nvSpPr>
        <p:spPr>
          <a:xfrm>
            <a:off x="850392" y="4606507"/>
            <a:ext cx="384048" cy="332586"/>
          </a:xfrm>
          <a:prstGeom prst="hexagon">
            <a:avLst/>
          </a:prstGeom>
          <a:solidFill>
            <a:srgbClr val="3F6B4A"/>
          </a:solidFill>
          <a:ln/>
        </p:spPr>
      </p:sp>
      <p:sp>
        <p:nvSpPr>
          <p:cNvPr id="37" name="match-hex-label"/>
          <p:cNvSpPr txBox="1"/>
          <p:nvPr/>
        </p:nvSpPr>
        <p:spPr>
          <a:xfrm>
            <a:off x="850392" y="4606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482779"/>
            <a:ext cx="2487077" cy="58004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Literacy rate</a:t>
            </a:r>
            <a:endParaRPr lang="en-US" sz="1800" dirty="0"/>
          </a:p>
        </p:txBody>
      </p:sp>
      <p:sp>
        <p:nvSpPr>
          <p:cNvPr id="39" name="match-card"/>
          <p:cNvSpPr/>
          <p:nvPr/>
        </p:nvSpPr>
        <p:spPr>
          <a:xfrm>
            <a:off x="4224437" y="4482779"/>
            <a:ext cx="7190019" cy="580043"/>
          </a:xfrm>
          <a:prstGeom prst="roundRect">
            <a:avLst>
              <a:gd name="adj" fmla="val 12611"/>
            </a:avLst>
          </a:prstGeom>
          <a:solidFill>
            <a:srgbClr val="F4EDDF"/>
          </a:solidFill>
          <a:ln/>
        </p:spPr>
      </p:sp>
      <p:sp>
        <p:nvSpPr>
          <p:cNvPr id="40" name="match-hex"/>
          <p:cNvSpPr/>
          <p:nvPr/>
        </p:nvSpPr>
        <p:spPr>
          <a:xfrm>
            <a:off x="4297589" y="4606507"/>
            <a:ext cx="384048" cy="332586"/>
          </a:xfrm>
          <a:prstGeom prst="hexagon">
            <a:avLst/>
          </a:prstGeom>
          <a:solidFill>
            <a:srgbClr val="B8862B"/>
          </a:solidFill>
          <a:ln/>
        </p:spPr>
      </p:sp>
      <p:sp>
        <p:nvSpPr>
          <p:cNvPr id="41" name="match-hex-label"/>
          <p:cNvSpPr txBox="1"/>
          <p:nvPr/>
        </p:nvSpPr>
        <p:spPr>
          <a:xfrm>
            <a:off x="4297589" y="4606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482779"/>
            <a:ext cx="6595659" cy="58004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percentage of adults who can read and write</a:t>
            </a:r>
            <a:endParaRPr lang="en-US" sz="1800" dirty="0"/>
          </a:p>
        </p:txBody>
      </p:sp>
      <p:sp>
        <p:nvSpPr>
          <p:cNvPr id="43" name="match-card"/>
          <p:cNvSpPr/>
          <p:nvPr/>
        </p:nvSpPr>
        <p:spPr>
          <a:xfrm>
            <a:off x="777240" y="5154261"/>
            <a:ext cx="3081437" cy="807627"/>
          </a:xfrm>
          <a:prstGeom prst="roundRect">
            <a:avLst>
              <a:gd name="adj" fmla="val 9058"/>
            </a:avLst>
          </a:prstGeom>
          <a:solidFill>
            <a:srgbClr val="EAEFEB"/>
          </a:solidFill>
          <a:ln/>
        </p:spPr>
      </p:sp>
      <p:sp>
        <p:nvSpPr>
          <p:cNvPr id="44" name="match-hex"/>
          <p:cNvSpPr/>
          <p:nvPr/>
        </p:nvSpPr>
        <p:spPr>
          <a:xfrm>
            <a:off x="850392" y="5391782"/>
            <a:ext cx="384048" cy="332586"/>
          </a:xfrm>
          <a:prstGeom prst="hexagon">
            <a:avLst/>
          </a:prstGeom>
          <a:solidFill>
            <a:srgbClr val="3F6B4A"/>
          </a:solidFill>
          <a:ln/>
        </p:spPr>
      </p:sp>
      <p:sp>
        <p:nvSpPr>
          <p:cNvPr id="45" name="match-hex-label"/>
          <p:cNvSpPr txBox="1"/>
          <p:nvPr/>
        </p:nvSpPr>
        <p:spPr>
          <a:xfrm>
            <a:off x="850392" y="539178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154261"/>
            <a:ext cx="2487077" cy="80762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HDI</a:t>
            </a:r>
            <a:endParaRPr lang="en-US" sz="1800" dirty="0"/>
          </a:p>
        </p:txBody>
      </p:sp>
      <p:sp>
        <p:nvSpPr>
          <p:cNvPr id="47" name="match-card"/>
          <p:cNvSpPr/>
          <p:nvPr/>
        </p:nvSpPr>
        <p:spPr>
          <a:xfrm>
            <a:off x="4224437" y="5154261"/>
            <a:ext cx="7190019" cy="807627"/>
          </a:xfrm>
          <a:prstGeom prst="roundRect">
            <a:avLst>
              <a:gd name="adj" fmla="val 9058"/>
            </a:avLst>
          </a:prstGeom>
          <a:solidFill>
            <a:srgbClr val="F4EDDF"/>
          </a:solidFill>
          <a:ln/>
        </p:spPr>
      </p:sp>
      <p:sp>
        <p:nvSpPr>
          <p:cNvPr id="48" name="match-hex"/>
          <p:cNvSpPr/>
          <p:nvPr/>
        </p:nvSpPr>
        <p:spPr>
          <a:xfrm>
            <a:off x="4297589" y="5391782"/>
            <a:ext cx="384048" cy="332586"/>
          </a:xfrm>
          <a:prstGeom prst="hexagon">
            <a:avLst/>
          </a:prstGeom>
          <a:solidFill>
            <a:srgbClr val="B8862B"/>
          </a:solidFill>
          <a:ln/>
        </p:spPr>
      </p:sp>
      <p:sp>
        <p:nvSpPr>
          <p:cNvPr id="49" name="match-hex-label"/>
          <p:cNvSpPr txBox="1"/>
          <p:nvPr/>
        </p:nvSpPr>
        <p:spPr>
          <a:xfrm>
            <a:off x="4297589" y="539178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4745645" y="5154261"/>
            <a:ext cx="6595659" cy="80762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number of babies per 1000 born who die before the age of one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Which indicator measures what?</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development indicator to what it measures.</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6ECE7"/>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Look for the word per capita: it always means divided by the population.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indicators are about length of life or death: one is an average age, the other counts babies.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Literacy is about reading and writing.</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one that combines three things into a single score is the composite measure.</a:t>
            </a:r>
            <a:endParaRPr lang="en-US" sz="1800" dirty="0"/>
          </a:p>
        </p:txBody>
      </p:sp>
      <p:sp>
        <p:nvSpPr>
          <p:cNvPr id="17" name="col-Core"/>
          <p:cNvSpPr/>
          <p:nvPr/>
        </p:nvSpPr>
        <p:spPr>
          <a:xfrm>
            <a:off x="5490762" y="2578608"/>
            <a:ext cx="2938987" cy="3566160"/>
          </a:xfrm>
          <a:prstGeom prst="roundRect">
            <a:avLst>
              <a:gd name="adj" fmla="val 1867"/>
            </a:avLst>
          </a:prstGeom>
          <a:solidFill>
            <a:srgbClr val="CFDAD2"/>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Three of these are single social measures, one is a single economic measure, and one combines several measures in one score.</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which of these five indicators would be most useful for comparing the quality of life, rather than the standard of living, of two countries, and why.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HIC, NEE or LIC?</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Which pair of countries are both newly emerging economies (NEEs)?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United Kingdom and Afghanistan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Somalia and Afghanistan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United Kingdom and China</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India and China</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HIC, NEE or LIC?</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Which pair of countries are both newly emerging economies (NEEs)?</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6ECE7"/>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Recall the three groups: HIC (high income, such as the UK), LIC (low income, such as Afghanistan and Somalia), NEE (in between and growing fast).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Cross out any pair that includes the UK: it is an HIC.</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Cross out any pair made only of LICs.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pair left are both members of BRICS.</a:t>
            </a:r>
            <a:endParaRPr lang="en-US" sz="1800" dirty="0"/>
          </a:p>
        </p:txBody>
      </p:sp>
      <p:sp>
        <p:nvSpPr>
          <p:cNvPr id="17" name="col-Core"/>
          <p:cNvSpPr/>
          <p:nvPr/>
        </p:nvSpPr>
        <p:spPr>
          <a:xfrm>
            <a:off x="5490762" y="2578608"/>
            <a:ext cx="2938987" cy="3566160"/>
          </a:xfrm>
          <a:prstGeom prst="roundRect">
            <a:avLst>
              <a:gd name="adj" fmla="val 1867"/>
            </a:avLst>
          </a:prstGeom>
          <a:solidFill>
            <a:srgbClr val="CFDAD2"/>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BRICS and MINT list NEEs. Which pair are both in BRICS?</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Nigeria is in MINT but has a GNI per capita far below China's. Explain why it can still be classed as an NEE rather than an LIC.</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of these development indicators is a purely social measure, not based on wealth?</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GDP</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GNI per capita</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Infant mortality rate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Total wealth</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CF0ED"/>
          </a:solidFill>
          <a:ln w="12700">
            <a:solidFill>
              <a:srgbClr val="99B19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Which indicator measures what?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GNI per capita  →  B  A country's income in a year divided by its population</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Life expectancy  →  A  The average age a person in the country is expected to live to</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Infant mortality rate  →  E  The number of babies per 1000 born who die before the age of one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Literacy rate  →  D  The percentage of adults who can read and write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HDI  →  C  A score from 0 to 1 combining health, education and income</a:t>
            </a:r>
            <a:endParaRPr lang="en-US" sz="20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GNI per capita is the economic measure: income divided by population. Life expectancy, infant mortality and literacy are single social measures. The HDI combines life expectancy, years in education and GNI per capita into one score between 0 and 1.</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HIC, NEE or LIC?</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pair of countries are both newly emerging economies (NEEs)?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India and China</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India and China are both in BRICS: newly emerging economies that have moved from agriculture towards rapid industrial growth. The UK is an HIC; Afghanistan and Somalia are LICs.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of these development indicators is a purely social measure, not based on wealth?</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Infant mortality rate</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Infant mortality rate counts babies who die before the age of one; it measures health, not money. GDP, GNI and total wealth are all economic.</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6ECE7"/>
      </a:lt2>
      <a:accent1>
        <a:srgbClr val="3F6B4A"/>
      </a:accent1>
      <a:accent2>
        <a:srgbClr val="B8862B"/>
      </a:accent2>
      <a:accent3>
        <a:srgbClr val="8CA692"/>
      </a:accent3>
      <a:accent4>
        <a:srgbClr val="815E1E"/>
      </a:accent4>
      <a:accent5>
        <a:srgbClr val="4A505C"/>
      </a:accent5>
      <a:accent6>
        <a:srgbClr val="D9BF8F"/>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Changing Economic World · Chapter 1: Measuring development: our unequal world</dc:title>
  <dc:subject>Geography · Year 10</dc:subject>
  <dc:creator>Dr Vitor Merissi de Carvalho</dc:creator>
  <cp:lastModifiedBy>Dr Vitor Merissi de Carvalho</cp:lastModifiedBy>
  <cp:revision>1</cp:revision>
  <dcterms:created xsi:type="dcterms:W3CDTF">2026-10-19T06:07:36Z</dcterms:created>
  <dcterms:modified xsi:type="dcterms:W3CDTF">2026-10-19T06:07:36Z</dcterms:modified>
</cp:coreProperties>
</file>