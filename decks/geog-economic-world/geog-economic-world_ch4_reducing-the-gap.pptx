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728652d-aa7a-f589-41cc-a9222674b09d}">
          <p14:sldIdLst>
            <p14:sldId id="256"/>
          </p14:sldIdLst>
        </p14:section>
        <p14:section name="Gate" id="{870fa38a-06e9-5ad6-a6e4-d2e405bf4b56}">
          <p14:sldIdLst>
            <p14:sldId id="257"/>
            <p14:sldId id="258"/>
          </p14:sldIdLst>
        </p14:section>
        <p14:section name="Pre-teach" id="{8632c6bc-8734-bc42-3e21-7015587eecbc}">
          <p14:sldIdLst>
            <p14:sldId id="259"/>
            <p14:sldId id="260"/>
          </p14:sldIdLst>
        </p14:section>
        <p14:section name="Read-along" id="{5598e9af-f4df-1f7d-8648-3a17545dd8ff}">
          <p14:sldIdLst>
            <p14:sldId id="261"/>
            <p14:sldId id="262"/>
          </p14:sldIdLst>
        </p14:section>
        <p14:section name="Teach" id="{f3bf2b8c-1bf9-7634-59f4-75ee2d447b1d}">
          <p14:sldIdLst>
            <p14:sldId id="263"/>
            <p14:sldId id="264"/>
            <p14:sldId id="265"/>
            <p14:sldId id="266"/>
            <p14:sldId id="267"/>
          </p14:sldIdLst>
        </p14:section>
        <p14:section name="Routes" id="{3071851b-6e61-6c71-c4fd-7620f5f65bf8}">
          <p14:sldIdLst>
            <p14:sldId id="268"/>
            <p14:sldId id="269"/>
            <p14:sldId id="270"/>
          </p14:sldIdLst>
        </p14:section>
        <p14:section name="Close" id="{ac5d7b10-0511-652a-d4de-1c02978fe533}">
          <p14:sldIdLst>
            <p14:sldId id="271"/>
          </p14:sldIdLst>
        </p14:section>
        <p14:section name="Answers" id="{6d17cb39-e109-02fd-e11a-837de43d2cd4}">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Closing the gap: investment, tourism and aid. The eight strategies the course asks you to weigh up, with the named examples: Dyson and Proton in Malaysia, tourism in Jamaica and Tanzania, Oxfam's goat aid, and the four smaller strategies that keep working after the money has gone.
This deck covers the department's lessons: 9 (Reducing the gap: investment and industrial development: How can investment by TNCs and the growth of industry reduce the development gap, as Dyson and Proton have in Malaysia?); 10 (Reducing the gap: tourism in Jamaica and Tanzania: How has the growth of tourism helped Jamaica and Tanzania to develop, and what are its downsides?); 11 (Reducing the gap: aid and goat aid: What is aid, what types of aid exist, and is Oxfam's goat aid a sustainable way to help?); 12 (Reducing the gap: intermediate technology, fair trade, debt relief and microfinance: How do intermediate technology, fair trade, debt relief and microfinance loans help to reduce the development gap?).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type of aid is given directly by the government of one country to the government of another?  →  D   Bilateral aid
2. Office space costs £114 per square metre in the United Kingdom and £38 per square metre in Malaysia. How many times more expensive is the United Kingdom?  →  3 times
3. Technology that local people can afford, use and repair themselves is called ___ technology.  →  intermediate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Bilateral aid. Bilateral means two sides: aid from one country to another. The other three are defined by who collects it or what conditions come with it.
2. 3 times. How many times means divide: 114 ÷ 38 = 3, so office space in the United Kingdom costs three times as much.
3. intermediate. Intermediate technology sits between the simplest tools and expensive machinery: it suits the needs, skills and wealth of local people, so it keeps working.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investment: putting money into a place or business so it grows. Example: "Investment by a foreign company can bring new roads and power."
• TNC: a transnational corporation, a company working in more than one country. Example: "A TNC may have its head office in one country and its factories in another."
• multiplier effect: one new job leading to more spending, more tax and more jobs. Example: "The multiplier effect spreads the benefit of a new factory."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leakage: money earned from tourism going back to a foreign company. Example: "Leakage means the money leaves the country that earned it."
• aid: help given by a country or an organisation. Example: "Aid can be money, food, equipment or skilled people."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Closing the development gap needs investment in health and education.
2. A country then has healthier, better-trained workers.
3. They earn more, spend more and pay more tax.
4. That tax can be spent on developing the country further.
5. This is called the positive multiplier effect.
6. Money for investment can come from several places.
7. A TNC may build a factory, as Dyson did in Malaysia.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Industry can grow, as car making has in Malaysia.
9. Tourists can bring money, as they do in Jamaica and Tanzania.
10. Aid can come from governments, from charities or from the public.
11. Smaller strategies can work very well too.
12. Fair trade, debt relief, microfinance loans and simple technology all help.
13. None of them is a complete answer on its own.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Investment and industrial development. Say it in your own words, then check understanding with a quick question: ask a pupil from the pre-teach group first, since they met these words and ideas before the lesson. Pupils try to recall before you re-explain.
Reducing the development gap needs investment in health and education. A country with more skilled and healthier workers has people who can earn more and pay more tax, and that tax can be used to develop the country further. The money for that investment has to come from somewhere, and the course lists seven sources: industrial development, tourism, aid, intermediate technology, fair trade, debt relief and microfinance loans, with investment by transnational corporations running through all of them.
Investment is the first strategy. Transnational corporations put money and skills into low income countries by setting up businesses there. That helps develop infrastructure such as roads and power, can improve access to water and electricity, brings improvements to transport such as ports and airports, and encourages other businesses to follow. Dyson is the example. In around 2003 Dyson moved its manufacturing from Malmesbury in Wiltshire to Malaysia. Malaysia gained inward investment; workers' earnings boosted the Malaysian economy, because as earnings rise, so does spending, and so does the tax collected; and other companies followed Dyson and opened factories nearby, which led to roads and other services being improved. The United Kingdom gained too: Dyson's profits rose, higher corporate taxes meant more money for public services such as health and education, and new opportunities opened up for scientists working on design and research at home.
Industrial development is the second strategy. Growing industry brings employment on a large scale; as more people work, incomes rise and investment follows; and that starts the multiplier effect. It is the pattern of the BRICS nations. Malaysia again: since 1970 it has seen a dramatic growth in its wealth and in the quality of life of its people, with a thriving manufacturing sector whose leading products include Proton cars. As manufacturing grows the workforce becomes more skilled, the products become better, and sales income rises, which pays for the next round of growth.
Worked example — model it step by step, thinking aloud: A factory worker is paid £9 an hour in the United Kingdom and £3 an hour in Malaysia. How much less does a company pay for one worker over a 40-hour week? (1) Find the difference in the hourly rate first: £9 − £3 = £6 an hour. (2) Multiply the difference by the number of hours: £6 × 40. (3) Work it out: 6 × 40 = 240. (4) Answer with the unit of money: the company pays £240 less a week for that worker. Answer: £240 less a week.
Tip: When you use the Dyson example, always give a benefit for Malaysia and a benefit for the United Kingdom. A one-sided answer loses the evaluation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Investment and industrial development. Say it in your own words, then check understanding with a quick question: ask a pupil from the pre-teach group first, since they met these words and ideas before the lesson. Pupils try to recall before you re-explain.
Reducing the development gap needs investment in health and education. A country with more skilled and healthier workers has people who can earn more and pay more tax, and that tax can be used to develop the country further. The money for that investment has to come from somewhere, and the course lists seven sources: industrial development, tourism, aid, intermediate technology, fair trade, debt relief and microfinance loans, with investment by transnational corporations running through all of them.
Investment is the first strategy. Transnational corporations put money and skills into low income countries by setting up businesses there. That helps develop infrastructure such as roads and power, can improve access to water and electricity, brings improvements to transport such as ports and airports, and encourages other businesses to follow. Dyson is the example. In around 2003 Dyson moved its manufacturing from Malmesbury in Wiltshire to Malaysia. Malaysia gained inward investment; workers' earnings boosted the Malaysian economy, because as earnings rise, so does spending, and so does the tax collected; and other companies followed Dyson and opened factories nearby, which led to roads and other services being improved. The United Kingdom gained too: Dyson's profits rose, higher corporate taxes meant more money for public services such as health and education, and new opportunities opened up for scientists working on design and research at home.
Industrial development is the second strategy. Growing industry brings employment on a large scale; as more people work, incomes rise and investment follows; and that starts the multiplier effect. It is the pattern of the BRICS nations. Malaysia again: since 1970 it has seen a dramatic growth in its wealth and in the quality of life of its people, with a thriving manufacturing sector whose leading products include Proton cars. As manufacturing grows the workforce becomes more skilled, the products become better, and sales income rises, which pays for the next round of growth.
Worked example — model it step by step, thinking aloud: A factory worker is paid £9 an hour in the United Kingdom and £3 an hour in Malaysia. How much less does a company pay for one worker over a 40-hour week? (1) Find the difference in the hourly rate first: £9 − £3 = £6 an hour. (2) Multiply the difference by the number of hours: £6 × 40. (3) Work it out: 6 × 40 = 240. (4) Answer with the unit of money: the company pays £240 less a week for that worker. Answer: £240 less a week.
Tip: When you use the Dyson example, always give a benefit for Malaysia and a benefit for the United Kingdom. A one-sided answer loses the evaluation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Tourism in Jamaica and Tanzania. Say it in your own words, then check understanding with a quick question: ask a pupil from the pre-teach group first, since they met these words and ideas before the lesson. Pupils try to recall before you re-explain.
Tourism is the third strategy. Some countries use it to generate income and narrow the gap. It grows where there is remarkable scenery, history or entertainment, and it needs little capital investment to start: no large factories and no highly skilled workforce. Jamaica, the Bahamas and other Caribbean countries are highly dependent on tourist arrivals. In Jamaica the tourism industry earns over half of the country's total foreign exchange earnings and provides about one quarter of all jobs; 220 000 Jamaicans work in it, in jobs ranging from building hotels to cleaning, bar work and caddying on golf courses. Most tourist activity is on the island's northern coast, around Montego Bay, Ocho Rios and Port Antonio, and at Negril on the western tip. Tourists spend money in bars, restaurants and other local businesses, those businesses pay tax, and the government spends the tax on essential services such as healthcare and education. That is the positive multiplier effect at work. The downside is dependence: if tourist numbers fall, the whole economy suffers.
Tanzania is the second tourism example. Visitors come for Lake Victoria, the beaches and Stone Town of Zanzibar, safari, the Great Rift Valley and Mount Kilimanjaro. Between 2000 and 2015 the figures moved a long way: gross domestic product rose from 308.41 to 842.4 US dollars, the share of children in primary education from 67.9% to 83.7%, life expectancy at birth from 50.4 to 65.5 years, and unemployment fell from 12.9% to 10.3%. In 2014 tourism generated around 2 billion US dollars, 25% of all Tanzania's foreign exchange earnings, and tourist spending and services made up 17% of its GDP, the equivalent of 43 extra dollars for every person in the country. Tourism employs about 600 000 people directly and up to 2 million indirectly. Workers in tourism earn between 3.50 and 10.60 dollars a day, far above the 0.60 dollars a day typical of domestic work, and the guides and porters on Kilimanjaro, who come from poor backgrounds, are lifted above the poverty line of 2 dollars a day. Almost a third of Tanzania's land is now protected national park, and about 47% of the income from climbing Kilimanjaro goes straight back into the park to maintain species, guard against poachers and look after the land. The area around Kilimanjaro has the country's highest school enrolment rate, at 100%, and its highest adult literacy rate, at 85%.
Tourism is not a cure-all, and the course wants both sides. Against it: jobs may be seasonal; many are poorly paid and low skilled; leakage means foreign companies that run the tourist business send profits home; traditional ways of life can be lost and cultures clash; the environment can be destroyed to build facilities; water shortages, waste disposal problems, noise, traffic and overcrowding follow the crowds; and the whole industry is vulnerable to natural disasters and terror attacks. Tanzania shows it plainly: tourism is growing by 10% a year but tourists are spending half what they used to; big game hunters come to poach, and rhinos could become extinct there; plastic waste from climbers kills birds; and in rural areas where tourism is not the main employer, people still live in poor housing with limited education, while around 12 million Tanzanians remain below the poverty line. Rwanda shows how a government can turn protection into income: a mountain gorilla permit costs 1500 dollars, and travel and tourism rose from 1.74% of Rwanda's GDP in 1997 to 11.18% in 2016.
Tip: For a tourism evaluation, pick two positives and two negatives and attach a figure to each. Examiners credit named figures far more than general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Aid, and the kinds there are. Say it in your own words, then check understanding with a quick question: ask a pupil from the pre-teach group first, since they met these words and ideas before the lesson. Pupils try to recall before you re-explain.
Aid is when a country or an organisation donates resources to help a country develop. It can be money, as loans or grants; emergency supplies such as tents and blankets; basic food such as bags of grain and rice; or skilled people such as doctors and engineers. The course names six types and you need to be able to tell them apart. Short-term aid is an emergency response. Long-term aid is sustainable aid that aims to improve resilience. Bilateral aid goes from one country to another. Multilateral aid is where rich countries give money to organisations, which then distribute the funds. Voluntary aid is money donated by the public. Tied aid comes with restrictions on what it can be used for.
Oxfam's goat project is the example the course uses to test whether aid is sustainable. Non-governmental organisations such as Oxfam and World Vision run it. A member of the public donates about £25, Oxfam buys a goat, and the goat goes to a family in a low income country. Because the money comes from the public rather than from a government, this is voluntary aid. In favour: the goat gives milk and meat, so protein arrives immediately; manure can be used as fertiliser, which raises crop production; extra milk, cheese and fur can be sold to bring in income; goats breed, so the kids can be sold and the benefit keeps growing, which is what makes it sustainable; goats are easy to look after and need no special skills; and looking after one brings a village together and teaches children to care for an animal.
Against it: transporting a goat can be expensive and difficult; veterinary care is expensive if the animal falls ill; goats need food, water and shelter that the poorest families may not be able to afford; and the family needs teaching first. Charitable aid of this kind has particular strengths, which the course asks you to describe: the money is donated, so there are no obligations afterwards; it is more likely to be community based, and so to reflect what the community actually wants; smaller amounts are easier to monitor, so less is wasted; the benefit is felt directly by the community; and it is more likely to use technology that suits the place.
Tip: Learn the six aid types as three pairs: short-term against long-term, bilateral against multilateral, voluntary against tied.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smaller strategies that keep working. Say it in your own words, then check understanding with a quick question: ask a pupil from the pre-teach group first, since they met these words and ideas before the lesson. Pupils try to recall before you re-explain.
Intermediate technology is sustainable technology that suits the needs, skills, knowledge and wealth of local people. Sending tablet computers and tractors may not help if nobody can use or maintain them. It is right for the people: it is what they actually need, it is labour intensive so it uses and creates local employment, and it works with the tools and knowledge they already have. It is right for the place: it uses local technology and expertise and works in harmony with the local environment. It is sustainable, lasting a long time without damaging the environment, and affordable, because the first cost is low and parts and repairs can be handled locally once people are trained, rather than being imported and expensive. A water project at Adis Nifas in Ethiopia is the case study.
Fair trade is a system in which agricultural producers in poorer countries are paid a fair price for what they grow, such as cocoa, coffee and cotton, so they can reach a reasonable standard of living. Be careful not to confuse it with free trade, which means countries not using tariffs or quotas to restrict trade: the two words look alike and mean different things. Debt relief is forgiving a debt in part or in full, in other words writing it off, so a country can spend on development instead of repayments; the highly indebted poor countries, the 38 countries with the largest debts, are the group this is aimed at. Microfinance loans provide financial help, mainly money, to small businesses and private enterprises that cannot get to banking services, so that someone with no collateral can still start a market stall or a workshop.
Which strategy works best? That is the exam question, and there is no single answer. Large-scale investment and industry can lift a whole economy but the profits may leak abroad. Tourism brings foreign currency but makes a country dependent. Aid can save lives but may be tied, or lost to corruption, or stop when the donor loses interest. The four smaller strategies here are slower, but they put control into local hands and keep working after the money has gone, which is what sustainable means.
Tip: Rank the eight strategies for yourself and write one sentence on why your top choice beats your second. A judgement you can defend is worth more than a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positive multiplier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the positive multiplier effect in order, starting with the arrival of tourists.
Support — work through the steps with the group: (1) Start with the money arriving from outside the country. (2) Follow the money: who receives it first, and where do they spend it? (3) Ask what the government takes from a growing business. (4) Ask what a government spends tax on in this topic. (5) The last step closes the loop back to earning.
Parallel worked example for Support (model it, do not give the task answer): Put these three steps of a factory multiplier effect in order: the town's shops take on extra staff; a factory opens and hires 200 workers; the workers spend their wages in the town. The money has to arrive before it can be spent.; Wages are spent locally.; Local businesses then grow.. Answer: A factory opens and hires 200 workers; the workers spend their wages in the town; the town's shops take on extra staff..
Core — reveal the hint only on request: Follow one pound through the chain: who earns it, who they spend it with, who taxes it, what the tax buys.
Stretch — no help; when finished: Explain how leakage breaks this chain, and say at which step in the order it does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positive multiplier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the positive multiplier effect in order, starting with the arrival of tourists.
Support — work through the steps with the group: (1) Start with the money arriving from outside the country. (2) Follow the money: who receives it first, and where do they spend it? (3) Ask what the government takes from a growing business. (4) Ask what a government spends tax on in this topic. (5) The last step closes the loop back to earning.
Parallel worked example for Support (model it, do not give the task answer): Put these three steps of a factory multiplier effect in order: the town's shops take on extra staff; a factory opens and hires 200 workers; the workers spend their wages in the town. The money has to arrive before it can be spent.; Wages are spent locally.; Local businesses then grow.. Answer: A factory opens and hires 200 workers; the workers spend their wages in the town; the town's shops take on extra staff..
Core — reveal the hint only on request: Follow one pound through the chain: who earns it, who they spend it with, who taxes it, what the tax buys.
Stretch — no help; when finished: Explain how leakage breaks this chain, and say at which step in the order it does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Rwanda's tourism share.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Travel and tourism grew from 1.74% of Rwanda's GDP in 1997 to 11.18% in 2016. By how many percentage points did its share rise?
Support — work through the steps with the group: (1) A rise is always the later figure take away the earlier figure. (2) Line the decimal points up: 11.18 − 1.74. (3) Subtract carefully: 11.18 − 1.74 = 9.44. (4) Use the right unit: these are percentage points, not percentages.
Parallel worked example for Support (model it, do not give the task answer): A country's tourism share of GDP rose from 2.5% to 8.5%. By how many percentage points did it rise? Later take away earlier.; 8.5 − 2.5 = 6.. Answer: 6 percentage points.
Core — reveal the hint only on request: Later figure minus earlier figure. Keep the decimal points in a column so the 8 and the 4 line up.
Stretch — no help; when finished: Rwanda's share rose by 9.44 percentage points, but it also rose to more than six times what it was. Explain which of those two statements is more useful to a geographer,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type of aid is given directly by the government of one country to the government of another?
Answer: C   Bilateral aid. Bilateral means two sides: aid from one country to another. The other three are defined by who collects it or what conditions come with it.
Source of this question: gate item 1 re-asked (options rotated) — this chapter has no third quick-check module.
The ebook also holds task 3, "Is one goat sustainable?",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positive multiplier effect. Reveal the answer; pupils mark their own work in a different colour, then read the "why" together. Same destination for every lane, so one answer serves the whole class.
Answer: Tourists arrive, and hotels, restaurants and tour companies take on more workers.  (B); Those workers earn wages and spend them in local shops, bars and other businesses.  (D); Those local businesses grow and pay more tax to the government.  (E); The government spends the tax on essential services such as healthcare and education.  (A); A healthier, better-educated workforce can earn more still, and the whole cycle goes round again.  (C)
Why: Tourists arrive and local businesses take on workers to serve them; those workers spend their wages locally; local businesses grow and pay tax; the government spends that tax on healthcare and education; and a healthier, better-educated workforce earns more again. Each pound is spent several times over, which is why the effect multiplies.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Rwanda's tourism share. Reveal the answer; pupils mark their own work in a different colour, then read the "why" together. Same destination for every lane, so one answer serves the whole class.
Answer: 9.44 percentage points
Why: 11.18 − 1.74 = 9.44. Travel and tourism grew by 9.44 percentage points as a share of Rwanda's whole economy between 1997 and 2016, largely because the government turned wildlife protection into income by charging for permits.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Bilateral aid
Why: Bilateral means two sides: aid from one country to another. The other three are defined by who collects it or what conditions come with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1728470"/>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Closing the gap: investment, tourism and aid</a:t>
            </a:r>
            <a:endParaRPr lang="en-US" sz="2800" dirty="0"/>
          </a:p>
        </p:txBody>
      </p:sp>
      <p:sp>
        <p:nvSpPr>
          <p:cNvPr id="11" name="lessons-card"/>
          <p:cNvSpPr/>
          <p:nvPr/>
        </p:nvSpPr>
        <p:spPr>
          <a:xfrm>
            <a:off x="548640" y="3008630"/>
            <a:ext cx="5287975" cy="2706116"/>
          </a:xfrm>
          <a:prstGeom prst="roundRect">
            <a:avLst>
              <a:gd name="adj" fmla="val 2703"/>
            </a:avLst>
          </a:prstGeom>
          <a:solidFill>
            <a:srgbClr val="E6ECE7"/>
          </a:solidFill>
          <a:ln/>
        </p:spPr>
      </p:sp>
      <p:sp>
        <p:nvSpPr>
          <p:cNvPr id="12" name="lessons"/>
          <p:cNvSpPr txBox="1"/>
          <p:nvPr/>
        </p:nvSpPr>
        <p:spPr>
          <a:xfrm>
            <a:off x="685800" y="3100070"/>
            <a:ext cx="5013655" cy="2523236"/>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Reducing the gap: investment and industrial development</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Reducing the gap: tourism in Jamaica and Tanzania</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Reducing the gap: aid and goat aid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Reducing the gap: intermediate technology, fair trade, debt relief and microfinance</a:t>
            </a:r>
            <a:endParaRPr lang="en-US" sz="18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type of aid is given directly by the government of one country to the government of another?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Multilateral aid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Voluntary aid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Tied aid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Bilateral aid</a:t>
            </a:r>
            <a:endParaRPr lang="en-US" sz="22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Office space costs £114 per square metre in the United Kingdom and £38 per square metre in Malaysia. How many times more expensive is the United Kingdom?</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times</a:t>
            </a:r>
            <a:endParaRPr lang="en-US" sz="22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Technology that local people can afford, use and repair themselves is called ___ technology.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intermediate  ·  imported  ·  advanced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Bilateral aid</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type of aid is given directly by the government of one country to the government of another?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Bilateral means two sides: aid from one country to another. The other three are defined by who collects it or what conditions come with it.</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 times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How many times means divide: 114 ÷ 38 = 3, so office space in the United Kingdom costs three times as much.</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intermediate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Intermediate technology sits between the simplest tools and expensive machinery: it suits the needs, skills and wealth of local people, so it keeps working.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investment</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putting money into a place or business so it grows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Investment by a foreign company can bring new roads and power.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TNC</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transnational corporation, a company working in more than one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TNC may have its head office in one country and its factories in another.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multiplier effect</a:t>
            </a:r>
            <a:endParaRPr lang="en-US" sz="2600" dirty="0"/>
          </a:p>
        </p:txBody>
      </p:sp>
      <p:sp>
        <p:nvSpPr>
          <p:cNvPr id="23" name="word-rule"/>
          <p:cNvSpPr/>
          <p:nvPr/>
        </p:nvSpPr>
        <p:spPr>
          <a:xfrm>
            <a:off x="8310677" y="2558288"/>
            <a:ext cx="3149498" cy="0"/>
          </a:xfrm>
          <a:prstGeom prst="line">
            <a:avLst/>
          </a:prstGeom>
          <a:ln w="12700">
            <a:solidFill>
              <a:srgbClr val="ACBFB1"/>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new job leading to more spending, more tax and more jobs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multiplier effect spreads the benefit of a new factory.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leakage</a:t>
            </a:r>
            <a:endParaRPr lang="en-US" sz="2600" dirty="0"/>
          </a:p>
        </p:txBody>
      </p:sp>
      <p:sp>
        <p:nvSpPr>
          <p:cNvPr id="11" name="word-rule"/>
          <p:cNvSpPr/>
          <p:nvPr/>
        </p:nvSpPr>
        <p:spPr>
          <a:xfrm>
            <a:off x="731520" y="2129028"/>
            <a:ext cx="5044288" cy="0"/>
          </a:xfrm>
          <a:prstGeom prst="line">
            <a:avLst/>
          </a:prstGeom>
          <a:ln w="12700">
            <a:solidFill>
              <a:srgbClr val="ACBFB1"/>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money earned from tourism going back to a foreign company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Leakage means the money leaves the country that earned it.</a:t>
            </a:r>
            <a:endParaRPr lang="en-US" sz="2200" dirty="0"/>
          </a:p>
        </p:txBody>
      </p:sp>
      <p:sp>
        <p:nvSpPr>
          <p:cNvPr id="13" name="word-card"/>
          <p:cNvSpPr/>
          <p:nvPr/>
        </p:nvSpPr>
        <p:spPr>
          <a:xfrm>
            <a:off x="6233008" y="1389888"/>
            <a:ext cx="5410048" cy="4754880"/>
          </a:xfrm>
          <a:prstGeom prst="roundRect">
            <a:avLst>
              <a:gd name="adj" fmla="val 1154"/>
            </a:avLst>
          </a:prstGeom>
          <a:solidFill>
            <a:srgbClr val="EAEFEB"/>
          </a:solidFill>
          <a:ln w="12700">
            <a:solidFill>
              <a:srgbClr val="ACBFB1"/>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aid</a:t>
            </a:r>
            <a:endParaRPr lang="en-US" sz="2600" dirty="0"/>
          </a:p>
        </p:txBody>
      </p:sp>
      <p:sp>
        <p:nvSpPr>
          <p:cNvPr id="17" name="word-rule"/>
          <p:cNvSpPr/>
          <p:nvPr/>
        </p:nvSpPr>
        <p:spPr>
          <a:xfrm>
            <a:off x="6415888" y="2129028"/>
            <a:ext cx="5044288" cy="0"/>
          </a:xfrm>
          <a:prstGeom prst="line">
            <a:avLst/>
          </a:prstGeom>
          <a:ln w="12700">
            <a:solidFill>
              <a:srgbClr val="ACBFB1"/>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help given by a country or an organisation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Aid can be money, food, equipment or skilled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Closing the development gap needs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investment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health and education.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country then has healthier, better-trained workers.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earn more, spend more and pay more tax.</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That tax can be spent on developing the country further.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called the positive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multiplier effect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Money for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investment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can come from several places.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TNC</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may build a factory, as Dyson did in Malaysia.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Industry can grow, as car making has in Malaysia.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Tourists can bring money, as they do in Jamaica and Tanzania.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Aid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can come from governments, from charities or from the public.</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Smaller strategies can work very well too.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Fair trade, debt relief, microfinance loans and simple technology all help.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None of them is a complete answer on its own.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Investment and industrial development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use the Dyson example, always give a benefit for Malaysia and a benefit for the United Kingdom. A one-sided answer loses the evaluation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Reducing the development gap needs investment in health and education.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Investment is the first strategy. Transnational corporations put money and skills into low income countries by setting up businesses there.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Industrial development is the second strategy. Growing industry brings employment on a large scale; as more people work, incomes rise and investment follows; and that starts the multiplier effect.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Investment and industrial development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factory worker is paid £9 an hour in the United Kingdom and £3 an hour in Malaysia. How much less does a company pay for one worker over a 40-hour week?</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difference in the hourly rate first: £9 − £3 = £6 an hour.</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the difference by the number of hours: £6 × 40.</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Work it out: 6 × 40 = 240.</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Answer with the unit of money: the company pays £240 less a week for that worker.</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£240 less a week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Tourism in Jamaica and Tanzania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tourism evaluation, pick two positives and two negatives and attach a figure to each. Examiners credit named figures far more than general statements.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Tourism is the third strategy. Some countries use it to generate income and narrow the gap.</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Tanzania is the second tourism example. Visitors come for Lake Victoria, the beaches and Stone Town of Zanzibar, safari, the Great Rift Valley and Mount Kilimanjaro.</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Tourism is not a cure-all, and the course wants both sides.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Aid, and the kinds there are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six aid types as three pairs: short-term against long-term, bilateral against multilateral, voluntary against tied.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Aid is when a country or an organisation donates resources to help a country develop.</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Oxfam's goat project is the example the course uses to test whether aid is sustainable.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Against it: transporting a goat can be expensive and difficult; veterinary care is expensive if the animal falls ill; goats need food, water and shelter that the poorest families may not be able to afford; and the family needs teaching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smaller strategies that keep working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Rank the eight strategies for yourself and write one sentence on why your top choice beats your second. A judgement you can defend is worth more than a list.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Intermediate technology is sustainable technology that suits the needs, skills, knowledge and wealth of local people.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Fair trade is a system in which agricultural producers in poorer countries are paid a fair price for what they grow, such as cocoa, coffee and cotton, so they can reach a reasonable standard of living.</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Which strategy works best? That is the exam question, and there is no single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positive multiplier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steps of the positive multiplier effect in order, starting with the arrival of tourists.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government spends the tax on essential services such as healthcare and education.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Tourists arrive, and hotels, restaurants and tour companies take on more workers.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healthier, better-educated workforce can earn more still, and the whole cycle goes round again.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Those workers earn wages and spend them in local shops, bars and other businesses.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Those local businesses grow and pay more tax to the government.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The positive multiplier effect</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positive multiplier effect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money arriving from outside the country.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Follow the money: who receives it first, and where do they spend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government takes from a growing business.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a government spends tax on in this topic.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step closes the loop back to earning.</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Follow one pound through the chain: who earns it, who they spend it with, who taxes it, what the tax buys.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leakage breaks this chain, and say at which step in the order it does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Rwanda's tourism share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Travel and tourism grew from 1.74% of Rwanda's GDP in 1997 to 11.18% in 2016. By how many percentage points did its share rise?</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percentage points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6ECE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rise is always the later figure take away the earlier figure.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Line the decimal points up: 11.18 − 1.74.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carefully: 11.18 − 1.74 = 9.44.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Use the right unit: these are percentage points, not percentages.</a:t>
            </a:r>
            <a:endParaRPr lang="en-US" sz="1800" dirty="0"/>
          </a:p>
        </p:txBody>
      </p:sp>
      <p:sp>
        <p:nvSpPr>
          <p:cNvPr id="17" name="col-Core"/>
          <p:cNvSpPr/>
          <p:nvPr/>
        </p:nvSpPr>
        <p:spPr>
          <a:xfrm>
            <a:off x="5490762" y="2948940"/>
            <a:ext cx="2938987" cy="3195828"/>
          </a:xfrm>
          <a:prstGeom prst="roundRect">
            <a:avLst>
              <a:gd name="adj" fmla="val 1867"/>
            </a:avLst>
          </a:prstGeom>
          <a:solidFill>
            <a:srgbClr val="CFDAD2"/>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figure minus earlier figure. Keep the decimal points in a column so the 8 and the 4 line up.</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Rwanda's share rose by 9.44 percentage points, but it also rose to more than six times what it was. Explain which of those two statements is more useful to a geographer,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type of aid is given directly by the government of one country to the government of another?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Voluntary aid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Tied aid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Bilateral aid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Multilateral aid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positive multiplier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Tourists arrive, and hotels, restaurants and tour companies take on more workers.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Those workers earn wages and spend them in local shops, bars and other businesses.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Those local businesses grow and pay more tax to the government.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government spends the tax on essential services such as healthcare and education.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healthier, better-educated workforce can earn more still, and the whole cycle goes round again.  (C)</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Tourists arrive and local businesses take on workers to serve them; those workers spend their wages locally; local businesses grow and pay tax; the government spends that tax on healthcare and education; and a healthier, better-educated workforce earns more again. Each pound is spent several times over, which is why the effect multiplies.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Rwanda's tourism share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Travel and tourism grew from 1.74% of Rwanda's GDP in 1997 to 11.18% in 2016. By how many percentage points did its share rise?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9.44 percentage points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11.18 − 1.74 = 9.44. Travel and tourism grew by 9.44 percentage points as a share of Rwanda's whole economy between 1997 and 2016, largely because the government turned wildlife protection into income by charging for permits.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type of aid is given directly by the government of one country to the government of another?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Bilateral aid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Bilateral means two sides: aid from one country to another. The other three are defined by who collects it or what conditions come with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4: Closing the gap: investment, tourism and aid</dc:title>
  <dc:subject>Geography · Year 10</dc:subject>
  <dc:creator>Dr Vitor Merissi de Carvalho</dc:creator>
  <cp:lastModifiedBy>Dr Vitor Merissi de Carvalho</cp:lastModifiedBy>
  <cp:revision>1</cp:revision>
  <dcterms:created xsi:type="dcterms:W3CDTF">2026-10-19T16:22:48Z</dcterms:created>
  <dcterms:modified xsi:type="dcterms:W3CDTF">2026-10-19T16:22:48Z</dcterms:modified>
</cp:coreProperties>
</file>