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51a785-cb3c-9741-001c-6d4c0ee30ea1}">
          <p14:sldIdLst>
            <p14:sldId id="256"/>
          </p14:sldIdLst>
        </p14:section>
        <p14:section name="Gate" id="{a37699c3-0ec0-82bc-e80e-12bf13924815}">
          <p14:sldIdLst>
            <p14:sldId id="257"/>
            <p14:sldId id="258"/>
          </p14:sldIdLst>
        </p14:section>
        <p14:section name="Pre-teach" id="{da17e97a-6f18-7345-9597-f8819799c23d}">
          <p14:sldIdLst>
            <p14:sldId id="259"/>
          </p14:sldIdLst>
        </p14:section>
        <p14:section name="Read-along" id="{4f081654-24ec-35f7-633f-2cb262025355}">
          <p14:sldIdLst>
            <p14:sldId id="260"/>
            <p14:sldId id="261"/>
          </p14:sldIdLst>
        </p14:section>
        <p14:section name="Teach" id="{2547eaf8-1034-d6eb-6cc1-2e03b1fb02ad}">
          <p14:sldIdLst>
            <p14:sldId id="262"/>
            <p14:sldId id="263"/>
            <p14:sldId id="264"/>
            <p14:sldId id="265"/>
            <p14:sldId id="266"/>
          </p14:sldIdLst>
        </p14:section>
        <p14:section name="Routes" id="{03045b34-361b-c066-6a8d-94940bc662bb}">
          <p14:sldIdLst>
            <p14:sldId id="267"/>
            <p14:sldId id="268"/>
            <p14:sldId id="269"/>
            <p14:sldId id="270"/>
          </p14:sldIdLst>
        </p14:section>
        <p14:section name="Close" id="{79f16d71-15b9-2d2d-cdcd-7bff4a980959}">
          <p14:sldIdLst>
            <p14:sldId id="271"/>
          </p14:sldIdLst>
        </p14:section>
        <p14:section name="Answers" id="{ed56ffab-987e-4987-de57-f736e5356d8d}">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Nigeria: a newly emerging economy. The course's case study of rapid economic development in a newly emerging economy: where Nigeria is, the history and geography behind its economy, oil and the transnational corporations, the aid it receives, the damage growth has done, and what it has meant for people's lives.
This deck covers the department's lessons: 13 (Nigeria: a newly emerging economy: Where is Nigeria, what makes it an NEE rather than an LIC or HIC, and why is it important in Africa and the world?); 14 (Nigeria's political, social, cultural and environmental context: How has economic change in Nigeria been shaped by its history, its people, its culture and its environment?); 15 (Nigeria's changing relationship with the wider world: How have Nigeria's trade, oil exports and political links with other countries changed since independence?); 16 (TNCs in Nigeria: Shell, Unilever and sweet oil: What advantages and disadvantages do transnational corporations such as Shell bring to Nigeria?); 17 (The impacts of international aid in Nigeria: What aid does Nigeria receive, what has it achieved, and why is aid not always used effectively?); 18 (Managing environmental issues in Nigeria: How has rapid economic growth damaged Nigeria's environment, and how can oil spills be prevented?); 19 (Quality of life in Nigeria: To what extent has economic development improved the quality of life of Nigerian people?).
Read the big question aloud: "Why is the world's wealth so unevenly shared, and what can countries such as Nigeria and the UK do about the gaps between them and within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part of Africa is Nigeria?  →  D   West Africa
2. Nigeria became fully independent in 1960 and its civil war ended in 1970. How many years passed between those two events?  →  10 years
3. Most of Nigeria's oil is found in the ___ Delta, in the south of the country.  →  Niger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West Africa. Nigeria is in west Africa, bordered by Niger, Chad, Cameroon and Benin, with its southern coast on the Gulf of Guinea.
2. 10 years. Subtract the earlier date from the later one: 1970 − 1960 = 10 years.
3. Niger. The Niger Delta, where the River Niger reaches the Gulf of Guinea, is where Nigeria's oil fields are, much of the drilling being offshore in deep water.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NEE: a newly emerging economy, growing fast through industry. Example: "Nigeria is an NEE, not a low income country."
• colonialism: one country taking control of another and using it. Example: "Colonialism took resources and people out of Nigeria."
• independence: when a country governs itself. Example: "Nigeria gained independence from the United Kingdom in 1960."
• crude oil: oil as it comes out of the ground, before refining. Example: "Crude oil is Nigeria's biggest export by far."
• oil spill: oil leaking from a pipeline or a rig into the land or sea. Example: "An oil spill ruins farmland and fishing grounds."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Nigeria is in west Africa.
2. It borders Niger, Chad, Cameroon and Benin.
3. Its coast is on the Gulf of Guinea, part of the Atlantic Ocean.
4. Nigeria has the largest population and the largest economy in Africa.
5. It is a newly emerging economy, or NEE.
6. Farming is shrinking there while industry and services grow.
7. Crude oil from the Niger Delta is its biggest export.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Nigeria was ruled by the United Kingdom until 1960.
9. A civil war ended in 1970, and then dictators ruled for years.
10. Governments have been stable since 1999.
11. Companies from China, South Africa and the United States now invest there.
12. Oil has brought money, but also spills and pollution.
13. The south of the country is far richer than the north.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Nigeria is, and why it counts as an NEE. Say it in your own words, then check understanding with a quick question: ask a pupil from the pre-teach group first, since they met these words and ideas before the lesson. Pupils try to recall before you re-explain.
Nigeria is in west Africa. Its neighbours are Niger to the north, Chad to the north-east, Cameroon to the east and Benin to the west, and its southern coast is on the Gulf of Guinea, part of the Atlantic Ocean. The capital is Abuja, in the centre of the country; Lagos, on the coast, is the largest city. The physical features to know are the Niger Delta in the south, the rivers Niger and Benue, Lake Chad in the north-east and the Kainji Reservoir. The north is semi-desert on the southern edge of the Sahara; the centre rises to the Jos Plateau; the south has high temperatures and high rainfall.
A newly emerging economy is a country that has begun to experience high rates of economic development, usually with rapid industrialisation. NEEs differ from low income countries because they no longer rely mainly on agriculture, they have made gains in infrastructure and industrial growth, and their incomes and levels of investment are rising. The sign to look for is growth in GDP, with rising average income and standard of living. Government is usually more stable than in a low income country, with less corruption and fewer violent changes of power, although still well behind the standards of a high income country. Nigeria is often grouped with the MINT countries, alongside Malaysia, Indonesia and Turkey.
The evidence that Nigeria belongs in that group is strong. It has the largest population and the largest economy in Africa, and the highest farm output on the continent; its population was 182.2 million in 2015, up from 95.6 million in 1990. The United Nations ranked it 30th in the world by GDP in 2017. It has a diverse economy, not only oil: financial services, telecommunications and the media all matter, and the centre of Lagos is a global economic centre. It supplies the world with a share of its oil and plays a large political role, as one of the largest contributors to United Nations peacekeeping missions. Against that, it has real problems: corruption, poor infrastructure such as bad roads in remote areas, and power cuts. Without Nigeria, Africa as a whole would find it much harder to develop.
Tip: To justify Nigeria as an NEE, say why it is not a low income country (industry, infrastructure, rising incomes) and why it is not a high income country (corruption, power cuts, poverty) before you give the growth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political, social, cultural and environmental context. Say it in your own words, then check understanding with a quick question: ask a pupil from the pre-teach group first, since they met these words and ideas before the lesson. Pupils try to recall before you re-explain.
Political context first, because it explains most of the rest. In the 1880s the European powers met and divided control of Africa between themselves, which is why so many African borders are straight lines. Nigeria was ruled by the United Kingdom, and colonial rule held development back because resources were taken out of the country and people were taken as slaves. Nigeria became fully independent in 1960. In the 1960s and 1970s it was ruled by dictators and fought a civil war, which began with the attempt to create Biafra in 1967 and ended in 1970. Corruption meant money was stolen by those in power, so nobody wanted to invest. Only since 1999 has Nigeria had stable government, and the elections of 2011 and 2015 were seen as free and fair. Investment followed: China is a major investor in construction, South Africa in business and banking, and American companies in new power plants, while General Electric, IBM, Microsoft, Oracle and others have put money into the country.
Social context. Nigeria is multi-ethnic and multi-faith: Christianity, Islam and traditional African religions are all widely practised, and the four major ethnic groups are the Yoruba, the Hausa, the Fulani and the Igbo. That diversity is a great strength, but it has also led to conflict, including the Biafra war and the Boko Haram uprising in the north, both of which have held development back. Economic inequality between the poorer north and the wealthier south lies behind much of this tension, and urban areas are more developed than rural ones. Cultural context: the film industry known as Nollywood is the second largest in the world, Nigerian music is popular across Africa, the writer Chimamanda Ngozi Adichie is read internationally, and the national football team has won the African Cup of Nations three times, with many Nigerians playing in the English Premier League. Each of these brings investment of its own, into studios, stadiums and training camps.
Environmental context. Nigeria has high temperatures and a high annual rainfall, but the rainfall decreases towards the north. The high rainfall in the south means much of it is forest, and it can grow cocoa, palm oil and rubber. The same conditions make cattle farming difficult in the south, because the tsetse fly carries disease, which is one reason cattle rearing is a northern activity. So climate shapes which crops grow where, which shapes where processing industries are built, which shapes where people work. Geography and economy are not two topics here; they are one.
Tip: Learn the four contexts as four short stories, each ending in because: political instability deterred investors because the rules kept changing; northern rainfall is lower because it is nearer the Sahara, so fewer crops grow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Oil, trade and the transnational corporations. Say it in your own words, then check understanding with a quick question: ask a pupil from the pre-teach group first, since they met these words and ideas before the lesson. Pupils try to recall before you re-explain.
Nigeria has 37.2 billion barrels of oil reserves, the tenth largest reserves of crude oil in the world, and is responsible for 2.9% of global oil production. Oil dominates what it sells. In 2015 mineral fuels including oil earned 50.8 billion US dollars, which was 94.5% of all Nigeria's exports; cocoa came second at 1%, then wood and oil seeds. What it buys is much more varied: in 2014 its biggest imports were oil at 15.3% of the total, then machines, engines and pumps at 12.6%, electronic equipment at 9.3% and vehicles at 8.4%. Buying oil while selling oil looks strange until you realise that Nigeria exports crude and has to import refined fuel. Nigeria's political and trading links have grown since independence: it belongs to the African Union, an organisation of 54 countries that plans economically and keeps the peace; to ECOWAS, the trading group of west African states, whose headquarters are in Abuja; to CEN-SAD, a trading group of states bordering the Sahara that also builds sporting links; to the United Nations, where it is a major contributor of peacekeeping troops; to OPEC, which aims to stabilise oil prices and keep supply regular; and to the Commonwealth, a voluntary association of 53 states, most of them former British colonies.
A transnational corporation is a company with operations, such as factories, offices, research and shops, in more than one country. Shell is the one to know in Nigeria. Its oil fields are mainly in the Niger Delta in the south, much of the drilling is offshore in deep water, and the oil has to be brought ashore by pipeline. The benefits to Nigeria are large: Shell contributes to taxes and export revenue, employs 65 000 people in oil itself and a further 250 000 in related industries, has given 91% of its contracts to Nigerian companies, and has encouraged the growth of the whole Nigerian energy sector. Unilever is the other example: TNCs such as Unilever promote improvements in healthcare and water supply that benefit local communities as well as the company, offer consumers more choice and sometimes lower prices, and provide accommodation, education facilities and better conditions of employment for their workers.
The costs are just as real. Pay may be low and working conditions poor, with little regard for health and safety or for the environment; management may not be Nigerian; much of the profit goes overseas, which geographers call leakage; oil spills cause water pollution and soil degradation, which disrupts agriculture and fishing; toxic fumes from flaring cause air pollution; installations are liable to attack from militant groups; and oil theft and sabotage cost both the government and the companies. One detail explains why Nigerian crude is in demand: it is known as sweet oil because its sulphur content is very low, which makes it higher quality than oil from the Middle East and cheaper to refine into petrol. Sour crude has to have its impurities stripped out first, which raises the cost of processing and the price of the fuel made from it. Higher demand for sweet oil means a better price, which is why crude is Nigeria's largest export earner and a direct contributor to its growth.
Worked example — model it step by step, thinking aloud: Shell employs 65 000 people in Nigeria's oil industry and 250 000 in industries related to it. How many jobs is that in total, and what fraction of them are in the oil industry itself? (1) Add the two figures: 65 000 + 250 000. (2) That gives 315 000 jobs altogether. (3) For the fraction, put the oil-industry figure over the total: 65 000 ÷ 315 000. (4) That is about 0.21, so roughly a fifth of the jobs are in oil itself and the rest are in related industries. Answer: 315 000 jobs in total, of which about a fifth are in the oil industry itself.
Tip: The multiplier effect is the reason the related-industry figure matters. Quote both numbers and then say that the 250 000 jobs exist because the 65 000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Oil, trade and the transnational corporations. Say it in your own words, then check understanding with a quick question: ask a pupil from the pre-teach group first, since they met these words and ideas before the lesson. Pupils try to recall before you re-explain.
Nigeria has 37.2 billion barrels of oil reserves, the tenth largest reserves of crude oil in the world, and is responsible for 2.9% of global oil production. Oil dominates what it sells. In 2015 mineral fuels including oil earned 50.8 billion US dollars, which was 94.5% of all Nigeria's exports; cocoa came second at 1%, then wood and oil seeds. What it buys is much more varied: in 2014 its biggest imports were oil at 15.3% of the total, then machines, engines and pumps at 12.6%, electronic equipment at 9.3% and vehicles at 8.4%. Buying oil while selling oil looks strange until you realise that Nigeria exports crude and has to import refined fuel. Nigeria's political and trading links have grown since independence: it belongs to the African Union, an organisation of 54 countries that plans economically and keeps the peace; to ECOWAS, the trading group of west African states, whose headquarters are in Abuja; to CEN-SAD, a trading group of states bordering the Sahara that also builds sporting links; to the United Nations, where it is a major contributor of peacekeeping troops; to OPEC, which aims to stabilise oil prices and keep supply regular; and to the Commonwealth, a voluntary association of 53 states, most of them former British colonies.
A transnational corporation is a company with operations, such as factories, offices, research and shops, in more than one country. Shell is the one to know in Nigeria. Its oil fields are mainly in the Niger Delta in the south, much of the drilling is offshore in deep water, and the oil has to be brought ashore by pipeline. The benefits to Nigeria are large: Shell contributes to taxes and export revenue, employs 65 000 people in oil itself and a further 250 000 in related industries, has given 91% of its contracts to Nigerian companies, and has encouraged the growth of the whole Nigerian energy sector. Unilever is the other example: TNCs such as Unilever promote improvements in healthcare and water supply that benefit local communities as well as the company, offer consumers more choice and sometimes lower prices, and provide accommodation, education facilities and better conditions of employment for their workers.
The costs are just as real. Pay may be low and working conditions poor, with little regard for health and safety or for the environment; management may not be Nigerian; much of the profit goes overseas, which geographers call leakage; oil spills cause water pollution and soil degradation, which disrupts agriculture and fishing; toxic fumes from flaring cause air pollution; installations are liable to attack from militant groups; and oil theft and sabotage cost both the government and the companies. One detail explains why Nigerian crude is in demand: it is known as sweet oil because its sulphur content is very low, which makes it higher quality than oil from the Middle East and cheaper to refine into petrol. Sour crude has to have its impurities stripped out first, which raises the cost of processing and the price of the fuel made from it. Higher demand for sweet oil means a better price, which is why crude is Nigeria's largest export earner and a direct contributor to its growth.
Worked example — model it step by step, thinking aloud: Shell employs 65 000 people in Nigeria's oil industry and 250 000 in industries related to it. How many jobs is that in total, and what fraction of them are in the oil industry itself? (1) Add the two figures: 65 000 + 250 000. (2) That gives 315 000 jobs altogether. (3) For the fraction, put the oil-industry figure over the total: 65 000 ÷ 315 000. (4) That is about 0.21, so roughly a fifth of the jobs are in oil itself and the rest are in related industries. Answer: 315 000 jobs in total, of which about a fifth are in the oil industry itself.
Tip: The multiplier effect is the reason the related-industry figure matters. Quote both numbers and then say that the 250 000 jobs exist because the 65 000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Aid, the environment and quality of life. Say it in your own words, then check understanding with a quick question: ask a pupil from the pre-teach group first, since they met these words and ideas before the lesson. Pupils try to recall before you re-explain.
Nigeria receives both emergency aid, which is short-term help in the form of food, water, medical supplies and shelter, and developmental aid, which is long-term support from charities, governments and multilateral organisations aimed at improving quality of life. Its three main donors together give roughly 375 million US dollars, one of them a global vaccine fund. Aid has achieved real things: malaria deaths have been cut by providing nets and teaching people about the disease, the spread of HIV has been slowed by education and healthcare, orphans have been looked after so that children have better futures, and long-term loans to businesses outside oil have begun to reduce the country's dependence on it. Aid given to governments may not help development, because there may be corruption so that people take the money, the government may spend it on things that do not help development, or the donor may say how the aid must be used in ways that suit the donor more than Nigeria. Small-scale projects work better: they need little money, no high technical skill and no expensive maintenance, they reach remote areas, they target aid where it is needed, and experts from non-governmental organisations work with local communities to identify what those communities actually want. United Kingdom aid to Nigeria has gone to security against Boko Haram, to moving energy and water supply out of state control, to education and communication technology for teachers and students, to training and funding for young people starting businesses, to greater gender equality and girls' secondary education in Muslim areas, and to a football partnership that develops young Nigerians' skills.
Rapid growth has damaged the environment. Many illegal small-scale industries have grown up with no pollution control: chemical waste is dumped and pollutes water, and factory chimneys pollute the air. Large areas of forest have been cleared, and dams and irrigation schemes have made desertification worse. Rubbish, mainly plastic packaging and old electrical goods, piles up because there are no formal waste disposal or recycling facilities, polluting water supplies and letting rats spread disease. Oil spills destroy ecosystems and pollute water supplies, and burning oil releases carbon dioxide and causes acid rain. Gas flaring sends toxic fumes into the air and has covered the city of Port Harcourt, the centre of exploration in the Niger Delta, in soot. Two spills are named in the course. The Bonga spill, on 20 December 2011, released 1.68 million gallons and created a slick 185 km long off the coast, the worst in the area for ten years, and 350 communities in the Niger Delta were affected; legal action by the Nigerian government began in May 2016 against Shell seeking compensation for the fishermen and communities affected. At Bodo, heavy leakage from a pipeline continued for six months, and because nearly 80% of local people are fishermen they had to leave to find new fishing grounds; in 2015 compensation of £35 million went to individuals and £20 million to the community, with £2100 for each individual, and Shell agreed to clean up the area.
Spills can be prevented. Infrastructure should be maintained so that pipelines do not leak, pipelines should be protected against sabotage and other criminal behaviour, oil exploration should be prohibited in sensitive areas where a fragile ecosystem could be destroyed, and there should be strict pollution regulation with heavy fines for companies that do not take every necessary precaution. Meanwhile quality of life has improved for many Nigerians through the multiplier effect: taxes from oil and from TNCs have paid for hospitals, schools, roads and energy, which creates more jobs again; healthier people can be educated; better-educated women have smaller families and lower rates of HIV; life expectancy and GDP have risen. But the gains are very unequal. Measured as GDP per person, the south of the country stands at about 8343 US dollars and the north at about 292. The north has a harsher climate, areas far from the coast and lower rates of school enrolment, and the number of girls entering secondary school there remains low. The population is still growing faster than the economy is developing, so many people are missing out on the benefits altogether.
Tip: For the nine-mark quality-of-life question, give one paragraph of improvements with figures, one paragraph of problems with figures, and then judge. A judgement with no figures cannot reach the top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Nigeria's political story.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stages of Nigeria's political history in the right order, earliest first.
Support — work through the steps with the group: (1) Three of the statements carry a date. Put those in date order first: 1960, then 1970, then 1999. (2) Two carry no date. Both are earlier than 1960, because they describe how the colony came about. (3) The conference that drew the borders came before the rule that followed it. (4) Read your order through: does each stage explain the next?
Parallel worked example for Support (model it, do not give the task answer): Put these three stages of Malaysia's economy in order: Proton cars are made and exported; manufacturing begins to grow after 1970; wealth and quality of life rise sharply. Growth has to start before products appear.; Products bring the income that raises living standards.. Answer: Manufacturing begins to grow after 1970; Proton cars are made and exported; wealth and quality of life rise sharply..
Core — reveal the hint only on request: Three of the five statements carry a year. Put those three in order and the other two can only go at the start.
Stretch — no help; when finished: Explain how each stage in this sequence made the next one harder or easier, and pick the stage that did most to hold Nigeria's development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Nigeria's political story.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stages of Nigeria's political history in the right order, earliest first.
Support — work through the steps with the group: (1) Three of the statements carry a date. Put those in date order first: 1960, then 1970, then 1999. (2) Two carry no date. Both are earlier than 1960, because they describe how the colony came about. (3) The conference that drew the borders came before the rule that followed it. (4) Read your order through: does each stage explain the next?
Parallel worked example for Support (model it, do not give the task answer): Put these three stages of Malaysia's economy in order: Proton cars are made and exported; manufacturing begins to grow after 1970; wealth and quality of life rise sharply. Growth has to start before products appear.; Products bring the income that raises living standards.. Answer: Manufacturing begins to grow after 1970; Proton cars are made and exported; wealth and quality of life rise sharply..
Core — reveal the hint only on request: Three of the five statements carry a year. Put those three in order and the other two can only go at the start.
Stretch — no help; when finished: Explain how each stage in this sequence made the next one harder or easier, and pick the stage that did most to hold Nigeria's development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Nigeria sells.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Mineral fuels, almost all of it crude oil, make up what share of Nigeria's exports?
Support — work through the steps with the group: (1) Read the question again: it asks for a share of Nigeria's exports, not of world production. (2) Cross out any figure that is a value in dollars rather than a percentage. (3) Cross out the figure that belongs to imports. (4) Cross out the figure that is Nigeria's share of world oil output. One is left.
Parallel worked example for Support (model it, do not give the task answer): Cocoa is Nigeria's second largest export. Is its share of all Nigeria's exports closest to 1%, 10% or 30%? Oil takes nearly all of the total.; That leaves very little for everything else.. Answer: About 1%..
Core — reveal the hint only on request: Three of these four figures are real Nigerian statistics, but only one is a share of exports. Check what each number actually measures.
Stretch — no help; when finished: Explain why depending on one product for almost all export earnings is dangerous for a country, and name one thing Nigeria is doing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Nigeria sells.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Mineral fuels, almost all of it crude oil, make up what share of Nigeria's exports?
Support — work through the steps with the group: (1) Read the question again: it asks for a share of Nigeria's exports, not of world production. (2) Cross out any figure that is a value in dollars rather than a percentage. (3) Cross out the figure that belongs to imports. (4) Cross out the figure that is Nigeria's share of world oil output. One is left.
Parallel worked example for Support (model it, do not give the task answer): Cocoa is Nigeria's second largest export. Is its share of all Nigeria's exports closest to 1%, 10% or 30%? Oil takes nearly all of the total.; That leaves very little for everything else.. Answer: About 1%..
Core — reveal the hint only on request: Three of these four figures are real Nigerian statistics, but only one is a share of exports. Check what each number actually measures.
Stretch — no help; when finished: Explain why depending on one product for almost all export earnings is dangerous for a country, and name one thing Nigeria is doing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part of Africa is Nigeria?
Answer: C   West Africa. Nigeria is in west Africa, bordered by Niger, Chad, Cameroon and Benin, with its southern coast on the Gulf of Guinea.
Source of this question: gate item 1 re-asked (options rotated) — this chapter has no third quick-check module.
The ebook also holds task 3, "Have the transnational corporations done more good than harm?",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Nigeria's political story. Reveal the answer; pupils mark their own work in a different colour, then read the "why" together. Same destination for every lane, so one answer serves the whole class.
Answer: European powers divide Africa between themselves at a conference, drawing many borders as straight lines.  (A); Nigeria is ruled as a colony by the United Kingdom, which takes out its resources and takes its people as slaves.  (C); Nigeria becomes fully independent in 1960.  (D); Military dictators rule, corruption is widespread and a civil war is fought that ends in 1970.  (B); Stable government returns from 1999, and the elections of 2011 and 2015 are judged free and fair.  (E)
Why: The order runs: the European carve-up of Africa in the 1880s; colonial rule by the United Kingdom; independence in 1960; dictatorship, corruption and a civil war ending in 1970; stable government from 1999, with free and fair elections in 2011 and 2015. Each stage explains the next: colonial borders left ethnic groups divided, division fed the civil war, instability kept investors away, and stability brought them back.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Nigeria sells. Reveal the answer; pupils mark their own work in a different colour, then read the "why" together. Same destination for every lane, so one answer serves the whole class.
Answer: A   94.5%
Why: Mineral fuels including oil earned 50.8 billion US dollars in 2015, which was 94.5% of all Nigeria's exports; cocoa, the next largest, was about 1%. The other figures in the list are real but measure different things: 15.3% is oil's share of imports and 2.9% is Nigeria's share of world oil production.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West Africa
Why: Nigeria is in west Africa, bordered by Niger, Chad, Cameroon and Benin, with its southern coast on the Gulf of Guinea.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469361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Changing Economic World · AQA 8035</a:t>
            </a:r>
            <a:endParaRPr lang="en-US" sz="1800" dirty="0"/>
          </a:p>
        </p:txBody>
      </p:sp>
      <p:sp>
        <p:nvSpPr>
          <p:cNvPr id="10" name="deck-title"/>
          <p:cNvSpPr txBox="1"/>
          <p:nvPr/>
        </p:nvSpPr>
        <p:spPr>
          <a:xfrm>
            <a:off x="548640" y="1623568"/>
            <a:ext cx="6476695" cy="58928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Nigeria: a newly emerging economy</a:t>
            </a:r>
            <a:endParaRPr lang="en-US" sz="2800" dirty="0"/>
          </a:p>
        </p:txBody>
      </p:sp>
      <p:sp>
        <p:nvSpPr>
          <p:cNvPr id="11" name="lessons-card"/>
          <p:cNvSpPr/>
          <p:nvPr/>
        </p:nvSpPr>
        <p:spPr>
          <a:xfrm>
            <a:off x="548640" y="2441448"/>
            <a:ext cx="6476695" cy="3378200"/>
          </a:xfrm>
          <a:prstGeom prst="roundRect">
            <a:avLst>
              <a:gd name="adj" fmla="val 2165"/>
            </a:avLst>
          </a:prstGeom>
          <a:solidFill>
            <a:srgbClr val="E6ECE7"/>
          </a:solidFill>
          <a:ln/>
        </p:spPr>
      </p:sp>
      <p:sp>
        <p:nvSpPr>
          <p:cNvPr id="12" name="lessons"/>
          <p:cNvSpPr txBox="1"/>
          <p:nvPr/>
        </p:nvSpPr>
        <p:spPr>
          <a:xfrm>
            <a:off x="685800" y="2532888"/>
            <a:ext cx="6202375" cy="31953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Nigeria: a newly emerging economy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Nigeria's political, social, cultural and environmental context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Nigeria's changing relationship with the wider world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TNCs in Nigeria: Shell, Unilever and sweet oil</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impacts of international aid in Nigeria</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Managing environmental issues in Nigeria</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Quality of life in Nigeria</a:t>
            </a:r>
            <a:endParaRPr lang="en-US" sz="2000" dirty="0"/>
          </a:p>
        </p:txBody>
      </p:sp>
      <p:sp>
        <p:nvSpPr>
          <p:cNvPr id="13" name="plate-frame"/>
          <p:cNvSpPr/>
          <p:nvPr/>
        </p:nvSpPr>
        <p:spPr>
          <a:xfrm>
            <a:off x="7436815" y="411480"/>
            <a:ext cx="4206240" cy="2462022"/>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7546543" y="521208"/>
            <a:ext cx="3986784" cy="2242566"/>
          </a:xfrm>
          <a:prstGeom prst="rect">
            <a:avLst/>
          </a:prstGeom>
        </p:spPr>
      </p:pic>
      <p:sp>
        <p:nvSpPr>
          <p:cNvPr id="15" name="plate-inner"/>
          <p:cNvSpPr/>
          <p:nvPr/>
        </p:nvSpPr>
        <p:spPr>
          <a:xfrm>
            <a:off x="7546543" y="521208"/>
            <a:ext cx="3986784" cy="2242566"/>
          </a:xfrm>
          <a:prstGeom prst="rect">
            <a:avLst/>
          </a:prstGeom>
          <a:ln w="9525">
            <a:solidFill>
              <a:srgbClr val="B8862B"/>
            </a:solidFill>
            <a:prstDash val="solid"/>
          </a:ln>
        </p:spPr>
      </p:sp>
      <p:sp>
        <p:nvSpPr>
          <p:cNvPr id="16" name="stud0"/>
          <p:cNvSpPr/>
          <p:nvPr/>
        </p:nvSpPr>
        <p:spPr>
          <a:xfrm>
            <a:off x="732708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7327087" y="2778478"/>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2778478"/>
            <a:ext cx="219456" cy="190049"/>
          </a:xfrm>
          <a:prstGeom prst="hexagon">
            <a:avLst/>
          </a:prstGeom>
          <a:solidFill>
            <a:srgbClr val="B8862B"/>
          </a:solidFill>
          <a:ln w="12700">
            <a:solidFill>
              <a:srgbClr val="FFFFFF"/>
            </a:solidFill>
            <a:prstDash val="solid"/>
          </a:ln>
        </p:spPr>
      </p:sp>
      <p:sp>
        <p:nvSpPr>
          <p:cNvPr id="20" name="bq-card"/>
          <p:cNvSpPr/>
          <p:nvPr/>
        </p:nvSpPr>
        <p:spPr>
          <a:xfrm>
            <a:off x="7436815" y="3147822"/>
            <a:ext cx="4206240" cy="2722626"/>
          </a:xfrm>
          <a:prstGeom prst="roundRect">
            <a:avLst>
              <a:gd name="adj" fmla="val 2687"/>
            </a:avLst>
          </a:prstGeom>
          <a:solidFill>
            <a:srgbClr val="E6ECE7"/>
          </a:solidFill>
          <a:ln w="12700">
            <a:solidFill>
              <a:srgbClr val="ACBFB1"/>
            </a:solidFill>
            <a:prstDash val="solid"/>
          </a:ln>
        </p:spPr>
      </p:sp>
      <p:sp>
        <p:nvSpPr>
          <p:cNvPr id="21" name="bq-hex"/>
          <p:cNvSpPr/>
          <p:nvPr/>
        </p:nvSpPr>
        <p:spPr>
          <a:xfrm>
            <a:off x="7601407" y="3330702"/>
            <a:ext cx="621792" cy="538472"/>
          </a:xfrm>
          <a:prstGeom prst="hexagon">
            <a:avLst/>
          </a:prstGeom>
          <a:solidFill>
            <a:srgbClr val="B8862B"/>
          </a:solidFill>
          <a:ln/>
        </p:spPr>
      </p:sp>
      <p:sp>
        <p:nvSpPr>
          <p:cNvPr id="22" name="bq-hex-label"/>
          <p:cNvSpPr txBox="1"/>
          <p:nvPr/>
        </p:nvSpPr>
        <p:spPr>
          <a:xfrm>
            <a:off x="7601407" y="3330702"/>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8332927" y="3239262"/>
            <a:ext cx="3200400" cy="2539746"/>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is the world's wealth so unevenly shared, and what can countries such as Nigeria and the UK do about the gaps between them and within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part of Africa is Nigeria?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North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East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Southern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West Africa</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Nigeria became fully independent in 1960 and its civil war ended in 1970. How many years passed between those two events?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Most of Nigeria's oil is found in the ___ Delta, in the south of the country.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Niger  ·  Nile  ·  Benue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West Africa</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which part of Africa is Nigeria?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Nigeria is in west Africa, bordered by Niger, Chad, Cameroon and Benin, with its southern coast on the Gulf of Guinea.</a:t>
            </a:r>
            <a:endParaRPr lang="en-US" sz="22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years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Nigeria became fully independent in 1960 and its civil war ended in 1970. How many years passed between those two events?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Subtract the earlier date from the later one: 1970 − 1960 = 10 years.</a:t>
            </a:r>
            <a:endParaRPr lang="en-US" sz="20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Niger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Most of Nigeria's oil is found in the ___ Delta, in the south of the country.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Niger Delta, where the River Niger reaches the Gulf of Guinea, is where Nigeria's oil fields are, much of the drilling being offshore in deep water.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AEFEB"/>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NEE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newly emerging economy, growing fast through industry</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Nigeria is an NEE, not a low income country.</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colonialism</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country taking control of another and using it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Colonialism took resources and people out of Nigeria.</a:t>
            </a:r>
            <a:endParaRPr lang="en-US" sz="1800" dirty="0"/>
          </a:p>
        </p:txBody>
      </p:sp>
      <p:sp>
        <p:nvSpPr>
          <p:cNvPr id="21" name="kw-row"/>
          <p:cNvSpPr/>
          <p:nvPr/>
        </p:nvSpPr>
        <p:spPr>
          <a:xfrm>
            <a:off x="548640" y="3639312"/>
            <a:ext cx="11094415" cy="786384"/>
          </a:xfrm>
          <a:prstGeom prst="roundRect">
            <a:avLst>
              <a:gd name="adj" fmla="val 6977"/>
            </a:avLst>
          </a:prstGeom>
          <a:solidFill>
            <a:srgbClr val="EAEFEB"/>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independence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a country governs itself</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Nigeria gained independence from the United Kingdom in 1960.</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crude oil</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oil as it comes out of the ground, before refining</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Crude oil is Nigeria's biggest export by far.</a:t>
            </a:r>
            <a:endParaRPr lang="en-US" sz="1800" dirty="0"/>
          </a:p>
        </p:txBody>
      </p:sp>
      <p:sp>
        <p:nvSpPr>
          <p:cNvPr id="31" name="kw-row"/>
          <p:cNvSpPr/>
          <p:nvPr/>
        </p:nvSpPr>
        <p:spPr>
          <a:xfrm>
            <a:off x="548640" y="5358384"/>
            <a:ext cx="11094415" cy="786384"/>
          </a:xfrm>
          <a:prstGeom prst="roundRect">
            <a:avLst>
              <a:gd name="adj" fmla="val 6977"/>
            </a:avLst>
          </a:prstGeom>
          <a:solidFill>
            <a:srgbClr val="EAEFEB"/>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oil spill</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oil leaking from a pipeline or a rig into the land or sea</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oil spill ruins farmland and fishing grounds.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Nigeria is in west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borders Niger, Chad, Cameroon and Benin.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coast is on the Gulf of Guinea, part of the Atlantic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Nigeria has the largest population and the largest economy in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a newly emerging economy, or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NEE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Farming is shrinking there while industry and services grow.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Crude oil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from the Niger Delta is its biggest export.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Nigeria was ruled by the United Kingdom until 1960.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civil war ended in 1970, and then dictators ruled for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Governments have been stable since 1999.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Companies from China, South Africa and the United States now invest there.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Oil has brought money, but also spills and pollution.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south of the country is far richer than the north.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Nigeria is, and why it counts as an NEE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justify Nigeria as an NEE, say why it is not a low income country (industry, infrastructure, rising incomes) and why it is not a high income country (corruption, power cuts, poverty) before you give the growth figures.</a:t>
            </a:r>
            <a:endParaRPr lang="en-US" sz="1800" dirty="0"/>
          </a:p>
        </p:txBody>
      </p:sp>
      <p:sp>
        <p:nvSpPr>
          <p:cNvPr id="11" name="bullet-card"/>
          <p:cNvSpPr/>
          <p:nvPr/>
        </p:nvSpPr>
        <p:spPr>
          <a:xfrm>
            <a:off x="548640" y="1389888"/>
            <a:ext cx="11094415" cy="1346031"/>
          </a:xfrm>
          <a:prstGeom prst="roundRect">
            <a:avLst>
              <a:gd name="adj" fmla="val 5435"/>
            </a:avLst>
          </a:prstGeom>
          <a:solidFill>
            <a:srgbClr val="EAEFEB"/>
          </a:solidFill>
          <a:ln/>
        </p:spPr>
      </p:sp>
      <p:sp>
        <p:nvSpPr>
          <p:cNvPr id="12" name="bullet-hex"/>
          <p:cNvSpPr/>
          <p:nvPr/>
        </p:nvSpPr>
        <p:spPr>
          <a:xfrm>
            <a:off x="676656" y="1896611"/>
            <a:ext cx="384048" cy="332586"/>
          </a:xfrm>
          <a:prstGeom prst="hexagon">
            <a:avLst/>
          </a:prstGeom>
          <a:solidFill>
            <a:srgbClr val="3F6B4A"/>
          </a:solidFill>
          <a:ln/>
        </p:spPr>
      </p:sp>
      <p:sp>
        <p:nvSpPr>
          <p:cNvPr id="13" name="bullet"/>
          <p:cNvSpPr txBox="1"/>
          <p:nvPr/>
        </p:nvSpPr>
        <p:spPr>
          <a:xfrm>
            <a:off x="1143000" y="1389888"/>
            <a:ext cx="10408615" cy="134603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Nigeria is in west Africa. Its neighbours are Niger to the north, Chad to the north-east, Cameroon to the east and Benin to the west, and its southern coast is on the Gulf of Guinea, part of the Atlantic Ocean.</a:t>
            </a:r>
            <a:endParaRPr lang="en-US" sz="2200" dirty="0"/>
          </a:p>
        </p:txBody>
      </p:sp>
      <p:sp>
        <p:nvSpPr>
          <p:cNvPr id="14" name="bullet-card"/>
          <p:cNvSpPr/>
          <p:nvPr/>
        </p:nvSpPr>
        <p:spPr>
          <a:xfrm>
            <a:off x="548640" y="2882223"/>
            <a:ext cx="11094415" cy="1005163"/>
          </a:xfrm>
          <a:prstGeom prst="roundRect">
            <a:avLst>
              <a:gd name="adj" fmla="val 7278"/>
            </a:avLst>
          </a:prstGeom>
          <a:solidFill>
            <a:srgbClr val="EAEFEB"/>
          </a:solidFill>
          <a:ln/>
        </p:spPr>
      </p:sp>
      <p:sp>
        <p:nvSpPr>
          <p:cNvPr id="15" name="bullet-hex"/>
          <p:cNvSpPr/>
          <p:nvPr/>
        </p:nvSpPr>
        <p:spPr>
          <a:xfrm>
            <a:off x="676656" y="3218511"/>
            <a:ext cx="384048" cy="332586"/>
          </a:xfrm>
          <a:prstGeom prst="hexagon">
            <a:avLst/>
          </a:prstGeom>
          <a:solidFill>
            <a:srgbClr val="B8862B"/>
          </a:solidFill>
          <a:ln/>
        </p:spPr>
      </p:sp>
      <p:sp>
        <p:nvSpPr>
          <p:cNvPr id="16" name="bullet"/>
          <p:cNvSpPr txBox="1"/>
          <p:nvPr/>
        </p:nvSpPr>
        <p:spPr>
          <a:xfrm>
            <a:off x="1143000" y="2882223"/>
            <a:ext cx="10408615" cy="100516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newly emerging economy is a country that has begun to experience high rates of economic development, usually with rapid industrialisation.</a:t>
            </a:r>
            <a:endParaRPr lang="en-US" sz="2200" dirty="0"/>
          </a:p>
        </p:txBody>
      </p:sp>
      <p:sp>
        <p:nvSpPr>
          <p:cNvPr id="17" name="bullet-card"/>
          <p:cNvSpPr/>
          <p:nvPr/>
        </p:nvSpPr>
        <p:spPr>
          <a:xfrm>
            <a:off x="548640" y="4033689"/>
            <a:ext cx="11094415" cy="763355"/>
          </a:xfrm>
          <a:prstGeom prst="roundRect">
            <a:avLst>
              <a:gd name="adj" fmla="val 9583"/>
            </a:avLst>
          </a:prstGeom>
          <a:solidFill>
            <a:srgbClr val="EAEFEB"/>
          </a:solidFill>
          <a:ln/>
        </p:spPr>
      </p:sp>
      <p:sp>
        <p:nvSpPr>
          <p:cNvPr id="18" name="bullet-hex"/>
          <p:cNvSpPr/>
          <p:nvPr/>
        </p:nvSpPr>
        <p:spPr>
          <a:xfrm>
            <a:off x="676656" y="4249074"/>
            <a:ext cx="384048" cy="332586"/>
          </a:xfrm>
          <a:prstGeom prst="hexagon">
            <a:avLst/>
          </a:prstGeom>
          <a:solidFill>
            <a:srgbClr val="3F6B4A"/>
          </a:solidFill>
          <a:ln/>
        </p:spPr>
      </p:sp>
      <p:sp>
        <p:nvSpPr>
          <p:cNvPr id="19" name="bullet"/>
          <p:cNvSpPr txBox="1"/>
          <p:nvPr/>
        </p:nvSpPr>
        <p:spPr>
          <a:xfrm>
            <a:off x="1143000" y="4033689"/>
            <a:ext cx="10408615" cy="76335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evidence that Nigeria belongs in that group is strong.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The political, social, cultural and environmental context</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contexts as four short stories, each ending in because: political instability deterred investors because the rules kept changing; northern rainfall is lower because it is nearer the Sahara, so fewer crops grow there.</a:t>
            </a:r>
            <a:endParaRPr lang="en-US" sz="1800" dirty="0"/>
          </a:p>
        </p:txBody>
      </p:sp>
      <p:sp>
        <p:nvSpPr>
          <p:cNvPr id="11" name="bullet-card"/>
          <p:cNvSpPr/>
          <p:nvPr/>
        </p:nvSpPr>
        <p:spPr>
          <a:xfrm>
            <a:off x="548640" y="1389888"/>
            <a:ext cx="11094415" cy="763355"/>
          </a:xfrm>
          <a:prstGeom prst="roundRect">
            <a:avLst>
              <a:gd name="adj" fmla="val 9583"/>
            </a:avLst>
          </a:prstGeom>
          <a:solidFill>
            <a:srgbClr val="EAEFEB"/>
          </a:solidFill>
          <a:ln/>
        </p:spPr>
      </p:sp>
      <p:sp>
        <p:nvSpPr>
          <p:cNvPr id="12" name="bullet-hex"/>
          <p:cNvSpPr/>
          <p:nvPr/>
        </p:nvSpPr>
        <p:spPr>
          <a:xfrm>
            <a:off x="676656" y="1605273"/>
            <a:ext cx="384048" cy="332586"/>
          </a:xfrm>
          <a:prstGeom prst="hexagon">
            <a:avLst/>
          </a:prstGeom>
          <a:solidFill>
            <a:srgbClr val="3F6B4A"/>
          </a:solidFill>
          <a:ln/>
        </p:spPr>
      </p:sp>
      <p:sp>
        <p:nvSpPr>
          <p:cNvPr id="13" name="bullet"/>
          <p:cNvSpPr txBox="1"/>
          <p:nvPr/>
        </p:nvSpPr>
        <p:spPr>
          <a:xfrm>
            <a:off x="1143000" y="1389888"/>
            <a:ext cx="10408615" cy="76335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Political context first, because it explains most of the rest.</a:t>
            </a:r>
            <a:endParaRPr lang="en-US" sz="2200" dirty="0"/>
          </a:p>
        </p:txBody>
      </p:sp>
      <p:sp>
        <p:nvSpPr>
          <p:cNvPr id="14" name="bullet-card"/>
          <p:cNvSpPr/>
          <p:nvPr/>
        </p:nvSpPr>
        <p:spPr>
          <a:xfrm>
            <a:off x="548640" y="2299547"/>
            <a:ext cx="11094415" cy="1346031"/>
          </a:xfrm>
          <a:prstGeom prst="roundRect">
            <a:avLst>
              <a:gd name="adj" fmla="val 5435"/>
            </a:avLst>
          </a:prstGeom>
          <a:solidFill>
            <a:srgbClr val="EAEFEB"/>
          </a:solidFill>
          <a:ln/>
        </p:spPr>
      </p:sp>
      <p:sp>
        <p:nvSpPr>
          <p:cNvPr id="15" name="bullet-hex"/>
          <p:cNvSpPr/>
          <p:nvPr/>
        </p:nvSpPr>
        <p:spPr>
          <a:xfrm>
            <a:off x="676656" y="2806269"/>
            <a:ext cx="384048" cy="332586"/>
          </a:xfrm>
          <a:prstGeom prst="hexagon">
            <a:avLst/>
          </a:prstGeom>
          <a:solidFill>
            <a:srgbClr val="B8862B"/>
          </a:solidFill>
          <a:ln/>
        </p:spPr>
      </p:sp>
      <p:sp>
        <p:nvSpPr>
          <p:cNvPr id="16" name="bullet"/>
          <p:cNvSpPr txBox="1"/>
          <p:nvPr/>
        </p:nvSpPr>
        <p:spPr>
          <a:xfrm>
            <a:off x="1143000" y="2299547"/>
            <a:ext cx="10408615" cy="134603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Social context. Nigeria is multi-ethnic and multi-faith: Christianity, Islam and traditional African religions are all widely practised, and the four major ethnic groups are the Yoruba, the Hausa, the Fulani and the Igbo.</a:t>
            </a:r>
            <a:endParaRPr lang="en-US" sz="2200" dirty="0"/>
          </a:p>
        </p:txBody>
      </p:sp>
      <p:sp>
        <p:nvSpPr>
          <p:cNvPr id="17" name="bullet-card"/>
          <p:cNvSpPr/>
          <p:nvPr/>
        </p:nvSpPr>
        <p:spPr>
          <a:xfrm>
            <a:off x="548640" y="3791881"/>
            <a:ext cx="11094415" cy="1005163"/>
          </a:xfrm>
          <a:prstGeom prst="roundRect">
            <a:avLst>
              <a:gd name="adj" fmla="val 7278"/>
            </a:avLst>
          </a:prstGeom>
          <a:solidFill>
            <a:srgbClr val="EAEFEB"/>
          </a:solidFill>
          <a:ln/>
        </p:spPr>
      </p:sp>
      <p:sp>
        <p:nvSpPr>
          <p:cNvPr id="18" name="bullet-hex"/>
          <p:cNvSpPr/>
          <p:nvPr/>
        </p:nvSpPr>
        <p:spPr>
          <a:xfrm>
            <a:off x="676656" y="4128170"/>
            <a:ext cx="384048" cy="332586"/>
          </a:xfrm>
          <a:prstGeom prst="hexagon">
            <a:avLst/>
          </a:prstGeom>
          <a:solidFill>
            <a:srgbClr val="3F6B4A"/>
          </a:solidFill>
          <a:ln/>
        </p:spPr>
      </p:sp>
      <p:sp>
        <p:nvSpPr>
          <p:cNvPr id="19" name="bullet"/>
          <p:cNvSpPr txBox="1"/>
          <p:nvPr/>
        </p:nvSpPr>
        <p:spPr>
          <a:xfrm>
            <a:off x="1143000" y="3791881"/>
            <a:ext cx="10408615" cy="100516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 context. Nigeria has high temperatures and a high annual rainfall, but the rainfall decreases towards the north.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Oil, trade and the transnational corporations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multiplier effect is the reason the related-industry figure matters. Quote both numbers and then say that the 250 000 jobs exist because the 65 000 exist.</a:t>
            </a:r>
            <a:endParaRPr lang="en-US" sz="1800" dirty="0"/>
          </a:p>
        </p:txBody>
      </p:sp>
      <p:sp>
        <p:nvSpPr>
          <p:cNvPr id="11" name="bullet-card"/>
          <p:cNvSpPr/>
          <p:nvPr/>
        </p:nvSpPr>
        <p:spPr>
          <a:xfrm>
            <a:off x="548640" y="1389888"/>
            <a:ext cx="11094415" cy="852255"/>
          </a:xfrm>
          <a:prstGeom prst="roundRect">
            <a:avLst>
              <a:gd name="adj" fmla="val 8583"/>
            </a:avLst>
          </a:prstGeom>
          <a:solidFill>
            <a:srgbClr val="EAEFEB"/>
          </a:solidFill>
          <a:ln/>
        </p:spPr>
      </p:sp>
      <p:sp>
        <p:nvSpPr>
          <p:cNvPr id="12" name="bullet-hex"/>
          <p:cNvSpPr/>
          <p:nvPr/>
        </p:nvSpPr>
        <p:spPr>
          <a:xfrm>
            <a:off x="676656" y="1649723"/>
            <a:ext cx="384048" cy="332586"/>
          </a:xfrm>
          <a:prstGeom prst="hexagon">
            <a:avLst/>
          </a:prstGeom>
          <a:solidFill>
            <a:srgbClr val="3F6B4A"/>
          </a:solidFill>
          <a:ln/>
        </p:spPr>
      </p:sp>
      <p:sp>
        <p:nvSpPr>
          <p:cNvPr id="13" name="bullet"/>
          <p:cNvSpPr txBox="1"/>
          <p:nvPr/>
        </p:nvSpPr>
        <p:spPr>
          <a:xfrm>
            <a:off x="1143000" y="1389888"/>
            <a:ext cx="10408615"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Nigeria has 37.2 billion barrels of oil reserves, the tenth largest reserves of crude oil in the world, and is responsible for 2.9% of global oil production.</a:t>
            </a:r>
            <a:endParaRPr lang="en-US" sz="1800" dirty="0"/>
          </a:p>
        </p:txBody>
      </p:sp>
      <p:sp>
        <p:nvSpPr>
          <p:cNvPr id="14" name="bullet-card"/>
          <p:cNvSpPr/>
          <p:nvPr/>
        </p:nvSpPr>
        <p:spPr>
          <a:xfrm>
            <a:off x="548640" y="2388447"/>
            <a:ext cx="11094415" cy="852255"/>
          </a:xfrm>
          <a:prstGeom prst="roundRect">
            <a:avLst>
              <a:gd name="adj" fmla="val 8583"/>
            </a:avLst>
          </a:prstGeom>
          <a:solidFill>
            <a:srgbClr val="EAEFEB"/>
          </a:solidFill>
          <a:ln/>
        </p:spPr>
      </p:sp>
      <p:sp>
        <p:nvSpPr>
          <p:cNvPr id="15" name="bullet-hex"/>
          <p:cNvSpPr/>
          <p:nvPr/>
        </p:nvSpPr>
        <p:spPr>
          <a:xfrm>
            <a:off x="676656" y="2648281"/>
            <a:ext cx="384048" cy="332586"/>
          </a:xfrm>
          <a:prstGeom prst="hexagon">
            <a:avLst/>
          </a:prstGeom>
          <a:solidFill>
            <a:srgbClr val="B8862B"/>
          </a:solidFill>
          <a:ln/>
        </p:spPr>
      </p:sp>
      <p:sp>
        <p:nvSpPr>
          <p:cNvPr id="16" name="bullet"/>
          <p:cNvSpPr txBox="1"/>
          <p:nvPr/>
        </p:nvSpPr>
        <p:spPr>
          <a:xfrm>
            <a:off x="1143000" y="2388447"/>
            <a:ext cx="10408615"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transnational corporation is a company with operations, such as factories, offices, research and shops, in more than one country.</a:t>
            </a:r>
            <a:endParaRPr lang="en-US" sz="1800" dirty="0"/>
          </a:p>
        </p:txBody>
      </p:sp>
      <p:sp>
        <p:nvSpPr>
          <p:cNvPr id="17" name="bullet-card"/>
          <p:cNvSpPr/>
          <p:nvPr/>
        </p:nvSpPr>
        <p:spPr>
          <a:xfrm>
            <a:off x="548640" y="3387005"/>
            <a:ext cx="11094415" cy="1688931"/>
          </a:xfrm>
          <a:prstGeom prst="roundRect">
            <a:avLst>
              <a:gd name="adj" fmla="val 4331"/>
            </a:avLst>
          </a:prstGeom>
          <a:solidFill>
            <a:srgbClr val="EAEFEB"/>
          </a:solidFill>
          <a:ln/>
        </p:spPr>
      </p:sp>
      <p:sp>
        <p:nvSpPr>
          <p:cNvPr id="18" name="bullet-hex"/>
          <p:cNvSpPr/>
          <p:nvPr/>
        </p:nvSpPr>
        <p:spPr>
          <a:xfrm>
            <a:off x="676656" y="4065178"/>
            <a:ext cx="384048" cy="332586"/>
          </a:xfrm>
          <a:prstGeom prst="hexagon">
            <a:avLst/>
          </a:prstGeom>
          <a:solidFill>
            <a:srgbClr val="3F6B4A"/>
          </a:solidFill>
          <a:ln/>
        </p:spPr>
      </p:sp>
      <p:sp>
        <p:nvSpPr>
          <p:cNvPr id="19" name="bullet"/>
          <p:cNvSpPr txBox="1"/>
          <p:nvPr/>
        </p:nvSpPr>
        <p:spPr>
          <a:xfrm>
            <a:off x="1143000" y="3387005"/>
            <a:ext cx="10408615" cy="168893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costs are just as real. Pay may be low and working conditions poor, with little regard for health and safety or for the environment; management may not be Nigerian; much of the profit goes overseas, which geographers call leakage; oil spills cause water pollution and soil degradation, which disrupts agriculture and fishing; toxic fumes from flaring cause air pollution; installations are liable to attack from militant groups; and oil theft and sabotage cost both the government and the companies.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Oil, trade and the transnational corporations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6ECE7"/>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Shell employs 65 000 people in Nigeria's oil industry and 250 000 in industries related to it. How many jobs is that in total, and what fraction of them are in the oil industry itself?</a:t>
            </a:r>
            <a:endParaRPr lang="en-US" sz="2200" dirty="0"/>
          </a:p>
        </p:txBody>
      </p:sp>
      <p:sp>
        <p:nvSpPr>
          <p:cNvPr id="9" name="step-box"/>
          <p:cNvSpPr/>
          <p:nvPr/>
        </p:nvSpPr>
        <p:spPr>
          <a:xfrm>
            <a:off x="548640" y="2996692"/>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the two figures: 65 000 + 250 000.</a:t>
            </a:r>
            <a:endParaRPr lang="en-US" sz="1800" dirty="0"/>
          </a:p>
        </p:txBody>
      </p:sp>
      <p:sp>
        <p:nvSpPr>
          <p:cNvPr id="13" name="arrow"/>
          <p:cNvSpPr/>
          <p:nvPr/>
        </p:nvSpPr>
        <p:spPr>
          <a:xfrm>
            <a:off x="3086786" y="3986022"/>
            <a:ext cx="274320" cy="274320"/>
          </a:xfrm>
          <a:prstGeom prst="rightArrow">
            <a:avLst/>
          </a:prstGeom>
          <a:solidFill>
            <a:srgbClr val="B8862B"/>
          </a:solidFill>
          <a:ln/>
        </p:spPr>
      </p:sp>
      <p:sp>
        <p:nvSpPr>
          <p:cNvPr id="14" name="step-box"/>
          <p:cNvSpPr/>
          <p:nvPr/>
        </p:nvSpPr>
        <p:spPr>
          <a:xfrm>
            <a:off x="3425114" y="2996692"/>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3106420"/>
            <a:ext cx="530352" cy="459285"/>
          </a:xfrm>
          <a:prstGeom prst="hexagon">
            <a:avLst/>
          </a:prstGeom>
          <a:solidFill>
            <a:srgbClr val="3F6B4A"/>
          </a:solidFill>
          <a:ln/>
        </p:spPr>
      </p:sp>
      <p:sp>
        <p:nvSpPr>
          <p:cNvPr id="16" name="step-hex-label"/>
          <p:cNvSpPr txBox="1"/>
          <p:nvPr/>
        </p:nvSpPr>
        <p:spPr>
          <a:xfrm>
            <a:off x="3562274"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That gives 315 000 jobs altogether.</a:t>
            </a:r>
            <a:endParaRPr lang="en-US" sz="1800" dirty="0"/>
          </a:p>
        </p:txBody>
      </p:sp>
      <p:sp>
        <p:nvSpPr>
          <p:cNvPr id="18" name="arrow"/>
          <p:cNvSpPr/>
          <p:nvPr/>
        </p:nvSpPr>
        <p:spPr>
          <a:xfrm>
            <a:off x="5963260" y="3986022"/>
            <a:ext cx="274320" cy="274320"/>
          </a:xfrm>
          <a:prstGeom prst="rightArrow">
            <a:avLst/>
          </a:prstGeom>
          <a:solidFill>
            <a:srgbClr val="B8862B"/>
          </a:solidFill>
          <a:ln/>
        </p:spPr>
      </p:sp>
      <p:sp>
        <p:nvSpPr>
          <p:cNvPr id="19" name="step-box"/>
          <p:cNvSpPr/>
          <p:nvPr/>
        </p:nvSpPr>
        <p:spPr>
          <a:xfrm>
            <a:off x="6301588" y="2996692"/>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3106420"/>
            <a:ext cx="530352" cy="459285"/>
          </a:xfrm>
          <a:prstGeom prst="hexagon">
            <a:avLst/>
          </a:prstGeom>
          <a:solidFill>
            <a:srgbClr val="3F6B4A"/>
          </a:solidFill>
          <a:ln/>
        </p:spPr>
      </p:sp>
      <p:sp>
        <p:nvSpPr>
          <p:cNvPr id="21"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For the fraction, put the oil-industry figure over the total: 65 000 ÷ 315 000.</a:t>
            </a:r>
            <a:endParaRPr lang="en-US" sz="1800" dirty="0"/>
          </a:p>
        </p:txBody>
      </p:sp>
      <p:sp>
        <p:nvSpPr>
          <p:cNvPr id="23" name="arrow"/>
          <p:cNvSpPr/>
          <p:nvPr/>
        </p:nvSpPr>
        <p:spPr>
          <a:xfrm>
            <a:off x="8839733" y="3986022"/>
            <a:ext cx="274320" cy="274320"/>
          </a:xfrm>
          <a:prstGeom prst="rightArrow">
            <a:avLst/>
          </a:prstGeom>
          <a:solidFill>
            <a:srgbClr val="B8862B"/>
          </a:solidFill>
          <a:ln/>
        </p:spPr>
      </p:sp>
      <p:sp>
        <p:nvSpPr>
          <p:cNvPr id="24" name="step-box"/>
          <p:cNvSpPr/>
          <p:nvPr/>
        </p:nvSpPr>
        <p:spPr>
          <a:xfrm>
            <a:off x="9178061" y="2996692"/>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3106420"/>
            <a:ext cx="530352" cy="459285"/>
          </a:xfrm>
          <a:prstGeom prst="hexagon">
            <a:avLst/>
          </a:prstGeom>
          <a:solidFill>
            <a:srgbClr val="3F6B4A"/>
          </a:solidFill>
          <a:ln/>
        </p:spPr>
      </p:sp>
      <p:sp>
        <p:nvSpPr>
          <p:cNvPr id="26" name="step-hex-label"/>
          <p:cNvSpPr txBox="1"/>
          <p:nvPr/>
        </p:nvSpPr>
        <p:spPr>
          <a:xfrm>
            <a:off x="9315221"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That is about 0.21, so roughly a fifth of the jobs are in oil itself and the rest are in related industries.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315 000 jobs in total, of which about a fifth are in the oil industry itself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Aid, the environment and quality of life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the nine-mark quality-of-life question, give one paragraph of improvements with figures, one paragraph of problems with figures, and then judge. A judgement with no figures cannot reach the top level.</a:t>
            </a:r>
            <a:endParaRPr lang="en-US" sz="1800" dirty="0"/>
          </a:p>
        </p:txBody>
      </p:sp>
      <p:sp>
        <p:nvSpPr>
          <p:cNvPr id="11" name="bullet-card"/>
          <p:cNvSpPr/>
          <p:nvPr/>
        </p:nvSpPr>
        <p:spPr>
          <a:xfrm>
            <a:off x="548640" y="1389888"/>
            <a:ext cx="11094415" cy="1038183"/>
          </a:xfrm>
          <a:prstGeom prst="roundRect">
            <a:avLst>
              <a:gd name="adj" fmla="val 7046"/>
            </a:avLst>
          </a:prstGeom>
          <a:solidFill>
            <a:srgbClr val="EAEFEB"/>
          </a:solidFill>
          <a:ln/>
        </p:spPr>
      </p:sp>
      <p:sp>
        <p:nvSpPr>
          <p:cNvPr id="12" name="bullet-hex"/>
          <p:cNvSpPr/>
          <p:nvPr/>
        </p:nvSpPr>
        <p:spPr>
          <a:xfrm>
            <a:off x="676656" y="1742687"/>
            <a:ext cx="384048" cy="332586"/>
          </a:xfrm>
          <a:prstGeom prst="hexagon">
            <a:avLst/>
          </a:prstGeom>
          <a:solidFill>
            <a:srgbClr val="3F6B4A"/>
          </a:solidFill>
          <a:ln/>
        </p:spPr>
      </p:sp>
      <p:sp>
        <p:nvSpPr>
          <p:cNvPr id="13" name="bullet"/>
          <p:cNvSpPr txBox="1"/>
          <p:nvPr/>
        </p:nvSpPr>
        <p:spPr>
          <a:xfrm>
            <a:off x="1143000" y="1389888"/>
            <a:ext cx="10408615"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Nigeria receives both emergency aid, which is short-term help in the form of food, water, medical supplies and shelter, and developmental aid, which is long-term support from charities, governments and multilateral organisations aimed at improving quality of life.</a:t>
            </a:r>
            <a:endParaRPr lang="en-US" sz="1800" dirty="0"/>
          </a:p>
        </p:txBody>
      </p:sp>
      <p:sp>
        <p:nvSpPr>
          <p:cNvPr id="14" name="bullet-card"/>
          <p:cNvSpPr/>
          <p:nvPr/>
        </p:nvSpPr>
        <p:spPr>
          <a:xfrm>
            <a:off x="548640" y="2574375"/>
            <a:ext cx="11094415" cy="759291"/>
          </a:xfrm>
          <a:prstGeom prst="roundRect">
            <a:avLst>
              <a:gd name="adj" fmla="val 9634"/>
            </a:avLst>
          </a:prstGeom>
          <a:solidFill>
            <a:srgbClr val="EAEFEB"/>
          </a:solidFill>
          <a:ln/>
        </p:spPr>
      </p:sp>
      <p:sp>
        <p:nvSpPr>
          <p:cNvPr id="15" name="bullet-hex"/>
          <p:cNvSpPr/>
          <p:nvPr/>
        </p:nvSpPr>
        <p:spPr>
          <a:xfrm>
            <a:off x="676656" y="2787727"/>
            <a:ext cx="384048" cy="332586"/>
          </a:xfrm>
          <a:prstGeom prst="hexagon">
            <a:avLst/>
          </a:prstGeom>
          <a:solidFill>
            <a:srgbClr val="B8862B"/>
          </a:solidFill>
          <a:ln/>
        </p:spPr>
      </p:sp>
      <p:sp>
        <p:nvSpPr>
          <p:cNvPr id="16" name="bullet"/>
          <p:cNvSpPr txBox="1"/>
          <p:nvPr/>
        </p:nvSpPr>
        <p:spPr>
          <a:xfrm>
            <a:off x="1143000" y="2574375"/>
            <a:ext cx="10408615"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Rapid growth has damaged the environment. Many illegal small-scale industries have grown up with no pollution control: chemical waste is dumped and pollutes water, and factory chimneys pollute the air.</a:t>
            </a:r>
            <a:endParaRPr lang="en-US" sz="1800" dirty="0"/>
          </a:p>
        </p:txBody>
      </p:sp>
      <p:sp>
        <p:nvSpPr>
          <p:cNvPr id="17" name="bullet-card"/>
          <p:cNvSpPr/>
          <p:nvPr/>
        </p:nvSpPr>
        <p:spPr>
          <a:xfrm>
            <a:off x="548640" y="3479969"/>
            <a:ext cx="11094415" cy="1317075"/>
          </a:xfrm>
          <a:prstGeom prst="roundRect">
            <a:avLst>
              <a:gd name="adj" fmla="val 5554"/>
            </a:avLst>
          </a:prstGeom>
          <a:solidFill>
            <a:srgbClr val="EAEFEB"/>
          </a:solidFill>
          <a:ln/>
        </p:spPr>
      </p:sp>
      <p:sp>
        <p:nvSpPr>
          <p:cNvPr id="18" name="bullet-hex"/>
          <p:cNvSpPr/>
          <p:nvPr/>
        </p:nvSpPr>
        <p:spPr>
          <a:xfrm>
            <a:off x="676656" y="3972214"/>
            <a:ext cx="384048" cy="332586"/>
          </a:xfrm>
          <a:prstGeom prst="hexagon">
            <a:avLst/>
          </a:prstGeom>
          <a:solidFill>
            <a:srgbClr val="3F6B4A"/>
          </a:solidFill>
          <a:ln/>
        </p:spPr>
      </p:sp>
      <p:sp>
        <p:nvSpPr>
          <p:cNvPr id="19" name="bullet"/>
          <p:cNvSpPr txBox="1"/>
          <p:nvPr/>
        </p:nvSpPr>
        <p:spPr>
          <a:xfrm>
            <a:off x="1143000" y="3479969"/>
            <a:ext cx="10408615"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Spills can be prevented. Infrastructure should be maintained so that pipelines do not leak, pipelines should be protected against sabotage and other criminal behaviour, oil exploration should be prohibited in sensitive areas where a fragile ecosystem could be destroyed, and there should be strict pollution regulation with heavy fines for companies that do not take every necessary precaution.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Nigeria's political story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five stages of Nigeria's political history in the right order, earliest first.</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European powers divide Africa between themselves at a conference, drawing many borders as straight lines.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Military dictators rule, corruption is widespread and a civil war is fought that ends in 1970.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Nigeria is ruled as a colony by the United Kingdom, which takes out its resources and takes its people as slaves.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Nigeria becomes fully independent in 1960.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Stable government returns from 1999, and the elections of 2011 and 2015 are judged free and fair.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Nigeria's political story</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Nigeria's political story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of the statements carry a date. Put those in date order first: 1960, then 1970, then 1999.</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carry no date. Both are earlier than 1960, because they describe how the colony came about.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conference that drew the borders came before the rule that followed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your order through: does each stage explain the next?</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five statements carry a year. Put those three in order and the other two can only go at the start.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each stage in this sequence made the next one harder or easier, and pick the stage that did most to hold Nigeria's development back.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Nigeria sells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Mineral fuels, almost all of it crude oil, make up what share of Nigeria's exports?</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94.5%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50.8%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15.3%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2.9%</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What Nigeria sells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Nigeria sells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question again: it asks for a share of Nigeria's exports, not of world production.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figure that is a value in dollars rather than a percentage.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the figure that belongs to imports.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the figure that is Nigeria's share of world oil output. One is left.</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these four figures are real Nigerian statistics, but only one is a share of exports. Check what each number actually measures.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depending on one product for almost all export earnings is dangerous for a country, and name one thing Nigeria is doing about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part of Africa is Nigeria?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East Africa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Southern Africa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West Africa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North Africa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Nigeria's political story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European powers divide Africa between themselves at a conference, drawing many borders as straight lines.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Nigeria is ruled as a colony by the United Kingdom, which takes out its resources and takes its people as slaves.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Nigeria becomes fully independent in 1960.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Military dictators rule, corruption is widespread and a civil war is fought that ends in 1970.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Stable government returns from 1999, and the elections of 2011 and 2015 are judged free and fair.  (E)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order runs: the European carve-up of Africa in the 1880s; colonial rule by the United Kingdom; independence in 1960; dictatorship, corruption and a civil war ending in 1970; stable government from 1999, with free and fair elections in 2011 and 2015. Each stage explains the next: colonial borders left ethnic groups divided, division fed the civil war, instability kept investors away, and stability brought them back.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Nigeria sells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Mineral fuels, almost all of it crude oil, make up what share of Nigeria's exports?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94.5%</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Mineral fuels including oil earned 50.8 billion US dollars in 2015, which was 94.5% of all Nigeria's exports; cocoa, the next largest, was about 1%. The other figures in the list are real but measure different things: 15.3% is oil's share of imports and 2.9% is Nigeria's share of world oil production.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part of Africa is Nigeria?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West Africa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Nigeria is in west Africa, bordered by Niger, Chad, Cameroon and Benin, with its southern coast on the Gulf of Guinea.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Changing Economic World · Chapter 5: Nigeria: a newly emerging economy</dc:title>
  <dc:subject>Geography · Year 10</dc:subject>
  <dc:creator>Dr Vitor Merissi de Carvalho</dc:creator>
  <cp:lastModifiedBy>Dr Vitor Merissi de Carvalho</cp:lastModifiedBy>
  <cp:revision>1</cp:revision>
  <dcterms:created xsi:type="dcterms:W3CDTF">2026-10-19T16:22:48Z</dcterms:created>
  <dcterms:modified xsi:type="dcterms:W3CDTF">2026-10-19T16:22:48Z</dcterms:modified>
</cp:coreProperties>
</file>