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dc19006-dd51-ab06-5c8b-2ff9b08cf898}">
          <p14:sldIdLst>
            <p14:sldId id="256"/>
          </p14:sldIdLst>
        </p14:section>
        <p14:section name="Gate" id="{ce0914ec-7d25-bb09-91d3-34ace7878d01}">
          <p14:sldIdLst>
            <p14:sldId id="257"/>
            <p14:sldId id="258"/>
          </p14:sldIdLst>
        </p14:section>
        <p14:section name="Pre-teach" id="{7e844d7b-bdb1-6825-e65a-8ac193c6b457}">
          <p14:sldIdLst>
            <p14:sldId id="259"/>
            <p14:sldId id="260"/>
          </p14:sldIdLst>
        </p14:section>
        <p14:section name="Read-along" id="{d69c878f-e1ff-defd-481b-ccab7c9c15bc}">
          <p14:sldIdLst>
            <p14:sldId id="261"/>
            <p14:sldId id="262"/>
          </p14:sldIdLst>
        </p14:section>
        <p14:section name="Teach" id="{96253827-f676-b9ba-9ffa-91aafacfcbe5}">
          <p14:sldIdLst>
            <p14:sldId id="263"/>
            <p14:sldId id="264"/>
            <p14:sldId id="265"/>
            <p14:sldId id="266"/>
            <p14:sldId id="267"/>
          </p14:sldIdLst>
        </p14:section>
        <p14:section name="Routes" id="{9d654464-9775-f8bc-fc81-5f194fdd5afb}">
          <p14:sldIdLst>
            <p14:sldId id="268"/>
            <p14:sldId id="269"/>
            <p14:sldId id="270"/>
            <p14:sldId id="271"/>
          </p14:sldIdLst>
        </p14:section>
        <p14:section name="Close" id="{76d8d8bf-dbbd-4734-1d02-e469c65e1467}">
          <p14:sldIdLst>
            <p14:sldId id="272"/>
          </p14:sldIdLst>
        </p14:section>
        <p14:section name="Answers" id="{358a2693-ddd4-19a2-9697-7fe4098f57d0}">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changing UK economy. How the United Kingdom's economy was transformed: the four employment sectors and how their shares changed, why factory work fell away, what a post-industrial economy looks like, Torr Quarry and sustainable industry, rural change, transport, the north-south divide and the UK's place in the world.
This deck covers the department's lessons: 20 (The changing UK economy: employment structure: What are the four employment sectors, and how has the UK's employment structure changed from 1800 to 2015?); 21 (Why the UK economy has changed: How have deindustrialisation, globalisation and government policies changed the UK economy?); 22 (A post-industrial economy: services, business and science parks: What is a post-industrial economy, which services does the UK sell abroad, and where do service companies locate?); 23 (Industry and the environment: Torr Quarry: What impacts does a quarry have on the physical environment, and how is Torr Quarry made more sustainable?); 24 (Social and economic change in rural Britain: What are the social and economic impacts of population growth in South Cambridgeshire and population decline in the Outer Hebrides?); 25 (Changing transport infrastructure: roads, rail, ports and airports: How are the UK's roads, railways, ports and airports being improved, and why does this matter for the economy?); 26 (The north-south divide: What is the evidence for a north-south divide in the UK, why does it exist, and how are enterprise zones, HS2 and LEPs meant to reduce it?); 27 (The UK in the wider world: How is the UK linked to the rest of the world through trade, culture, transport, electronic communications, the EU and the Commonwealth?).
Read the big question aloud: "Why is the world's wealth so unevenly shared, and what can countries such as Nigeria and the UK do about the gaps between them and within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employment sector covers research, software development and the media?  →  C   Quaternary
2. In the table of regional unemployment, the highest figure is 7.7% in Scotland and the lowest is 2.1% in Northern Ireland. What is the range?  →  5.6 percentage points
3. Selling off state-run industries such as British Rail to private companies is called ___.  →  privatisation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Quaternary. The quaternary sector is the knowledge sector: hi-tech industry, research, information technology and the media. It is the newest of the four.
2. 5.6 percentage points. Range means highest minus lowest: 7.7 − 2.1 = 5.6 percentage points.
3. privatisation. Privatisation was the policy from 1979 to 2010: state industries were sold to create a more competitive business environment, which closed many older industries but brought new private investment.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employment structure: the share of a country's workers in each kind of job. Example: "A pie chart is a good way to show employment structure."
• deindustrialisation: the decline of factory work in a country. Example: "Deindustrialisation closed mines and factories across the north."
• globalisation: ideas, money, goods and people spreading around the world. Example: "Globalisation made it cheap to have goods made far away."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privatisation: selling a state-run industry to private companies. Example: "Privatisation sold the state-run railways to private companies."
• post-industrial economy: an economy that lives on services, information and research. Example: "The United Kingdom now has a post-industrial economy."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Jobs are grouped into four sectors.
2. Primary jobs take raw materials from the land or the sea.
3. Secondary jobs make things in factories.
4. Tertiary jobs provide services, such as nursing or shop work.
5. Quaternary jobs are research, software and the media.
6. In 1800 most people in Britain worked in primary and secondary jobs.
7. By 2015 only two in every hundred worked in primary jobs.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Seventy-eight in every hundred worked in tertiary jobs.
9. Factory work fell away. This is called deindustrialisation.
10. Goods could be made more cheaply in other countries.
11. The United Kingdom now sells services, research and ideas instead.
12. Wages and house prices are higher in the south than the north.
13. That difference is called the north-south divide.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sectors, and how the UK's structure changed. Say it in your own words, then check understanding with a quick question: ask a pupil from the pre-teach group first, since they met these words and ideas before the lesson. Pupils try to recall before you re-explain.
Every job belongs to one of four sectors. The primary sector takes raw materials from the land or the sea: farming, fishing, mining and quarrying. The secondary sector makes things by processing those raw materials: manufacturing. The tertiary sector provides services, such as healthcare, offices, financial services and retailing. The quaternary sector is the newest: research, information technology, hi-tech industry and the media. Put together, the shares of a country's workers in each sector make up its employment structure, which is usually shown as a pie chart.
The United Kingdom's structure in 2015 was primary 2%, secondary 8%, tertiary 78% and quaternary 12%. Compare that with 1800, when most people worked in the primary and secondary sectors: farming employed huge numbers and the new factories of the industrial revolution employed huge numbers more. Through the nineteenth and twentieth centuries the primary share collapsed as machines replaced farm and mine labour, the secondary share rose and then fell away, and the tertiary share grew until it dominated everything. The quaternary sector barely existed in 1800 and now employs more people than the primary and secondary sectors put together.
That is not a story about Britain working less hard. It is a story about what the work is. A country whose workers are mostly in services, research and information has to have an educated workforce, reliable communications and businesses willing to buy expertise rather than goods. Each of those conditions is itself the result of earlier development, which is why employment structure is such a good indicator of how developed a country is.
Worked example — model it step by step, thinking aloud: The UK's employment structure in 2015 was primary 2%, secondary 8%, tertiary 78% and quaternary 12%. What angle should the tertiary slice have on a pie chart? (1) Check the percentages add up to 100: 2 + 8 + 78 + 12 = 100. (2) A whole pie chart is 360 degrees, so each 1% is 3.6 degrees. (3) Multiply: 78 × 3.6. (4) That gives 280.8, so the tertiary slice is 280.8 degrees, well over three quarters of the circle. Answer: 280.8 degrees.
Tip: Each 1% is 3.6 degrees on a pie chart. Check your four angles add to 360 before you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sectors, and how the UK's structure changed. Say it in your own words, then check understanding with a quick question: ask a pupil from the pre-teach group first, since they met these words and ideas before the lesson. Pupils try to recall before you re-explain.
Every job belongs to one of four sectors. The primary sector takes raw materials from the land or the sea: farming, fishing, mining and quarrying. The secondary sector makes things by processing those raw materials: manufacturing. The tertiary sector provides services, such as healthcare, offices, financial services and retailing. The quaternary sector is the newest: research, information technology, hi-tech industry and the media. Put together, the shares of a country's workers in each sector make up its employment structure, which is usually shown as a pie chart.
The United Kingdom's structure in 2015 was primary 2%, secondary 8%, tertiary 78% and quaternary 12%. Compare that with 1800, when most people worked in the primary and secondary sectors: farming employed huge numbers and the new factories of the industrial revolution employed huge numbers more. Through the nineteenth and twentieth centuries the primary share collapsed as machines replaced farm and mine labour, the secondary share rose and then fell away, and the tertiary share grew until it dominated everything. The quaternary sector barely existed in 1800 and now employs more people than the primary and secondary sectors put together.
That is not a story about Britain working less hard. It is a story about what the work is. A country whose workers are mostly in services, research and information has to have an educated workforce, reliable communications and businesses willing to buy expertise rather than goods. Each of those conditions is itself the result of earlier development, which is why employment structure is such a good indicator of how developed a country is.
Worked example — model it step by step, thinking aloud: The UK's employment structure in 2015 was primary 2%, secondary 8%, tertiary 78% and quaternary 12%. What angle should the tertiary slice have on a pie chart? (1) Check the percentages add up to 100: 2 + 8 + 78 + 12 = 100. (2) A whole pie chart is 360 degrees, so each 1% is 3.6 degrees. (3) Multiply: 78 × 3.6. (4) That gives 280.8, so the tertiary slice is 280.8 degrees, well over three quarters of the circle. Answer: 280.8 degrees.
Tip: Each 1% is 3.6 degrees on a pie chart. Check your four angles add to 360 before you draw.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economy changed. Say it in your own words, then check understanding with a quick question: ask a pupil from the pre-teach group first, since they met these words and ideas before the lesson. Pupils try to recall before you re-explain.
Three causes, and you need all three. The first is deindustrialisation and the decline of traditional industries. Deindustrialisation is the decline in manufacturing, the secondary sector, and the growth in tertiary and quaternary employment that followed it. In the United Kingdom it happened because machines and technology replaced many people in modern industries such as car production; because other countries, including China, Malaysia and Indonesia, can make cheaper goods where labour costs less; and because a lack of investment, high labour costs and outdated machinery made British products too expensive. Traditional industries such as coal mining, engineering and manufacturing have declined, and instead the United Kingdom has become a world centre for financial services, media, research and the creative industries.
The second cause is globalisation, the growth and spread of ideas around the world, which can also involve the movement of cultures, people, money, goods and information. The internet and mobile technology allow far greater communication between countries. Larger ships have cut the cost of moving goods between them, and transport improvements mean goods and people travel more quickly. Economies of scale mean the cost of each item falls when you make more of them. Organisations such as the World Trade Organisation promote free trade and help remove barriers between countries. And countries such as India combine labour costs of about a third of the United Kingdom's with high skill levels, so labour-intensive industries such as clothing move there to take advantage of cheaper labour and fewer legal restrictions.
The third cause is government policy, in three eras. From 1945 to 1979 the government created and ran state industries such as the National Coal Board and British Rail, and used public money to support declining industries; old equipment, outdated working practices and too many employees made them unprofitable, and the 1970s brought strikes, social unrest, factory closures and power cuts. From 1979 to 2010 those state-run industries were sold off to create a more competitive business environment, which is called privatisation; many older industries closed and many jobs were lost, but new private companies brought innovation, and derelict industrial areas were transformed into financial centres with offices and modern retail outlets. From 2010 the aim has been to rebalance the economy: to rebuild manufacturing and rely less on services, especially financial services, through improvements to transport infrastructure such as Crossrail and HS2, more investment in manufacturing, easier access to loans and finance for small businesses, and encouragement for global firms to locate in the United Kingdom.
Tip: A six-mark question on deindustrialisation wants causes and impacts. Impacts include lost skills as older workers retire, well-paid skilled jobs replaced by lower-paid work, and derelict buildings left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post-industrial economy, and industry in the landscape. Say it in your own words, then check understanding with a quick question: ask a pupil from the pre-teach group first, since they met these words and ideas before the lesson. Pupils try to recall before you re-explain.
A post-industrial economy is a period of growth in an industrialised nation in which the importance of manufacturing falls while services, information and research grow. Its characteristics are a declining manufacturing sector, because of competition from abroad and cheap labour in newly emerging economies and low income countries such as China, Brazil and Bangladesh, where working conditions and environmental laws are relaxed to attract foreign investment; a large services sector, made possible by the internet and digital data sharing, which in the United Kingdom covers scientific research and development, information technology support and banking and financial services; and a growing amount of information technology, leading to an information age in which knowledge and creativity are the core skills, which the United Kingdom can supply because its workforce is highly skilled and educated. Services are now close to 80% of the whole United Kingdom economy.
Where do service companies work from? Many of them locate in business parks: large areas of office space to rent, usually found on the outskirts of major cities such as London, Edinburgh and Manchester, in what geographers call the urban-rural fringe, where land is cheaper. New business parks are opening nationwide to house the growth of the service industry, and they deliberately put many companies close together so that ideas and information can be shared, which is crucial to how those companies succeed. A science park is a related idea: a collection of scientific and technical knowledge-based businesses on a single site, often beside a university.
Industry still touches the physical environment, and Torr Quarry is the case study. It is a limestone quarry in the Mendip Hills, owned by Aggregate Industries, producing 7.5 million tonnes a year. It covers 205 hectares, employs 250 people, generates £15 million a year for the local economy, and moves its limestone out by rail. Large-scale extraction brings serious impacts: air and water pollution as waste products spill into nearby water sources; waste taken to landfill, where it contaminates land and soil; noise and air pollution from the heavy vehicles that carry raw materials in and out; a scarred landscape, with deforestation as soil is stripped to reach the rock beneath and habitats lost as a result; and an eyesore for local people whose view and peace are disturbed. Torr Quarry answers these in five ways: 60 acres of the site have been landscaped to blend into the surroundings, with grass, trees and wildlife lakes for recreation; characteristic limestone features are being created to mimic the natural scenery; limestone travels by rail on the Mendip Rail network rather than by road; strict environmental targets have been set, with regular monitoring of noise, vibration, dust emissions and water quality; and in 2010 a planning decision was taken to deepen the quarry rather than widen it. Across the United Kingdom the same ideas appear as backfilling a worked-out quarry to create a more natural landscape, siting quarries away from large settlements to limit noise and air pollution, planting trees around the edges as a screen so the quarry is not an eyesore, heavy fines for contaminating groundwater or rivers, and assessing a site for ecological importance before planning permission is given, so that habitats and threatened species are preserved.
Tip: For the Torr Quarry answer, pair each action with the kind of sustainability it serves: landscaping is environmental and social, rail transport is environmental, deepening rather than widening is environmental and economic.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Rural change, transport and the north-south divide. Say it in your own words, then check understanding with a quick question: ask a pupil from the pre-teach group first, since they met these words and ideas before the lesson. Pupils try to recall before you re-explain.
Migration is the driving force behind population growth and decline in the countryside, and the course compares two places: South Cambridgeshire, which is growing, and the Outer Hebrides, which is declining. South Cambridgeshire is close to a prosperous city with good connections, so people move in and commute. The social and economic impacts of that growth include a lack of affordable housing for first-time buyers because demand is so high; council tax rising as demand on public services increases; and more car owners on the road, which increases traffic and, oddly, reduces the demand for bus routes and services, so the people without cars are worse off. The Outer Hebrides are remote islands a long way from work and services, so young people leave. Draw the impacts of each as a Venn diagram, with social on one side, economic on the other, and the impacts that are both in the overlap: lost housing affordability is both, because it is about money and about where a family can live.
Transport is being improved to support the economy. The course asks you to know what a smart motorway is and why several motorways are being upgraded to become smart; the planned improvements to the A303 and the reasons for them; the plans for high-speed rail, HS2, and whether high-speed rail matters for the United Kingdom; how road and rail improvements boost the national and local economy; why the United Kingdom's port industry is the largest in Europe, and what the Liverpool2 development at Liverpool will bring to its region; the pattern of United Kingdom air transport routes; and the recommendation of a third runway at Heathrow. Crossrail, the new railway built under London from east to west, is the other named project, and the argument for it is that it cuts travel times and congestion by getting more people onto public transport.
The north-south divide is the economic and cultural difference between southern England and the rest of the United Kingdom. A newspaper headline in 2008 said it was the widest for 60 years. The reasons are that economic investment and jobs are concentrated in London and the places near it; that London is a global city and a financial services centre, well connected to the European continent by rail, road and airport links, so southern England has higher wages, higher house prices and generally better quality-of-life indicators; and that deindustrialisation in the northern towns and cities in the 1970s and 1980s left unemployment and weaker economic growth behind. The evidence the course gives is a table of the percentage of people unemployed by region: Scotland 7.7%, Wales 3.4%, Northern Ireland 2.1%, north-west England 6.9%, south-east England 4.4%, south-west England 4.9% and the East Midlands 5.5%. Three initiatives are meant to narrow the gap: enterprise zones, which attract businesses to chosen areas; HS2, which is intended to encourage investment and jobs in the north; and Local Enterprise Partnerships, voluntary partnerships between local authorities and businesses that identify what local businesses need and encourage companies to invest. Beyond its own borders the United Kingdom is tied to the world by trade, with Ireland, the United States and China among its most important partners; by culture, with television programmes as a major export; by transport links; by the submarine cables that carry its electronic communications; and by its membership of political groupings, including its relationship with the European Union and the Commonwealth.
Tip: When you use the unemployment table, read what it actually says: it supports the divide for Scotland and the north-west but not for Wales and Northern Ireland. Saying so is a Level 3 move, not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phases of the UK economy.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phases of the United Kingdom's economy in order, earliest first.
Support — work through the steps with the group: (1) Three of the four statements carry dates. Put those three in date order. (2) The statement with no date describes the time before the government took the industries over, so it goes first. (3) Remember the pattern: the state takes industries on, then sells them off, then tries to rebuild. (4) Read your order through and check the dates run forwards.
Parallel worked example for Support (model it, do not give the task answer): Put these three stages of a coal mine's life in order: the pithead buildings are cleared for houses; the mine closes after privatisation; the mine employs 900 men. The mine has to be working before it can close.; Clearance comes after closure.. Answer: The mine employs 900 men; the mine closes after privatisation; the pithead buildings are cleared for houses..
Core — reveal the hint only on request: The state takes industries on, sells them off, then tries to rebuild manufacturing. Three dates and one undated statement that must come first.
Stretch — no help; when finished: Explain why the policy of each phase was a reaction to the problems of the phase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phases of the UK economy.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four phases of the United Kingdom's economy in order, earliest first.
Support — work through the steps with the group: (1) Three of the four statements carry dates. Put those three in date order. (2) The statement with no date describes the time before the government took the industries over, so it goes first. (3) Remember the pattern: the state takes industries on, then sells them off, then tries to rebuild. (4) Read your order through and check the dates run forwards.
Parallel worked example for Support (model it, do not give the task answer): Put these three stages of a coal mine's life in order: the pithead buildings are cleared for houses; the mine closes after privatisation; the mine employs 900 men. The mine has to be working before it can close.; Clearance comes after closure.. Answer: The mine employs 900 men; the mine closes after privatisation; the pithead buildings are cleared for houses..
Core — reveal the hint only on request: The state takes industries on, sells them off, then tries to rebuild manufacturing. Three dates and one undated statement that must come first.
Stretch — no help; when finished: Explain why the policy of each phase was a reaction to the problems of the phase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Mean unemployment in England.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four English regions in the table have unemployment of 6.9%, 4.4%, 4.9% and 5.5%. What is the mean unemployment rate for England in that table?
Support — work through the steps with the group: (1) A mean is the total divided by how many values there are. (2) Add the four: 6.9 + 4.4 + 4.9 + 5.5 = 21.7. (3) Count the values: there are four English regions in the table. (4) Divide: 21.7 ÷ 4 = 5.425.
Parallel worked example for Support (model it, do not give the task answer): Three regions have unemployment of 5.0%, 6.0% and 7.0%. What is the mean? Add them: 5 + 6 + 7 = 18.; Divide by 3: 18 ÷ 3 = 6.. Answer: 6 per cent.
Core — reveal the hint only on request: Add all four, then divide by four. Do not include Scotland, Wales or Northern Ireland: the question says England only.
Stretch — no help; when finished: The mean for England is lower than Scotland's figure but higher than Wales's. Explain why a mean can hide the very inequality the north-south divide is about, and suggest a better statistic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Mean unemployment in England.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four English regions in the table have unemployment of 6.9%, 4.4%, 4.9% and 5.5%. What is the mean unemployment rate for England in that table?
Support — work through the steps with the group: (1) A mean is the total divided by how many values there are. (2) Add the four: 6.9 + 4.4 + 4.9 + 5.5 = 21.7. (3) Count the values: there are four English regions in the table. (4) Divide: 21.7 ÷ 4 = 5.425.
Parallel worked example for Support (model it, do not give the task answer): Three regions have unemployment of 5.0%, 6.0% and 7.0%. What is the mean? Add them: 5 + 6 + 7 = 18.; Divide by 3: 18 ÷ 3 = 6.. Answer: 6 per cent.
Core — reveal the hint only on request: Add all four, then divide by four. Do not include Scotland, Wales or Northern Ireland: the question says England only.
Stretch — no help; when finished: The mean for England is lower than Scotland's figure but higher than Wales's. Explain why a mean can hide the very inequality the north-south divide is about, and suggest a better statistic to use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employment sector covers research, software development and the media?
Answer: B   Quaternary. The quaternary sector is the knowledge sector: hi-tech industry, research, information technology and the media. It is the newest of the four.
Source of this question: gate item 1 re-asked (options rotated) — this chapter has no third quick-check module.
The ebook also holds task 3, "Can a railway close the gap?",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phases of the UK economy. Reveal the answer; pupils mark their own work in a different colour, then read the "why" together. Same destination for every lane, so one answer serves the whole class.
Answer: Traditional industries such as coal mining, engineering and manufacturing employ most of the country's workers.  (D); Between 1945 and 1979 the government runs industries such as the National Coal Board and British Rail and props them up with public money.  (B); Between 1979 and 2010 those state-run industries are privatised, many of them close, and derelict industrial sites become offices and shops.  (A); From 2010 the government tries to rebalance the economy by rebuilding manufacturing and improving transport.  (C)
Why: The order is traditional industries; state-run industries supported by public money from 1945 to 1979; privatisation from 1979 to 2010, with closures and the reuse of derelict sites; and rebalancing from 2010 onwards. Each policy answered the one before: nationalisation protected failing industries, privatisation exposed them to competition, and rebalancing tries to rebuild the manufacturing those closures removed.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phases of the UK economy. Reveal the answer; pupils mark their own work in a different colour, then read the "why" together. Same destination for every lane, so one answer serves the whole class.
Answer: Traditional industries such as coal mining, engineering and manufacturing employ most of the country's workers.  (D); Between 1945 and 1979 the government runs industries such as the National Coal Board and British Rail and props them up with public money.  (B); Between 1979 and 2010 those state-run industries are privatised, many of them close, and derelict industrial sites become offices and shops.  (A); From 2010 the government tries to rebalance the economy by rebuilding manufacturing and improving transport.  (C)
Why: The order is traditional industries; state-run industries supported by public money from 1945 to 1979; privatisation from 1979 to 2010, with closures and the reuse of derelict sites; and rebalancing from 2010 onwards. Each policy answered the one before: nationalisation protected failing industries, privatisation exposed them to competition, and rebalancing tries to rebuild the manufacturing those closures removed.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Mean unemployment in England. Reveal the answer; pupils mark their own work in a different colour, then read the "why" together. Same destination for every lane, so one answer serves the whole class.
Answer: 5.425 per cent
Why: 6.9 + 4.4 + 4.9 + 5.5 = 21.7, and 21.7 ÷ 4 = 5.425 per cent. The commonest errors are forgetting to divide and dividing by 7 instead of 4, because the table lists seven regions but only four of them are in England.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Quaternary
Why: The quaternary sector is the knowledge sector: hi-tech industry, research, information technology and the media. It is the newest of the four.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The Changing Economic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524225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Changing Economic World · AQA 8035</a:t>
            </a:r>
            <a:endParaRPr lang="en-US" sz="1800" dirty="0"/>
          </a:p>
        </p:txBody>
      </p:sp>
      <p:sp>
        <p:nvSpPr>
          <p:cNvPr id="10" name="deck-title"/>
          <p:cNvSpPr txBox="1"/>
          <p:nvPr/>
        </p:nvSpPr>
        <p:spPr>
          <a:xfrm>
            <a:off x="548640" y="1644904"/>
            <a:ext cx="702533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changing UK economy</a:t>
            </a:r>
            <a:endParaRPr lang="en-US" sz="4000" dirty="0"/>
          </a:p>
        </p:txBody>
      </p:sp>
      <p:sp>
        <p:nvSpPr>
          <p:cNvPr id="11" name="lessons-card"/>
          <p:cNvSpPr/>
          <p:nvPr/>
        </p:nvSpPr>
        <p:spPr>
          <a:xfrm>
            <a:off x="548640" y="2660904"/>
            <a:ext cx="7025335" cy="3137408"/>
          </a:xfrm>
          <a:prstGeom prst="roundRect">
            <a:avLst>
              <a:gd name="adj" fmla="val 2332"/>
            </a:avLst>
          </a:prstGeom>
          <a:solidFill>
            <a:srgbClr val="E6ECE7"/>
          </a:solidFill>
          <a:ln/>
        </p:spPr>
      </p:sp>
      <p:sp>
        <p:nvSpPr>
          <p:cNvPr id="12" name="lessons"/>
          <p:cNvSpPr txBox="1"/>
          <p:nvPr/>
        </p:nvSpPr>
        <p:spPr>
          <a:xfrm>
            <a:off x="685800" y="2752344"/>
            <a:ext cx="6751015" cy="2954528"/>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20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The changing UK economy: employment structure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21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Why the UK economy has changed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A post-industrial economy: services, business and science parks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Industry and the environment: Torr Quarry</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Social and economic change in rural Britain</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Changing transport infrastructure: roads, rail, ports and airports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The north-south divide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27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The UK in the wider world</a:t>
            </a:r>
            <a:endParaRPr lang="en-US" sz="1800" dirty="0"/>
          </a:p>
        </p:txBody>
      </p:sp>
      <p:sp>
        <p:nvSpPr>
          <p:cNvPr id="13" name="plate-frame"/>
          <p:cNvSpPr/>
          <p:nvPr/>
        </p:nvSpPr>
        <p:spPr>
          <a:xfrm>
            <a:off x="7985455" y="411480"/>
            <a:ext cx="3657600" cy="2153412"/>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8095183" y="521208"/>
            <a:ext cx="3438144" cy="1933956"/>
          </a:xfrm>
          <a:prstGeom prst="rect">
            <a:avLst/>
          </a:prstGeom>
        </p:spPr>
      </p:pic>
      <p:sp>
        <p:nvSpPr>
          <p:cNvPr id="15" name="plate-inner"/>
          <p:cNvSpPr/>
          <p:nvPr/>
        </p:nvSpPr>
        <p:spPr>
          <a:xfrm>
            <a:off x="8095183" y="521208"/>
            <a:ext cx="3438144" cy="1933956"/>
          </a:xfrm>
          <a:prstGeom prst="rect">
            <a:avLst/>
          </a:prstGeom>
          <a:ln w="9525">
            <a:solidFill>
              <a:srgbClr val="B8862B"/>
            </a:solidFill>
            <a:prstDash val="solid"/>
          </a:ln>
        </p:spPr>
      </p:sp>
      <p:sp>
        <p:nvSpPr>
          <p:cNvPr id="16" name="stud0"/>
          <p:cNvSpPr/>
          <p:nvPr/>
        </p:nvSpPr>
        <p:spPr>
          <a:xfrm>
            <a:off x="787572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7875727" y="2469868"/>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2469868"/>
            <a:ext cx="219456" cy="190049"/>
          </a:xfrm>
          <a:prstGeom prst="hexagon">
            <a:avLst/>
          </a:prstGeom>
          <a:solidFill>
            <a:srgbClr val="B8862B"/>
          </a:solidFill>
          <a:ln w="12700">
            <a:solidFill>
              <a:srgbClr val="FFFFFF"/>
            </a:solidFill>
            <a:prstDash val="solid"/>
          </a:ln>
        </p:spPr>
      </p:sp>
      <p:sp>
        <p:nvSpPr>
          <p:cNvPr id="20" name="bq-card"/>
          <p:cNvSpPr/>
          <p:nvPr/>
        </p:nvSpPr>
        <p:spPr>
          <a:xfrm>
            <a:off x="7985455" y="2839212"/>
            <a:ext cx="3657600" cy="3031236"/>
          </a:xfrm>
          <a:prstGeom prst="roundRect">
            <a:avLst>
              <a:gd name="adj" fmla="val 2413"/>
            </a:avLst>
          </a:prstGeom>
          <a:solidFill>
            <a:srgbClr val="E6ECE7"/>
          </a:solidFill>
          <a:ln w="12700">
            <a:solidFill>
              <a:srgbClr val="ACBFB1"/>
            </a:solidFill>
            <a:prstDash val="solid"/>
          </a:ln>
        </p:spPr>
      </p:sp>
      <p:sp>
        <p:nvSpPr>
          <p:cNvPr id="21" name="bq-hex"/>
          <p:cNvSpPr/>
          <p:nvPr/>
        </p:nvSpPr>
        <p:spPr>
          <a:xfrm>
            <a:off x="8150047" y="3022092"/>
            <a:ext cx="621792" cy="538472"/>
          </a:xfrm>
          <a:prstGeom prst="hexagon">
            <a:avLst/>
          </a:prstGeom>
          <a:solidFill>
            <a:srgbClr val="B8862B"/>
          </a:solidFill>
          <a:ln/>
        </p:spPr>
      </p:sp>
      <p:sp>
        <p:nvSpPr>
          <p:cNvPr id="22" name="bq-hex-label"/>
          <p:cNvSpPr txBox="1"/>
          <p:nvPr/>
        </p:nvSpPr>
        <p:spPr>
          <a:xfrm>
            <a:off x="8150047" y="3022092"/>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8881567" y="2930652"/>
            <a:ext cx="2651760" cy="2848356"/>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Why is the world's wealth so unevenly shared, and what can countries such as Nigeria and the UK do about the gaps between them and within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employment sector covers research, software development and the media?</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Tertiary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Primary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Quaternary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Secondary</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the table of regional unemployment, the highest figure is 7.7% in Scotland and the lowest is 2.1% in Northern Ireland. What is the range?</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percentage points</a:t>
            </a:r>
            <a:endParaRPr lang="en-US" sz="22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Selling off state-run industries such as British Rail to private companies is called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privatisation  ·  globalisation  ·  deindustrialisation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Quaternary</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employment sector covers research, software development and the media?</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quaternary sector is the knowledge sector: hi-tech industry, research, information technology and the media. It is the newest of the four.</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5.6 percentage points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the table of regional unemployment, the highest figure is 7.7% in Scotland and the lowest is 2.1% in Northern Ireland. What is the range?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Range means highest minus lowest: 7.7 − 2.1 = 5.6 percentage points.</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privatisation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Privatisation was the policy from 1979 to 2010: state industries were sold to create a more competitive business environment, which closed many older industries but brought new private investment.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employment structure</a:t>
            </a:r>
            <a:endParaRPr lang="en-US" sz="2600" dirty="0"/>
          </a:p>
        </p:txBody>
      </p:sp>
      <p:sp>
        <p:nvSpPr>
          <p:cNvPr id="11" name="word-rule"/>
          <p:cNvSpPr/>
          <p:nvPr/>
        </p:nvSpPr>
        <p:spPr>
          <a:xfrm>
            <a:off x="731520" y="2558288"/>
            <a:ext cx="3149498" cy="0"/>
          </a:xfrm>
          <a:prstGeom prst="line">
            <a:avLst/>
          </a:prstGeom>
          <a:ln w="12700">
            <a:solidFill>
              <a:srgbClr val="ACBFB1"/>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share of a country's workers in each kind of job</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pie chart is a good way to show employment structure.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deindustrialisation</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decline of factory work in a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Deindustrialisation closed mines and factories across the north.</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globalisation</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ideas, money, goods and people spreading around the world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Globalisation made it cheap to have goods made far away.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privatisation</a:t>
            </a:r>
            <a:endParaRPr lang="en-US" sz="2600" dirty="0"/>
          </a:p>
        </p:txBody>
      </p:sp>
      <p:sp>
        <p:nvSpPr>
          <p:cNvPr id="11" name="word-rule"/>
          <p:cNvSpPr/>
          <p:nvPr/>
        </p:nvSpPr>
        <p:spPr>
          <a:xfrm>
            <a:off x="731520" y="2129028"/>
            <a:ext cx="5044288" cy="0"/>
          </a:xfrm>
          <a:prstGeom prst="line">
            <a:avLst/>
          </a:prstGeom>
          <a:ln w="12700">
            <a:solidFill>
              <a:srgbClr val="ACBFB1"/>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selling a state-run industry to private companies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Privatisation sold the state-run railways to private companies.</a:t>
            </a:r>
            <a:endParaRPr lang="en-US" sz="2200" dirty="0"/>
          </a:p>
        </p:txBody>
      </p:sp>
      <p:sp>
        <p:nvSpPr>
          <p:cNvPr id="13" name="word-card"/>
          <p:cNvSpPr/>
          <p:nvPr/>
        </p:nvSpPr>
        <p:spPr>
          <a:xfrm>
            <a:off x="6233008" y="1389888"/>
            <a:ext cx="5410048" cy="4754880"/>
          </a:xfrm>
          <a:prstGeom prst="roundRect">
            <a:avLst>
              <a:gd name="adj" fmla="val 1154"/>
            </a:avLst>
          </a:prstGeom>
          <a:solidFill>
            <a:srgbClr val="EAEFEB"/>
          </a:solidFill>
          <a:ln w="12700">
            <a:solidFill>
              <a:srgbClr val="ACBFB1"/>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post-industrial economy</a:t>
            </a:r>
            <a:endParaRPr lang="en-US" sz="2600" dirty="0"/>
          </a:p>
        </p:txBody>
      </p:sp>
      <p:sp>
        <p:nvSpPr>
          <p:cNvPr id="17" name="word-rule"/>
          <p:cNvSpPr/>
          <p:nvPr/>
        </p:nvSpPr>
        <p:spPr>
          <a:xfrm>
            <a:off x="6415888" y="2129028"/>
            <a:ext cx="5044288" cy="0"/>
          </a:xfrm>
          <a:prstGeom prst="line">
            <a:avLst/>
          </a:prstGeom>
          <a:ln w="12700">
            <a:solidFill>
              <a:srgbClr val="ACBFB1"/>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economy that lives on services, information and research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United Kingdom now has a post-industrial economy.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Jobs are grouped into four sectors.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Primary jobs take raw materials from the land or the sea.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Secondary jobs make things in factories.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Tertiary jobs provide services, such as nursing or shop work.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Quaternary jobs are research, software and the media.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1800 most people in Britain worked in primary and secondary jobs.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2015 only two in every hundred worked in primary jobs.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Seventy-eight in every hundred worked in tertiary jobs.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Factory work fell away. This is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deindustrialisation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Goods could be made more cheaply in other countries.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United Kingdom now sells services, research and ideas instead.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Wages and house prices are higher in the south than the north.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difference is called the north-south divide.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Four sectors, and how the UK's structure changed</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Each 1% is 3.6 degrees on a pie chart. Check your four angles add to 360 before you draw.</a:t>
            </a:r>
            <a:endParaRPr lang="en-US" sz="1800" dirty="0"/>
          </a:p>
        </p:txBody>
      </p:sp>
      <p:sp>
        <p:nvSpPr>
          <p:cNvPr id="11" name="point-card"/>
          <p:cNvSpPr/>
          <p:nvPr/>
        </p:nvSpPr>
        <p:spPr>
          <a:xfrm>
            <a:off x="548640" y="1389888"/>
            <a:ext cx="3515258" cy="3964940"/>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job belongs to one of four sectors. The primary sector takes raw materials from the land or the sea: farming, fishing, mining and quarrying.</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United Kingdom's structure in 2015 was primary 2%, secondary 8%, tertiary 78% and quaternary 12%.</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not a story about Britain working less hard.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Four sectors, and how the UK's structure changed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UK's employment structure in 2015 was primary 2%, secondary 8%, tertiary 78% and quaternary 12%. What angle should the tertiary slice have on a pie chart?</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the percentages add up to 100: 2 + 8 + 78 + 12 = 100.</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whole pie chart is 360 degrees, so each 1% is 3.6 degrees.</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78 × 3.6.</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That gives 280.8, so the tertiary slice is 280.8 degrees, well over three quarters of the circle.</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280.8 degrees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the economy changed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six-mark question on deindustrialisation wants causes and impacts. Impacts include lost skills as older workers retire, well-paid skilled jobs replaced by lower-paid work, and derelict buildings left behind.</a:t>
            </a:r>
            <a:endParaRPr lang="en-US" sz="1800" dirty="0"/>
          </a:p>
        </p:txBody>
      </p:sp>
      <p:sp>
        <p:nvSpPr>
          <p:cNvPr id="11" name="bullet-card"/>
          <p:cNvSpPr/>
          <p:nvPr/>
        </p:nvSpPr>
        <p:spPr>
          <a:xfrm>
            <a:off x="548640" y="1389888"/>
            <a:ext cx="11094415" cy="852255"/>
          </a:xfrm>
          <a:prstGeom prst="roundRect">
            <a:avLst>
              <a:gd name="adj" fmla="val 8583"/>
            </a:avLst>
          </a:prstGeom>
          <a:solidFill>
            <a:srgbClr val="EAEFEB"/>
          </a:solidFill>
          <a:ln/>
        </p:spPr>
      </p:sp>
      <p:sp>
        <p:nvSpPr>
          <p:cNvPr id="12" name="bullet-hex"/>
          <p:cNvSpPr/>
          <p:nvPr/>
        </p:nvSpPr>
        <p:spPr>
          <a:xfrm>
            <a:off x="676656" y="1649723"/>
            <a:ext cx="384048" cy="332586"/>
          </a:xfrm>
          <a:prstGeom prst="hexagon">
            <a:avLst/>
          </a:prstGeom>
          <a:solidFill>
            <a:srgbClr val="3F6B4A"/>
          </a:solidFill>
          <a:ln/>
        </p:spPr>
      </p:sp>
      <p:sp>
        <p:nvSpPr>
          <p:cNvPr id="13" name="bullet"/>
          <p:cNvSpPr txBox="1"/>
          <p:nvPr/>
        </p:nvSpPr>
        <p:spPr>
          <a:xfrm>
            <a:off x="1143000" y="1389888"/>
            <a:ext cx="10408615"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Three causes, and you need all three. The first is deindustrialisation and the decline of traditional industries.</a:t>
            </a:r>
            <a:endParaRPr lang="en-US" sz="1800" dirty="0"/>
          </a:p>
        </p:txBody>
      </p:sp>
      <p:sp>
        <p:nvSpPr>
          <p:cNvPr id="14" name="bullet-card"/>
          <p:cNvSpPr/>
          <p:nvPr/>
        </p:nvSpPr>
        <p:spPr>
          <a:xfrm>
            <a:off x="548640" y="2388447"/>
            <a:ext cx="11094415" cy="852255"/>
          </a:xfrm>
          <a:prstGeom prst="roundRect">
            <a:avLst>
              <a:gd name="adj" fmla="val 8583"/>
            </a:avLst>
          </a:prstGeom>
          <a:solidFill>
            <a:srgbClr val="EAEFEB"/>
          </a:solidFill>
          <a:ln/>
        </p:spPr>
      </p:sp>
      <p:sp>
        <p:nvSpPr>
          <p:cNvPr id="15" name="bullet-hex"/>
          <p:cNvSpPr/>
          <p:nvPr/>
        </p:nvSpPr>
        <p:spPr>
          <a:xfrm>
            <a:off x="676656" y="2648281"/>
            <a:ext cx="384048" cy="332586"/>
          </a:xfrm>
          <a:prstGeom prst="hexagon">
            <a:avLst/>
          </a:prstGeom>
          <a:solidFill>
            <a:srgbClr val="B8862B"/>
          </a:solidFill>
          <a:ln/>
        </p:spPr>
      </p:sp>
      <p:sp>
        <p:nvSpPr>
          <p:cNvPr id="16" name="bullet"/>
          <p:cNvSpPr txBox="1"/>
          <p:nvPr/>
        </p:nvSpPr>
        <p:spPr>
          <a:xfrm>
            <a:off x="1143000" y="2388447"/>
            <a:ext cx="10408615"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second cause is globalisation, the growth and spread of ideas around the world, which can also involve the movement of cultures, people, money, goods and information.</a:t>
            </a:r>
            <a:endParaRPr lang="en-US" sz="1800" dirty="0"/>
          </a:p>
        </p:txBody>
      </p:sp>
      <p:sp>
        <p:nvSpPr>
          <p:cNvPr id="17" name="bullet-card"/>
          <p:cNvSpPr/>
          <p:nvPr/>
        </p:nvSpPr>
        <p:spPr>
          <a:xfrm>
            <a:off x="548640" y="3387005"/>
            <a:ext cx="11094415" cy="1410039"/>
          </a:xfrm>
          <a:prstGeom prst="roundRect">
            <a:avLst>
              <a:gd name="adj" fmla="val 5188"/>
            </a:avLst>
          </a:prstGeom>
          <a:solidFill>
            <a:srgbClr val="EAEFEB"/>
          </a:solidFill>
          <a:ln/>
        </p:spPr>
      </p:sp>
      <p:sp>
        <p:nvSpPr>
          <p:cNvPr id="18" name="bullet-hex"/>
          <p:cNvSpPr/>
          <p:nvPr/>
        </p:nvSpPr>
        <p:spPr>
          <a:xfrm>
            <a:off x="676656" y="3925732"/>
            <a:ext cx="384048" cy="332586"/>
          </a:xfrm>
          <a:prstGeom prst="hexagon">
            <a:avLst/>
          </a:prstGeom>
          <a:solidFill>
            <a:srgbClr val="3F6B4A"/>
          </a:solidFill>
          <a:ln/>
        </p:spPr>
      </p:sp>
      <p:sp>
        <p:nvSpPr>
          <p:cNvPr id="19" name="bullet"/>
          <p:cNvSpPr txBox="1"/>
          <p:nvPr/>
        </p:nvSpPr>
        <p:spPr>
          <a:xfrm>
            <a:off x="1143000" y="3387005"/>
            <a:ext cx="10408615" cy="141003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third cause is government policy, in three eras. From 1945 to 1979 the government created and ran state industries such as the National Coal Board and British Rail, and used public money to support declining industries; old equipment, outdated working practices and too many employees made them unprofitable, and the 1970s brought strikes, social unrest, factory closures and power cuts.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 post-industrial economy, and industry in the landscape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the Torr Quarry answer, pair each action with the kind of sustainability it serves: landscaping is environmental and social, rail transport is environmental, deepening rather than widening is environmental and economic.</a:t>
            </a:r>
            <a:endParaRPr lang="en-US" sz="1800" dirty="0"/>
          </a:p>
        </p:txBody>
      </p:sp>
      <p:sp>
        <p:nvSpPr>
          <p:cNvPr id="11" name="bullet-card"/>
          <p:cNvSpPr/>
          <p:nvPr/>
        </p:nvSpPr>
        <p:spPr>
          <a:xfrm>
            <a:off x="548640" y="1389888"/>
            <a:ext cx="11094415" cy="891540"/>
          </a:xfrm>
          <a:prstGeom prst="roundRect">
            <a:avLst>
              <a:gd name="adj" fmla="val 8205"/>
            </a:avLst>
          </a:prstGeom>
          <a:solidFill>
            <a:srgbClr val="EAEFEB"/>
          </a:solidFill>
          <a:ln/>
        </p:spPr>
      </p:sp>
      <p:sp>
        <p:nvSpPr>
          <p:cNvPr id="12" name="bullet-hex"/>
          <p:cNvSpPr/>
          <p:nvPr/>
        </p:nvSpPr>
        <p:spPr>
          <a:xfrm>
            <a:off x="676656" y="1669365"/>
            <a:ext cx="384048" cy="332586"/>
          </a:xfrm>
          <a:prstGeom prst="hexagon">
            <a:avLst/>
          </a:prstGeom>
          <a:solidFill>
            <a:srgbClr val="3F6B4A"/>
          </a:solidFill>
          <a:ln/>
        </p:spPr>
      </p:sp>
      <p:sp>
        <p:nvSpPr>
          <p:cNvPr id="13" name="bullet"/>
          <p:cNvSpPr txBox="1"/>
          <p:nvPr/>
        </p:nvSpPr>
        <p:spPr>
          <a:xfrm>
            <a:off x="1143000" y="1389888"/>
            <a:ext cx="10408615" cy="8915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post-industrial economy is a period of growth in an industrialised nation in which the importance of manufacturing falls while services, information and research grow.</a:t>
            </a:r>
            <a:endParaRPr lang="en-US" sz="2200" dirty="0"/>
          </a:p>
        </p:txBody>
      </p:sp>
      <p:sp>
        <p:nvSpPr>
          <p:cNvPr id="14" name="bullet-card"/>
          <p:cNvSpPr/>
          <p:nvPr/>
        </p:nvSpPr>
        <p:spPr>
          <a:xfrm>
            <a:off x="548640" y="2427732"/>
            <a:ext cx="11094415" cy="1573276"/>
          </a:xfrm>
          <a:prstGeom prst="roundRect">
            <a:avLst>
              <a:gd name="adj" fmla="val 4650"/>
            </a:avLst>
          </a:prstGeom>
          <a:solidFill>
            <a:srgbClr val="EAEFEB"/>
          </a:solidFill>
          <a:ln/>
        </p:spPr>
      </p:sp>
      <p:sp>
        <p:nvSpPr>
          <p:cNvPr id="15" name="bullet-hex"/>
          <p:cNvSpPr/>
          <p:nvPr/>
        </p:nvSpPr>
        <p:spPr>
          <a:xfrm>
            <a:off x="676656" y="3048077"/>
            <a:ext cx="384048" cy="332586"/>
          </a:xfrm>
          <a:prstGeom prst="hexagon">
            <a:avLst/>
          </a:prstGeom>
          <a:solidFill>
            <a:srgbClr val="B8862B"/>
          </a:solidFill>
          <a:ln/>
        </p:spPr>
      </p:sp>
      <p:sp>
        <p:nvSpPr>
          <p:cNvPr id="16" name="bullet"/>
          <p:cNvSpPr txBox="1"/>
          <p:nvPr/>
        </p:nvSpPr>
        <p:spPr>
          <a:xfrm>
            <a:off x="1143000" y="2427732"/>
            <a:ext cx="10408615" cy="157327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do service companies work from? Many of them locate in business parks: large areas of office space to rent, usually found on the outskirts of major cities such as London, Edinburgh and Manchester, in what geographers call the urban-rural fringe, where land is cheaper.</a:t>
            </a:r>
            <a:endParaRPr lang="en-US" sz="2200" dirty="0"/>
          </a:p>
        </p:txBody>
      </p:sp>
      <p:sp>
        <p:nvSpPr>
          <p:cNvPr id="17" name="bullet-card"/>
          <p:cNvSpPr/>
          <p:nvPr/>
        </p:nvSpPr>
        <p:spPr>
          <a:xfrm>
            <a:off x="548640" y="4147312"/>
            <a:ext cx="11094415" cy="649732"/>
          </a:xfrm>
          <a:prstGeom prst="roundRect">
            <a:avLst>
              <a:gd name="adj" fmla="val 11259"/>
            </a:avLst>
          </a:prstGeom>
          <a:solidFill>
            <a:srgbClr val="EAEFEB"/>
          </a:solidFill>
          <a:ln/>
        </p:spPr>
      </p:sp>
      <p:sp>
        <p:nvSpPr>
          <p:cNvPr id="18" name="bullet-hex"/>
          <p:cNvSpPr/>
          <p:nvPr/>
        </p:nvSpPr>
        <p:spPr>
          <a:xfrm>
            <a:off x="676656" y="4305885"/>
            <a:ext cx="384048" cy="332586"/>
          </a:xfrm>
          <a:prstGeom prst="hexagon">
            <a:avLst/>
          </a:prstGeom>
          <a:solidFill>
            <a:srgbClr val="3F6B4A"/>
          </a:solidFill>
          <a:ln/>
        </p:spPr>
      </p:sp>
      <p:sp>
        <p:nvSpPr>
          <p:cNvPr id="19" name="bullet"/>
          <p:cNvSpPr txBox="1"/>
          <p:nvPr/>
        </p:nvSpPr>
        <p:spPr>
          <a:xfrm>
            <a:off x="1143000" y="4147312"/>
            <a:ext cx="10408615" cy="64973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Industry still touches the physical environment, and Torr Quarry is the case study.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Rural change, transport and the north-south divide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11094415" cy="1073404"/>
          </a:xfrm>
          <a:prstGeom prst="roundRect">
            <a:avLst>
              <a:gd name="adj" fmla="val 12778"/>
            </a:avLst>
          </a:prstGeom>
          <a:solidFill>
            <a:srgbClr val="F2E9D9"/>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10225735"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use the unemployment table, read what it actually says: it supports the divide for Scotland and the north-west but not for Wales and Northern Ireland. Saying so is a Level 3 move, not a mistake.</a:t>
            </a:r>
            <a:endParaRPr lang="en-US" sz="1800" dirty="0"/>
          </a:p>
        </p:txBody>
      </p:sp>
      <p:sp>
        <p:nvSpPr>
          <p:cNvPr id="11" name="bullet-card"/>
          <p:cNvSpPr/>
          <p:nvPr/>
        </p:nvSpPr>
        <p:spPr>
          <a:xfrm>
            <a:off x="548640" y="1389888"/>
            <a:ext cx="11094415" cy="933196"/>
          </a:xfrm>
          <a:prstGeom prst="roundRect">
            <a:avLst>
              <a:gd name="adj" fmla="val 7839"/>
            </a:avLst>
          </a:prstGeom>
          <a:solidFill>
            <a:srgbClr val="EAEFEB"/>
          </a:solidFill>
          <a:ln/>
        </p:spPr>
      </p:sp>
      <p:sp>
        <p:nvSpPr>
          <p:cNvPr id="12" name="bullet-hex"/>
          <p:cNvSpPr/>
          <p:nvPr/>
        </p:nvSpPr>
        <p:spPr>
          <a:xfrm>
            <a:off x="676656" y="1690193"/>
            <a:ext cx="384048" cy="332586"/>
          </a:xfrm>
          <a:prstGeom prst="hexagon">
            <a:avLst/>
          </a:prstGeom>
          <a:solidFill>
            <a:srgbClr val="3F6B4A"/>
          </a:solidFill>
          <a:ln/>
        </p:spPr>
      </p:sp>
      <p:sp>
        <p:nvSpPr>
          <p:cNvPr id="13" name="bullet"/>
          <p:cNvSpPr txBox="1"/>
          <p:nvPr/>
        </p:nvSpPr>
        <p:spPr>
          <a:xfrm>
            <a:off x="1143000" y="1389888"/>
            <a:ext cx="10408615" cy="93319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Migration is the driving force behind population growth and decline in the countryside, and the course compares two places: South Cambridgeshire, which is growing, and the Outer Hebrides, which is declining.</a:t>
            </a:r>
            <a:endParaRPr lang="en-US" sz="1800" dirty="0"/>
          </a:p>
        </p:txBody>
      </p:sp>
      <p:sp>
        <p:nvSpPr>
          <p:cNvPr id="14" name="bullet-card"/>
          <p:cNvSpPr/>
          <p:nvPr/>
        </p:nvSpPr>
        <p:spPr>
          <a:xfrm>
            <a:off x="548640" y="2469388"/>
            <a:ext cx="11094415" cy="2327656"/>
          </a:xfrm>
          <a:prstGeom prst="roundRect">
            <a:avLst>
              <a:gd name="adj" fmla="val 3143"/>
            </a:avLst>
          </a:prstGeom>
          <a:solidFill>
            <a:srgbClr val="EAEFEB"/>
          </a:solidFill>
          <a:ln/>
        </p:spPr>
      </p:sp>
      <p:sp>
        <p:nvSpPr>
          <p:cNvPr id="15" name="bullet-hex"/>
          <p:cNvSpPr/>
          <p:nvPr/>
        </p:nvSpPr>
        <p:spPr>
          <a:xfrm>
            <a:off x="676656" y="3466923"/>
            <a:ext cx="384048" cy="332586"/>
          </a:xfrm>
          <a:prstGeom prst="hexagon">
            <a:avLst/>
          </a:prstGeom>
          <a:solidFill>
            <a:srgbClr val="B8862B"/>
          </a:solidFill>
          <a:ln/>
        </p:spPr>
      </p:sp>
      <p:sp>
        <p:nvSpPr>
          <p:cNvPr id="16" name="bullet"/>
          <p:cNvSpPr txBox="1"/>
          <p:nvPr/>
        </p:nvSpPr>
        <p:spPr>
          <a:xfrm>
            <a:off x="1143000" y="2469388"/>
            <a:ext cx="10408615" cy="232765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Transport is being improved to support the economy. The course asks you to know what a smart motorway is and why several motorways are being upgraded to become smart; the planned improvements to the A303 and the reasons for them; the plans for high-speed rail, HS2, and whether high-speed rail matters for the United Kingdom; how road and rail improvements boost the national and local economy; why the United Kingdom's port industry is the largest in Europe, and what the Liverpool2 development at Liverpool will bring to its region; the pattern of United Kingdom air transport routes; and the recommendation of a third runway at Heathrow.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phases of the UK economy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these four phases of the United Kingdom's economy in order, earliest first.</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Between 1979 and 2010 those state-run industries are privatised, many of them close, and derelict industrial sites become offices and shops.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Between 1945 and 1979 the government runs industries such as the National Coal Board and British Rail and props them up with public money.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From 2010 the government tries to rebalance the economy by rebuilding manufacturing and improving transport.</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Traditional industries such as coal mining, engineering and manufacturing employ most of the country's workers.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Four phases of the UK economy</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Four phases of the UK economy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Three of the four statements carry dates. Put those three in date order.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statement with no date describes the time before the government took the industries over, so it goes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the pattern: the state takes industries on, then sells them off, then tries to rebuild.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your order through and check the dates run forwards.</a:t>
            </a:r>
            <a:endParaRPr lang="en-US" sz="1800" dirty="0"/>
          </a:p>
        </p:txBody>
      </p:sp>
      <p:sp>
        <p:nvSpPr>
          <p:cNvPr id="17" name="col-Core"/>
          <p:cNvSpPr/>
          <p:nvPr/>
        </p:nvSpPr>
        <p:spPr>
          <a:xfrm>
            <a:off x="6425403" y="2395728"/>
            <a:ext cx="2471666" cy="3749040"/>
          </a:xfrm>
          <a:prstGeom prst="roundRect">
            <a:avLst>
              <a:gd name="adj" fmla="val 2220"/>
            </a:avLst>
          </a:prstGeom>
          <a:solidFill>
            <a:srgbClr val="CFDAD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state takes industries on, sells them off, then tries to rebuild manufacturing. Three dates and one undated statement that must come first.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policy of each phase was a reaction to the problems of the phase before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Mean unemployment in England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four English regions in the table have unemployment of 6.9%, 4.4%, 4.9% and 5.5%. What is the mean unemployment rate for England in that table?</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per cent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Mean unemployment in England</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Mean unemployment in England</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mean is the total divided by how many values there are.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the four: 6.9 + 4.4 + 4.9 + 5.5 = 21.7.</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values: there are four English regions in the table.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21.7 ÷ 4 = 5.425.</a:t>
            </a:r>
            <a:endParaRPr lang="en-US" sz="1800" dirty="0"/>
          </a:p>
        </p:txBody>
      </p:sp>
      <p:sp>
        <p:nvSpPr>
          <p:cNvPr id="17" name="col-Core"/>
          <p:cNvSpPr/>
          <p:nvPr/>
        </p:nvSpPr>
        <p:spPr>
          <a:xfrm>
            <a:off x="4338218" y="2395728"/>
            <a:ext cx="3515258" cy="3749040"/>
          </a:xfrm>
          <a:prstGeom prst="roundRect">
            <a:avLst>
              <a:gd name="adj" fmla="val 1561"/>
            </a:avLst>
          </a:prstGeom>
          <a:solidFill>
            <a:srgbClr val="CFDAD2"/>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Add all four, then divide by four. Do not include Scotland, Wales or Northern Ireland: the question says England only.</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mean for England is lower than Scotland's figure but higher than Wales's. Explain why a mean can hide the very inequality the north-south divide is about, and suggest a better statistic to use instead.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employment sector covers research, software development and the media?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Primary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Quaternary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Secondary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Tertiary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(1 of 2): Four phases of the UK economy</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16459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1691640" y="2167128"/>
            <a:ext cx="8808415"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Traditional industries such as coal mining, engineering and manufacturing employ most of the country's workers.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Between 1945 and 1979 the government runs industries such as the National Coal Board and British Rail and props them up with public money.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Between 1979 and 2010 those state-run industries are privatised, many of them close, and derelict industrial sites become offices and shops.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From 2010 the government tries to rebalance the economy by rebuilding manufacturing and improving transport.  (C)</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(2 of 2): Four phases of the UK economy</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why-panel"/>
          <p:cNvSpPr/>
          <p:nvPr/>
        </p:nvSpPr>
        <p:spPr>
          <a:xfrm>
            <a:off x="1463040" y="1389888"/>
            <a:ext cx="9265615" cy="4754880"/>
          </a:xfrm>
          <a:prstGeom prst="roundRect">
            <a:avLst>
              <a:gd name="adj" fmla="val 962"/>
            </a:avLst>
          </a:prstGeom>
          <a:solidFill>
            <a:srgbClr val="E6ECE7"/>
          </a:solidFill>
          <a:ln/>
        </p:spPr>
      </p:sp>
      <p:sp>
        <p:nvSpPr>
          <p:cNvPr id="8" name="why-hex"/>
          <p:cNvSpPr/>
          <p:nvPr/>
        </p:nvSpPr>
        <p:spPr>
          <a:xfrm>
            <a:off x="1645920" y="1572768"/>
            <a:ext cx="685800" cy="593903"/>
          </a:xfrm>
          <a:prstGeom prst="hexagon">
            <a:avLst/>
          </a:prstGeom>
          <a:solidFill>
            <a:srgbClr val="3F6B4A"/>
          </a:solidFill>
          <a:ln/>
        </p:spPr>
      </p:sp>
      <p:sp>
        <p:nvSpPr>
          <p:cNvPr id="9" name="why-hex-label"/>
          <p:cNvSpPr txBox="1"/>
          <p:nvPr/>
        </p:nvSpPr>
        <p:spPr>
          <a:xfrm>
            <a:off x="164592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0" name="why"/>
          <p:cNvSpPr txBox="1"/>
          <p:nvPr/>
        </p:nvSpPr>
        <p:spPr>
          <a:xfrm>
            <a:off x="1645920" y="2304288"/>
            <a:ext cx="889985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order is traditional industries; state-run industries supported by public money from 1945 to 1979; privatisation from 1979 to 2010, with closures and the reuse of derelict sites; and rebalancing from 2010 onwards. Each policy answered the one before: nationalisation protected failing industries, privatisation exposed them to competition, and rebalancing tries to rebuild the manufacturing those closures removed.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Mean unemployment in England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four English regions in the table have unemployment of 6.9%, 4.4%, 4.9% and 5.5%. What is the mean unemployment rate for England in that table?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5.425 per cent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6.9 + 4.4 + 4.9 + 5.5 = 21.7, and 21.7 ÷ 4 = 5.425 per cent. The commonest errors are forgetting to divide and dividing by 7 instead of 4, because the table lists seven regions but only four of them are in England.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employment sector covers research, software development and the media?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Quaternary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quaternary sector is the knowledge sector: hi-tech industry, research, information technology and the media. It is the newest of the four.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Changing Economic World · Chapter 6: The changing UK economy</dc:title>
  <dc:subject>Geography · Year 10</dc:subject>
  <dc:creator>Dr Vitor Merissi de Carvalho</dc:creator>
  <cp:lastModifiedBy>Dr Vitor Merissi de Carvalho</cp:lastModifiedBy>
  <cp:revision>1</cp:revision>
  <dcterms:created xsi:type="dcterms:W3CDTF">2026-10-19T06:07:36Z</dcterms:created>
  <dcterms:modified xsi:type="dcterms:W3CDTF">2026-10-19T06:07:36Z</dcterms:modified>
</cp:coreProperties>
</file>