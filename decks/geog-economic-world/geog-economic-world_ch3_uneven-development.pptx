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5538d3b-bd70-95b8-b3c1-2aebcc9d7c1b}">
          <p14:sldIdLst>
            <p14:sldId id="256"/>
          </p14:sldIdLst>
        </p14:section>
        <p14:section name="Gate" id="{b311be00-c38d-4382-f8e1-07dca4555062}">
          <p14:sldIdLst>
            <p14:sldId id="257"/>
            <p14:sldId id="258"/>
          </p14:sldIdLst>
        </p14:section>
        <p14:section name="Pre-teach" id="{365cef05-0ddd-b6ac-652d-07163a5cb149}">
          <p14:sldIdLst>
            <p14:sldId id="259"/>
          </p14:sldIdLst>
        </p14:section>
        <p14:section name="Read-along" id="{ce23d755-89b7-ef1f-00ae-de75d8391f89}">
          <p14:sldIdLst>
            <p14:sldId id="260"/>
            <p14:sldId id="261"/>
          </p14:sldIdLst>
        </p14:section>
        <p14:section name="Teach" id="{de47eeea-23ba-bf4a-85f5-13c9ee0e9f22}">
          <p14:sldIdLst>
            <p14:sldId id="262"/>
            <p14:sldId id="263"/>
            <p14:sldId id="264"/>
            <p14:sldId id="265"/>
            <p14:sldId id="266"/>
          </p14:sldIdLst>
        </p14:section>
        <p14:section name="Routes" id="{2fde22c7-28fa-5cb0-a2f5-06bbf0bc5b94}">
          <p14:sldIdLst>
            <p14:sldId id="267"/>
            <p14:sldId id="268"/>
            <p14:sldId id="269"/>
            <p14:sldId id="270"/>
            <p14:sldId id="271"/>
          </p14:sldIdLst>
        </p14:section>
        <p14:section name="Close" id="{26a837ae-c909-1573-fd21-08d1edf49ca8}">
          <p14:sldIdLst>
            <p14:sldId id="272"/>
          </p14:sldIdLst>
        </p14:section>
        <p14:section name="Answers" id="{c7b8c02a-9099-e526-a1cc-615a55297ab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Why development is uneven, and what follows. The physical and human reasons some countries stay poor, and the three consequences the course asks you to know: disparities in wealth, disparities in health, and international migration.
This deck covers the department's lessons: 7 (Human and physical causes of uneven development: What makes a country poor: which physical, economic and historical factors hold development back?); 8 (Consequences of uneven development: wealth, health and migration: How does uneven development lead to disparities in wealth and health and to international migration?).
Read the big question aloud: "Why is the world's wealth so unevenly shared, and what can countries such as Nigeria and the UK do about the gaps between them and within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physical cause of uneven development?  →  A   Being landlocked
2. In high income countries about 7 in every 10 deaths are of people aged 70 or over. In low income countries the figure is about 2 in every 10. Write both as percentages of all deaths and work out the difference, in percentage points.  →  50 percentage points
3. A person who is forced to leave home but stays inside their own country is called a ___ person.  →  displaced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Being landlocked. Being landlocked is a feature of the land itself: no coastline means no sea trade of a country's own. The other three are human causes, political or economic.
2. 50 percentage points. 7 in 10 is 70% and 2 in 10 is 20%, so the difference is 70 − 20 = 50 percentage points.
3. displaced. A displaced person is forced from home but has not crossed a border. Someone forced to leave the country altogether is a refugee.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landlocked: having no coastline of its own. Example: "A landlocked country must send its exports through a neighbour."
• primary products: raw materials sold just as they come out of the ground or field. Example: "Cocoa, copper and timber are primary products."
• colony: a country that was ruled and used by another country. Example: "Nigeria was a colony of the United Kingdom."
• disparity: a large and unfair difference between two things. Example: "There is a disparity in health between rich and poor countries."
• refugee: someone forced to leave their country by war or disaster. Example: "A refugee has crossed a border to find safety."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Some countries are much poorer than others.
2. The reasons are partly physical and partly human.
3. Physical reasons include being landlocked, with no coast for trade.
4. Drought, floods and storms ruin crops and destroy roads.
5. Disease and pests kill livestock and weaken the workforce.
6. A lack of clean water keeps people ill and away from school.
7. Human reasons include being ruled as a colony in the past.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After independence, some countries had civil wars and corrupt governments.
9. Many poorer countries sell primary products at prices that rise and fall.
10. That makes it hard to plan for the future.
11. Uneven development has three main results.
12. Wealth and health are very unequal between countries.
13. Many people also move to another country to find a better life.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Physical causes: what the land itself does. Say it in your own words, then check understanding with a quick question: ask a pupil from the pre-teach group first, since they met these words and ideas before the lesson. Pupils try to recall before you re-explain.
Development is uneven partly because the physical world is uneven. A landlocked country has no coastline of its own, so it is cut off from sea trade, and sea trade matters enormously for economic growth: goods must cross a neighbour's territory and pay for the privilege. Extreme weather is the second physical cause. Drought, floods and tropical storms ruin crops and wreck infrastructure, and it is expensive both to protect an area beforehand and to rebuild afterwards. You could argue that human-caused climate change is making this worse, which shows how easily a physical cause becomes partly human.
Disease and pests are the third. Climate-related diseases and pests destroy livestock and cause early deaths among people, which shrinks the workforce. Humans may be partly to blame for spreading pests, and technology can help to solve the problem, so again the line is blurred. The fourth is a lack of adequate supplies of clean water, which affects farming and the people who live there. Where families must travel to collect clean water, there is less time left for work or school, and dirty water causes illness, which damages the economy in turn. In an area with very low rainfall this is a physical problem; in an area with rain but no pipes or treatment works it is a human one.
When a keyword starter asks you to spot the odd one out from landlocked, climatic hazards, natural resources and governance, the answer is governance: it is the human factor and the other three are physical.
Tip: If a cause could be either, say so and explain why. Examiners reward a pupil who writes that clean water shortage is physical in a dry region but human where the pipes were never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Human and historical causes. Say it in your own words, then check understanding with a quick question: ask a pupil from the pre-teach group first, since they met these words and ideas before the lesson. Pupils try to recall before you re-explain.
The deepest human cause is history. Many low income countries and newly emerging economies were once colonies, ruled and used by another country, and they can struggle after gaining independence. Power struggles and corrupt political systems have led to civil wars, and the fallout from war has a devastating effect on a country's ability to build its own economy. Money that should pay for schools and hospitals disappears, and foreign companies will not invest where the rules keep changing.
Trade is the second human cause. Exporting primary products, raw materials sold as they come, tends to be one of the main ways low income countries earn money. It is a volatile market: prices rise and fall often, and supply and demand for raw materials are unpredictable, so a government cannot be sure of next year's income and cannot plan. Manufacturing can be just as hard a bargain. Many low income countries rely on making goods for companies based elsewhere. The work is often low skilled and low paid, rich countries keep their costs down by having products made in low income countries and newly emerging economies, and the profit returns to the high income country. Debt makes everything harder, because repayments take money that could have been invested.
Notice how the causes feed each other. A country held back by colonial rule may have borrowed heavily at independence; the debt forces it to export cheap primary products; the volatile price leaves nothing to spend on education; and without education it cannot move into better-paid industry. This is sometimes called a cycle of poverty, and breaking into it is what the strategies in the next chapter try to do.
Tip: Learn one physical and one human cause really well, with an example each, rather than eight you can only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Disparities in wealth and health. Say it in your own words, then check understanding with a quick question: ask a pupil from the pre-teach group first, since they met these words and ideas before the lesson. Pupils try to recall before you re-explain.
The first consequence of uneven development is a disparity in wealth, and the figures are startling. In 2014 the fastest growth in wealth was in North America, which holds 35% of total global wealth, and that wealth is owned by just over 5% of the world's adult population. Africa's share of global wealth is very small, about 1%. Personal wealth in India and China has quadrupled since 2000, yet their share of global wealth is still well below their share of the world's people, and China has had the highest recorded growth of any newly emerging economy since 2000. The most developed countries enjoy the greatest levels of wealth, measured in GNI. The United States is not the world's richest country per person, but it is the world's most important economic engine, above all for creating jobs.
The second consequence is a disparity in health, and the clearest way to see it is to ask who dies. In low income countries 4 in every 10 deaths are among children under 15 years old, and only 2 in every 10 are among people aged 70 and over. In high income countries the pattern is almost exactly reversed: 7 in every 10 deaths are among people aged 70 and over, and only 1 in every 100 deaths is a child under 15. The causes differ too. In high income countries the main causes of death are chronic diseases such as heart and lung disease, cancer, dementia and diabetes, and lung infections are the only major infectious cause. In low income countries infectious diseases are the main cause: lung infections, diarrhoea-related diseases, malaria and tuberculosis together account for about a third of all deaths, and complications in childbirth are one of the main causes of death among children under 5.
Malaria is the example to hold on to. It is carried by mosquitoes, it is preventable and it is curable, yet in Africa one child dies of it every minute, and of the half a million or more deaths it caused in 2013, Africa accounted for 80%.
Worked example — model it step by step, thinking aloud: In low income countries about 4 in every 10 deaths are of children under 15. In high income countries only about 1 in every 100 deaths is. Work out each as a percentage of all deaths, and then how many times larger the first is. (1) Turn 4 in 10 into a percentage: 4 ÷ 10 × 100 = 40%. (2) Turn 1 in 100 into a percentage: 1 ÷ 100 × 100 = 1%. (3) Compare the two by dividing: 40 ÷ 1 = 40. (4) Write it as a sentence: 40% against 1%, which is 40 times larger. Answer: 40% in low income countries against 1% in high income countries, which is 40 times larger.
Tip: Turn every out-of-ten and out-of-a-hundred figure into a percentage before you compare it. Mixing the two is the commonest slip in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Disparities in wealth and health. Say it in your own words, then check understanding with a quick question: ask a pupil from the pre-teach group first, since they met these words and ideas before the lesson. Pupils try to recall before you re-explain.
The first consequence of uneven development is a disparity in wealth, and the figures are startling. In 2014 the fastest growth in wealth was in North America, which holds 35% of total global wealth, and that wealth is owned by just over 5% of the world's adult population. Africa's share of global wealth is very small, about 1%. Personal wealth in India and China has quadrupled since 2000, yet their share of global wealth is still well below their share of the world's people, and China has had the highest recorded growth of any newly emerging economy since 2000. The most developed countries enjoy the greatest levels of wealth, measured in GNI. The United States is not the world's richest country per person, but it is the world's most important economic engine, above all for creating jobs.
The second consequence is a disparity in health, and the clearest way to see it is to ask who dies. In low income countries 4 in every 10 deaths are among children under 15 years old, and only 2 in every 10 are among people aged 70 and over. In high income countries the pattern is almost exactly reversed: 7 in every 10 deaths are among people aged 70 and over, and only 1 in every 100 deaths is a child under 15. The causes differ too. In high income countries the main causes of death are chronic diseases such as heart and lung disease, cancer, dementia and diabetes, and lung infections are the only major infectious cause. In low income countries infectious diseases are the main cause: lung infections, diarrhoea-related diseases, malaria and tuberculosis together account for about a third of all deaths, and complications in childbirth are one of the main causes of death among children under 5.
Malaria is the example to hold on to. It is carried by mosquitoes, it is preventable and it is curable, yet in Africa one child dies of it every minute, and of the half a million or more deaths it caused in 2013, Africa accounted for 80%.
Worked example — model it step by step, thinking aloud: In low income countries about 4 in every 10 deaths are of children under 15. In high income countries only about 1 in every 100 deaths is. Work out each as a percentage of all deaths, and then how many times larger the first is. (1) Turn 4 in 10 into a percentage: 4 ÷ 10 × 100 = 40%. (2) Turn 1 in 100 into a percentage: 1 ÷ 100 × 100 = 1%. (3) Compare the two by dividing: 40 ÷ 1 = 40. (4) Write it as a sentence: 40% against 1%, which is 40 times larger. Answer: 40% in low income countries against 1% in high income countries, which is 40 times larger.
Tip: Turn every out-of-ten and out-of-a-hundred figure into a percentage before you compare it. Mixing the two is the commonest slip in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third consequence: international migration. Say it in your own words, then check understanding with a quick question: ask a pupil from the pre-teach group first, since they met these words and ideas before the lesson. Pupils try to recall before you re-explain.
Where development is uneven, people move. Migration is simply the movement of people from one place to another. An immigrant is someone who moves into a country and an emigrant is someone who moves out of one. An economic migrant moves voluntarily to seek a better life, such as better-paid work, education or healthcare. A refugee is forced to leave their country by civil war or a natural disaster. A displaced person is also forced from home but stays inside their own country. Those last two are easy to confuse and the exam rewards getting them right.
The course uses recent movements as its examples. In the last few years hundreds of thousands of refugees have left Syria, Afghanistan and Iraq looking for a better life in Europe; 4 million people have fled Syria's civil war since 2011, many of them housed in temporary camps in Turkey, Jordan and Lebanon where there is little work and little prospect of anything better. An estimated 1.1 million migrants entered Germany in 2015, after Germany announced that it would offer asylum to Syrian refugees who reached it. Since 2004 over 1.5 million migrants have moved to the United Kingdom, around two thirds of them from Poland, where wages are about one fifth of British wages.
What follows for the country they arrive in? Most migrants pay taxes into their new country's economy and are willing to do manual work that others will not. The United Kingdom has a long history of accepting migrants and has gained from being multicultural in many areas. On the other hand, migrants often send part of their wages home to support family, so that money leaves the country they are working in, and where large numbers settle in one place they can put pressure on healthcare and education services. A good answer gives both sides.
Tip: Refugee means across a border; displaced person means still inside the country. Say the word border out loud when you are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Six words for moving.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migration word to its meaning.
Support — work through the steps with the group: (1) Start with the widest word: one of them simply means people moving, with no reason attached. (2) Two of them are a pair: one means moving in, one means moving out. The letter i starts both in and immigrant. (3) One of them says the person had a choice. (4) One of them says the person had no choice and left the country.
Parallel worked example for Support (model it, do not give the task answer): Match: displaced person, asylum. Choices: safety given by a country to someone fleeing danger; a person forced from home who stays inside their own country. A displaced person has not crossed a border.; Asylum is what a country grants.. Answer: Displaced person: a person forced from home who stays inside their own country. Asylum: safety given by a country to someone fleeing danger..
Core — reveal the hint only on request: Two of these are about direction (in and out), one is about choice, one is about force, and one is the general word.
Stretch — no help; when finished: A family leaves Syria because of the civil war and settles in Germany, where both parents find work. Explain which two of these words could fairly be used about them, and why one of them fits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Six words for moving.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migration word to its meaning.
Support — work through the steps with the group: (1) Start with the widest word: one of them simply means people moving, with no reason attached. (2) Two of them are a pair: one means moving in, one means moving out. The letter i starts both in and immigrant. (3) One of them says the person had a choice. (4) One of them says the person had no choice and left the country.
Parallel worked example for Support (model it, do not give the task answer): Match: displaced person, asylum. Choices: safety given by a country to someone fleeing danger; a person forced from home who stays inside their own country. A displaced person has not crossed a border.; Asylum is what a country grants.. Answer: Displaced person: a person forced from home who stays inside their own country. Asylum: safety given by a country to someone fleeing danger..
Core — reveal the hint only on request: Two of these are about direction (in and out), one is about choice, one is about force, and one is the general word.
Stretch — no help; when finished: A family leaves Syria because of the civil war and settles in Germany, where both parents find work. Explain which two of these words could fairly be used about them, and why one of them fits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Six words for moving.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migration word to its meaning.
Support — work through the steps with the group: (1) Start with the widest word: one of them simply means people moving, with no reason attached. (2) Two of them are a pair: one means moving in, one means moving out. The letter i starts both in and immigrant. (3) One of them says the person had a choice. (4) One of them says the person had no choice and left the country.
Parallel worked example for Support (model it, do not give the task answer): Match: displaced person, asylum. Choices: safety given by a country to someone fleeing danger; a person forced from home who stays inside their own country. A displaced person has not crossed a border.; Asylum is what a country grants.. Answer: Displaced person: a person forced from home who stays inside their own country. Asylum: safety given by a country to someone fleeing danger..
Core — reveal the hint only on request: Two of these are about direction (in and out), one is about choice, one is about force, and one is the general word.
Stretch — no help; when finished: A family leaves Syria because of the civil war and settles in Germany, where both parents find work. Explain which two of these words could fairly be used about them, and why one of them fits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far apart are the shares?.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Africa's share of the world's wealth is about 1%. North America's share is 35%. How many times bigger is North America's share than Africa's?
Support — work through the steps with the group: (1) How many times bigger always means divide, never subtract. (2) Put the larger number on top: 35 ÷ 1. (3) Work it out: 35. (4) Say it as a sentence, with the word times in it.
Parallel worked example for Support (model it, do not give the task answer): One region holds 24% of the world's wealth and another holds 3%. How many times bigger is the first share? Divide the larger by the smaller.; 24 ÷ 3 = 8.. Answer: 8 times bigger.
Core — reveal the hint only on request: How many times bigger is a division, not a subtraction. Larger number on top.
Stretch — no help; when finished: Africa holds about 1% of global wealth but far more than 1% of the world's people. Explain why comparing shares of wealth with shares of population tells you more than either figure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far apart are the shares?.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Africa's share of the world's wealth is about 1%. North America's share is 35%. How many times bigger is North America's share than Africa's?
Support — work through the steps with the group: (1) How many times bigger always means divide, never subtract. (2) Put the larger number on top: 35 ÷ 1. (3) Work it out: 35. (4) Say it as a sentence, with the word times in it.
Parallel worked example for Support (model it, do not give the task answer): One region holds 24% of the world's wealth and another holds 3%. How many times bigger is the first share? Divide the larger by the smaller.; 24 ÷ 3 = 8.. Answer: 8 times bigger.
Core — reveal the hint only on request: How many times bigger is a division, not a subtraction. Larger number on top.
Stretch — no help; when finished: Africa holds about 1% of global wealth but far more than 1% of the world's people. Explain why comparing shares of wealth with shares of population tells you more than either figure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physical cause of uneven development?
Answer: D   Being landlocked. Being landlocked is a feature of the land itself: no coastline means no sea trade of a country's own. The other three are human causes, political or economic.
Source of this question: gate item 1 re-asked (options rotated) — this chapter has no third quick-check module.
The ebook also holds task 3, "From uneven development to migration",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Six words for moving. Reveal the answer; pupils mark their own work in a different colour, then read the "why" together. Same destination for every lane, so one answer serves the whole class.
Answer: Migration  →  E  The movement of people from one place to another; Immigrant  →  D  A person who moves into a country; Emigrant  →  A  A person who moves out of a country; Economic migrant  →  C  A person who moves by choice to seek a better life, such as better pay or schooling; Refugee  →  B  A person forced to leave their country by civil war or a natural disaster
Why: Migration is the movement of people from one place to another. An immigrant moves in, an emigrant moves out. An economic migrant chooses to move for a better life; a refugee is forced to leave the country by war or disaster. A displaced person, which is not in this list, is forced from home but stays inside their own country.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far apart are the shares?. Reveal the answer; pupils mark their own work in a different colour, then read the "why" together. Same destination for every lane, so one answer serves the whole class.
Answer: 35 times
Why: 35 ÷ 1 = 35. North America's share of global wealth is 35 times Africa's, even though Africa has far more people. That gap is what geographers mean by a disparity in wealth.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Being landlocked
Why: Being landlocked is a feature of the land itself: no coastline means no sea trade of a country's own. The other three are human causes, political or economic.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Changing Economic World · AQA 8035</a:t>
            </a:r>
            <a:endParaRPr lang="en-US" sz="1800" dirty="0"/>
          </a:p>
        </p:txBody>
      </p:sp>
      <p:sp>
        <p:nvSpPr>
          <p:cNvPr id="10" name="deck-title"/>
          <p:cNvSpPr txBox="1"/>
          <p:nvPr/>
        </p:nvSpPr>
        <p:spPr>
          <a:xfrm>
            <a:off x="548640" y="204139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Why development is uneven, and what follows</a:t>
            </a:r>
            <a:endParaRPr lang="en-US" sz="3200" dirty="0"/>
          </a:p>
        </p:txBody>
      </p:sp>
      <p:sp>
        <p:nvSpPr>
          <p:cNvPr id="11" name="lessons-card"/>
          <p:cNvSpPr/>
          <p:nvPr/>
        </p:nvSpPr>
        <p:spPr>
          <a:xfrm>
            <a:off x="548640" y="3453638"/>
            <a:ext cx="5287975" cy="1948180"/>
          </a:xfrm>
          <a:prstGeom prst="roundRect">
            <a:avLst>
              <a:gd name="adj" fmla="val 3755"/>
            </a:avLst>
          </a:prstGeom>
          <a:solidFill>
            <a:srgbClr val="E6ECE7"/>
          </a:solidFill>
          <a:ln/>
        </p:spPr>
      </p:sp>
      <p:sp>
        <p:nvSpPr>
          <p:cNvPr id="12" name="lessons"/>
          <p:cNvSpPr txBox="1"/>
          <p:nvPr/>
        </p:nvSpPr>
        <p:spPr>
          <a:xfrm>
            <a:off x="685800" y="35450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Human and physical causes of uneven development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Consequences of uneven development: wealth, health and migration</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is the world's wealth so unevenly shared, and what can countries such as Nigeria and the UK do about the gaps between them and within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a physical cause of uneven development?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Being landlocked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Having been ruled as a colony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Selling primary products cheaply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corrupt government</a:t>
            </a:r>
            <a:endParaRPr lang="en-US" sz="22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high income countries about 7 in every 10 deaths are of people aged 70 or over. In low income countries the figure is about 2 in every 10. Write both as percentages of all deaths and work out the difference, in percentage points.</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percentage points</a:t>
            </a:r>
            <a:endParaRPr lang="en-US" sz="18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person who is forced to leave home but stays inside their own country is called a ___ person.</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displaced  ·  economic  ·  voluntary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Being landlocked</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 physical cause of uneven development?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Being landlocked is a feature of the land itself: no coastline means no sea trade of a country's own. The other three are human causes, political or economic.</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50 percentage points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7 in 10 is 70% and 2 in 10 is 20%, so the difference is 70 − 20 = 50 percentage points.</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displaced</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person who is forced to leave home but stays inside their own country is called a ___ person.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displaced person is forced from home but has not crossed a border. Someone forced to leave the country altogether is a refugee.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AEFEB"/>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landlocked</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having no coastline of its own</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landlocked country must send its exports through a neighbour.</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primary products</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raw materials sold just as they come out of the ground or field</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Cocoa, copper and timber are primary products.</a:t>
            </a:r>
            <a:endParaRPr lang="en-US" sz="1800" dirty="0"/>
          </a:p>
        </p:txBody>
      </p:sp>
      <p:sp>
        <p:nvSpPr>
          <p:cNvPr id="21" name="kw-row"/>
          <p:cNvSpPr/>
          <p:nvPr/>
        </p:nvSpPr>
        <p:spPr>
          <a:xfrm>
            <a:off x="548640" y="3639312"/>
            <a:ext cx="11094415" cy="786384"/>
          </a:xfrm>
          <a:prstGeom prst="roundRect">
            <a:avLst>
              <a:gd name="adj" fmla="val 6977"/>
            </a:avLst>
          </a:prstGeom>
          <a:solidFill>
            <a:srgbClr val="EAEFEB"/>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colony</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country that was ruled and used by another country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Nigeria was a colony of the United Kingdom.</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disparity</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large and unfair difference between two things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There is a disparity in health between rich and poor countries.</a:t>
            </a:r>
            <a:endParaRPr lang="en-US" sz="1800" dirty="0"/>
          </a:p>
        </p:txBody>
      </p:sp>
      <p:sp>
        <p:nvSpPr>
          <p:cNvPr id="31" name="kw-row"/>
          <p:cNvSpPr/>
          <p:nvPr/>
        </p:nvSpPr>
        <p:spPr>
          <a:xfrm>
            <a:off x="548640" y="5358384"/>
            <a:ext cx="11094415" cy="786384"/>
          </a:xfrm>
          <a:prstGeom prst="roundRect">
            <a:avLst>
              <a:gd name="adj" fmla="val 6977"/>
            </a:avLst>
          </a:prstGeom>
          <a:solidFill>
            <a:srgbClr val="EAEFEB"/>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refugee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someone forced to leave their country by war or disaster</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refugee has crossed a border to find safety.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countries are much poorer than others.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reasons are partly physical and partly human.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Physical reasons include being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landlocked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with no coast for trade.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Drought, floods and storms ruin crops and destroy roads.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Disease and pests kill livestock and weaken the workforce.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lack of clean water keeps people ill and away from school.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Human reasons include being ruled as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colony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the past.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independence, some countries had civil wars and corrupt governments.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poorer countries sell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primary products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prices that rise and fall.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makes it hard to plan for the future.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Uneven development has three main results.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Wealth and health are very unequal between countries.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people also move to another country to find a better life.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Physical causes: what the land itself does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cause could be either, say so and explain why. Examiners reward a pupil who writes that clean water shortage is physical in a dry region but human where the pipes were never built.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Development is uneven partly because the physical world is uneven.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Disease and pests are the third. Climate-related diseases and pests destroy livestock and cause early deaths among people, which shrinks the workforce.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a keyword starter asks you to spot the odd one out from landlocked, climatic hazards, natural resources and governance, the answer is governance: it is the human factor and the other three are physical.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Human and historical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one physical and one human cause really well, with an example each, rather than eight you can only name.</a:t>
            </a:r>
            <a:endParaRPr lang="en-US" sz="1800" dirty="0"/>
          </a:p>
        </p:txBody>
      </p:sp>
      <p:sp>
        <p:nvSpPr>
          <p:cNvPr id="11" name="bullet-card"/>
          <p:cNvSpPr/>
          <p:nvPr/>
        </p:nvSpPr>
        <p:spPr>
          <a:xfrm>
            <a:off x="548640" y="1389888"/>
            <a:ext cx="11094415" cy="1131147"/>
          </a:xfrm>
          <a:prstGeom prst="roundRect">
            <a:avLst>
              <a:gd name="adj" fmla="val 6467"/>
            </a:avLst>
          </a:prstGeom>
          <a:solidFill>
            <a:srgbClr val="EAEFEB"/>
          </a:solidFill>
          <a:ln/>
        </p:spPr>
      </p:sp>
      <p:sp>
        <p:nvSpPr>
          <p:cNvPr id="12" name="bullet-hex"/>
          <p:cNvSpPr/>
          <p:nvPr/>
        </p:nvSpPr>
        <p:spPr>
          <a:xfrm>
            <a:off x="676656" y="1789169"/>
            <a:ext cx="384048" cy="332586"/>
          </a:xfrm>
          <a:prstGeom prst="hexagon">
            <a:avLst/>
          </a:prstGeom>
          <a:solidFill>
            <a:srgbClr val="3F6B4A"/>
          </a:solidFill>
          <a:ln/>
        </p:spPr>
      </p:sp>
      <p:sp>
        <p:nvSpPr>
          <p:cNvPr id="13" name="bullet"/>
          <p:cNvSpPr txBox="1"/>
          <p:nvPr/>
        </p:nvSpPr>
        <p:spPr>
          <a:xfrm>
            <a:off x="1143000" y="1389888"/>
            <a:ext cx="10408615"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deepest human cause is history. Many low income countries and newly emerging economies were once colonies, ruled and used by another country, and they can struggle after gaining independence.</a:t>
            </a:r>
            <a:endParaRPr lang="en-US" sz="2000" dirty="0"/>
          </a:p>
        </p:txBody>
      </p:sp>
      <p:sp>
        <p:nvSpPr>
          <p:cNvPr id="14" name="bullet-card"/>
          <p:cNvSpPr/>
          <p:nvPr/>
        </p:nvSpPr>
        <p:spPr>
          <a:xfrm>
            <a:off x="548640" y="2667339"/>
            <a:ext cx="11094415" cy="821267"/>
          </a:xfrm>
          <a:prstGeom prst="roundRect">
            <a:avLst>
              <a:gd name="adj" fmla="val 8907"/>
            </a:avLst>
          </a:prstGeom>
          <a:solidFill>
            <a:srgbClr val="EAEFEB"/>
          </a:solidFill>
          <a:ln/>
        </p:spPr>
      </p:sp>
      <p:sp>
        <p:nvSpPr>
          <p:cNvPr id="15" name="bullet-hex"/>
          <p:cNvSpPr/>
          <p:nvPr/>
        </p:nvSpPr>
        <p:spPr>
          <a:xfrm>
            <a:off x="676656" y="2911679"/>
            <a:ext cx="384048" cy="332586"/>
          </a:xfrm>
          <a:prstGeom prst="hexagon">
            <a:avLst/>
          </a:prstGeom>
          <a:solidFill>
            <a:srgbClr val="B8862B"/>
          </a:solidFill>
          <a:ln/>
        </p:spPr>
      </p:sp>
      <p:sp>
        <p:nvSpPr>
          <p:cNvPr id="16" name="bullet"/>
          <p:cNvSpPr txBox="1"/>
          <p:nvPr/>
        </p:nvSpPr>
        <p:spPr>
          <a:xfrm>
            <a:off x="1143000" y="2667339"/>
            <a:ext cx="10408615"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Trade is the second human cause. Exporting primary products, raw materials sold as they come, tends to be one of the main ways low income countries earn money.</a:t>
            </a:r>
            <a:endParaRPr lang="en-US" sz="2000" dirty="0"/>
          </a:p>
        </p:txBody>
      </p:sp>
      <p:sp>
        <p:nvSpPr>
          <p:cNvPr id="17" name="bullet-card"/>
          <p:cNvSpPr/>
          <p:nvPr/>
        </p:nvSpPr>
        <p:spPr>
          <a:xfrm>
            <a:off x="548640" y="3634909"/>
            <a:ext cx="11094415" cy="1441027"/>
          </a:xfrm>
          <a:prstGeom prst="roundRect">
            <a:avLst>
              <a:gd name="adj" fmla="val 5076"/>
            </a:avLst>
          </a:prstGeom>
          <a:solidFill>
            <a:srgbClr val="EAEFEB"/>
          </a:solidFill>
          <a:ln/>
        </p:spPr>
      </p:sp>
      <p:sp>
        <p:nvSpPr>
          <p:cNvPr id="18" name="bullet-hex"/>
          <p:cNvSpPr/>
          <p:nvPr/>
        </p:nvSpPr>
        <p:spPr>
          <a:xfrm>
            <a:off x="676656" y="4189130"/>
            <a:ext cx="384048" cy="332586"/>
          </a:xfrm>
          <a:prstGeom prst="hexagon">
            <a:avLst/>
          </a:prstGeom>
          <a:solidFill>
            <a:srgbClr val="3F6B4A"/>
          </a:solidFill>
          <a:ln/>
        </p:spPr>
      </p:sp>
      <p:sp>
        <p:nvSpPr>
          <p:cNvPr id="19" name="bullet"/>
          <p:cNvSpPr txBox="1"/>
          <p:nvPr/>
        </p:nvSpPr>
        <p:spPr>
          <a:xfrm>
            <a:off x="1143000" y="3634909"/>
            <a:ext cx="10408615"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Notice how the causes feed each other. A country held back by colonial rule may have borrowed heavily at independence; the debt forces it to export cheap primary products; the volatile price leaves nothing to spend on education; and without education it cannot move into better-paid industry.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Disparities in wealth and health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Turn every out-of-ten and out-of-a-hundred figure into a percentage before you compare it. Mixing the two is the commonest slip in this topic.</a:t>
            </a:r>
            <a:endParaRPr lang="en-US" sz="1800" dirty="0"/>
          </a:p>
        </p:txBody>
      </p:sp>
      <p:sp>
        <p:nvSpPr>
          <p:cNvPr id="11" name="bullet-card"/>
          <p:cNvSpPr/>
          <p:nvPr/>
        </p:nvSpPr>
        <p:spPr>
          <a:xfrm>
            <a:off x="548640" y="1389888"/>
            <a:ext cx="11094415" cy="1017524"/>
          </a:xfrm>
          <a:prstGeom prst="roundRect">
            <a:avLst>
              <a:gd name="adj" fmla="val 7189"/>
            </a:avLst>
          </a:prstGeom>
          <a:solidFill>
            <a:srgbClr val="EAEFEB"/>
          </a:solidFill>
          <a:ln/>
        </p:spPr>
      </p:sp>
      <p:sp>
        <p:nvSpPr>
          <p:cNvPr id="12" name="bullet-hex"/>
          <p:cNvSpPr/>
          <p:nvPr/>
        </p:nvSpPr>
        <p:spPr>
          <a:xfrm>
            <a:off x="676656" y="1732357"/>
            <a:ext cx="384048" cy="332586"/>
          </a:xfrm>
          <a:prstGeom prst="hexagon">
            <a:avLst/>
          </a:prstGeom>
          <a:solidFill>
            <a:srgbClr val="3F6B4A"/>
          </a:solidFill>
          <a:ln/>
        </p:spPr>
      </p:sp>
      <p:sp>
        <p:nvSpPr>
          <p:cNvPr id="13" name="bullet"/>
          <p:cNvSpPr txBox="1"/>
          <p:nvPr/>
        </p:nvSpPr>
        <p:spPr>
          <a:xfrm>
            <a:off x="1143000" y="1389888"/>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first consequence of uneven development is a disparity in wealth, and the figures are startling.</a:t>
            </a:r>
            <a:endParaRPr lang="en-US" sz="2200" dirty="0"/>
          </a:p>
        </p:txBody>
      </p:sp>
      <p:sp>
        <p:nvSpPr>
          <p:cNvPr id="14" name="bullet-card"/>
          <p:cNvSpPr/>
          <p:nvPr/>
        </p:nvSpPr>
        <p:spPr>
          <a:xfrm>
            <a:off x="548640" y="2553716"/>
            <a:ext cx="11094415" cy="1017524"/>
          </a:xfrm>
          <a:prstGeom prst="roundRect">
            <a:avLst>
              <a:gd name="adj" fmla="val 7189"/>
            </a:avLst>
          </a:prstGeom>
          <a:solidFill>
            <a:srgbClr val="EAEFEB"/>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553716"/>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second consequence is a disparity in health, and the clearest way to see it is to ask who dies.</a:t>
            </a:r>
            <a:endParaRPr lang="en-US" sz="2200" dirty="0"/>
          </a:p>
        </p:txBody>
      </p:sp>
      <p:sp>
        <p:nvSpPr>
          <p:cNvPr id="17" name="bullet-card"/>
          <p:cNvSpPr/>
          <p:nvPr/>
        </p:nvSpPr>
        <p:spPr>
          <a:xfrm>
            <a:off x="548640" y="3717544"/>
            <a:ext cx="11094415" cy="1358392"/>
          </a:xfrm>
          <a:prstGeom prst="roundRect">
            <a:avLst>
              <a:gd name="adj" fmla="val 5385"/>
            </a:avLst>
          </a:prstGeom>
          <a:solidFill>
            <a:srgbClr val="EAEFEB"/>
          </a:solidFill>
          <a:ln/>
        </p:spPr>
      </p:sp>
      <p:sp>
        <p:nvSpPr>
          <p:cNvPr id="18" name="bullet-hex"/>
          <p:cNvSpPr/>
          <p:nvPr/>
        </p:nvSpPr>
        <p:spPr>
          <a:xfrm>
            <a:off x="676656" y="4230447"/>
            <a:ext cx="384048" cy="332586"/>
          </a:xfrm>
          <a:prstGeom prst="hexagon">
            <a:avLst/>
          </a:prstGeom>
          <a:solidFill>
            <a:srgbClr val="3F6B4A"/>
          </a:solidFill>
          <a:ln/>
        </p:spPr>
      </p:sp>
      <p:sp>
        <p:nvSpPr>
          <p:cNvPr id="19" name="bullet"/>
          <p:cNvSpPr txBox="1"/>
          <p:nvPr/>
        </p:nvSpPr>
        <p:spPr>
          <a:xfrm>
            <a:off x="1143000" y="3717544"/>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Malaria is the example to hold on to. It is carried by mosquitoes, it is preventable and it is curable, yet in Africa one child dies of it every minute, and of the half a million or more deaths it caused in 2013, Africa accounted for 80%.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Disparities in wealth and health</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6ECE7"/>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low income countries about 4 in every 10 deaths are of children under 15. In high income countries only about 1 in every 100 deaths is. Work out each as a percentage of all deaths, and then how many times larger the first is.</a:t>
            </a:r>
            <a:endParaRPr lang="en-US" sz="2200" dirty="0"/>
          </a:p>
        </p:txBody>
      </p:sp>
      <p:sp>
        <p:nvSpPr>
          <p:cNvPr id="9" name="step-box"/>
          <p:cNvSpPr/>
          <p:nvPr/>
        </p:nvSpPr>
        <p:spPr>
          <a:xfrm>
            <a:off x="548640" y="2996692"/>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Turn 4 in 10 into a percentage: 4 ÷ 10 × 100 = 40%.</a:t>
            </a:r>
            <a:endParaRPr lang="en-US" sz="1800" dirty="0"/>
          </a:p>
        </p:txBody>
      </p:sp>
      <p:sp>
        <p:nvSpPr>
          <p:cNvPr id="13" name="arrow"/>
          <p:cNvSpPr/>
          <p:nvPr/>
        </p:nvSpPr>
        <p:spPr>
          <a:xfrm>
            <a:off x="3086786" y="3846576"/>
            <a:ext cx="274320" cy="274320"/>
          </a:xfrm>
          <a:prstGeom prst="rightArrow">
            <a:avLst/>
          </a:prstGeom>
          <a:solidFill>
            <a:srgbClr val="B8862B"/>
          </a:solidFill>
          <a:ln/>
        </p:spPr>
      </p:sp>
      <p:sp>
        <p:nvSpPr>
          <p:cNvPr id="14" name="step-box"/>
          <p:cNvSpPr/>
          <p:nvPr/>
        </p:nvSpPr>
        <p:spPr>
          <a:xfrm>
            <a:off x="3425114" y="2996692"/>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3106420"/>
            <a:ext cx="530352" cy="459285"/>
          </a:xfrm>
          <a:prstGeom prst="hexagon">
            <a:avLst/>
          </a:prstGeom>
          <a:solidFill>
            <a:srgbClr val="3F6B4A"/>
          </a:solidFill>
          <a:ln/>
        </p:spPr>
      </p:sp>
      <p:sp>
        <p:nvSpPr>
          <p:cNvPr id="16" name="step-hex-label"/>
          <p:cNvSpPr txBox="1"/>
          <p:nvPr/>
        </p:nvSpPr>
        <p:spPr>
          <a:xfrm>
            <a:off x="3562274"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Turn 1 in 100 into a percentage: 1 ÷ 100 × 100 = 1%.</a:t>
            </a:r>
            <a:endParaRPr lang="en-US" sz="1800" dirty="0"/>
          </a:p>
        </p:txBody>
      </p:sp>
      <p:sp>
        <p:nvSpPr>
          <p:cNvPr id="18" name="arrow"/>
          <p:cNvSpPr/>
          <p:nvPr/>
        </p:nvSpPr>
        <p:spPr>
          <a:xfrm>
            <a:off x="5963260" y="3846576"/>
            <a:ext cx="274320" cy="274320"/>
          </a:xfrm>
          <a:prstGeom prst="rightArrow">
            <a:avLst/>
          </a:prstGeom>
          <a:solidFill>
            <a:srgbClr val="B8862B"/>
          </a:solidFill>
          <a:ln/>
        </p:spPr>
      </p:sp>
      <p:sp>
        <p:nvSpPr>
          <p:cNvPr id="19" name="step-box"/>
          <p:cNvSpPr/>
          <p:nvPr/>
        </p:nvSpPr>
        <p:spPr>
          <a:xfrm>
            <a:off x="6301588" y="2996692"/>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3106420"/>
            <a:ext cx="530352" cy="459285"/>
          </a:xfrm>
          <a:prstGeom prst="hexagon">
            <a:avLst/>
          </a:prstGeom>
          <a:solidFill>
            <a:srgbClr val="3F6B4A"/>
          </a:solidFill>
          <a:ln/>
        </p:spPr>
      </p:sp>
      <p:sp>
        <p:nvSpPr>
          <p:cNvPr id="21"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the two by dividing: 40 ÷ 1 = 40.</a:t>
            </a:r>
            <a:endParaRPr lang="en-US" sz="1800" dirty="0"/>
          </a:p>
        </p:txBody>
      </p:sp>
      <p:sp>
        <p:nvSpPr>
          <p:cNvPr id="23" name="arrow"/>
          <p:cNvSpPr/>
          <p:nvPr/>
        </p:nvSpPr>
        <p:spPr>
          <a:xfrm>
            <a:off x="8839733" y="3846576"/>
            <a:ext cx="274320" cy="274320"/>
          </a:xfrm>
          <a:prstGeom prst="rightArrow">
            <a:avLst/>
          </a:prstGeom>
          <a:solidFill>
            <a:srgbClr val="B8862B"/>
          </a:solidFill>
          <a:ln/>
        </p:spPr>
      </p:sp>
      <p:sp>
        <p:nvSpPr>
          <p:cNvPr id="24" name="step-box"/>
          <p:cNvSpPr/>
          <p:nvPr/>
        </p:nvSpPr>
        <p:spPr>
          <a:xfrm>
            <a:off x="9178061" y="2996692"/>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3106420"/>
            <a:ext cx="530352" cy="459285"/>
          </a:xfrm>
          <a:prstGeom prst="hexagon">
            <a:avLst/>
          </a:prstGeom>
          <a:solidFill>
            <a:srgbClr val="3F6B4A"/>
          </a:solidFill>
          <a:ln/>
        </p:spPr>
      </p:sp>
      <p:sp>
        <p:nvSpPr>
          <p:cNvPr id="26" name="step-hex-label"/>
          <p:cNvSpPr txBox="1"/>
          <p:nvPr/>
        </p:nvSpPr>
        <p:spPr>
          <a:xfrm>
            <a:off x="9315221"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591052"/>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it as a sentence: 40% against 1%, which is 40 times larger.</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40% in low income countries against 1% in high income countries, which is 40 times larger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third consequence: international migration</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Refugee means across a border; displaced person means still inside the country. Say the word border out loud when you are deciding.</a:t>
            </a:r>
            <a:endParaRPr lang="en-US" sz="1800" dirty="0"/>
          </a:p>
        </p:txBody>
      </p:sp>
      <p:sp>
        <p:nvSpPr>
          <p:cNvPr id="11" name="bullet-card"/>
          <p:cNvSpPr/>
          <p:nvPr/>
        </p:nvSpPr>
        <p:spPr>
          <a:xfrm>
            <a:off x="548640" y="1389888"/>
            <a:ext cx="11094415" cy="924560"/>
          </a:xfrm>
          <a:prstGeom prst="roundRect">
            <a:avLst>
              <a:gd name="adj" fmla="val 7912"/>
            </a:avLst>
          </a:prstGeom>
          <a:solidFill>
            <a:srgbClr val="EAEFEB"/>
          </a:solidFill>
          <a:ln/>
        </p:spPr>
      </p:sp>
      <p:sp>
        <p:nvSpPr>
          <p:cNvPr id="12" name="bullet-hex"/>
          <p:cNvSpPr/>
          <p:nvPr/>
        </p:nvSpPr>
        <p:spPr>
          <a:xfrm>
            <a:off x="676656" y="1685875"/>
            <a:ext cx="384048" cy="332586"/>
          </a:xfrm>
          <a:prstGeom prst="hexagon">
            <a:avLst/>
          </a:prstGeom>
          <a:solidFill>
            <a:srgbClr val="3F6B4A"/>
          </a:solidFill>
          <a:ln/>
        </p:spPr>
      </p:sp>
      <p:sp>
        <p:nvSpPr>
          <p:cNvPr id="13" name="bullet"/>
          <p:cNvSpPr txBox="1"/>
          <p:nvPr/>
        </p:nvSpPr>
        <p:spPr>
          <a:xfrm>
            <a:off x="1143000" y="1389888"/>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Where development is uneven, people move. Migration is simply the movement of people from one place to another.</a:t>
            </a:r>
            <a:endParaRPr lang="en-US" sz="2000" dirty="0"/>
          </a:p>
        </p:txBody>
      </p:sp>
      <p:sp>
        <p:nvSpPr>
          <p:cNvPr id="14" name="bullet-card"/>
          <p:cNvSpPr/>
          <p:nvPr/>
        </p:nvSpPr>
        <p:spPr>
          <a:xfrm>
            <a:off x="548640" y="2460752"/>
            <a:ext cx="11094415" cy="1544320"/>
          </a:xfrm>
          <a:prstGeom prst="roundRect">
            <a:avLst>
              <a:gd name="adj" fmla="val 4737"/>
            </a:avLst>
          </a:prstGeom>
          <a:solidFill>
            <a:srgbClr val="EAEFEB"/>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460752"/>
            <a:ext cx="10408615" cy="15443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course uses recent movements as its examples. In the last few years hundreds of thousands of refugees have left Syria, Afghanistan and Iraq looking for a better life in Europe; 4 million people have fled Syria's civil war since 2011, many of them housed in temporary camps in Turkey, Jordan and Lebanon where there is little work and little prospect of anything better.</a:t>
            </a:r>
            <a:endParaRPr lang="en-US" sz="2000" dirty="0"/>
          </a:p>
        </p:txBody>
      </p:sp>
      <p:sp>
        <p:nvSpPr>
          <p:cNvPr id="17" name="bullet-card"/>
          <p:cNvSpPr/>
          <p:nvPr/>
        </p:nvSpPr>
        <p:spPr>
          <a:xfrm>
            <a:off x="548640" y="4151376"/>
            <a:ext cx="11094415" cy="924560"/>
          </a:xfrm>
          <a:prstGeom prst="roundRect">
            <a:avLst>
              <a:gd name="adj" fmla="val 7912"/>
            </a:avLst>
          </a:prstGeom>
          <a:solidFill>
            <a:srgbClr val="EAEFEB"/>
          </a:solidFill>
          <a:ln/>
        </p:spPr>
      </p:sp>
      <p:sp>
        <p:nvSpPr>
          <p:cNvPr id="18" name="bullet-hex"/>
          <p:cNvSpPr/>
          <p:nvPr/>
        </p:nvSpPr>
        <p:spPr>
          <a:xfrm>
            <a:off x="676656" y="4447363"/>
            <a:ext cx="384048" cy="332586"/>
          </a:xfrm>
          <a:prstGeom prst="hexagon">
            <a:avLst/>
          </a:prstGeom>
          <a:solidFill>
            <a:srgbClr val="3F6B4A"/>
          </a:solidFill>
          <a:ln/>
        </p:spPr>
      </p:sp>
      <p:sp>
        <p:nvSpPr>
          <p:cNvPr id="19" name="bullet"/>
          <p:cNvSpPr txBox="1"/>
          <p:nvPr/>
        </p:nvSpPr>
        <p:spPr>
          <a:xfrm>
            <a:off x="1143000" y="4151376"/>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What follows for the country they arrive in? Most migrants pay taxes into their new country's economy and are willing to do manual work that others will not.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Six words for moving</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migration word to its meaning.</a:t>
            </a:r>
            <a:endParaRPr lang="en-US" sz="2400" dirty="0"/>
          </a:p>
        </p:txBody>
      </p:sp>
      <p:sp>
        <p:nvSpPr>
          <p:cNvPr id="11" name="match-card"/>
          <p:cNvSpPr/>
          <p:nvPr/>
        </p:nvSpPr>
        <p:spPr>
          <a:xfrm>
            <a:off x="777240" y="2468331"/>
            <a:ext cx="3081437" cy="509735"/>
          </a:xfrm>
          <a:prstGeom prst="roundRect">
            <a:avLst>
              <a:gd name="adj" fmla="val 14351"/>
            </a:avLst>
          </a:prstGeom>
          <a:solidFill>
            <a:srgbClr val="EAEFEB"/>
          </a:solidFill>
          <a:ln/>
        </p:spPr>
      </p:sp>
      <p:sp>
        <p:nvSpPr>
          <p:cNvPr id="12" name="match-hex"/>
          <p:cNvSpPr/>
          <p:nvPr/>
        </p:nvSpPr>
        <p:spPr>
          <a:xfrm>
            <a:off x="850392" y="2556906"/>
            <a:ext cx="384048" cy="332586"/>
          </a:xfrm>
          <a:prstGeom prst="hexagon">
            <a:avLst/>
          </a:prstGeom>
          <a:solidFill>
            <a:srgbClr val="3F6B4A"/>
          </a:solidFill>
          <a:ln/>
        </p:spPr>
      </p:sp>
      <p:sp>
        <p:nvSpPr>
          <p:cNvPr id="13" name="match-hex-label"/>
          <p:cNvSpPr txBox="1"/>
          <p:nvPr/>
        </p:nvSpPr>
        <p:spPr>
          <a:xfrm>
            <a:off x="850392"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Migration</a:t>
            </a:r>
            <a:endParaRPr lang="en-US" sz="2000" dirty="0"/>
          </a:p>
        </p:txBody>
      </p:sp>
      <p:sp>
        <p:nvSpPr>
          <p:cNvPr id="15" name="match-card"/>
          <p:cNvSpPr/>
          <p:nvPr/>
        </p:nvSpPr>
        <p:spPr>
          <a:xfrm>
            <a:off x="4224437" y="2468331"/>
            <a:ext cx="7190019" cy="509735"/>
          </a:xfrm>
          <a:prstGeom prst="roundRect">
            <a:avLst>
              <a:gd name="adj" fmla="val 14351"/>
            </a:avLst>
          </a:prstGeom>
          <a:solidFill>
            <a:srgbClr val="F4EDDF"/>
          </a:solidFill>
          <a:ln/>
        </p:spPr>
      </p:sp>
      <p:sp>
        <p:nvSpPr>
          <p:cNvPr id="16" name="match-hex"/>
          <p:cNvSpPr/>
          <p:nvPr/>
        </p:nvSpPr>
        <p:spPr>
          <a:xfrm>
            <a:off x="4297589" y="2556906"/>
            <a:ext cx="384048" cy="332586"/>
          </a:xfrm>
          <a:prstGeom prst="hexagon">
            <a:avLst/>
          </a:prstGeom>
          <a:solidFill>
            <a:srgbClr val="B8862B"/>
          </a:solidFill>
          <a:ln/>
        </p:spPr>
      </p:sp>
      <p:sp>
        <p:nvSpPr>
          <p:cNvPr id="17" name="match-hex-label"/>
          <p:cNvSpPr txBox="1"/>
          <p:nvPr/>
        </p:nvSpPr>
        <p:spPr>
          <a:xfrm>
            <a:off x="4297589"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person who moves out of a country</a:t>
            </a:r>
            <a:endParaRPr lang="en-US" sz="2000" dirty="0"/>
          </a:p>
        </p:txBody>
      </p:sp>
      <p:sp>
        <p:nvSpPr>
          <p:cNvPr id="19" name="match-card"/>
          <p:cNvSpPr/>
          <p:nvPr/>
        </p:nvSpPr>
        <p:spPr>
          <a:xfrm>
            <a:off x="777240" y="3069507"/>
            <a:ext cx="3081437" cy="799295"/>
          </a:xfrm>
          <a:prstGeom prst="roundRect">
            <a:avLst>
              <a:gd name="adj" fmla="val 9152"/>
            </a:avLst>
          </a:prstGeom>
          <a:solidFill>
            <a:srgbClr val="EAEFEB"/>
          </a:solidFill>
          <a:ln/>
        </p:spPr>
      </p:sp>
      <p:sp>
        <p:nvSpPr>
          <p:cNvPr id="20" name="match-hex"/>
          <p:cNvSpPr/>
          <p:nvPr/>
        </p:nvSpPr>
        <p:spPr>
          <a:xfrm>
            <a:off x="850392" y="3302862"/>
            <a:ext cx="384048" cy="332586"/>
          </a:xfrm>
          <a:prstGeom prst="hexagon">
            <a:avLst/>
          </a:prstGeom>
          <a:solidFill>
            <a:srgbClr val="3F6B4A"/>
          </a:solidFill>
          <a:ln/>
        </p:spPr>
      </p:sp>
      <p:sp>
        <p:nvSpPr>
          <p:cNvPr id="21" name="match-hex-label"/>
          <p:cNvSpPr txBox="1"/>
          <p:nvPr/>
        </p:nvSpPr>
        <p:spPr>
          <a:xfrm>
            <a:off x="850392"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50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Immigrant</a:t>
            </a:r>
            <a:endParaRPr lang="en-US" sz="2000" dirty="0"/>
          </a:p>
        </p:txBody>
      </p:sp>
      <p:sp>
        <p:nvSpPr>
          <p:cNvPr id="23" name="match-card"/>
          <p:cNvSpPr/>
          <p:nvPr/>
        </p:nvSpPr>
        <p:spPr>
          <a:xfrm>
            <a:off x="4224437" y="3069507"/>
            <a:ext cx="7190019" cy="799295"/>
          </a:xfrm>
          <a:prstGeom prst="roundRect">
            <a:avLst>
              <a:gd name="adj" fmla="val 9152"/>
            </a:avLst>
          </a:prstGeom>
          <a:solidFill>
            <a:srgbClr val="F4EDDF"/>
          </a:solidFill>
          <a:ln/>
        </p:spPr>
      </p:sp>
      <p:sp>
        <p:nvSpPr>
          <p:cNvPr id="24" name="match-hex"/>
          <p:cNvSpPr/>
          <p:nvPr/>
        </p:nvSpPr>
        <p:spPr>
          <a:xfrm>
            <a:off x="4297589" y="3302862"/>
            <a:ext cx="384048" cy="332586"/>
          </a:xfrm>
          <a:prstGeom prst="hexagon">
            <a:avLst/>
          </a:prstGeom>
          <a:solidFill>
            <a:srgbClr val="B8862B"/>
          </a:solidFill>
          <a:ln/>
        </p:spPr>
      </p:sp>
      <p:sp>
        <p:nvSpPr>
          <p:cNvPr id="25" name="match-hex-label"/>
          <p:cNvSpPr txBox="1"/>
          <p:nvPr/>
        </p:nvSpPr>
        <p:spPr>
          <a:xfrm>
            <a:off x="4297589"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6950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person forced to leave their country by civil war or a natural disaster</a:t>
            </a:r>
            <a:endParaRPr lang="en-US" sz="2000" dirty="0"/>
          </a:p>
        </p:txBody>
      </p:sp>
      <p:sp>
        <p:nvSpPr>
          <p:cNvPr id="27" name="match-card"/>
          <p:cNvSpPr/>
          <p:nvPr/>
        </p:nvSpPr>
        <p:spPr>
          <a:xfrm>
            <a:off x="777240" y="3960242"/>
            <a:ext cx="3081437" cy="799295"/>
          </a:xfrm>
          <a:prstGeom prst="roundRect">
            <a:avLst>
              <a:gd name="adj" fmla="val 9152"/>
            </a:avLst>
          </a:prstGeom>
          <a:solidFill>
            <a:srgbClr val="EAEFEB"/>
          </a:solidFill>
          <a:ln/>
        </p:spPr>
      </p:sp>
      <p:sp>
        <p:nvSpPr>
          <p:cNvPr id="28" name="match-hex"/>
          <p:cNvSpPr/>
          <p:nvPr/>
        </p:nvSpPr>
        <p:spPr>
          <a:xfrm>
            <a:off x="850392" y="4193597"/>
            <a:ext cx="384048" cy="332586"/>
          </a:xfrm>
          <a:prstGeom prst="hexagon">
            <a:avLst/>
          </a:prstGeom>
          <a:solidFill>
            <a:srgbClr val="3F6B4A"/>
          </a:solidFill>
          <a:ln/>
        </p:spPr>
      </p:sp>
      <p:sp>
        <p:nvSpPr>
          <p:cNvPr id="29" name="match-hex-label"/>
          <p:cNvSpPr txBox="1"/>
          <p:nvPr/>
        </p:nvSpPr>
        <p:spPr>
          <a:xfrm>
            <a:off x="850392" y="41935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0242"/>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Emigrant</a:t>
            </a:r>
            <a:endParaRPr lang="en-US" sz="2000" dirty="0"/>
          </a:p>
        </p:txBody>
      </p:sp>
      <p:sp>
        <p:nvSpPr>
          <p:cNvPr id="31" name="match-card"/>
          <p:cNvSpPr/>
          <p:nvPr/>
        </p:nvSpPr>
        <p:spPr>
          <a:xfrm>
            <a:off x="4224437" y="3960242"/>
            <a:ext cx="7190019" cy="799295"/>
          </a:xfrm>
          <a:prstGeom prst="roundRect">
            <a:avLst>
              <a:gd name="adj" fmla="val 9152"/>
            </a:avLst>
          </a:prstGeom>
          <a:solidFill>
            <a:srgbClr val="F4EDDF"/>
          </a:solidFill>
          <a:ln/>
        </p:spPr>
      </p:sp>
      <p:sp>
        <p:nvSpPr>
          <p:cNvPr id="32" name="match-hex"/>
          <p:cNvSpPr/>
          <p:nvPr/>
        </p:nvSpPr>
        <p:spPr>
          <a:xfrm>
            <a:off x="4297589" y="4193597"/>
            <a:ext cx="384048" cy="332586"/>
          </a:xfrm>
          <a:prstGeom prst="hexagon">
            <a:avLst/>
          </a:prstGeom>
          <a:solidFill>
            <a:srgbClr val="B8862B"/>
          </a:solidFill>
          <a:ln/>
        </p:spPr>
      </p:sp>
      <p:sp>
        <p:nvSpPr>
          <p:cNvPr id="33" name="match-hex-label"/>
          <p:cNvSpPr txBox="1"/>
          <p:nvPr/>
        </p:nvSpPr>
        <p:spPr>
          <a:xfrm>
            <a:off x="4297589" y="41935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60242"/>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person who moves by choice to seek a better life, such as better pay or schooling</a:t>
            </a:r>
            <a:endParaRPr lang="en-US" sz="2000" dirty="0"/>
          </a:p>
        </p:txBody>
      </p:sp>
      <p:sp>
        <p:nvSpPr>
          <p:cNvPr id="35" name="match-card"/>
          <p:cNvSpPr/>
          <p:nvPr/>
        </p:nvSpPr>
        <p:spPr>
          <a:xfrm>
            <a:off x="777240" y="4850977"/>
            <a:ext cx="3081437" cy="509735"/>
          </a:xfrm>
          <a:prstGeom prst="roundRect">
            <a:avLst>
              <a:gd name="adj" fmla="val 14351"/>
            </a:avLst>
          </a:prstGeom>
          <a:solidFill>
            <a:srgbClr val="EAEFEB"/>
          </a:solidFill>
          <a:ln/>
        </p:spPr>
      </p:sp>
      <p:sp>
        <p:nvSpPr>
          <p:cNvPr id="36" name="match-hex"/>
          <p:cNvSpPr/>
          <p:nvPr/>
        </p:nvSpPr>
        <p:spPr>
          <a:xfrm>
            <a:off x="850392" y="4939552"/>
            <a:ext cx="384048" cy="332586"/>
          </a:xfrm>
          <a:prstGeom prst="hexagon">
            <a:avLst/>
          </a:prstGeom>
          <a:solidFill>
            <a:srgbClr val="3F6B4A"/>
          </a:solidFill>
          <a:ln/>
        </p:spPr>
      </p:sp>
      <p:sp>
        <p:nvSpPr>
          <p:cNvPr id="37" name="match-hex-label"/>
          <p:cNvSpPr txBox="1"/>
          <p:nvPr/>
        </p:nvSpPr>
        <p:spPr>
          <a:xfrm>
            <a:off x="850392" y="49395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850977"/>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Economic migrant</a:t>
            </a:r>
            <a:endParaRPr lang="en-US" sz="2000" dirty="0"/>
          </a:p>
        </p:txBody>
      </p:sp>
      <p:sp>
        <p:nvSpPr>
          <p:cNvPr id="39" name="match-card"/>
          <p:cNvSpPr/>
          <p:nvPr/>
        </p:nvSpPr>
        <p:spPr>
          <a:xfrm>
            <a:off x="4224437" y="4850977"/>
            <a:ext cx="7190019" cy="509735"/>
          </a:xfrm>
          <a:prstGeom prst="roundRect">
            <a:avLst>
              <a:gd name="adj" fmla="val 14351"/>
            </a:avLst>
          </a:prstGeom>
          <a:solidFill>
            <a:srgbClr val="F4EDDF"/>
          </a:solidFill>
          <a:ln/>
        </p:spPr>
      </p:sp>
      <p:sp>
        <p:nvSpPr>
          <p:cNvPr id="40" name="match-hex"/>
          <p:cNvSpPr/>
          <p:nvPr/>
        </p:nvSpPr>
        <p:spPr>
          <a:xfrm>
            <a:off x="4297589" y="4939552"/>
            <a:ext cx="384048" cy="332586"/>
          </a:xfrm>
          <a:prstGeom prst="hexagon">
            <a:avLst/>
          </a:prstGeom>
          <a:solidFill>
            <a:srgbClr val="B8862B"/>
          </a:solidFill>
          <a:ln/>
        </p:spPr>
      </p:sp>
      <p:sp>
        <p:nvSpPr>
          <p:cNvPr id="41" name="match-hex-label"/>
          <p:cNvSpPr txBox="1"/>
          <p:nvPr/>
        </p:nvSpPr>
        <p:spPr>
          <a:xfrm>
            <a:off x="4297589" y="49395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850977"/>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person who moves into a country</a:t>
            </a:r>
            <a:endParaRPr lang="en-US" sz="2000" dirty="0"/>
          </a:p>
        </p:txBody>
      </p:sp>
      <p:sp>
        <p:nvSpPr>
          <p:cNvPr id="43" name="match-card"/>
          <p:cNvSpPr/>
          <p:nvPr/>
        </p:nvSpPr>
        <p:spPr>
          <a:xfrm>
            <a:off x="777240" y="5452153"/>
            <a:ext cx="3081437" cy="509735"/>
          </a:xfrm>
          <a:prstGeom prst="roundRect">
            <a:avLst>
              <a:gd name="adj" fmla="val 14351"/>
            </a:avLst>
          </a:prstGeom>
          <a:solidFill>
            <a:srgbClr val="EAEFEB"/>
          </a:solidFill>
          <a:ln/>
        </p:spPr>
      </p:sp>
      <p:sp>
        <p:nvSpPr>
          <p:cNvPr id="44" name="match-hex"/>
          <p:cNvSpPr/>
          <p:nvPr/>
        </p:nvSpPr>
        <p:spPr>
          <a:xfrm>
            <a:off x="850392" y="5540728"/>
            <a:ext cx="384048" cy="332586"/>
          </a:xfrm>
          <a:prstGeom prst="hexagon">
            <a:avLst/>
          </a:prstGeom>
          <a:solidFill>
            <a:srgbClr val="3F6B4A"/>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Refugee</a:t>
            </a:r>
            <a:endParaRPr lang="en-US" sz="2000" dirty="0"/>
          </a:p>
        </p:txBody>
      </p:sp>
      <p:sp>
        <p:nvSpPr>
          <p:cNvPr id="47" name="match-card"/>
          <p:cNvSpPr/>
          <p:nvPr/>
        </p:nvSpPr>
        <p:spPr>
          <a:xfrm>
            <a:off x="4224437" y="5452153"/>
            <a:ext cx="7190019" cy="509735"/>
          </a:xfrm>
          <a:prstGeom prst="roundRect">
            <a:avLst>
              <a:gd name="adj" fmla="val 14351"/>
            </a:avLst>
          </a:prstGeom>
          <a:solidFill>
            <a:srgbClr val="F4EDDF"/>
          </a:solidFill>
          <a:ln/>
        </p:spPr>
      </p:sp>
      <p:sp>
        <p:nvSpPr>
          <p:cNvPr id="48" name="match-hex"/>
          <p:cNvSpPr/>
          <p:nvPr/>
        </p:nvSpPr>
        <p:spPr>
          <a:xfrm>
            <a:off x="4297589" y="5540728"/>
            <a:ext cx="384048" cy="332586"/>
          </a:xfrm>
          <a:prstGeom prst="hexagon">
            <a:avLst/>
          </a:prstGeom>
          <a:solidFill>
            <a:srgbClr val="B8862B"/>
          </a:solidFill>
          <a:ln/>
        </p:spPr>
      </p:sp>
      <p:sp>
        <p:nvSpPr>
          <p:cNvPr id="49" name="match-hex-label"/>
          <p:cNvSpPr txBox="1"/>
          <p:nvPr/>
        </p:nvSpPr>
        <p:spPr>
          <a:xfrm>
            <a:off x="4297589"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52153"/>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movement of people from one place to another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(1 of 2): Six words for moving</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migration word to its meaning.</a:t>
            </a:r>
            <a:endParaRPr lang="en-US" sz="2000" dirty="0"/>
          </a:p>
        </p:txBody>
      </p:sp>
      <p:sp>
        <p:nvSpPr>
          <p:cNvPr id="12" name="col-Support"/>
          <p:cNvSpPr/>
          <p:nvPr/>
        </p:nvSpPr>
        <p:spPr>
          <a:xfrm>
            <a:off x="548640" y="2578608"/>
            <a:ext cx="11094415" cy="3566160"/>
          </a:xfrm>
          <a:prstGeom prst="roundRect">
            <a:avLst>
              <a:gd name="adj" fmla="val 1538"/>
            </a:avLst>
          </a:prstGeom>
          <a:solidFill>
            <a:srgbClr val="E6ECE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10820095"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Start with the widest word: one of them simply means people moving, with no reason attached.</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Two of them are a pair: one means moving in, one means moving out. The letter i starts both in and immigrant.</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One of them says the person had a choice.</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One of them says the person had no choice and left the country.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(2 of 2): Six words for moving</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migration word to its meaning.</a:t>
            </a:r>
            <a:endParaRPr lang="en-US" sz="2000" dirty="0"/>
          </a:p>
        </p:txBody>
      </p:sp>
      <p:sp>
        <p:nvSpPr>
          <p:cNvPr id="12" name="col-Core"/>
          <p:cNvSpPr/>
          <p:nvPr/>
        </p:nvSpPr>
        <p:spPr>
          <a:xfrm>
            <a:off x="548640" y="2578608"/>
            <a:ext cx="5410048" cy="3566160"/>
          </a:xfrm>
          <a:prstGeom prst="roundRect">
            <a:avLst>
              <a:gd name="adj" fmla="val 1538"/>
            </a:avLst>
          </a:prstGeom>
          <a:solidFill>
            <a:srgbClr val="CFDAD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32563B"/>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Two of these are about direction (in and out), one is about choice, one is about force, and one is the general word.</a:t>
            </a:r>
            <a:endParaRPr lang="en-US" sz="2200" dirty="0"/>
          </a:p>
        </p:txBody>
      </p:sp>
      <p:sp>
        <p:nvSpPr>
          <p:cNvPr id="17" name="col-Stretch"/>
          <p:cNvSpPr/>
          <p:nvPr/>
        </p:nvSpPr>
        <p:spPr>
          <a:xfrm>
            <a:off x="6233008" y="2578608"/>
            <a:ext cx="5410048" cy="3566160"/>
          </a:xfrm>
          <a:prstGeom prst="roundRect">
            <a:avLst>
              <a:gd name="adj" fmla="val 1538"/>
            </a:avLst>
          </a:prstGeom>
          <a:solidFill>
            <a:srgbClr val="3F6B4A"/>
          </a:solidFill>
          <a:ln/>
        </p:spPr>
      </p:sp>
      <p:sp>
        <p:nvSpPr>
          <p:cNvPr id="18" name="col-hex"/>
          <p:cNvSpPr/>
          <p:nvPr/>
        </p:nvSpPr>
        <p:spPr>
          <a:xfrm>
            <a:off x="634273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 family leaves Syria because of the civil war and settles in Germany, where both parents find work. Explain which two of these words could fairly be used about them, and why one of them fits better.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far apart are the shares?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Africa's share of the world's wealth is about 1%. North America's share is 35%. How many times bigger is North America's share than Africa's?</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times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How far apart are the shares?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Africa's share of the world's wealth is about 1%. North America's share is 35%. How many times bigger is North America's share than Africa's?</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6ECE7"/>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many times bigger always means divide, never subtract.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larger number on top: 35 ÷ 1.</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it out: 35.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it as a sentence, with the word times in it.</a:t>
            </a:r>
            <a:endParaRPr lang="en-US" sz="1800" dirty="0"/>
          </a:p>
        </p:txBody>
      </p:sp>
      <p:sp>
        <p:nvSpPr>
          <p:cNvPr id="17" name="col-Core"/>
          <p:cNvSpPr/>
          <p:nvPr/>
        </p:nvSpPr>
        <p:spPr>
          <a:xfrm>
            <a:off x="4338218" y="2593848"/>
            <a:ext cx="3515258" cy="3550920"/>
          </a:xfrm>
          <a:prstGeom prst="roundRect">
            <a:avLst>
              <a:gd name="adj" fmla="val 1561"/>
            </a:avLst>
          </a:prstGeom>
          <a:solidFill>
            <a:srgbClr val="CFDAD2"/>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times bigger is a division, not a subtraction. Larger number on top.</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3F6B4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Africa holds about 1% of global wealth but far more than 1% of the world's people. Explain why comparing shares of wealth with shares of population tells you more than either figure on its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physical cause of uneven development?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Having been ruled as a colony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Selling primary products cheaply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corrupt government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Being landlocked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Six words for moving</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Migration  →  E  The movement of people from one place to another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Immigrant  →  D  A person who moves into a country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Emigrant  →  A  A person who moves out of a country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Economic migrant  →  C  A person who moves by choice to seek a better life, such as better pay or schooling</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Refugee  →  B  A person forced to leave their country by civil war or a natural disaster</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Migration is the movement of people from one place to another. An immigrant moves in, an emigrant moves out. An economic migrant chooses to move for a better life; a refugee is forced to leave the country by war or disaster. A displaced person, which is not in this list, is forced from home but stays inside their own country.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far apart are the shares?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Africa's share of the world's wealth is about 1%. North America's share is 35%. How many times bigger is North America's share than Africa's?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35 times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35 ÷ 1 = 35. North America's share of global wealth is 35 times Africa's, even though Africa has far more people. That gap is what geographers mean by a disparity in wealth.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physical cause of uneven development?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Being landlocked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Being landlocked is a feature of the land itself: no coastline means no sea trade of a country's own. The other three are human causes, political or economic.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Changing Economic World · Chapter 3: Why development is uneven, and what follows</dc:title>
  <dc:subject>Geography · Year 10</dc:subject>
  <dc:creator>Dr Vitor Merissi de Carvalho</dc:creator>
  <cp:lastModifiedBy>Dr Vitor Merissi de Carvalho</cp:lastModifiedBy>
  <cp:revision>1</cp:revision>
  <dcterms:created xsi:type="dcterms:W3CDTF">2026-10-19T06:07:36Z</dcterms:created>
  <dcterms:modified xsi:type="dcterms:W3CDTF">2026-10-19T06:07:36Z</dcterms:modified>
</cp:coreProperties>
</file>