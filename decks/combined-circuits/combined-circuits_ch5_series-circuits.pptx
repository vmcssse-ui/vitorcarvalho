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800c780-33d3-dff6-5771-c5d17c85899c}">
          <p14:sldIdLst>
            <p14:sldId id="256"/>
          </p14:sldIdLst>
        </p14:section>
        <p14:section name="Gate" id="{c94f92a6-c1a0-bce8-472f-39e274e7c10e}">
          <p14:sldIdLst>
            <p14:sldId id="257"/>
            <p14:sldId id="258"/>
          </p14:sldIdLst>
        </p14:section>
        <p14:section name="Pre-teach" id="{3d293dbf-2572-456b-72fe-78a45638167c}">
          <p14:sldIdLst>
            <p14:sldId id="259"/>
          </p14:sldIdLst>
        </p14:section>
        <p14:section name="Read-along" id="{b31ea870-2937-00a0-462e-fa3fe6a5d880}">
          <p14:sldIdLst>
            <p14:sldId id="260"/>
          </p14:sldIdLst>
        </p14:section>
        <p14:section name="Teach" id="{835ad6ca-1bfe-a77d-fe10-b2bf8d497bd6}">
          <p14:sldIdLst>
            <p14:sldId id="261"/>
            <p14:sldId id="262"/>
            <p14:sldId id="263"/>
            <p14:sldId id="264"/>
          </p14:sldIdLst>
        </p14:section>
        <p14:section name="Routes" id="{7262e95f-801b-2f32-4aaa-2481489b2ca3}">
          <p14:sldIdLst>
            <p14:sldId id="265"/>
            <p14:sldId id="266"/>
          </p14:sldIdLst>
        </p14:section>
        <p14:section name="Close" id="{ef93409e-8861-240a-6306-722bafc6f99b}">
          <p14:sldIdLst>
            <p14:sldId id="267"/>
          </p14:sldIdLst>
        </p14:section>
        <p14:section name="Answers" id="{60e10489-d82f-53b6-1c61-31140ad19de0}">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Series circuits. This chapter gives you the three rules for a series circuit and shows how to use them with V = I R.
This deck covers the department's lesson: 5 (P4.5 Series circuits: What are the rules for current, potential difference and resistance in a series circuit?).
Read the big question aloud: "What decides how much current flows in each part of a circuit?"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can you say about the current in a series circuit?  →  A   It is the same everywhere in the loop.
2. A 4 Ω resistor and a 6 Ω resistor are joined in series. Calculate the total resistance in ohms.  →  10 Ω
3. A 6.0 V supply is connected to two lamps in series. The p.d. across one lamp is 2.5 V. Calculate the p.d. across the other lamp in volts.  →  3.5 V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It is the same everywhere in the loop.. A series circuit has one loop, so the same current passes through every component.
2. 10 Ω. In series the resistances add: 4 + 6 = 10 Ω. Whole-number data, so a whole-number answer.
3. 3.5 V. The p.d.s add up to the supply: 6.0 − 2.5 = 3.5 V (2 s.f.).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series: joined one after another in a single loop. Example: "The two lamps were joined in series."
• total: everything added together. Example: "The total resistance is both resistances added together."
• share: split between. Example: "The two lamps share the p.d. from the battery."
• supply: the cell, battery or power pack that pushes the current. Example: "The supply gave a p.d. of twelve volts."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1–11 of 11:
1. In a series circuit, there is only one loop.
2. The charge goes through each component in turn.
3. So the current is the same everywhere in the loop.
4. Every ammeter in the loop shows the same reading.
5. The components share the p.d. from the supply.
6. Add up the p.d. across each component.
7. You get the p.d. of the supply.
8. A bigger resistance gets a bigger share of the p.d.
9. To find the total resistance, add the resistances together.
10. Adding another resistor in series makes the total resistance bigger.
11. So the current gets smaller.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Current in a series circuit. Say it in your own words, then check understanding with a quick question: ask a pupil from the pre-teach group first, since they met these words and ideas before the lesson. Pupils try to recall before you re-explain.
A series circuit has only one loop, so all the charge has to pass through every component in turn. That means the current is the same at every point: put ammeters anywhere in the loop and they all show the same reading.
Cells joined in series add their p.d.s together, as long as they all face the same way. If one cell is put in the wrong way round, it pushes against the others and its p.d. is taken away instead of added.
Worked example — model it step by step, thinking aloud: Three 1.5 V cells are joined in series, all facing the same way. Then one is turned round. Calculate the total p.d. before and after. (1) Same way round: add them. 1.5 + 1.5 + 1.5 = 4.5 V. (2) One reversed: it subtracts. 1.5 + 1.5 − 1.5 = 1.5 V. Answer: 4.5 V, then 1.5 V.
Tip: Series: one loop, one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Potential difference shares out. Say it in your own words, then check understanding with a quick question: ask a pupil from the pre-teach group first, since they met these words and ideas before the lesson. Pupils try to recall before you re-explain.
In a series circuit, the p.d. of the supply is shared between the components. Add up the p.d. across each component and you get the supply p.d.: V(supply) = V₁ + V₂ + ….
The share is not always equal. The current is the same through each component, so by V = I R the component with the bigger resistance gets the bigger share of the p.d.
Worked example — model it step by step, thinking aloud: A 12 V battery is connected to a lamp and a resistor in series. The p.d. across the lamp is 7.5 V. Calculate the p.d. across the resistor. (1) The p.d.s add up to the supply: 12 = 7.5 + V(resistor). (2) Rearrange: V(resistor) = 12 − 7.5. (3) V(resistor) = 4.5 V. Answer: 4.5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Total resistance and the current. Say it in your own words, then check understanding with a quick question: ask a pupil from the pre-teach group first, since they met these words and ideas before the lesson. Pupils try to recall before you re-explain.
The total resistance of components in series is the sum of their resistances: R(total) = R₁ + R₂ + …. Adding another resistor in series increases the total resistance, because the charge has to pass through both: the cell's push is shared between more opposition, so the current falls.
To solve a series circuit, work in order. First add the resistances. Then find the current with I = V ÷ R(total), using the supply p.d. Finally, find the p.d. across each component with V = I R, and check that they add up to the supply.
Worked example — model it step by step, thinking aloud: A 9.0 V battery is connected to a 10 Ω resistor and a 20 Ω resistor in series. Calculate the current, and the p.d. across each resistor. (1) Total resistance: R = 10 + 20 = 30 Ω. (2) Current: I = V ÷ R = 9.0 ÷ 30 = 0.30 A, the same everywhere. (3) p.d. across 10 Ω: V = I R = 0.30 × 10 = 3.0 V. (4) p.d. across 20 Ω: V = I R = 0.30 × 20 = 6.0 V. (5) Check: 3.0 + 6.0 = 9.0 V, the supply p.d. Answer: 0.30 A; 3.0 V across 10 Ω and 6.0 V across 20 Ω.
Tip: Order: add the R, find I, then each V. Check the V's add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Total resistance and the current. Say it in your own words, then check understanding with a quick question: ask a pupil from the pre-teach group first, since they met these words and ideas before the lesson. Pupils try to recall before you re-explain.
The total resistance of components in series is the sum of their resistances: R(total) = R₁ + R₂ + …. Adding another resistor in series increases the total resistance, because the charge has to pass through both: the cell's push is shared between more opposition, so the current falls.
To solve a series circuit, work in order. First add the resistances. Then find the current with I = V ÷ R(total), using the supply p.d. Finally, find the p.d. across each component with V = I R, and check that they add up to the supply.
Worked example — model it step by step, thinking aloud: A 9.0 V battery is connected to a 10 Ω resistor and a 20 Ω resistor in series. Calculate the current, and the p.d. across each resistor. (1) Total resistance: R = 10 + 20 = 30 Ω. (2) Current: I = V ÷ R = 9.0 ÷ 30 = 0.30 A, the same everywhere. (3) p.d. across 10 Ω: V = I R = 0.30 × 10 = 3.0 V. (4) p.d. across 20 Ω: V = I R = 0.30 × 20 = 6.0 V. (5) Check: 3.0 + 6.0 = 9.0 V, the supply p.d. Answer: 0.30 A; 3.0 V across 10 Ω and 6.0 V across 20 Ω.
Tip: Order: add the R, find I, then each V. Check the V's add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Total resistance and current.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6.0 V battery is connected to an 8.0 Ω resistor and a 4.0 Ω resistor in series. Calculate the current in the circuit, in amps.
Support — work through the steps with the group: (1) Add the resistances to get the total resistance. (2) Use I = V ÷ R(total) with the battery p.d. (3) Write the unit A.
Parallel worked example for Support (model it, do not give the task answer): A 12 V battery is connected to a 5.0 Ω and a 3.0 Ω resistor in series. Calculate the current. R(total) = 5.0 + 3.0 = 8.0 Ω.; I = 12 ÷ 8.0.; I = 1.5 A.. Answer: 1.5 A.
Core — reveal the hint only on request: Find the total resistance first.
Stretch — no help; when finished: A third resistor of 12 Ω is added in series. Calculate the new current and explain, in words, why it has fallen.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Find the share of the p.d..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24 V supply is connected to a 30 Ω resistor and a 50 Ω resistor in series. Calculate the p.d. across the 50 Ω resistor, in volts.
Support — work through the steps with the group: (1) Add the resistances. (2) Find the current: I = V(supply) ÷ R(total). (3) Find the p.d. across the resistor you want: V = I R.
Parallel worked example for Support (model it, do not give the task answer): A 10 V supply is connected to a 15 Ω and a 35 Ω resistor in series. Calculate the p.d. across the 15 Ω resistor. R(total) = 15 + 35 = 50 Ω.; I = 10 ÷ 50 = 0.20 A.; V = 0.20 × 15 = 3.0 V.. Answer: 3.0 V.
Core — reveal the hint only on request: You need the current before you can find either p.d.
Stretch — no help; when finished: Find the p.d. across the 30 Ω resistor too, and explain why the bigger resistor gets the bigger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12 V battery drives a current of 0.40 A through two resistors in series. One resistor is 18 Ω. Calculate the resistance of the other, in ohms.
Answer: 12 Ω. Total resistance 30 Ω; 30 − 18 = 12 Ω.
Source of this question: module 3 task ("Find the missing resistor")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Total resistance and current. Reveal the answer; pupils mark their own work in a different colour, then read the "why" together. Same destination for every lane, so one answer serves the whole class.
Answer: 0.5 A
Why: Total resistance 12 Ω; I = 6.0 ÷ 12 = 0.50 A everywhere in the loop.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Find the share of the p.d.. Reveal the answer; pupils mark their own work in a different colour, then read the "why" together. Same destination for every lane, so one answer serves the whole class.
Answer: 15 V
Why: Total 80 Ω, current 0.30 A, so the 50 Ω resistor has 0.30 × 50 = 15 V across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12 Ω
Why: Total resistance 30 Ω; 30 − 18 = 12 Ω.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Combined Science (Physics) · Year 10 · Electric Circuits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Combined Science (Physics) · Year 10 · Electric Circuits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BDE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Combined Science (Physics)</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10 · 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Electric Circuits · AQA 8464</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Series circuits</a:t>
            </a:r>
            <a:endParaRPr lang="en-US" sz="4000" dirty="0"/>
          </a:p>
        </p:txBody>
      </p:sp>
      <p:sp>
        <p:nvSpPr>
          <p:cNvPr id="11" name="lessons-card"/>
          <p:cNvSpPr/>
          <p:nvPr/>
        </p:nvSpPr>
        <p:spPr>
          <a:xfrm>
            <a:off x="548640" y="3739388"/>
            <a:ext cx="5287975" cy="980440"/>
          </a:xfrm>
          <a:prstGeom prst="roundRect">
            <a:avLst>
              <a:gd name="adj" fmla="val 7461"/>
            </a:avLst>
          </a:prstGeom>
          <a:solidFill>
            <a:srgbClr val="E2ECEC"/>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P4.5 Series circuits</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Combined Science (Physics),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CEC"/>
          </a:solidFill>
          <a:ln w="12700">
            <a:solidFill>
              <a:srgbClr val="9FC1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decides how much current flows in each part of a circuit?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can you say about the current in a series circuit?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 is the same everywhere in the loop.</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 is biggest next to the cell.</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 gets used up by each component.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 splits between the components.</a:t>
            </a:r>
            <a:endParaRPr lang="en-US" sz="1800" dirty="0"/>
          </a:p>
        </p:txBody>
      </p:sp>
      <p:sp>
        <p:nvSpPr>
          <p:cNvPr id="12"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3" name="card-hex"/>
          <p:cNvSpPr/>
          <p:nvPr/>
        </p:nvSpPr>
        <p:spPr>
          <a:xfrm>
            <a:off x="4521098" y="1572768"/>
            <a:ext cx="640080" cy="554309"/>
          </a:xfrm>
          <a:prstGeom prst="hexagon">
            <a:avLst/>
          </a:prstGeom>
          <a:solidFill>
            <a:srgbClr val="1F6F6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4 Ω resistor and a 6 Ω resistor are joined in series. Calculate the total resistance in ohms.</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Ω</a:t>
            </a:r>
            <a:endParaRPr lang="en-US" sz="2400" dirty="0"/>
          </a:p>
        </p:txBody>
      </p:sp>
      <p:sp>
        <p:nvSpPr>
          <p:cNvPr id="17"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18" name="card-hex"/>
          <p:cNvSpPr/>
          <p:nvPr/>
        </p:nvSpPr>
        <p:spPr>
          <a:xfrm>
            <a:off x="8310677" y="1572768"/>
            <a:ext cx="640080" cy="554309"/>
          </a:xfrm>
          <a:prstGeom prst="hexagon">
            <a:avLst/>
          </a:prstGeom>
          <a:solidFill>
            <a:srgbClr val="1F6F6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6.0 V supply is connected to two lamps in series. The p.d. across one lamp is 2.5 V. Calculate the p.d. across the other lamp in volts.</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V</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BDDC4"/>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It is the same everywhere in the loop.</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can you say about the current in a series circuit?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series circuit has one loop, so the same current passes through every component.</a:t>
            </a:r>
            <a:endParaRPr lang="en-US" sz="2000" dirty="0"/>
          </a:p>
        </p:txBody>
      </p:sp>
      <p:sp>
        <p:nvSpPr>
          <p:cNvPr id="14"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5" name="card-hex"/>
          <p:cNvSpPr/>
          <p:nvPr/>
        </p:nvSpPr>
        <p:spPr>
          <a:xfrm>
            <a:off x="4521098" y="1572768"/>
            <a:ext cx="640080" cy="554309"/>
          </a:xfrm>
          <a:prstGeom prst="hexagon">
            <a:avLst/>
          </a:prstGeom>
          <a:solidFill>
            <a:srgbClr val="1F6F6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10 Ω</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4 Ω resistor and a 6 Ω resistor are joined in series. Calculate the total resistance in ohms.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In series the resistances add: 4 + 6 = 10 Ω. Whole-number data, so a whole-number answer.</a:t>
            </a:r>
            <a:endParaRPr lang="en-US" sz="2000" dirty="0"/>
          </a:p>
        </p:txBody>
      </p:sp>
      <p:sp>
        <p:nvSpPr>
          <p:cNvPr id="21"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22" name="card-hex"/>
          <p:cNvSpPr/>
          <p:nvPr/>
        </p:nvSpPr>
        <p:spPr>
          <a:xfrm>
            <a:off x="8310677" y="1572768"/>
            <a:ext cx="640080" cy="554309"/>
          </a:xfrm>
          <a:prstGeom prst="hexagon">
            <a:avLst/>
          </a:prstGeom>
          <a:solidFill>
            <a:srgbClr val="1F6F6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3.5 V</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6.0 V supply is connected to two lamps in series. The p.d. across one lamp is 2.5 V. Calculate the p.d. across the other lamp in volts.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p.d.s add up to the supply: 6.0 − 2.5 = 3.5 V (2 s.f.).</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1F6F6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916051"/>
          </a:xfrm>
          <a:prstGeom prst="roundRect">
            <a:avLst>
              <a:gd name="adj" fmla="val 5989"/>
            </a:avLst>
          </a:prstGeom>
          <a:solidFill>
            <a:srgbClr val="E6EFEF"/>
          </a:solidFill>
          <a:ln/>
        </p:spPr>
      </p:sp>
      <p:sp>
        <p:nvSpPr>
          <p:cNvPr id="12" name="kw-hex"/>
          <p:cNvSpPr/>
          <p:nvPr/>
        </p:nvSpPr>
        <p:spPr>
          <a:xfrm>
            <a:off x="658368" y="2200095"/>
            <a:ext cx="411480" cy="356342"/>
          </a:xfrm>
          <a:prstGeom prst="hexagon">
            <a:avLst/>
          </a:prstGeom>
          <a:solidFill>
            <a:srgbClr val="1F6F6A"/>
          </a:solidFill>
          <a:ln/>
        </p:spPr>
      </p:sp>
      <p:sp>
        <p:nvSpPr>
          <p:cNvPr id="13" name="kw-cell"/>
          <p:cNvSpPr txBox="1"/>
          <p:nvPr/>
        </p:nvSpPr>
        <p:spPr>
          <a:xfrm>
            <a:off x="1143000" y="1920240"/>
            <a:ext cx="2331720" cy="916051"/>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series</a:t>
            </a:r>
            <a:endParaRPr lang="en-US" sz="2400" dirty="0"/>
          </a:p>
        </p:txBody>
      </p:sp>
      <p:sp>
        <p:nvSpPr>
          <p:cNvPr id="14" name="kw-cell"/>
          <p:cNvSpPr txBox="1"/>
          <p:nvPr/>
        </p:nvSpPr>
        <p:spPr>
          <a:xfrm>
            <a:off x="3657600" y="1920240"/>
            <a:ext cx="3474720" cy="91605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joined one after another in a single loop</a:t>
            </a:r>
            <a:endParaRPr lang="en-US" sz="2200" dirty="0"/>
          </a:p>
        </p:txBody>
      </p:sp>
      <p:sp>
        <p:nvSpPr>
          <p:cNvPr id="15" name="kw-cell"/>
          <p:cNvSpPr txBox="1"/>
          <p:nvPr/>
        </p:nvSpPr>
        <p:spPr>
          <a:xfrm>
            <a:off x="7315200" y="1920240"/>
            <a:ext cx="4236415" cy="916051"/>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The two lamps were joined in series.</a:t>
            </a:r>
            <a:endParaRPr lang="en-US" sz="2200" dirty="0"/>
          </a:p>
        </p:txBody>
      </p:sp>
      <p:sp>
        <p:nvSpPr>
          <p:cNvPr id="16" name="kw-row"/>
          <p:cNvSpPr/>
          <p:nvPr/>
        </p:nvSpPr>
        <p:spPr>
          <a:xfrm>
            <a:off x="548640" y="2909443"/>
            <a:ext cx="11094415" cy="916051"/>
          </a:xfrm>
          <a:prstGeom prst="roundRect">
            <a:avLst>
              <a:gd name="adj" fmla="val 5989"/>
            </a:avLst>
          </a:prstGeom>
          <a:solidFill>
            <a:srgbClr val="F4EDDF"/>
          </a:solidFill>
          <a:ln/>
        </p:spPr>
      </p:sp>
      <p:sp>
        <p:nvSpPr>
          <p:cNvPr id="17" name="kw-hex"/>
          <p:cNvSpPr/>
          <p:nvPr/>
        </p:nvSpPr>
        <p:spPr>
          <a:xfrm>
            <a:off x="658368" y="3189298"/>
            <a:ext cx="411480" cy="356342"/>
          </a:xfrm>
          <a:prstGeom prst="hexagon">
            <a:avLst/>
          </a:prstGeom>
          <a:solidFill>
            <a:srgbClr val="B8862B"/>
          </a:solidFill>
          <a:ln/>
        </p:spPr>
      </p:sp>
      <p:sp>
        <p:nvSpPr>
          <p:cNvPr id="18" name="kw-cell"/>
          <p:cNvSpPr txBox="1"/>
          <p:nvPr/>
        </p:nvSpPr>
        <p:spPr>
          <a:xfrm>
            <a:off x="1143000" y="2909443"/>
            <a:ext cx="2331720" cy="916051"/>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total</a:t>
            </a:r>
            <a:endParaRPr lang="en-US" sz="2400" dirty="0"/>
          </a:p>
        </p:txBody>
      </p:sp>
      <p:sp>
        <p:nvSpPr>
          <p:cNvPr id="19" name="kw-cell"/>
          <p:cNvSpPr txBox="1"/>
          <p:nvPr/>
        </p:nvSpPr>
        <p:spPr>
          <a:xfrm>
            <a:off x="3657600" y="2909443"/>
            <a:ext cx="3474720" cy="91605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everything added together</a:t>
            </a:r>
            <a:endParaRPr lang="en-US" sz="2200" dirty="0"/>
          </a:p>
        </p:txBody>
      </p:sp>
      <p:sp>
        <p:nvSpPr>
          <p:cNvPr id="20" name="kw-cell"/>
          <p:cNvSpPr txBox="1"/>
          <p:nvPr/>
        </p:nvSpPr>
        <p:spPr>
          <a:xfrm>
            <a:off x="7315200" y="2909443"/>
            <a:ext cx="4236415" cy="916051"/>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The total resistance is both resistances added together.</a:t>
            </a:r>
            <a:endParaRPr lang="en-US" sz="2200" dirty="0"/>
          </a:p>
        </p:txBody>
      </p:sp>
      <p:sp>
        <p:nvSpPr>
          <p:cNvPr id="21" name="kw-row"/>
          <p:cNvSpPr/>
          <p:nvPr/>
        </p:nvSpPr>
        <p:spPr>
          <a:xfrm>
            <a:off x="548640" y="3898646"/>
            <a:ext cx="11094415" cy="916051"/>
          </a:xfrm>
          <a:prstGeom prst="roundRect">
            <a:avLst>
              <a:gd name="adj" fmla="val 5989"/>
            </a:avLst>
          </a:prstGeom>
          <a:solidFill>
            <a:srgbClr val="E6EFEF"/>
          </a:solidFill>
          <a:ln/>
        </p:spPr>
      </p:sp>
      <p:sp>
        <p:nvSpPr>
          <p:cNvPr id="22" name="kw-hex"/>
          <p:cNvSpPr/>
          <p:nvPr/>
        </p:nvSpPr>
        <p:spPr>
          <a:xfrm>
            <a:off x="658368" y="4178501"/>
            <a:ext cx="411480" cy="356342"/>
          </a:xfrm>
          <a:prstGeom prst="hexagon">
            <a:avLst/>
          </a:prstGeom>
          <a:solidFill>
            <a:srgbClr val="1F6F6A"/>
          </a:solidFill>
          <a:ln/>
        </p:spPr>
      </p:sp>
      <p:sp>
        <p:nvSpPr>
          <p:cNvPr id="23" name="kw-cell"/>
          <p:cNvSpPr txBox="1"/>
          <p:nvPr/>
        </p:nvSpPr>
        <p:spPr>
          <a:xfrm>
            <a:off x="1143000" y="3898646"/>
            <a:ext cx="2331720" cy="916051"/>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share</a:t>
            </a:r>
            <a:endParaRPr lang="en-US" sz="2400" dirty="0"/>
          </a:p>
        </p:txBody>
      </p:sp>
      <p:sp>
        <p:nvSpPr>
          <p:cNvPr id="24" name="kw-cell"/>
          <p:cNvSpPr txBox="1"/>
          <p:nvPr/>
        </p:nvSpPr>
        <p:spPr>
          <a:xfrm>
            <a:off x="3657600" y="3898646"/>
            <a:ext cx="3474720" cy="91605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split between</a:t>
            </a:r>
            <a:endParaRPr lang="en-US" sz="2200" dirty="0"/>
          </a:p>
        </p:txBody>
      </p:sp>
      <p:sp>
        <p:nvSpPr>
          <p:cNvPr id="25" name="kw-cell"/>
          <p:cNvSpPr txBox="1"/>
          <p:nvPr/>
        </p:nvSpPr>
        <p:spPr>
          <a:xfrm>
            <a:off x="7315200" y="3898646"/>
            <a:ext cx="4236415" cy="916051"/>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The two lamps share the p.d. from the battery.</a:t>
            </a:r>
            <a:endParaRPr lang="en-US" sz="2200" dirty="0"/>
          </a:p>
        </p:txBody>
      </p:sp>
      <p:sp>
        <p:nvSpPr>
          <p:cNvPr id="26" name="kw-row"/>
          <p:cNvSpPr/>
          <p:nvPr/>
        </p:nvSpPr>
        <p:spPr>
          <a:xfrm>
            <a:off x="548640" y="4887849"/>
            <a:ext cx="11094415" cy="1256919"/>
          </a:xfrm>
          <a:prstGeom prst="roundRect">
            <a:avLst>
              <a:gd name="adj" fmla="val 4365"/>
            </a:avLst>
          </a:prstGeom>
          <a:solidFill>
            <a:srgbClr val="F4EDDF"/>
          </a:solidFill>
          <a:ln/>
        </p:spPr>
      </p:sp>
      <p:sp>
        <p:nvSpPr>
          <p:cNvPr id="27" name="kw-hex"/>
          <p:cNvSpPr/>
          <p:nvPr/>
        </p:nvSpPr>
        <p:spPr>
          <a:xfrm>
            <a:off x="658368" y="5338138"/>
            <a:ext cx="411480" cy="356342"/>
          </a:xfrm>
          <a:prstGeom prst="hexagon">
            <a:avLst/>
          </a:prstGeom>
          <a:solidFill>
            <a:srgbClr val="B8862B"/>
          </a:solidFill>
          <a:ln/>
        </p:spPr>
      </p:sp>
      <p:sp>
        <p:nvSpPr>
          <p:cNvPr id="28" name="kw-cell"/>
          <p:cNvSpPr txBox="1"/>
          <p:nvPr/>
        </p:nvSpPr>
        <p:spPr>
          <a:xfrm>
            <a:off x="1143000" y="4887849"/>
            <a:ext cx="2331720" cy="1256919"/>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supply</a:t>
            </a:r>
            <a:endParaRPr lang="en-US" sz="2400" dirty="0"/>
          </a:p>
        </p:txBody>
      </p:sp>
      <p:sp>
        <p:nvSpPr>
          <p:cNvPr id="29" name="kw-cell"/>
          <p:cNvSpPr txBox="1"/>
          <p:nvPr/>
        </p:nvSpPr>
        <p:spPr>
          <a:xfrm>
            <a:off x="3657600" y="4887849"/>
            <a:ext cx="3474720" cy="125691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cell, battery or power pack that pushes the current</a:t>
            </a:r>
            <a:endParaRPr lang="en-US" sz="2200" dirty="0"/>
          </a:p>
        </p:txBody>
      </p:sp>
      <p:sp>
        <p:nvSpPr>
          <p:cNvPr id="30" name="kw-cell"/>
          <p:cNvSpPr txBox="1"/>
          <p:nvPr/>
        </p:nvSpPr>
        <p:spPr>
          <a:xfrm>
            <a:off x="7315200" y="4887849"/>
            <a:ext cx="4236415" cy="1256919"/>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The supply gave a p.d. of twelve volts.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In a </a:t>
            </a:r>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series</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circuit, there is only one loop.</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charge goes through each component in turn.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So the current is the same everywhere in the loop.</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Every ammeter in the loop shows the same reading.</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components </a:t>
            </a:r>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share</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the p.d. from the </a:t>
            </a:r>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supply</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Add up the p.d. across each component.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You get the p.d. of the </a:t>
            </a:r>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supply</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bigger resistance gets a bigger </a:t>
            </a:r>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share</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of the p.d.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To find the </a:t>
            </a:r>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total</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resistance, add the resistances together.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Adding another resistor in </a:t>
            </a:r>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series</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makes the </a:t>
            </a:r>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total</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resistance bigger.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So the current gets smaller.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Current in a series circuit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5074920"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4206240"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Series: one loop, one current.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8B3B0"/>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Three 1.5 V cells are joined in series, all facing the same way. Then one is turned round. Calculate the total p.d. before and after.</a:t>
            </a:r>
            <a:endParaRPr lang="en-US" sz="1800" dirty="0"/>
          </a:p>
        </p:txBody>
      </p:sp>
      <p:sp>
        <p:nvSpPr>
          <p:cNvPr id="14" name="step-box"/>
          <p:cNvSpPr/>
          <p:nvPr/>
        </p:nvSpPr>
        <p:spPr>
          <a:xfrm>
            <a:off x="6126480" y="3167380"/>
            <a:ext cx="5379415" cy="794512"/>
          </a:xfrm>
          <a:prstGeom prst="roundRect">
            <a:avLst>
              <a:gd name="adj" fmla="val 11509"/>
            </a:avLst>
          </a:prstGeom>
          <a:solidFill>
            <a:srgbClr val="E2ECEC"/>
          </a:solidFill>
          <a:ln/>
        </p:spPr>
      </p:sp>
      <p:sp>
        <p:nvSpPr>
          <p:cNvPr id="15" name="step-hex"/>
          <p:cNvSpPr/>
          <p:nvPr/>
        </p:nvSpPr>
        <p:spPr>
          <a:xfrm>
            <a:off x="6217920" y="3382506"/>
            <a:ext cx="420624" cy="364260"/>
          </a:xfrm>
          <a:prstGeom prst="hexagon">
            <a:avLst/>
          </a:prstGeom>
          <a:solidFill>
            <a:srgbClr val="1F6F6A"/>
          </a:solidFill>
          <a:ln/>
        </p:spPr>
      </p:sp>
      <p:sp>
        <p:nvSpPr>
          <p:cNvPr id="16" name="step-hex-label"/>
          <p:cNvSpPr txBox="1"/>
          <p:nvPr/>
        </p:nvSpPr>
        <p:spPr>
          <a:xfrm>
            <a:off x="6217920" y="338250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Same way round: add them. 1.5 + 1.5 + 1.5 = 4.5 V.</a:t>
            </a:r>
            <a:endParaRPr lang="en-US" sz="1800" dirty="0"/>
          </a:p>
        </p:txBody>
      </p:sp>
      <p:sp>
        <p:nvSpPr>
          <p:cNvPr id="18" name="step-box"/>
          <p:cNvSpPr/>
          <p:nvPr/>
        </p:nvSpPr>
        <p:spPr>
          <a:xfrm>
            <a:off x="6126480" y="4053332"/>
            <a:ext cx="5379415" cy="794512"/>
          </a:xfrm>
          <a:prstGeom prst="roundRect">
            <a:avLst>
              <a:gd name="adj" fmla="val 11509"/>
            </a:avLst>
          </a:prstGeom>
          <a:solidFill>
            <a:srgbClr val="E2ECEC"/>
          </a:solidFill>
          <a:ln/>
        </p:spPr>
      </p:sp>
      <p:sp>
        <p:nvSpPr>
          <p:cNvPr id="19" name="step-hex"/>
          <p:cNvSpPr/>
          <p:nvPr/>
        </p:nvSpPr>
        <p:spPr>
          <a:xfrm>
            <a:off x="6217920" y="4268458"/>
            <a:ext cx="420624" cy="364260"/>
          </a:xfrm>
          <a:prstGeom prst="hexagon">
            <a:avLst/>
          </a:prstGeom>
          <a:solidFill>
            <a:srgbClr val="1F6F6A"/>
          </a:solidFill>
          <a:ln/>
        </p:spPr>
      </p:sp>
      <p:sp>
        <p:nvSpPr>
          <p:cNvPr id="20" name="step-hex-label"/>
          <p:cNvSpPr txBox="1"/>
          <p:nvPr/>
        </p:nvSpPr>
        <p:spPr>
          <a:xfrm>
            <a:off x="6217920" y="42684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4053332"/>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 reversed: it subtracts. 1.5 + 1.5 − 1.5 = 1.5 V.</a:t>
            </a:r>
            <a:endParaRPr lang="en-US" sz="1800" dirty="0"/>
          </a:p>
        </p:txBody>
      </p:sp>
      <p:sp>
        <p:nvSpPr>
          <p:cNvPr id="22" name="worked-answer"/>
          <p:cNvSpPr/>
          <p:nvPr/>
        </p:nvSpPr>
        <p:spPr>
          <a:xfrm>
            <a:off x="6126480" y="4985004"/>
            <a:ext cx="53794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4.5 V, then 1.5 V</a:t>
            </a:r>
            <a:endParaRPr lang="en-US" sz="1800" dirty="0"/>
          </a:p>
        </p:txBody>
      </p:sp>
      <p:sp>
        <p:nvSpPr>
          <p:cNvPr id="23" name="bullet-card"/>
          <p:cNvSpPr/>
          <p:nvPr/>
        </p:nvSpPr>
        <p:spPr>
          <a:xfrm>
            <a:off x="548640" y="1389888"/>
            <a:ext cx="5074920" cy="1698244"/>
          </a:xfrm>
          <a:prstGeom prst="roundRect">
            <a:avLst>
              <a:gd name="adj" fmla="val 4308"/>
            </a:avLst>
          </a:prstGeom>
          <a:solidFill>
            <a:srgbClr val="E6EFEF"/>
          </a:solidFill>
          <a:ln/>
        </p:spPr>
      </p:sp>
      <p:sp>
        <p:nvSpPr>
          <p:cNvPr id="24" name="bullet-hex"/>
          <p:cNvSpPr/>
          <p:nvPr/>
        </p:nvSpPr>
        <p:spPr>
          <a:xfrm>
            <a:off x="676656" y="2072717"/>
            <a:ext cx="384048" cy="332586"/>
          </a:xfrm>
          <a:prstGeom prst="hexagon">
            <a:avLst/>
          </a:prstGeom>
          <a:solidFill>
            <a:srgbClr val="1F6F6A"/>
          </a:solidFill>
          <a:ln/>
        </p:spPr>
      </p:sp>
      <p:sp>
        <p:nvSpPr>
          <p:cNvPr id="25" name="bullet"/>
          <p:cNvSpPr txBox="1"/>
          <p:nvPr/>
        </p:nvSpPr>
        <p:spPr>
          <a:xfrm>
            <a:off x="1143000" y="1389888"/>
            <a:ext cx="4389120" cy="169824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series circuit has only one loop, so all the charge has to pass through every component in turn.</a:t>
            </a:r>
            <a:endParaRPr lang="en-US" sz="2200" dirty="0"/>
          </a:p>
        </p:txBody>
      </p:sp>
      <p:sp>
        <p:nvSpPr>
          <p:cNvPr id="26" name="bullet-card"/>
          <p:cNvSpPr/>
          <p:nvPr/>
        </p:nvSpPr>
        <p:spPr>
          <a:xfrm>
            <a:off x="548640" y="3234436"/>
            <a:ext cx="5074920" cy="1698244"/>
          </a:xfrm>
          <a:prstGeom prst="roundRect">
            <a:avLst>
              <a:gd name="adj" fmla="val 4308"/>
            </a:avLst>
          </a:prstGeom>
          <a:solidFill>
            <a:srgbClr val="E6EFEF"/>
          </a:solidFill>
          <a:ln/>
        </p:spPr>
      </p:sp>
      <p:sp>
        <p:nvSpPr>
          <p:cNvPr id="27" name="bullet-hex"/>
          <p:cNvSpPr/>
          <p:nvPr/>
        </p:nvSpPr>
        <p:spPr>
          <a:xfrm>
            <a:off x="676656" y="3917265"/>
            <a:ext cx="384048" cy="332586"/>
          </a:xfrm>
          <a:prstGeom prst="hexagon">
            <a:avLst/>
          </a:prstGeom>
          <a:solidFill>
            <a:srgbClr val="B8862B"/>
          </a:solidFill>
          <a:ln/>
        </p:spPr>
      </p:sp>
      <p:sp>
        <p:nvSpPr>
          <p:cNvPr id="28" name="bullet"/>
          <p:cNvSpPr txBox="1"/>
          <p:nvPr/>
        </p:nvSpPr>
        <p:spPr>
          <a:xfrm>
            <a:off x="1143000" y="3234436"/>
            <a:ext cx="4389120" cy="169824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Cells joined in series add their p.d.s together, as long as they all face the same way.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Potential difference shares out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orked-panel"/>
          <p:cNvSpPr/>
          <p:nvPr/>
        </p:nvSpPr>
        <p:spPr>
          <a:xfrm>
            <a:off x="5989320" y="1389888"/>
            <a:ext cx="5653735" cy="4754880"/>
          </a:xfrm>
          <a:prstGeom prst="roundRect">
            <a:avLst>
              <a:gd name="adj" fmla="val 962"/>
            </a:avLst>
          </a:prstGeom>
          <a:solidFill>
            <a:srgbClr val="FFFFFF"/>
          </a:solidFill>
          <a:ln w="15875">
            <a:solidFill>
              <a:srgbClr val="88B3B0"/>
            </a:solidFill>
            <a:prstDash val="solid"/>
          </a:ln>
        </p:spPr>
      </p:sp>
      <p:sp>
        <p:nvSpPr>
          <p:cNvPr id="8"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9"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12 V battery is connected to a lamp and a resistor in series. The p.d. across the lamp is 7.5 V. Calculate the p.d. across the resistor.</a:t>
            </a:r>
            <a:endParaRPr lang="en-US" sz="1800" dirty="0"/>
          </a:p>
        </p:txBody>
      </p:sp>
      <p:sp>
        <p:nvSpPr>
          <p:cNvPr id="10" name="step-box"/>
          <p:cNvSpPr/>
          <p:nvPr/>
        </p:nvSpPr>
        <p:spPr>
          <a:xfrm>
            <a:off x="6126480" y="3167380"/>
            <a:ext cx="5379415" cy="794512"/>
          </a:xfrm>
          <a:prstGeom prst="roundRect">
            <a:avLst>
              <a:gd name="adj" fmla="val 11509"/>
            </a:avLst>
          </a:prstGeom>
          <a:solidFill>
            <a:srgbClr val="E2ECEC"/>
          </a:solidFill>
          <a:ln/>
        </p:spPr>
      </p:sp>
      <p:sp>
        <p:nvSpPr>
          <p:cNvPr id="11" name="step-hex"/>
          <p:cNvSpPr/>
          <p:nvPr/>
        </p:nvSpPr>
        <p:spPr>
          <a:xfrm>
            <a:off x="6217920" y="3382506"/>
            <a:ext cx="420624" cy="364260"/>
          </a:xfrm>
          <a:prstGeom prst="hexagon">
            <a:avLst/>
          </a:prstGeom>
          <a:solidFill>
            <a:srgbClr val="1F6F6A"/>
          </a:solidFill>
          <a:ln/>
        </p:spPr>
      </p:sp>
      <p:sp>
        <p:nvSpPr>
          <p:cNvPr id="12" name="step-hex-label"/>
          <p:cNvSpPr txBox="1"/>
          <p:nvPr/>
        </p:nvSpPr>
        <p:spPr>
          <a:xfrm>
            <a:off x="6217920" y="338250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3" name="step"/>
          <p:cNvSpPr txBox="1"/>
          <p:nvPr/>
        </p:nvSpPr>
        <p:spPr>
          <a:xfrm>
            <a:off x="6766560" y="3167380"/>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p.d.s add up to the supply: 12 = 7.5 + V(resistor).</a:t>
            </a:r>
            <a:endParaRPr lang="en-US" sz="1800" dirty="0"/>
          </a:p>
        </p:txBody>
      </p:sp>
      <p:sp>
        <p:nvSpPr>
          <p:cNvPr id="14" name="step-box"/>
          <p:cNvSpPr/>
          <p:nvPr/>
        </p:nvSpPr>
        <p:spPr>
          <a:xfrm>
            <a:off x="6126480" y="4053332"/>
            <a:ext cx="5379415" cy="566928"/>
          </a:xfrm>
          <a:prstGeom prst="roundRect">
            <a:avLst>
              <a:gd name="adj" fmla="val 16129"/>
            </a:avLst>
          </a:prstGeom>
          <a:solidFill>
            <a:srgbClr val="E2ECEC"/>
          </a:solidFill>
          <a:ln/>
        </p:spPr>
      </p:sp>
      <p:sp>
        <p:nvSpPr>
          <p:cNvPr id="15" name="step-hex"/>
          <p:cNvSpPr/>
          <p:nvPr/>
        </p:nvSpPr>
        <p:spPr>
          <a:xfrm>
            <a:off x="6217920" y="4154666"/>
            <a:ext cx="420624" cy="364260"/>
          </a:xfrm>
          <a:prstGeom prst="hexagon">
            <a:avLst/>
          </a:prstGeom>
          <a:solidFill>
            <a:srgbClr val="1F6F6A"/>
          </a:solidFill>
          <a:ln/>
        </p:spPr>
      </p:sp>
      <p:sp>
        <p:nvSpPr>
          <p:cNvPr id="16" name="step-hex-label"/>
          <p:cNvSpPr txBox="1"/>
          <p:nvPr/>
        </p:nvSpPr>
        <p:spPr>
          <a:xfrm>
            <a:off x="6217920" y="41546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step"/>
          <p:cNvSpPr txBox="1"/>
          <p:nvPr/>
        </p:nvSpPr>
        <p:spPr>
          <a:xfrm>
            <a:off x="6766560" y="405333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Rearrange: V(resistor) = 12 − 7.5.</a:t>
            </a:r>
            <a:endParaRPr lang="en-US" sz="1800" dirty="0"/>
          </a:p>
        </p:txBody>
      </p:sp>
      <p:sp>
        <p:nvSpPr>
          <p:cNvPr id="18" name="step-box"/>
          <p:cNvSpPr/>
          <p:nvPr/>
        </p:nvSpPr>
        <p:spPr>
          <a:xfrm>
            <a:off x="6126480" y="4711700"/>
            <a:ext cx="5379415" cy="566928"/>
          </a:xfrm>
          <a:prstGeom prst="roundRect">
            <a:avLst>
              <a:gd name="adj" fmla="val 16129"/>
            </a:avLst>
          </a:prstGeom>
          <a:solidFill>
            <a:srgbClr val="E2ECEC"/>
          </a:solidFill>
          <a:ln/>
        </p:spPr>
      </p:sp>
      <p:sp>
        <p:nvSpPr>
          <p:cNvPr id="19" name="step-hex"/>
          <p:cNvSpPr/>
          <p:nvPr/>
        </p:nvSpPr>
        <p:spPr>
          <a:xfrm>
            <a:off x="6217920" y="4813034"/>
            <a:ext cx="420624" cy="364260"/>
          </a:xfrm>
          <a:prstGeom prst="hexagon">
            <a:avLst/>
          </a:prstGeom>
          <a:solidFill>
            <a:srgbClr val="1F6F6A"/>
          </a:solidFill>
          <a:ln/>
        </p:spPr>
      </p:sp>
      <p:sp>
        <p:nvSpPr>
          <p:cNvPr id="20" name="step-hex-label"/>
          <p:cNvSpPr txBox="1"/>
          <p:nvPr/>
        </p:nvSpPr>
        <p:spPr>
          <a:xfrm>
            <a:off x="6217920" y="48130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step"/>
          <p:cNvSpPr txBox="1"/>
          <p:nvPr/>
        </p:nvSpPr>
        <p:spPr>
          <a:xfrm>
            <a:off x="6766560" y="471170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V(resistor) = 4.5 V.</a:t>
            </a:r>
            <a:endParaRPr lang="en-US" sz="1800" dirty="0"/>
          </a:p>
        </p:txBody>
      </p:sp>
      <p:sp>
        <p:nvSpPr>
          <p:cNvPr id="22" name="worked-answer"/>
          <p:cNvSpPr/>
          <p:nvPr/>
        </p:nvSpPr>
        <p:spPr>
          <a:xfrm>
            <a:off x="6126480" y="5415788"/>
            <a:ext cx="53794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4.5 V</a:t>
            </a:r>
            <a:endParaRPr lang="en-US" sz="1800" dirty="0"/>
          </a:p>
        </p:txBody>
      </p:sp>
      <p:sp>
        <p:nvSpPr>
          <p:cNvPr id="23" name="bullet-card"/>
          <p:cNvSpPr/>
          <p:nvPr/>
        </p:nvSpPr>
        <p:spPr>
          <a:xfrm>
            <a:off x="548640" y="1389888"/>
            <a:ext cx="5074920" cy="1698244"/>
          </a:xfrm>
          <a:prstGeom prst="roundRect">
            <a:avLst>
              <a:gd name="adj" fmla="val 4308"/>
            </a:avLst>
          </a:prstGeom>
          <a:solidFill>
            <a:srgbClr val="E6EFEF"/>
          </a:solidFill>
          <a:ln/>
        </p:spPr>
      </p:sp>
      <p:sp>
        <p:nvSpPr>
          <p:cNvPr id="24" name="bullet-hex"/>
          <p:cNvSpPr/>
          <p:nvPr/>
        </p:nvSpPr>
        <p:spPr>
          <a:xfrm>
            <a:off x="676656" y="2072717"/>
            <a:ext cx="384048" cy="332586"/>
          </a:xfrm>
          <a:prstGeom prst="hexagon">
            <a:avLst/>
          </a:prstGeom>
          <a:solidFill>
            <a:srgbClr val="1F6F6A"/>
          </a:solidFill>
          <a:ln/>
        </p:spPr>
      </p:sp>
      <p:sp>
        <p:nvSpPr>
          <p:cNvPr id="25" name="bullet"/>
          <p:cNvSpPr txBox="1"/>
          <p:nvPr/>
        </p:nvSpPr>
        <p:spPr>
          <a:xfrm>
            <a:off x="1143000" y="1389888"/>
            <a:ext cx="4389120" cy="169824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a series circuit, the p.d. of the supply is shared between the components.</a:t>
            </a:r>
            <a:endParaRPr lang="en-US" sz="2200" dirty="0"/>
          </a:p>
        </p:txBody>
      </p:sp>
      <p:sp>
        <p:nvSpPr>
          <p:cNvPr id="26" name="bullet-card"/>
          <p:cNvSpPr/>
          <p:nvPr/>
        </p:nvSpPr>
        <p:spPr>
          <a:xfrm>
            <a:off x="548640" y="3234436"/>
            <a:ext cx="5074920" cy="2720848"/>
          </a:xfrm>
          <a:prstGeom prst="roundRect">
            <a:avLst>
              <a:gd name="adj" fmla="val 2689"/>
            </a:avLst>
          </a:prstGeom>
          <a:solidFill>
            <a:srgbClr val="E6EFEF"/>
          </a:solidFill>
          <a:ln/>
        </p:spPr>
      </p:sp>
      <p:sp>
        <p:nvSpPr>
          <p:cNvPr id="27" name="bullet-hex"/>
          <p:cNvSpPr/>
          <p:nvPr/>
        </p:nvSpPr>
        <p:spPr>
          <a:xfrm>
            <a:off x="676656" y="4428567"/>
            <a:ext cx="384048" cy="332586"/>
          </a:xfrm>
          <a:prstGeom prst="hexagon">
            <a:avLst/>
          </a:prstGeom>
          <a:solidFill>
            <a:srgbClr val="B8862B"/>
          </a:solidFill>
          <a:ln/>
        </p:spPr>
      </p:sp>
      <p:sp>
        <p:nvSpPr>
          <p:cNvPr id="28" name="bullet"/>
          <p:cNvSpPr txBox="1"/>
          <p:nvPr/>
        </p:nvSpPr>
        <p:spPr>
          <a:xfrm>
            <a:off x="1143000" y="3234436"/>
            <a:ext cx="4389120" cy="272084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share is not always equal. The current is the same through each component, so by V = I R the component with the bigger resistance gets the bigger share of the p.d.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Total resistance and the current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Order: add the R, find I, then each V. Check the V's add up.</a:t>
            </a:r>
            <a:endParaRPr lang="en-US" sz="1800" dirty="0"/>
          </a:p>
        </p:txBody>
      </p:sp>
      <p:sp>
        <p:nvSpPr>
          <p:cNvPr id="11" name="point-card"/>
          <p:cNvSpPr/>
          <p:nvPr/>
        </p:nvSpPr>
        <p:spPr>
          <a:xfrm>
            <a:off x="548640" y="1389888"/>
            <a:ext cx="5410048" cy="3964940"/>
          </a:xfrm>
          <a:prstGeom prst="roundRect">
            <a:avLst>
              <a:gd name="adj" fmla="val 1384"/>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total resistance of components in series is the sum of their resistances: R(total) = R₁ + R₂ + ….</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To solve a series circuit, work in order. First add the resistances.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1F6F6A"/>
                </a:solidFill>
                <a:latin typeface="Cambria" pitchFamily="34" charset="0"/>
                <a:ea typeface="Cambria" pitchFamily="34" charset="-122"/>
                <a:cs typeface="Cambria" pitchFamily="34" charset="-120"/>
              </a:rPr>
              <a:t>Worked example: Total resistance and the current</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2ECEC"/>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 9.0 V battery is connected to a 10 Ω resistor and a 20 Ω resistor in series. Calculate the current, and the p.d. across each resistor.</a:t>
            </a:r>
            <a:endParaRPr lang="en-US" sz="2000" dirty="0"/>
          </a:p>
        </p:txBody>
      </p:sp>
      <p:sp>
        <p:nvSpPr>
          <p:cNvPr id="9" name="step-box"/>
          <p:cNvSpPr/>
          <p:nvPr/>
        </p:nvSpPr>
        <p:spPr>
          <a:xfrm>
            <a:off x="548640" y="2502408"/>
            <a:ext cx="11094415" cy="505883"/>
          </a:xfrm>
          <a:prstGeom prst="roundRect">
            <a:avLst>
              <a:gd name="adj" fmla="val 14460"/>
            </a:avLst>
          </a:prstGeom>
          <a:solidFill>
            <a:srgbClr val="FFFFFF"/>
          </a:solidFill>
          <a:ln w="15875">
            <a:solidFill>
              <a:srgbClr val="84B0AD"/>
            </a:solidFill>
            <a:prstDash val="solid"/>
          </a:ln>
        </p:spPr>
      </p:sp>
      <p:sp>
        <p:nvSpPr>
          <p:cNvPr id="10" name="step-hex"/>
          <p:cNvSpPr/>
          <p:nvPr/>
        </p:nvSpPr>
        <p:spPr>
          <a:xfrm>
            <a:off x="685800" y="2557382"/>
            <a:ext cx="457200" cy="395935"/>
          </a:xfrm>
          <a:prstGeom prst="hexagon">
            <a:avLst/>
          </a:prstGeom>
          <a:solidFill>
            <a:srgbClr val="1F6F6A"/>
          </a:solidFill>
          <a:ln/>
        </p:spPr>
      </p:sp>
      <p:sp>
        <p:nvSpPr>
          <p:cNvPr id="11" name="step-hex-label"/>
          <p:cNvSpPr txBox="1"/>
          <p:nvPr/>
        </p:nvSpPr>
        <p:spPr>
          <a:xfrm>
            <a:off x="685800" y="255738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058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Total resistance: R = 10 + 20 = 30 Ω.</a:t>
            </a:r>
            <a:endParaRPr lang="en-US" sz="1800" dirty="0"/>
          </a:p>
        </p:txBody>
      </p:sp>
      <p:sp>
        <p:nvSpPr>
          <p:cNvPr id="13" name="step-box"/>
          <p:cNvSpPr/>
          <p:nvPr/>
        </p:nvSpPr>
        <p:spPr>
          <a:xfrm>
            <a:off x="548640" y="3081443"/>
            <a:ext cx="11094415" cy="505883"/>
          </a:xfrm>
          <a:prstGeom prst="roundRect">
            <a:avLst>
              <a:gd name="adj" fmla="val 14460"/>
            </a:avLst>
          </a:prstGeom>
          <a:solidFill>
            <a:srgbClr val="FFFFFF"/>
          </a:solidFill>
          <a:ln w="15875">
            <a:solidFill>
              <a:srgbClr val="84B0AD"/>
            </a:solidFill>
            <a:prstDash val="solid"/>
          </a:ln>
        </p:spPr>
      </p:sp>
      <p:sp>
        <p:nvSpPr>
          <p:cNvPr id="14" name="step-hex"/>
          <p:cNvSpPr/>
          <p:nvPr/>
        </p:nvSpPr>
        <p:spPr>
          <a:xfrm>
            <a:off x="685800" y="3136417"/>
            <a:ext cx="457200" cy="395935"/>
          </a:xfrm>
          <a:prstGeom prst="hexagon">
            <a:avLst/>
          </a:prstGeom>
          <a:solidFill>
            <a:srgbClr val="1F6F6A"/>
          </a:solidFill>
          <a:ln/>
        </p:spPr>
      </p:sp>
      <p:sp>
        <p:nvSpPr>
          <p:cNvPr id="15" name="step-hex-label"/>
          <p:cNvSpPr txBox="1"/>
          <p:nvPr/>
        </p:nvSpPr>
        <p:spPr>
          <a:xfrm>
            <a:off x="685800" y="3136417"/>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81443"/>
            <a:ext cx="10180015" cy="5058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Current: I = V ÷ R = 9.0 ÷ 30 = 0.30 A, the same everywhere.</a:t>
            </a:r>
            <a:endParaRPr lang="en-US" sz="1800" dirty="0"/>
          </a:p>
        </p:txBody>
      </p:sp>
      <p:sp>
        <p:nvSpPr>
          <p:cNvPr id="17" name="step-box"/>
          <p:cNvSpPr/>
          <p:nvPr/>
        </p:nvSpPr>
        <p:spPr>
          <a:xfrm>
            <a:off x="548640" y="3660479"/>
            <a:ext cx="11094415" cy="505883"/>
          </a:xfrm>
          <a:prstGeom prst="roundRect">
            <a:avLst>
              <a:gd name="adj" fmla="val 14460"/>
            </a:avLst>
          </a:prstGeom>
          <a:solidFill>
            <a:srgbClr val="FFFFFF"/>
          </a:solidFill>
          <a:ln w="15875">
            <a:solidFill>
              <a:srgbClr val="84B0AD"/>
            </a:solidFill>
            <a:prstDash val="solid"/>
          </a:ln>
        </p:spPr>
      </p:sp>
      <p:sp>
        <p:nvSpPr>
          <p:cNvPr id="18" name="step-hex"/>
          <p:cNvSpPr/>
          <p:nvPr/>
        </p:nvSpPr>
        <p:spPr>
          <a:xfrm>
            <a:off x="685800" y="3715453"/>
            <a:ext cx="457200" cy="395935"/>
          </a:xfrm>
          <a:prstGeom prst="hexagon">
            <a:avLst/>
          </a:prstGeom>
          <a:solidFill>
            <a:srgbClr val="1F6F6A"/>
          </a:solidFill>
          <a:ln/>
        </p:spPr>
      </p:sp>
      <p:sp>
        <p:nvSpPr>
          <p:cNvPr id="19" name="step-hex-label"/>
          <p:cNvSpPr txBox="1"/>
          <p:nvPr/>
        </p:nvSpPr>
        <p:spPr>
          <a:xfrm>
            <a:off x="685800" y="3715453"/>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660479"/>
            <a:ext cx="10180015" cy="5058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p.d. across 10 Ω: V = I R = 0.30 × 10 = 3.0 V.</a:t>
            </a:r>
            <a:endParaRPr lang="en-US" sz="1800" dirty="0"/>
          </a:p>
        </p:txBody>
      </p:sp>
      <p:sp>
        <p:nvSpPr>
          <p:cNvPr id="21" name="step-box"/>
          <p:cNvSpPr/>
          <p:nvPr/>
        </p:nvSpPr>
        <p:spPr>
          <a:xfrm>
            <a:off x="548640" y="4239514"/>
            <a:ext cx="11094415" cy="505883"/>
          </a:xfrm>
          <a:prstGeom prst="roundRect">
            <a:avLst>
              <a:gd name="adj" fmla="val 14460"/>
            </a:avLst>
          </a:prstGeom>
          <a:solidFill>
            <a:srgbClr val="FFFFFF"/>
          </a:solidFill>
          <a:ln w="15875">
            <a:solidFill>
              <a:srgbClr val="84B0AD"/>
            </a:solidFill>
            <a:prstDash val="solid"/>
          </a:ln>
        </p:spPr>
      </p:sp>
      <p:sp>
        <p:nvSpPr>
          <p:cNvPr id="22" name="step-hex"/>
          <p:cNvSpPr/>
          <p:nvPr/>
        </p:nvSpPr>
        <p:spPr>
          <a:xfrm>
            <a:off x="685800" y="4294488"/>
            <a:ext cx="457200" cy="395935"/>
          </a:xfrm>
          <a:prstGeom prst="hexagon">
            <a:avLst/>
          </a:prstGeom>
          <a:solidFill>
            <a:srgbClr val="1F6F6A"/>
          </a:solidFill>
          <a:ln/>
        </p:spPr>
      </p:sp>
      <p:sp>
        <p:nvSpPr>
          <p:cNvPr id="23" name="step-hex-label"/>
          <p:cNvSpPr txBox="1"/>
          <p:nvPr/>
        </p:nvSpPr>
        <p:spPr>
          <a:xfrm>
            <a:off x="685800" y="429448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239514"/>
            <a:ext cx="10180015" cy="5058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p.d. across 20 Ω: V = I R = 0.30 × 20 = 6.0 V.</a:t>
            </a:r>
            <a:endParaRPr lang="en-US" sz="1800" dirty="0"/>
          </a:p>
        </p:txBody>
      </p:sp>
      <p:sp>
        <p:nvSpPr>
          <p:cNvPr id="25" name="step-box"/>
          <p:cNvSpPr/>
          <p:nvPr/>
        </p:nvSpPr>
        <p:spPr>
          <a:xfrm>
            <a:off x="548640" y="4818549"/>
            <a:ext cx="11094415" cy="505883"/>
          </a:xfrm>
          <a:prstGeom prst="roundRect">
            <a:avLst>
              <a:gd name="adj" fmla="val 14460"/>
            </a:avLst>
          </a:prstGeom>
          <a:solidFill>
            <a:srgbClr val="FFFFFF"/>
          </a:solidFill>
          <a:ln w="15875">
            <a:solidFill>
              <a:srgbClr val="84B0AD"/>
            </a:solidFill>
            <a:prstDash val="solid"/>
          </a:ln>
        </p:spPr>
      </p:sp>
      <p:sp>
        <p:nvSpPr>
          <p:cNvPr id="26" name="step-hex"/>
          <p:cNvSpPr/>
          <p:nvPr/>
        </p:nvSpPr>
        <p:spPr>
          <a:xfrm>
            <a:off x="685800" y="4873523"/>
            <a:ext cx="457200" cy="395935"/>
          </a:xfrm>
          <a:prstGeom prst="hexagon">
            <a:avLst/>
          </a:prstGeom>
          <a:solidFill>
            <a:srgbClr val="1F6F6A"/>
          </a:solidFill>
          <a:ln/>
        </p:spPr>
      </p:sp>
      <p:sp>
        <p:nvSpPr>
          <p:cNvPr id="27" name="step-hex-label"/>
          <p:cNvSpPr txBox="1"/>
          <p:nvPr/>
        </p:nvSpPr>
        <p:spPr>
          <a:xfrm>
            <a:off x="685800" y="4873523"/>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8" name="step"/>
          <p:cNvSpPr txBox="1"/>
          <p:nvPr/>
        </p:nvSpPr>
        <p:spPr>
          <a:xfrm>
            <a:off x="1280160" y="4818549"/>
            <a:ext cx="10180015" cy="5058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3.0 + 6.0 = 9.0 V, the supply p.d.</a:t>
            </a:r>
            <a:endParaRPr lang="en-US" sz="1800" dirty="0"/>
          </a:p>
        </p:txBody>
      </p:sp>
      <p:sp>
        <p:nvSpPr>
          <p:cNvPr id="29" name="worked-answer"/>
          <p:cNvSpPr/>
          <p:nvPr/>
        </p:nvSpPr>
        <p:spPr>
          <a:xfrm>
            <a:off x="548640" y="5507313"/>
            <a:ext cx="11094415" cy="552196"/>
          </a:xfrm>
          <a:prstGeom prst="roundRect">
            <a:avLst>
              <a:gd name="adj" fmla="val 2483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0.30 A; 3.0 V across 10 Ω and 6.0 V across 20 Ω</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Same task, three ways in: Total resistance and current</a:t>
            </a:r>
            <a:endParaRPr lang="en-US" sz="26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6.0 V battery is connected to an 8.0 Ω resistor and a 4.0 Ω resistor in series. Calculate the current in the circuit, in amps.</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A</a:t>
            </a:r>
            <a:endParaRPr lang="en-US" sz="2000" dirty="0"/>
          </a:p>
        </p:txBody>
      </p:sp>
      <p:sp>
        <p:nvSpPr>
          <p:cNvPr id="12" name="col-Support"/>
          <p:cNvSpPr/>
          <p:nvPr/>
        </p:nvSpPr>
        <p:spPr>
          <a:xfrm>
            <a:off x="548640" y="2948940"/>
            <a:ext cx="3515258" cy="3195828"/>
          </a:xfrm>
          <a:prstGeom prst="roundRect">
            <a:avLst>
              <a:gd name="adj" fmla="val 1717"/>
            </a:avLst>
          </a:prstGeom>
          <a:solidFill>
            <a:srgbClr val="E2EC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Add the resistances to get the total resistance.</a:t>
            </a:r>
            <a:endParaRPr lang="en-US" sz="2200" dirty="0"/>
          </a:p>
          <a:p>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Use I = V ÷ R(total) with the battery p.d.</a:t>
            </a:r>
            <a:endParaRPr lang="en-US" sz="2200" dirty="0"/>
          </a:p>
          <a:p>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Write the unit A.</a:t>
            </a:r>
            <a:endParaRPr lang="en-US" sz="2200" dirty="0"/>
          </a:p>
        </p:txBody>
      </p:sp>
      <p:sp>
        <p:nvSpPr>
          <p:cNvPr id="17" name="col-Core"/>
          <p:cNvSpPr/>
          <p:nvPr/>
        </p:nvSpPr>
        <p:spPr>
          <a:xfrm>
            <a:off x="4338218" y="2948940"/>
            <a:ext cx="3515258" cy="3195828"/>
          </a:xfrm>
          <a:prstGeom prst="roundRect">
            <a:avLst>
              <a:gd name="adj" fmla="val 1717"/>
            </a:avLst>
          </a:prstGeom>
          <a:solidFill>
            <a:srgbClr val="C7DBDA"/>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2200" b="1" dirty="0">
                <a:solidFill>
                  <a:srgbClr val="195955"/>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Find the total resistance first.</a:t>
            </a:r>
            <a:endParaRPr lang="en-US" sz="2200" dirty="0"/>
          </a:p>
        </p:txBody>
      </p:sp>
      <p:sp>
        <p:nvSpPr>
          <p:cNvPr id="22" name="col-Stretch"/>
          <p:cNvSpPr/>
          <p:nvPr/>
        </p:nvSpPr>
        <p:spPr>
          <a:xfrm>
            <a:off x="8127797" y="2948940"/>
            <a:ext cx="3515258" cy="3195828"/>
          </a:xfrm>
          <a:prstGeom prst="roundRect">
            <a:avLst>
              <a:gd name="adj" fmla="val 1717"/>
            </a:avLst>
          </a:prstGeom>
          <a:solidFill>
            <a:srgbClr val="1F6F6A"/>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A third resistor of 12 Ω is added in series. Calculate the new current and explain, in words, why it has fallen.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1F6F6A"/>
                </a:solidFill>
                <a:latin typeface="Cambria" pitchFamily="34" charset="0"/>
                <a:ea typeface="Cambria" pitchFamily="34" charset="-122"/>
                <a:cs typeface="Cambria" pitchFamily="34" charset="-120"/>
              </a:rPr>
              <a:t>Same task, three ways in: Find the share of the p.d.</a:t>
            </a:r>
            <a:endParaRPr lang="en-US" sz="28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24 V supply is connected to a 30 Ω resistor and a 50 Ω resistor in series. Calculate the p.d. across the 50 Ω resistor, in volts.</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V</a:t>
            </a:r>
            <a:endParaRPr lang="en-US" sz="2000" dirty="0"/>
          </a:p>
        </p:txBody>
      </p:sp>
      <p:sp>
        <p:nvSpPr>
          <p:cNvPr id="12" name="col-Support"/>
          <p:cNvSpPr/>
          <p:nvPr/>
        </p:nvSpPr>
        <p:spPr>
          <a:xfrm>
            <a:off x="548640" y="2948940"/>
            <a:ext cx="3515258" cy="3195828"/>
          </a:xfrm>
          <a:prstGeom prst="roundRect">
            <a:avLst>
              <a:gd name="adj" fmla="val 1717"/>
            </a:avLst>
          </a:prstGeom>
          <a:solidFill>
            <a:srgbClr val="E2EC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Add the resistances.</a:t>
            </a:r>
            <a:endParaRPr lang="en-US" sz="2200" dirty="0"/>
          </a:p>
          <a:p>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Find the current: I = V(supply) ÷ R(total).</a:t>
            </a:r>
            <a:endParaRPr lang="en-US" sz="2200" dirty="0"/>
          </a:p>
          <a:p>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Find the p.d. across the resistor you want: V = I R.</a:t>
            </a:r>
            <a:endParaRPr lang="en-US" sz="2200" dirty="0"/>
          </a:p>
        </p:txBody>
      </p:sp>
      <p:sp>
        <p:nvSpPr>
          <p:cNvPr id="17" name="col-Core"/>
          <p:cNvSpPr/>
          <p:nvPr/>
        </p:nvSpPr>
        <p:spPr>
          <a:xfrm>
            <a:off x="4338218" y="2948940"/>
            <a:ext cx="3515258" cy="3195828"/>
          </a:xfrm>
          <a:prstGeom prst="roundRect">
            <a:avLst>
              <a:gd name="adj" fmla="val 1717"/>
            </a:avLst>
          </a:prstGeom>
          <a:solidFill>
            <a:srgbClr val="C7DBDA"/>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2200" b="1" dirty="0">
                <a:solidFill>
                  <a:srgbClr val="195955"/>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You need the current before you can find either p.d.</a:t>
            </a:r>
            <a:endParaRPr lang="en-US" sz="2200" dirty="0"/>
          </a:p>
        </p:txBody>
      </p:sp>
      <p:sp>
        <p:nvSpPr>
          <p:cNvPr id="22" name="col-Stretch"/>
          <p:cNvSpPr/>
          <p:nvPr/>
        </p:nvSpPr>
        <p:spPr>
          <a:xfrm>
            <a:off x="8127797" y="2948940"/>
            <a:ext cx="3515258" cy="3195828"/>
          </a:xfrm>
          <a:prstGeom prst="roundRect">
            <a:avLst>
              <a:gd name="adj" fmla="val 1717"/>
            </a:avLst>
          </a:prstGeom>
          <a:solidFill>
            <a:srgbClr val="1F6F6A"/>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Find the p.d. across the 30 Ω resistor too, and explain why the bigger resistor gets the bigger share.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12 V battery drives a current of 0.40 A through two resistors in series. One resistor is 18 Ω. Calculate the resistance of the other, in ohms.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F1F0"/>
          </a:solidFill>
          <a:ln w="12700">
            <a:solidFill>
              <a:srgbClr val="88B3B0"/>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 (Ω):</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Total resistance and current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6.0 V battery is connected to an 8.0 Ω resistor and a 4.0 Ω resistor in series. Calculate the current in the circuit, in amps.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0.5 A</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Total resistance 12 Ω; I = 6.0 ÷ 12 = 0.50 A everywhere in the loop.</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Find the share of the p.d.</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24 V supply is connected to a 30 Ω resistor and a 50 Ω resistor in series. Calculate the p.d. across the 50 Ω resistor, in volts.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15 V</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Total 80 Ω, current 0.30 A, so the 50 Ω resistor has 0.30 × 50 = 15 V across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12 V battery drives a current of 0.40 A through two resistors in series. One resistor is 18 Ω. Calculate the resistance of the other, in ohms.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12 Ω</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Total resistance 30 Ω; 30 − 18 = 12 Ω.</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E2ECEC"/>
      </a:lt2>
      <a:accent1>
        <a:srgbClr val="1F6F6A"/>
      </a:accent1>
      <a:accent2>
        <a:srgbClr val="B8862B"/>
      </a:accent2>
      <a:accent3>
        <a:srgbClr val="79A9A6"/>
      </a:accent3>
      <a:accent4>
        <a:srgbClr val="815E1E"/>
      </a:accent4>
      <a:accent5>
        <a:srgbClr val="4A505C"/>
      </a:accent5>
      <a:accent6>
        <a:srgbClr val="D9BF8F"/>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 Chapter 5: Series circuits</dc:title>
  <dc:subject>Combined Science (Physics) · Year 10</dc:subject>
  <dc:creator>Dr Vitor Merissi de Carvalho</dc:creator>
  <cp:lastModifiedBy>Dr Vitor Merissi de Carvalho</cp:lastModifiedBy>
  <cp:revision>1</cp:revision>
  <dcterms:created xsi:type="dcterms:W3CDTF">2026-10-16T23:02:14Z</dcterms:created>
  <dcterms:modified xsi:type="dcterms:W3CDTF">2026-10-16T23:02:14Z</dcterms:modified>
</cp:coreProperties>
</file>