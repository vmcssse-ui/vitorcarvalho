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f5a753-983a-2bbd-cd18-1ff406e746c1}">
          <p14:sldIdLst>
            <p14:sldId id="256"/>
          </p14:sldIdLst>
        </p14:section>
        <p14:section name="Gate" id="{bd30e507-f7fe-f3d3-e979-315e7a1a42e5}">
          <p14:sldIdLst>
            <p14:sldId id="257"/>
            <p14:sldId id="258"/>
          </p14:sldIdLst>
        </p14:section>
        <p14:section name="Pre-teach" id="{4d1869c8-5133-fb21-d402-1a9a4fd7658e}">
          <p14:sldIdLst>
            <p14:sldId id="259"/>
          </p14:sldIdLst>
        </p14:section>
        <p14:section name="Read-along" id="{1be7ecc0-0853-4af2-6f0f-0f0cd48ae927}">
          <p14:sldIdLst>
            <p14:sldId id="260"/>
            <p14:sldId id="261"/>
          </p14:sldIdLst>
        </p14:section>
        <p14:section name="Teach" id="{6611db66-3460-7af9-cf45-c85a80202aa9}">
          <p14:sldIdLst>
            <p14:sldId id="262"/>
            <p14:sldId id="263"/>
            <p14:sldId id="264"/>
            <p14:sldId id="265"/>
          </p14:sldIdLst>
        </p14:section>
        <p14:section name="Routes" id="{688a0a89-2bf9-8f4c-337d-c3fc0ef9cd3d}">
          <p14:sldIdLst>
            <p14:sldId id="266"/>
            <p14:sldId id="267"/>
            <p14:sldId id="268"/>
            <p14:sldId id="269"/>
          </p14:sldIdLst>
        </p14:section>
        <p14:section name="Close" id="{65f7ff27-3513-3f64-8597-3f1495adcc08}">
          <p14:sldIdLst>
            <p14:sldId id="270"/>
          </p14:sldIdLst>
        </p14:section>
        <p14:section name="Answers" id="{200e9350-34fd-3b61-f6ce-c3eeb0df2d64}">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Components, symbols and circuits. This chapter gives you the language of circuits: the parts, their symbols, and what current is.
This deck covers the department's lesson: 2 (P4.2 Current and charge: How do we draw circuits, and how is current linked to the flow of charge?).
Read the big question aloud: "What decides how much current flows in each part of a circuit?"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component is drawn as a circle with the letter A inside?  →  B   ammeter
2. What is a battery?  →  C   two or more cells joined together
3. A diode lets current flow in ___ direction only.  →  one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ammeter. A circle with A is an ammeter, which measures current in amps. A circle with V is a voltmeter.
2. C   two or more cells joined together. A battery is two or more cells connected together.
3. one. A diode is like a one-way valve: current flows through it one way, not the other.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circuit: a complete loop that electricity can flow around. Example: "The lamp lit up because the circuit was a complete loop."
• component: one part of a circuit. Example: "A lamp is one component and a switch is another."
• symbol: a simple drawing that stands for a component. Example: "The symbol for a lamp is a circle with a cross inside."
• current: the flow of electric charge around a circuit. Example: "When the switch is closed, a current flows through the lamp."
• series: all the components joined in one single loop. Example: "In a series circuit the current goes through each lamp in turn."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 circuit is a loop that electricity can flow around.
2. The loop must be complete, with no gaps in it.
3. Each part of a circuit is called a component.
4. A cell, a lamp, a switch and a wire are all components.
5. Scientists draw each component as a simple symbol.
6. A cell is drawn as one long line next to one short line.
7. A lamp is drawn as a circle with a cross inside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Wires are drawn as straight lines that join the symbols.
9. Current is the flow of electric charge around the circuit.
10. We measure current in amps, using a meter called an ammeter.
11. In a series circuit, all the components are in one loop.
12. The current goes through each component, one after the other.
13. If a switch is open, there is a gap in the loop.
14. Then no current flows, and the lamp goes out.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Components and their symbols. Say it in your own words, then check understanding with a quick question: ask a pupil from the pre-teach group first, since they met these words and ideas before the lesson. Pupils try to recall before you re-explain.
Every circuit is built from components. You already know some of them: cells, lamps, switches and wires. To draw a circuit quickly and clearly, scientists use the same symbol for each component, all over the world.
A cell is a long thin line next to a short thick line; the long line is the positive (+) side. A battery is two or more cells joined together. A lamp is a circle with a cross inside. A switch is a line with a break that can open or close. A resistor is a small empty rectangle, and a fuse is a rectangle with a line running through it.
Two meters appear in almost every circuit. An ammeter is a circle with the letter A inside; it measures current. A voltmeter is a circle with the letter V inside; it measures potential difference, which you will meet in Chapter 3.
Worked example — model it step by step, thinking aloud: A circuit diagram shows, in one loop: a cell, a closed switch, a circle with a cross inside, and a circle with an A inside. Name each component and say whether the lamp will light. (1) Read each symbol in turn: long and short line = cell; line with no break = closed switch. (2) Circle with a cross = lamp; circle with A = ammeter. (3) Check the loop: everything is in one loop and the switch is closed, so there are no gaps. (4) A complete loop means current can flow, so the lamp lights and the ammeter shows a reading. Answer: Cell, closed switch, lamp and ammeter. The loop is complete, so the lamp lights..
Tip: A battery is two or more cells. In the exam, 'cell' and 'battery' are not the same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Components and their symbols. Say it in your own words, then check understanding with a quick question: ask a pupil from the pre-teach group first, since they met these words and ideas before the lesson. Pupils try to recall before you re-explain.
Every circuit is built from components. You already know some of them: cells, lamps, switches and wires. To draw a circuit quickly and clearly, scientists use the same symbol for each component, all over the world.
A cell is a long thin line next to a short thick line; the long line is the positive (+) side. A battery is two or more cells joined together. A lamp is a circle with a cross inside. A switch is a line with a break that can open or close. A resistor is a small empty rectangle, and a fuse is a rectangle with a line running through it.
Two meters appear in almost every circuit. An ammeter is a circle with the letter A inside; it measures current. A voltmeter is a circle with the letter V inside; it measures potential difference, which you will meet in Chapter 3.
Worked example — model it step by step, thinking aloud: A circuit diagram shows, in one loop: a cell, a closed switch, a circle with a cross inside, and a circle with an A inside. Name each component and say whether the lamp will light. (1) Read each symbol in turn: long and short line = cell; line with no break = closed switch. (2) Circle with a cross = lamp; circle with A = ammeter. (3) Check the loop: everything is in one loop and the switch is closed, so there are no gaps. (4) A complete loop means current can flow, so the lamp lights and the ammeter shows a reading. Answer: Cell, closed switch, lamp and ammeter. The loop is complete, so the lamp lights..
Tip: A battery is two or more cells. In the exam, 'cell' and 'battery' are not the same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Drawing circuit diagrams. Say it in your own words, then check understanding with a quick question: ask a pupil from the pre-teach group first, since they met these words and ideas before the lesson. Pupils try to recall before you re-explain.
A photograph of a circuit is hard to read: wires cross and bend. A circuit diagram is quicker to draw and shows exactly how each component is connected.
Follow two rules. Draw every wire as a straight line with a ruler, and arrange the components so the lines run only across or up and down. Leave no gaps where wires meet a symbol: a gap on paper means a gap in the circuit.
Where you put the meters matters. An ammeter goes in the loop, in series, so the current passes through it. A voltmeter goes across a component, in parallel, with one wire on each side of it.
Tip: Ammeter IN the loop; voltmeter ACROSS the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Variable resistors and diodes. Say it in your own words, then check understanding with a quick question: ask a pupil from the pre-teach group first, since they met these words and ideas before the lesson. Pupils try to recall before you re-explain.
A variable resistor is a resistor whose resistance you can change; its symbol is a resistor with an arrow drawn diagonally through it. Turning it up increases the resistance, so the current goes down and a lamp in the same loop gets dimmer. Turning it down does the opposite. Dimmer switches and volume controls work this way.
A diode lets current flow in one direction only, like a one-way valve in a water pipe. Its symbol is a triangle pointing at a short bar; current flows in the direction the triangle points. Turn the diode round and the current stops. A light-emitting diode (LED) is a diode that gives out light.
One more fact about direction. The current drawn on diagrams, called conventional current, flows from the positive side of the cell round to the negative side. The electrons themselves actually move the other way, from negative to positive. This convention was fixed before anyone knew about electrons.
Tip: Diode = one-way street for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symbol.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symbol to the component it stands for.
Support — work through the steps with the group: (1) Look for a circle first: a circle with a letter is a meter; a circle with a cross is a lamp. (2) A letter A means current (ammeter); a letter V means volts (voltmeter). (3) Rectangles are resistors; anything extra on the rectangle (an arrow, a line) changes the type.
Parallel worked example for Support (model it, do not give the task answer): Match: long line beside a short line; a line with a break in it; a rectangle with a line running through it. Long and short line = cell.; Line with a break = open switch.; Rectangle with a line through it = fuse.. Answer: cell; open switch; fuse.
Core — reveal the hint only on request: Circles are lamps or meters; rectangles are resistors of some kind.
Stretch — no help; when finished: Draw the symbols for a thermistor and an LDR and explain how each one tells you it is a kind of resistor.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symbol.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symbol to the component it stands for.
Support — work through the steps with the group: (1) Look for a circle first: a circle with a letter is a meter; a circle with a cross is a lamp. (2) A letter A means current (ammeter); a letter V means volts (voltmeter). (3) Rectangles are resistors; anything extra on the rectangle (an arrow, a line) changes the type.
Parallel worked example for Support (model it, do not give the task answer): Match: long line beside a short line; a line with a break in it; a rectangle with a line running through it. Long and short line = cell.; Line with a break = open switch.; Rectangle with a line through it = fuse.. Answer: cell; open switch; fuse.
Core — reveal the hint only on request: Circles are lamps or meters; rectangles are resistors of some kind.
Stretch — no help; when finished: Draw the symbols for a thermistor and an LDR and explain how each one tells you it is a kind of resistor.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Is the loop complete?.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series circuit has a cell, a lamp, an ammeter and a switch. The switch is open. What does the ammeter read?
Support — work through the steps with the group: (1) Trace the loop with your finger from the cell, round, and back. (2) If you meet a gap (an open switch or a broken wire), current cannot get past it. (3) In one loop, a gap anywhere stops the current everywhere.
Parallel worked example for Support (model it, do not give the task answer): A series circuit has a cell, two lamps and a closed switch. One lamp's filament breaks. What happens to the other lamp? The broken filament is a gap in the only loop.; No current can flow anywhere in the loop.. Answer: The other lamp goes out too..
Core — reveal the hint only on request: How many loops does a series circuit have?
Stretch — no help; when finished: Explain why old strings of decorative lights all went out when one bulb failed, and suggest how they could be wired so the others stay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Is the loop complete?.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series circuit has a cell, a lamp, an ammeter and a switch. The switch is open. What does the ammeter read?
Support — work through the steps with the group: (1) Trace the loop with your finger from the cell, round, and back. (2) If you meet a gap (an open switch or a broken wire), current cannot get past it. (3) In one loop, a gap anywhere stops the current everywhere.
Parallel worked example for Support (model it, do not give the task answer): A series circuit has a cell, two lamps and a closed switch. One lamp's filament breaks. What happens to the other lamp? The broken filament is a gap in the only loop.; No current can flow anywhere in the loop.. Answer: The other lamp goes out too..
Core — reveal the hint only on request: How many loops does a series circuit have?
Stretch — no help; when finished: Explain why old strings of decorative lights all went out when one bulb failed, and suggest how they could be wired so the others stay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lamp and a variable resistor are in series with a cell. The resistance of the variable resistor is increased. What happens?
Answer: A   The current decreases and the lamp gets dimmer.. Increasing the resistance reduces the current everywhere in the series loop, so the lamp is dimmer.
Source of this question: module 3 task ("Turning the dimmer")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symbol. Reveal the answer; pupils mark their own work in a different colour, then read the "why" together. Same destination for every lane, so one answer serves the whole class.
Answer: a circle with a cross inside  →  C  lamp; a circle with the letter V inside  →  D  voltmeter; an empty rectangle  →  E  resistor; a rectangle with a diagonal arrow through it  →  B  variable resistor; a triangle pointing at a short bar  →  A  diode
Why: Circle with a cross = lamp; circle with V = voltmeter; empty rectangle = resistor; the arrow makes it a variable resistor; the triangle and bar is a diode.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Is the loop complete?. Reveal the answer; pupils mark their own work in a different colour, then read the "why" together. Same destination for every lane, so one answer serves the whole class.
Answer: A   0 A, because the gap stops the current everywhere in the loop
Why: A series circuit is a single loop. Any gap, such as an open switch, stops the current in every part of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The current decreases and the lamp gets dimmer.
Why: Increasing the resistance reduces the current everywhere in the series loop, so the lamp is dimmer.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Combined Science (Physics)</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Electric Circuits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Components, symbols and circuits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C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P4.2 Current and charge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ombined Science (Physics),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decides how much current flows in each part of a circuit?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component is drawn as a circle with the letter A inside?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voltmeter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ammeter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lamp</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a battery?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one cell on its own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cell with a switch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two or more cells joined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lamp joined to a cell</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diode lets current flow in ___ direction only.</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one  ·  both  ·  no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ammeter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component is drawn as a circle with the letter A inside?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circle with A is an ammeter, which measures current in amps. A circle with V is a voltmeter.</a:t>
            </a:r>
            <a:endParaRPr lang="en-US" sz="20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BDDC4"/>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two or more cells joined together</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a battery?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battery is two or more cells connected together.</a:t>
            </a:r>
            <a:endParaRPr lang="en-US" sz="22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one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diode lets current flow in ___ direction only.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diode is like a one-way valve: current flows through it one way, not the 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6EFEF"/>
          </a:solidFill>
          <a:ln/>
        </p:spPr>
      </p:sp>
      <p:sp>
        <p:nvSpPr>
          <p:cNvPr id="12" name="kw-hex"/>
          <p:cNvSpPr/>
          <p:nvPr/>
        </p:nvSpPr>
        <p:spPr>
          <a:xfrm>
            <a:off x="658368" y="2135261"/>
            <a:ext cx="411480" cy="356342"/>
          </a:xfrm>
          <a:prstGeom prst="hexagon">
            <a:avLst/>
          </a:prstGeom>
          <a:solidFill>
            <a:srgbClr val="1F6F6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circuit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complete loop that electricity can flow around</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lamp lit up because the circuit was a complete loop.</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component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part of a circuit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lamp is one component and a switch is another.</a:t>
            </a:r>
            <a:endParaRPr lang="en-US" sz="1800" dirty="0"/>
          </a:p>
        </p:txBody>
      </p:sp>
      <p:sp>
        <p:nvSpPr>
          <p:cNvPr id="21" name="kw-row"/>
          <p:cNvSpPr/>
          <p:nvPr/>
        </p:nvSpPr>
        <p:spPr>
          <a:xfrm>
            <a:off x="548640" y="3639312"/>
            <a:ext cx="11094415" cy="786384"/>
          </a:xfrm>
          <a:prstGeom prst="roundRect">
            <a:avLst>
              <a:gd name="adj" fmla="val 6977"/>
            </a:avLst>
          </a:prstGeom>
          <a:solidFill>
            <a:srgbClr val="E6EFEF"/>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symbol</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simple drawing that stands for a component</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symbol for a lamp is a circle with a cross inside.</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current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flow of electric charge around a circuit</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When the switch is closed, a current flows through the lamp.</a:t>
            </a:r>
            <a:endParaRPr lang="en-US" sz="1800" dirty="0"/>
          </a:p>
        </p:txBody>
      </p:sp>
      <p:sp>
        <p:nvSpPr>
          <p:cNvPr id="31" name="kw-row"/>
          <p:cNvSpPr/>
          <p:nvPr/>
        </p:nvSpPr>
        <p:spPr>
          <a:xfrm>
            <a:off x="548640" y="5358384"/>
            <a:ext cx="11094415" cy="786384"/>
          </a:xfrm>
          <a:prstGeom prst="roundRect">
            <a:avLst>
              <a:gd name="adj" fmla="val 6977"/>
            </a:avLst>
          </a:prstGeom>
          <a:solidFill>
            <a:srgbClr val="E6EFEF"/>
          </a:solidFill>
          <a:ln/>
        </p:spPr>
      </p:sp>
      <p:sp>
        <p:nvSpPr>
          <p:cNvPr id="32" name="kw-hex"/>
          <p:cNvSpPr/>
          <p:nvPr/>
        </p:nvSpPr>
        <p:spPr>
          <a:xfrm>
            <a:off x="658368" y="5573405"/>
            <a:ext cx="411480" cy="356342"/>
          </a:xfrm>
          <a:prstGeom prst="hexagon">
            <a:avLst/>
          </a:prstGeom>
          <a:solidFill>
            <a:srgbClr val="1F6F6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series</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all the components joined in one single loop</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a series circuit the current goes through each lamp in turn.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circuit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loop that electricity can flow around.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loop must be complete, with no gaps in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part of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circuit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called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component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cell, a lamp, a switch and a wire are all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components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Scientists draw each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component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as a simple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symbol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cell is drawn as one long line next to one short line.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lamp is drawn as a circle with a cross inside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Wires are drawn as straight lines that join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symbols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Current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flow of electric charge around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circuit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measure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current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amps, using a meter called an ammeter.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series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circuit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all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components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in one loop.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current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goes through each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component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one after the 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a switch is open, there is a gap in the loop.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no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current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flows, and the lamp goes out.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Components and their symbols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battery is two or more cells. In the exam, 'cell' and 'battery' are not the same word.</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circuit is built from components. You already know some of them: cells, lamps, switches and wires.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cell is a long thin line next to a short thick line; the long line is the positive (+) side.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meters appear in almost every circuit. An ammeter is a circle with the letter A inside; it measures current.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Worked example: Components and their symbols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circuit diagram shows, in one loop: a cell, a closed switch, a circle with a cross inside, and a circle with an A inside. Name each component and say whether the lamp will light.</a:t>
            </a:r>
            <a:endParaRPr lang="en-US" sz="2000" dirty="0"/>
          </a:p>
        </p:txBody>
      </p:sp>
      <p:sp>
        <p:nvSpPr>
          <p:cNvPr id="9" name="step-box"/>
          <p:cNvSpPr/>
          <p:nvPr/>
        </p:nvSpPr>
        <p:spPr>
          <a:xfrm>
            <a:off x="548640" y="2502408"/>
            <a:ext cx="11094415" cy="603504"/>
          </a:xfrm>
          <a:prstGeom prst="roundRect">
            <a:avLst>
              <a:gd name="adj" fmla="val 12121"/>
            </a:avLst>
          </a:prstGeom>
          <a:solidFill>
            <a:srgbClr val="FFFFFF"/>
          </a:solidFill>
          <a:ln w="15875">
            <a:solidFill>
              <a:srgbClr val="84B0AD"/>
            </a:solidFill>
            <a:prstDash val="solid"/>
          </a:ln>
        </p:spPr>
      </p:sp>
      <p:sp>
        <p:nvSpPr>
          <p:cNvPr id="10" name="step-hex"/>
          <p:cNvSpPr/>
          <p:nvPr/>
        </p:nvSpPr>
        <p:spPr>
          <a:xfrm>
            <a:off x="685800" y="2606192"/>
            <a:ext cx="457200" cy="395935"/>
          </a:xfrm>
          <a:prstGeom prst="hexagon">
            <a:avLst/>
          </a:prstGeom>
          <a:solidFill>
            <a:srgbClr val="1F6F6A"/>
          </a:solidFill>
          <a:ln/>
        </p:spPr>
      </p:sp>
      <p:sp>
        <p:nvSpPr>
          <p:cNvPr id="11" name="step-hex-label"/>
          <p:cNvSpPr txBox="1"/>
          <p:nvPr/>
        </p:nvSpPr>
        <p:spPr>
          <a:xfrm>
            <a:off x="685800" y="26061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Read each symbol in turn: long and short line = cell; line with no break = closed switch.</a:t>
            </a:r>
            <a:endParaRPr lang="en-US" sz="1800" dirty="0"/>
          </a:p>
        </p:txBody>
      </p:sp>
      <p:sp>
        <p:nvSpPr>
          <p:cNvPr id="13" name="step-box"/>
          <p:cNvSpPr/>
          <p:nvPr/>
        </p:nvSpPr>
        <p:spPr>
          <a:xfrm>
            <a:off x="548640" y="3179064"/>
            <a:ext cx="11094415" cy="603504"/>
          </a:xfrm>
          <a:prstGeom prst="roundRect">
            <a:avLst>
              <a:gd name="adj" fmla="val 12121"/>
            </a:avLst>
          </a:prstGeom>
          <a:solidFill>
            <a:srgbClr val="FFFFFF"/>
          </a:solidFill>
          <a:ln w="15875">
            <a:solidFill>
              <a:srgbClr val="84B0AD"/>
            </a:solidFill>
            <a:prstDash val="solid"/>
          </a:ln>
        </p:spPr>
      </p:sp>
      <p:sp>
        <p:nvSpPr>
          <p:cNvPr id="14" name="step-hex"/>
          <p:cNvSpPr/>
          <p:nvPr/>
        </p:nvSpPr>
        <p:spPr>
          <a:xfrm>
            <a:off x="685800" y="3282848"/>
            <a:ext cx="457200" cy="395935"/>
          </a:xfrm>
          <a:prstGeom prst="hexagon">
            <a:avLst/>
          </a:prstGeom>
          <a:solidFill>
            <a:srgbClr val="1F6F6A"/>
          </a:solidFill>
          <a:ln/>
        </p:spPr>
      </p:sp>
      <p:sp>
        <p:nvSpPr>
          <p:cNvPr id="15" name="step-hex-label"/>
          <p:cNvSpPr txBox="1"/>
          <p:nvPr/>
        </p:nvSpPr>
        <p:spPr>
          <a:xfrm>
            <a:off x="685800" y="32828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79064"/>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Circle with a cross = lamp; circle with A = ammeter.</a:t>
            </a:r>
            <a:endParaRPr lang="en-US" sz="1800" dirty="0"/>
          </a:p>
        </p:txBody>
      </p:sp>
      <p:sp>
        <p:nvSpPr>
          <p:cNvPr id="17" name="step-box"/>
          <p:cNvSpPr/>
          <p:nvPr/>
        </p:nvSpPr>
        <p:spPr>
          <a:xfrm>
            <a:off x="548640" y="3855720"/>
            <a:ext cx="11094415" cy="603504"/>
          </a:xfrm>
          <a:prstGeom prst="roundRect">
            <a:avLst>
              <a:gd name="adj" fmla="val 12121"/>
            </a:avLst>
          </a:prstGeom>
          <a:solidFill>
            <a:srgbClr val="FFFFFF"/>
          </a:solidFill>
          <a:ln w="15875">
            <a:solidFill>
              <a:srgbClr val="84B0AD"/>
            </a:solidFill>
            <a:prstDash val="solid"/>
          </a:ln>
        </p:spPr>
      </p:sp>
      <p:sp>
        <p:nvSpPr>
          <p:cNvPr id="18" name="step-hex"/>
          <p:cNvSpPr/>
          <p:nvPr/>
        </p:nvSpPr>
        <p:spPr>
          <a:xfrm>
            <a:off x="685800" y="3959504"/>
            <a:ext cx="457200" cy="395935"/>
          </a:xfrm>
          <a:prstGeom prst="hexagon">
            <a:avLst/>
          </a:prstGeom>
          <a:solidFill>
            <a:srgbClr val="1F6F6A"/>
          </a:solidFill>
          <a:ln/>
        </p:spPr>
      </p:sp>
      <p:sp>
        <p:nvSpPr>
          <p:cNvPr id="19" name="step-hex-label"/>
          <p:cNvSpPr txBox="1"/>
          <p:nvPr/>
        </p:nvSpPr>
        <p:spPr>
          <a:xfrm>
            <a:off x="685800" y="39595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55720"/>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loop: everything is in one loop and the switch is closed, so there are no gaps.</a:t>
            </a:r>
            <a:endParaRPr lang="en-US" sz="1800" dirty="0"/>
          </a:p>
        </p:txBody>
      </p:sp>
      <p:sp>
        <p:nvSpPr>
          <p:cNvPr id="21" name="step-box"/>
          <p:cNvSpPr/>
          <p:nvPr/>
        </p:nvSpPr>
        <p:spPr>
          <a:xfrm>
            <a:off x="548640" y="4532376"/>
            <a:ext cx="11094415" cy="603504"/>
          </a:xfrm>
          <a:prstGeom prst="roundRect">
            <a:avLst>
              <a:gd name="adj" fmla="val 12121"/>
            </a:avLst>
          </a:prstGeom>
          <a:solidFill>
            <a:srgbClr val="FFFFFF"/>
          </a:solidFill>
          <a:ln w="15875">
            <a:solidFill>
              <a:srgbClr val="84B0AD"/>
            </a:solidFill>
            <a:prstDash val="solid"/>
          </a:ln>
        </p:spPr>
      </p:sp>
      <p:sp>
        <p:nvSpPr>
          <p:cNvPr id="22" name="step-hex"/>
          <p:cNvSpPr/>
          <p:nvPr/>
        </p:nvSpPr>
        <p:spPr>
          <a:xfrm>
            <a:off x="685800" y="4636160"/>
            <a:ext cx="457200" cy="395935"/>
          </a:xfrm>
          <a:prstGeom prst="hexagon">
            <a:avLst/>
          </a:prstGeom>
          <a:solidFill>
            <a:srgbClr val="1F6F6A"/>
          </a:solidFill>
          <a:ln/>
        </p:spPr>
      </p:sp>
      <p:sp>
        <p:nvSpPr>
          <p:cNvPr id="23" name="step-hex-label"/>
          <p:cNvSpPr txBox="1"/>
          <p:nvPr/>
        </p:nvSpPr>
        <p:spPr>
          <a:xfrm>
            <a:off x="685800" y="46361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32376"/>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complete loop means current can flow, so the lamp lights and the ammeter shows a reading.</a:t>
            </a:r>
            <a:endParaRPr lang="en-US" sz="1800" dirty="0"/>
          </a:p>
        </p:txBody>
      </p:sp>
      <p:sp>
        <p:nvSpPr>
          <p:cNvPr id="25" name="worked-answer"/>
          <p:cNvSpPr/>
          <p:nvPr/>
        </p:nvSpPr>
        <p:spPr>
          <a:xfrm>
            <a:off x="548640" y="5318760"/>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Cell, closed switch, lamp and ammeter. The loop is complete, so the lamp lights.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Drawing circuit diagrams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Ammeter IN the loop; voltmeter ACROSS the component.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photograph of a circuit is hard to read: wires cross and bend.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Follow two rules. Draw every wire as a straight line with a ruler, and arrange the components so the lines run only across or up and down.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Where you put the meters matters. An ammeter goes in the loop, in series, so the current passes through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Variable resistors and diodes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Diode = one-way street for current.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variable resistor is a resistor whose resistance you can change; its symbol is a resistor with an arrow drawn diagonally through it.</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diode lets current flow in one direction only, like a one-way valve in a water pipe.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One more fact about direction. The current drawn on diagrams, called conventional current, flows from the positive side of the cell round to the negative side.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Name the symbol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symbol to the component it stands for.</a:t>
            </a:r>
            <a:endParaRPr lang="en-US" sz="2400" dirty="0"/>
          </a:p>
        </p:txBody>
      </p:sp>
      <p:sp>
        <p:nvSpPr>
          <p:cNvPr id="11" name="match-card"/>
          <p:cNvSpPr/>
          <p:nvPr/>
        </p:nvSpPr>
        <p:spPr>
          <a:xfrm>
            <a:off x="777240" y="2468331"/>
            <a:ext cx="5135728" cy="557386"/>
          </a:xfrm>
          <a:prstGeom prst="roundRect">
            <a:avLst>
              <a:gd name="adj" fmla="val 13124"/>
            </a:avLst>
          </a:prstGeom>
          <a:solidFill>
            <a:srgbClr val="E6EFEF"/>
          </a:solidFill>
          <a:ln/>
        </p:spPr>
      </p:sp>
      <p:sp>
        <p:nvSpPr>
          <p:cNvPr id="12" name="match-hex"/>
          <p:cNvSpPr/>
          <p:nvPr/>
        </p:nvSpPr>
        <p:spPr>
          <a:xfrm>
            <a:off x="850392" y="2580731"/>
            <a:ext cx="384048" cy="332586"/>
          </a:xfrm>
          <a:prstGeom prst="hexagon">
            <a:avLst/>
          </a:prstGeom>
          <a:solidFill>
            <a:srgbClr val="1F6F6A"/>
          </a:solidFill>
          <a:ln/>
        </p:spPr>
      </p:sp>
      <p:sp>
        <p:nvSpPr>
          <p:cNvPr id="13" name="match-hex-label"/>
          <p:cNvSpPr txBox="1"/>
          <p:nvPr/>
        </p:nvSpPr>
        <p:spPr>
          <a:xfrm>
            <a:off x="850392" y="25807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circle with a cross inside</a:t>
            </a:r>
            <a:endParaRPr lang="en-US" sz="2200" dirty="0"/>
          </a:p>
        </p:txBody>
      </p:sp>
      <p:sp>
        <p:nvSpPr>
          <p:cNvPr id="15" name="match-card"/>
          <p:cNvSpPr/>
          <p:nvPr/>
        </p:nvSpPr>
        <p:spPr>
          <a:xfrm>
            <a:off x="6278728" y="2468331"/>
            <a:ext cx="5135728" cy="557386"/>
          </a:xfrm>
          <a:prstGeom prst="roundRect">
            <a:avLst>
              <a:gd name="adj" fmla="val 13124"/>
            </a:avLst>
          </a:prstGeom>
          <a:solidFill>
            <a:srgbClr val="F4EDDF"/>
          </a:solidFill>
          <a:ln/>
        </p:spPr>
      </p:sp>
      <p:sp>
        <p:nvSpPr>
          <p:cNvPr id="16" name="match-hex"/>
          <p:cNvSpPr/>
          <p:nvPr/>
        </p:nvSpPr>
        <p:spPr>
          <a:xfrm>
            <a:off x="6351880" y="2580731"/>
            <a:ext cx="384048" cy="332586"/>
          </a:xfrm>
          <a:prstGeom prst="hexagon">
            <a:avLst/>
          </a:prstGeom>
          <a:solidFill>
            <a:srgbClr val="B8862B"/>
          </a:solidFill>
          <a:ln/>
        </p:spPr>
      </p:sp>
      <p:sp>
        <p:nvSpPr>
          <p:cNvPr id="17" name="match-hex-label"/>
          <p:cNvSpPr txBox="1"/>
          <p:nvPr/>
        </p:nvSpPr>
        <p:spPr>
          <a:xfrm>
            <a:off x="6351880" y="25807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diode</a:t>
            </a:r>
            <a:endParaRPr lang="en-US" sz="2200" dirty="0"/>
          </a:p>
        </p:txBody>
      </p:sp>
      <p:sp>
        <p:nvSpPr>
          <p:cNvPr id="19" name="match-card"/>
          <p:cNvSpPr/>
          <p:nvPr/>
        </p:nvSpPr>
        <p:spPr>
          <a:xfrm>
            <a:off x="777240" y="3117157"/>
            <a:ext cx="5135728" cy="557386"/>
          </a:xfrm>
          <a:prstGeom prst="roundRect">
            <a:avLst>
              <a:gd name="adj" fmla="val 13124"/>
            </a:avLst>
          </a:prstGeom>
          <a:solidFill>
            <a:srgbClr val="E6EFEF"/>
          </a:solidFill>
          <a:ln/>
        </p:spPr>
      </p:sp>
      <p:sp>
        <p:nvSpPr>
          <p:cNvPr id="20" name="match-hex"/>
          <p:cNvSpPr/>
          <p:nvPr/>
        </p:nvSpPr>
        <p:spPr>
          <a:xfrm>
            <a:off x="850392" y="3229557"/>
            <a:ext cx="384048" cy="332586"/>
          </a:xfrm>
          <a:prstGeom prst="hexagon">
            <a:avLst/>
          </a:prstGeom>
          <a:solidFill>
            <a:srgbClr val="1F6F6A"/>
          </a:solidFill>
          <a:ln/>
        </p:spPr>
      </p:sp>
      <p:sp>
        <p:nvSpPr>
          <p:cNvPr id="21" name="match-hex-label"/>
          <p:cNvSpPr txBox="1"/>
          <p:nvPr/>
        </p:nvSpPr>
        <p:spPr>
          <a:xfrm>
            <a:off x="850392" y="3229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17157"/>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circle with the letter V inside</a:t>
            </a:r>
            <a:endParaRPr lang="en-US" sz="2200" dirty="0"/>
          </a:p>
        </p:txBody>
      </p:sp>
      <p:sp>
        <p:nvSpPr>
          <p:cNvPr id="23" name="match-card"/>
          <p:cNvSpPr/>
          <p:nvPr/>
        </p:nvSpPr>
        <p:spPr>
          <a:xfrm>
            <a:off x="6278728" y="3117157"/>
            <a:ext cx="5135728" cy="557386"/>
          </a:xfrm>
          <a:prstGeom prst="roundRect">
            <a:avLst>
              <a:gd name="adj" fmla="val 13124"/>
            </a:avLst>
          </a:prstGeom>
          <a:solidFill>
            <a:srgbClr val="F4EDDF"/>
          </a:solidFill>
          <a:ln/>
        </p:spPr>
      </p:sp>
      <p:sp>
        <p:nvSpPr>
          <p:cNvPr id="24" name="match-hex"/>
          <p:cNvSpPr/>
          <p:nvPr/>
        </p:nvSpPr>
        <p:spPr>
          <a:xfrm>
            <a:off x="6351880" y="3229557"/>
            <a:ext cx="384048" cy="332586"/>
          </a:xfrm>
          <a:prstGeom prst="hexagon">
            <a:avLst/>
          </a:prstGeom>
          <a:solidFill>
            <a:srgbClr val="B8862B"/>
          </a:solidFill>
          <a:ln/>
        </p:spPr>
      </p:sp>
      <p:sp>
        <p:nvSpPr>
          <p:cNvPr id="25" name="match-hex-label"/>
          <p:cNvSpPr txBox="1"/>
          <p:nvPr/>
        </p:nvSpPr>
        <p:spPr>
          <a:xfrm>
            <a:off x="6351880" y="3229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17157"/>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variable resistor</a:t>
            </a:r>
            <a:endParaRPr lang="en-US" sz="2200" dirty="0"/>
          </a:p>
        </p:txBody>
      </p:sp>
      <p:sp>
        <p:nvSpPr>
          <p:cNvPr id="27" name="match-card"/>
          <p:cNvSpPr/>
          <p:nvPr/>
        </p:nvSpPr>
        <p:spPr>
          <a:xfrm>
            <a:off x="777240" y="3765983"/>
            <a:ext cx="5135728" cy="557386"/>
          </a:xfrm>
          <a:prstGeom prst="roundRect">
            <a:avLst>
              <a:gd name="adj" fmla="val 13124"/>
            </a:avLst>
          </a:prstGeom>
          <a:solidFill>
            <a:srgbClr val="E6EFEF"/>
          </a:solidFill>
          <a:ln/>
        </p:spPr>
      </p:sp>
      <p:sp>
        <p:nvSpPr>
          <p:cNvPr id="28" name="match-hex"/>
          <p:cNvSpPr/>
          <p:nvPr/>
        </p:nvSpPr>
        <p:spPr>
          <a:xfrm>
            <a:off x="850392" y="3878383"/>
            <a:ext cx="384048" cy="332586"/>
          </a:xfrm>
          <a:prstGeom prst="hexagon">
            <a:avLst/>
          </a:prstGeom>
          <a:solidFill>
            <a:srgbClr val="1F6F6A"/>
          </a:solidFill>
          <a:ln/>
        </p:spPr>
      </p:sp>
      <p:sp>
        <p:nvSpPr>
          <p:cNvPr id="29" name="match-hex-label"/>
          <p:cNvSpPr txBox="1"/>
          <p:nvPr/>
        </p:nvSpPr>
        <p:spPr>
          <a:xfrm>
            <a:off x="850392"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65983"/>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empty rectangle</a:t>
            </a:r>
            <a:endParaRPr lang="en-US" sz="2200" dirty="0"/>
          </a:p>
        </p:txBody>
      </p:sp>
      <p:sp>
        <p:nvSpPr>
          <p:cNvPr id="31" name="match-card"/>
          <p:cNvSpPr/>
          <p:nvPr/>
        </p:nvSpPr>
        <p:spPr>
          <a:xfrm>
            <a:off x="6278728" y="3765983"/>
            <a:ext cx="5135728" cy="557386"/>
          </a:xfrm>
          <a:prstGeom prst="roundRect">
            <a:avLst>
              <a:gd name="adj" fmla="val 13124"/>
            </a:avLst>
          </a:prstGeom>
          <a:solidFill>
            <a:srgbClr val="F4EDDF"/>
          </a:solidFill>
          <a:ln/>
        </p:spPr>
      </p:sp>
      <p:sp>
        <p:nvSpPr>
          <p:cNvPr id="32" name="match-hex"/>
          <p:cNvSpPr/>
          <p:nvPr/>
        </p:nvSpPr>
        <p:spPr>
          <a:xfrm>
            <a:off x="6351880" y="3878383"/>
            <a:ext cx="384048" cy="332586"/>
          </a:xfrm>
          <a:prstGeom prst="hexagon">
            <a:avLst/>
          </a:prstGeom>
          <a:solidFill>
            <a:srgbClr val="B8862B"/>
          </a:solidFill>
          <a:ln/>
        </p:spPr>
      </p:sp>
      <p:sp>
        <p:nvSpPr>
          <p:cNvPr id="33" name="match-hex-label"/>
          <p:cNvSpPr txBox="1"/>
          <p:nvPr/>
        </p:nvSpPr>
        <p:spPr>
          <a:xfrm>
            <a:off x="6351880"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765983"/>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lamp</a:t>
            </a:r>
            <a:endParaRPr lang="en-US" sz="2200" dirty="0"/>
          </a:p>
        </p:txBody>
      </p:sp>
      <p:sp>
        <p:nvSpPr>
          <p:cNvPr id="35" name="match-card"/>
          <p:cNvSpPr/>
          <p:nvPr/>
        </p:nvSpPr>
        <p:spPr>
          <a:xfrm>
            <a:off x="777240" y="4414809"/>
            <a:ext cx="5135728" cy="898254"/>
          </a:xfrm>
          <a:prstGeom prst="roundRect">
            <a:avLst>
              <a:gd name="adj" fmla="val 8144"/>
            </a:avLst>
          </a:prstGeom>
          <a:solidFill>
            <a:srgbClr val="E6EFEF"/>
          </a:solidFill>
          <a:ln/>
        </p:spPr>
      </p:sp>
      <p:sp>
        <p:nvSpPr>
          <p:cNvPr id="36" name="match-hex"/>
          <p:cNvSpPr/>
          <p:nvPr/>
        </p:nvSpPr>
        <p:spPr>
          <a:xfrm>
            <a:off x="850392" y="4697643"/>
            <a:ext cx="384048" cy="332586"/>
          </a:xfrm>
          <a:prstGeom prst="hexagon">
            <a:avLst/>
          </a:prstGeom>
          <a:solidFill>
            <a:srgbClr val="1F6F6A"/>
          </a:solidFill>
          <a:ln/>
        </p:spPr>
      </p:sp>
      <p:sp>
        <p:nvSpPr>
          <p:cNvPr id="37" name="match-hex-label"/>
          <p:cNvSpPr txBox="1"/>
          <p:nvPr/>
        </p:nvSpPr>
        <p:spPr>
          <a:xfrm>
            <a:off x="850392" y="46976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14809"/>
            <a:ext cx="4541368" cy="89825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rectangle with a diagonal arrow through it</a:t>
            </a:r>
            <a:endParaRPr lang="en-US" sz="2200" dirty="0"/>
          </a:p>
        </p:txBody>
      </p:sp>
      <p:sp>
        <p:nvSpPr>
          <p:cNvPr id="39" name="match-card"/>
          <p:cNvSpPr/>
          <p:nvPr/>
        </p:nvSpPr>
        <p:spPr>
          <a:xfrm>
            <a:off x="6278728" y="4414809"/>
            <a:ext cx="5135728" cy="898254"/>
          </a:xfrm>
          <a:prstGeom prst="roundRect">
            <a:avLst>
              <a:gd name="adj" fmla="val 8144"/>
            </a:avLst>
          </a:prstGeom>
          <a:solidFill>
            <a:srgbClr val="F4EDDF"/>
          </a:solidFill>
          <a:ln/>
        </p:spPr>
      </p:sp>
      <p:sp>
        <p:nvSpPr>
          <p:cNvPr id="40" name="match-hex"/>
          <p:cNvSpPr/>
          <p:nvPr/>
        </p:nvSpPr>
        <p:spPr>
          <a:xfrm>
            <a:off x="6351880" y="4697643"/>
            <a:ext cx="384048" cy="332586"/>
          </a:xfrm>
          <a:prstGeom prst="hexagon">
            <a:avLst/>
          </a:prstGeom>
          <a:solidFill>
            <a:srgbClr val="B8862B"/>
          </a:solidFill>
          <a:ln/>
        </p:spPr>
      </p:sp>
      <p:sp>
        <p:nvSpPr>
          <p:cNvPr id="41" name="match-hex-label"/>
          <p:cNvSpPr txBox="1"/>
          <p:nvPr/>
        </p:nvSpPr>
        <p:spPr>
          <a:xfrm>
            <a:off x="6351880" y="46976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414809"/>
            <a:ext cx="4541368" cy="89825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voltmeter</a:t>
            </a:r>
            <a:endParaRPr lang="en-US" sz="2200" dirty="0"/>
          </a:p>
        </p:txBody>
      </p:sp>
      <p:sp>
        <p:nvSpPr>
          <p:cNvPr id="43" name="match-card"/>
          <p:cNvSpPr/>
          <p:nvPr/>
        </p:nvSpPr>
        <p:spPr>
          <a:xfrm>
            <a:off x="777240" y="5404502"/>
            <a:ext cx="5135728" cy="557386"/>
          </a:xfrm>
          <a:prstGeom prst="roundRect">
            <a:avLst>
              <a:gd name="adj" fmla="val 13124"/>
            </a:avLst>
          </a:prstGeom>
          <a:solidFill>
            <a:srgbClr val="E6EFEF"/>
          </a:solidFill>
          <a:ln/>
        </p:spPr>
      </p:sp>
      <p:sp>
        <p:nvSpPr>
          <p:cNvPr id="44" name="match-hex"/>
          <p:cNvSpPr/>
          <p:nvPr/>
        </p:nvSpPr>
        <p:spPr>
          <a:xfrm>
            <a:off x="850392" y="5516902"/>
            <a:ext cx="384048" cy="332586"/>
          </a:xfrm>
          <a:prstGeom prst="hexagon">
            <a:avLst/>
          </a:prstGeom>
          <a:solidFill>
            <a:srgbClr val="1F6F6A"/>
          </a:solidFill>
          <a:ln/>
        </p:spPr>
      </p:sp>
      <p:sp>
        <p:nvSpPr>
          <p:cNvPr id="45" name="match-hex-label"/>
          <p:cNvSpPr txBox="1"/>
          <p:nvPr/>
        </p:nvSpPr>
        <p:spPr>
          <a:xfrm>
            <a:off x="850392" y="551690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04502"/>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triangle pointing at a short bar</a:t>
            </a:r>
            <a:endParaRPr lang="en-US" sz="2200" dirty="0"/>
          </a:p>
        </p:txBody>
      </p:sp>
      <p:sp>
        <p:nvSpPr>
          <p:cNvPr id="47" name="match-card"/>
          <p:cNvSpPr/>
          <p:nvPr/>
        </p:nvSpPr>
        <p:spPr>
          <a:xfrm>
            <a:off x="6278728" y="5404502"/>
            <a:ext cx="5135728" cy="557386"/>
          </a:xfrm>
          <a:prstGeom prst="roundRect">
            <a:avLst>
              <a:gd name="adj" fmla="val 13124"/>
            </a:avLst>
          </a:prstGeom>
          <a:solidFill>
            <a:srgbClr val="F4EDDF"/>
          </a:solidFill>
          <a:ln/>
        </p:spPr>
      </p:sp>
      <p:sp>
        <p:nvSpPr>
          <p:cNvPr id="48" name="match-hex"/>
          <p:cNvSpPr/>
          <p:nvPr/>
        </p:nvSpPr>
        <p:spPr>
          <a:xfrm>
            <a:off x="6351880" y="5516902"/>
            <a:ext cx="384048" cy="332586"/>
          </a:xfrm>
          <a:prstGeom prst="hexagon">
            <a:avLst/>
          </a:prstGeom>
          <a:solidFill>
            <a:srgbClr val="B8862B"/>
          </a:solidFill>
          <a:ln/>
        </p:spPr>
      </p:sp>
      <p:sp>
        <p:nvSpPr>
          <p:cNvPr id="49" name="match-hex-label"/>
          <p:cNvSpPr txBox="1"/>
          <p:nvPr/>
        </p:nvSpPr>
        <p:spPr>
          <a:xfrm>
            <a:off x="6351880" y="551690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799936" y="5404502"/>
            <a:ext cx="454136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resistor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Name the symbol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symbol to the component it stands for.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Look for a circle first: a circle with a letter is a meter; a circle with a cross is a lamp.</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letter A means current (ammeter); a letter V means volts (voltmeter).</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Rectangles are resistors; anything extra on the rectangle (an arrow, a line) changes the type.</a:t>
            </a:r>
            <a:endParaRPr lang="en-US" sz="2000" dirty="0"/>
          </a:p>
        </p:txBody>
      </p:sp>
      <p:sp>
        <p:nvSpPr>
          <p:cNvPr id="17" name="col-Core"/>
          <p:cNvSpPr/>
          <p:nvPr/>
        </p:nvSpPr>
        <p:spPr>
          <a:xfrm>
            <a:off x="5490762" y="2578608"/>
            <a:ext cx="2938987" cy="3566160"/>
          </a:xfrm>
          <a:prstGeom prst="roundRect">
            <a:avLst>
              <a:gd name="adj" fmla="val 1867"/>
            </a:avLst>
          </a:prstGeom>
          <a:solidFill>
            <a:srgbClr val="C7DB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Circles are lamps or meters; rectangles are resistors of some kind.</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1F6F6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Draw the symbols for a thermistor and an LDR and explain how each one tells you it is a kind of resistor.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Is the loop complete?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series circuit has a cell, a lamp, an ammeter and a switch. The switch is open. What does the ammeter read?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0 A, because the gap stops the current everywhere in the loop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same current as when the switch is closed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larger current, because the switch has no resistance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small current, because only the lamp is switched off</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Is the loop complete?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series circuit has a cell, a lamp, an ammeter and a switch. The switch is open. What does the ammeter read?</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2EC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Trace the loop with your finger from the cell, round, and back.</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you meet a gap (an open switch or a broken wire), current cannot get past it.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one loop, a gap anywhere stops the current everywhere.</a:t>
            </a:r>
            <a:endParaRPr lang="en-US" sz="1800" dirty="0"/>
          </a:p>
        </p:txBody>
      </p:sp>
      <p:sp>
        <p:nvSpPr>
          <p:cNvPr id="17" name="col-Core"/>
          <p:cNvSpPr/>
          <p:nvPr/>
        </p:nvSpPr>
        <p:spPr>
          <a:xfrm>
            <a:off x="4338218" y="2593848"/>
            <a:ext cx="3515258" cy="3550920"/>
          </a:xfrm>
          <a:prstGeom prst="roundRect">
            <a:avLst>
              <a:gd name="adj" fmla="val 1561"/>
            </a:avLst>
          </a:prstGeom>
          <a:solidFill>
            <a:srgbClr val="C7DBDA"/>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loops does a series circuit have?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1F6F6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old strings of decorative lights all went out when one bulb failed, and suggest how they could be wired so the others stay 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lamp and a variable resistor are in series with a cell. The resistance of the variable resistor is increased. What happens?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current decreases and the lamp gets dimmer.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current stays the same and the lamp stays the same.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current decreases and the lamp gets brighter.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current increases and the lamp gets brighter.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Name the symbol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circle with a cross inside  →  C  lamp</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circle with the letter V inside  →  D  voltmeter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an empty rectangle  →  E  resistor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rectangle with a diagonal arrow through it  →  B  variable resistor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triangle pointing at a short bar  →  A  diode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Circle with a cross = lamp; circle with V = voltmeter; empty rectangle = resistor; the arrow makes it a variable resistor; the triangle and bar is a diode.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Is the loop complete?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series circuit has a cell, a lamp, an ammeter and a switch. The switch is open. What does the ammeter read?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0 A, because the gap stops the current everywhere in the loop</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series circuit is a single loop. Any gap, such as an open switch, stops the current in every part of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lamp and a variable resistor are in series with a cell. The resistance of the variable resistor is increased. What happens?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current decreases and the lamp gets dimmer.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Increasing the resistance reduces the current everywhere in the series loop, so the lamp is dimmer.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 Chapter 1: Components, symbols and circuits</dc:title>
  <dc:subject>Combined Science (Physics) · Year 10</dc:subject>
  <dc:creator>Dr Vitor Merissi de Carvalho</dc:creator>
  <cp:lastModifiedBy>Dr Vitor Merissi de Carvalho</cp:lastModifiedBy>
  <cp:revision>1</cp:revision>
  <dcterms:created xsi:type="dcterms:W3CDTF">2026-10-19T16:22:30Z</dcterms:created>
  <dcterms:modified xsi:type="dcterms:W3CDTF">2026-10-19T16:22:30Z</dcterms:modified>
</cp:coreProperties>
</file>