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5b4ed9-d03e-5d35-97d9-5c128643cee5}">
          <p14:sldIdLst>
            <p14:sldId id="256"/>
          </p14:sldIdLst>
        </p14:section>
        <p14:section name="Gate" id="{93d91d77-9df9-e0da-8122-b447922c47f6}">
          <p14:sldIdLst>
            <p14:sldId id="257"/>
            <p14:sldId id="258"/>
          </p14:sldIdLst>
        </p14:section>
        <p14:section name="Pre-teach" id="{da636106-0587-54c5-e2be-87d8792acaa5}">
          <p14:sldIdLst>
            <p14:sldId id="259"/>
            <p14:sldId id="260"/>
          </p14:sldIdLst>
        </p14:section>
        <p14:section name="Read-along" id="{2daed43e-bc94-48d4-7668-7e6a01115fc3}">
          <p14:sldIdLst>
            <p14:sldId id="261"/>
            <p14:sldId id="262"/>
          </p14:sldIdLst>
        </p14:section>
        <p14:section name="Teach" id="{d76f1bab-bfed-1995-6c28-ff6dcc6c2d59}">
          <p14:sldIdLst>
            <p14:sldId id="263"/>
            <p14:sldId id="264"/>
            <p14:sldId id="265"/>
          </p14:sldIdLst>
        </p14:section>
        <p14:section name="Routes" id="{6eb81f1e-bdca-87d3-49b5-e58c356b71d8}">
          <p14:sldIdLst>
            <p14:sldId id="266"/>
            <p14:sldId id="267"/>
          </p14:sldIdLst>
        </p14:section>
        <p14:section name="Close" id="{39389dec-40de-29ad-2377-b60be76bca44}">
          <p14:sldIdLst>
            <p14:sldId id="268"/>
          </p14:sldIdLst>
        </p14:section>
        <p14:section name="Answers" id="{9d04fb2b-116c-0752-1d6a-d1024bad3193}">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Potential difference and resistance: V = I R. This chapter explains the push that drives current, the resistance that opposes it, and how to measure the resistance of a wire.
This deck covers the department's lesson: 3 (P4.3 Potential Difference and Resistance: How do potential difference and resistance control the current in a component?).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current of 2 A flows through a 5 Ω resistor. Calculate the potential difference in volts.  →  10 V
2. What is the unit of resistance?  →  C   ohm (Ω)
3. A voltmeter is connected in ___ with the component it measures.  →  parallel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10 V. V = I R = 2 × 5 = 10 V. Whole-number data, so a whole-number answer.
2. C   ohm (Ω). Resistance is measured in ohms, Ω.
3. parallel. A voltmeter goes across the component, in parallel. The ammeter goes in series.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potential difference: the push that drives current through a component; measured in volts. Example: "The potential difference across the lamp was 6 volts."
• volt: the unit of potential difference, written V. Example: "A small cell gives about one and a half volts."
• voltmeter: a meter placed across a component to measure potential difference. Example: "We connected the voltmeter across the resistor."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resistance: how much a component opposes the current. Example: "The long wire had a bigger resistance than the short wire."
• ohm: the unit of resistance, written with the symbol Ω. Example: "The resistor had a resistance of ten ohms."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cell gives the charge a push around the circuit.
2. This push is called potential difference, or p.d. for short.
3. Potential difference is measured in volts, written V.
4. We measure it with a voltmeter placed across a component.
5. Every component also opposes the current a little.
6. This opposing is called resistance.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Resistance is measured in ohms, written with the symbol Ω.
8. A bigger push makes a bigger current flow.
9. A bigger resistance makes a smaller current flow.
10. The equation is p.d. equals current times resistance: V = I R.
11. A longer wire has a bigger resistance than a shorter one.
12. In the practical, you measure this for yourself.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Potential difference: the push. Say it in your own words, then check understanding with a quick question: ask a pupil from the pre-teach group first, since they met these words and ideas before the lesson. Pupils try to recall before you re-explain.
A cell does work on the charge, giving it energy. As the charge flows through a component, such as a lamp, it transfers that energy to the component. The potential difference across the component tells you how much energy each coulomb of charge transfers.
Potential difference (p.d.) is measured in volts (V) with a voltmeter connected across the component, in parallel with it. One volt means one joule of energy is transferred by each coulomb of charge. The equation is energy transferred = charge flow × potential difference, or E = Q V, with E in joules (J).
Worked example — model it step by step, thinking aloud: 4.0 C of charge flows through a lamp. The p.d. across the lamp is 3.0 V. Calculate the energy transferred. (1) Write the equation: E = Q V. (2) Substitute: E = 4.0 × 3.0. (3) Calculate and add the unit: E = 12 J. Answer: 12 J.
Tip: Volts = joules per coulomb.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and Ohm's law: V = I R. Say it in your own words, then check understanding with a quick question: ask a pupil from the pre-teach group first, since they met these words and ideas before the lesson. Pupils try to recall before you re-explain.
Resistance is how much a component opposes the current. In a metal, the moving electrons collide with the vibrating ions in the metal. Each collision slows them and transfers energy, which heats the metal. More collisions mean more resistance.
The current through a component depends on both the p.d. and the resistance: potential difference = current × resistance, or V = I R. V is in volts (V), I in amperes (A) and R in ohms (Ω). Rearranged, I = V ÷ R and R = V ÷ I.
Ohm's law says that, for a resistor at constant temperature, the current is directly proportional to the potential difference: double the p.d. and the current doubles. Reversing the p.d. reverses the direction of the current.
Worked example — model it step by step, thinking aloud: A current of 0.25 A flows through a 40 Ω resistor. Calculate the potential difference across it. (1) Write the equation: V = I R. (2) Substitute: V = 0.25 × 40. (3) Calculate and add the unit: V = 10 V. Answer: 10 V.
Tip: Write V = I R first, every time, then rearrange.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the resistance of a wire. Say it in your own words, then check understanding with a quick question: ask a pupil from the pre-teach group first, since they met these words and ideas before the lesson. Pupils try to recall before you re-explain.
In this practical you find how the length of a wire affects its resistance. Tape a length of thin wire along a metre ruler. Connect a cell and an ammeter in series with the wire, using a crocodile clip on the wire that you can slide to change the length. Connect a voltmeter across the length of wire being tested.
For each length (for example 10 cm, 20 cm, up to 100 cm), close the switch, read the ammeter and voltmeter, then open the switch again so the wire does not heat up. Heating would change the resistance and spoil a fair test. Calculate R = V ÷ I for each length and plot resistance against length.
The graph is a straight line through the origin: the resistance is directly proportional to the length. The same circuit, with resistors in place of the wire, lets you compare resistors joined in series and in parallel, which is the second part of this required practical.
Worked example — model it step by step, thinking aloud: At a length of 50 cm, the voltmeter reads 1.2 V and the ammeter reads 0.40 A. Calculate the resistance of that length of wire. (1) Write the equation: V = I R, so R = V ÷ I. (2) Substitute: R = 1.2 ÷ 0.40. (3) Calculate and add the unit: R = 3.0 Ω. Answer: 3.0 Ω.
Tip: Safety: the wire can get hot. Keep the current low and switch off between readings.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Calculate the potential difference.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current of 0.15 A flows through a 120 Ω resistor. Calculate the potential difference across the resistor in volts.
Support — work through the steps with the group: (1) Write V = I R. (2) Substitute the current (A) and the resistance (Ω). (3) Multiply and write the unit V.
Parallel worked example for Support (model it, do not give the task answer): A current of 0.50 A flows through a 24 Ω lamp. Calculate the p.d. across it. V = I R.; V = 0.50 × 24.; V = 12 V.. Answer: 12 V.
Core — reveal the hint only on request: V = I R: multiply the two numbers you are given.
Stretch — no help; when finished: The p.d. is doubled and the resistor stays at the same temperature. Use Ohm's law to say what happens to the current, and explain why the temperature condition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Calculate the resistance.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p.d. across a component is 9.0 V and the current through it is 0.36 A. Calculate its resistance in ohms.
Support — work through the steps with the group: (1) Write V = I R and rearrange: R = V ÷ I. (2) Divide the p.d. by the current. (3) Write the unit Ω.
Parallel worked example for Support (model it, do not give the task answer): The p.d. across a heater is 12 V and the current is 0.40 A. Calculate its resistance. R = V ÷ I.; R = 12 ÷ 0.40.; R = 30 Ω.. Answer: 30 Ω.
Core — reveal the hint only on request: Cover R in V = I R: you are left with V over I.
Stretch — no help; when finished: A second component has the same p.d. across it but twice the current. What is its resistance? Explain without using the equation first, then check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current of 2 A flows through a 5 Ω resistor. Calculate the potential difference in volts.
Answer: 10 V. V = I R = 2 × 5 = 10 V. Whole-number data, so a whole-number answer.
Source of this question: gate item 1 re-asked (options rotated) — this chapter has no third quick-check module.
The ebook also holds task 3, "Plan the wire practical",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Calculate the potential difference. Reveal the answer; pupils mark their own work in a different colour, then read the "why" together. Same destination for every lane, so one answer serves the whole class.
Answer: 18 V
Why: V = I R = 0.15 × 120 = 18 V.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Calculate the resistance. Reveal the answer; pupils mark their own work in a different colour, then read the "why" together. Same destination for every lane, so one answer serves the whole class.
Answer: 25 Ω
Why: R = V ÷ I = 9.0 ÷ 0.36 = 25 Ω.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10 V
Why: V = I R = 2 × 5 = 10 V. Whole-number data, so a whole-number answer.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Potential difference and resistance: V = I R</a:t>
            </a:r>
            <a:endParaRPr lang="en-US" sz="3600" dirty="0"/>
          </a:p>
        </p:txBody>
      </p:sp>
      <p:sp>
        <p:nvSpPr>
          <p:cNvPr id="11" name="lessons-card"/>
          <p:cNvSpPr/>
          <p:nvPr/>
        </p:nvSpPr>
        <p:spPr>
          <a:xfrm>
            <a:off x="548640" y="4003548"/>
            <a:ext cx="5287975" cy="980440"/>
          </a:xfrm>
          <a:prstGeom prst="roundRect">
            <a:avLst>
              <a:gd name="adj" fmla="val 7461"/>
            </a:avLst>
          </a:prstGeom>
          <a:solidFill>
            <a:srgbClr val="E2ECEC"/>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P4.3 Potential Difference and Resistance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current of 2 A flows through a 5 Ω resistor. Calculate the potential difference in volts.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V</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unit of resistance?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coulomb (C)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ampere (A)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ohm (Ω)</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volt (V)</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voltmeter is connected in ___ with the component it measures.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series  ·  parallel  ·  line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V</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current of 2 A flows through a 5 Ω resistor. Calculate the potential difference in volts.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V = I R = 2 × 5 = 10 V. Whole-number data, so a whole-number answer.</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ohm (Ω)</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unit of resistance?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Resistance is measured in ohms, Ω.</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parallel</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voltmeter is connected in ___ with the component it measures.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voltmeter goes across the component, in parallel. The ammeter goes in series.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potential difference</a:t>
            </a:r>
            <a:endParaRPr lang="en-US" sz="2600" dirty="0"/>
          </a:p>
        </p:txBody>
      </p:sp>
      <p:sp>
        <p:nvSpPr>
          <p:cNvPr id="11" name="word-rule"/>
          <p:cNvSpPr/>
          <p:nvPr/>
        </p:nvSpPr>
        <p:spPr>
          <a:xfrm>
            <a:off x="731520" y="2558288"/>
            <a:ext cx="3149498" cy="0"/>
          </a:xfrm>
          <a:prstGeom prst="line">
            <a:avLst/>
          </a:prstGeom>
          <a:ln w="12700">
            <a:solidFill>
              <a:srgbClr val="9FC1BF"/>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push that drives current through a component; measured in volts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potential difference across the lamp was 6 volts.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volt</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unit of potential difference, written V</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small cell gives about one and a half volts.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voltmeter</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meter placed across a component to measure potential difference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connected the voltmeter across the resistor.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resistance</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a component opposes the current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long wire had a bigger resistance than the short wire.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ohm</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unit of resistance, written with the symbol Ω</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resistor had a resistance of ten ohms.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cell gives the charge a push around the circuit.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push is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potential 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p.d. for short.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Potential 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measured in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volts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written V.</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measure it with 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voltmeter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placed across a component.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component also opposes the current a little.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opposing is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measured in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ohms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written with the symbol Ω.</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bigger push makes a bigger current flow.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bigger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makes a smaller current flow.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equation is p.d. equals current times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V = I 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longer wire has a bigger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than a shorter one.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practical, you measure this for yourself.</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Potential difference: the push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Volts = joules per coulomb.</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4.0 C of charge flows through a lamp. The p.d. across the lamp is 3.0 V. Calculate the energy transferred.</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E = Q V.</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E = 4.0 × 3.0.</a:t>
            </a:r>
            <a:endParaRPr lang="en-US" sz="1800" dirty="0"/>
          </a:p>
        </p:txBody>
      </p:sp>
      <p:sp>
        <p:nvSpPr>
          <p:cNvPr id="22" name="step-box"/>
          <p:cNvSpPr/>
          <p:nvPr/>
        </p:nvSpPr>
        <p:spPr>
          <a:xfrm>
            <a:off x="6126480" y="4205224"/>
            <a:ext cx="5379415" cy="566928"/>
          </a:xfrm>
          <a:prstGeom prst="roundRect">
            <a:avLst>
              <a:gd name="adj" fmla="val 16129"/>
            </a:avLst>
          </a:prstGeom>
          <a:solidFill>
            <a:srgbClr val="E2ECEC"/>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E = 12 J.</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12 J</a:t>
            </a:r>
            <a:endParaRPr lang="en-US" sz="1800" dirty="0"/>
          </a:p>
        </p:txBody>
      </p:sp>
      <p:sp>
        <p:nvSpPr>
          <p:cNvPr id="27" name="bullet-card"/>
          <p:cNvSpPr/>
          <p:nvPr/>
        </p:nvSpPr>
        <p:spPr>
          <a:xfrm>
            <a:off x="548640" y="1389888"/>
            <a:ext cx="5074920" cy="1357376"/>
          </a:xfrm>
          <a:prstGeom prst="roundRect">
            <a:avLst>
              <a:gd name="adj" fmla="val 5389"/>
            </a:avLst>
          </a:prstGeom>
          <a:solidFill>
            <a:srgbClr val="E6EFEF"/>
          </a:solidFill>
          <a:ln/>
        </p:spPr>
      </p:sp>
      <p:sp>
        <p:nvSpPr>
          <p:cNvPr id="28" name="bullet-hex"/>
          <p:cNvSpPr/>
          <p:nvPr/>
        </p:nvSpPr>
        <p:spPr>
          <a:xfrm>
            <a:off x="676656" y="1902283"/>
            <a:ext cx="384048" cy="332586"/>
          </a:xfrm>
          <a:prstGeom prst="hexagon">
            <a:avLst/>
          </a:prstGeom>
          <a:solidFill>
            <a:srgbClr val="1F6F6A"/>
          </a:solidFill>
          <a:ln/>
        </p:spPr>
      </p:sp>
      <p:sp>
        <p:nvSpPr>
          <p:cNvPr id="29"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cell does work on the charge, giving it energy.</a:t>
            </a:r>
            <a:endParaRPr lang="en-US" sz="2200" dirty="0"/>
          </a:p>
        </p:txBody>
      </p:sp>
      <p:sp>
        <p:nvSpPr>
          <p:cNvPr id="30" name="bullet-card"/>
          <p:cNvSpPr/>
          <p:nvPr/>
        </p:nvSpPr>
        <p:spPr>
          <a:xfrm>
            <a:off x="548640" y="2893568"/>
            <a:ext cx="5074920" cy="2039112"/>
          </a:xfrm>
          <a:prstGeom prst="roundRect">
            <a:avLst>
              <a:gd name="adj" fmla="val 3587"/>
            </a:avLst>
          </a:prstGeom>
          <a:solidFill>
            <a:srgbClr val="E6EFEF"/>
          </a:solidFill>
          <a:ln/>
        </p:spPr>
      </p:sp>
      <p:sp>
        <p:nvSpPr>
          <p:cNvPr id="31" name="bullet-hex"/>
          <p:cNvSpPr/>
          <p:nvPr/>
        </p:nvSpPr>
        <p:spPr>
          <a:xfrm>
            <a:off x="676656" y="3746831"/>
            <a:ext cx="384048" cy="332586"/>
          </a:xfrm>
          <a:prstGeom prst="hexagon">
            <a:avLst/>
          </a:prstGeom>
          <a:solidFill>
            <a:srgbClr val="B8862B"/>
          </a:solidFill>
          <a:ln/>
        </p:spPr>
      </p:sp>
      <p:sp>
        <p:nvSpPr>
          <p:cNvPr id="32" name="bullet"/>
          <p:cNvSpPr txBox="1"/>
          <p:nvPr/>
        </p:nvSpPr>
        <p:spPr>
          <a:xfrm>
            <a:off x="1143000" y="2893568"/>
            <a:ext cx="4389120" cy="2039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Potential difference (p.d.) is measured in volts (V) with a voltmeter connected across the component, in parallel with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Resistance and Ohm's law: V = I 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V = I R first, every time, then rearrange.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current of 0.25 A flows through a 40 Ω resistor. Calculate the potential difference across it.</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I R.</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V = 0.25 × 40.</a:t>
            </a:r>
            <a:endParaRPr lang="en-US" sz="1800" dirty="0"/>
          </a:p>
        </p:txBody>
      </p:sp>
      <p:sp>
        <p:nvSpPr>
          <p:cNvPr id="22" name="step-box"/>
          <p:cNvSpPr/>
          <p:nvPr/>
        </p:nvSpPr>
        <p:spPr>
          <a:xfrm>
            <a:off x="6126480" y="4205224"/>
            <a:ext cx="5379415" cy="566928"/>
          </a:xfrm>
          <a:prstGeom prst="roundRect">
            <a:avLst>
              <a:gd name="adj" fmla="val 16129"/>
            </a:avLst>
          </a:prstGeom>
          <a:solidFill>
            <a:srgbClr val="E2ECEC"/>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V = 10 V.</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 V</a:t>
            </a:r>
            <a:endParaRPr lang="en-US" sz="1800" dirty="0"/>
          </a:p>
        </p:txBody>
      </p:sp>
      <p:sp>
        <p:nvSpPr>
          <p:cNvPr id="27" name="bullet-card"/>
          <p:cNvSpPr/>
          <p:nvPr/>
        </p:nvSpPr>
        <p:spPr>
          <a:xfrm>
            <a:off x="548640" y="1389888"/>
            <a:ext cx="5074920" cy="1940306"/>
          </a:xfrm>
          <a:prstGeom prst="roundRect">
            <a:avLst>
              <a:gd name="adj" fmla="val 3770"/>
            </a:avLst>
          </a:prstGeom>
          <a:solidFill>
            <a:srgbClr val="E6EFEF"/>
          </a:solidFill>
          <a:ln/>
        </p:spPr>
      </p:sp>
      <p:sp>
        <p:nvSpPr>
          <p:cNvPr id="28" name="bullet-hex"/>
          <p:cNvSpPr/>
          <p:nvPr/>
        </p:nvSpPr>
        <p:spPr>
          <a:xfrm>
            <a:off x="676656" y="2193748"/>
            <a:ext cx="384048" cy="332586"/>
          </a:xfrm>
          <a:prstGeom prst="hexagon">
            <a:avLst/>
          </a:prstGeom>
          <a:solidFill>
            <a:srgbClr val="1F6F6A"/>
          </a:solidFill>
          <a:ln/>
        </p:spPr>
      </p:sp>
      <p:sp>
        <p:nvSpPr>
          <p:cNvPr id="29"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Resistance is how much a component opposes the current. In a metal, the moving electrons collide with the vibrating ions in the metal.</a:t>
            </a:r>
            <a:endParaRPr lang="en-US" sz="2200" dirty="0"/>
          </a:p>
        </p:txBody>
      </p:sp>
      <p:sp>
        <p:nvSpPr>
          <p:cNvPr id="30" name="bullet-card"/>
          <p:cNvSpPr/>
          <p:nvPr/>
        </p:nvSpPr>
        <p:spPr>
          <a:xfrm>
            <a:off x="548640" y="3476498"/>
            <a:ext cx="5074920" cy="1599438"/>
          </a:xfrm>
          <a:prstGeom prst="roundRect">
            <a:avLst>
              <a:gd name="adj" fmla="val 4574"/>
            </a:avLst>
          </a:prstGeom>
          <a:solidFill>
            <a:srgbClr val="E6EFEF"/>
          </a:solidFill>
          <a:ln/>
        </p:spPr>
      </p:sp>
      <p:sp>
        <p:nvSpPr>
          <p:cNvPr id="31" name="bullet-hex"/>
          <p:cNvSpPr/>
          <p:nvPr/>
        </p:nvSpPr>
        <p:spPr>
          <a:xfrm>
            <a:off x="676656" y="4109924"/>
            <a:ext cx="384048" cy="332586"/>
          </a:xfrm>
          <a:prstGeom prst="hexagon">
            <a:avLst/>
          </a:prstGeom>
          <a:solidFill>
            <a:srgbClr val="B8862B"/>
          </a:solidFill>
          <a:ln/>
        </p:spPr>
      </p:sp>
      <p:sp>
        <p:nvSpPr>
          <p:cNvPr id="32" name="bullet"/>
          <p:cNvSpPr txBox="1"/>
          <p:nvPr/>
        </p:nvSpPr>
        <p:spPr>
          <a:xfrm>
            <a:off x="1143000" y="3476498"/>
            <a:ext cx="4389120" cy="1599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current through a component depends on both the p.d. and the resistance: potential difference = current × resistance, or V = I 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the resistance of a wire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Safety: the wire can get hot. Keep the current low and switch off between readings.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At a length of 50 cm, the voltmeter reads 1.2 V and the ammeter reads 0.40 A. Calculate the resistance of that length of wire.</a:t>
            </a:r>
            <a:endParaRPr lang="en-US" sz="1800" dirty="0"/>
          </a:p>
        </p:txBody>
      </p:sp>
      <p:sp>
        <p:nvSpPr>
          <p:cNvPr id="14" name="step-box"/>
          <p:cNvSpPr/>
          <p:nvPr/>
        </p:nvSpPr>
        <p:spPr>
          <a:xfrm>
            <a:off x="6126480" y="3167380"/>
            <a:ext cx="5379415" cy="566928"/>
          </a:xfrm>
          <a:prstGeom prst="roundRect">
            <a:avLst>
              <a:gd name="adj" fmla="val 16129"/>
            </a:avLst>
          </a:prstGeom>
          <a:solidFill>
            <a:srgbClr val="E2ECEC"/>
          </a:solidFill>
          <a:ln/>
        </p:spPr>
      </p:sp>
      <p:sp>
        <p:nvSpPr>
          <p:cNvPr id="15" name="step-hex"/>
          <p:cNvSpPr/>
          <p:nvPr/>
        </p:nvSpPr>
        <p:spPr>
          <a:xfrm>
            <a:off x="6217920" y="3268714"/>
            <a:ext cx="420624" cy="364260"/>
          </a:xfrm>
          <a:prstGeom prst="hexagon">
            <a:avLst/>
          </a:prstGeom>
          <a:solidFill>
            <a:srgbClr val="1F6F6A"/>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I R, so R = V ÷ I.</a:t>
            </a:r>
            <a:endParaRPr lang="en-US" sz="1800" dirty="0"/>
          </a:p>
        </p:txBody>
      </p:sp>
      <p:sp>
        <p:nvSpPr>
          <p:cNvPr id="18" name="step-box"/>
          <p:cNvSpPr/>
          <p:nvPr/>
        </p:nvSpPr>
        <p:spPr>
          <a:xfrm>
            <a:off x="6126480" y="3825748"/>
            <a:ext cx="5379415" cy="566928"/>
          </a:xfrm>
          <a:prstGeom prst="roundRect">
            <a:avLst>
              <a:gd name="adj" fmla="val 16129"/>
            </a:avLst>
          </a:prstGeom>
          <a:solidFill>
            <a:srgbClr val="E2ECEC"/>
          </a:solidFill>
          <a:ln/>
        </p:spPr>
      </p:sp>
      <p:sp>
        <p:nvSpPr>
          <p:cNvPr id="19" name="step-hex"/>
          <p:cNvSpPr/>
          <p:nvPr/>
        </p:nvSpPr>
        <p:spPr>
          <a:xfrm>
            <a:off x="6217920" y="3927082"/>
            <a:ext cx="420624" cy="364260"/>
          </a:xfrm>
          <a:prstGeom prst="hexagon">
            <a:avLst/>
          </a:prstGeom>
          <a:solidFill>
            <a:srgbClr val="1F6F6A"/>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R = 1.2 ÷ 0.40.</a:t>
            </a:r>
            <a:endParaRPr lang="en-US" sz="1800" dirty="0"/>
          </a:p>
        </p:txBody>
      </p:sp>
      <p:sp>
        <p:nvSpPr>
          <p:cNvPr id="22" name="step-box"/>
          <p:cNvSpPr/>
          <p:nvPr/>
        </p:nvSpPr>
        <p:spPr>
          <a:xfrm>
            <a:off x="6126480" y="4484116"/>
            <a:ext cx="5379415" cy="566928"/>
          </a:xfrm>
          <a:prstGeom prst="roundRect">
            <a:avLst>
              <a:gd name="adj" fmla="val 16129"/>
            </a:avLst>
          </a:prstGeom>
          <a:solidFill>
            <a:srgbClr val="E2ECEC"/>
          </a:solidFill>
          <a:ln/>
        </p:spPr>
      </p:sp>
      <p:sp>
        <p:nvSpPr>
          <p:cNvPr id="23" name="step-hex"/>
          <p:cNvSpPr/>
          <p:nvPr/>
        </p:nvSpPr>
        <p:spPr>
          <a:xfrm>
            <a:off x="6217920" y="4585450"/>
            <a:ext cx="420624" cy="364260"/>
          </a:xfrm>
          <a:prstGeom prst="hexagon">
            <a:avLst/>
          </a:prstGeom>
          <a:solidFill>
            <a:srgbClr val="1F6F6A"/>
          </a:solidFill>
          <a:ln/>
        </p:spPr>
      </p:sp>
      <p:sp>
        <p:nvSpPr>
          <p:cNvPr id="24" name="step-hex-label"/>
          <p:cNvSpPr txBox="1"/>
          <p:nvPr/>
        </p:nvSpPr>
        <p:spPr>
          <a:xfrm>
            <a:off x="6217920" y="45854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R = 3.0 Ω.</a:t>
            </a:r>
            <a:endParaRPr lang="en-US" sz="1800" dirty="0"/>
          </a:p>
        </p:txBody>
      </p:sp>
      <p:sp>
        <p:nvSpPr>
          <p:cNvPr id="26" name="worked-answer"/>
          <p:cNvSpPr/>
          <p:nvPr/>
        </p:nvSpPr>
        <p:spPr>
          <a:xfrm>
            <a:off x="6126480" y="5188204"/>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3.0 Ω</a:t>
            </a:r>
            <a:endParaRPr lang="en-US" sz="1800" dirty="0"/>
          </a:p>
        </p:txBody>
      </p:sp>
      <p:sp>
        <p:nvSpPr>
          <p:cNvPr id="27" name="bullet-card"/>
          <p:cNvSpPr/>
          <p:nvPr/>
        </p:nvSpPr>
        <p:spPr>
          <a:xfrm>
            <a:off x="548640" y="1389888"/>
            <a:ext cx="5074920" cy="759291"/>
          </a:xfrm>
          <a:prstGeom prst="roundRect">
            <a:avLst>
              <a:gd name="adj" fmla="val 9634"/>
            </a:avLst>
          </a:prstGeom>
          <a:solidFill>
            <a:srgbClr val="E6EFEF"/>
          </a:solidFill>
          <a:ln/>
        </p:spPr>
      </p:sp>
      <p:sp>
        <p:nvSpPr>
          <p:cNvPr id="28" name="bullet-hex"/>
          <p:cNvSpPr/>
          <p:nvPr/>
        </p:nvSpPr>
        <p:spPr>
          <a:xfrm>
            <a:off x="676656" y="1603241"/>
            <a:ext cx="384048" cy="332586"/>
          </a:xfrm>
          <a:prstGeom prst="hexagon">
            <a:avLst/>
          </a:prstGeom>
          <a:solidFill>
            <a:srgbClr val="1F6F6A"/>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this practical you find how the length of a wire affects its resistance.</a:t>
            </a:r>
            <a:endParaRPr lang="en-US" sz="1800" dirty="0"/>
          </a:p>
        </p:txBody>
      </p:sp>
      <p:sp>
        <p:nvSpPr>
          <p:cNvPr id="30" name="bullet-card"/>
          <p:cNvSpPr/>
          <p:nvPr/>
        </p:nvSpPr>
        <p:spPr>
          <a:xfrm>
            <a:off x="548640" y="2295483"/>
            <a:ext cx="5074920" cy="1317075"/>
          </a:xfrm>
          <a:prstGeom prst="roundRect">
            <a:avLst>
              <a:gd name="adj" fmla="val 5554"/>
            </a:avLst>
          </a:prstGeom>
          <a:solidFill>
            <a:srgbClr val="E6EFEF"/>
          </a:solidFill>
          <a:ln/>
        </p:spPr>
      </p:sp>
      <p:sp>
        <p:nvSpPr>
          <p:cNvPr id="31" name="bullet-hex"/>
          <p:cNvSpPr/>
          <p:nvPr/>
        </p:nvSpPr>
        <p:spPr>
          <a:xfrm>
            <a:off x="676656" y="2787727"/>
            <a:ext cx="384048" cy="332586"/>
          </a:xfrm>
          <a:prstGeom prst="hexagon">
            <a:avLst/>
          </a:prstGeom>
          <a:solidFill>
            <a:srgbClr val="B8862B"/>
          </a:solidFill>
          <a:ln/>
        </p:spPr>
      </p:sp>
      <p:sp>
        <p:nvSpPr>
          <p:cNvPr id="32" name="bullet"/>
          <p:cNvSpPr txBox="1"/>
          <p:nvPr/>
        </p:nvSpPr>
        <p:spPr>
          <a:xfrm>
            <a:off x="1143000" y="2295483"/>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For each length (for example 10 cm, 20 cm, up to 100 cm), close the switch, read the ammeter and voltmeter, then open the switch again so the wire does not heat up.</a:t>
            </a:r>
            <a:endParaRPr lang="en-US" sz="1800" dirty="0"/>
          </a:p>
        </p:txBody>
      </p:sp>
      <p:sp>
        <p:nvSpPr>
          <p:cNvPr id="33" name="bullet-card"/>
          <p:cNvSpPr/>
          <p:nvPr/>
        </p:nvSpPr>
        <p:spPr>
          <a:xfrm>
            <a:off x="548640" y="3758861"/>
            <a:ext cx="5074920" cy="1038183"/>
          </a:xfrm>
          <a:prstGeom prst="roundRect">
            <a:avLst>
              <a:gd name="adj" fmla="val 7046"/>
            </a:avLst>
          </a:prstGeom>
          <a:solidFill>
            <a:srgbClr val="E6EFEF"/>
          </a:solidFill>
          <a:ln/>
        </p:spPr>
      </p:sp>
      <p:sp>
        <p:nvSpPr>
          <p:cNvPr id="34" name="bullet-hex"/>
          <p:cNvSpPr/>
          <p:nvPr/>
        </p:nvSpPr>
        <p:spPr>
          <a:xfrm>
            <a:off x="676656" y="4111660"/>
            <a:ext cx="384048" cy="332586"/>
          </a:xfrm>
          <a:prstGeom prst="hexagon">
            <a:avLst/>
          </a:prstGeom>
          <a:solidFill>
            <a:srgbClr val="1F6F6A"/>
          </a:solidFill>
          <a:ln/>
        </p:spPr>
      </p:sp>
      <p:sp>
        <p:nvSpPr>
          <p:cNvPr id="35" name="bullet"/>
          <p:cNvSpPr txBox="1"/>
          <p:nvPr/>
        </p:nvSpPr>
        <p:spPr>
          <a:xfrm>
            <a:off x="1143000" y="3758861"/>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graph is a straight line through the origin: the resistance is directly proportional to the length.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Calculate the potential difference</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current of 0.15 A flows through a 120 Ω resistor. Calculate the potential difference across the resistor in volts.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V</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V = I R.</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Substitute the current (A) and the resistance (Ω).</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and write the unit V.</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V = I R: multiply the two numbers you are given.</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p.d. is doubled and the resistor stays at the same temperature. Use Ohm's law to say what happens to the current, and explain why the temperature condition matters.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Calculate the resistance</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p.d. across a component is 9.0 V and the current through it is 0.36 A. Calculate its resistance in ohms.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Ω</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V = I R and rearrange: R = V ÷ I.</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the p.d. by the current.</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Ω.</a:t>
            </a:r>
            <a:endParaRPr lang="en-US" sz="20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Cover R in V = I R: you are left with V over I.</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 second component has the same p.d. across it but twice the current. What is its resistance? Explain without using the equation first, then check with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current of 2 A flows through a 5 Ω resistor. Calculate the potential difference in volts.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Calculate the potential difference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current of 0.15 A flows through a 120 Ω resistor. Calculate the potential difference across the resistor in volts.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18 V</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 = I R = 0.15 × 120 = 18 V.</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Calculate the resistance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p.d. across a component is 9.0 V and the current through it is 0.36 A. Calculate its resistance in ohms.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Ω</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 = V ÷ I = 9.0 ÷ 0.36 = 25 Ω.</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current of 2 A flows through a 5 Ω resistor. Calculate the potential difference in volts.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V</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 = I R = 2 × 5 = 10 V. Whole-number data, so a whole-number answer.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3: Potential difference and resistance: V = I R</dc:title>
  <dc:subject>Combined Science (Physics) · Year 10</dc:subject>
  <dc:creator>Dr Vitor Merissi de Carvalho</dc:creator>
  <cp:lastModifiedBy>Dr Vitor Merissi de Carvalho</cp:lastModifiedBy>
  <cp:revision>1</cp:revision>
  <dcterms:created xsi:type="dcterms:W3CDTF">2026-10-19T06:07:20Z</dcterms:created>
  <dcterms:modified xsi:type="dcterms:W3CDTF">2026-10-19T06:07:20Z</dcterms:modified>
</cp:coreProperties>
</file>