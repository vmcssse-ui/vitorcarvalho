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2c417d0-3b3b-d0d6-d76c-15455c857508}">
          <p14:sldIdLst>
            <p14:sldId id="256"/>
          </p14:sldIdLst>
        </p14:section>
        <p14:section name="Gate" id="{e90c05ab-04de-72a3-a6e8-0ba9ba63b073}">
          <p14:sldIdLst>
            <p14:sldId id="257"/>
            <p14:sldId id="258"/>
          </p14:sldIdLst>
        </p14:section>
        <p14:section name="Pre-teach" id="{f1631e8b-b0bd-3d63-ae50-a8a11eca60cc}">
          <p14:sldIdLst>
            <p14:sldId id="259"/>
          </p14:sldIdLst>
        </p14:section>
        <p14:section name="Read-along" id="{adaa6d09-3695-b8d5-fed4-5a483c0d370f}">
          <p14:sldIdLst>
            <p14:sldId id="260"/>
            <p14:sldId id="261"/>
          </p14:sldIdLst>
        </p14:section>
        <p14:section name="Teach" id="{7f32c4dc-1d8e-ae17-1bf5-76cc51963d04}">
          <p14:sldIdLst>
            <p14:sldId id="262"/>
            <p14:sldId id="263"/>
            <p14:sldId id="264"/>
          </p14:sldIdLst>
        </p14:section>
        <p14:section name="Routes" id="{b8f1a539-f42d-8006-77c3-e101591a67f3}">
          <p14:sldIdLst>
            <p14:sldId id="265"/>
            <p14:sldId id="266"/>
          </p14:sldIdLst>
        </p14:section>
        <p14:section name="Close" id="{c7fa2b7f-3cd4-4c81-bad5-dd079ab8c7b9}">
          <p14:sldIdLst>
            <p14:sldId id="267"/>
          </p14:sldIdLst>
        </p14:section>
        <p14:section name="Answers" id="{2489c26b-cf22-45f0-c58c-ea4367f328b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Charge and current: Q = I t. This chapter explains what is actually moving in a wire, and how to calculate charge, current and time.
This deck covers the department's lessons: 1 (P4.1 Electrical Charges and Fields: What happens to electrons when two insulating materials are rubbed together?); 2 (P4.2 Current and charge: How do we draw circuits, and how is current linked to the flow of charge?).
Read the big question aloud: "What decides how much current flows in each part of a circuit?"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current of 2 A flows for 10 s. Calculate the charge in coulombs.  →  20 C
2. What is the unit of charge?  →  C   coulomb (C)
3. Which sentence describes electric current?  →  A   the rate of flow of charge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20 C. Q = I t = 2 × 10 = 20 C. Whole-number data, so a whole-number answer.
2. C   coulomb (C). Charge Q is measured in coulombs, C. Current is in amperes, potential difference in volts, resistance in ohms.
3. A   the rate of flow of charge. Current is the rate of flow of charge: how much charge passes a point each second.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electron: a tiny particle with a negative charge, found in every atom. Example: "In a metal wire, electrons can move from atom to atom."
• charge: what electrons carry; it is measured in coulombs. Example: "Each electron carries a very small amount of charge."
• coulomb: the unit of charge, written C. Example: "Twenty coulombs of charge passed through the lamp."
• ampere: the unit of current, usually called the amp, written A. Example: "The ammeter showed a current of two amperes."
• rate: how much happens every second. Example: "Current is the rate at which charge flows."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Everything is made of atoms.
2. Atoms contain even smaller particles called electrons.
3. Electrons carry a negative charge.
4. In a metal wire, some electrons are free to move.
5. A cell pushes these electrons around the circuit.
6. Each electron pushes the next one, like marbles in a tube.
7. So the lamp lights almost as soon as you close the switch.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Current is how much charge flows past a point every second.
9. More charge each second means a bigger current.
10. Charge is measured in coulombs, written C.
11. Current is measured in amps, written A.
12. Time is measured in seconds, written s.
13. The equation is charge equals current times time: Q = I 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moving in a wire?. Say it in your own words, then check understanding with a quick question: ask a pupil from the pre-teach group first, since they met these words and ideas before the lesson. Pupils try to recall before you re-explain.
Atoms contain positive protons, neutral neutrons and negative electrons. In a metal, some electrons are free to drift between the atoms. When a cell is connected, it pushes these free electrons around the circuit. A flow of charge is an electric current.
The electrons do not race round the circuit. Each one pushes on the next, like a tube already full of marbles: push one marble in at one end and a marble drops out of the other end at once. That is why a lamp lights the instant you close the switch, even though each electron moves slowly.
Current is the rate of flow of charge: how much charge passes a point every second. The more charge that passes each second, the higher the current.
Tip: Current is not 'used up'. The same charge that leaves the cell comes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Calculating charge: Q = I t. Say it in your own words, then check understanding with a quick question: ask a pupil from the pre-teach group first, since they met these words and ideas before the lesson. Pupils try to recall before you re-explain.
Charge flow, current and time are linked by one equation: charge flow = current × time, or Q = I t.
Learn the units with the letters. Q is charge in coulombs (C). I is current in amperes (A). t is time in seconds (s). If the time is given in minutes, change it to seconds first by multiplying by 60.
Worked example — model it step by step, thinking aloud: A current of 0.50 A flows through a lamp for 2 minutes. Calculate the charge that flows. (1) Write the equation: Q = I t. (2) Change the time to seconds: 2 minutes = 2 × 60 = 120 s. (3) Substitute: Q = 0.50 × 120. (4) Calculate and add the unit: Q = 60 C. Answer: 60 C.
Tip: Minutes to seconds: × 60. Hours to seconds: × 3600.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Rearranging: finding current or time. Say it in your own words, then check understanding with a quick question: ask a pupil from the pre-teach group first, since they met these words and ideas before the lesson. Pupils try to recall before you re-explain.
Sometimes you know the charge and need the current or the time. Rearrange Q = I t. To find current, divide charge by time: I = Q ÷ t. To find time, divide charge by current: t = Q ÷ I.
Always write the equation first, then substitute the numbers with their units, then calculate. That way, even if you slip on the arithmetic, the examiner can see your method.
Worked example — model it step by step, thinking aloud: A charge of 90 C flows through a heater in 30 s. Calculate the current. (1) Write the equation: Q = I t, so I = Q ÷ t. (2) Substitute: I = 90 ÷ 30. (3) Calculate and add the unit: I = 3.0 A. Answer: 3.0 A.
Tip: Cover the letter you want in Q = I t: what is left tells you to multiply or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Calculate the charge.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phone charger supplies a current of 1.5 A for 10 minutes. Calculate the charge that flows, in coulombs.
Support — work through the steps with the group: (1) Write Q = I t. (2) Change minutes to seconds: multiply by 60. (3) Multiply current by time and write the unit C.
Parallel worked example for Support (model it, do not give the task answer): A torch draws 0.40 A for 5 minutes. Calculate the charge that flows. Q = I t.; t = 5 × 60 = 300 s.; Q = 0.40 × 300 = 120 C.. Answer: 120 C.
Core — reveal the hint only on request: The time must be in seconds before you multiply.
Stretch — no help; when finished: The same charger runs for 1 hour instead. Without starting again, explain how you could find the new charge from your answer, and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current.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charge of 36 C flows through a lamp in 1 minute. Calculate the current in amps.
Support — work through the steps with the group: (1) Write Q = I t and rearrange: I = Q ÷ t. (2) Change the time to seconds. (3) Divide the charge by the time and write the unit A.
Parallel worked example for Support (model it, do not give the task answer): A charge of 150 C flows through a motor in 50 s. Calculate the current. I = Q ÷ t.; I = 150 ÷ 50.; I = 3.0 A.. Answer: 3.0 A.
Core — reveal the hint only on request: Current is charge per second, so divide.
Stretch — no help; when finished: A second lamp passes the same 36 C in 2 minutes. Is its current bigger or smaller? Explain using the idea of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long does it take for 600 C of charge to flow through a heater when the current is 2.5 A? Give your answer in seconds.
Answer: 240 s. t = Q ÷ I = 600 ÷ 2.5 = 240 s, which is 4 minutes.
Source of this question: module 3 task ("Find the time")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Calculate the charge. Reveal the answer; pupils mark their own work in a different colour, then read the "why" together. Same destination for every lane, so one answer serves the whole class.
Answer: 900 C
Why: Change the time to seconds (600 s), then Q = I t = 1.5 × 600 = 900 C.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 the current. Reveal the answer; pupils mark their own work in a different colour, then read the "why" together. Same destination for every lane, so one answer serves the whole class.
Answer: 0.6 A
Why: I = Q ÷ t = 36 ÷ 60 = 0.60 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240 s
Why: t = Q ÷ I = 600 ÷ 2.5 = 240 s, which is 4 minutes.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Combined Science (Physics)</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Electric Circuits · AQA 8464</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Charge and current: Q = I t</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2ECEC"/>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P4.1 Electrical Charges and Fields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P4.2 Current and charge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ombined Science (Physics),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decides how much current flows in each part of a circuit?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current of 2 A flows for 10 s. Calculate the charge in coulombs.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unit of charge?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ampere (A)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volt (V)</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coulomb (C)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ohm (Ω)</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sentence describes electric current?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rate of flow of charge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energy stored in a cell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push of a battery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opposition to the flow of charge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 C</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current of 2 A flows for 10 s. Calculate the charge in coulombs.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 = I t = 2 × 10 = 20 C. Whole-number data, so a whole-number answer.</a:t>
            </a:r>
            <a:endParaRPr lang="en-US" sz="22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coulomb (C)</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unit of charge?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Charge Q is measured in coulombs, C. Current is in amperes, potential difference in volts, resistance in ohms.</a:t>
            </a:r>
            <a:endParaRPr lang="en-US" sz="22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rate of flow of charge</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sentence describes electric current?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Current is the rate of flow of charge: how much charge passes a point each second.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E6EFEF"/>
          </a:solidFill>
          <a:ln/>
        </p:spPr>
      </p:sp>
      <p:sp>
        <p:nvSpPr>
          <p:cNvPr id="12" name="kw-hex"/>
          <p:cNvSpPr/>
          <p:nvPr/>
        </p:nvSpPr>
        <p:spPr>
          <a:xfrm>
            <a:off x="658368" y="2158020"/>
            <a:ext cx="411480" cy="356342"/>
          </a:xfrm>
          <a:prstGeom prst="hexagon">
            <a:avLst/>
          </a:prstGeom>
          <a:solidFill>
            <a:srgbClr val="1F6F6A"/>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electron</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tiny particle with a negative charge, found in every atom</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a metal wire, electrons can move from atom to atom.</a:t>
            </a:r>
            <a:endParaRPr lang="en-US" sz="1800" dirty="0"/>
          </a:p>
        </p:txBody>
      </p:sp>
      <p:sp>
        <p:nvSpPr>
          <p:cNvPr id="16" name="kw-row"/>
          <p:cNvSpPr/>
          <p:nvPr/>
        </p:nvSpPr>
        <p:spPr>
          <a:xfrm>
            <a:off x="548640" y="2825293"/>
            <a:ext cx="11094415" cy="831901"/>
          </a:xfrm>
          <a:prstGeom prst="roundRect">
            <a:avLst>
              <a:gd name="adj" fmla="val 6595"/>
            </a:avLst>
          </a:prstGeom>
          <a:solidFill>
            <a:srgbClr val="F4EDDF"/>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charge</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electrons carry; it is measured in coulombs</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Each electron carries a very small amount of charge.</a:t>
            </a:r>
            <a:endParaRPr lang="en-US" sz="1800" dirty="0"/>
          </a:p>
        </p:txBody>
      </p:sp>
      <p:sp>
        <p:nvSpPr>
          <p:cNvPr id="21" name="kw-row"/>
          <p:cNvSpPr/>
          <p:nvPr/>
        </p:nvSpPr>
        <p:spPr>
          <a:xfrm>
            <a:off x="548640" y="3730346"/>
            <a:ext cx="11094415" cy="831901"/>
          </a:xfrm>
          <a:prstGeom prst="roundRect">
            <a:avLst>
              <a:gd name="adj" fmla="val 6595"/>
            </a:avLst>
          </a:prstGeom>
          <a:solidFill>
            <a:srgbClr val="E6EFEF"/>
          </a:solidFill>
          <a:ln/>
        </p:spPr>
      </p:sp>
      <p:sp>
        <p:nvSpPr>
          <p:cNvPr id="22" name="kw-hex"/>
          <p:cNvSpPr/>
          <p:nvPr/>
        </p:nvSpPr>
        <p:spPr>
          <a:xfrm>
            <a:off x="658368" y="3968125"/>
            <a:ext cx="411480" cy="356342"/>
          </a:xfrm>
          <a:prstGeom prst="hexagon">
            <a:avLst/>
          </a:prstGeom>
          <a:solidFill>
            <a:srgbClr val="1F6F6A"/>
          </a:solidFill>
          <a:ln/>
        </p:spPr>
      </p:sp>
      <p:sp>
        <p:nvSpPr>
          <p:cNvPr id="23" name="kw-cell"/>
          <p:cNvSpPr txBox="1"/>
          <p:nvPr/>
        </p:nvSpPr>
        <p:spPr>
          <a:xfrm>
            <a:off x="1143000" y="3730346"/>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coulomb</a:t>
            </a:r>
            <a:endParaRPr lang="en-US" sz="2000" dirty="0"/>
          </a:p>
        </p:txBody>
      </p:sp>
      <p:sp>
        <p:nvSpPr>
          <p:cNvPr id="24" name="kw-cell"/>
          <p:cNvSpPr txBox="1"/>
          <p:nvPr/>
        </p:nvSpPr>
        <p:spPr>
          <a:xfrm>
            <a:off x="3657600" y="3730346"/>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unit of charge, written C</a:t>
            </a:r>
            <a:endParaRPr lang="en-US" sz="1800" dirty="0"/>
          </a:p>
        </p:txBody>
      </p:sp>
      <p:sp>
        <p:nvSpPr>
          <p:cNvPr id="25" name="kw-cell"/>
          <p:cNvSpPr txBox="1"/>
          <p:nvPr/>
        </p:nvSpPr>
        <p:spPr>
          <a:xfrm>
            <a:off x="7315200" y="3730346"/>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Twenty coulombs of charge passed through the lamp.</a:t>
            </a:r>
            <a:endParaRPr lang="en-US" sz="1800" dirty="0"/>
          </a:p>
        </p:txBody>
      </p:sp>
      <p:sp>
        <p:nvSpPr>
          <p:cNvPr id="26" name="kw-row"/>
          <p:cNvSpPr/>
          <p:nvPr/>
        </p:nvSpPr>
        <p:spPr>
          <a:xfrm>
            <a:off x="548640" y="4635398"/>
            <a:ext cx="11094415" cy="831901"/>
          </a:xfrm>
          <a:prstGeom prst="roundRect">
            <a:avLst>
              <a:gd name="adj" fmla="val 6595"/>
            </a:avLst>
          </a:prstGeom>
          <a:solidFill>
            <a:srgbClr val="F4EDDF"/>
          </a:solidFill>
          <a:ln/>
        </p:spPr>
      </p:sp>
      <p:sp>
        <p:nvSpPr>
          <p:cNvPr id="27" name="kw-hex"/>
          <p:cNvSpPr/>
          <p:nvPr/>
        </p:nvSpPr>
        <p:spPr>
          <a:xfrm>
            <a:off x="658368" y="4873178"/>
            <a:ext cx="411480" cy="356342"/>
          </a:xfrm>
          <a:prstGeom prst="hexagon">
            <a:avLst/>
          </a:prstGeom>
          <a:solidFill>
            <a:srgbClr val="B8862B"/>
          </a:solidFill>
          <a:ln/>
        </p:spPr>
      </p:sp>
      <p:sp>
        <p:nvSpPr>
          <p:cNvPr id="28" name="kw-cell"/>
          <p:cNvSpPr txBox="1"/>
          <p:nvPr/>
        </p:nvSpPr>
        <p:spPr>
          <a:xfrm>
            <a:off x="1143000" y="4635398"/>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ampere</a:t>
            </a:r>
            <a:endParaRPr lang="en-US" sz="2000" dirty="0"/>
          </a:p>
        </p:txBody>
      </p:sp>
      <p:sp>
        <p:nvSpPr>
          <p:cNvPr id="29" name="kw-cell"/>
          <p:cNvSpPr txBox="1"/>
          <p:nvPr/>
        </p:nvSpPr>
        <p:spPr>
          <a:xfrm>
            <a:off x="3657600" y="4635398"/>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unit of current, usually called the amp, written A</a:t>
            </a:r>
            <a:endParaRPr lang="en-US" sz="1800" dirty="0"/>
          </a:p>
        </p:txBody>
      </p:sp>
      <p:sp>
        <p:nvSpPr>
          <p:cNvPr id="30" name="kw-cell"/>
          <p:cNvSpPr txBox="1"/>
          <p:nvPr/>
        </p:nvSpPr>
        <p:spPr>
          <a:xfrm>
            <a:off x="7315200" y="4635398"/>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ammeter showed a current of two amperes.</a:t>
            </a:r>
            <a:endParaRPr lang="en-US" sz="1800" dirty="0"/>
          </a:p>
        </p:txBody>
      </p:sp>
      <p:sp>
        <p:nvSpPr>
          <p:cNvPr id="31" name="kw-row"/>
          <p:cNvSpPr/>
          <p:nvPr/>
        </p:nvSpPr>
        <p:spPr>
          <a:xfrm>
            <a:off x="548640" y="5540451"/>
            <a:ext cx="11094415" cy="604317"/>
          </a:xfrm>
          <a:prstGeom prst="roundRect">
            <a:avLst>
              <a:gd name="adj" fmla="val 9079"/>
            </a:avLst>
          </a:prstGeom>
          <a:solidFill>
            <a:srgbClr val="E6EFEF"/>
          </a:solidFill>
          <a:ln/>
        </p:spPr>
      </p:sp>
      <p:sp>
        <p:nvSpPr>
          <p:cNvPr id="32" name="kw-hex"/>
          <p:cNvSpPr/>
          <p:nvPr/>
        </p:nvSpPr>
        <p:spPr>
          <a:xfrm>
            <a:off x="658368" y="5664439"/>
            <a:ext cx="411480" cy="356342"/>
          </a:xfrm>
          <a:prstGeom prst="hexagon">
            <a:avLst/>
          </a:prstGeom>
          <a:solidFill>
            <a:srgbClr val="1F6F6A"/>
          </a:solidFill>
          <a:ln/>
        </p:spPr>
      </p:sp>
      <p:sp>
        <p:nvSpPr>
          <p:cNvPr id="33" name="kw-cell"/>
          <p:cNvSpPr txBox="1"/>
          <p:nvPr/>
        </p:nvSpPr>
        <p:spPr>
          <a:xfrm>
            <a:off x="1143000" y="5540451"/>
            <a:ext cx="2331720" cy="604317"/>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rate</a:t>
            </a:r>
            <a:endParaRPr lang="en-US" sz="2000" dirty="0"/>
          </a:p>
        </p:txBody>
      </p:sp>
      <p:sp>
        <p:nvSpPr>
          <p:cNvPr id="34" name="kw-cell"/>
          <p:cNvSpPr txBox="1"/>
          <p:nvPr/>
        </p:nvSpPr>
        <p:spPr>
          <a:xfrm>
            <a:off x="3657600" y="5540451"/>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much happens every second</a:t>
            </a:r>
            <a:endParaRPr lang="en-US" sz="1800" dirty="0"/>
          </a:p>
        </p:txBody>
      </p:sp>
      <p:sp>
        <p:nvSpPr>
          <p:cNvPr id="35" name="kw-cell"/>
          <p:cNvSpPr txBox="1"/>
          <p:nvPr/>
        </p:nvSpPr>
        <p:spPr>
          <a:xfrm>
            <a:off x="7315200" y="5540451"/>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Current is the rate at which charge flows.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Everything is made of atoms.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Atoms contain even smaller particles called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carry a negative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 metal wire, some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free to move.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cell pushes these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around the circuit.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pushes the next one, like marbles in a tube.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the lamp lights almost as soon as you close the switch.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Current is how much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flows past a point every second.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More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each second means a bigger current.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measured in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coulombs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written C.</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Current is measured in amps, written 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Time is measured in seconds, written 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equation is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charge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equals current times time: Q = I 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is moving in a wire?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Current is not 'used up'. The same charge that leaves the cell comes back to it.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Atoms contain positive protons, neutral neutrons and negative electrons. In a metal, some electrons are free to drift between the atoms.</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electrons do not race round the circuit. Each one pushes on the next, like a tube already full of marbles: push one marble in at one end and a marble drops out of the other end at once.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Current is the rate of flow of charge: how much charge passes a point every second.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Calculating charge: Q = I 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Minutes to seconds: × 60. Hours to seconds: × 3600.</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current of 0.50 A flows through a lamp for 2 minutes. Calculate the charge that flows.</a:t>
            </a:r>
            <a:endParaRPr lang="en-US" sz="1800" dirty="0"/>
          </a:p>
        </p:txBody>
      </p:sp>
      <p:sp>
        <p:nvSpPr>
          <p:cNvPr id="14" name="step-box"/>
          <p:cNvSpPr/>
          <p:nvPr/>
        </p:nvSpPr>
        <p:spPr>
          <a:xfrm>
            <a:off x="6126480" y="2888488"/>
            <a:ext cx="5379415" cy="509397"/>
          </a:xfrm>
          <a:prstGeom prst="roundRect">
            <a:avLst>
              <a:gd name="adj" fmla="val 17951"/>
            </a:avLst>
          </a:prstGeom>
          <a:solidFill>
            <a:srgbClr val="E2ECEC"/>
          </a:solidFill>
          <a:ln/>
        </p:spPr>
      </p:sp>
      <p:sp>
        <p:nvSpPr>
          <p:cNvPr id="15" name="step-hex"/>
          <p:cNvSpPr/>
          <p:nvPr/>
        </p:nvSpPr>
        <p:spPr>
          <a:xfrm>
            <a:off x="6217920" y="2961056"/>
            <a:ext cx="420624" cy="364260"/>
          </a:xfrm>
          <a:prstGeom prst="hexagon">
            <a:avLst/>
          </a:prstGeom>
          <a:solidFill>
            <a:srgbClr val="1F6F6A"/>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Q = I t.</a:t>
            </a:r>
            <a:endParaRPr lang="en-US" sz="1800" dirty="0"/>
          </a:p>
        </p:txBody>
      </p:sp>
      <p:sp>
        <p:nvSpPr>
          <p:cNvPr id="18" name="step-box"/>
          <p:cNvSpPr/>
          <p:nvPr/>
        </p:nvSpPr>
        <p:spPr>
          <a:xfrm>
            <a:off x="6126480" y="3489325"/>
            <a:ext cx="5379415" cy="736981"/>
          </a:xfrm>
          <a:prstGeom prst="roundRect">
            <a:avLst>
              <a:gd name="adj" fmla="val 12407"/>
            </a:avLst>
          </a:prstGeom>
          <a:solidFill>
            <a:srgbClr val="E2ECEC"/>
          </a:solidFill>
          <a:ln/>
        </p:spPr>
      </p:sp>
      <p:sp>
        <p:nvSpPr>
          <p:cNvPr id="19" name="step-hex"/>
          <p:cNvSpPr/>
          <p:nvPr/>
        </p:nvSpPr>
        <p:spPr>
          <a:xfrm>
            <a:off x="6217920" y="3675685"/>
            <a:ext cx="420624" cy="364260"/>
          </a:xfrm>
          <a:prstGeom prst="hexagon">
            <a:avLst/>
          </a:prstGeom>
          <a:solidFill>
            <a:srgbClr val="1F6F6A"/>
          </a:solidFill>
          <a:ln/>
        </p:spPr>
      </p:sp>
      <p:sp>
        <p:nvSpPr>
          <p:cNvPr id="20" name="step-hex-label"/>
          <p:cNvSpPr txBox="1"/>
          <p:nvPr/>
        </p:nvSpPr>
        <p:spPr>
          <a:xfrm>
            <a:off x="6217920" y="367568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Change the time to seconds: 2 minutes = 2 × 60 = 120 s.</a:t>
            </a:r>
            <a:endParaRPr lang="en-US" sz="1800" dirty="0"/>
          </a:p>
        </p:txBody>
      </p:sp>
      <p:sp>
        <p:nvSpPr>
          <p:cNvPr id="22" name="step-box"/>
          <p:cNvSpPr/>
          <p:nvPr/>
        </p:nvSpPr>
        <p:spPr>
          <a:xfrm>
            <a:off x="6126480" y="4317746"/>
            <a:ext cx="5379415" cy="509397"/>
          </a:xfrm>
          <a:prstGeom prst="roundRect">
            <a:avLst>
              <a:gd name="adj" fmla="val 17951"/>
            </a:avLst>
          </a:prstGeom>
          <a:solidFill>
            <a:srgbClr val="E2ECEC"/>
          </a:solidFill>
          <a:ln/>
        </p:spPr>
      </p:sp>
      <p:sp>
        <p:nvSpPr>
          <p:cNvPr id="23" name="step-hex"/>
          <p:cNvSpPr/>
          <p:nvPr/>
        </p:nvSpPr>
        <p:spPr>
          <a:xfrm>
            <a:off x="6217920" y="4390314"/>
            <a:ext cx="420624" cy="364260"/>
          </a:xfrm>
          <a:prstGeom prst="hexagon">
            <a:avLst/>
          </a:prstGeom>
          <a:solidFill>
            <a:srgbClr val="1F6F6A"/>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Q = 0.50 × 120.</a:t>
            </a:r>
            <a:endParaRPr lang="en-US" sz="1800" dirty="0"/>
          </a:p>
        </p:txBody>
      </p:sp>
      <p:sp>
        <p:nvSpPr>
          <p:cNvPr id="26" name="step-box"/>
          <p:cNvSpPr/>
          <p:nvPr/>
        </p:nvSpPr>
        <p:spPr>
          <a:xfrm>
            <a:off x="6126480" y="4918583"/>
            <a:ext cx="5379415" cy="509397"/>
          </a:xfrm>
          <a:prstGeom prst="roundRect">
            <a:avLst>
              <a:gd name="adj" fmla="val 17951"/>
            </a:avLst>
          </a:prstGeom>
          <a:solidFill>
            <a:srgbClr val="E2ECEC"/>
          </a:solidFill>
          <a:ln/>
        </p:spPr>
      </p:sp>
      <p:sp>
        <p:nvSpPr>
          <p:cNvPr id="27" name="step-hex"/>
          <p:cNvSpPr/>
          <p:nvPr/>
        </p:nvSpPr>
        <p:spPr>
          <a:xfrm>
            <a:off x="6217920" y="4991151"/>
            <a:ext cx="420624" cy="364260"/>
          </a:xfrm>
          <a:prstGeom prst="hexagon">
            <a:avLst/>
          </a:prstGeom>
          <a:solidFill>
            <a:srgbClr val="1F6F6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Q = 60 C.</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60 C</a:t>
            </a:r>
            <a:endParaRPr lang="en-US" sz="1800" dirty="0"/>
          </a:p>
        </p:txBody>
      </p:sp>
      <p:sp>
        <p:nvSpPr>
          <p:cNvPr id="31" name="bullet-card"/>
          <p:cNvSpPr/>
          <p:nvPr/>
        </p:nvSpPr>
        <p:spPr>
          <a:xfrm>
            <a:off x="548640" y="1389888"/>
            <a:ext cx="5074920" cy="1698244"/>
          </a:xfrm>
          <a:prstGeom prst="roundRect">
            <a:avLst>
              <a:gd name="adj" fmla="val 4308"/>
            </a:avLst>
          </a:prstGeom>
          <a:solidFill>
            <a:srgbClr val="E6EFEF"/>
          </a:solidFill>
          <a:ln/>
        </p:spPr>
      </p:sp>
      <p:sp>
        <p:nvSpPr>
          <p:cNvPr id="32" name="bullet-hex"/>
          <p:cNvSpPr/>
          <p:nvPr/>
        </p:nvSpPr>
        <p:spPr>
          <a:xfrm>
            <a:off x="676656" y="2072717"/>
            <a:ext cx="384048" cy="332586"/>
          </a:xfrm>
          <a:prstGeom prst="hexagon">
            <a:avLst/>
          </a:prstGeom>
          <a:solidFill>
            <a:srgbClr val="1F6F6A"/>
          </a:solidFill>
          <a:ln/>
        </p:spPr>
      </p:sp>
      <p:sp>
        <p:nvSpPr>
          <p:cNvPr id="33" name="bullet"/>
          <p:cNvSpPr txBox="1"/>
          <p:nvPr/>
        </p:nvSpPr>
        <p:spPr>
          <a:xfrm>
            <a:off x="1143000" y="138988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Charge flow, current and time are linked by one equation: charge flow = current × time, or Q = I t.</a:t>
            </a:r>
            <a:endParaRPr lang="en-US" sz="2200" dirty="0"/>
          </a:p>
        </p:txBody>
      </p:sp>
      <p:sp>
        <p:nvSpPr>
          <p:cNvPr id="34" name="bullet-card"/>
          <p:cNvSpPr/>
          <p:nvPr/>
        </p:nvSpPr>
        <p:spPr>
          <a:xfrm>
            <a:off x="548640" y="3234436"/>
            <a:ext cx="5074920" cy="1357376"/>
          </a:xfrm>
          <a:prstGeom prst="roundRect">
            <a:avLst>
              <a:gd name="adj" fmla="val 5389"/>
            </a:avLst>
          </a:prstGeom>
          <a:solidFill>
            <a:srgbClr val="E6EFEF"/>
          </a:solidFill>
          <a:ln/>
        </p:spPr>
      </p:sp>
      <p:sp>
        <p:nvSpPr>
          <p:cNvPr id="35" name="bullet-hex"/>
          <p:cNvSpPr/>
          <p:nvPr/>
        </p:nvSpPr>
        <p:spPr>
          <a:xfrm>
            <a:off x="676656" y="3746831"/>
            <a:ext cx="384048" cy="332586"/>
          </a:xfrm>
          <a:prstGeom prst="hexagon">
            <a:avLst/>
          </a:prstGeom>
          <a:solidFill>
            <a:srgbClr val="B8862B"/>
          </a:solidFill>
          <a:ln/>
        </p:spPr>
      </p:sp>
      <p:sp>
        <p:nvSpPr>
          <p:cNvPr id="36" name="bullet"/>
          <p:cNvSpPr txBox="1"/>
          <p:nvPr/>
        </p:nvSpPr>
        <p:spPr>
          <a:xfrm>
            <a:off x="1143000" y="3234436"/>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Learn the units with the letters. Q is charge in coulombs (C).</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Rearranging: finding current or time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Cover the letter you want in Q = I t: what is left tells you to multiply or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charge of 90 C flows through a heater in 30 s. Calculate the current.</a:t>
            </a:r>
            <a:endParaRPr lang="en-US" sz="1800" dirty="0"/>
          </a:p>
        </p:txBody>
      </p:sp>
      <p:sp>
        <p:nvSpPr>
          <p:cNvPr id="14" name="step-box"/>
          <p:cNvSpPr/>
          <p:nvPr/>
        </p:nvSpPr>
        <p:spPr>
          <a:xfrm>
            <a:off x="6126480" y="2888488"/>
            <a:ext cx="5379415" cy="566928"/>
          </a:xfrm>
          <a:prstGeom prst="roundRect">
            <a:avLst>
              <a:gd name="adj" fmla="val 16129"/>
            </a:avLst>
          </a:prstGeom>
          <a:solidFill>
            <a:srgbClr val="E2ECEC"/>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Q = I t, so I = Q ÷ t.</a:t>
            </a:r>
            <a:endParaRPr lang="en-US" sz="1800" dirty="0"/>
          </a:p>
        </p:txBody>
      </p:sp>
      <p:sp>
        <p:nvSpPr>
          <p:cNvPr id="18" name="step-box"/>
          <p:cNvSpPr/>
          <p:nvPr/>
        </p:nvSpPr>
        <p:spPr>
          <a:xfrm>
            <a:off x="6126480" y="3546856"/>
            <a:ext cx="5379415" cy="566928"/>
          </a:xfrm>
          <a:prstGeom prst="roundRect">
            <a:avLst>
              <a:gd name="adj" fmla="val 16129"/>
            </a:avLst>
          </a:prstGeom>
          <a:solidFill>
            <a:srgbClr val="E2ECEC"/>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I = 90 ÷ 30.</a:t>
            </a:r>
            <a:endParaRPr lang="en-US" sz="1800" dirty="0"/>
          </a:p>
        </p:txBody>
      </p:sp>
      <p:sp>
        <p:nvSpPr>
          <p:cNvPr id="22" name="step-box"/>
          <p:cNvSpPr/>
          <p:nvPr/>
        </p:nvSpPr>
        <p:spPr>
          <a:xfrm>
            <a:off x="6126480" y="4205224"/>
            <a:ext cx="5379415" cy="566928"/>
          </a:xfrm>
          <a:prstGeom prst="roundRect">
            <a:avLst>
              <a:gd name="adj" fmla="val 16129"/>
            </a:avLst>
          </a:prstGeom>
          <a:solidFill>
            <a:srgbClr val="E2ECEC"/>
          </a:solidFill>
          <a:ln/>
        </p:spPr>
      </p:sp>
      <p:sp>
        <p:nvSpPr>
          <p:cNvPr id="23" name="step-hex"/>
          <p:cNvSpPr/>
          <p:nvPr/>
        </p:nvSpPr>
        <p:spPr>
          <a:xfrm>
            <a:off x="6217920" y="4306558"/>
            <a:ext cx="420624" cy="364260"/>
          </a:xfrm>
          <a:prstGeom prst="hexagon">
            <a:avLst/>
          </a:prstGeom>
          <a:solidFill>
            <a:srgbClr val="1F6F6A"/>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I = 3.0 A.</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3.0 A</a:t>
            </a:r>
            <a:endParaRPr lang="en-US" sz="1800" dirty="0"/>
          </a:p>
        </p:txBody>
      </p:sp>
      <p:sp>
        <p:nvSpPr>
          <p:cNvPr id="27" name="bullet-card"/>
          <p:cNvSpPr/>
          <p:nvPr/>
        </p:nvSpPr>
        <p:spPr>
          <a:xfrm>
            <a:off x="548640" y="1389888"/>
            <a:ext cx="5074920" cy="1357376"/>
          </a:xfrm>
          <a:prstGeom prst="roundRect">
            <a:avLst>
              <a:gd name="adj" fmla="val 5389"/>
            </a:avLst>
          </a:prstGeom>
          <a:solidFill>
            <a:srgbClr val="E6EFEF"/>
          </a:solidFill>
          <a:ln/>
        </p:spPr>
      </p:sp>
      <p:sp>
        <p:nvSpPr>
          <p:cNvPr id="28" name="bullet-hex"/>
          <p:cNvSpPr/>
          <p:nvPr/>
        </p:nvSpPr>
        <p:spPr>
          <a:xfrm>
            <a:off x="676656" y="1902283"/>
            <a:ext cx="384048" cy="332586"/>
          </a:xfrm>
          <a:prstGeom prst="hexagon">
            <a:avLst/>
          </a:prstGeom>
          <a:solidFill>
            <a:srgbClr val="1F6F6A"/>
          </a:solidFill>
          <a:ln/>
        </p:spPr>
      </p:sp>
      <p:sp>
        <p:nvSpPr>
          <p:cNvPr id="29"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Sometimes you know the charge and need the current or the time.</a:t>
            </a:r>
            <a:endParaRPr lang="en-US" sz="2200" dirty="0"/>
          </a:p>
        </p:txBody>
      </p:sp>
      <p:sp>
        <p:nvSpPr>
          <p:cNvPr id="30" name="bullet-card"/>
          <p:cNvSpPr/>
          <p:nvPr/>
        </p:nvSpPr>
        <p:spPr>
          <a:xfrm>
            <a:off x="548640" y="2893568"/>
            <a:ext cx="5074920" cy="1698244"/>
          </a:xfrm>
          <a:prstGeom prst="roundRect">
            <a:avLst>
              <a:gd name="adj" fmla="val 4308"/>
            </a:avLst>
          </a:prstGeom>
          <a:solidFill>
            <a:srgbClr val="E6EFEF"/>
          </a:solidFill>
          <a:ln/>
        </p:spPr>
      </p:sp>
      <p:sp>
        <p:nvSpPr>
          <p:cNvPr id="31" name="bullet-hex"/>
          <p:cNvSpPr/>
          <p:nvPr/>
        </p:nvSpPr>
        <p:spPr>
          <a:xfrm>
            <a:off x="676656" y="3576397"/>
            <a:ext cx="384048" cy="332586"/>
          </a:xfrm>
          <a:prstGeom prst="hexagon">
            <a:avLst/>
          </a:prstGeom>
          <a:solidFill>
            <a:srgbClr val="B8862B"/>
          </a:solidFill>
          <a:ln/>
        </p:spPr>
      </p:sp>
      <p:sp>
        <p:nvSpPr>
          <p:cNvPr id="32" name="bullet"/>
          <p:cNvSpPr txBox="1"/>
          <p:nvPr/>
        </p:nvSpPr>
        <p:spPr>
          <a:xfrm>
            <a:off x="1143000" y="289356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Always write the equation first, then substitute the numbers with their units, then calculate.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Calculate the charge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phone charger supplies a current of 1.5 A for 10 minutes. Calculate the charge that flows, in coulombs.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Q = I t.</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Change minutes to seconds: multiply by 60.</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Multiply current by time and write the unit C.</a:t>
            </a:r>
            <a:endParaRPr lang="en-US" sz="22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95955"/>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The time must be in seconds before you multiply.</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The same charger runs for 1 hour instead. Without starting again, explain how you could find the new charge from your answer, and give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Find the current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charge of 36 C flows through a lamp in 1 minute. Calculate the current in amps.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A</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Q = I t and rearrange: I = Q ÷ t.</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Change the time to seconds.</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Divide the charge by the time and write the unit A.</a:t>
            </a:r>
            <a:endParaRPr lang="en-US" sz="22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95955"/>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Current is charge per second, so divide.</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 second lamp passes the same 36 C in 2 minutes. Is its current bigger or smaller? Explain using the idea of rate.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long does it take for 600 C of charge to flow through a heater when the current is 2.5 A? Give your answer in seconds.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Calculate the charge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phone charger supplies a current of 1.5 A for 10 minutes. Calculate the charge that flows, in coulombs.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900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Change the time to seconds (600 s), then Q = I t = 1.5 × 600 = 900 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Find the current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charge of 36 C flows through a lamp in 1 minute. Calculate the current in amps.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0.6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 = Q ÷ t = 36 ÷ 60 = 0.60 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long does it take for 600 C of charge to flow through a heater when the current is 2.5 A? Give your answer in seconds.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240 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 = Q ÷ I = 600 ÷ 2.5 = 240 s, which is 4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 Chapter 2: Charge and current: Q = I t</dc:title>
  <dc:subject>Combined Science (Physics) · Year 10</dc:subject>
  <dc:creator>Dr Vitor Merissi de Carvalho</dc:creator>
  <cp:lastModifiedBy>Dr Vitor Merissi de Carvalho</cp:lastModifiedBy>
  <cp:revision>1</cp:revision>
  <dcterms:created xsi:type="dcterms:W3CDTF">2026-10-16T23:02:14Z</dcterms:created>
  <dcterms:modified xsi:type="dcterms:W3CDTF">2026-10-16T23:02:14Z</dcterms:modified>
</cp:coreProperties>
</file>