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d74aec-602d-99d5-8f46-a721eed23119}">
          <p14:sldIdLst>
            <p14:sldId id="256"/>
          </p14:sldIdLst>
        </p14:section>
        <p14:section name="Gate" id="{196e1b22-1a08-4535-1387-777f16868145}">
          <p14:sldIdLst>
            <p14:sldId id="257"/>
            <p14:sldId id="258"/>
          </p14:sldIdLst>
        </p14:section>
        <p14:section name="Pre-teach" id="{4cc60b88-aaac-f09e-2b97-e6a4b8c7507b}">
          <p14:sldIdLst>
            <p14:sldId id="259"/>
          </p14:sldIdLst>
        </p14:section>
        <p14:section name="Read-along" id="{8f15987a-bd58-b2c5-e21e-fb204302967e}">
          <p14:sldIdLst>
            <p14:sldId id="260"/>
          </p14:sldIdLst>
        </p14:section>
        <p14:section name="Teach" id="{f37a4cd4-f380-eda4-f2ca-a458c7e4701f}">
          <p14:sldIdLst>
            <p14:sldId id="261"/>
            <p14:sldId id="262"/>
            <p14:sldId id="263"/>
            <p14:sldId id="264"/>
            <p14:sldId id="265"/>
          </p14:sldIdLst>
        </p14:section>
        <p14:section name="Routes" id="{56a3c79a-103d-bad3-635a-6dc3f53874e6}">
          <p14:sldIdLst>
            <p14:sldId id="266"/>
            <p14:sldId id="267"/>
            <p14:sldId id="268"/>
          </p14:sldIdLst>
        </p14:section>
        <p14:section name="Close" id="{c7797d37-15fc-1927-d26a-e563046a2f47}">
          <p14:sldIdLst>
            <p14:sldId id="269"/>
          </p14:sldIdLst>
        </p14:section>
        <p14:section name="Answers" id="{420c60cb-2a5f-52c8-bb0e-8fc515b3d84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Parallel circuits. This chapter gives you the rules for a parallel circuit, and shows why your home is wired in parallel.
This deck covers the department's lesson: 6 (P4.6 Parallel circuits: What are the rules for current and potential difference in a parallel circuit?).
Read the big question aloud: "What decides how much current flows in each part of a circuit?"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 parallel circuit, the p.d. across each branch is ___ the supply p.d.  →  the same as
2. Two branches of a parallel circuit carry 0.40 A and 0.60 A. What is the current from the supply?  →  A   1.0 A
3. The supply current in a parallel circuit is 2.5 A. One branch carries 1.5 A. Calculate the current in the other branch, in amps.  →  1 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the same as. Each branch is connected straight across the supply, so it has the full supply p.d.
2. A   1.0 A. The branch currents add up: 0.40 + 0.60 = 1.0 A.
3. 1 A. The branch currents add up to the supply current: 2.5 − 1.5 = 1.0 A (2 s.f.).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parallel: joined on separate branches, side by side. Example: "The two lamps were joined in parallel, each on its own branch."
• branch: one of the separate paths in a parallel circuit. Example: "Each branch had one lamp in it."
• junction: a point where wires split apart or join together. Example: "At the junction the current split into two."
• split: divide into parts. Example: "The current splits between the branches and joins up again."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1–10 of 10:
1. A parallel circuit has more than one loop.
2. Each loop is called a branch.
3. At a junction, the current splits between the branches.
4. Later, the branches join and the current adds up again.
5. It is like a river flowing round both sides of an island.
6. Each branch gets the full p.d. of the supply.
7. If one lamp breaks, the other branches still work.
8. Adding another branch gives the current another path.
9. So the total current from the supply goes up.
10. The houses we live in are wired in parallel.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Branches and potential difference. Say it in your own words, then check understanding with a quick question: ask a pupil from the pre-teach group first, since they met these words and ideas before the lesson. Pupils try to recall before you re-explain.
A parallel circuit has more than one loop, or branch. Each branch is connected straight across the supply, so the p.d. across each branch is the same as the supply p.d.: V(supply) = V₁ = V₂.
This means each branch works on its own. You can find the current in any branch with I = V ÷ R, using the supply p.d. and the resistance of that branch.
Worked example — model it step by step, thinking aloud: A 6.0 V battery is connected to a 12 Ω lamp on its own branch. Calculate the current in that branch. (1) The branch has the full supply p.d. across it: V = 6.0 V. (2) Use I = V ÷ R. (3) I = 6.0 ÷ 12 = 0.50 A. Answer: 0.50 A.
Tip: Parallel: every branch gets the full supply 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Current splits and rejoins. Say it in your own words, then check understanding with a quick question: ask a pupil from the pre-teach group first, since they met these words and ideas before the lesson. Pupils try to recall before you re-explain.
Think of a river flowing round an island. The water splits between the two channels and joins up again downstream: the water in the two channels adds up to the water in the river. Current behaves the same way at a junction.
The total current from the supply is the sum of the currents in the separate branches: I(total) = I₁ + I₂ + …. A branch with a lower resistance takes a bigger share of the current.
Worked example — model it step by step, thinking aloud: A 12 V supply is connected to a 6.0 Ω resistor and a 4.0 Ω resistor in parallel. Calculate the current in each branch and the total current from the supply. (1) Each branch has the full 12 V across it. (2) 6.0 Ω branch: I = V ÷ R = 12 ÷ 6.0 = 2.0 A. (3) 4.0 Ω branch: I = V ÷ R = 12 ÷ 4.0 = 3.0 A. (4) Total current: 2.0 + 3.0 = 5.0 A. Answer: 5.0 A in total (2.0 A and 3.0 A in the branches).
Tip: The branch currents add up to the current from the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Current splits and rejoins. Say it in your own words, then check understanding with a quick question: ask a pupil from the pre-teach group first, since they met these words and ideas before the lesson. Pupils try to recall before you re-explain.
Think of a river flowing round an island. The water splits between the two channels and joins up again downstream: the water in the two channels adds up to the water in the river. Current behaves the same way at a junction.
The total current from the supply is the sum of the currents in the separate branches: I(total) = I₁ + I₂ + …. A branch with a lower resistance takes a bigger share of the current.
Worked example — model it step by step, thinking aloud: A 12 V supply is connected to a 6.0 Ω resistor and a 4.0 Ω resistor in parallel. Calculate the current in each branch and the total current from the supply. (1) Each branch has the full 12 V across it. (2) 6.0 Ω branch: I = V ÷ R = 12 ÷ 6.0 = 2.0 A. (3) 4.0 Ω branch: I = V ÷ R = 12 ÷ 4.0 = 3.0 A. (4) Total current: 2.0 + 3.0 = 5.0 A. Answer: 5.0 A in total (2.0 A and 3.0 A in the branches).
Tip: The branch currents add up to the current from the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in parallel, and why homes use it. Say it in your own words, then check understanding with a quick question: ask a pupil from the pre-teach group first, since they met these words and ideas before the lesson. Pupils try to recall before you re-explain.
Adding a resistor in parallel gives the charge another path, so the total current from the supply increases. More current for the same p.d. means the total resistance of the circuit has gone down. The total resistance of resistors in parallel is always less than the smallest single resistance. You can find it from the supply: R(total) = V ÷ I(total).
Adding another lamp in parallel does not make the other lamps dimmer or brighter: each still has the full supply p.d. across it, so each keeps the same current. What does change is the total current drawn from the supply, which goes up.
Homes are wired in parallel for these reasons. Every appliance gets the full mains p.d., each one can be switched on and off on its own, and if one breaks the others keep working.
Worked example — model it step by step, thinking aloud: In the 12 V circuit above, the total current is 5.0 A. Calculate the total resistance of the two resistors, and compare it with 4.0 Ω. (1) Use R = V ÷ I with the supply p.d. and the total current. (2) R(total) = 12 ÷ 5.0 = 2.4 Ω. (3) 2.4 Ω is less than 4.0 Ω, the smallest resistor, as expected for parallel. Answer: 2.4 Ω, which is less than the smallest resistor (4.0 Ω).
Tip: Parallel total resistance is always less than the smallest branch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in parallel, and why homes use it. Say it in your own words, then check understanding with a quick question: ask a pupil from the pre-teach group first, since they met these words and ideas before the lesson. Pupils try to recall before you re-explain.
Adding a resistor in parallel gives the charge another path, so the total current from the supply increases. More current for the same p.d. means the total resistance of the circuit has gone down. The total resistance of resistors in parallel is always less than the smallest single resistance. You can find it from the supply: R(total) = V ÷ I(total).
Adding another lamp in parallel does not make the other lamps dimmer or brighter: each still has the full supply p.d. across it, so each keeps the same current. What does change is the total current drawn from the supply, which goes up.
Homes are wired in parallel for these reasons. Every appliance gets the full mains p.d., each one can be switched on and off on its own, and if one breaks the others keep working.
Worked example — model it step by step, thinking aloud: In the 12 V circuit above, the total current is 5.0 A. Calculate the total resistance of the two resistors, and compare it with 4.0 Ω. (1) Use R = V ÷ I with the supply p.d. and the total current. (2) R(total) = 12 ÷ 5.0 = 2.4 Ω. (3) 2.4 Ω is less than 4.0 Ω, the smallest resistor, as expected for parallel. Answer: 2.4 Ω, which is less than the smallest resistor (4.0 Ω).
Tip: Parallel total resistance is always less than the smallest branch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Branch currents and total current.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9.0 V battery is connected to a 3.0 Ω resistor and a 9.0 Ω resistor in parallel. Calculate the total current from the battery, in amps.
Support — work through the steps with the group: (1) Each branch has the full battery p.d. (2) Find each branch current with I = V ÷ R. (3) Add the branch currents to get the total.
Parallel worked example for Support (model it, do not give the task answer): A 6.0 V battery is connected to a 2.0 Ω and a 3.0 Ω resistor in parallel. Calculate the total current. 2.0 Ω branch: I = 6.0 ÷ 2.0 = 3.0 A.; 3.0 Ω branch: I = 6.0 ÷ 3.0 = 2.0 A.; Total = 3.0 + 2.0 = 5.0 A.. Answer: 5.0 A.
Core — reveal the hint only on request: Work out each branch on its own first, then add.
Stretch — no help; when finished: Explain why the 3.0 Ω branch takes three times the current of the 9.0 Ω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Adding a lamp in parallel.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Two identical lamps are in parallel with a battery. A third identical lamp is added on a new branch. What happens?
Support — work through the steps with the group: (1) What p.d. does each branch get? (The full supply.) (2) If a lamp's p.d. does not change, its current and brightness do not change. (3) The new branch adds its own current to the total.
Parallel worked example for Support (model it, do not give the task answer): Two lamps are in series with a battery. A third identical lamp is added in series. What happens? The total resistance increases.; So the current in the loop decreases.; The p.d. is shared three ways, so every lamp gets dimmer.. Answer: The current decreases and all the lamps get dimmer..
Core — reveal the hint only on request: In parallel, each branch gets the full supply p.d., whatever the other branches do.
Stretch — no help; when finished: Explain why the total resistance of the circuit falls when the third lamp is added, even though you have added another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Adding a lamp in parallel.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Two identical lamps are in parallel with a battery. A third identical lamp is added on a new branch. What happens?
Support — work through the steps with the group: (1) What p.d. does each branch get? (The full supply.) (2) If a lamp's p.d. does not change, its current and brightness do not change. (3) The new branch adds its own current to the total.
Parallel worked example for Support (model it, do not give the task answer): Two lamps are in series with a battery. A third identical lamp is added in series. What happens? The total resistance increases.; So the current in the loop decreases.; The p.d. is shared three ways, so every lamp gets dimmer.. Answer: The current decreases and all the lamps get dimmer..
Core — reveal the hint only on request: In parallel, each branch gets the full supply p.d., whatever the other branches do.
Stretch — no help; when finished: Explain why the total resistance of the circuit falls when the third lamp is added, even though you have added another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12 V supply is connected to a 4.0 Ω resistor and a 12 Ω resistor in parallel. Calculate the total resistance of the circuit, in ohms.
Answer: 3 Ω. Total current 4.0 A from 12 V gives R(total) = 3.0 Ω, which is less than the smallest resistor, as it must be in parallel.
Source of this question: module 3 task ("Total resistance in parallel")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Branch currents and total current. Reveal the answer; pupils mark their own work in a different colour, then read the "why" together. Same destination for every lane, so one answer serves the whole class.
Answer: 4 A
Why: Branch currents 3.0 A and 1.0 A add up to 4.0 A from the battery.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Adding a lamp in parallel. Reveal the answer; pupils mark their own work in a different colour, then read the "why" together. Same destination for every lane, so one answer serves the whole class.
Answer: A   The current from the battery increases, and the first two lamps stay the same brightness.
Why: Parallel branches are independent: the old lamps keep their p.d., current and brightness; the battery supplies more current in total.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 Ω
Why: Total current 4.0 A from 12 V gives R(total) = 3.0 Ω, which is less than the smallest resistor, as it must be in parallel.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Combined Science (Physics)</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Electric Circuits · AQA 8464</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Parallel circuits</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2EC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P4.6 Parallel circuits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ombined Science (Physics),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decides how much current flows in each part of a circuit?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 parallel circuit, the p.d. across each branch is ___ the supply p.d.</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the same as  ·  less than  ·  more than</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Two branches of a parallel circuit carry 0.40 A and 0.60 A. What is the current from the supply?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1.0 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0.24 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0.50 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0.20 A</a:t>
            </a:r>
            <a:endParaRPr lang="en-US" sz="22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supply current in a parallel circuit is 2.5 A. One branch carries 1.5 A. Calculate the current in the other branch, in amps.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same as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a parallel circuit, the p.d. across each branch is ___ the supply p.d.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Each branch is connected straight across the supply, so it has the full supply p.d.</a:t>
            </a:r>
            <a:endParaRPr lang="en-US" sz="22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1.0 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Two branches of a parallel circuit carry 0.40 A and 0.60 A. What is the current from the supply?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branch currents add up: 0.40 + 0.60 = 1.0 A.</a:t>
            </a:r>
            <a:endParaRPr lang="en-US" sz="22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 A</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supply current in a parallel circuit is 2.5 A. One branch carries 1.5 A. Calculate the current in the other branch, in amps.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branch currents add up to the supply current: 2.5 − 1.5 = 1.0 A (2 s.f.).</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1001268"/>
          </a:xfrm>
          <a:prstGeom prst="roundRect">
            <a:avLst>
              <a:gd name="adj" fmla="val 5479"/>
            </a:avLst>
          </a:prstGeom>
          <a:solidFill>
            <a:srgbClr val="E6EFEF"/>
          </a:solidFill>
          <a:ln/>
        </p:spPr>
      </p:sp>
      <p:sp>
        <p:nvSpPr>
          <p:cNvPr id="12" name="kw-hex"/>
          <p:cNvSpPr/>
          <p:nvPr/>
        </p:nvSpPr>
        <p:spPr>
          <a:xfrm>
            <a:off x="658368" y="2242703"/>
            <a:ext cx="411480" cy="356342"/>
          </a:xfrm>
          <a:prstGeom prst="hexagon">
            <a:avLst/>
          </a:prstGeom>
          <a:solidFill>
            <a:srgbClr val="1F6F6A"/>
          </a:solidFill>
          <a:ln/>
        </p:spPr>
      </p:sp>
      <p:sp>
        <p:nvSpPr>
          <p:cNvPr id="13" name="kw-cell"/>
          <p:cNvSpPr txBox="1"/>
          <p:nvPr/>
        </p:nvSpPr>
        <p:spPr>
          <a:xfrm>
            <a:off x="1143000" y="1920240"/>
            <a:ext cx="2331720" cy="1001268"/>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parallel</a:t>
            </a:r>
            <a:endParaRPr lang="en-US" sz="2400" dirty="0"/>
          </a:p>
        </p:txBody>
      </p:sp>
      <p:sp>
        <p:nvSpPr>
          <p:cNvPr id="14" name="kw-cell"/>
          <p:cNvSpPr txBox="1"/>
          <p:nvPr/>
        </p:nvSpPr>
        <p:spPr>
          <a:xfrm>
            <a:off x="3657600" y="1920240"/>
            <a:ext cx="3474720" cy="100126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joined on separate branches, side by side</a:t>
            </a:r>
            <a:endParaRPr lang="en-US" sz="2200" dirty="0"/>
          </a:p>
        </p:txBody>
      </p:sp>
      <p:sp>
        <p:nvSpPr>
          <p:cNvPr id="15" name="kw-cell"/>
          <p:cNvSpPr txBox="1"/>
          <p:nvPr/>
        </p:nvSpPr>
        <p:spPr>
          <a:xfrm>
            <a:off x="7315200" y="1920240"/>
            <a:ext cx="4236415" cy="100126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two lamps were joined in parallel, each on its own branch.</a:t>
            </a:r>
            <a:endParaRPr lang="en-US" sz="2200" dirty="0"/>
          </a:p>
        </p:txBody>
      </p:sp>
      <p:sp>
        <p:nvSpPr>
          <p:cNvPr id="16" name="kw-row"/>
          <p:cNvSpPr/>
          <p:nvPr/>
        </p:nvSpPr>
        <p:spPr>
          <a:xfrm>
            <a:off x="548640" y="2994660"/>
            <a:ext cx="11094415" cy="1001268"/>
          </a:xfrm>
          <a:prstGeom prst="roundRect">
            <a:avLst>
              <a:gd name="adj" fmla="val 5479"/>
            </a:avLst>
          </a:prstGeom>
          <a:solidFill>
            <a:srgbClr val="F4EDDF"/>
          </a:solidFill>
          <a:ln/>
        </p:spPr>
      </p:sp>
      <p:sp>
        <p:nvSpPr>
          <p:cNvPr id="17" name="kw-hex"/>
          <p:cNvSpPr/>
          <p:nvPr/>
        </p:nvSpPr>
        <p:spPr>
          <a:xfrm>
            <a:off x="658368" y="3317123"/>
            <a:ext cx="411480" cy="356342"/>
          </a:xfrm>
          <a:prstGeom prst="hexagon">
            <a:avLst/>
          </a:prstGeom>
          <a:solidFill>
            <a:srgbClr val="B8862B"/>
          </a:solidFill>
          <a:ln/>
        </p:spPr>
      </p:sp>
      <p:sp>
        <p:nvSpPr>
          <p:cNvPr id="18" name="kw-cell"/>
          <p:cNvSpPr txBox="1"/>
          <p:nvPr/>
        </p:nvSpPr>
        <p:spPr>
          <a:xfrm>
            <a:off x="1143000" y="2994660"/>
            <a:ext cx="2331720" cy="1001268"/>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branch</a:t>
            </a:r>
            <a:endParaRPr lang="en-US" sz="2400" dirty="0"/>
          </a:p>
        </p:txBody>
      </p:sp>
      <p:sp>
        <p:nvSpPr>
          <p:cNvPr id="19" name="kw-cell"/>
          <p:cNvSpPr txBox="1"/>
          <p:nvPr/>
        </p:nvSpPr>
        <p:spPr>
          <a:xfrm>
            <a:off x="3657600" y="2994660"/>
            <a:ext cx="3474720" cy="100126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one of the separate paths in a parallel circuit</a:t>
            </a:r>
            <a:endParaRPr lang="en-US" sz="2200" dirty="0"/>
          </a:p>
        </p:txBody>
      </p:sp>
      <p:sp>
        <p:nvSpPr>
          <p:cNvPr id="20" name="kw-cell"/>
          <p:cNvSpPr txBox="1"/>
          <p:nvPr/>
        </p:nvSpPr>
        <p:spPr>
          <a:xfrm>
            <a:off x="7315200" y="2994660"/>
            <a:ext cx="4236415" cy="100126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Each branch had one lamp in it.</a:t>
            </a:r>
            <a:endParaRPr lang="en-US" sz="2200" dirty="0"/>
          </a:p>
        </p:txBody>
      </p:sp>
      <p:sp>
        <p:nvSpPr>
          <p:cNvPr id="21" name="kw-row"/>
          <p:cNvSpPr/>
          <p:nvPr/>
        </p:nvSpPr>
        <p:spPr>
          <a:xfrm>
            <a:off x="548640" y="4069080"/>
            <a:ext cx="11094415" cy="1001268"/>
          </a:xfrm>
          <a:prstGeom prst="roundRect">
            <a:avLst>
              <a:gd name="adj" fmla="val 5479"/>
            </a:avLst>
          </a:prstGeom>
          <a:solidFill>
            <a:srgbClr val="E6EFEF"/>
          </a:solidFill>
          <a:ln/>
        </p:spPr>
      </p:sp>
      <p:sp>
        <p:nvSpPr>
          <p:cNvPr id="22" name="kw-hex"/>
          <p:cNvSpPr/>
          <p:nvPr/>
        </p:nvSpPr>
        <p:spPr>
          <a:xfrm>
            <a:off x="658368" y="4391543"/>
            <a:ext cx="411480" cy="356342"/>
          </a:xfrm>
          <a:prstGeom prst="hexagon">
            <a:avLst/>
          </a:prstGeom>
          <a:solidFill>
            <a:srgbClr val="1F6F6A"/>
          </a:solidFill>
          <a:ln/>
        </p:spPr>
      </p:sp>
      <p:sp>
        <p:nvSpPr>
          <p:cNvPr id="23" name="kw-cell"/>
          <p:cNvSpPr txBox="1"/>
          <p:nvPr/>
        </p:nvSpPr>
        <p:spPr>
          <a:xfrm>
            <a:off x="1143000" y="4069080"/>
            <a:ext cx="2331720" cy="1001268"/>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junction</a:t>
            </a:r>
            <a:endParaRPr lang="en-US" sz="2400" dirty="0"/>
          </a:p>
        </p:txBody>
      </p:sp>
      <p:sp>
        <p:nvSpPr>
          <p:cNvPr id="24" name="kw-cell"/>
          <p:cNvSpPr txBox="1"/>
          <p:nvPr/>
        </p:nvSpPr>
        <p:spPr>
          <a:xfrm>
            <a:off x="3657600" y="4069080"/>
            <a:ext cx="3474720" cy="100126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point where wires split apart or join together</a:t>
            </a:r>
            <a:endParaRPr lang="en-US" sz="2200" dirty="0"/>
          </a:p>
        </p:txBody>
      </p:sp>
      <p:sp>
        <p:nvSpPr>
          <p:cNvPr id="25" name="kw-cell"/>
          <p:cNvSpPr txBox="1"/>
          <p:nvPr/>
        </p:nvSpPr>
        <p:spPr>
          <a:xfrm>
            <a:off x="7315200" y="4069080"/>
            <a:ext cx="4236415" cy="100126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At the junction the current split into two.</a:t>
            </a:r>
            <a:endParaRPr lang="en-US" sz="2200" dirty="0"/>
          </a:p>
        </p:txBody>
      </p:sp>
      <p:sp>
        <p:nvSpPr>
          <p:cNvPr id="26" name="kw-row"/>
          <p:cNvSpPr/>
          <p:nvPr/>
        </p:nvSpPr>
        <p:spPr>
          <a:xfrm>
            <a:off x="548640" y="5143500"/>
            <a:ext cx="11094415" cy="1001268"/>
          </a:xfrm>
          <a:prstGeom prst="roundRect">
            <a:avLst>
              <a:gd name="adj" fmla="val 5479"/>
            </a:avLst>
          </a:prstGeom>
          <a:solidFill>
            <a:srgbClr val="F4EDDF"/>
          </a:solidFill>
          <a:ln/>
        </p:spPr>
      </p:sp>
      <p:sp>
        <p:nvSpPr>
          <p:cNvPr id="27" name="kw-hex"/>
          <p:cNvSpPr/>
          <p:nvPr/>
        </p:nvSpPr>
        <p:spPr>
          <a:xfrm>
            <a:off x="658368" y="5465963"/>
            <a:ext cx="411480" cy="356342"/>
          </a:xfrm>
          <a:prstGeom prst="hexagon">
            <a:avLst/>
          </a:prstGeom>
          <a:solidFill>
            <a:srgbClr val="B8862B"/>
          </a:solidFill>
          <a:ln/>
        </p:spPr>
      </p:sp>
      <p:sp>
        <p:nvSpPr>
          <p:cNvPr id="28" name="kw-cell"/>
          <p:cNvSpPr txBox="1"/>
          <p:nvPr/>
        </p:nvSpPr>
        <p:spPr>
          <a:xfrm>
            <a:off x="1143000" y="5143500"/>
            <a:ext cx="2331720" cy="1001268"/>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split</a:t>
            </a:r>
            <a:endParaRPr lang="en-US" sz="2400" dirty="0"/>
          </a:p>
        </p:txBody>
      </p:sp>
      <p:sp>
        <p:nvSpPr>
          <p:cNvPr id="29" name="kw-cell"/>
          <p:cNvSpPr txBox="1"/>
          <p:nvPr/>
        </p:nvSpPr>
        <p:spPr>
          <a:xfrm>
            <a:off x="3657600" y="5143500"/>
            <a:ext cx="3474720" cy="100126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divide into parts</a:t>
            </a:r>
            <a:endParaRPr lang="en-US" sz="2200" dirty="0"/>
          </a:p>
        </p:txBody>
      </p:sp>
      <p:sp>
        <p:nvSpPr>
          <p:cNvPr id="30" name="kw-cell"/>
          <p:cNvSpPr txBox="1"/>
          <p:nvPr/>
        </p:nvSpPr>
        <p:spPr>
          <a:xfrm>
            <a:off x="7315200" y="5143500"/>
            <a:ext cx="4236415" cy="100126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current splits between the branches and joins up again.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parallel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circuit has more than one loop.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loop is called a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branch</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junction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the current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splits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between the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branches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Later, the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branches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join and the current adds up again.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is like a river flowing round both sides of an island.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branch</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gets the full p.d. of the supply.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If one lamp breaks, the other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branches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still work.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Adding another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branch</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gives the current another path.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the total current from the supply goes up.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houses we live in are wired in </a:t>
            </a:r>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parallel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Branches and potential difference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Parallel: every branch gets the full supply p.d.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6.0 V battery is connected to a 12 Ω lamp on its own branch. Calculate the current in that branch.</a:t>
            </a:r>
            <a:endParaRPr lang="en-US" sz="1800" dirty="0"/>
          </a:p>
        </p:txBody>
      </p:sp>
      <p:sp>
        <p:nvSpPr>
          <p:cNvPr id="14" name="step-box"/>
          <p:cNvSpPr/>
          <p:nvPr/>
        </p:nvSpPr>
        <p:spPr>
          <a:xfrm>
            <a:off x="6126480" y="2888488"/>
            <a:ext cx="5379415" cy="794512"/>
          </a:xfrm>
          <a:prstGeom prst="roundRect">
            <a:avLst>
              <a:gd name="adj" fmla="val 11509"/>
            </a:avLst>
          </a:prstGeom>
          <a:solidFill>
            <a:srgbClr val="E2ECEC"/>
          </a:solidFill>
          <a:ln/>
        </p:spPr>
      </p:sp>
      <p:sp>
        <p:nvSpPr>
          <p:cNvPr id="15" name="step-hex"/>
          <p:cNvSpPr/>
          <p:nvPr/>
        </p:nvSpPr>
        <p:spPr>
          <a:xfrm>
            <a:off x="6217920" y="3103614"/>
            <a:ext cx="420624" cy="364260"/>
          </a:xfrm>
          <a:prstGeom prst="hexagon">
            <a:avLst/>
          </a:prstGeom>
          <a:solidFill>
            <a:srgbClr val="1F6F6A"/>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branch has the full supply p.d. across it: V = 6.0 V.</a:t>
            </a:r>
            <a:endParaRPr lang="en-US" sz="1800" dirty="0"/>
          </a:p>
        </p:txBody>
      </p:sp>
      <p:sp>
        <p:nvSpPr>
          <p:cNvPr id="18" name="step-box"/>
          <p:cNvSpPr/>
          <p:nvPr/>
        </p:nvSpPr>
        <p:spPr>
          <a:xfrm>
            <a:off x="6126480" y="3774440"/>
            <a:ext cx="5379415" cy="566928"/>
          </a:xfrm>
          <a:prstGeom prst="roundRect">
            <a:avLst>
              <a:gd name="adj" fmla="val 16129"/>
            </a:avLst>
          </a:prstGeom>
          <a:solidFill>
            <a:srgbClr val="E2ECEC"/>
          </a:solidFill>
          <a:ln/>
        </p:spPr>
      </p:sp>
      <p:sp>
        <p:nvSpPr>
          <p:cNvPr id="19" name="step-hex"/>
          <p:cNvSpPr/>
          <p:nvPr/>
        </p:nvSpPr>
        <p:spPr>
          <a:xfrm>
            <a:off x="6217920" y="3875774"/>
            <a:ext cx="420624" cy="364260"/>
          </a:xfrm>
          <a:prstGeom prst="hexagon">
            <a:avLst/>
          </a:prstGeom>
          <a:solidFill>
            <a:srgbClr val="1F6F6A"/>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I = V ÷ R.</a:t>
            </a:r>
            <a:endParaRPr lang="en-US" sz="1800" dirty="0"/>
          </a:p>
        </p:txBody>
      </p:sp>
      <p:sp>
        <p:nvSpPr>
          <p:cNvPr id="22" name="step-box"/>
          <p:cNvSpPr/>
          <p:nvPr/>
        </p:nvSpPr>
        <p:spPr>
          <a:xfrm>
            <a:off x="6126480" y="4432808"/>
            <a:ext cx="5379415" cy="566928"/>
          </a:xfrm>
          <a:prstGeom prst="roundRect">
            <a:avLst>
              <a:gd name="adj" fmla="val 16129"/>
            </a:avLst>
          </a:prstGeom>
          <a:solidFill>
            <a:srgbClr val="E2ECEC"/>
          </a:solidFill>
          <a:ln/>
        </p:spPr>
      </p:sp>
      <p:sp>
        <p:nvSpPr>
          <p:cNvPr id="23" name="step-hex"/>
          <p:cNvSpPr/>
          <p:nvPr/>
        </p:nvSpPr>
        <p:spPr>
          <a:xfrm>
            <a:off x="6217920" y="4534142"/>
            <a:ext cx="420624" cy="364260"/>
          </a:xfrm>
          <a:prstGeom prst="hexagon">
            <a:avLst/>
          </a:prstGeom>
          <a:solidFill>
            <a:srgbClr val="1F6F6A"/>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 = 6.0 ÷ 12 = 0.50 A.</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0.50 A</a:t>
            </a:r>
            <a:endParaRPr lang="en-US" sz="1800" dirty="0"/>
          </a:p>
        </p:txBody>
      </p:sp>
      <p:sp>
        <p:nvSpPr>
          <p:cNvPr id="27" name="bullet-card"/>
          <p:cNvSpPr/>
          <p:nvPr/>
        </p:nvSpPr>
        <p:spPr>
          <a:xfrm>
            <a:off x="548640" y="1389888"/>
            <a:ext cx="5074920" cy="1258570"/>
          </a:xfrm>
          <a:prstGeom prst="roundRect">
            <a:avLst>
              <a:gd name="adj" fmla="val 5812"/>
            </a:avLst>
          </a:prstGeom>
          <a:solidFill>
            <a:srgbClr val="E6EFEF"/>
          </a:solidFill>
          <a:ln/>
        </p:spPr>
      </p:sp>
      <p:sp>
        <p:nvSpPr>
          <p:cNvPr id="28" name="bullet-hex"/>
          <p:cNvSpPr/>
          <p:nvPr/>
        </p:nvSpPr>
        <p:spPr>
          <a:xfrm>
            <a:off x="676656" y="1852880"/>
            <a:ext cx="384048" cy="332586"/>
          </a:xfrm>
          <a:prstGeom prst="hexagon">
            <a:avLst/>
          </a:prstGeom>
          <a:solidFill>
            <a:srgbClr val="1F6F6A"/>
          </a:solidFill>
          <a:ln/>
        </p:spPr>
      </p:sp>
      <p:sp>
        <p:nvSpPr>
          <p:cNvPr id="29" name="bullet"/>
          <p:cNvSpPr txBox="1"/>
          <p:nvPr/>
        </p:nvSpPr>
        <p:spPr>
          <a:xfrm>
            <a:off x="1143000" y="1389888"/>
            <a:ext cx="4389120" cy="125857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parallel circuit has more than one loop, or branch.</a:t>
            </a:r>
            <a:endParaRPr lang="en-US" sz="2200" dirty="0"/>
          </a:p>
        </p:txBody>
      </p:sp>
      <p:sp>
        <p:nvSpPr>
          <p:cNvPr id="30" name="bullet-card"/>
          <p:cNvSpPr/>
          <p:nvPr/>
        </p:nvSpPr>
        <p:spPr>
          <a:xfrm>
            <a:off x="548640" y="2794762"/>
            <a:ext cx="5074920" cy="2281174"/>
          </a:xfrm>
          <a:prstGeom prst="roundRect">
            <a:avLst>
              <a:gd name="adj" fmla="val 3207"/>
            </a:avLst>
          </a:prstGeom>
          <a:solidFill>
            <a:srgbClr val="E6EFEF"/>
          </a:solidFill>
          <a:ln/>
        </p:spPr>
      </p:sp>
      <p:sp>
        <p:nvSpPr>
          <p:cNvPr id="31" name="bullet-hex"/>
          <p:cNvSpPr/>
          <p:nvPr/>
        </p:nvSpPr>
        <p:spPr>
          <a:xfrm>
            <a:off x="676656" y="3769056"/>
            <a:ext cx="384048" cy="332586"/>
          </a:xfrm>
          <a:prstGeom prst="hexagon">
            <a:avLst/>
          </a:prstGeom>
          <a:solidFill>
            <a:srgbClr val="B8862B"/>
          </a:solidFill>
          <a:ln/>
        </p:spPr>
      </p:sp>
      <p:sp>
        <p:nvSpPr>
          <p:cNvPr id="32" name="bullet"/>
          <p:cNvSpPr txBox="1"/>
          <p:nvPr/>
        </p:nvSpPr>
        <p:spPr>
          <a:xfrm>
            <a:off x="1143000" y="2794762"/>
            <a:ext cx="4389120" cy="228117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means each branch works on its own. You can find the current in any branch with I = V ÷ R, using the supply p.d. and the resistance of that branch.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Current splits and rejoins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branch currents add up to the current from the supply.</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Think of a river flowing round an island. The water splits between the two channels and joins up again downstream: the water in the two channels adds up to the water in the river.</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total current from the supply is the sum of the currents in the separate branches: I(total) = I₁ + I₂ +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Current splits and rejoins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12 V supply is connected to a 6.0 Ω resistor and a 4.0 Ω resistor in parallel. Calculate the current in each branch and the total current from the supply.</a:t>
            </a:r>
            <a:endParaRPr lang="en-US" sz="2200" dirty="0"/>
          </a:p>
        </p:txBody>
      </p:sp>
      <p:sp>
        <p:nvSpPr>
          <p:cNvPr id="9" name="step-box"/>
          <p:cNvSpPr/>
          <p:nvPr/>
        </p:nvSpPr>
        <p:spPr>
          <a:xfrm>
            <a:off x="548640" y="2655824"/>
            <a:ext cx="2464994" cy="1463040"/>
          </a:xfrm>
          <a:prstGeom prst="roundRect">
            <a:avLst>
              <a:gd name="adj" fmla="val 5000"/>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branch has the full 12 V across it.</a:t>
            </a:r>
            <a:endParaRPr lang="en-US" sz="1800" dirty="0"/>
          </a:p>
        </p:txBody>
      </p:sp>
      <p:sp>
        <p:nvSpPr>
          <p:cNvPr id="13" name="arrow"/>
          <p:cNvSpPr/>
          <p:nvPr/>
        </p:nvSpPr>
        <p:spPr>
          <a:xfrm>
            <a:off x="3086786" y="3250184"/>
            <a:ext cx="274320" cy="274320"/>
          </a:xfrm>
          <a:prstGeom prst="rightArrow">
            <a:avLst/>
          </a:prstGeom>
          <a:solidFill>
            <a:srgbClr val="B8862B"/>
          </a:solidFill>
          <a:ln/>
        </p:spPr>
      </p:sp>
      <p:sp>
        <p:nvSpPr>
          <p:cNvPr id="14" name="step-box"/>
          <p:cNvSpPr/>
          <p:nvPr/>
        </p:nvSpPr>
        <p:spPr>
          <a:xfrm>
            <a:off x="3425114" y="2655824"/>
            <a:ext cx="2464994" cy="1463040"/>
          </a:xfrm>
          <a:prstGeom prst="roundRect">
            <a:avLst>
              <a:gd name="adj" fmla="val 5000"/>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6.0 Ω branch: I = V ÷ R = 12 ÷ 6.0 = 2.0 A.</a:t>
            </a:r>
            <a:endParaRPr lang="en-US" sz="1800" dirty="0"/>
          </a:p>
        </p:txBody>
      </p:sp>
      <p:sp>
        <p:nvSpPr>
          <p:cNvPr id="18" name="arrow"/>
          <p:cNvSpPr/>
          <p:nvPr/>
        </p:nvSpPr>
        <p:spPr>
          <a:xfrm>
            <a:off x="5963260" y="3250184"/>
            <a:ext cx="274320" cy="274320"/>
          </a:xfrm>
          <a:prstGeom prst="rightArrow">
            <a:avLst/>
          </a:prstGeom>
          <a:solidFill>
            <a:srgbClr val="B8862B"/>
          </a:solidFill>
          <a:ln/>
        </p:spPr>
      </p:sp>
      <p:sp>
        <p:nvSpPr>
          <p:cNvPr id="19" name="step-box"/>
          <p:cNvSpPr/>
          <p:nvPr/>
        </p:nvSpPr>
        <p:spPr>
          <a:xfrm>
            <a:off x="6301588" y="2655824"/>
            <a:ext cx="2464994" cy="1463040"/>
          </a:xfrm>
          <a:prstGeom prst="roundRect">
            <a:avLst>
              <a:gd name="adj" fmla="val 5000"/>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4.0 Ω branch: I = V ÷ R = 12 ÷ 4.0 = 3.0 A.</a:t>
            </a:r>
            <a:endParaRPr lang="en-US" sz="1800" dirty="0"/>
          </a:p>
        </p:txBody>
      </p:sp>
      <p:sp>
        <p:nvSpPr>
          <p:cNvPr id="23" name="arrow"/>
          <p:cNvSpPr/>
          <p:nvPr/>
        </p:nvSpPr>
        <p:spPr>
          <a:xfrm>
            <a:off x="8839733" y="3250184"/>
            <a:ext cx="274320" cy="274320"/>
          </a:xfrm>
          <a:prstGeom prst="rightArrow">
            <a:avLst/>
          </a:prstGeom>
          <a:solidFill>
            <a:srgbClr val="B8862B"/>
          </a:solidFill>
          <a:ln/>
        </p:spPr>
      </p:sp>
      <p:sp>
        <p:nvSpPr>
          <p:cNvPr id="24" name="step-box"/>
          <p:cNvSpPr/>
          <p:nvPr/>
        </p:nvSpPr>
        <p:spPr>
          <a:xfrm>
            <a:off x="9178061" y="2655824"/>
            <a:ext cx="2464994" cy="1463040"/>
          </a:xfrm>
          <a:prstGeom prst="roundRect">
            <a:avLst>
              <a:gd name="adj" fmla="val 5000"/>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Total current: 2.0 + 3.0 = 5.0 A.</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5.0 A in total (2.0 A and 3.0 A in the branches)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Resistance in parallel, and why homes use 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Parallel total resistance is always less than the smallest branch resistance.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Adding a resistor in parallel gives the charge another path, so the total current from the supply increases.</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Adding another lamp in parallel does not make the other lamps dimmer or brighter: each still has the full supply p.d. across it, so each keeps the same current.</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Homes are wired in parallel for these reasons. Every appliance gets the full mains p.d., each one can be switched on and off on its own, and if one breaks the others keep working.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Worked example: Resistance in parallel, and why homes use it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the 12 V circuit above, the total current is 5.0 A. Calculate the total resistance of the two resistors, and compare it with 4.0 Ω.</a:t>
            </a:r>
            <a:endParaRPr lang="en-US" sz="2200" dirty="0"/>
          </a:p>
        </p:txBody>
      </p:sp>
      <p:sp>
        <p:nvSpPr>
          <p:cNvPr id="9" name="step-box"/>
          <p:cNvSpPr/>
          <p:nvPr/>
        </p:nvSpPr>
        <p:spPr>
          <a:xfrm>
            <a:off x="548640" y="2655824"/>
            <a:ext cx="3423818" cy="1695196"/>
          </a:xfrm>
          <a:prstGeom prst="roundRect">
            <a:avLst>
              <a:gd name="adj" fmla="val 4315"/>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R = V ÷ I with the supply p.d. and the total current.</a:t>
            </a:r>
            <a:endParaRPr lang="en-US" sz="1800" dirty="0"/>
          </a:p>
        </p:txBody>
      </p:sp>
      <p:sp>
        <p:nvSpPr>
          <p:cNvPr id="13" name="arrow"/>
          <p:cNvSpPr/>
          <p:nvPr/>
        </p:nvSpPr>
        <p:spPr>
          <a:xfrm>
            <a:off x="4045610" y="3366262"/>
            <a:ext cx="274320" cy="274320"/>
          </a:xfrm>
          <a:prstGeom prst="rightArrow">
            <a:avLst/>
          </a:prstGeom>
          <a:solidFill>
            <a:srgbClr val="B8862B"/>
          </a:solidFill>
          <a:ln/>
        </p:spPr>
      </p:sp>
      <p:sp>
        <p:nvSpPr>
          <p:cNvPr id="14" name="step-box"/>
          <p:cNvSpPr/>
          <p:nvPr/>
        </p:nvSpPr>
        <p:spPr>
          <a:xfrm>
            <a:off x="4383938" y="2655824"/>
            <a:ext cx="3423818" cy="1695196"/>
          </a:xfrm>
          <a:prstGeom prst="roundRect">
            <a:avLst>
              <a:gd name="adj" fmla="val 4315"/>
            </a:avLst>
          </a:prstGeom>
          <a:solidFill>
            <a:srgbClr val="FFFFFF"/>
          </a:solidFill>
          <a:ln w="15875">
            <a:solidFill>
              <a:srgbClr val="84B0AD"/>
            </a:solidFill>
            <a:prstDash val="solid"/>
          </a:ln>
        </p:spPr>
      </p:sp>
      <p:sp>
        <p:nvSpPr>
          <p:cNvPr id="15" name="step-hex"/>
          <p:cNvSpPr/>
          <p:nvPr/>
        </p:nvSpPr>
        <p:spPr>
          <a:xfrm>
            <a:off x="4521098" y="2765552"/>
            <a:ext cx="530352" cy="459285"/>
          </a:xfrm>
          <a:prstGeom prst="hexagon">
            <a:avLst/>
          </a:prstGeom>
          <a:solidFill>
            <a:srgbClr val="1F6F6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R(total) = 12 ÷ 5.0 = 2.4 Ω.</a:t>
            </a:r>
            <a:endParaRPr lang="en-US" sz="1800" dirty="0"/>
          </a:p>
        </p:txBody>
      </p:sp>
      <p:sp>
        <p:nvSpPr>
          <p:cNvPr id="18" name="arrow"/>
          <p:cNvSpPr/>
          <p:nvPr/>
        </p:nvSpPr>
        <p:spPr>
          <a:xfrm>
            <a:off x="7880909" y="3366262"/>
            <a:ext cx="274320" cy="274320"/>
          </a:xfrm>
          <a:prstGeom prst="rightArrow">
            <a:avLst/>
          </a:prstGeom>
          <a:solidFill>
            <a:srgbClr val="B8862B"/>
          </a:solidFill>
          <a:ln/>
        </p:spPr>
      </p:sp>
      <p:sp>
        <p:nvSpPr>
          <p:cNvPr id="19" name="step-box"/>
          <p:cNvSpPr/>
          <p:nvPr/>
        </p:nvSpPr>
        <p:spPr>
          <a:xfrm>
            <a:off x="8219237" y="2655824"/>
            <a:ext cx="3423818" cy="1695196"/>
          </a:xfrm>
          <a:prstGeom prst="roundRect">
            <a:avLst>
              <a:gd name="adj" fmla="val 4315"/>
            </a:avLst>
          </a:prstGeom>
          <a:solidFill>
            <a:srgbClr val="FFFFFF"/>
          </a:solidFill>
          <a:ln w="15875">
            <a:solidFill>
              <a:srgbClr val="84B0AD"/>
            </a:solidFill>
            <a:prstDash val="solid"/>
          </a:ln>
        </p:spPr>
      </p:sp>
      <p:sp>
        <p:nvSpPr>
          <p:cNvPr id="20" name="step-hex"/>
          <p:cNvSpPr/>
          <p:nvPr/>
        </p:nvSpPr>
        <p:spPr>
          <a:xfrm>
            <a:off x="8356397" y="2765552"/>
            <a:ext cx="530352" cy="459285"/>
          </a:xfrm>
          <a:prstGeom prst="hexagon">
            <a:avLst/>
          </a:prstGeom>
          <a:solidFill>
            <a:srgbClr val="1F6F6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2.4 Ω is less than 4.0 Ω, the smallest resistor, as expected for parallel.</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2.4 Ω, which is less than the smallest resistor (4.0 Ω)</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Branch currents and total current</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9.0 V battery is connected to a 3.0 Ω resistor and a 9.0 Ω resistor in parallel. Calculate the total current from the battery, in amps.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A</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branch has the full battery p.d.</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each branch current with I = V ÷ R.</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the branch currents to get the total.</a:t>
            </a:r>
            <a:endParaRPr lang="en-US" sz="22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95955"/>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Work out each branch on its own first, then add.</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Explain why the 3.0 Ω branch takes three times the current of the 9.0 Ω branch.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Adding a lamp in parallel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Two identical lamps are in parallel with a battery. A third identical lamp is added on a new branch. What happens?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current from the battery increases, and the first two lamps stay the same brightness.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current from the battery stays the same, and it is shared between three lamps.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current from the battery increases, and the first two lamps get brighter.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current from the battery decreases, and all the lamps get dimmer.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Adding a lamp in parallel</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Two identical lamps are in parallel with a battery. A third identical lamp is added on a new branch. What happens?</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2EC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What p.d. does each branch get? (The full supply.)</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If a lamp's p.d. does not change, its current and brightness do not change.</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new branch adds its own current to the total.</a:t>
            </a:r>
            <a:endParaRPr lang="en-US" sz="2000" dirty="0"/>
          </a:p>
        </p:txBody>
      </p:sp>
      <p:sp>
        <p:nvSpPr>
          <p:cNvPr id="17" name="col-Core"/>
          <p:cNvSpPr/>
          <p:nvPr/>
        </p:nvSpPr>
        <p:spPr>
          <a:xfrm>
            <a:off x="4338218" y="2593848"/>
            <a:ext cx="3515258" cy="3550920"/>
          </a:xfrm>
          <a:prstGeom prst="roundRect">
            <a:avLst>
              <a:gd name="adj" fmla="val 1561"/>
            </a:avLst>
          </a:prstGeom>
          <a:solidFill>
            <a:srgbClr val="C7DBDA"/>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In parallel, each branch gets the full supply p.d., whatever the other branches do.</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1F6F6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the total resistance of the circuit falls when the third lamp is added, even though you have added another component.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12 V supply is connected to a 4.0 Ω resistor and a 12 Ω resistor in parallel. Calculate the total resistance of the circuit, in ohms.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(Ω):</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Branch currents and total current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9.0 V battery is connected to a 3.0 Ω resistor and a 9.0 Ω resistor in parallel. Calculate the total current from the battery, in amps.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Branch currents 3.0 A and 1.0 A add up to 4.0 A from the battery.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Adding a lamp in parallel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Two identical lamps are in parallel with a battery. A third identical lamp is added on a new branch. What happens?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current from the battery increases, and the first two lamps stay the same brightness.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Parallel branches are independent: the old lamps keep their p.d., current and brightness; the battery supplies more current in total.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12 V supply is connected to a 4.0 Ω resistor and a 12 Ω resistor in parallel. Calculate the total resistance of the circuit, in ohms.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Ω</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Total current 4.0 A from 12 V gives R(total) = 3.0 Ω, which is less than the smallest resistor, as it must be in parallel.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 Chapter 6: Parallel circuits</dc:title>
  <dc:subject>Combined Science (Physics) · Year 10</dc:subject>
  <dc:creator>Dr Vitor Merissi de Carvalho</dc:creator>
  <cp:lastModifiedBy>Dr Vitor Merissi de Carvalho</cp:lastModifiedBy>
  <cp:revision>1</cp:revision>
  <dcterms:created xsi:type="dcterms:W3CDTF">2026-10-19T06:07:20Z</dcterms:created>
  <dcterms:modified xsi:type="dcterms:W3CDTF">2026-10-19T06:07:20Z</dcterms:modified>
</cp:coreProperties>
</file>