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0d62b8d-4474-2a73-4090-3af0632e4c29}">
          <p14:sldIdLst>
            <p14:sldId id="256"/>
          </p14:sldIdLst>
        </p14:section>
        <p14:section name="Gate" id="{5c86df6d-de45-ac54-8b25-0d4957ec001a}">
          <p14:sldIdLst>
            <p14:sldId id="257"/>
            <p14:sldId id="258"/>
          </p14:sldIdLst>
        </p14:section>
        <p14:section name="Pre-teach" id="{284662ee-9ed4-f25f-8cf4-4b41b87f3ec8}">
          <p14:sldIdLst>
            <p14:sldId id="259"/>
            <p14:sldId id="260"/>
          </p14:sldIdLst>
        </p14:section>
        <p14:section name="Read-along" id="{63bdd54a-8a61-8b20-f1da-b0d636fbd43d}">
          <p14:sldIdLst>
            <p14:sldId id="261"/>
          </p14:sldIdLst>
        </p14:section>
        <p14:section name="Teach" id="{f9bd22fe-00d0-f9fd-f2d0-6e59e552c037}">
          <p14:sldIdLst>
            <p14:sldId id="262"/>
            <p14:sldId id="263"/>
            <p14:sldId id="264"/>
          </p14:sldIdLst>
        </p14:section>
        <p14:section name="Routes" id="{e3b409a3-6f59-d734-e98a-f331aef5097f}">
          <p14:sldIdLst>
            <p14:sldId id="265"/>
            <p14:sldId id="266"/>
            <p14:sldId id="267"/>
          </p14:sldIdLst>
        </p14:section>
        <p14:section name="Close" id="{f59bf24d-98a8-4b5e-d71a-47e4adf0b947}">
          <p14:sldIdLst>
            <p14:sldId id="268"/>
          </p14:sldIdLst>
        </p14:section>
        <p14:section name="Answers" id="{740088cb-8b9d-0875-ad64-b3fa640ed3e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Component characteristics: I–V graphs. This chapter shows how current changes with potential difference for a resistor, a filament lamp, a diode, a thermistor and an LDR.
This deck covers the department's lesson: 4 (P4.4 Component characteristics: How does the current through different components change as the potential difference changes?).
Read the big question aloud: "What decides how much current flows in each part of a circuit?"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component has an I–V graph that is a straight line through the origin?  →  D   a resistor at constant temperature
2. As the temperature of a thermistor increases, its resistance ___.  →  decreases
3. The p.d. across a resistor is 4.0 V and the current is 0.50 A. Calculate its resistance in ohms.  →  8 Ω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a resistor at constant temperature. A resistor at constant temperature is ohmic: current is directly proportional to p.d., giving a straight line through the origin.
2. decreases. A thermistor's resistance decreases as its temperature increases.
3. 8 Ω. R = V ÷ I = 4.0 ÷ 0.50 = 8.0 Ω (2 s.f.).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graph: a picture of how one measurement changes with another. Example: "We drew a graph of current against potential difference."
• directly proportional: when one thing doubles, the other doubles too. Example: "For the resistor, the current was directly proportional to the p.d."
• filament: the thin coil of wire inside a lamp that glows when hot. Example: "The filament gets very hot when current flows through it."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thermistor: a resistor that changes with temperature. Example: "When the thermistor warmed up, its resistance went down."
• LDR: a light dependent resistor, which changes with light. Example: "In bright light the LDR had a low resistance."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1–11 of 11:
1. Different components behave in different ways.
2. To see how, we change the p.d. and measure the current.
3. Then we draw a graph of current against p.d.
4. For a resistor, the graph is a straight line through zero.
5. This means the current is directly proportional to the p.d.
6. For a filament lamp, the graph is a curve.
7. The filament gets hot, and its resistance goes up.
8. A diode only lets current flow one way.
9. A thermistor has less resistance when it is warm.
10. An LDR has less resistance when the light is bright.
11. These components help machines react to heat and light.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Testing a component and reading an I–V graph. Say it in your own words, then check understanding with a quick question: ask a pupil from the pre-teach group first, since they met these words and ideas before the lesson. Pupils try to recall before you re-explain.
To test a component, connect it in series with a cell or power supply, a variable resistor and an ammeter, with a voltmeter across the component. Change the variable resistor to get different currents, and record the p.d. and current each time. Then reverse the supply connections and repeat to get negative values.
Plot current (I) up the side and potential difference (V) along the bottom: this is an I–V graph. For a resistor at constant temperature, the points lie on a straight line through the origin. The current is directly proportional to the p.d., so its resistance is constant: it is an ohmic conductor.
On an I–V graph, a steeper line means more current for each volt, which means a lower resistance. To find the resistance at any point, read off V and I and use R = V ÷ I. This is required practical work: you must be able to do it for a resistor, a filament lamp and a diode.
Worked example — model it step by step, thinking aloud: On a resistor's I–V graph, the line passes through 1.5 V and 0.10 A. Calculate the resistance. (1) Read the point: V = 1.5 V, I = 0.10 A. (2) Use R = V ÷ I. (3) R = 1.5 ÷ 0.10 = 15 Ω. Answer: 15 Ω.
Tip: I–V graph: steeper line = lower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filament lamp and the diode. Say it in your own words, then check understanding with a quick question: ask a pupil from the pre-teach group first, since they met these words and ideas before the lesson. Pupils try to recall before you re-explain.
A filament lamp's I–V graph starts steep and then curves over, getting flatter as the p.d. increases. The shape is the same, upside down, for negative values. As the current increases, the filament gets hotter. The metal ions vibrate more, the electrons collide with them more often, and so the resistance increases. A filament lamp is not ohmic.
A diode has a very high resistance in the reverse direction, so almost no current flows. In the forward direction, almost no current flows until the p.d. reaches a small value (for a typical silicon diode, about 0.6 to 0.7 V); after that the current rises steeply, because the resistance becomes low.
So for a lamp you work out the resistance at each point with R = V ÷ I, and you find it grows as V grows.
Worked example — model it step by step, thinking aloud: A filament lamp takes 0.20 A at 1.0 V and 0.30 A at 3.0 V. Show that its resistance increases. (1) At 1.0 V: R = V ÷ I = 1.0 ÷ 0.20 = 5.0 Ω. (2) At 3.0 V: R = V ÷ I = 3.0 ÷ 0.30 = 10 Ω. (3) The resistance has doubled, from 5.0 Ω to 10 Ω, as the filament got hotter. Answer: 5.0 Ω at 1.0 V, rising to 10 Ω at 3.0 V.
Tip: Hotter metal = ions vibrate more = more collisions = more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Thermistors and LDRs: sensing components. Say it in your own words, then check understanding with a quick question: ask a pupil from the pre-teach group first, since they met these words and ideas before the lesson. Pupils try to recall before you re-explain.
The resistance of a thermistor decreases as its temperature increases. Thermostats in fridges, ovens and heating systems use thermistors to sense temperature and switch things on or off.
The resistance of a light dependent resistor (LDR) decreases as the light falling on it gets brighter. Security lights and street lights use LDRs to switch on when it gets dark, because in the dark the LDR's resistance becomes high.
Because their resistance changes so much, these components let a circuit react to its surroundings. You calculate their resistance in exactly the same way, with R = V ÷ I.
Worked example — model it step by step, thinking aloud: An LDR has 6.0 V across it. In the dark the current is 0.0012 A; in bright light it is 0.060 A. Calculate its resistance in the dark. (1) Use R = V ÷ I. (2) In the dark: R = 6.0 ÷ 0.0012 = 5000 Ω. (3) In bright light: R = 6.0 ÷ 0.060 = 100 Ω, so the resistance falls as the light gets brighter. Answer: 5000 Ω in the dark (100 Ω in bright light).
Tip: Thermistor: hotter, lower R. LDR: brighter, lower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component to its behaviour.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component to its behaviour.
Support — work through the steps with the group: (1) Start with the one you are surest of: the diode is the one-way component. (2) The two sensors are named for what they sense: thermistor (thermal = heat), LDR (light). (3) Of the two graphs left, the resistor is the straight one and the lamp is the curve.
Parallel worked example for Support (model it, do not give the task answer): Match each I–V graph feature to its meaning: a steep straight line; a shallow straight line; a flat line along the V axis. Steep line: a lot of current per volt = low resistance.; Shallow line: little current per volt = high resistance.; Flat line: no current at all = very high resistance.. Answer: low resistance; high resistance; very high resistance.
Core — reveal the hint only on request: Two of these are sensors; one is a one-way valve; one gets hot.
Stretch — no help; when finished: Sketch the I–V graph for a diode, including negative p.d. values, and label where its resistance is high and where it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component to its behaviour.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component to its behaviour.
Support — work through the steps with the group: (1) Start with the one you are surest of: the diode is the one-way component. (2) The two sensors are named for what they sense: thermistor (thermal = heat), LDR (light). (3) Of the two graphs left, the resistor is the straight one and the lamp is the curve.
Parallel worked example for Support (model it, do not give the task answer): Match each I–V graph feature to its meaning: a steep straight line; a shallow straight line; a flat line along the V axis. Steep line: a lot of current per volt = low resistance.; Shallow line: little current per volt = high resistance.; Flat line: no current at all = very high resistance.. Answer: low resistance; high resistance; very high resistance.
Core — reveal the hint only on request: Two of these are sensors; one is a one-way valve; one gets hot.
Stretch — no help; when finished: Sketch the I–V graph for a diode, including negative p.d. values, and label where its resistance is high and where it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does a lamp's resistance rise?.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the resistance of a filament lamp increases as the potential difference across it increases.
Support — work through the steps with the group: (1) Link p.d. to current: more push, more current. (2) Link current to temperature: the filament heats up. (3) Link temperature to ions and collisions, then to resistance.
Parallel worked example for Support (model it, do not give the task answer): Explain why a long wire has a greater resistance than a short wire of the same metal. Electrons must travel past more metal ions in a long wire.; So they make more collisions on the way.; More collisions mean more resistance.. Answer: A longer wire means more ions to collide with, so more collisions and more resistance..
Core — reveal the hint only on request: Use a chain: p.d., current, temperature, ions, collisions, resistance.
Stretch — no help; when finished: Explain why a filament lamp is called non-ohmic, and why a resistor kept in cold water during an experiment behaves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On a filament lamp's I–V graph, the current is 0.40 A when the p.d. is 6.0 V. Calculate the resistance of the lamp at this point, in ohms.
Answer: 15 Ω. R = V ÷ I = 6.0 ÷ 0.40 = 15 Ω. It is higher than at lower p.d. because the filament is hotter.
Source of this question: module 3 task ("Resistance from a graph reading")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the component to its behaviour. Reveal the answer; pupils mark their own work in a different colour, then read the "why" together. Same destination for every lane, so one answer serves the whole class.
Answer: resistor at constant temperature  →  A  straight-line I–V graph through the origin; filament lamp  →  D  I–V graph curves over, getting flatter as the p.d. increases; diode  →  E  current flows in one direction only; thermistor  →  C  resistance decreases as temperature increases; LDR  →  B  resistance decreases as light gets brighter
Why: An ohmic resistor gives a straight line; filament lamp = curve as it heats; diode = one way; thermistor = falls with heat; LDR = falls with light.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does a lamp's resistance rise?. Reveal the answer; pupils mark their own work in a different colour, then read the "why" together. Same destination for every lane, so one answer serves the whole class.
Answer: A bigger p.d. gives a bigger current through the filament.; The filament gets hotter.; The metal ions vibrate more.; Electrons collide with the ions more often, so the resistance increases.
Why: The four links are current rising, the filament heating, ions vibrating more and electrons colliding more often.
Model answer: As the potential difference increases, the current through the filament increases, so more energy is transferred to it and it gets hotter. In a hotter metal the ions vibrate more, so the electrons flowing through collide with them more often. More collisions mean the filament opposes the current more, so its resistance increases.
Success criteria: A bigger p.d. gives a bigger current through the filament.; The filament gets hotter.; The metal ions vibrate more.; Electrons collide with the ions more often, so the resistance increases.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15 Ω
Why: R = V ÷ I = 6.0 ÷ 0.40 = 15 Ω. It is higher than at lower p.d. because the filament is hotter.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Combined Science (Physics)</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Electric Circuits · AQA 8464</a:t>
            </a:r>
            <a:endParaRPr lang="en-US" sz="1800" dirty="0"/>
          </a:p>
        </p:txBody>
      </p:sp>
      <p:sp>
        <p:nvSpPr>
          <p:cNvPr id="10" name="deck-title"/>
          <p:cNvSpPr txBox="1"/>
          <p:nvPr/>
        </p:nvSpPr>
        <p:spPr>
          <a:xfrm>
            <a:off x="548640" y="252526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Component characteristics: I–V graphs</a:t>
            </a:r>
            <a:endParaRPr lang="en-US" sz="3200" dirty="0"/>
          </a:p>
        </p:txBody>
      </p:sp>
      <p:sp>
        <p:nvSpPr>
          <p:cNvPr id="11" name="lessons-card"/>
          <p:cNvSpPr/>
          <p:nvPr/>
        </p:nvSpPr>
        <p:spPr>
          <a:xfrm>
            <a:off x="548640" y="3937508"/>
            <a:ext cx="5287975" cy="980440"/>
          </a:xfrm>
          <a:prstGeom prst="roundRect">
            <a:avLst>
              <a:gd name="adj" fmla="val 7461"/>
            </a:avLst>
          </a:prstGeom>
          <a:solidFill>
            <a:srgbClr val="E2ECEC"/>
          </a:solidFill>
          <a:ln/>
        </p:spPr>
      </p:sp>
      <p:sp>
        <p:nvSpPr>
          <p:cNvPr id="12" name="lessons"/>
          <p:cNvSpPr txBox="1"/>
          <p:nvPr/>
        </p:nvSpPr>
        <p:spPr>
          <a:xfrm>
            <a:off x="685800" y="40289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P4.4 Component characteristics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ombined Science (Physics),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decides how much current flows in each part of a circuit?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component has an I–V graph that is a straight line through the origin?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an LDR as the light changes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diode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filament lamp</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resistor at constant temperature</a:t>
            </a:r>
            <a:endParaRPr lang="en-US" sz="20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As the temperature of a thermistor increases, its resistance ___.</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increases  ·  decreases  ·  stays the same</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p.d. across a resistor is 4.0 V and the current is 0.50 A. Calculate its resistance in ohms.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Ω</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resistor at constant temperature</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component has an I–V graph that is a straight line through the origin?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resistor at constant temperature is ohmic: current is directly proportional to p.d., giving a straight line through the origin.</a:t>
            </a:r>
            <a:endParaRPr lang="en-US" sz="18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decreases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As the temperature of a thermistor increases, its resistance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thermistor's resistance decreases as its temperature increases.</a:t>
            </a:r>
            <a:endParaRPr lang="en-US" sz="22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8 Ω</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p.d. across a resistor is 4.0 V and the current is 0.50 A. Calculate its resistance in ohms.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R = V ÷ I = 4.0 ÷ 0.50 = 8.0 Ω (2 s.f.).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graph</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picture of how one measurement changes with another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We drew a graph of current against potential difference.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directly proportional</a:t>
            </a:r>
            <a:endParaRPr lang="en-US" sz="2600" dirty="0"/>
          </a:p>
        </p:txBody>
      </p:sp>
      <p:sp>
        <p:nvSpPr>
          <p:cNvPr id="17" name="word-rule"/>
          <p:cNvSpPr/>
          <p:nvPr/>
        </p:nvSpPr>
        <p:spPr>
          <a:xfrm>
            <a:off x="4521098" y="2558288"/>
            <a:ext cx="3149498" cy="0"/>
          </a:xfrm>
          <a:prstGeom prst="line">
            <a:avLst/>
          </a:prstGeom>
          <a:ln w="12700">
            <a:solidFill>
              <a:srgbClr val="9FC1BF"/>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one thing doubles, the other doubles too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For the resistor, the current was directly proportional to the p.d.</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filament</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thin coil of wire inside a lamp that glows when hot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filament gets very hot when current flows through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thermistor</a:t>
            </a:r>
            <a:endParaRPr lang="en-US" sz="2600" dirty="0"/>
          </a:p>
        </p:txBody>
      </p:sp>
      <p:sp>
        <p:nvSpPr>
          <p:cNvPr id="11" name="word-rule"/>
          <p:cNvSpPr/>
          <p:nvPr/>
        </p:nvSpPr>
        <p:spPr>
          <a:xfrm>
            <a:off x="731520" y="2129028"/>
            <a:ext cx="5044288" cy="0"/>
          </a:xfrm>
          <a:prstGeom prst="line">
            <a:avLst/>
          </a:prstGeom>
          <a:ln w="12700">
            <a:solidFill>
              <a:srgbClr val="9FC1BF"/>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resistor that changes with temperature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When the thermistor warmed up, its resistance went down.</a:t>
            </a:r>
            <a:endParaRPr lang="en-US" sz="2200" dirty="0"/>
          </a:p>
        </p:txBody>
      </p:sp>
      <p:sp>
        <p:nvSpPr>
          <p:cNvPr id="13" name="word-card"/>
          <p:cNvSpPr/>
          <p:nvPr/>
        </p:nvSpPr>
        <p:spPr>
          <a:xfrm>
            <a:off x="6233008" y="1389888"/>
            <a:ext cx="5410048" cy="4754880"/>
          </a:xfrm>
          <a:prstGeom prst="roundRect">
            <a:avLst>
              <a:gd name="adj" fmla="val 1154"/>
            </a:avLst>
          </a:prstGeom>
          <a:solidFill>
            <a:srgbClr val="E6EFEF"/>
          </a:solidFill>
          <a:ln w="12700">
            <a:solidFill>
              <a:srgbClr val="9FC1BF"/>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LDR</a:t>
            </a:r>
            <a:endParaRPr lang="en-US" sz="2600" dirty="0"/>
          </a:p>
        </p:txBody>
      </p:sp>
      <p:sp>
        <p:nvSpPr>
          <p:cNvPr id="17" name="word-rule"/>
          <p:cNvSpPr/>
          <p:nvPr/>
        </p:nvSpPr>
        <p:spPr>
          <a:xfrm>
            <a:off x="6415888" y="2129028"/>
            <a:ext cx="5044288" cy="0"/>
          </a:xfrm>
          <a:prstGeom prst="line">
            <a:avLst/>
          </a:prstGeom>
          <a:ln w="12700">
            <a:solidFill>
              <a:srgbClr val="9FC1BF"/>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light dependent resistor, which changes with light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bright light the LDR had a low resistance.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Different components behave in different ways.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see how, we change the p.d. and measure the current.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Then we draw a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graph</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of current against p.d.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For a resistor, the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graph</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is a straight line through zero.</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This means the current is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directly proportional</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to the p.d.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For a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filament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lamp, the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graph</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is a curve.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filament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gets hot, and its resistance goes up.</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diode only lets current flow one way.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thermistor</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has less resistance when it is warm.</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LDR</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has less resistance when the light is bright.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These components help machines react to heat and light.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Testing a component and reading an I–V 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I–V graph: steeper line = lower resistance.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On a resistor's I–V graph, the line passes through 1.5 V and 0.10 A. Calculate the resistance.</a:t>
            </a:r>
            <a:endParaRPr lang="en-US" sz="1800" dirty="0"/>
          </a:p>
        </p:txBody>
      </p:sp>
      <p:sp>
        <p:nvSpPr>
          <p:cNvPr id="14" name="step-box"/>
          <p:cNvSpPr/>
          <p:nvPr/>
        </p:nvSpPr>
        <p:spPr>
          <a:xfrm>
            <a:off x="6126480" y="2888488"/>
            <a:ext cx="5379415" cy="566928"/>
          </a:xfrm>
          <a:prstGeom prst="roundRect">
            <a:avLst>
              <a:gd name="adj" fmla="val 16129"/>
            </a:avLst>
          </a:prstGeom>
          <a:solidFill>
            <a:srgbClr val="E2ECEC"/>
          </a:solidFill>
          <a:ln/>
        </p:spPr>
      </p:sp>
      <p:sp>
        <p:nvSpPr>
          <p:cNvPr id="15" name="step-hex"/>
          <p:cNvSpPr/>
          <p:nvPr/>
        </p:nvSpPr>
        <p:spPr>
          <a:xfrm>
            <a:off x="6217920" y="2989822"/>
            <a:ext cx="420624" cy="364260"/>
          </a:xfrm>
          <a:prstGeom prst="hexagon">
            <a:avLst/>
          </a:prstGeom>
          <a:solidFill>
            <a:srgbClr val="1F6F6A"/>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Read the point: V = 1.5 V, I = 0.10 A.</a:t>
            </a:r>
            <a:endParaRPr lang="en-US" sz="1800" dirty="0"/>
          </a:p>
        </p:txBody>
      </p:sp>
      <p:sp>
        <p:nvSpPr>
          <p:cNvPr id="18" name="step-box"/>
          <p:cNvSpPr/>
          <p:nvPr/>
        </p:nvSpPr>
        <p:spPr>
          <a:xfrm>
            <a:off x="6126480" y="3546856"/>
            <a:ext cx="5379415" cy="566928"/>
          </a:xfrm>
          <a:prstGeom prst="roundRect">
            <a:avLst>
              <a:gd name="adj" fmla="val 16129"/>
            </a:avLst>
          </a:prstGeom>
          <a:solidFill>
            <a:srgbClr val="E2ECEC"/>
          </a:solidFill>
          <a:ln/>
        </p:spPr>
      </p:sp>
      <p:sp>
        <p:nvSpPr>
          <p:cNvPr id="19" name="step-hex"/>
          <p:cNvSpPr/>
          <p:nvPr/>
        </p:nvSpPr>
        <p:spPr>
          <a:xfrm>
            <a:off x="6217920" y="3648190"/>
            <a:ext cx="420624" cy="364260"/>
          </a:xfrm>
          <a:prstGeom prst="hexagon">
            <a:avLst/>
          </a:prstGeom>
          <a:solidFill>
            <a:srgbClr val="1F6F6A"/>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Use R = V ÷ I.</a:t>
            </a:r>
            <a:endParaRPr lang="en-US" sz="1800" dirty="0"/>
          </a:p>
        </p:txBody>
      </p:sp>
      <p:sp>
        <p:nvSpPr>
          <p:cNvPr id="22" name="step-box"/>
          <p:cNvSpPr/>
          <p:nvPr/>
        </p:nvSpPr>
        <p:spPr>
          <a:xfrm>
            <a:off x="6126480" y="4205224"/>
            <a:ext cx="5379415" cy="566928"/>
          </a:xfrm>
          <a:prstGeom prst="roundRect">
            <a:avLst>
              <a:gd name="adj" fmla="val 16129"/>
            </a:avLst>
          </a:prstGeom>
          <a:solidFill>
            <a:srgbClr val="E2ECEC"/>
          </a:solidFill>
          <a:ln/>
        </p:spPr>
      </p:sp>
      <p:sp>
        <p:nvSpPr>
          <p:cNvPr id="23" name="step-hex"/>
          <p:cNvSpPr/>
          <p:nvPr/>
        </p:nvSpPr>
        <p:spPr>
          <a:xfrm>
            <a:off x="6217920" y="4306558"/>
            <a:ext cx="420624" cy="364260"/>
          </a:xfrm>
          <a:prstGeom prst="hexagon">
            <a:avLst/>
          </a:prstGeom>
          <a:solidFill>
            <a:srgbClr val="1F6F6A"/>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 = 1.5 ÷ 0.10 = 15 Ω.</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15 Ω</a:t>
            </a:r>
            <a:endParaRPr lang="en-US" sz="1800" dirty="0"/>
          </a:p>
        </p:txBody>
      </p:sp>
      <p:sp>
        <p:nvSpPr>
          <p:cNvPr id="27" name="bullet-card"/>
          <p:cNvSpPr/>
          <p:nvPr/>
        </p:nvSpPr>
        <p:spPr>
          <a:xfrm>
            <a:off x="548640" y="1389888"/>
            <a:ext cx="5074920" cy="1317075"/>
          </a:xfrm>
          <a:prstGeom prst="roundRect">
            <a:avLst>
              <a:gd name="adj" fmla="val 5554"/>
            </a:avLst>
          </a:prstGeom>
          <a:solidFill>
            <a:srgbClr val="E6EFEF"/>
          </a:solidFill>
          <a:ln/>
        </p:spPr>
      </p:sp>
      <p:sp>
        <p:nvSpPr>
          <p:cNvPr id="28" name="bullet-hex"/>
          <p:cNvSpPr/>
          <p:nvPr/>
        </p:nvSpPr>
        <p:spPr>
          <a:xfrm>
            <a:off x="676656" y="1882133"/>
            <a:ext cx="384048" cy="332586"/>
          </a:xfrm>
          <a:prstGeom prst="hexagon">
            <a:avLst/>
          </a:prstGeom>
          <a:solidFill>
            <a:srgbClr val="1F6F6A"/>
          </a:solidFill>
          <a:ln/>
        </p:spPr>
      </p:sp>
      <p:sp>
        <p:nvSpPr>
          <p:cNvPr id="29" name="bullet"/>
          <p:cNvSpPr txBox="1"/>
          <p:nvPr/>
        </p:nvSpPr>
        <p:spPr>
          <a:xfrm>
            <a:off x="1143000" y="1389888"/>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test a component, connect it in series with a cell or power supply, a variable resistor and an ammeter, with a voltmeter across the component.</a:t>
            </a:r>
            <a:endParaRPr lang="en-US" sz="1800" dirty="0"/>
          </a:p>
        </p:txBody>
      </p:sp>
      <p:sp>
        <p:nvSpPr>
          <p:cNvPr id="30" name="bullet-card"/>
          <p:cNvSpPr/>
          <p:nvPr/>
        </p:nvSpPr>
        <p:spPr>
          <a:xfrm>
            <a:off x="548640" y="2853267"/>
            <a:ext cx="5074920" cy="1038183"/>
          </a:xfrm>
          <a:prstGeom prst="roundRect">
            <a:avLst>
              <a:gd name="adj" fmla="val 7046"/>
            </a:avLst>
          </a:prstGeom>
          <a:solidFill>
            <a:srgbClr val="E6EFEF"/>
          </a:solidFill>
          <a:ln/>
        </p:spPr>
      </p:sp>
      <p:sp>
        <p:nvSpPr>
          <p:cNvPr id="31" name="bullet-hex"/>
          <p:cNvSpPr/>
          <p:nvPr/>
        </p:nvSpPr>
        <p:spPr>
          <a:xfrm>
            <a:off x="676656" y="3206065"/>
            <a:ext cx="384048" cy="332586"/>
          </a:xfrm>
          <a:prstGeom prst="hexagon">
            <a:avLst/>
          </a:prstGeom>
          <a:solidFill>
            <a:srgbClr val="B8862B"/>
          </a:solidFill>
          <a:ln/>
        </p:spPr>
      </p:sp>
      <p:sp>
        <p:nvSpPr>
          <p:cNvPr id="32" name="bullet"/>
          <p:cNvSpPr txBox="1"/>
          <p:nvPr/>
        </p:nvSpPr>
        <p:spPr>
          <a:xfrm>
            <a:off x="1143000" y="2853267"/>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Plot current (I) up the side and potential difference (V) along the bottom: this is an I–V graph.</a:t>
            </a:r>
            <a:endParaRPr lang="en-US" sz="1800" dirty="0"/>
          </a:p>
        </p:txBody>
      </p:sp>
      <p:sp>
        <p:nvSpPr>
          <p:cNvPr id="33" name="bullet-card"/>
          <p:cNvSpPr/>
          <p:nvPr/>
        </p:nvSpPr>
        <p:spPr>
          <a:xfrm>
            <a:off x="548640" y="4037753"/>
            <a:ext cx="5074920" cy="1038183"/>
          </a:xfrm>
          <a:prstGeom prst="roundRect">
            <a:avLst>
              <a:gd name="adj" fmla="val 7046"/>
            </a:avLst>
          </a:prstGeom>
          <a:solidFill>
            <a:srgbClr val="E6EFEF"/>
          </a:solidFill>
          <a:ln/>
        </p:spPr>
      </p:sp>
      <p:sp>
        <p:nvSpPr>
          <p:cNvPr id="34" name="bullet-hex"/>
          <p:cNvSpPr/>
          <p:nvPr/>
        </p:nvSpPr>
        <p:spPr>
          <a:xfrm>
            <a:off x="676656" y="4390552"/>
            <a:ext cx="384048" cy="332586"/>
          </a:xfrm>
          <a:prstGeom prst="hexagon">
            <a:avLst/>
          </a:prstGeom>
          <a:solidFill>
            <a:srgbClr val="1F6F6A"/>
          </a:solidFill>
          <a:ln/>
        </p:spPr>
      </p:sp>
      <p:sp>
        <p:nvSpPr>
          <p:cNvPr id="35" name="bullet"/>
          <p:cNvSpPr txBox="1"/>
          <p:nvPr/>
        </p:nvSpPr>
        <p:spPr>
          <a:xfrm>
            <a:off x="1143000" y="4037753"/>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 an I–V graph, a steeper line means more current for each volt, which means a lower resistance.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filament lamp and the diode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Hotter metal = ions vibrate more = more collisions = more resistance.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filament lamp takes 0.20 A at 1.0 V and 0.30 A at 3.0 V. Show that its resistance increases.</a:t>
            </a:r>
            <a:endParaRPr lang="en-US" sz="1800" dirty="0"/>
          </a:p>
        </p:txBody>
      </p:sp>
      <p:sp>
        <p:nvSpPr>
          <p:cNvPr id="14" name="step-box"/>
          <p:cNvSpPr/>
          <p:nvPr/>
        </p:nvSpPr>
        <p:spPr>
          <a:xfrm>
            <a:off x="6126480" y="2888488"/>
            <a:ext cx="5379415" cy="566928"/>
          </a:xfrm>
          <a:prstGeom prst="roundRect">
            <a:avLst>
              <a:gd name="adj" fmla="val 16129"/>
            </a:avLst>
          </a:prstGeom>
          <a:solidFill>
            <a:srgbClr val="E2ECEC"/>
          </a:solidFill>
          <a:ln/>
        </p:spPr>
      </p:sp>
      <p:sp>
        <p:nvSpPr>
          <p:cNvPr id="15" name="step-hex"/>
          <p:cNvSpPr/>
          <p:nvPr/>
        </p:nvSpPr>
        <p:spPr>
          <a:xfrm>
            <a:off x="6217920" y="2989822"/>
            <a:ext cx="420624" cy="364260"/>
          </a:xfrm>
          <a:prstGeom prst="hexagon">
            <a:avLst/>
          </a:prstGeom>
          <a:solidFill>
            <a:srgbClr val="1F6F6A"/>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At 1.0 V: R = V ÷ I = 1.0 ÷ 0.20 = 5.0 Ω.</a:t>
            </a:r>
            <a:endParaRPr lang="en-US" sz="1800" dirty="0"/>
          </a:p>
        </p:txBody>
      </p:sp>
      <p:sp>
        <p:nvSpPr>
          <p:cNvPr id="18" name="step-box"/>
          <p:cNvSpPr/>
          <p:nvPr/>
        </p:nvSpPr>
        <p:spPr>
          <a:xfrm>
            <a:off x="6126480" y="3546856"/>
            <a:ext cx="5379415" cy="566928"/>
          </a:xfrm>
          <a:prstGeom prst="roundRect">
            <a:avLst>
              <a:gd name="adj" fmla="val 16129"/>
            </a:avLst>
          </a:prstGeom>
          <a:solidFill>
            <a:srgbClr val="E2ECEC"/>
          </a:solidFill>
          <a:ln/>
        </p:spPr>
      </p:sp>
      <p:sp>
        <p:nvSpPr>
          <p:cNvPr id="19" name="step-hex"/>
          <p:cNvSpPr/>
          <p:nvPr/>
        </p:nvSpPr>
        <p:spPr>
          <a:xfrm>
            <a:off x="6217920" y="3648190"/>
            <a:ext cx="420624" cy="364260"/>
          </a:xfrm>
          <a:prstGeom prst="hexagon">
            <a:avLst/>
          </a:prstGeom>
          <a:solidFill>
            <a:srgbClr val="1F6F6A"/>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At 3.0 V: R = V ÷ I = 3.0 ÷ 0.30 = 10 Ω.</a:t>
            </a:r>
            <a:endParaRPr lang="en-US" sz="1800" dirty="0"/>
          </a:p>
        </p:txBody>
      </p:sp>
      <p:sp>
        <p:nvSpPr>
          <p:cNvPr id="22" name="step-box"/>
          <p:cNvSpPr/>
          <p:nvPr/>
        </p:nvSpPr>
        <p:spPr>
          <a:xfrm>
            <a:off x="6126480" y="4205224"/>
            <a:ext cx="5379415" cy="794512"/>
          </a:xfrm>
          <a:prstGeom prst="roundRect">
            <a:avLst>
              <a:gd name="adj" fmla="val 11509"/>
            </a:avLst>
          </a:prstGeom>
          <a:solidFill>
            <a:srgbClr val="E2ECEC"/>
          </a:solidFill>
          <a:ln/>
        </p:spPr>
      </p:sp>
      <p:sp>
        <p:nvSpPr>
          <p:cNvPr id="23" name="step-hex"/>
          <p:cNvSpPr/>
          <p:nvPr/>
        </p:nvSpPr>
        <p:spPr>
          <a:xfrm>
            <a:off x="6217920" y="4420350"/>
            <a:ext cx="420624" cy="364260"/>
          </a:xfrm>
          <a:prstGeom prst="hexagon">
            <a:avLst/>
          </a:prstGeom>
          <a:solidFill>
            <a:srgbClr val="1F6F6A"/>
          </a:solidFill>
          <a:ln/>
        </p:spPr>
      </p:sp>
      <p:sp>
        <p:nvSpPr>
          <p:cNvPr id="24" name="step-hex-label"/>
          <p:cNvSpPr txBox="1"/>
          <p:nvPr/>
        </p:nvSpPr>
        <p:spPr>
          <a:xfrm>
            <a:off x="6217920" y="44203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resistance has doubled, from 5.0 Ω to 10 Ω, as the filament got hotter.</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5.0 Ω at 1.0 V, rising to 10 Ω at 3.0 V</a:t>
            </a:r>
            <a:endParaRPr lang="en-US" sz="1800" dirty="0"/>
          </a:p>
        </p:txBody>
      </p:sp>
      <p:sp>
        <p:nvSpPr>
          <p:cNvPr id="27" name="bullet-card"/>
          <p:cNvSpPr/>
          <p:nvPr/>
        </p:nvSpPr>
        <p:spPr>
          <a:xfrm>
            <a:off x="548640" y="1389888"/>
            <a:ext cx="5074920" cy="1131147"/>
          </a:xfrm>
          <a:prstGeom prst="roundRect">
            <a:avLst>
              <a:gd name="adj" fmla="val 6467"/>
            </a:avLst>
          </a:prstGeom>
          <a:solidFill>
            <a:srgbClr val="E6EFEF"/>
          </a:solidFill>
          <a:ln/>
        </p:spPr>
      </p:sp>
      <p:sp>
        <p:nvSpPr>
          <p:cNvPr id="28" name="bullet-hex"/>
          <p:cNvSpPr/>
          <p:nvPr/>
        </p:nvSpPr>
        <p:spPr>
          <a:xfrm>
            <a:off x="676656" y="1789169"/>
            <a:ext cx="384048" cy="332586"/>
          </a:xfrm>
          <a:prstGeom prst="hexagon">
            <a:avLst/>
          </a:prstGeom>
          <a:solidFill>
            <a:srgbClr val="1F6F6A"/>
          </a:solidFill>
          <a:ln/>
        </p:spPr>
      </p:sp>
      <p:sp>
        <p:nvSpPr>
          <p:cNvPr id="29"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filament lamp's I–V graph starts steep and then curves over, getting flatter as the p.d. increases.</a:t>
            </a:r>
            <a:endParaRPr lang="en-US" sz="2000" dirty="0"/>
          </a:p>
        </p:txBody>
      </p:sp>
      <p:sp>
        <p:nvSpPr>
          <p:cNvPr id="30" name="bullet-card"/>
          <p:cNvSpPr/>
          <p:nvPr/>
        </p:nvSpPr>
        <p:spPr>
          <a:xfrm>
            <a:off x="548640" y="2667339"/>
            <a:ext cx="5074920" cy="1131147"/>
          </a:xfrm>
          <a:prstGeom prst="roundRect">
            <a:avLst>
              <a:gd name="adj" fmla="val 6467"/>
            </a:avLst>
          </a:prstGeom>
          <a:solidFill>
            <a:srgbClr val="E6EFEF"/>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66733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diode has a very high resistance in the reverse direction, so almost no current flows.</a:t>
            </a:r>
            <a:endParaRPr lang="en-US" sz="2000" dirty="0"/>
          </a:p>
        </p:txBody>
      </p:sp>
      <p:sp>
        <p:nvSpPr>
          <p:cNvPr id="33" name="bullet-card"/>
          <p:cNvSpPr/>
          <p:nvPr/>
        </p:nvSpPr>
        <p:spPr>
          <a:xfrm>
            <a:off x="548640" y="3944789"/>
            <a:ext cx="5074920" cy="1131147"/>
          </a:xfrm>
          <a:prstGeom prst="roundRect">
            <a:avLst>
              <a:gd name="adj" fmla="val 6467"/>
            </a:avLst>
          </a:prstGeom>
          <a:solidFill>
            <a:srgbClr val="E6EFEF"/>
          </a:solidFill>
          <a:ln/>
        </p:spPr>
      </p:sp>
      <p:sp>
        <p:nvSpPr>
          <p:cNvPr id="34" name="bullet-hex"/>
          <p:cNvSpPr/>
          <p:nvPr/>
        </p:nvSpPr>
        <p:spPr>
          <a:xfrm>
            <a:off x="676656" y="4344070"/>
            <a:ext cx="384048" cy="332586"/>
          </a:xfrm>
          <a:prstGeom prst="hexagon">
            <a:avLst/>
          </a:prstGeom>
          <a:solidFill>
            <a:srgbClr val="1F6F6A"/>
          </a:solidFill>
          <a:ln/>
        </p:spPr>
      </p:sp>
      <p:sp>
        <p:nvSpPr>
          <p:cNvPr id="35"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 for a lamp you work out the resistance at each point with R = V ÷ I, and you find it grows as V grows.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Thermistors and LDRs: sensing components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Thermistor: hotter, lower R. LDR: brighter, lower 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An LDR has 6.0 V across it. In the dark the current is 0.0012 A; in bright light it is 0.060 A. Calculate its resistance in the dark.</a:t>
            </a:r>
            <a:endParaRPr lang="en-US" sz="1800" dirty="0"/>
          </a:p>
        </p:txBody>
      </p:sp>
      <p:sp>
        <p:nvSpPr>
          <p:cNvPr id="14" name="step-box"/>
          <p:cNvSpPr/>
          <p:nvPr/>
        </p:nvSpPr>
        <p:spPr>
          <a:xfrm>
            <a:off x="6126480" y="3167380"/>
            <a:ext cx="5379415" cy="566928"/>
          </a:xfrm>
          <a:prstGeom prst="roundRect">
            <a:avLst>
              <a:gd name="adj" fmla="val 16129"/>
            </a:avLst>
          </a:prstGeom>
          <a:solidFill>
            <a:srgbClr val="E2ECEC"/>
          </a:solidFill>
          <a:ln/>
        </p:spPr>
      </p:sp>
      <p:sp>
        <p:nvSpPr>
          <p:cNvPr id="15" name="step-hex"/>
          <p:cNvSpPr/>
          <p:nvPr/>
        </p:nvSpPr>
        <p:spPr>
          <a:xfrm>
            <a:off x="6217920" y="3268714"/>
            <a:ext cx="420624" cy="364260"/>
          </a:xfrm>
          <a:prstGeom prst="hexagon">
            <a:avLst/>
          </a:prstGeom>
          <a:solidFill>
            <a:srgbClr val="1F6F6A"/>
          </a:solidFill>
          <a:ln/>
        </p:spPr>
      </p:sp>
      <p:sp>
        <p:nvSpPr>
          <p:cNvPr id="16"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Use R = V ÷ I.</a:t>
            </a:r>
            <a:endParaRPr lang="en-US" sz="1800" dirty="0"/>
          </a:p>
        </p:txBody>
      </p:sp>
      <p:sp>
        <p:nvSpPr>
          <p:cNvPr id="18" name="step-box"/>
          <p:cNvSpPr/>
          <p:nvPr/>
        </p:nvSpPr>
        <p:spPr>
          <a:xfrm>
            <a:off x="6126480" y="3825748"/>
            <a:ext cx="5379415" cy="566928"/>
          </a:xfrm>
          <a:prstGeom prst="roundRect">
            <a:avLst>
              <a:gd name="adj" fmla="val 16129"/>
            </a:avLst>
          </a:prstGeom>
          <a:solidFill>
            <a:srgbClr val="E2ECEC"/>
          </a:solidFill>
          <a:ln/>
        </p:spPr>
      </p:sp>
      <p:sp>
        <p:nvSpPr>
          <p:cNvPr id="19" name="step-hex"/>
          <p:cNvSpPr/>
          <p:nvPr/>
        </p:nvSpPr>
        <p:spPr>
          <a:xfrm>
            <a:off x="6217920" y="3927082"/>
            <a:ext cx="420624" cy="364260"/>
          </a:xfrm>
          <a:prstGeom prst="hexagon">
            <a:avLst/>
          </a:prstGeom>
          <a:solidFill>
            <a:srgbClr val="1F6F6A"/>
          </a:solidFill>
          <a:ln/>
        </p:spPr>
      </p:sp>
      <p:sp>
        <p:nvSpPr>
          <p:cNvPr id="20" name="step-hex-label"/>
          <p:cNvSpPr txBox="1"/>
          <p:nvPr/>
        </p:nvSpPr>
        <p:spPr>
          <a:xfrm>
            <a:off x="6217920" y="39270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8257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the dark: R = 6.0 ÷ 0.0012 = 5000 Ω.</a:t>
            </a:r>
            <a:endParaRPr lang="en-US" sz="1800" dirty="0"/>
          </a:p>
        </p:txBody>
      </p:sp>
      <p:sp>
        <p:nvSpPr>
          <p:cNvPr id="22" name="step-box"/>
          <p:cNvSpPr/>
          <p:nvPr/>
        </p:nvSpPr>
        <p:spPr>
          <a:xfrm>
            <a:off x="6126480" y="4484116"/>
            <a:ext cx="5379415" cy="794512"/>
          </a:xfrm>
          <a:prstGeom prst="roundRect">
            <a:avLst>
              <a:gd name="adj" fmla="val 11509"/>
            </a:avLst>
          </a:prstGeom>
          <a:solidFill>
            <a:srgbClr val="E2ECEC"/>
          </a:solidFill>
          <a:ln/>
        </p:spPr>
      </p:sp>
      <p:sp>
        <p:nvSpPr>
          <p:cNvPr id="23" name="step-hex"/>
          <p:cNvSpPr/>
          <p:nvPr/>
        </p:nvSpPr>
        <p:spPr>
          <a:xfrm>
            <a:off x="6217920" y="4699242"/>
            <a:ext cx="420624" cy="364260"/>
          </a:xfrm>
          <a:prstGeom prst="hexagon">
            <a:avLst/>
          </a:prstGeom>
          <a:solidFill>
            <a:srgbClr val="1F6F6A"/>
          </a:solidFill>
          <a:ln/>
        </p:spPr>
      </p:sp>
      <p:sp>
        <p:nvSpPr>
          <p:cNvPr id="24" name="step-hex-label"/>
          <p:cNvSpPr txBox="1"/>
          <p:nvPr/>
        </p:nvSpPr>
        <p:spPr>
          <a:xfrm>
            <a:off x="6217920" y="46992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8411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bright light: R = 6.0 ÷ 0.060 = 100 Ω, so the resistance falls as the light gets brighter.</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5000 Ω in the dark (100 Ω in bright light)</a:t>
            </a:r>
            <a:endParaRPr lang="en-US" sz="1800" dirty="0"/>
          </a:p>
        </p:txBody>
      </p:sp>
      <p:sp>
        <p:nvSpPr>
          <p:cNvPr id="27" name="bullet-card"/>
          <p:cNvSpPr/>
          <p:nvPr/>
        </p:nvSpPr>
        <p:spPr>
          <a:xfrm>
            <a:off x="548640" y="1389888"/>
            <a:ext cx="5074920" cy="924560"/>
          </a:xfrm>
          <a:prstGeom prst="roundRect">
            <a:avLst>
              <a:gd name="adj" fmla="val 7912"/>
            </a:avLst>
          </a:prstGeom>
          <a:solidFill>
            <a:srgbClr val="E6EFEF"/>
          </a:solidFill>
          <a:ln/>
        </p:spPr>
      </p:sp>
      <p:sp>
        <p:nvSpPr>
          <p:cNvPr id="28" name="bullet-hex"/>
          <p:cNvSpPr/>
          <p:nvPr/>
        </p:nvSpPr>
        <p:spPr>
          <a:xfrm>
            <a:off x="676656" y="1685875"/>
            <a:ext cx="384048" cy="332586"/>
          </a:xfrm>
          <a:prstGeom prst="hexagon">
            <a:avLst/>
          </a:prstGeom>
          <a:solidFill>
            <a:srgbClr val="1F6F6A"/>
          </a:solidFill>
          <a:ln/>
        </p:spPr>
      </p:sp>
      <p:sp>
        <p:nvSpPr>
          <p:cNvPr id="29" name="bullet"/>
          <p:cNvSpPr txBox="1"/>
          <p:nvPr/>
        </p:nvSpPr>
        <p:spPr>
          <a:xfrm>
            <a:off x="1143000" y="1389888"/>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resistance of a thermistor decreases as its temperature increases.</a:t>
            </a:r>
            <a:endParaRPr lang="en-US" sz="2000" dirty="0"/>
          </a:p>
        </p:txBody>
      </p:sp>
      <p:sp>
        <p:nvSpPr>
          <p:cNvPr id="30" name="bullet-card"/>
          <p:cNvSpPr/>
          <p:nvPr/>
        </p:nvSpPr>
        <p:spPr>
          <a:xfrm>
            <a:off x="548640" y="2460752"/>
            <a:ext cx="5074920" cy="1234440"/>
          </a:xfrm>
          <a:prstGeom prst="roundRect">
            <a:avLst>
              <a:gd name="adj" fmla="val 5926"/>
            </a:avLst>
          </a:prstGeom>
          <a:solidFill>
            <a:srgbClr val="E6EFEF"/>
          </a:solidFill>
          <a:ln/>
        </p:spPr>
      </p:sp>
      <p:sp>
        <p:nvSpPr>
          <p:cNvPr id="31" name="bullet-hex"/>
          <p:cNvSpPr/>
          <p:nvPr/>
        </p:nvSpPr>
        <p:spPr>
          <a:xfrm>
            <a:off x="676656" y="2911679"/>
            <a:ext cx="384048" cy="332586"/>
          </a:xfrm>
          <a:prstGeom prst="hexagon">
            <a:avLst/>
          </a:prstGeom>
          <a:solidFill>
            <a:srgbClr val="B8862B"/>
          </a:solidFill>
          <a:ln/>
        </p:spPr>
      </p:sp>
      <p:sp>
        <p:nvSpPr>
          <p:cNvPr id="32" name="bullet"/>
          <p:cNvSpPr txBox="1"/>
          <p:nvPr/>
        </p:nvSpPr>
        <p:spPr>
          <a:xfrm>
            <a:off x="1143000" y="2460752"/>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resistance of a light dependent resistor (LDR) decreases as the light falling on it gets brighter.</a:t>
            </a:r>
            <a:endParaRPr lang="en-US" sz="2000" dirty="0"/>
          </a:p>
        </p:txBody>
      </p:sp>
      <p:sp>
        <p:nvSpPr>
          <p:cNvPr id="33" name="bullet-card"/>
          <p:cNvSpPr/>
          <p:nvPr/>
        </p:nvSpPr>
        <p:spPr>
          <a:xfrm>
            <a:off x="548640" y="3841496"/>
            <a:ext cx="5074920" cy="1234440"/>
          </a:xfrm>
          <a:prstGeom prst="roundRect">
            <a:avLst>
              <a:gd name="adj" fmla="val 5926"/>
            </a:avLst>
          </a:prstGeom>
          <a:solidFill>
            <a:srgbClr val="E6EFEF"/>
          </a:solidFill>
          <a:ln/>
        </p:spPr>
      </p:sp>
      <p:sp>
        <p:nvSpPr>
          <p:cNvPr id="34" name="bullet-hex"/>
          <p:cNvSpPr/>
          <p:nvPr/>
        </p:nvSpPr>
        <p:spPr>
          <a:xfrm>
            <a:off x="676656" y="4292423"/>
            <a:ext cx="384048" cy="332586"/>
          </a:xfrm>
          <a:prstGeom prst="hexagon">
            <a:avLst/>
          </a:prstGeom>
          <a:solidFill>
            <a:srgbClr val="1F6F6A"/>
          </a:solidFill>
          <a:ln/>
        </p:spPr>
      </p:sp>
      <p:sp>
        <p:nvSpPr>
          <p:cNvPr id="35" name="bullet"/>
          <p:cNvSpPr txBox="1"/>
          <p:nvPr/>
        </p:nvSpPr>
        <p:spPr>
          <a:xfrm>
            <a:off x="1143000" y="3841496"/>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Because their resistance changes so much, these components let a circuit react to its surroundings.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The task: Match the component to its behaviour</a:t>
            </a:r>
            <a:endParaRPr lang="en-US" sz="30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component to its behaviour.</a:t>
            </a:r>
            <a:endParaRPr lang="en-US" sz="2400" dirty="0"/>
          </a:p>
        </p:txBody>
      </p:sp>
      <p:sp>
        <p:nvSpPr>
          <p:cNvPr id="11" name="match-card"/>
          <p:cNvSpPr/>
          <p:nvPr/>
        </p:nvSpPr>
        <p:spPr>
          <a:xfrm>
            <a:off x="777240" y="2468331"/>
            <a:ext cx="3804243" cy="799295"/>
          </a:xfrm>
          <a:prstGeom prst="roundRect">
            <a:avLst>
              <a:gd name="adj" fmla="val 9152"/>
            </a:avLst>
          </a:prstGeom>
          <a:solidFill>
            <a:srgbClr val="E6EFEF"/>
          </a:solidFill>
          <a:ln/>
        </p:spPr>
      </p:sp>
      <p:sp>
        <p:nvSpPr>
          <p:cNvPr id="12" name="match-hex"/>
          <p:cNvSpPr/>
          <p:nvPr/>
        </p:nvSpPr>
        <p:spPr>
          <a:xfrm>
            <a:off x="850392" y="2701686"/>
            <a:ext cx="384048" cy="332586"/>
          </a:xfrm>
          <a:prstGeom prst="hexagon">
            <a:avLst/>
          </a:prstGeom>
          <a:solidFill>
            <a:srgbClr val="1F6F6A"/>
          </a:solidFill>
          <a:ln/>
        </p:spPr>
      </p:sp>
      <p:sp>
        <p:nvSpPr>
          <p:cNvPr id="13" name="match-hex-label"/>
          <p:cNvSpPr txBox="1"/>
          <p:nvPr/>
        </p:nvSpPr>
        <p:spPr>
          <a:xfrm>
            <a:off x="850392" y="270168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209883"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resistor at constant temperature</a:t>
            </a:r>
            <a:endParaRPr lang="en-US" sz="2000" dirty="0"/>
          </a:p>
        </p:txBody>
      </p:sp>
      <p:sp>
        <p:nvSpPr>
          <p:cNvPr id="15" name="match-card"/>
          <p:cNvSpPr/>
          <p:nvPr/>
        </p:nvSpPr>
        <p:spPr>
          <a:xfrm>
            <a:off x="4947243" y="2468331"/>
            <a:ext cx="6467213" cy="799295"/>
          </a:xfrm>
          <a:prstGeom prst="roundRect">
            <a:avLst>
              <a:gd name="adj" fmla="val 9152"/>
            </a:avLst>
          </a:prstGeom>
          <a:solidFill>
            <a:srgbClr val="F4EDDF"/>
          </a:solidFill>
          <a:ln/>
        </p:spPr>
      </p:sp>
      <p:sp>
        <p:nvSpPr>
          <p:cNvPr id="16" name="match-hex"/>
          <p:cNvSpPr/>
          <p:nvPr/>
        </p:nvSpPr>
        <p:spPr>
          <a:xfrm>
            <a:off x="5020395" y="2701686"/>
            <a:ext cx="384048" cy="332586"/>
          </a:xfrm>
          <a:prstGeom prst="hexagon">
            <a:avLst/>
          </a:prstGeom>
          <a:solidFill>
            <a:srgbClr val="B8862B"/>
          </a:solidFill>
          <a:ln/>
        </p:spPr>
      </p:sp>
      <p:sp>
        <p:nvSpPr>
          <p:cNvPr id="17" name="match-hex-label"/>
          <p:cNvSpPr txBox="1"/>
          <p:nvPr/>
        </p:nvSpPr>
        <p:spPr>
          <a:xfrm>
            <a:off x="5020395" y="270168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468451" y="2468331"/>
            <a:ext cx="5872853"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straight-line I–V graph through the origin</a:t>
            </a:r>
            <a:endParaRPr lang="en-US" sz="2000" dirty="0"/>
          </a:p>
        </p:txBody>
      </p:sp>
      <p:sp>
        <p:nvSpPr>
          <p:cNvPr id="19" name="match-card"/>
          <p:cNvSpPr/>
          <p:nvPr/>
        </p:nvSpPr>
        <p:spPr>
          <a:xfrm>
            <a:off x="777240" y="3359067"/>
            <a:ext cx="3804243" cy="509735"/>
          </a:xfrm>
          <a:prstGeom prst="roundRect">
            <a:avLst>
              <a:gd name="adj" fmla="val 14351"/>
            </a:avLst>
          </a:prstGeom>
          <a:solidFill>
            <a:srgbClr val="E6EFEF"/>
          </a:solidFill>
          <a:ln/>
        </p:spPr>
      </p:sp>
      <p:sp>
        <p:nvSpPr>
          <p:cNvPr id="20" name="match-hex"/>
          <p:cNvSpPr/>
          <p:nvPr/>
        </p:nvSpPr>
        <p:spPr>
          <a:xfrm>
            <a:off x="850392" y="3447642"/>
            <a:ext cx="384048" cy="332586"/>
          </a:xfrm>
          <a:prstGeom prst="hexagon">
            <a:avLst/>
          </a:prstGeom>
          <a:solidFill>
            <a:srgbClr val="1F6F6A"/>
          </a:solidFill>
          <a:ln/>
        </p:spPr>
      </p:sp>
      <p:sp>
        <p:nvSpPr>
          <p:cNvPr id="21" name="match-hex-label"/>
          <p:cNvSpPr txBox="1"/>
          <p:nvPr/>
        </p:nvSpPr>
        <p:spPr>
          <a:xfrm>
            <a:off x="850392" y="34476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59067"/>
            <a:ext cx="3209883"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filament lamp</a:t>
            </a:r>
            <a:endParaRPr lang="en-US" sz="2000" dirty="0"/>
          </a:p>
        </p:txBody>
      </p:sp>
      <p:sp>
        <p:nvSpPr>
          <p:cNvPr id="23" name="match-card"/>
          <p:cNvSpPr/>
          <p:nvPr/>
        </p:nvSpPr>
        <p:spPr>
          <a:xfrm>
            <a:off x="4947243" y="3359067"/>
            <a:ext cx="6467213" cy="509735"/>
          </a:xfrm>
          <a:prstGeom prst="roundRect">
            <a:avLst>
              <a:gd name="adj" fmla="val 14351"/>
            </a:avLst>
          </a:prstGeom>
          <a:solidFill>
            <a:srgbClr val="F4EDDF"/>
          </a:solidFill>
          <a:ln/>
        </p:spPr>
      </p:sp>
      <p:sp>
        <p:nvSpPr>
          <p:cNvPr id="24" name="match-hex"/>
          <p:cNvSpPr/>
          <p:nvPr/>
        </p:nvSpPr>
        <p:spPr>
          <a:xfrm>
            <a:off x="5020395" y="3447642"/>
            <a:ext cx="384048" cy="332586"/>
          </a:xfrm>
          <a:prstGeom prst="hexagon">
            <a:avLst/>
          </a:prstGeom>
          <a:solidFill>
            <a:srgbClr val="B8862B"/>
          </a:solidFill>
          <a:ln/>
        </p:spPr>
      </p:sp>
      <p:sp>
        <p:nvSpPr>
          <p:cNvPr id="25" name="match-hex-label"/>
          <p:cNvSpPr txBox="1"/>
          <p:nvPr/>
        </p:nvSpPr>
        <p:spPr>
          <a:xfrm>
            <a:off x="5020395" y="34476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468451" y="3359067"/>
            <a:ext cx="5872853"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resistance decreases as light gets brighter</a:t>
            </a:r>
            <a:endParaRPr lang="en-US" sz="2000" dirty="0"/>
          </a:p>
        </p:txBody>
      </p:sp>
      <p:sp>
        <p:nvSpPr>
          <p:cNvPr id="27" name="match-card"/>
          <p:cNvSpPr/>
          <p:nvPr/>
        </p:nvSpPr>
        <p:spPr>
          <a:xfrm>
            <a:off x="777240" y="3960242"/>
            <a:ext cx="3804243" cy="509735"/>
          </a:xfrm>
          <a:prstGeom prst="roundRect">
            <a:avLst>
              <a:gd name="adj" fmla="val 14351"/>
            </a:avLst>
          </a:prstGeom>
          <a:solidFill>
            <a:srgbClr val="E6EFEF"/>
          </a:solidFill>
          <a:ln/>
        </p:spPr>
      </p:sp>
      <p:sp>
        <p:nvSpPr>
          <p:cNvPr id="28" name="match-hex"/>
          <p:cNvSpPr/>
          <p:nvPr/>
        </p:nvSpPr>
        <p:spPr>
          <a:xfrm>
            <a:off x="850392" y="4048817"/>
            <a:ext cx="384048" cy="332586"/>
          </a:xfrm>
          <a:prstGeom prst="hexagon">
            <a:avLst/>
          </a:prstGeom>
          <a:solidFill>
            <a:srgbClr val="1F6F6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60242"/>
            <a:ext cx="3209883"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diode</a:t>
            </a:r>
            <a:endParaRPr lang="en-US" sz="2000" dirty="0"/>
          </a:p>
        </p:txBody>
      </p:sp>
      <p:sp>
        <p:nvSpPr>
          <p:cNvPr id="31" name="match-card"/>
          <p:cNvSpPr/>
          <p:nvPr/>
        </p:nvSpPr>
        <p:spPr>
          <a:xfrm>
            <a:off x="4947243" y="3960242"/>
            <a:ext cx="6467213" cy="509735"/>
          </a:xfrm>
          <a:prstGeom prst="roundRect">
            <a:avLst>
              <a:gd name="adj" fmla="val 14351"/>
            </a:avLst>
          </a:prstGeom>
          <a:solidFill>
            <a:srgbClr val="F4EDDF"/>
          </a:solidFill>
          <a:ln/>
        </p:spPr>
      </p:sp>
      <p:sp>
        <p:nvSpPr>
          <p:cNvPr id="32" name="match-hex"/>
          <p:cNvSpPr/>
          <p:nvPr/>
        </p:nvSpPr>
        <p:spPr>
          <a:xfrm>
            <a:off x="5020395" y="4048817"/>
            <a:ext cx="384048" cy="332586"/>
          </a:xfrm>
          <a:prstGeom prst="hexagon">
            <a:avLst/>
          </a:prstGeom>
          <a:solidFill>
            <a:srgbClr val="B8862B"/>
          </a:solidFill>
          <a:ln/>
        </p:spPr>
      </p:sp>
      <p:sp>
        <p:nvSpPr>
          <p:cNvPr id="33" name="match-hex-label"/>
          <p:cNvSpPr txBox="1"/>
          <p:nvPr/>
        </p:nvSpPr>
        <p:spPr>
          <a:xfrm>
            <a:off x="5020395"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468451" y="3960242"/>
            <a:ext cx="5872853"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resistance decreases as temperature increases</a:t>
            </a:r>
            <a:endParaRPr lang="en-US" sz="2000" dirty="0"/>
          </a:p>
        </p:txBody>
      </p:sp>
      <p:sp>
        <p:nvSpPr>
          <p:cNvPr id="35" name="match-card"/>
          <p:cNvSpPr/>
          <p:nvPr/>
        </p:nvSpPr>
        <p:spPr>
          <a:xfrm>
            <a:off x="777240" y="4561417"/>
            <a:ext cx="3804243" cy="799295"/>
          </a:xfrm>
          <a:prstGeom prst="roundRect">
            <a:avLst>
              <a:gd name="adj" fmla="val 9152"/>
            </a:avLst>
          </a:prstGeom>
          <a:solidFill>
            <a:srgbClr val="E6EFEF"/>
          </a:solidFill>
          <a:ln/>
        </p:spPr>
      </p:sp>
      <p:sp>
        <p:nvSpPr>
          <p:cNvPr id="36" name="match-hex"/>
          <p:cNvSpPr/>
          <p:nvPr/>
        </p:nvSpPr>
        <p:spPr>
          <a:xfrm>
            <a:off x="850392" y="4794772"/>
            <a:ext cx="384048" cy="332586"/>
          </a:xfrm>
          <a:prstGeom prst="hexagon">
            <a:avLst/>
          </a:prstGeom>
          <a:solidFill>
            <a:srgbClr val="1F6F6A"/>
          </a:solidFill>
          <a:ln/>
        </p:spPr>
      </p:sp>
      <p:sp>
        <p:nvSpPr>
          <p:cNvPr id="37" name="match-hex-label"/>
          <p:cNvSpPr txBox="1"/>
          <p:nvPr/>
        </p:nvSpPr>
        <p:spPr>
          <a:xfrm>
            <a:off x="850392"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61417"/>
            <a:ext cx="3209883"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thermistor</a:t>
            </a:r>
            <a:endParaRPr lang="en-US" sz="2000" dirty="0"/>
          </a:p>
        </p:txBody>
      </p:sp>
      <p:sp>
        <p:nvSpPr>
          <p:cNvPr id="39" name="match-card"/>
          <p:cNvSpPr/>
          <p:nvPr/>
        </p:nvSpPr>
        <p:spPr>
          <a:xfrm>
            <a:off x="4947243" y="4561417"/>
            <a:ext cx="6467213" cy="799295"/>
          </a:xfrm>
          <a:prstGeom prst="roundRect">
            <a:avLst>
              <a:gd name="adj" fmla="val 9152"/>
            </a:avLst>
          </a:prstGeom>
          <a:solidFill>
            <a:srgbClr val="F4EDDF"/>
          </a:solidFill>
          <a:ln/>
        </p:spPr>
      </p:sp>
      <p:sp>
        <p:nvSpPr>
          <p:cNvPr id="40" name="match-hex"/>
          <p:cNvSpPr/>
          <p:nvPr/>
        </p:nvSpPr>
        <p:spPr>
          <a:xfrm>
            <a:off x="5020395" y="4794772"/>
            <a:ext cx="384048" cy="332586"/>
          </a:xfrm>
          <a:prstGeom prst="hexagon">
            <a:avLst/>
          </a:prstGeom>
          <a:solidFill>
            <a:srgbClr val="B8862B"/>
          </a:solidFill>
          <a:ln/>
        </p:spPr>
      </p:sp>
      <p:sp>
        <p:nvSpPr>
          <p:cNvPr id="41" name="match-hex-label"/>
          <p:cNvSpPr txBox="1"/>
          <p:nvPr/>
        </p:nvSpPr>
        <p:spPr>
          <a:xfrm>
            <a:off x="5020395"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468451" y="4561417"/>
            <a:ext cx="5872853"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I–V graph curves over, getting flatter as the p.d. increases</a:t>
            </a:r>
            <a:endParaRPr lang="en-US" sz="2000" dirty="0"/>
          </a:p>
        </p:txBody>
      </p:sp>
      <p:sp>
        <p:nvSpPr>
          <p:cNvPr id="43" name="match-card"/>
          <p:cNvSpPr/>
          <p:nvPr/>
        </p:nvSpPr>
        <p:spPr>
          <a:xfrm>
            <a:off x="777240" y="5452153"/>
            <a:ext cx="3804243" cy="509735"/>
          </a:xfrm>
          <a:prstGeom prst="roundRect">
            <a:avLst>
              <a:gd name="adj" fmla="val 14351"/>
            </a:avLst>
          </a:prstGeom>
          <a:solidFill>
            <a:srgbClr val="E6EFEF"/>
          </a:solidFill>
          <a:ln/>
        </p:spPr>
      </p:sp>
      <p:sp>
        <p:nvSpPr>
          <p:cNvPr id="44" name="match-hex"/>
          <p:cNvSpPr/>
          <p:nvPr/>
        </p:nvSpPr>
        <p:spPr>
          <a:xfrm>
            <a:off x="850392" y="5540728"/>
            <a:ext cx="384048" cy="332586"/>
          </a:xfrm>
          <a:prstGeom prst="hexagon">
            <a:avLst/>
          </a:prstGeom>
          <a:solidFill>
            <a:srgbClr val="1F6F6A"/>
          </a:solidFill>
          <a:ln/>
        </p:spPr>
      </p:sp>
      <p:sp>
        <p:nvSpPr>
          <p:cNvPr id="45" name="match-hex-label"/>
          <p:cNvSpPr txBox="1"/>
          <p:nvPr/>
        </p:nvSpPr>
        <p:spPr>
          <a:xfrm>
            <a:off x="850392"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52153"/>
            <a:ext cx="3209883"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LDR</a:t>
            </a:r>
            <a:endParaRPr lang="en-US" sz="2000" dirty="0"/>
          </a:p>
        </p:txBody>
      </p:sp>
      <p:sp>
        <p:nvSpPr>
          <p:cNvPr id="47" name="match-card"/>
          <p:cNvSpPr/>
          <p:nvPr/>
        </p:nvSpPr>
        <p:spPr>
          <a:xfrm>
            <a:off x="4947243" y="5452153"/>
            <a:ext cx="6467213" cy="509735"/>
          </a:xfrm>
          <a:prstGeom prst="roundRect">
            <a:avLst>
              <a:gd name="adj" fmla="val 14351"/>
            </a:avLst>
          </a:prstGeom>
          <a:solidFill>
            <a:srgbClr val="F4EDDF"/>
          </a:solidFill>
          <a:ln/>
        </p:spPr>
      </p:sp>
      <p:sp>
        <p:nvSpPr>
          <p:cNvPr id="48" name="match-hex"/>
          <p:cNvSpPr/>
          <p:nvPr/>
        </p:nvSpPr>
        <p:spPr>
          <a:xfrm>
            <a:off x="5020395" y="5540728"/>
            <a:ext cx="384048" cy="332586"/>
          </a:xfrm>
          <a:prstGeom prst="hexagon">
            <a:avLst/>
          </a:prstGeom>
          <a:solidFill>
            <a:srgbClr val="B8862B"/>
          </a:solidFill>
          <a:ln/>
        </p:spPr>
      </p:sp>
      <p:sp>
        <p:nvSpPr>
          <p:cNvPr id="49" name="match-hex-label"/>
          <p:cNvSpPr txBox="1"/>
          <p:nvPr/>
        </p:nvSpPr>
        <p:spPr>
          <a:xfrm>
            <a:off x="5020395"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5468451" y="5452153"/>
            <a:ext cx="5872853"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current flows in one direction only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Same task, three ways in: Match the component to its behaviour</a:t>
            </a:r>
            <a:endParaRPr lang="en-US" sz="24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component to its behaviour.</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one you are surest of: the diode is the one-way component.</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two sensors are named for what they sense: thermistor (thermal = heat), LDR (light).</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graphs left, the resistor is the straight one and the lamp is the curve.</a:t>
            </a:r>
            <a:endParaRPr lang="en-US" sz="1800" dirty="0"/>
          </a:p>
        </p:txBody>
      </p:sp>
      <p:sp>
        <p:nvSpPr>
          <p:cNvPr id="17" name="col-Core"/>
          <p:cNvSpPr/>
          <p:nvPr/>
        </p:nvSpPr>
        <p:spPr>
          <a:xfrm>
            <a:off x="4338218" y="2578608"/>
            <a:ext cx="3515258" cy="3566160"/>
          </a:xfrm>
          <a:prstGeom prst="roundRect">
            <a:avLst>
              <a:gd name="adj" fmla="val 1561"/>
            </a:avLst>
          </a:prstGeom>
          <a:solidFill>
            <a:srgbClr val="C7DBDA"/>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of these are sensors; one is a one-way valve; one gets hot.</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1F6F6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Sketch the I–V graph for a diode, including negative p.d. values, and label where its resistance is high and where it is low.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Same task, three ways in: Why does a lamp's resistance rise?</a:t>
            </a:r>
            <a:endParaRPr lang="en-US" sz="24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why the resistance of a filament lamp increases as the potential difference across it increases.</a:t>
            </a:r>
            <a:endParaRPr lang="en-US" sz="2000" dirty="0"/>
          </a:p>
          <a:p>
            <a:pPr algn="ctr" indent="0" marL="0">
              <a:buNone/>
            </a:pPr>
            <a:r>
              <a:rPr lang="en-US" sz="1800" dirty="0">
                <a:solidFill>
                  <a:srgbClr val="4A505C"/>
                </a:solidFill>
                <a:latin typeface="Calibri" pitchFamily="34" charset="0"/>
                <a:ea typeface="Calibri" pitchFamily="34" charset="-122"/>
                <a:cs typeface="Calibri" pitchFamily="34" charset="-120"/>
              </a:rPr>
              <a:t>4 marks · Write in full sentences</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Link p.d. to current: more push, more current.</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Link current to temperature: the filament heats up.</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Link temperature to ions and collisions, then to resistance.</a:t>
            </a:r>
            <a:endParaRPr lang="en-US" sz="18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Use a chain: p.d., current, temperature, ions, collisions, resistance.</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filament lamp is called non-ohmic, and why a resistor kept in cold water during an experiment behaves differently.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On a filament lamp's I–V graph, the current is 0.40 A when the p.d. is 6.0 V. Calculate the resistance of the lamp at this point, in ohms.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(Ω):</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Answers: Match the component to its behaviour</a:t>
            </a:r>
            <a:endParaRPr lang="en-US" sz="30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resistor at constant temperature  →  A  straight-line I–V graph through the origin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filament lamp  →  D  I–V graph curves over, getting flatter as the p.d. increases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diode  →  E  current flows in one direction only</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thermistor  →  C  resistance decreases as temperature increases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LDR  →  B  resistance decreases as light gets brighter</a:t>
            </a:r>
            <a:endParaRPr lang="en-US" sz="22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ohmic resistor gives a straight line; filament lamp = curve as it heats; diode = one way; thermistor = falls with heat; LDR = falls with light.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Why does a lamp's resistance rise?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1083056"/>
          </a:xfrm>
          <a:prstGeom prst="roundRect">
            <a:avLst>
              <a:gd name="adj" fmla="val 8443"/>
            </a:avLst>
          </a:prstGeom>
          <a:solidFill>
            <a:srgbClr val="E6EFEF"/>
          </a:solidFill>
          <a:ln/>
        </p:spPr>
      </p:sp>
      <p:sp>
        <p:nvSpPr>
          <p:cNvPr id="9" name="tickbox"/>
          <p:cNvSpPr/>
          <p:nvPr/>
        </p:nvSpPr>
        <p:spPr>
          <a:xfrm>
            <a:off x="713232" y="2379472"/>
            <a:ext cx="292608" cy="292608"/>
          </a:xfrm>
          <a:prstGeom prst="rect">
            <a:avLst/>
          </a:prstGeom>
          <a:solidFill>
            <a:srgbClr val="FFFFFF"/>
          </a:solidFill>
          <a:ln w="19050">
            <a:solidFill>
              <a:srgbClr val="1F6F6A"/>
            </a:solidFill>
            <a:prstDash val="solid"/>
          </a:ln>
        </p:spPr>
      </p:sp>
      <p:sp>
        <p:nvSpPr>
          <p:cNvPr id="10" name="crit"/>
          <p:cNvSpPr txBox="1"/>
          <p:nvPr/>
        </p:nvSpPr>
        <p:spPr>
          <a:xfrm>
            <a:off x="1143000" y="1984248"/>
            <a:ext cx="4709160"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bigger p.d. gives a bigger current through the filament.</a:t>
            </a:r>
            <a:endParaRPr lang="en-US" sz="2200" dirty="0"/>
          </a:p>
        </p:txBody>
      </p:sp>
      <p:sp>
        <p:nvSpPr>
          <p:cNvPr id="11" name="crit-box"/>
          <p:cNvSpPr/>
          <p:nvPr/>
        </p:nvSpPr>
        <p:spPr>
          <a:xfrm>
            <a:off x="548640" y="3158744"/>
            <a:ext cx="5486400" cy="742188"/>
          </a:xfrm>
          <a:prstGeom prst="roundRect">
            <a:avLst>
              <a:gd name="adj" fmla="val 12320"/>
            </a:avLst>
          </a:prstGeom>
          <a:solidFill>
            <a:srgbClr val="E6EFEF"/>
          </a:solidFill>
          <a:ln/>
        </p:spPr>
      </p:sp>
      <p:sp>
        <p:nvSpPr>
          <p:cNvPr id="12" name="tickbox"/>
          <p:cNvSpPr/>
          <p:nvPr/>
        </p:nvSpPr>
        <p:spPr>
          <a:xfrm>
            <a:off x="713232" y="3383534"/>
            <a:ext cx="292608" cy="292608"/>
          </a:xfrm>
          <a:prstGeom prst="rect">
            <a:avLst/>
          </a:prstGeom>
          <a:solidFill>
            <a:srgbClr val="FFFFFF"/>
          </a:solidFill>
          <a:ln w="19050">
            <a:solidFill>
              <a:srgbClr val="1F6F6A"/>
            </a:solidFill>
            <a:prstDash val="solid"/>
          </a:ln>
        </p:spPr>
      </p:sp>
      <p:sp>
        <p:nvSpPr>
          <p:cNvPr id="13" name="crit"/>
          <p:cNvSpPr txBox="1"/>
          <p:nvPr/>
        </p:nvSpPr>
        <p:spPr>
          <a:xfrm>
            <a:off x="1143000" y="3158744"/>
            <a:ext cx="4709160"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filament gets hotter.</a:t>
            </a:r>
            <a:endParaRPr lang="en-US" sz="2200" dirty="0"/>
          </a:p>
        </p:txBody>
      </p:sp>
      <p:sp>
        <p:nvSpPr>
          <p:cNvPr id="14" name="crit-box"/>
          <p:cNvSpPr/>
          <p:nvPr/>
        </p:nvSpPr>
        <p:spPr>
          <a:xfrm>
            <a:off x="548640" y="3992372"/>
            <a:ext cx="5486400" cy="742188"/>
          </a:xfrm>
          <a:prstGeom prst="roundRect">
            <a:avLst>
              <a:gd name="adj" fmla="val 12320"/>
            </a:avLst>
          </a:prstGeom>
          <a:solidFill>
            <a:srgbClr val="E6EFEF"/>
          </a:solidFill>
          <a:ln/>
        </p:spPr>
      </p:sp>
      <p:sp>
        <p:nvSpPr>
          <p:cNvPr id="15" name="tickbox"/>
          <p:cNvSpPr/>
          <p:nvPr/>
        </p:nvSpPr>
        <p:spPr>
          <a:xfrm>
            <a:off x="713232" y="4217162"/>
            <a:ext cx="292608" cy="292608"/>
          </a:xfrm>
          <a:prstGeom prst="rect">
            <a:avLst/>
          </a:prstGeom>
          <a:solidFill>
            <a:srgbClr val="FFFFFF"/>
          </a:solidFill>
          <a:ln w="19050">
            <a:solidFill>
              <a:srgbClr val="1F6F6A"/>
            </a:solidFill>
            <a:prstDash val="solid"/>
          </a:ln>
        </p:spPr>
      </p:sp>
      <p:sp>
        <p:nvSpPr>
          <p:cNvPr id="16" name="crit"/>
          <p:cNvSpPr txBox="1"/>
          <p:nvPr/>
        </p:nvSpPr>
        <p:spPr>
          <a:xfrm>
            <a:off x="1143000" y="3992372"/>
            <a:ext cx="4709160"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metal ions vibrate more.</a:t>
            </a:r>
            <a:endParaRPr lang="en-US" sz="2200" dirty="0"/>
          </a:p>
        </p:txBody>
      </p:sp>
      <p:sp>
        <p:nvSpPr>
          <p:cNvPr id="17" name="crit-box"/>
          <p:cNvSpPr/>
          <p:nvPr/>
        </p:nvSpPr>
        <p:spPr>
          <a:xfrm>
            <a:off x="548640" y="4826000"/>
            <a:ext cx="5486400" cy="1083056"/>
          </a:xfrm>
          <a:prstGeom prst="roundRect">
            <a:avLst>
              <a:gd name="adj" fmla="val 8443"/>
            </a:avLst>
          </a:prstGeom>
          <a:solidFill>
            <a:srgbClr val="E6EFEF"/>
          </a:solidFill>
          <a:ln/>
        </p:spPr>
      </p:sp>
      <p:sp>
        <p:nvSpPr>
          <p:cNvPr id="18" name="tickbox"/>
          <p:cNvSpPr/>
          <p:nvPr/>
        </p:nvSpPr>
        <p:spPr>
          <a:xfrm>
            <a:off x="713232" y="5221224"/>
            <a:ext cx="292608" cy="292608"/>
          </a:xfrm>
          <a:prstGeom prst="rect">
            <a:avLst/>
          </a:prstGeom>
          <a:solidFill>
            <a:srgbClr val="FFFFFF"/>
          </a:solidFill>
          <a:ln w="19050">
            <a:solidFill>
              <a:srgbClr val="1F6F6A"/>
            </a:solidFill>
            <a:prstDash val="solid"/>
          </a:ln>
        </p:spPr>
      </p:sp>
      <p:sp>
        <p:nvSpPr>
          <p:cNvPr id="19" name="crit"/>
          <p:cNvSpPr txBox="1"/>
          <p:nvPr/>
        </p:nvSpPr>
        <p:spPr>
          <a:xfrm>
            <a:off x="1143000" y="4826000"/>
            <a:ext cx="4709160"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Electrons collide with the ions more often, so the resistance increases.</a:t>
            </a:r>
            <a:endParaRPr lang="en-US" sz="2200" dirty="0"/>
          </a:p>
        </p:txBody>
      </p:sp>
      <p:sp>
        <p:nvSpPr>
          <p:cNvPr id="20" name="model-panel"/>
          <p:cNvSpPr/>
          <p:nvPr/>
        </p:nvSpPr>
        <p:spPr>
          <a:xfrm>
            <a:off x="6309360" y="1389888"/>
            <a:ext cx="5333695" cy="4754880"/>
          </a:xfrm>
          <a:prstGeom prst="roundRect">
            <a:avLst>
              <a:gd name="adj" fmla="val 962"/>
            </a:avLst>
          </a:prstGeom>
          <a:solidFill>
            <a:srgbClr val="F4EDDF"/>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As the potential difference increases, the current through the filament increases, so more energy is transferred to it and it gets hotter. In a hotter metal the ions vibrate more, so the electrons flowing through collide with them more often. More collisions mean the filament opposes the current more, so its resistance increases.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a filament lamp's I–V graph, the current is 0.40 A when the p.d. is 6.0 V. Calculate the resistance of the lamp at this point, in ohms.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15 Ω</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 = V ÷ I = 6.0 ÷ 0.40 = 15 Ω. It is higher than at lower p.d. because the filament is hotter.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 Chapter 4: Component characteristics: I–V graphs</dc:title>
  <dc:subject>Combined Science (Physics) · Year 10</dc:subject>
  <dc:creator>Dr Vitor Merissi de Carvalho</dc:creator>
  <cp:lastModifiedBy>Dr Vitor Merissi de Carvalho</cp:lastModifiedBy>
  <cp:revision>1</cp:revision>
  <dcterms:created xsi:type="dcterms:W3CDTF">2026-10-19T06:07:20Z</dcterms:created>
  <dcterms:modified xsi:type="dcterms:W3CDTF">2026-10-19T06:07:20Z</dcterms:modified>
</cp:coreProperties>
</file>