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bc24c6fa-8c4c-21eb-6558-4178f5e65c25}">
          <p14:sldIdLst>
            <p14:sldId id="256"/>
          </p14:sldIdLst>
        </p14:section>
        <p14:section name="Gate" id="{b4e61d27-28f8-fb91-5f35-7230249b9c33}">
          <p14:sldIdLst>
            <p14:sldId id="257"/>
            <p14:sldId id="258"/>
          </p14:sldIdLst>
        </p14:section>
        <p14:section name="Pre-teach" id="{c5090899-8409-618c-8728-d3312cbc3fba}">
          <p14:sldIdLst>
            <p14:sldId id="259"/>
            <p14:sldId id="260"/>
          </p14:sldIdLst>
        </p14:section>
        <p14:section name="Read-along" id="{65fb9cf0-27aa-5747-2804-a03fd16dd3d4}">
          <p14:sldIdLst>
            <p14:sldId id="261"/>
            <p14:sldId id="262"/>
          </p14:sldIdLst>
        </p14:section>
        <p14:section name="Teach" id="{8a664b66-8590-cd62-2714-ab7d04e39f25}">
          <p14:sldIdLst>
            <p14:sldId id="263"/>
            <p14:sldId id="264"/>
            <p14:sldId id="265"/>
            <p14:sldId id="266"/>
          </p14:sldIdLst>
        </p14:section>
        <p14:section name="Routes" id="{31d57922-43b2-70f1-5036-6645072acd02}">
          <p14:sldIdLst>
            <p14:sldId id="267"/>
            <p14:sldId id="268"/>
            <p14:sldId id="269"/>
            <p14:sldId id="270"/>
          </p14:sldIdLst>
        </p14:section>
        <p14:section name="Close" id="{37e8d6b7-0e0f-0f69-d7ef-c31eb3fdd5dc}">
          <p14:sldIdLst>
            <p14:sldId id="271"/>
          </p14:sldIdLst>
        </p14:section>
        <p14:section name="Answers" id="{9749ea69-c9d7-4390-3fd7-d8e51f5cb6d6}">
          <p14:sldIdLst>
            <p14:sldId id="272"/>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2 of 6: The Triangular Trade and Britain's part in it. The three legs of the Triangular Trade Route, what each leg carried, the march to the coast, and how British ports grew rich.
This deck covers the department's lesson: 2 (The Middle Passage: What was the Triangular Trade Route, and what were conditions like on the Middle Passage?).
Read the big question aloud: "How did the Transatlantic Slave Trade work, what did it do to people, and why was it finally abolished?"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The second leg of the triangle, from West Africa to the Americas, was called the ___.  →  Middle Passage
2. What did ships carry on the outward journey from Europe to West Africa?  →  D   Guns, cloth and other manufactured goods
3. Which British port sent the most slave-trading voyages?  →  B   Liverpool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Middle Passage. The Middle Passage is the second leg, on which enslaved people were carried from West Africa to the Americas.
2. D   Guns, cloth and other manufactured goods. Ships left Europe with manufactured goods, especially guns and cloth, to trade for enslaved people on the African coast.
3. B   Liverpool. Liverpool sent about 5,300 voyages, far more than London's 3,100.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Triangular Trade Route: the three-sided route of the Slave Trade across the Atlantic. Example: "The Triangular Trade Route linked Europe, West Africa and the Americas."
• outward journey: the first leg, from Europe to West Africa. Example: "On the outward journey the ships carried guns, cloth and manufactured goods."
• Middle Passage: the second leg, from West Africa to the Americas. Example: "Enslaved people were carried across the ocean on the Middle Passage."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return voyage: the third leg, from the Americas back to Europe. Example: "Sugar, cotton and tobacco came home on the return voyage."
• port: a town by the sea where ships load and unload. Example: "Liverpool became the busiest slave-trading port in Britain."
• profit: the money left over after the costs of a voyage were paid. Example: "The profit from one voyage paid for the next."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1–6 of 12:
1. The Slave Trade worked as a triangle across the Atlantic Ocean.
2. Ships left Europe on the outward journey.
3. They carried guns, cloth and manufactured goods to West Africa.
4. There the goods were traded for enslaved people.
5. The second leg was the Middle Passage, from West Africa to the Americas.
6. Enslaved people were sold there.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7–12 of 12:
7. The ships then sailed home on the return voyage.
8. They carried sugar, cotton, tobacco and coffee from the plantations.
9. The profit paid for the next voyage.
10. British ports such as Liverpool and London sent thousands of voyages.
11. Ship building gave people in those cities work.
12. So many British people gained from the trade without ever seeing it.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Three legs of a triangle. Say it in your own words, then check understanding with a quick question: ask a pupil from the pre-teach group first, since they met these words and ideas before the lesson. Pupils try to recall before you re-explain.
The Triangular Trade Route is the name given to the three-sided journey of a slave ship. On the outward journey, a ship sailed from Europe to West Africa carrying guns, cloth and other manufactured goods. At the coast these were traded for enslaved people.
On the Middle Passage, the second leg, the ship carried the enslaved people from West Africa to the Americas, where they were sold. On the return voyage, the third leg, the ship carried the goods the enslaved people had made on the plantations, such as sugar, cotton, tobacco and coffee, back to Europe.
The money from selling those goods bought more manufactured goods, and the triangle began again. Every leg made a profit for the ship's owners.
Worked example — model it step by step, thinking aloud: A ship is carrying barrels of tobacco. Which leg of the triangle is it on, and where is it going? (1) Ask where tobacco was grown: on plantations in the Americas. (2) So the ship must have loaded it in the Americas. (3) Goods from the Americas travelled on the third leg, back to Europe. (4) Answer: the return voyage, from the Americas to Europe. Answer: The return voyage: it is carrying a plantation crop from the Americas to Europe..
Tip: Guns go out, people go across, sugar comes back. Say the three legs out loud until the order is automatic.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Three legs of a triangle. Say it in your own words, then check understanding with a quick question: ask a pupil from the pre-teach group first, since they met these words and ideas before the lesson. Pupils try to recall before you re-explain.
The Triangular Trade Route is the name given to the three-sided journey of a slave ship. On the outward journey, a ship sailed from Europe to West Africa carrying guns, cloth and other manufactured goods. At the coast these were traded for enslaved people.
On the Middle Passage, the second leg, the ship carried the enslaved people from West Africa to the Americas, where they were sold. On the return voyage, the third leg, the ship carried the goods the enslaved people had made on the plantations, such as sugar, cotton, tobacco and coffee, back to Europe.
The money from selling those goods bought more manufactured goods, and the triangle began again. Every leg made a profit for the ship's owners.
Worked example — model it step by step, thinking aloud: A ship is carrying barrels of tobacco. Which leg of the triangle is it on, and where is it going? (1) Ask where tobacco was grown: on plantations in the Americas. (2) So the ship must have loaded it in the Americas. (3) Goods from the Americas travelled on the third leg, back to Europe. (4) Answer: the return voyage, from the Americas to Europe. Answer: The return voyage: it is carrying a plantation crop from the Americas to Europe..
Tip: Guns go out, people go across, sugar comes back. Say the three legs out loud until the order is automatic.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march to the coast. Say it in your own words, then check understanding with a quick question: ask a pupil from the pre-teach group first, since they met these words and ideas before the lesson. Pupils try to recall before you re-explain.
Before any ship was involved, captured people were marched to the coast of Africa. The journey could be more than 300 miles, about the distance from London to Scotland, on foot, in chains, with weights to stop people escaping. Between 10 and 15 per cent of those captured died on the way.
Whydah was one of the largest slave-trading ports in West Africa. Historians estimate that in the 1700s more than a million enslaved people passed through it. The traffickers generally did not go inland; people were brought to Whydah from neighbouring kingdoms and held in cramped conditions in forts built by French, English and Portuguese traders.
Every one of those people had a name, a language and a family. Many were farmers, parents or children. Remember this when the numbers get large: each number is a person who was taken.
Tip: When a source describes the march or the port, pick out three details and ask what each one tells you about how captured people were treated.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Britain's role. Say it in your own words, then check understanding with a quick question: ask a pupil from the pre-teach group first, since they met these words and ideas before the lesson. Pupils try to recall before you re-explain.
Britain was one of the biggest slave-trading nations. Your lesson gives Liverpool about 5,300 slave-trading voyages and London about 3,100. British shipping cities became very rich, because the trade boosted every business around it: ship building, rope making, sail making, banking and insurance.
Ship building in ports such as Liverpool became a booming industry that supported thousands of jobs. More slave ships meant more money, and more money meant more investment in ships, warehouses and docks. The Triangular Trade helped European empires grow their economies and expand.
This matters for the abolition story later. Many British people who never saw an enslaved person still earned their living from the trade, which is one reason it was so hard to end.
Tip: If a question asks how Britain benefited, think of the workers in Liverpool and London, not only the ship owners.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What travelled on each leg.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part of the triangle to what happened on it.
Support — work through the steps with the group: (1) Start with the leg you know best: the Middle Passage carried people. (2) Guns and cloth were made in Europe, so they travel away from Europe. (3) Sugar, cotton and tobacco were grown in the Americas, so they travel from there. (4) The profit is what links the end of one triangle to the start of the next.
Parallel worked example for Support (model it, do not give the task answer): Match: a delivery van's morning run and evening run. Choices: carries parcels from the depot to houses; carries empty crates back to the depot. Parcels start at the depot, so the morning run takes them out.; Empty crates come back, so that is the evening run.. Answer: Morning run: parcels from the depot to houses. Evening run: empty crates back to the depot..
Core — reveal the hint only on request: Think about where each cargo was produced. Goods travel away from the place that made them.
Stretch — no help; when finished: Explain why the triangle made a profit on all three legs, and why that made it so attractive to investors in Liverpool and London.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What travelled on each leg.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part of the triangle to what happened on it.
Support — work through the steps with the group: (1) Start with the leg you know best: the Middle Passage carried people. (2) Guns and cloth were made in Europe, so they travel away from Europe. (3) Sugar, cotton and tobacco were grown in the Americas, so they travel from there. (4) The profit is what links the end of one triangle to the start of the next.
Parallel worked example for Support (model it, do not give the task answer): Match: a delivery van's morning run and evening run. Choices: carries parcels from the depot to houses; carries empty crates back to the depot. Parcels start at the depot, so the morning run takes them out.; Empty crates come back, so that is the evening run.. Answer: Morning run: parcels from the depot to houses. Evening run: empty crates back to the depot..
Core — reveal the hint only on request: Think about where each cargo was produced. Goods travel away from the place that made them.
Stretch — no help; when finished: Explain why the triangle made a profit on all three legs, and why that made it so attractive to investors in Liverpool and London.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Which leg is this?.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ship is carrying barrels of sugar from a plantation in Jamaica. Which leg of the Triangular Trade is it on?
Support — work through the steps with the group: (1) Ask where this cargo was grown or made. (2) Plantation crops were grown in the Americas. (3) Cargo leaves the place that produced it, so the ship is leaving the Americas. (4) The leg that leaves the Americas is the return voyage to Europe.
Parallel worked example for Support (model it, do not give the task answer): A ship is carrying muskets made in Birmingham. Which leg is it on? Muskets were made in Europe.; Cargo leaves the place that made it, so the ship is leaving Europe.; The leg that leaves Europe is the outward journey to West Africa.. Answer: The outward journey..
Core — reveal the hint only on request: Where was this cargo produced? The ship is leaving that place.
Stretch — no help; when finished: Explain why enslaved people could never be on the outward or return legs, and what that tells you about how the traders thought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Which leg is this?.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ship is carrying barrels of sugar from a plantation in Jamaica. Which leg of the Triangular Trade is it on?
Support — work through the steps with the group: (1) Ask where this cargo was grown or made. (2) Plantation crops were grown in the Americas. (3) Cargo leaves the place that produced it, so the ship is leaving the Americas. (4) The leg that leaves the Americas is the return voyage to Europe.
Parallel worked example for Support (model it, do not give the task answer): A ship is carrying muskets made in Birmingham. Which leg is it on? Muskets were made in Europe.; Cargo leaves the place that made it, so the ship is leaving Europe.; The leg that leaves Europe is the outward journey to West Africa.. Answer: The outward journey..
Core — reveal the hint only on request: Where was this cargo produced? The ship is leaving that place.
Stretch — no help; when finished: Explain why enslaved people could never be on the outward or return legs, and what that tells you about how the traders thought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The second leg of the triangle, from West Africa to the Americas, was called the ___.
Answer: The second leg of the triangle, from West Africa to the Americas, was called the Middle Passage.. The Middle Passage is the second leg, on which enslaved people were carried from West Africa to the Americas.
Source of this question: gate item 1 re-asked (options rotated) — this chapter has no third quick-check module.
The ebook also holds task 3, "How Liverpool gained",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What travelled on each leg. Reveal the answer; pupils mark their own work in a different colour, then read the "why" together. Same destination for every lane, so one answer serves the whole class.
Answer: Outward journey  →  B  Europe to West Africa, carrying guns, cloth and manufactured goods; Middle Passage  →  A  West Africa to the Americas, carrying enslaved people; Return voyage  →  C  The Americas to Europe, carrying sugar, cotton, tobacco and coffee; Profit from the return voyage  →  D  Used to buy more goods for the next outward journey
Why: Manufactured goods went out from Europe; enslaved people were carried across on the Middle Passage; plantation crops came back to Europe; and the profit started the next voyage.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Which leg is this?. Reveal the answer; pupils mark their own work in a different colour, then read the "why" together. Same destination for every lane, so one answer serves the whole class.
Answer: A   The return voyage
Why: Plantation crops were produced in the Americas and travelled to Europe, so sugar, cotton, tobacco and coffee always belong to the return voyage.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The second leg of the triangle, from West Africa to the Americas, was called the Middle Passage.
Why: The Middle Passage is the second leg, on which enslaved people were carried from West Africa to the Americas.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EE8E3"/>
          </a:solidFill>
          <a:ln w="12700">
            <a:solidFill>
              <a:srgbClr val="EEE8E3"/>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8 · The Slave Trade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9F6F0"/>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EE8E3"/>
          </a:solidFill>
          <a:ln w="12700">
            <a:solidFill>
              <a:srgbClr val="EEE8E3"/>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8 · The Slave Trade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7A4A1E"/>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E6DED5"/>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7A4A1E"/>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2</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7A4A1E"/>
                </a:solidFill>
                <a:latin typeface="Calibri" pitchFamily="34" charset="0"/>
                <a:ea typeface="Calibri" pitchFamily="34" charset="-122"/>
                <a:cs typeface="Calibri" pitchFamily="34" charset="-120"/>
              </a:rPr>
              <a:t>History · Year 8</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2/6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The Slave Trade · AQA KS3 → 8145</a:t>
            </a:r>
            <a:endParaRPr lang="en-US" sz="1800" dirty="0"/>
          </a:p>
        </p:txBody>
      </p:sp>
      <p:sp>
        <p:nvSpPr>
          <p:cNvPr id="10" name="deck-title"/>
          <p:cNvSpPr txBox="1"/>
          <p:nvPr/>
        </p:nvSpPr>
        <p:spPr>
          <a:xfrm>
            <a:off x="548640" y="2459228"/>
            <a:ext cx="5287975" cy="1315720"/>
          </a:xfrm>
          <a:prstGeom prst="rect">
            <a:avLst/>
          </a:prstGeom>
          <a:noFill/>
          <a:ln/>
        </p:spPr>
        <p:txBody>
          <a:bodyPr wrap="square" lIns="63500" tIns="63500" rIns="63500" bIns="63500" rtlCol="0" anchor="t"/>
          <a:lstStyle/>
          <a:p>
            <a:pPr algn="l" indent="0" marL="0">
              <a:buNone/>
            </a:pPr>
            <a:r>
              <a:rPr lang="en-US" sz="3600" b="1" dirty="0">
                <a:solidFill>
                  <a:srgbClr val="1E2229"/>
                </a:solidFill>
                <a:latin typeface="Cambria" pitchFamily="34" charset="0"/>
                <a:ea typeface="Cambria" pitchFamily="34" charset="-122"/>
                <a:cs typeface="Cambria" pitchFamily="34" charset="-120"/>
              </a:rPr>
              <a:t>The Triangular Trade and Britain's part in it</a:t>
            </a:r>
            <a:endParaRPr lang="en-US" sz="3600" dirty="0"/>
          </a:p>
        </p:txBody>
      </p:sp>
      <p:sp>
        <p:nvSpPr>
          <p:cNvPr id="11" name="lessons-card"/>
          <p:cNvSpPr/>
          <p:nvPr/>
        </p:nvSpPr>
        <p:spPr>
          <a:xfrm>
            <a:off x="548640" y="4003548"/>
            <a:ext cx="5287975" cy="980440"/>
          </a:xfrm>
          <a:prstGeom prst="roundRect">
            <a:avLst>
              <a:gd name="adj" fmla="val 7461"/>
            </a:avLst>
          </a:prstGeom>
          <a:solidFill>
            <a:srgbClr val="F4F0EC"/>
          </a:solidFill>
          <a:ln/>
        </p:spPr>
      </p:sp>
      <p:sp>
        <p:nvSpPr>
          <p:cNvPr id="12" name="lessons"/>
          <p:cNvSpPr txBox="1"/>
          <p:nvPr/>
        </p:nvSpPr>
        <p:spPr>
          <a:xfrm>
            <a:off x="685800" y="4094988"/>
            <a:ext cx="5013655" cy="79756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7A4A1E"/>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2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The Middle Passage</a:t>
            </a:r>
            <a:endParaRPr lang="en-US" sz="2000" dirty="0"/>
          </a:p>
        </p:txBody>
      </p:sp>
      <p:sp>
        <p:nvSpPr>
          <p:cNvPr id="13" name="plate-frame"/>
          <p:cNvSpPr/>
          <p:nvPr/>
        </p:nvSpPr>
        <p:spPr>
          <a:xfrm>
            <a:off x="6248095" y="411480"/>
            <a:ext cx="5394960" cy="3130677"/>
          </a:xfrm>
          <a:prstGeom prst="rect">
            <a:avLst/>
          </a:prstGeom>
          <a:solidFill>
            <a:srgbClr val="F3EBDC"/>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History, Year 8">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F4F0EC"/>
          </a:solidFill>
          <a:ln w="12700">
            <a:solidFill>
              <a:srgbClr val="CCB9A8"/>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7A4A1E"/>
                </a:solidFill>
                <a:latin typeface="Calibri" pitchFamily="34" charset="0"/>
                <a:ea typeface="Calibri" pitchFamily="34" charset="-122"/>
                <a:cs typeface="Calibri" pitchFamily="34" charset="-120"/>
              </a:rPr>
              <a:t>Big question</a:t>
            </a:r>
            <a:endParaRPr lang="en-US" sz="1800" dirty="0"/>
          </a:p>
          <a:p>
            <a:pPr algn="l" indent="0" marL="0">
              <a:buNone/>
            </a:pPr>
            <a:r>
              <a:rPr lang="en-US" sz="2000" i="1" dirty="0">
                <a:solidFill>
                  <a:srgbClr val="1E2229"/>
                </a:solidFill>
                <a:latin typeface="Cambria" pitchFamily="34" charset="0"/>
                <a:ea typeface="Cambria" pitchFamily="34" charset="-122"/>
                <a:cs typeface="Cambria" pitchFamily="34" charset="-120"/>
              </a:rPr>
              <a:t>How did the Transatlantic Slave Trade work, what did it do to people, and why was it finally abolished?</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8F5F3"/>
          </a:solidFill>
          <a:ln w="12700">
            <a:solidFill>
              <a:srgbClr val="D2C2B4"/>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Fill the gap</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The second leg of the triangle, from West Africa to the Americas, was called the ___.</a:t>
            </a:r>
            <a:endParaRPr lang="en-US" sz="2400" dirty="0"/>
          </a:p>
          <a:p>
            <a:pPr algn="l" indent="0" marL="0">
              <a:buNone/>
            </a:pPr>
            <a:r>
              <a:rPr lang="en-US" sz="2400" b="1" dirty="0">
                <a:solidFill>
                  <a:srgbClr val="7A4A1E"/>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Middle Passage  ·  outward journey  ·  return voyage</a:t>
            </a:r>
            <a:endParaRPr lang="en-US" sz="2400" dirty="0"/>
          </a:p>
        </p:txBody>
      </p:sp>
      <p:sp>
        <p:nvSpPr>
          <p:cNvPr id="12" name="card"/>
          <p:cNvSpPr/>
          <p:nvPr/>
        </p:nvSpPr>
        <p:spPr>
          <a:xfrm>
            <a:off x="4338218" y="1389888"/>
            <a:ext cx="3515258" cy="4754880"/>
          </a:xfrm>
          <a:prstGeom prst="roundRect">
            <a:avLst>
              <a:gd name="adj" fmla="val 1561"/>
            </a:avLst>
          </a:prstGeom>
          <a:solidFill>
            <a:srgbClr val="F8F5F3"/>
          </a:solidFill>
          <a:ln w="12700">
            <a:solidFill>
              <a:srgbClr val="D2C2B4"/>
            </a:solidFill>
            <a:prstDash val="solid"/>
          </a:ln>
        </p:spPr>
      </p:sp>
      <p:sp>
        <p:nvSpPr>
          <p:cNvPr id="13" name="card-hex"/>
          <p:cNvSpPr/>
          <p:nvPr/>
        </p:nvSpPr>
        <p:spPr>
          <a:xfrm>
            <a:off x="4521098" y="1572768"/>
            <a:ext cx="640080" cy="554309"/>
          </a:xfrm>
          <a:prstGeom prst="hexagon">
            <a:avLst/>
          </a:prstGeom>
          <a:solidFill>
            <a:srgbClr val="7A4A1E"/>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Choose one</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1E2229"/>
                </a:solidFill>
                <a:latin typeface="Calibri" pitchFamily="34" charset="0"/>
                <a:ea typeface="Calibri" pitchFamily="34" charset="-122"/>
                <a:cs typeface="Calibri" pitchFamily="34" charset="-120"/>
              </a:rPr>
              <a:t>What did ships carry on the outward journey from Europe to West Africa?</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Gold and diamonds from India</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Sugar, cotton and tobacco</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Enslaved people</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Guns, cloth and other manufactured goods</a:t>
            </a:r>
            <a:endParaRPr lang="en-US" sz="2000" dirty="0"/>
          </a:p>
        </p:txBody>
      </p:sp>
      <p:sp>
        <p:nvSpPr>
          <p:cNvPr id="17" name="card"/>
          <p:cNvSpPr/>
          <p:nvPr/>
        </p:nvSpPr>
        <p:spPr>
          <a:xfrm>
            <a:off x="8127797" y="1389888"/>
            <a:ext cx="3515258" cy="4754880"/>
          </a:xfrm>
          <a:prstGeom prst="roundRect">
            <a:avLst>
              <a:gd name="adj" fmla="val 1561"/>
            </a:avLst>
          </a:prstGeom>
          <a:solidFill>
            <a:srgbClr val="F8F5F3"/>
          </a:solidFill>
          <a:ln w="12700">
            <a:solidFill>
              <a:srgbClr val="D2C2B4"/>
            </a:solidFill>
            <a:prstDash val="solid"/>
          </a:ln>
        </p:spPr>
      </p:sp>
      <p:sp>
        <p:nvSpPr>
          <p:cNvPr id="18" name="card-hex"/>
          <p:cNvSpPr/>
          <p:nvPr/>
        </p:nvSpPr>
        <p:spPr>
          <a:xfrm>
            <a:off x="8310677" y="1572768"/>
            <a:ext cx="640080" cy="554309"/>
          </a:xfrm>
          <a:prstGeom prst="hexagon">
            <a:avLst/>
          </a:prstGeom>
          <a:solidFill>
            <a:srgbClr val="7A4A1E"/>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Choose one</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Which British port sent the most slave-trading voyages?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Bristol</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Liverpool</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London</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Glasgow</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8F5F3"/>
          </a:solidFill>
          <a:ln w="12700">
            <a:solidFill>
              <a:srgbClr val="D2C2B4"/>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614172"/>
          </a:xfrm>
          <a:prstGeom prst="roundRect">
            <a:avLst>
              <a:gd name="adj" fmla="val 17866"/>
            </a:avLst>
          </a:prstGeom>
          <a:solidFill>
            <a:srgbClr val="EEE3CD"/>
          </a:solidFill>
          <a:ln w="19050">
            <a:solidFill>
              <a:srgbClr val="B8862B"/>
            </a:solidFill>
            <a:prstDash val="solid"/>
          </a:ln>
        </p:spPr>
      </p:sp>
      <p:sp>
        <p:nvSpPr>
          <p:cNvPr id="12" name="answer"/>
          <p:cNvSpPr txBox="1"/>
          <p:nvPr/>
        </p:nvSpPr>
        <p:spPr>
          <a:xfrm>
            <a:off x="822960"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Middle Passage</a:t>
            </a:r>
            <a:endParaRPr lang="en-US" sz="2200" dirty="0"/>
          </a:p>
        </p:txBody>
      </p:sp>
      <p:sp>
        <p:nvSpPr>
          <p:cNvPr id="13" name="card-body"/>
          <p:cNvSpPr txBox="1"/>
          <p:nvPr/>
        </p:nvSpPr>
        <p:spPr>
          <a:xfrm>
            <a:off x="731520"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The second leg of the triangle, from West Africa to the Americas, was called the ___.</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The Middle Passage is the second leg, on which enslaved people were carried from West Africa to the Americas.</a:t>
            </a:r>
            <a:endParaRPr lang="en-US" sz="1800" dirty="0"/>
          </a:p>
        </p:txBody>
      </p:sp>
      <p:sp>
        <p:nvSpPr>
          <p:cNvPr id="14" name="card"/>
          <p:cNvSpPr/>
          <p:nvPr/>
        </p:nvSpPr>
        <p:spPr>
          <a:xfrm>
            <a:off x="4338218" y="1389888"/>
            <a:ext cx="3515258" cy="4754880"/>
          </a:xfrm>
          <a:prstGeom prst="roundRect">
            <a:avLst>
              <a:gd name="adj" fmla="val 1561"/>
            </a:avLst>
          </a:prstGeom>
          <a:solidFill>
            <a:srgbClr val="F8F5F3"/>
          </a:solidFill>
          <a:ln w="12700">
            <a:solidFill>
              <a:srgbClr val="D2C2B4"/>
            </a:solidFill>
            <a:prstDash val="solid"/>
          </a:ln>
        </p:spPr>
      </p:sp>
      <p:sp>
        <p:nvSpPr>
          <p:cNvPr id="15" name="card-hex"/>
          <p:cNvSpPr/>
          <p:nvPr/>
        </p:nvSpPr>
        <p:spPr>
          <a:xfrm>
            <a:off x="4521098" y="1572768"/>
            <a:ext cx="640080" cy="554309"/>
          </a:xfrm>
          <a:prstGeom prst="hexagon">
            <a:avLst/>
          </a:prstGeom>
          <a:solidFill>
            <a:srgbClr val="7A4A1E"/>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1295908"/>
          </a:xfrm>
          <a:prstGeom prst="roundRect">
            <a:avLst>
              <a:gd name="adj" fmla="val 8467"/>
            </a:avLst>
          </a:prstGeom>
          <a:solidFill>
            <a:srgbClr val="EEE3CD"/>
          </a:solidFill>
          <a:ln w="19050">
            <a:solidFill>
              <a:srgbClr val="B8862B"/>
            </a:solidFill>
            <a:prstDash val="solid"/>
          </a:ln>
        </p:spPr>
      </p:sp>
      <p:sp>
        <p:nvSpPr>
          <p:cNvPr id="19" name="answer"/>
          <p:cNvSpPr txBox="1"/>
          <p:nvPr/>
        </p:nvSpPr>
        <p:spPr>
          <a:xfrm>
            <a:off x="4612538" y="2428829"/>
            <a:ext cx="2966618" cy="1149604"/>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D   Guns, cloth and other manufactured goods</a:t>
            </a:r>
            <a:endParaRPr lang="en-US" sz="2200" dirty="0"/>
          </a:p>
        </p:txBody>
      </p:sp>
      <p:sp>
        <p:nvSpPr>
          <p:cNvPr id="20" name="card-body"/>
          <p:cNvSpPr txBox="1"/>
          <p:nvPr/>
        </p:nvSpPr>
        <p:spPr>
          <a:xfrm>
            <a:off x="4521098" y="3834465"/>
            <a:ext cx="3149498" cy="2173143"/>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Ships left Europe with manufactured goods, especially guns and cloth, to trade for enslaved people on the African coast.</a:t>
            </a:r>
            <a:endParaRPr lang="en-US" sz="1800" dirty="0"/>
          </a:p>
        </p:txBody>
      </p:sp>
      <p:sp>
        <p:nvSpPr>
          <p:cNvPr id="21" name="card"/>
          <p:cNvSpPr/>
          <p:nvPr/>
        </p:nvSpPr>
        <p:spPr>
          <a:xfrm>
            <a:off x="8127797" y="1389888"/>
            <a:ext cx="3515258" cy="4754880"/>
          </a:xfrm>
          <a:prstGeom prst="roundRect">
            <a:avLst>
              <a:gd name="adj" fmla="val 1561"/>
            </a:avLst>
          </a:prstGeom>
          <a:solidFill>
            <a:srgbClr val="F8F5F3"/>
          </a:solidFill>
          <a:ln w="12700">
            <a:solidFill>
              <a:srgbClr val="D2C2B4"/>
            </a:solidFill>
            <a:prstDash val="solid"/>
          </a:ln>
        </p:spPr>
      </p:sp>
      <p:sp>
        <p:nvSpPr>
          <p:cNvPr id="22" name="card-hex"/>
          <p:cNvSpPr/>
          <p:nvPr/>
        </p:nvSpPr>
        <p:spPr>
          <a:xfrm>
            <a:off x="8310677" y="1572768"/>
            <a:ext cx="640080" cy="554309"/>
          </a:xfrm>
          <a:prstGeom prst="hexagon">
            <a:avLst/>
          </a:prstGeom>
          <a:solidFill>
            <a:srgbClr val="7A4A1E"/>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614172"/>
          </a:xfrm>
          <a:prstGeom prst="roundRect">
            <a:avLst>
              <a:gd name="adj" fmla="val 17866"/>
            </a:avLst>
          </a:prstGeom>
          <a:solidFill>
            <a:srgbClr val="EEE3CD"/>
          </a:solidFill>
          <a:ln w="19050">
            <a:solidFill>
              <a:srgbClr val="B8862B"/>
            </a:solidFill>
            <a:prstDash val="solid"/>
          </a:ln>
        </p:spPr>
      </p:sp>
      <p:sp>
        <p:nvSpPr>
          <p:cNvPr id="26" name="answer"/>
          <p:cNvSpPr txBox="1"/>
          <p:nvPr/>
        </p:nvSpPr>
        <p:spPr>
          <a:xfrm>
            <a:off x="8402117"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B   Liverpool</a:t>
            </a:r>
            <a:endParaRPr lang="en-US" sz="2200" dirty="0"/>
          </a:p>
        </p:txBody>
      </p:sp>
      <p:sp>
        <p:nvSpPr>
          <p:cNvPr id="27" name="card-body"/>
          <p:cNvSpPr txBox="1"/>
          <p:nvPr/>
        </p:nvSpPr>
        <p:spPr>
          <a:xfrm>
            <a:off x="8310677"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Which British port sent the most slave-trading voyages?</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Liverpool sent about 5,300 voyages, far more than London's 3,100.</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6F3F0"/>
          </a:solidFill>
          <a:ln w="12700">
            <a:solidFill>
              <a:srgbClr val="CCB9A8"/>
            </a:solidFill>
            <a:prstDash val="solid"/>
          </a:ln>
        </p:spPr>
      </p:sp>
      <p:sp>
        <p:nvSpPr>
          <p:cNvPr id="8" name="word-hex"/>
          <p:cNvSpPr/>
          <p:nvPr/>
        </p:nvSpPr>
        <p:spPr>
          <a:xfrm>
            <a:off x="685800" y="1802044"/>
            <a:ext cx="502920" cy="435529"/>
          </a:xfrm>
          <a:prstGeom prst="hexagon">
            <a:avLst/>
          </a:prstGeom>
          <a:solidFill>
            <a:srgbClr val="B8862B"/>
          </a:solidFill>
          <a:ln/>
        </p:spPr>
      </p:sp>
      <p:sp>
        <p:nvSpPr>
          <p:cNvPr id="9" name="word-hex-label"/>
          <p:cNvSpPr txBox="1"/>
          <p:nvPr/>
        </p:nvSpPr>
        <p:spPr>
          <a:xfrm>
            <a:off x="685800" y="180204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98552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Triangular Trade Route</a:t>
            </a:r>
            <a:endParaRPr lang="en-US" sz="2600" dirty="0"/>
          </a:p>
        </p:txBody>
      </p:sp>
      <p:sp>
        <p:nvSpPr>
          <p:cNvPr id="11" name="word-rule"/>
          <p:cNvSpPr/>
          <p:nvPr/>
        </p:nvSpPr>
        <p:spPr>
          <a:xfrm>
            <a:off x="731520" y="2558288"/>
            <a:ext cx="3149498" cy="0"/>
          </a:xfrm>
          <a:prstGeom prst="line">
            <a:avLst/>
          </a:prstGeom>
          <a:ln w="12700">
            <a:solidFill>
              <a:srgbClr val="CCB9A8"/>
            </a:solidFill>
            <a:prstDash val="solid"/>
          </a:ln>
        </p:spPr>
      </p:sp>
      <p:sp>
        <p:nvSpPr>
          <p:cNvPr id="12" name="word-body"/>
          <p:cNvSpPr txBox="1"/>
          <p:nvPr/>
        </p:nvSpPr>
        <p:spPr>
          <a:xfrm>
            <a:off x="731520" y="2604008"/>
            <a:ext cx="3149498" cy="340360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three-sided route of the Slave Trade across the Atlantic</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Triangular Trade Route linked Europe, West Africa and the Americas.</a:t>
            </a:r>
            <a:endParaRPr lang="en-US" sz="2200" dirty="0"/>
          </a:p>
        </p:txBody>
      </p:sp>
      <p:sp>
        <p:nvSpPr>
          <p:cNvPr id="13" name="word-card"/>
          <p:cNvSpPr/>
          <p:nvPr/>
        </p:nvSpPr>
        <p:spPr>
          <a:xfrm>
            <a:off x="4338218" y="1389888"/>
            <a:ext cx="3515258" cy="4754880"/>
          </a:xfrm>
          <a:prstGeom prst="roundRect">
            <a:avLst>
              <a:gd name="adj" fmla="val 1561"/>
            </a:avLst>
          </a:prstGeom>
          <a:solidFill>
            <a:srgbClr val="F6F3F0"/>
          </a:solidFill>
          <a:ln w="12700">
            <a:solidFill>
              <a:srgbClr val="CCB9A8"/>
            </a:solidFill>
            <a:prstDash val="solid"/>
          </a:ln>
        </p:spPr>
      </p:sp>
      <p:sp>
        <p:nvSpPr>
          <p:cNvPr id="14" name="word-hex"/>
          <p:cNvSpPr/>
          <p:nvPr/>
        </p:nvSpPr>
        <p:spPr>
          <a:xfrm>
            <a:off x="4475378" y="1802044"/>
            <a:ext cx="502920" cy="435529"/>
          </a:xfrm>
          <a:prstGeom prst="hexagon">
            <a:avLst/>
          </a:prstGeom>
          <a:solidFill>
            <a:srgbClr val="B8862B"/>
          </a:solidFill>
          <a:ln/>
        </p:spPr>
      </p:sp>
      <p:sp>
        <p:nvSpPr>
          <p:cNvPr id="15" name="word-hex-label"/>
          <p:cNvSpPr txBox="1"/>
          <p:nvPr/>
        </p:nvSpPr>
        <p:spPr>
          <a:xfrm>
            <a:off x="4475378" y="180204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98552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outward journey</a:t>
            </a:r>
            <a:endParaRPr lang="en-US" sz="2600" dirty="0"/>
          </a:p>
        </p:txBody>
      </p:sp>
      <p:sp>
        <p:nvSpPr>
          <p:cNvPr id="17" name="word-rule"/>
          <p:cNvSpPr/>
          <p:nvPr/>
        </p:nvSpPr>
        <p:spPr>
          <a:xfrm>
            <a:off x="4521098" y="2558288"/>
            <a:ext cx="3149498" cy="0"/>
          </a:xfrm>
          <a:prstGeom prst="line">
            <a:avLst/>
          </a:prstGeom>
          <a:ln w="12700">
            <a:solidFill>
              <a:srgbClr val="CCB9A8"/>
            </a:solidFill>
            <a:prstDash val="solid"/>
          </a:ln>
        </p:spPr>
      </p:sp>
      <p:sp>
        <p:nvSpPr>
          <p:cNvPr id="18" name="word-body"/>
          <p:cNvSpPr txBox="1"/>
          <p:nvPr/>
        </p:nvSpPr>
        <p:spPr>
          <a:xfrm>
            <a:off x="4521098" y="2604008"/>
            <a:ext cx="3149498" cy="340360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first leg, from Europe to West Africa</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On the outward journey the ships carried guns, cloth and manufactured goods.</a:t>
            </a:r>
            <a:endParaRPr lang="en-US" sz="2200" dirty="0"/>
          </a:p>
        </p:txBody>
      </p:sp>
      <p:sp>
        <p:nvSpPr>
          <p:cNvPr id="19" name="word-card"/>
          <p:cNvSpPr/>
          <p:nvPr/>
        </p:nvSpPr>
        <p:spPr>
          <a:xfrm>
            <a:off x="8127797" y="1389888"/>
            <a:ext cx="3515258" cy="4754880"/>
          </a:xfrm>
          <a:prstGeom prst="roundRect">
            <a:avLst>
              <a:gd name="adj" fmla="val 1561"/>
            </a:avLst>
          </a:prstGeom>
          <a:solidFill>
            <a:srgbClr val="F6F3F0"/>
          </a:solidFill>
          <a:ln w="12700">
            <a:solidFill>
              <a:srgbClr val="CCB9A8"/>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Middle Passage</a:t>
            </a:r>
            <a:endParaRPr lang="en-US" sz="2600" dirty="0"/>
          </a:p>
        </p:txBody>
      </p:sp>
      <p:sp>
        <p:nvSpPr>
          <p:cNvPr id="23" name="word-rule"/>
          <p:cNvSpPr/>
          <p:nvPr/>
        </p:nvSpPr>
        <p:spPr>
          <a:xfrm>
            <a:off x="8310677" y="2129028"/>
            <a:ext cx="3149498" cy="0"/>
          </a:xfrm>
          <a:prstGeom prst="line">
            <a:avLst/>
          </a:prstGeom>
          <a:ln w="12700">
            <a:solidFill>
              <a:srgbClr val="CCB9A8"/>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second leg, from West Africa to the Americas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Enslaved people were carried across the ocean on the Middle Passage.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6F3F0"/>
          </a:solidFill>
          <a:ln w="12700">
            <a:solidFill>
              <a:srgbClr val="CCB9A8"/>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return voyage</a:t>
            </a:r>
            <a:endParaRPr lang="en-US" sz="2600" dirty="0"/>
          </a:p>
        </p:txBody>
      </p:sp>
      <p:sp>
        <p:nvSpPr>
          <p:cNvPr id="11" name="word-rule"/>
          <p:cNvSpPr/>
          <p:nvPr/>
        </p:nvSpPr>
        <p:spPr>
          <a:xfrm>
            <a:off x="731520" y="2129028"/>
            <a:ext cx="3149498" cy="0"/>
          </a:xfrm>
          <a:prstGeom prst="line">
            <a:avLst/>
          </a:prstGeom>
          <a:ln w="12700">
            <a:solidFill>
              <a:srgbClr val="CCB9A8"/>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third leg, from the Americas back to Europe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Sugar, cotton and tobacco came home on the return voyage.</a:t>
            </a:r>
            <a:endParaRPr lang="en-US" sz="2200" dirty="0"/>
          </a:p>
        </p:txBody>
      </p:sp>
      <p:sp>
        <p:nvSpPr>
          <p:cNvPr id="13" name="word-card"/>
          <p:cNvSpPr/>
          <p:nvPr/>
        </p:nvSpPr>
        <p:spPr>
          <a:xfrm>
            <a:off x="4338218" y="1389888"/>
            <a:ext cx="3515258" cy="4754880"/>
          </a:xfrm>
          <a:prstGeom prst="roundRect">
            <a:avLst>
              <a:gd name="adj" fmla="val 1561"/>
            </a:avLst>
          </a:prstGeom>
          <a:solidFill>
            <a:srgbClr val="F6F3F0"/>
          </a:solidFill>
          <a:ln w="12700">
            <a:solidFill>
              <a:srgbClr val="CCB9A8"/>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port</a:t>
            </a:r>
            <a:endParaRPr lang="en-US" sz="2600" dirty="0"/>
          </a:p>
        </p:txBody>
      </p:sp>
      <p:sp>
        <p:nvSpPr>
          <p:cNvPr id="17" name="word-rule"/>
          <p:cNvSpPr/>
          <p:nvPr/>
        </p:nvSpPr>
        <p:spPr>
          <a:xfrm>
            <a:off x="4521098" y="2129028"/>
            <a:ext cx="3149498" cy="0"/>
          </a:xfrm>
          <a:prstGeom prst="line">
            <a:avLst/>
          </a:prstGeom>
          <a:ln w="12700">
            <a:solidFill>
              <a:srgbClr val="CCB9A8"/>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town by the sea where ships load and unload</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Liverpool became the busiest slave-trading port in Britain.</a:t>
            </a:r>
            <a:endParaRPr lang="en-US" sz="2200" dirty="0"/>
          </a:p>
        </p:txBody>
      </p:sp>
      <p:sp>
        <p:nvSpPr>
          <p:cNvPr id="19" name="word-card"/>
          <p:cNvSpPr/>
          <p:nvPr/>
        </p:nvSpPr>
        <p:spPr>
          <a:xfrm>
            <a:off x="8127797" y="1389888"/>
            <a:ext cx="3515258" cy="4754880"/>
          </a:xfrm>
          <a:prstGeom prst="roundRect">
            <a:avLst>
              <a:gd name="adj" fmla="val 1561"/>
            </a:avLst>
          </a:prstGeom>
          <a:solidFill>
            <a:srgbClr val="F6F3F0"/>
          </a:solidFill>
          <a:ln w="12700">
            <a:solidFill>
              <a:srgbClr val="CCB9A8"/>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profit</a:t>
            </a:r>
            <a:endParaRPr lang="en-US" sz="2600" dirty="0"/>
          </a:p>
        </p:txBody>
      </p:sp>
      <p:sp>
        <p:nvSpPr>
          <p:cNvPr id="23" name="word-rule"/>
          <p:cNvSpPr/>
          <p:nvPr/>
        </p:nvSpPr>
        <p:spPr>
          <a:xfrm>
            <a:off x="8310677" y="2129028"/>
            <a:ext cx="3149498" cy="0"/>
          </a:xfrm>
          <a:prstGeom prst="line">
            <a:avLst/>
          </a:prstGeom>
          <a:ln w="12700">
            <a:solidFill>
              <a:srgbClr val="CCB9A8"/>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money left over after the costs of a voyage were paid</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profit from one voyage paid for the next.</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8F5F3"/>
          </a:solidFill>
          <a:ln w="12700">
            <a:solidFill>
              <a:srgbClr val="D9CBBF"/>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 Slave Trade worked as a triangle across the Atlantic Ocean.</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Ships left Europe on the </a:t>
            </a:r>
            <a:pPr algn="l" indent="0" marL="0">
              <a:spcAft>
                <a:spcPts val="600"/>
              </a:spcAft>
              <a:buNone/>
            </a:pPr>
            <a:r>
              <a:rPr lang="en-US" sz="2800" b="1" dirty="0">
                <a:solidFill>
                  <a:srgbClr val="7A4A1E"/>
                </a:solidFill>
                <a:latin typeface="Calibri" pitchFamily="34" charset="0"/>
                <a:ea typeface="Calibri" pitchFamily="34" charset="-122"/>
                <a:cs typeface="Calibri" pitchFamily="34" charset="-120"/>
              </a:rPr>
              <a:t>outward journey</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They carried guns, cloth and manufactured goods to West Africa.</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There the goods were traded for enslaved people.</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 second leg was the </a:t>
            </a:r>
            <a:pPr algn="l" indent="0" marL="0">
              <a:spcAft>
                <a:spcPts val="600"/>
              </a:spcAft>
              <a:buNone/>
            </a:pPr>
            <a:r>
              <a:rPr lang="en-US" sz="2800" b="1" dirty="0">
                <a:solidFill>
                  <a:srgbClr val="7A4A1E"/>
                </a:solidFill>
                <a:latin typeface="Calibri" pitchFamily="34" charset="0"/>
                <a:ea typeface="Calibri" pitchFamily="34" charset="-122"/>
                <a:cs typeface="Calibri" pitchFamily="34" charset="-120"/>
              </a:rPr>
              <a:t>Middle Passage</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from West Africa to the Americas.</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Enslaved people were sold there.</a:t>
            </a:r>
            <a:endParaRPr lang="en-US" sz="2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8F5F3"/>
          </a:solidFill>
          <a:ln w="12700">
            <a:solidFill>
              <a:srgbClr val="D9CBBF"/>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 ships then sailed home on the </a:t>
            </a:r>
            <a:pPr algn="l" indent="0" marL="0">
              <a:spcAft>
                <a:spcPts val="600"/>
              </a:spcAft>
              <a:buNone/>
            </a:pPr>
            <a:r>
              <a:rPr lang="en-US" sz="2800" b="1" dirty="0">
                <a:solidFill>
                  <a:srgbClr val="7A4A1E"/>
                </a:solidFill>
                <a:latin typeface="Calibri" pitchFamily="34" charset="0"/>
                <a:ea typeface="Calibri" pitchFamily="34" charset="-122"/>
                <a:cs typeface="Calibri" pitchFamily="34" charset="-120"/>
              </a:rPr>
              <a:t>return voyage</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They carried sugar, cotton, tobacco and coffee from the plantations.</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 </a:t>
            </a:r>
            <a:pPr algn="l" indent="0" marL="0">
              <a:spcAft>
                <a:spcPts val="600"/>
              </a:spcAft>
              <a:buNone/>
            </a:pPr>
            <a:r>
              <a:rPr lang="en-US" sz="2800" b="1" dirty="0">
                <a:solidFill>
                  <a:srgbClr val="7A4A1E"/>
                </a:solidFill>
                <a:latin typeface="Calibri" pitchFamily="34" charset="0"/>
                <a:ea typeface="Calibri" pitchFamily="34" charset="-122"/>
                <a:cs typeface="Calibri" pitchFamily="34" charset="-120"/>
              </a:rPr>
              <a:t>profit</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paid for the next voyage.</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British </a:t>
            </a:r>
            <a:pPr algn="l" indent="0" marL="0">
              <a:spcAft>
                <a:spcPts val="600"/>
              </a:spcAft>
              <a:buNone/>
            </a:pPr>
            <a:r>
              <a:rPr lang="en-US" sz="2800" b="1" dirty="0">
                <a:solidFill>
                  <a:srgbClr val="7A4A1E"/>
                </a:solidFill>
                <a:latin typeface="Calibri" pitchFamily="34" charset="0"/>
                <a:ea typeface="Calibri" pitchFamily="34" charset="-122"/>
                <a:cs typeface="Calibri" pitchFamily="34" charset="-120"/>
              </a:rPr>
              <a:t>ports</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such as Liverpool and London sent thousands of voyages.</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Ship building gave people in those cities work.</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So many British people gained from the trade without ever seeing it.</a:t>
            </a:r>
            <a:endParaRPr lang="en-US" sz="2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Three legs of a triangle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5EFE2"/>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Guns go out, people go across, sugar comes back. Say the three legs out loud until the order is automatic.</a:t>
            </a:r>
            <a:endParaRPr lang="en-US" sz="1800" dirty="0"/>
          </a:p>
        </p:txBody>
      </p:sp>
      <p:sp>
        <p:nvSpPr>
          <p:cNvPr id="11" name="point-card"/>
          <p:cNvSpPr/>
          <p:nvPr/>
        </p:nvSpPr>
        <p:spPr>
          <a:xfrm>
            <a:off x="548640" y="1389888"/>
            <a:ext cx="3515258" cy="3686048"/>
          </a:xfrm>
          <a:prstGeom prst="roundRect">
            <a:avLst>
              <a:gd name="adj" fmla="val 1561"/>
            </a:avLst>
          </a:prstGeom>
          <a:solidFill>
            <a:srgbClr val="F4F0EC"/>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The Triangular Trade Route is the name given to the three-sided journey of a slave ship.</a:t>
            </a:r>
            <a:endParaRPr lang="en-US" sz="2200" dirty="0"/>
          </a:p>
        </p:txBody>
      </p:sp>
      <p:sp>
        <p:nvSpPr>
          <p:cNvPr id="15" name="point-card"/>
          <p:cNvSpPr/>
          <p:nvPr/>
        </p:nvSpPr>
        <p:spPr>
          <a:xfrm>
            <a:off x="4338218" y="1389888"/>
            <a:ext cx="3515258" cy="3686048"/>
          </a:xfrm>
          <a:prstGeom prst="roundRect">
            <a:avLst>
              <a:gd name="adj" fmla="val 1561"/>
            </a:avLst>
          </a:prstGeom>
          <a:solidFill>
            <a:srgbClr val="F8F2E9"/>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On the Middle Passage, the second leg, the ship carried the enslaved people from West Africa to the Americas, where they were sold.</a:t>
            </a:r>
            <a:endParaRPr lang="en-US" sz="2200" dirty="0"/>
          </a:p>
        </p:txBody>
      </p:sp>
      <p:sp>
        <p:nvSpPr>
          <p:cNvPr id="19" name="point-card"/>
          <p:cNvSpPr/>
          <p:nvPr/>
        </p:nvSpPr>
        <p:spPr>
          <a:xfrm>
            <a:off x="8127797" y="1389888"/>
            <a:ext cx="3515258" cy="3686048"/>
          </a:xfrm>
          <a:prstGeom prst="roundRect">
            <a:avLst>
              <a:gd name="adj" fmla="val 1561"/>
            </a:avLst>
          </a:prstGeom>
          <a:solidFill>
            <a:srgbClr val="F4F0EC"/>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The money from selling those goods bought more manufactured goods, and the triangle began again.</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Worked example: Three legs of a triangle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91616"/>
          </a:xfrm>
          <a:prstGeom prst="roundRect">
            <a:avLst>
              <a:gd name="adj" fmla="val 9221"/>
            </a:avLst>
          </a:prstGeom>
          <a:solidFill>
            <a:srgbClr val="F4F0EC"/>
          </a:solidFill>
          <a:ln/>
        </p:spPr>
      </p:sp>
      <p:sp>
        <p:nvSpPr>
          <p:cNvPr id="8" name="worked-q"/>
          <p:cNvSpPr txBox="1"/>
          <p:nvPr/>
        </p:nvSpPr>
        <p:spPr>
          <a:xfrm>
            <a:off x="731520" y="1481328"/>
            <a:ext cx="10728655"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ship is carrying barrels of tobacco. Which leg of the triangle is it on, and where is it going?</a:t>
            </a:r>
            <a:endParaRPr lang="en-US" sz="2200" dirty="0"/>
          </a:p>
        </p:txBody>
      </p:sp>
      <p:sp>
        <p:nvSpPr>
          <p:cNvPr id="9" name="step-box"/>
          <p:cNvSpPr/>
          <p:nvPr/>
        </p:nvSpPr>
        <p:spPr>
          <a:xfrm>
            <a:off x="548640" y="2655824"/>
            <a:ext cx="2464994" cy="1974088"/>
          </a:xfrm>
          <a:prstGeom prst="roundRect">
            <a:avLst>
              <a:gd name="adj" fmla="val 3706"/>
            </a:avLst>
          </a:prstGeom>
          <a:solidFill>
            <a:srgbClr val="FFFFFF"/>
          </a:solidFill>
          <a:ln w="15875">
            <a:solidFill>
              <a:srgbClr val="B69B83"/>
            </a:solidFill>
            <a:prstDash val="solid"/>
          </a:ln>
        </p:spPr>
      </p:sp>
      <p:sp>
        <p:nvSpPr>
          <p:cNvPr id="10" name="step-hex"/>
          <p:cNvSpPr/>
          <p:nvPr/>
        </p:nvSpPr>
        <p:spPr>
          <a:xfrm>
            <a:off x="685800" y="2765552"/>
            <a:ext cx="530352" cy="459285"/>
          </a:xfrm>
          <a:prstGeom prst="hexagon">
            <a:avLst/>
          </a:prstGeom>
          <a:solidFill>
            <a:srgbClr val="7A4A1E"/>
          </a:solidFill>
          <a:ln/>
        </p:spPr>
      </p:sp>
      <p:sp>
        <p:nvSpPr>
          <p:cNvPr id="11" name="step-hex-label"/>
          <p:cNvSpPr txBox="1"/>
          <p:nvPr/>
        </p:nvSpPr>
        <p:spPr>
          <a:xfrm>
            <a:off x="685800"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step"/>
          <p:cNvSpPr txBox="1"/>
          <p:nvPr/>
        </p:nvSpPr>
        <p:spPr>
          <a:xfrm>
            <a:off x="685800" y="3250184"/>
            <a:ext cx="2190674"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Ask where tobacco was grown: on plantations in the Americas.</a:t>
            </a:r>
            <a:endParaRPr lang="en-US" sz="1800" dirty="0"/>
          </a:p>
        </p:txBody>
      </p:sp>
      <p:sp>
        <p:nvSpPr>
          <p:cNvPr id="13" name="arrow"/>
          <p:cNvSpPr/>
          <p:nvPr/>
        </p:nvSpPr>
        <p:spPr>
          <a:xfrm>
            <a:off x="3086786" y="3505708"/>
            <a:ext cx="274320" cy="274320"/>
          </a:xfrm>
          <a:prstGeom prst="rightArrow">
            <a:avLst/>
          </a:prstGeom>
          <a:solidFill>
            <a:srgbClr val="B8862B"/>
          </a:solidFill>
          <a:ln/>
        </p:spPr>
      </p:sp>
      <p:sp>
        <p:nvSpPr>
          <p:cNvPr id="14" name="step-box"/>
          <p:cNvSpPr/>
          <p:nvPr/>
        </p:nvSpPr>
        <p:spPr>
          <a:xfrm>
            <a:off x="3425114" y="2655824"/>
            <a:ext cx="2464994" cy="1974088"/>
          </a:xfrm>
          <a:prstGeom prst="roundRect">
            <a:avLst>
              <a:gd name="adj" fmla="val 3706"/>
            </a:avLst>
          </a:prstGeom>
          <a:solidFill>
            <a:srgbClr val="FFFFFF"/>
          </a:solidFill>
          <a:ln w="15875">
            <a:solidFill>
              <a:srgbClr val="B69B83"/>
            </a:solidFill>
            <a:prstDash val="solid"/>
          </a:ln>
        </p:spPr>
      </p:sp>
      <p:sp>
        <p:nvSpPr>
          <p:cNvPr id="15" name="step-hex"/>
          <p:cNvSpPr/>
          <p:nvPr/>
        </p:nvSpPr>
        <p:spPr>
          <a:xfrm>
            <a:off x="3562274" y="2765552"/>
            <a:ext cx="530352" cy="459285"/>
          </a:xfrm>
          <a:prstGeom prst="hexagon">
            <a:avLst/>
          </a:prstGeom>
          <a:solidFill>
            <a:srgbClr val="7A4A1E"/>
          </a:solidFill>
          <a:ln/>
        </p:spPr>
      </p:sp>
      <p:sp>
        <p:nvSpPr>
          <p:cNvPr id="16" name="step-hex-label"/>
          <p:cNvSpPr txBox="1"/>
          <p:nvPr/>
        </p:nvSpPr>
        <p:spPr>
          <a:xfrm>
            <a:off x="3562274"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7" name="step"/>
          <p:cNvSpPr txBox="1"/>
          <p:nvPr/>
        </p:nvSpPr>
        <p:spPr>
          <a:xfrm>
            <a:off x="3562274" y="3250184"/>
            <a:ext cx="2190674"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So the ship must have loaded it in the Americas.</a:t>
            </a:r>
            <a:endParaRPr lang="en-US" sz="1800" dirty="0"/>
          </a:p>
        </p:txBody>
      </p:sp>
      <p:sp>
        <p:nvSpPr>
          <p:cNvPr id="18" name="arrow"/>
          <p:cNvSpPr/>
          <p:nvPr/>
        </p:nvSpPr>
        <p:spPr>
          <a:xfrm>
            <a:off x="5963260" y="3505708"/>
            <a:ext cx="274320" cy="274320"/>
          </a:xfrm>
          <a:prstGeom prst="rightArrow">
            <a:avLst/>
          </a:prstGeom>
          <a:solidFill>
            <a:srgbClr val="B8862B"/>
          </a:solidFill>
          <a:ln/>
        </p:spPr>
      </p:sp>
      <p:sp>
        <p:nvSpPr>
          <p:cNvPr id="19" name="step-box"/>
          <p:cNvSpPr/>
          <p:nvPr/>
        </p:nvSpPr>
        <p:spPr>
          <a:xfrm>
            <a:off x="6301588" y="2655824"/>
            <a:ext cx="2464994" cy="1974088"/>
          </a:xfrm>
          <a:prstGeom prst="roundRect">
            <a:avLst>
              <a:gd name="adj" fmla="val 3706"/>
            </a:avLst>
          </a:prstGeom>
          <a:solidFill>
            <a:srgbClr val="FFFFFF"/>
          </a:solidFill>
          <a:ln w="15875">
            <a:solidFill>
              <a:srgbClr val="B69B83"/>
            </a:solidFill>
            <a:prstDash val="solid"/>
          </a:ln>
        </p:spPr>
      </p:sp>
      <p:sp>
        <p:nvSpPr>
          <p:cNvPr id="20" name="step-hex"/>
          <p:cNvSpPr/>
          <p:nvPr/>
        </p:nvSpPr>
        <p:spPr>
          <a:xfrm>
            <a:off x="6438748" y="2765552"/>
            <a:ext cx="530352" cy="459285"/>
          </a:xfrm>
          <a:prstGeom prst="hexagon">
            <a:avLst/>
          </a:prstGeom>
          <a:solidFill>
            <a:srgbClr val="7A4A1E"/>
          </a:solidFill>
          <a:ln/>
        </p:spPr>
      </p:sp>
      <p:sp>
        <p:nvSpPr>
          <p:cNvPr id="21" name="step-hex-label"/>
          <p:cNvSpPr txBox="1"/>
          <p:nvPr/>
        </p:nvSpPr>
        <p:spPr>
          <a:xfrm>
            <a:off x="6438748"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2" name="step"/>
          <p:cNvSpPr txBox="1"/>
          <p:nvPr/>
        </p:nvSpPr>
        <p:spPr>
          <a:xfrm>
            <a:off x="6438748" y="3250184"/>
            <a:ext cx="2190674"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Goods from the Americas travelled on the third leg, back to Europe.</a:t>
            </a:r>
            <a:endParaRPr lang="en-US" sz="1800" dirty="0"/>
          </a:p>
        </p:txBody>
      </p:sp>
      <p:sp>
        <p:nvSpPr>
          <p:cNvPr id="23" name="arrow"/>
          <p:cNvSpPr/>
          <p:nvPr/>
        </p:nvSpPr>
        <p:spPr>
          <a:xfrm>
            <a:off x="8839733" y="3505708"/>
            <a:ext cx="274320" cy="274320"/>
          </a:xfrm>
          <a:prstGeom prst="rightArrow">
            <a:avLst/>
          </a:prstGeom>
          <a:solidFill>
            <a:srgbClr val="B8862B"/>
          </a:solidFill>
          <a:ln/>
        </p:spPr>
      </p:sp>
      <p:sp>
        <p:nvSpPr>
          <p:cNvPr id="24" name="step-box"/>
          <p:cNvSpPr/>
          <p:nvPr/>
        </p:nvSpPr>
        <p:spPr>
          <a:xfrm>
            <a:off x="9178061" y="2655824"/>
            <a:ext cx="2464994" cy="1974088"/>
          </a:xfrm>
          <a:prstGeom prst="roundRect">
            <a:avLst>
              <a:gd name="adj" fmla="val 3706"/>
            </a:avLst>
          </a:prstGeom>
          <a:solidFill>
            <a:srgbClr val="FFFFFF"/>
          </a:solidFill>
          <a:ln w="15875">
            <a:solidFill>
              <a:srgbClr val="B69B83"/>
            </a:solidFill>
            <a:prstDash val="solid"/>
          </a:ln>
        </p:spPr>
      </p:sp>
      <p:sp>
        <p:nvSpPr>
          <p:cNvPr id="25" name="step-hex"/>
          <p:cNvSpPr/>
          <p:nvPr/>
        </p:nvSpPr>
        <p:spPr>
          <a:xfrm>
            <a:off x="9315221" y="2765552"/>
            <a:ext cx="530352" cy="459285"/>
          </a:xfrm>
          <a:prstGeom prst="hexagon">
            <a:avLst/>
          </a:prstGeom>
          <a:solidFill>
            <a:srgbClr val="7A4A1E"/>
          </a:solidFill>
          <a:ln/>
        </p:spPr>
      </p:sp>
      <p:sp>
        <p:nvSpPr>
          <p:cNvPr id="26" name="step-hex-label"/>
          <p:cNvSpPr txBox="1"/>
          <p:nvPr/>
        </p:nvSpPr>
        <p:spPr>
          <a:xfrm>
            <a:off x="9315221"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7" name="step"/>
          <p:cNvSpPr txBox="1"/>
          <p:nvPr/>
        </p:nvSpPr>
        <p:spPr>
          <a:xfrm>
            <a:off x="9315221" y="3250184"/>
            <a:ext cx="2190674"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Answer: the return voyage, from the Americas to Europe.</a:t>
            </a:r>
            <a:endParaRPr lang="en-US" sz="1800" dirty="0"/>
          </a:p>
        </p:txBody>
      </p:sp>
      <p:sp>
        <p:nvSpPr>
          <p:cNvPr id="28" name="worked-answer"/>
          <p:cNvSpPr/>
          <p:nvPr/>
        </p:nvSpPr>
        <p:spPr>
          <a:xfrm>
            <a:off x="1463040" y="5592572"/>
            <a:ext cx="9265615" cy="552196"/>
          </a:xfrm>
          <a:prstGeom prst="roundRect">
            <a:avLst>
              <a:gd name="adj" fmla="val 33119"/>
            </a:avLst>
          </a:prstGeom>
          <a:solidFill>
            <a:srgbClr val="EEE3CD"/>
          </a:solidFill>
          <a:ln w="19050">
            <a:solidFill>
              <a:srgbClr val="B8862B"/>
            </a:solid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Answer  </a:t>
            </a:r>
            <a:pPr algn="ctr" indent="0" marL="0">
              <a:buNone/>
            </a:pPr>
            <a:r>
              <a:rPr lang="en-US" sz="1800" b="1" dirty="0">
                <a:solidFill>
                  <a:srgbClr val="1E2229"/>
                </a:solidFill>
                <a:latin typeface="Calibri" pitchFamily="34" charset="0"/>
                <a:ea typeface="Calibri" pitchFamily="34" charset="-122"/>
                <a:cs typeface="Calibri" pitchFamily="34" charset="-120"/>
              </a:rPr>
              <a:t>The return voyage: it is carrying a plantation crop from the Americas to Europe.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march to the coast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5EFE2"/>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When a source describes the march or the port, pick out three details and ask what each one tells you about how captured people were treated.</a:t>
            </a:r>
            <a:endParaRPr lang="en-US" sz="1800" dirty="0"/>
          </a:p>
        </p:txBody>
      </p:sp>
      <p:sp>
        <p:nvSpPr>
          <p:cNvPr id="11" name="point-card"/>
          <p:cNvSpPr/>
          <p:nvPr/>
        </p:nvSpPr>
        <p:spPr>
          <a:xfrm>
            <a:off x="548640" y="1389888"/>
            <a:ext cx="3515258" cy="3686048"/>
          </a:xfrm>
          <a:prstGeom prst="roundRect">
            <a:avLst>
              <a:gd name="adj" fmla="val 1561"/>
            </a:avLst>
          </a:prstGeom>
          <a:solidFill>
            <a:srgbClr val="F4F0EC"/>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Before any ship was involved, captured people were marched to the coast of Africa.</a:t>
            </a:r>
            <a:endParaRPr lang="en-US" sz="2400" dirty="0"/>
          </a:p>
        </p:txBody>
      </p:sp>
      <p:sp>
        <p:nvSpPr>
          <p:cNvPr id="15" name="point-card"/>
          <p:cNvSpPr/>
          <p:nvPr/>
        </p:nvSpPr>
        <p:spPr>
          <a:xfrm>
            <a:off x="4338218" y="1389888"/>
            <a:ext cx="3515258" cy="3686048"/>
          </a:xfrm>
          <a:prstGeom prst="roundRect">
            <a:avLst>
              <a:gd name="adj" fmla="val 1561"/>
            </a:avLst>
          </a:prstGeom>
          <a:solidFill>
            <a:srgbClr val="F8F2E9"/>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Whydah was one of the largest slave-trading ports in West Africa.</a:t>
            </a:r>
            <a:endParaRPr lang="en-US" sz="2400" dirty="0"/>
          </a:p>
        </p:txBody>
      </p:sp>
      <p:sp>
        <p:nvSpPr>
          <p:cNvPr id="19" name="point-card"/>
          <p:cNvSpPr/>
          <p:nvPr/>
        </p:nvSpPr>
        <p:spPr>
          <a:xfrm>
            <a:off x="8127797" y="1389888"/>
            <a:ext cx="3515258" cy="3686048"/>
          </a:xfrm>
          <a:prstGeom prst="roundRect">
            <a:avLst>
              <a:gd name="adj" fmla="val 1561"/>
            </a:avLst>
          </a:prstGeom>
          <a:solidFill>
            <a:srgbClr val="F4F0EC"/>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Every one of those people had a name, a language and a family.</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Britain's role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5EFE2"/>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If a question asks how Britain benefited, think of the workers in Liverpool and London, not only the ship owners.</a:t>
            </a:r>
            <a:endParaRPr lang="en-US" sz="1800" dirty="0"/>
          </a:p>
        </p:txBody>
      </p:sp>
      <p:sp>
        <p:nvSpPr>
          <p:cNvPr id="11" name="point-card"/>
          <p:cNvSpPr/>
          <p:nvPr/>
        </p:nvSpPr>
        <p:spPr>
          <a:xfrm>
            <a:off x="548640" y="1389888"/>
            <a:ext cx="3515258" cy="3686048"/>
          </a:xfrm>
          <a:prstGeom prst="roundRect">
            <a:avLst>
              <a:gd name="adj" fmla="val 1561"/>
            </a:avLst>
          </a:prstGeom>
          <a:solidFill>
            <a:srgbClr val="F4F0EC"/>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Britain was one of the biggest slave-trading nations. Your lesson gives Liverpool about 5,300 slave-trading voyages and London about 3,100.</a:t>
            </a:r>
            <a:endParaRPr lang="en-US" sz="2000" dirty="0"/>
          </a:p>
        </p:txBody>
      </p:sp>
      <p:sp>
        <p:nvSpPr>
          <p:cNvPr id="15" name="point-card"/>
          <p:cNvSpPr/>
          <p:nvPr/>
        </p:nvSpPr>
        <p:spPr>
          <a:xfrm>
            <a:off x="4338218" y="1389888"/>
            <a:ext cx="3515258" cy="3686048"/>
          </a:xfrm>
          <a:prstGeom prst="roundRect">
            <a:avLst>
              <a:gd name="adj" fmla="val 1561"/>
            </a:avLst>
          </a:prstGeom>
          <a:solidFill>
            <a:srgbClr val="F8F2E9"/>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Ship building in ports such as Liverpool became a booming industry that supported thousands of jobs.</a:t>
            </a:r>
            <a:endParaRPr lang="en-US" sz="2000" dirty="0"/>
          </a:p>
        </p:txBody>
      </p:sp>
      <p:sp>
        <p:nvSpPr>
          <p:cNvPr id="19" name="point-card"/>
          <p:cNvSpPr/>
          <p:nvPr/>
        </p:nvSpPr>
        <p:spPr>
          <a:xfrm>
            <a:off x="8127797" y="1389888"/>
            <a:ext cx="3515258" cy="3686048"/>
          </a:xfrm>
          <a:prstGeom prst="roundRect">
            <a:avLst>
              <a:gd name="adj" fmla="val 1561"/>
            </a:avLst>
          </a:prstGeom>
          <a:solidFill>
            <a:srgbClr val="F4F0EC"/>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This matters for the abolition story later. Many British people who never saw an enslaved person still earned their living from the trade, which is one reason it was so hard to end.</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What travelled on each leg</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618488"/>
            <a:ext cx="8534095" cy="498856"/>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part of the triangle to what happened on it.</a:t>
            </a:r>
            <a:endParaRPr lang="en-US" sz="2400" dirty="0"/>
          </a:p>
        </p:txBody>
      </p:sp>
      <p:sp>
        <p:nvSpPr>
          <p:cNvPr id="11" name="match-card"/>
          <p:cNvSpPr/>
          <p:nvPr/>
        </p:nvSpPr>
        <p:spPr>
          <a:xfrm>
            <a:off x="777240" y="2468331"/>
            <a:ext cx="3423818" cy="587639"/>
          </a:xfrm>
          <a:prstGeom prst="roundRect">
            <a:avLst>
              <a:gd name="adj" fmla="val 12448"/>
            </a:avLst>
          </a:prstGeom>
          <a:solidFill>
            <a:srgbClr val="F6F3F0"/>
          </a:solidFill>
          <a:ln/>
        </p:spPr>
      </p:sp>
      <p:sp>
        <p:nvSpPr>
          <p:cNvPr id="12" name="match-hex"/>
          <p:cNvSpPr/>
          <p:nvPr/>
        </p:nvSpPr>
        <p:spPr>
          <a:xfrm>
            <a:off x="850392" y="2595858"/>
            <a:ext cx="384048" cy="332586"/>
          </a:xfrm>
          <a:prstGeom prst="hexagon">
            <a:avLst/>
          </a:prstGeom>
          <a:solidFill>
            <a:srgbClr val="7A4A1E"/>
          </a:solidFill>
          <a:ln/>
        </p:spPr>
      </p:sp>
      <p:sp>
        <p:nvSpPr>
          <p:cNvPr id="13" name="match-hex-label"/>
          <p:cNvSpPr txBox="1"/>
          <p:nvPr/>
        </p:nvSpPr>
        <p:spPr>
          <a:xfrm>
            <a:off x="850392" y="2595858"/>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468331"/>
            <a:ext cx="2829458" cy="58763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Outward journey</a:t>
            </a:r>
            <a:endParaRPr lang="en-US" sz="2000" dirty="0"/>
          </a:p>
        </p:txBody>
      </p:sp>
      <p:sp>
        <p:nvSpPr>
          <p:cNvPr id="15" name="match-card"/>
          <p:cNvSpPr/>
          <p:nvPr/>
        </p:nvSpPr>
        <p:spPr>
          <a:xfrm>
            <a:off x="4566818" y="2468331"/>
            <a:ext cx="6847637" cy="587639"/>
          </a:xfrm>
          <a:prstGeom prst="roundRect">
            <a:avLst>
              <a:gd name="adj" fmla="val 12448"/>
            </a:avLst>
          </a:prstGeom>
          <a:solidFill>
            <a:srgbClr val="F8F2E9"/>
          </a:solidFill>
          <a:ln/>
        </p:spPr>
      </p:sp>
      <p:sp>
        <p:nvSpPr>
          <p:cNvPr id="16" name="match-hex"/>
          <p:cNvSpPr/>
          <p:nvPr/>
        </p:nvSpPr>
        <p:spPr>
          <a:xfrm>
            <a:off x="4639970" y="2595858"/>
            <a:ext cx="384048" cy="332586"/>
          </a:xfrm>
          <a:prstGeom prst="hexagon">
            <a:avLst/>
          </a:prstGeom>
          <a:solidFill>
            <a:srgbClr val="B8862B"/>
          </a:solidFill>
          <a:ln/>
        </p:spPr>
      </p:sp>
      <p:sp>
        <p:nvSpPr>
          <p:cNvPr id="17" name="match-hex-label"/>
          <p:cNvSpPr txBox="1"/>
          <p:nvPr/>
        </p:nvSpPr>
        <p:spPr>
          <a:xfrm>
            <a:off x="4639970" y="2595858"/>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5088026" y="2468331"/>
            <a:ext cx="6253277" cy="58763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West Africa to the Americas, carrying enslaved people</a:t>
            </a:r>
            <a:endParaRPr lang="en-US" sz="2000" dirty="0"/>
          </a:p>
        </p:txBody>
      </p:sp>
      <p:sp>
        <p:nvSpPr>
          <p:cNvPr id="19" name="match-card"/>
          <p:cNvSpPr/>
          <p:nvPr/>
        </p:nvSpPr>
        <p:spPr>
          <a:xfrm>
            <a:off x="777240" y="3147411"/>
            <a:ext cx="3423818" cy="877199"/>
          </a:xfrm>
          <a:prstGeom prst="roundRect">
            <a:avLst>
              <a:gd name="adj" fmla="val 8339"/>
            </a:avLst>
          </a:prstGeom>
          <a:solidFill>
            <a:srgbClr val="F6F3F0"/>
          </a:solidFill>
          <a:ln/>
        </p:spPr>
      </p:sp>
      <p:sp>
        <p:nvSpPr>
          <p:cNvPr id="20" name="match-hex"/>
          <p:cNvSpPr/>
          <p:nvPr/>
        </p:nvSpPr>
        <p:spPr>
          <a:xfrm>
            <a:off x="850392" y="3419717"/>
            <a:ext cx="384048" cy="332586"/>
          </a:xfrm>
          <a:prstGeom prst="hexagon">
            <a:avLst/>
          </a:prstGeom>
          <a:solidFill>
            <a:srgbClr val="7A4A1E"/>
          </a:solidFill>
          <a:ln/>
        </p:spPr>
      </p:sp>
      <p:sp>
        <p:nvSpPr>
          <p:cNvPr id="21" name="match-hex-label"/>
          <p:cNvSpPr txBox="1"/>
          <p:nvPr/>
        </p:nvSpPr>
        <p:spPr>
          <a:xfrm>
            <a:off x="850392" y="341971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147411"/>
            <a:ext cx="2829458" cy="87719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Middle Passage</a:t>
            </a:r>
            <a:endParaRPr lang="en-US" sz="2000" dirty="0"/>
          </a:p>
        </p:txBody>
      </p:sp>
      <p:sp>
        <p:nvSpPr>
          <p:cNvPr id="23" name="match-card"/>
          <p:cNvSpPr/>
          <p:nvPr/>
        </p:nvSpPr>
        <p:spPr>
          <a:xfrm>
            <a:off x="4566818" y="3147411"/>
            <a:ext cx="6847637" cy="877199"/>
          </a:xfrm>
          <a:prstGeom prst="roundRect">
            <a:avLst>
              <a:gd name="adj" fmla="val 8339"/>
            </a:avLst>
          </a:prstGeom>
          <a:solidFill>
            <a:srgbClr val="F8F2E9"/>
          </a:solidFill>
          <a:ln/>
        </p:spPr>
      </p:sp>
      <p:sp>
        <p:nvSpPr>
          <p:cNvPr id="24" name="match-hex"/>
          <p:cNvSpPr/>
          <p:nvPr/>
        </p:nvSpPr>
        <p:spPr>
          <a:xfrm>
            <a:off x="4639970" y="3419717"/>
            <a:ext cx="384048" cy="332586"/>
          </a:xfrm>
          <a:prstGeom prst="hexagon">
            <a:avLst/>
          </a:prstGeom>
          <a:solidFill>
            <a:srgbClr val="B8862B"/>
          </a:solidFill>
          <a:ln/>
        </p:spPr>
      </p:sp>
      <p:sp>
        <p:nvSpPr>
          <p:cNvPr id="25" name="match-hex-label"/>
          <p:cNvSpPr txBox="1"/>
          <p:nvPr/>
        </p:nvSpPr>
        <p:spPr>
          <a:xfrm>
            <a:off x="4639970" y="341971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5088026" y="3147411"/>
            <a:ext cx="6253277" cy="87719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Europe to West Africa, carrying guns, cloth and manufactured goods</a:t>
            </a:r>
            <a:endParaRPr lang="en-US" sz="2000" dirty="0"/>
          </a:p>
        </p:txBody>
      </p:sp>
      <p:sp>
        <p:nvSpPr>
          <p:cNvPr id="27" name="match-card"/>
          <p:cNvSpPr/>
          <p:nvPr/>
        </p:nvSpPr>
        <p:spPr>
          <a:xfrm>
            <a:off x="777240" y="4116050"/>
            <a:ext cx="3423818" cy="877199"/>
          </a:xfrm>
          <a:prstGeom prst="roundRect">
            <a:avLst>
              <a:gd name="adj" fmla="val 8339"/>
            </a:avLst>
          </a:prstGeom>
          <a:solidFill>
            <a:srgbClr val="F6F3F0"/>
          </a:solidFill>
          <a:ln/>
        </p:spPr>
      </p:sp>
      <p:sp>
        <p:nvSpPr>
          <p:cNvPr id="28" name="match-hex"/>
          <p:cNvSpPr/>
          <p:nvPr/>
        </p:nvSpPr>
        <p:spPr>
          <a:xfrm>
            <a:off x="850392" y="4388356"/>
            <a:ext cx="384048" cy="332586"/>
          </a:xfrm>
          <a:prstGeom prst="hexagon">
            <a:avLst/>
          </a:prstGeom>
          <a:solidFill>
            <a:srgbClr val="7A4A1E"/>
          </a:solidFill>
          <a:ln/>
        </p:spPr>
      </p:sp>
      <p:sp>
        <p:nvSpPr>
          <p:cNvPr id="29" name="match-hex-label"/>
          <p:cNvSpPr txBox="1"/>
          <p:nvPr/>
        </p:nvSpPr>
        <p:spPr>
          <a:xfrm>
            <a:off x="850392" y="438835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4116050"/>
            <a:ext cx="2829458" cy="87719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Return voyage</a:t>
            </a:r>
            <a:endParaRPr lang="en-US" sz="2000" dirty="0"/>
          </a:p>
        </p:txBody>
      </p:sp>
      <p:sp>
        <p:nvSpPr>
          <p:cNvPr id="31" name="match-card"/>
          <p:cNvSpPr/>
          <p:nvPr/>
        </p:nvSpPr>
        <p:spPr>
          <a:xfrm>
            <a:off x="4566818" y="4116050"/>
            <a:ext cx="6847637" cy="877199"/>
          </a:xfrm>
          <a:prstGeom prst="roundRect">
            <a:avLst>
              <a:gd name="adj" fmla="val 8339"/>
            </a:avLst>
          </a:prstGeom>
          <a:solidFill>
            <a:srgbClr val="F8F2E9"/>
          </a:solidFill>
          <a:ln/>
        </p:spPr>
      </p:sp>
      <p:sp>
        <p:nvSpPr>
          <p:cNvPr id="32" name="match-hex"/>
          <p:cNvSpPr/>
          <p:nvPr/>
        </p:nvSpPr>
        <p:spPr>
          <a:xfrm>
            <a:off x="4639970" y="4388356"/>
            <a:ext cx="384048" cy="332586"/>
          </a:xfrm>
          <a:prstGeom prst="hexagon">
            <a:avLst/>
          </a:prstGeom>
          <a:solidFill>
            <a:srgbClr val="B8862B"/>
          </a:solidFill>
          <a:ln/>
        </p:spPr>
      </p:sp>
      <p:sp>
        <p:nvSpPr>
          <p:cNvPr id="33" name="match-hex-label"/>
          <p:cNvSpPr txBox="1"/>
          <p:nvPr/>
        </p:nvSpPr>
        <p:spPr>
          <a:xfrm>
            <a:off x="4639970" y="438835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5088026" y="4116050"/>
            <a:ext cx="6253277" cy="87719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The Americas to Europe, carrying sugar, cotton, tobacco and coffee</a:t>
            </a:r>
            <a:endParaRPr lang="en-US" sz="2000" dirty="0"/>
          </a:p>
        </p:txBody>
      </p:sp>
      <p:sp>
        <p:nvSpPr>
          <p:cNvPr id="35" name="match-card"/>
          <p:cNvSpPr/>
          <p:nvPr/>
        </p:nvSpPr>
        <p:spPr>
          <a:xfrm>
            <a:off x="777240" y="5084689"/>
            <a:ext cx="3423818" cy="877199"/>
          </a:xfrm>
          <a:prstGeom prst="roundRect">
            <a:avLst>
              <a:gd name="adj" fmla="val 8339"/>
            </a:avLst>
          </a:prstGeom>
          <a:solidFill>
            <a:srgbClr val="F6F3F0"/>
          </a:solidFill>
          <a:ln/>
        </p:spPr>
      </p:sp>
      <p:sp>
        <p:nvSpPr>
          <p:cNvPr id="36" name="match-hex"/>
          <p:cNvSpPr/>
          <p:nvPr/>
        </p:nvSpPr>
        <p:spPr>
          <a:xfrm>
            <a:off x="850392" y="5356996"/>
            <a:ext cx="384048" cy="332586"/>
          </a:xfrm>
          <a:prstGeom prst="hexagon">
            <a:avLst/>
          </a:prstGeom>
          <a:solidFill>
            <a:srgbClr val="7A4A1E"/>
          </a:solidFill>
          <a:ln/>
        </p:spPr>
      </p:sp>
      <p:sp>
        <p:nvSpPr>
          <p:cNvPr id="37" name="match-hex-label"/>
          <p:cNvSpPr txBox="1"/>
          <p:nvPr/>
        </p:nvSpPr>
        <p:spPr>
          <a:xfrm>
            <a:off x="850392" y="535699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8" name="match-text"/>
          <p:cNvSpPr txBox="1"/>
          <p:nvPr/>
        </p:nvSpPr>
        <p:spPr>
          <a:xfrm>
            <a:off x="1298448" y="5084689"/>
            <a:ext cx="2829458" cy="87719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Profit from the return voyage</a:t>
            </a:r>
            <a:endParaRPr lang="en-US" sz="2000" dirty="0"/>
          </a:p>
        </p:txBody>
      </p:sp>
      <p:sp>
        <p:nvSpPr>
          <p:cNvPr id="39" name="match-card"/>
          <p:cNvSpPr/>
          <p:nvPr/>
        </p:nvSpPr>
        <p:spPr>
          <a:xfrm>
            <a:off x="4566818" y="5084689"/>
            <a:ext cx="6847637" cy="877199"/>
          </a:xfrm>
          <a:prstGeom prst="roundRect">
            <a:avLst>
              <a:gd name="adj" fmla="val 8339"/>
            </a:avLst>
          </a:prstGeom>
          <a:solidFill>
            <a:srgbClr val="F8F2E9"/>
          </a:solidFill>
          <a:ln/>
        </p:spPr>
      </p:sp>
      <p:sp>
        <p:nvSpPr>
          <p:cNvPr id="40" name="match-hex"/>
          <p:cNvSpPr/>
          <p:nvPr/>
        </p:nvSpPr>
        <p:spPr>
          <a:xfrm>
            <a:off x="4639970" y="5356996"/>
            <a:ext cx="384048" cy="332586"/>
          </a:xfrm>
          <a:prstGeom prst="hexagon">
            <a:avLst/>
          </a:prstGeom>
          <a:solidFill>
            <a:srgbClr val="B8862B"/>
          </a:solidFill>
          <a:ln/>
        </p:spPr>
      </p:sp>
      <p:sp>
        <p:nvSpPr>
          <p:cNvPr id="41" name="match-hex-label"/>
          <p:cNvSpPr txBox="1"/>
          <p:nvPr/>
        </p:nvSpPr>
        <p:spPr>
          <a:xfrm>
            <a:off x="4639970" y="535699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42" name="match-text"/>
          <p:cNvSpPr txBox="1"/>
          <p:nvPr/>
        </p:nvSpPr>
        <p:spPr>
          <a:xfrm>
            <a:off x="5088026" y="5084689"/>
            <a:ext cx="6253277" cy="87719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Used to buy more goods for the next outward journey</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7A4A1E"/>
                </a:solidFill>
                <a:latin typeface="Cambria" pitchFamily="34" charset="0"/>
                <a:ea typeface="Cambria" pitchFamily="34" charset="-122"/>
                <a:cs typeface="Cambria" pitchFamily="34" charset="-120"/>
              </a:rPr>
              <a:t>Same task, three ways in: What travelled on each leg</a:t>
            </a:r>
            <a:endParaRPr lang="en-US" sz="28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14400"/>
          </a:xfrm>
          <a:prstGeom prst="roundRect">
            <a:avLst>
              <a:gd name="adj" fmla="val 10000"/>
            </a:avLst>
          </a:prstGeom>
          <a:solidFill>
            <a:srgbClr val="FFFFFF"/>
          </a:solidFill>
          <a:ln w="31750">
            <a:solidFill>
              <a:srgbClr val="B8862B"/>
            </a:solidFill>
            <a:prstDash val="solid"/>
          </a:ln>
        </p:spPr>
      </p:sp>
      <p:sp>
        <p:nvSpPr>
          <p:cNvPr id="8" name="task-hex"/>
          <p:cNvSpPr/>
          <p:nvPr/>
        </p:nvSpPr>
        <p:spPr>
          <a:xfrm>
            <a:off x="777240" y="1530340"/>
            <a:ext cx="731520" cy="633496"/>
          </a:xfrm>
          <a:prstGeom prst="hexagon">
            <a:avLst/>
          </a:prstGeom>
          <a:solidFill>
            <a:srgbClr val="B8862B"/>
          </a:solidFill>
          <a:ln/>
        </p:spPr>
      </p:sp>
      <p:sp>
        <p:nvSpPr>
          <p:cNvPr id="9" name="task-hex-label"/>
          <p:cNvSpPr txBox="1"/>
          <p:nvPr/>
        </p:nvSpPr>
        <p:spPr>
          <a:xfrm>
            <a:off x="777240" y="153034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57276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3152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Match each part of the triangle to what happened on it.</a:t>
            </a:r>
            <a:endParaRPr lang="en-US" sz="2000" dirty="0"/>
          </a:p>
        </p:txBody>
      </p:sp>
      <p:sp>
        <p:nvSpPr>
          <p:cNvPr id="12" name="col-Support"/>
          <p:cNvSpPr/>
          <p:nvPr/>
        </p:nvSpPr>
        <p:spPr>
          <a:xfrm>
            <a:off x="548640" y="2578608"/>
            <a:ext cx="4667802" cy="3566160"/>
          </a:xfrm>
          <a:prstGeom prst="roundRect">
            <a:avLst>
              <a:gd name="adj" fmla="val 1538"/>
            </a:avLst>
          </a:prstGeom>
          <a:solidFill>
            <a:srgbClr val="F4F0EC"/>
          </a:solidFill>
          <a:ln/>
        </p:spPr>
      </p:sp>
      <p:sp>
        <p:nvSpPr>
          <p:cNvPr id="13" name="col-hex"/>
          <p:cNvSpPr/>
          <p:nvPr/>
        </p:nvSpPr>
        <p:spPr>
          <a:xfrm>
            <a:off x="658368" y="265176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15184"/>
            <a:ext cx="3936282"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18688"/>
            <a:ext cx="4393482" cy="281635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Start with the leg you know best: the Middle Passage carried people.</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Guns and cloth were made in Europe, so they travel away from Europe.</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Sugar, cotton and tobacco were grown in the Americas, so they travel from there.</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profit is what links the end of one triangle to the start of the next.</a:t>
            </a:r>
            <a:endParaRPr lang="en-US" sz="1800" dirty="0"/>
          </a:p>
        </p:txBody>
      </p:sp>
      <p:sp>
        <p:nvSpPr>
          <p:cNvPr id="17" name="col-Core"/>
          <p:cNvSpPr/>
          <p:nvPr/>
        </p:nvSpPr>
        <p:spPr>
          <a:xfrm>
            <a:off x="5490762" y="2578608"/>
            <a:ext cx="2938987" cy="3566160"/>
          </a:xfrm>
          <a:prstGeom prst="roundRect">
            <a:avLst>
              <a:gd name="adj" fmla="val 1867"/>
            </a:avLst>
          </a:prstGeom>
          <a:solidFill>
            <a:srgbClr val="E4DAD1"/>
          </a:solidFill>
          <a:ln/>
        </p:spPr>
      </p:sp>
      <p:sp>
        <p:nvSpPr>
          <p:cNvPr id="18" name="col-hex"/>
          <p:cNvSpPr/>
          <p:nvPr/>
        </p:nvSpPr>
        <p:spPr>
          <a:xfrm>
            <a:off x="5600490" y="265176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615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218688"/>
            <a:ext cx="2664667" cy="2816352"/>
          </a:xfrm>
          <a:prstGeom prst="rect">
            <a:avLst/>
          </a:prstGeom>
          <a:noFill/>
          <a:ln/>
        </p:spPr>
        <p:txBody>
          <a:bodyPr wrap="square" lIns="63500" tIns="63500" rIns="63500" bIns="63500" rtlCol="0" anchor="t"/>
          <a:lstStyle/>
          <a:p>
            <a:pPr algn="l" indent="0" marL="0">
              <a:buNone/>
            </a:pPr>
            <a:r>
              <a:rPr lang="en-US" sz="1800" b="1" dirty="0">
                <a:solidFill>
                  <a:srgbClr val="623B18"/>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Think about where each cargo was produced. Goods travel away from the place that made them.</a:t>
            </a:r>
            <a:endParaRPr lang="en-US" sz="1800" dirty="0"/>
          </a:p>
        </p:txBody>
      </p:sp>
      <p:sp>
        <p:nvSpPr>
          <p:cNvPr id="22" name="col-Stretch"/>
          <p:cNvSpPr/>
          <p:nvPr/>
        </p:nvSpPr>
        <p:spPr>
          <a:xfrm>
            <a:off x="8704069" y="2578608"/>
            <a:ext cx="2938987" cy="3566160"/>
          </a:xfrm>
          <a:prstGeom prst="roundRect">
            <a:avLst>
              <a:gd name="adj" fmla="val 1867"/>
            </a:avLst>
          </a:prstGeom>
          <a:solidFill>
            <a:srgbClr val="7A4A1E"/>
          </a:solidFill>
          <a:ln/>
        </p:spPr>
      </p:sp>
      <p:sp>
        <p:nvSpPr>
          <p:cNvPr id="23" name="col-hex"/>
          <p:cNvSpPr/>
          <p:nvPr/>
        </p:nvSpPr>
        <p:spPr>
          <a:xfrm>
            <a:off x="8813797" y="265176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615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218688"/>
            <a:ext cx="2664667" cy="281635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why the triangle made a profit on all three legs, and why that made it so attractive to investors in Liverpool and London.</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Which leg is this?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A ship is carrying barrels of sugar from a plantation in Jamaica. Which leg of the Triangular Trade is it on?</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return voyage</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Middle Passage</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outward journey</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None of them: sugar was not part of the triangle</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Same task, three ways in: Which leg is this?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29640"/>
          </a:xfrm>
          <a:prstGeom prst="roundRect">
            <a:avLst>
              <a:gd name="adj" fmla="val 9836"/>
            </a:avLst>
          </a:prstGeom>
          <a:solidFill>
            <a:srgbClr val="FFFFFF"/>
          </a:solidFill>
          <a:ln w="31750">
            <a:solidFill>
              <a:srgbClr val="B8862B"/>
            </a:solidFill>
            <a:prstDash val="solid"/>
          </a:ln>
        </p:spPr>
      </p:sp>
      <p:sp>
        <p:nvSpPr>
          <p:cNvPr id="8" name="task-hex"/>
          <p:cNvSpPr/>
          <p:nvPr/>
        </p:nvSpPr>
        <p:spPr>
          <a:xfrm>
            <a:off x="777240" y="1537960"/>
            <a:ext cx="731520" cy="633496"/>
          </a:xfrm>
          <a:prstGeom prst="hexagon">
            <a:avLst/>
          </a:prstGeom>
          <a:solidFill>
            <a:srgbClr val="B8862B"/>
          </a:solidFill>
          <a:ln/>
        </p:spPr>
      </p:sp>
      <p:sp>
        <p:nvSpPr>
          <p:cNvPr id="9" name="task-hex-label"/>
          <p:cNvSpPr txBox="1"/>
          <p:nvPr/>
        </p:nvSpPr>
        <p:spPr>
          <a:xfrm>
            <a:off x="777240" y="153796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58038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4676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A ship is carrying barrels of sugar from a plantation in Jamaica. Which leg of the Triangular Trade is it on?</a:t>
            </a:r>
            <a:endParaRPr lang="en-US" sz="2000" dirty="0"/>
          </a:p>
        </p:txBody>
      </p:sp>
      <p:sp>
        <p:nvSpPr>
          <p:cNvPr id="12" name="col-Support"/>
          <p:cNvSpPr/>
          <p:nvPr/>
        </p:nvSpPr>
        <p:spPr>
          <a:xfrm>
            <a:off x="548640" y="2593848"/>
            <a:ext cx="4667802" cy="3550920"/>
          </a:xfrm>
          <a:prstGeom prst="roundRect">
            <a:avLst>
              <a:gd name="adj" fmla="val 1545"/>
            </a:avLst>
          </a:prstGeom>
          <a:solidFill>
            <a:srgbClr val="F4F0EC"/>
          </a:solidFill>
          <a:ln/>
        </p:spPr>
      </p:sp>
      <p:sp>
        <p:nvSpPr>
          <p:cNvPr id="13" name="col-hex"/>
          <p:cNvSpPr/>
          <p:nvPr/>
        </p:nvSpPr>
        <p:spPr>
          <a:xfrm>
            <a:off x="658368" y="266700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30424"/>
            <a:ext cx="3936282"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33928"/>
            <a:ext cx="4393482" cy="280111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Ask where this cargo was grown or made.</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Plantation crops were grown in the Americas.</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Cargo leaves the place that produced it, so the ship is leaving the Americas.</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leg that leaves the Americas is the return voyage to Europe.</a:t>
            </a:r>
            <a:endParaRPr lang="en-US" sz="1800" dirty="0"/>
          </a:p>
        </p:txBody>
      </p:sp>
      <p:sp>
        <p:nvSpPr>
          <p:cNvPr id="17" name="col-Core"/>
          <p:cNvSpPr/>
          <p:nvPr/>
        </p:nvSpPr>
        <p:spPr>
          <a:xfrm>
            <a:off x="5490762" y="2593848"/>
            <a:ext cx="2938987" cy="3550920"/>
          </a:xfrm>
          <a:prstGeom prst="roundRect">
            <a:avLst>
              <a:gd name="adj" fmla="val 1867"/>
            </a:avLst>
          </a:prstGeom>
          <a:solidFill>
            <a:srgbClr val="E4DAD1"/>
          </a:solidFill>
          <a:ln/>
        </p:spPr>
      </p:sp>
      <p:sp>
        <p:nvSpPr>
          <p:cNvPr id="18" name="col-hex"/>
          <p:cNvSpPr/>
          <p:nvPr/>
        </p:nvSpPr>
        <p:spPr>
          <a:xfrm>
            <a:off x="5600490" y="266700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630424"/>
            <a:ext cx="2207467"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233928"/>
            <a:ext cx="2664667" cy="2801112"/>
          </a:xfrm>
          <a:prstGeom prst="rect">
            <a:avLst/>
          </a:prstGeom>
          <a:noFill/>
          <a:ln/>
        </p:spPr>
        <p:txBody>
          <a:bodyPr wrap="square" lIns="63500" tIns="63500" rIns="63500" bIns="63500" rtlCol="0" anchor="t"/>
          <a:lstStyle/>
          <a:p>
            <a:pPr algn="l" indent="0" marL="0">
              <a:buNone/>
            </a:pPr>
            <a:r>
              <a:rPr lang="en-US" sz="1800" b="1" dirty="0">
                <a:solidFill>
                  <a:srgbClr val="623B18"/>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Where was this cargo produced? The ship is leaving that place.</a:t>
            </a:r>
            <a:endParaRPr lang="en-US" sz="1800" dirty="0"/>
          </a:p>
        </p:txBody>
      </p:sp>
      <p:sp>
        <p:nvSpPr>
          <p:cNvPr id="22" name="col-Stretch"/>
          <p:cNvSpPr/>
          <p:nvPr/>
        </p:nvSpPr>
        <p:spPr>
          <a:xfrm>
            <a:off x="8704069" y="2593848"/>
            <a:ext cx="2938987" cy="3550920"/>
          </a:xfrm>
          <a:prstGeom prst="roundRect">
            <a:avLst>
              <a:gd name="adj" fmla="val 1867"/>
            </a:avLst>
          </a:prstGeom>
          <a:solidFill>
            <a:srgbClr val="7A4A1E"/>
          </a:solidFill>
          <a:ln/>
        </p:spPr>
      </p:sp>
      <p:sp>
        <p:nvSpPr>
          <p:cNvPr id="23" name="col-hex"/>
          <p:cNvSpPr/>
          <p:nvPr/>
        </p:nvSpPr>
        <p:spPr>
          <a:xfrm>
            <a:off x="8813797" y="266700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63042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233928"/>
            <a:ext cx="2664667" cy="280111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why enslaved people could never be on the outward or return legs, and what that tells you about how the traders thought of them.</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7A4A1E"/>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7A4A1E"/>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1363980"/>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The second leg of the triangle, from West Africa to the Americas, was called the ___.</a:t>
            </a:r>
            <a:endParaRPr lang="en-US" sz="2400" dirty="0"/>
          </a:p>
          <a:p>
            <a:pPr algn="l" indent="0" marL="0">
              <a:buNone/>
            </a:pPr>
            <a:r>
              <a:rPr lang="en-US" sz="2200" b="1" dirty="0">
                <a:solidFill>
                  <a:srgbClr val="7A4A1E"/>
                </a:solidFill>
                <a:latin typeface="Calibri" pitchFamily="34" charset="0"/>
                <a:ea typeface="Calibri" pitchFamily="34" charset="-122"/>
                <a:cs typeface="Calibri" pitchFamily="34" charset="-120"/>
              </a:rPr>
              <a:t>Word bank:  </a:t>
            </a:r>
            <a:pPr algn="l" indent="0" marL="0">
              <a:buNone/>
            </a:pPr>
            <a:r>
              <a:rPr lang="en-US" sz="2200" dirty="0">
                <a:solidFill>
                  <a:srgbClr val="1E2229"/>
                </a:solidFill>
                <a:latin typeface="Calibri" pitchFamily="34" charset="0"/>
                <a:ea typeface="Calibri" pitchFamily="34" charset="-122"/>
                <a:cs typeface="Calibri" pitchFamily="34" charset="-120"/>
              </a:rPr>
              <a:t>Middle Passage   ·   outward journey   ·   return voyage</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8F5F3"/>
          </a:solidFill>
          <a:ln w="12700">
            <a:solidFill>
              <a:srgbClr val="BEA792"/>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What travelled on each leg</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8F2E9"/>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Outward journey  →  B  Europe to West Africa, carrying guns, cloth and manufactured goods</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Middle Passage  →  A  West Africa to the Americas, carrying enslaved people</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Return voyage  →  C  The Americas to Europe, carrying sugar, cotton, tobacco and coffee</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Profit from the return voyage  →  D  Used to buy more goods for the next outward journey</a:t>
            </a:r>
            <a:endParaRPr lang="en-US" sz="2200" dirty="0"/>
          </a:p>
        </p:txBody>
      </p:sp>
      <p:sp>
        <p:nvSpPr>
          <p:cNvPr id="10" name="why-panel"/>
          <p:cNvSpPr/>
          <p:nvPr/>
        </p:nvSpPr>
        <p:spPr>
          <a:xfrm>
            <a:off x="7223760" y="1389888"/>
            <a:ext cx="4419295" cy="4754880"/>
          </a:xfrm>
          <a:prstGeom prst="roundRect">
            <a:avLst>
              <a:gd name="adj" fmla="val 1035"/>
            </a:avLst>
          </a:prstGeom>
          <a:solidFill>
            <a:srgbClr val="F4F0EC"/>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Manufactured goods went out from Europe; enslaved people were carried across on the Middle Passage; plantation crops came back to Europe; and the profit started the next voyage.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Which leg is this?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8F2E9"/>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 ship is carrying barrels of sugar from a plantation in Jamaica. Which leg of the Triangular Trade is it on?</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A   The return voyage</a:t>
            </a:r>
            <a:endParaRPr lang="en-US" sz="1800" dirty="0"/>
          </a:p>
        </p:txBody>
      </p:sp>
      <p:sp>
        <p:nvSpPr>
          <p:cNvPr id="10" name="why-panel"/>
          <p:cNvSpPr/>
          <p:nvPr/>
        </p:nvSpPr>
        <p:spPr>
          <a:xfrm>
            <a:off x="7223760" y="1389888"/>
            <a:ext cx="4419295" cy="4754880"/>
          </a:xfrm>
          <a:prstGeom prst="roundRect">
            <a:avLst>
              <a:gd name="adj" fmla="val 1035"/>
            </a:avLst>
          </a:prstGeom>
          <a:solidFill>
            <a:srgbClr val="F4F0EC"/>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Plantation crops were produced in the Americas and travelled to Europe, so sugar, cotton, tobacco and coffee always belong to the return voyage.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8F2E9"/>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The second leg of the triangle, from West Africa to the Americas, was called the ___.</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The second leg of the triangle, from West Africa to the Americas, was called the Middle Passage.</a:t>
            </a:r>
            <a:endParaRPr lang="en-US" sz="1800" dirty="0"/>
          </a:p>
        </p:txBody>
      </p:sp>
      <p:sp>
        <p:nvSpPr>
          <p:cNvPr id="10" name="why-panel"/>
          <p:cNvSpPr/>
          <p:nvPr/>
        </p:nvSpPr>
        <p:spPr>
          <a:xfrm>
            <a:off x="7223760" y="1389888"/>
            <a:ext cx="4419295" cy="4754880"/>
          </a:xfrm>
          <a:prstGeom prst="roundRect">
            <a:avLst>
              <a:gd name="adj" fmla="val 1035"/>
            </a:avLst>
          </a:prstGeom>
          <a:solidFill>
            <a:srgbClr val="F4F0EC"/>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Middle Passage is the second leg, on which enslaved people were carried from West Africa to the Americas.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theme/theme1.xml><?xml version="1.0" encoding="utf-8"?>
<a:theme xmlns:a="http://schemas.openxmlformats.org/drawingml/2006/main" name="Ad Astra history">
  <a:themeElements>
    <a:clrScheme name="Ad Astra history">
      <a:dk1>
        <a:srgbClr val="1E2229"/>
      </a:dk1>
      <a:lt1>
        <a:srgbClr val="FFFFFF"/>
      </a:lt1>
      <a:dk2>
        <a:srgbClr val="623B18"/>
      </a:dk2>
      <a:lt2>
        <a:srgbClr val="F4F0EC"/>
      </a:lt2>
      <a:accent1>
        <a:srgbClr val="7A4A1E"/>
      </a:accent1>
      <a:accent2>
        <a:srgbClr val="B8862B"/>
      </a:accent2>
      <a:accent3>
        <a:srgbClr val="AF9278"/>
      </a:accent3>
      <a:accent4>
        <a:srgbClr val="815E1E"/>
      </a:accent4>
      <a:accent5>
        <a:srgbClr val="4A505C"/>
      </a:accent5>
      <a:accent6>
        <a:srgbClr val="DDC498"/>
      </a:accent6>
      <a:hlink>
        <a:srgbClr val="7A4A1E"/>
      </a:hlink>
      <a:folHlink>
        <a:srgbClr val="553415"/>
      </a:folHlink>
    </a:clrScheme>
    <a:fontScheme name="Ad Astra histor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Slave Trade · Chapter 2: The Triangular Trade and Britain's part in it</dc:title>
  <dc:subject>History · Year 8</dc:subject>
  <dc:creator>Dr Vitor Merissi de Carvalho</dc:creator>
  <cp:lastModifiedBy>Dr Vitor Merissi de Carvalho</cp:lastModifiedBy>
  <cp:revision>1</cp:revision>
  <dcterms:created xsi:type="dcterms:W3CDTF">2026-10-19T06:08:02Z</dcterms:created>
  <dcterms:modified xsi:type="dcterms:W3CDTF">2026-10-19T06:08:02Z</dcterms:modified>
</cp:coreProperties>
</file>