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f73625-dbbf-643f-456c-52aca70fa0d5}">
          <p14:sldIdLst>
            <p14:sldId id="256"/>
          </p14:sldIdLst>
        </p14:section>
        <p14:section name="Gate" id="{6054f2cd-526c-ab8f-d96b-3e6f8f84101c}">
          <p14:sldIdLst>
            <p14:sldId id="257"/>
            <p14:sldId id="258"/>
          </p14:sldIdLst>
        </p14:section>
        <p14:section name="Pre-teach" id="{ec48beb4-8172-480f-d88f-fa394d5c09d1}">
          <p14:sldIdLst>
            <p14:sldId id="259"/>
            <p14:sldId id="260"/>
          </p14:sldIdLst>
        </p14:section>
        <p14:section name="Read-along" id="{53fd7571-9d37-b472-e8a6-30a56fcc96a4}">
          <p14:sldIdLst>
            <p14:sldId id="261"/>
            <p14:sldId id="262"/>
          </p14:sldIdLst>
        </p14:section>
        <p14:section name="Teach" id="{7185e46c-eb42-d931-9f61-c91b6f2a4718}">
          <p14:sldIdLst>
            <p14:sldId id="263"/>
            <p14:sldId id="264"/>
            <p14:sldId id="265"/>
            <p14:sldId id="266"/>
          </p14:sldIdLst>
        </p14:section>
        <p14:section name="Routes" id="{0031b8a1-17e0-9180-69ec-4606b8819cfa}">
          <p14:sldIdLst>
            <p14:sldId id="267"/>
            <p14:sldId id="268"/>
            <p14:sldId id="269"/>
          </p14:sldIdLst>
        </p14:section>
        <p14:section name="Close" id="{4d911ee4-0668-f0de-9932-ad8aeaa96f5a}">
          <p14:sldIdLst>
            <p14:sldId id="270"/>
          </p14:sldIdLst>
        </p14:section>
        <p14:section name="Answers" id="{4e229459-708b-68ea-d37d-ffea26b4baf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Abolition: the people and the reasons that ended slavery. Who the abolitionists were, including the formerly enslaved people who led the campaign, the economic reasons that helped, and the Acts of 1807 and 1833.
This deck covers the department's lesson: 5 (The abolition of the Slave Trade: Why was slavery finally abolished across the British Empire in 1833?).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Parliament pass the Act that ended slavery across the British Empire?  →  1833
2. Olaudah Equiano and Ottobah Cugoano were ___ enslaved people who campaigned against slavery.  →  formerly
3. Who received the twenty million pounds compensation paid by the British government in the 1830s?  →  B   Slave owners, for the loss of what they called their property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1833. The Abolition Act of 1833 ended slavery itself across the British Empire. 1807 had ended only the trade.
2. formerly. Both men had been enslaved and later gained their freedom; they used their own experience in the campaign.
3. B   Slave owners, for the loss of what they called their property. The compensation went to the owners. The people who had been enslaved received nothing, which is why the scheme is remembered as unfair.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abolition: ending something for good. Example: "The abolition of slavery across the British Empire came in 1833."
• abolitionist: a person who campaigned to end the Slave Trade and slavery. Example: "Olaudah Equiano was an abolitionist who had himself been enslaved."
• Quakers: a Christian group who believed all people were equal before God. Example: "The Quakers were among the first to campaign against slavery."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compensation: money paid to make up for a loss. Example: "Slave owners were paid compensation for the people they lost."
• apprenticeship: the system that replaced slavery and tied freed people to their old plantations until 1838. Example: "Apprenticeship meant freedom did not fully arrive in 1833."
• campaign: organised action to change something. Example: "The campaign against slavery used books, speeches and petitions."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Abolition means ending something for good.
2. Abolitionists were people who campaigned to end the Slave Trade and slavery.
3. Formerly enslaved people such as Olaudah Equiano and Ottobah Cugoano spoke and wrote against slavery.
4. Equiano set up a group in London for formerly enslaved people.
5. Phillis Wheatley, who had been enslaved as a child, became a published poet.
6. The Quakers, a Christian group, believed all people were equal before God.
7. Working-class people in Britain also opposed the trade.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Some politicians took the campaign into Parliament.
9. The trade was also making less money than before.
10. In 1807, Parliament banned the buying and selling of enslaved people in the British Empire.
11. In 1833, a new Act ended slavery itself across the Empire.
12. Freed people had to work as apprentices until 1838.
13. Slave owners were paid twenty million pounds in compensation.
14. The people who had been enslaved received nothing.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abolitionists?. Say it in your own words, then check understanding with a quick question: ask a pupil from the pre-teach group first, since they met these words and ideas before the lesson. Pupils try to recall before you re-explain.
Your lesson divides the abolitionists into two groups. The first is formerly enslaved people. Olaudah Equiano had been enslaved as a boy; he bought his freedom, settled in London and in 1789 published the story of his life, which was read across Britain. He also founded a group in London for formerly enslaved people, the Sons of Africa. Ottobah Cugoano, who had also been enslaved, wrote against the trade and worked alongside Equiano. Phillis Wheatley, taken from Africa as a child, became a published poet whose work showed readers what the trade had tried to deny.
The second group is British people. The Quakers believed all people were equal before God, and they were among the earliest and most determined campaigners. Working-class people in Britain opposed the trade too, and some refused to buy sugar grown by enslaved people. British politicians took the arguments into Parliament, where the law could be changed.
Enslaved people in the Caribbean were also part of the story. Their resistance, from everyday acts to open uprisings, made the plantations harder and more expensive to run, and gave the campaigners in Britain evidence that the system could not last.
Tip: Your lesson asks which figures played the biggest role. Have a view, but give both sides: the formerly enslaved writers gave the campaign its voice; the politicians gave it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reasons: the trade was making less money. Say it in your own words, then check understanding with a quick question: ask a pupil from the pre-teach group first, since they met these words and ideas before the lesson. Pupils try to recall before you re-explain.
The trade in enslaved Africans was not making as much money as it used to. In the 1770s the price of sugar dropped. Many large British-owned sugar plantations in the Caribbean could not make a profit and closed down, and with fewer plantations, fewer enslaved people were needed.
Your lesson gives one striking example: in 1771, plantation owners in Barbados bought 2,728 enslaved people from Africa. The following year they bought none. With fewer people making enormous profits, there were fewer people to argue in Parliament for keeping the trade.
Some people also claimed that enslaved people did not work as hard as people who were paid, because they had no reward to work for. Whether or not that was fair, it meant that by the start of the 1800s some owners and traders themselves thought the trade no longer made sense.
Worked example — model it step by step, thinking aloud: Explain one economic reason why the Slave Trade was abolished. (1) Point: one economic reason was that the trade was making less money than before. (2) Evidence: in the 1770s the price of sugar fell, plantations closed, and in Barbados purchases of enslaved people dropped from 2,728 in 1771 to none the next year. (3) Explain: with fewer people making huge profits, fewer people fought to keep the trade, so Parliament found it easier to act. (4) Link: this does not mean the abolitionists did not matter; it means their arguments met less resistance. Answer: Falling sugar prices and closing plantations meant the trade made less money, so fewer powerful people defended it and Parliament could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reasons: the trade was making less money. Say it in your own words, then check understanding with a quick question: ask a pupil from the pre-teach group first, since they met these words and ideas before the lesson. Pupils try to recall before you re-explain.
The trade in enslaved Africans was not making as much money as it used to. In the 1770s the price of sugar dropped. Many large British-owned sugar plantations in the Caribbean could not make a profit and closed down, and with fewer plantations, fewer enslaved people were needed.
Your lesson gives one striking example: in 1771, plantation owners in Barbados bought 2,728 enslaved people from Africa. The following year they bought none. With fewer people making enormous profits, there were fewer people to argue in Parliament for keeping the trade.
Some people also claimed that enslaved people did not work as hard as people who were paid, because they had no reward to work for. Whether or not that was fair, it meant that by the start of the 1800s some owners and traders themselves thought the trade no longer made sense.
Worked example — model it step by step, thinking aloud: Explain one economic reason why the Slave Trade was abolished. (1) Point: one economic reason was that the trade was making less money than before. (2) Evidence: in the 1770s the price of sugar fell, plantations closed, and in Barbados purchases of enslaved people dropped from 2,728 in 1771 to none the next year. (3) Explain: with fewer people making huge profits, fewer people fought to keep the trade, so Parliament found it easier to act. (4) Link: this does not mean the abolitionists did not matter; it means their arguments met less resistance. Answer: Falling sugar prices and closing plantations meant the trade made less money, so fewer powerful people defended it and Parliament could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Acts, apprenticeship and compensation. Say it in your own words, then check understanding with a quick question: ask a pupil from the pre-teach group first, since they met these words and ideas before the lesson. Pupils try to recall before you re-explain.
There were two steps in law. In 1807, Parliament passed an Act banning the buying and selling of enslaved people within the British Empire: the trade was abolished, but slavery itself continued. In 1833, the Abolition Act finally ended slavery across the British Empire.
Even then, freedom was delayed. The 1833 Act replaced slavery with a system called apprenticeship, which tied the freed people to the land they had worked until 1838. To win the backing of the slave owners, the government also set up a compensation scheme and paid them twenty million pounds for the loss of what they called their property. The people who had been enslaved received nothing.
In recent years some historians have criticised the British government for paying the owners. Your lesson asks whether this was a fair price to pay for ending slavery. Think about who gained, who paid, and what the word compensation says about whose loss was being counted.
Tip: 1807 ended the trade; 1833 ended slavery; 1838 ended apprenticeship. Learn the three dates as a staircase.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Abolition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Each event has a date in brackets. Read all six dates first. (2) Find the smallest number: that event comes first. (3) Cross it off and find the next smallest. (4) Check the story makes sense: the trade is banned before slavery, and slavery ends before apprenticeship.
Parallel worked example for Support (model it, do not give the task answer): Put in order: the Battle of Hastings (1066), the Domesday Book (1086), the death of Edward the Confessor (1066, January), the building of the White Tower (1078). Two events are in 1066; Edward died in January, before the battle in October.; Then 1078, then 1086.. Answer: Edward dies; Hastings; the White Tower; Domesday.
Core — reveal the hint only on request: Smallest date first. The trade ends before slavery does, and apprenticeship comes last.
Stretch — no help; when finished: Explain how the first three events (Norris, the Zong, Equiano) could each have helped bring about the fourth (the 1807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Abolition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Each event has a date in brackets. Read all six dates first. (2) Find the smallest number: that event comes first. (3) Cross it off and find the next smallest. (4) Check the story makes sense: the trade is banned before slavery, and slavery ends before apprenticeship.
Parallel worked example for Support (model it, do not give the task answer): Put in order: the Battle of Hastings (1066), the Domesday Book (1086), the death of Edward the Confessor (1066, January), the building of the White Tower (1078). Two events are in 1066; Edward died in January, before the battle in October.; Then 1078, then 1086.. Answer: Edward dies; Hastings; the White Tower; Domesday.
Core — reveal the hint only on request: Smallest date first. The trade ends before slavery does, and apprenticeship comes last.
Stretch — no help; when finished: Explain how the first three events (Norris, the Zong, Equiano) could each have helped bring about the fourth (the 1807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between the Acts?.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many years passed between the Act that banned the trade in enslaved people (1807) and the Act that abolished slavery (1833)?
Support — work through the steps with the group: (1) Write the later date first: 1833. (2) Subtract the earlier date: 1833 − 1807. (3) Take 1807 from 1833 in two parts: the 18 hundreds cancel, and 33 − 7 = 26. (4) Check it makes sense: a bit more than a quarter of a century.
Parallel worked example for Support (model it, do not give the task answer): How many years passed between the Battle of Hastings (1066) and the Domesday Book (1086)? Later date first: 1086.; Subtract: 1086 − 1066.; 1086 − 1066 = 20.. Answer: 20 years.
Core — reveal the hint only on request: Later date minus earlier date. Do not use 1838; that is apprenticeship, not the Act.
Stretch — no help; when finished: Explain what the twenty-six-year gap tells you about how Parliament thought about the trade compared with slavery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Parliament pass the Act that ended slavery across the British Empire?
Answer: 1833. The Abolition Act of 1833 ended slavery itself across the British Empire. 1807 had ended only the trade.
Source of this question: gate item 1 re-asked (options rotated) — this chapter has no third quick-check module.
The ebook also holds task 3, "Why was slavery abolished?",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Abolition in order. Reveal the answer; pupils mark their own work in a different colour, then read the "why" together. Same destination for every lane, so one answer serves the whole class.
Answer: Robert Norris, a slave trader, tells Parliament that conditions on slave ships are good (1778)  (F); The captain of the Zong throws more than 100 people overboard (1781)  (B); Olaudah Equiano publishes the story of his life (1789)  (E); Parliament bans the buying and selling of enslaved people in the British Empire (1807)  (D); The Abolition Act ends slavery across the British Empire (1833)  (C); The apprenticeship system ends (1838)  (A)
Why: 1778 Norris; 1781 the Zong; 1789 Equiano's book; 1807 the trade banned; 1833 slavery abolished; 1838 apprenticeship ends.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between the Acts?. Reveal the answer; pupils mark their own work in a different colour, then read the "why" together. Same destination for every lane, so one answer serves the whole class.
Answer: 26 years
Why: 1833 − 1807 = 26 years. The gap matters: banning the trade in 1807 stopped new people being taken, but did nothing for those already enslaved until 1833.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1833
Why: The Abolition Act of 1833 ended slavery itself across the British Empire. 1807 had ended only the trade.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Abolition: the people and the reasons that ended slavery</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4F0EC"/>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abolition of the Slave Trade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which year did Parliament pass the Act that ended slavery across the British Empire?</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a:t>
            </a:r>
            <a:endParaRPr lang="en-US" sz="2200" dirty="0"/>
          </a:p>
        </p:txBody>
      </p:sp>
      <p:sp>
        <p:nvSpPr>
          <p:cNvPr id="12"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Olaudah Equiano and Ottobah Cugoano were ___ enslaved people who campaigned against slavery.</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formerly  ·  never  ·  British-born</a:t>
            </a:r>
            <a:endParaRPr lang="en-US" sz="2000" dirty="0"/>
          </a:p>
        </p:txBody>
      </p:sp>
      <p:sp>
        <p:nvSpPr>
          <p:cNvPr id="17"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Who received the twenty million pounds compensation paid by the British government in the 1830s?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people who had been enslaved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Slave owners, for the loss of what they called their property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African kingdoms the people had been taken from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abolitionists, to repay their campaign costs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1833</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Abolition Act of 1833 ended slavery itself across the British Empire. 1807 had ended only the trade.</a:t>
            </a:r>
            <a:endParaRPr lang="en-US" sz="1800" dirty="0"/>
          </a:p>
        </p:txBody>
      </p:sp>
      <p:sp>
        <p:nvSpPr>
          <p:cNvPr id="14"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formerly</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Both men had been enslaved and later gained their freedom; they used their own experience in the campaign.</a:t>
            </a:r>
            <a:endParaRPr lang="en-US" sz="1800" dirty="0"/>
          </a:p>
        </p:txBody>
      </p:sp>
      <p:sp>
        <p:nvSpPr>
          <p:cNvPr id="21"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Slave owners, for the loss of what they called their property</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received the twenty million pounds compensation paid by the British government in the 1830s?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compensation went to the owners. The people who had been enslaved received nothing, which is why the scheme is remembered as unfair.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abolition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ending something for good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abolition of slavery across the British Empire came in 1833.</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abolitionist</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campaigned to end the Slave Trade and slavery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Olaudah Equiano was an abolitionist who had himself been enslaved.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Quakers</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Christian group who believed all people were equal before God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Quakers were among the first to campaign against slavery.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compensation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money paid to make up for a loss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Slave owners were paid compensation for the people they lost.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apprenticeship</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system that replaced slavery and tied freed people to their old plantations until 1838</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Apprenticeship meant freedom did not fully arrive in 1833.</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campaign</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organised action to change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campaign against slavery used books, speeches and petitions.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Abolition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ending something for good.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Abolitionists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people who campaigned to end the Slave Trade and slavery.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Formerly enslaved people such as Olaudah Equiano and Ottobah Cugoano spoke and wrote against slavery.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Equiano set up a group in London for formerly enslaved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Phillis Wheatley, who had been enslaved as a child, became a published poet.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Quakers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 Christian group, believed all people were equal before God.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Working-class people in Britain also opposed the trade.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politicians took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campaign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into Parliament.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trade was also making less money than before.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1807, Parliament banned the buying and selling of enslaved people in the British Empire.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1833, a new Act ended slavery itself across the Empire.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Freed people had to work as apprentices until 1838.</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Slave owners were paid twenty million pounds in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compensation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people who had been enslaved received nothing.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abolitionists?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lesson asks which figures played the biggest role. Have a view, but give both sides: the formerly enslaved writers gave the campaign its voice; the politicians gave it the law.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divides the abolitionists into two groups. The first is formerly enslaved people.</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second group is British people. The Quakers believed all people were equal before God, and they were among the earliest and most determined campaigners.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Enslaved people in the Caribbean were also part of the story.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Economic reasons: the trade was making less money</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trade in enslaved Africans was not making as much money as it used to.</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one striking example: in 1771, plantation owners in Barbados bought 2,728 enslaved people from Africa.</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people also claimed that enslaved people did not work as hard as people who were paid, because they had no reward to work for.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Economic reasons: the trade was making less money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one economic reason why the Slave Trade was abolished.</a:t>
            </a:r>
            <a:endParaRPr lang="en-US" sz="2000" dirty="0"/>
          </a:p>
        </p:txBody>
      </p:sp>
      <p:sp>
        <p:nvSpPr>
          <p:cNvPr id="9" name="step-box"/>
          <p:cNvSpPr/>
          <p:nvPr/>
        </p:nvSpPr>
        <p:spPr>
          <a:xfrm>
            <a:off x="548640" y="2192528"/>
            <a:ext cx="11094415" cy="522224"/>
          </a:xfrm>
          <a:prstGeom prst="roundRect">
            <a:avLst>
              <a:gd name="adj" fmla="val 14008"/>
            </a:avLst>
          </a:prstGeom>
          <a:solidFill>
            <a:srgbClr val="FFFFFF"/>
          </a:solidFill>
          <a:ln w="15875">
            <a:solidFill>
              <a:srgbClr val="B69B83"/>
            </a:solidFill>
            <a:prstDash val="solid"/>
          </a:ln>
        </p:spPr>
      </p:sp>
      <p:sp>
        <p:nvSpPr>
          <p:cNvPr id="10" name="step-hex"/>
          <p:cNvSpPr/>
          <p:nvPr/>
        </p:nvSpPr>
        <p:spPr>
          <a:xfrm>
            <a:off x="685800" y="2255672"/>
            <a:ext cx="457200" cy="395935"/>
          </a:xfrm>
          <a:prstGeom prst="hexagon">
            <a:avLst/>
          </a:prstGeom>
          <a:solidFill>
            <a:srgbClr val="7A4A1E"/>
          </a:solidFill>
          <a:ln/>
        </p:spPr>
      </p:sp>
      <p:sp>
        <p:nvSpPr>
          <p:cNvPr id="11" name="step-hex-label"/>
          <p:cNvSpPr txBox="1"/>
          <p:nvPr/>
        </p:nvSpPr>
        <p:spPr>
          <a:xfrm>
            <a:off x="685800" y="22556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one economic reason was that the trade was making less money than before.</a:t>
            </a:r>
            <a:endParaRPr lang="en-US" sz="1800" dirty="0"/>
          </a:p>
        </p:txBody>
      </p:sp>
      <p:sp>
        <p:nvSpPr>
          <p:cNvPr id="13" name="step-box"/>
          <p:cNvSpPr/>
          <p:nvPr/>
        </p:nvSpPr>
        <p:spPr>
          <a:xfrm>
            <a:off x="548640" y="2787904"/>
            <a:ext cx="11094415" cy="786384"/>
          </a:xfrm>
          <a:prstGeom prst="roundRect">
            <a:avLst>
              <a:gd name="adj" fmla="val 9302"/>
            </a:avLst>
          </a:prstGeom>
          <a:solidFill>
            <a:srgbClr val="FFFFFF"/>
          </a:solidFill>
          <a:ln w="15875">
            <a:solidFill>
              <a:srgbClr val="B69B83"/>
            </a:solidFill>
            <a:prstDash val="solid"/>
          </a:ln>
        </p:spPr>
      </p:sp>
      <p:sp>
        <p:nvSpPr>
          <p:cNvPr id="14" name="step-hex"/>
          <p:cNvSpPr/>
          <p:nvPr/>
        </p:nvSpPr>
        <p:spPr>
          <a:xfrm>
            <a:off x="685800" y="2983128"/>
            <a:ext cx="457200" cy="395935"/>
          </a:xfrm>
          <a:prstGeom prst="hexagon">
            <a:avLst/>
          </a:prstGeom>
          <a:solidFill>
            <a:srgbClr val="7A4A1E"/>
          </a:solidFill>
          <a:ln/>
        </p:spPr>
      </p:sp>
      <p:sp>
        <p:nvSpPr>
          <p:cNvPr id="15" name="step-hex-label"/>
          <p:cNvSpPr txBox="1"/>
          <p:nvPr/>
        </p:nvSpPr>
        <p:spPr>
          <a:xfrm>
            <a:off x="685800" y="298312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7904"/>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in the 1770s the price of sugar fell, plantations closed, and in Barbados purchases of enslaved people dropped from 2,728 in 1771 to none the next year.</a:t>
            </a:r>
            <a:endParaRPr lang="en-US" sz="1800" dirty="0"/>
          </a:p>
        </p:txBody>
      </p:sp>
      <p:sp>
        <p:nvSpPr>
          <p:cNvPr id="17" name="step-box"/>
          <p:cNvSpPr/>
          <p:nvPr/>
        </p:nvSpPr>
        <p:spPr>
          <a:xfrm>
            <a:off x="548640" y="3647440"/>
            <a:ext cx="11094415" cy="786384"/>
          </a:xfrm>
          <a:prstGeom prst="roundRect">
            <a:avLst>
              <a:gd name="adj" fmla="val 9302"/>
            </a:avLst>
          </a:prstGeom>
          <a:solidFill>
            <a:srgbClr val="FFFFFF"/>
          </a:solidFill>
          <a:ln w="15875">
            <a:solidFill>
              <a:srgbClr val="B69B83"/>
            </a:solidFill>
            <a:prstDash val="solid"/>
          </a:ln>
        </p:spPr>
      </p:sp>
      <p:sp>
        <p:nvSpPr>
          <p:cNvPr id="18" name="step-hex"/>
          <p:cNvSpPr/>
          <p:nvPr/>
        </p:nvSpPr>
        <p:spPr>
          <a:xfrm>
            <a:off x="685800" y="3842664"/>
            <a:ext cx="457200" cy="395935"/>
          </a:xfrm>
          <a:prstGeom prst="hexagon">
            <a:avLst/>
          </a:prstGeom>
          <a:solidFill>
            <a:srgbClr val="7A4A1E"/>
          </a:solidFill>
          <a:ln/>
        </p:spPr>
      </p:sp>
      <p:sp>
        <p:nvSpPr>
          <p:cNvPr id="19" name="step-hex-label"/>
          <p:cNvSpPr txBox="1"/>
          <p:nvPr/>
        </p:nvSpPr>
        <p:spPr>
          <a:xfrm>
            <a:off x="685800" y="38426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with fewer people making huge profits, fewer people fought to keep the trade, so Parliament found it easier to act.</a:t>
            </a:r>
            <a:endParaRPr lang="en-US" sz="1800" dirty="0"/>
          </a:p>
        </p:txBody>
      </p:sp>
      <p:sp>
        <p:nvSpPr>
          <p:cNvPr id="21" name="step-box"/>
          <p:cNvSpPr/>
          <p:nvPr/>
        </p:nvSpPr>
        <p:spPr>
          <a:xfrm>
            <a:off x="548640" y="4506976"/>
            <a:ext cx="11094415" cy="522224"/>
          </a:xfrm>
          <a:prstGeom prst="roundRect">
            <a:avLst>
              <a:gd name="adj" fmla="val 14008"/>
            </a:avLst>
          </a:prstGeom>
          <a:solidFill>
            <a:srgbClr val="FFFFFF"/>
          </a:solidFill>
          <a:ln w="15875">
            <a:solidFill>
              <a:srgbClr val="B69B83"/>
            </a:solidFill>
            <a:prstDash val="solid"/>
          </a:ln>
        </p:spPr>
      </p:sp>
      <p:sp>
        <p:nvSpPr>
          <p:cNvPr id="22" name="step-hex"/>
          <p:cNvSpPr/>
          <p:nvPr/>
        </p:nvSpPr>
        <p:spPr>
          <a:xfrm>
            <a:off x="685800" y="4570120"/>
            <a:ext cx="457200" cy="395935"/>
          </a:xfrm>
          <a:prstGeom prst="hexagon">
            <a:avLst/>
          </a:prstGeom>
          <a:solidFill>
            <a:srgbClr val="7A4A1E"/>
          </a:solidFill>
          <a:ln/>
        </p:spPr>
      </p:sp>
      <p:sp>
        <p:nvSpPr>
          <p:cNvPr id="23" name="step-hex-label"/>
          <p:cNvSpPr txBox="1"/>
          <p:nvPr/>
        </p:nvSpPr>
        <p:spPr>
          <a:xfrm>
            <a:off x="685800" y="457012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06976"/>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this does not mean the abolitionists did not matter; it means their arguments met less resistance.</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Falling sugar prices and closing plantations meant the trade made less money, so fewer powerful people defended it and Parliament could 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Two Acts, apprenticeship and compensation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1807 ended the trade; 1833 ended slavery; 1838 ended apprenticeship. Learn the three dates as a staircase.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were two steps in law. In 1807, Parliament passed an Act banning the buying and selling of enslaved people within the British Empire: the trade was abolished, but slavery itself continued.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Even then, freedom was delayed. The 1833 Act replaced slavery with a system called apprenticeship, which tied the freed people to the land they had worked until 1838.</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recent years some historians have criticised the British government for paying the owners.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Abolition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apprenticeship system ends (1838)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captain of the Zong throws more than 100 people overboard (1781)</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Abolition Act ends slavery across the British Empire (1833)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Parliament bans the buying and selling of enslaved people in the British Empire (1807)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Olaudah Equiano publishes the story of his life (1789)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Robert Norris, a slave trader, tells Parliament that conditions on slave ships are good (1778)</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Abolition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in chronological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event has a date in brackets. Read all six dates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smallest number: that event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it off and find the next smallest.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the trade is banned before slavery, and slavery ends before apprenticeship.</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Smallest date first. The trade ends before slavery does, and apprenticeship comes last.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first three events (Norris, the Zong, Equiano) could each have helped bring about the fourth (the 1807 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How long between the Acts?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many years passed between the Act that banned the trade in enslaved people (1807) and the Act that abolished slavery (1833)?</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4F0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1833.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date: 1833 − 1807.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1807 from 1833 in two parts: the 18 hundreds cancel, and 33 − 7 = 26.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makes sense: a bit more than a quarter of a century.</a:t>
            </a:r>
            <a:endParaRPr lang="en-US" sz="1800" dirty="0"/>
          </a:p>
        </p:txBody>
      </p:sp>
      <p:sp>
        <p:nvSpPr>
          <p:cNvPr id="17" name="col-Core"/>
          <p:cNvSpPr/>
          <p:nvPr/>
        </p:nvSpPr>
        <p:spPr>
          <a:xfrm>
            <a:off x="5490762" y="2948940"/>
            <a:ext cx="2938987" cy="3195828"/>
          </a:xfrm>
          <a:prstGeom prst="roundRect">
            <a:avLst>
              <a:gd name="adj" fmla="val 1867"/>
            </a:avLst>
          </a:prstGeom>
          <a:solidFill>
            <a:srgbClr val="E4DAD1"/>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Do not use 1838; that is apprenticeship, not the Act.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the twenty-six-year gap tells you about how Parliament thought about the trade compared with slavery itself.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Parliament pass the Act that ended slavery across the British Empire?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Abolition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Robert Norris, a slave trader, tells Parliament that conditions on slave ships are good (1778)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captain of the Zong throws more than 100 people overboard (1781)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Olaudah Equiano publishes the story of his life (1789)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Parliament bans the buying and selling of enslaved people in the British Empire (1807)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Abolition Act ends slavery across the British Empire (1833)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apprenticeship system ends (1838)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1778 Norris; 1781 the Zong; 1789 Equiano's book; 1807 the trade banned; 1833 slavery abolished; 1838 apprenticeship ends.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between the Acts?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years passed between the Act that banned the trade in enslaved people (1807) and the Act that abolished slavery (1833)?</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26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1833 − 1807 = 26 years. The gap matters: banning the trade in 1807 stopped new people being taken, but did nothing for those already enslaved until 1833.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Parliament pass the Act that ended slavery across the British Empire?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1833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Abolition Act of 1833 ended slavery itself across the British Empire. 1807 had ended only the trade.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5: Abolition: the people and the reasons that ended slavery</dc:title>
  <dc:subject>History · Year 8</dc:subject>
  <dc:creator>Dr Vitor Merissi de Carvalho</dc:creator>
  <cp:lastModifiedBy>Dr Vitor Merissi de Carvalho</cp:lastModifiedBy>
  <cp:revision>1</cp:revision>
  <dcterms:created xsi:type="dcterms:W3CDTF">2026-10-19T16:23:13Z</dcterms:created>
  <dcterms:modified xsi:type="dcterms:W3CDTF">2026-10-19T16:23:13Z</dcterms:modified>
</cp:coreProperties>
</file>