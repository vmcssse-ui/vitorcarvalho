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a6efcb2-5ae5-1cba-7cdc-54cde21cc44d}">
          <p14:sldIdLst>
            <p14:sldId id="256"/>
          </p14:sldIdLst>
        </p14:section>
        <p14:section name="Gate" id="{4410ced2-8713-cf62-944a-9ecca398377b}">
          <p14:sldIdLst>
            <p14:sldId id="257"/>
            <p14:sldId id="258"/>
          </p14:sldIdLst>
        </p14:section>
        <p14:section name="Pre-teach" id="{d596f5a3-4730-710f-3d89-72b5c08a9413}">
          <p14:sldIdLst>
            <p14:sldId id="259"/>
            <p14:sldId id="260"/>
          </p14:sldIdLst>
        </p14:section>
        <p14:section name="Read-along" id="{3d31fe6c-7ec8-41a8-3207-515933b61677}">
          <p14:sldIdLst>
            <p14:sldId id="261"/>
            <p14:sldId id="262"/>
          </p14:sldIdLst>
        </p14:section>
        <p14:section name="Teach" id="{9c9e4d46-68c2-f3de-52ff-e3f2f1880e25}">
          <p14:sldIdLst>
            <p14:sldId id="263"/>
            <p14:sldId id="264"/>
            <p14:sldId id="265"/>
            <p14:sldId id="266"/>
          </p14:sldIdLst>
        </p14:section>
        <p14:section name="Routes" id="{a43e6b6f-a67b-e9b7-b205-9c0441dbf7eb}">
          <p14:sldIdLst>
            <p14:sldId id="267"/>
            <p14:sldId id="268"/>
            <p14:sldId id="269"/>
            <p14:sldId id="270"/>
            <p14:sldId id="271"/>
          </p14:sldIdLst>
        </p14:section>
        <p14:section name="Close" id="{c5696187-5422-0772-4966-472ef7785eba}">
          <p14:sldIdLst>
            <p14:sldId id="272"/>
          </p14:sldIdLst>
        </p14:section>
        <p14:section name="Answers" id="{12606499-6703-2638-c3fb-341b14b6820f}">
          <p14:sldIdLst>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Sold at auction, life on the plantation, and resistance. What happened at a slave auction, what life and work on a plantation were like, and the ways enslaved people resisted.
This deck covers the department's lessons: 3 (Progress check and slave auctions: What can you learn about the capture of enslaved people from the sources, and how did slave auctions work?); 4 (Life and resistance on the plantations: How did enslaved people resist life on the plantation?).
Read the big question aloud: "How did the Transatlantic Slave Trade work, what did it do to people, and why was it finally abolished?"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was a plantation?  →  A   A very large estate farm growing a crop such as sugar, cotton or tobacco
2. At an auction, enslaved people were sold to the ___ bidder.  →  highest
3. Which of these is an example of a small, everyday act of resistance on a plantation?  →  C   Working slowly or breaking a tool on purpose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very large estate farm growing a crop such as sugar, cotton or tobacco. A plantation was a huge farm estate growing one main crop. Most enslaved people were sent to work on one.
2. highest. An auction sells to the person who offers the most money: the highest bidder.
3. C   Working slowly or breaking a tool on purpose. Working slowly and breaking tools were small acts that slowed the plantation down and kept some control for the worker.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auction: a sale to whoever offers the most money. Example: "At an auction, enslaved people were sold to the highest bidder."
• scramble: a sale in which buyers paid a set price, then rushed in to grab people. Example: "A scramble was chaotic and terrifying for the people being sold."
• plantation: a very large estate farm growing one crop. Example: "Most enslaved people were sent to work on a sugar or cotton plantation."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slave patrollers: men who watched over the workers and punished them. Example: "Slave patrollers supervised the fields all day."
• resistance: fighting back against control, openly or in small ways. Example: "Working slowly on purpose was a form of resistance."
• Jamaica: a Caribbean island where sugar plantations were the main industry. Example: "In the 1700s, Jamaica was full of British-owned sugar plantations."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When the ships arrived, enslaved people were kept in slave pens.
2. Before a sale, they were washed and oiled to look healthier.
3. At an auction, people were sold one by one, or in groups, to the highest bidder.
4. Families could be split up and sold to different buyers.
5. In a scramble, buyers paid a set price and then rushed in to grab people.
6. After the sale, people were taken to a plantation.
7. Plantations were huge farms growing sugar, cotton, tobacco or coffee.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People worked for up to eighteen hours a day, watched by slave patrollers.
9. They lived in small wooden shacks with dirt floors.
10. Yet enslaved people found ways to resist.
11. Some ran away or rose up against their owners.
12. Many more resisted in small ways every day.
13. They worked slowly, broke tools, and kept their languages, songs and beliefs alive.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Before and at the auction. Say it in your own words, then check understanding with a quick question: ask a pupil from the pre-teach group first, since they met these words and ideas before the lesson. Pupils try to recall before you re-explain.
When a ship reached the Americas, the people on board were taken to slave jails or slave pens. Before an auction they were washed and had oil rubbed into their skin so that they would look healthier and sell for more. People who resisted or fought back were sent to what traders called seasoning camps, where many died.
At the auction, people were sold individually or in groups to the highest bidder. Buyers inspected them as if they were animals at a market. Those who were sold were kept in an enclosure until the auction ended and the buyers collected them. People left unsold were called refuse and sold to anyone who would take them.
In a scramble, buyers paid a fixed price in advance and then, at a signal, rushed in to grab whoever they could. Everything about the auction shows that the traders saw enslaved people as property, not as people. Your lesson asks you to explain that, and the details above are your evidence.
Tip: To show that traders saw people as property, use the details: washed and oiled like goods for sale, sold to the highest bidder, the word refuse. Then say what each detail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Life and work on the plantation. Say it in your own words, then check understanding with a quick question: ask a pupil from the pre-teach group first, since they met these words and ideas before the lesson. Pupils try to recall before you re-explain.
After the sale, people were transported to a plantation: a big estate with farms growing crops such as coffee, cotton, sugar and tobacco. By 1860 there were over four million enslaved people in the United States, and about 60 per cent of them worked in cotton. In the Caribbean, in places such as Jamaica, the main industry in the 1700s was sugar.
Plantation workers often worked for eighteen hours a day. Slave patrollers supervised them, and anyone judged not to be working hard enough was punished. On cotton plantations each worker's basket was weighed at the end of the day; a light basket meant punishment.
People were forced to live in small wooden shacks with little or no furniture. Whole families were crammed into a single room and slept together on a dirt floor.
Tip: Working conditions are about the day's labour: hours, supervision, punishment. Living conditions are about the shacks: space, furniture, floors. Keep the two separate in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Say it in your own words, then check understanding with a quick question: ask a pupil from the pre-teach group first, since they met these words and ideas before the lesson. Pupils try to recall before you re-explain.
Enslaved people did not simply accept their situation. Your lesson looks at life and resistance on the plantations of Jamaica in the 1700s. Resistance took two forms. Full, open resistance meant running away, or rising up against the owners. In Jamaica some people escaped to the hills and fought to stay free.
Open resistance was dangerous and was usually crushed. That is why the small, everyday acts of resistance mattered so much. People worked slowly, broke tools, pretended not to understand orders, and kept their languages, stories, songs and beliefs alive, even when this was forbidden.
Small acts of resistance did not end slavery on their own. But in a system designed to take away a person's control and dignity, every act that kept a little of both was a victory. It is also one reason that African culture survived in the Caribbean and the Americas.
Worked example — model it step by step, thinking aloud: Why were small acts of resistance important, even though they did not end slavery? (1) Point: small acts of resistance were important because they gave enslaved people some control over their own lives. (2) Evidence: working slowly, breaking tools, keeping songs and languages alive. (3) Explain: the system was designed to take away control and dignity, so every act that kept some of both was a way of refusing to be property. (4) Judge: open rebellion was rare and usually crushed, so for most people small acts were the only form of resistance possible. Answer: They kept control and dignity alive inside a system built to remove both, and for most people they were the only resistance that was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Resistance. Say it in your own words, then check understanding with a quick question: ask a pupil from the pre-teach group first, since they met these words and ideas before the lesson. Pupils try to recall before you re-explain.
Enslaved people did not simply accept their situation. Your lesson looks at life and resistance on the plantations of Jamaica in the 1700s. Resistance took two forms. Full, open resistance meant running away, or rising up against the owners. In Jamaica some people escaped to the hills and fought to stay free.
Open resistance was dangerous and was usually crushed. That is why the small, everyday acts of resistance mattered so much. People worked slowly, broke tools, pretended not to understand orders, and kept their languages, stories, songs and beliefs alive, even when this was forbidden.
Small acts of resistance did not end slavery on their own. But in a system designed to take away a person's control and dignity, every act that kept a little of both was a victory. It is also one reason that African culture survived in the Caribbean and the Americas.
Worked example — model it step by step, thinking aloud: Why were small acts of resistance important, even though they did not end slavery? (1) Point: small acts of resistance were important because they gave enslaved people some control over their own lives. (2) Evidence: working slowly, breaking tools, keeping songs and languages alive. (3) Explain: the system was designed to take away control and dignity, so every act that kept some of both was a way of refusing to be property. (4) Judge: open rebellion was rare and usually crushed, so for most people small acts were the only form of resistance possible. Answer: They kept control and dignity alive inside a system built to remove both, and for most people they were the only resistance that was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Property, not people.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slave auctions show that traders saw enslaved people as property, not as people. Write one paragraph of four to six sentences.
Support — work through the steps with the group: (1) Sentence 1: Slave auctions show that traders saw enslaved people as property because… (2) Sentence 2: give detail one (washed and oiled) and say what it shows. (3) Sentence 3: give detail two (highest bidder, families split) and say what it shows. (4) Sentence 4: give detail three (refuse, or the scramble) and finish with the word property.
Parallel worked example for Support (model it, do not give the task answer): Explain how the treatment of English peasants after 1066 shows that the Normans saw them as a source of money. Detail: the Domesday Book counted every plough and pig.; What it shows: the king wanted to know exactly what he could tax.; Detail: heavy fines for breaking forest laws.; What it shows: the people were a source of income to be squeezed.. Answer: The Domesday survey and the forest fines both treated the peasants as sources of money, which shows how the Normans saw them..
Core — reveal the hint only on request: Detail, then what it shows. Twice at least. The word refuse is a strong third detail.
Stretch — no help; when finished: The deck's auction sources were made by people who watched auctions. Explain one thing such a source might show you, and one thing it could not show you about how the enslaved people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Property, not people.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slave auctions show that traders saw enslaved people as property, not as people. Write one paragraph of four to six sentences.
Support — work through the steps with the group: (1) Sentence 1: Slave auctions show that traders saw enslaved people as property because… (2) Sentence 2: give detail one (washed and oiled) and say what it shows. (3) Sentence 3: give detail two (highest bidder, families split) and say what it shows. (4) Sentence 4: give detail three (refuse, or the scramble) and finish with the word property.
Parallel worked example for Support (model it, do not give the task answer): Explain how the treatment of English peasants after 1066 shows that the Normans saw them as a source of money. Detail: the Domesday Book counted every plough and pig.; What it shows: the king wanted to know exactly what he could tax.; Detail: heavy fines for breaking forest laws.; What it shows: the people were a source of income to be squeezed.. Answer: The Domesday survey and the forest fines both treated the peasants as sources of money, which shows how the Normans saw them..
Core — reveal the hint only on request: Detail, then what it shows. Twice at least. The word refuse is a strong third detail.
Stretch — no help; when finished: The deck's auction sources were made by people who watched auctions. Explain one thing such a source might show you, and one thing it could not show you about how the enslaved people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Property, not people.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how slave auctions show that traders saw enslaved people as property, not as people. Write one paragraph of four to six sentences.
Support — work through the steps with the group: (1) Sentence 1: Slave auctions show that traders saw enslaved people as property because… (2) Sentence 2: give detail one (washed and oiled) and say what it shows. (3) Sentence 3: give detail two (highest bidder, families split) and say what it shows. (4) Sentence 4: give detail three (refuse, or the scramble) and finish with the word property.
Parallel worked example for Support (model it, do not give the task answer): Explain how the treatment of English peasants after 1066 shows that the Normans saw them as a source of money. Detail: the Domesday Book counted every plough and pig.; What it shows: the king wanted to know exactly what he could tax.; Detail: heavy fines for breaking forest laws.; What it shows: the people were a source of income to be squeezed.. Answer: The Domesday survey and the forest fines both treated the peasants as sources of money, which shows how the Normans saw them..
Core — reveal the hint only on request: Detail, then what it shows. Twice at least. The word refuse is a strong third detail.
Stretch — no help; when finished: The deck's auction sources were made by people who watched auctions. Explain one thing such a source might show you, and one thing it could not show you about how the enslaved people felt.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Words from the auction and the plantation.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its meaning.
Support — work through the steps with the group: (1) Two of the terms are kinds of sale. Which two? (2) One term is a place people were kept before the sale; one is the place they worked after it. (3) The remaining term is a person, not a place or a sale. (4) Match the person last.
Parallel worked example for Support (model it, do not give the task answer): Match: market, warehouse, shopkeeper. Choices: a person who sells goods; a place where goods are sold; a place where goods are stored. The shopkeeper is the only person, so match that first.; Goods are sold at a market and stored in a warehouse.. Answer: Market: a place where goods are sold. Warehouse: a place where goods are stored. Shopkeeper: a person who sells goods..
Core — reveal the hint only on request: Sort the five terms into sales, places and people before you match.
Stretch — no help; when finished: The deck lists a scramble as a type of auction. Explain why a scramble might have been even more frightening than an ordinary auction for the people being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Words from the auction and the plantation.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term to its meaning.
Support — work through the steps with the group: (1) Two of the terms are kinds of sale. Which two? (2) One term is a place people were kept before the sale; one is the place they worked after it. (3) The remaining term is a person, not a place or a sale. (4) Match the person last.
Parallel worked example for Support (model it, do not give the task answer): Match: market, warehouse, shopkeeper. Choices: a person who sells goods; a place where goods are sold; a place where goods are stored. The shopkeeper is the only person, so match that first.; Goods are sold at a market and stored in a warehouse.. Answer: Market: a place where goods are sold. Warehouse: a place where goods are stored. Shopkeeper: a person who sells goods..
Core — reveal the hint only on request: Sort the five terms into sales, places and people before you match.
Stretch — no help; when finished: The deck lists a scramble as a type of auction. Explain why a scramble might have been even more frightening than an ordinary auction for the people being sold.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group of enslaved people on a plantation worked slowly whenever the patroller looked away. Why was an act like this important?
Answer: D   It let enslaved people keep some control and dignity in a system built to take both away. Small acts of resistance gave people some control over their own labour and kept their identity alive inside a system designed to deny both. That, not an immediate end to slavery, is why they mattered.
Source of this question: module 3 task ("Why small acts mattered")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Property, not people. Reveal the answer; pupils mark their own work in a different colour, then read the "why" together. Same destination for every lane, so one answer serves the whole class.
Answer: I give at least two details from the auction, such as washing and oiling, the highest bidder, the scramble, or the word refuse.; After each detail I explain what it shows about how traders thought.; I use the words property and people to make the contrast clear.; I keep the enslaved people in view as people, with families and feelings.
Why: Washing and oiling, selling to the highest bidder, splitting families, the scramble and the word refuse all treat people as goods. A strong answer explains what each detail shows, not just lists it.
Model answer: Slave auctions show clearly that traders saw enslaved people as property. Before a sale, people were washed and had oil rubbed into their skin to make them look healthier, exactly as a trader might polish goods to get a better price. At the auction they were sold to the highest bidder, sometimes one by one, which meant parents and children could be bought by different owners and never see each other again; a trader who thought of them as people would not have done this. People who were not sold were called refuse, a word for rubbish. Each of these details shows that, to the traders, a person was a thing with a price.
Success criteria: I give at least two details from the auction, such as washing and oiling, the highest bidder, the scramble, or the word refuse.; After each detail I explain what it shows about how traders thought.; I use the words property and people to make the contrast clear.; I keep the enslaved people in view as people, with families and feelings.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Property, not people. Reveal the answer; pupils mark their own work in a different colour, then read the "why" together. Same destination for every lane, so one answer serves the whole class.
Answer: I give at least two details from the auction, such as washing and oiling, the highest bidder, the scramble, or the word refuse.; After each detail I explain what it shows about how traders thought.; I use the words property and people to make the contrast clear.; I keep the enslaved people in view as people, with families and feelings.
Why: Washing and oiling, selling to the highest bidder, splitting families, the scramble and the word refuse all treat people as goods. A strong answer explains what each detail shows, not just lists it.
Model answer: Slave auctions show clearly that traders saw enslaved people as property. Before a sale, people were washed and had oil rubbed into their skin to make them look healthier, exactly as a trader might polish goods to get a better price. At the auction they were sold to the highest bidder, sometimes one by one, which meant parents and children could be bought by different owners and never see each other again; a trader who thought of them as people would not have done this. People who were not sold were called refuse, a word for rubbish. Each of these details shows that, to the traders, a person was a thing with a price.
Success criteria: I give at least two details from the auction, such as washing and oiling, the highest bidder, the scramble, or the word refuse.; After each detail I explain what it shows about how traders thought.; I use the words property and people to make the contrast clear.; I keep the enslaved people in view as people, with families and feelings.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Words from the auction and the plantation. Reveal the answer; pupils mark their own work in a different colour, then read the "why" together. Same destination for every lane, so one answer serves the whole class.
Answer: Auction  →  C  A sale to whoever offered the most money; Scramble  →  B  Buyers paid a set price, then rushed in to grab whoever they could; Slave pen  →  D  Where people were held after arriving, before they were sold; Plantation  →  E  A very large estate farm growing one main crop; Slave patroller  →  A  A man who supervised the workers and punished them
Why: Auction and scramble are kinds of sale; slave pen and plantation are places before and after the sale; a slave patroller is the person who supervised and punished the workers.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It let enslaved people keep some control and dignity in a system built to take both away
Why: Small acts of resistance gave people some control over their own labour and kept their identity alive inside a system designed to deny both. That, not an immediate end to slavery, is why they mattered.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EE8E3"/>
          </a:solidFill>
          <a:ln w="12700">
            <a:solidFill>
              <a:srgbClr val="EEE8E3"/>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8 · The Slave Trade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6DE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Slave Trade · AQA KS3 → 8145</a:t>
            </a:r>
            <a:endParaRPr lang="en-US" sz="1800" dirty="0"/>
          </a:p>
        </p:txBody>
      </p:sp>
      <p:sp>
        <p:nvSpPr>
          <p:cNvPr id="10" name="deck-title"/>
          <p:cNvSpPr txBox="1"/>
          <p:nvPr/>
        </p:nvSpPr>
        <p:spPr>
          <a:xfrm>
            <a:off x="548640" y="235127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Sold at auction, life on the plantation, and resistance</a:t>
            </a:r>
            <a:endParaRPr lang="en-US" sz="3200" dirty="0"/>
          </a:p>
        </p:txBody>
      </p:sp>
      <p:sp>
        <p:nvSpPr>
          <p:cNvPr id="11" name="lessons-card"/>
          <p:cNvSpPr/>
          <p:nvPr/>
        </p:nvSpPr>
        <p:spPr>
          <a:xfrm>
            <a:off x="548640" y="3763518"/>
            <a:ext cx="5287975" cy="1328420"/>
          </a:xfrm>
          <a:prstGeom prst="roundRect">
            <a:avLst>
              <a:gd name="adj" fmla="val 5507"/>
            </a:avLst>
          </a:prstGeom>
          <a:solidFill>
            <a:srgbClr val="F4F0EC"/>
          </a:solidFill>
          <a:ln/>
        </p:spPr>
      </p:sp>
      <p:sp>
        <p:nvSpPr>
          <p:cNvPr id="12" name="lessons"/>
          <p:cNvSpPr txBox="1"/>
          <p:nvPr/>
        </p:nvSpPr>
        <p:spPr>
          <a:xfrm>
            <a:off x="685800" y="385495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Progress check and slave auctions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Life and resistance on the plantations</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4F0EC"/>
          </a:solidFill>
          <a:ln w="12700">
            <a:solidFill>
              <a:srgbClr val="CCB9A8"/>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did the Transatlantic Slave Trade work, what did it do to people, and why was it finally abolished?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was a plantation?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very large estate farm growing a crop such as sugar, cotton or tobacco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large factory where enslaved people made rum and salt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ship used on the Middle Passage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prison where captives were held before being sold</a:t>
            </a:r>
            <a:endParaRPr lang="en-US" sz="1800" dirty="0"/>
          </a:p>
        </p:txBody>
      </p:sp>
      <p:sp>
        <p:nvSpPr>
          <p:cNvPr id="12" name="card"/>
          <p:cNvSpPr/>
          <p:nvPr/>
        </p:nvSpPr>
        <p:spPr>
          <a:xfrm>
            <a:off x="4777626" y="1389888"/>
            <a:ext cx="2636444" cy="4754880"/>
          </a:xfrm>
          <a:prstGeom prst="roundRect">
            <a:avLst>
              <a:gd name="adj" fmla="val 2081"/>
            </a:avLst>
          </a:prstGeom>
          <a:solidFill>
            <a:srgbClr val="F8F5F3"/>
          </a:solidFill>
          <a:ln w="12700">
            <a:solidFill>
              <a:srgbClr val="D2C2B4"/>
            </a:solidFill>
            <a:prstDash val="solid"/>
          </a:ln>
        </p:spPr>
      </p:sp>
      <p:sp>
        <p:nvSpPr>
          <p:cNvPr id="13" name="card-hex"/>
          <p:cNvSpPr/>
          <p:nvPr/>
        </p:nvSpPr>
        <p:spPr>
          <a:xfrm>
            <a:off x="4960506" y="1572768"/>
            <a:ext cx="640080" cy="554309"/>
          </a:xfrm>
          <a:prstGeom prst="hexagon">
            <a:avLst/>
          </a:prstGeom>
          <a:solidFill>
            <a:srgbClr val="7A4A1E"/>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At an auction, enslaved people were sold to the ___ bidder.</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highest  ·  first  ·  nearest</a:t>
            </a:r>
            <a:endParaRPr lang="en-US" sz="2400" dirty="0"/>
          </a:p>
        </p:txBody>
      </p:sp>
      <p:sp>
        <p:nvSpPr>
          <p:cNvPr id="17" name="card"/>
          <p:cNvSpPr/>
          <p:nvPr/>
        </p:nvSpPr>
        <p:spPr>
          <a:xfrm>
            <a:off x="7688389" y="1389888"/>
            <a:ext cx="3954666" cy="4754880"/>
          </a:xfrm>
          <a:prstGeom prst="roundRect">
            <a:avLst>
              <a:gd name="adj" fmla="val 1387"/>
            </a:avLst>
          </a:prstGeom>
          <a:solidFill>
            <a:srgbClr val="F8F5F3"/>
          </a:solidFill>
          <a:ln w="12700">
            <a:solidFill>
              <a:srgbClr val="D2C2B4"/>
            </a:solidFill>
            <a:prstDash val="solid"/>
          </a:ln>
        </p:spPr>
      </p:sp>
      <p:sp>
        <p:nvSpPr>
          <p:cNvPr id="18" name="card-hex"/>
          <p:cNvSpPr/>
          <p:nvPr/>
        </p:nvSpPr>
        <p:spPr>
          <a:xfrm>
            <a:off x="7871269" y="1572768"/>
            <a:ext cx="640080" cy="554309"/>
          </a:xfrm>
          <a:prstGeom prst="hexagon">
            <a:avLst/>
          </a:prstGeom>
          <a:solidFill>
            <a:srgbClr val="7A4A1E"/>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is an example of a small, everyday act of resistance on a plantation?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Buying a plantation of your own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Escaping to the hills and fighting the owners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Working slowly or breaking a tool on purpose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Agreeing to work extra hours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F8F5F3"/>
          </a:solidFill>
          <a:ln w="12700">
            <a:solidFill>
              <a:srgbClr val="D2C2B4"/>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EE3CD"/>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very large estate farm growing a crop such as sugar, cotton or tobacco</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What was a plantation?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A plantation was a huge farm estate growing one main crop. Most enslaved people were sent to work on one.</a:t>
            </a:r>
            <a:endParaRPr lang="en-US" sz="2000" dirty="0"/>
          </a:p>
        </p:txBody>
      </p:sp>
      <p:sp>
        <p:nvSpPr>
          <p:cNvPr id="14" name="card"/>
          <p:cNvSpPr/>
          <p:nvPr/>
        </p:nvSpPr>
        <p:spPr>
          <a:xfrm>
            <a:off x="4777626" y="1389888"/>
            <a:ext cx="2636444" cy="4754880"/>
          </a:xfrm>
          <a:prstGeom prst="roundRect">
            <a:avLst>
              <a:gd name="adj" fmla="val 2081"/>
            </a:avLst>
          </a:prstGeom>
          <a:solidFill>
            <a:srgbClr val="F8F5F3"/>
          </a:solidFill>
          <a:ln w="12700">
            <a:solidFill>
              <a:srgbClr val="D2C2B4"/>
            </a:solidFill>
            <a:prstDash val="solid"/>
          </a:ln>
        </p:spPr>
      </p:sp>
      <p:sp>
        <p:nvSpPr>
          <p:cNvPr id="15" name="card-hex"/>
          <p:cNvSpPr/>
          <p:nvPr/>
        </p:nvSpPr>
        <p:spPr>
          <a:xfrm>
            <a:off x="4960506" y="1572768"/>
            <a:ext cx="640080" cy="554309"/>
          </a:xfrm>
          <a:prstGeom prst="hexagon">
            <a:avLst/>
          </a:prstGeom>
          <a:solidFill>
            <a:srgbClr val="7A4A1E"/>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EE3CD"/>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highest</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At an auction, enslaved people were sold to the ___ bidder.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An auction sells to the person who offers the most money: the highest bidder.</a:t>
            </a:r>
            <a:endParaRPr lang="en-US" sz="1800" dirty="0"/>
          </a:p>
        </p:txBody>
      </p:sp>
      <p:sp>
        <p:nvSpPr>
          <p:cNvPr id="21" name="card"/>
          <p:cNvSpPr/>
          <p:nvPr/>
        </p:nvSpPr>
        <p:spPr>
          <a:xfrm>
            <a:off x="7688389" y="1389888"/>
            <a:ext cx="3954666" cy="4754880"/>
          </a:xfrm>
          <a:prstGeom prst="roundRect">
            <a:avLst>
              <a:gd name="adj" fmla="val 1387"/>
            </a:avLst>
          </a:prstGeom>
          <a:solidFill>
            <a:srgbClr val="F8F5F3"/>
          </a:solidFill>
          <a:ln w="12700">
            <a:solidFill>
              <a:srgbClr val="D2C2B4"/>
            </a:solidFill>
            <a:prstDash val="solid"/>
          </a:ln>
        </p:spPr>
      </p:sp>
      <p:sp>
        <p:nvSpPr>
          <p:cNvPr id="22" name="card-hex"/>
          <p:cNvSpPr/>
          <p:nvPr/>
        </p:nvSpPr>
        <p:spPr>
          <a:xfrm>
            <a:off x="7871269" y="1572768"/>
            <a:ext cx="640080" cy="554309"/>
          </a:xfrm>
          <a:prstGeom prst="hexagon">
            <a:avLst/>
          </a:prstGeom>
          <a:solidFill>
            <a:srgbClr val="7A4A1E"/>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EE3CD"/>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Working slowly or breaking a tool on purpose</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an example of a small, everyday act of resistance on a plantation?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Working slowly and breaking tools were small acts that slowed the plantation down and kept some control for the worker.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auction</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sale to whoever offers the most money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At an auction, enslaved people were sold to the highest bidder.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scramble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sale in which buyers paid a set price, then rushed in to grab people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scramble was chaotic and terrifying for the people being sold.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plantation</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very large estate farm growing one crop</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enslaved people were sent to work on a sugar or cotton plantation.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6F3F0"/>
          </a:solidFill>
          <a:ln w="12700">
            <a:solidFill>
              <a:srgbClr val="CCB9A8"/>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slave patrollers</a:t>
            </a:r>
            <a:endParaRPr lang="en-US" sz="2600" dirty="0"/>
          </a:p>
        </p:txBody>
      </p:sp>
      <p:sp>
        <p:nvSpPr>
          <p:cNvPr id="11" name="word-rule"/>
          <p:cNvSpPr/>
          <p:nvPr/>
        </p:nvSpPr>
        <p:spPr>
          <a:xfrm>
            <a:off x="731520" y="2129028"/>
            <a:ext cx="3149498" cy="0"/>
          </a:xfrm>
          <a:prstGeom prst="line">
            <a:avLst/>
          </a:prstGeom>
          <a:ln w="12700">
            <a:solidFill>
              <a:srgbClr val="CCB9A8"/>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men who watched over the workers and punished them</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Slave patrollers supervised the fields all day.</a:t>
            </a:r>
            <a:endParaRPr lang="en-US" sz="2200" dirty="0"/>
          </a:p>
        </p:txBody>
      </p:sp>
      <p:sp>
        <p:nvSpPr>
          <p:cNvPr id="13" name="word-card"/>
          <p:cNvSpPr/>
          <p:nvPr/>
        </p:nvSpPr>
        <p:spPr>
          <a:xfrm>
            <a:off x="4338218" y="1389888"/>
            <a:ext cx="3515258" cy="4754880"/>
          </a:xfrm>
          <a:prstGeom prst="roundRect">
            <a:avLst>
              <a:gd name="adj" fmla="val 1561"/>
            </a:avLst>
          </a:prstGeom>
          <a:solidFill>
            <a:srgbClr val="F6F3F0"/>
          </a:solidFill>
          <a:ln w="12700">
            <a:solidFill>
              <a:srgbClr val="CCB9A8"/>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resistance</a:t>
            </a:r>
            <a:endParaRPr lang="en-US" sz="2600" dirty="0"/>
          </a:p>
        </p:txBody>
      </p:sp>
      <p:sp>
        <p:nvSpPr>
          <p:cNvPr id="17" name="word-rule"/>
          <p:cNvSpPr/>
          <p:nvPr/>
        </p:nvSpPr>
        <p:spPr>
          <a:xfrm>
            <a:off x="4521098" y="2129028"/>
            <a:ext cx="3149498" cy="0"/>
          </a:xfrm>
          <a:prstGeom prst="line">
            <a:avLst/>
          </a:prstGeom>
          <a:ln w="12700">
            <a:solidFill>
              <a:srgbClr val="CCB9A8"/>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fighting back against control, openly or in small ways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Working slowly on purpose was a form of resistance.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6F3F0"/>
          </a:solidFill>
          <a:ln w="12700">
            <a:solidFill>
              <a:srgbClr val="CCB9A8"/>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Jamaica</a:t>
            </a:r>
            <a:endParaRPr lang="en-US" sz="2600" dirty="0"/>
          </a:p>
        </p:txBody>
      </p:sp>
      <p:sp>
        <p:nvSpPr>
          <p:cNvPr id="23" name="word-rule"/>
          <p:cNvSpPr/>
          <p:nvPr/>
        </p:nvSpPr>
        <p:spPr>
          <a:xfrm>
            <a:off x="8310677" y="2129028"/>
            <a:ext cx="3149498" cy="0"/>
          </a:xfrm>
          <a:prstGeom prst="line">
            <a:avLst/>
          </a:prstGeom>
          <a:ln w="12700">
            <a:solidFill>
              <a:srgbClr val="CCB9A8"/>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Caribbean island where sugar plantations were the main industry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the 1700s, Jamaica was full of British-owned sugar plantations.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When the ships arrived, enslaved people were kept in slave pens.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Before a sale, they were washed and oiled to look healthier.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an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auction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people were sold one by one, or in groups, to the highest bidder.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Families could be split up and sold to different buyers.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scramble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buyers paid a set price and then rushed in to grab people.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After the sale, people were taken to a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plantation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Plantations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were huge farms growing sugar, cotton, tobacco or coffee.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8F5F3"/>
          </a:solidFill>
          <a:ln w="12700">
            <a:solidFill>
              <a:srgbClr val="D9CBBF"/>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People worked for up to eighteen hours a day, watched by </a:t>
            </a:r>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slave patrollers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lived in small wooden shacks with dirt floors.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Yet enslaved people found ways to resist.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Some ran away or rose up against their owners.</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Many more resisted in small ways every 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They worked slowly, broke tools, and kept their languages, songs and beliefs alive.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Before and at the auction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To show that traders saw people as property, use the details: washed and oiled like goods for sale, sold to the highest bidder, the word refuse. Then say what each detail shows.</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When a ship reached the Americas, the people on board were taken to slave jails or slave pens.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At the auction, people were sold individually or in groups to the highest bidder.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a scramble, buyers paid a fixed price in advance and then, at a signal, rushed in to grab whoever they could.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Life and work on the plantation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Working conditions are about the day's labour: hours, supervision, punishment. Living conditions are about the shacks: space, furniture, floors. Keep the two separate in an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4F0EC"/>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After the sale, people were transported to a plantation: a big estate with farms growing crops such as coffee, cotton, sugar and tobacco.</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Plantation workers often worked for eighteen hours a day. Slave patrollers supervised them, and anyone judged not to be working hard enough was punished.</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4F0EC"/>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People were forced to live in small wooden shacks with little or no furniture.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Resistance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F4F0EC"/>
          </a:solidFill>
          <a:ln/>
        </p:spPr>
      </p:sp>
      <p:sp>
        <p:nvSpPr>
          <p:cNvPr id="8" name="point-hex"/>
          <p:cNvSpPr/>
          <p:nvPr/>
        </p:nvSpPr>
        <p:spPr>
          <a:xfrm>
            <a:off x="731520" y="1572768"/>
            <a:ext cx="685800" cy="593903"/>
          </a:xfrm>
          <a:prstGeom prst="hexagon">
            <a:avLst/>
          </a:prstGeom>
          <a:solidFill>
            <a:srgbClr val="7A4A1E"/>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Enslaved people did not simply accept their situation. Your lesson looks at life and resistance on the plantations of Jamaica in the 1700s.</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8F2E9"/>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Open resistance was dangerous and was usually crushed. That is why the small, everyday acts of resistance mattered so much.</a:t>
            </a:r>
            <a:endParaRPr lang="en-US" sz="2400" dirty="0"/>
          </a:p>
        </p:txBody>
      </p:sp>
      <p:sp>
        <p:nvSpPr>
          <p:cNvPr id="15" name="point-card"/>
          <p:cNvSpPr/>
          <p:nvPr/>
        </p:nvSpPr>
        <p:spPr>
          <a:xfrm>
            <a:off x="8127797" y="1389888"/>
            <a:ext cx="3515258" cy="4754880"/>
          </a:xfrm>
          <a:prstGeom prst="roundRect">
            <a:avLst>
              <a:gd name="adj" fmla="val 1561"/>
            </a:avLst>
          </a:prstGeom>
          <a:solidFill>
            <a:srgbClr val="F4F0EC"/>
          </a:solidFill>
          <a:ln/>
        </p:spPr>
      </p:sp>
      <p:sp>
        <p:nvSpPr>
          <p:cNvPr id="16" name="point-hex"/>
          <p:cNvSpPr/>
          <p:nvPr/>
        </p:nvSpPr>
        <p:spPr>
          <a:xfrm>
            <a:off x="8310677" y="1572768"/>
            <a:ext cx="685800" cy="593903"/>
          </a:xfrm>
          <a:prstGeom prst="hexagon">
            <a:avLst/>
          </a:prstGeom>
          <a:solidFill>
            <a:srgbClr val="7A4A1E"/>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Small acts of resistance did not end slavery on their own.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Worked example: Resistance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4F0EC"/>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Why were small acts of resistance important, even though they did not end slavery?</a:t>
            </a:r>
            <a:endParaRPr lang="en-US" sz="2000" dirty="0"/>
          </a:p>
        </p:txBody>
      </p:sp>
      <p:sp>
        <p:nvSpPr>
          <p:cNvPr id="9" name="step-box"/>
          <p:cNvSpPr/>
          <p:nvPr/>
        </p:nvSpPr>
        <p:spPr>
          <a:xfrm>
            <a:off x="548640" y="2192528"/>
            <a:ext cx="11094415" cy="733552"/>
          </a:xfrm>
          <a:prstGeom prst="roundRect">
            <a:avLst>
              <a:gd name="adj" fmla="val 9972"/>
            </a:avLst>
          </a:prstGeom>
          <a:solidFill>
            <a:srgbClr val="FFFFFF"/>
          </a:solidFill>
          <a:ln w="15875">
            <a:solidFill>
              <a:srgbClr val="B69B83"/>
            </a:solidFill>
            <a:prstDash val="solid"/>
          </a:ln>
        </p:spPr>
      </p:sp>
      <p:sp>
        <p:nvSpPr>
          <p:cNvPr id="10" name="step-hex"/>
          <p:cNvSpPr/>
          <p:nvPr/>
        </p:nvSpPr>
        <p:spPr>
          <a:xfrm>
            <a:off x="685800" y="2361336"/>
            <a:ext cx="457200" cy="395935"/>
          </a:xfrm>
          <a:prstGeom prst="hexagon">
            <a:avLst/>
          </a:prstGeom>
          <a:solidFill>
            <a:srgbClr val="7A4A1E"/>
          </a:solidFill>
          <a:ln/>
        </p:spPr>
      </p:sp>
      <p:sp>
        <p:nvSpPr>
          <p:cNvPr id="11" name="step-hex-label"/>
          <p:cNvSpPr txBox="1"/>
          <p:nvPr/>
        </p:nvSpPr>
        <p:spPr>
          <a:xfrm>
            <a:off x="685800" y="2361336"/>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Point: small acts of resistance were important because they gave enslaved people some control over their own lives.</a:t>
            </a:r>
            <a:endParaRPr lang="en-US" sz="1800" dirty="0"/>
          </a:p>
        </p:txBody>
      </p:sp>
      <p:sp>
        <p:nvSpPr>
          <p:cNvPr id="13" name="step-box"/>
          <p:cNvSpPr/>
          <p:nvPr/>
        </p:nvSpPr>
        <p:spPr>
          <a:xfrm>
            <a:off x="548640" y="2999232"/>
            <a:ext cx="11094415" cy="469392"/>
          </a:xfrm>
          <a:prstGeom prst="roundRect">
            <a:avLst>
              <a:gd name="adj" fmla="val 15584"/>
            </a:avLst>
          </a:prstGeom>
          <a:solidFill>
            <a:srgbClr val="FFFFFF"/>
          </a:solidFill>
          <a:ln w="15875">
            <a:solidFill>
              <a:srgbClr val="B69B83"/>
            </a:solidFill>
            <a:prstDash val="solid"/>
          </a:ln>
        </p:spPr>
      </p:sp>
      <p:sp>
        <p:nvSpPr>
          <p:cNvPr id="14" name="step-hex"/>
          <p:cNvSpPr/>
          <p:nvPr/>
        </p:nvSpPr>
        <p:spPr>
          <a:xfrm>
            <a:off x="685800" y="3035960"/>
            <a:ext cx="457200" cy="395935"/>
          </a:xfrm>
          <a:prstGeom prst="hexagon">
            <a:avLst/>
          </a:prstGeom>
          <a:solidFill>
            <a:srgbClr val="7A4A1E"/>
          </a:solidFill>
          <a:ln/>
        </p:spPr>
      </p:sp>
      <p:sp>
        <p:nvSpPr>
          <p:cNvPr id="15" name="step-hex-label"/>
          <p:cNvSpPr txBox="1"/>
          <p:nvPr/>
        </p:nvSpPr>
        <p:spPr>
          <a:xfrm>
            <a:off x="685800" y="303596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999232"/>
            <a:ext cx="10180015" cy="46939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Evidence: working slowly, breaking tools, keeping songs and languages alive.</a:t>
            </a:r>
            <a:endParaRPr lang="en-US" sz="1800" dirty="0"/>
          </a:p>
        </p:txBody>
      </p:sp>
      <p:sp>
        <p:nvSpPr>
          <p:cNvPr id="17" name="step-box"/>
          <p:cNvSpPr/>
          <p:nvPr/>
        </p:nvSpPr>
        <p:spPr>
          <a:xfrm>
            <a:off x="548640" y="3541776"/>
            <a:ext cx="11094415" cy="733552"/>
          </a:xfrm>
          <a:prstGeom prst="roundRect">
            <a:avLst>
              <a:gd name="adj" fmla="val 9972"/>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41776"/>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the system was designed to take away control and dignity, so every act that kept some of both was a way of refusing to be property.</a:t>
            </a:r>
            <a:endParaRPr lang="en-US" sz="1800" dirty="0"/>
          </a:p>
        </p:txBody>
      </p:sp>
      <p:sp>
        <p:nvSpPr>
          <p:cNvPr id="21" name="step-box"/>
          <p:cNvSpPr/>
          <p:nvPr/>
        </p:nvSpPr>
        <p:spPr>
          <a:xfrm>
            <a:off x="548640" y="4348480"/>
            <a:ext cx="11094415" cy="733552"/>
          </a:xfrm>
          <a:prstGeom prst="roundRect">
            <a:avLst>
              <a:gd name="adj" fmla="val 9972"/>
            </a:avLst>
          </a:prstGeom>
          <a:solidFill>
            <a:srgbClr val="FFFFFF"/>
          </a:solidFill>
          <a:ln w="15875">
            <a:solidFill>
              <a:srgbClr val="B69B83"/>
            </a:solidFill>
            <a:prstDash val="solid"/>
          </a:ln>
        </p:spPr>
      </p:sp>
      <p:sp>
        <p:nvSpPr>
          <p:cNvPr id="22" name="step-hex"/>
          <p:cNvSpPr/>
          <p:nvPr/>
        </p:nvSpPr>
        <p:spPr>
          <a:xfrm>
            <a:off x="685800" y="4517288"/>
            <a:ext cx="457200" cy="395935"/>
          </a:xfrm>
          <a:prstGeom prst="hexagon">
            <a:avLst/>
          </a:prstGeom>
          <a:solidFill>
            <a:srgbClr val="7A4A1E"/>
          </a:solidFill>
          <a:ln/>
        </p:spPr>
      </p:sp>
      <p:sp>
        <p:nvSpPr>
          <p:cNvPr id="23" name="step-hex-label"/>
          <p:cNvSpPr txBox="1"/>
          <p:nvPr/>
        </p:nvSpPr>
        <p:spPr>
          <a:xfrm>
            <a:off x="685800" y="451728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48480"/>
            <a:ext cx="10180015" cy="73355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open rebellion was rare and usually crushed, so for most people small acts were the only form of resistance possible.</a:t>
            </a:r>
            <a:endParaRPr lang="en-US" sz="1800" dirty="0"/>
          </a:p>
        </p:txBody>
      </p:sp>
      <p:sp>
        <p:nvSpPr>
          <p:cNvPr id="25" name="worked-answer"/>
          <p:cNvSpPr/>
          <p:nvPr/>
        </p:nvSpPr>
        <p:spPr>
          <a:xfrm>
            <a:off x="548640" y="5264912"/>
            <a:ext cx="11094415" cy="831088"/>
          </a:xfrm>
          <a:prstGeom prst="roundRect">
            <a:avLst>
              <a:gd name="adj" fmla="val 16504"/>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They kept control and dignity alive inside a system built to remove both, and for most people they were the only resistance that was possible.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Property, not people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how slave auctions show that traders saw enslaved people as property, not as people.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(1 of 2): Property, not people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how slave auctions show that traders saw enslaved people as property, not as people. Write one paragraph of four to six sentences.</a:t>
            </a:r>
            <a:endParaRPr lang="en-US" sz="2000" dirty="0"/>
          </a:p>
        </p:txBody>
      </p:sp>
      <p:sp>
        <p:nvSpPr>
          <p:cNvPr id="12" name="col-Support"/>
          <p:cNvSpPr/>
          <p:nvPr/>
        </p:nvSpPr>
        <p:spPr>
          <a:xfrm>
            <a:off x="548640" y="2593848"/>
            <a:ext cx="11094415" cy="3550920"/>
          </a:xfrm>
          <a:prstGeom prst="roundRect">
            <a:avLst>
              <a:gd name="adj" fmla="val 1545"/>
            </a:avLst>
          </a:prstGeom>
          <a:solidFill>
            <a:srgbClr val="F4F0EC"/>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10820095" cy="280111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1: Slave auctions show that traders saw enslaved people as property because…</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2: give detail one (washed and oiled) and say what it shows.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3: give detail two (highest bidder, families split) and say what it shows.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Sentence 4: give detail three (refuse, or the scramble) and finish with the word property.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Same task, three ways in (2 of 2): Property, not people</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Explain how slave auctions show that traders saw enslaved people as property, not as people. Write one paragraph of four to six sentences.</a:t>
            </a:r>
            <a:endParaRPr lang="en-US" sz="2000" dirty="0"/>
          </a:p>
        </p:txBody>
      </p:sp>
      <p:sp>
        <p:nvSpPr>
          <p:cNvPr id="12" name="col-Core"/>
          <p:cNvSpPr/>
          <p:nvPr/>
        </p:nvSpPr>
        <p:spPr>
          <a:xfrm>
            <a:off x="548640" y="2593848"/>
            <a:ext cx="5410048" cy="3550920"/>
          </a:xfrm>
          <a:prstGeom prst="roundRect">
            <a:avLst>
              <a:gd name="adj" fmla="val 1545"/>
            </a:avLst>
          </a:prstGeom>
          <a:solidFill>
            <a:srgbClr val="E4DAD1"/>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Detail, then what it shows. Twice at least. The word refuse is a strong third detail.</a:t>
            </a:r>
            <a:endParaRPr lang="en-US" sz="2200" dirty="0"/>
          </a:p>
        </p:txBody>
      </p:sp>
      <p:sp>
        <p:nvSpPr>
          <p:cNvPr id="17" name="col-Stretch"/>
          <p:cNvSpPr/>
          <p:nvPr/>
        </p:nvSpPr>
        <p:spPr>
          <a:xfrm>
            <a:off x="6233008" y="2593848"/>
            <a:ext cx="5410048" cy="3550920"/>
          </a:xfrm>
          <a:prstGeom prst="roundRect">
            <a:avLst>
              <a:gd name="adj" fmla="val 1545"/>
            </a:avLst>
          </a:prstGeom>
          <a:solidFill>
            <a:srgbClr val="7A4A1E"/>
          </a:solidFill>
          <a:ln/>
        </p:spPr>
      </p:sp>
      <p:sp>
        <p:nvSpPr>
          <p:cNvPr id="18" name="col-hex"/>
          <p:cNvSpPr/>
          <p:nvPr/>
        </p:nvSpPr>
        <p:spPr>
          <a:xfrm>
            <a:off x="6342736"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3042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33928"/>
            <a:ext cx="5135728" cy="280111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The deck's auction sources were made by people who watched auctions. Explain one thing such a source might show you, and one thing it could not show you about how the enslaved people felt.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Words from the auction and the plantation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term to its meaning.</a:t>
            </a:r>
            <a:endParaRPr lang="en-US" sz="2400" dirty="0"/>
          </a:p>
        </p:txBody>
      </p:sp>
      <p:sp>
        <p:nvSpPr>
          <p:cNvPr id="11" name="match-card"/>
          <p:cNvSpPr/>
          <p:nvPr/>
        </p:nvSpPr>
        <p:spPr>
          <a:xfrm>
            <a:off x="777240" y="2468331"/>
            <a:ext cx="3081437" cy="509735"/>
          </a:xfrm>
          <a:prstGeom prst="roundRect">
            <a:avLst>
              <a:gd name="adj" fmla="val 14351"/>
            </a:avLst>
          </a:prstGeom>
          <a:solidFill>
            <a:srgbClr val="F6F3F0"/>
          </a:solidFill>
          <a:ln/>
        </p:spPr>
      </p:sp>
      <p:sp>
        <p:nvSpPr>
          <p:cNvPr id="12" name="match-hex"/>
          <p:cNvSpPr/>
          <p:nvPr/>
        </p:nvSpPr>
        <p:spPr>
          <a:xfrm>
            <a:off x="850392" y="2556906"/>
            <a:ext cx="384048" cy="332586"/>
          </a:xfrm>
          <a:prstGeom prst="hexagon">
            <a:avLst/>
          </a:prstGeom>
          <a:solidFill>
            <a:srgbClr val="7A4A1E"/>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Auction</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8F2E9"/>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man who supervised the workers and punished them</a:t>
            </a:r>
            <a:endParaRPr lang="en-US" sz="2000" dirty="0"/>
          </a:p>
        </p:txBody>
      </p:sp>
      <p:sp>
        <p:nvSpPr>
          <p:cNvPr id="19" name="match-card"/>
          <p:cNvSpPr/>
          <p:nvPr/>
        </p:nvSpPr>
        <p:spPr>
          <a:xfrm>
            <a:off x="777240" y="3069507"/>
            <a:ext cx="3081437" cy="799295"/>
          </a:xfrm>
          <a:prstGeom prst="roundRect">
            <a:avLst>
              <a:gd name="adj" fmla="val 9152"/>
            </a:avLst>
          </a:prstGeom>
          <a:solidFill>
            <a:srgbClr val="F6F3F0"/>
          </a:solidFill>
          <a:ln/>
        </p:spPr>
      </p:sp>
      <p:sp>
        <p:nvSpPr>
          <p:cNvPr id="20" name="match-hex"/>
          <p:cNvSpPr/>
          <p:nvPr/>
        </p:nvSpPr>
        <p:spPr>
          <a:xfrm>
            <a:off x="850392" y="3302862"/>
            <a:ext cx="384048" cy="332586"/>
          </a:xfrm>
          <a:prstGeom prst="hexagon">
            <a:avLst/>
          </a:prstGeom>
          <a:solidFill>
            <a:srgbClr val="7A4A1E"/>
          </a:solidFill>
          <a:ln/>
        </p:spPr>
      </p:sp>
      <p:sp>
        <p:nvSpPr>
          <p:cNvPr id="21" name="match-hex-label"/>
          <p:cNvSpPr txBox="1"/>
          <p:nvPr/>
        </p:nvSpPr>
        <p:spPr>
          <a:xfrm>
            <a:off x="850392"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Scramble</a:t>
            </a:r>
            <a:endParaRPr lang="en-US" sz="2000" dirty="0"/>
          </a:p>
        </p:txBody>
      </p:sp>
      <p:sp>
        <p:nvSpPr>
          <p:cNvPr id="23" name="match-card"/>
          <p:cNvSpPr/>
          <p:nvPr/>
        </p:nvSpPr>
        <p:spPr>
          <a:xfrm>
            <a:off x="4224437" y="3069507"/>
            <a:ext cx="7190019" cy="799295"/>
          </a:xfrm>
          <a:prstGeom prst="roundRect">
            <a:avLst>
              <a:gd name="adj" fmla="val 9152"/>
            </a:avLst>
          </a:prstGeom>
          <a:solidFill>
            <a:srgbClr val="F8F2E9"/>
          </a:solidFill>
          <a:ln/>
        </p:spPr>
      </p:sp>
      <p:sp>
        <p:nvSpPr>
          <p:cNvPr id="24" name="match-hex"/>
          <p:cNvSpPr/>
          <p:nvPr/>
        </p:nvSpPr>
        <p:spPr>
          <a:xfrm>
            <a:off x="4297589" y="3302862"/>
            <a:ext cx="384048" cy="332586"/>
          </a:xfrm>
          <a:prstGeom prst="hexagon">
            <a:avLst/>
          </a:prstGeom>
          <a:solidFill>
            <a:srgbClr val="B8862B"/>
          </a:solidFill>
          <a:ln/>
        </p:spPr>
      </p:sp>
      <p:sp>
        <p:nvSpPr>
          <p:cNvPr id="25" name="match-hex-label"/>
          <p:cNvSpPr txBox="1"/>
          <p:nvPr/>
        </p:nvSpPr>
        <p:spPr>
          <a:xfrm>
            <a:off x="4297589" y="330286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Buyers paid a set price, then rushed in to grab whoever they could</a:t>
            </a:r>
            <a:endParaRPr lang="en-US" sz="2000" dirty="0"/>
          </a:p>
        </p:txBody>
      </p:sp>
      <p:sp>
        <p:nvSpPr>
          <p:cNvPr id="27" name="match-card"/>
          <p:cNvSpPr/>
          <p:nvPr/>
        </p:nvSpPr>
        <p:spPr>
          <a:xfrm>
            <a:off x="777240" y="3960242"/>
            <a:ext cx="3081437" cy="509735"/>
          </a:xfrm>
          <a:prstGeom prst="roundRect">
            <a:avLst>
              <a:gd name="adj" fmla="val 14351"/>
            </a:avLst>
          </a:prstGeom>
          <a:solidFill>
            <a:srgbClr val="F6F3F0"/>
          </a:solidFill>
          <a:ln/>
        </p:spPr>
      </p:sp>
      <p:sp>
        <p:nvSpPr>
          <p:cNvPr id="28" name="match-hex"/>
          <p:cNvSpPr/>
          <p:nvPr/>
        </p:nvSpPr>
        <p:spPr>
          <a:xfrm>
            <a:off x="850392" y="4048817"/>
            <a:ext cx="384048" cy="332586"/>
          </a:xfrm>
          <a:prstGeom prst="hexagon">
            <a:avLst/>
          </a:prstGeom>
          <a:solidFill>
            <a:srgbClr val="7A4A1E"/>
          </a:solidFill>
          <a:ln/>
        </p:spPr>
      </p:sp>
      <p:sp>
        <p:nvSpPr>
          <p:cNvPr id="29" name="match-hex-label"/>
          <p:cNvSpPr txBox="1"/>
          <p:nvPr/>
        </p:nvSpPr>
        <p:spPr>
          <a:xfrm>
            <a:off x="850392"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960242"/>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Slave pen</a:t>
            </a:r>
            <a:endParaRPr lang="en-US" sz="2000" dirty="0"/>
          </a:p>
        </p:txBody>
      </p:sp>
      <p:sp>
        <p:nvSpPr>
          <p:cNvPr id="31" name="match-card"/>
          <p:cNvSpPr/>
          <p:nvPr/>
        </p:nvSpPr>
        <p:spPr>
          <a:xfrm>
            <a:off x="4224437" y="3960242"/>
            <a:ext cx="7190019" cy="509735"/>
          </a:xfrm>
          <a:prstGeom prst="roundRect">
            <a:avLst>
              <a:gd name="adj" fmla="val 14351"/>
            </a:avLst>
          </a:prstGeom>
          <a:solidFill>
            <a:srgbClr val="F8F2E9"/>
          </a:solidFill>
          <a:ln/>
        </p:spPr>
      </p:sp>
      <p:sp>
        <p:nvSpPr>
          <p:cNvPr id="32" name="match-hex"/>
          <p:cNvSpPr/>
          <p:nvPr/>
        </p:nvSpPr>
        <p:spPr>
          <a:xfrm>
            <a:off x="4297589" y="4048817"/>
            <a:ext cx="384048" cy="332586"/>
          </a:xfrm>
          <a:prstGeom prst="hexagon">
            <a:avLst/>
          </a:prstGeom>
          <a:solidFill>
            <a:srgbClr val="B8862B"/>
          </a:solidFill>
          <a:ln/>
        </p:spPr>
      </p:sp>
      <p:sp>
        <p:nvSpPr>
          <p:cNvPr id="33" name="match-hex-label"/>
          <p:cNvSpPr txBox="1"/>
          <p:nvPr/>
        </p:nvSpPr>
        <p:spPr>
          <a:xfrm>
            <a:off x="4297589" y="40488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960242"/>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sale to whoever offered the most money</a:t>
            </a:r>
            <a:endParaRPr lang="en-US" sz="2000" dirty="0"/>
          </a:p>
        </p:txBody>
      </p:sp>
      <p:sp>
        <p:nvSpPr>
          <p:cNvPr id="35" name="match-card"/>
          <p:cNvSpPr/>
          <p:nvPr/>
        </p:nvSpPr>
        <p:spPr>
          <a:xfrm>
            <a:off x="777240" y="4561417"/>
            <a:ext cx="3081437" cy="799295"/>
          </a:xfrm>
          <a:prstGeom prst="roundRect">
            <a:avLst>
              <a:gd name="adj" fmla="val 9152"/>
            </a:avLst>
          </a:prstGeom>
          <a:solidFill>
            <a:srgbClr val="F6F3F0"/>
          </a:solidFill>
          <a:ln/>
        </p:spPr>
      </p:sp>
      <p:sp>
        <p:nvSpPr>
          <p:cNvPr id="36" name="match-hex"/>
          <p:cNvSpPr/>
          <p:nvPr/>
        </p:nvSpPr>
        <p:spPr>
          <a:xfrm>
            <a:off x="850392" y="4794772"/>
            <a:ext cx="384048" cy="332586"/>
          </a:xfrm>
          <a:prstGeom prst="hexagon">
            <a:avLst/>
          </a:prstGeom>
          <a:solidFill>
            <a:srgbClr val="7A4A1E"/>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Plantation</a:t>
            </a:r>
            <a:endParaRPr lang="en-US" sz="2000" dirty="0"/>
          </a:p>
        </p:txBody>
      </p:sp>
      <p:sp>
        <p:nvSpPr>
          <p:cNvPr id="39" name="match-card"/>
          <p:cNvSpPr/>
          <p:nvPr/>
        </p:nvSpPr>
        <p:spPr>
          <a:xfrm>
            <a:off x="4224437" y="4561417"/>
            <a:ext cx="7190019" cy="799295"/>
          </a:xfrm>
          <a:prstGeom prst="roundRect">
            <a:avLst>
              <a:gd name="adj" fmla="val 9152"/>
            </a:avLst>
          </a:prstGeom>
          <a:solidFill>
            <a:srgbClr val="F8F2E9"/>
          </a:solidFill>
          <a:ln/>
        </p:spPr>
      </p:sp>
      <p:sp>
        <p:nvSpPr>
          <p:cNvPr id="40" name="match-hex"/>
          <p:cNvSpPr/>
          <p:nvPr/>
        </p:nvSpPr>
        <p:spPr>
          <a:xfrm>
            <a:off x="4297589" y="4794772"/>
            <a:ext cx="384048" cy="332586"/>
          </a:xfrm>
          <a:prstGeom prst="hexagon">
            <a:avLst/>
          </a:prstGeom>
          <a:solidFill>
            <a:srgbClr val="B8862B"/>
          </a:solidFill>
          <a:ln/>
        </p:spPr>
      </p:sp>
      <p:sp>
        <p:nvSpPr>
          <p:cNvPr id="41" name="match-hex-label"/>
          <p:cNvSpPr txBox="1"/>
          <p:nvPr/>
        </p:nvSpPr>
        <p:spPr>
          <a:xfrm>
            <a:off x="4297589"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141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Where people were held after arriving, before they were sold</a:t>
            </a:r>
            <a:endParaRPr lang="en-US" sz="2000" dirty="0"/>
          </a:p>
        </p:txBody>
      </p:sp>
      <p:sp>
        <p:nvSpPr>
          <p:cNvPr id="43" name="match-card"/>
          <p:cNvSpPr/>
          <p:nvPr/>
        </p:nvSpPr>
        <p:spPr>
          <a:xfrm>
            <a:off x="777240" y="5452153"/>
            <a:ext cx="3081437" cy="509735"/>
          </a:xfrm>
          <a:prstGeom prst="roundRect">
            <a:avLst>
              <a:gd name="adj" fmla="val 14351"/>
            </a:avLst>
          </a:prstGeom>
          <a:solidFill>
            <a:srgbClr val="F6F3F0"/>
          </a:solidFill>
          <a:ln/>
        </p:spPr>
      </p:sp>
      <p:sp>
        <p:nvSpPr>
          <p:cNvPr id="44" name="match-hex"/>
          <p:cNvSpPr/>
          <p:nvPr/>
        </p:nvSpPr>
        <p:spPr>
          <a:xfrm>
            <a:off x="850392" y="5540728"/>
            <a:ext cx="384048" cy="332586"/>
          </a:xfrm>
          <a:prstGeom prst="hexagon">
            <a:avLst/>
          </a:prstGeom>
          <a:solidFill>
            <a:srgbClr val="7A4A1E"/>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Slave patroller</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8F2E9"/>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very large estate farm growing one main crop</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Words from the auction and the plantation</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term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4F0EC"/>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terms are kinds of sale. Which two?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term is a place people were kept before the sale; one is the place they worked after it.</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remaining term is a person, not a place or a sale.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Match the person last.</a:t>
            </a:r>
            <a:endParaRPr lang="en-US" sz="1800" dirty="0"/>
          </a:p>
        </p:txBody>
      </p:sp>
      <p:sp>
        <p:nvSpPr>
          <p:cNvPr id="17" name="col-Core"/>
          <p:cNvSpPr/>
          <p:nvPr/>
        </p:nvSpPr>
        <p:spPr>
          <a:xfrm>
            <a:off x="5490762" y="2578608"/>
            <a:ext cx="2938987" cy="3566160"/>
          </a:xfrm>
          <a:prstGeom prst="roundRect">
            <a:avLst>
              <a:gd name="adj" fmla="val 1867"/>
            </a:avLst>
          </a:prstGeom>
          <a:solidFill>
            <a:srgbClr val="E4DAD1"/>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Sort the five terms into sales, places and people before you match.</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deck lists a scramble as a type of auction. Explain why a scramble might have been even more frightening than an ordinary auction for the people being sold.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3080004"/>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A group of enslaved people on a plantation worked slowly whenever the patroller looked away. Why was an act like this important?</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made the plantation more profitable for the owner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was noticed by Parliament in London and led to a new law</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ended slavery on that plantation straight away</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let enslaved people keep some control and dignity in a system built to take both away</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8F5F3"/>
          </a:solidFill>
          <a:ln w="12700">
            <a:solidFill>
              <a:srgbClr val="BEA792"/>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Property, not people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1083056"/>
          </a:xfrm>
          <a:prstGeom prst="roundRect">
            <a:avLst>
              <a:gd name="adj" fmla="val 8443"/>
            </a:avLst>
          </a:prstGeom>
          <a:solidFill>
            <a:srgbClr val="F6F3F0"/>
          </a:solidFill>
          <a:ln/>
        </p:spPr>
      </p:sp>
      <p:sp>
        <p:nvSpPr>
          <p:cNvPr id="9" name="tickbox"/>
          <p:cNvSpPr/>
          <p:nvPr/>
        </p:nvSpPr>
        <p:spPr>
          <a:xfrm>
            <a:off x="713232" y="2379472"/>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give at least two details from the auction, such as washing and oiling, the highest bidder, the scramble, or the word refuse.</a:t>
            </a:r>
            <a:endParaRPr lang="en-US" sz="2200" dirty="0"/>
          </a:p>
        </p:txBody>
      </p:sp>
      <p:sp>
        <p:nvSpPr>
          <p:cNvPr id="11" name="crit-box"/>
          <p:cNvSpPr/>
          <p:nvPr/>
        </p:nvSpPr>
        <p:spPr>
          <a:xfrm>
            <a:off x="548640" y="3158744"/>
            <a:ext cx="11094415" cy="742188"/>
          </a:xfrm>
          <a:prstGeom prst="roundRect">
            <a:avLst>
              <a:gd name="adj" fmla="val 12320"/>
            </a:avLst>
          </a:prstGeom>
          <a:solidFill>
            <a:srgbClr val="F6F3F0"/>
          </a:solidFill>
          <a:ln/>
        </p:spPr>
      </p:sp>
      <p:sp>
        <p:nvSpPr>
          <p:cNvPr id="12" name="tickbox"/>
          <p:cNvSpPr/>
          <p:nvPr/>
        </p:nvSpPr>
        <p:spPr>
          <a:xfrm>
            <a:off x="713232" y="3383534"/>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315874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After each detail I explain what it shows about how traders thought.</a:t>
            </a:r>
            <a:endParaRPr lang="en-US" sz="2200" dirty="0"/>
          </a:p>
        </p:txBody>
      </p:sp>
      <p:sp>
        <p:nvSpPr>
          <p:cNvPr id="14" name="crit-box"/>
          <p:cNvSpPr/>
          <p:nvPr/>
        </p:nvSpPr>
        <p:spPr>
          <a:xfrm>
            <a:off x="548640" y="3992372"/>
            <a:ext cx="11094415" cy="742188"/>
          </a:xfrm>
          <a:prstGeom prst="roundRect">
            <a:avLst>
              <a:gd name="adj" fmla="val 12320"/>
            </a:avLst>
          </a:prstGeom>
          <a:solidFill>
            <a:srgbClr val="F6F3F0"/>
          </a:solidFill>
          <a:ln/>
        </p:spPr>
      </p:sp>
      <p:sp>
        <p:nvSpPr>
          <p:cNvPr id="15" name="tickbox"/>
          <p:cNvSpPr/>
          <p:nvPr/>
        </p:nvSpPr>
        <p:spPr>
          <a:xfrm>
            <a:off x="713232" y="4217162"/>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words property and people to make the contrast clear.</a:t>
            </a:r>
            <a:endParaRPr lang="en-US" sz="2200" dirty="0"/>
          </a:p>
        </p:txBody>
      </p:sp>
      <p:sp>
        <p:nvSpPr>
          <p:cNvPr id="17" name="crit-box"/>
          <p:cNvSpPr/>
          <p:nvPr/>
        </p:nvSpPr>
        <p:spPr>
          <a:xfrm>
            <a:off x="548640" y="4826000"/>
            <a:ext cx="11094415" cy="742188"/>
          </a:xfrm>
          <a:prstGeom prst="roundRect">
            <a:avLst>
              <a:gd name="adj" fmla="val 12320"/>
            </a:avLst>
          </a:prstGeom>
          <a:solidFill>
            <a:srgbClr val="F6F3F0"/>
          </a:solidFill>
          <a:ln/>
        </p:spPr>
      </p:sp>
      <p:sp>
        <p:nvSpPr>
          <p:cNvPr id="18" name="tickbox"/>
          <p:cNvSpPr/>
          <p:nvPr/>
        </p:nvSpPr>
        <p:spPr>
          <a:xfrm>
            <a:off x="713232" y="5050790"/>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826000"/>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keep the enslaved people in view as people, with families and feelings.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Property, not people</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8F2E9"/>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Slave auctions show clearly that traders saw enslaved people as property. Before a sale, people were washed and had oil rubbed into their skin to make them look healthier, exactly as a trader might polish goods to get a better price. At the auction they were sold to the highest bidder, sometimes one by one, which meant parents and children could be bought by different owners and never see each other again; a trader who thought of them as people would not have done this. People who were not sold were called refuse, a word for rubbish. Each of these details shows that, to the traders, a person was a thing with a price.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Words from the auction and the plantation</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Auction  →  C  A sale to whoever offered the most money</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Scramble  →  B  Buyers paid a set price, then rushed in to grab whoever they could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Slave pen  →  D  Where people were held after arriving, before they were sold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Plantation  →  E  A very large estate farm growing one main crop</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Slave patroller  →  A  A man who supervised the workers and punished them</a:t>
            </a:r>
            <a:endParaRPr lang="en-US" sz="20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Auction and scramble are kinds of sale; slave pen and plantation are places before and after the sale; a slave patroller is the person who supervised and punished the workers.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group of enslaved people on a plantation worked slowly whenever the patroller looked away. Why was an act like this important?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It let enslaved people keep some control and dignity in a system built to take both away</a:t>
            </a:r>
            <a:endParaRPr lang="en-US" sz="1800" dirty="0"/>
          </a:p>
        </p:txBody>
      </p:sp>
      <p:sp>
        <p:nvSpPr>
          <p:cNvPr id="10" name="why-panel"/>
          <p:cNvSpPr/>
          <p:nvPr/>
        </p:nvSpPr>
        <p:spPr>
          <a:xfrm>
            <a:off x="7223760" y="1389888"/>
            <a:ext cx="4419295" cy="4754880"/>
          </a:xfrm>
          <a:prstGeom prst="roundRect">
            <a:avLst>
              <a:gd name="adj" fmla="val 1035"/>
            </a:avLst>
          </a:prstGeom>
          <a:solidFill>
            <a:srgbClr val="F4F0EC"/>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Small acts of resistance gave people some control over their own labour and kept their identity alive inside a system designed to deny both. That, not an immediate end to slavery, is why they mattered.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4F0EC"/>
      </a:lt2>
      <a:accent1>
        <a:srgbClr val="7A4A1E"/>
      </a:accent1>
      <a:accent2>
        <a:srgbClr val="B8862B"/>
      </a:accent2>
      <a:accent3>
        <a:srgbClr val="AF9278"/>
      </a:accent3>
      <a:accent4>
        <a:srgbClr val="815E1E"/>
      </a:accent4>
      <a:accent5>
        <a:srgbClr val="4A505C"/>
      </a:accent5>
      <a:accent6>
        <a:srgbClr val="DDC498"/>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Slave Trade · Chapter 4: Sold at auction, life on the plantation, and resistance</dc:title>
  <dc:subject>History · Year 8</dc:subject>
  <dc:creator>Dr Vitor Merissi de Carvalho</dc:creator>
  <cp:lastModifiedBy>Dr Vitor Merissi de Carvalho</cp:lastModifiedBy>
  <cp:revision>1</cp:revision>
  <dcterms:created xsi:type="dcterms:W3CDTF">2026-10-19T16:23:13Z</dcterms:created>
  <dcterms:modified xsi:type="dcterms:W3CDTF">2026-10-19T16:23:13Z</dcterms:modified>
</cp:coreProperties>
</file>