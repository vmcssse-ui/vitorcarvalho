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554af8a-8872-3cf8-1fb4-2083c2b48fc5}">
          <p14:sldIdLst>
            <p14:sldId id="256"/>
          </p14:sldIdLst>
        </p14:section>
        <p14:section name="Gate" id="{4a554fc9-7b1c-836f-9957-7559b203348a}">
          <p14:sldIdLst>
            <p14:sldId id="257"/>
            <p14:sldId id="258"/>
            <p14:sldId id="259"/>
          </p14:sldIdLst>
        </p14:section>
        <p14:section name="Pre-teach" id="{3affd589-3e9d-7c8c-f3f1-9451dc16ee84}">
          <p14:sldIdLst>
            <p14:sldId id="260"/>
            <p14:sldId id="261"/>
          </p14:sldIdLst>
        </p14:section>
        <p14:section name="Read-along" id="{ef14b9d3-9145-37a5-155f-3006f4232f12}">
          <p14:sldIdLst>
            <p14:sldId id="262"/>
            <p14:sldId id="263"/>
          </p14:sldIdLst>
        </p14:section>
        <p14:section name="Teach" id="{980b7ba7-2e57-207b-caa8-9ebc8785ca20}">
          <p14:sldIdLst>
            <p14:sldId id="264"/>
            <p14:sldId id="265"/>
            <p14:sldId id="266"/>
            <p14:sldId id="267"/>
            <p14:sldId id="268"/>
          </p14:sldIdLst>
        </p14:section>
        <p14:section name="Routes" id="{786b7c92-48ba-603b-4424-26908c187e9e}">
          <p14:sldIdLst>
            <p14:sldId id="269"/>
            <p14:sldId id="270"/>
            <p14:sldId id="271"/>
            <p14:sldId id="272"/>
            <p14:sldId id="273"/>
          </p14:sldIdLst>
        </p14:section>
        <p14:section name="Close" id="{6c8dbaee-36e0-d3c7-0dd0-aa5a236382b4}">
          <p14:sldIdLst>
            <p14:sldId id="274"/>
          </p14:sldIdLst>
        </p14:section>
        <p14:section name="Answers" id="{8da7483e-6a96-59d2-bf85-ab4badc7991b}">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What can you learn from a source? Content, own knowledge, origin. The three-step method your assessment uses: say what the source shows, test it against what you know, and explain how its origin affects how far you trust it.
This deck covers the department's lessons: 3 (Progress check and slave auctions: What can you learn about the capture of enslaved people from the sources, and how did slave auctions work?); 6 (Review and assessment: Can you use content, own knowledge and origin to say what a source tells you about the Slave Trade?).
Read the big question aloud: "How did the Transatlantic Slave Trade work, what did it do to people, and why was it finally abolished?"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origin of a source mean?  →  C   Who made it, when, and why
2. The origin of a source is also called its ___.  →  provenance
3. Robert Norris told Parliament in 1778 that enslaved people were well fed and comfortable on slave ships. Why does his origin make the source less trustworthy?  →  B   He was a slave trader who made money from the trade, so he wanted Parliament to let it continue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origin of a source mean?  →  C   Who made it, when, and why
2. The origin of a source is also called its ___.  →  provenance
3. Robert Norris told Parliament in 1778 that enslaved people were well fed and comfortable on slave ships. Why does his origin make the source less trustworthy?  →  B   He was a slave trader who made money from the trade, so he wanted Parliament to let it continue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Who made it, when, and why. Origin, or provenance, means who made the source, when they made it and why.
2. provenance. Provenance is the historian's word for the origin of a source: who made it, when and why.
3. B   He was a slave trader who made money from the trade, so he wanted Parliament to let it continue. Norris's living depended on the trade, and Parliament was deciding whether to act against it, so he had a reason to make the ships sound pleasant.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source: something from the past that historians study: a picture, letter, speech, plan or object. Example: "A plan of a slave ship is a source."
• content: what a source says or shows: its main idea. Example: "The content of the source is that the ship was overcrowded."
• infer: to work something out from clues. Example: "From the rows of figures I can infer that there was no room to move."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origin: who made the source, when, and why. Example: "The origin of the source is a slave trader speaking to Parliament in 1778."
• provenance: another word for the origin of a source. Example: "Always state the provenance before you judge a source."
• trustworthy: able to be relied on to tell the truth. Example: "A source made by someone who profited from the trade is less trustworthy."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Historians learn about the past from sources.
2. A source might be a picture, a letter, a speech or a plan of a ship.
3. First, ask what the source says or shows.
4. This is its content.
5. Then use your own knowledge.
6. Does what you know support the source, or challenge it?
7. Next, find the origin: who made it, when, and why.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origin is also called the provenance.
9. A person who made money from the trade might not tell the whole truth.
10. So the origin changes how far you can trust the source.
11. In 1778, a slave trader called Robert Norris told Parliament that the ships were comfortable.
12. Your own knowledge tells you this was not true.
13. His origin tells you why he said 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Step one: content. Say it in your own words, then check understanding with a quick question: ask a pupil from the pre-teach group first, since they met these words and ideas before the lesson. Pupils try to recall before you re-explain.
Every source answer starts with the content: what the source says or shows, and what its main idea is. Use the source itself as evidence. If it is a written source, pick out a short phrase and put it in quotation marks. If it is a picture, describe exactly what you can see.
Then infer: work out what the source is suggesting, not just what it states. A picture of people packed in rows suggests overcrowding; a speech that calls a voyage comfortable suggests the speaker wants listeners to think the trade is acceptable.
Useful starters: From the source I can learn… The source says… The source shows… This suggests…
Tip: One short quotation or one precise visual detail is worth more than a long paraphrase. Then say what it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Step two: own knowledge. Say it in your own words, then check understanding with a quick question: ask a pupil from the pre-teach group first, since they met these words and ideas before the lesson. Pupils try to recall before you re-explain.
Next, test the source against what you know. Does your own knowledge support it, or challenge it? In 1778, British members of Parliament met to discuss conditions on slave ships, and a slave trader called Robert Norris was called to give his views. He claimed that the people on board were “well fed, comfortable and have every attention paid to their health, cleanliness and needs” and that on deck they “amused themselves with dancing”.
Now bring in your own knowledge from chapter 3. Ships carried 250 to 600 people packed below deck; portholes were shut in rough seas; disease spread; food and water were scarce; about one in five people died. Each of these facts challenges a claim in the source. Name the claim, name the fact, and say so.
Useful starters: According to my own knowledge, the source is accurate / not accurate. I know that… This shows that the source is accurate / inaccurate because…
Quotation: "well fed, comfortable and have every attention paid to their health, cleanliness and needs" (Robert Norris, slave trader, evidence to Parliament (1778), as printed in your lesson). Read it aloud; ask what it shows.
Tip: Match each claim to one fact. Claim: well fed. Fact: food and water were scarce. That is one sentence of challenge; three is a strong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Step three: origin and trust. Say it in your own words, then check understanding with a quick question: ask a pupil from the pre-teach group first, since they met these words and ideas before the lesson. Pupils try to recall before you re-explain.
The origin of a source, also called its provenance, is who made it, when, and why. State it plainly: Robert Norris, a slave trader, speaking to Parliament in 1778. Then explain what it means. Norris made his living from the trade; Parliament was deciding whether to control it; so he had every reason to make the ships sound pleasant.
An origin can make a source less trustworthy, as with Norris. It can also make a source more trustworthy. A formerly enslaved person writing about their own life, such as Olaudah Equiano, was an eyewitness to what they describe. They were also campaigning, so you should say that too, but an eyewitness account carries weight that a trader's defence of his own business does not.
Be careful with the word prove. An origin never proves a source true or false. It tells you how much weight to give it, and your own knowledge does the rest.
Worked example — model it step by step, thinking aloud: State the origin of the Norris source and explain how it affects how far you trust it. (1) State it: the origin of the source is Robert Norris, a slave trader, giving evidence to Parliament in 1778. (2) Explain what that means: he made his money from the trade, and Parliament was considering whether to act against it. (3) Judge: this makes the source less trustworthy, because he had a reason to describe the ships as comfortable whatever they were really like. (4) Add your own knowledge: and the facts you know about the Middle Passage challenge every claim he makes. Answer: Origin: a slave trader speaking to Parliament in 1778. Less trustworthy, because his income depended on the trade continuing, and his claims are contradicted by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Step three: origin and trust. Say it in your own words, then check understanding with a quick question: ask a pupil from the pre-teach group first, since they met these words and ideas before the lesson. Pupils try to recall before you re-explain.
The origin of a source, also called its provenance, is who made it, when, and why. State it plainly: Robert Norris, a slave trader, speaking to Parliament in 1778. Then explain what it means. Norris made his living from the trade; Parliament was deciding whether to control it; so he had every reason to make the ships sound pleasant.
An origin can make a source less trustworthy, as with Norris. It can also make a source more trustworthy. A formerly enslaved person writing about their own life, such as Olaudah Equiano, was an eyewitness to what they describe. They were also campaigning, so you should say that too, but an eyewitness account carries weight that a trader's defence of his own business does not.
Be careful with the word prove. An origin never proves a source true or false. It tells you how much weight to give it, and your own knowledge does the rest.
Worked example — model it step by step, thinking aloud: State the origin of the Norris source and explain how it affects how far you trust it. (1) State it: the origin of the source is Robert Norris, a slave trader, giving evidence to Parliament in 1778. (2) Explain what that means: he made his money from the trade, and Parliament was considering whether to act against it. (3) Judge: this makes the source less trustworthy, because he had a reason to describe the ships as comfortable whatever they were really like. (4) Add your own knowledge: and the facts you know about the Middle Passage challenge every claim he makes. Answer: Origin: a slave trader speaking to Parliament in 1778. Less trustworthy, because his income depended on the trade continuing, and his claims are contradicted by what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Putting it together: the five success criteria. Say it in your own words, then check understanding with a quick question: ask a pupil from the pre-teach group first, since they met these words and ideas before the lesson. Pupils try to recall before you re-explain.
Your lesson gives five success criteria for a source answer, and your assessment uses the same five. One: explain what you can learn, or infer, from the source. Two: support it with evidence from the source, a quotation or a description. Three: use your own knowledge to say whether the source is accurate or inaccurate. Four: state the origin and explain what it means. Five: explain how the origin affects whether the source is accurate and trustworthy.
Write them as three short paragraphs: content, own knowledge, origin. In your assessment you will be asked what you can learn from two sources about the Slave Trade, so practise the method until the three paragraphs come without thinking.
Your assessment has four sections: knowledge questions, a change-and-continuity question, five statements to support with specific examples, and the extended source question. Chapters 1 to 5 give you the examples; this chapter gives you the method.
Tip: Content, own knowledge, origin. Three paragraphs, every time. Use the sentence starters until you no longer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Content, own knowledge, origin.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Source A: a slave trader, Robert Norris, giving evidence to Parliament in 1778, says the people on his ships were “well fed, comfortable” and “amused themselves with dancing”. What can you learn from Source A about conditions on the Middle Passage? Write three short paragraphs: content, own knowledge, origin.
Support — work through the steps with the group: (1) Paragraph 1, content: From Source A I can learn… The source says… (quote two or three words). (2) Paragraph 2, own knowledge: According to my own knowledge the source is not accurate. I know that… and that… This shows the source is inaccurate because… (3) Paragraph 3, origin: The origin of the source is… This makes the source less trustworthy because… (4) Read it back: have you covered content, own knowledge and origin?
Parallel worked example for Support (model it, do not give the task answer): Source: a Norman monk, writing in 1070, says that Harold broke a holy promise to William and so deserved to lose at Hastings. What can you learn from this source about why William won? Content: the source claims Harold broke an oath, which suggests the Normans saw the battle as God's judgement.; Own knowledge: I know William won through his cavalry and Harold's tired army, so the oath is not the full reason.; Origin: a Norman monk, writing after the Conquest, under Norman rule, so less trustworthy on Harold.. Answer: Three paragraphs: the claim and a quotation; two facts that challenge it; the origin and why it lowers trust..
Core — reveal the hint only on request: Three paragraphs, one per step. In the middle paragraph, match each of Norris's claims to one fact you know.
Stretch — no help; when finished: Explain what the Norris source IS useful for, even though it is inaccurate about conditions. What does it tell a historian about how the trade was defended in 1778?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Content, own knowledge, origin.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Source A: a slave trader, Robert Norris, giving evidence to Parliament in 1778, says the people on his ships were “well fed, comfortable” and “amused themselves with dancing”. What can you learn from Source A about conditions on the Middle Passage? Write three short paragraphs: content, own knowledge, origin.
Support — work through the steps with the group: (1) Paragraph 1, content: From Source A I can learn… The source says… (quote two or three words). (2) Paragraph 2, own knowledge: According to my own knowledge the source is not accurate. I know that… and that… This shows the source is inaccurate because… (3) Paragraph 3, origin: The origin of the source is… This makes the source less trustworthy because… (4) Read it back: have you covered content, own knowledge and origin?
Parallel worked example for Support (model it, do not give the task answer): Source: a Norman monk, writing in 1070, says that Harold broke a holy promise to William and so deserved to lose at Hastings. What can you learn from this source about why William won? Content: the source claims Harold broke an oath, which suggests the Normans saw the battle as God's judgement.; Own knowledge: I know William won through his cavalry and Harold's tired army, so the oath is not the full reason.; Origin: a Norman monk, writing after the Conquest, under Norman rule, so less trustworthy on Harold.. Answer: Three paragraphs: the claim and a quotation; two facts that challenge it; the origin and why it lowers trust..
Core — reveal the hint only on request: Three paragraphs, one per step. In the middle paragraph, match each of Norris's claims to one fact you know.
Stretch — no help; when finished: Explain what the Norris source IS useful for, even though it is inaccurate about conditions. What does it tell a historian about how the trade was defended in 1778?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Content, own knowledge, origin.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Source A: a slave trader, Robert Norris, giving evidence to Parliament in 1778, says the people on his ships were “well fed, comfortable” and “amused themselves with dancing”. What can you learn from Source A about conditions on the Middle Passage? Write three short paragraphs: content, own knowledge, origin.
Support — work through the steps with the group: (1) Paragraph 1, content: From Source A I can learn… The source says… (quote two or three words). (2) Paragraph 2, own knowledge: According to my own knowledge the source is not accurate. I know that… and that… This shows the source is inaccurate because… (3) Paragraph 3, origin: The origin of the source is… This makes the source less trustworthy because… (4) Read it back: have you covered content, own knowledge and origin?
Parallel worked example for Support (model it, do not give the task answer): Source: a Norman monk, writing in 1070, says that Harold broke a holy promise to William and so deserved to lose at Hastings. What can you learn from this source about why William won? Content: the source claims Harold broke an oath, which suggests the Normans saw the battle as God's judgement.; Own knowledge: I know William won through his cavalry and Harold's tired army, so the oath is not the full reason.; Origin: a Norman monk, writing after the Conquest, under Norman rule, so less trustworthy on Harold.. Answer: Three paragraphs: the claim and a quotation; two facts that challenge it; the origin and why it lowers trust..
Core — reveal the hint only on request: Three paragraphs, one per step. In the middle paragraph, match each of Norris's claims to one fact you know.
Stretch — no help; when finished: Explain what the Norris source IS useful for, even though it is inaccurate about conditions. What does it tell a historian about how the trade was defended in 1778?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step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from a source answer to the step it belongs to.
Support — work through the steps with the group: (1) A sentence that describes what is in the source is content. (2) A sentence that begins I know that… is own knowledge. (3) A sentence about who made the source, when or why is origin. (4) A sentence that weighs how far to trust the source is trustworthiness.
Parallel worked example for Support (model it, do not give the task answer): Which step is this sentence: The letter was written by a Liverpool ship owner to his investors in 1790? It tells you who wrote it, to whom and when.; That is who, when and why: the origin.. Answer: Origin..
Core — reveal the hint only on request: Look for the signal words: shows, I know, drawn by, so.
Stretch — no help; when finished: Write one more sentence for each of the four steps, about a different source: an advertisement for a slave auction printed by the trader in 1770.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step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sentence from a source answer to the step it belongs to.
Support — work through the steps with the group: (1) A sentence that describes what is in the source is content. (2) A sentence that begins I know that… is own knowledge. (3) A sentence about who made the source, when or why is origin. (4) A sentence that weighs how far to trust the source is trustworthiness.
Parallel worked example for Support (model it, do not give the task answer): Which step is this sentence: The letter was written by a Liverpool ship owner to his investors in 1790? It tells you who wrote it, to whom and when.; That is who, when and why: the origin.. Answer: Origin..
Core — reveal the hint only on request: Look for the signal words: shows, I know, drawn by, so.
Stretch — no help; when finished: Write one more sentence for each of the four steps, about a different source: an advertisement for a slave auction printed by the trader in 1770.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source about the Slave Trade was produced by someone who made money from it. What should you say about its origin?
Answer: A   It makes the source less trustworthy, because the author had a reason to make the trade look acceptable. An author who profited had a reason to defend the trade, so the source is less trustworthy on conditions. The origin lowers the weight of the source; your own knowledge then tests each claim.
Source of this question: module 3 task ("A source from someone who profited")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Content, own knowledge, origin. Reveal the answer; pupils mark their own work in a different colour, then read the "why" together. Same destination for every lane, so one answer serves the whole class.
Answer: Content: I say what the source claims and support it with a short quotation.; Own knowledge: I use at least two facts from chapter 3 to challenge the claims, and I say the source is inaccurate because of them.; Origin: I state who made the source, when and why.; Trust: I explain how the origin makes the source less trustworthy.; I use the sentence starters or my own clear equivalents, and I write about enslaved people as people.
Why: A full answer names the claim with a quotation, challenges it with specific facts, states the origin and explains why that origin lowers trust. The best answers add what the source is still useful for: evidence of how the trade was defended.
Model answer: From Source A I can learn that Norris wanted Parliament to believe the Middle Passage was not a hardship. The source says the people were “well fed, comfortable” and that they “amused themselves with dancing”, which suggests a voyage with enough food, space and even leisure. According to my own knowledge, the source is not accurate. I know that ships carried between 250 and 600 people packed below deck, that food and water were scarce, and that about one in five people died on the crossing. This shows the source is inaccurate, because people who were well fed and comfortable would not have died in such numbers. The origin of the source is Robert Norris, a slave trader, speaking to Parliament in 1778 while it was deciding whether to act against the trade. This makes the source less trustworthy, because his living depended on the trade continuing, so he had a strong reason to describe the ships as pleasant whatever he had seen on them.
Success criteria: Content: I say what the source claims and support it with a short quotation.; Own knowledge: I use at least two facts from chapter 3 to challenge the claims, and I say the source is inaccurate because of them.; Origin: I state who made the source, when and why.; Trust: I explain how the origin makes the source less trustworthy.; I use the sentence starters or my own clear equivalents, and I write about enslaved people as people.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Content, own knowledge, origin. Reveal the answer; pupils mark their own work in a different colour, then read the "why" together. Same destination for every lane, so one answer serves the whole class.
Answer: Content: I say what the source claims and support it with a short quotation.; Own knowledge: I use at least two facts from chapter 3 to challenge the claims, and I say the source is inaccurate because of them.; Origin: I state who made the source, when and why.; Trust: I explain how the origin makes the source less trustworthy.; I use the sentence starters or my own clear equivalents, and I write about enslaved people as people.
Why: A full answer names the claim with a quotation, challenges it with specific facts, states the origin and explains why that origin lowers trust. The best answers add what the source is still useful for: evidence of how the trade was defended.
Model answer: From Source A I can learn that Norris wanted Parliament to believe the Middle Passage was not a hardship. The source says the people were “well fed, comfortable” and that they “amused themselves with dancing”, which suggests a voyage with enough food, space and even leisure. According to my own knowledge, the source is not accurate. I know that ships carried between 250 and 600 people packed below deck, that food and water were scarce, and that about one in five people died on the crossing. This shows the source is inaccurate, because people who were well fed and comfortable would not have died in such numbers. The origin of the source is Robert Norris, a slave trader, speaking to Parliament in 1778 while it was deciding whether to act against the trade. This makes the source less trustworthy, because his living depended on the trade continuing, so he had a strong reason to describe the ships as pleasant whatever he had seen on them.
Success criteria: Content: I say what the source claims and support it with a short quotation.; Own knowledge: I use at least two facts from chapter 3 to challenge the claims, and I say the source is inaccurate because of them.; Origin: I state who made the source, when and why.; Trust: I explain how the origin makes the source less trustworthy.; I use the sentence starters or my own clear equivalents, and I write about enslaved people as people.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step is this?. Reveal the answer; pupils mark their own work in a different colour, then read the "why" together. Same destination for every lane, so one answer serves the whole class.
Answer: The source shows rows of people lying side by side below deck  →  B  Content; I know that about one in five people died on the Middle Passage  →  D  Own knowledge; This plan was drawn by an abolitionist in Britain to persuade people  →  A  Origin; So the source may exaggerate, but my own knowledge supports it  →  C  Trustworthiness
Why: Content describes the source; own knowledge begins I know; origin says who made it, when and why; trustworthiness weighs it all up.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It makes the source less trustworthy, because the author had a reason to make the trade look acceptable
Why: An author who profited had a reason to defend the trade, so the source is less trustworthy on conditions. The origin lowers the weight of the source; your own knowledge then tests each claim.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Slave Trade · AQA KS3 → 8145</a:t>
            </a:r>
            <a:endParaRPr lang="en-US" sz="1800" dirty="0"/>
          </a:p>
        </p:txBody>
      </p:sp>
      <p:sp>
        <p:nvSpPr>
          <p:cNvPr id="10" name="deck-title"/>
          <p:cNvSpPr txBox="1"/>
          <p:nvPr/>
        </p:nvSpPr>
        <p:spPr>
          <a:xfrm>
            <a:off x="548640" y="218617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What can you learn from a source? Content, own knowledge, origin</a:t>
            </a:r>
            <a:endParaRPr lang="en-US" sz="2800" dirty="0"/>
          </a:p>
        </p:txBody>
      </p:sp>
      <p:sp>
        <p:nvSpPr>
          <p:cNvPr id="11" name="lessons-card"/>
          <p:cNvSpPr/>
          <p:nvPr/>
        </p:nvSpPr>
        <p:spPr>
          <a:xfrm>
            <a:off x="548640" y="3928618"/>
            <a:ext cx="5287975" cy="1328420"/>
          </a:xfrm>
          <a:prstGeom prst="roundRect">
            <a:avLst>
              <a:gd name="adj" fmla="val 5507"/>
            </a:avLst>
          </a:prstGeom>
          <a:solidFill>
            <a:srgbClr val="F4F0EC"/>
          </a:solidFill>
          <a:ln/>
        </p:spPr>
      </p:sp>
      <p:sp>
        <p:nvSpPr>
          <p:cNvPr id="12" name="lessons"/>
          <p:cNvSpPr txBox="1"/>
          <p:nvPr/>
        </p:nvSpPr>
        <p:spPr>
          <a:xfrm>
            <a:off x="685800" y="40200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slave auctions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Review and assessment</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Transatlantic Slave Trade work, what did it do to people, and why was it finally abolished?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the origin of a source mean?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What you already know about the topic</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main idea of the source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Who made it, when, and why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Whether the source is a picture or a piece of writing</a:t>
            </a:r>
            <a:endParaRPr lang="en-US" sz="2400" dirty="0"/>
          </a:p>
        </p:txBody>
      </p:sp>
      <p:sp>
        <p:nvSpPr>
          <p:cNvPr id="12" name="card"/>
          <p:cNvSpPr/>
          <p:nvPr/>
        </p:nvSpPr>
        <p:spPr>
          <a:xfrm>
            <a:off x="6233008" y="1389888"/>
            <a:ext cx="5410048" cy="4754880"/>
          </a:xfrm>
          <a:prstGeom prst="roundRect">
            <a:avLst>
              <a:gd name="adj" fmla="val 1154"/>
            </a:avLst>
          </a:prstGeom>
          <a:solidFill>
            <a:srgbClr val="F8F5F3"/>
          </a:solidFill>
          <a:ln w="12700">
            <a:solidFill>
              <a:srgbClr val="D2C2B4"/>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origin of a source is also called its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provenance  ·  content  ·  inference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Robert Norris told Parliament in 1778 that enslaved people were well fed and comfortable on slave ships. Why does his origin make the source less trustworthy?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had never been on a slave ship</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was a slave trader who made money from the trade, so he wanted Parliament to let it continue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was speaking a very long time ago</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He was a member of Parliament himself</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Who made it, when, and why</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the origin of a source mean?</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Origin, or provenance, means who made the source, when they made it and why.</a:t>
            </a:r>
            <a:endParaRPr lang="en-US" sz="2200" dirty="0"/>
          </a:p>
        </p:txBody>
      </p:sp>
      <p:sp>
        <p:nvSpPr>
          <p:cNvPr id="14" name="card"/>
          <p:cNvSpPr/>
          <p:nvPr/>
        </p:nvSpPr>
        <p:spPr>
          <a:xfrm>
            <a:off x="4338218" y="1389888"/>
            <a:ext cx="3515258" cy="4754880"/>
          </a:xfrm>
          <a:prstGeom prst="roundRect">
            <a:avLst>
              <a:gd name="adj" fmla="val 1561"/>
            </a:avLst>
          </a:prstGeom>
          <a:solidFill>
            <a:srgbClr val="F8F5F3"/>
          </a:solidFill>
          <a:ln w="12700">
            <a:solidFill>
              <a:srgbClr val="D2C2B4"/>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provenance</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The origin of a source is also called its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Provenance is the historian's word for the origin of a source: who made it, when and why.</a:t>
            </a:r>
            <a:endParaRPr lang="en-US" sz="2200" dirty="0"/>
          </a:p>
        </p:txBody>
      </p:sp>
      <p:sp>
        <p:nvSpPr>
          <p:cNvPr id="21" name="card"/>
          <p:cNvSpPr/>
          <p:nvPr/>
        </p:nvSpPr>
        <p:spPr>
          <a:xfrm>
            <a:off x="8127797" y="1389888"/>
            <a:ext cx="3515258" cy="4754880"/>
          </a:xfrm>
          <a:prstGeom prst="roundRect">
            <a:avLst>
              <a:gd name="adj" fmla="val 1561"/>
            </a:avLst>
          </a:prstGeom>
          <a:solidFill>
            <a:srgbClr val="F8F5F3"/>
          </a:solidFill>
          <a:ln w="12700">
            <a:solidFill>
              <a:srgbClr val="D2C2B4"/>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EE3CD"/>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He was a slave trader who made money from the trade, so he wanted Parliament to let it continue</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Norris's living depended on the trade, and Parliament was deciding whether to act against it, so he had a reason…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source</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from the past that historians study: a picture, letter, speech, plan or object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plan of a slave ship is a source.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content</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what a source says or shows: its main idea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content of the source is that the ship was overcrowded.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infer</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work something out from clues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From the rows of figures I can infer that there was no room to move.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origin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who made the source, when, and why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origin of the source is a slave trader speaking to Parliament in 1778.</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provenance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another word for the origin of a source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Always state the provenance before you judge a source.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trustworthy</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able to be relied on to tell the truth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source made by someone who profited from the trade is less trustworthy.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Historians learn about the past from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sources</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might be a picture, a letter, a speech or a plan of a ship.</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First, ask what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says or shows.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is its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content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use your own knowledge.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Does what you know support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or challenge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Next, find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origin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who made it, when, and why.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origin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also called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provenance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person who made money from the trade might not tell the whole truth.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origin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changes how far you can trust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source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1778, a slave trader called Robert Norris told Parliament that the ships were comfortable.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Your own knowledge tells you this was not true.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His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origin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tells you why he said it.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Step one: content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short quotation or one precise visual detail is worth more than a long paraphrase. Then say what it suggests.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source answer starts with the content: what the source says or shows, and what its main idea is.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infer: work out what the source is suggesting, not just what it states.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Useful starters: From the source I can learn… The source says… The source shows… This suggests…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Step two: own knowledge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5EFE2"/>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Match each claim to one fact. Claim: well fed. Fact: food and water were scarce. That is one sentence of challenge; three is a strong answer.</a:t>
            </a:r>
            <a:endParaRPr lang="en-US" sz="1800" dirty="0"/>
          </a:p>
        </p:txBody>
      </p:sp>
      <p:sp>
        <p:nvSpPr>
          <p:cNvPr id="11" name="quote-panel"/>
          <p:cNvSpPr/>
          <p:nvPr/>
        </p:nvSpPr>
        <p:spPr>
          <a:xfrm>
            <a:off x="5989320" y="1389888"/>
            <a:ext cx="5653735" cy="4754880"/>
          </a:xfrm>
          <a:prstGeom prst="roundRect">
            <a:avLst>
              <a:gd name="adj" fmla="val 1154"/>
            </a:avLst>
          </a:prstGeom>
          <a:solidFill>
            <a:srgbClr val="F4F0EC"/>
          </a:solidFill>
          <a:ln/>
        </p:spPr>
      </p:sp>
      <p:sp>
        <p:nvSpPr>
          <p:cNvPr id="12" name="quote-mark"/>
          <p:cNvSpPr txBox="1"/>
          <p:nvPr/>
        </p:nvSpPr>
        <p:spPr>
          <a:xfrm>
            <a:off x="612648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13" name="quote"/>
          <p:cNvSpPr txBox="1"/>
          <p:nvPr/>
        </p:nvSpPr>
        <p:spPr>
          <a:xfrm>
            <a:off x="7040880" y="1664208"/>
            <a:ext cx="4327855" cy="4206240"/>
          </a:xfrm>
          <a:prstGeom prst="rect">
            <a:avLst/>
          </a:prstGeom>
          <a:noFill/>
          <a:ln/>
        </p:spPr>
        <p:txBody>
          <a:bodyPr wrap="square" lIns="63500" tIns="63500" rIns="63500" bIns="63500" rtlCol="0" anchor="ctr"/>
          <a:lstStyle/>
          <a:p>
            <a:pPr algn="l" indent="0" marL="0">
              <a:spcAft>
                <a:spcPts val="1000"/>
              </a:spcAft>
              <a:buNone/>
            </a:pPr>
            <a:r>
              <a:rPr lang="en-US" sz="2600" i="1" dirty="0">
                <a:solidFill>
                  <a:srgbClr val="1E2229"/>
                </a:solidFill>
                <a:latin typeface="Cambria" pitchFamily="34" charset="0"/>
                <a:ea typeface="Cambria" pitchFamily="34" charset="-122"/>
                <a:cs typeface="Cambria" pitchFamily="34" charset="-120"/>
              </a:rPr>
              <a:t>well fed, comfortable and have every attention paid to their health, cleanliness and needs</a:t>
            </a:r>
            <a:endParaRPr lang="en-US" sz="2600" dirty="0"/>
          </a:p>
          <a:p>
            <a:pPr algn="l" indent="0" marL="0">
              <a:buNone/>
            </a:pPr>
            <a:r>
              <a:rPr lang="en-US" sz="1800" dirty="0">
                <a:solidFill>
                  <a:srgbClr val="4A505C"/>
                </a:solidFill>
                <a:latin typeface="Calibri" pitchFamily="34" charset="0"/>
                <a:ea typeface="Calibri" pitchFamily="34" charset="-122"/>
                <a:cs typeface="Calibri" pitchFamily="34" charset="-120"/>
              </a:rPr>
              <a:t>— Robert Norris, slave trader, evidence to Parliament (1778), as printed in your lesson</a:t>
            </a:r>
            <a:endParaRPr lang="en-US" sz="2600" dirty="0"/>
          </a:p>
        </p:txBody>
      </p:sp>
      <p:sp>
        <p:nvSpPr>
          <p:cNvPr id="14" name="bullet-card"/>
          <p:cNvSpPr/>
          <p:nvPr/>
        </p:nvSpPr>
        <p:spPr>
          <a:xfrm>
            <a:off x="548640" y="1389888"/>
            <a:ext cx="5074920" cy="1212088"/>
          </a:xfrm>
          <a:prstGeom prst="roundRect">
            <a:avLst>
              <a:gd name="adj" fmla="val 6035"/>
            </a:avLst>
          </a:prstGeom>
          <a:solidFill>
            <a:srgbClr val="F6F3F0"/>
          </a:solidFill>
          <a:ln/>
        </p:spPr>
      </p:sp>
      <p:sp>
        <p:nvSpPr>
          <p:cNvPr id="15" name="bullet-hex"/>
          <p:cNvSpPr/>
          <p:nvPr/>
        </p:nvSpPr>
        <p:spPr>
          <a:xfrm>
            <a:off x="676656" y="1829639"/>
            <a:ext cx="384048" cy="332586"/>
          </a:xfrm>
          <a:prstGeom prst="hexagon">
            <a:avLst/>
          </a:prstGeom>
          <a:solidFill>
            <a:srgbClr val="7A4A1E"/>
          </a:solidFill>
          <a:ln/>
        </p:spPr>
      </p:sp>
      <p:sp>
        <p:nvSpPr>
          <p:cNvPr id="16" name="bullet"/>
          <p:cNvSpPr txBox="1"/>
          <p:nvPr/>
        </p:nvSpPr>
        <p:spPr>
          <a:xfrm>
            <a:off x="1143000" y="1389888"/>
            <a:ext cx="4389120" cy="121208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Next, test the source against what you know. Does your own knowledge support it, or challenge it?</a:t>
            </a:r>
            <a:endParaRPr lang="en-US" sz="1800" dirty="0"/>
          </a:p>
        </p:txBody>
      </p:sp>
      <p:sp>
        <p:nvSpPr>
          <p:cNvPr id="17" name="bullet-card"/>
          <p:cNvSpPr/>
          <p:nvPr/>
        </p:nvSpPr>
        <p:spPr>
          <a:xfrm>
            <a:off x="548640" y="2748280"/>
            <a:ext cx="5074920" cy="1769872"/>
          </a:xfrm>
          <a:prstGeom prst="roundRect">
            <a:avLst>
              <a:gd name="adj" fmla="val 4133"/>
            </a:avLst>
          </a:prstGeom>
          <a:solidFill>
            <a:srgbClr val="F6F3F0"/>
          </a:solidFill>
          <a:ln/>
        </p:spPr>
      </p:sp>
      <p:sp>
        <p:nvSpPr>
          <p:cNvPr id="18" name="bullet-hex"/>
          <p:cNvSpPr/>
          <p:nvPr/>
        </p:nvSpPr>
        <p:spPr>
          <a:xfrm>
            <a:off x="676656" y="3466923"/>
            <a:ext cx="384048" cy="332586"/>
          </a:xfrm>
          <a:prstGeom prst="hexagon">
            <a:avLst/>
          </a:prstGeom>
          <a:solidFill>
            <a:srgbClr val="B8862B"/>
          </a:solidFill>
          <a:ln/>
        </p:spPr>
      </p:sp>
      <p:sp>
        <p:nvSpPr>
          <p:cNvPr id="19" name="bullet"/>
          <p:cNvSpPr txBox="1"/>
          <p:nvPr/>
        </p:nvSpPr>
        <p:spPr>
          <a:xfrm>
            <a:off x="1143000" y="2748280"/>
            <a:ext cx="4389120" cy="1769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Now bring in your own knowledge from chapter 3. Ships carried 250 to 600 people packed below deck; portholes were shut in rough seas; disease spread; food and water were scarce; about one in five people died.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Step three: origin and trust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origin of a source, also called its provenance, is who made it, when, and why.</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origin can make a source less trustworthy, as with Norris.</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 careful with the word prove. An origin never proves a source true or false.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Step three: origin and trust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F0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State the origin of the Norris source and explain how it affects how far you trust it.</a:t>
            </a:r>
            <a:endParaRPr lang="en-US" sz="2000" dirty="0"/>
          </a:p>
        </p:txBody>
      </p:sp>
      <p:sp>
        <p:nvSpPr>
          <p:cNvPr id="9" name="step-box"/>
          <p:cNvSpPr/>
          <p:nvPr/>
        </p:nvSpPr>
        <p:spPr>
          <a:xfrm>
            <a:off x="548640" y="2192528"/>
            <a:ext cx="11094415" cy="469392"/>
          </a:xfrm>
          <a:prstGeom prst="roundRect">
            <a:avLst>
              <a:gd name="adj" fmla="val 15584"/>
            </a:avLst>
          </a:prstGeom>
          <a:solidFill>
            <a:srgbClr val="FFFFFF"/>
          </a:solidFill>
          <a:ln w="15875">
            <a:solidFill>
              <a:srgbClr val="B69B83"/>
            </a:solidFill>
            <a:prstDash val="solid"/>
          </a:ln>
        </p:spPr>
      </p:sp>
      <p:sp>
        <p:nvSpPr>
          <p:cNvPr id="10" name="step-hex"/>
          <p:cNvSpPr/>
          <p:nvPr/>
        </p:nvSpPr>
        <p:spPr>
          <a:xfrm>
            <a:off x="685800" y="2229256"/>
            <a:ext cx="457200" cy="395935"/>
          </a:xfrm>
          <a:prstGeom prst="hexagon">
            <a:avLst/>
          </a:prstGeom>
          <a:solidFill>
            <a:srgbClr val="7A4A1E"/>
          </a:solidFill>
          <a:ln/>
        </p:spPr>
      </p:sp>
      <p:sp>
        <p:nvSpPr>
          <p:cNvPr id="11" name="step-hex-label"/>
          <p:cNvSpPr txBox="1"/>
          <p:nvPr/>
        </p:nvSpPr>
        <p:spPr>
          <a:xfrm>
            <a:off x="685800" y="222925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 it: the origin of the source is Robert Norris, a slave trader, giving evidence to Parliament in 1778.</a:t>
            </a:r>
            <a:endParaRPr lang="en-US" sz="1800" dirty="0"/>
          </a:p>
        </p:txBody>
      </p:sp>
      <p:sp>
        <p:nvSpPr>
          <p:cNvPr id="13" name="step-box"/>
          <p:cNvSpPr/>
          <p:nvPr/>
        </p:nvSpPr>
        <p:spPr>
          <a:xfrm>
            <a:off x="548640" y="2735072"/>
            <a:ext cx="11094415" cy="733552"/>
          </a:xfrm>
          <a:prstGeom prst="roundRect">
            <a:avLst>
              <a:gd name="adj" fmla="val 9972"/>
            </a:avLst>
          </a:prstGeom>
          <a:solidFill>
            <a:srgbClr val="FFFFFF"/>
          </a:solidFill>
          <a:ln w="15875">
            <a:solidFill>
              <a:srgbClr val="B69B83"/>
            </a:solidFill>
            <a:prstDash val="solid"/>
          </a:ln>
        </p:spPr>
      </p:sp>
      <p:sp>
        <p:nvSpPr>
          <p:cNvPr id="14" name="step-hex"/>
          <p:cNvSpPr/>
          <p:nvPr/>
        </p:nvSpPr>
        <p:spPr>
          <a:xfrm>
            <a:off x="685800" y="2903880"/>
            <a:ext cx="457200" cy="395935"/>
          </a:xfrm>
          <a:prstGeom prst="hexagon">
            <a:avLst/>
          </a:prstGeom>
          <a:solidFill>
            <a:srgbClr val="7A4A1E"/>
          </a:solidFill>
          <a:ln/>
        </p:spPr>
      </p:sp>
      <p:sp>
        <p:nvSpPr>
          <p:cNvPr id="15" name="step-hex-label"/>
          <p:cNvSpPr txBox="1"/>
          <p:nvPr/>
        </p:nvSpPr>
        <p:spPr>
          <a:xfrm>
            <a:off x="685800" y="2903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35072"/>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what that means: he made his money from the trade, and Parliament was considering whether to act against it.</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 this makes the source less trustworthy, because he had a reason to describe the ships as comfortable whatever they were really like.</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your own knowledge: and the facts you know about the Middle Passage challenge every claim he makes.</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Origin: a slave trader speaking to Parliament in 1778. Less trustworthy, because his income depended on the trade continuing, and his claims are contradicted by what you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Putting it together: the five success criteria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Content, own knowledge, origin. Three paragraphs, every time. Use the sentence starters until you no longer need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lesson gives five success criteria for a source answer, and your assessment uses the same five.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them as three short paragraphs: content, own knowledge, origin.</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assessment has four sections: knowledge questions, a change-and-continuity question, five statements to support with specific examples, and the extended source question.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Content, own knowledge, origin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Source A: a slave trader, Robert Norris, giving evidence to Parliament in 1778, says the people on his ships were “well fed, comfortable” and “amused themselves with dancing”. What can you learn from Source A about conditions on the Middle Passage? Write three short paragraphs: content, own knowledge, origin.</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Content, own knowledge, origin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59280"/>
          </a:xfrm>
          <a:prstGeom prst="roundRect">
            <a:avLst>
              <a:gd name="adj" fmla="val 4918"/>
            </a:avLst>
          </a:prstGeom>
          <a:solidFill>
            <a:srgbClr val="FFFFFF"/>
          </a:solidFill>
          <a:ln w="31750">
            <a:solidFill>
              <a:srgbClr val="B8862B"/>
            </a:solidFill>
            <a:prstDash val="solid"/>
          </a:ln>
        </p:spPr>
      </p:sp>
      <p:sp>
        <p:nvSpPr>
          <p:cNvPr id="8" name="task-hex"/>
          <p:cNvSpPr/>
          <p:nvPr/>
        </p:nvSpPr>
        <p:spPr>
          <a:xfrm>
            <a:off x="777240" y="2002780"/>
            <a:ext cx="731520" cy="633496"/>
          </a:xfrm>
          <a:prstGeom prst="hexagon">
            <a:avLst/>
          </a:prstGeom>
          <a:solidFill>
            <a:srgbClr val="B8862B"/>
          </a:solidFill>
          <a:ln/>
        </p:spPr>
      </p:sp>
      <p:sp>
        <p:nvSpPr>
          <p:cNvPr id="9" name="task-hex-label"/>
          <p:cNvSpPr txBox="1"/>
          <p:nvPr/>
        </p:nvSpPr>
        <p:spPr>
          <a:xfrm>
            <a:off x="777240" y="200278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204520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67640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Source A: a slave trader, Robert Norris, giving evidence to Parliament in 1778, says the people on his ships were “well fed, comfortable” and “amused themselves with dancing”. What can you learn from Source A about conditions on the Middle Passage? Write three short paragraphs: content, own knowledge, origin.</a:t>
            </a:r>
            <a:endParaRPr lang="en-US" sz="2000" dirty="0"/>
          </a:p>
        </p:txBody>
      </p:sp>
      <p:sp>
        <p:nvSpPr>
          <p:cNvPr id="12" name="col-Support"/>
          <p:cNvSpPr/>
          <p:nvPr/>
        </p:nvSpPr>
        <p:spPr>
          <a:xfrm>
            <a:off x="548640" y="3523488"/>
            <a:ext cx="11094415" cy="2621280"/>
          </a:xfrm>
          <a:prstGeom prst="roundRect">
            <a:avLst>
              <a:gd name="adj" fmla="val 2093"/>
            </a:avLst>
          </a:prstGeom>
          <a:solidFill>
            <a:srgbClr val="F4F0EC"/>
          </a:solidFill>
          <a:ln/>
        </p:spPr>
      </p:sp>
      <p:sp>
        <p:nvSpPr>
          <p:cNvPr id="13" name="col-hex"/>
          <p:cNvSpPr/>
          <p:nvPr/>
        </p:nvSpPr>
        <p:spPr>
          <a:xfrm>
            <a:off x="658368" y="359664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56006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4163568"/>
            <a:ext cx="10820095" cy="187147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1, content: From Source A I can learn… The source says… (quote two or three words).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2, own knowledge: According to my own knowledge the source is not accurate. I know that… and that… This shows the source is inaccurate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Paragraph 3, origin: The origin of the source is… This makes the source less trustworthy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it back: have you covered content, own knowledge and origin?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Content, own knowledge, origin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859280"/>
          </a:xfrm>
          <a:prstGeom prst="roundRect">
            <a:avLst>
              <a:gd name="adj" fmla="val 4918"/>
            </a:avLst>
          </a:prstGeom>
          <a:solidFill>
            <a:srgbClr val="FFFFFF"/>
          </a:solidFill>
          <a:ln w="31750">
            <a:solidFill>
              <a:srgbClr val="B8862B"/>
            </a:solidFill>
            <a:prstDash val="solid"/>
          </a:ln>
        </p:spPr>
      </p:sp>
      <p:sp>
        <p:nvSpPr>
          <p:cNvPr id="8" name="task-hex"/>
          <p:cNvSpPr/>
          <p:nvPr/>
        </p:nvSpPr>
        <p:spPr>
          <a:xfrm>
            <a:off x="777240" y="2002780"/>
            <a:ext cx="731520" cy="633496"/>
          </a:xfrm>
          <a:prstGeom prst="hexagon">
            <a:avLst/>
          </a:prstGeom>
          <a:solidFill>
            <a:srgbClr val="B8862B"/>
          </a:solidFill>
          <a:ln/>
        </p:spPr>
      </p:sp>
      <p:sp>
        <p:nvSpPr>
          <p:cNvPr id="9" name="task-hex-label"/>
          <p:cNvSpPr txBox="1"/>
          <p:nvPr/>
        </p:nvSpPr>
        <p:spPr>
          <a:xfrm>
            <a:off x="777240" y="200278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204520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67640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Source A: a slave trader, Robert Norris, giving evidence to Parliament in 1778, says the people on his ships were “well fed, comfortable” and “amused themselves with dancing”. What can you learn from Source A about conditions on the Middle Passage? Write three short paragraphs: content, own knowledge, origin.</a:t>
            </a:r>
            <a:endParaRPr lang="en-US" sz="2000" dirty="0"/>
          </a:p>
        </p:txBody>
      </p:sp>
      <p:sp>
        <p:nvSpPr>
          <p:cNvPr id="12" name="col-Core"/>
          <p:cNvSpPr/>
          <p:nvPr/>
        </p:nvSpPr>
        <p:spPr>
          <a:xfrm>
            <a:off x="548640" y="3523488"/>
            <a:ext cx="5410048" cy="2621280"/>
          </a:xfrm>
          <a:prstGeom prst="roundRect">
            <a:avLst>
              <a:gd name="adj" fmla="val 2093"/>
            </a:avLst>
          </a:prstGeom>
          <a:solidFill>
            <a:srgbClr val="E4DAD1"/>
          </a:solidFill>
          <a:ln/>
        </p:spPr>
      </p:sp>
      <p:sp>
        <p:nvSpPr>
          <p:cNvPr id="13" name="col-hex"/>
          <p:cNvSpPr/>
          <p:nvPr/>
        </p:nvSpPr>
        <p:spPr>
          <a:xfrm>
            <a:off x="658368" y="359664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356006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4163568"/>
            <a:ext cx="5135728" cy="187147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Three paragraphs, one per step. In the middle paragraph, match each of Norris's claims to one fact you know.</a:t>
            </a:r>
            <a:endParaRPr lang="en-US" sz="2200" dirty="0"/>
          </a:p>
        </p:txBody>
      </p:sp>
      <p:sp>
        <p:nvSpPr>
          <p:cNvPr id="17" name="col-Stretch"/>
          <p:cNvSpPr/>
          <p:nvPr/>
        </p:nvSpPr>
        <p:spPr>
          <a:xfrm>
            <a:off x="6233008" y="3523488"/>
            <a:ext cx="5410048" cy="2621280"/>
          </a:xfrm>
          <a:prstGeom prst="roundRect">
            <a:avLst>
              <a:gd name="adj" fmla="val 2093"/>
            </a:avLst>
          </a:prstGeom>
          <a:solidFill>
            <a:srgbClr val="7A4A1E"/>
          </a:solidFill>
          <a:ln/>
        </p:spPr>
      </p:sp>
      <p:sp>
        <p:nvSpPr>
          <p:cNvPr id="18" name="col-hex"/>
          <p:cNvSpPr/>
          <p:nvPr/>
        </p:nvSpPr>
        <p:spPr>
          <a:xfrm>
            <a:off x="6342736" y="359664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359664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356006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4163568"/>
            <a:ext cx="5135728" cy="187147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Explain what the Norris source IS useful for, even though it is inaccurate about conditions. What does it tell a historian about how the trade was defended in 1778?</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Which step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sentence from a source answer to the step it belongs to.</a:t>
            </a:r>
            <a:endParaRPr lang="en-US" sz="2200" dirty="0"/>
          </a:p>
        </p:txBody>
      </p:sp>
      <p:sp>
        <p:nvSpPr>
          <p:cNvPr id="11" name="match-card"/>
          <p:cNvSpPr/>
          <p:nvPr/>
        </p:nvSpPr>
        <p:spPr>
          <a:xfrm>
            <a:off x="777240" y="2468331"/>
            <a:ext cx="5135728" cy="804809"/>
          </a:xfrm>
          <a:prstGeom prst="roundRect">
            <a:avLst>
              <a:gd name="adj" fmla="val 9089"/>
            </a:avLst>
          </a:prstGeom>
          <a:solidFill>
            <a:srgbClr val="F6F3F0"/>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source shows rows of people lying side by side below deck</a:t>
            </a:r>
            <a:endParaRPr lang="en-US" sz="2000" dirty="0"/>
          </a:p>
        </p:txBody>
      </p:sp>
      <p:sp>
        <p:nvSpPr>
          <p:cNvPr id="15" name="match-card"/>
          <p:cNvSpPr/>
          <p:nvPr/>
        </p:nvSpPr>
        <p:spPr>
          <a:xfrm>
            <a:off x="6278728" y="2468331"/>
            <a:ext cx="5135728" cy="804809"/>
          </a:xfrm>
          <a:prstGeom prst="roundRect">
            <a:avLst>
              <a:gd name="adj" fmla="val 9089"/>
            </a:avLst>
          </a:prstGeom>
          <a:solidFill>
            <a:srgbClr val="F8F2E9"/>
          </a:solidFill>
          <a:ln/>
        </p:spPr>
      </p:sp>
      <p:sp>
        <p:nvSpPr>
          <p:cNvPr id="16" name="match-hex"/>
          <p:cNvSpPr/>
          <p:nvPr/>
        </p:nvSpPr>
        <p:spPr>
          <a:xfrm>
            <a:off x="6351880" y="2704443"/>
            <a:ext cx="384048" cy="332586"/>
          </a:xfrm>
          <a:prstGeom prst="hexagon">
            <a:avLst/>
          </a:prstGeom>
          <a:solidFill>
            <a:srgbClr val="B8862B"/>
          </a:solidFill>
          <a:ln/>
        </p:spPr>
      </p:sp>
      <p:sp>
        <p:nvSpPr>
          <p:cNvPr id="17" name="match-hex-label"/>
          <p:cNvSpPr txBox="1"/>
          <p:nvPr/>
        </p:nvSpPr>
        <p:spPr>
          <a:xfrm>
            <a:off x="6351880"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Origin</a:t>
            </a:r>
            <a:endParaRPr lang="en-US" sz="2000" dirty="0"/>
          </a:p>
        </p:txBody>
      </p:sp>
      <p:sp>
        <p:nvSpPr>
          <p:cNvPr id="19" name="match-card"/>
          <p:cNvSpPr/>
          <p:nvPr/>
        </p:nvSpPr>
        <p:spPr>
          <a:xfrm>
            <a:off x="777240" y="3364581"/>
            <a:ext cx="5135728" cy="804809"/>
          </a:xfrm>
          <a:prstGeom prst="roundRect">
            <a:avLst>
              <a:gd name="adj" fmla="val 9089"/>
            </a:avLst>
          </a:prstGeom>
          <a:solidFill>
            <a:srgbClr val="F6F3F0"/>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know that about one in five people died on the Middle Passage</a:t>
            </a:r>
            <a:endParaRPr lang="en-US" sz="2000" dirty="0"/>
          </a:p>
        </p:txBody>
      </p:sp>
      <p:sp>
        <p:nvSpPr>
          <p:cNvPr id="23" name="match-card"/>
          <p:cNvSpPr/>
          <p:nvPr/>
        </p:nvSpPr>
        <p:spPr>
          <a:xfrm>
            <a:off x="6278728" y="3364581"/>
            <a:ext cx="5135728" cy="804809"/>
          </a:xfrm>
          <a:prstGeom prst="roundRect">
            <a:avLst>
              <a:gd name="adj" fmla="val 9089"/>
            </a:avLst>
          </a:prstGeom>
          <a:solidFill>
            <a:srgbClr val="F8F2E9"/>
          </a:solidFill>
          <a:ln/>
        </p:spPr>
      </p:sp>
      <p:sp>
        <p:nvSpPr>
          <p:cNvPr id="24" name="match-hex"/>
          <p:cNvSpPr/>
          <p:nvPr/>
        </p:nvSpPr>
        <p:spPr>
          <a:xfrm>
            <a:off x="6351880" y="3600692"/>
            <a:ext cx="384048" cy="332586"/>
          </a:xfrm>
          <a:prstGeom prst="hexagon">
            <a:avLst/>
          </a:prstGeom>
          <a:solidFill>
            <a:srgbClr val="B8862B"/>
          </a:solidFill>
          <a:ln/>
        </p:spPr>
      </p:sp>
      <p:sp>
        <p:nvSpPr>
          <p:cNvPr id="25" name="match-hex-label"/>
          <p:cNvSpPr txBox="1"/>
          <p:nvPr/>
        </p:nvSpPr>
        <p:spPr>
          <a:xfrm>
            <a:off x="6351880"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364581"/>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Content</a:t>
            </a:r>
            <a:endParaRPr lang="en-US" sz="2000" dirty="0"/>
          </a:p>
        </p:txBody>
      </p:sp>
      <p:sp>
        <p:nvSpPr>
          <p:cNvPr id="27" name="match-card"/>
          <p:cNvSpPr/>
          <p:nvPr/>
        </p:nvSpPr>
        <p:spPr>
          <a:xfrm>
            <a:off x="777240" y="4260830"/>
            <a:ext cx="5135728" cy="804809"/>
          </a:xfrm>
          <a:prstGeom prst="roundRect">
            <a:avLst>
              <a:gd name="adj" fmla="val 9089"/>
            </a:avLst>
          </a:prstGeom>
          <a:solidFill>
            <a:srgbClr val="F6F3F0"/>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This plan was drawn by an abolitionist in Britain to persuade people</a:t>
            </a:r>
            <a:endParaRPr lang="en-US" sz="2000" dirty="0"/>
          </a:p>
        </p:txBody>
      </p:sp>
      <p:sp>
        <p:nvSpPr>
          <p:cNvPr id="31" name="match-card"/>
          <p:cNvSpPr/>
          <p:nvPr/>
        </p:nvSpPr>
        <p:spPr>
          <a:xfrm>
            <a:off x="6278728" y="4260830"/>
            <a:ext cx="5135728" cy="804809"/>
          </a:xfrm>
          <a:prstGeom prst="roundRect">
            <a:avLst>
              <a:gd name="adj" fmla="val 9089"/>
            </a:avLst>
          </a:prstGeom>
          <a:solidFill>
            <a:srgbClr val="F8F2E9"/>
          </a:solidFill>
          <a:ln/>
        </p:spPr>
      </p:sp>
      <p:sp>
        <p:nvSpPr>
          <p:cNvPr id="32" name="match-hex"/>
          <p:cNvSpPr/>
          <p:nvPr/>
        </p:nvSpPr>
        <p:spPr>
          <a:xfrm>
            <a:off x="6351880" y="4496941"/>
            <a:ext cx="384048" cy="332586"/>
          </a:xfrm>
          <a:prstGeom prst="hexagon">
            <a:avLst/>
          </a:prstGeom>
          <a:solidFill>
            <a:srgbClr val="B8862B"/>
          </a:solidFill>
          <a:ln/>
        </p:spPr>
      </p:sp>
      <p:sp>
        <p:nvSpPr>
          <p:cNvPr id="33" name="match-hex-label"/>
          <p:cNvSpPr txBox="1"/>
          <p:nvPr/>
        </p:nvSpPr>
        <p:spPr>
          <a:xfrm>
            <a:off x="6351880"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260830"/>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Trustworthiness</a:t>
            </a:r>
            <a:endParaRPr lang="en-US" sz="2000" dirty="0"/>
          </a:p>
        </p:txBody>
      </p:sp>
      <p:sp>
        <p:nvSpPr>
          <p:cNvPr id="35" name="match-card"/>
          <p:cNvSpPr/>
          <p:nvPr/>
        </p:nvSpPr>
        <p:spPr>
          <a:xfrm>
            <a:off x="777240" y="5157079"/>
            <a:ext cx="5135728" cy="804809"/>
          </a:xfrm>
          <a:prstGeom prst="roundRect">
            <a:avLst>
              <a:gd name="adj" fmla="val 9089"/>
            </a:avLst>
          </a:prstGeom>
          <a:solidFill>
            <a:srgbClr val="F6F3F0"/>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 the source may exaggerate, but my own knowledge supports it</a:t>
            </a:r>
            <a:endParaRPr lang="en-US" sz="2000" dirty="0"/>
          </a:p>
        </p:txBody>
      </p:sp>
      <p:sp>
        <p:nvSpPr>
          <p:cNvPr id="39" name="match-card"/>
          <p:cNvSpPr/>
          <p:nvPr/>
        </p:nvSpPr>
        <p:spPr>
          <a:xfrm>
            <a:off x="6278728" y="5157079"/>
            <a:ext cx="5135728" cy="804809"/>
          </a:xfrm>
          <a:prstGeom prst="roundRect">
            <a:avLst>
              <a:gd name="adj" fmla="val 9089"/>
            </a:avLst>
          </a:prstGeom>
          <a:solidFill>
            <a:srgbClr val="F8F2E9"/>
          </a:solidFill>
          <a:ln/>
        </p:spPr>
      </p:sp>
      <p:sp>
        <p:nvSpPr>
          <p:cNvPr id="40" name="match-hex"/>
          <p:cNvSpPr/>
          <p:nvPr/>
        </p:nvSpPr>
        <p:spPr>
          <a:xfrm>
            <a:off x="6351880" y="5393191"/>
            <a:ext cx="384048" cy="332586"/>
          </a:xfrm>
          <a:prstGeom prst="hexagon">
            <a:avLst/>
          </a:prstGeom>
          <a:solidFill>
            <a:srgbClr val="B8862B"/>
          </a:solidFill>
          <a:ln/>
        </p:spPr>
      </p:sp>
      <p:sp>
        <p:nvSpPr>
          <p:cNvPr id="41" name="match-hex-label"/>
          <p:cNvSpPr txBox="1"/>
          <p:nvPr/>
        </p:nvSpPr>
        <p:spPr>
          <a:xfrm>
            <a:off x="6351880"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157079"/>
            <a:ext cx="45413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Own knowledge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Which step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sentence from a source answer to the step it belongs to.</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sentence that describes what is in the source is content.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sentence that begins I know that… is own knowledge.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sentence about who made the source, when or why is origin.</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sentence that weighs how far to trust the source is trustworthiness.</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Look for the signal words: shows, I know, drawn by, so.</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one more sentence for each of the four steps, about a different source: an advertisement for a slave auction printed by the trader in 1770.</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4901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A source about the Slave Trade was produced by someone who made money from it. What should you say about its origin?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makes the source less trustworthy, because the author had a reason to make the trade look acceptable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proves that everything in the source is false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origin does not matter as long as the content is detailed</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makes the source more trustworthy, because the author knew the trade from the inside</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Content, own knowledge, origin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604317"/>
          </a:xfrm>
          <a:prstGeom prst="roundRect">
            <a:avLst>
              <a:gd name="adj" fmla="val 15131"/>
            </a:avLst>
          </a:prstGeom>
          <a:solidFill>
            <a:srgbClr val="F6F3F0"/>
          </a:solidFill>
          <a:ln/>
        </p:spPr>
      </p:sp>
      <p:sp>
        <p:nvSpPr>
          <p:cNvPr id="9" name="tickbox"/>
          <p:cNvSpPr/>
          <p:nvPr/>
        </p:nvSpPr>
        <p:spPr>
          <a:xfrm>
            <a:off x="713232" y="214010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Content: I say what the source claims and support it with a short quotation.</a:t>
            </a:r>
            <a:endParaRPr lang="en-US" sz="2200" dirty="0"/>
          </a:p>
        </p:txBody>
      </p:sp>
      <p:sp>
        <p:nvSpPr>
          <p:cNvPr id="11" name="crit-box"/>
          <p:cNvSpPr/>
          <p:nvPr/>
        </p:nvSpPr>
        <p:spPr>
          <a:xfrm>
            <a:off x="548640" y="2680005"/>
            <a:ext cx="11094415" cy="945185"/>
          </a:xfrm>
          <a:prstGeom prst="roundRect">
            <a:avLst>
              <a:gd name="adj" fmla="val 9674"/>
            </a:avLst>
          </a:prstGeom>
          <a:solidFill>
            <a:srgbClr val="F6F3F0"/>
          </a:solidFill>
          <a:ln/>
        </p:spPr>
      </p:sp>
      <p:sp>
        <p:nvSpPr>
          <p:cNvPr id="12" name="tickbox"/>
          <p:cNvSpPr/>
          <p:nvPr/>
        </p:nvSpPr>
        <p:spPr>
          <a:xfrm>
            <a:off x="713232" y="3006293"/>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680005"/>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Own knowledge: I use at least two facts from chapter 3 to challenge the claims, and I say the source is inaccurate because of them.</a:t>
            </a:r>
            <a:endParaRPr lang="en-US" sz="2200" dirty="0"/>
          </a:p>
        </p:txBody>
      </p:sp>
      <p:sp>
        <p:nvSpPr>
          <p:cNvPr id="14" name="crit-box"/>
          <p:cNvSpPr/>
          <p:nvPr/>
        </p:nvSpPr>
        <p:spPr>
          <a:xfrm>
            <a:off x="548640" y="3716630"/>
            <a:ext cx="11094415" cy="604317"/>
          </a:xfrm>
          <a:prstGeom prst="roundRect">
            <a:avLst>
              <a:gd name="adj" fmla="val 15131"/>
            </a:avLst>
          </a:prstGeom>
          <a:solidFill>
            <a:srgbClr val="F6F3F0"/>
          </a:solidFill>
          <a:ln/>
        </p:spPr>
      </p:sp>
      <p:sp>
        <p:nvSpPr>
          <p:cNvPr id="15" name="tickbox"/>
          <p:cNvSpPr/>
          <p:nvPr/>
        </p:nvSpPr>
        <p:spPr>
          <a:xfrm>
            <a:off x="713232" y="387248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716630"/>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Origin: I state who made the source, when and why.</a:t>
            </a:r>
            <a:endParaRPr lang="en-US" sz="2200" dirty="0"/>
          </a:p>
        </p:txBody>
      </p:sp>
      <p:sp>
        <p:nvSpPr>
          <p:cNvPr id="17" name="crit-box"/>
          <p:cNvSpPr/>
          <p:nvPr/>
        </p:nvSpPr>
        <p:spPr>
          <a:xfrm>
            <a:off x="548640" y="4412386"/>
            <a:ext cx="11094415" cy="604317"/>
          </a:xfrm>
          <a:prstGeom prst="roundRect">
            <a:avLst>
              <a:gd name="adj" fmla="val 15131"/>
            </a:avLst>
          </a:prstGeom>
          <a:solidFill>
            <a:srgbClr val="F6F3F0"/>
          </a:solidFill>
          <a:ln/>
        </p:spPr>
      </p:sp>
      <p:sp>
        <p:nvSpPr>
          <p:cNvPr id="18" name="tickbox"/>
          <p:cNvSpPr/>
          <p:nvPr/>
        </p:nvSpPr>
        <p:spPr>
          <a:xfrm>
            <a:off x="713232" y="4568241"/>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12386"/>
            <a:ext cx="10317175" cy="60431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Trust: I explain how the origin makes the source less trustworthy.</a:t>
            </a:r>
            <a:endParaRPr lang="en-US" sz="2200" dirty="0"/>
          </a:p>
        </p:txBody>
      </p:sp>
      <p:sp>
        <p:nvSpPr>
          <p:cNvPr id="20" name="crit-box"/>
          <p:cNvSpPr/>
          <p:nvPr/>
        </p:nvSpPr>
        <p:spPr>
          <a:xfrm>
            <a:off x="548640" y="5108143"/>
            <a:ext cx="11094415" cy="945185"/>
          </a:xfrm>
          <a:prstGeom prst="roundRect">
            <a:avLst>
              <a:gd name="adj" fmla="val 9674"/>
            </a:avLst>
          </a:prstGeom>
          <a:solidFill>
            <a:srgbClr val="F6F3F0"/>
          </a:solidFill>
          <a:ln/>
        </p:spPr>
      </p:sp>
      <p:sp>
        <p:nvSpPr>
          <p:cNvPr id="21" name="tickbox"/>
          <p:cNvSpPr/>
          <p:nvPr/>
        </p:nvSpPr>
        <p:spPr>
          <a:xfrm>
            <a:off x="713232" y="5434432"/>
            <a:ext cx="292608" cy="292608"/>
          </a:xfrm>
          <a:prstGeom prst="rect">
            <a:avLst/>
          </a:prstGeom>
          <a:solidFill>
            <a:srgbClr val="FFFFFF"/>
          </a:solidFill>
          <a:ln w="19050">
            <a:solidFill>
              <a:srgbClr val="7A4A1E"/>
            </a:solidFill>
            <a:prstDash val="solid"/>
          </a:ln>
        </p:spPr>
      </p:sp>
      <p:sp>
        <p:nvSpPr>
          <p:cNvPr id="22" name="crit"/>
          <p:cNvSpPr txBox="1"/>
          <p:nvPr/>
        </p:nvSpPr>
        <p:spPr>
          <a:xfrm>
            <a:off x="1143000" y="5108143"/>
            <a:ext cx="10317175" cy="94518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the sentence starters or my own clear equivalents, and I write about enslaved people as people.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Content, own knowledge, origin</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From Source A I can learn that Norris wanted Parliament to believe the Middle Passage was not a hardship. The source says the people were “well fed, comfortable” and that they “amused themselves with dancing”, which suggests a voyage with enough food, space and even leisure. According to my own knowledge, the source is not accurate. I know that ships carried between 250 and 600 people packed below deck, that food and water were scarce, and that about one in five people died on the crossing. This shows the source is inaccurate, because people who were well fed and comfortable would not have died in such numbers. The origin of the source is Robert Norris, a slave trader, speaking to Parliament in 1778 while it was deciding whether to act against the trade. This makes the source less trustworthy, because his living depended on the trade continuing, so he had a strong reason to describe the ships as pleasant whatever he had seen on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Which step is this?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The source shows rows of people lying side by side below deck  →  B  Content</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I know that about one in five people died on the Middle Passage  →  D  Own knowledge</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This plan was drawn by an abolitionist in Britain to persuade people  →  A  Origin</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So the source may exaggerate, but my own knowledge supports it  →  C  Trustworthiness</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Content describes the source; own knowledge begins I know; origin says who made it, when and why; trustworthiness weighs it all up.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source about the Slave Trade was produced by someone who made money from it. What should you say about its origin?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It makes the source less trustworthy, because the author had a reason to make the trade look acceptable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 author who profited had a reason to defend the trade, so the source is less trustworthy on conditions. The origin lowers the weight of the source; your own knowledge then tests each claim.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Slave Trade · Chapter 6: What can you learn from a source? Content, own knowledge, origin</dc:title>
  <dc:subject>History · Year 8</dc:subject>
  <dc:creator>Dr Vitor Merissi de Carvalho</dc:creator>
  <cp:lastModifiedBy>Dr Vitor Merissi de Carvalho</cp:lastModifiedBy>
  <cp:revision>1</cp:revision>
  <dcterms:created xsi:type="dcterms:W3CDTF">2026-10-19T16:23:13Z</dcterms:created>
  <dcterms:modified xsi:type="dcterms:W3CDTF">2026-10-19T16:23:13Z</dcterms:modified>
</cp:coreProperties>
</file>