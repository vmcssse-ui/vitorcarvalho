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e36e74-501a-b359-7316-7718a640d52f}">
          <p14:sldIdLst>
            <p14:sldId id="256"/>
          </p14:sldIdLst>
        </p14:section>
        <p14:section name="Gate" id="{8911c2c3-fa83-d93a-05bf-0e45b1909e63}">
          <p14:sldIdLst>
            <p14:sldId id="257"/>
            <p14:sldId id="258"/>
            <p14:sldId id="259"/>
          </p14:sldIdLst>
        </p14:section>
        <p14:section name="Pre-teach" id="{85abbf39-7b9a-74e7-0fb1-7a22175dad65}">
          <p14:sldIdLst>
            <p14:sldId id="260"/>
            <p14:sldId id="261"/>
          </p14:sldIdLst>
        </p14:section>
        <p14:section name="Read-along" id="{82a92153-4a5b-8c3b-48f9-1252ac5e2128}">
          <p14:sldIdLst>
            <p14:sldId id="262"/>
            <p14:sldId id="263"/>
          </p14:sldIdLst>
        </p14:section>
        <p14:section name="Teach" id="{678f62aa-1b63-74e4-4c6d-84f588782ef7}">
          <p14:sldIdLst>
            <p14:sldId id="264"/>
            <p14:sldId id="265"/>
            <p14:sldId id="266"/>
            <p14:sldId id="267"/>
          </p14:sldIdLst>
        </p14:section>
        <p14:section name="Routes" id="{6bfd5c4c-c915-262c-e266-e9599db37d37}">
          <p14:sldIdLst>
            <p14:sldId id="268"/>
            <p14:sldId id="269"/>
            <p14:sldId id="270"/>
            <p14:sldId id="271"/>
          </p14:sldIdLst>
        </p14:section>
        <p14:section name="Close" id="{cf04fc54-cdc8-3491-bea6-6b8593c7f71f}">
          <p14:sldIdLst>
            <p14:sldId id="272"/>
          </p14:sldIdLst>
        </p14:section>
        <p14:section name="Answers" id="{a95f3ce6-e00f-7978-95c2-d58b0b24d6e7}">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Middle Passage. What the Middle Passage was, what the conditions were like for the people on board, how to read a source about it, and the case of the Zong.
This deck covers the department's lesson: 2 (The Middle Passage: What was the Triangular Trade Route, and what were conditions like on the Middle Passage?).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Middle Passage?  →  A   The journey from West Africa to the Americas on which enslaved people were carried
2. About one in ___ people died on the Middle Passage before the ship reached land.  →  five
3. Why did the captain of the Zong throw people into the sea?  →  A   So that the owners could claim money for lost property from the insurance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Middle Passage?  →  A   The journey from West Africa to the Americas on which enslaved people were carried
2. About one in ___ people died on the Middle Passage before the ship reached land.  →  five
3. Why did the captain of the Zong throw people into the sea?  →  A   So that the owners could claim money for lost property from the insurance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journey from West Africa to the Americas on which enslaved people were carried. The Middle Passage was the second leg of the triangle, carrying enslaved people from West Africa to the Americas.
2. five. Your lesson gives the figure as about one in five.
3. A   So that the owners could claim money for lost property from the insurance company. The owners claimed insurance for the people as lost cargo. The case showed that the trade treated people as property.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captives: people who have been taken and held against their will. Example: "A ship might carry between 250 and 600 captives."
• conditions: what a place is like to live in: the space, air, food and cleanliness. Example: "The conditions below deck were extremely bad."
• disease: illness that spreads from person to person. Example: "Disease spread quickly in the crowded, airless hold."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portholes: small windows in the side of a ship. Example: "When the sea was rough, the portholes were closed and the air grew foul."
• the Zong: a British slave ship whose captain threw more than 100 people into the sea. Example: "The case of the Zong shocked people when it was reported in Britain."
• insurance: money paid out when something you own is lost or damaged. Example: "The ship's owners claimed insurance for the people the captain had killed, as if they were lost cargo."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Middle Passage was the journey from West Africa to the Americas.
2. It was the second leg of the triangle.
3. About twelve million people were forced to make this journey.
4. Each one was a person taken from their home.
5. A ship carried between 250 and 600 captives.
6. People were packed below deck with very little space.
7. If the sea was rough, the portholes were shut, and the air grew foul.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Disease spread quickly.
9. Food and water were scarce.
10. About one in five people died before the ship reached land.
11. On a ship called the Zong, the captain threw more than 100 people into the sea.
12. The owners then claimed their value from the insurance company.
13. Those who survived the crossing were sold in the Americas.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was the Middle Passage?. Say it in your own words, then check understanding with a quick question: ask a pupil from the pre-teach group first, since they met these words and ideas before the lesson. Pupils try to recall before you re-explain.
The Middle Passage was the second leg of the Triangular Trade: the voyage from West Africa to the Americas. About twelve million people were taken across the Atlantic this way. Before boarding, people were stripped of their clothes and had their heads shaved, which was meant to take away who they had been.
Ships carried anything from 250 to 600 captives, packed below deck. People were not free to move about the ship. When the sea was rough the portholes had to be closed, which left people gasping for breath and made disease spread even faster. Food and water were poor and scarce.
About one in five people died on the crossing. For the survivors, the voyage ended not in freedom but in sale.
Tip: If a question asks you to describe conditions, cover space, air, food, disease and how men, women and children were held. Keep the people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picture of the Middle Passage. Say it in your own words, then check understanding with a quick question: ask a pupil from the pre-teach group first, since they met these words and ideas before the lesson. Pupils try to recall before you re-explain.
Many sources about the Middle Passage are pictures: plans of ships, drawings and paintings. Your lesson gives you two sentence starters. I can see… describes exactly what is in the picture. This tells me… explains what that detail means for the people on board.
Then think about what you cannot see. A plan of a ship shows rows of figures lying side by side, but it cannot show the heat, the smell, the noise, the fear, or the time: weeks at sea. A good historian names what the source leaves out as well as what it shows.
Finally, ask who made the picture and why. Some ship plans were drawn by abolitionists to shock the public. That origin does not make the picture false, but it is part of what you should say about it.
Worked example — model it step by step, thinking aloud: A plan of a slave ship shows people drawn lying in rows below deck, with no space between them. What can you see, and what does it tell you? (1) I can see: rows of people drawn lying shoulder to shoulder, filling the whole deck, with no gaps. (2) This tells me: the ship was packed as full as possible, so there was no room to sit up, turn or move. (3) What I cannot see: the heat, the air, the smell and the sound; or how long people were kept like this. (4) Origin: if an abolitionist drew it to shock people, say so, and say that your own knowledge still supports what it shows. Answer: I can see people packed in rows with no space; this tells me the ship was overcrowded and people could not move; the plan cannot show the heat, the air or the time at sea; the origin should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picture of the Middle Passage. Say it in your own words, then check understanding with a quick question: ask a pupil from the pre-teach group first, since they met these words and ideas before the lesson. Pupils try to recall before you re-explain.
Many sources about the Middle Passage are pictures: plans of ships, drawings and paintings. Your lesson gives you two sentence starters. I can see… describes exactly what is in the picture. This tells me… explains what that detail means for the people on board.
Then think about what you cannot see. A plan of a ship shows rows of figures lying side by side, but it cannot show the heat, the smell, the noise, the fear, or the time: weeks at sea. A good historian names what the source leaves out as well as what it shows.
Finally, ask who made the picture and why. Some ship plans were drawn by abolitionists to shock the public. That origin does not make the picture false, but it is part of what you should say about it.
Worked example — model it step by step, thinking aloud: A plan of a slave ship shows people drawn lying in rows below deck, with no space between them. What can you see, and what does it tell you? (1) I can see: rows of people drawn lying shoulder to shoulder, filling the whole deck, with no gaps. (2) This tells me: the ship was packed as full as possible, so there was no room to sit up, turn or move. (3) What I cannot see: the heat, the air, the smell and the sound; or how long people were kept like this. (4) Origin: if an abolitionist drew it to shock people, say so, and say that your own knowledge still supports what it shows. Answer: I can see people packed in rows with no space; this tells me the ship was overcrowded and people could not move; the plan cannot show the heat, the air or the time at sea; the origin should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Zong, and why the captain's interest mattered. Say it in your own words, then check understanding with a quick question: ask a pupil from the pre-teach group first, since they met these words and ideas before the lesson. Pupils try to recall before you re-explain.
The captain of a slave ship was paid from the sale of the people on board. A healthy person fetched a higher price, so it was in the captain's interest for people to arrive alive and fit. This is a useful question to ask of any source: what did the person who made it want?
On the slave ship the Zong, in 1781, the captain threw more than 100 people overboard. The ship's owners then claimed insurance for them as lost property, as if they had been cargo. The case was reported in Britain and became an important piece of evidence for the abolitionists.
The Zong shows what the Middle Passage really was: a system that counted people as property. Keep that idea in mind when you read a source written by someone who made money from the trade.
Tip: The Zong is a strong example to use in an essay about why people came to oppose the trade. Give the date, 1781, and say what the owners tried to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and explain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the conditions on the Middle Passage and explain why so many people died. Write one paragraph of five to seven sentences.
Support — work through the steps with the group: (1) Sentence 1: The conditions on the Middle Passage were… (2) Sentences 2 to 4: pick three features (space, air, food, disease) and for each one write what it was like, then so / because… to link it to deaths. (3) Sentence 5: add the length of the voyage. (4) Last sentence: give the figure of about one in five.
Parallel worked example for Support (model it, do not give the task answer): Describe the conditions in a medieval town during the Black Death and explain why so many people died. Feature: streets full of rubbish and waste, so rats and fleas thrived.; Feature: families living in one crowded room, so illness passed quickly.; Feature: no understanding of germs, so no effective treatment.; Link each with so or because.. Answer: Dirty streets, crowded homes and no medical knowledge each helped the plague spread, so a third or more of some towns died..
Core — reveal the hint only on request: Three features, each followed by so or because. Then the length of the voyage, then the figure.
Stretch — no help; when finished: Explain why a captain who was paid on the sale of healthy people still allowed such conditions. What does this tell you about how the owners calculated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and explain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the conditions on the Middle Passage and explain why so many people died. Write one paragraph of five to seven sentences.
Support — work through the steps with the group: (1) Sentence 1: The conditions on the Middle Passage were… (2) Sentences 2 to 4: pick three features (space, air, food, disease) and for each one write what it was like, then so / because… to link it to deaths. (3) Sentence 5: add the length of the voyage. (4) Last sentence: give the figure of about one in five.
Parallel worked example for Support (model it, do not give the task answer): Describe the conditions in a medieval town during the Black Death and explain why so many people died. Feature: streets full of rubbish and waste, so rats and fleas thrived.; Feature: families living in one crowded room, so illness passed quickly.; Feature: no understanding of germs, so no effective treatment.; Link each with so or because.. Answer: Dirty streets, crowded homes and no medical knowledge each helped the plague spread, so a third or more of some towns died..
Core — reveal the hint only on request: Three features, each followed by so or because. Then the length of the voyage, then the figure.
Stretch — no help; when finished: Explain why a captain who was paid on the sale of healthy people still allowed such conditions. What does this tell you about how the owners calculated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capture to sale.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an enslaved person's journey in order, from capture to sale.
Support — work through the steps with the group: (1) The journey starts inland, before the sea is anywhere in sight. (2) A person has to reach the coast before they can be held at a port. (3) The ship comes after the port. (4) The sale happens on the other side of the ocean.
Parallel worked example for Support (model it, do not give the task answer): Put the stages of a parcel's journey in order: sorted at a depot; collected from the sender; delivered to the door; driven across the country. It must be collected first.; Then sorted at a depot.; Then driven across the country.; Finally delivered.. Answer: collected; sorted at a depot; driven across the country; delivered to the door.
Core — reveal the hint only on request: Inland, then the coast, then the port, then the sea, then the sale.
Stretch — no help; when finished: At which of these five stages did people die, according to your lessons? Explain why the traders tolerated those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capture to sale.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an enslaved person's journey in order, from capture to sale.
Support — work through the steps with the group: (1) The journey starts inland, before the sea is anywhere in sight. (2) A person has to reach the coast before they can be held at a port. (3) The ship comes after the port. (4) The sale happens on the other side of the ocean.
Parallel worked example for Support (model it, do not give the task answer): Put the stages of a parcel's journey in order: sorted at a depot; collected from the sender; delivered to the door; driven across the country. It must be collected first.; Then sorted at a depot.; Then driven across the country.; Finally delivered.. Answer: collected; sorted at a depot; driven across the country; delivered to the door.
Core — reveal the hint only on request: Inland, then the coast, then the port, then the sea, then the sale.
Stretch — no help; when finished: At which of these five stages did people die, according to your lessons? Explain why the traders tolerated those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it in a ship captain's interest to keep enslaved people alive and fit during the Middle Passage?
Answer: A   The people were to be sold, and a healthy person fetched a higher price. The captain's income depended on the sale price, and healthy people sold for more. The Zong shows the same logic from the other side: when insurance seemed to pay better than sale, people were killed for the claim.
Source of this question: module 3 task ("The captain's interest")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and explain the conditions. Reveal the answer; pupils mark their own work in a different colour, then read the "why" together. Same destination for every lane, so one answer serves the whole class.
Answer: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Why: Overcrowding, closed portholes, scarce food and water and fast-spreading disease, over a voyage of many weeks, explain why about one in five people died. The strongest answers link each feature to its effect.
Model answer: 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
Success criteria: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and explain the conditions. Reveal the answer; pupils mark their own work in a different colour, then read the "why" together. Same destination for every lane, so one answer serves the whole class.
Answer: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Why: Overcrowding, closed portholes, scarce food and water and fast-spreading disease, over a voyage of many weeks, explain why about one in five people died. The strongest answers link each feature to its effect.
Model answer: 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
Success criteria: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capture to sale. Reveal the answer; pupils mark their own work in a different colour, then read the "why" together. Same destination for every lane, so one answer serves the whole class.
Answer: Captured in a war between kingdoms, or sold as a prisoner or debtor  (B); Marched in chains to the coast, a journey of up to 300 miles  (C); Held at a port such as Whydah until a ship arrived  (D); Carried across the Atlantic on the Middle Passage  (A); Sold at auction in the Americas  (E)
Why: Capture inland came first; then the march to the coast; then the wait at a port such as Whydah; then the Middle Passage; and finally the auction in the Americas.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people were to be sold, and a healthy person fetched a higher price
Why: The captain's income depended on the sale price, and healthy people sold for more. The Zong shows the same logic from the other side: when insurance seemed to pay better than sale, people were killed for the claim.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Middle Passage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4F0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Middle Passage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Middle Passage?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West Africa to the Americas on which enslaved people were carried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Europe to West Africa carrying guns and cloth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march from inland Africa to the coast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the Americas back to Europe carrying sugar</a:t>
            </a:r>
            <a:endParaRPr lang="en-US" sz="20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one in ___ people died on the Middle Passage before the ship reached 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five  ·  two  ·  fifty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the captain of the Zong throw people into the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that the owners could claim money for lost property from the insurance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ship was sinking and he was saving the crew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people had asked to leave the ship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Parliament had ordered him to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977644"/>
          </a:xfrm>
          <a:prstGeom prst="roundRect">
            <a:avLst>
              <a:gd name="adj" fmla="val 5548"/>
            </a:avLst>
          </a:prstGeom>
          <a:solidFill>
            <a:srgbClr val="EEE3CD"/>
          </a:solidFill>
          <a:ln w="19050">
            <a:solidFill>
              <a:srgbClr val="B8862B"/>
            </a:solidFill>
            <a:prstDash val="solid"/>
          </a:ln>
        </p:spPr>
      </p:sp>
      <p:sp>
        <p:nvSpPr>
          <p:cNvPr id="12" name="answer"/>
          <p:cNvSpPr txBox="1"/>
          <p:nvPr/>
        </p:nvSpPr>
        <p:spPr>
          <a:xfrm>
            <a:off x="822960"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journey from West Africa to the Americas on which enslaved people were carried</a:t>
            </a:r>
            <a:endParaRPr lang="en-US" sz="2200" dirty="0"/>
          </a:p>
        </p:txBody>
      </p:sp>
      <p:sp>
        <p:nvSpPr>
          <p:cNvPr id="13" name="card-body"/>
          <p:cNvSpPr txBox="1"/>
          <p:nvPr/>
        </p:nvSpPr>
        <p:spPr>
          <a:xfrm>
            <a:off x="731520"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Middle Passage was the second leg of the triangle, carrying enslaved people from West Africa to the Americas.</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About one in ___ people died on the Middle Passage before the ship reached land.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Your lesson gives the figure as about one in five.</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So that the owners could claim money for lost property from the insurance company</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owners claimed insurance for the people as lost cargo. The case showed that the trade treated people as property.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captives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who have been taken and held against their will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ship might carry between 250 and 600 captives.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conditions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a place is like to live in: the space, air, food and cleanliness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conditions below deck were extremely bad.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disease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illness that spreads from person to person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Disease spread quickly in the crowded, airless hold.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portholes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 windows in the side of a ship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When the sea was rough, the portholes were closed and the air grew foul.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Zong</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British slave ship whose captain threw more than 100 people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case of the Zong shocked people when it was reported in Britain.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insurance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paid out when something you own is lost or damaged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ship's owners claimed insurance for the people the captain had killed, as if they were lost cargo.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Middle Passage was the journey from West Africa to the Americas.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second leg of the triangle.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twelve million people were forced to make this journey.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one was a person taken from their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ship carried between 250 and 600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captives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were packed below deck with very little space.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sea was rough,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portholes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shut, and the air grew foul.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Disease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spread quickly.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Food and water were scarce.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one in five people died before the ship reached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a ship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the Zong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captain threw more than 100 people into the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owners then claimed their value from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insurance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Those who survived the crossing were sold in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was the Middle Passage?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you to describe conditions, cover space, air, food, disease and how men, women and children were held. Keep the people in view.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Middle Passage was the second leg of the Triangular Trade: the voyage from West Africa to the Americas.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Ships carried anything from 250 to 600 captives, packed below deck.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About one in five people died on the crossing. For the survivors, the voyage ended not in freedom but in sale.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Reading a picture of the Middle Passage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sources about the Middle Passage are pictures: plans of ships, drawings and paintings.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think about what you cannot see. A plan of a ship shows rows of figures lying side by side, but it cannot show the heat, the smell, the noise, the fear, or the time: weeks at sea.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Finally, ask who made the picture and why. Some ship plans were drawn by abolitionists to shock the public.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Reading a picture of the Middle Passage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plan of a slave ship shows people drawn lying in rows below deck, with no space between them. What can you see, and what does it tell you?</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can see: rows of people drawn lying shoulder to shoulder, filling the whole deck, with no gaps.</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B69B83"/>
            </a:solidFill>
            <a:prstDash val="solid"/>
          </a:ln>
        </p:spPr>
      </p:sp>
      <p:sp>
        <p:nvSpPr>
          <p:cNvPr id="14" name="step-hex"/>
          <p:cNvSpPr/>
          <p:nvPr/>
        </p:nvSpPr>
        <p:spPr>
          <a:xfrm>
            <a:off x="685800" y="3147212"/>
            <a:ext cx="457200" cy="395935"/>
          </a:xfrm>
          <a:prstGeom prst="hexagon">
            <a:avLst/>
          </a:prstGeom>
          <a:solidFill>
            <a:srgbClr val="7A4A1E"/>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tells me: the ship was packed as full as possible, so there was no room to sit up, turn or move.</a:t>
            </a:r>
            <a:endParaRPr lang="en-US" sz="1800" dirty="0"/>
          </a:p>
        </p:txBody>
      </p:sp>
      <p:sp>
        <p:nvSpPr>
          <p:cNvPr id="17" name="step-box"/>
          <p:cNvSpPr/>
          <p:nvPr/>
        </p:nvSpPr>
        <p:spPr>
          <a:xfrm>
            <a:off x="548640" y="3674872"/>
            <a:ext cx="11094415" cy="513080"/>
          </a:xfrm>
          <a:prstGeom prst="roundRect">
            <a:avLst>
              <a:gd name="adj" fmla="val 14257"/>
            </a:avLst>
          </a:prstGeom>
          <a:solidFill>
            <a:srgbClr val="FFFFFF"/>
          </a:solidFill>
          <a:ln w="15875">
            <a:solidFill>
              <a:srgbClr val="B69B83"/>
            </a:solidFill>
            <a:prstDash val="solid"/>
          </a:ln>
        </p:spPr>
      </p:sp>
      <p:sp>
        <p:nvSpPr>
          <p:cNvPr id="18" name="step-hex"/>
          <p:cNvSpPr/>
          <p:nvPr/>
        </p:nvSpPr>
        <p:spPr>
          <a:xfrm>
            <a:off x="685800" y="3733444"/>
            <a:ext cx="457200" cy="395935"/>
          </a:xfrm>
          <a:prstGeom prst="hexagon">
            <a:avLst/>
          </a:prstGeom>
          <a:solidFill>
            <a:srgbClr val="7A4A1E"/>
          </a:solidFill>
          <a:ln/>
        </p:spPr>
      </p:sp>
      <p:sp>
        <p:nvSpPr>
          <p:cNvPr id="19" name="step-hex-label"/>
          <p:cNvSpPr txBox="1"/>
          <p:nvPr/>
        </p:nvSpPr>
        <p:spPr>
          <a:xfrm>
            <a:off x="685800" y="37334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I cannot see: the heat, the air, the smell and the sound; or how long people were kept like this.</a:t>
            </a:r>
            <a:endParaRPr lang="en-US" sz="1800" dirty="0"/>
          </a:p>
        </p:txBody>
      </p:sp>
      <p:sp>
        <p:nvSpPr>
          <p:cNvPr id="21" name="step-box"/>
          <p:cNvSpPr/>
          <p:nvPr/>
        </p:nvSpPr>
        <p:spPr>
          <a:xfrm>
            <a:off x="548640" y="4261104"/>
            <a:ext cx="11094415" cy="777240"/>
          </a:xfrm>
          <a:prstGeom prst="roundRect">
            <a:avLst>
              <a:gd name="adj" fmla="val 9412"/>
            </a:avLst>
          </a:prstGeom>
          <a:solidFill>
            <a:srgbClr val="FFFFFF"/>
          </a:solidFill>
          <a:ln w="15875">
            <a:solidFill>
              <a:srgbClr val="B69B83"/>
            </a:solidFill>
            <a:prstDash val="solid"/>
          </a:ln>
        </p:spPr>
      </p:sp>
      <p:sp>
        <p:nvSpPr>
          <p:cNvPr id="22" name="step-hex"/>
          <p:cNvSpPr/>
          <p:nvPr/>
        </p:nvSpPr>
        <p:spPr>
          <a:xfrm>
            <a:off x="685800" y="4451756"/>
            <a:ext cx="457200" cy="395935"/>
          </a:xfrm>
          <a:prstGeom prst="hexagon">
            <a:avLst/>
          </a:prstGeom>
          <a:solidFill>
            <a:srgbClr val="7A4A1E"/>
          </a:solidFill>
          <a:ln/>
        </p:spPr>
      </p:sp>
      <p:sp>
        <p:nvSpPr>
          <p:cNvPr id="23" name="step-hex-label"/>
          <p:cNvSpPr txBox="1"/>
          <p:nvPr/>
        </p:nvSpPr>
        <p:spPr>
          <a:xfrm>
            <a:off x="685800" y="44517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61104"/>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Origin: if an abolitionist drew it to shock people, say so, and say that your own knowledge still supports what it shows.</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 can see people packed in rows with no space; this tells me the ship was overcrowded and people could not move; the plan cannot show the heat, the air or the time at sea; the origin should be named.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Zong, and why the captain's interest mattered</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Zong is a strong example to use in an essay about why people came to oppose the trade. Give the date, 1781, and say what the owners tried to claim.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of a slave ship was paid from the sale of the people on board.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slave ship the Zong, in 1781, the captain threw more than 100 people overboard.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Zong shows what the Middle Passage really was: a system that counted people as property.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Describe and explain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the conditions on the Middle Passage and explain why so many people died.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Describe and explain the conditions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and explain the conditions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conditions on the Middle Passage were…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to 4: pick three features (space, air, food, disease) and for each one write what it was like, then so / because… to link it to deaths.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add the length of the voyage.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give the figure of about one in five.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features, each followed by so or because. Then the length of the voyage, then the figure.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captain who was paid on the sale of healthy people still allowed such conditions. What does this tell you about how the owners calculated profit?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an enslaved person's journey in order, from capture to sale.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Carried across the Atlantic on the Middle Passage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Captured in a war between kingdoms, or sold as a prisoner or debtor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Marched in chains to the coast, a journey of up to 300 miles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Held at a port such as Whydah until a ship arrived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Sold at auction in the Americas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an enslaved person's journey in order, from capture to sale.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journey starts inland, before the sea is anywhere in sight.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person has to reach the coast before they can be held at a port.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ship comes after the port.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sale happens on the other side of the ocean.</a:t>
            </a:r>
            <a:endParaRPr lang="en-US" sz="22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Inland, then the coast, then the port, then the sea, then the sale.</a:t>
            </a:r>
            <a:endParaRPr lang="en-US" sz="22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At which of these five stages did people die, according to your lessons? Explain why the traders tolerated those deaths.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was it in a ship captain's interest to keep enslaved people alive and fit during the Middle Passage?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people were to be sold, and a healthy person fetched a higher price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captain was paid a fixed wage whatever happened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British law punished captains who lost captives at sea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captain wanted the people to enjoy the voyage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Describe and explain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at least three features of the conditions: space, air, food and water, disease, how long the voyage lasted.</a:t>
            </a:r>
            <a:endParaRPr lang="en-US" sz="2200" dirty="0"/>
          </a:p>
        </p:txBody>
      </p:sp>
      <p:sp>
        <p:nvSpPr>
          <p:cNvPr id="11" name="crit-box"/>
          <p:cNvSpPr/>
          <p:nvPr/>
        </p:nvSpPr>
        <p:spPr>
          <a:xfrm>
            <a:off x="548640" y="3158744"/>
            <a:ext cx="11094415" cy="742188"/>
          </a:xfrm>
          <a:prstGeom prst="roundRect">
            <a:avLst>
              <a:gd name="adj" fmla="val 12320"/>
            </a:avLst>
          </a:prstGeom>
          <a:solidFill>
            <a:srgbClr val="F6F3F0"/>
          </a:solidFill>
          <a:ln/>
        </p:spPr>
      </p:sp>
      <p:sp>
        <p:nvSpPr>
          <p:cNvPr id="12" name="tickbox"/>
          <p:cNvSpPr/>
          <p:nvPr/>
        </p:nvSpPr>
        <p:spPr>
          <a:xfrm>
            <a:off x="713232" y="33835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each feature led to deaths, using so or because.</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 figure from the chapter correctly, such as 250 to 600 captives or one in five.</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about enslaved people as people, not as cargo or numbers.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Describe and explain the conditions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Captured in a war between kingdoms, or sold as a prisoner or debtor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Marched in chains to the coast, a journey of up to 300 miles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Held at a port such as Whydah until a ship arrived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Carried across the Atlantic on the Middle Passage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Sold at auction in the Americas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Capture inland came first; then the march to the coast; then the wait at a port such as Whydah; then the Middle Passage; and finally the auction in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it in a ship captain's interest to keep enslaved people alive and fit during the Middle Passage?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people were to be sold, and a healthy person fetched a higher price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captain's income depended on the sale price, and healthy people sold for more. The Zong shows the same logic from the other side: when insurance seemed to pay better than sale, people were killed for the claim.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3: The Middle Passage</dc:title>
  <dc:subject>History · Year 8</dc:subject>
  <dc:creator>Dr Vitor Merissi de Carvalho</dc:creator>
  <cp:lastModifiedBy>Dr Vitor Merissi de Carvalho</cp:lastModifiedBy>
  <cp:revision>1</cp:revision>
  <dcterms:created xsi:type="dcterms:W3CDTF">2026-10-18T21:47:54Z</dcterms:created>
  <dcterms:modified xsi:type="dcterms:W3CDTF">2026-10-18T21:47:54Z</dcterms:modified>
</cp:coreProperties>
</file>