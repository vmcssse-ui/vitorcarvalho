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0a8e6a-edcc-e9c6-d809-82f1e9132173}">
          <p14:sldIdLst>
            <p14:sldId id="256"/>
          </p14:sldIdLst>
        </p14:section>
        <p14:section name="Gate" id="{4bcc8b86-2d21-9173-6356-b533e95f4ce6}">
          <p14:sldIdLst>
            <p14:sldId id="257"/>
            <p14:sldId id="258"/>
          </p14:sldIdLst>
        </p14:section>
        <p14:section name="Pre-teach" id="{c494d131-82e4-8a54-3a19-b50b59b02d06}">
          <p14:sldIdLst>
            <p14:sldId id="259"/>
            <p14:sldId id="260"/>
          </p14:sldIdLst>
        </p14:section>
        <p14:section name="Read-along" id="{ee4f534f-a45b-cab4-eb9e-78fb9b0ae22e}">
          <p14:sldIdLst>
            <p14:sldId id="261"/>
            <p14:sldId id="262"/>
          </p14:sldIdLst>
        </p14:section>
        <p14:section name="Teach" id="{e10dfac7-09d9-911a-d38e-f4e50dc2977d}">
          <p14:sldIdLst>
            <p14:sldId id="263"/>
            <p14:sldId id="264"/>
            <p14:sldId id="265"/>
            <p14:sldId id="266"/>
          </p14:sldIdLst>
        </p14:section>
        <p14:section name="Routes" id="{98528f0f-f273-9c13-b9ed-41892c9a4e1a}">
          <p14:sldIdLst>
            <p14:sldId id="267"/>
            <p14:sldId id="268"/>
            <p14:sldId id="269"/>
            <p14:sldId id="270"/>
          </p14:sldIdLst>
        </p14:section>
        <p14:section name="Close" id="{4b9512d7-7661-2c03-2c71-9823321870dd}">
          <p14:sldIdLst>
            <p14:sldId id="271"/>
          </p14:sldIdLst>
        </p14:section>
        <p14:section name="Answers" id="{f5b6b4a7-3843-2a83-2520-e156b4ad0880}">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5: The life cycle of a star. How a star's mass decides how it lives and dies, and how fusion inside stars made the elements you are made of.
This deck covers the department's lessons: 1 (P16.1 Formation of the Solar System: How did our solar system form from dust and gas, and why does the Sun stay stable?); 2 (P16.2 The life history of a star: How does a star's mass decide its life cycle, and how do stars make new elements?).
Read the big question aloud: "How did the Sun, the planets and the elements in your own body come to exist, and how do we know the universe is still growing?"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a main sequence star, what does nuclear fusion turn hydrogen into?  →  B   Helium
2. What decides which life cycle a star follows?  →  D   Its mass
3. Elements heavier than ___ are made in a supernova.  →  iron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Helium. Main sequence stars fuse hydrogen nuclei into helium nuclei. Heavier elements come later in a star's life.
2. D   Its mass. The life cycle is determined by the size (mass) of the star.
3. iron. Fusion in the most massive stars goes up to iron. Heavier elements need the energy of a supernova.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main sequence star: a stable star fusing hydrogen into helium. Example: "The Sun is a main sequence star and will be for billions of years."
• red giant: a large, cooler star formed when a Sun-sized star runs out of core hydrogen. Example: "One day the Sun will swell up into a red giant."
• white dwarf: a small, hot, dense star left behind by a red giant. Example: "A white dwarf is about the size of the Earth."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red supergiant: a huge star formed from a star much more massive than the Sun. Example: "A red supergiant is far bigger than a red giant."
• supernova: the explosion of a massive star. Example: "A supernova can shine more brightly than a whole galaxy for a short time."
• neutron star: the very dense core left after a supernova. Example: "A teaspoon of a neutron star would have a mass of billions of tonnes."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Every star goes through a life cycle.
2. The life cycle depends on the size, or mass, of the star.
3. In a main sequence star, hydrogen nuclei fuse into helium nuclei.
4. For a star like the Sun, this stage lasts for billions of years.
5. When the hydrogen in the core runs out, the star swells up.
6. A star about the size of the Sun becomes a red giant.
7. Then it becomes a small, hot white dwarf.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Over a very long time, a white dwarf cools into a black dwarf.
9. A star much more massive than the Sun becomes a red supergiant.
10. A red supergiant collapses and then explodes as a supernova.
11. It leaves a neutron star or, for the most massive stars, a black hole.
12. Fusion inside stars makes new elements.
13. A supernova makes elements heavier than iron and spreads them through space.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paths: it depends on mass. Say it in your own words, then check understanding with a quick question: ask a pupil from the pre-teach group first, since they met these words and ideas before the lesson. Pupils try to recall before you re-explain.
Every star starts the same way: a nebula is pulled together by gravity into a protostar, fusion starts, and it becomes a main sequence star. What happens next depends on the mass of the star.
A star about the same size as the Sun becomes a red giant when the hydrogen in its core runs out. Its outer layers drift away, leaving a white dwarf. A white dwarf slowly cools and fades, and will eventually become a black dwarf.
A star much more massive than the Sun swells into a red supergiant. It then collapses and explodes as a supernova. What is left is a neutron star or, if enough mass remains, a black hole.
Worked example — model it step by step, thinking aloud: A star has about 20 times the mass of the Sun. Describe what happens to it after its main sequence stage. (1) Decide which path: 20 times the Sun's mass is much more massive than the Sun, so use the massive-star path. (2) When the hydrogen in its core runs out, it swells into a red supergiant. (3) The red supergiant collapses and explodes as a supernova. (4) The remains form a neutron star or, if enough mass is left, a black hole. Answer: Red supergiant, then supernova, then a neutron star or a black hole..
Tip: Learn the two paths as two lines that share the same start: nebula, protostar, main sequence star. They split after the main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paths: it depends on mass. Say it in your own words, then check understanding with a quick question: ask a pupil from the pre-teach group first, since they met these words and ideas before the lesson. Pupils try to recall before you re-explain.
Every star starts the same way: a nebula is pulled together by gravity into a protostar, fusion starts, and it becomes a main sequence star. What happens next depends on the mass of the star.
A star about the same size as the Sun becomes a red giant when the hydrogen in its core runs out. Its outer layers drift away, leaving a white dwarf. A white dwarf slowly cools and fades, and will eventually become a black dwarf.
A star much more massive than the Sun swells into a red supergiant. It then collapses and explodes as a supernova. What is left is a neutron star or, if enough mass remains, a black hole.
Worked example — model it step by step, thinking aloud: A star has about 20 times the mass of the Sun. Describe what happens to it after its main sequence stage. (1) Decide which path: 20 times the Sun's mass is much more massive than the Sun, so use the massive-star path. (2) When the hydrogen in its core runs out, it swells into a red supergiant. (3) The red supergiant collapses and explodes as a supernova. (4) The remains form a neutron star or, if enough mass is left, a black hole. Answer: Red supergiant, then supernova, then a neutron star or a black hole..
Tip: Learn the two paths as two lines that share the same start: nebula, protostar, main sequence star. They split after the main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Fusion and the making of elements. Say it in your own words, then check understanding with a quick question: ask a pupil from the pre-teach group first, since they met these words and ideas before the lesson. Pupils try to recall before you re-explain.
In the main sequence, stars fuse hydrogen nuclei into helium nuclei. When the core hydrogen runs out, the core gets hotter, and helium nuclei start to fuse into heavier nuclei such as carbon and oxygen.
Bigger nuclei have more protons, which repel each other more strongly. So it takes higher temperatures to fuse them. The most massive stars get hot enough to keep fusing heavier and heavier elements, all the way up to iron.
Elements heavier than iron are made in a supernova, where far more energy is available. The explosion then scatters all of these elements out through space.
Tip: The key fact to remember: elements heavier than iron are produced in a supernova.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Stardust and black dwarfs. Say it in your own words, then check understanding with a quick question: ask a pupil from the pre-teach group first, since they met these words and ideas before the lesson. Pupils try to recall before you re-explain.
The elements thrown out by supernovae mix into new clouds of dust and gas. New stars and planets form from these clouds. The Sun, the Earth and you all contain elements that were made inside stars that lived and died before the Sun was born.
A black dwarf is a white dwarf that has cooled so much that it no longer gives out light or heat. This takes longer than the universe has existed, about 13.8 billion years, so scientists think no black dwarfs exist yet.
This is a good example of science predicting something that has not yet been observed, from the way stars are known to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life of a star like the Sun.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life cycle of a star about the same mass as the Sun in order.
Support — work through the steps with the group: (1) The first two stages are the same for every star: the cloud, then the young star. (2) Next is the long, stable stage where hydrogen fuses into helium. (3) When the core hydrogen runs out, the star swells up. (4) Then it shrinks to a small, hot star, which slowly cools and fades.
Parallel worked example for Support (model it, do not give the task answer): Put the life cycle of a butterfly in order: butterfly, egg, chrysalis, caterpillar. Start with the egg.; The egg hatches into a caterpillar.; The caterpillar forms a chrysalis.; A butterfly comes out of the chrysalis.. Answer: egg, caterpillar, chrysalis, butterfly.
Core — reveal the hint only on request: A Sun-sized star never explodes as a supernova. Its last two stages are both called dwarfs.
Stretch — no help; when finished: Explain why no black dwarfs have been observed, even though scientists are confident they will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life of a star like the Sun.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life cycle of a star about the same mass as the Sun in order.
Support — work through the steps with the group: (1) The first two stages are the same for every star: the cloud, then the young star. (2) Next is the long, stable stage where hydrogen fuses into helium. (3) When the core hydrogen runs out, the star swells up. (4) Then it shrinks to a small, hot star, which slowly cools and fades.
Parallel worked example for Support (model it, do not give the task answer): Put the life cycle of a butterfly in order: butterfly, egg, chrysalis, caterpillar. Start with the egg.; The egg hatches into a caterpillar.; The caterpillar forms a chrysalis.; A butterfly comes out of the chrysalis.. Answer: egg, caterpillar, chrysalis, butterfly.
Core — reveal the hint only on request: A Sun-sized star never explodes as a supernova. Its last two stages are both called dwarfs.
Stretch — no help; when finished: Explain why no black dwarfs have been observed, even though scientists are confident they will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life of a massive star.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life cycle of a star much more massive than the Sun in order.
Support — work through the steps with the group: (1) The first three stages are the same as for the Sun. (2) A massive star swells into something bigger than a red giant. (3) That huge star collapses and explodes. (4) The last stage is what is left after the explosion.
Parallel worked example for Support (model it, do not give the task answer): Put the life cycle of a star about the same mass as the Sun in order, starting from the nebula. Nebula, then protostar.; Main sequence star.; Red giant.; White dwarf, which cools to a black dwarf.. Answer: nebula, protostar, main sequence star, red giant, white dwarf, black dwarf.
Core — reveal the hint only on request: Super-sized stars become supergiants, and supergiants end in a supernova.
Stretch — no help; when finished: Explain how a supernova makes it possible for planets like the Earth to contain elements heavier than iron.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life of a massive star.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life cycle of a star much more massive than the Sun in order.
Support — work through the steps with the group: (1) The first three stages are the same as for the Sun. (2) A massive star swells into something bigger than a red giant. (3) That huge star collapses and explodes. (4) The last stage is what is left after the explosion.
Parallel worked example for Support (model it, do not give the task answer): Put the life cycle of a star about the same mass as the Sun in order, starting from the nebula. Nebula, then protostar.; Main sequence star.; Red giant.; White dwarf, which cools to a black dwarf.. Answer: nebula, protostar, main sequence star, red giant, white dwarf, black dwarf.
Core — reveal the hint only on request: Super-sized stars become supergiants, and supergiants end in a supernova.
Stretch — no help; when finished: Explain how a supernova makes it possible for planets like the Earth to contain elements heavier than iron.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are elements heavier than iron made in a supernova and not in a main sequence star?
Answer: B   Only a supernova releases enough energy to make nuclei heavier than iron. Fusion in stars produces elements up to iron. Elements heavier than iron are produced in a supernova, and the explosion spreads them through the universe.
Source of this question: module 3 task ("Where the elements come from")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life of a star like the Sun. Reveal the answer; pupils mark their own work in a different colour, then read the "why" together. Same destination for every lane, so one answer serves the whole class.
Answer: Nebula  (B); Protostar  (E); Main sequence star  (C); Red giant  (F); White dwarf  (A); Black dwarf  (D)
Why: Nebula, protostar, main sequence star, red giant, white dwarf, black dwarf. The Sun will follow this path.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life of a massive star. Reveal the answer; pupils mark their own work in a different colour, then read the "why" together. Same destination for every lane, so one answer serves the whole class.
Answer: Nebula  (C); Protostar  (A); Main sequence star  (E); Red supergiant  (F); Supernova  (B); Neutron star or black hole  (D)
Why: Nebula, protostar, main sequence star, red supergiant, supernova, then a neutron star or, for the most massive stars, a black hole.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Only a supernova releases enough energy to make nuclei heavier than iron
Why: Fusion in stars produces elements up to iron. Elements heavier than iron are produced in a supernova, and the explosion spreads them through the universe.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Space Physics · AQA 8463</a:t>
            </a:r>
            <a:endParaRPr lang="en-US" sz="1800" dirty="0"/>
          </a:p>
        </p:txBody>
      </p:sp>
      <p:sp>
        <p:nvSpPr>
          <p:cNvPr id="10" name="deck-title"/>
          <p:cNvSpPr txBox="1"/>
          <p:nvPr/>
        </p:nvSpPr>
        <p:spPr>
          <a:xfrm>
            <a:off x="548640" y="254939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life cycle of a star</a:t>
            </a:r>
            <a:endParaRPr lang="en-US" sz="4000" dirty="0"/>
          </a:p>
        </p:txBody>
      </p:sp>
      <p:sp>
        <p:nvSpPr>
          <p:cNvPr id="11" name="lessons-card"/>
          <p:cNvSpPr/>
          <p:nvPr/>
        </p:nvSpPr>
        <p:spPr>
          <a:xfrm>
            <a:off x="548640" y="3565398"/>
            <a:ext cx="5287975" cy="1328420"/>
          </a:xfrm>
          <a:prstGeom prst="roundRect">
            <a:avLst>
              <a:gd name="adj" fmla="val 5507"/>
            </a:avLst>
          </a:prstGeom>
          <a:solidFill>
            <a:srgbClr val="DEE1E9"/>
          </a:solidFill>
          <a:ln/>
        </p:spPr>
      </p:sp>
      <p:sp>
        <p:nvSpPr>
          <p:cNvPr id="12" name="lessons"/>
          <p:cNvSpPr txBox="1"/>
          <p:nvPr/>
        </p:nvSpPr>
        <p:spPr>
          <a:xfrm>
            <a:off x="685800" y="36568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P16.1 Formation of the Solar System</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P16.2 The life history of a star</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Sun, the planets and the elements in your own body come to exist, and how do we know the universe is still growing?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 main sequence star, what does nuclear fusion turn hydrogen into?</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Carbon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Helium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Oxygen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Iron</a:t>
            </a:r>
            <a:endParaRPr lang="en-US" sz="24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decides which life cycle a star follows?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Its distance from Earth</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Its colour today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How many planets orbit it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Its mass</a:t>
            </a:r>
            <a:endParaRPr lang="en-US" sz="22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Elements heavier than ___ are made in a supernova.</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iron  ·  helium  ·  hydrogen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Helium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a main sequence star, what does nuclear fusion turn hydrogen into?</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Main sequence stars fuse hydrogen nuclei into helium nuclei. Heavier elements come later in a star's life.</a:t>
            </a:r>
            <a:endParaRPr lang="en-US" sz="20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Its mass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decides which life cycle a star follows?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life cycle is determined by the size (mass) of the star.</a:t>
            </a:r>
            <a:endParaRPr lang="en-US" sz="22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iron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Elements heavier than ___ are made in a supernova.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Fusion in the most massive stars goes up to iron. Heavier elements need the energy of a supernova.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main sequence star</a:t>
            </a:r>
            <a:endParaRPr lang="en-US" sz="2600" dirty="0"/>
          </a:p>
        </p:txBody>
      </p:sp>
      <p:sp>
        <p:nvSpPr>
          <p:cNvPr id="11" name="word-rule"/>
          <p:cNvSpPr/>
          <p:nvPr/>
        </p:nvSpPr>
        <p:spPr>
          <a:xfrm>
            <a:off x="731520" y="2558288"/>
            <a:ext cx="3149498" cy="0"/>
          </a:xfrm>
          <a:prstGeom prst="line">
            <a:avLst/>
          </a:prstGeom>
          <a:ln w="12700">
            <a:solidFill>
              <a:srgbClr val="9CA5BC"/>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stable star fusing hydrogen into helium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Sun is a main sequence star and will be for billions of years.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red giant</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cooler star formed when a Sun-sized star runs out of core hydrogen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One day the Sun will swell up into a red giant.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white dwarf</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 hot, dense star left behind by a red giant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white dwarf is about the size of the Earth.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red supergiant</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star formed from a star much more massive than the Sun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red supergiant is far bigger than a red giant.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supernova</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explosion of a massive star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supernova can shine more brightly than a whole galaxy for a short time.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neutron star</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very dense core left after a supernova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teaspoon of a neutron star would have a mass of billions of tonnes.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Every star goes through a life cycle.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life cycle depends on the size, or mass, of the star.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main sequence star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hydrogen nuclei fuse into helium nuclei.</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For a star like the Sun, this stage lasts for billions of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the hydrogen in the core runs out, the star swells up.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star about the size of the Sun becomes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red giant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it becomes a small, hot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white dwarf</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Over a very long time,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white dwarf</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cools into a black dwarf.</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star much more massive than the Sun becomes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red supergiant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red supergiant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collapses and then explodes as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supernova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leaves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neutron star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or, for the most massive stars, a black hole.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Fusion inside stars makes new elements.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supernova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makes elements heavier than iron and spreads them through space.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Two paths: it depends on mass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two paths as two lines that share the same start: nebula, protostar, main sequence star. They split after the main sequence.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Every star starts the same way: a nebula is pulled together by gravity into a protostar, fusion starts, and it becomes a main sequence star.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star about the same size as the Sun becomes a red giant when the hydrogen in its core runs out.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star much more massive than the Sun swells into a red supergiant.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Worked example: Two paths: it depends on mass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EE1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star has about 20 times the mass of the Sun. Describe what happens to it after its main sequence stage.</a:t>
            </a:r>
            <a:endParaRPr lang="en-US" sz="2200" dirty="0"/>
          </a:p>
        </p:txBody>
      </p:sp>
      <p:sp>
        <p:nvSpPr>
          <p:cNvPr id="9" name="step-box"/>
          <p:cNvSpPr/>
          <p:nvPr/>
        </p:nvSpPr>
        <p:spPr>
          <a:xfrm>
            <a:off x="548640" y="2655824"/>
            <a:ext cx="2464994" cy="2531872"/>
          </a:xfrm>
          <a:prstGeom prst="roundRect">
            <a:avLst>
              <a:gd name="adj" fmla="val 2968"/>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Decide which path: 20 times the Sun's mass is much more massive than the Sun, so use the massive-star path.</a:t>
            </a:r>
            <a:endParaRPr lang="en-US" sz="1800" dirty="0"/>
          </a:p>
        </p:txBody>
      </p:sp>
      <p:sp>
        <p:nvSpPr>
          <p:cNvPr id="13" name="arrow"/>
          <p:cNvSpPr/>
          <p:nvPr/>
        </p:nvSpPr>
        <p:spPr>
          <a:xfrm>
            <a:off x="3086786" y="3784600"/>
            <a:ext cx="274320" cy="274320"/>
          </a:xfrm>
          <a:prstGeom prst="rightArrow">
            <a:avLst/>
          </a:prstGeom>
          <a:solidFill>
            <a:srgbClr val="B8862B"/>
          </a:solidFill>
          <a:ln/>
        </p:spPr>
      </p:sp>
      <p:sp>
        <p:nvSpPr>
          <p:cNvPr id="14" name="step-box"/>
          <p:cNvSpPr/>
          <p:nvPr/>
        </p:nvSpPr>
        <p:spPr>
          <a:xfrm>
            <a:off x="3425114" y="2655824"/>
            <a:ext cx="2464994" cy="2531872"/>
          </a:xfrm>
          <a:prstGeom prst="roundRect">
            <a:avLst>
              <a:gd name="adj" fmla="val 2968"/>
            </a:avLst>
          </a:prstGeom>
          <a:solidFill>
            <a:srgbClr val="FFFFFF"/>
          </a:solidFill>
          <a:ln w="15875">
            <a:solidFill>
              <a:srgbClr val="8790AE"/>
            </a:solidFill>
            <a:prstDash val="solid"/>
          </a:ln>
        </p:spPr>
      </p:sp>
      <p:sp>
        <p:nvSpPr>
          <p:cNvPr id="15" name="step-hex"/>
          <p:cNvSpPr/>
          <p:nvPr/>
        </p:nvSpPr>
        <p:spPr>
          <a:xfrm>
            <a:off x="3562274" y="2765552"/>
            <a:ext cx="530352" cy="459285"/>
          </a:xfrm>
          <a:prstGeom prst="hexagon">
            <a:avLst/>
          </a:prstGeom>
          <a:solidFill>
            <a:srgbClr val="24366B"/>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the hydrogen in its core runs out, it swells into a red supergiant.</a:t>
            </a:r>
            <a:endParaRPr lang="en-US" sz="1800" dirty="0"/>
          </a:p>
        </p:txBody>
      </p:sp>
      <p:sp>
        <p:nvSpPr>
          <p:cNvPr id="18" name="arrow"/>
          <p:cNvSpPr/>
          <p:nvPr/>
        </p:nvSpPr>
        <p:spPr>
          <a:xfrm>
            <a:off x="5963260" y="3784600"/>
            <a:ext cx="274320" cy="274320"/>
          </a:xfrm>
          <a:prstGeom prst="rightArrow">
            <a:avLst/>
          </a:prstGeom>
          <a:solidFill>
            <a:srgbClr val="B8862B"/>
          </a:solidFill>
          <a:ln/>
        </p:spPr>
      </p:sp>
      <p:sp>
        <p:nvSpPr>
          <p:cNvPr id="19" name="step-box"/>
          <p:cNvSpPr/>
          <p:nvPr/>
        </p:nvSpPr>
        <p:spPr>
          <a:xfrm>
            <a:off x="6301588" y="2655824"/>
            <a:ext cx="2464994" cy="2531872"/>
          </a:xfrm>
          <a:prstGeom prst="roundRect">
            <a:avLst>
              <a:gd name="adj" fmla="val 2968"/>
            </a:avLst>
          </a:prstGeom>
          <a:solidFill>
            <a:srgbClr val="FFFFFF"/>
          </a:solidFill>
          <a:ln w="15875">
            <a:solidFill>
              <a:srgbClr val="8790AE"/>
            </a:solidFill>
            <a:prstDash val="solid"/>
          </a:ln>
        </p:spPr>
      </p:sp>
      <p:sp>
        <p:nvSpPr>
          <p:cNvPr id="20" name="step-hex"/>
          <p:cNvSpPr/>
          <p:nvPr/>
        </p:nvSpPr>
        <p:spPr>
          <a:xfrm>
            <a:off x="6438748" y="2765552"/>
            <a:ext cx="530352" cy="459285"/>
          </a:xfrm>
          <a:prstGeom prst="hexagon">
            <a:avLst/>
          </a:prstGeom>
          <a:solidFill>
            <a:srgbClr val="24366B"/>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red supergiant collapses and explodes as a supernova.</a:t>
            </a:r>
            <a:endParaRPr lang="en-US" sz="1800" dirty="0"/>
          </a:p>
        </p:txBody>
      </p:sp>
      <p:sp>
        <p:nvSpPr>
          <p:cNvPr id="23" name="arrow"/>
          <p:cNvSpPr/>
          <p:nvPr/>
        </p:nvSpPr>
        <p:spPr>
          <a:xfrm>
            <a:off x="8839733" y="3784600"/>
            <a:ext cx="274320" cy="274320"/>
          </a:xfrm>
          <a:prstGeom prst="rightArrow">
            <a:avLst/>
          </a:prstGeom>
          <a:solidFill>
            <a:srgbClr val="B8862B"/>
          </a:solidFill>
          <a:ln/>
        </p:spPr>
      </p:sp>
      <p:sp>
        <p:nvSpPr>
          <p:cNvPr id="24" name="step-box"/>
          <p:cNvSpPr/>
          <p:nvPr/>
        </p:nvSpPr>
        <p:spPr>
          <a:xfrm>
            <a:off x="9178061" y="2655824"/>
            <a:ext cx="2464994" cy="2531872"/>
          </a:xfrm>
          <a:prstGeom prst="roundRect">
            <a:avLst>
              <a:gd name="adj" fmla="val 2968"/>
            </a:avLst>
          </a:prstGeom>
          <a:solidFill>
            <a:srgbClr val="FFFFFF"/>
          </a:solidFill>
          <a:ln w="15875">
            <a:solidFill>
              <a:srgbClr val="8790AE"/>
            </a:solidFill>
            <a:prstDash val="solid"/>
          </a:ln>
        </p:spPr>
      </p:sp>
      <p:sp>
        <p:nvSpPr>
          <p:cNvPr id="25" name="step-hex"/>
          <p:cNvSpPr/>
          <p:nvPr/>
        </p:nvSpPr>
        <p:spPr>
          <a:xfrm>
            <a:off x="9315221" y="2765552"/>
            <a:ext cx="530352" cy="459285"/>
          </a:xfrm>
          <a:prstGeom prst="hexagon">
            <a:avLst/>
          </a:prstGeom>
          <a:solidFill>
            <a:srgbClr val="24366B"/>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remains form a neutron star or, if enough mass is left, a black hole.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Red supergiant, then supernova, then a neutron star or a black hole.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Fusion and the making of elements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key fact to remember: elements heavier than iron are produced in a supernova.</a:t>
            </a:r>
            <a:endParaRPr lang="en-US" sz="1800" dirty="0"/>
          </a:p>
        </p:txBody>
      </p:sp>
      <p:sp>
        <p:nvSpPr>
          <p:cNvPr id="11" name="point-card"/>
          <p:cNvSpPr/>
          <p:nvPr/>
        </p:nvSpPr>
        <p:spPr>
          <a:xfrm>
            <a:off x="548640" y="1389888"/>
            <a:ext cx="3515258" cy="3964940"/>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main sequence, stars fuse hydrogen nuclei into helium nuclei.</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Bigger nuclei have more protons, which repel each other more strongly.</a:t>
            </a:r>
            <a:endParaRPr lang="en-US" sz="2400" dirty="0"/>
          </a:p>
        </p:txBody>
      </p:sp>
      <p:sp>
        <p:nvSpPr>
          <p:cNvPr id="19" name="point-card"/>
          <p:cNvSpPr/>
          <p:nvPr/>
        </p:nvSpPr>
        <p:spPr>
          <a:xfrm>
            <a:off x="8127797" y="1389888"/>
            <a:ext cx="3515258" cy="3964940"/>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Elements heavier than iron are made in a supernova, where far more energy is available.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Stardust and black dwarfs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elements thrown out by supernovae mix into new clouds of dust and gas.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black dwarf is a white dwarf that has cooled so much that it no longer gives out light or heat.</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a good example of science predicting something that has not yet been observed, from the way stars are known to behave.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The life of a star like the Sun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life cycle of a star about the same mass as the Sun in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White dwarf</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Nebula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Main sequence star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Black dwarf</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Protostar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Red giant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The life of a star like the Sun</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life cycle of a star about the same mass as the Sun in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DEE1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first two stages are the same for every star: the cloud, then the young star.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is the long, stable stage where hydrogen fuses into helium.</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When the core hydrogen runs out, the star swells up.</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it shrinks to a small, hot star, which slowly cools and fades.</a:t>
            </a:r>
            <a:endParaRPr lang="en-US" sz="1800" dirty="0"/>
          </a:p>
        </p:txBody>
      </p:sp>
      <p:sp>
        <p:nvSpPr>
          <p:cNvPr id="17" name="col-Core"/>
          <p:cNvSpPr/>
          <p:nvPr/>
        </p:nvSpPr>
        <p:spPr>
          <a:xfrm>
            <a:off x="5490762" y="2578608"/>
            <a:ext cx="2938987" cy="3566160"/>
          </a:xfrm>
          <a:prstGeom prst="roundRect">
            <a:avLst>
              <a:gd name="adj" fmla="val 1867"/>
            </a:avLst>
          </a:prstGeom>
          <a:solidFill>
            <a:srgbClr val="C4C9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Sun-sized star never explodes as a supernova. Its last two stages are both called dwarfs.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24366B"/>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no black dwarfs have been observed, even though scientists are confident they will exist.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The life of a massive star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life cycle of a star much more massive than the Sun in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Protostar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Supernova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Nebula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Neutron star or black hole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Main sequence star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Red supergiant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The life of a massive star</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life cycle of a star much more massive than the Sun in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DEE1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first three stages are the same as for the Sun.</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massive star swells into something bigger than a red giant.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huge star collapses and explodes.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stage is what is left after the explosion.</a:t>
            </a:r>
            <a:endParaRPr lang="en-US" sz="1800" dirty="0"/>
          </a:p>
        </p:txBody>
      </p:sp>
      <p:sp>
        <p:nvSpPr>
          <p:cNvPr id="17" name="col-Core"/>
          <p:cNvSpPr/>
          <p:nvPr/>
        </p:nvSpPr>
        <p:spPr>
          <a:xfrm>
            <a:off x="5490762" y="2578608"/>
            <a:ext cx="2938987" cy="3566160"/>
          </a:xfrm>
          <a:prstGeom prst="roundRect">
            <a:avLst>
              <a:gd name="adj" fmla="val 1867"/>
            </a:avLst>
          </a:prstGeom>
          <a:solidFill>
            <a:srgbClr val="C4C9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Super-sized stars become supergiants, and supergiants end in a supernova.</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24366B"/>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 supernova makes it possible for planets like the Earth to contain elements heavier than iron.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are elements heavier than iron made in a supernova and not in a main sequence star?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There is no iron inside stars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Only a supernova releases enough energy to make nuclei heavier than iron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Heavier elements are made when a white dwarf cools down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Heavier elements fall into stars from their planets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The life of a star like the Sun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Nebula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Protostar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Main sequence star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Red giant  (F)</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White dwarf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Black dwarf  (D)</a:t>
            </a:r>
            <a:endParaRPr lang="en-US" sz="24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Nebula, protostar, main sequence star, red giant, white dwarf, black dwarf. The Sun will follow this path.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The life of a massive star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Nebula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Protostar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Main sequence star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Red supergiant  (F)</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Supernova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Neutron star or black hole  (D)</a:t>
            </a:r>
            <a:endParaRPr lang="en-US" sz="24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Nebula, protostar, main sequence star, red supergiant, supernova, then a neutron star or, for the most massive stars, a black hole.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are elements heavier than iron made in a supernova and not in a main sequence star?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Only a supernova releases enough energy to make nuclei heavier than iron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Fusion in stars produces elements up to iron. Elements heavier than iron are produced in a supernova, and the explosion spreads them through the universe.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Physics · Chapter 2: The life cycle of a star</dc:title>
  <dc:subject>Physics (Triple Science) · Year 11</dc:subject>
  <dc:creator>Dr Vitor Merissi de Carvalho</dc:creator>
  <cp:lastModifiedBy>Dr Vitor Merissi de Carvalho</cp:lastModifiedBy>
  <cp:revision>1</cp:revision>
  <dcterms:created xsi:type="dcterms:W3CDTF">2026-10-19T06:08:18Z</dcterms:created>
  <dcterms:modified xsi:type="dcterms:W3CDTF">2026-10-19T06:08:18Z</dcterms:modified>
</cp:coreProperties>
</file>