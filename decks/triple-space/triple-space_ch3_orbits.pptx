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4c06c35-ed04-0eae-758d-daa45908853f}">
          <p14:sldIdLst>
            <p14:sldId id="256"/>
          </p14:sldIdLst>
        </p14:section>
        <p14:section name="Gate" id="{c7753c19-95cf-285a-9d4a-3ff48d818fcd}">
          <p14:sldIdLst>
            <p14:sldId id="257"/>
            <p14:sldId id="258"/>
          </p14:sldIdLst>
        </p14:section>
        <p14:section name="Pre-teach" id="{71a5e50e-85f3-7959-d37e-4e54b99c7e1e}">
          <p14:sldIdLst>
            <p14:sldId id="259"/>
          </p14:sldIdLst>
        </p14:section>
        <p14:section name="Read-along" id="{c58c9ca0-b32d-b3fb-066b-bc71dd07d500}">
          <p14:sldIdLst>
            <p14:sldId id="260"/>
            <p14:sldId id="261"/>
          </p14:sldIdLst>
        </p14:section>
        <p14:section name="Teach" id="{8b482416-f1fd-2964-6b11-cb103ff8f7cd}">
          <p14:sldIdLst>
            <p14:sldId id="262"/>
            <p14:sldId id="263"/>
            <p14:sldId id="264"/>
            <p14:sldId id="265"/>
          </p14:sldIdLst>
        </p14:section>
        <p14:section name="Routes" id="{d67dbbd3-cfeb-e0b2-4bc5-c106fe5ffadc}">
          <p14:sldIdLst>
            <p14:sldId id="266"/>
            <p14:sldId id="267"/>
            <p14:sldId id="268"/>
            <p14:sldId id="269"/>
          </p14:sldIdLst>
        </p14:section>
        <p14:section name="Close" id="{22ec018f-3eab-d520-8d4a-3ccedbd0d9a2}">
          <p14:sldIdLst>
            <p14:sldId id="270"/>
          </p14:sldIdLst>
        </p14:section>
        <p14:section name="Answers" id="{4618afda-35ec-f24e-62c8-3215a79ceaee}">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5: Orbits: planets, moons and satellites. How gravity keeps planets, moons and artificial satellites moving in orbit, and why a closer orbit means a faster one.
This deck covers the department's lesson: 3 (P16.3 Planets, satellites, and orbits: How does gravity keep planets, moons and artificial satellites in orbit?).
Read the big question aloud: "How did the Sun, the planets and the elements in your own body come to exist, and how do we know the universe is still growing?"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force keeps the Moon in orbit around the Earth?  →  D   Gravity
2. The time a satellite takes to make one complete orbit is called its ___.  →  period
3. In which direction does gravity pull a satellite in a circular orbit?  →  A   Towards the centre of the orbit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Gravity. Gravity provides the force that keeps planets and satellites in their orbits. There is no air in space to give air resistance.
2. period. The period is the time for one orbit. The Earth's period around the Sun is about 365 days.
3. A   Towards the centre of the orbit. Gravity pulls the satellite towards the centre of the planet, which is the centre of the circular orbit.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orbit: the curved path one object takes around another. Example: "The Earth takes about 365 days to orbit the Sun once."
• artificial satellite: a satellite built by people and launched into orbit. Example: "An artificial satellite sends television signals to dishes on houses."
• period: the time taken to go round an orbit once. Example: "The Moon's period is about 27 days."
• velocity: speed in a given direction. Example: "When the Moon changes direction, its velocity changes too."
• centripetal force: a force pulling an object towards the centre of a circle. Example: "For a satellite, gravity is the centripetal force."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An orbit is the path one object takes around another.
2. The Earth orbits the Sun, and the Moon orbits the Earth.
3. Gravity is the force that keeps them in orbit.
4. A satellite is any object that orbits a larger object.
5. The Moon is a natural satellite.
6. People build artificial satellites and launch them into orbit.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Gravity pulls a satellite towards the centre of its orbit.
8. In a circular orbit, the satellite's speed stays the same.
9. Its direction keeps changing, so its velocity keeps changing.
10. A satellite in a closer orbit must move faster to stay in orbit.
11. A satellite further away moves more slowly.
12. The time for one orbit is called the period.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Gravity holds every orbit. Say it in your own words, then check understanding with a quick question: ask a pupil from the pre-teach group first, since they met these words and ideas before the lesson. Pupils try to recall before you re-explain.
Gravity provides the force that keeps planets and satellites in their orbits. The Sun's gravity keeps the planets moving round the Sun. The Earth's gravity keeps the Moon, and every artificial satellite, moving round the Earth. Most of these orbits are very close to circles.
Planets, moons and artificial satellites have a lot in common. They all orbit a larger body, and gravity keeps every one of them in orbit. The differences are in what they orbit and where they came from: planets orbit the Sun, moons are natural satellites that orbit planets, and artificial satellites are built by people.
Artificial satellites do jobs for us: communications, weather forecasting, satellite navigation and observing the Earth or space. A geostationary satellite orbits above the equator once every 24 hours, so it stays above the same point on the Earth. That is why a satellite dish can point at one spot in the sky.
Tip: Astronauts on the space station feel weightless because they are in free fall. Gravity still pulls on them: they and the station are falling around the Earth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Changing velocity, steady speed (Higher). Say it in your own words, then check understanding with a quick question: ask a pupil from the pre-teach group first, since they met these words and ideas before the lesson. Pupils try to recall before you re-explain.
Imagine a hammer thrower spinning a hammer on a wire. The wire pulls the hammer inwards, towards the thrower. If the wire snapped, the hammer would fly off in a straight line. For a satellite, gravity does the job of the wire.
In a circular orbit, gravity always pulls towards the centre of the circle. This force is at right angles to the direction the satellite is moving. So it changes the satellite's direction, but not its speed.
Velocity is speed in a given direction. Because the direction keeps changing, the velocity keeps changing, even though the speed stays the same. A change in velocity is an acceleration, so an orbiting satellite is always accelerating towards the centre of its orbit.
Tip: Speed is a scalar (size only). Velocity is a vector (size and direction). A satellite in a circular orbit has a constant speed but a changing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Closer means faster (Higher). Say it in your own words, then check understanding with a quick question: ask a pupil from the pre-teach group first, since they met these words and ideas before the lesson. Pupils try to recall before you re-explain.
Gravity gets weaker the further you go from the Earth. A satellite in a close orbit feels a strong pull, so it must move fast to stay in that orbit. A satellite further away feels a weaker pull, and moves more slowly.
This means that for a stable orbit, speed and radius go together. If a satellite's speed changes, the radius of its orbit must change too. A smaller orbit needs a higher speed.
A satellite further out also has further to travel and moves more slowly, so it takes longer to go round. Its period is longer. The same is true of the planets: Jupiter takes about 4 300 days to orbit the Sun, and Neptune about 60 000 days.
Worked example — model it step by step, thinking aloud: The Moon orbits about 384 000 km from the centre of the Earth. One orbit takes about 27.3 days. Estimate the Moon's orbital speed in m/s. (Distance round a circle = 2 × π × radius.) (1) Convert to SI units: 384 000 km = 384 000 000 m; 27.3 days = 27.3 × 24 × 60 × 60 = 2 358 720 s. (2) Distance travelled in one orbit = 2 × π × 384 000 000 m ≈ 2 413 000 000 m. (3) Speed = distance ÷ time = 2 413 000 000 ÷ 2 358 720. (4) Speed ≈ 1 020 m/s, which is about 1 km/s. Answer: about 1 020 m/s (about 1 km/s).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Closer means faster (Higher). Say it in your own words, then check understanding with a quick question: ask a pupil from the pre-teach group first, since they met these words and ideas before the lesson. Pupils try to recall before you re-explain.
Gravity gets weaker the further you go from the Earth. A satellite in a close orbit feels a strong pull, so it must move fast to stay in that orbit. A satellite further away feels a weaker pull, and moves more slowly.
This means that for a stable orbit, speed and radius go together. If a satellite's speed changes, the radius of its orbit must change too. A smaller orbit needs a higher speed.
A satellite further out also has further to travel and moves more slowly, so it takes longer to go round. Its period is longer. The same is true of the planets: Jupiter takes about 4 300 days to orbit the Sun, and Neptune about 60 000 days.
Worked example — model it step by step, thinking aloud: The Moon orbits about 384 000 km from the centre of the Earth. One orbit takes about 27.3 days. Estimate the Moon's orbital speed in m/s. (Distance round a circle = 2 × π × radius.) (1) Convert to SI units: 384 000 km = 384 000 000 m; 27.3 days = 27.3 × 24 × 60 × 60 = 2 358 720 s. (2) Distance travelled in one orbit = 2 × π × 384 000 000 m ≈ 2 413 000 000 m. (3) Speed = distance ÷ time = 2 413 000 000 ÷ 2 358 720. (4) Speed ≈ 1 020 m/s, which is about 1 km/s. Answer: about 1 020 m/s (about 1 km/s).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Steady speed, changing velocity (Higher).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satellite moves in a circular orbit at a steady speed. Which statement is correct?
Support — work through the steps with the group: (1) Recall: speed is how fast; velocity is how fast AND which way. (2) In a circle, which way the satellite is moving changes all the time. (3) So which of speed or velocity is changing? (4) A changing velocity means the satellite is accelerating, so there must be a resultant force: gravity.
Parallel worked example for Support (model it, do not give the task answer): A car drives round a roundabout at a steady 20 mph. Is its velocity constant? Its speed stays at 20 mph.; Its direction changes as it goes round.; Velocity includes direction, so the velocity changes.. Answer: No: its speed is constant, but its velocity changes because its direction changes..
Core — reveal the hint only on request: Velocity is a vector. What happens to the direction of motion in a circle?
Stretch — no help; when finished: Explain why gravity can change the satellite's velocity without changing its speed. Use the direction of the force compared with the direction of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Steady speed, changing velocity (Higher).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satellite moves in a circular orbit at a steady speed. Which statement is correct?
Support — work through the steps with the group: (1) Recall: speed is how fast; velocity is how fast AND which way. (2) In a circle, which way the satellite is moving changes all the time. (3) So which of speed or velocity is changing? (4) A changing velocity means the satellite is accelerating, so there must be a resultant force: gravity.
Parallel worked example for Support (model it, do not give the task answer): A car drives round a roundabout at a steady 20 mph. Is its velocity constant? Its speed stays at 20 mph.; Its direction changes as it goes round.; Velocity includes direction, so the velocity changes.. Answer: No: its speed is constant, but its velocity changes because its direction changes..
Core — reveal the hint only on request: Velocity is a vector. What happens to the direction of motion in a circle?
Stretch — no help; when finished: Explain why gravity can change the satellite's velocity without changing its speed. Use the direction of the force compared with the direction of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Closer orbit, faster satellite (Higher).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satellite is moved into a new stable orbit closer to the Earth. What must happen to its speed?
Support — work through the steps with the group: (1) Closer to the Earth, the pull of gravity is stronger. (2) A stronger pull would drag a slow satellite down towards the Earth. (3) To stay in a stable orbit with a stronger pull, the satellite must move faster. (4) So: smaller radius, higher speed.
Parallel worked example for Support (model it, do not give the task answer): The International Space Station orbits about 6 770 km from the centre of the Earth and goes round once every 5 550 s. A geostationary satellite orbits about 42 200 km from the centre and goes round once every 86 400 s. Use speed = distance ÷ time to show which one moves faster. Space station: distance = 2 × π × 6 770 000 m ≈ 42 540 000 m; speed ≈ 42 540 000 ÷ 5 550 ≈ 7 660 m/s.; Geostationary satellite: distance = 2 × π × 42 200 000 m ≈ 265 150 000 m; speed ≈ 265 150 000 ÷ 86 400 ≈ 3 070 m/s.; The space station is much closer to the Earth, and it moves more than twice as fast.. Answer: Space station about 7 700 m/s; geostationary satellite about 3 100 m/s. The closer satellite moves faster..
Core — reveal the hint only on request: Gravity is stronger closer to the Earth. What speed does a satellite need to keep from falling inwards?
Stretch — no help; when finished: Explain what would happen to the satellite's period in the new, closer orbit,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Closer orbit, faster satellite (Higher).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satellite is moved into a new stable orbit closer to the Earth. What must happen to its speed?
Support — work through the steps with the group: (1) Closer to the Earth, the pull of gravity is stronger. (2) A stronger pull would drag a slow satellite down towards the Earth. (3) To stay in a stable orbit with a stronger pull, the satellite must move faster. (4) So: smaller radius, higher speed.
Parallel worked example for Support (model it, do not give the task answer): The International Space Station orbits about 6 770 km from the centre of the Earth and goes round once every 5 550 s. A geostationary satellite orbits about 42 200 km from the centre and goes round once every 86 400 s. Use speed = distance ÷ time to show which one moves faster. Space station: distance = 2 × π × 6 770 000 m ≈ 42 540 000 m; speed ≈ 42 540 000 ÷ 5 550 ≈ 7 660 m/s.; Geostationary satellite: distance = 2 × π × 42 200 000 m ≈ 265 150 000 m; speed ≈ 265 150 000 ÷ 86 400 ≈ 3 070 m/s.; The space station is much closer to the Earth, and it moves more than twice as fast.. Answer: Space station about 7 700 m/s; geostationary satellite about 3 100 m/s. The closer satellite moves faster..
Core — reveal the hint only on request: Gravity is stronger closer to the Earth. What speed does a satellite need to keep from falling inwards?
Stretch — no help; when finished: Explain what would happen to the satellite's period in the new, closer orbit,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force keeps the Moon in orbit around the Earth?
Answer: C   Gravity. Gravity provides the force that keeps planets and satellites in their orbits. There is no air in space to give air resistance.
Source of this question: gate item 1 re-asked (options rotated) — this chapter has no third quick-check module.
The ebook also holds task 3, "Planets, moons and artificial satellites",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Steady speed, changing velocity (Higher). Reveal the answer; pupils mark their own work in a different colour, then read the "why" together. Same destination for every lane, so one answer serves the whole class.
Answer: A   Its velocity is changing because its direction is changing
Why: Gravity acts towards the centre, at right angles to the motion. It changes the direction, so the velocity changes, but the speed stays the same. The satellite is accelerating towards the centre.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Closer orbit, faster satellite (Higher). Reveal the answer; pupils mark their own work in a different colour, then read the "why" together. Same destination for every lane, so one answer serves the whole class.
Answer: C   It must increase
Why: For a stable orbit, if the radius changes the speed must change. Closer to the Earth gravity is stronger, so the satellite must move faster to stay in orbit.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Gravity
Why: Gravity provides the force that keeps planets and satellites in their orbits. There is no air in space to give air resistance.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Space Physics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Space Physics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Space Physics · AQA 8463</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Orbits: planets, moons and satellites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DEE1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P16.3 Planets, satellites, and orbits</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did the Sun, the planets and the elements in your own body come to exist, and how do we know the universe is still growing?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force keeps the Moon in orbit around the Earth?</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Magnetism</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Air resistance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Friction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Gravity</a:t>
            </a:r>
            <a:endParaRPr lang="en-US" sz="2400" dirty="0"/>
          </a:p>
        </p:txBody>
      </p:sp>
      <p:sp>
        <p:nvSpPr>
          <p:cNvPr id="12" name="card"/>
          <p:cNvSpPr/>
          <p:nvPr/>
        </p:nvSpPr>
        <p:spPr>
          <a:xfrm>
            <a:off x="3459404" y="1389888"/>
            <a:ext cx="2636444" cy="4754880"/>
          </a:xfrm>
          <a:prstGeom prst="roundRect">
            <a:avLst>
              <a:gd name="adj" fmla="val 2081"/>
            </a:avLst>
          </a:prstGeom>
          <a:solidFill>
            <a:srgbClr val="E5E7ED"/>
          </a:solidFill>
          <a:ln w="12700">
            <a:solidFill>
              <a:srgbClr val="A7AFC4"/>
            </a:solidFill>
            <a:prstDash val="solid"/>
          </a:ln>
        </p:spPr>
      </p:sp>
      <p:sp>
        <p:nvSpPr>
          <p:cNvPr id="13" name="card-hex"/>
          <p:cNvSpPr/>
          <p:nvPr/>
        </p:nvSpPr>
        <p:spPr>
          <a:xfrm>
            <a:off x="3642284" y="1572768"/>
            <a:ext cx="640080" cy="554309"/>
          </a:xfrm>
          <a:prstGeom prst="hexagon">
            <a:avLst/>
          </a:prstGeom>
          <a:solidFill>
            <a:srgbClr val="24366B"/>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time a satellite takes to make one complete orbit is called its ___.</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period  ·  velocity  ·  radius</a:t>
            </a:r>
            <a:endParaRPr lang="en-US" sz="2400" dirty="0"/>
          </a:p>
        </p:txBody>
      </p:sp>
      <p:sp>
        <p:nvSpPr>
          <p:cNvPr id="17" name="card"/>
          <p:cNvSpPr/>
          <p:nvPr/>
        </p:nvSpPr>
        <p:spPr>
          <a:xfrm>
            <a:off x="6370168" y="1389888"/>
            <a:ext cx="5272888" cy="4754880"/>
          </a:xfrm>
          <a:prstGeom prst="roundRect">
            <a:avLst>
              <a:gd name="adj" fmla="val 1154"/>
            </a:avLst>
          </a:prstGeom>
          <a:solidFill>
            <a:srgbClr val="E5E7ED"/>
          </a:solidFill>
          <a:ln w="12700">
            <a:solidFill>
              <a:srgbClr val="A7AFC4"/>
            </a:solidFill>
            <a:prstDash val="solid"/>
          </a:ln>
        </p:spPr>
      </p:sp>
      <p:sp>
        <p:nvSpPr>
          <p:cNvPr id="18" name="card-hex"/>
          <p:cNvSpPr/>
          <p:nvPr/>
        </p:nvSpPr>
        <p:spPr>
          <a:xfrm>
            <a:off x="6553048" y="1572768"/>
            <a:ext cx="640080" cy="554309"/>
          </a:xfrm>
          <a:prstGeom prst="hexagon">
            <a:avLst/>
          </a:prstGeom>
          <a:solidFill>
            <a:srgbClr val="24366B"/>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direction does gravity pull a satellite in a circular orbit?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Towards the centre of the orbit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Outwards, away from the planet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Forwards, in the direction it is moving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Backwards, against its motion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Gravity</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force keeps the Moon in orbit around the Earth?</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Gravity provides the force that keeps planets and satellites in their orbits. There is no air in space to give air resistance.</a:t>
            </a:r>
            <a:endParaRPr lang="en-US" sz="1800" dirty="0"/>
          </a:p>
        </p:txBody>
      </p:sp>
      <p:sp>
        <p:nvSpPr>
          <p:cNvPr id="14" name="card"/>
          <p:cNvSpPr/>
          <p:nvPr/>
        </p:nvSpPr>
        <p:spPr>
          <a:xfrm>
            <a:off x="3459404" y="1389888"/>
            <a:ext cx="2636444" cy="4754880"/>
          </a:xfrm>
          <a:prstGeom prst="roundRect">
            <a:avLst>
              <a:gd name="adj" fmla="val 2081"/>
            </a:avLst>
          </a:prstGeom>
          <a:solidFill>
            <a:srgbClr val="E5E7ED"/>
          </a:solidFill>
          <a:ln w="12700">
            <a:solidFill>
              <a:srgbClr val="A7AFC4"/>
            </a:solidFill>
            <a:prstDash val="solid"/>
          </a:ln>
        </p:spPr>
      </p:sp>
      <p:sp>
        <p:nvSpPr>
          <p:cNvPr id="15" name="card-hex"/>
          <p:cNvSpPr/>
          <p:nvPr/>
        </p:nvSpPr>
        <p:spPr>
          <a:xfrm>
            <a:off x="3642284" y="1572768"/>
            <a:ext cx="640080" cy="554309"/>
          </a:xfrm>
          <a:prstGeom prst="hexagon">
            <a:avLst/>
          </a:prstGeom>
          <a:solidFill>
            <a:srgbClr val="24366B"/>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period</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time a satellite takes to make one complete orbit is called its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period is the time for one orbit. The Earth's period around the Sun is about 365 days.</a:t>
            </a:r>
            <a:endParaRPr lang="en-US" sz="1800" dirty="0"/>
          </a:p>
        </p:txBody>
      </p:sp>
      <p:sp>
        <p:nvSpPr>
          <p:cNvPr id="21" name="card"/>
          <p:cNvSpPr/>
          <p:nvPr/>
        </p:nvSpPr>
        <p:spPr>
          <a:xfrm>
            <a:off x="6370168" y="1389888"/>
            <a:ext cx="5272888" cy="4754880"/>
          </a:xfrm>
          <a:prstGeom prst="roundRect">
            <a:avLst>
              <a:gd name="adj" fmla="val 1154"/>
            </a:avLst>
          </a:prstGeom>
          <a:solidFill>
            <a:srgbClr val="E5E7ED"/>
          </a:solidFill>
          <a:ln w="12700">
            <a:solidFill>
              <a:srgbClr val="A7AFC4"/>
            </a:solidFill>
            <a:prstDash val="solid"/>
          </a:ln>
        </p:spPr>
      </p:sp>
      <p:sp>
        <p:nvSpPr>
          <p:cNvPr id="22" name="card-hex"/>
          <p:cNvSpPr/>
          <p:nvPr/>
        </p:nvSpPr>
        <p:spPr>
          <a:xfrm>
            <a:off x="6553048" y="1572768"/>
            <a:ext cx="640080" cy="554309"/>
          </a:xfrm>
          <a:prstGeom prst="hexagon">
            <a:avLst/>
          </a:prstGeom>
          <a:solidFill>
            <a:srgbClr val="24366B"/>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6644488" y="2428829"/>
            <a:ext cx="472424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Towards the centre of the orbit</a:t>
            </a:r>
            <a:endParaRPr lang="en-US" sz="2200" dirty="0"/>
          </a:p>
        </p:txBody>
      </p:sp>
      <p:sp>
        <p:nvSpPr>
          <p:cNvPr id="27" name="card-body"/>
          <p:cNvSpPr txBox="1"/>
          <p:nvPr/>
        </p:nvSpPr>
        <p:spPr>
          <a:xfrm>
            <a:off x="6553048" y="3152729"/>
            <a:ext cx="490712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which direction does gravity pull a satellite in a circular orbit?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Gravity pulls the satellite towards the centre of the planet, which is the centre of the circular orbit.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4366B"/>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3E5EC"/>
          </a:solidFill>
          <a:ln/>
        </p:spPr>
      </p:sp>
      <p:sp>
        <p:nvSpPr>
          <p:cNvPr id="12" name="kw-hex"/>
          <p:cNvSpPr/>
          <p:nvPr/>
        </p:nvSpPr>
        <p:spPr>
          <a:xfrm>
            <a:off x="658368" y="2135261"/>
            <a:ext cx="411480" cy="356342"/>
          </a:xfrm>
          <a:prstGeom prst="hexagon">
            <a:avLst/>
          </a:prstGeom>
          <a:solidFill>
            <a:srgbClr val="24366B"/>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orbit</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curved path one object takes around another</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Earth takes about 365 days to orbit the Sun once.</a:t>
            </a:r>
            <a:endParaRPr lang="en-US" sz="1800" dirty="0"/>
          </a:p>
        </p:txBody>
      </p:sp>
      <p:sp>
        <p:nvSpPr>
          <p:cNvPr id="16" name="kw-row"/>
          <p:cNvSpPr/>
          <p:nvPr/>
        </p:nvSpPr>
        <p:spPr>
          <a:xfrm>
            <a:off x="548640" y="2779776"/>
            <a:ext cx="11094415" cy="786384"/>
          </a:xfrm>
          <a:prstGeom prst="roundRect">
            <a:avLst>
              <a:gd name="adj" fmla="val 6977"/>
            </a:avLst>
          </a:prstGeom>
          <a:solidFill>
            <a:srgbClr val="F3EADB"/>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artificial satellite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satellite built by people and launched into orbit</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An artificial satellite sends television signals to dishes on houses.</a:t>
            </a:r>
            <a:endParaRPr lang="en-US" sz="1800" dirty="0"/>
          </a:p>
        </p:txBody>
      </p:sp>
      <p:sp>
        <p:nvSpPr>
          <p:cNvPr id="21" name="kw-row"/>
          <p:cNvSpPr/>
          <p:nvPr/>
        </p:nvSpPr>
        <p:spPr>
          <a:xfrm>
            <a:off x="548640" y="3639312"/>
            <a:ext cx="11094415" cy="786384"/>
          </a:xfrm>
          <a:prstGeom prst="roundRect">
            <a:avLst>
              <a:gd name="adj" fmla="val 6977"/>
            </a:avLst>
          </a:prstGeom>
          <a:solidFill>
            <a:srgbClr val="E3E5EC"/>
          </a:solidFill>
          <a:ln/>
        </p:spPr>
      </p:sp>
      <p:sp>
        <p:nvSpPr>
          <p:cNvPr id="22" name="kw-hex"/>
          <p:cNvSpPr/>
          <p:nvPr/>
        </p:nvSpPr>
        <p:spPr>
          <a:xfrm>
            <a:off x="658368" y="3854333"/>
            <a:ext cx="411480" cy="356342"/>
          </a:xfrm>
          <a:prstGeom prst="hexagon">
            <a:avLst/>
          </a:prstGeom>
          <a:solidFill>
            <a:srgbClr val="24366B"/>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period</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time taken to go round an orbit once</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Moon's period is about 27 days.</a:t>
            </a:r>
            <a:endParaRPr lang="en-US" sz="1800" dirty="0"/>
          </a:p>
        </p:txBody>
      </p:sp>
      <p:sp>
        <p:nvSpPr>
          <p:cNvPr id="26" name="kw-row"/>
          <p:cNvSpPr/>
          <p:nvPr/>
        </p:nvSpPr>
        <p:spPr>
          <a:xfrm>
            <a:off x="548640" y="4498848"/>
            <a:ext cx="11094415" cy="786384"/>
          </a:xfrm>
          <a:prstGeom prst="roundRect">
            <a:avLst>
              <a:gd name="adj" fmla="val 6977"/>
            </a:avLst>
          </a:prstGeom>
          <a:solidFill>
            <a:srgbClr val="F3EADB"/>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velocity</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speed in a given direction</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When the Moon changes direction, its velocity changes too.</a:t>
            </a:r>
            <a:endParaRPr lang="en-US" sz="1800" dirty="0"/>
          </a:p>
        </p:txBody>
      </p:sp>
      <p:sp>
        <p:nvSpPr>
          <p:cNvPr id="31" name="kw-row"/>
          <p:cNvSpPr/>
          <p:nvPr/>
        </p:nvSpPr>
        <p:spPr>
          <a:xfrm>
            <a:off x="548640" y="5358384"/>
            <a:ext cx="11094415" cy="786384"/>
          </a:xfrm>
          <a:prstGeom prst="roundRect">
            <a:avLst>
              <a:gd name="adj" fmla="val 6977"/>
            </a:avLst>
          </a:prstGeom>
          <a:solidFill>
            <a:srgbClr val="E3E5EC"/>
          </a:solidFill>
          <a:ln/>
        </p:spPr>
      </p:sp>
      <p:sp>
        <p:nvSpPr>
          <p:cNvPr id="32" name="kw-hex"/>
          <p:cNvSpPr/>
          <p:nvPr/>
        </p:nvSpPr>
        <p:spPr>
          <a:xfrm>
            <a:off x="658368" y="5573405"/>
            <a:ext cx="411480" cy="356342"/>
          </a:xfrm>
          <a:prstGeom prst="hexagon">
            <a:avLst/>
          </a:prstGeom>
          <a:solidFill>
            <a:srgbClr val="24366B"/>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centripetal force</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force pulling an object towards the centre of a circle</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For a satellite, gravity is the centripetal force.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orbit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the path one object takes around another.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Earth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orbits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Sun, and the Moon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orbits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Earth.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Gravity is the force that keeps them in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orbit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satellite is any object that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orbits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 larger object.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Moon is a natural satellite.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People build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artificial satellites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and launch them into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orbit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Gravity pulls a satellite towards the centre of its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orbit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a circular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orbit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satellite's speed stays the same.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Its direction keeps changing, so its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velocity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keeps changing.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satellite in a closer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orbit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must move faster to stay in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orbit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satellite further away moves more slowly.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time for one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orbit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called the </a:t>
            </a:r>
            <a:pPr algn="l" indent="0" marL="0">
              <a:spcAft>
                <a:spcPts val="600"/>
              </a:spcAft>
              <a:buNone/>
            </a:pPr>
            <a:r>
              <a:rPr lang="en-US" sz="2800" b="1" dirty="0">
                <a:solidFill>
                  <a:srgbClr val="24366B"/>
                </a:solidFill>
                <a:latin typeface="Calibri" pitchFamily="34" charset="0"/>
                <a:ea typeface="Calibri" pitchFamily="34" charset="-122"/>
                <a:cs typeface="Calibri" pitchFamily="34" charset="-120"/>
              </a:rPr>
              <a:t>period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Gravity holds every orbit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Astronauts on the space station feel weightless because they are in free fall. Gravity still pulls on them: they and the station are falling around the Earth together.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Gravity provides the force that keeps planets and satellites in their orbits.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Planets, moons and artificial satellites have a lot in common.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Artificial satellites do jobs for us: communications, weather forecasting, satellite navigation and observing the Earth or space.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Changing velocity, steady speed (Higher)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Speed is a scalar (size only). Velocity is a vector (size and direction). A satellite in a circular orbit has a constant speed but a changing velocity.</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Imagine a hammer thrower spinning a hammer on a wire.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a circular orbit, gravity always pulls towards the centre of the circle.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Velocity is speed in a given direction. Because the direction keeps changing, the velocity keeps changing, even though the speed stays the same.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Closer means faster (Higher)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Gravity gets weaker the further you go from the Earth.</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3EADB"/>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means that for a stable orbit, speed and radius go together.</a:t>
            </a:r>
            <a:endParaRPr lang="en-US" sz="2400" dirty="0"/>
          </a:p>
        </p:txBody>
      </p:sp>
      <p:sp>
        <p:nvSpPr>
          <p:cNvPr id="15" name="point-card"/>
          <p:cNvSpPr/>
          <p:nvPr/>
        </p:nvSpPr>
        <p:spPr>
          <a:xfrm>
            <a:off x="8127797" y="1389888"/>
            <a:ext cx="3515258" cy="4754880"/>
          </a:xfrm>
          <a:prstGeom prst="roundRect">
            <a:avLst>
              <a:gd name="adj" fmla="val 1561"/>
            </a:avLst>
          </a:prstGeom>
          <a:solidFill>
            <a:srgbClr val="DEE1E9"/>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satellite further out also has further to travel and moves more slowly, so it takes longer to go round.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Worked example: Closer means faster (Higher)</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DEE1E9"/>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The Moon orbits about 384 000 km from the centre of the Earth. One orbit takes about 27.3 days. Estimate the Moon's orbital speed in m/s. (Distance round a circle = 2 × π × radius.)</a:t>
            </a:r>
            <a:endParaRPr lang="en-US" sz="2200" dirty="0"/>
          </a:p>
        </p:txBody>
      </p:sp>
      <p:sp>
        <p:nvSpPr>
          <p:cNvPr id="9" name="step-box"/>
          <p:cNvSpPr/>
          <p:nvPr/>
        </p:nvSpPr>
        <p:spPr>
          <a:xfrm>
            <a:off x="548640" y="2996692"/>
            <a:ext cx="2464994" cy="2252980"/>
          </a:xfrm>
          <a:prstGeom prst="roundRect">
            <a:avLst>
              <a:gd name="adj" fmla="val 3247"/>
            </a:avLst>
          </a:prstGeom>
          <a:solidFill>
            <a:srgbClr val="FFFFFF"/>
          </a:solidFill>
          <a:ln w="15875">
            <a:solidFill>
              <a:srgbClr val="8790AE"/>
            </a:solidFill>
            <a:prstDash val="solid"/>
          </a:ln>
        </p:spPr>
      </p:sp>
      <p:sp>
        <p:nvSpPr>
          <p:cNvPr id="10" name="step-hex"/>
          <p:cNvSpPr/>
          <p:nvPr/>
        </p:nvSpPr>
        <p:spPr>
          <a:xfrm>
            <a:off x="685800" y="3106420"/>
            <a:ext cx="530352" cy="459285"/>
          </a:xfrm>
          <a:prstGeom prst="hexagon">
            <a:avLst/>
          </a:prstGeom>
          <a:solidFill>
            <a:srgbClr val="24366B"/>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Convert to SI units: 384 000 km = 384 000 000 m; 27.3 days = 27.3 × 24 × 60 × 60 = 2 358 720 s.</a:t>
            </a:r>
            <a:endParaRPr lang="en-US" sz="1800" dirty="0"/>
          </a:p>
        </p:txBody>
      </p:sp>
      <p:sp>
        <p:nvSpPr>
          <p:cNvPr id="13" name="arrow"/>
          <p:cNvSpPr/>
          <p:nvPr/>
        </p:nvSpPr>
        <p:spPr>
          <a:xfrm>
            <a:off x="3086786" y="3986022"/>
            <a:ext cx="274320" cy="274320"/>
          </a:xfrm>
          <a:prstGeom prst="rightArrow">
            <a:avLst/>
          </a:prstGeom>
          <a:solidFill>
            <a:srgbClr val="B8862B"/>
          </a:solidFill>
          <a:ln/>
        </p:spPr>
      </p:sp>
      <p:sp>
        <p:nvSpPr>
          <p:cNvPr id="14" name="step-box"/>
          <p:cNvSpPr/>
          <p:nvPr/>
        </p:nvSpPr>
        <p:spPr>
          <a:xfrm>
            <a:off x="3425114" y="2996692"/>
            <a:ext cx="2464994" cy="2252980"/>
          </a:xfrm>
          <a:prstGeom prst="roundRect">
            <a:avLst>
              <a:gd name="adj" fmla="val 3247"/>
            </a:avLst>
          </a:prstGeom>
          <a:solidFill>
            <a:srgbClr val="FFFFFF"/>
          </a:solidFill>
          <a:ln w="15875">
            <a:solidFill>
              <a:srgbClr val="8790AE"/>
            </a:solidFill>
            <a:prstDash val="solid"/>
          </a:ln>
        </p:spPr>
      </p:sp>
      <p:sp>
        <p:nvSpPr>
          <p:cNvPr id="15" name="step-hex"/>
          <p:cNvSpPr/>
          <p:nvPr/>
        </p:nvSpPr>
        <p:spPr>
          <a:xfrm>
            <a:off x="3562274" y="3106420"/>
            <a:ext cx="530352" cy="459285"/>
          </a:xfrm>
          <a:prstGeom prst="hexagon">
            <a:avLst/>
          </a:prstGeom>
          <a:solidFill>
            <a:srgbClr val="24366B"/>
          </a:solidFill>
          <a:ln/>
        </p:spPr>
      </p:sp>
      <p:sp>
        <p:nvSpPr>
          <p:cNvPr id="16" name="step-hex-label"/>
          <p:cNvSpPr txBox="1"/>
          <p:nvPr/>
        </p:nvSpPr>
        <p:spPr>
          <a:xfrm>
            <a:off x="3562274"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591052"/>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Distance travelled in one orbit = 2 × π × 384 000 000 m ≈ 2 413 000 000 m.</a:t>
            </a:r>
            <a:endParaRPr lang="en-US" sz="1800" dirty="0"/>
          </a:p>
        </p:txBody>
      </p:sp>
      <p:sp>
        <p:nvSpPr>
          <p:cNvPr id="18" name="arrow"/>
          <p:cNvSpPr/>
          <p:nvPr/>
        </p:nvSpPr>
        <p:spPr>
          <a:xfrm>
            <a:off x="5963260" y="3986022"/>
            <a:ext cx="274320" cy="274320"/>
          </a:xfrm>
          <a:prstGeom prst="rightArrow">
            <a:avLst/>
          </a:prstGeom>
          <a:solidFill>
            <a:srgbClr val="B8862B"/>
          </a:solidFill>
          <a:ln/>
        </p:spPr>
      </p:sp>
      <p:sp>
        <p:nvSpPr>
          <p:cNvPr id="19" name="step-box"/>
          <p:cNvSpPr/>
          <p:nvPr/>
        </p:nvSpPr>
        <p:spPr>
          <a:xfrm>
            <a:off x="6301588" y="2996692"/>
            <a:ext cx="2464994" cy="2252980"/>
          </a:xfrm>
          <a:prstGeom prst="roundRect">
            <a:avLst>
              <a:gd name="adj" fmla="val 3247"/>
            </a:avLst>
          </a:prstGeom>
          <a:solidFill>
            <a:srgbClr val="FFFFFF"/>
          </a:solidFill>
          <a:ln w="15875">
            <a:solidFill>
              <a:srgbClr val="8790AE"/>
            </a:solidFill>
            <a:prstDash val="solid"/>
          </a:ln>
        </p:spPr>
      </p:sp>
      <p:sp>
        <p:nvSpPr>
          <p:cNvPr id="20" name="step-hex"/>
          <p:cNvSpPr/>
          <p:nvPr/>
        </p:nvSpPr>
        <p:spPr>
          <a:xfrm>
            <a:off x="6438748" y="3106420"/>
            <a:ext cx="530352" cy="459285"/>
          </a:xfrm>
          <a:prstGeom prst="hexagon">
            <a:avLst/>
          </a:prstGeom>
          <a:solidFill>
            <a:srgbClr val="24366B"/>
          </a:solidFill>
          <a:ln/>
        </p:spPr>
      </p:sp>
      <p:sp>
        <p:nvSpPr>
          <p:cNvPr id="21"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591052"/>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Speed = distance ÷ time = 2 413 000 000 ÷ 2 358 720.</a:t>
            </a:r>
            <a:endParaRPr lang="en-US" sz="1800" dirty="0"/>
          </a:p>
        </p:txBody>
      </p:sp>
      <p:sp>
        <p:nvSpPr>
          <p:cNvPr id="23" name="arrow"/>
          <p:cNvSpPr/>
          <p:nvPr/>
        </p:nvSpPr>
        <p:spPr>
          <a:xfrm>
            <a:off x="8839733" y="3986022"/>
            <a:ext cx="274320" cy="274320"/>
          </a:xfrm>
          <a:prstGeom prst="rightArrow">
            <a:avLst/>
          </a:prstGeom>
          <a:solidFill>
            <a:srgbClr val="B8862B"/>
          </a:solidFill>
          <a:ln/>
        </p:spPr>
      </p:sp>
      <p:sp>
        <p:nvSpPr>
          <p:cNvPr id="24" name="step-box"/>
          <p:cNvSpPr/>
          <p:nvPr/>
        </p:nvSpPr>
        <p:spPr>
          <a:xfrm>
            <a:off x="9178061" y="2996692"/>
            <a:ext cx="2464994" cy="2252980"/>
          </a:xfrm>
          <a:prstGeom prst="roundRect">
            <a:avLst>
              <a:gd name="adj" fmla="val 3247"/>
            </a:avLst>
          </a:prstGeom>
          <a:solidFill>
            <a:srgbClr val="FFFFFF"/>
          </a:solidFill>
          <a:ln w="15875">
            <a:solidFill>
              <a:srgbClr val="8790AE"/>
            </a:solidFill>
            <a:prstDash val="solid"/>
          </a:ln>
        </p:spPr>
      </p:sp>
      <p:sp>
        <p:nvSpPr>
          <p:cNvPr id="25" name="step-hex"/>
          <p:cNvSpPr/>
          <p:nvPr/>
        </p:nvSpPr>
        <p:spPr>
          <a:xfrm>
            <a:off x="9315221" y="3106420"/>
            <a:ext cx="530352" cy="459285"/>
          </a:xfrm>
          <a:prstGeom prst="hexagon">
            <a:avLst/>
          </a:prstGeom>
          <a:solidFill>
            <a:srgbClr val="24366B"/>
          </a:solidFill>
          <a:ln/>
        </p:spPr>
      </p:sp>
      <p:sp>
        <p:nvSpPr>
          <p:cNvPr id="26" name="step-hex-label"/>
          <p:cNvSpPr txBox="1"/>
          <p:nvPr/>
        </p:nvSpPr>
        <p:spPr>
          <a:xfrm>
            <a:off x="9315221"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591052"/>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Speed ≈ 1 020 m/s, which is about 1 km/s.</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about 1 020 m/s (about 1 km/s)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The task: Steady speed, changing velocity (Higher)</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satellite moves in a circular orbit at a steady speed. Which statement is correct?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Its velocity is changing because its direction is changing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Its velocity is constant because its speed is constant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is not accelerating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There is no resultant force on it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Same task, three ways in: Steady speed, changing velocity (Higher)</a:t>
            </a:r>
            <a:endParaRPr lang="en-US" sz="24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satellite moves in a circular orbit at a steady speed. Which statement is correct?</a:t>
            </a:r>
            <a:endParaRPr lang="en-US" sz="2000" dirty="0"/>
          </a:p>
        </p:txBody>
      </p:sp>
      <p:sp>
        <p:nvSpPr>
          <p:cNvPr id="12" name="col-Support"/>
          <p:cNvSpPr/>
          <p:nvPr/>
        </p:nvSpPr>
        <p:spPr>
          <a:xfrm>
            <a:off x="548640" y="2593848"/>
            <a:ext cx="4667802" cy="3550920"/>
          </a:xfrm>
          <a:prstGeom prst="roundRect">
            <a:avLst>
              <a:gd name="adj" fmla="val 1545"/>
            </a:avLst>
          </a:prstGeom>
          <a:solidFill>
            <a:srgbClr val="DEE1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Recall: speed is how fast; velocity is how fast AND which way.</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a circle, which way the satellite is moving changes all the time.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 which of speed or velocity is changing?</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changing velocity means the satellite is accelerating, so there must be a resultant force: gravity.</a:t>
            </a:r>
            <a:endParaRPr lang="en-US" sz="1800" dirty="0"/>
          </a:p>
        </p:txBody>
      </p:sp>
      <p:sp>
        <p:nvSpPr>
          <p:cNvPr id="17" name="col-Core"/>
          <p:cNvSpPr/>
          <p:nvPr/>
        </p:nvSpPr>
        <p:spPr>
          <a:xfrm>
            <a:off x="5490762" y="2593848"/>
            <a:ext cx="2938987" cy="3550920"/>
          </a:xfrm>
          <a:prstGeom prst="roundRect">
            <a:avLst>
              <a:gd name="adj" fmla="val 1867"/>
            </a:avLst>
          </a:prstGeom>
          <a:solidFill>
            <a:srgbClr val="C4C9D7"/>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Velocity is a vector. What happens to the direction of motion in a circle?</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24366B"/>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gravity can change the satellite's velocity without changing its speed. Use the direction of the force compared with the direction of motion.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Closer orbit, faster satellite (Higher)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satellite is moved into a new stable orbit closer to the Earth. What must happen to its speed?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must decrease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must stay the same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must increase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It must fall to zero</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Same task, three ways in: Closer orbit, faster satellite (Higher)</a:t>
            </a:r>
            <a:endParaRPr lang="en-US" sz="24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satellite is moved into a new stable orbit closer to the Earth. What must happen to its speed?</a:t>
            </a:r>
            <a:endParaRPr lang="en-US" sz="2000" dirty="0"/>
          </a:p>
        </p:txBody>
      </p:sp>
      <p:sp>
        <p:nvSpPr>
          <p:cNvPr id="12" name="col-Support"/>
          <p:cNvSpPr/>
          <p:nvPr/>
        </p:nvSpPr>
        <p:spPr>
          <a:xfrm>
            <a:off x="548640" y="2593848"/>
            <a:ext cx="4667802" cy="3550920"/>
          </a:xfrm>
          <a:prstGeom prst="roundRect">
            <a:avLst>
              <a:gd name="adj" fmla="val 1545"/>
            </a:avLst>
          </a:prstGeom>
          <a:solidFill>
            <a:srgbClr val="DEE1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Closer to the Earth, the pull of gravity is stronger.</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stronger pull would drag a slow satellite down towards the Earth.</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stay in a stable orbit with a stronger pull, the satellite must move faster.</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 smaller radius, higher speed.</a:t>
            </a:r>
            <a:endParaRPr lang="en-US" sz="1800" dirty="0"/>
          </a:p>
        </p:txBody>
      </p:sp>
      <p:sp>
        <p:nvSpPr>
          <p:cNvPr id="17" name="col-Core"/>
          <p:cNvSpPr/>
          <p:nvPr/>
        </p:nvSpPr>
        <p:spPr>
          <a:xfrm>
            <a:off x="5490762" y="2593848"/>
            <a:ext cx="2938987" cy="3550920"/>
          </a:xfrm>
          <a:prstGeom prst="roundRect">
            <a:avLst>
              <a:gd name="adj" fmla="val 1867"/>
            </a:avLst>
          </a:prstGeom>
          <a:solidFill>
            <a:srgbClr val="C4C9D7"/>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Gravity is stronger closer to the Earth. What speed does a satellite need to keep from falling inwards?</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24366B"/>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would happen to the satellite's period in the new, closer orbit, and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force keeps the Moon in orbit around the Earth?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Air resistance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Friction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Gravity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Magnetism</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Answers: Steady speed, changing velocity (Higher)</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satellite moves in a circular orbit at a steady speed. Which statement is correct?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Its velocity is changing because its direction is changing</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Gravity acts towards the centre, at right angles to the motion. It changes the direction, so the velocity changes, but the speed stays the same. The satellite is accelerating towards the centre.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Closer orbit, faster satellite (Higher)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satellite is moved into a new stable orbit closer to the Earth. What must happen to its speed?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It must increase</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For a stable orbit, if the radius changes the speed must change. Closer to the Earth gravity is stronger, so the satellite must move faster to stay in orbit.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force keeps the Moon in orbit around the Earth?</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Gravity</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Gravity provides the force that keeps planets and satellites in their orbits. There is no air in space to give air resistance.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 Physics · Chapter 3: Orbits: planets, moons and satellites</dc:title>
  <dc:subject>Physics (Triple Science) · Year 11</dc:subject>
  <dc:creator>Dr Vitor Merissi de Carvalho</dc:creator>
  <cp:lastModifiedBy>Dr Vitor Merissi de Carvalho</cp:lastModifiedBy>
  <cp:revision>1</cp:revision>
  <dcterms:created xsi:type="dcterms:W3CDTF">2026-10-19T16:23:29Z</dcterms:created>
  <dcterms:modified xsi:type="dcterms:W3CDTF">2026-10-19T16:23:29Z</dcterms:modified>
</cp:coreProperties>
</file>