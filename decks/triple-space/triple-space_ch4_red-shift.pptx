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e2faf9c-0d9d-6415-f4b2-4e860ce14ab1}">
          <p14:sldIdLst>
            <p14:sldId id="256"/>
          </p14:sldIdLst>
        </p14:section>
        <p14:section name="Gate" id="{c2fca19d-3bce-cedc-2f83-4b2072969b15}">
          <p14:sldIdLst>
            <p14:sldId id="257"/>
            <p14:sldId id="258"/>
            <p14:sldId id="259"/>
          </p14:sldIdLst>
        </p14:section>
        <p14:section name="Pre-teach" id="{0e7e3cff-5162-4992-0471-a88e9af4410a}">
          <p14:sldIdLst>
            <p14:sldId id="260"/>
            <p14:sldId id="261"/>
          </p14:sldIdLst>
        </p14:section>
        <p14:section name="Read-along" id="{a6c2e2c3-edca-179e-49f8-918902c1957d}">
          <p14:sldIdLst>
            <p14:sldId id="262"/>
            <p14:sldId id="263"/>
          </p14:sldIdLst>
        </p14:section>
        <p14:section name="Teach" id="{6812175e-a423-5f4d-f53d-897cf1401dd4}">
          <p14:sldIdLst>
            <p14:sldId id="264"/>
            <p14:sldId id="265"/>
            <p14:sldId id="266"/>
          </p14:sldIdLst>
        </p14:section>
        <p14:section name="Routes" id="{77c40c92-e4ea-cd7b-3792-1e0c7f803bbf}">
          <p14:sldIdLst>
            <p14:sldId id="267"/>
            <p14:sldId id="268"/>
            <p14:sldId id="269"/>
          </p14:sldIdLst>
        </p14:section>
        <p14:section name="Close" id="{61aa20f5-c30f-2a9c-c6d9-5bc82c33cf64}">
          <p14:sldIdLst>
            <p14:sldId id="270"/>
          </p14:sldIdLst>
        </p14:section>
        <p14:section name="Answers" id="{75a5d2b9-b62a-e23f-e2f5-ffc084b2928b}">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5: Red-shift and the expanding universe. How stretched light from distant galaxies shows that space is expanding, why this supports the Big Bang theory, and what scientists still cannot explain.
This deck covers the department's lessons: 4 (P16.4 The expanding universe: What does the red-shift of light from distant galaxies tell us about how they are moving?); 5 (P16.5 The beginning and future of the Universe: How does red-shift support the Big Bang theory, and what about the universe is still not understood?).
Read the big question aloud: "How did the Sun, the planets and the elements in your own body come to exist, and how do we know the universe is still growing?"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red-shift?  →  A   An increase in the wavelength of light from a galaxy moving away from us
2. The further away a galaxy is, the ___ it is moving away from us.  →  faster
3. According to the Big Bang theory, how did the universe begin?  →  D   From a very small region that was extremely hot and dense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red-shift?  →  A   An increase in the wavelength of light from a galaxy moving away from us
2. The further away a galaxy is, the ___ it is moving away from us.  →  faster
3. According to the Big Bang theory, how did the universe begin?  →  D   From a very small region that was extremely hot and dense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An increase in the wavelength of light from a galaxy moving away from us. Red-shift is the observed increase in wavelength of light from galaxies that are moving away.
2. faster. More distant galaxies have bigger red-shifts, so they are moving away faster.
3. D   From a very small region that was extremely hot and dense. The Big Bang theory suggests the universe began from a very small region that was extremely hot and dense.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galaxy: a huge group of billions of stars held together by gravity. Example: "Our galaxy, the Milky Way, is about 100 000 light years across."
• wavelength: the distance from one wave to the next. Example: "Red light has a longer wavelength than blue light."
• red-shift: an increase in the wavelength of light from a galaxy moving away. Example: "The light from that distant galaxy shows a large red-shift."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Big Bang theory: the idea that the universe began very small, hot and dense, and has expanded since. Example: "Red-shift is evidence that supports the Big Bang theory."
• dark matter: matter scientists think is there, from its gravity, but cannot see. Example: "No one yet knows what dark matter is made of."
• dark energy: the unknown cause of the universe expanding ever faster. Example: "Dark energy is one of the biggest puzzles in physics."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galaxy is a huge group of billions of stars.
2. Light from a galaxy has a pattern of dark lines in its spectrum.
3. In light from distant galaxies, these lines are shifted towards the red end.
4. This means the wavelength of the light has increased.
5. We call this red-shift.
6. Red-shift shows that the galaxy is moving away from us.
7. The further away a galaxy is, the bigger its red-shift.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So more distant galaxies are moving away faster.
9. This tells us that space itself is expanding.
10. It supports the Big Bang theory.
11. The universe began from a very small region that was extremely hot and dense.
12. Since 1998, observations of supernovae suggest distant galaxies are moving away ever faster.
13. Scientists still do not understand dark matter and dark energy.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Stretched light: what red-shift means. Say it in your own words, then check understanding with a quick question: ask a pupil from the pre-teach group first, since they met these words and ideas before the lesson. Pupils try to recall before you re-explain.
You have heard a siren change pitch as an ambulance races past. As it moves away, the sound waves reaching you are stretched out, so the pitch sounds lower. Light from a source that is moving away from you is stretched in the same way: its wavelength gets longer.
When light from a galaxy is split into a spectrum, it shows a pattern of dark lines. For light from most distant galaxies, this whole pattern is shifted towards the red end of the spectrum, the end with the longest wavelengths.
This observed increase in the wavelength of light is called red-shift. It shows that the galaxy is moving away from us. The pattern of lines is the same; it has simply moved along.
Tip: Red-shift does not mean the galaxy looks red. It means the wavelength of its light has increased, so its spectral lines have moved towards the red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Further away, faster away. Say it in your own words, then check understanding with a quick question: ask a pupil from the pre-teach group first, since they met these words and ideas before the lesson. Pupils try to recall before you re-explain.
In the 1920s, the astronomer Edwin Hubble measured the light from many galaxies. Almost all of them showed red-shift, so almost all were moving away from us.
The further away a galaxy is, the bigger its red-shift. So the more distant galaxies are moving away faster than nearer ones. This change of each galaxy's speed with distance is evidence that space itself, the universe, is expanding.
It is not that we are at the centre. If space is stretching everywhere, an observer in any galaxy would see the other galaxies moving away from them.
Worked example — model it step by step, thinking aloud: Galaxy A has a bigger red-shift than galaxy B. What can you say about galaxy A compared with galaxy B? (1) Bigger red-shift means a bigger increase in wavelength. (2) A bigger increase in wavelength means the galaxy is moving away faster. (3) Galaxies that are moving away faster are further away. Answer: Galaxy A is moving away from us faster than galaxy B, and it is further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Big Bang, and what we still do not know. Say it in your own words, then check understanding with a quick question: ask a pupil from the pre-teach group first, since they met these words and ideas before the lesson. Pupils try to recall before you re-explain.
If the universe is expanding now, then in the past everything was much closer together. Running the expansion backwards leads to the Big Bang theory: the universe began from a very small region that was extremely hot and dense, and has been expanding ever since, for about 13.8 billion years.
Science moves on as new observations are made. Since 1998, observations of distant supernovae suggest that distant galaxies are moving away ever faster, so the expansion is speeding up. This is how scientists build theories: they collect observations, look for patterns and test explanations against new data.
There is still much about the universe that is not understood. Galaxies seem to have far more mass than we can see, which scientists call dark matter (AQA calls it 'dark mass'). The unknown cause of the expansion speeding up is called dark energy. No one yet knows what either of them is.
Tip: Avoid calling the Big Bang an explosion in empty space. Say the universe began from a very small, extremely hot and dense region, and space itself has been expanding ever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observation to conclusion.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observation to what it tells scientists.
Support — work through the steps with the group: (1) Read each observation and ask: what is being measured? (2) Red-shift on its own tells you about direction: moving away. (3) Red-shift that grows with distance tells you about the whole universe: expanding. (4) Going backwards in time from an expanding universe leads to its beginning.
Parallel worked example for Support (model it, do not give the task answer): An ambulance siren sounds lower in pitch than normal. What does this tell you? A lower pitch means the sound waves reaching you are stretched.; Waves are stretched when the source moves away from you.. Answer: The ambulance is moving away from you..
Core — reveal the hint only on request: One pair is about one galaxy, one is about all of space, one is about speeding up, and one is about the beginning.
Stretch — no help; when finished: Explain why the observation that red-shift increases with distance is stronger evidence for an expanding universe than red-shift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observation to conclusion.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observation to what it tells scientists.
Support — work through the steps with the group: (1) Read each observation and ask: what is being measured? (2) Red-shift on its own tells you about direction: moving away. (3) Red-shift that grows with distance tells you about the whole universe: expanding. (4) Going backwards in time from an expanding universe leads to its beginning.
Parallel worked example for Support (model it, do not give the task answer): An ambulance siren sounds lower in pitch than normal. What does this tell you? A lower pitch means the sound waves reaching you are stretched.; Waves are stretched when the source moves away from you.. Answer: The ambulance is moving away from you..
Core — reveal the hint only on request: One pair is about one galaxy, one is about all of space, one is about speeding up, and one is about the beginning.
Stretch — no help; when finished: Explain why the observation that red-shift increases with distance is stronger evidence for an expanding universe than red-shift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Comparing two galaxies.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Galaxy X is much further away than galaxy Y. The red-shift of light from galaxy X will be ___ than the red-shift of light from galaxy Y.
Support — work through the steps with the group: (1) Recall the pattern: further away means moving away faster. (2) Moving away faster means the light is stretched more. (3) Light stretched more means a bigger increase in wavelength, which is a bigger red-shift.
Parallel worked example for Support (model it, do not give the task answer): Galaxy P is moving away faster than galaxy Q. Which galaxy shows the smaller red-shift? Faster away means a bigger red-shift.; Q is moving away more slowly, so its red-shift is smaller.. Answer: Galaxy Q.
Core — reveal the hint only on request: Further away means faster away. What does faster away do to the stretching of the light?
Stretch — no help; when finished: Explain how measurements like these, for thousands of galaxies, led scientists to the idea that the universe is expanding.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statement about dark matter and dark energy is correct?
Answer: D   They are names for things scientists have evidence for but do not yet understand. Dark matter and dark energy are names for unexplained observations: extra mass we cannot see, and the cause of the expansion speeding up. Scientists do not yet understand them.
Source of this question: module 3 task ("What we still do not understand")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observation to conclusion. Reveal the answer; pupils mark their own work in a different colour, then read the "why" together. Same destination for every lane, so one answer serves the whole class.
Answer: Light from distant galaxies is red-shifted  →  B  Those galaxies are moving away from us; More distant galaxies show bigger red-shifts  →  A  Space itself is expanding; Supernovae observed since 1998  →  D  Distant galaxies are moving away ever faster; The expansion is traced backwards in time  →  C  The universe began from a very small, hot, dense region
Why: Red-shift shows galaxies are receding; bigger red-shift with distance shows space is expanding; supernova data since 1998 suggest the expansion is speeding up; tracing it back supports the Big Bang.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Comparing two galaxies. Reveal the answer; pupils mark their own work in a different colour, then read the "why" together. Same destination for every lane, so one answer serves the whole class.
Answer: Galaxy X is much further away than galaxy Y. The red-shift of light from galaxy X will be bigger than the red-shift of light from galaxy Y.
Why: The further away a galaxy is, the faster it is moving away and the bigger the observed increase in wavelength, so galaxy X shows the bigger red-shift.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They are names for things scientists have evidence for but do not yet understand
Why: Dark matter and dark energy are names for unexplained observations: extra mass we cannot see, and the cause of the expansion speeding up. Scientists do not yet understand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Space Physics · AQA 8463</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Red-shift and the expanding universe</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DEE1E9"/>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P16.4 The expanding universe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P16.5 The beginning and future of the Universe</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Sun, the planets and the elements in your own body come to exist, and how do we know the universe is still growing?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red-shift?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increase in the wavelength of light from a galaxy moving away from us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Light from a star turning red as the star cools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decrease in the wavelength of light from a galaxy moving away from us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Light bending as it passes a black hole</a:t>
            </a:r>
            <a:endParaRPr lang="en-US" sz="2200" dirty="0"/>
          </a:p>
        </p:txBody>
      </p:sp>
      <p:sp>
        <p:nvSpPr>
          <p:cNvPr id="12" name="card"/>
          <p:cNvSpPr/>
          <p:nvPr/>
        </p:nvSpPr>
        <p:spPr>
          <a:xfrm>
            <a:off x="6233008" y="1389888"/>
            <a:ext cx="5410048" cy="4754880"/>
          </a:xfrm>
          <a:prstGeom prst="roundRect">
            <a:avLst>
              <a:gd name="adj" fmla="val 1154"/>
            </a:avLst>
          </a:prstGeom>
          <a:solidFill>
            <a:srgbClr val="E5E7ED"/>
          </a:solidFill>
          <a:ln w="12700">
            <a:solidFill>
              <a:srgbClr val="A7AFC4"/>
            </a:solidFill>
            <a:prstDash val="solid"/>
          </a:ln>
        </p:spPr>
      </p:sp>
      <p:sp>
        <p:nvSpPr>
          <p:cNvPr id="13" name="card-hex"/>
          <p:cNvSpPr/>
          <p:nvPr/>
        </p:nvSpPr>
        <p:spPr>
          <a:xfrm>
            <a:off x="6415888" y="1572768"/>
            <a:ext cx="640080" cy="554309"/>
          </a:xfrm>
          <a:prstGeom prst="hexagon">
            <a:avLst/>
          </a:prstGeom>
          <a:solidFill>
            <a:srgbClr val="24366B"/>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further away a galaxy is, the ___ it is moving away from us.</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faster  ·  slower  ·  more steadily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According to the Big Bang theory, how did the universe begin?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From a cloud of dust and gas around the Sun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From a cold, empty space that slowly filled with stars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From the supernova of a single giant star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From a very small region that was extremely hot and dense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ADBBF"/>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An increase in the wavelength of light from a galaxy moving away from us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red-shift?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Red-shift is the observed increase in wavelength of light from galaxies that are moving away.</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faster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further away a galaxy is, the ___ it is moving away from us.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More distant galaxies have bigger red-shifts, so they are moving away faster.</a:t>
            </a:r>
            <a:endParaRPr lang="en-US" sz="22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ADBBF"/>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From a very small region that was extremely hot and dense</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Big Bang theory suggests the universe began from a very small region that was extremely hot and dense.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galaxy</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group of billions of stars held together by gravity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Our galaxy, the Milky Way, is about 100 000 light years across.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wavelength</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distance from one wave to the next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Red light has a longer wavelength than blue light.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red-shift</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increase in the wavelength of light from a galaxy moving away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light from that distant galaxy shows a large red-shift.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Big Bang theory</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idea that the universe began very small, hot and dense, and has expanded since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Red-shift is evidence that supports the Big Bang theory.</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dark matter</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matter scientists think is there, from its gravity, but cannot see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No one yet knows what dark matter is made of.</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dark energy</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unknown cause of the universe expanding ever faster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Dark energy is one of the biggest puzzles in physics.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galaxy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huge group of billions of stars.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Light from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galaxy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has a pattern of dark lines in its spectrum.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light from distant galaxies, these lines are shifted towards the red end.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means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wavelength</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the light has increased.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this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red-shift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Red-shift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shows that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galaxy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moving away from us.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further away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galaxy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bigger its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red-shift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more distant galaxies are moving away faster.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tells us that space itself is expanding.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supports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Big Bang theory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universe began from a very small region that was extremely hot and dense.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Since 1998, observations of supernovae suggest distant galaxies are moving away ever faster.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Scientists still do not understand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dark matter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dark energy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Stretched light: what red-shift means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Red-shift does not mean the galaxy looks red. It means the wavelength of its light has increased, so its spectral lines have moved towards the red end.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have heard a siren change pitch as an ambulance races past.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light from a galaxy is split into a spectrum, it shows a pattern of dark lines.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observed increase in the wavelength of light is called red-shift.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Further away, faster away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orked-panel"/>
          <p:cNvSpPr/>
          <p:nvPr/>
        </p:nvSpPr>
        <p:spPr>
          <a:xfrm>
            <a:off x="5989320" y="1389888"/>
            <a:ext cx="5653735" cy="4754880"/>
          </a:xfrm>
          <a:prstGeom prst="roundRect">
            <a:avLst>
              <a:gd name="adj" fmla="val 962"/>
            </a:avLst>
          </a:prstGeom>
          <a:solidFill>
            <a:srgbClr val="FFFFFF"/>
          </a:solidFill>
          <a:ln w="15875">
            <a:solidFill>
              <a:srgbClr val="8790AE"/>
            </a:solidFill>
            <a:prstDash val="solid"/>
          </a:ln>
        </p:spPr>
      </p:sp>
      <p:sp>
        <p:nvSpPr>
          <p:cNvPr id="8" name="worked-tab"/>
          <p:cNvSpPr/>
          <p:nvPr/>
        </p:nvSpPr>
        <p:spPr>
          <a:xfrm>
            <a:off x="6126480" y="1499616"/>
            <a:ext cx="2377440" cy="457200"/>
          </a:xfrm>
          <a:prstGeom prst="roundRect">
            <a:avLst>
              <a:gd name="adj" fmla="val 40000"/>
            </a:avLst>
          </a:prstGeom>
          <a:solidFill>
            <a:srgbClr val="24366B"/>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9"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Galaxy A has a bigger red-shift than galaxy B. What can you say about galaxy A compared with galaxy B?</a:t>
            </a:r>
            <a:endParaRPr lang="en-US" sz="1800" dirty="0"/>
          </a:p>
        </p:txBody>
      </p:sp>
      <p:sp>
        <p:nvSpPr>
          <p:cNvPr id="10" name="step-box"/>
          <p:cNvSpPr/>
          <p:nvPr/>
        </p:nvSpPr>
        <p:spPr>
          <a:xfrm>
            <a:off x="6126480" y="2888488"/>
            <a:ext cx="5379415" cy="692573"/>
          </a:xfrm>
          <a:prstGeom prst="roundRect">
            <a:avLst>
              <a:gd name="adj" fmla="val 13203"/>
            </a:avLst>
          </a:prstGeom>
          <a:solidFill>
            <a:srgbClr val="DEE1E9"/>
          </a:solidFill>
          <a:ln/>
        </p:spPr>
      </p:sp>
      <p:sp>
        <p:nvSpPr>
          <p:cNvPr id="11" name="step-hex"/>
          <p:cNvSpPr/>
          <p:nvPr/>
        </p:nvSpPr>
        <p:spPr>
          <a:xfrm>
            <a:off x="6217920" y="3052644"/>
            <a:ext cx="420624" cy="364260"/>
          </a:xfrm>
          <a:prstGeom prst="hexagon">
            <a:avLst/>
          </a:prstGeom>
          <a:solidFill>
            <a:srgbClr val="24366B"/>
          </a:solidFill>
          <a:ln/>
        </p:spPr>
      </p:sp>
      <p:sp>
        <p:nvSpPr>
          <p:cNvPr id="12" name="step-hex-label"/>
          <p:cNvSpPr txBox="1"/>
          <p:nvPr/>
        </p:nvSpPr>
        <p:spPr>
          <a:xfrm>
            <a:off x="6217920" y="305264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step"/>
          <p:cNvSpPr txBox="1"/>
          <p:nvPr/>
        </p:nvSpPr>
        <p:spPr>
          <a:xfrm>
            <a:off x="6766560" y="2888488"/>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Bigger red-shift means a bigger increase in wavelength.</a:t>
            </a:r>
            <a:endParaRPr lang="en-US" sz="1800" dirty="0"/>
          </a:p>
        </p:txBody>
      </p:sp>
      <p:sp>
        <p:nvSpPr>
          <p:cNvPr id="14" name="step-box"/>
          <p:cNvSpPr/>
          <p:nvPr/>
        </p:nvSpPr>
        <p:spPr>
          <a:xfrm>
            <a:off x="6126480" y="3672501"/>
            <a:ext cx="5379415" cy="692573"/>
          </a:xfrm>
          <a:prstGeom prst="roundRect">
            <a:avLst>
              <a:gd name="adj" fmla="val 13203"/>
            </a:avLst>
          </a:prstGeom>
          <a:solidFill>
            <a:srgbClr val="DEE1E9"/>
          </a:solidFill>
          <a:ln/>
        </p:spPr>
      </p:sp>
      <p:sp>
        <p:nvSpPr>
          <p:cNvPr id="15" name="step-hex"/>
          <p:cNvSpPr/>
          <p:nvPr/>
        </p:nvSpPr>
        <p:spPr>
          <a:xfrm>
            <a:off x="6217920" y="3836658"/>
            <a:ext cx="420624" cy="364260"/>
          </a:xfrm>
          <a:prstGeom prst="hexagon">
            <a:avLst/>
          </a:prstGeom>
          <a:solidFill>
            <a:srgbClr val="24366B"/>
          </a:solidFill>
          <a:ln/>
        </p:spPr>
      </p:sp>
      <p:sp>
        <p:nvSpPr>
          <p:cNvPr id="16" name="step-hex-label"/>
          <p:cNvSpPr txBox="1"/>
          <p:nvPr/>
        </p:nvSpPr>
        <p:spPr>
          <a:xfrm>
            <a:off x="6217920" y="38366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step"/>
          <p:cNvSpPr txBox="1"/>
          <p:nvPr/>
        </p:nvSpPr>
        <p:spPr>
          <a:xfrm>
            <a:off x="6766560" y="3672501"/>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bigger increase in wavelength means the galaxy is moving away faster.</a:t>
            </a:r>
            <a:endParaRPr lang="en-US" sz="1800" dirty="0"/>
          </a:p>
        </p:txBody>
      </p:sp>
      <p:sp>
        <p:nvSpPr>
          <p:cNvPr id="18" name="step-box"/>
          <p:cNvSpPr/>
          <p:nvPr/>
        </p:nvSpPr>
        <p:spPr>
          <a:xfrm>
            <a:off x="6126480" y="4456515"/>
            <a:ext cx="5379415" cy="692573"/>
          </a:xfrm>
          <a:prstGeom prst="roundRect">
            <a:avLst>
              <a:gd name="adj" fmla="val 13203"/>
            </a:avLst>
          </a:prstGeom>
          <a:solidFill>
            <a:srgbClr val="DEE1E9"/>
          </a:solidFill>
          <a:ln/>
        </p:spPr>
      </p:sp>
      <p:sp>
        <p:nvSpPr>
          <p:cNvPr id="19" name="step-hex"/>
          <p:cNvSpPr/>
          <p:nvPr/>
        </p:nvSpPr>
        <p:spPr>
          <a:xfrm>
            <a:off x="6217920" y="4620671"/>
            <a:ext cx="420624" cy="364260"/>
          </a:xfrm>
          <a:prstGeom prst="hexagon">
            <a:avLst/>
          </a:prstGeom>
          <a:solidFill>
            <a:srgbClr val="24366B"/>
          </a:solidFill>
          <a:ln/>
        </p:spPr>
      </p:sp>
      <p:sp>
        <p:nvSpPr>
          <p:cNvPr id="20" name="step-hex-label"/>
          <p:cNvSpPr txBox="1"/>
          <p:nvPr/>
        </p:nvSpPr>
        <p:spPr>
          <a:xfrm>
            <a:off x="6217920" y="462067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step"/>
          <p:cNvSpPr txBox="1"/>
          <p:nvPr/>
        </p:nvSpPr>
        <p:spPr>
          <a:xfrm>
            <a:off x="6766560" y="4456515"/>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Galaxies that are moving away faster are further away.</a:t>
            </a:r>
            <a:endParaRPr lang="en-US" sz="1800" dirty="0"/>
          </a:p>
        </p:txBody>
      </p:sp>
      <p:sp>
        <p:nvSpPr>
          <p:cNvPr id="22" name="worked-answer"/>
          <p:cNvSpPr/>
          <p:nvPr/>
        </p:nvSpPr>
        <p:spPr>
          <a:xfrm>
            <a:off x="6126480" y="5286248"/>
            <a:ext cx="53794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Galaxy A is moving away from us faster than galaxy B, and it is further away.</a:t>
            </a:r>
            <a:endParaRPr lang="en-US" sz="1800" dirty="0"/>
          </a:p>
        </p:txBody>
      </p:sp>
      <p:sp>
        <p:nvSpPr>
          <p:cNvPr id="23" name="bullet-card"/>
          <p:cNvSpPr/>
          <p:nvPr/>
        </p:nvSpPr>
        <p:spPr>
          <a:xfrm>
            <a:off x="548640" y="1389888"/>
            <a:ext cx="5074920" cy="1373801"/>
          </a:xfrm>
          <a:prstGeom prst="roundRect">
            <a:avLst>
              <a:gd name="adj" fmla="val 5325"/>
            </a:avLst>
          </a:prstGeom>
          <a:solidFill>
            <a:srgbClr val="E3E5EC"/>
          </a:solidFill>
          <a:ln/>
        </p:spPr>
      </p:sp>
      <p:sp>
        <p:nvSpPr>
          <p:cNvPr id="24" name="bullet-hex"/>
          <p:cNvSpPr/>
          <p:nvPr/>
        </p:nvSpPr>
        <p:spPr>
          <a:xfrm>
            <a:off x="676656" y="1910496"/>
            <a:ext cx="384048" cy="332586"/>
          </a:xfrm>
          <a:prstGeom prst="hexagon">
            <a:avLst/>
          </a:prstGeom>
          <a:solidFill>
            <a:srgbClr val="24366B"/>
          </a:solidFill>
          <a:ln/>
        </p:spPr>
      </p:sp>
      <p:sp>
        <p:nvSpPr>
          <p:cNvPr id="25" name="bullet"/>
          <p:cNvSpPr txBox="1"/>
          <p:nvPr/>
        </p:nvSpPr>
        <p:spPr>
          <a:xfrm>
            <a:off x="1143000" y="1389888"/>
            <a:ext cx="4389120" cy="13738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1920s, the astronomer Edwin Hubble measured the light from many galaxies.</a:t>
            </a:r>
            <a:endParaRPr lang="en-US" sz="2200" dirty="0"/>
          </a:p>
        </p:txBody>
      </p:sp>
      <p:sp>
        <p:nvSpPr>
          <p:cNvPr id="26" name="bullet-card"/>
          <p:cNvSpPr/>
          <p:nvPr/>
        </p:nvSpPr>
        <p:spPr>
          <a:xfrm>
            <a:off x="548640" y="2909993"/>
            <a:ext cx="5074920" cy="1032933"/>
          </a:xfrm>
          <a:prstGeom prst="roundRect">
            <a:avLst>
              <a:gd name="adj" fmla="val 7082"/>
            </a:avLst>
          </a:prstGeom>
          <a:solidFill>
            <a:srgbClr val="E3E5EC"/>
          </a:solidFill>
          <a:ln/>
        </p:spPr>
      </p:sp>
      <p:sp>
        <p:nvSpPr>
          <p:cNvPr id="27" name="bullet-hex"/>
          <p:cNvSpPr/>
          <p:nvPr/>
        </p:nvSpPr>
        <p:spPr>
          <a:xfrm>
            <a:off x="676656" y="3260167"/>
            <a:ext cx="384048" cy="332586"/>
          </a:xfrm>
          <a:prstGeom prst="hexagon">
            <a:avLst/>
          </a:prstGeom>
          <a:solidFill>
            <a:srgbClr val="B8862B"/>
          </a:solidFill>
          <a:ln/>
        </p:spPr>
      </p:sp>
      <p:sp>
        <p:nvSpPr>
          <p:cNvPr id="28" name="bullet"/>
          <p:cNvSpPr txBox="1"/>
          <p:nvPr/>
        </p:nvSpPr>
        <p:spPr>
          <a:xfrm>
            <a:off x="1143000" y="2909993"/>
            <a:ext cx="4389120" cy="103293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further away a galaxy is, the bigger its red-shift.</a:t>
            </a:r>
            <a:endParaRPr lang="en-US" sz="2200" dirty="0"/>
          </a:p>
        </p:txBody>
      </p:sp>
      <p:sp>
        <p:nvSpPr>
          <p:cNvPr id="29" name="bullet-card"/>
          <p:cNvSpPr/>
          <p:nvPr/>
        </p:nvSpPr>
        <p:spPr>
          <a:xfrm>
            <a:off x="548640" y="4089231"/>
            <a:ext cx="5074920" cy="2055537"/>
          </a:xfrm>
          <a:prstGeom prst="roundRect">
            <a:avLst>
              <a:gd name="adj" fmla="val 3559"/>
            </a:avLst>
          </a:prstGeom>
          <a:solidFill>
            <a:srgbClr val="E3E5EC"/>
          </a:solidFill>
          <a:ln/>
        </p:spPr>
      </p:sp>
      <p:sp>
        <p:nvSpPr>
          <p:cNvPr id="30" name="bullet-hex"/>
          <p:cNvSpPr/>
          <p:nvPr/>
        </p:nvSpPr>
        <p:spPr>
          <a:xfrm>
            <a:off x="676656" y="4950707"/>
            <a:ext cx="384048" cy="332586"/>
          </a:xfrm>
          <a:prstGeom prst="hexagon">
            <a:avLst/>
          </a:prstGeom>
          <a:solidFill>
            <a:srgbClr val="24366B"/>
          </a:solidFill>
          <a:ln/>
        </p:spPr>
      </p:sp>
      <p:sp>
        <p:nvSpPr>
          <p:cNvPr id="31" name="bullet"/>
          <p:cNvSpPr txBox="1"/>
          <p:nvPr/>
        </p:nvSpPr>
        <p:spPr>
          <a:xfrm>
            <a:off x="1143000" y="4089231"/>
            <a:ext cx="4389120" cy="20555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It is not that we are at the centre. If space is stretching everywhere, an observer in any galaxy would see the other galaxies moving away from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Big Bang, and what we still do not know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Avoid calling the Big Bang an explosion in empty space. Say the universe began from a very small, extremely hot and dense region, and space itself has been expanding ever since.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If the universe is expanding now, then in the past everything was much closer together.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Science moves on as new observations are made. Since 1998, observations of distant supernovae suggest that distant galaxies are moving away ever faster, so the expansion is speeding up.</a:t>
            </a:r>
            <a:endParaRPr lang="en-US" sz="18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is still much about the universe that is not understood.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From observation to conclusion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observation to what it tells scientists.</a:t>
            </a:r>
            <a:endParaRPr lang="en-US" sz="2400" dirty="0"/>
          </a:p>
        </p:txBody>
      </p:sp>
      <p:sp>
        <p:nvSpPr>
          <p:cNvPr id="11" name="match-card"/>
          <p:cNvSpPr/>
          <p:nvPr/>
        </p:nvSpPr>
        <p:spPr>
          <a:xfrm>
            <a:off x="777240" y="2468331"/>
            <a:ext cx="4644484" cy="804809"/>
          </a:xfrm>
          <a:prstGeom prst="roundRect">
            <a:avLst>
              <a:gd name="adj" fmla="val 9089"/>
            </a:avLst>
          </a:prstGeom>
          <a:solidFill>
            <a:srgbClr val="E3E5EC"/>
          </a:solidFill>
          <a:ln/>
        </p:spPr>
      </p:sp>
      <p:sp>
        <p:nvSpPr>
          <p:cNvPr id="12" name="match-hex"/>
          <p:cNvSpPr/>
          <p:nvPr/>
        </p:nvSpPr>
        <p:spPr>
          <a:xfrm>
            <a:off x="850392" y="2704443"/>
            <a:ext cx="384048" cy="332586"/>
          </a:xfrm>
          <a:prstGeom prst="hexagon">
            <a:avLst/>
          </a:prstGeom>
          <a:solidFill>
            <a:srgbClr val="24366B"/>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05012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Light from distant galaxies is red-shifted</a:t>
            </a:r>
            <a:endParaRPr lang="en-US" sz="2000" dirty="0"/>
          </a:p>
        </p:txBody>
      </p:sp>
      <p:sp>
        <p:nvSpPr>
          <p:cNvPr id="15" name="match-card"/>
          <p:cNvSpPr/>
          <p:nvPr/>
        </p:nvSpPr>
        <p:spPr>
          <a:xfrm>
            <a:off x="5787484" y="2468331"/>
            <a:ext cx="5626971" cy="804809"/>
          </a:xfrm>
          <a:prstGeom prst="roundRect">
            <a:avLst>
              <a:gd name="adj" fmla="val 9089"/>
            </a:avLst>
          </a:prstGeom>
          <a:solidFill>
            <a:srgbClr val="F3EADB"/>
          </a:solidFill>
          <a:ln/>
        </p:spPr>
      </p:sp>
      <p:sp>
        <p:nvSpPr>
          <p:cNvPr id="16" name="match-hex"/>
          <p:cNvSpPr/>
          <p:nvPr/>
        </p:nvSpPr>
        <p:spPr>
          <a:xfrm>
            <a:off x="5860636" y="2704443"/>
            <a:ext cx="384048" cy="332586"/>
          </a:xfrm>
          <a:prstGeom prst="hexagon">
            <a:avLst/>
          </a:prstGeom>
          <a:solidFill>
            <a:srgbClr val="B8862B"/>
          </a:solidFill>
          <a:ln/>
        </p:spPr>
      </p:sp>
      <p:sp>
        <p:nvSpPr>
          <p:cNvPr id="17" name="match-hex-label"/>
          <p:cNvSpPr txBox="1"/>
          <p:nvPr/>
        </p:nvSpPr>
        <p:spPr>
          <a:xfrm>
            <a:off x="5860636"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308692" y="2468331"/>
            <a:ext cx="503261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Space itself is expanding</a:t>
            </a:r>
            <a:endParaRPr lang="en-US" sz="2000" dirty="0"/>
          </a:p>
        </p:txBody>
      </p:sp>
      <p:sp>
        <p:nvSpPr>
          <p:cNvPr id="19" name="match-card"/>
          <p:cNvSpPr/>
          <p:nvPr/>
        </p:nvSpPr>
        <p:spPr>
          <a:xfrm>
            <a:off x="777240" y="3364581"/>
            <a:ext cx="4644484" cy="804809"/>
          </a:xfrm>
          <a:prstGeom prst="roundRect">
            <a:avLst>
              <a:gd name="adj" fmla="val 9089"/>
            </a:avLst>
          </a:prstGeom>
          <a:solidFill>
            <a:srgbClr val="E3E5EC"/>
          </a:solidFill>
          <a:ln/>
        </p:spPr>
      </p:sp>
      <p:sp>
        <p:nvSpPr>
          <p:cNvPr id="20" name="match-hex"/>
          <p:cNvSpPr/>
          <p:nvPr/>
        </p:nvSpPr>
        <p:spPr>
          <a:xfrm>
            <a:off x="850392" y="3600692"/>
            <a:ext cx="384048" cy="332586"/>
          </a:xfrm>
          <a:prstGeom prst="hexagon">
            <a:avLst/>
          </a:prstGeom>
          <a:solidFill>
            <a:srgbClr val="24366B"/>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05012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More distant galaxies show bigger red-shifts</a:t>
            </a:r>
            <a:endParaRPr lang="en-US" sz="2000" dirty="0"/>
          </a:p>
        </p:txBody>
      </p:sp>
      <p:sp>
        <p:nvSpPr>
          <p:cNvPr id="23" name="match-card"/>
          <p:cNvSpPr/>
          <p:nvPr/>
        </p:nvSpPr>
        <p:spPr>
          <a:xfrm>
            <a:off x="5787484" y="3364581"/>
            <a:ext cx="5626971" cy="804809"/>
          </a:xfrm>
          <a:prstGeom prst="roundRect">
            <a:avLst>
              <a:gd name="adj" fmla="val 9089"/>
            </a:avLst>
          </a:prstGeom>
          <a:solidFill>
            <a:srgbClr val="F3EADB"/>
          </a:solidFill>
          <a:ln/>
        </p:spPr>
      </p:sp>
      <p:sp>
        <p:nvSpPr>
          <p:cNvPr id="24" name="match-hex"/>
          <p:cNvSpPr/>
          <p:nvPr/>
        </p:nvSpPr>
        <p:spPr>
          <a:xfrm>
            <a:off x="5860636" y="3600692"/>
            <a:ext cx="384048" cy="332586"/>
          </a:xfrm>
          <a:prstGeom prst="hexagon">
            <a:avLst/>
          </a:prstGeom>
          <a:solidFill>
            <a:srgbClr val="B8862B"/>
          </a:solidFill>
          <a:ln/>
        </p:spPr>
      </p:sp>
      <p:sp>
        <p:nvSpPr>
          <p:cNvPr id="25" name="match-hex-label"/>
          <p:cNvSpPr txBox="1"/>
          <p:nvPr/>
        </p:nvSpPr>
        <p:spPr>
          <a:xfrm>
            <a:off x="5860636"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308692" y="3364581"/>
            <a:ext cx="503261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Those galaxies are moving away from us</a:t>
            </a:r>
            <a:endParaRPr lang="en-US" sz="2000" dirty="0"/>
          </a:p>
        </p:txBody>
      </p:sp>
      <p:sp>
        <p:nvSpPr>
          <p:cNvPr id="27" name="match-card"/>
          <p:cNvSpPr/>
          <p:nvPr/>
        </p:nvSpPr>
        <p:spPr>
          <a:xfrm>
            <a:off x="777240" y="4260830"/>
            <a:ext cx="4644484" cy="804809"/>
          </a:xfrm>
          <a:prstGeom prst="roundRect">
            <a:avLst>
              <a:gd name="adj" fmla="val 9089"/>
            </a:avLst>
          </a:prstGeom>
          <a:solidFill>
            <a:srgbClr val="E3E5EC"/>
          </a:solidFill>
          <a:ln/>
        </p:spPr>
      </p:sp>
      <p:sp>
        <p:nvSpPr>
          <p:cNvPr id="28" name="match-hex"/>
          <p:cNvSpPr/>
          <p:nvPr/>
        </p:nvSpPr>
        <p:spPr>
          <a:xfrm>
            <a:off x="850392" y="4496941"/>
            <a:ext cx="384048" cy="332586"/>
          </a:xfrm>
          <a:prstGeom prst="hexagon">
            <a:avLst/>
          </a:prstGeom>
          <a:solidFill>
            <a:srgbClr val="24366B"/>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05012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Supernovae observed since 1998</a:t>
            </a:r>
            <a:endParaRPr lang="en-US" sz="2000" dirty="0"/>
          </a:p>
        </p:txBody>
      </p:sp>
      <p:sp>
        <p:nvSpPr>
          <p:cNvPr id="31" name="match-card"/>
          <p:cNvSpPr/>
          <p:nvPr/>
        </p:nvSpPr>
        <p:spPr>
          <a:xfrm>
            <a:off x="5787484" y="4260830"/>
            <a:ext cx="5626971" cy="804809"/>
          </a:xfrm>
          <a:prstGeom prst="roundRect">
            <a:avLst>
              <a:gd name="adj" fmla="val 9089"/>
            </a:avLst>
          </a:prstGeom>
          <a:solidFill>
            <a:srgbClr val="F3EADB"/>
          </a:solidFill>
          <a:ln/>
        </p:spPr>
      </p:sp>
      <p:sp>
        <p:nvSpPr>
          <p:cNvPr id="32" name="match-hex"/>
          <p:cNvSpPr/>
          <p:nvPr/>
        </p:nvSpPr>
        <p:spPr>
          <a:xfrm>
            <a:off x="5860636" y="4496941"/>
            <a:ext cx="384048" cy="332586"/>
          </a:xfrm>
          <a:prstGeom prst="hexagon">
            <a:avLst/>
          </a:prstGeom>
          <a:solidFill>
            <a:srgbClr val="B8862B"/>
          </a:solidFill>
          <a:ln/>
        </p:spPr>
      </p:sp>
      <p:sp>
        <p:nvSpPr>
          <p:cNvPr id="33" name="match-hex-label"/>
          <p:cNvSpPr txBox="1"/>
          <p:nvPr/>
        </p:nvSpPr>
        <p:spPr>
          <a:xfrm>
            <a:off x="5860636"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308692" y="4260830"/>
            <a:ext cx="503261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universe began from a very small, hot, dense region</a:t>
            </a:r>
            <a:endParaRPr lang="en-US" sz="2000" dirty="0"/>
          </a:p>
        </p:txBody>
      </p:sp>
      <p:sp>
        <p:nvSpPr>
          <p:cNvPr id="35" name="match-card"/>
          <p:cNvSpPr/>
          <p:nvPr/>
        </p:nvSpPr>
        <p:spPr>
          <a:xfrm>
            <a:off x="777240" y="5157079"/>
            <a:ext cx="4644484" cy="804809"/>
          </a:xfrm>
          <a:prstGeom prst="roundRect">
            <a:avLst>
              <a:gd name="adj" fmla="val 9089"/>
            </a:avLst>
          </a:prstGeom>
          <a:solidFill>
            <a:srgbClr val="E3E5EC"/>
          </a:solidFill>
          <a:ln/>
        </p:spPr>
      </p:sp>
      <p:sp>
        <p:nvSpPr>
          <p:cNvPr id="36" name="match-hex"/>
          <p:cNvSpPr/>
          <p:nvPr/>
        </p:nvSpPr>
        <p:spPr>
          <a:xfrm>
            <a:off x="850392" y="5393191"/>
            <a:ext cx="384048" cy="332586"/>
          </a:xfrm>
          <a:prstGeom prst="hexagon">
            <a:avLst/>
          </a:prstGeom>
          <a:solidFill>
            <a:srgbClr val="24366B"/>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05012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expansion is traced backwards in time</a:t>
            </a:r>
            <a:endParaRPr lang="en-US" sz="2000" dirty="0"/>
          </a:p>
        </p:txBody>
      </p:sp>
      <p:sp>
        <p:nvSpPr>
          <p:cNvPr id="39" name="match-card"/>
          <p:cNvSpPr/>
          <p:nvPr/>
        </p:nvSpPr>
        <p:spPr>
          <a:xfrm>
            <a:off x="5787484" y="5157079"/>
            <a:ext cx="5626971" cy="804809"/>
          </a:xfrm>
          <a:prstGeom prst="roundRect">
            <a:avLst>
              <a:gd name="adj" fmla="val 9089"/>
            </a:avLst>
          </a:prstGeom>
          <a:solidFill>
            <a:srgbClr val="F3EADB"/>
          </a:solidFill>
          <a:ln/>
        </p:spPr>
      </p:sp>
      <p:sp>
        <p:nvSpPr>
          <p:cNvPr id="40" name="match-hex"/>
          <p:cNvSpPr/>
          <p:nvPr/>
        </p:nvSpPr>
        <p:spPr>
          <a:xfrm>
            <a:off x="5860636" y="5393191"/>
            <a:ext cx="384048" cy="332586"/>
          </a:xfrm>
          <a:prstGeom prst="hexagon">
            <a:avLst/>
          </a:prstGeom>
          <a:solidFill>
            <a:srgbClr val="B8862B"/>
          </a:solidFill>
          <a:ln/>
        </p:spPr>
      </p:sp>
      <p:sp>
        <p:nvSpPr>
          <p:cNvPr id="41" name="match-hex-label"/>
          <p:cNvSpPr txBox="1"/>
          <p:nvPr/>
        </p:nvSpPr>
        <p:spPr>
          <a:xfrm>
            <a:off x="5860636"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308692" y="5157079"/>
            <a:ext cx="503261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Distant galaxies are moving away ever faster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From observation to conclusion</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observation to what it tells scientists.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DEE1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observation and ask: what is being measured?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Red-shift on its own tells you about direction: moving away.</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Red-shift that grows with distance tells you about the whole universe: expanding.</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Going backwards in time from an expanding universe leads to its beginning.</a:t>
            </a:r>
            <a:endParaRPr lang="en-US" sz="1800" dirty="0"/>
          </a:p>
        </p:txBody>
      </p:sp>
      <p:sp>
        <p:nvSpPr>
          <p:cNvPr id="17" name="col-Core"/>
          <p:cNvSpPr/>
          <p:nvPr/>
        </p:nvSpPr>
        <p:spPr>
          <a:xfrm>
            <a:off x="5490762" y="2578608"/>
            <a:ext cx="2938987" cy="3566160"/>
          </a:xfrm>
          <a:prstGeom prst="roundRect">
            <a:avLst>
              <a:gd name="adj" fmla="val 1867"/>
            </a:avLst>
          </a:prstGeom>
          <a:solidFill>
            <a:srgbClr val="C4C9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pair is about one galaxy, one is about all of space, one is about speeding up, and one is about the beginning.</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observation that red-shift increases with distance is stronger evidence for an expanding universe than red-shift alone.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Comparing two galaxies</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Galaxy X is much further away than galaxy Y. The red-shift of light from galaxy X will be ___ than the red-shift of light from galaxy Y.</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Word bank:  </a:t>
            </a:r>
            <a:pPr algn="ctr" indent="0" marL="0">
              <a:buNone/>
            </a:pPr>
            <a:r>
              <a:rPr lang="en-US" sz="1800" dirty="0">
                <a:solidFill>
                  <a:srgbClr val="1E2229"/>
                </a:solidFill>
                <a:latin typeface="Calibri" pitchFamily="34" charset="0"/>
                <a:ea typeface="Calibri" pitchFamily="34" charset="-122"/>
                <a:cs typeface="Calibri" pitchFamily="34" charset="-120"/>
              </a:rPr>
              <a:t>bigger   ·   smaller   ·   bluer</a:t>
            </a:r>
            <a:endParaRPr lang="en-US" sz="2000" dirty="0"/>
          </a:p>
        </p:txBody>
      </p:sp>
      <p:sp>
        <p:nvSpPr>
          <p:cNvPr id="12" name="col-Support"/>
          <p:cNvSpPr/>
          <p:nvPr/>
        </p:nvSpPr>
        <p:spPr>
          <a:xfrm>
            <a:off x="548640" y="2948940"/>
            <a:ext cx="4667802" cy="3195828"/>
          </a:xfrm>
          <a:prstGeom prst="roundRect">
            <a:avLst>
              <a:gd name="adj" fmla="val 1717"/>
            </a:avLst>
          </a:prstGeom>
          <a:solidFill>
            <a:srgbClr val="DEE1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the pattern: further away means moving away faster.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Moving away faster means the light is stretched more.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Light stretched more means a bigger increase in wavelength, which is a bigger red-shift.</a:t>
            </a:r>
            <a:endParaRPr lang="en-US" sz="1800" dirty="0"/>
          </a:p>
        </p:txBody>
      </p:sp>
      <p:sp>
        <p:nvSpPr>
          <p:cNvPr id="17" name="col-Core"/>
          <p:cNvSpPr/>
          <p:nvPr/>
        </p:nvSpPr>
        <p:spPr>
          <a:xfrm>
            <a:off x="5490762" y="2948940"/>
            <a:ext cx="2938987" cy="3195828"/>
          </a:xfrm>
          <a:prstGeom prst="roundRect">
            <a:avLst>
              <a:gd name="adj" fmla="val 1867"/>
            </a:avLst>
          </a:prstGeom>
          <a:solidFill>
            <a:srgbClr val="C4C9D7"/>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Further away means faster away. What does faster away do to the stretching of the light?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4366B"/>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measurements like these, for thousands of galaxies, led scientists to the idea that the universe is expanding.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3913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Which statement about dark matter and dark energy is correct?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Dark energy is the energy given out by fusion in stars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Scientists fully understand both and use them to power satellites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Dark matter is the dust left behind by supernovae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are names for things scientists have evidence for but do not yet understand</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From observation to conclusion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Light from distant galaxies is red-shifted  →  B  Those galaxies are moving away from us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More distant galaxies show bigger red-shifts  →  A  Space itself is expanding</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Supernovae observed since 1998  →  D  Distant galaxies are moving away ever faster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expansion is traced backwards in time  →  C  The universe began from a very small, hot, dense region</a:t>
            </a:r>
            <a:endParaRPr lang="en-US" sz="22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Red-shift shows galaxies are receding; bigger red-shift with distance shows space is expanding; supernova data since 1998 suggest the expansion is speeding up; tracing it back supports the Big Bang.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Comparing two galaxies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Galaxy X is much further away than galaxy Y. The red-shift of light from galaxy X will be ___ than the red-shift of light from galaxy 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Galaxy X is much further away than galaxy Y. The red-shift of light from galaxy X will be bigger than the red-shift of light from galaxy Y.</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further away a galaxy is, the faster it is moving away and the bigger the observed increase in wavelength, so galaxy X shows the bigger red-shift.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statement about dark matter and dark energy is correct?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They are names for things scientists have evidence for but do not yet understand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Dark matter and dark energy are names for unexplained observations: extra mass we cannot see, and the cause of the expansion speeding up. Scientists do not yet understand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Physics · Chapter 4: Red-shift and the expanding universe</dc:title>
  <dc:subject>Physics (Triple Science) · Year 11</dc:subject>
  <dc:creator>Dr Vitor Merissi de Carvalho</dc:creator>
  <cp:lastModifiedBy>Dr Vitor Merissi de Carvalho</cp:lastModifiedBy>
  <cp:revision>1</cp:revision>
  <dcterms:created xsi:type="dcterms:W3CDTF">2026-10-19T16:23:29Z</dcterms:created>
  <dcterms:modified xsi:type="dcterms:W3CDTF">2026-10-19T16:23:29Z</dcterms:modified>
</cp:coreProperties>
</file>