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0a02949-6ffa-d4b0-2e4c-9d8c558a917e}">
          <p14:sldIdLst>
            <p14:sldId id="256"/>
          </p14:sldIdLst>
        </p14:section>
        <p14:section name="Gate" id="{e6648505-e614-3323-20ba-00bd93da02f0}">
          <p14:sldIdLst>
            <p14:sldId id="257"/>
            <p14:sldId id="258"/>
          </p14:sldIdLst>
        </p14:section>
        <p14:section name="Pre-teach" id="{77e70196-1fd0-cc0f-0175-a0d6659c09c2}">
          <p14:sldIdLst>
            <p14:sldId id="259"/>
            <p14:sldId id="260"/>
          </p14:sldIdLst>
        </p14:section>
        <p14:section name="Read-along" id="{be85d110-8348-19cf-901f-80277b3a9fc4}">
          <p14:sldIdLst>
            <p14:sldId id="261"/>
            <p14:sldId id="262"/>
          </p14:sldIdLst>
        </p14:section>
        <p14:section name="Teach" id="{1d143c5a-e5b3-cd23-d9dc-1885400331ec}">
          <p14:sldIdLst>
            <p14:sldId id="263"/>
            <p14:sldId id="264"/>
            <p14:sldId id="265"/>
            <p14:sldId id="266"/>
          </p14:sldIdLst>
        </p14:section>
        <p14:section name="Routes" id="{617d43ef-2237-9910-1c2d-dd425a5d94f6}">
          <p14:sldIdLst>
            <p14:sldId id="267"/>
            <p14:sldId id="268"/>
            <p14:sldId id="269"/>
            <p14:sldId id="270"/>
          </p14:sldIdLst>
        </p14:section>
        <p14:section name="Close" id="{a93566eb-872b-1153-b8ec-3829c0f82e5b}">
          <p14:sldIdLst>
            <p14:sldId id="271"/>
          </p14:sldIdLst>
        </p14:section>
        <p14:section name="Answers" id="{fb9cec82-baf2-0046-540d-c55845822ea0}">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5: Our solar system and how it formed. What is in our solar system, how the Sun was born from a cloud of dust and gas, and why it now stays the same size.
This deck covers the department's lesson: 1 (P16.1 Formation of the Solar System: How did our solar system form from dust and gas, and why does the Sun stay stable?).
Read the big question aloud: "How did the Sun, the planets and the elements in your own body come to exist, and how do we know the universe is still growing?"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stars are there in our solar system?  →  A   One
2. The Sun formed from a cloud of dust and gas called a ___.  →  nebula
3. Which force pulled the dust and gas together to form the Sun?  →  A   Gravity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One. There is one star, the Sun. The planets orbit it; they are not stars.
2. nebula. A nebula is the cloud. A protostar is what forms when gravity pulls the cloud together.
3. A   Gravity. Gravity attracts every piece of matter to every other piece, so it pulls the cloud together.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nebula: a huge cloud of dust and gas in space. Example: "The Sun formed from a nebula that gravity slowly pulled together."
• protostar: a young star that is getting hotter but has not started fusion. Example: "As the gas was squeezed together, it became a hot protostar."
• nuclear fusion: small nuclei joining to make a bigger nucleus, giving out energy. Example: "Nuclear fusion in the Sun's core joins hydrogen nuclei to make helium."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equilibrium: a balance between two things pulling opposite ways. Example: "The Sun is in equilibrium, so it stays the same size."
• dwarf planet: a small, round body that orbits the Sun but is not a full planet. Example: "Pluto is a dwarf planet at the edge of our solar system."
• natural satellite: a moon: an object that orbits a planet and was not made by people. Example: "The Moon is the Earth's only natural satellite."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Our solar system is the Sun and everything that orbits it.
2. There is only one star in it: the Sun.
3. Eight planets orbit the Sun.
4. There are also dwarf planets, such as Pluto.
5. A moon is a natural satellite that orbits a planet.
6. Our solar system is a tiny part of a galaxy called the Milky Way.
7. The Sun formed from a huge cloud of dust and gas, called a nebula.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Gravity pulled the dust and gas together.
9. The cloud became denser and hotter, and formed a protostar.
10. In time it was hot enough for hydrogen nuclei to fuse into helium.
11. Fusion gives out energy, and the Sun began to shine.
12. Gravity pulls the Sun inwards, and fusion energy pushes it outwards.
13. These two balance, so the Sun stays the same size.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in our solar system?. Say it in your own words, then check understanding with a quick question: ask a pupil from the pre-teach group first, since they met these words and ideas before the lesson. Pupils try to recall before you re-explain.
Our solar system has one star, the Sun, at its centre. Eight planets orbit it: Mercury, Venus, Earth and Mars are small and rocky; Jupiter, Saturn, Uranus and Neptune are giant planets made mostly of gas and ice. Between Mars and Jupiter is a belt of rocky asteroids.
There are also dwarf planets, such as Pluto, which orbit the Sun but are too small to count as full planets. Many planets have moons. A moon is a natural satellite: an object that orbits a planet and was not made by people.
The whole solar system is a very small part of the Milky Way, a galaxy of billions of stars. The Sun is about 1.4 million km across, but the Milky Way is about 100 000 light years across.
Tip: In the exam, say the solar system has ONE star. The planets do not give out their own light; they reflect the Sun's.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From nebula to protostar to star. Say it in your own words, then check understanding with a quick question: ask a pupil from the pre-teach group first, since they met these words and ideas before the lesson. Pupils try to recall before you re-explain.
The Sun began as part of a nebula, a huge cloud of dust and gas, mostly hydrogen. Gravity pulled the dust and gas together. As the cloud fell inwards it became denser, and the gas at the centre became hotter.
This hot, dense ball is called a protostar. When its core became hot enough and dense enough, hydrogen nuclei were forced together so hard that they fused to make helium nuclei. This is nuclear fusion, and it releases a great deal of energy.
Once fusion started, the Sun began to shine as a main sequence star. Dust and gas further out from the centre was pulled together by gravity into larger and larger lumps, which became the planets.
Worked example — model it step by step, thinking aloud: Describe how the Sun formed. (4 marks) (1) Start at the beginning: name the cloud. The Sun formed from a nebula, a cloud of dust and gas. (2) Name the force: gravity pulled the dust and gas together. (3) Say what happened to it: it became denser and hotter and formed a protostar. (4) Finish with fusion: when it was hot enough, hydrogen nuclei fused into helium nuclei, releasing energy, and it became a main sequence star. Answer: A nebula of dust and gas was pulled together by gravity; it became denser and hotter, forming a protostar; when hot enough, hydrogen nuclei fused into helium nuclei and the Sun became a main sequence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From nebula to protostar to star. Say it in your own words, then check understanding with a quick question: ask a pupil from the pre-teach group first, since they met these words and ideas before the lesson. Pupils try to recall before you re-explain.
The Sun began as part of a nebula, a huge cloud of dust and gas, mostly hydrogen. Gravity pulled the dust and gas together. As the cloud fell inwards it became denser, and the gas at the centre became hotter.
This hot, dense ball is called a protostar. When its core became hot enough and dense enough, hydrogen nuclei were forced together so hard that they fused to make helium nuclei. This is nuclear fusion, and it releases a great deal of energy.
Once fusion started, the Sun began to shine as a main sequence star. Dust and gas further out from the centre was pulled together by gravity into larger and larger lumps, which became the planets.
Worked example — model it step by step, thinking aloud: Describe how the Sun formed. (4 marks) (1) Start at the beginning: name the cloud. The Sun formed from a nebula, a cloud of dust and gas. (2) Name the force: gravity pulled the dust and gas together. (3) Say what happened to it: it became denser and hotter and formed a protostar. (4) Finish with fusion: when it was hot enough, hydrogen nuclei fused into helium nuclei, releasing energy, and it became a main sequence star. Answer: A nebula of dust and gas was pulled together by gravity; it became denser and hotter, forming a protostar; when hot enough, hydrogen nuclei fused into helium nuclei and the Sun became a main sequence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star in balance. Say it in your own words, then check understanding with a quick question: ask a pupil from the pre-teach group first, since they met these words and ideas before the lesson. Pupils try to recall before you re-explain.
The Sun has been about the same size for billions of years. Two effects are acting on it. Gravity pulls all of its material inwards, trying to make it collapse. The energy released by fusion in the core heats the gas, which pushes outwards, trying to make it expand.
In a main sequence star these two effects are balanced. Scientists call this an equilibrium. While the star has hydrogen to fuse in its core, the balance holds and the star stays stable.
When the hydrogen in the core runs out, the balance changes, and the next part of the star's life begins. That is Chapter 2.
Tip: Use both halves of the balance: inward = gravity (gravitational collapse); outward = expansion due to fusion energy. One half on its own does not earn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the Sun was born.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the Sun in the correct order.
Support — work through the steps with the group: (1) Find the stage that has to come first: the raw material, before anything has happened to it. (2) Find the force that starts the change. (3) Ask: what does that force make? Then: what happens when it is hot enough? (4) The last stage is the one where the star is stable.
Parallel worked example for Support (model it, do not give the task answer): Put these stages of a human life in order: adult, baby, teenager, child. Start with the youngest stage: baby.; Next comes child, then teenager.; The last stage of these four is adult.. Answer: baby, child, teenager, adult.
Core — reveal the hint only on request: Gravity has to act before anything heats up, and fusion has to start before the star is stable.
Stretch — no help; when finished: Explain why the protostar gets hotter as gravity pulls it together, and why fusion cannot start until the core is very hot and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the Sun was born.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the Sun in the correct order.
Support — work through the steps with the group: (1) Find the stage that has to come first: the raw material, before anything has happened to it. (2) Find the force that starts the change. (3) Ask: what does that force make? Then: what happens when it is hot enough? (4) The last stage is the one where the star is stable.
Parallel worked example for Support (model it, do not give the task answer): Put these stages of a human life in order: adult, baby, teenager, child. Start with the youngest stage: baby.; Next comes child, then teenager.; The last stage of these four is adult.. Answer: baby, child, teenager, adult.
Core — reveal the hint only on request: Gravity has to act before anything heats up, and fusion has to start before the star is stable.
Stretch — no help; when finished: Explain why the protostar gets hotter as gravity pulls it together, and why fusion cannot start until the core is very hot and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Sun stays the same size.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does a main sequence star, such as the Sun, stay the same size?
Support — work through the steps with the group: (1) Think of two teams in a tug of war pulling equally hard: the rope does not move. (2) Name the force pulling the star inwards. (3) Name what is pushing the star outwards. (4) If they are equal, the star's size does not change.
Parallel worked example for Support (model it, do not give the task answer): A balloon is blown up and tied. Why does it stay the same size? The stretched rubber pulls inwards.; The air inside pushes outwards.; The two are balanced, so the size stays the same.. Answer: The inward pull of the rubber is balanced by the outward push of the air inside..
Core — reveal the hint only on request: One effect pulls in, one pushes out. Which option names both?
Stretch — no help; when finished: Predict what happens to this balance when the hydrogen in the core runs out, and say which stage of the star's life comes next for a star like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the Sun stays the same size.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Why does a main sequence star, such as the Sun, stay the same size?
Support — work through the steps with the group: (1) Think of two teams in a tug of war pulling equally hard: the rope does not move. (2) Name the force pulling the star inwards. (3) Name what is pushing the star outwards. (4) If they are equal, the star's size does not change.
Parallel worked example for Support (model it, do not give the task answer): A balloon is blown up and tied. Why does it stay the same size? The stretched rubber pulls inwards.; The air inside pushes outwards.; The two are balanced, so the size stays the same.. Answer: The inward pull of the rubber is balanced by the outward push of the air inside..
Core — reveal the hint only on request: One effect pulls in, one pushes out. Which option names both?
Stretch — no help; when finished: Predict what happens to this balance when the hydrogen in the core runs out, and say which stage of the star's life comes next for a star like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Match each object to what it is.
Answer: The Sun  →  E  The one star in our solar system; Earth  →  C  A rocky planet that orbits the Sun; Jupiter  →  B  A giant planet made mostly of gas; Pluto  →  D  A dwarf planet; The Moon  →  A  A natural satellite of the Earth. The Sun is our only star; Earth is one of the four rocky inner planets; Jupiter is a gas giant; Pluto is a dwarf planet; the Moon is a natural satellite.
Source of this question: module 3 task ("Who's who in the solar system")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the Sun was born. Reveal the answer; pupils mark their own work in a different colour, then read the "why" together. Same destination for every lane, so one answer serves the whole class.
Answer: A cloud of dust and gas (a nebula) drifts in space  (E); Gravity pulls the dust and gas together  (C); The cloud gets denser and hotter and forms a protostar  (D); Hydrogen nuclei start to fuse into helium nuclei  (B); The Sun becomes a stable main sequence star  (A)
Why: Nebula first; gravity pulls it together; it becomes a hot, dense protostar; fusion of hydrogen into helium starts; the star settles into the stable main sequence.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the Sun stays the same size. Reveal the answer; pupils mark their own work in a different colour, then read the "why" together. Same destination for every lane, so one answer serves the whole class.
Answer: A   The inward pull of gravity is balanced by the outward pressure from fusion energy
Why: In a main sequence star there is an equilibrium: gravitational collapse inwards is balanced by expansion outwards caused by the energy released by fusion.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The Sun  →  E  The one star in our solar system; Earth  →  C  A rocky planet that orbits the Sun; Jupiter  →  B  A giant planet made mostly of gas; Pluto  →  D  A dwarf planet; The Moon  →  A  A natural satellite of the Earth
Why: The Sun is our only star; Earth is one of the four rocky inner planets; Jupiter is a gas giant; Pluto is a dwarf planet; the Moon is a natural satellite.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Space Physics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Our solar system and how it formed</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P16.1 Formation of the Solar System</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Sun, the planets and the elements in your own body come to exist, and how do we know the universe is still growing?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stars are there in our solar system?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Millions</a:t>
            </a:r>
            <a:endParaRPr lang="en-US" sz="24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Sun formed from a cloud of dust and gas called a ___.</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nebula  ·  protostar  ·  galaxy</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force pulled the dust and gas together to form the Sun?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Gravity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Magnetism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Friction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Fusion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One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stars are there in our solar system?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There is one star, the Sun. The planets orbit it; they are not stars.</a:t>
            </a:r>
            <a:endParaRPr lang="en-US" sz="22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nebula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Sun formed from a cloud of dust and gas called a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nebula is the cloud. A protostar is what forms when gravity pulls the cloud together.</a:t>
            </a:r>
            <a:endParaRPr lang="en-US" sz="22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Gravity</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force pulled the dust and gas together to form the Sun?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Gravity attracts every piece of matter to every other piece, so it pulls the cloud together.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nebula</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cloud of dust and gas in space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Sun formed from a nebula that gravity slowly pulled together.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protostar</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young star that is getting hotter but has not started fusion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As the gas was squeezed together, it became a hot protostar.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nuclear fusion</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small nuclei joining to make a bigger nucleus, giving out energy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Nuclear fusion in the Sun's core joins hydrogen nuclei to make helium.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equilibrium</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balance between two things pulling opposite ways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Sun is in equilibrium, so it stays the same size.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dwarf planet</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round body that orbits the Sun but is not a full planet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Pluto is a dwarf planet at the edge of our solar system.</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natural satellite</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moon: an object that orbits a planet and was not made by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Moon is the Earth's only natural satellite.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Our solar system is the Sun and everything that orbits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is only one star in it: the Sun.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Eight planets orbit the Sun.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also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dwarf planets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such as Pluto.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moon is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natural satellite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that orbits a planet.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Our solar system is a tiny part of a galaxy called the Milky Way.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Sun formed from a huge cloud of dust and gas, called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nebula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Gravity pulled the dust and gas together.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cloud became denser and hotter, and formed a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protostar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time it was hot enough for hydrogen nuclei to fuse into helium.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Fusion gives out energy, and the Sun began to shine.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Gravity pulls the Sun inwards, and fusion energy pushes it outwards.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These two balance, so the Sun stays the same size.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What is in our solar system?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the exam, say the solar system has ONE star. The planets do not give out their own light; they reflect the Sun's.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Our solar system has one star, the Sun, at its centre.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also dwarf planets, such as Pluto, which orbit the Sun but are too small to count as full planets.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whole solar system is a very small part of the Milky Way, a galaxy of billions of stars.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From nebula to protostar to star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Sun began as part of a nebula, a huge cloud of dust and gas, mostly hydrogen.</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hot, dense ball is called a protostar. When its core became hot enough and dense enough, hydrogen nuclei were forced together so hard that they fused to make helium nuclei.</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fusion started, the Sun began to shine as a main sequence star.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Worked example: From nebula to protostar to star</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DEE1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how the Sun formed. (4 marks)</a:t>
            </a:r>
            <a:endParaRPr lang="en-US" sz="2000" dirty="0"/>
          </a:p>
        </p:txBody>
      </p:sp>
      <p:sp>
        <p:nvSpPr>
          <p:cNvPr id="9" name="step-box"/>
          <p:cNvSpPr/>
          <p:nvPr/>
        </p:nvSpPr>
        <p:spPr>
          <a:xfrm>
            <a:off x="548640" y="2192528"/>
            <a:ext cx="11094415" cy="519278"/>
          </a:xfrm>
          <a:prstGeom prst="roundRect">
            <a:avLst>
              <a:gd name="adj" fmla="val 14087"/>
            </a:avLst>
          </a:prstGeom>
          <a:solidFill>
            <a:srgbClr val="FFFFFF"/>
          </a:solidFill>
          <a:ln w="15875">
            <a:solidFill>
              <a:srgbClr val="8790AE"/>
            </a:solidFill>
            <a:prstDash val="solid"/>
          </a:ln>
        </p:spPr>
      </p:sp>
      <p:sp>
        <p:nvSpPr>
          <p:cNvPr id="10" name="step-hex"/>
          <p:cNvSpPr/>
          <p:nvPr/>
        </p:nvSpPr>
        <p:spPr>
          <a:xfrm>
            <a:off x="685800" y="2254199"/>
            <a:ext cx="457200" cy="395935"/>
          </a:xfrm>
          <a:prstGeom prst="hexagon">
            <a:avLst/>
          </a:prstGeom>
          <a:solidFill>
            <a:srgbClr val="24366B"/>
          </a:solidFill>
          <a:ln/>
        </p:spPr>
      </p:sp>
      <p:sp>
        <p:nvSpPr>
          <p:cNvPr id="11" name="step-hex-label"/>
          <p:cNvSpPr txBox="1"/>
          <p:nvPr/>
        </p:nvSpPr>
        <p:spPr>
          <a:xfrm>
            <a:off x="685800" y="225419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at the beginning: name the cloud. The Sun formed from a nebula, a cloud of dust and gas.</a:t>
            </a:r>
            <a:endParaRPr lang="en-US" sz="1800" dirty="0"/>
          </a:p>
        </p:txBody>
      </p:sp>
      <p:sp>
        <p:nvSpPr>
          <p:cNvPr id="13" name="step-box"/>
          <p:cNvSpPr/>
          <p:nvPr/>
        </p:nvSpPr>
        <p:spPr>
          <a:xfrm>
            <a:off x="548640" y="2784958"/>
            <a:ext cx="11094415" cy="519278"/>
          </a:xfrm>
          <a:prstGeom prst="roundRect">
            <a:avLst>
              <a:gd name="adj" fmla="val 14087"/>
            </a:avLst>
          </a:prstGeom>
          <a:solidFill>
            <a:srgbClr val="FFFFFF"/>
          </a:solidFill>
          <a:ln w="15875">
            <a:solidFill>
              <a:srgbClr val="8790AE"/>
            </a:solidFill>
            <a:prstDash val="solid"/>
          </a:ln>
        </p:spPr>
      </p:sp>
      <p:sp>
        <p:nvSpPr>
          <p:cNvPr id="14" name="step-hex"/>
          <p:cNvSpPr/>
          <p:nvPr/>
        </p:nvSpPr>
        <p:spPr>
          <a:xfrm>
            <a:off x="685800" y="2846629"/>
            <a:ext cx="457200" cy="395935"/>
          </a:xfrm>
          <a:prstGeom prst="hexagon">
            <a:avLst/>
          </a:prstGeom>
          <a:solidFill>
            <a:srgbClr val="24366B"/>
          </a:solidFill>
          <a:ln/>
        </p:spPr>
      </p:sp>
      <p:sp>
        <p:nvSpPr>
          <p:cNvPr id="15" name="step-hex-label"/>
          <p:cNvSpPr txBox="1"/>
          <p:nvPr/>
        </p:nvSpPr>
        <p:spPr>
          <a:xfrm>
            <a:off x="685800" y="284662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495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force: gravity pulled the dust and gas together.</a:t>
            </a:r>
            <a:endParaRPr lang="en-US" sz="1800" dirty="0"/>
          </a:p>
        </p:txBody>
      </p:sp>
      <p:sp>
        <p:nvSpPr>
          <p:cNvPr id="17" name="step-box"/>
          <p:cNvSpPr/>
          <p:nvPr/>
        </p:nvSpPr>
        <p:spPr>
          <a:xfrm>
            <a:off x="548640" y="3377387"/>
            <a:ext cx="11094415" cy="519278"/>
          </a:xfrm>
          <a:prstGeom prst="roundRect">
            <a:avLst>
              <a:gd name="adj" fmla="val 14087"/>
            </a:avLst>
          </a:prstGeom>
          <a:solidFill>
            <a:srgbClr val="FFFFFF"/>
          </a:solidFill>
          <a:ln w="15875">
            <a:solidFill>
              <a:srgbClr val="8790AE"/>
            </a:solidFill>
            <a:prstDash val="solid"/>
          </a:ln>
        </p:spPr>
      </p:sp>
      <p:sp>
        <p:nvSpPr>
          <p:cNvPr id="18" name="step-hex"/>
          <p:cNvSpPr/>
          <p:nvPr/>
        </p:nvSpPr>
        <p:spPr>
          <a:xfrm>
            <a:off x="685800" y="3439058"/>
            <a:ext cx="457200" cy="395935"/>
          </a:xfrm>
          <a:prstGeom prst="hexagon">
            <a:avLst/>
          </a:prstGeom>
          <a:solidFill>
            <a:srgbClr val="24366B"/>
          </a:solidFill>
          <a:ln/>
        </p:spPr>
      </p:sp>
      <p:sp>
        <p:nvSpPr>
          <p:cNvPr id="19" name="step-hex-label"/>
          <p:cNvSpPr txBox="1"/>
          <p:nvPr/>
        </p:nvSpPr>
        <p:spPr>
          <a:xfrm>
            <a:off x="685800" y="343905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37738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happened to it: it became denser and hotter and formed a protostar.</a:t>
            </a:r>
            <a:endParaRPr lang="en-US" sz="1800" dirty="0"/>
          </a:p>
        </p:txBody>
      </p:sp>
      <p:sp>
        <p:nvSpPr>
          <p:cNvPr id="21" name="step-box"/>
          <p:cNvSpPr/>
          <p:nvPr/>
        </p:nvSpPr>
        <p:spPr>
          <a:xfrm>
            <a:off x="548640" y="3969817"/>
            <a:ext cx="11094415" cy="783438"/>
          </a:xfrm>
          <a:prstGeom prst="roundRect">
            <a:avLst>
              <a:gd name="adj" fmla="val 9337"/>
            </a:avLst>
          </a:prstGeom>
          <a:solidFill>
            <a:srgbClr val="FFFFFF"/>
          </a:solidFill>
          <a:ln w="15875">
            <a:solidFill>
              <a:srgbClr val="8790AE"/>
            </a:solidFill>
            <a:prstDash val="solid"/>
          </a:ln>
        </p:spPr>
      </p:sp>
      <p:sp>
        <p:nvSpPr>
          <p:cNvPr id="22" name="step-hex"/>
          <p:cNvSpPr/>
          <p:nvPr/>
        </p:nvSpPr>
        <p:spPr>
          <a:xfrm>
            <a:off x="685800" y="4163568"/>
            <a:ext cx="457200" cy="395935"/>
          </a:xfrm>
          <a:prstGeom prst="hexagon">
            <a:avLst/>
          </a:prstGeom>
          <a:solidFill>
            <a:srgbClr val="24366B"/>
          </a:solidFill>
          <a:ln/>
        </p:spPr>
      </p:sp>
      <p:sp>
        <p:nvSpPr>
          <p:cNvPr id="23" name="step-hex-label"/>
          <p:cNvSpPr txBox="1"/>
          <p:nvPr/>
        </p:nvSpPr>
        <p:spPr>
          <a:xfrm>
            <a:off x="685800" y="416356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969817"/>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fusion: when it was hot enough, hydrogen nuclei fused into helium nuclei, releasing energy, and it became a main sequence star.</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 nebula of dust and gas was pulled together by gravity; it became denser and hotter, forming a protostar; when hot enough, hydrogen nuclei fused into helium nuclei and the Sun became a main sequence star.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 star in balance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 both halves of the balance: inward = gravity (gravitational collapse); outward = expansion due to fusion energy. One half on its own does not earn the mark.</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Sun has been about the same size for billions of years.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 main sequence star these two effects are balanced.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the hydrogen in the core runs out, the balance changes, and the next part of the star's life begins.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How the Sun was born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in the formation of the Sun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Sun becomes a stable main sequence 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Hydrogen nuclei start to fuse into helium nuclei</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Gravity pulls the dust and gas together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cloud gets denser and hotter and forms a protostar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cloud of dust and gas (a nebula) drifts in space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How the Sun was born</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in the formation of the Sun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DEE1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stage that has to come first: the raw material, before anything has happened to it.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force that starts the change.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does that force make? Then: what happens when it is hot enough?</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stage is the one where the star is stable.</a:t>
            </a:r>
            <a:endParaRPr lang="en-US" sz="1800" dirty="0"/>
          </a:p>
        </p:txBody>
      </p:sp>
      <p:sp>
        <p:nvSpPr>
          <p:cNvPr id="17" name="col-Core"/>
          <p:cNvSpPr/>
          <p:nvPr/>
        </p:nvSpPr>
        <p:spPr>
          <a:xfrm>
            <a:off x="5490762" y="2578608"/>
            <a:ext cx="2938987" cy="3566160"/>
          </a:xfrm>
          <a:prstGeom prst="roundRect">
            <a:avLst>
              <a:gd name="adj" fmla="val 1867"/>
            </a:avLst>
          </a:prstGeom>
          <a:solidFill>
            <a:srgbClr val="C4C9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Gravity has to act before anything heats up, and fusion has to start before the star is stable.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protostar gets hotter as gravity pulls it together, and why fusion cannot start until the core is very hot and dense.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Why the Sun stays the same size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Why does a main sequence star, such as the Sun, stay the same size?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inward pull of gravity is balanced by the outward pressure from fusion energy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Fusion has stopped, so nothing inside the star is changing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Gravity does not act inside a star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star has used up all of its hydrogen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Why the Sun stays the same size</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Why does a main sequence star, such as the Sun, stay the same size?</a:t>
            </a:r>
            <a:endParaRPr lang="en-US" sz="2000" dirty="0"/>
          </a:p>
        </p:txBody>
      </p:sp>
      <p:sp>
        <p:nvSpPr>
          <p:cNvPr id="12" name="col-Support"/>
          <p:cNvSpPr/>
          <p:nvPr/>
        </p:nvSpPr>
        <p:spPr>
          <a:xfrm>
            <a:off x="548640" y="2578608"/>
            <a:ext cx="4667802" cy="3566160"/>
          </a:xfrm>
          <a:prstGeom prst="roundRect">
            <a:avLst>
              <a:gd name="adj" fmla="val 1538"/>
            </a:avLst>
          </a:prstGeom>
          <a:solidFill>
            <a:srgbClr val="DEE1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Think of two teams in a tug of war pulling equally hard: the rope does not move.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Name the force pulling the star inwards.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Name what is pushing the star outwards.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they are equal, the star's size does not change.</a:t>
            </a:r>
            <a:endParaRPr lang="en-US" sz="1800" dirty="0"/>
          </a:p>
        </p:txBody>
      </p:sp>
      <p:sp>
        <p:nvSpPr>
          <p:cNvPr id="17" name="col-Core"/>
          <p:cNvSpPr/>
          <p:nvPr/>
        </p:nvSpPr>
        <p:spPr>
          <a:xfrm>
            <a:off x="5490762" y="2578608"/>
            <a:ext cx="2938987" cy="3566160"/>
          </a:xfrm>
          <a:prstGeom prst="roundRect">
            <a:avLst>
              <a:gd name="adj" fmla="val 1867"/>
            </a:avLst>
          </a:prstGeom>
          <a:solidFill>
            <a:srgbClr val="C4C9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effect pulls in, one pushes out. Which option names both?</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24366B"/>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Predict what happens to this balance when the hydrogen in the core runs out, and say which stage of the star's life comes next for a star like the Sun.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603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Match each object to what it 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Sun</a:t>
            </a:r>
            <a:pPr algn="l" indent="0" marL="0">
              <a:spcAft>
                <a:spcPts val="600"/>
              </a:spcAft>
              <a:buNone/>
            </a:pPr>
            <a:r>
              <a:rPr lang="en-US" sz="2200" dirty="0">
                <a:solidFill>
                  <a:srgbClr val="B8862B"/>
                </a:solidFill>
                <a:latin typeface="Calibri" pitchFamily="34" charset="0"/>
                <a:ea typeface="Calibri" pitchFamily="34" charset="-122"/>
                <a:cs typeface="Calibri" pitchFamily="34" charset="-120"/>
              </a:rPr>
              <a:t>      ⟷      </a:t>
            </a:r>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natural satellite of the Earth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Earth</a:t>
            </a:r>
            <a:pPr algn="l" indent="0" marL="0">
              <a:spcAft>
                <a:spcPts val="600"/>
              </a:spcAft>
              <a:buNone/>
            </a:pPr>
            <a:r>
              <a:rPr lang="en-US" sz="2200" dirty="0">
                <a:solidFill>
                  <a:srgbClr val="B8862B"/>
                </a:solidFill>
                <a:latin typeface="Calibri" pitchFamily="34" charset="0"/>
                <a:ea typeface="Calibri" pitchFamily="34" charset="-122"/>
                <a:cs typeface="Calibri" pitchFamily="34" charset="-120"/>
              </a:rPr>
              <a:t>      ⟷      </a:t>
            </a:r>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giant planet made mostly of gas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Jupiter</a:t>
            </a:r>
            <a:pPr algn="l" indent="0" marL="0">
              <a:spcAft>
                <a:spcPts val="600"/>
              </a:spcAft>
              <a:buNone/>
            </a:pPr>
            <a:r>
              <a:rPr lang="en-US" sz="2200" dirty="0">
                <a:solidFill>
                  <a:srgbClr val="B8862B"/>
                </a:solidFill>
                <a:latin typeface="Calibri" pitchFamily="34" charset="0"/>
                <a:ea typeface="Calibri" pitchFamily="34" charset="-122"/>
                <a:cs typeface="Calibri" pitchFamily="34" charset="-120"/>
              </a:rPr>
              <a:t>      ⟷      </a:t>
            </a:r>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rocky planet that orbits the Sun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Pluto</a:t>
            </a:r>
            <a:pPr algn="l" indent="0" marL="0">
              <a:spcAft>
                <a:spcPts val="600"/>
              </a:spcAft>
              <a:buNone/>
            </a:pPr>
            <a:r>
              <a:rPr lang="en-US" sz="2200" dirty="0">
                <a:solidFill>
                  <a:srgbClr val="B8862B"/>
                </a:solidFill>
                <a:latin typeface="Calibri" pitchFamily="34" charset="0"/>
                <a:ea typeface="Calibri" pitchFamily="34" charset="-122"/>
                <a:cs typeface="Calibri" pitchFamily="34" charset="-120"/>
              </a:rPr>
              <a:t>      ⟷      </a:t>
            </a:r>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dwarf planet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Moon</a:t>
            </a:r>
            <a:pPr algn="l" indent="0" marL="0">
              <a:spcAft>
                <a:spcPts val="600"/>
              </a:spcAft>
              <a:buNone/>
            </a:pPr>
            <a:r>
              <a:rPr lang="en-US" sz="2200" dirty="0">
                <a:solidFill>
                  <a:srgbClr val="B8862B"/>
                </a:solidFill>
                <a:latin typeface="Calibri" pitchFamily="34" charset="0"/>
                <a:ea typeface="Calibri" pitchFamily="34" charset="-122"/>
                <a:cs typeface="Calibri" pitchFamily="34" charset="-120"/>
              </a:rPr>
              <a:t>      ⟷      </a:t>
            </a:r>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one star in our solar system</a:t>
            </a:r>
            <a:endParaRPr lang="en-US" sz="2400" dirty="0"/>
          </a:p>
        </p:txBody>
      </p:sp>
      <p:sp>
        <p:nvSpPr>
          <p:cNvPr id="11" name="exit-answer-box"/>
          <p:cNvSpPr/>
          <p:nvPr/>
        </p:nvSpPr>
        <p:spPr>
          <a:xfrm>
            <a:off x="2286000" y="5184648"/>
            <a:ext cx="7619695" cy="685800"/>
          </a:xfrm>
          <a:prstGeom prst="roundRect">
            <a:avLst>
              <a:gd name="adj" fmla="val 13333"/>
            </a:avLst>
          </a:prstGeom>
          <a:solidFill>
            <a:srgbClr val="E5E7ED"/>
          </a:solidFill>
          <a:ln w="12700">
            <a:solidFill>
              <a:srgbClr val="8790AE"/>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How the Sun was born</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 cloud of dust and gas (a nebula) drifts in space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Gravity pulls the dust and gas together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cloud gets denser and hotter and forms a protostar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Hydrogen nuclei start to fuse into helium nuclei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Sun becomes a stable main sequence star  (A)</a:t>
            </a:r>
            <a:endParaRPr lang="en-US" sz="22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Nebula first; gravity pulls it together; it becomes a hot, dense protostar; fusion of hydrogen into helium starts; the star settles into the stable main sequence.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Why the Sun stays the same size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does a main sequence star, such as the Sun, stay the same size?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inward pull of gravity is balanced by the outward pressure from fusion energy</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 main sequence star there is an equilibrium: gravitational collapse inwards is balanced by expansion outwards caused by the energy released by fusion.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Sun  →  E  The one star in our solar system</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Earth  →  C  A rocky planet that orbits the Sun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Jupiter  →  B  A giant planet made mostly of gas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Pluto  →  D  A dwarf planet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Moon  →  A  A natural satellite of the Earth</a:t>
            </a:r>
            <a:endParaRPr lang="en-US" sz="22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Sun is our only star; Earth is one of the four rocky inner planets; Jupiter is a gas giant; Pluto is a dwarf planet; the Moon is a natural satellite.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Physics · Chapter 1: Our solar system and how it formed</dc:title>
  <dc:subject>Physics (Triple Science) · Year 11</dc:subject>
  <dc:creator>Dr Vitor Merissi de Carvalho</dc:creator>
  <cp:lastModifiedBy>Dr Vitor Merissi de Carvalho</cp:lastModifiedBy>
  <cp:revision>1</cp:revision>
  <dcterms:created xsi:type="dcterms:W3CDTF">2026-10-16T23:02:15Z</dcterms:created>
  <dcterms:modified xsi:type="dcterms:W3CDTF">2026-10-16T23:02:15Z</dcterms:modified>
</cp:coreProperties>
</file>