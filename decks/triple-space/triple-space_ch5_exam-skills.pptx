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0c8f95-0839-8b08-291c-2073abadc55c}">
          <p14:sldIdLst>
            <p14:sldId id="256"/>
          </p14:sldIdLst>
        </p14:section>
        <p14:section name="Gate" id="{61b4b92a-7b0d-6664-865f-df126b2eb515}">
          <p14:sldIdLst>
            <p14:sldId id="257"/>
            <p14:sldId id="258"/>
          </p14:sldIdLst>
        </p14:section>
        <p14:section name="Pre-teach" id="{5f7b56b3-4b8c-6d2e-a078-a8b0631c7965}">
          <p14:sldIdLst>
            <p14:sldId id="259"/>
          </p14:sldIdLst>
        </p14:section>
        <p14:section name="Read-along" id="{c5b0c007-7841-0e53-0526-6f3f5de901fb}">
          <p14:sldIdLst>
            <p14:sldId id="260"/>
          </p14:sldIdLst>
        </p14:section>
        <p14:section name="Teach" id="{2829c5c3-cad7-8f32-94de-047343b7e2a1}">
          <p14:sldIdLst>
            <p14:sldId id="261"/>
            <p14:sldId id="262"/>
            <p14:sldId id="263"/>
            <p14:sldId id="264"/>
          </p14:sldIdLst>
        </p14:section>
        <p14:section name="Routes" id="{d4779566-8814-ccdc-9150-9a4b91289884}">
          <p14:sldIdLst>
            <p14:sldId id="265"/>
            <p14:sldId id="266"/>
            <p14:sldId id="267"/>
            <p14:sldId id="268"/>
          </p14:sldIdLst>
        </p14:section>
        <p14:section name="Close" id="{3bfde6ae-a6cc-b5a1-5949-f60229f71e9c}">
          <p14:sldIdLst>
            <p14:sldId id="269"/>
          </p14:sldIdLst>
        </p14:section>
        <p14:section name="Answers" id="{98729c79-18c1-bbcc-e311-555055228d61}">
          <p14:sldIdLst>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5: Exam skills: the 6-mark answer. How to read the command word, plan in key words and write a linked 6-mark answer on any part of Space Physics.
This deck covers the department's lessons: 1 (P16.1 Formation of the Solar System: How did our solar system form from dust and gas, and why does the Sun stay stable?); 2 (P16.2 The life history of a star: How does a star's mass decide its life cycle, and how do stars make new elements?); 3 (P16.3 Planets, satellites, and orbits: How does gravity keep planets, moons and artificial satellites in orbit?); 4 (P16.4 The expanding universe: What does the red-shift of light from distant galaxies tell us about how they are moving?); 5 (P16.5 The beginning and future of the Universe: How does red-shift support the Big Bang theory, and what about the universe is still not understood?).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command word asks you to give reasons for something?  →  A   Explain
2. In a 'compare' question you must say what is the same and what is ___.  →  different
3. How are 6-mark answers marked?  →  A   On the quality of the whole answer, using levels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Explain. 'Explain' wants reasons, linked with words such as because and so. 'Describe' wants what happens, without reasons.
2. different. Comparing means giving similarities and differences side by side.
3. A   On the quality of the whole answer, using levels. They are marked by levels of response: the examiner judges the whole answer for detail, accuracy and logic.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command word: the word in a question that tells you what to do. Example: "The command word 'explain' means you must give reasons."
• describe: say what happens, in order, without reasons. Example: "Describe the life cycle of the Sun, stage by stage."
• explain: give reasons, using linking words like because and so. Example: "Explain why the Sun stays the same size."
• compare: say what is the same and what is different. Example: "Compare the life cycles of two stars of different mass."
• levels of response: marking the whole answer for its quality, not counting single facts. Example: "A 6-mark answer is marked using levels of response."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Some exam questions are worth 6 marks.
2. They test whether you can write a clear, linked answer.
3. First, read the command word carefully.
4. Describe means say what happens, in order.
5. Explain means give reasons, using words like because and so.
6. Compare means say what is the same and what is different.
7. Next, plan your answer in three or four quick points.
8. Use the key words from this unit, spelled correctly.
9. Write in full sentences and keep the steps in order.
10. Examiners mark the whole answer, not just single facts.
11. A top answer is detailed, accurate and logical.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 the command word. Say it in your own words, then check understanding with a quick question: ask a pupil from the pre-teach group first, since they met these words and ideas before the lesson. Pupils try to recall before you re-explain.
The command word tells you what kind of answer to write. 'Describe' wants the stages or features, in a sensible order. 'Explain' wants reasons: each point should be linked to the next with words such as because, so, which means and therefore.
'Compare' wants similarities and differences, and the best answers put them side by side: 'Both stars…', 'However, a massive star…'. Writing two separate descriptions is not the same as comparing.
Underline the command word and the topic before you write anything. Many lost marks come from answering a different question from the one that was asked.
Tip: For 'compare', use 'both' for similarities and 'whereas' or 'however' for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 before you write. Say it in your own words, then check understanding with a quick question: ask a pupil from the pre-teach group first, since they met these words and ideas before the lesson. Pupils try to recall before you re-explain.
Spend a minute on a plan. Write the key stages or ideas as single words down the margin, in order. This stops you missing a stage, and it keeps your answer logical.
Then turn each plan word into a full sentence using the key words from the unit: nebula, protostar, fusion, red supergiant, red-shift, wavelength. Using the right word in the right place is what makes an answer accurate.
Worked example — model it step by step, thinking aloud: Plan an answer to: 'Describe how the Sun formed and explain why it now stays the same size.' (6 marks) (1) Command words: describe (stages, in order) and explain (reasons). (2) Plan, describe: nebula → gravity → denser and hotter → protostar → fusion of hydrogen into helium → main sequence star. (3) Plan, explain: gravity pulls inwards; fusion energy causes outward expansion; they are balanced (equilibrium). (4) Write it up in full sentences, in this order, linking the explanation with 'because' and 'so'. Answer: A plan of six linked points: nebula, gravity, protostar, fusion, main sequence, balance between gravity and fusion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 before you write. Say it in your own words, then check understanding with a quick question: ask a pupil from the pre-teach group first, since they met these words and ideas before the lesson. Pupils try to recall before you re-explain.
Spend a minute on a plan. Write the key stages or ideas as single words down the margin, in order. This stops you missing a stage, and it keeps your answer logical.
Then turn each plan word into a full sentence using the key words from the unit: nebula, protostar, fusion, red supergiant, red-shift, wavelength. Using the right word in the right place is what makes an answer accurate.
Worked example — model it step by step, thinking aloud: Plan an answer to: 'Describe how the Sun formed and explain why it now stays the same size.' (6 marks) (1) Command words: describe (stages, in order) and explain (reasons). (2) Plan, describe: nebula → gravity → denser and hotter → protostar → fusion of hydrogen into helium → main sequence star. (3) Plan, explain: gravity pulls inwards; fusion energy causes outward expansion; they are balanced (equilibrium). (4) Write it up in full sentences, in this order, linking the explanation with 'because' and 'so'. Answer: A plan of six linked points: nebula, gravity, protostar, fusion, main sequence, balance between gravity and fusion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Check against the mark scheme. Say it in your own words, then check understanding with a quick question: ask a pupil from the pre-teach group first, since they met these words and ideas before the lesson. Pupils try to recall before you re-explain.
Six-mark answers are marked using levels of response. The examiner reads the whole answer and decides its level. A top-level answer is detailed and accurate, uses the correct key words and is set out in a clear, logical order.
When you have finished, check your answer against the criteria: Have I answered the command word? Have I covered every stage? Are my facts correct? Have I linked my ideas? A long answer with mistakes in it can score less than a shorter, accurate one.
Tip: Re-read your first and last sentences: the first should go straight to the question, and the last should finish the sequence or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Compare two life cycles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Compare the life cycle of a star about the same mass as the Sun with the life cycle of a star much more massive than the Sun. (6 marks)
Support — work through the steps with the group: (1) Write 'Both' and list the stages the two stars share: nebula, protostar, main sequence. (2) Write 'After the main sequence, their paths are different.' (3) Give the three stages for the Sun-sized star in order. (4) Start the next sentence with 'However, a massive star…' and give its three stages.
Parallel worked example for Support (model it, do not give the task answer): Compare natural and artificial satellites. (4 marks) Similarity: both orbit a larger body, and both are kept in orbit by gravity.; Difference: a natural satellite, such as the Moon, was not made by people, whereas an artificial satellite is built and launched by people.; Difference: artificial satellites do jobs for us, such as communications and weather forecasting.. Answer: Both orbit a larger body and are kept in orbit by gravity, whereas natural satellites such as the Moon are not made by people and artificial satellites are built and launched by people to do jobs such as communications..
Core — reveal the hint only on request: The two life cycles share their first three stages and split after the main sequence.
Stretch — no help; when finished: Add one sentence explaining why only the massive star can produce elements heavier than iron, and what happens to those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Compare two life cycles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Compare the life cycle of a star about the same mass as the Sun with the life cycle of a star much more massive than the Sun. (6 marks)
Support — work through the steps with the group: (1) Write 'Both' and list the stages the two stars share: nebula, protostar, main sequence. (2) Write 'After the main sequence, their paths are different.' (3) Give the three stages for the Sun-sized star in order. (4) Start the next sentence with 'However, a massive star…' and give its three stages.
Parallel worked example for Support (model it, do not give the task answer): Compare natural and artificial satellites. (4 marks) Similarity: both orbit a larger body, and both are kept in orbit by gravity.; Difference: a natural satellite, such as the Moon, was not made by people, whereas an artificial satellite is built and launched by people.; Difference: artificial satellites do jobs for us, such as communications and weather forecasting.. Answer: Both orbit a larger body and are kept in orbit by gravity, whereas natural satellites such as the Moon are not made by people and artificial satellites are built and launched by people to do jobs such as communications..
Core — reveal the hint only on request: The two life cycles share their first three stages and split after the main sequence.
Stretch — no help; when finished: Add one sentence explaining why only the massive star can produce elements heavier than iron, and what happens to those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Red-shift and the Big Bang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red-shift provides evidence for the Big Bang theory. (6 marks)
Support — work through the steps with the group: (1) Say what red-shift is: an increase in wavelength. (2) Say what it shows about one galaxy: it is moving away. (3) Say what the pattern with distance shows: further means faster, so space is expanding. (4) Finish with 'so in the past…' and link to the Big Bang.
Parallel worked example for Support (model it, do not give the task answer): Explain why a main sequence star stays the same size. (4 marks) Gravity pulls the material of the star inwards.; Fusion in the core releases energy, which causes the star to expand outwards.; In a main sequence star these are balanced (in equilibrium).; So the star does not collapse or expand, and its size stays the same.. Answer: Gravity pulls the star inwards while energy from fusion causes it to expand outwards; these are balanced in a main sequence star, so its size stays the same..
Core — reveal the hint only on request: Build a chain: wavelength → moving away → further means faster → expanding → smaller and denser in the past.
Stretch — no help; when finished: Add what has been observed since 1998, and explain why scientists say there is still much about the universe that is not understood.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Red-shift and the Big Bang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red-shift provides evidence for the Big Bang theory. (6 marks)
Support — work through the steps with the group: (1) Say what red-shift is: an increase in wavelength. (2) Say what it shows about one galaxy: it is moving away. (3) Say what the pattern with distance shows: further means faster, so space is expanding. (4) Finish with 'so in the past…' and link to the Big Bang.
Parallel worked example for Support (model it, do not give the task answer): Explain why a main sequence star stays the same size. (4 marks) Gravity pulls the material of the star inwards.; Fusion in the core releases energy, which causes the star to expand outwards.; In a main sequence star these are balanced (in equilibrium).; So the star does not collapse or expand, and its size stays the same.. Answer: Gravity pulls the star inwards while energy from fusion causes it to expand outwards; these are balanced in a main sequence star, so its size stays the same..
Core — reveal the hint only on request: Build a chain: wavelength → moving away → further means faster → expanding → smaller and denser in the past.
Stretch — no help; when finished: Add what has been observed since 1998, and explain why scientists say there is still much about the universe that is not understood.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command word asks you to give reasons for something?
Answer: D   Explain. 'Explain' wants reasons, linked with words such as because and so. 'Describe' wants what happens, without reasons.
Source of this question: gate item 1 re-asked (options rotated) — this chapter has no third quick-check module.
The ebook also holds task 3, "Staying in orbit (6 marks, Higher)",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Compare two life cycles (6 marks). Reveal the answer; pupils mark their own work in a different colour, then read the "why" together. Same destination for every lane, so one answer serves the whole class.
Answer: States that both stars form from a nebula pulled together by gravity into a protostar; States that both become main sequence stars, fusing hydrogen into helium; Sun-sized star: red giant, then white dwarf, then black dwarf; Massive star: red supergiant, then supernova, then neutron star or black hole; Uses comparison words (both, whereas, however) to set the stages side by side; Stages are in the correct order and the key words are used accurately
Why: A top answer gives the shared start, both separate endings in the correct order, and uses comparison words so the two paths are set side by side.
Model answer: Both stars begin in the same way. A nebula of dust and gas is pulled together by gravity to form a protostar. When it is hot and dense enough, hydrogen nuclei fuse into helium nuclei and both become main sequence stars. After the main sequence, their paths are different. When a star about the mass of the Sun runs out of hydrogen in its core, it swells into a red giant, then becomes a white dwarf, which slowly cools into a black dwarf. However, a much more massive star swells into a red supergiant. It then collapses and explodes as a supernova, leaving a neutron star or, if enough mass remains, a black hole.
Success criteria: States that both stars form from a nebula pulled together by gravity into a protostar; States that both become main sequence stars, fusing hydrogen into helium; Sun-sized star: red giant, then white dwarf, then black dwarf; Massive star: red supergiant, then supernova, then neutron star or black hole; Uses comparison words (both, whereas, however) to set the stages side by side; Stages are in the correct order and the key words are used accurately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Compare two life cycles (6 marks). Reveal the answer; pupils mark their own work in a different colour, then read the "why" together. Same destination for every lane, so one answer serves the whole class.
Answer: States that both stars form from a nebula pulled together by gravity into a protostar; States that both become main sequence stars, fusing hydrogen into helium; Sun-sized star: red giant, then white dwarf, then black dwarf; Massive star: red supergiant, then supernova, then neutron star or black hole; Uses comparison words (both, whereas, however) to set the stages side by side; Stages are in the correct order and the key words are used accurately
Why: A top answer gives the shared start, both separate endings in the correct order, and uses comparison words so the two paths are set side by side.
Model answer: Both stars begin in the same way. A nebula of dust and gas is pulled together by gravity to form a protostar. When it is hot and dense enough, hydrogen nuclei fuse into helium nuclei and both become main sequence stars. After the main sequence, their paths are different. When a star about the mass of the Sun runs out of hydrogen in its core, it swells into a red giant, then becomes a white dwarf, which slowly cools into a black dwarf. However, a much more massive star swells into a red supergiant. It then collapses and explodes as a supernova, leaving a neutron star or, if enough mass remains, a black hole.
Success criteria: States that both stars form from a nebula pulled together by gravity into a protostar; States that both become main sequence stars, fusing hydrogen into helium; Sun-sized star: red giant, then white dwarf, then black dwarf; Massive star: red supergiant, then supernova, then neutron star or black hole; Uses comparison words (both, whereas, however) to set the stages side by side; Stages are in the correct order and the key words are used accurately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Red-shift and the Big Bang (6 marks). Reveal the answer; pupils mark their own work in a different colour, then read the "why" together. Same destination for every lane, so one answer serves the whole class.
Answer: Red-shift is an observed increase in the wavelength of light from distant galaxies; Red-shift shows the galaxies are moving away from us; The further away a galaxy is, the bigger its red-shift, so the faster it is moving away; This shows that space itself (the universe) is expanding; If the universe is expanding, it must have been smaller in the past; Links this to the Big Bang: the universe began from a very small region that was extremely hot and dense
Why: The marks come from the chain of reasoning: increased wavelength, galaxies receding, speed increasing with distance, an expanding universe, and so a very small, hot, dense beginning.
Model answer: Light from distant galaxies is red-shifted. This means the wavelength of the light we observe has increased, so the dark lines in its spectrum are shifted towards the red end. This shows that the galaxies are moving away from us. The further away a galaxy is, the bigger its red-shift, so the more distant galaxies are moving away faster. This pattern shows that space itself is expanding. If the universe is expanding now, then in the past everything was closer together. Tracing the expansion backwards suggests that the universe began from a very small region that was extremely hot and dense, which is what the Big Bang theory states.
Success criteria: Red-shift is an observed increase in the wavelength of light from distant galaxies; Red-shift shows the galaxies are moving away from us; The further away a galaxy is, the bigger its red-shift, so the faster it is moving away; This shows that space itself (the universe) is expanding; If the universe is expanding, it must have been smaller in the past; Links this to the Big Bang: the universe began from a very small region that was extremely hot and dense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Red-shift and the Big Bang (6 marks). Reveal the answer; pupils mark their own work in a different colour, then read the "why" together. Same destination for every lane, so one answer serves the whole class.
Answer: Red-shift is an observed increase in the wavelength of light from distant galaxies; Red-shift shows the galaxies are moving away from us; The further away a galaxy is, the bigger its red-shift, so the faster it is moving away; This shows that space itself (the universe) is expanding; If the universe is expanding, it must have been smaller in the past; Links this to the Big Bang: the universe began from a very small region that was extremely hot and dense
Why: The marks come from the chain of reasoning: increased wavelength, galaxies receding, speed increasing with distance, an expanding universe, and so a very small, hot, dense beginning.
Model answer: Light from distant galaxies is red-shifted. This means the wavelength of the light we observe has increased, so the dark lines in its spectrum are shifted towards the red end. This shows that the galaxies are moving away from us. The further away a galaxy is, the bigger its red-shift, so the more distant galaxies are moving away faster. This pattern shows that space itself is expanding. If the universe is expanding now, then in the past everything was closer together. Tracing the expansion backwards suggests that the universe began from a very small region that was extremely hot and dense, which is what the Big Bang theory states.
Success criteria: Red-shift is an observed increase in the wavelength of light from distant galaxies; Red-shift shows the galaxies are moving away from us; The further away a galaxy is, the bigger its red-shift, so the faster it is moving away; This shows that space itself (the universe) is expanding; If the universe is expanding, it must have been smaller in the past; Links this to the Big Bang: the universe began from a very small region that was extremely hot and dense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Explain
Why: 'Explain' wants reasons, linked with words such as because and so. 'Describe' wants what happens, without reasons.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1790192"/>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Exam skills: the 6-mark answer</a:t>
            </a:r>
            <a:endParaRPr lang="en-US" sz="4000" dirty="0"/>
          </a:p>
        </p:txBody>
      </p:sp>
      <p:sp>
        <p:nvSpPr>
          <p:cNvPr id="11" name="lessons-card"/>
          <p:cNvSpPr/>
          <p:nvPr/>
        </p:nvSpPr>
        <p:spPr>
          <a:xfrm>
            <a:off x="548640" y="3466592"/>
            <a:ext cx="5287975" cy="2186432"/>
          </a:xfrm>
          <a:prstGeom prst="roundRect">
            <a:avLst>
              <a:gd name="adj" fmla="val 3346"/>
            </a:avLst>
          </a:prstGeom>
          <a:solidFill>
            <a:srgbClr val="DEE1E9"/>
          </a:solidFill>
          <a:ln/>
        </p:spPr>
      </p:sp>
      <p:sp>
        <p:nvSpPr>
          <p:cNvPr id="12" name="lessons"/>
          <p:cNvSpPr txBox="1"/>
          <p:nvPr/>
        </p:nvSpPr>
        <p:spPr>
          <a:xfrm>
            <a:off x="685800" y="3558032"/>
            <a:ext cx="5013655" cy="2003552"/>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P16.1 Formation of the Solar System</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P16.2 The life history of a star</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P16.3 Planets, satellites, and orbits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P16.4 The expanding universe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P16.5 The beginning and future of the Universe</a:t>
            </a:r>
            <a:endParaRPr lang="en-US" sz="18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command word asks you to give reasons for something?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Explain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Describe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Name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State</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'compare' question you must say what is the same and what is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different  ·  correct  ·  longest</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How are 6-mark answers marked?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 the quality of the whole answer, using levels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One mark for each key word, however it is used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Only on spelling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Only on the final sentence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Explain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command word asks you to give reasons for something?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'Explain' wants reasons, linked with words such as because and so. 'Describe' wants what happens, without reasons.</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different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a 'compare' question you must say what is the same and what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Comparing means giving similarities and differences side by side.</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ADBBF"/>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On the quality of the whole answer, using levels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How are 6-mark answers marked?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They are marked by levels of response: the examiner judges the whole answer for detail, accuracy and logic.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3E5EC"/>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command word</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word in a question that tells you what to do</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command word 'explain' means you must give reasons.</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describe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in order, without reasons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Describe the life cycle of the Sun, stage by stage.</a:t>
            </a:r>
            <a:endParaRPr lang="en-US" sz="1800" dirty="0"/>
          </a:p>
        </p:txBody>
      </p:sp>
      <p:sp>
        <p:nvSpPr>
          <p:cNvPr id="21" name="kw-row"/>
          <p:cNvSpPr/>
          <p:nvPr/>
        </p:nvSpPr>
        <p:spPr>
          <a:xfrm>
            <a:off x="548640" y="3639312"/>
            <a:ext cx="11094415" cy="786384"/>
          </a:xfrm>
          <a:prstGeom prst="roundRect">
            <a:avLst>
              <a:gd name="adj" fmla="val 6977"/>
            </a:avLst>
          </a:prstGeom>
          <a:solidFill>
            <a:srgbClr val="E3E5EC"/>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explain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reasons, using linking words like because and so</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Explain why the Sun stays the same size.</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compare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is the same and what is different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Compare the life cycles of two stars of different mass.</a:t>
            </a:r>
            <a:endParaRPr lang="en-US" sz="1800" dirty="0"/>
          </a:p>
        </p:txBody>
      </p:sp>
      <p:sp>
        <p:nvSpPr>
          <p:cNvPr id="31" name="kw-row"/>
          <p:cNvSpPr/>
          <p:nvPr/>
        </p:nvSpPr>
        <p:spPr>
          <a:xfrm>
            <a:off x="548640" y="5358384"/>
            <a:ext cx="11094415" cy="786384"/>
          </a:xfrm>
          <a:prstGeom prst="roundRect">
            <a:avLst>
              <a:gd name="adj" fmla="val 6977"/>
            </a:avLst>
          </a:prstGeom>
          <a:solidFill>
            <a:srgbClr val="E3E5EC"/>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levels of response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marking the whole answer for its quality, not counting single facts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6-mark answer is marked using levels of response.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Some exam questions are worth 6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test whether you can write a clear, linked answer.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First, read the </a:t>
            </a:r>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command word</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carefully.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Describe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means say what happens, in order.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Explain</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means give reasons, using words like because and so.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Compare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means say what is the same and what is different.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Next, plan your answer in three or four quick points.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Use the key words from this unit, spelled correctly.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in full sentences and keep the steps in order.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Examiners mark the whole answer, not just single facts.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top answer is detailed, accurate and logical.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 the command word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'compare', use 'both' for similarities and 'whereas' or 'however' for differences.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command word tells you what kind of answer to write. 'Describe' wants the stages or features, in a sensible order. 'Explain' wants reasons: each point should be linked to the next with words such as because, so, which means and therefore.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wants similarities and differences, and the best answers put them side by side: 'Both stars…', 'However, a massive star…'.</a:t>
            </a:r>
            <a:endParaRPr lang="en-US" sz="18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Underline the command word and the topic before you write anything.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Plan before you write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5410048" cy="4754880"/>
          </a:xfrm>
          <a:prstGeom prst="roundRect">
            <a:avLst>
              <a:gd name="adj" fmla="val 1154"/>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Spend a minute on a plan. Write the key stages or ideas as single words down the margin, in order.</a:t>
            </a:r>
            <a:endParaRPr lang="en-US" sz="2400" dirty="0"/>
          </a:p>
        </p:txBody>
      </p:sp>
      <p:sp>
        <p:nvSpPr>
          <p:cNvPr id="11" name="point-card"/>
          <p:cNvSpPr/>
          <p:nvPr/>
        </p:nvSpPr>
        <p:spPr>
          <a:xfrm>
            <a:off x="6233008" y="1389888"/>
            <a:ext cx="5410048" cy="4754880"/>
          </a:xfrm>
          <a:prstGeom prst="roundRect">
            <a:avLst>
              <a:gd name="adj" fmla="val 1154"/>
            </a:avLst>
          </a:prstGeom>
          <a:solidFill>
            <a:srgbClr val="F3EADB"/>
          </a:solidFill>
          <a:ln/>
        </p:spPr>
      </p:sp>
      <p:sp>
        <p:nvSpPr>
          <p:cNvPr id="12" name="point-hex"/>
          <p:cNvSpPr/>
          <p:nvPr/>
        </p:nvSpPr>
        <p:spPr>
          <a:xfrm>
            <a:off x="6415888" y="1572768"/>
            <a:ext cx="685800" cy="593903"/>
          </a:xfrm>
          <a:prstGeom prst="hexagon">
            <a:avLst/>
          </a:prstGeom>
          <a:solidFill>
            <a:srgbClr val="B8862B"/>
          </a:solidFill>
          <a:ln/>
        </p:spPr>
      </p:sp>
      <p:sp>
        <p:nvSpPr>
          <p:cNvPr id="13"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6415888"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turn each plan word into a full sentence using the key words from the unit: nebula, protostar, fusion, red supergiant, red-shift, wavelength.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Plan before you write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DEE1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Plan an answer to: 'Describe how the Sun formed and explain why it now stays the same size.' (6 marks)</a:t>
            </a:r>
            <a:endParaRPr lang="en-US" sz="2000" dirty="0"/>
          </a:p>
        </p:txBody>
      </p:sp>
      <p:sp>
        <p:nvSpPr>
          <p:cNvPr id="9" name="step-box"/>
          <p:cNvSpPr/>
          <p:nvPr/>
        </p:nvSpPr>
        <p:spPr>
          <a:xfrm>
            <a:off x="548640" y="2502408"/>
            <a:ext cx="11094415" cy="460248"/>
          </a:xfrm>
          <a:prstGeom prst="roundRect">
            <a:avLst>
              <a:gd name="adj" fmla="val 15894"/>
            </a:avLst>
          </a:prstGeom>
          <a:solidFill>
            <a:srgbClr val="FFFFFF"/>
          </a:solidFill>
          <a:ln w="15875">
            <a:solidFill>
              <a:srgbClr val="8790AE"/>
            </a:solidFill>
            <a:prstDash val="solid"/>
          </a:ln>
        </p:spPr>
      </p:sp>
      <p:sp>
        <p:nvSpPr>
          <p:cNvPr id="10" name="step-hex"/>
          <p:cNvSpPr/>
          <p:nvPr/>
        </p:nvSpPr>
        <p:spPr>
          <a:xfrm>
            <a:off x="685800" y="2534564"/>
            <a:ext cx="457200" cy="395935"/>
          </a:xfrm>
          <a:prstGeom prst="hexagon">
            <a:avLst/>
          </a:prstGeom>
          <a:solidFill>
            <a:srgbClr val="24366B"/>
          </a:solidFill>
          <a:ln/>
        </p:spPr>
      </p:sp>
      <p:sp>
        <p:nvSpPr>
          <p:cNvPr id="11" name="step-hex-label"/>
          <p:cNvSpPr txBox="1"/>
          <p:nvPr/>
        </p:nvSpPr>
        <p:spPr>
          <a:xfrm>
            <a:off x="685800" y="25345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Command words: describe (stages, in order) and explain (reasons).</a:t>
            </a:r>
            <a:endParaRPr lang="en-US" sz="1800" dirty="0"/>
          </a:p>
        </p:txBody>
      </p:sp>
      <p:sp>
        <p:nvSpPr>
          <p:cNvPr id="13" name="step-box"/>
          <p:cNvSpPr/>
          <p:nvPr/>
        </p:nvSpPr>
        <p:spPr>
          <a:xfrm>
            <a:off x="548640" y="3035808"/>
            <a:ext cx="11094415" cy="724408"/>
          </a:xfrm>
          <a:prstGeom prst="roundRect">
            <a:avLst>
              <a:gd name="adj" fmla="val 10098"/>
            </a:avLst>
          </a:prstGeom>
          <a:solidFill>
            <a:srgbClr val="FFFFFF"/>
          </a:solidFill>
          <a:ln w="15875">
            <a:solidFill>
              <a:srgbClr val="8790AE"/>
            </a:solidFill>
            <a:prstDash val="solid"/>
          </a:ln>
        </p:spPr>
      </p:sp>
      <p:sp>
        <p:nvSpPr>
          <p:cNvPr id="14" name="step-hex"/>
          <p:cNvSpPr/>
          <p:nvPr/>
        </p:nvSpPr>
        <p:spPr>
          <a:xfrm>
            <a:off x="685800" y="3200044"/>
            <a:ext cx="457200" cy="395935"/>
          </a:xfrm>
          <a:prstGeom prst="hexagon">
            <a:avLst/>
          </a:prstGeom>
          <a:solidFill>
            <a:srgbClr val="24366B"/>
          </a:solidFill>
          <a:ln/>
        </p:spPr>
      </p:sp>
      <p:sp>
        <p:nvSpPr>
          <p:cNvPr id="15" name="step-hex-label"/>
          <p:cNvSpPr txBox="1"/>
          <p:nvPr/>
        </p:nvSpPr>
        <p:spPr>
          <a:xfrm>
            <a:off x="685800" y="32000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358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describe: nebula → gravity → denser and hotter → protostar → fusion of hydrogen into helium → main sequence star.</a:t>
            </a:r>
            <a:endParaRPr lang="en-US" sz="1800" dirty="0"/>
          </a:p>
        </p:txBody>
      </p:sp>
      <p:sp>
        <p:nvSpPr>
          <p:cNvPr id="17" name="step-box"/>
          <p:cNvSpPr/>
          <p:nvPr/>
        </p:nvSpPr>
        <p:spPr>
          <a:xfrm>
            <a:off x="548640" y="3833368"/>
            <a:ext cx="11094415" cy="724408"/>
          </a:xfrm>
          <a:prstGeom prst="roundRect">
            <a:avLst>
              <a:gd name="adj" fmla="val 10098"/>
            </a:avLst>
          </a:prstGeom>
          <a:solidFill>
            <a:srgbClr val="FFFFFF"/>
          </a:solidFill>
          <a:ln w="15875">
            <a:solidFill>
              <a:srgbClr val="8790AE"/>
            </a:solidFill>
            <a:prstDash val="solid"/>
          </a:ln>
        </p:spPr>
      </p:sp>
      <p:sp>
        <p:nvSpPr>
          <p:cNvPr id="18" name="step-hex"/>
          <p:cNvSpPr/>
          <p:nvPr/>
        </p:nvSpPr>
        <p:spPr>
          <a:xfrm>
            <a:off x="685800" y="3997604"/>
            <a:ext cx="457200" cy="395935"/>
          </a:xfrm>
          <a:prstGeom prst="hexagon">
            <a:avLst/>
          </a:prstGeom>
          <a:solidFill>
            <a:srgbClr val="24366B"/>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333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explain: gravity pulls inwards; fusion energy causes outward expansion; they are balanced (equilibrium).</a:t>
            </a:r>
            <a:endParaRPr lang="en-US" sz="1800" dirty="0"/>
          </a:p>
        </p:txBody>
      </p:sp>
      <p:sp>
        <p:nvSpPr>
          <p:cNvPr id="21" name="step-box"/>
          <p:cNvSpPr/>
          <p:nvPr/>
        </p:nvSpPr>
        <p:spPr>
          <a:xfrm>
            <a:off x="548640" y="4630928"/>
            <a:ext cx="11094415" cy="460248"/>
          </a:xfrm>
          <a:prstGeom prst="roundRect">
            <a:avLst>
              <a:gd name="adj" fmla="val 15894"/>
            </a:avLst>
          </a:prstGeom>
          <a:solidFill>
            <a:srgbClr val="FFFFFF"/>
          </a:solidFill>
          <a:ln w="15875">
            <a:solidFill>
              <a:srgbClr val="8790AE"/>
            </a:solidFill>
            <a:prstDash val="solid"/>
          </a:ln>
        </p:spPr>
      </p:sp>
      <p:sp>
        <p:nvSpPr>
          <p:cNvPr id="22" name="step-hex"/>
          <p:cNvSpPr/>
          <p:nvPr/>
        </p:nvSpPr>
        <p:spPr>
          <a:xfrm>
            <a:off x="685800" y="4663084"/>
            <a:ext cx="457200" cy="395935"/>
          </a:xfrm>
          <a:prstGeom prst="hexagon">
            <a:avLst/>
          </a:prstGeom>
          <a:solidFill>
            <a:srgbClr val="24366B"/>
          </a:solidFill>
          <a:ln/>
        </p:spPr>
      </p:sp>
      <p:sp>
        <p:nvSpPr>
          <p:cNvPr id="23" name="step-hex-label"/>
          <p:cNvSpPr txBox="1"/>
          <p:nvPr/>
        </p:nvSpPr>
        <p:spPr>
          <a:xfrm>
            <a:off x="685800" y="46630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3092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up in full sentences, in this order, linking the explanation with 'because' and 'so'.</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plan of six linked points: nebula, gravity, protostar, fusion, main sequence, balance between gravity and fusion energy.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Check against the mark scheme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Re-read your first and last sentences: the first should go straight to the question, and the last should finish the sequence or the argument.</a:t>
            </a:r>
            <a:endParaRPr lang="en-US" sz="1800" dirty="0"/>
          </a:p>
        </p:txBody>
      </p:sp>
      <p:sp>
        <p:nvSpPr>
          <p:cNvPr id="11" name="point-card"/>
          <p:cNvSpPr/>
          <p:nvPr/>
        </p:nvSpPr>
        <p:spPr>
          <a:xfrm>
            <a:off x="548640" y="1389888"/>
            <a:ext cx="5410048" cy="3686048"/>
          </a:xfrm>
          <a:prstGeom prst="roundRect">
            <a:avLst>
              <a:gd name="adj" fmla="val 1488"/>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Six-mark answers are marked using levels of response. The examiner reads the whole answer and decides its level.</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have finished, check your answer against the criteria: Have I answered the command word?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Compare two life cycles (6 marks)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Compare the life cycle of a star about the same mass as the Sun with the life cycle of a star much more massive than the Sun. (6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6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Compare two life cycles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Compare two life cycles (6 marks)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'Both' and list the stages the two stars share: nebula, protostar, main sequence.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'After the main sequence, their paths are different.'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the three stages for the Sun-sized star in order.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the next sentence with 'However, a massive star…' and give its three stages.</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two life cycles share their first three stages and split after the main sequence.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one sentence explaining why only the massive star can produce elements heavier than iron, and what happens to those elements.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Red-shift and the Big Bang (6 marks)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how red-shift provides evidence for the Big Bang theory. (6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6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Red-shift and the Big Bang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Red-shift and the Big Bang (6 marks)</a:t>
            </a:r>
            <a:endParaRPr lang="en-US" sz="2000" dirty="0"/>
          </a:p>
        </p:txBody>
      </p:sp>
      <p:sp>
        <p:nvSpPr>
          <p:cNvPr id="12" name="col-Support"/>
          <p:cNvSpPr/>
          <p:nvPr/>
        </p:nvSpPr>
        <p:spPr>
          <a:xfrm>
            <a:off x="548640" y="2395728"/>
            <a:ext cx="3515258" cy="3749040"/>
          </a:xfrm>
          <a:prstGeom prst="roundRect">
            <a:avLst>
              <a:gd name="adj" fmla="val 1561"/>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red-shift is: an increase in wavelength.</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it shows about one galaxy: it is moving away.</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the pattern with distance shows: further means faster, so space is expanding.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'so in the past…' and link to the Big Bang.</a:t>
            </a:r>
            <a:endParaRPr lang="en-US" sz="1800" dirty="0"/>
          </a:p>
        </p:txBody>
      </p:sp>
      <p:sp>
        <p:nvSpPr>
          <p:cNvPr id="17" name="col-Core"/>
          <p:cNvSpPr/>
          <p:nvPr/>
        </p:nvSpPr>
        <p:spPr>
          <a:xfrm>
            <a:off x="4338218" y="2395728"/>
            <a:ext cx="3515258" cy="3749040"/>
          </a:xfrm>
          <a:prstGeom prst="roundRect">
            <a:avLst>
              <a:gd name="adj" fmla="val 1561"/>
            </a:avLst>
          </a:prstGeom>
          <a:solidFill>
            <a:srgbClr val="C4C9D7"/>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Build a chain: wavelength → moving away → further means faster → expanding → smaller and denser in the past.</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24366B"/>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what has been observed since 1998, and explain why scientists say there is still much about the universe that is not understood.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command word asks you to give reasons for something?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Describe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State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Explain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Compare two life cycles (6 marks)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1980"/>
          </a:xfrm>
          <a:prstGeom prst="roundRect">
            <a:avLst>
              <a:gd name="adj" fmla="val 15190"/>
            </a:avLst>
          </a:prstGeom>
          <a:solidFill>
            <a:srgbClr val="E3E5EC"/>
          </a:solidFill>
          <a:ln/>
        </p:spPr>
      </p:sp>
      <p:sp>
        <p:nvSpPr>
          <p:cNvPr id="9" name="tickbox"/>
          <p:cNvSpPr/>
          <p:nvPr/>
        </p:nvSpPr>
        <p:spPr>
          <a:xfrm>
            <a:off x="713232" y="2138934"/>
            <a:ext cx="292608" cy="292608"/>
          </a:xfrm>
          <a:prstGeom prst="rect">
            <a:avLst/>
          </a:prstGeom>
          <a:solidFill>
            <a:srgbClr val="FFFFFF"/>
          </a:solidFill>
          <a:ln w="19050">
            <a:solidFill>
              <a:srgbClr val="24366B"/>
            </a:solidFill>
            <a:prstDash val="solid"/>
          </a:ln>
        </p:spPr>
      </p:sp>
      <p:sp>
        <p:nvSpPr>
          <p:cNvPr id="10" name="crit"/>
          <p:cNvSpPr txBox="1"/>
          <p:nvPr/>
        </p:nvSpPr>
        <p:spPr>
          <a:xfrm>
            <a:off x="1143000" y="198424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States that both stars form from a nebula pulled together by gravity into a protostar</a:t>
            </a:r>
            <a:endParaRPr lang="en-US" sz="2200" dirty="0"/>
          </a:p>
        </p:txBody>
      </p:sp>
      <p:sp>
        <p:nvSpPr>
          <p:cNvPr id="11" name="crit-box"/>
          <p:cNvSpPr/>
          <p:nvPr/>
        </p:nvSpPr>
        <p:spPr>
          <a:xfrm>
            <a:off x="548640" y="2677668"/>
            <a:ext cx="11094415" cy="601980"/>
          </a:xfrm>
          <a:prstGeom prst="roundRect">
            <a:avLst>
              <a:gd name="adj" fmla="val 15190"/>
            </a:avLst>
          </a:prstGeom>
          <a:solidFill>
            <a:srgbClr val="E3E5EC"/>
          </a:solidFill>
          <a:ln/>
        </p:spPr>
      </p:sp>
      <p:sp>
        <p:nvSpPr>
          <p:cNvPr id="12" name="tickbox"/>
          <p:cNvSpPr/>
          <p:nvPr/>
        </p:nvSpPr>
        <p:spPr>
          <a:xfrm>
            <a:off x="713232" y="2832354"/>
            <a:ext cx="292608" cy="292608"/>
          </a:xfrm>
          <a:prstGeom prst="rect">
            <a:avLst/>
          </a:prstGeom>
          <a:solidFill>
            <a:srgbClr val="FFFFFF"/>
          </a:solidFill>
          <a:ln w="19050">
            <a:solidFill>
              <a:srgbClr val="24366B"/>
            </a:solidFill>
            <a:prstDash val="solid"/>
          </a:ln>
        </p:spPr>
      </p:sp>
      <p:sp>
        <p:nvSpPr>
          <p:cNvPr id="13" name="crit"/>
          <p:cNvSpPr txBox="1"/>
          <p:nvPr/>
        </p:nvSpPr>
        <p:spPr>
          <a:xfrm>
            <a:off x="1143000" y="267766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States that both become main sequence stars, fusing hydrogen into helium</a:t>
            </a:r>
            <a:endParaRPr lang="en-US" sz="2200" dirty="0"/>
          </a:p>
        </p:txBody>
      </p:sp>
      <p:sp>
        <p:nvSpPr>
          <p:cNvPr id="14" name="crit-box"/>
          <p:cNvSpPr/>
          <p:nvPr/>
        </p:nvSpPr>
        <p:spPr>
          <a:xfrm>
            <a:off x="548640" y="3371088"/>
            <a:ext cx="11094415" cy="601980"/>
          </a:xfrm>
          <a:prstGeom prst="roundRect">
            <a:avLst>
              <a:gd name="adj" fmla="val 15190"/>
            </a:avLst>
          </a:prstGeom>
          <a:solidFill>
            <a:srgbClr val="E3E5EC"/>
          </a:solidFill>
          <a:ln/>
        </p:spPr>
      </p:sp>
      <p:sp>
        <p:nvSpPr>
          <p:cNvPr id="15" name="tickbox"/>
          <p:cNvSpPr/>
          <p:nvPr/>
        </p:nvSpPr>
        <p:spPr>
          <a:xfrm>
            <a:off x="713232" y="3525774"/>
            <a:ext cx="292608" cy="292608"/>
          </a:xfrm>
          <a:prstGeom prst="rect">
            <a:avLst/>
          </a:prstGeom>
          <a:solidFill>
            <a:srgbClr val="FFFFFF"/>
          </a:solidFill>
          <a:ln w="19050">
            <a:solidFill>
              <a:srgbClr val="24366B"/>
            </a:solidFill>
            <a:prstDash val="solid"/>
          </a:ln>
        </p:spPr>
      </p:sp>
      <p:sp>
        <p:nvSpPr>
          <p:cNvPr id="16" name="crit"/>
          <p:cNvSpPr txBox="1"/>
          <p:nvPr/>
        </p:nvSpPr>
        <p:spPr>
          <a:xfrm>
            <a:off x="1143000" y="337108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Sun-sized star: red giant, then white dwarf, then black dwarf</a:t>
            </a:r>
            <a:endParaRPr lang="en-US" sz="2200" dirty="0"/>
          </a:p>
        </p:txBody>
      </p:sp>
      <p:sp>
        <p:nvSpPr>
          <p:cNvPr id="17" name="crit-box"/>
          <p:cNvSpPr/>
          <p:nvPr/>
        </p:nvSpPr>
        <p:spPr>
          <a:xfrm>
            <a:off x="548640" y="4064508"/>
            <a:ext cx="11094415" cy="601980"/>
          </a:xfrm>
          <a:prstGeom prst="roundRect">
            <a:avLst>
              <a:gd name="adj" fmla="val 15190"/>
            </a:avLst>
          </a:prstGeom>
          <a:solidFill>
            <a:srgbClr val="E3E5EC"/>
          </a:solidFill>
          <a:ln/>
        </p:spPr>
      </p:sp>
      <p:sp>
        <p:nvSpPr>
          <p:cNvPr id="18" name="tickbox"/>
          <p:cNvSpPr/>
          <p:nvPr/>
        </p:nvSpPr>
        <p:spPr>
          <a:xfrm>
            <a:off x="713232" y="4219194"/>
            <a:ext cx="292608" cy="292608"/>
          </a:xfrm>
          <a:prstGeom prst="rect">
            <a:avLst/>
          </a:prstGeom>
          <a:solidFill>
            <a:srgbClr val="FFFFFF"/>
          </a:solidFill>
          <a:ln w="19050">
            <a:solidFill>
              <a:srgbClr val="24366B"/>
            </a:solidFill>
            <a:prstDash val="solid"/>
          </a:ln>
        </p:spPr>
      </p:sp>
      <p:sp>
        <p:nvSpPr>
          <p:cNvPr id="19" name="crit"/>
          <p:cNvSpPr txBox="1"/>
          <p:nvPr/>
        </p:nvSpPr>
        <p:spPr>
          <a:xfrm>
            <a:off x="1143000" y="406450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Massive star: red supergiant, then supernova, then neutron star or black hole</a:t>
            </a:r>
            <a:endParaRPr lang="en-US" sz="2200" dirty="0"/>
          </a:p>
        </p:txBody>
      </p:sp>
      <p:sp>
        <p:nvSpPr>
          <p:cNvPr id="20" name="crit-box"/>
          <p:cNvSpPr/>
          <p:nvPr/>
        </p:nvSpPr>
        <p:spPr>
          <a:xfrm>
            <a:off x="548640" y="4757928"/>
            <a:ext cx="11094415" cy="601980"/>
          </a:xfrm>
          <a:prstGeom prst="roundRect">
            <a:avLst>
              <a:gd name="adj" fmla="val 15190"/>
            </a:avLst>
          </a:prstGeom>
          <a:solidFill>
            <a:srgbClr val="E3E5EC"/>
          </a:solidFill>
          <a:ln/>
        </p:spPr>
      </p:sp>
      <p:sp>
        <p:nvSpPr>
          <p:cNvPr id="21" name="tickbox"/>
          <p:cNvSpPr/>
          <p:nvPr/>
        </p:nvSpPr>
        <p:spPr>
          <a:xfrm>
            <a:off x="713232" y="4912614"/>
            <a:ext cx="292608" cy="292608"/>
          </a:xfrm>
          <a:prstGeom prst="rect">
            <a:avLst/>
          </a:prstGeom>
          <a:solidFill>
            <a:srgbClr val="FFFFFF"/>
          </a:solidFill>
          <a:ln w="19050">
            <a:solidFill>
              <a:srgbClr val="24366B"/>
            </a:solidFill>
            <a:prstDash val="solid"/>
          </a:ln>
        </p:spPr>
      </p:sp>
      <p:sp>
        <p:nvSpPr>
          <p:cNvPr id="22" name="crit"/>
          <p:cNvSpPr txBox="1"/>
          <p:nvPr/>
        </p:nvSpPr>
        <p:spPr>
          <a:xfrm>
            <a:off x="1143000" y="475792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Uses comparison words (both, whereas, however) to set the stages side by side</a:t>
            </a:r>
            <a:endParaRPr lang="en-US" sz="2200" dirty="0"/>
          </a:p>
        </p:txBody>
      </p:sp>
      <p:sp>
        <p:nvSpPr>
          <p:cNvPr id="23" name="crit-box"/>
          <p:cNvSpPr/>
          <p:nvPr/>
        </p:nvSpPr>
        <p:spPr>
          <a:xfrm>
            <a:off x="548640" y="5451348"/>
            <a:ext cx="11094415" cy="601980"/>
          </a:xfrm>
          <a:prstGeom prst="roundRect">
            <a:avLst>
              <a:gd name="adj" fmla="val 15190"/>
            </a:avLst>
          </a:prstGeom>
          <a:solidFill>
            <a:srgbClr val="E3E5EC"/>
          </a:solidFill>
          <a:ln/>
        </p:spPr>
      </p:sp>
      <p:sp>
        <p:nvSpPr>
          <p:cNvPr id="24" name="tickbox"/>
          <p:cNvSpPr/>
          <p:nvPr/>
        </p:nvSpPr>
        <p:spPr>
          <a:xfrm>
            <a:off x="713232" y="5606034"/>
            <a:ext cx="292608" cy="292608"/>
          </a:xfrm>
          <a:prstGeom prst="rect">
            <a:avLst/>
          </a:prstGeom>
          <a:solidFill>
            <a:srgbClr val="FFFFFF"/>
          </a:solidFill>
          <a:ln w="19050">
            <a:solidFill>
              <a:srgbClr val="24366B"/>
            </a:solidFill>
            <a:prstDash val="solid"/>
          </a:ln>
        </p:spPr>
      </p:sp>
      <p:sp>
        <p:nvSpPr>
          <p:cNvPr id="25" name="crit"/>
          <p:cNvSpPr txBox="1"/>
          <p:nvPr/>
        </p:nvSpPr>
        <p:spPr>
          <a:xfrm>
            <a:off x="1143000" y="545134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Stages are in the correct order and the key words are used accurately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Model answer: Compare two life cycles (6 marks)</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Both stars begin in the same way. A nebula of dust and gas is pulled together by gravity to form a protostar. When it is hot and dense enough, hydrogen nuclei fuse into helium nuclei and both become main sequence stars. After the main sequence, their paths are different. When a star about the mass of the Sun runs out of hydrogen in its core, it swells into a red giant, then becomes a white dwarf, which slowly cools into a black dwarf. However, a much more massive star swells into a red supergiant. It then collapses and explodes as a supernova, leaving a neutron star or, if enough mass remains, a black hole.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Red-shift and the Big Bang (6 marks)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545169"/>
          </a:xfrm>
          <a:prstGeom prst="roundRect">
            <a:avLst>
              <a:gd name="adj" fmla="val 16773"/>
            </a:avLst>
          </a:prstGeom>
          <a:solidFill>
            <a:srgbClr val="E3E5EC"/>
          </a:solidFill>
          <a:ln/>
        </p:spPr>
      </p:sp>
      <p:sp>
        <p:nvSpPr>
          <p:cNvPr id="9" name="tickbox"/>
          <p:cNvSpPr/>
          <p:nvPr/>
        </p:nvSpPr>
        <p:spPr>
          <a:xfrm>
            <a:off x="713232" y="2110528"/>
            <a:ext cx="292608" cy="292608"/>
          </a:xfrm>
          <a:prstGeom prst="rect">
            <a:avLst/>
          </a:prstGeom>
          <a:solidFill>
            <a:srgbClr val="FFFFFF"/>
          </a:solidFill>
          <a:ln w="19050">
            <a:solidFill>
              <a:srgbClr val="24366B"/>
            </a:solidFill>
            <a:prstDash val="solid"/>
          </a:ln>
        </p:spPr>
      </p:sp>
      <p:sp>
        <p:nvSpPr>
          <p:cNvPr id="10" name="crit"/>
          <p:cNvSpPr txBox="1"/>
          <p:nvPr/>
        </p:nvSpPr>
        <p:spPr>
          <a:xfrm>
            <a:off x="1143000" y="1984248"/>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Red-shift is an observed increase in the wavelength of light from distant galaxies</a:t>
            </a:r>
            <a:endParaRPr lang="en-US" sz="2200" dirty="0"/>
          </a:p>
        </p:txBody>
      </p:sp>
      <p:sp>
        <p:nvSpPr>
          <p:cNvPr id="11" name="crit-box"/>
          <p:cNvSpPr/>
          <p:nvPr/>
        </p:nvSpPr>
        <p:spPr>
          <a:xfrm>
            <a:off x="548640" y="2620857"/>
            <a:ext cx="11094415" cy="545169"/>
          </a:xfrm>
          <a:prstGeom prst="roundRect">
            <a:avLst>
              <a:gd name="adj" fmla="val 16773"/>
            </a:avLst>
          </a:prstGeom>
          <a:solidFill>
            <a:srgbClr val="E3E5EC"/>
          </a:solidFill>
          <a:ln/>
        </p:spPr>
      </p:sp>
      <p:sp>
        <p:nvSpPr>
          <p:cNvPr id="12" name="tickbox"/>
          <p:cNvSpPr/>
          <p:nvPr/>
        </p:nvSpPr>
        <p:spPr>
          <a:xfrm>
            <a:off x="713232" y="2747137"/>
            <a:ext cx="292608" cy="292608"/>
          </a:xfrm>
          <a:prstGeom prst="rect">
            <a:avLst/>
          </a:prstGeom>
          <a:solidFill>
            <a:srgbClr val="FFFFFF"/>
          </a:solidFill>
          <a:ln w="19050">
            <a:solidFill>
              <a:srgbClr val="24366B"/>
            </a:solidFill>
            <a:prstDash val="solid"/>
          </a:ln>
        </p:spPr>
      </p:sp>
      <p:sp>
        <p:nvSpPr>
          <p:cNvPr id="13" name="crit"/>
          <p:cNvSpPr txBox="1"/>
          <p:nvPr/>
        </p:nvSpPr>
        <p:spPr>
          <a:xfrm>
            <a:off x="1143000" y="2620857"/>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Red-shift shows the galaxies are moving away from us</a:t>
            </a:r>
            <a:endParaRPr lang="en-US" sz="2200" dirty="0"/>
          </a:p>
        </p:txBody>
      </p:sp>
      <p:sp>
        <p:nvSpPr>
          <p:cNvPr id="14" name="crit-box"/>
          <p:cNvSpPr/>
          <p:nvPr/>
        </p:nvSpPr>
        <p:spPr>
          <a:xfrm>
            <a:off x="548640" y="3257465"/>
            <a:ext cx="11094415" cy="545169"/>
          </a:xfrm>
          <a:prstGeom prst="roundRect">
            <a:avLst>
              <a:gd name="adj" fmla="val 16773"/>
            </a:avLst>
          </a:prstGeom>
          <a:solidFill>
            <a:srgbClr val="E3E5EC"/>
          </a:solidFill>
          <a:ln/>
        </p:spPr>
      </p:sp>
      <p:sp>
        <p:nvSpPr>
          <p:cNvPr id="15" name="tickbox"/>
          <p:cNvSpPr/>
          <p:nvPr/>
        </p:nvSpPr>
        <p:spPr>
          <a:xfrm>
            <a:off x="713232" y="3383746"/>
            <a:ext cx="292608" cy="292608"/>
          </a:xfrm>
          <a:prstGeom prst="rect">
            <a:avLst/>
          </a:prstGeom>
          <a:solidFill>
            <a:srgbClr val="FFFFFF"/>
          </a:solidFill>
          <a:ln w="19050">
            <a:solidFill>
              <a:srgbClr val="24366B"/>
            </a:solidFill>
            <a:prstDash val="solid"/>
          </a:ln>
        </p:spPr>
      </p:sp>
      <p:sp>
        <p:nvSpPr>
          <p:cNvPr id="16" name="crit"/>
          <p:cNvSpPr txBox="1"/>
          <p:nvPr/>
        </p:nvSpPr>
        <p:spPr>
          <a:xfrm>
            <a:off x="1143000" y="3257465"/>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further away a galaxy is, the bigger its red-shift, so the faster it is moving away</a:t>
            </a:r>
            <a:endParaRPr lang="en-US" sz="2200" dirty="0"/>
          </a:p>
        </p:txBody>
      </p:sp>
      <p:sp>
        <p:nvSpPr>
          <p:cNvPr id="17" name="crit-box"/>
          <p:cNvSpPr/>
          <p:nvPr/>
        </p:nvSpPr>
        <p:spPr>
          <a:xfrm>
            <a:off x="548640" y="3894074"/>
            <a:ext cx="11094415" cy="545169"/>
          </a:xfrm>
          <a:prstGeom prst="roundRect">
            <a:avLst>
              <a:gd name="adj" fmla="val 16773"/>
            </a:avLst>
          </a:prstGeom>
          <a:solidFill>
            <a:srgbClr val="E3E5EC"/>
          </a:solidFill>
          <a:ln/>
        </p:spPr>
      </p:sp>
      <p:sp>
        <p:nvSpPr>
          <p:cNvPr id="18" name="tickbox"/>
          <p:cNvSpPr/>
          <p:nvPr/>
        </p:nvSpPr>
        <p:spPr>
          <a:xfrm>
            <a:off x="713232" y="4020354"/>
            <a:ext cx="292608" cy="292608"/>
          </a:xfrm>
          <a:prstGeom prst="rect">
            <a:avLst/>
          </a:prstGeom>
          <a:solidFill>
            <a:srgbClr val="FFFFFF"/>
          </a:solidFill>
          <a:ln w="19050">
            <a:solidFill>
              <a:srgbClr val="24366B"/>
            </a:solidFill>
            <a:prstDash val="solid"/>
          </a:ln>
        </p:spPr>
      </p:sp>
      <p:sp>
        <p:nvSpPr>
          <p:cNvPr id="19" name="crit"/>
          <p:cNvSpPr txBox="1"/>
          <p:nvPr/>
        </p:nvSpPr>
        <p:spPr>
          <a:xfrm>
            <a:off x="1143000" y="3894074"/>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shows that space itself (the universe) is expanding</a:t>
            </a:r>
            <a:endParaRPr lang="en-US" sz="2200" dirty="0"/>
          </a:p>
        </p:txBody>
      </p:sp>
      <p:sp>
        <p:nvSpPr>
          <p:cNvPr id="20" name="crit-box"/>
          <p:cNvSpPr/>
          <p:nvPr/>
        </p:nvSpPr>
        <p:spPr>
          <a:xfrm>
            <a:off x="548640" y="4530683"/>
            <a:ext cx="11094415" cy="545169"/>
          </a:xfrm>
          <a:prstGeom prst="roundRect">
            <a:avLst>
              <a:gd name="adj" fmla="val 16773"/>
            </a:avLst>
          </a:prstGeom>
          <a:solidFill>
            <a:srgbClr val="E3E5EC"/>
          </a:solidFill>
          <a:ln/>
        </p:spPr>
      </p:sp>
      <p:sp>
        <p:nvSpPr>
          <p:cNvPr id="21" name="tickbox"/>
          <p:cNvSpPr/>
          <p:nvPr/>
        </p:nvSpPr>
        <p:spPr>
          <a:xfrm>
            <a:off x="713232" y="4656963"/>
            <a:ext cx="292608" cy="292608"/>
          </a:xfrm>
          <a:prstGeom prst="rect">
            <a:avLst/>
          </a:prstGeom>
          <a:solidFill>
            <a:srgbClr val="FFFFFF"/>
          </a:solidFill>
          <a:ln w="19050">
            <a:solidFill>
              <a:srgbClr val="24366B"/>
            </a:solidFill>
            <a:prstDash val="solid"/>
          </a:ln>
        </p:spPr>
      </p:sp>
      <p:sp>
        <p:nvSpPr>
          <p:cNvPr id="22" name="crit"/>
          <p:cNvSpPr txBox="1"/>
          <p:nvPr/>
        </p:nvSpPr>
        <p:spPr>
          <a:xfrm>
            <a:off x="1143000" y="4530683"/>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universe is expanding, it must have been smaller in the past</a:t>
            </a:r>
            <a:endParaRPr lang="en-US" sz="2200" dirty="0"/>
          </a:p>
        </p:txBody>
      </p:sp>
      <p:sp>
        <p:nvSpPr>
          <p:cNvPr id="23" name="crit-box"/>
          <p:cNvSpPr/>
          <p:nvPr/>
        </p:nvSpPr>
        <p:spPr>
          <a:xfrm>
            <a:off x="548640" y="5167291"/>
            <a:ext cx="11094415" cy="886037"/>
          </a:xfrm>
          <a:prstGeom prst="roundRect">
            <a:avLst>
              <a:gd name="adj" fmla="val 10320"/>
            </a:avLst>
          </a:prstGeom>
          <a:solidFill>
            <a:srgbClr val="E3E5EC"/>
          </a:solidFill>
          <a:ln/>
        </p:spPr>
      </p:sp>
      <p:sp>
        <p:nvSpPr>
          <p:cNvPr id="24" name="tickbox"/>
          <p:cNvSpPr/>
          <p:nvPr/>
        </p:nvSpPr>
        <p:spPr>
          <a:xfrm>
            <a:off x="713232" y="5464006"/>
            <a:ext cx="292608" cy="292608"/>
          </a:xfrm>
          <a:prstGeom prst="rect">
            <a:avLst/>
          </a:prstGeom>
          <a:solidFill>
            <a:srgbClr val="FFFFFF"/>
          </a:solidFill>
          <a:ln w="19050">
            <a:solidFill>
              <a:srgbClr val="24366B"/>
            </a:solidFill>
            <a:prstDash val="solid"/>
          </a:ln>
        </p:spPr>
      </p:sp>
      <p:sp>
        <p:nvSpPr>
          <p:cNvPr id="25" name="crit"/>
          <p:cNvSpPr txBox="1"/>
          <p:nvPr/>
        </p:nvSpPr>
        <p:spPr>
          <a:xfrm>
            <a:off x="1143000" y="5167291"/>
            <a:ext cx="10317175" cy="8860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Links this to the Big Bang: the universe began from a very small region that was extremely hot and dense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Model answer: Red-shift and the Big Bang (6 marks)</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Light from distant galaxies is red-shifted. This means the wavelength of the light we observe has increased, so the dark lines in its spectrum are shifted towards the red end. This shows that the galaxies are moving away from us. The further away a galaxy is, the bigger its red-shift, so the more distant galaxies are moving away faster. This pattern shows that space itself is expanding. If the universe is expanding now, then in the past everything was closer together. Tracing the expansion backwards suggests that the universe began from a very small region that was extremely hot and dense, which is what the Big Bang theory states.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command word asks you to give reasons for something?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Explain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'Explain' wants reasons, linked with words such as because and so. 'Describe' wants what happens, without reasons.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5: Exam skills: the 6-mark answer</dc:title>
  <dc:subject>Physics (Triple Science) · Year 11</dc:subject>
  <dc:creator>Dr Vitor Merissi de Carvalho</dc:creator>
  <cp:lastModifiedBy>Dr Vitor Merissi de Carvalho</cp:lastModifiedBy>
  <cp:revision>1</cp:revision>
  <dcterms:created xsi:type="dcterms:W3CDTF">2026-10-16T23:02:17Z</dcterms:created>
  <dcterms:modified xsi:type="dcterms:W3CDTF">2026-10-16T23:02:17Z</dcterms:modified>
</cp:coreProperties>
</file>