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36145714-412b-3a4e-d714-4db0054ce224}">
          <p14:sldIdLst>
            <p14:sldId id="256"/>
          </p14:sldIdLst>
        </p14:section>
        <p14:section name="Gate" id="{67b1d78e-7a6b-09d4-294f-addf40f306f9}">
          <p14:sldIdLst>
            <p14:sldId id="257"/>
            <p14:sldId id="258"/>
          </p14:sldIdLst>
        </p14:section>
        <p14:section name="Pre-teach" id="{92d7c1e3-fb2f-d7bc-b8ee-3ab631e195fb}">
          <p14:sldIdLst>
            <p14:sldId id="259"/>
          </p14:sldIdLst>
        </p14:section>
        <p14:section name="Read-along" id="{2154be09-aa08-3de5-1d61-cef123346421}">
          <p14:sldIdLst>
            <p14:sldId id="260"/>
          </p14:sldIdLst>
        </p14:section>
        <p14:section name="Teach" id="{f3894346-1bb0-b796-fb68-9f2f2d697768}">
          <p14:sldIdLst>
            <p14:sldId id="261"/>
            <p14:sldId id="262"/>
            <p14:sldId id="263"/>
            <p14:sldId id="264"/>
          </p14:sldIdLst>
        </p14:section>
        <p14:section name="Routes" id="{310b65d8-589b-3d42-6216-deafb5e85a97}">
          <p14:sldIdLst>
            <p14:sldId id="265"/>
            <p14:sldId id="266"/>
            <p14:sldId id="267"/>
            <p14:sldId id="268"/>
          </p14:sldIdLst>
        </p14:section>
        <p14:section name="Close" id="{951680db-eafd-03d7-f7a3-8727175d21d3}">
          <p14:sldIdLst>
            <p14:sldId id="269"/>
          </p14:sldIdLst>
        </p14:section>
        <p14:section name="Answers" id="{fcb9528d-48c8-4da9-9235-a3ff825466bf}">
          <p14:sldIdLst>
            <p14:sldId id="270"/>
            <p14:sldId id="271"/>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5 of 5: Exam skills: the 6-mark answer. How to read the command word, plan in key words and write a linked 6-mark answer on any part of Space Physics.
This deck covers the department's lessons: 1 (P16.1 Formation of the Solar System: How did our solar system form from dust and gas, and why does the Sun stay stable?); 2 (P16.2 The life history of a star: How does a star's mass decide its life cycle, and how do stars make new elements?); 3 (P16.3 Planets, satellites, and orbits: How does gravity keep planets, moons and artificial satellites in orbit?); 4 (P16.4 The expanding universe: What does the red-shift of light from distant galaxies tell us about how they are moving?); 5 (P16.5 The beginning and future of the Universe: How does red-shift support the Big Bang theory, and what about the universe is still not understood?).
Read the big question aloud: "How did the Sun, the planets and the elements in your own body come to exist, and how do we know the universe is still growing?"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Which command word asks you to give reasons for something?  →  D   Explain
2. In a 'compare' question you must say what is the same and what is ___.  →  different
3. How are 6-mark answers marked?  →  D   On the quality of the whole answer, using levels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D   Explain. 'Explain' wants reasons, linked with words such as because and so. 'Describe' wants what happens, without reasons.
2. different. Comparing means giving similarities and differences side by side.
3. D   On the quality of the whole answer, using levels. They are marked by levels of response: the examiner judges the whole answer for detail, accuracy and logic.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command word: the word in a question that tells you what to do. Example: "The command word 'explain' means you must give reasons."
• describe: say what happens, in order, without reasons. Example: "Describe the life cycle of the Sun, stage by stage."
• explain: give reasons, using linking words like because and so. Example: "Explain why the Sun stays the same size."
• compare: say what is the same and what is different. Example: "Compare the life cycles of two stars of different mass."
• levels of response: marking the whole answer for its quality, not counting single facts. Example: "A 6-mark answer is marked using levels of response."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1–11 of 11:
1. Some exam questions are worth 6 marks.
2. They test whether you can write a clear, linked answer.
3. First, read the command word carefully.
4. Describe means say what happens, in order.
5. Explain means give reasons, using words like because and so.
6. Compare means say what is the same and what is different.
7. Next, plan your answer in three or four quick points.
8. Use the key words from this unit, spelled correctly.
9. Write in full sentences and keep the steps in order.
10. Examiners mark the whole answer, not just single facts.
11. A top answer is detailed, accurate and logical.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Read the command word. Say it in your own words, then check understanding with a quick question: ask a pupil from the pre-teach group first, since they met these words and ideas before the lesson. Pupils try to recall before you re-explain.
The command word tells you what kind of answer to write. 'Describe' wants the stages or features, in a sensible order. 'Explain' wants reasons: each point should be linked to the next with words such as because, so, which means and therefore.
'Compare' wants similarities and differences, and the best answers put them side by side: 'Both stars…', 'However, a massive star…'. Writing two separate descriptions is not the same as comparing.
Underline the command word and the topic before you write anything. Many lost marks come from answering a different question from the one that was asked.
Tip: For 'compare', use 'both' for similarities and 'whereas' or 'however' for differences.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Plan before you write. Say it in your own words, then check understanding with a quick question: ask a pupil from the pre-teach group first, since they met these words and ideas before the lesson. Pupils try to recall before you re-explain.
Spend a minute on a plan. Write the key stages or ideas as single words down the margin, in order. This stops you missing a stage, and it keeps your answer logical.
Then turn each plan word into a full sentence using the key words from the unit: nebula, protostar, fusion, red supergiant, red-shift, wavelength. Using the right word in the right place is what makes an answer accurate.
Worked example — model it step by step, thinking aloud: Plan an answer to: 'Describe how the Sun formed and explain why it now stays the same size.' (6 marks) (1) Command words: describe (stages, in order) and explain (reasons). (2) Plan, describe: nebula → gravity → denser and hotter → protostar → fusion of hydrogen into helium → main sequence star. (3) Plan, explain: gravity pulls inwards; fusion energy causes outward expansion; they are balanced (equilibrium). (4) Write it up in full sentences, in this order, linking the explanation with 'because' and 'so'. Answer: A plan of six linked points: nebula, gravity, protostar, fusion, main sequence, balance between gravity and fusion energy..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Plan before you write. Say it in your own words, then check understanding with a quick question: ask a pupil from the pre-teach group first, since they met these words and ideas before the lesson. Pupils try to recall before you re-explain.
Spend a minute on a plan. Write the key stages or ideas as single words down the margin, in order. This stops you missing a stage, and it keeps your answer logical.
Then turn each plan word into a full sentence using the key words from the unit: nebula, protostar, fusion, red supergiant, red-shift, wavelength. Using the right word in the right place is what makes an answer accurate.
Worked example — model it step by step, thinking aloud: Plan an answer to: 'Describe how the Sun formed and explain why it now stays the same size.' (6 marks) (1) Command words: describe (stages, in order) and explain (reasons). (2) Plan, describe: nebula → gravity → denser and hotter → protostar → fusion of hydrogen into helium → main sequence star. (3) Plan, explain: gravity pulls inwards; fusion energy causes outward expansion; they are balanced (equilibrium). (4) Write it up in full sentences, in this order, linking the explanation with 'because' and 'so'. Answer: A plan of six linked points: nebula, gravity, protostar, fusion, main sequence, balance between gravity and fusion energy..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Check against the mark scheme. Say it in your own words, then check understanding with a quick question: ask a pupil from the pre-teach group first, since they met these words and ideas before the lesson. Pupils try to recall before you re-explain.
Six-mark answers are marked using levels of response. The examiner reads the whole answer and decides its level. A top-level answer is detailed and accurate, uses the correct key words and is set out in a clear, logical order.
When you have finished, check your answer against the criteria: Have I answered the command word? Have I covered every stage? Are my facts correct? Have I linked my ideas? A long answer with mistakes in it can score less than a shorter, accurate one.
Tip: Re-read your first and last sentences: the first should go straight to the question, and the last should finish the sequence or the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Compare two life cycles (6 marks).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Compare the life cycle of a star about the same mass as the Sun with the life cycle of a star much more massive than the Sun. (6 marks)
Support — work through the steps with the group: (1) Write 'Both' and list the stages the two stars share: nebula, protostar, main sequence. (2) Write 'After the main sequence, their paths are different.' (3) Give the three stages for the Sun-sized star in order. (4) Start the next sentence with 'However, a massive star…' and give its three stages.
Parallel worked example for Support (model it, do not give the task answer): Compare natural and artificial satellites. (4 marks) Similarity: both orbit a larger body, and both are kept in orbit by gravity.; Difference: a natural satellite, such as the Moon, was not made by people, whereas an artificial satellite is built and launched by people.; Difference: artificial satellites do jobs for us, such as communications and weather forecasting.. Answer: Both orbit a larger body and are kept in orbit by gravity, whereas natural satellites such as the Moon are not made by people and artificial satellites are built and launched by people to do jobs such as communications..
Core — reveal the hint only on request: The two life cycles share their first three stages and split after the main sequence.
Stretch — no help; when finished: Add one sentence explaining why only the massive star can produce elements heavier than iron, and what happens to those elements.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Compare two life cycles (6 marks).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Compare the life cycle of a star about the same mass as the Sun with the life cycle of a star much more massive than the Sun. (6 marks)
Support — work through the steps with the group: (1) Write 'Both' and list the stages the two stars share: nebula, protostar, main sequence. (2) Write 'After the main sequence, their paths are different.' (3) Give the three stages for the Sun-sized star in order. (4) Start the next sentence with 'However, a massive star…' and give its three stages.
Parallel worked example for Support (model it, do not give the task answer): Compare natural and artificial satellites. (4 marks) Similarity: both orbit a larger body, and both are kept in orbit by gravity.; Difference: a natural satellite, such as the Moon, was not made by people, whereas an artificial satellite is built and launched by people.; Difference: artificial satellites do jobs for us, such as communications and weather forecasting.. Answer: Both orbit a larger body and are kept in orbit by gravity, whereas natural satellites such as the Moon are not made by people and artificial satellites are built and launched by people to do jobs such as communications..
Core — reveal the hint only on request: The two life cycles share their first three stages and split after the main sequence.
Stretch — no help; when finished: Add one sentence explaining why only the massive star can produce elements heavier than iron, and what happens to those elements.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Red-shift and the Big Bang (6 marks).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Explain how red-shift provides evidence for the Big Bang theory. (6 marks)
Support — work through the steps with the group: (1) Say what red-shift is: an increase in wavelength. (2) Say what it shows about one galaxy: it is moving away. (3) Say what the pattern with distance shows: further means faster, so space is expanding. (4) Finish with 'so in the past…' and link to the Big Bang.
Parallel worked example for Support (model it, do not give the task answer): Explain why a main sequence star stays the same size. (4 marks) Gravity pulls the material of the star inwards.; Fusion in the core releases energy, which causes the star to expand outwards.; In a main sequence star these are balanced (in equilibrium).; So the star does not collapse or expand, and its size stays the same.. Answer: Gravity pulls the star inwards while energy from fusion causes it to expand outwards; these are balanced in a main sequence star, so its size stays the same..
Core — reveal the hint only on request: Build a chain: wavelength → moving away → further means faster → expanding → smaller and denser in the past.
Stretch — no help; when finished: Add what has been observed since 1998, and explain why scientists say there is still much about the universe that is not understood.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Red-shift and the Big Bang (6 marks).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Explain how red-shift provides evidence for the Big Bang theory. (6 marks)
Support — work through the steps with the group: (1) Say what red-shift is: an increase in wavelength. (2) Say what it shows about one galaxy: it is moving away. (3) Say what the pattern with distance shows: further means faster, so space is expanding. (4) Finish with 'so in the past…' and link to the Big Bang.
Parallel worked example for Support (model it, do not give the task answer): Explain why a main sequence star stays the same size. (4 marks) Gravity pulls the material of the star inwards.; Fusion in the core releases energy, which causes the star to expand outwards.; In a main sequence star these are balanced (in equilibrium).; So the star does not collapse or expand, and its size stays the same.. Answer: Gravity pulls the star inwards while energy from fusion causes it to expand outwards; these are balanced in a main sequence star, so its size stays the same..
Core — reveal the hint only on request: Build a chain: wavelength → moving away → further means faster → expanding → smaller and denser in the past.
Stretch — no help; when finished: Add what has been observed since 1998, and explain why scientists say there is still much about the universe that is not understood.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Which command word asks you to give reasons for something?
Answer: C   Explain. 'Explain' wants reasons, linked with words such as because and so. 'Describe' wants what happens, without reasons.
Source of this question: gate item 1 re-asked (options rotated) — this chapter has no third quick-check module.
The ebook also holds task 3, "Staying in orbit (6 marks, Higher)",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Compare two life cycles (6 marks). Reveal the answer; pupils mark their own work in a different colour, then read the "why" together. Same destination for every lane, so one answer serves the whole class.
Answer: States that both stars form from a nebula pulled together by gravity into a protostar; States that both become main sequence stars, fusing hydrogen into helium; Sun-sized star: red giant, then white dwarf, then black dwarf; Massive star: red supergiant, then supernova, then neutron star or black hole; Uses comparison words (both, whereas, however) to set the stages side by side; Stages are in the correct order and the key words are used accurately
Why: A top answer gives the shared start, both separate endings in the correct order, and uses comparison words so the two paths are set side by side.
Model answer: Both stars begin in the same way. A nebula of dust and gas is pulled together by gravity to form a protostar. When it is hot and dense enough, hydrogen nuclei fuse into helium nuclei and both become main sequence stars. After the main sequence, their paths are different. When a star about the mass of the Sun runs out of hydrogen in its core, it swells into a red giant, then becomes a white dwarf, which slowly cools into a black dwarf. However, a much more massive star swells into a red supergiant. It then collapses and explodes as a supernova, leaving a neutron star or, if enough mass remains, a black hole.
Success criteria: States that both stars form from a nebula pulled together by gravity into a protostar; States that both become main sequence stars, fusing hydrogen into helium; Sun-sized star: red giant, then white dwarf, then black dwarf; Massive star: red supergiant, then supernova, then neutron star or black hole; Uses comparison words (both, whereas, however) to set the stages side by side; Stages are in the correct order and the key words are used accurately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Compare two life cycles (6 marks). Reveal the answer; pupils mark their own work in a different colour, then read the "why" together. Same destination for every lane, so one answer serves the whole class.
Answer: States that both stars form from a nebula pulled together by gravity into a protostar; States that both become main sequence stars, fusing hydrogen into helium; Sun-sized star: red giant, then white dwarf, then black dwarf; Massive star: red supergiant, then supernova, then neutron star or black hole; Uses comparison words (both, whereas, however) to set the stages side by side; Stages are in the correct order and the key words are used accurately
Why: A top answer gives the shared start, both separate endings in the correct order, and uses comparison words so the two paths are set side by side.
Model answer: Both stars begin in the same way. A nebula of dust and gas is pulled together by gravity to form a protostar. When it is hot and dense enough, hydrogen nuclei fuse into helium nuclei and both become main sequence stars. After the main sequence, their paths are different. When a star about the mass of the Sun runs out of hydrogen in its core, it swells into a red giant, then becomes a white dwarf, which slowly cools into a black dwarf. However, a much more massive star swells into a red supergiant. It then collapses and explodes as a supernova, leaving a neutron star or, if enough mass remains, a black hole.
Success criteria: States that both stars form from a nebula pulled together by gravity into a protostar; States that both become main sequence stars, fusing hydrogen into helium; Sun-sized star: red giant, then white dwarf, then black dwarf; Massive star: red supergiant, then supernova, then neutron star or black hole; Uses comparison words (both, whereas, however) to set the stages side by side; Stages are in the correct order and the key words are used accurately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Red-shift and the Big Bang (6 marks). Reveal the answer; pupils mark their own work in a different colour, then read the "why" together. Same destination for every lane, so one answer serves the whole class.
Answer: Red-shift is an observed increase in the wavelength of light from distant galaxies; Red-shift shows the galaxies are moving away from us; The further away a galaxy is, the bigger its red-shift, so the faster it is moving away; This shows that space itself (the universe) is expanding; If the universe is expanding, it must have been smaller in the past; Links this to the Big Bang: the universe began from a very small region that was extremely hot and dense
Why: The marks come from the chain of reasoning: increased wavelength, galaxies receding, speed increasing with distance, an expanding universe, and so a very small, hot, dense beginning.
Model answer: Light from distant galaxies is red-shifted. This means the wavelength of the light we observe has increased, so the dark lines in its spectrum are shifted towards the red end. This shows that the galaxies are moving away from us. The further away a galaxy is, the bigger its red-shift, so the more distant galaxies are moving away faster. This pattern shows that space itself is expanding. If the universe is expanding now, then in the past everything was closer together. Tracing the expansion backwards suggests that the universe began from a very small region that was extremely hot and dense, which is what the Big Bang theory states.
Success criteria: Red-shift is an observed increase in the wavelength of light from distant galaxies; Red-shift shows the galaxies are moving away from us; The further away a galaxy is, the bigger its red-shift, so the faster it is moving away; This shows that space itself (the universe) is expanding; If the universe is expanding, it must have been smaller in the past; Links this to the Big Bang: the universe began from a very small region that was extremely hot and dense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Red-shift and the Big Bang (6 marks). Reveal the answer; pupils mark their own work in a different colour, then read the "why" together. Same destination for every lane, so one answer serves the whole class.
Answer: Red-shift is an observed increase in the wavelength of light from distant galaxies; Red-shift shows the galaxies are moving away from us; The further away a galaxy is, the bigger its red-shift, so the faster it is moving away; This shows that space itself (the universe) is expanding; If the universe is expanding, it must have been smaller in the past; Links this to the Big Bang: the universe began from a very small region that was extremely hot and dense
Why: The marks come from the chain of reasoning: increased wavelength, galaxies receding, speed increasing with distance, an expanding universe, and so a very small, hot, dense beginning.
Model answer: Light from distant galaxies is red-shifted. This means the wavelength of the light we observe has increased, so the dark lines in its spectrum are shifted towards the red end. This shows that the galaxies are moving away from us. The further away a galaxy is, the bigger its red-shift, so the more distant galaxies are moving away faster. This pattern shows that space itself is expanding. If the universe is expanding now, then in the past everything was closer together. Tracing the expansion backwards suggests that the universe began from a very small region that was extremely hot and dense, which is what the Big Bang theory states.
Success criteria: Red-shift is an observed increase in the wavelength of light from distant galaxies; Red-shift shows the galaxies are moving away from us; The further away a galaxy is, the bigger its red-shift, so the faster it is moving away; This shows that space itself (the universe) is expanding; If the universe is expanding, it must have been smaller in the past; Links this to the Big Bang: the universe began from a very small region that was extremely hot and dense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C   Explain
Why: 'Explain' wants reasons, linked with words such as because and so. 'Describe' wants what happens, without reasons.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BBC1D1"/>
          </a:solidFill>
          <a:ln w="12700">
            <a:solidFill>
              <a:srgbClr val="BBC1D1"/>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Physics (Triple Science) · Year 11 · Space Physics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BBC1D1"/>
          </a:solidFill>
          <a:ln w="12700">
            <a:solidFill>
              <a:srgbClr val="BBC1D1"/>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Physics (Triple Science) · Year 11 · Space Physics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24366B"/>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C8CDDA"/>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24366B"/>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5</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24366B"/>
                </a:solidFill>
                <a:latin typeface="Calibri" pitchFamily="34" charset="0"/>
                <a:ea typeface="Calibri" pitchFamily="34" charset="-122"/>
                <a:cs typeface="Calibri" pitchFamily="34" charset="-120"/>
              </a:rPr>
              <a:t>Physics (Triple Science) · Year 11</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5/5</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Space Physics · AQA 8463</a:t>
            </a:r>
            <a:endParaRPr lang="en-US" sz="1800" dirty="0"/>
          </a:p>
        </p:txBody>
      </p:sp>
      <p:sp>
        <p:nvSpPr>
          <p:cNvPr id="10" name="deck-title"/>
          <p:cNvSpPr txBox="1"/>
          <p:nvPr/>
        </p:nvSpPr>
        <p:spPr>
          <a:xfrm>
            <a:off x="548640" y="1790192"/>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Exam skills: the 6-mark answer</a:t>
            </a:r>
            <a:endParaRPr lang="en-US" sz="4000" dirty="0"/>
          </a:p>
        </p:txBody>
      </p:sp>
      <p:sp>
        <p:nvSpPr>
          <p:cNvPr id="11" name="lessons-card"/>
          <p:cNvSpPr/>
          <p:nvPr/>
        </p:nvSpPr>
        <p:spPr>
          <a:xfrm>
            <a:off x="548640" y="3466592"/>
            <a:ext cx="5287975" cy="2186432"/>
          </a:xfrm>
          <a:prstGeom prst="roundRect">
            <a:avLst>
              <a:gd name="adj" fmla="val 3346"/>
            </a:avLst>
          </a:prstGeom>
          <a:solidFill>
            <a:srgbClr val="DEE1E9"/>
          </a:solidFill>
          <a:ln/>
        </p:spPr>
      </p:sp>
      <p:sp>
        <p:nvSpPr>
          <p:cNvPr id="12" name="lessons"/>
          <p:cNvSpPr txBox="1"/>
          <p:nvPr/>
        </p:nvSpPr>
        <p:spPr>
          <a:xfrm>
            <a:off x="685800" y="3558032"/>
            <a:ext cx="5013655" cy="2003552"/>
          </a:xfrm>
          <a:prstGeom prst="rect">
            <a:avLst/>
          </a:prstGeom>
          <a:noFill/>
          <a:ln/>
        </p:spPr>
        <p:txBody>
          <a:bodyPr wrap="square" lIns="63500" tIns="63500" rIns="63500" bIns="63500" rtlCol="0" anchor="t"/>
          <a:lstStyle/>
          <a:p>
            <a:pPr algn="l" indent="0" marL="0">
              <a:spcAft>
                <a:spcPts val="400"/>
              </a:spcAft>
              <a:buNone/>
            </a:pPr>
            <a:r>
              <a:rPr lang="en-US" sz="1800" b="1" dirty="0">
                <a:solidFill>
                  <a:srgbClr val="24366B"/>
                </a:solidFill>
                <a:latin typeface="Calibri" pitchFamily="34" charset="0"/>
                <a:ea typeface="Calibri" pitchFamily="34" charset="-122"/>
                <a:cs typeface="Calibri" pitchFamily="34" charset="-120"/>
              </a:rPr>
              <a:t>Lessons covered</a:t>
            </a:r>
            <a:endParaRPr lang="en-US" sz="1800" dirty="0"/>
          </a:p>
          <a:p>
            <a:pPr algn="l" indent="0" marL="0">
              <a:spcAft>
                <a:spcPts val="300"/>
              </a:spcAft>
              <a:buNone/>
            </a:pPr>
            <a:r>
              <a:rPr lang="en-US" sz="1800" b="1" dirty="0">
                <a:solidFill>
                  <a:srgbClr val="9C7225"/>
                </a:solidFill>
                <a:latin typeface="Calibri" pitchFamily="34" charset="0"/>
                <a:ea typeface="Calibri" pitchFamily="34" charset="-122"/>
                <a:cs typeface="Calibri" pitchFamily="34" charset="-120"/>
              </a:rPr>
              <a:t>1  </a:t>
            </a:r>
            <a:pPr algn="l" indent="0" marL="0">
              <a:spcAft>
                <a:spcPts val="300"/>
              </a:spcAft>
              <a:buNone/>
            </a:pPr>
            <a:r>
              <a:rPr lang="en-US" sz="1800" dirty="0">
                <a:solidFill>
                  <a:srgbClr val="1E2229"/>
                </a:solidFill>
                <a:latin typeface="Calibri" pitchFamily="34" charset="0"/>
                <a:ea typeface="Calibri" pitchFamily="34" charset="-122"/>
                <a:cs typeface="Calibri" pitchFamily="34" charset="-120"/>
              </a:rPr>
              <a:t>P16.1 Formation of the Solar System</a:t>
            </a:r>
            <a:endParaRPr lang="en-US" sz="1800" dirty="0"/>
          </a:p>
          <a:p>
            <a:pPr algn="l" indent="0" marL="0">
              <a:spcAft>
                <a:spcPts val="300"/>
              </a:spcAft>
              <a:buNone/>
            </a:pPr>
            <a:r>
              <a:rPr lang="en-US" sz="1800" b="1" dirty="0">
                <a:solidFill>
                  <a:srgbClr val="9C7225"/>
                </a:solidFill>
                <a:latin typeface="Calibri" pitchFamily="34" charset="0"/>
                <a:ea typeface="Calibri" pitchFamily="34" charset="-122"/>
                <a:cs typeface="Calibri" pitchFamily="34" charset="-120"/>
              </a:rPr>
              <a:t>2  </a:t>
            </a:r>
            <a:pPr algn="l" indent="0" marL="0">
              <a:spcAft>
                <a:spcPts val="300"/>
              </a:spcAft>
              <a:buNone/>
            </a:pPr>
            <a:r>
              <a:rPr lang="en-US" sz="1800" dirty="0">
                <a:solidFill>
                  <a:srgbClr val="1E2229"/>
                </a:solidFill>
                <a:latin typeface="Calibri" pitchFamily="34" charset="0"/>
                <a:ea typeface="Calibri" pitchFamily="34" charset="-122"/>
                <a:cs typeface="Calibri" pitchFamily="34" charset="-120"/>
              </a:rPr>
              <a:t>P16.2 The life history of a star</a:t>
            </a:r>
            <a:endParaRPr lang="en-US" sz="1800" dirty="0"/>
          </a:p>
          <a:p>
            <a:pPr algn="l" indent="0" marL="0">
              <a:spcAft>
                <a:spcPts val="300"/>
              </a:spcAft>
              <a:buNone/>
            </a:pPr>
            <a:r>
              <a:rPr lang="en-US" sz="1800" b="1" dirty="0">
                <a:solidFill>
                  <a:srgbClr val="9C7225"/>
                </a:solidFill>
                <a:latin typeface="Calibri" pitchFamily="34" charset="0"/>
                <a:ea typeface="Calibri" pitchFamily="34" charset="-122"/>
                <a:cs typeface="Calibri" pitchFamily="34" charset="-120"/>
              </a:rPr>
              <a:t>3  </a:t>
            </a:r>
            <a:pPr algn="l" indent="0" marL="0">
              <a:spcAft>
                <a:spcPts val="300"/>
              </a:spcAft>
              <a:buNone/>
            </a:pPr>
            <a:r>
              <a:rPr lang="en-US" sz="1800" dirty="0">
                <a:solidFill>
                  <a:srgbClr val="1E2229"/>
                </a:solidFill>
                <a:latin typeface="Calibri" pitchFamily="34" charset="0"/>
                <a:ea typeface="Calibri" pitchFamily="34" charset="-122"/>
                <a:cs typeface="Calibri" pitchFamily="34" charset="-120"/>
              </a:rPr>
              <a:t>P16.3 Planets, satellites, and orbits</a:t>
            </a:r>
            <a:endParaRPr lang="en-US" sz="1800" dirty="0"/>
          </a:p>
          <a:p>
            <a:pPr algn="l" indent="0" marL="0">
              <a:spcAft>
                <a:spcPts val="300"/>
              </a:spcAft>
              <a:buNone/>
            </a:pPr>
            <a:r>
              <a:rPr lang="en-US" sz="1800" b="1" dirty="0">
                <a:solidFill>
                  <a:srgbClr val="9C7225"/>
                </a:solidFill>
                <a:latin typeface="Calibri" pitchFamily="34" charset="0"/>
                <a:ea typeface="Calibri" pitchFamily="34" charset="-122"/>
                <a:cs typeface="Calibri" pitchFamily="34" charset="-120"/>
              </a:rPr>
              <a:t>4  </a:t>
            </a:r>
            <a:pPr algn="l" indent="0" marL="0">
              <a:spcAft>
                <a:spcPts val="300"/>
              </a:spcAft>
              <a:buNone/>
            </a:pPr>
            <a:r>
              <a:rPr lang="en-US" sz="1800" dirty="0">
                <a:solidFill>
                  <a:srgbClr val="1E2229"/>
                </a:solidFill>
                <a:latin typeface="Calibri" pitchFamily="34" charset="0"/>
                <a:ea typeface="Calibri" pitchFamily="34" charset="-122"/>
                <a:cs typeface="Calibri" pitchFamily="34" charset="-120"/>
              </a:rPr>
              <a:t>P16.4 The expanding universe</a:t>
            </a:r>
            <a:endParaRPr lang="en-US" sz="1800" dirty="0"/>
          </a:p>
          <a:p>
            <a:pPr algn="l" indent="0" marL="0">
              <a:spcAft>
                <a:spcPts val="300"/>
              </a:spcAft>
              <a:buNone/>
            </a:pPr>
            <a:r>
              <a:rPr lang="en-US" sz="1800" b="1" dirty="0">
                <a:solidFill>
                  <a:srgbClr val="9C7225"/>
                </a:solidFill>
                <a:latin typeface="Calibri" pitchFamily="34" charset="0"/>
                <a:ea typeface="Calibri" pitchFamily="34" charset="-122"/>
                <a:cs typeface="Calibri" pitchFamily="34" charset="-120"/>
              </a:rPr>
              <a:t>5  </a:t>
            </a:r>
            <a:pPr algn="l" indent="0" marL="0">
              <a:spcAft>
                <a:spcPts val="300"/>
              </a:spcAft>
              <a:buNone/>
            </a:pPr>
            <a:r>
              <a:rPr lang="en-US" sz="1800" dirty="0">
                <a:solidFill>
                  <a:srgbClr val="1E2229"/>
                </a:solidFill>
                <a:latin typeface="Calibri" pitchFamily="34" charset="0"/>
                <a:ea typeface="Calibri" pitchFamily="34" charset="-122"/>
                <a:cs typeface="Calibri" pitchFamily="34" charset="-120"/>
              </a:rPr>
              <a:t>P16.5 The beginning and future of the Universe</a:t>
            </a:r>
            <a:endParaRPr lang="en-US" sz="1800" dirty="0"/>
          </a:p>
        </p:txBody>
      </p:sp>
      <p:sp>
        <p:nvSpPr>
          <p:cNvPr id="13" name="plate-frame"/>
          <p:cNvSpPr/>
          <p:nvPr/>
        </p:nvSpPr>
        <p:spPr>
          <a:xfrm>
            <a:off x="6248095" y="411480"/>
            <a:ext cx="5394960" cy="3130677"/>
          </a:xfrm>
          <a:prstGeom prst="rect">
            <a:avLst/>
          </a:prstGeom>
          <a:solidFill>
            <a:srgbClr val="EFE3CE"/>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Physics (Triple Science), Year 11">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DEE1E9"/>
          </a:solidFill>
          <a:ln w="12700">
            <a:solidFill>
              <a:srgbClr val="9CA5BC"/>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24366B"/>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How did the Sun, the planets and the elements in your own body come to exist, and how do we know the universe is still growing?</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5E7ED"/>
          </a:solidFill>
          <a:ln w="12700">
            <a:solidFill>
              <a:srgbClr val="A7AFC4"/>
            </a:solidFill>
            <a:prstDash val="solid"/>
          </a:ln>
        </p:spPr>
      </p:sp>
      <p:sp>
        <p:nvSpPr>
          <p:cNvPr id="8" name="card-hex"/>
          <p:cNvSpPr/>
          <p:nvPr/>
        </p:nvSpPr>
        <p:spPr>
          <a:xfrm>
            <a:off x="731520" y="1572768"/>
            <a:ext cx="640080" cy="554309"/>
          </a:xfrm>
          <a:prstGeom prst="hexagon">
            <a:avLst/>
          </a:prstGeom>
          <a:solidFill>
            <a:srgbClr val="24366B"/>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Which command word asks you to give reasons for something?</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State</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Name</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Describe</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Explain</a:t>
            </a:r>
            <a:endParaRPr lang="en-US" sz="2400" dirty="0"/>
          </a:p>
        </p:txBody>
      </p:sp>
      <p:sp>
        <p:nvSpPr>
          <p:cNvPr id="12" name="card"/>
          <p:cNvSpPr/>
          <p:nvPr/>
        </p:nvSpPr>
        <p:spPr>
          <a:xfrm>
            <a:off x="4338218" y="1389888"/>
            <a:ext cx="3515258" cy="4754880"/>
          </a:xfrm>
          <a:prstGeom prst="roundRect">
            <a:avLst>
              <a:gd name="adj" fmla="val 1561"/>
            </a:avLst>
          </a:prstGeom>
          <a:solidFill>
            <a:srgbClr val="E5E7ED"/>
          </a:solidFill>
          <a:ln w="12700">
            <a:solidFill>
              <a:srgbClr val="A7AFC4"/>
            </a:solidFill>
            <a:prstDash val="solid"/>
          </a:ln>
        </p:spPr>
      </p:sp>
      <p:sp>
        <p:nvSpPr>
          <p:cNvPr id="13" name="card-hex"/>
          <p:cNvSpPr/>
          <p:nvPr/>
        </p:nvSpPr>
        <p:spPr>
          <a:xfrm>
            <a:off x="4521098" y="1572768"/>
            <a:ext cx="640080" cy="554309"/>
          </a:xfrm>
          <a:prstGeom prst="hexagon">
            <a:avLst/>
          </a:prstGeom>
          <a:solidFill>
            <a:srgbClr val="24366B"/>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In a 'compare' question you must say what is the same and what is ___.</a:t>
            </a:r>
            <a:endParaRPr lang="en-US" sz="2400" dirty="0"/>
          </a:p>
          <a:p>
            <a:pPr algn="l" indent="0" marL="0">
              <a:buNone/>
            </a:pPr>
            <a:r>
              <a:rPr lang="en-US" sz="2400" b="1" dirty="0">
                <a:solidFill>
                  <a:srgbClr val="24366B"/>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different  ·  correct  ·  longest</a:t>
            </a:r>
            <a:endParaRPr lang="en-US" sz="2400" dirty="0"/>
          </a:p>
        </p:txBody>
      </p:sp>
      <p:sp>
        <p:nvSpPr>
          <p:cNvPr id="17" name="card"/>
          <p:cNvSpPr/>
          <p:nvPr/>
        </p:nvSpPr>
        <p:spPr>
          <a:xfrm>
            <a:off x="8127797" y="1389888"/>
            <a:ext cx="3515258" cy="4754880"/>
          </a:xfrm>
          <a:prstGeom prst="roundRect">
            <a:avLst>
              <a:gd name="adj" fmla="val 1561"/>
            </a:avLst>
          </a:prstGeom>
          <a:solidFill>
            <a:srgbClr val="E5E7ED"/>
          </a:solidFill>
          <a:ln w="12700">
            <a:solidFill>
              <a:srgbClr val="A7AFC4"/>
            </a:solidFill>
            <a:prstDash val="solid"/>
          </a:ln>
        </p:spPr>
      </p:sp>
      <p:sp>
        <p:nvSpPr>
          <p:cNvPr id="18" name="card-hex"/>
          <p:cNvSpPr/>
          <p:nvPr/>
        </p:nvSpPr>
        <p:spPr>
          <a:xfrm>
            <a:off x="8310677" y="1572768"/>
            <a:ext cx="640080" cy="554309"/>
          </a:xfrm>
          <a:prstGeom prst="hexagon">
            <a:avLst/>
          </a:prstGeom>
          <a:solidFill>
            <a:srgbClr val="24366B"/>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1E2229"/>
                </a:solidFill>
                <a:latin typeface="Calibri" pitchFamily="34" charset="0"/>
                <a:ea typeface="Calibri" pitchFamily="34" charset="-122"/>
                <a:cs typeface="Calibri" pitchFamily="34" charset="-120"/>
              </a:rPr>
              <a:t>How are 6-mark answers marked?</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Only on the final sentence</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One mark for each key word, however it is used</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Only on spelling</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On the quality of the whole answer, using levels</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5E7ED"/>
          </a:solidFill>
          <a:ln w="12700">
            <a:solidFill>
              <a:srgbClr val="A7AFC4"/>
            </a:solidFill>
            <a:prstDash val="solid"/>
          </a:ln>
        </p:spPr>
      </p:sp>
      <p:sp>
        <p:nvSpPr>
          <p:cNvPr id="8" name="card-hex"/>
          <p:cNvSpPr/>
          <p:nvPr/>
        </p:nvSpPr>
        <p:spPr>
          <a:xfrm>
            <a:off x="731520" y="1572768"/>
            <a:ext cx="640080" cy="554309"/>
          </a:xfrm>
          <a:prstGeom prst="hexagon">
            <a:avLst/>
          </a:prstGeom>
          <a:solidFill>
            <a:srgbClr val="24366B"/>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ADBBF"/>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   Explain</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Which command word asks you to give reasons for something?</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'Explain' wants reasons, linked with words such as because and so. 'Describe' wants what happens, without reasons.</a:t>
            </a:r>
            <a:endParaRPr lang="en-US" sz="2000" dirty="0"/>
          </a:p>
        </p:txBody>
      </p:sp>
      <p:sp>
        <p:nvSpPr>
          <p:cNvPr id="14" name="card"/>
          <p:cNvSpPr/>
          <p:nvPr/>
        </p:nvSpPr>
        <p:spPr>
          <a:xfrm>
            <a:off x="4338218" y="1389888"/>
            <a:ext cx="3515258" cy="4754880"/>
          </a:xfrm>
          <a:prstGeom prst="roundRect">
            <a:avLst>
              <a:gd name="adj" fmla="val 1561"/>
            </a:avLst>
          </a:prstGeom>
          <a:solidFill>
            <a:srgbClr val="E5E7ED"/>
          </a:solidFill>
          <a:ln w="12700">
            <a:solidFill>
              <a:srgbClr val="A7AFC4"/>
            </a:solidFill>
            <a:prstDash val="solid"/>
          </a:ln>
        </p:spPr>
      </p:sp>
      <p:sp>
        <p:nvSpPr>
          <p:cNvPr id="15" name="card-hex"/>
          <p:cNvSpPr/>
          <p:nvPr/>
        </p:nvSpPr>
        <p:spPr>
          <a:xfrm>
            <a:off x="4521098" y="1572768"/>
            <a:ext cx="640080" cy="554309"/>
          </a:xfrm>
          <a:prstGeom prst="hexagon">
            <a:avLst/>
          </a:prstGeom>
          <a:solidFill>
            <a:srgbClr val="24366B"/>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ADBBF"/>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different</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In a 'compare' question you must say what is the same and what is ___.</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Comparing means giving similarities and differences side by side.</a:t>
            </a:r>
            <a:endParaRPr lang="en-US" sz="2200" dirty="0"/>
          </a:p>
        </p:txBody>
      </p:sp>
      <p:sp>
        <p:nvSpPr>
          <p:cNvPr id="21" name="card"/>
          <p:cNvSpPr/>
          <p:nvPr/>
        </p:nvSpPr>
        <p:spPr>
          <a:xfrm>
            <a:off x="8127797" y="1389888"/>
            <a:ext cx="3515258" cy="4754880"/>
          </a:xfrm>
          <a:prstGeom prst="roundRect">
            <a:avLst>
              <a:gd name="adj" fmla="val 1561"/>
            </a:avLst>
          </a:prstGeom>
          <a:solidFill>
            <a:srgbClr val="E5E7ED"/>
          </a:solidFill>
          <a:ln w="12700">
            <a:solidFill>
              <a:srgbClr val="A7AFC4"/>
            </a:solidFill>
            <a:prstDash val="solid"/>
          </a:ln>
        </p:spPr>
      </p:sp>
      <p:sp>
        <p:nvSpPr>
          <p:cNvPr id="22" name="card-hex"/>
          <p:cNvSpPr/>
          <p:nvPr/>
        </p:nvSpPr>
        <p:spPr>
          <a:xfrm>
            <a:off x="8310677" y="1572768"/>
            <a:ext cx="640080" cy="554309"/>
          </a:xfrm>
          <a:prstGeom prst="hexagon">
            <a:avLst/>
          </a:prstGeom>
          <a:solidFill>
            <a:srgbClr val="24366B"/>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1295908"/>
          </a:xfrm>
          <a:prstGeom prst="roundRect">
            <a:avLst>
              <a:gd name="adj" fmla="val 8467"/>
            </a:avLst>
          </a:prstGeom>
          <a:solidFill>
            <a:srgbClr val="EADBBF"/>
          </a:solidFill>
          <a:ln w="19050">
            <a:solidFill>
              <a:srgbClr val="B8862B"/>
            </a:solidFill>
            <a:prstDash val="solid"/>
          </a:ln>
        </p:spPr>
      </p:sp>
      <p:sp>
        <p:nvSpPr>
          <p:cNvPr id="26" name="answer"/>
          <p:cNvSpPr txBox="1"/>
          <p:nvPr/>
        </p:nvSpPr>
        <p:spPr>
          <a:xfrm>
            <a:off x="8402117" y="2428829"/>
            <a:ext cx="2966618"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   On the quality of the whole answer, using levels</a:t>
            </a:r>
            <a:endParaRPr lang="en-US" sz="2200" dirty="0"/>
          </a:p>
        </p:txBody>
      </p:sp>
      <p:sp>
        <p:nvSpPr>
          <p:cNvPr id="27" name="card-body"/>
          <p:cNvSpPr txBox="1"/>
          <p:nvPr/>
        </p:nvSpPr>
        <p:spPr>
          <a:xfrm>
            <a:off x="8310677" y="3834465"/>
            <a:ext cx="3149498" cy="2173143"/>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How are 6-mark answers marked?</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They are marked by levels of response: the examiner judges the whole answer for detail, accuracy and logic.</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Key words</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Pre-teach</a:t>
            </a:r>
            <a:endParaRPr lang="en-US" sz="1800" dirty="0"/>
          </a:p>
        </p:txBody>
      </p:sp>
      <p:sp>
        <p:nvSpPr>
          <p:cNvPr id="7" name="kw-head"/>
          <p:cNvSpPr/>
          <p:nvPr/>
        </p:nvSpPr>
        <p:spPr>
          <a:xfrm>
            <a:off x="548640" y="1389888"/>
            <a:ext cx="11094415" cy="457200"/>
          </a:xfrm>
          <a:prstGeom prst="roundRect">
            <a:avLst>
              <a:gd name="adj" fmla="val 16000"/>
            </a:avLst>
          </a:prstGeom>
          <a:solidFill>
            <a:srgbClr val="24366B"/>
          </a:solidFill>
          <a:ln/>
        </p:spPr>
      </p:sp>
      <p:sp>
        <p:nvSpPr>
          <p:cNvPr id="8" name="kw-headtext"/>
          <p:cNvSpPr txBox="1"/>
          <p:nvPr/>
        </p:nvSpPr>
        <p:spPr>
          <a:xfrm>
            <a:off x="1143000" y="1389888"/>
            <a:ext cx="2331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Word</a:t>
            </a:r>
            <a:endParaRPr lang="en-US" sz="1800" dirty="0"/>
          </a:p>
        </p:txBody>
      </p:sp>
      <p:sp>
        <p:nvSpPr>
          <p:cNvPr id="9" name="kw-headtext"/>
          <p:cNvSpPr txBox="1"/>
          <p:nvPr/>
        </p:nvSpPr>
        <p:spPr>
          <a:xfrm>
            <a:off x="3657600" y="1389888"/>
            <a:ext cx="3474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What it means</a:t>
            </a:r>
            <a:endParaRPr lang="en-US" sz="1800" dirty="0"/>
          </a:p>
        </p:txBody>
      </p:sp>
      <p:sp>
        <p:nvSpPr>
          <p:cNvPr id="10" name="kw-headtext"/>
          <p:cNvSpPr txBox="1"/>
          <p:nvPr/>
        </p:nvSpPr>
        <p:spPr>
          <a:xfrm>
            <a:off x="7315200" y="1389888"/>
            <a:ext cx="4236415"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In a sentence</a:t>
            </a:r>
            <a:endParaRPr lang="en-US" sz="1800" dirty="0"/>
          </a:p>
        </p:txBody>
      </p:sp>
      <p:sp>
        <p:nvSpPr>
          <p:cNvPr id="11" name="kw-row"/>
          <p:cNvSpPr/>
          <p:nvPr/>
        </p:nvSpPr>
        <p:spPr>
          <a:xfrm>
            <a:off x="548640" y="1920240"/>
            <a:ext cx="11094415" cy="786384"/>
          </a:xfrm>
          <a:prstGeom prst="roundRect">
            <a:avLst>
              <a:gd name="adj" fmla="val 6977"/>
            </a:avLst>
          </a:prstGeom>
          <a:solidFill>
            <a:srgbClr val="E3E5EC"/>
          </a:solidFill>
          <a:ln/>
        </p:spPr>
      </p:sp>
      <p:sp>
        <p:nvSpPr>
          <p:cNvPr id="12" name="kw-hex"/>
          <p:cNvSpPr/>
          <p:nvPr/>
        </p:nvSpPr>
        <p:spPr>
          <a:xfrm>
            <a:off x="658368" y="2135261"/>
            <a:ext cx="411480" cy="356342"/>
          </a:xfrm>
          <a:prstGeom prst="hexagon">
            <a:avLst/>
          </a:prstGeom>
          <a:solidFill>
            <a:srgbClr val="24366B"/>
          </a:solidFill>
          <a:ln/>
        </p:spPr>
      </p:sp>
      <p:sp>
        <p:nvSpPr>
          <p:cNvPr id="13" name="kw-cell"/>
          <p:cNvSpPr txBox="1"/>
          <p:nvPr/>
        </p:nvSpPr>
        <p:spPr>
          <a:xfrm>
            <a:off x="1143000" y="1920240"/>
            <a:ext cx="2331720" cy="786384"/>
          </a:xfrm>
          <a:prstGeom prst="rect">
            <a:avLst/>
          </a:prstGeom>
          <a:noFill/>
          <a:ln/>
        </p:spPr>
        <p:txBody>
          <a:bodyPr wrap="square" lIns="63500" tIns="63500" rIns="63500" bIns="63500" rtlCol="0" anchor="ctr"/>
          <a:lstStyle/>
          <a:p>
            <a:pPr algn="l" indent="0" marL="0">
              <a:buNone/>
            </a:pPr>
            <a:r>
              <a:rPr lang="en-US" sz="2000" b="1" dirty="0">
                <a:solidFill>
                  <a:srgbClr val="24366B"/>
                </a:solidFill>
                <a:latin typeface="Cambria" pitchFamily="34" charset="0"/>
                <a:ea typeface="Cambria" pitchFamily="34" charset="-122"/>
                <a:cs typeface="Cambria" pitchFamily="34" charset="-120"/>
              </a:rPr>
              <a:t>command word</a:t>
            </a:r>
            <a:endParaRPr lang="en-US" sz="2000" dirty="0"/>
          </a:p>
        </p:txBody>
      </p:sp>
      <p:sp>
        <p:nvSpPr>
          <p:cNvPr id="14" name="kw-cell"/>
          <p:cNvSpPr txBox="1"/>
          <p:nvPr/>
        </p:nvSpPr>
        <p:spPr>
          <a:xfrm>
            <a:off x="3657600" y="1920240"/>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word in a question that tells you what to do</a:t>
            </a:r>
            <a:endParaRPr lang="en-US" sz="1800" dirty="0"/>
          </a:p>
        </p:txBody>
      </p:sp>
      <p:sp>
        <p:nvSpPr>
          <p:cNvPr id="15" name="kw-cell"/>
          <p:cNvSpPr txBox="1"/>
          <p:nvPr/>
        </p:nvSpPr>
        <p:spPr>
          <a:xfrm>
            <a:off x="7315200" y="1920240"/>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command word 'explain' means you must give reasons.</a:t>
            </a:r>
            <a:endParaRPr lang="en-US" sz="1800" dirty="0"/>
          </a:p>
        </p:txBody>
      </p:sp>
      <p:sp>
        <p:nvSpPr>
          <p:cNvPr id="16" name="kw-row"/>
          <p:cNvSpPr/>
          <p:nvPr/>
        </p:nvSpPr>
        <p:spPr>
          <a:xfrm>
            <a:off x="548640" y="2779776"/>
            <a:ext cx="11094415" cy="786384"/>
          </a:xfrm>
          <a:prstGeom prst="roundRect">
            <a:avLst>
              <a:gd name="adj" fmla="val 6977"/>
            </a:avLst>
          </a:prstGeom>
          <a:solidFill>
            <a:srgbClr val="F3EADB"/>
          </a:solidFill>
          <a:ln/>
        </p:spPr>
      </p:sp>
      <p:sp>
        <p:nvSpPr>
          <p:cNvPr id="17" name="kw-hex"/>
          <p:cNvSpPr/>
          <p:nvPr/>
        </p:nvSpPr>
        <p:spPr>
          <a:xfrm>
            <a:off x="658368" y="2994797"/>
            <a:ext cx="411480" cy="356342"/>
          </a:xfrm>
          <a:prstGeom prst="hexagon">
            <a:avLst/>
          </a:prstGeom>
          <a:solidFill>
            <a:srgbClr val="B8862B"/>
          </a:solidFill>
          <a:ln/>
        </p:spPr>
      </p:sp>
      <p:sp>
        <p:nvSpPr>
          <p:cNvPr id="18" name="kw-cell"/>
          <p:cNvSpPr txBox="1"/>
          <p:nvPr/>
        </p:nvSpPr>
        <p:spPr>
          <a:xfrm>
            <a:off x="1143000" y="2779776"/>
            <a:ext cx="2331720" cy="786384"/>
          </a:xfrm>
          <a:prstGeom prst="rect">
            <a:avLst/>
          </a:prstGeom>
          <a:noFill/>
          <a:ln/>
        </p:spPr>
        <p:txBody>
          <a:bodyPr wrap="square" lIns="63500" tIns="63500" rIns="63500" bIns="63500" rtlCol="0" anchor="ctr"/>
          <a:lstStyle/>
          <a:p>
            <a:pPr algn="l" indent="0" marL="0">
              <a:buNone/>
            </a:pPr>
            <a:r>
              <a:rPr lang="en-US" sz="2000" b="1" dirty="0">
                <a:solidFill>
                  <a:srgbClr val="24366B"/>
                </a:solidFill>
                <a:latin typeface="Cambria" pitchFamily="34" charset="0"/>
                <a:ea typeface="Cambria" pitchFamily="34" charset="-122"/>
                <a:cs typeface="Cambria" pitchFamily="34" charset="-120"/>
              </a:rPr>
              <a:t>describe</a:t>
            </a:r>
            <a:endParaRPr lang="en-US" sz="2000" dirty="0"/>
          </a:p>
        </p:txBody>
      </p:sp>
      <p:sp>
        <p:nvSpPr>
          <p:cNvPr id="19" name="kw-cell"/>
          <p:cNvSpPr txBox="1"/>
          <p:nvPr/>
        </p:nvSpPr>
        <p:spPr>
          <a:xfrm>
            <a:off x="3657600" y="2779776"/>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say what happens, in order, without reasons</a:t>
            </a:r>
            <a:endParaRPr lang="en-US" sz="1800" dirty="0"/>
          </a:p>
        </p:txBody>
      </p:sp>
      <p:sp>
        <p:nvSpPr>
          <p:cNvPr id="20" name="kw-cell"/>
          <p:cNvSpPr txBox="1"/>
          <p:nvPr/>
        </p:nvSpPr>
        <p:spPr>
          <a:xfrm>
            <a:off x="7315200" y="2779776"/>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Describe the life cycle of the Sun, stage by stage.</a:t>
            </a:r>
            <a:endParaRPr lang="en-US" sz="1800" dirty="0"/>
          </a:p>
        </p:txBody>
      </p:sp>
      <p:sp>
        <p:nvSpPr>
          <p:cNvPr id="21" name="kw-row"/>
          <p:cNvSpPr/>
          <p:nvPr/>
        </p:nvSpPr>
        <p:spPr>
          <a:xfrm>
            <a:off x="548640" y="3639312"/>
            <a:ext cx="11094415" cy="786384"/>
          </a:xfrm>
          <a:prstGeom prst="roundRect">
            <a:avLst>
              <a:gd name="adj" fmla="val 6977"/>
            </a:avLst>
          </a:prstGeom>
          <a:solidFill>
            <a:srgbClr val="E3E5EC"/>
          </a:solidFill>
          <a:ln/>
        </p:spPr>
      </p:sp>
      <p:sp>
        <p:nvSpPr>
          <p:cNvPr id="22" name="kw-hex"/>
          <p:cNvSpPr/>
          <p:nvPr/>
        </p:nvSpPr>
        <p:spPr>
          <a:xfrm>
            <a:off x="658368" y="3854333"/>
            <a:ext cx="411480" cy="356342"/>
          </a:xfrm>
          <a:prstGeom prst="hexagon">
            <a:avLst/>
          </a:prstGeom>
          <a:solidFill>
            <a:srgbClr val="24366B"/>
          </a:solidFill>
          <a:ln/>
        </p:spPr>
      </p:sp>
      <p:sp>
        <p:nvSpPr>
          <p:cNvPr id="23" name="kw-cell"/>
          <p:cNvSpPr txBox="1"/>
          <p:nvPr/>
        </p:nvSpPr>
        <p:spPr>
          <a:xfrm>
            <a:off x="1143000" y="3639312"/>
            <a:ext cx="2331720" cy="786384"/>
          </a:xfrm>
          <a:prstGeom prst="rect">
            <a:avLst/>
          </a:prstGeom>
          <a:noFill/>
          <a:ln/>
        </p:spPr>
        <p:txBody>
          <a:bodyPr wrap="square" lIns="63500" tIns="63500" rIns="63500" bIns="63500" rtlCol="0" anchor="ctr"/>
          <a:lstStyle/>
          <a:p>
            <a:pPr algn="l" indent="0" marL="0">
              <a:buNone/>
            </a:pPr>
            <a:r>
              <a:rPr lang="en-US" sz="2000" b="1" dirty="0">
                <a:solidFill>
                  <a:srgbClr val="24366B"/>
                </a:solidFill>
                <a:latin typeface="Cambria" pitchFamily="34" charset="0"/>
                <a:ea typeface="Cambria" pitchFamily="34" charset="-122"/>
                <a:cs typeface="Cambria" pitchFamily="34" charset="-120"/>
              </a:rPr>
              <a:t>explain</a:t>
            </a:r>
            <a:endParaRPr lang="en-US" sz="2000" dirty="0"/>
          </a:p>
        </p:txBody>
      </p:sp>
      <p:sp>
        <p:nvSpPr>
          <p:cNvPr id="24" name="kw-cell"/>
          <p:cNvSpPr txBox="1"/>
          <p:nvPr/>
        </p:nvSpPr>
        <p:spPr>
          <a:xfrm>
            <a:off x="3657600" y="3639312"/>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give reasons, using linking words like because and so</a:t>
            </a:r>
            <a:endParaRPr lang="en-US" sz="1800" dirty="0"/>
          </a:p>
        </p:txBody>
      </p:sp>
      <p:sp>
        <p:nvSpPr>
          <p:cNvPr id="25" name="kw-cell"/>
          <p:cNvSpPr txBox="1"/>
          <p:nvPr/>
        </p:nvSpPr>
        <p:spPr>
          <a:xfrm>
            <a:off x="7315200" y="3639312"/>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Explain why the Sun stays the same size.</a:t>
            </a:r>
            <a:endParaRPr lang="en-US" sz="1800" dirty="0"/>
          </a:p>
        </p:txBody>
      </p:sp>
      <p:sp>
        <p:nvSpPr>
          <p:cNvPr id="26" name="kw-row"/>
          <p:cNvSpPr/>
          <p:nvPr/>
        </p:nvSpPr>
        <p:spPr>
          <a:xfrm>
            <a:off x="548640" y="4498848"/>
            <a:ext cx="11094415" cy="786384"/>
          </a:xfrm>
          <a:prstGeom prst="roundRect">
            <a:avLst>
              <a:gd name="adj" fmla="val 6977"/>
            </a:avLst>
          </a:prstGeom>
          <a:solidFill>
            <a:srgbClr val="F3EADB"/>
          </a:solidFill>
          <a:ln/>
        </p:spPr>
      </p:sp>
      <p:sp>
        <p:nvSpPr>
          <p:cNvPr id="27" name="kw-hex"/>
          <p:cNvSpPr/>
          <p:nvPr/>
        </p:nvSpPr>
        <p:spPr>
          <a:xfrm>
            <a:off x="658368" y="4713869"/>
            <a:ext cx="411480" cy="356342"/>
          </a:xfrm>
          <a:prstGeom prst="hexagon">
            <a:avLst/>
          </a:prstGeom>
          <a:solidFill>
            <a:srgbClr val="B8862B"/>
          </a:solidFill>
          <a:ln/>
        </p:spPr>
      </p:sp>
      <p:sp>
        <p:nvSpPr>
          <p:cNvPr id="28" name="kw-cell"/>
          <p:cNvSpPr txBox="1"/>
          <p:nvPr/>
        </p:nvSpPr>
        <p:spPr>
          <a:xfrm>
            <a:off x="1143000" y="4498848"/>
            <a:ext cx="2331720" cy="786384"/>
          </a:xfrm>
          <a:prstGeom prst="rect">
            <a:avLst/>
          </a:prstGeom>
          <a:noFill/>
          <a:ln/>
        </p:spPr>
        <p:txBody>
          <a:bodyPr wrap="square" lIns="63500" tIns="63500" rIns="63500" bIns="63500" rtlCol="0" anchor="ctr"/>
          <a:lstStyle/>
          <a:p>
            <a:pPr algn="l" indent="0" marL="0">
              <a:buNone/>
            </a:pPr>
            <a:r>
              <a:rPr lang="en-US" sz="2000" b="1" dirty="0">
                <a:solidFill>
                  <a:srgbClr val="24366B"/>
                </a:solidFill>
                <a:latin typeface="Cambria" pitchFamily="34" charset="0"/>
                <a:ea typeface="Cambria" pitchFamily="34" charset="-122"/>
                <a:cs typeface="Cambria" pitchFamily="34" charset="-120"/>
              </a:rPr>
              <a:t>compare</a:t>
            </a:r>
            <a:endParaRPr lang="en-US" sz="2000" dirty="0"/>
          </a:p>
        </p:txBody>
      </p:sp>
      <p:sp>
        <p:nvSpPr>
          <p:cNvPr id="29" name="kw-cell"/>
          <p:cNvSpPr txBox="1"/>
          <p:nvPr/>
        </p:nvSpPr>
        <p:spPr>
          <a:xfrm>
            <a:off x="3657600" y="4498848"/>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say what is the same and what is different</a:t>
            </a:r>
            <a:endParaRPr lang="en-US" sz="1800" dirty="0"/>
          </a:p>
        </p:txBody>
      </p:sp>
      <p:sp>
        <p:nvSpPr>
          <p:cNvPr id="30" name="kw-cell"/>
          <p:cNvSpPr txBox="1"/>
          <p:nvPr/>
        </p:nvSpPr>
        <p:spPr>
          <a:xfrm>
            <a:off x="7315200" y="4498848"/>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Compare the life cycles of two stars of different mass.</a:t>
            </a:r>
            <a:endParaRPr lang="en-US" sz="1800" dirty="0"/>
          </a:p>
        </p:txBody>
      </p:sp>
      <p:sp>
        <p:nvSpPr>
          <p:cNvPr id="31" name="kw-row"/>
          <p:cNvSpPr/>
          <p:nvPr/>
        </p:nvSpPr>
        <p:spPr>
          <a:xfrm>
            <a:off x="548640" y="5358384"/>
            <a:ext cx="11094415" cy="786384"/>
          </a:xfrm>
          <a:prstGeom prst="roundRect">
            <a:avLst>
              <a:gd name="adj" fmla="val 6977"/>
            </a:avLst>
          </a:prstGeom>
          <a:solidFill>
            <a:srgbClr val="E3E5EC"/>
          </a:solidFill>
          <a:ln/>
        </p:spPr>
      </p:sp>
      <p:sp>
        <p:nvSpPr>
          <p:cNvPr id="32" name="kw-hex"/>
          <p:cNvSpPr/>
          <p:nvPr/>
        </p:nvSpPr>
        <p:spPr>
          <a:xfrm>
            <a:off x="658368" y="5573405"/>
            <a:ext cx="411480" cy="356342"/>
          </a:xfrm>
          <a:prstGeom prst="hexagon">
            <a:avLst/>
          </a:prstGeom>
          <a:solidFill>
            <a:srgbClr val="24366B"/>
          </a:solidFill>
          <a:ln/>
        </p:spPr>
      </p:sp>
      <p:sp>
        <p:nvSpPr>
          <p:cNvPr id="33" name="kw-cell"/>
          <p:cNvSpPr txBox="1"/>
          <p:nvPr/>
        </p:nvSpPr>
        <p:spPr>
          <a:xfrm>
            <a:off x="1143000" y="5358384"/>
            <a:ext cx="2331720" cy="786384"/>
          </a:xfrm>
          <a:prstGeom prst="rect">
            <a:avLst/>
          </a:prstGeom>
          <a:noFill/>
          <a:ln/>
        </p:spPr>
        <p:txBody>
          <a:bodyPr wrap="square" lIns="63500" tIns="63500" rIns="63500" bIns="63500" rtlCol="0" anchor="ctr"/>
          <a:lstStyle/>
          <a:p>
            <a:pPr algn="l" indent="0" marL="0">
              <a:buNone/>
            </a:pPr>
            <a:r>
              <a:rPr lang="en-US" sz="2000" b="1" dirty="0">
                <a:solidFill>
                  <a:srgbClr val="24366B"/>
                </a:solidFill>
                <a:latin typeface="Cambria" pitchFamily="34" charset="0"/>
                <a:ea typeface="Cambria" pitchFamily="34" charset="-122"/>
                <a:cs typeface="Cambria" pitchFamily="34" charset="-120"/>
              </a:rPr>
              <a:t>levels of response</a:t>
            </a:r>
            <a:endParaRPr lang="en-US" sz="2000" dirty="0"/>
          </a:p>
        </p:txBody>
      </p:sp>
      <p:sp>
        <p:nvSpPr>
          <p:cNvPr id="34" name="kw-cell"/>
          <p:cNvSpPr txBox="1"/>
          <p:nvPr/>
        </p:nvSpPr>
        <p:spPr>
          <a:xfrm>
            <a:off x="3657600" y="5358384"/>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marking the whole answer for its quality, not counting single facts</a:t>
            </a:r>
            <a:endParaRPr lang="en-US" sz="1800" dirty="0"/>
          </a:p>
        </p:txBody>
      </p:sp>
      <p:sp>
        <p:nvSpPr>
          <p:cNvPr id="35" name="kw-cell"/>
          <p:cNvSpPr txBox="1"/>
          <p:nvPr/>
        </p:nvSpPr>
        <p:spPr>
          <a:xfrm>
            <a:off x="7315200" y="5358384"/>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A 6-mark answer is marked using levels of response.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Read-along</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24366B"/>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5E7ED"/>
          </a:solidFill>
          <a:ln w="12700">
            <a:solidFill>
              <a:srgbClr val="B2B9CB"/>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Some exam questions are worth 6 marks.</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They test whether you can write a clear, linked answer.</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First, read the </a:t>
            </a:r>
            <a:pPr algn="l" indent="0" marL="0">
              <a:spcAft>
                <a:spcPts val="600"/>
              </a:spcAft>
              <a:buNone/>
            </a:pPr>
            <a:r>
              <a:rPr lang="en-US" sz="2000" b="1" dirty="0">
                <a:solidFill>
                  <a:srgbClr val="24366B"/>
                </a:solidFill>
                <a:latin typeface="Calibri" pitchFamily="34" charset="0"/>
                <a:ea typeface="Calibri" pitchFamily="34" charset="-122"/>
                <a:cs typeface="Calibri" pitchFamily="34" charset="-120"/>
              </a:rPr>
              <a:t>command word</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 carefully.</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000" b="1" dirty="0">
                <a:solidFill>
                  <a:srgbClr val="24366B"/>
                </a:solidFill>
                <a:latin typeface="Calibri" pitchFamily="34" charset="0"/>
                <a:ea typeface="Calibri" pitchFamily="34" charset="-122"/>
                <a:cs typeface="Calibri" pitchFamily="34" charset="-120"/>
              </a:rPr>
              <a:t>Describe</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 means say what happens, in order.</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000" b="1" dirty="0">
                <a:solidFill>
                  <a:srgbClr val="24366B"/>
                </a:solidFill>
                <a:latin typeface="Calibri" pitchFamily="34" charset="0"/>
                <a:ea typeface="Calibri" pitchFamily="34" charset="-122"/>
                <a:cs typeface="Calibri" pitchFamily="34" charset="-120"/>
              </a:rPr>
              <a:t>Explain</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 means give reasons, using words like because and so.</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000" b="1" dirty="0">
                <a:solidFill>
                  <a:srgbClr val="24366B"/>
                </a:solidFill>
                <a:latin typeface="Calibri" pitchFamily="34" charset="0"/>
                <a:ea typeface="Calibri" pitchFamily="34" charset="-122"/>
                <a:cs typeface="Calibri" pitchFamily="34" charset="-120"/>
              </a:rPr>
              <a:t>Compare</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 means say what is the same and what is different.</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Next, plan your answer in three or four quick points.</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Use the key words from this unit, spelled correctly.</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Write in full sentences and keep the steps in order.</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Examiners mark the whole answer, not just single facts.</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 top answer is detailed, accurate and logical.</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Read the command word</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1E7D5"/>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For 'compare', use 'both' for similarities and 'whereas' or 'however' for differences.</a:t>
            </a:r>
            <a:endParaRPr lang="en-US" sz="1800" dirty="0"/>
          </a:p>
        </p:txBody>
      </p:sp>
      <p:sp>
        <p:nvSpPr>
          <p:cNvPr id="11" name="point-card"/>
          <p:cNvSpPr/>
          <p:nvPr/>
        </p:nvSpPr>
        <p:spPr>
          <a:xfrm>
            <a:off x="548640" y="1389888"/>
            <a:ext cx="3515258" cy="3964940"/>
          </a:xfrm>
          <a:prstGeom prst="roundRect">
            <a:avLst>
              <a:gd name="adj" fmla="val 1561"/>
            </a:avLst>
          </a:prstGeom>
          <a:solidFill>
            <a:srgbClr val="DEE1E9"/>
          </a:solidFill>
          <a:ln/>
        </p:spPr>
      </p:sp>
      <p:sp>
        <p:nvSpPr>
          <p:cNvPr id="12" name="point-hex"/>
          <p:cNvSpPr/>
          <p:nvPr/>
        </p:nvSpPr>
        <p:spPr>
          <a:xfrm>
            <a:off x="731520" y="1572768"/>
            <a:ext cx="685800" cy="593903"/>
          </a:xfrm>
          <a:prstGeom prst="hexagon">
            <a:avLst/>
          </a:prstGeom>
          <a:solidFill>
            <a:srgbClr val="24366B"/>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command word tells you what kind of answer to write. 'Describe' wants the stages or features, in a sensible order. 'Explain' wants reasons: each point should be linked to the next with words such as because, so, which means and therefore.</a:t>
            </a:r>
            <a:endParaRPr lang="en-US" sz="1800" dirty="0"/>
          </a:p>
        </p:txBody>
      </p:sp>
      <p:sp>
        <p:nvSpPr>
          <p:cNvPr id="15" name="point-card"/>
          <p:cNvSpPr/>
          <p:nvPr/>
        </p:nvSpPr>
        <p:spPr>
          <a:xfrm>
            <a:off x="4338218" y="1389888"/>
            <a:ext cx="3515258" cy="3964940"/>
          </a:xfrm>
          <a:prstGeom prst="roundRect">
            <a:avLst>
              <a:gd name="adj" fmla="val 1561"/>
            </a:avLst>
          </a:prstGeom>
          <a:solidFill>
            <a:srgbClr val="F3EADB"/>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'Compare' wants similarities and differences, and the best answers put them side by side: 'Both stars…', 'However, a massive star…'.</a:t>
            </a:r>
            <a:endParaRPr lang="en-US" sz="1800" dirty="0"/>
          </a:p>
        </p:txBody>
      </p:sp>
      <p:sp>
        <p:nvSpPr>
          <p:cNvPr id="19" name="point-card"/>
          <p:cNvSpPr/>
          <p:nvPr/>
        </p:nvSpPr>
        <p:spPr>
          <a:xfrm>
            <a:off x="8127797" y="1389888"/>
            <a:ext cx="3515258" cy="3964940"/>
          </a:xfrm>
          <a:prstGeom prst="roundRect">
            <a:avLst>
              <a:gd name="adj" fmla="val 1561"/>
            </a:avLst>
          </a:prstGeom>
          <a:solidFill>
            <a:srgbClr val="DEE1E9"/>
          </a:solidFill>
          <a:ln/>
        </p:spPr>
      </p:sp>
      <p:sp>
        <p:nvSpPr>
          <p:cNvPr id="20" name="point-hex"/>
          <p:cNvSpPr/>
          <p:nvPr/>
        </p:nvSpPr>
        <p:spPr>
          <a:xfrm>
            <a:off x="8310677" y="1572768"/>
            <a:ext cx="685800" cy="593903"/>
          </a:xfrm>
          <a:prstGeom prst="hexagon">
            <a:avLst/>
          </a:prstGeom>
          <a:solidFill>
            <a:srgbClr val="24366B"/>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Underline the command word and the topic before you write anything.</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Plan before you write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point-card"/>
          <p:cNvSpPr/>
          <p:nvPr/>
        </p:nvSpPr>
        <p:spPr>
          <a:xfrm>
            <a:off x="548640" y="1389888"/>
            <a:ext cx="5410048" cy="4754880"/>
          </a:xfrm>
          <a:prstGeom prst="roundRect">
            <a:avLst>
              <a:gd name="adj" fmla="val 1154"/>
            </a:avLst>
          </a:prstGeom>
          <a:solidFill>
            <a:srgbClr val="DEE1E9"/>
          </a:solidFill>
          <a:ln/>
        </p:spPr>
      </p:sp>
      <p:sp>
        <p:nvSpPr>
          <p:cNvPr id="8" name="point-hex"/>
          <p:cNvSpPr/>
          <p:nvPr/>
        </p:nvSpPr>
        <p:spPr>
          <a:xfrm>
            <a:off x="731520" y="1572768"/>
            <a:ext cx="685800" cy="593903"/>
          </a:xfrm>
          <a:prstGeom prst="hexagon">
            <a:avLst/>
          </a:prstGeom>
          <a:solidFill>
            <a:srgbClr val="24366B"/>
          </a:solidFill>
          <a:ln/>
        </p:spPr>
      </p:sp>
      <p:sp>
        <p:nvSpPr>
          <p:cNvPr id="9"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point"/>
          <p:cNvSpPr txBox="1"/>
          <p:nvPr/>
        </p:nvSpPr>
        <p:spPr>
          <a:xfrm>
            <a:off x="731520" y="2350008"/>
            <a:ext cx="504428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Spend a minute on a plan. Write the key stages or ideas as single words down the margin, in order.</a:t>
            </a:r>
            <a:endParaRPr lang="en-US" sz="2400" dirty="0"/>
          </a:p>
        </p:txBody>
      </p:sp>
      <p:sp>
        <p:nvSpPr>
          <p:cNvPr id="11" name="point-card"/>
          <p:cNvSpPr/>
          <p:nvPr/>
        </p:nvSpPr>
        <p:spPr>
          <a:xfrm>
            <a:off x="6233008" y="1389888"/>
            <a:ext cx="5410048" cy="4754880"/>
          </a:xfrm>
          <a:prstGeom prst="roundRect">
            <a:avLst>
              <a:gd name="adj" fmla="val 1154"/>
            </a:avLst>
          </a:prstGeom>
          <a:solidFill>
            <a:srgbClr val="F3EADB"/>
          </a:solidFill>
          <a:ln/>
        </p:spPr>
      </p:sp>
      <p:sp>
        <p:nvSpPr>
          <p:cNvPr id="12" name="point-hex"/>
          <p:cNvSpPr/>
          <p:nvPr/>
        </p:nvSpPr>
        <p:spPr>
          <a:xfrm>
            <a:off x="6415888" y="1572768"/>
            <a:ext cx="685800" cy="593903"/>
          </a:xfrm>
          <a:prstGeom prst="hexagon">
            <a:avLst/>
          </a:prstGeom>
          <a:solidFill>
            <a:srgbClr val="B8862B"/>
          </a:solidFill>
          <a:ln/>
        </p:spPr>
      </p:sp>
      <p:sp>
        <p:nvSpPr>
          <p:cNvPr id="13"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4" name="point"/>
          <p:cNvSpPr txBox="1"/>
          <p:nvPr/>
        </p:nvSpPr>
        <p:spPr>
          <a:xfrm>
            <a:off x="6415888" y="2350008"/>
            <a:ext cx="504428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Then turn each plan word into a full sentence using the key words from the unit: nebula, protostar, fusion, red supergiant, red-shift, wavelength.</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Worked example: Plan before you write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29640"/>
          </a:xfrm>
          <a:prstGeom prst="roundRect">
            <a:avLst>
              <a:gd name="adj" fmla="val 9836"/>
            </a:avLst>
          </a:prstGeom>
          <a:solidFill>
            <a:srgbClr val="DEE1E9"/>
          </a:solidFill>
          <a:ln/>
        </p:spPr>
      </p:sp>
      <p:sp>
        <p:nvSpPr>
          <p:cNvPr id="8" name="worked-q"/>
          <p:cNvSpPr txBox="1"/>
          <p:nvPr/>
        </p:nvSpPr>
        <p:spPr>
          <a:xfrm>
            <a:off x="731520" y="1481328"/>
            <a:ext cx="10728655" cy="746760"/>
          </a:xfrm>
          <a:prstGeom prst="rect">
            <a:avLst/>
          </a:prstGeom>
          <a:noFill/>
          <a:ln/>
        </p:spPr>
        <p:txBody>
          <a:bodyPr wrap="square" lIns="63500" tIns="63500" rIns="63500" bIns="63500" rtlCol="0" anchor="ctr"/>
          <a:lstStyle/>
          <a:p>
            <a:pPr algn="l" indent="0" marL="0">
              <a:buNone/>
            </a:pPr>
            <a:r>
              <a:rPr lang="en-US" sz="2000" b="1" dirty="0">
                <a:solidFill>
                  <a:srgbClr val="1E2229"/>
                </a:solidFill>
                <a:latin typeface="Calibri" pitchFamily="34" charset="0"/>
                <a:ea typeface="Calibri" pitchFamily="34" charset="-122"/>
                <a:cs typeface="Calibri" pitchFamily="34" charset="-120"/>
              </a:rPr>
              <a:t>Plan an answer to: 'Describe how the Sun formed and explain why it now stays the same size.' (6 marks)</a:t>
            </a:r>
            <a:endParaRPr lang="en-US" sz="2000" dirty="0"/>
          </a:p>
        </p:txBody>
      </p:sp>
      <p:sp>
        <p:nvSpPr>
          <p:cNvPr id="9" name="step-box"/>
          <p:cNvSpPr/>
          <p:nvPr/>
        </p:nvSpPr>
        <p:spPr>
          <a:xfrm>
            <a:off x="548640" y="2502408"/>
            <a:ext cx="11094415" cy="460248"/>
          </a:xfrm>
          <a:prstGeom prst="roundRect">
            <a:avLst>
              <a:gd name="adj" fmla="val 15894"/>
            </a:avLst>
          </a:prstGeom>
          <a:solidFill>
            <a:srgbClr val="FFFFFF"/>
          </a:solidFill>
          <a:ln w="15875">
            <a:solidFill>
              <a:srgbClr val="8790AE"/>
            </a:solidFill>
            <a:prstDash val="solid"/>
          </a:ln>
        </p:spPr>
      </p:sp>
      <p:sp>
        <p:nvSpPr>
          <p:cNvPr id="10" name="step-hex"/>
          <p:cNvSpPr/>
          <p:nvPr/>
        </p:nvSpPr>
        <p:spPr>
          <a:xfrm>
            <a:off x="685800" y="2534564"/>
            <a:ext cx="457200" cy="395935"/>
          </a:xfrm>
          <a:prstGeom prst="hexagon">
            <a:avLst/>
          </a:prstGeom>
          <a:solidFill>
            <a:srgbClr val="24366B"/>
          </a:solidFill>
          <a:ln/>
        </p:spPr>
      </p:sp>
      <p:sp>
        <p:nvSpPr>
          <p:cNvPr id="11" name="step-hex-label"/>
          <p:cNvSpPr txBox="1"/>
          <p:nvPr/>
        </p:nvSpPr>
        <p:spPr>
          <a:xfrm>
            <a:off x="685800" y="2534564"/>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step"/>
          <p:cNvSpPr txBox="1"/>
          <p:nvPr/>
        </p:nvSpPr>
        <p:spPr>
          <a:xfrm>
            <a:off x="1280160" y="2502408"/>
            <a:ext cx="10180015" cy="46024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Command words: describe (stages, in order) and explain (reasons).</a:t>
            </a:r>
            <a:endParaRPr lang="en-US" sz="1800" dirty="0"/>
          </a:p>
        </p:txBody>
      </p:sp>
      <p:sp>
        <p:nvSpPr>
          <p:cNvPr id="13" name="step-box"/>
          <p:cNvSpPr/>
          <p:nvPr/>
        </p:nvSpPr>
        <p:spPr>
          <a:xfrm>
            <a:off x="548640" y="3035808"/>
            <a:ext cx="11094415" cy="724408"/>
          </a:xfrm>
          <a:prstGeom prst="roundRect">
            <a:avLst>
              <a:gd name="adj" fmla="val 10098"/>
            </a:avLst>
          </a:prstGeom>
          <a:solidFill>
            <a:srgbClr val="FFFFFF"/>
          </a:solidFill>
          <a:ln w="15875">
            <a:solidFill>
              <a:srgbClr val="8790AE"/>
            </a:solidFill>
            <a:prstDash val="solid"/>
          </a:ln>
        </p:spPr>
      </p:sp>
      <p:sp>
        <p:nvSpPr>
          <p:cNvPr id="14" name="step-hex"/>
          <p:cNvSpPr/>
          <p:nvPr/>
        </p:nvSpPr>
        <p:spPr>
          <a:xfrm>
            <a:off x="685800" y="3200044"/>
            <a:ext cx="457200" cy="395935"/>
          </a:xfrm>
          <a:prstGeom prst="hexagon">
            <a:avLst/>
          </a:prstGeom>
          <a:solidFill>
            <a:srgbClr val="24366B"/>
          </a:solidFill>
          <a:ln/>
        </p:spPr>
      </p:sp>
      <p:sp>
        <p:nvSpPr>
          <p:cNvPr id="15" name="step-hex-label"/>
          <p:cNvSpPr txBox="1"/>
          <p:nvPr/>
        </p:nvSpPr>
        <p:spPr>
          <a:xfrm>
            <a:off x="685800" y="3200044"/>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step"/>
          <p:cNvSpPr txBox="1"/>
          <p:nvPr/>
        </p:nvSpPr>
        <p:spPr>
          <a:xfrm>
            <a:off x="1280160" y="3035808"/>
            <a:ext cx="10180015" cy="72440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Plan, describe: nebula → gravity → denser and hotter → protostar → fusion of hydrogen into helium → main sequence star.</a:t>
            </a:r>
            <a:endParaRPr lang="en-US" sz="1800" dirty="0"/>
          </a:p>
        </p:txBody>
      </p:sp>
      <p:sp>
        <p:nvSpPr>
          <p:cNvPr id="17" name="step-box"/>
          <p:cNvSpPr/>
          <p:nvPr/>
        </p:nvSpPr>
        <p:spPr>
          <a:xfrm>
            <a:off x="548640" y="3833368"/>
            <a:ext cx="11094415" cy="724408"/>
          </a:xfrm>
          <a:prstGeom prst="roundRect">
            <a:avLst>
              <a:gd name="adj" fmla="val 10098"/>
            </a:avLst>
          </a:prstGeom>
          <a:solidFill>
            <a:srgbClr val="FFFFFF"/>
          </a:solidFill>
          <a:ln w="15875">
            <a:solidFill>
              <a:srgbClr val="8790AE"/>
            </a:solidFill>
            <a:prstDash val="solid"/>
          </a:ln>
        </p:spPr>
      </p:sp>
      <p:sp>
        <p:nvSpPr>
          <p:cNvPr id="18" name="step-hex"/>
          <p:cNvSpPr/>
          <p:nvPr/>
        </p:nvSpPr>
        <p:spPr>
          <a:xfrm>
            <a:off x="685800" y="3997604"/>
            <a:ext cx="457200" cy="395935"/>
          </a:xfrm>
          <a:prstGeom prst="hexagon">
            <a:avLst/>
          </a:prstGeom>
          <a:solidFill>
            <a:srgbClr val="24366B"/>
          </a:solidFill>
          <a:ln/>
        </p:spPr>
      </p:sp>
      <p:sp>
        <p:nvSpPr>
          <p:cNvPr id="19" name="step-hex-label"/>
          <p:cNvSpPr txBox="1"/>
          <p:nvPr/>
        </p:nvSpPr>
        <p:spPr>
          <a:xfrm>
            <a:off x="685800" y="3997604"/>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step"/>
          <p:cNvSpPr txBox="1"/>
          <p:nvPr/>
        </p:nvSpPr>
        <p:spPr>
          <a:xfrm>
            <a:off x="1280160" y="3833368"/>
            <a:ext cx="10180015" cy="72440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Plan, explain: gravity pulls inwards; fusion energy causes outward expansion; they are balanced (equilibrium).</a:t>
            </a:r>
            <a:endParaRPr lang="en-US" sz="1800" dirty="0"/>
          </a:p>
        </p:txBody>
      </p:sp>
      <p:sp>
        <p:nvSpPr>
          <p:cNvPr id="21" name="step-box"/>
          <p:cNvSpPr/>
          <p:nvPr/>
        </p:nvSpPr>
        <p:spPr>
          <a:xfrm>
            <a:off x="548640" y="4630928"/>
            <a:ext cx="11094415" cy="460248"/>
          </a:xfrm>
          <a:prstGeom prst="roundRect">
            <a:avLst>
              <a:gd name="adj" fmla="val 15894"/>
            </a:avLst>
          </a:prstGeom>
          <a:solidFill>
            <a:srgbClr val="FFFFFF"/>
          </a:solidFill>
          <a:ln w="15875">
            <a:solidFill>
              <a:srgbClr val="8790AE"/>
            </a:solidFill>
            <a:prstDash val="solid"/>
          </a:ln>
        </p:spPr>
      </p:sp>
      <p:sp>
        <p:nvSpPr>
          <p:cNvPr id="22" name="step-hex"/>
          <p:cNvSpPr/>
          <p:nvPr/>
        </p:nvSpPr>
        <p:spPr>
          <a:xfrm>
            <a:off x="685800" y="4663084"/>
            <a:ext cx="457200" cy="395935"/>
          </a:xfrm>
          <a:prstGeom prst="hexagon">
            <a:avLst/>
          </a:prstGeom>
          <a:solidFill>
            <a:srgbClr val="24366B"/>
          </a:solidFill>
          <a:ln/>
        </p:spPr>
      </p:sp>
      <p:sp>
        <p:nvSpPr>
          <p:cNvPr id="23" name="step-hex-label"/>
          <p:cNvSpPr txBox="1"/>
          <p:nvPr/>
        </p:nvSpPr>
        <p:spPr>
          <a:xfrm>
            <a:off x="685800" y="4663084"/>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4" name="step"/>
          <p:cNvSpPr txBox="1"/>
          <p:nvPr/>
        </p:nvSpPr>
        <p:spPr>
          <a:xfrm>
            <a:off x="1280160" y="4630928"/>
            <a:ext cx="10180015" cy="46024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Write it up in full sentences, in this order, linking the explanation with 'because' and 'so'.</a:t>
            </a:r>
            <a:endParaRPr lang="en-US" sz="1800" dirty="0"/>
          </a:p>
        </p:txBody>
      </p:sp>
      <p:sp>
        <p:nvSpPr>
          <p:cNvPr id="25" name="worked-answer"/>
          <p:cNvSpPr/>
          <p:nvPr/>
        </p:nvSpPr>
        <p:spPr>
          <a:xfrm>
            <a:off x="548640" y="5274056"/>
            <a:ext cx="11094415" cy="831088"/>
          </a:xfrm>
          <a:prstGeom prst="roundRect">
            <a:avLst>
              <a:gd name="adj" fmla="val 16504"/>
            </a:avLst>
          </a:prstGeom>
          <a:solidFill>
            <a:srgbClr val="EADBBF"/>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A plan of six linked points: nebula, gravity, protostar, fusion, main sequence, balance between gravity and fusion energy.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Check against the mark scheme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1E7D5"/>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Re-read your first and last sentences: the first should go straight to the question, and the last should finish the sequence or the argument.</a:t>
            </a:r>
            <a:endParaRPr lang="en-US" sz="1800" dirty="0"/>
          </a:p>
        </p:txBody>
      </p:sp>
      <p:sp>
        <p:nvSpPr>
          <p:cNvPr id="11" name="point-card"/>
          <p:cNvSpPr/>
          <p:nvPr/>
        </p:nvSpPr>
        <p:spPr>
          <a:xfrm>
            <a:off x="548640" y="1389888"/>
            <a:ext cx="5410048" cy="3686048"/>
          </a:xfrm>
          <a:prstGeom prst="roundRect">
            <a:avLst>
              <a:gd name="adj" fmla="val 1488"/>
            </a:avLst>
          </a:prstGeom>
          <a:solidFill>
            <a:srgbClr val="DEE1E9"/>
          </a:solidFill>
          <a:ln/>
        </p:spPr>
      </p:sp>
      <p:sp>
        <p:nvSpPr>
          <p:cNvPr id="12" name="point-hex"/>
          <p:cNvSpPr/>
          <p:nvPr/>
        </p:nvSpPr>
        <p:spPr>
          <a:xfrm>
            <a:off x="731520" y="1572768"/>
            <a:ext cx="685800" cy="593903"/>
          </a:xfrm>
          <a:prstGeom prst="hexagon">
            <a:avLst/>
          </a:prstGeom>
          <a:solidFill>
            <a:srgbClr val="24366B"/>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Six-mark answers are marked using levels of response. The examiner reads the whole answer and decides its level.</a:t>
            </a:r>
            <a:endParaRPr lang="en-US" sz="2400" dirty="0"/>
          </a:p>
        </p:txBody>
      </p:sp>
      <p:sp>
        <p:nvSpPr>
          <p:cNvPr id="15" name="point-card"/>
          <p:cNvSpPr/>
          <p:nvPr/>
        </p:nvSpPr>
        <p:spPr>
          <a:xfrm>
            <a:off x="6233008" y="1389888"/>
            <a:ext cx="5410048" cy="3686048"/>
          </a:xfrm>
          <a:prstGeom prst="roundRect">
            <a:avLst>
              <a:gd name="adj" fmla="val 1488"/>
            </a:avLst>
          </a:prstGeom>
          <a:solidFill>
            <a:srgbClr val="F3EADB"/>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When you have finished, check your answer against the criteria: Have I answered the command word?</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The task: Compare two life cycles (6 marks)</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Compare the life cycle of a star about the same mass as the Sun with the life cycle of a star much more massive than the Sun. (6 marks)</a:t>
            </a:r>
            <a:endParaRPr lang="en-US" sz="2600" dirty="0"/>
          </a:p>
          <a:p>
            <a:pPr algn="ctr" indent="0" marL="0">
              <a:buNone/>
            </a:pPr>
            <a:r>
              <a:rPr lang="en-US" sz="2400" dirty="0">
                <a:solidFill>
                  <a:srgbClr val="4A505C"/>
                </a:solidFill>
                <a:latin typeface="Calibri" pitchFamily="34" charset="0"/>
                <a:ea typeface="Calibri" pitchFamily="34" charset="-122"/>
                <a:cs typeface="Calibri" pitchFamily="34" charset="-120"/>
              </a:rPr>
              <a:t>6 marks · Write in full sentences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24366B"/>
                </a:solidFill>
                <a:latin typeface="Cambria" pitchFamily="34" charset="0"/>
                <a:ea typeface="Cambria" pitchFamily="34" charset="-122"/>
                <a:cs typeface="Cambria" pitchFamily="34" charset="-120"/>
              </a:rPr>
              <a:t>Same task, three ways in: Compare two life cycles (6 marks)</a:t>
            </a:r>
            <a:endParaRPr lang="en-US" sz="24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Compare two life cycles (6 marks)</a:t>
            </a:r>
            <a:endParaRPr lang="en-US" sz="2000" dirty="0"/>
          </a:p>
        </p:txBody>
      </p:sp>
      <p:sp>
        <p:nvSpPr>
          <p:cNvPr id="12" name="col-Support"/>
          <p:cNvSpPr/>
          <p:nvPr/>
        </p:nvSpPr>
        <p:spPr>
          <a:xfrm>
            <a:off x="548640" y="2395728"/>
            <a:ext cx="4667802" cy="3749040"/>
          </a:xfrm>
          <a:prstGeom prst="roundRect">
            <a:avLst>
              <a:gd name="adj" fmla="val 1463"/>
            </a:avLst>
          </a:prstGeom>
          <a:solidFill>
            <a:srgbClr val="DEE1E9"/>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19264B"/>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Write 'Both' and list the stages the two stars share: nebula, protostar, main sequence.</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Write 'After the main sequence, their paths are different.'</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Give the three stages for the Sun-sized star in order.</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Start the next sentence with 'However, a massive star…' and give its three stages.</a:t>
            </a:r>
            <a:endParaRPr lang="en-US" sz="1800" dirty="0"/>
          </a:p>
        </p:txBody>
      </p:sp>
      <p:sp>
        <p:nvSpPr>
          <p:cNvPr id="17" name="col-Core"/>
          <p:cNvSpPr/>
          <p:nvPr/>
        </p:nvSpPr>
        <p:spPr>
          <a:xfrm>
            <a:off x="5490762" y="2395728"/>
            <a:ext cx="2938987" cy="3749040"/>
          </a:xfrm>
          <a:prstGeom prst="roundRect">
            <a:avLst>
              <a:gd name="adj" fmla="val 1867"/>
            </a:avLst>
          </a:prstGeom>
          <a:solidFill>
            <a:srgbClr val="C4C9D7"/>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19264B"/>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1D2B56"/>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The two life cycles share their first three stages and split after the main sequence.</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24366B"/>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Add one sentence explaining why only the massive star can produce elements heavier than iron, and what happens to those elements.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The task: Red-shift and the Big Bang (6 marks)</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Explain how red-shift provides evidence for the Big Bang theory. (6 marks)</a:t>
            </a:r>
            <a:endParaRPr lang="en-US" sz="2600" dirty="0"/>
          </a:p>
          <a:p>
            <a:pPr algn="ctr" indent="0" marL="0">
              <a:buNone/>
            </a:pPr>
            <a:r>
              <a:rPr lang="en-US" sz="2400" dirty="0">
                <a:solidFill>
                  <a:srgbClr val="4A505C"/>
                </a:solidFill>
                <a:latin typeface="Calibri" pitchFamily="34" charset="0"/>
                <a:ea typeface="Calibri" pitchFamily="34" charset="-122"/>
                <a:cs typeface="Calibri" pitchFamily="34" charset="-120"/>
              </a:rPr>
              <a:t>6 marks · Write in full sentences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24366B"/>
                </a:solidFill>
                <a:latin typeface="Cambria" pitchFamily="34" charset="0"/>
                <a:ea typeface="Cambria" pitchFamily="34" charset="-122"/>
                <a:cs typeface="Cambria" pitchFamily="34" charset="-120"/>
              </a:rPr>
              <a:t>Same task, three ways in: Red-shift and the Big Bang (6 marks)</a:t>
            </a:r>
            <a:endParaRPr lang="en-US" sz="24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Red-shift and the Big Bang (6 marks)</a:t>
            </a:r>
            <a:endParaRPr lang="en-US" sz="2000" dirty="0"/>
          </a:p>
        </p:txBody>
      </p:sp>
      <p:sp>
        <p:nvSpPr>
          <p:cNvPr id="12" name="col-Support"/>
          <p:cNvSpPr/>
          <p:nvPr/>
        </p:nvSpPr>
        <p:spPr>
          <a:xfrm>
            <a:off x="548640" y="2395728"/>
            <a:ext cx="3515258" cy="3749040"/>
          </a:xfrm>
          <a:prstGeom prst="roundRect">
            <a:avLst>
              <a:gd name="adj" fmla="val 1561"/>
            </a:avLst>
          </a:prstGeom>
          <a:solidFill>
            <a:srgbClr val="DEE1E9"/>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2783738" cy="566928"/>
          </a:xfrm>
          <a:prstGeom prst="rect">
            <a:avLst/>
          </a:prstGeom>
          <a:noFill/>
          <a:ln/>
        </p:spPr>
        <p:txBody>
          <a:bodyPr wrap="square" lIns="63500" tIns="63500" rIns="63500" bIns="63500" rtlCol="0" anchor="ctr"/>
          <a:lstStyle/>
          <a:p>
            <a:pPr algn="l" indent="0" marL="0">
              <a:buNone/>
            </a:pPr>
            <a:r>
              <a:rPr lang="en-US" sz="2000" b="1" dirty="0">
                <a:solidFill>
                  <a:srgbClr val="19264B"/>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3240938"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Say what red-shift is: an increase in wavelength.</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Say what it shows about one galaxy: it is moving away.</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Say what the pattern with distance shows: further means faster, so space is expanding.</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Finish with 'so in the past…' and link to the Big Bang.</a:t>
            </a:r>
            <a:endParaRPr lang="en-US" sz="1800" dirty="0"/>
          </a:p>
        </p:txBody>
      </p:sp>
      <p:sp>
        <p:nvSpPr>
          <p:cNvPr id="17" name="col-Core"/>
          <p:cNvSpPr/>
          <p:nvPr/>
        </p:nvSpPr>
        <p:spPr>
          <a:xfrm>
            <a:off x="4338218" y="2395728"/>
            <a:ext cx="3515258" cy="3749040"/>
          </a:xfrm>
          <a:prstGeom prst="roundRect">
            <a:avLst>
              <a:gd name="adj" fmla="val 1561"/>
            </a:avLst>
          </a:prstGeom>
          <a:solidFill>
            <a:srgbClr val="C4C9D7"/>
          </a:solidFill>
          <a:ln/>
        </p:spPr>
      </p:sp>
      <p:sp>
        <p:nvSpPr>
          <p:cNvPr id="18" name="col-hex"/>
          <p:cNvSpPr/>
          <p:nvPr/>
        </p:nvSpPr>
        <p:spPr>
          <a:xfrm>
            <a:off x="4447946"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432304"/>
            <a:ext cx="2783738" cy="566928"/>
          </a:xfrm>
          <a:prstGeom prst="rect">
            <a:avLst/>
          </a:prstGeom>
          <a:noFill/>
          <a:ln/>
        </p:spPr>
        <p:txBody>
          <a:bodyPr wrap="square" lIns="63500" tIns="63500" rIns="63500" bIns="63500" rtlCol="0" anchor="ctr"/>
          <a:lstStyle/>
          <a:p>
            <a:pPr algn="l" indent="0" marL="0">
              <a:buNone/>
            </a:pPr>
            <a:r>
              <a:rPr lang="en-US" sz="2000" b="1" dirty="0">
                <a:solidFill>
                  <a:srgbClr val="19264B"/>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035808"/>
            <a:ext cx="3240938" cy="2999232"/>
          </a:xfrm>
          <a:prstGeom prst="rect">
            <a:avLst/>
          </a:prstGeom>
          <a:noFill/>
          <a:ln/>
        </p:spPr>
        <p:txBody>
          <a:bodyPr wrap="square" lIns="63500" tIns="63500" rIns="63500" bIns="63500" rtlCol="0" anchor="t"/>
          <a:lstStyle/>
          <a:p>
            <a:pPr algn="l" indent="0" marL="0">
              <a:buNone/>
            </a:pPr>
            <a:r>
              <a:rPr lang="en-US" sz="1800" b="1" dirty="0">
                <a:solidFill>
                  <a:srgbClr val="1D2B56"/>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Build a chain: wavelength → moving away → further means faster → expanding → smaller and denser in the past.</a:t>
            </a:r>
            <a:endParaRPr lang="en-US" sz="1800" dirty="0"/>
          </a:p>
        </p:txBody>
      </p:sp>
      <p:sp>
        <p:nvSpPr>
          <p:cNvPr id="22" name="col-Stretch"/>
          <p:cNvSpPr/>
          <p:nvPr/>
        </p:nvSpPr>
        <p:spPr>
          <a:xfrm>
            <a:off x="8127797" y="2395728"/>
            <a:ext cx="3515258" cy="3749040"/>
          </a:xfrm>
          <a:prstGeom prst="roundRect">
            <a:avLst>
              <a:gd name="adj" fmla="val 1561"/>
            </a:avLst>
          </a:prstGeom>
          <a:solidFill>
            <a:srgbClr val="24366B"/>
          </a:solidFill>
          <a:ln/>
        </p:spPr>
      </p:sp>
      <p:sp>
        <p:nvSpPr>
          <p:cNvPr id="23" name="col-hex"/>
          <p:cNvSpPr/>
          <p:nvPr/>
        </p:nvSpPr>
        <p:spPr>
          <a:xfrm>
            <a:off x="8237525"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432304"/>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035808"/>
            <a:ext cx="3240938"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Add what has been observed since 1998, and explain why scientists say there is still much about the universe that is not understood.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24366B"/>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24366B"/>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615184"/>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Which command word asks you to give reasons for something?</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Name</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Describe</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Explain</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State</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E5E7ED"/>
          </a:solidFill>
          <a:ln w="12700">
            <a:solidFill>
              <a:srgbClr val="8790AE"/>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Answers: Compare two life cycles (6 marks)</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Check</a:t>
            </a:r>
            <a:endParaRPr lang="en-US" sz="1800" dirty="0"/>
          </a:p>
        </p:txBody>
      </p:sp>
      <p:sp>
        <p:nvSpPr>
          <p:cNvPr id="7" name="crit-head"/>
          <p:cNvSpPr txBox="1"/>
          <p:nvPr/>
        </p:nvSpPr>
        <p:spPr>
          <a:xfrm>
            <a:off x="548640" y="1389888"/>
            <a:ext cx="11094415" cy="502920"/>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Success criteria: tick what you did</a:t>
            </a:r>
            <a:endParaRPr lang="en-US" sz="1800" dirty="0"/>
          </a:p>
        </p:txBody>
      </p:sp>
      <p:sp>
        <p:nvSpPr>
          <p:cNvPr id="8" name="crit-box"/>
          <p:cNvSpPr/>
          <p:nvPr/>
        </p:nvSpPr>
        <p:spPr>
          <a:xfrm>
            <a:off x="548640" y="1984248"/>
            <a:ext cx="11094415" cy="601980"/>
          </a:xfrm>
          <a:prstGeom prst="roundRect">
            <a:avLst>
              <a:gd name="adj" fmla="val 15190"/>
            </a:avLst>
          </a:prstGeom>
          <a:solidFill>
            <a:srgbClr val="E3E5EC"/>
          </a:solidFill>
          <a:ln/>
        </p:spPr>
      </p:sp>
      <p:sp>
        <p:nvSpPr>
          <p:cNvPr id="9" name="tickbox"/>
          <p:cNvSpPr/>
          <p:nvPr/>
        </p:nvSpPr>
        <p:spPr>
          <a:xfrm>
            <a:off x="713232" y="2138934"/>
            <a:ext cx="292608" cy="292608"/>
          </a:xfrm>
          <a:prstGeom prst="rect">
            <a:avLst/>
          </a:prstGeom>
          <a:solidFill>
            <a:srgbClr val="FFFFFF"/>
          </a:solidFill>
          <a:ln w="19050">
            <a:solidFill>
              <a:srgbClr val="24366B"/>
            </a:solidFill>
            <a:prstDash val="solid"/>
          </a:ln>
        </p:spPr>
      </p:sp>
      <p:sp>
        <p:nvSpPr>
          <p:cNvPr id="10" name="crit"/>
          <p:cNvSpPr txBox="1"/>
          <p:nvPr/>
        </p:nvSpPr>
        <p:spPr>
          <a:xfrm>
            <a:off x="1143000" y="1984248"/>
            <a:ext cx="10317175" cy="60198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States that both stars form from a nebula pulled together by gravity into a protostar</a:t>
            </a:r>
            <a:endParaRPr lang="en-US" sz="2200" dirty="0"/>
          </a:p>
        </p:txBody>
      </p:sp>
      <p:sp>
        <p:nvSpPr>
          <p:cNvPr id="11" name="crit-box"/>
          <p:cNvSpPr/>
          <p:nvPr/>
        </p:nvSpPr>
        <p:spPr>
          <a:xfrm>
            <a:off x="548640" y="2677668"/>
            <a:ext cx="11094415" cy="601980"/>
          </a:xfrm>
          <a:prstGeom prst="roundRect">
            <a:avLst>
              <a:gd name="adj" fmla="val 15190"/>
            </a:avLst>
          </a:prstGeom>
          <a:solidFill>
            <a:srgbClr val="E3E5EC"/>
          </a:solidFill>
          <a:ln/>
        </p:spPr>
      </p:sp>
      <p:sp>
        <p:nvSpPr>
          <p:cNvPr id="12" name="tickbox"/>
          <p:cNvSpPr/>
          <p:nvPr/>
        </p:nvSpPr>
        <p:spPr>
          <a:xfrm>
            <a:off x="713232" y="2832354"/>
            <a:ext cx="292608" cy="292608"/>
          </a:xfrm>
          <a:prstGeom prst="rect">
            <a:avLst/>
          </a:prstGeom>
          <a:solidFill>
            <a:srgbClr val="FFFFFF"/>
          </a:solidFill>
          <a:ln w="19050">
            <a:solidFill>
              <a:srgbClr val="24366B"/>
            </a:solidFill>
            <a:prstDash val="solid"/>
          </a:ln>
        </p:spPr>
      </p:sp>
      <p:sp>
        <p:nvSpPr>
          <p:cNvPr id="13" name="crit"/>
          <p:cNvSpPr txBox="1"/>
          <p:nvPr/>
        </p:nvSpPr>
        <p:spPr>
          <a:xfrm>
            <a:off x="1143000" y="2677668"/>
            <a:ext cx="10317175" cy="60198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States that both become main sequence stars, fusing hydrogen into helium</a:t>
            </a:r>
            <a:endParaRPr lang="en-US" sz="2200" dirty="0"/>
          </a:p>
        </p:txBody>
      </p:sp>
      <p:sp>
        <p:nvSpPr>
          <p:cNvPr id="14" name="crit-box"/>
          <p:cNvSpPr/>
          <p:nvPr/>
        </p:nvSpPr>
        <p:spPr>
          <a:xfrm>
            <a:off x="548640" y="3371088"/>
            <a:ext cx="11094415" cy="601980"/>
          </a:xfrm>
          <a:prstGeom prst="roundRect">
            <a:avLst>
              <a:gd name="adj" fmla="val 15190"/>
            </a:avLst>
          </a:prstGeom>
          <a:solidFill>
            <a:srgbClr val="E3E5EC"/>
          </a:solidFill>
          <a:ln/>
        </p:spPr>
      </p:sp>
      <p:sp>
        <p:nvSpPr>
          <p:cNvPr id="15" name="tickbox"/>
          <p:cNvSpPr/>
          <p:nvPr/>
        </p:nvSpPr>
        <p:spPr>
          <a:xfrm>
            <a:off x="713232" y="3525774"/>
            <a:ext cx="292608" cy="292608"/>
          </a:xfrm>
          <a:prstGeom prst="rect">
            <a:avLst/>
          </a:prstGeom>
          <a:solidFill>
            <a:srgbClr val="FFFFFF"/>
          </a:solidFill>
          <a:ln w="19050">
            <a:solidFill>
              <a:srgbClr val="24366B"/>
            </a:solidFill>
            <a:prstDash val="solid"/>
          </a:ln>
        </p:spPr>
      </p:sp>
      <p:sp>
        <p:nvSpPr>
          <p:cNvPr id="16" name="crit"/>
          <p:cNvSpPr txBox="1"/>
          <p:nvPr/>
        </p:nvSpPr>
        <p:spPr>
          <a:xfrm>
            <a:off x="1143000" y="3371088"/>
            <a:ext cx="10317175" cy="60198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Sun-sized star: red giant, then white dwarf, then black dwarf</a:t>
            </a:r>
            <a:endParaRPr lang="en-US" sz="2200" dirty="0"/>
          </a:p>
        </p:txBody>
      </p:sp>
      <p:sp>
        <p:nvSpPr>
          <p:cNvPr id="17" name="crit-box"/>
          <p:cNvSpPr/>
          <p:nvPr/>
        </p:nvSpPr>
        <p:spPr>
          <a:xfrm>
            <a:off x="548640" y="4064508"/>
            <a:ext cx="11094415" cy="601980"/>
          </a:xfrm>
          <a:prstGeom prst="roundRect">
            <a:avLst>
              <a:gd name="adj" fmla="val 15190"/>
            </a:avLst>
          </a:prstGeom>
          <a:solidFill>
            <a:srgbClr val="E3E5EC"/>
          </a:solidFill>
          <a:ln/>
        </p:spPr>
      </p:sp>
      <p:sp>
        <p:nvSpPr>
          <p:cNvPr id="18" name="tickbox"/>
          <p:cNvSpPr/>
          <p:nvPr/>
        </p:nvSpPr>
        <p:spPr>
          <a:xfrm>
            <a:off x="713232" y="4219194"/>
            <a:ext cx="292608" cy="292608"/>
          </a:xfrm>
          <a:prstGeom prst="rect">
            <a:avLst/>
          </a:prstGeom>
          <a:solidFill>
            <a:srgbClr val="FFFFFF"/>
          </a:solidFill>
          <a:ln w="19050">
            <a:solidFill>
              <a:srgbClr val="24366B"/>
            </a:solidFill>
            <a:prstDash val="solid"/>
          </a:ln>
        </p:spPr>
      </p:sp>
      <p:sp>
        <p:nvSpPr>
          <p:cNvPr id="19" name="crit"/>
          <p:cNvSpPr txBox="1"/>
          <p:nvPr/>
        </p:nvSpPr>
        <p:spPr>
          <a:xfrm>
            <a:off x="1143000" y="4064508"/>
            <a:ext cx="10317175" cy="60198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Massive star: red supergiant, then supernova, then neutron star or black hole</a:t>
            </a:r>
            <a:endParaRPr lang="en-US" sz="2200" dirty="0"/>
          </a:p>
        </p:txBody>
      </p:sp>
      <p:sp>
        <p:nvSpPr>
          <p:cNvPr id="20" name="crit-box"/>
          <p:cNvSpPr/>
          <p:nvPr/>
        </p:nvSpPr>
        <p:spPr>
          <a:xfrm>
            <a:off x="548640" y="4757928"/>
            <a:ext cx="11094415" cy="601980"/>
          </a:xfrm>
          <a:prstGeom prst="roundRect">
            <a:avLst>
              <a:gd name="adj" fmla="val 15190"/>
            </a:avLst>
          </a:prstGeom>
          <a:solidFill>
            <a:srgbClr val="E3E5EC"/>
          </a:solidFill>
          <a:ln/>
        </p:spPr>
      </p:sp>
      <p:sp>
        <p:nvSpPr>
          <p:cNvPr id="21" name="tickbox"/>
          <p:cNvSpPr/>
          <p:nvPr/>
        </p:nvSpPr>
        <p:spPr>
          <a:xfrm>
            <a:off x="713232" y="4912614"/>
            <a:ext cx="292608" cy="292608"/>
          </a:xfrm>
          <a:prstGeom prst="rect">
            <a:avLst/>
          </a:prstGeom>
          <a:solidFill>
            <a:srgbClr val="FFFFFF"/>
          </a:solidFill>
          <a:ln w="19050">
            <a:solidFill>
              <a:srgbClr val="24366B"/>
            </a:solidFill>
            <a:prstDash val="solid"/>
          </a:ln>
        </p:spPr>
      </p:sp>
      <p:sp>
        <p:nvSpPr>
          <p:cNvPr id="22" name="crit"/>
          <p:cNvSpPr txBox="1"/>
          <p:nvPr/>
        </p:nvSpPr>
        <p:spPr>
          <a:xfrm>
            <a:off x="1143000" y="4757928"/>
            <a:ext cx="10317175" cy="60198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Uses comparison words (both, whereas, however) to set the stages side by side</a:t>
            </a:r>
            <a:endParaRPr lang="en-US" sz="2200" dirty="0"/>
          </a:p>
        </p:txBody>
      </p:sp>
      <p:sp>
        <p:nvSpPr>
          <p:cNvPr id="23" name="crit-box"/>
          <p:cNvSpPr/>
          <p:nvPr/>
        </p:nvSpPr>
        <p:spPr>
          <a:xfrm>
            <a:off x="548640" y="5451348"/>
            <a:ext cx="11094415" cy="601980"/>
          </a:xfrm>
          <a:prstGeom prst="roundRect">
            <a:avLst>
              <a:gd name="adj" fmla="val 15190"/>
            </a:avLst>
          </a:prstGeom>
          <a:solidFill>
            <a:srgbClr val="E3E5EC"/>
          </a:solidFill>
          <a:ln/>
        </p:spPr>
      </p:sp>
      <p:sp>
        <p:nvSpPr>
          <p:cNvPr id="24" name="tickbox"/>
          <p:cNvSpPr/>
          <p:nvPr/>
        </p:nvSpPr>
        <p:spPr>
          <a:xfrm>
            <a:off x="713232" y="5606034"/>
            <a:ext cx="292608" cy="292608"/>
          </a:xfrm>
          <a:prstGeom prst="rect">
            <a:avLst/>
          </a:prstGeom>
          <a:solidFill>
            <a:srgbClr val="FFFFFF"/>
          </a:solidFill>
          <a:ln w="19050">
            <a:solidFill>
              <a:srgbClr val="24366B"/>
            </a:solidFill>
            <a:prstDash val="solid"/>
          </a:ln>
        </p:spPr>
      </p:sp>
      <p:sp>
        <p:nvSpPr>
          <p:cNvPr id="25" name="crit"/>
          <p:cNvSpPr txBox="1"/>
          <p:nvPr/>
        </p:nvSpPr>
        <p:spPr>
          <a:xfrm>
            <a:off x="1143000" y="5451348"/>
            <a:ext cx="10317175" cy="60198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Stages are in the correct order and the key words are used accurately</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24366B"/>
                </a:solidFill>
                <a:latin typeface="Cambria" pitchFamily="34" charset="0"/>
                <a:ea typeface="Cambria" pitchFamily="34" charset="-122"/>
                <a:cs typeface="Cambria" pitchFamily="34" charset="-120"/>
              </a:rPr>
              <a:t>Model answer: Compare two life cycles (6 marks)</a:t>
            </a:r>
            <a:endParaRPr lang="en-US" sz="30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Check</a:t>
            </a:r>
            <a:endParaRPr lang="en-US" sz="1800" dirty="0"/>
          </a:p>
        </p:txBody>
      </p:sp>
      <p:sp>
        <p:nvSpPr>
          <p:cNvPr id="7" name="model-panel"/>
          <p:cNvSpPr/>
          <p:nvPr/>
        </p:nvSpPr>
        <p:spPr>
          <a:xfrm>
            <a:off x="1463040" y="1389888"/>
            <a:ext cx="9265615" cy="4754880"/>
          </a:xfrm>
          <a:prstGeom prst="roundRect">
            <a:avLst>
              <a:gd name="adj" fmla="val 962"/>
            </a:avLst>
          </a:prstGeom>
          <a:solidFill>
            <a:srgbClr val="F3EADB"/>
          </a:solidFill>
          <a:ln w="19050">
            <a:solidFill>
              <a:srgbClr val="B8862B"/>
            </a:solidFill>
            <a:prstDash val="solid"/>
          </a:ln>
        </p:spPr>
      </p:sp>
      <p:sp>
        <p:nvSpPr>
          <p:cNvPr id="8" name="model-tab"/>
          <p:cNvSpPr/>
          <p:nvPr/>
        </p:nvSpPr>
        <p:spPr>
          <a:xfrm>
            <a:off x="1645920" y="1554480"/>
            <a:ext cx="201168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Model answer</a:t>
            </a:r>
            <a:endParaRPr lang="en-US" sz="1800" dirty="0"/>
          </a:p>
        </p:txBody>
      </p:sp>
      <p:sp>
        <p:nvSpPr>
          <p:cNvPr id="9" name="model"/>
          <p:cNvSpPr txBox="1"/>
          <p:nvPr/>
        </p:nvSpPr>
        <p:spPr>
          <a:xfrm>
            <a:off x="1691640" y="2167128"/>
            <a:ext cx="8808415" cy="384048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Both stars begin in the same way. A nebula of dust and gas is pulled together by gravity to form a protostar. When it is hot and dense enough, hydrogen nuclei fuse into helium nuclei and both become main sequence stars. After the main sequence, their paths are different. When a star about the mass of the Sun runs out of hydrogen in its core, it swells into a red giant, then becomes a white dwarf, which slowly cools into a black dwarf. However, a much more massive star swells into a red supergiant. It then collapses and explodes as a supernova, leaving a neutron star or, if enough mass remains, a black hole.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Answers: Red-shift and the Big Bang (6 marks)</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Check</a:t>
            </a:r>
            <a:endParaRPr lang="en-US" sz="1800" dirty="0"/>
          </a:p>
        </p:txBody>
      </p:sp>
      <p:sp>
        <p:nvSpPr>
          <p:cNvPr id="7" name="crit-head"/>
          <p:cNvSpPr txBox="1"/>
          <p:nvPr/>
        </p:nvSpPr>
        <p:spPr>
          <a:xfrm>
            <a:off x="548640" y="1389888"/>
            <a:ext cx="11094415" cy="502920"/>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Success criteria: tick what you did</a:t>
            </a:r>
            <a:endParaRPr lang="en-US" sz="1800" dirty="0"/>
          </a:p>
        </p:txBody>
      </p:sp>
      <p:sp>
        <p:nvSpPr>
          <p:cNvPr id="8" name="crit-box"/>
          <p:cNvSpPr/>
          <p:nvPr/>
        </p:nvSpPr>
        <p:spPr>
          <a:xfrm>
            <a:off x="548640" y="1984248"/>
            <a:ext cx="11094415" cy="545169"/>
          </a:xfrm>
          <a:prstGeom prst="roundRect">
            <a:avLst>
              <a:gd name="adj" fmla="val 16773"/>
            </a:avLst>
          </a:prstGeom>
          <a:solidFill>
            <a:srgbClr val="E3E5EC"/>
          </a:solidFill>
          <a:ln/>
        </p:spPr>
      </p:sp>
      <p:sp>
        <p:nvSpPr>
          <p:cNvPr id="9" name="tickbox"/>
          <p:cNvSpPr/>
          <p:nvPr/>
        </p:nvSpPr>
        <p:spPr>
          <a:xfrm>
            <a:off x="713232" y="2110528"/>
            <a:ext cx="292608" cy="292608"/>
          </a:xfrm>
          <a:prstGeom prst="rect">
            <a:avLst/>
          </a:prstGeom>
          <a:solidFill>
            <a:srgbClr val="FFFFFF"/>
          </a:solidFill>
          <a:ln w="19050">
            <a:solidFill>
              <a:srgbClr val="24366B"/>
            </a:solidFill>
            <a:prstDash val="solid"/>
          </a:ln>
        </p:spPr>
      </p:sp>
      <p:sp>
        <p:nvSpPr>
          <p:cNvPr id="10" name="crit"/>
          <p:cNvSpPr txBox="1"/>
          <p:nvPr/>
        </p:nvSpPr>
        <p:spPr>
          <a:xfrm>
            <a:off x="1143000" y="1984248"/>
            <a:ext cx="10317175" cy="54516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Red-shift is an observed increase in the wavelength of light from distant galaxies</a:t>
            </a:r>
            <a:endParaRPr lang="en-US" sz="2200" dirty="0"/>
          </a:p>
        </p:txBody>
      </p:sp>
      <p:sp>
        <p:nvSpPr>
          <p:cNvPr id="11" name="crit-box"/>
          <p:cNvSpPr/>
          <p:nvPr/>
        </p:nvSpPr>
        <p:spPr>
          <a:xfrm>
            <a:off x="548640" y="2620857"/>
            <a:ext cx="11094415" cy="545169"/>
          </a:xfrm>
          <a:prstGeom prst="roundRect">
            <a:avLst>
              <a:gd name="adj" fmla="val 16773"/>
            </a:avLst>
          </a:prstGeom>
          <a:solidFill>
            <a:srgbClr val="E3E5EC"/>
          </a:solidFill>
          <a:ln/>
        </p:spPr>
      </p:sp>
      <p:sp>
        <p:nvSpPr>
          <p:cNvPr id="12" name="tickbox"/>
          <p:cNvSpPr/>
          <p:nvPr/>
        </p:nvSpPr>
        <p:spPr>
          <a:xfrm>
            <a:off x="713232" y="2747137"/>
            <a:ext cx="292608" cy="292608"/>
          </a:xfrm>
          <a:prstGeom prst="rect">
            <a:avLst/>
          </a:prstGeom>
          <a:solidFill>
            <a:srgbClr val="FFFFFF"/>
          </a:solidFill>
          <a:ln w="19050">
            <a:solidFill>
              <a:srgbClr val="24366B"/>
            </a:solidFill>
            <a:prstDash val="solid"/>
          </a:ln>
        </p:spPr>
      </p:sp>
      <p:sp>
        <p:nvSpPr>
          <p:cNvPr id="13" name="crit"/>
          <p:cNvSpPr txBox="1"/>
          <p:nvPr/>
        </p:nvSpPr>
        <p:spPr>
          <a:xfrm>
            <a:off x="1143000" y="2620857"/>
            <a:ext cx="10317175" cy="54516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Red-shift shows the galaxies are moving away from us</a:t>
            </a:r>
            <a:endParaRPr lang="en-US" sz="2200" dirty="0"/>
          </a:p>
        </p:txBody>
      </p:sp>
      <p:sp>
        <p:nvSpPr>
          <p:cNvPr id="14" name="crit-box"/>
          <p:cNvSpPr/>
          <p:nvPr/>
        </p:nvSpPr>
        <p:spPr>
          <a:xfrm>
            <a:off x="548640" y="3257465"/>
            <a:ext cx="11094415" cy="545169"/>
          </a:xfrm>
          <a:prstGeom prst="roundRect">
            <a:avLst>
              <a:gd name="adj" fmla="val 16773"/>
            </a:avLst>
          </a:prstGeom>
          <a:solidFill>
            <a:srgbClr val="E3E5EC"/>
          </a:solidFill>
          <a:ln/>
        </p:spPr>
      </p:sp>
      <p:sp>
        <p:nvSpPr>
          <p:cNvPr id="15" name="tickbox"/>
          <p:cNvSpPr/>
          <p:nvPr/>
        </p:nvSpPr>
        <p:spPr>
          <a:xfrm>
            <a:off x="713232" y="3383746"/>
            <a:ext cx="292608" cy="292608"/>
          </a:xfrm>
          <a:prstGeom prst="rect">
            <a:avLst/>
          </a:prstGeom>
          <a:solidFill>
            <a:srgbClr val="FFFFFF"/>
          </a:solidFill>
          <a:ln w="19050">
            <a:solidFill>
              <a:srgbClr val="24366B"/>
            </a:solidFill>
            <a:prstDash val="solid"/>
          </a:ln>
        </p:spPr>
      </p:sp>
      <p:sp>
        <p:nvSpPr>
          <p:cNvPr id="16" name="crit"/>
          <p:cNvSpPr txBox="1"/>
          <p:nvPr/>
        </p:nvSpPr>
        <p:spPr>
          <a:xfrm>
            <a:off x="1143000" y="3257465"/>
            <a:ext cx="10317175" cy="54516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further away a galaxy is, the bigger its red-shift, so the faster it is moving away</a:t>
            </a:r>
            <a:endParaRPr lang="en-US" sz="2200" dirty="0"/>
          </a:p>
        </p:txBody>
      </p:sp>
      <p:sp>
        <p:nvSpPr>
          <p:cNvPr id="17" name="crit-box"/>
          <p:cNvSpPr/>
          <p:nvPr/>
        </p:nvSpPr>
        <p:spPr>
          <a:xfrm>
            <a:off x="548640" y="3894074"/>
            <a:ext cx="11094415" cy="545169"/>
          </a:xfrm>
          <a:prstGeom prst="roundRect">
            <a:avLst>
              <a:gd name="adj" fmla="val 16773"/>
            </a:avLst>
          </a:prstGeom>
          <a:solidFill>
            <a:srgbClr val="E3E5EC"/>
          </a:solidFill>
          <a:ln/>
        </p:spPr>
      </p:sp>
      <p:sp>
        <p:nvSpPr>
          <p:cNvPr id="18" name="tickbox"/>
          <p:cNvSpPr/>
          <p:nvPr/>
        </p:nvSpPr>
        <p:spPr>
          <a:xfrm>
            <a:off x="713232" y="4020354"/>
            <a:ext cx="292608" cy="292608"/>
          </a:xfrm>
          <a:prstGeom prst="rect">
            <a:avLst/>
          </a:prstGeom>
          <a:solidFill>
            <a:srgbClr val="FFFFFF"/>
          </a:solidFill>
          <a:ln w="19050">
            <a:solidFill>
              <a:srgbClr val="24366B"/>
            </a:solidFill>
            <a:prstDash val="solid"/>
          </a:ln>
        </p:spPr>
      </p:sp>
      <p:sp>
        <p:nvSpPr>
          <p:cNvPr id="19" name="crit"/>
          <p:cNvSpPr txBox="1"/>
          <p:nvPr/>
        </p:nvSpPr>
        <p:spPr>
          <a:xfrm>
            <a:off x="1143000" y="3894074"/>
            <a:ext cx="10317175" cy="54516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This shows that space itself (the universe) is expanding</a:t>
            </a:r>
            <a:endParaRPr lang="en-US" sz="2200" dirty="0"/>
          </a:p>
        </p:txBody>
      </p:sp>
      <p:sp>
        <p:nvSpPr>
          <p:cNvPr id="20" name="crit-box"/>
          <p:cNvSpPr/>
          <p:nvPr/>
        </p:nvSpPr>
        <p:spPr>
          <a:xfrm>
            <a:off x="548640" y="4530683"/>
            <a:ext cx="11094415" cy="545169"/>
          </a:xfrm>
          <a:prstGeom prst="roundRect">
            <a:avLst>
              <a:gd name="adj" fmla="val 16773"/>
            </a:avLst>
          </a:prstGeom>
          <a:solidFill>
            <a:srgbClr val="E3E5EC"/>
          </a:solidFill>
          <a:ln/>
        </p:spPr>
      </p:sp>
      <p:sp>
        <p:nvSpPr>
          <p:cNvPr id="21" name="tickbox"/>
          <p:cNvSpPr/>
          <p:nvPr/>
        </p:nvSpPr>
        <p:spPr>
          <a:xfrm>
            <a:off x="713232" y="4656963"/>
            <a:ext cx="292608" cy="292608"/>
          </a:xfrm>
          <a:prstGeom prst="rect">
            <a:avLst/>
          </a:prstGeom>
          <a:solidFill>
            <a:srgbClr val="FFFFFF"/>
          </a:solidFill>
          <a:ln w="19050">
            <a:solidFill>
              <a:srgbClr val="24366B"/>
            </a:solidFill>
            <a:prstDash val="solid"/>
          </a:ln>
        </p:spPr>
      </p:sp>
      <p:sp>
        <p:nvSpPr>
          <p:cNvPr id="22" name="crit"/>
          <p:cNvSpPr txBox="1"/>
          <p:nvPr/>
        </p:nvSpPr>
        <p:spPr>
          <a:xfrm>
            <a:off x="1143000" y="4530683"/>
            <a:ext cx="10317175" cy="54516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If the universe is expanding, it must have been smaller in the past</a:t>
            </a:r>
            <a:endParaRPr lang="en-US" sz="2200" dirty="0"/>
          </a:p>
        </p:txBody>
      </p:sp>
      <p:sp>
        <p:nvSpPr>
          <p:cNvPr id="23" name="crit-box"/>
          <p:cNvSpPr/>
          <p:nvPr/>
        </p:nvSpPr>
        <p:spPr>
          <a:xfrm>
            <a:off x="548640" y="5167291"/>
            <a:ext cx="11094415" cy="886037"/>
          </a:xfrm>
          <a:prstGeom prst="roundRect">
            <a:avLst>
              <a:gd name="adj" fmla="val 10320"/>
            </a:avLst>
          </a:prstGeom>
          <a:solidFill>
            <a:srgbClr val="E3E5EC"/>
          </a:solidFill>
          <a:ln/>
        </p:spPr>
      </p:sp>
      <p:sp>
        <p:nvSpPr>
          <p:cNvPr id="24" name="tickbox"/>
          <p:cNvSpPr/>
          <p:nvPr/>
        </p:nvSpPr>
        <p:spPr>
          <a:xfrm>
            <a:off x="713232" y="5464006"/>
            <a:ext cx="292608" cy="292608"/>
          </a:xfrm>
          <a:prstGeom prst="rect">
            <a:avLst/>
          </a:prstGeom>
          <a:solidFill>
            <a:srgbClr val="FFFFFF"/>
          </a:solidFill>
          <a:ln w="19050">
            <a:solidFill>
              <a:srgbClr val="24366B"/>
            </a:solidFill>
            <a:prstDash val="solid"/>
          </a:ln>
        </p:spPr>
      </p:sp>
      <p:sp>
        <p:nvSpPr>
          <p:cNvPr id="25" name="crit"/>
          <p:cNvSpPr txBox="1"/>
          <p:nvPr/>
        </p:nvSpPr>
        <p:spPr>
          <a:xfrm>
            <a:off x="1143000" y="5167291"/>
            <a:ext cx="10317175" cy="886037"/>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Links this to the Big Bang: the universe began from a very small region that was extremely hot and dense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24366B"/>
                </a:solidFill>
                <a:latin typeface="Cambria" pitchFamily="34" charset="0"/>
                <a:ea typeface="Cambria" pitchFamily="34" charset="-122"/>
                <a:cs typeface="Cambria" pitchFamily="34" charset="-120"/>
              </a:rPr>
              <a:t>Model answer: Red-shift and the Big Bang (6 marks)</a:t>
            </a:r>
            <a:endParaRPr lang="en-US" sz="28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Check</a:t>
            </a:r>
            <a:endParaRPr lang="en-US" sz="1800" dirty="0"/>
          </a:p>
        </p:txBody>
      </p:sp>
      <p:sp>
        <p:nvSpPr>
          <p:cNvPr id="7" name="model-panel"/>
          <p:cNvSpPr/>
          <p:nvPr/>
        </p:nvSpPr>
        <p:spPr>
          <a:xfrm>
            <a:off x="1463040" y="1389888"/>
            <a:ext cx="9265615" cy="4754880"/>
          </a:xfrm>
          <a:prstGeom prst="roundRect">
            <a:avLst>
              <a:gd name="adj" fmla="val 962"/>
            </a:avLst>
          </a:prstGeom>
          <a:solidFill>
            <a:srgbClr val="F3EADB"/>
          </a:solidFill>
          <a:ln w="19050">
            <a:solidFill>
              <a:srgbClr val="B8862B"/>
            </a:solidFill>
            <a:prstDash val="solid"/>
          </a:ln>
        </p:spPr>
      </p:sp>
      <p:sp>
        <p:nvSpPr>
          <p:cNvPr id="8" name="model-tab"/>
          <p:cNvSpPr/>
          <p:nvPr/>
        </p:nvSpPr>
        <p:spPr>
          <a:xfrm>
            <a:off x="1645920" y="1554480"/>
            <a:ext cx="201168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Model answer</a:t>
            </a:r>
            <a:endParaRPr lang="en-US" sz="1800" dirty="0"/>
          </a:p>
        </p:txBody>
      </p:sp>
      <p:sp>
        <p:nvSpPr>
          <p:cNvPr id="9" name="model"/>
          <p:cNvSpPr txBox="1"/>
          <p:nvPr/>
        </p:nvSpPr>
        <p:spPr>
          <a:xfrm>
            <a:off x="1691640" y="2167128"/>
            <a:ext cx="8808415" cy="384048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Light from distant galaxies is red-shifted. This means the wavelength of the light we observe has increased, so the dark lines in its spectrum are shifted towards the red end. This shows that the galaxies are moving away from us. The further away a galaxy is, the bigger its red-shift, so the more distant galaxies are moving away faster. This pattern shows that space itself is expanding. If the universe is expanding now, then in the past everything was closer together. Tracing the expansion backwards suggests that the universe began from a very small region that was extremely hot and dense, which is what the Big Bang theory states.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3EADB"/>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Which command word asks you to give reasons for something?</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C   Explain</a:t>
            </a:r>
            <a:endParaRPr lang="en-US" sz="1800" dirty="0"/>
          </a:p>
        </p:txBody>
      </p:sp>
      <p:sp>
        <p:nvSpPr>
          <p:cNvPr id="10" name="why-panel"/>
          <p:cNvSpPr/>
          <p:nvPr/>
        </p:nvSpPr>
        <p:spPr>
          <a:xfrm>
            <a:off x="7223760" y="1389888"/>
            <a:ext cx="4419295" cy="4754880"/>
          </a:xfrm>
          <a:prstGeom prst="roundRect">
            <a:avLst>
              <a:gd name="adj" fmla="val 1035"/>
            </a:avLst>
          </a:prstGeom>
          <a:solidFill>
            <a:srgbClr val="DEE1E9"/>
          </a:solidFill>
          <a:ln/>
        </p:spPr>
      </p:sp>
      <p:sp>
        <p:nvSpPr>
          <p:cNvPr id="11" name="why-hex"/>
          <p:cNvSpPr/>
          <p:nvPr/>
        </p:nvSpPr>
        <p:spPr>
          <a:xfrm>
            <a:off x="7406640" y="1572768"/>
            <a:ext cx="685800" cy="593903"/>
          </a:xfrm>
          <a:prstGeom prst="hexagon">
            <a:avLst/>
          </a:prstGeom>
          <a:solidFill>
            <a:srgbClr val="24366B"/>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'Explain' wants reasons, linked with words such as because and so. 'Describe' wants what happens, without reasons.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Ad Astra triple">
  <a:themeElements>
    <a:clrScheme name="Ad Astra triple">
      <a:dk1>
        <a:srgbClr val="1E2229"/>
      </a:dk1>
      <a:lt1>
        <a:srgbClr val="FFFFFF"/>
      </a:lt1>
      <a:dk2>
        <a:srgbClr val="1D2B56"/>
      </a:dk2>
      <a:lt2>
        <a:srgbClr val="DEE1E9"/>
      </a:lt2>
      <a:accent1>
        <a:srgbClr val="24366B"/>
      </a:accent1>
      <a:accent2>
        <a:srgbClr val="B8862B"/>
      </a:accent2>
      <a:accent3>
        <a:srgbClr val="7C86A6"/>
      </a:accent3>
      <a:accent4>
        <a:srgbClr val="815E1E"/>
      </a:accent4>
      <a:accent5>
        <a:srgbClr val="4A505C"/>
      </a:accent5>
      <a:accent6>
        <a:srgbClr val="D8BC8A"/>
      </a:accent6>
      <a:hlink>
        <a:srgbClr val="24366B"/>
      </a:hlink>
      <a:folHlink>
        <a:srgbClr val="19264B"/>
      </a:folHlink>
    </a:clrScheme>
    <a:fontScheme name="Ad Astra tripl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Space Physics · Chapter 5: Exam skills: the 6-mark answer</dc:title>
  <dc:subject>Physics (Triple Science) · Year 11</dc:subject>
  <dc:creator>Dr Vitor Merissi de Carvalho</dc:creator>
  <cp:lastModifiedBy>Dr Vitor Merissi de Carvalho</cp:lastModifiedBy>
  <cp:revision>1</cp:revision>
  <dcterms:created xsi:type="dcterms:W3CDTF">2026-10-19T06:08:18Z</dcterms:created>
  <dcterms:modified xsi:type="dcterms:W3CDTF">2026-10-19T06:08:18Z</dcterms:modified>
</cp:coreProperties>
</file>