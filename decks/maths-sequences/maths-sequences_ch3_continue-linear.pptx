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1d9239-e3db-8b52-9646-5df3c0adbc00}">
          <p14:sldIdLst>
            <p14:sldId id="256"/>
          </p14:sldIdLst>
        </p14:section>
        <p14:section name="Gate" id="{d813d671-e704-bda7-484c-e12b18414e2e}">
          <p14:sldIdLst>
            <p14:sldId id="257"/>
            <p14:sldId id="258"/>
          </p14:sldIdLst>
        </p14:section>
        <p14:section name="Pre-teach" id="{8c2096eb-8586-6631-ccdc-5ad19e38506e}">
          <p14:sldIdLst>
            <p14:sldId id="259"/>
          </p14:sldIdLst>
        </p14:section>
        <p14:section name="Read-along" id="{907d381a-7de4-7912-4c3a-2a7ef97cf8a0}">
          <p14:sldIdLst>
            <p14:sldId id="260"/>
            <p14:sldId id="261"/>
          </p14:sldIdLst>
        </p14:section>
        <p14:section name="Teach" id="{bb5189df-a8e7-0252-74d4-45bb6b3bdec7}">
          <p14:sldIdLst>
            <p14:sldId id="262"/>
            <p14:sldId id="263"/>
            <p14:sldId id="264"/>
          </p14:sldIdLst>
        </p14:section>
        <p14:section name="Routes" id="{6a99e346-8e2f-1ec4-2354-357adf8e1743}">
          <p14:sldIdLst>
            <p14:sldId id="265"/>
            <p14:sldId id="266"/>
          </p14:sldIdLst>
        </p14:section>
        <p14:section name="Close" id="{20fa0bc6-0de5-2a12-ad15-29dca6a55c17}">
          <p14:sldIdLst>
            <p14:sldId id="267"/>
          </p14:sldIdLst>
        </p14:section>
        <p14:section name="Answers" id="{ec1bacb6-4d7d-8b8b-567e-1ae4f687efd9}">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Continue linear sequences. Find the common difference, describe the term-to-term rule, and continue linear sequences with whole numbers, decimals and numbers below zero.
This deck covers the department's lesson: 3 (Continue linear sequences: How do you continue a linear sequence and describe its term-to-term rule?).
Read the big question aloud: "How can you tell what comes next in a sequence, and how do you know you are right?"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next term of 31, 27, 23, 19, …?  →  15
2. What is the next term of 0.8, 1.3, 1.8, 2.3, …?  →  B   2.8
3. The term-to-term rule of 40, 34, 28, 22 is ___ 6 from the previous term.  →  subtract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15. The common difference is 4 and the terms go down, so the next term is 19 − 4 = 15.
2. B   2.8. The common difference is 0.5, so the next term is 2.3 + 0.5 = 2.8.
3. subtract. Each term is 6 less than the one before, so the rule is subtract 6 from the previous term.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term-to-term rule: how to get from one term to the next. Example: "The term-to-term rule is add 4 to the previous term."
• previous term: the term just before. Example: "Add 4 to the previous term to get the next one."
• common difference: the amount a linear sequence goes up or down by each time. Example: "In 2, 9, 16 the common difference is 7."
• decimal: a number with a decimal point, like 2.5. Example: "Some sequences use decimals."
• axes: the two lines a graph is drawn on. Example: "Position goes along the bottom axis."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linear sequence goes up or down by the same amount each time.
2. This amount is the common difference.
3. To find it, take one term away from the next term.
4. In 31, 28, 25 the terms go down by 3.
5. So the next term is 22, and then 19.
6. The term-to-term rule says how to get from one term to the next.
7. Here the rule is subtract 3 from the previous term.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Some sequences use decimals.
9. In 1.5, 2.5, 3.5 the common difference is 1.
10. The next term is 4.5.
11. A linear sequence can go below zero.
12. In 9, 6, 3, 0 the next term is −3.
13. On a graph, the points of a linear sequence make a straight line.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the common difference. Say it in your own words, then check understanding with a quick question: ask a pupil from the pre-teach group first, since they met these words and ideas before the lesson. Pupils try to recall before you re-explain.
In a linear sequence the common difference is the amount you add or subtract each time. To find it, pick two terms that are next to each other and take the earlier one away from the later one.
In 7, 12, 17, 22 the common difference is 12 − 7 = 5. The term-to-term rule is add 5 to the previous term. Check with another pair: 22 − 17 = 5.
For a descending sequence, take care with the order. In 50, 42, 34 the terms go down by 8, because 50 − 42 = 8. The rule is subtract 8 from the previous term. Say the size of the jump and the direction.
Worked example — model it step by step, thinking aloud: Here is a linear sequence: 88, 79, 70, 61, … Find the next two terms. (1) Find the common difference: 88 − 79 = 9. The terms go down. (2) The rule is subtract 9 from the previous term. (3) 61 − 9 = 52. (4) 52 − 9 = 43. Answer: 52, 43.
Tip: Find the difference, decide the direction, then check it on a second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Decimal sequences. Say it in your own words, then check understanding with a quick question: ask a pupil from the pre-teach group first, since they met these words and ideas before the lesson. Pupils try to recall before you re-explain.
The common difference can be a decimal. In 2.4, 3.1, 3.8 the difference is 3.1 − 2.4 = 0.7. Line up the decimal points when you add or subtract.
Keep the same number of decimal places all the way along. If the terms have one decimal place, the next term should too: 3.8 + 0.7 = 4.5.
Decimal sequences can go down as well. In 6.5, 6.1, 5.7 the rule is subtract 0.4 from the previous term, so the next term is 5.3.
Worked example — model it step by step, thinking aloud: Write the next three terms of 1.6, 2.3, 3.0, … (1) The common difference is 2.3 − 1.6 = 0.7. (2) 3.0 + 0.7 = 3.7. (3) 3.7 + 0.7 = 4.4. (4) 4.4 + 0.7 = 5.1. Answer: 3.7, 4.4, 5.1.
Tip: Line up the decimal points. 3.0 + 0.7 is 3.7, not 3.07.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Sequences that go below zero. Say it in your own words, then check understanding with a quick question: ask a pupil from the pre-teach group first, since they met these words and ideas before the lesson. Pupils try to recall before you re-explain.
A descending linear sequence does not stop at zero. It carries on into the negative numbers. In 20, 14, 8, 2 the rule is subtract 6, so the next term is 2 − 6 = −4.
Use a number line to see it. Start at the last term and jump down by the common difference. If the jump takes you past zero, the answer is negative.
Keep going with the same rule: −4 − 6 = −10. The sequence is still linear, because the difference is still constant.
Worked example — model it step by step, thinking aloud: What is the next term of 17, 12, 7, 2, …? (1) The common difference is 17 − 12 = 5. The terms go down. (2) Start at 2 and jump down 5. (3) 2 − 5 = −3. The jump crosses zero, so the answer is negative. Answer: −3.
Tip: After −3 the sequence carries on: −8, −13,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Find a later 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Here is a linear sequence: 4, 13, 22, 31, … What is the 7th term?
Support — work through the steps with the group: (1) Find the common difference from two terms next to each other. (2) Work out which term you have reached. (3) Add the common difference on, one term at a time, until you reach the 7th.
Parallel worked example for Support (model it, do not give the task answer): Here is a linear sequence: 5, 12, 19, 26, … What is the 6th term? The common difference is 12 − 5 = 7.; 26 is the 4th term. 5th term: 26 + 7 = 33.; 6th term: 33 + 7 = 40.. Answer: 40.
Core — reveal the hint only on request: The common difference is 9. 31 is the 4th term.
Stretch — no help; when finished: Is 130 a term in this sequence? Explain how you can decide without listing every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Decimal sequence.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Here is a linear sequence: 5.4, 4.8, 4.2, 3.6, … What is the next term?
Support — work through the steps with the group: (1) Find the common difference: take the second term away from the first. (2) Decide the direction: the terms are going down. (3) Take the common difference away from the last term, lining up the decimal points.
Parallel worked example for Support (model it, do not give the task answer): Find the next term of 7.5, 6.9, 6.3, … 7.5 − 6.9 = 0.6. The terms go down.; The rule is subtract 0.6 from the previous term.; 6.3 − 0.6 = 5.7.. Answer: 5.7.
Core — reveal the hint only on request: 5.4 − 4.8 = 0.6. Which way is the sequence going?
Stretch — no help; when finished: Write the next four terms after 3.0. What happens to the sequence, and could a candle really show those heights?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Here is a linear sequence: 14, 9, 4, −1, … What is the next term?
Answer: D   −6. The common difference is 5 and the terms go down. −1 − 5 = −6.
Source of this question: module 3 task ("Below zero")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Find a later term. Reveal the answer; pupils mark their own work in a different colour, then read the "why" together. Same destination for every lane, so one answer serves the whole class.
Answer: 58
Why: The common difference is 13 − 4 = 9. From the 4th term to the 7th term is 3 jumps of 9, which is 27. 31 + 27 = 58.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Decimal sequence. Reveal the answer; pupils mark their own work in a different colour, then read the "why" together. Same destination for every lane, so one answer serves the whole class.
Answer: 3
Why: The common difference is 5.4 − 4.8 = 0.6 and the terms go down. 3.6 − 0.6 = 3.0.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−6
Why: The common difference is 5 and the terms go down. −1 − 5 = −6.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Sequences · AQA KS3 → 8300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Continue linear sequences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Continue linear sequences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you tell what comes next in a sequence, and how do you know you are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next term of 31, 27, 23, 19, …?</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next term of 0.8, 1.3, 1.8, 2.3, …?</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3.3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2.33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2.5</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term-to-term rule of 40, 34, 28, 22 is ___ 6 from the previous term.</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subtract  ·  add  ·  divide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next term of 31, 27, 23, 19, …?</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common difference is 4 and the terms go down, so the next term is 19 − 4 = 15.</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2.8</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next term of 0.8, 1.3, 1.8, 2.3, …?</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common difference is 0.5, so the next term is 2.3 + 0.5 = 2.8.</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subtract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term-to-term rule of 40, 34, 28, 22 is ___ 6 from the previous term.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Each term is 6 less than the one before, so the rule is subtract 6 from the previous term.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11378"/>
          </a:xfrm>
          <a:prstGeom prst="roundRect">
            <a:avLst>
              <a:gd name="adj" fmla="val 6762"/>
            </a:avLst>
          </a:prstGeom>
          <a:solidFill>
            <a:srgbClr val="F5F6F9"/>
          </a:solidFill>
          <a:ln/>
        </p:spPr>
      </p:sp>
      <p:sp>
        <p:nvSpPr>
          <p:cNvPr id="12" name="kw-hex"/>
          <p:cNvSpPr/>
          <p:nvPr/>
        </p:nvSpPr>
        <p:spPr>
          <a:xfrm>
            <a:off x="658368" y="2147758"/>
            <a:ext cx="411480" cy="356342"/>
          </a:xfrm>
          <a:prstGeom prst="hexagon">
            <a:avLst/>
          </a:prstGeom>
          <a:solidFill>
            <a:srgbClr val="2E4A8C"/>
          </a:solidFill>
          <a:ln/>
        </p:spPr>
      </p:sp>
      <p:sp>
        <p:nvSpPr>
          <p:cNvPr id="13" name="kw-cell"/>
          <p:cNvSpPr txBox="1"/>
          <p:nvPr/>
        </p:nvSpPr>
        <p:spPr>
          <a:xfrm>
            <a:off x="1143000" y="1920240"/>
            <a:ext cx="2331720" cy="81137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term-to-term rule</a:t>
            </a:r>
            <a:endParaRPr lang="en-US" sz="2000" dirty="0"/>
          </a:p>
        </p:txBody>
      </p:sp>
      <p:sp>
        <p:nvSpPr>
          <p:cNvPr id="14" name="kw-cell"/>
          <p:cNvSpPr txBox="1"/>
          <p:nvPr/>
        </p:nvSpPr>
        <p:spPr>
          <a:xfrm>
            <a:off x="3657600" y="1920240"/>
            <a:ext cx="3474720" cy="8113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to get from one term to the next</a:t>
            </a:r>
            <a:endParaRPr lang="en-US" sz="1800" dirty="0"/>
          </a:p>
        </p:txBody>
      </p:sp>
      <p:sp>
        <p:nvSpPr>
          <p:cNvPr id="15" name="kw-cell"/>
          <p:cNvSpPr txBox="1"/>
          <p:nvPr/>
        </p:nvSpPr>
        <p:spPr>
          <a:xfrm>
            <a:off x="7315200" y="1920240"/>
            <a:ext cx="4236415" cy="81137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term-to-term rule is add 4 to the previous term.</a:t>
            </a:r>
            <a:endParaRPr lang="en-US" sz="1800" dirty="0"/>
          </a:p>
        </p:txBody>
      </p:sp>
      <p:sp>
        <p:nvSpPr>
          <p:cNvPr id="16" name="kw-row"/>
          <p:cNvSpPr/>
          <p:nvPr/>
        </p:nvSpPr>
        <p:spPr>
          <a:xfrm>
            <a:off x="548640" y="2804770"/>
            <a:ext cx="11094415" cy="811378"/>
          </a:xfrm>
          <a:prstGeom prst="roundRect">
            <a:avLst>
              <a:gd name="adj" fmla="val 6762"/>
            </a:avLst>
          </a:prstGeom>
          <a:solidFill>
            <a:srgbClr val="F9F4EC"/>
          </a:solidFill>
          <a:ln/>
        </p:spPr>
      </p:sp>
      <p:sp>
        <p:nvSpPr>
          <p:cNvPr id="17" name="kw-hex"/>
          <p:cNvSpPr/>
          <p:nvPr/>
        </p:nvSpPr>
        <p:spPr>
          <a:xfrm>
            <a:off x="658368" y="3032288"/>
            <a:ext cx="411480" cy="356342"/>
          </a:xfrm>
          <a:prstGeom prst="hexagon">
            <a:avLst/>
          </a:prstGeom>
          <a:solidFill>
            <a:srgbClr val="B8862B"/>
          </a:solidFill>
          <a:ln/>
        </p:spPr>
      </p:sp>
      <p:sp>
        <p:nvSpPr>
          <p:cNvPr id="18" name="kw-cell"/>
          <p:cNvSpPr txBox="1"/>
          <p:nvPr/>
        </p:nvSpPr>
        <p:spPr>
          <a:xfrm>
            <a:off x="1143000" y="2804770"/>
            <a:ext cx="2331720" cy="81137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previous term</a:t>
            </a:r>
            <a:endParaRPr lang="en-US" sz="2000" dirty="0"/>
          </a:p>
        </p:txBody>
      </p:sp>
      <p:sp>
        <p:nvSpPr>
          <p:cNvPr id="19" name="kw-cell"/>
          <p:cNvSpPr txBox="1"/>
          <p:nvPr/>
        </p:nvSpPr>
        <p:spPr>
          <a:xfrm>
            <a:off x="3657600" y="2804770"/>
            <a:ext cx="3474720" cy="8113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term just before</a:t>
            </a:r>
            <a:endParaRPr lang="en-US" sz="1800" dirty="0"/>
          </a:p>
        </p:txBody>
      </p:sp>
      <p:sp>
        <p:nvSpPr>
          <p:cNvPr id="20" name="kw-cell"/>
          <p:cNvSpPr txBox="1"/>
          <p:nvPr/>
        </p:nvSpPr>
        <p:spPr>
          <a:xfrm>
            <a:off x="7315200" y="2804770"/>
            <a:ext cx="4236415" cy="81137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Add 4 to the previous term to get the next one.</a:t>
            </a:r>
            <a:endParaRPr lang="en-US" sz="1800" dirty="0"/>
          </a:p>
        </p:txBody>
      </p:sp>
      <p:sp>
        <p:nvSpPr>
          <p:cNvPr id="21" name="kw-row"/>
          <p:cNvSpPr/>
          <p:nvPr/>
        </p:nvSpPr>
        <p:spPr>
          <a:xfrm>
            <a:off x="548640" y="3689299"/>
            <a:ext cx="11094415" cy="913994"/>
          </a:xfrm>
          <a:prstGeom prst="roundRect">
            <a:avLst>
              <a:gd name="adj" fmla="val 6003"/>
            </a:avLst>
          </a:prstGeom>
          <a:solidFill>
            <a:srgbClr val="F5F6F9"/>
          </a:solidFill>
          <a:ln/>
        </p:spPr>
      </p:sp>
      <p:sp>
        <p:nvSpPr>
          <p:cNvPr id="22" name="kw-hex"/>
          <p:cNvSpPr/>
          <p:nvPr/>
        </p:nvSpPr>
        <p:spPr>
          <a:xfrm>
            <a:off x="658368" y="3968125"/>
            <a:ext cx="411480" cy="356342"/>
          </a:xfrm>
          <a:prstGeom prst="hexagon">
            <a:avLst/>
          </a:prstGeom>
          <a:solidFill>
            <a:srgbClr val="2E4A8C"/>
          </a:solidFill>
          <a:ln/>
        </p:spPr>
      </p:sp>
      <p:sp>
        <p:nvSpPr>
          <p:cNvPr id="23" name="kw-cell"/>
          <p:cNvSpPr txBox="1"/>
          <p:nvPr/>
        </p:nvSpPr>
        <p:spPr>
          <a:xfrm>
            <a:off x="1143000" y="3689299"/>
            <a:ext cx="2331720" cy="91399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common difference</a:t>
            </a:r>
            <a:endParaRPr lang="en-US" sz="2000" dirty="0"/>
          </a:p>
        </p:txBody>
      </p:sp>
      <p:sp>
        <p:nvSpPr>
          <p:cNvPr id="24" name="kw-cell"/>
          <p:cNvSpPr txBox="1"/>
          <p:nvPr/>
        </p:nvSpPr>
        <p:spPr>
          <a:xfrm>
            <a:off x="3657600" y="3689299"/>
            <a:ext cx="3474720" cy="9139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amount a linear sequence goes up or down by each time</a:t>
            </a:r>
            <a:endParaRPr lang="en-US" sz="1800" dirty="0"/>
          </a:p>
        </p:txBody>
      </p:sp>
      <p:sp>
        <p:nvSpPr>
          <p:cNvPr id="25" name="kw-cell"/>
          <p:cNvSpPr txBox="1"/>
          <p:nvPr/>
        </p:nvSpPr>
        <p:spPr>
          <a:xfrm>
            <a:off x="7315200" y="3689299"/>
            <a:ext cx="4236415" cy="91399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2, 9, 16 the common difference is 7.</a:t>
            </a:r>
            <a:endParaRPr lang="en-US" sz="1800" dirty="0"/>
          </a:p>
        </p:txBody>
      </p:sp>
      <p:sp>
        <p:nvSpPr>
          <p:cNvPr id="26" name="kw-row"/>
          <p:cNvSpPr/>
          <p:nvPr/>
        </p:nvSpPr>
        <p:spPr>
          <a:xfrm>
            <a:off x="548640" y="4676445"/>
            <a:ext cx="11094415" cy="811378"/>
          </a:xfrm>
          <a:prstGeom prst="roundRect">
            <a:avLst>
              <a:gd name="adj" fmla="val 6762"/>
            </a:avLst>
          </a:prstGeom>
          <a:solidFill>
            <a:srgbClr val="F9F4EC"/>
          </a:solidFill>
          <a:ln/>
        </p:spPr>
      </p:sp>
      <p:sp>
        <p:nvSpPr>
          <p:cNvPr id="27" name="kw-hex"/>
          <p:cNvSpPr/>
          <p:nvPr/>
        </p:nvSpPr>
        <p:spPr>
          <a:xfrm>
            <a:off x="658368" y="4903963"/>
            <a:ext cx="411480" cy="356342"/>
          </a:xfrm>
          <a:prstGeom prst="hexagon">
            <a:avLst/>
          </a:prstGeom>
          <a:solidFill>
            <a:srgbClr val="B8862B"/>
          </a:solidFill>
          <a:ln/>
        </p:spPr>
      </p:sp>
      <p:sp>
        <p:nvSpPr>
          <p:cNvPr id="28" name="kw-cell"/>
          <p:cNvSpPr txBox="1"/>
          <p:nvPr/>
        </p:nvSpPr>
        <p:spPr>
          <a:xfrm>
            <a:off x="1143000" y="4676445"/>
            <a:ext cx="2331720" cy="811378"/>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decimal</a:t>
            </a:r>
            <a:endParaRPr lang="en-US" sz="2000" dirty="0"/>
          </a:p>
        </p:txBody>
      </p:sp>
      <p:sp>
        <p:nvSpPr>
          <p:cNvPr id="29" name="kw-cell"/>
          <p:cNvSpPr txBox="1"/>
          <p:nvPr/>
        </p:nvSpPr>
        <p:spPr>
          <a:xfrm>
            <a:off x="3657600" y="4676445"/>
            <a:ext cx="3474720" cy="8113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number with a decimal point, like 2.5</a:t>
            </a:r>
            <a:endParaRPr lang="en-US" sz="1800" dirty="0"/>
          </a:p>
        </p:txBody>
      </p:sp>
      <p:sp>
        <p:nvSpPr>
          <p:cNvPr id="30" name="kw-cell"/>
          <p:cNvSpPr txBox="1"/>
          <p:nvPr/>
        </p:nvSpPr>
        <p:spPr>
          <a:xfrm>
            <a:off x="7315200" y="4676445"/>
            <a:ext cx="4236415" cy="81137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Some sequences use decimals.</a:t>
            </a:r>
            <a:endParaRPr lang="en-US" sz="1800" dirty="0"/>
          </a:p>
        </p:txBody>
      </p:sp>
      <p:sp>
        <p:nvSpPr>
          <p:cNvPr id="31" name="kw-row"/>
          <p:cNvSpPr/>
          <p:nvPr/>
        </p:nvSpPr>
        <p:spPr>
          <a:xfrm>
            <a:off x="548640" y="5560974"/>
            <a:ext cx="11094415" cy="583794"/>
          </a:xfrm>
          <a:prstGeom prst="roundRect">
            <a:avLst>
              <a:gd name="adj" fmla="val 9398"/>
            </a:avLst>
          </a:prstGeom>
          <a:solidFill>
            <a:srgbClr val="F5F6F9"/>
          </a:solidFill>
          <a:ln/>
        </p:spPr>
      </p:sp>
      <p:sp>
        <p:nvSpPr>
          <p:cNvPr id="32" name="kw-hex"/>
          <p:cNvSpPr/>
          <p:nvPr/>
        </p:nvSpPr>
        <p:spPr>
          <a:xfrm>
            <a:off x="658368" y="5674700"/>
            <a:ext cx="411480" cy="356342"/>
          </a:xfrm>
          <a:prstGeom prst="hexagon">
            <a:avLst/>
          </a:prstGeom>
          <a:solidFill>
            <a:srgbClr val="2E4A8C"/>
          </a:solidFill>
          <a:ln/>
        </p:spPr>
      </p:sp>
      <p:sp>
        <p:nvSpPr>
          <p:cNvPr id="33" name="kw-cell"/>
          <p:cNvSpPr txBox="1"/>
          <p:nvPr/>
        </p:nvSpPr>
        <p:spPr>
          <a:xfrm>
            <a:off x="1143000" y="5560974"/>
            <a:ext cx="2331720" cy="583794"/>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axes</a:t>
            </a:r>
            <a:endParaRPr lang="en-US" sz="2000" dirty="0"/>
          </a:p>
        </p:txBody>
      </p:sp>
      <p:sp>
        <p:nvSpPr>
          <p:cNvPr id="34" name="kw-cell"/>
          <p:cNvSpPr txBox="1"/>
          <p:nvPr/>
        </p:nvSpPr>
        <p:spPr>
          <a:xfrm>
            <a:off x="3657600" y="5560974"/>
            <a:ext cx="3474720" cy="5837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two lines a graph is drawn on</a:t>
            </a:r>
            <a:endParaRPr lang="en-US" sz="1800" dirty="0"/>
          </a:p>
        </p:txBody>
      </p:sp>
      <p:sp>
        <p:nvSpPr>
          <p:cNvPr id="35" name="kw-cell"/>
          <p:cNvSpPr txBox="1"/>
          <p:nvPr/>
        </p:nvSpPr>
        <p:spPr>
          <a:xfrm>
            <a:off x="7315200" y="5560974"/>
            <a:ext cx="4236415" cy="58379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Position goes along the bottom axis.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linear sequence goes up or down by the same amount each time.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amount is the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common difference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To find it, take one term away from the next term.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31, 28, 25 the terms go down by 3.</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the next term is 22, and then 19.</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term-to-term rule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says how to get from one term to the next.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Here the rule is subtract 3 from the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previous term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sequences use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decimals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1.5, 2.5, 3.5 the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common difference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1.</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next term is 4.5.</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linear sequence can go below zero.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9, 6, 3, 0 the next term is −3.</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a graph, the points of a linear sequence make a straight line.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Finding the common difference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Find the difference, decide the direction, then check it on a second pair.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Here is a linear sequence: 88, 79, 70, 61, … Find the next two terms.</a:t>
            </a:r>
            <a:endParaRPr lang="en-US" sz="1800" dirty="0"/>
          </a:p>
        </p:txBody>
      </p:sp>
      <p:sp>
        <p:nvSpPr>
          <p:cNvPr id="14" name="step-box"/>
          <p:cNvSpPr/>
          <p:nvPr/>
        </p:nvSpPr>
        <p:spPr>
          <a:xfrm>
            <a:off x="6126480" y="2888488"/>
            <a:ext cx="5379415" cy="736981"/>
          </a:xfrm>
          <a:prstGeom prst="roundRect">
            <a:avLst>
              <a:gd name="adj" fmla="val 12407"/>
            </a:avLst>
          </a:prstGeom>
          <a:solidFill>
            <a:srgbClr val="F0F2F7"/>
          </a:solidFill>
          <a:ln/>
        </p:spPr>
      </p:sp>
      <p:sp>
        <p:nvSpPr>
          <p:cNvPr id="15" name="step-hex"/>
          <p:cNvSpPr/>
          <p:nvPr/>
        </p:nvSpPr>
        <p:spPr>
          <a:xfrm>
            <a:off x="6217920" y="3074848"/>
            <a:ext cx="420624" cy="364260"/>
          </a:xfrm>
          <a:prstGeom prst="hexagon">
            <a:avLst/>
          </a:prstGeom>
          <a:solidFill>
            <a:srgbClr val="2E4A8C"/>
          </a:solidFill>
          <a:ln/>
        </p:spPr>
      </p:sp>
      <p:sp>
        <p:nvSpPr>
          <p:cNvPr id="16" name="step-hex-label"/>
          <p:cNvSpPr txBox="1"/>
          <p:nvPr/>
        </p:nvSpPr>
        <p:spPr>
          <a:xfrm>
            <a:off x="6217920" y="307484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common difference: 88 − 79 = 9. The terms go down.</a:t>
            </a:r>
            <a:endParaRPr lang="en-US" sz="1800" dirty="0"/>
          </a:p>
        </p:txBody>
      </p:sp>
      <p:sp>
        <p:nvSpPr>
          <p:cNvPr id="18" name="step-box"/>
          <p:cNvSpPr/>
          <p:nvPr/>
        </p:nvSpPr>
        <p:spPr>
          <a:xfrm>
            <a:off x="6126480" y="3716909"/>
            <a:ext cx="5379415" cy="509397"/>
          </a:xfrm>
          <a:prstGeom prst="roundRect">
            <a:avLst>
              <a:gd name="adj" fmla="val 17951"/>
            </a:avLst>
          </a:prstGeom>
          <a:solidFill>
            <a:srgbClr val="F0F2F7"/>
          </a:solidFill>
          <a:ln/>
        </p:spPr>
      </p:sp>
      <p:sp>
        <p:nvSpPr>
          <p:cNvPr id="19" name="step-hex"/>
          <p:cNvSpPr/>
          <p:nvPr/>
        </p:nvSpPr>
        <p:spPr>
          <a:xfrm>
            <a:off x="6217920" y="3789477"/>
            <a:ext cx="420624" cy="364260"/>
          </a:xfrm>
          <a:prstGeom prst="hexagon">
            <a:avLst/>
          </a:prstGeom>
          <a:solidFill>
            <a:srgbClr val="2E4A8C"/>
          </a:solidFill>
          <a:ln/>
        </p:spPr>
      </p:sp>
      <p:sp>
        <p:nvSpPr>
          <p:cNvPr id="20" name="step-hex-label"/>
          <p:cNvSpPr txBox="1"/>
          <p:nvPr/>
        </p:nvSpPr>
        <p:spPr>
          <a:xfrm>
            <a:off x="6217920" y="378947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16909"/>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rule is subtract 9 from the previous term.</a:t>
            </a:r>
            <a:endParaRPr lang="en-US" sz="1800" dirty="0"/>
          </a:p>
        </p:txBody>
      </p:sp>
      <p:sp>
        <p:nvSpPr>
          <p:cNvPr id="22" name="step-box"/>
          <p:cNvSpPr/>
          <p:nvPr/>
        </p:nvSpPr>
        <p:spPr>
          <a:xfrm>
            <a:off x="6126480" y="4317746"/>
            <a:ext cx="5379415" cy="509397"/>
          </a:xfrm>
          <a:prstGeom prst="roundRect">
            <a:avLst>
              <a:gd name="adj" fmla="val 17951"/>
            </a:avLst>
          </a:prstGeom>
          <a:solidFill>
            <a:srgbClr val="F0F2F7"/>
          </a:solidFill>
          <a:ln/>
        </p:spPr>
      </p:sp>
      <p:sp>
        <p:nvSpPr>
          <p:cNvPr id="23" name="step-hex"/>
          <p:cNvSpPr/>
          <p:nvPr/>
        </p:nvSpPr>
        <p:spPr>
          <a:xfrm>
            <a:off x="6217920" y="4390314"/>
            <a:ext cx="420624" cy="364260"/>
          </a:xfrm>
          <a:prstGeom prst="hexagon">
            <a:avLst/>
          </a:prstGeom>
          <a:solidFill>
            <a:srgbClr val="2E4A8C"/>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61 − 9 = 52.</a:t>
            </a:r>
            <a:endParaRPr lang="en-US" sz="1800" dirty="0"/>
          </a:p>
        </p:txBody>
      </p:sp>
      <p:sp>
        <p:nvSpPr>
          <p:cNvPr id="26" name="step-box"/>
          <p:cNvSpPr/>
          <p:nvPr/>
        </p:nvSpPr>
        <p:spPr>
          <a:xfrm>
            <a:off x="6126480" y="4918583"/>
            <a:ext cx="5379415" cy="509397"/>
          </a:xfrm>
          <a:prstGeom prst="roundRect">
            <a:avLst>
              <a:gd name="adj" fmla="val 17951"/>
            </a:avLst>
          </a:prstGeom>
          <a:solidFill>
            <a:srgbClr val="F0F2F7"/>
          </a:solidFill>
          <a:ln/>
        </p:spPr>
      </p:sp>
      <p:sp>
        <p:nvSpPr>
          <p:cNvPr id="27" name="step-hex"/>
          <p:cNvSpPr/>
          <p:nvPr/>
        </p:nvSpPr>
        <p:spPr>
          <a:xfrm>
            <a:off x="6217920" y="4991151"/>
            <a:ext cx="420624" cy="364260"/>
          </a:xfrm>
          <a:prstGeom prst="hexagon">
            <a:avLst/>
          </a:prstGeom>
          <a:solidFill>
            <a:srgbClr val="2E4A8C"/>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52 − 9 = 43.</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52, 43</a:t>
            </a:r>
            <a:endParaRPr lang="en-US" sz="1800" dirty="0"/>
          </a:p>
        </p:txBody>
      </p:sp>
      <p:sp>
        <p:nvSpPr>
          <p:cNvPr id="31" name="bullet-card"/>
          <p:cNvSpPr/>
          <p:nvPr/>
        </p:nvSpPr>
        <p:spPr>
          <a:xfrm>
            <a:off x="548640" y="1389888"/>
            <a:ext cx="5074920" cy="1234440"/>
          </a:xfrm>
          <a:prstGeom prst="roundRect">
            <a:avLst>
              <a:gd name="adj" fmla="val 5926"/>
            </a:avLst>
          </a:prstGeom>
          <a:solidFill>
            <a:srgbClr val="F5F6F9"/>
          </a:solidFill>
          <a:ln/>
        </p:spPr>
      </p:sp>
      <p:sp>
        <p:nvSpPr>
          <p:cNvPr id="32" name="bullet-hex"/>
          <p:cNvSpPr/>
          <p:nvPr/>
        </p:nvSpPr>
        <p:spPr>
          <a:xfrm>
            <a:off x="676656" y="1840815"/>
            <a:ext cx="384048" cy="332586"/>
          </a:xfrm>
          <a:prstGeom prst="hexagon">
            <a:avLst/>
          </a:prstGeom>
          <a:solidFill>
            <a:srgbClr val="2E4A8C"/>
          </a:solidFill>
          <a:ln/>
        </p:spPr>
      </p:sp>
      <p:sp>
        <p:nvSpPr>
          <p:cNvPr id="33" name="bullet"/>
          <p:cNvSpPr txBox="1"/>
          <p:nvPr/>
        </p:nvSpPr>
        <p:spPr>
          <a:xfrm>
            <a:off x="1143000" y="1389888"/>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 a linear sequence the common difference is the amount you add or subtract each time.</a:t>
            </a:r>
            <a:endParaRPr lang="en-US" sz="2000" dirty="0"/>
          </a:p>
        </p:txBody>
      </p:sp>
      <p:sp>
        <p:nvSpPr>
          <p:cNvPr id="34" name="bullet-card"/>
          <p:cNvSpPr/>
          <p:nvPr/>
        </p:nvSpPr>
        <p:spPr>
          <a:xfrm>
            <a:off x="548640" y="2770632"/>
            <a:ext cx="5074920" cy="924560"/>
          </a:xfrm>
          <a:prstGeom prst="roundRect">
            <a:avLst>
              <a:gd name="adj" fmla="val 7912"/>
            </a:avLst>
          </a:prstGeom>
          <a:solidFill>
            <a:srgbClr val="F5F6F9"/>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770632"/>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 7, 12, 17, 22 the common difference is 12 − 7 = 5.</a:t>
            </a:r>
            <a:endParaRPr lang="en-US" sz="2000" dirty="0"/>
          </a:p>
        </p:txBody>
      </p:sp>
      <p:sp>
        <p:nvSpPr>
          <p:cNvPr id="37" name="bullet-card"/>
          <p:cNvSpPr/>
          <p:nvPr/>
        </p:nvSpPr>
        <p:spPr>
          <a:xfrm>
            <a:off x="548640" y="3841496"/>
            <a:ext cx="5074920" cy="1234440"/>
          </a:xfrm>
          <a:prstGeom prst="roundRect">
            <a:avLst>
              <a:gd name="adj" fmla="val 5926"/>
            </a:avLst>
          </a:prstGeom>
          <a:solidFill>
            <a:srgbClr val="F5F6F9"/>
          </a:solidFill>
          <a:ln/>
        </p:spPr>
      </p:sp>
      <p:sp>
        <p:nvSpPr>
          <p:cNvPr id="38" name="bullet-hex"/>
          <p:cNvSpPr/>
          <p:nvPr/>
        </p:nvSpPr>
        <p:spPr>
          <a:xfrm>
            <a:off x="676656" y="4292423"/>
            <a:ext cx="384048" cy="332586"/>
          </a:xfrm>
          <a:prstGeom prst="hexagon">
            <a:avLst/>
          </a:prstGeom>
          <a:solidFill>
            <a:srgbClr val="2E4A8C"/>
          </a:solidFill>
          <a:ln/>
        </p:spPr>
      </p:sp>
      <p:sp>
        <p:nvSpPr>
          <p:cNvPr id="39" name="bullet"/>
          <p:cNvSpPr txBox="1"/>
          <p:nvPr/>
        </p:nvSpPr>
        <p:spPr>
          <a:xfrm>
            <a:off x="1143000" y="3841496"/>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a descending sequence, take care with the order. In 50, 42, 34 the terms go down by 8, because 50 − 42 = 8.</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Decimal sequences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Line up the decimal points. 3.0 + 0.7 is 3.7, not 3.07.</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Write the next three terms of 1.6, 2.3, 3.0, …</a:t>
            </a:r>
            <a:endParaRPr lang="en-US" sz="1800" dirty="0"/>
          </a:p>
        </p:txBody>
      </p:sp>
      <p:sp>
        <p:nvSpPr>
          <p:cNvPr id="14" name="step-box"/>
          <p:cNvSpPr/>
          <p:nvPr/>
        </p:nvSpPr>
        <p:spPr>
          <a:xfrm>
            <a:off x="6126480" y="2609596"/>
            <a:ext cx="5379415" cy="566928"/>
          </a:xfrm>
          <a:prstGeom prst="roundRect">
            <a:avLst>
              <a:gd name="adj" fmla="val 16129"/>
            </a:avLst>
          </a:prstGeom>
          <a:solidFill>
            <a:srgbClr val="F0F2F7"/>
          </a:solidFill>
          <a:ln/>
        </p:spPr>
      </p:sp>
      <p:sp>
        <p:nvSpPr>
          <p:cNvPr id="15" name="step-hex"/>
          <p:cNvSpPr/>
          <p:nvPr/>
        </p:nvSpPr>
        <p:spPr>
          <a:xfrm>
            <a:off x="6217920" y="2710930"/>
            <a:ext cx="420624" cy="364260"/>
          </a:xfrm>
          <a:prstGeom prst="hexagon">
            <a:avLst/>
          </a:prstGeom>
          <a:solidFill>
            <a:srgbClr val="2E4A8C"/>
          </a:solidFill>
          <a:ln/>
        </p:spPr>
      </p:sp>
      <p:sp>
        <p:nvSpPr>
          <p:cNvPr id="16" name="step-hex-label"/>
          <p:cNvSpPr txBox="1"/>
          <p:nvPr/>
        </p:nvSpPr>
        <p:spPr>
          <a:xfrm>
            <a:off x="6217920" y="271093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common difference is 2.3 − 1.6 = 0.7.</a:t>
            </a:r>
            <a:endParaRPr lang="en-US" sz="1800" dirty="0"/>
          </a:p>
        </p:txBody>
      </p:sp>
      <p:sp>
        <p:nvSpPr>
          <p:cNvPr id="18" name="step-box"/>
          <p:cNvSpPr/>
          <p:nvPr/>
        </p:nvSpPr>
        <p:spPr>
          <a:xfrm>
            <a:off x="6126480" y="3267964"/>
            <a:ext cx="5379415" cy="566928"/>
          </a:xfrm>
          <a:prstGeom prst="roundRect">
            <a:avLst>
              <a:gd name="adj" fmla="val 16129"/>
            </a:avLst>
          </a:prstGeom>
          <a:solidFill>
            <a:srgbClr val="F0F2F7"/>
          </a:solidFill>
          <a:ln/>
        </p:spPr>
      </p:sp>
      <p:sp>
        <p:nvSpPr>
          <p:cNvPr id="19" name="step-hex"/>
          <p:cNvSpPr/>
          <p:nvPr/>
        </p:nvSpPr>
        <p:spPr>
          <a:xfrm>
            <a:off x="6217920" y="3369298"/>
            <a:ext cx="420624" cy="364260"/>
          </a:xfrm>
          <a:prstGeom prst="hexagon">
            <a:avLst/>
          </a:prstGeom>
          <a:solidFill>
            <a:srgbClr val="2E4A8C"/>
          </a:solidFill>
          <a:ln/>
        </p:spPr>
      </p:sp>
      <p:sp>
        <p:nvSpPr>
          <p:cNvPr id="20" name="step-hex-label"/>
          <p:cNvSpPr txBox="1"/>
          <p:nvPr/>
        </p:nvSpPr>
        <p:spPr>
          <a:xfrm>
            <a:off x="6217920" y="336929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26796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3.0 + 0.7 = 3.7.</a:t>
            </a:r>
            <a:endParaRPr lang="en-US" sz="1800" dirty="0"/>
          </a:p>
        </p:txBody>
      </p:sp>
      <p:sp>
        <p:nvSpPr>
          <p:cNvPr id="22" name="step-box"/>
          <p:cNvSpPr/>
          <p:nvPr/>
        </p:nvSpPr>
        <p:spPr>
          <a:xfrm>
            <a:off x="6126480" y="3926332"/>
            <a:ext cx="5379415" cy="566928"/>
          </a:xfrm>
          <a:prstGeom prst="roundRect">
            <a:avLst>
              <a:gd name="adj" fmla="val 16129"/>
            </a:avLst>
          </a:prstGeom>
          <a:solidFill>
            <a:srgbClr val="F0F2F7"/>
          </a:solidFill>
          <a:ln/>
        </p:spPr>
      </p:sp>
      <p:sp>
        <p:nvSpPr>
          <p:cNvPr id="23" name="step-hex"/>
          <p:cNvSpPr/>
          <p:nvPr/>
        </p:nvSpPr>
        <p:spPr>
          <a:xfrm>
            <a:off x="6217920" y="4027666"/>
            <a:ext cx="420624" cy="364260"/>
          </a:xfrm>
          <a:prstGeom prst="hexagon">
            <a:avLst/>
          </a:prstGeom>
          <a:solidFill>
            <a:srgbClr val="2E4A8C"/>
          </a:solidFill>
          <a:ln/>
        </p:spPr>
      </p:sp>
      <p:sp>
        <p:nvSpPr>
          <p:cNvPr id="24" name="step-hex-label"/>
          <p:cNvSpPr txBox="1"/>
          <p:nvPr/>
        </p:nvSpPr>
        <p:spPr>
          <a:xfrm>
            <a:off x="6217920" y="4027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3926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3.7 + 0.7 = 4.4.</a:t>
            </a:r>
            <a:endParaRPr lang="en-US" sz="1800" dirty="0"/>
          </a:p>
        </p:txBody>
      </p:sp>
      <p:sp>
        <p:nvSpPr>
          <p:cNvPr id="26" name="step-box"/>
          <p:cNvSpPr/>
          <p:nvPr/>
        </p:nvSpPr>
        <p:spPr>
          <a:xfrm>
            <a:off x="6126480" y="4584700"/>
            <a:ext cx="5379415" cy="566928"/>
          </a:xfrm>
          <a:prstGeom prst="roundRect">
            <a:avLst>
              <a:gd name="adj" fmla="val 16129"/>
            </a:avLst>
          </a:prstGeom>
          <a:solidFill>
            <a:srgbClr val="F0F2F7"/>
          </a:solidFill>
          <a:ln/>
        </p:spPr>
      </p:sp>
      <p:sp>
        <p:nvSpPr>
          <p:cNvPr id="27" name="step-hex"/>
          <p:cNvSpPr/>
          <p:nvPr/>
        </p:nvSpPr>
        <p:spPr>
          <a:xfrm>
            <a:off x="6217920" y="4686034"/>
            <a:ext cx="420624" cy="364260"/>
          </a:xfrm>
          <a:prstGeom prst="hexagon">
            <a:avLst/>
          </a:prstGeom>
          <a:solidFill>
            <a:srgbClr val="2E4A8C"/>
          </a:solidFill>
          <a:ln/>
        </p:spPr>
      </p:sp>
      <p:sp>
        <p:nvSpPr>
          <p:cNvPr id="28" name="step-hex-label"/>
          <p:cNvSpPr txBox="1"/>
          <p:nvPr/>
        </p:nvSpPr>
        <p:spPr>
          <a:xfrm>
            <a:off x="6217920" y="4686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584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4.4 + 0.7 = 5.1.</a:t>
            </a:r>
            <a:endParaRPr lang="en-US" sz="1800" dirty="0"/>
          </a:p>
        </p:txBody>
      </p:sp>
      <p:sp>
        <p:nvSpPr>
          <p:cNvPr id="30" name="worked-answer"/>
          <p:cNvSpPr/>
          <p:nvPr/>
        </p:nvSpPr>
        <p:spPr>
          <a:xfrm>
            <a:off x="6126480" y="52887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3.7, 4.4, 5.1</a:t>
            </a:r>
            <a:endParaRPr lang="en-US" sz="1800" dirty="0"/>
          </a:p>
        </p:txBody>
      </p:sp>
      <p:sp>
        <p:nvSpPr>
          <p:cNvPr id="31" name="bullet-card"/>
          <p:cNvSpPr/>
          <p:nvPr/>
        </p:nvSpPr>
        <p:spPr>
          <a:xfrm>
            <a:off x="548640" y="1389888"/>
            <a:ext cx="5074920" cy="1131147"/>
          </a:xfrm>
          <a:prstGeom prst="roundRect">
            <a:avLst>
              <a:gd name="adj" fmla="val 6467"/>
            </a:avLst>
          </a:prstGeom>
          <a:solidFill>
            <a:srgbClr val="F5F6F9"/>
          </a:solidFill>
          <a:ln/>
        </p:spPr>
      </p:sp>
      <p:sp>
        <p:nvSpPr>
          <p:cNvPr id="32" name="bullet-hex"/>
          <p:cNvSpPr/>
          <p:nvPr/>
        </p:nvSpPr>
        <p:spPr>
          <a:xfrm>
            <a:off x="676656" y="1789169"/>
            <a:ext cx="384048" cy="332586"/>
          </a:xfrm>
          <a:prstGeom prst="hexagon">
            <a:avLst/>
          </a:prstGeom>
          <a:solidFill>
            <a:srgbClr val="2E4A8C"/>
          </a:solidFill>
          <a:ln/>
        </p:spPr>
      </p:sp>
      <p:sp>
        <p:nvSpPr>
          <p:cNvPr id="33"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common difference can be a decimal. In 2.4, 3.1, 3.8 the difference is 3.1 − 2.4 = 0.7.</a:t>
            </a:r>
            <a:endParaRPr lang="en-US" sz="2000" dirty="0"/>
          </a:p>
        </p:txBody>
      </p:sp>
      <p:sp>
        <p:nvSpPr>
          <p:cNvPr id="34" name="bullet-card"/>
          <p:cNvSpPr/>
          <p:nvPr/>
        </p:nvSpPr>
        <p:spPr>
          <a:xfrm>
            <a:off x="548640" y="2667339"/>
            <a:ext cx="5074920" cy="821267"/>
          </a:xfrm>
          <a:prstGeom prst="roundRect">
            <a:avLst>
              <a:gd name="adj" fmla="val 8907"/>
            </a:avLst>
          </a:prstGeom>
          <a:solidFill>
            <a:srgbClr val="F5F6F9"/>
          </a:solidFill>
          <a:ln/>
        </p:spPr>
      </p:sp>
      <p:sp>
        <p:nvSpPr>
          <p:cNvPr id="35" name="bullet-hex"/>
          <p:cNvSpPr/>
          <p:nvPr/>
        </p:nvSpPr>
        <p:spPr>
          <a:xfrm>
            <a:off x="676656" y="2911679"/>
            <a:ext cx="384048" cy="332586"/>
          </a:xfrm>
          <a:prstGeom prst="hexagon">
            <a:avLst/>
          </a:prstGeom>
          <a:solidFill>
            <a:srgbClr val="B8862B"/>
          </a:solidFill>
          <a:ln/>
        </p:spPr>
      </p:sp>
      <p:sp>
        <p:nvSpPr>
          <p:cNvPr id="36" name="bullet"/>
          <p:cNvSpPr txBox="1"/>
          <p:nvPr/>
        </p:nvSpPr>
        <p:spPr>
          <a:xfrm>
            <a:off x="1143000" y="266733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Keep the same number of decimal places all the way along.</a:t>
            </a:r>
            <a:endParaRPr lang="en-US" sz="2000" dirty="0"/>
          </a:p>
        </p:txBody>
      </p:sp>
      <p:sp>
        <p:nvSpPr>
          <p:cNvPr id="37" name="bullet-card"/>
          <p:cNvSpPr/>
          <p:nvPr/>
        </p:nvSpPr>
        <p:spPr>
          <a:xfrm>
            <a:off x="548640" y="3634909"/>
            <a:ext cx="5074920" cy="1441027"/>
          </a:xfrm>
          <a:prstGeom prst="roundRect">
            <a:avLst>
              <a:gd name="adj" fmla="val 5076"/>
            </a:avLst>
          </a:prstGeom>
          <a:solidFill>
            <a:srgbClr val="F5F6F9"/>
          </a:solidFill>
          <a:ln/>
        </p:spPr>
      </p:sp>
      <p:sp>
        <p:nvSpPr>
          <p:cNvPr id="38" name="bullet-hex"/>
          <p:cNvSpPr/>
          <p:nvPr/>
        </p:nvSpPr>
        <p:spPr>
          <a:xfrm>
            <a:off x="676656" y="4189130"/>
            <a:ext cx="384048" cy="332586"/>
          </a:xfrm>
          <a:prstGeom prst="hexagon">
            <a:avLst/>
          </a:prstGeom>
          <a:solidFill>
            <a:srgbClr val="2E4A8C"/>
          </a:solidFill>
          <a:ln/>
        </p:spPr>
      </p:sp>
      <p:sp>
        <p:nvSpPr>
          <p:cNvPr id="39" name="bullet"/>
          <p:cNvSpPr txBox="1"/>
          <p:nvPr/>
        </p:nvSpPr>
        <p:spPr>
          <a:xfrm>
            <a:off x="1143000" y="3634909"/>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Decimal sequences can go down as well. In 6.5, 6.1, 5.7 the rule is subtract 0.4 from the previous term, so the next term is 5.3.</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Sequences that go below zero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After −3 the sequence carries on: −8, −13, …</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What is the next term of 17, 12, 7, 2, …?</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common difference is 17 − 12 = 5. The terms go down.</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at 2 and jump down 5.</a:t>
            </a:r>
            <a:endParaRPr lang="en-US" sz="1800" dirty="0"/>
          </a:p>
        </p:txBody>
      </p:sp>
      <p:sp>
        <p:nvSpPr>
          <p:cNvPr id="22" name="step-box"/>
          <p:cNvSpPr/>
          <p:nvPr/>
        </p:nvSpPr>
        <p:spPr>
          <a:xfrm>
            <a:off x="6126480" y="4153916"/>
            <a:ext cx="5379415" cy="794512"/>
          </a:xfrm>
          <a:prstGeom prst="roundRect">
            <a:avLst>
              <a:gd name="adj" fmla="val 11509"/>
            </a:avLst>
          </a:prstGeom>
          <a:solidFill>
            <a:srgbClr val="F0F2F7"/>
          </a:solidFill>
          <a:ln/>
        </p:spPr>
      </p:sp>
      <p:sp>
        <p:nvSpPr>
          <p:cNvPr id="23" name="step-hex"/>
          <p:cNvSpPr/>
          <p:nvPr/>
        </p:nvSpPr>
        <p:spPr>
          <a:xfrm>
            <a:off x="6217920" y="4369042"/>
            <a:ext cx="420624" cy="364260"/>
          </a:xfrm>
          <a:prstGeom prst="hexagon">
            <a:avLst/>
          </a:prstGeom>
          <a:solidFill>
            <a:srgbClr val="2E4A8C"/>
          </a:solidFill>
          <a:ln/>
        </p:spPr>
      </p:sp>
      <p:sp>
        <p:nvSpPr>
          <p:cNvPr id="24" name="step-hex-label"/>
          <p:cNvSpPr txBox="1"/>
          <p:nvPr/>
        </p:nvSpPr>
        <p:spPr>
          <a:xfrm>
            <a:off x="6217920" y="43690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2 − 5 = −3. The jump crosses zero, so the answer is negative.</a:t>
            </a:r>
            <a:endParaRPr lang="en-US" sz="1800" dirty="0"/>
          </a:p>
        </p:txBody>
      </p:sp>
      <p:sp>
        <p:nvSpPr>
          <p:cNvPr id="26" name="worked-answer"/>
          <p:cNvSpPr/>
          <p:nvPr/>
        </p:nvSpPr>
        <p:spPr>
          <a:xfrm>
            <a:off x="6126480" y="50855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a:t>
            </a:r>
            <a:endParaRPr lang="en-US" sz="1800" dirty="0"/>
          </a:p>
        </p:txBody>
      </p:sp>
      <p:sp>
        <p:nvSpPr>
          <p:cNvPr id="27" name="bullet-card"/>
          <p:cNvSpPr/>
          <p:nvPr/>
        </p:nvSpPr>
        <p:spPr>
          <a:xfrm>
            <a:off x="548640" y="1389888"/>
            <a:ext cx="5074920" cy="1244769"/>
          </a:xfrm>
          <a:prstGeom prst="roundRect">
            <a:avLst>
              <a:gd name="adj" fmla="val 5877"/>
            </a:avLst>
          </a:prstGeom>
          <a:solidFill>
            <a:srgbClr val="F5F6F9"/>
          </a:solidFill>
          <a:ln/>
        </p:spPr>
      </p:sp>
      <p:sp>
        <p:nvSpPr>
          <p:cNvPr id="28" name="bullet-hex"/>
          <p:cNvSpPr/>
          <p:nvPr/>
        </p:nvSpPr>
        <p:spPr>
          <a:xfrm>
            <a:off x="676656" y="1845980"/>
            <a:ext cx="384048" cy="332586"/>
          </a:xfrm>
          <a:prstGeom prst="hexagon">
            <a:avLst/>
          </a:prstGeom>
          <a:solidFill>
            <a:srgbClr val="2E4A8C"/>
          </a:solidFill>
          <a:ln/>
        </p:spPr>
      </p:sp>
      <p:sp>
        <p:nvSpPr>
          <p:cNvPr id="29" name="bullet"/>
          <p:cNvSpPr txBox="1"/>
          <p:nvPr/>
        </p:nvSpPr>
        <p:spPr>
          <a:xfrm>
            <a:off x="1143000" y="1389888"/>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descending linear sequence does not stop at zero. It carries on into the negative numbers.</a:t>
            </a:r>
            <a:endParaRPr lang="en-US" sz="2200" dirty="0"/>
          </a:p>
        </p:txBody>
      </p:sp>
      <p:sp>
        <p:nvSpPr>
          <p:cNvPr id="30" name="bullet-card"/>
          <p:cNvSpPr/>
          <p:nvPr/>
        </p:nvSpPr>
        <p:spPr>
          <a:xfrm>
            <a:off x="548640" y="2780961"/>
            <a:ext cx="5074920" cy="1244769"/>
          </a:xfrm>
          <a:prstGeom prst="roundRect">
            <a:avLst>
              <a:gd name="adj" fmla="val 5877"/>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780961"/>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Use a number line to see it. Start at the last term and jump down by the common difference.</a:t>
            </a:r>
            <a:endParaRPr lang="en-US" sz="2200" dirty="0"/>
          </a:p>
        </p:txBody>
      </p:sp>
      <p:sp>
        <p:nvSpPr>
          <p:cNvPr id="33" name="bullet-card"/>
          <p:cNvSpPr/>
          <p:nvPr/>
        </p:nvSpPr>
        <p:spPr>
          <a:xfrm>
            <a:off x="548640" y="4172035"/>
            <a:ext cx="5074920" cy="903901"/>
          </a:xfrm>
          <a:prstGeom prst="roundRect">
            <a:avLst>
              <a:gd name="adj" fmla="val 8093"/>
            </a:avLst>
          </a:prstGeom>
          <a:solidFill>
            <a:srgbClr val="F5F6F9"/>
          </a:solidFill>
          <a:ln/>
        </p:spPr>
      </p:sp>
      <p:sp>
        <p:nvSpPr>
          <p:cNvPr id="34" name="bullet-hex"/>
          <p:cNvSpPr/>
          <p:nvPr/>
        </p:nvSpPr>
        <p:spPr>
          <a:xfrm>
            <a:off x="676656" y="4457693"/>
            <a:ext cx="384048" cy="332586"/>
          </a:xfrm>
          <a:prstGeom prst="hexagon">
            <a:avLst/>
          </a:prstGeom>
          <a:solidFill>
            <a:srgbClr val="2E4A8C"/>
          </a:solidFill>
          <a:ln/>
        </p:spPr>
      </p:sp>
      <p:sp>
        <p:nvSpPr>
          <p:cNvPr id="35" name="bullet"/>
          <p:cNvSpPr txBox="1"/>
          <p:nvPr/>
        </p:nvSpPr>
        <p:spPr>
          <a:xfrm>
            <a:off x="1143000" y="4172035"/>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Keep going with the same rule: −4 − 6 = −10.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Find a later term</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Here is a linear sequence: 4, 13, 22, 31, … What is the 7th term?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common difference from two terms next to each other.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out which term you have reached.</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common difference on, one term at a time, until you reach the 7th.</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common difference is 9. 31 is the 4th term.</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Is 130 a term in this sequence? Explain how you can decide without listing every term.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Decimal sequence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Here is a linear sequence: 5.4, 4.8, 4.2, 3.6, … What is the next term?</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common difference: take the second term away from the first.</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the direction: the terms are going down.</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Take the common difference away from the last term, lining up the decimal points.</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5.4 − 4.8 = 0.6. Which way is the sequence going?</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the next four terms after 3.0. What happens to the sequence, and could a candle really show those heights? Explain.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Here is a linear sequence: 14, 9, 4, −1, … What is the next term?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−5</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4</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−6</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Find a later term</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Here is a linear sequence: 4, 13, 22, 31, … What is the 7th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58</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 difference is 13 − 4 = 9. From the 4th term to the 7th term is 3 jumps of 9, which is 27. 31 + 27 = 58.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Decimal sequence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Here is a linear sequence: 5.4, 4.8, 4.2, 3.6, … What is the next term?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 difference is 5.4 − 4.8 = 0.6 and the terms go down. 3.6 − 0.6 = 3.0.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Here is a linear sequence: 14, 9, 4, −1, … What is the next term?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−6</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common difference is 5 and the terms go down. −1 − 5 = −6.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 · Chapter 3: Continue linear sequences</dc:title>
  <dc:subject>Mathematics · Year 7</dc:subject>
  <dc:creator>Dr Vitor Merissi de Carvalho</dc:creator>
  <cp:lastModifiedBy>Dr Vitor Merissi de Carvalho</cp:lastModifiedBy>
  <cp:revision>1</cp:revision>
  <dcterms:created xsi:type="dcterms:W3CDTF">2026-10-19T06:08:12Z</dcterms:created>
  <dcterms:modified xsi:type="dcterms:W3CDTF">2026-10-19T06:08:12Z</dcterms:modified>
</cp:coreProperties>
</file>