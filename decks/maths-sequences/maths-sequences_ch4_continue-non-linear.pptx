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c92ff57-ce32-4960-77c0-9efd7dcf3dbc}">
          <p14:sldIdLst>
            <p14:sldId id="256"/>
          </p14:sldIdLst>
        </p14:section>
        <p14:section name="Gate" id="{f79f531b-5df7-53d9-6eff-542e310cb62b}">
          <p14:sldIdLst>
            <p14:sldId id="257"/>
            <p14:sldId id="258"/>
          </p14:sldIdLst>
        </p14:section>
        <p14:section name="Pre-teach" id="{0a825447-65bf-0529-ac04-5ff305dd0676}">
          <p14:sldIdLst>
            <p14:sldId id="259"/>
          </p14:sldIdLst>
        </p14:section>
        <p14:section name="Read-along" id="{9cdc9da1-85ef-ab05-ebba-c0e95beb3ebc}">
          <p14:sldIdLst>
            <p14:sldId id="260"/>
            <p14:sldId id="261"/>
          </p14:sldIdLst>
        </p14:section>
        <p14:section name="Teach" id="{ca77b09e-c4b7-8d32-8e74-b90632b4a004}">
          <p14:sldIdLst>
            <p14:sldId id="262"/>
            <p14:sldId id="263"/>
            <p14:sldId id="264"/>
            <p14:sldId id="265"/>
          </p14:sldIdLst>
        </p14:section>
        <p14:section name="Routes" id="{f921b0c8-6e8e-8cd3-3748-63a1953f12a6}">
          <p14:sldIdLst>
            <p14:sldId id="266"/>
            <p14:sldId id="267"/>
          </p14:sldIdLst>
        </p14:section>
        <p14:section name="Close" id="{4f2da81f-585d-a46d-07a4-638aa04ad14f}">
          <p14:sldIdLst>
            <p14:sldId id="268"/>
          </p14:sldIdLst>
        </p14:section>
        <p14:section name="Answers" id="{8a09ae87-de49-314e-55cb-346ae7268b37}">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Continue non-linear sequences. Continue sequences that multiply, divide or grow by changing amounts, and describe the pattern you see.
This deck covers the department's lesson: 4 (Continue non-linear sequences: How do you continue a non-linear sequence and describe its pattern?).
Read the big question aloud: "How can you tell what comes next in a sequence, and how do you know you are right?"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 sequence is made by doubling the previous term: 5, 10, 20, … What is the 5th term?  →  80
2. Which of these sequences is geometric?  →  B   2, 4, 8, 16
3. In the sequence 2, 4, 7, 11, 16 the differences are 2, 3, 4 and 5, so the sequence is ___.  →  non-linear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80. Double 20 to get 40, the 4th term. Double again to get 80, the 5th term.
2. B   2, 4, 8, 16. In 2, 4, 8, 16 each term is double the previous term. Multiplying by the same number each time makes a geometric sequence.
3. non-linear. The differences change, so the sequence is non-linear.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non-linear sequence: a sequence whose differences change. Example: "3, 6, 12, 24 is a non-linear sequence."
• geometric sequence: a sequence where you multiply or divide by the same number each time. Example: "3, 6, 12, 24 is a geometric sequence."
• double: multiply by 2. Example: "Double 6 to get 12."
• triple: multiply by 3. Example: "Triple 4 to get 12."
• halve: divide by 2. Example: "Halve 40 to get 20."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Not every sequence goes up by the same amount.
2. Look at 3, 6, 12, 24.
3. Each term is double the one before.
4. The differences are 3, 6 and 12.
5. They get bigger each time.
6. So this is a non-linear sequence.
7. When you multiply or divide by the same number each time, the sequence is geometric.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Some non-linear sequences have differences that grow by the same amount.
9. In 4, 5, 7, 10, 14 the differences are 1, 2, 3 and 4.
10. The next difference is 5, so the next term is 19.
11. Think of a cell that divides every hour.
12. A single cell becomes 2, then 4, then 8.
13. That is doubling, and it makes a geometric sequence.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Doubling and tripling. Say it in your own words, then check understanding with a quick question: ask a pupil from the pre-teach group first, since they met these words and ideas before the lesson. Pupils try to recall before you re-explain.
Some sequences grow by multiplying. In 3, 6, 12, 24 each term is double the previous term. The rule is multiply the previous term by 2. In 2, 6, 18, 54 each term is triple the previous term.
A sequence like this is called a geometric sequence. It is non-linear, because the differences keep getting bigger: 3, 6, 12, and so on.
Think of a single cell in a dish that divides every hour. After one hour there are 2 cells, then 4, then 8, then 16. Doubling makes the numbers grow very quickly.
Worked example — model it step by step, thinking aloud: A sequence is made by doubling the previous term: 7, 14, 28, … Write the next two terms. (1) Check the rule: 7 × 2 = 14 and 14 × 2 = 28. (2) 28 × 2 = 56. (3) 56 × 2 = 112. Answer: 56, 112.
Tip: Doubling is multiply by 2. Tripling is multiply by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Dividing each time. Say it in your own words, then check understanding with a quick question: ask a pupil from the pre-teach group first, since they met these words and ideas before the lesson. Pupils try to recall before you re-explain.
A geometric sequence can go down. In 400, 200, 100, 50 each term is half the previous term. The rule is divide the previous term by 2. The next term is 25.
Keep dividing and the terms get smaller and smaller, but they never reach zero. After 25 comes 12.5, then 6.25. Decimals are allowed.
Dividing by 2 is the same as multiplying by a half. Both describe the same rule, so either is a correct description of the sequence.
Worked example — model it step by step, thinking aloud: Each term of 320, 160, 80, 40, … is half the previous term. What are the next two terms? (1) Check the rule: 320 ÷ 2 = 160 and 160 ÷ 2 = 80. (2) 40 ÷ 2 = 20. (3) 20 ÷ 2 = 10. Answer: 20, 10.
Tip: Halving never gets you to zero. The terms just get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Differences that grow. Say it in your own words, then check understanding with a quick question: ask a pupil from the pre-teach group first, since they met these words and ideas before the lesson. Pupils try to recall before you re-explain.
Some non-linear sequences are not geometric. In 1, 2, 4, 7, 11 the differences are 1, 2, 3 and 4. The differences go up by 1 each time, even though the terms do not.
To continue a sequence like this, write the differences first. Find the pattern in the differences, then use it to find the next difference. The next difference here is 5, so the next term is 11 + 5 = 16.
Always check: is the sequence linear or not? If the differences change, you must look at the pattern in the differences before you can continue.
Worked example — model it step by step, thinking aloud: Here is a sequence: 3, 5, 8, 12, 17, … Write the next two terms. (1) The differences are 5 − 3 = 2, 8 − 5 = 3, 12 − 8 = 4 and 17 − 12 = 5. (2) The differences go up by 1, so the next ones are 6 and 7. (3) 17 + 6 = 23. (4) 23 + 7 = 30. Answer: 23, 30.
Tip: If the terms do not have a constant difference, look for a pattern in the differences.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Differences that grow. Say it in your own words, then check understanding with a quick question: ask a pupil from the pre-teach group first, since they met these words and ideas before the lesson. Pupils try to recall before you re-explain.
Some non-linear sequences are not geometric. In 1, 2, 4, 7, 11 the differences are 1, 2, 3 and 4. The differences go up by 1 each time, even though the terms do not.
To continue a sequence like this, write the differences first. Find the pattern in the differences, then use it to find the next difference. The next difference here is 5, so the next term is 11 + 5 = 16.
Always check: is the sequence linear or not? If the differences change, you must look at the pattern in the differences before you can continue.
Worked example — model it step by step, thinking aloud: Here is a sequence: 3, 5, 8, 12, 17, … Write the next two terms. (1) The differences are 5 − 3 = 2, 8 − 5 = 3, 12 − 8 = 4 and 17 − 12 = 5. (2) The differences go up by 1, so the next ones are 6 and 7. (3) 17 + 6 = 23. (4) 23 + 7 = 30. Answer: 23, 30.
Tip: If the terms do not have a constant difference, look for a pattern in the differences.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Doubling cells.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single cell is put in a dish at 1 pm. The number of cells doubles every hour, so there are 2 cells at 2 pm. How many cells are there at 6 pm?
Support — work through the steps with the group: (1) Make a table with the time in one row and the number of cells in the other. (2) Fill in each hour by doubling the number before. (3) Stop when you reach 6 pm.
Parallel worked example for Support (model it, do not give the task answer): A single cell is put in a dish at 1 pm and the number of cells doubles every hour, so there are 2 cells at 2 pm. How many cells are there at 4 pm? 2 pm: 2 cells.; 3 pm: 2 × 2 = 4 cells.; 4 pm: 4 × 2 = 8 cells.. Answer: 8.
Core — reveal the hint only on request: Count the hours from 1 pm to 6 pm. That is how many times the number doubles.
Stretch — no help; when finished: At what time would there first be more than 1000 cells? Explain how you worked it out without a calculator.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Halving.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Each term is half the previous term: 96, 48, 24, … What is the 6th term?
Support — work through the steps with the group: (1) Check the rule: 96 ÷ 2 = 48 and 48 ÷ 2 = 24. (2) Count which term you have reached. (3) Keep dividing by 2, one term at a time, until you reach the 6th.
Parallel worked example for Support (model it, do not give the task answer): Each term is half the previous term: 80, 40, 20, … What is the 5th term? 20 is the 3rd term.; 4th term: 20 ÷ 2 = 10.; 5th term: 10 ÷ 2 = 5.. Answer: 5.
Core — reveal the hint only on request: 24 is the 3rd term. How many more halvings do you need?
Stretch — no help; when finished: Continue the sequence for three more terms after 3. Will it ever reach 0? Explain your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Here is a sequence: 2, 3, 5, 8, 12, … What is the next term?
Answer: 17. The differences are 1, 2, 3 and 4. They go up by 1 each time, so the next difference is 5 and the next term is 12 + 5 = 17.
Source of this question: module 3 task ("Growing differences")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Doubling cells. Reveal the answer; pupils mark their own work in a different colour, then read the "why" together. Same destination for every lane, so one answer serves the whole class.
Answer: 32
Why: From 1 pm to 6 pm is 5 hours, so the number doubles 5 times: 1, 2, 4, 8, 16, 32.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Halving. Reveal the answer; pupils mark their own work in a different colour, then read the "why" together. Same destination for every lane, so one answer serves the whole class.
Answer: A   3
Why: 24 is the 3rd term. Halve three more times: 12 is the 4th, 6 is the 5th and 3 is the 6th.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17
Why: The differences are 1, 2, 3 and 4. They go up by 1 each time, so the next difference is 5 and the next term is 12 + 5 = 17.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Sequences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Sequences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E4A8C"/>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0E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E4A8C"/>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E4A8C"/>
                </a:solidFill>
                <a:latin typeface="Calibri" pitchFamily="34" charset="0"/>
                <a:ea typeface="Calibri" pitchFamily="34" charset="-122"/>
                <a:cs typeface="Calibri" pitchFamily="34" charset="-120"/>
              </a:rPr>
              <a:t>Mathematics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Sequences · AQA KS3 → 8300</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Continue non-linear sequences</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0F2F7"/>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E4A8C"/>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Continue non-linear sequences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Mathematics,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0F2F7"/>
          </a:solidFill>
          <a:ln w="12700">
            <a:solidFill>
              <a:srgbClr val="B2BCD4"/>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E4A8C"/>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can you tell what comes next in a sequence, and how do you know you are right?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sequence is made by doubling the previous term: 5, 10, 20, … What is the 5th term?</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12"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3" name="card-hex"/>
          <p:cNvSpPr/>
          <p:nvPr/>
        </p:nvSpPr>
        <p:spPr>
          <a:xfrm>
            <a:off x="4521098" y="1572768"/>
            <a:ext cx="640080" cy="554309"/>
          </a:xfrm>
          <a:prstGeom prst="hexagon">
            <a:avLst/>
          </a:prstGeom>
          <a:solidFill>
            <a:srgbClr val="2E4A8C"/>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of these sequences is geometric?</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2, 4, 6, 8</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2, 4, 8, 16</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2, 4, 7, 11</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2, 4, 2, 4</a:t>
            </a:r>
            <a:endParaRPr lang="en-US" sz="2400" dirty="0"/>
          </a:p>
        </p:txBody>
      </p:sp>
      <p:sp>
        <p:nvSpPr>
          <p:cNvPr id="17"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18" name="card-hex"/>
          <p:cNvSpPr/>
          <p:nvPr/>
        </p:nvSpPr>
        <p:spPr>
          <a:xfrm>
            <a:off x="8310677" y="1572768"/>
            <a:ext cx="640080" cy="554309"/>
          </a:xfrm>
          <a:prstGeom prst="hexagon">
            <a:avLst/>
          </a:prstGeom>
          <a:solidFill>
            <a:srgbClr val="2E4A8C"/>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the sequence 2, 4, 7, 11, 16 the differences are 2, 3, 4 and 5, so the sequence is ___.</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non-linear  ·  linear  ·  geometric</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80</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A sequence is made by doubling the previous term: 5, 10, 20, … What is the 5th term?</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Double 20 to get 40, the 4th term. Double again to get 80, the 5th term.</a:t>
            </a:r>
            <a:endParaRPr lang="en-US" sz="2200" dirty="0"/>
          </a:p>
        </p:txBody>
      </p:sp>
      <p:sp>
        <p:nvSpPr>
          <p:cNvPr id="14"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5" name="card-hex"/>
          <p:cNvSpPr/>
          <p:nvPr/>
        </p:nvSpPr>
        <p:spPr>
          <a:xfrm>
            <a:off x="4521098" y="1572768"/>
            <a:ext cx="640080" cy="554309"/>
          </a:xfrm>
          <a:prstGeom prst="hexagon">
            <a:avLst/>
          </a:prstGeom>
          <a:solidFill>
            <a:srgbClr val="2E4A8C"/>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2, 4, 8, 16</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of these sequences is geometric?</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In 2, 4, 8, 16 each term is double the previous term. Multiplying by the same number each time makes a geometric sequence.</a:t>
            </a:r>
            <a:endParaRPr lang="en-US" sz="2200" dirty="0"/>
          </a:p>
        </p:txBody>
      </p:sp>
      <p:sp>
        <p:nvSpPr>
          <p:cNvPr id="21"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22" name="card-hex"/>
          <p:cNvSpPr/>
          <p:nvPr/>
        </p:nvSpPr>
        <p:spPr>
          <a:xfrm>
            <a:off x="8310677" y="1572768"/>
            <a:ext cx="640080" cy="554309"/>
          </a:xfrm>
          <a:prstGeom prst="hexagon">
            <a:avLst/>
          </a:prstGeom>
          <a:solidFill>
            <a:srgbClr val="2E4A8C"/>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non-linear</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In the sequence 2, 4, 7, 11, 16 the differences are 2, 3, 4 and 5, so the sequence is ___.</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differences change, so the sequence is non-linear.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2E4A8C"/>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978103"/>
          </a:xfrm>
          <a:prstGeom prst="roundRect">
            <a:avLst>
              <a:gd name="adj" fmla="val 5609"/>
            </a:avLst>
          </a:prstGeom>
          <a:solidFill>
            <a:srgbClr val="F5F6F9"/>
          </a:solidFill>
          <a:ln/>
        </p:spPr>
      </p:sp>
      <p:sp>
        <p:nvSpPr>
          <p:cNvPr id="12" name="kw-hex"/>
          <p:cNvSpPr/>
          <p:nvPr/>
        </p:nvSpPr>
        <p:spPr>
          <a:xfrm>
            <a:off x="658368" y="2231121"/>
            <a:ext cx="411480" cy="356342"/>
          </a:xfrm>
          <a:prstGeom prst="hexagon">
            <a:avLst/>
          </a:prstGeom>
          <a:solidFill>
            <a:srgbClr val="2E4A8C"/>
          </a:solidFill>
          <a:ln/>
        </p:spPr>
      </p:sp>
      <p:sp>
        <p:nvSpPr>
          <p:cNvPr id="13" name="kw-cell"/>
          <p:cNvSpPr txBox="1"/>
          <p:nvPr/>
        </p:nvSpPr>
        <p:spPr>
          <a:xfrm>
            <a:off x="1143000" y="1920240"/>
            <a:ext cx="2331720" cy="978103"/>
          </a:xfrm>
          <a:prstGeom prst="rect">
            <a:avLst/>
          </a:prstGeom>
          <a:noFill/>
          <a:ln/>
        </p:spPr>
        <p:txBody>
          <a:bodyPr wrap="square" lIns="63500" tIns="63500" rIns="63500" bIns="63500" rtlCol="0" anchor="ctr"/>
          <a:lstStyle/>
          <a:p>
            <a:pPr algn="l" indent="0" marL="0">
              <a:buNone/>
            </a:pPr>
            <a:r>
              <a:rPr lang="en-US" sz="2400" b="1" dirty="0">
                <a:solidFill>
                  <a:srgbClr val="2E4A8C"/>
                </a:solidFill>
                <a:latin typeface="Cambria" pitchFamily="34" charset="0"/>
                <a:ea typeface="Cambria" pitchFamily="34" charset="-122"/>
                <a:cs typeface="Cambria" pitchFamily="34" charset="-120"/>
              </a:rPr>
              <a:t>non-linear sequence</a:t>
            </a:r>
            <a:endParaRPr lang="en-US" sz="2400" dirty="0"/>
          </a:p>
        </p:txBody>
      </p:sp>
      <p:sp>
        <p:nvSpPr>
          <p:cNvPr id="14" name="kw-cell"/>
          <p:cNvSpPr txBox="1"/>
          <p:nvPr/>
        </p:nvSpPr>
        <p:spPr>
          <a:xfrm>
            <a:off x="3657600" y="1920240"/>
            <a:ext cx="3474720" cy="97810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sequence whose differences change</a:t>
            </a:r>
            <a:endParaRPr lang="en-US" sz="2200" dirty="0"/>
          </a:p>
        </p:txBody>
      </p:sp>
      <p:sp>
        <p:nvSpPr>
          <p:cNvPr id="15" name="kw-cell"/>
          <p:cNvSpPr txBox="1"/>
          <p:nvPr/>
        </p:nvSpPr>
        <p:spPr>
          <a:xfrm>
            <a:off x="7315200" y="1920240"/>
            <a:ext cx="4236415" cy="978103"/>
          </a:xfrm>
          <a:prstGeom prst="rect">
            <a:avLst/>
          </a:prstGeom>
          <a:noFill/>
          <a:ln/>
        </p:spPr>
        <p:txBody>
          <a:bodyPr wrap="square" lIns="63500" tIns="63500" rIns="63500" bIns="63500" rtlCol="0" anchor="ctr"/>
          <a:lstStyle/>
          <a:p>
            <a:pPr algn="l" indent="0" marL="0">
              <a:buNone/>
            </a:pPr>
            <a:r>
              <a:rPr lang="en-US" sz="2200" i="1" dirty="0">
                <a:solidFill>
                  <a:srgbClr val="4A505C"/>
                </a:solidFill>
                <a:latin typeface="Calibri" pitchFamily="34" charset="0"/>
                <a:ea typeface="Calibri" pitchFamily="34" charset="-122"/>
                <a:cs typeface="Calibri" pitchFamily="34" charset="-120"/>
              </a:rPr>
              <a:t>3, 6, 12, 24 is a non-linear sequence.</a:t>
            </a:r>
            <a:endParaRPr lang="en-US" sz="2200" dirty="0"/>
          </a:p>
        </p:txBody>
      </p:sp>
      <p:sp>
        <p:nvSpPr>
          <p:cNvPr id="16" name="kw-row"/>
          <p:cNvSpPr/>
          <p:nvPr/>
        </p:nvSpPr>
        <p:spPr>
          <a:xfrm>
            <a:off x="548640" y="2971495"/>
            <a:ext cx="11094415" cy="1208227"/>
          </a:xfrm>
          <a:prstGeom prst="roundRect">
            <a:avLst>
              <a:gd name="adj" fmla="val 4541"/>
            </a:avLst>
          </a:prstGeom>
          <a:solidFill>
            <a:srgbClr val="F9F4EC"/>
          </a:solidFill>
          <a:ln/>
        </p:spPr>
      </p:sp>
      <p:sp>
        <p:nvSpPr>
          <p:cNvPr id="17" name="kw-hex"/>
          <p:cNvSpPr/>
          <p:nvPr/>
        </p:nvSpPr>
        <p:spPr>
          <a:xfrm>
            <a:off x="658368" y="3397438"/>
            <a:ext cx="411480" cy="356342"/>
          </a:xfrm>
          <a:prstGeom prst="hexagon">
            <a:avLst/>
          </a:prstGeom>
          <a:solidFill>
            <a:srgbClr val="B8862B"/>
          </a:solidFill>
          <a:ln/>
        </p:spPr>
      </p:sp>
      <p:sp>
        <p:nvSpPr>
          <p:cNvPr id="18" name="kw-cell"/>
          <p:cNvSpPr txBox="1"/>
          <p:nvPr/>
        </p:nvSpPr>
        <p:spPr>
          <a:xfrm>
            <a:off x="1143000" y="2971495"/>
            <a:ext cx="2331720" cy="1208227"/>
          </a:xfrm>
          <a:prstGeom prst="rect">
            <a:avLst/>
          </a:prstGeom>
          <a:noFill/>
          <a:ln/>
        </p:spPr>
        <p:txBody>
          <a:bodyPr wrap="square" lIns="63500" tIns="63500" rIns="63500" bIns="63500" rtlCol="0" anchor="ctr"/>
          <a:lstStyle/>
          <a:p>
            <a:pPr algn="l" indent="0" marL="0">
              <a:buNone/>
            </a:pPr>
            <a:r>
              <a:rPr lang="en-US" sz="2400" b="1" dirty="0">
                <a:solidFill>
                  <a:srgbClr val="2E4A8C"/>
                </a:solidFill>
                <a:latin typeface="Cambria" pitchFamily="34" charset="0"/>
                <a:ea typeface="Cambria" pitchFamily="34" charset="-122"/>
                <a:cs typeface="Cambria" pitchFamily="34" charset="-120"/>
              </a:rPr>
              <a:t>geometric sequence</a:t>
            </a:r>
            <a:endParaRPr lang="en-US" sz="2400" dirty="0"/>
          </a:p>
        </p:txBody>
      </p:sp>
      <p:sp>
        <p:nvSpPr>
          <p:cNvPr id="19" name="kw-cell"/>
          <p:cNvSpPr txBox="1"/>
          <p:nvPr/>
        </p:nvSpPr>
        <p:spPr>
          <a:xfrm>
            <a:off x="3657600" y="2971495"/>
            <a:ext cx="3474720" cy="120822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sequence where you multiply or divide by the same number each time</a:t>
            </a:r>
            <a:endParaRPr lang="en-US" sz="2200" dirty="0"/>
          </a:p>
        </p:txBody>
      </p:sp>
      <p:sp>
        <p:nvSpPr>
          <p:cNvPr id="20" name="kw-cell"/>
          <p:cNvSpPr txBox="1"/>
          <p:nvPr/>
        </p:nvSpPr>
        <p:spPr>
          <a:xfrm>
            <a:off x="7315200" y="2971495"/>
            <a:ext cx="4236415" cy="1208227"/>
          </a:xfrm>
          <a:prstGeom prst="rect">
            <a:avLst/>
          </a:prstGeom>
          <a:noFill/>
          <a:ln/>
        </p:spPr>
        <p:txBody>
          <a:bodyPr wrap="square" lIns="63500" tIns="63500" rIns="63500" bIns="63500" rtlCol="0" anchor="ctr"/>
          <a:lstStyle/>
          <a:p>
            <a:pPr algn="l" indent="0" marL="0">
              <a:buNone/>
            </a:pPr>
            <a:r>
              <a:rPr lang="en-US" sz="2200" i="1" dirty="0">
                <a:solidFill>
                  <a:srgbClr val="4A505C"/>
                </a:solidFill>
                <a:latin typeface="Calibri" pitchFamily="34" charset="0"/>
                <a:ea typeface="Calibri" pitchFamily="34" charset="-122"/>
                <a:cs typeface="Calibri" pitchFamily="34" charset="-120"/>
              </a:rPr>
              <a:t>3, 6, 12, 24 is a geometric sequence.</a:t>
            </a:r>
            <a:endParaRPr lang="en-US" sz="2200" dirty="0"/>
          </a:p>
        </p:txBody>
      </p:sp>
      <p:sp>
        <p:nvSpPr>
          <p:cNvPr id="21" name="kw-row"/>
          <p:cNvSpPr/>
          <p:nvPr/>
        </p:nvSpPr>
        <p:spPr>
          <a:xfrm>
            <a:off x="548640" y="4252874"/>
            <a:ext cx="11094415" cy="581863"/>
          </a:xfrm>
          <a:prstGeom prst="roundRect">
            <a:avLst>
              <a:gd name="adj" fmla="val 9429"/>
            </a:avLst>
          </a:prstGeom>
          <a:solidFill>
            <a:srgbClr val="F5F6F9"/>
          </a:solidFill>
          <a:ln/>
        </p:spPr>
      </p:sp>
      <p:sp>
        <p:nvSpPr>
          <p:cNvPr id="22" name="kw-hex"/>
          <p:cNvSpPr/>
          <p:nvPr/>
        </p:nvSpPr>
        <p:spPr>
          <a:xfrm>
            <a:off x="658368" y="4365635"/>
            <a:ext cx="411480" cy="356342"/>
          </a:xfrm>
          <a:prstGeom prst="hexagon">
            <a:avLst/>
          </a:prstGeom>
          <a:solidFill>
            <a:srgbClr val="2E4A8C"/>
          </a:solidFill>
          <a:ln/>
        </p:spPr>
      </p:sp>
      <p:sp>
        <p:nvSpPr>
          <p:cNvPr id="23" name="kw-cell"/>
          <p:cNvSpPr txBox="1"/>
          <p:nvPr/>
        </p:nvSpPr>
        <p:spPr>
          <a:xfrm>
            <a:off x="1143000" y="4252874"/>
            <a:ext cx="2331720" cy="581863"/>
          </a:xfrm>
          <a:prstGeom prst="rect">
            <a:avLst/>
          </a:prstGeom>
          <a:noFill/>
          <a:ln/>
        </p:spPr>
        <p:txBody>
          <a:bodyPr wrap="square" lIns="63500" tIns="63500" rIns="63500" bIns="63500" rtlCol="0" anchor="ctr"/>
          <a:lstStyle/>
          <a:p>
            <a:pPr algn="l" indent="0" marL="0">
              <a:buNone/>
            </a:pPr>
            <a:r>
              <a:rPr lang="en-US" sz="2400" b="1" dirty="0">
                <a:solidFill>
                  <a:srgbClr val="2E4A8C"/>
                </a:solidFill>
                <a:latin typeface="Cambria" pitchFamily="34" charset="0"/>
                <a:ea typeface="Cambria" pitchFamily="34" charset="-122"/>
                <a:cs typeface="Cambria" pitchFamily="34" charset="-120"/>
              </a:rPr>
              <a:t>double</a:t>
            </a:r>
            <a:endParaRPr lang="en-US" sz="2400" dirty="0"/>
          </a:p>
        </p:txBody>
      </p:sp>
      <p:sp>
        <p:nvSpPr>
          <p:cNvPr id="24" name="kw-cell"/>
          <p:cNvSpPr txBox="1"/>
          <p:nvPr/>
        </p:nvSpPr>
        <p:spPr>
          <a:xfrm>
            <a:off x="3657600" y="4252874"/>
            <a:ext cx="3474720" cy="58186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multiply by 2</a:t>
            </a:r>
            <a:endParaRPr lang="en-US" sz="2200" dirty="0"/>
          </a:p>
        </p:txBody>
      </p:sp>
      <p:sp>
        <p:nvSpPr>
          <p:cNvPr id="25" name="kw-cell"/>
          <p:cNvSpPr txBox="1"/>
          <p:nvPr/>
        </p:nvSpPr>
        <p:spPr>
          <a:xfrm>
            <a:off x="7315200" y="4252874"/>
            <a:ext cx="4236415" cy="581863"/>
          </a:xfrm>
          <a:prstGeom prst="rect">
            <a:avLst/>
          </a:prstGeom>
          <a:noFill/>
          <a:ln/>
        </p:spPr>
        <p:txBody>
          <a:bodyPr wrap="square" lIns="63500" tIns="63500" rIns="63500" bIns="63500" rtlCol="0" anchor="ctr"/>
          <a:lstStyle/>
          <a:p>
            <a:pPr algn="l" indent="0" marL="0">
              <a:buNone/>
            </a:pPr>
            <a:r>
              <a:rPr lang="en-US" sz="2200" i="1" dirty="0">
                <a:solidFill>
                  <a:srgbClr val="4A505C"/>
                </a:solidFill>
                <a:latin typeface="Calibri" pitchFamily="34" charset="0"/>
                <a:ea typeface="Calibri" pitchFamily="34" charset="-122"/>
                <a:cs typeface="Calibri" pitchFamily="34" charset="-120"/>
              </a:rPr>
              <a:t>Double 6 to get 12.</a:t>
            </a:r>
            <a:endParaRPr lang="en-US" sz="2200" dirty="0"/>
          </a:p>
        </p:txBody>
      </p:sp>
      <p:sp>
        <p:nvSpPr>
          <p:cNvPr id="26" name="kw-row"/>
          <p:cNvSpPr/>
          <p:nvPr/>
        </p:nvSpPr>
        <p:spPr>
          <a:xfrm>
            <a:off x="548640" y="4907890"/>
            <a:ext cx="11094415" cy="581863"/>
          </a:xfrm>
          <a:prstGeom prst="roundRect">
            <a:avLst>
              <a:gd name="adj" fmla="val 9429"/>
            </a:avLst>
          </a:prstGeom>
          <a:solidFill>
            <a:srgbClr val="F9F4EC"/>
          </a:solidFill>
          <a:ln/>
        </p:spPr>
      </p:sp>
      <p:sp>
        <p:nvSpPr>
          <p:cNvPr id="27" name="kw-hex"/>
          <p:cNvSpPr/>
          <p:nvPr/>
        </p:nvSpPr>
        <p:spPr>
          <a:xfrm>
            <a:off x="658368" y="5020650"/>
            <a:ext cx="411480" cy="356342"/>
          </a:xfrm>
          <a:prstGeom prst="hexagon">
            <a:avLst/>
          </a:prstGeom>
          <a:solidFill>
            <a:srgbClr val="B8862B"/>
          </a:solidFill>
          <a:ln/>
        </p:spPr>
      </p:sp>
      <p:sp>
        <p:nvSpPr>
          <p:cNvPr id="28" name="kw-cell"/>
          <p:cNvSpPr txBox="1"/>
          <p:nvPr/>
        </p:nvSpPr>
        <p:spPr>
          <a:xfrm>
            <a:off x="1143000" y="4907890"/>
            <a:ext cx="2331720" cy="581863"/>
          </a:xfrm>
          <a:prstGeom prst="rect">
            <a:avLst/>
          </a:prstGeom>
          <a:noFill/>
          <a:ln/>
        </p:spPr>
        <p:txBody>
          <a:bodyPr wrap="square" lIns="63500" tIns="63500" rIns="63500" bIns="63500" rtlCol="0" anchor="ctr"/>
          <a:lstStyle/>
          <a:p>
            <a:pPr algn="l" indent="0" marL="0">
              <a:buNone/>
            </a:pPr>
            <a:r>
              <a:rPr lang="en-US" sz="2400" b="1" dirty="0">
                <a:solidFill>
                  <a:srgbClr val="2E4A8C"/>
                </a:solidFill>
                <a:latin typeface="Cambria" pitchFamily="34" charset="0"/>
                <a:ea typeface="Cambria" pitchFamily="34" charset="-122"/>
                <a:cs typeface="Cambria" pitchFamily="34" charset="-120"/>
              </a:rPr>
              <a:t>triple</a:t>
            </a:r>
            <a:endParaRPr lang="en-US" sz="2400" dirty="0"/>
          </a:p>
        </p:txBody>
      </p:sp>
      <p:sp>
        <p:nvSpPr>
          <p:cNvPr id="29" name="kw-cell"/>
          <p:cNvSpPr txBox="1"/>
          <p:nvPr/>
        </p:nvSpPr>
        <p:spPr>
          <a:xfrm>
            <a:off x="3657600" y="4907890"/>
            <a:ext cx="3474720" cy="58186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multiply by 3</a:t>
            </a:r>
            <a:endParaRPr lang="en-US" sz="2200" dirty="0"/>
          </a:p>
        </p:txBody>
      </p:sp>
      <p:sp>
        <p:nvSpPr>
          <p:cNvPr id="30" name="kw-cell"/>
          <p:cNvSpPr txBox="1"/>
          <p:nvPr/>
        </p:nvSpPr>
        <p:spPr>
          <a:xfrm>
            <a:off x="7315200" y="4907890"/>
            <a:ext cx="4236415" cy="581863"/>
          </a:xfrm>
          <a:prstGeom prst="rect">
            <a:avLst/>
          </a:prstGeom>
          <a:noFill/>
          <a:ln/>
        </p:spPr>
        <p:txBody>
          <a:bodyPr wrap="square" lIns="63500" tIns="63500" rIns="63500" bIns="63500" rtlCol="0" anchor="ctr"/>
          <a:lstStyle/>
          <a:p>
            <a:pPr algn="l" indent="0" marL="0">
              <a:buNone/>
            </a:pPr>
            <a:r>
              <a:rPr lang="en-US" sz="2200" i="1" dirty="0">
                <a:solidFill>
                  <a:srgbClr val="4A505C"/>
                </a:solidFill>
                <a:latin typeface="Calibri" pitchFamily="34" charset="0"/>
                <a:ea typeface="Calibri" pitchFamily="34" charset="-122"/>
                <a:cs typeface="Calibri" pitchFamily="34" charset="-120"/>
              </a:rPr>
              <a:t>Triple 4 to get 12.</a:t>
            </a:r>
            <a:endParaRPr lang="en-US" sz="2200" dirty="0"/>
          </a:p>
        </p:txBody>
      </p:sp>
      <p:sp>
        <p:nvSpPr>
          <p:cNvPr id="31" name="kw-row"/>
          <p:cNvSpPr/>
          <p:nvPr/>
        </p:nvSpPr>
        <p:spPr>
          <a:xfrm>
            <a:off x="548640" y="5562905"/>
            <a:ext cx="11094415" cy="581863"/>
          </a:xfrm>
          <a:prstGeom prst="roundRect">
            <a:avLst>
              <a:gd name="adj" fmla="val 9429"/>
            </a:avLst>
          </a:prstGeom>
          <a:solidFill>
            <a:srgbClr val="F5F6F9"/>
          </a:solidFill>
          <a:ln/>
        </p:spPr>
      </p:sp>
      <p:sp>
        <p:nvSpPr>
          <p:cNvPr id="32" name="kw-hex"/>
          <p:cNvSpPr/>
          <p:nvPr/>
        </p:nvSpPr>
        <p:spPr>
          <a:xfrm>
            <a:off x="658368" y="5675666"/>
            <a:ext cx="411480" cy="356342"/>
          </a:xfrm>
          <a:prstGeom prst="hexagon">
            <a:avLst/>
          </a:prstGeom>
          <a:solidFill>
            <a:srgbClr val="2E4A8C"/>
          </a:solidFill>
          <a:ln/>
        </p:spPr>
      </p:sp>
      <p:sp>
        <p:nvSpPr>
          <p:cNvPr id="33" name="kw-cell"/>
          <p:cNvSpPr txBox="1"/>
          <p:nvPr/>
        </p:nvSpPr>
        <p:spPr>
          <a:xfrm>
            <a:off x="1143000" y="5562905"/>
            <a:ext cx="2331720" cy="581863"/>
          </a:xfrm>
          <a:prstGeom prst="rect">
            <a:avLst/>
          </a:prstGeom>
          <a:noFill/>
          <a:ln/>
        </p:spPr>
        <p:txBody>
          <a:bodyPr wrap="square" lIns="63500" tIns="63500" rIns="63500" bIns="63500" rtlCol="0" anchor="ctr"/>
          <a:lstStyle/>
          <a:p>
            <a:pPr algn="l" indent="0" marL="0">
              <a:buNone/>
            </a:pPr>
            <a:r>
              <a:rPr lang="en-US" sz="2400" b="1" dirty="0">
                <a:solidFill>
                  <a:srgbClr val="2E4A8C"/>
                </a:solidFill>
                <a:latin typeface="Cambria" pitchFamily="34" charset="0"/>
                <a:ea typeface="Cambria" pitchFamily="34" charset="-122"/>
                <a:cs typeface="Cambria" pitchFamily="34" charset="-120"/>
              </a:rPr>
              <a:t>halve</a:t>
            </a:r>
            <a:endParaRPr lang="en-US" sz="2400" dirty="0"/>
          </a:p>
        </p:txBody>
      </p:sp>
      <p:sp>
        <p:nvSpPr>
          <p:cNvPr id="34" name="kw-cell"/>
          <p:cNvSpPr txBox="1"/>
          <p:nvPr/>
        </p:nvSpPr>
        <p:spPr>
          <a:xfrm>
            <a:off x="3657600" y="5562905"/>
            <a:ext cx="3474720" cy="58186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divide by 2</a:t>
            </a:r>
            <a:endParaRPr lang="en-US" sz="2200" dirty="0"/>
          </a:p>
        </p:txBody>
      </p:sp>
      <p:sp>
        <p:nvSpPr>
          <p:cNvPr id="35" name="kw-cell"/>
          <p:cNvSpPr txBox="1"/>
          <p:nvPr/>
        </p:nvSpPr>
        <p:spPr>
          <a:xfrm>
            <a:off x="7315200" y="5562905"/>
            <a:ext cx="4236415" cy="581863"/>
          </a:xfrm>
          <a:prstGeom prst="rect">
            <a:avLst/>
          </a:prstGeom>
          <a:noFill/>
          <a:ln/>
        </p:spPr>
        <p:txBody>
          <a:bodyPr wrap="square" lIns="63500" tIns="63500" rIns="63500" bIns="63500" rtlCol="0" anchor="ctr"/>
          <a:lstStyle/>
          <a:p>
            <a:pPr algn="l" indent="0" marL="0">
              <a:buNone/>
            </a:pPr>
            <a:r>
              <a:rPr lang="en-US" sz="2200" i="1" dirty="0">
                <a:solidFill>
                  <a:srgbClr val="4A505C"/>
                </a:solidFill>
                <a:latin typeface="Calibri" pitchFamily="34" charset="0"/>
                <a:ea typeface="Calibri" pitchFamily="34" charset="-122"/>
                <a:cs typeface="Calibri" pitchFamily="34" charset="-120"/>
              </a:rPr>
              <a:t>Halve 40 to get 20.</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Not every sequence goes up by the same amount.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Look at 3, 6, 12, 24.</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Each term is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double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the one before.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differences are 3, 6 and 12.</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They get bigger each time.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 this is a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non-linear sequence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When you multiply or divide by the same number each time, the sequence is geometric.</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Some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non-linear sequences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have differences that grow by the same amount.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 4, 5, 7, 10, 14 the differences are 1, 2, 3 and 4.</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next difference is 5, so the next term is 19.</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Think of a cell that divides every hour.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single cell becomes 2, then 4, then 8.</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That is doubling, and it makes a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geometric sequence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Doubling and tripling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Doubling is multiply by 2. Tripling is multiply by 3.</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sequence is made by doubling the previous term: 7, 14, 28, … Write the next two terms.</a:t>
            </a:r>
            <a:endParaRPr lang="en-US" sz="1800" dirty="0"/>
          </a:p>
        </p:txBody>
      </p:sp>
      <p:sp>
        <p:nvSpPr>
          <p:cNvPr id="14" name="step-box"/>
          <p:cNvSpPr/>
          <p:nvPr/>
        </p:nvSpPr>
        <p:spPr>
          <a:xfrm>
            <a:off x="6126480" y="2888488"/>
            <a:ext cx="5379415" cy="566928"/>
          </a:xfrm>
          <a:prstGeom prst="roundRect">
            <a:avLst>
              <a:gd name="adj" fmla="val 16129"/>
            </a:avLst>
          </a:prstGeom>
          <a:solidFill>
            <a:srgbClr val="F0F2F7"/>
          </a:solidFill>
          <a:ln/>
        </p:spPr>
      </p:sp>
      <p:sp>
        <p:nvSpPr>
          <p:cNvPr id="15" name="step-hex"/>
          <p:cNvSpPr/>
          <p:nvPr/>
        </p:nvSpPr>
        <p:spPr>
          <a:xfrm>
            <a:off x="6217920" y="2989822"/>
            <a:ext cx="420624" cy="364260"/>
          </a:xfrm>
          <a:prstGeom prst="hexagon">
            <a:avLst/>
          </a:prstGeom>
          <a:solidFill>
            <a:srgbClr val="2E4A8C"/>
          </a:solidFill>
          <a:ln/>
        </p:spPr>
      </p:sp>
      <p:sp>
        <p:nvSpPr>
          <p:cNvPr id="16" name="step-hex-label"/>
          <p:cNvSpPr txBox="1"/>
          <p:nvPr/>
        </p:nvSpPr>
        <p:spPr>
          <a:xfrm>
            <a:off x="6217920" y="29898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the rule: 7 × 2 = 14 and 14 × 2 = 28.</a:t>
            </a:r>
            <a:endParaRPr lang="en-US" sz="1800" dirty="0"/>
          </a:p>
        </p:txBody>
      </p:sp>
      <p:sp>
        <p:nvSpPr>
          <p:cNvPr id="18" name="step-box"/>
          <p:cNvSpPr/>
          <p:nvPr/>
        </p:nvSpPr>
        <p:spPr>
          <a:xfrm>
            <a:off x="6126480" y="3546856"/>
            <a:ext cx="5379415" cy="566928"/>
          </a:xfrm>
          <a:prstGeom prst="roundRect">
            <a:avLst>
              <a:gd name="adj" fmla="val 16129"/>
            </a:avLst>
          </a:prstGeom>
          <a:solidFill>
            <a:srgbClr val="F0F2F7"/>
          </a:solidFill>
          <a:ln/>
        </p:spPr>
      </p:sp>
      <p:sp>
        <p:nvSpPr>
          <p:cNvPr id="19" name="step-hex"/>
          <p:cNvSpPr/>
          <p:nvPr/>
        </p:nvSpPr>
        <p:spPr>
          <a:xfrm>
            <a:off x="6217920" y="3648190"/>
            <a:ext cx="420624" cy="364260"/>
          </a:xfrm>
          <a:prstGeom prst="hexagon">
            <a:avLst/>
          </a:prstGeom>
          <a:solidFill>
            <a:srgbClr val="2E4A8C"/>
          </a:solidFill>
          <a:ln/>
        </p:spPr>
      </p:sp>
      <p:sp>
        <p:nvSpPr>
          <p:cNvPr id="20" name="step-hex-label"/>
          <p:cNvSpPr txBox="1"/>
          <p:nvPr/>
        </p:nvSpPr>
        <p:spPr>
          <a:xfrm>
            <a:off x="6217920" y="364819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85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28 × 2 = 56.</a:t>
            </a:r>
            <a:endParaRPr lang="en-US" sz="1800" dirty="0"/>
          </a:p>
        </p:txBody>
      </p:sp>
      <p:sp>
        <p:nvSpPr>
          <p:cNvPr id="22" name="step-box"/>
          <p:cNvSpPr/>
          <p:nvPr/>
        </p:nvSpPr>
        <p:spPr>
          <a:xfrm>
            <a:off x="6126480" y="4205224"/>
            <a:ext cx="5379415" cy="566928"/>
          </a:xfrm>
          <a:prstGeom prst="roundRect">
            <a:avLst>
              <a:gd name="adj" fmla="val 16129"/>
            </a:avLst>
          </a:prstGeom>
          <a:solidFill>
            <a:srgbClr val="F0F2F7"/>
          </a:solidFill>
          <a:ln/>
        </p:spPr>
      </p:sp>
      <p:sp>
        <p:nvSpPr>
          <p:cNvPr id="23" name="step-hex"/>
          <p:cNvSpPr/>
          <p:nvPr/>
        </p:nvSpPr>
        <p:spPr>
          <a:xfrm>
            <a:off x="6217920" y="4306558"/>
            <a:ext cx="420624" cy="364260"/>
          </a:xfrm>
          <a:prstGeom prst="hexagon">
            <a:avLst/>
          </a:prstGeom>
          <a:solidFill>
            <a:srgbClr val="2E4A8C"/>
          </a:solidFill>
          <a:ln/>
        </p:spPr>
      </p:sp>
      <p:sp>
        <p:nvSpPr>
          <p:cNvPr id="24" name="step-hex-label"/>
          <p:cNvSpPr txBox="1"/>
          <p:nvPr/>
        </p:nvSpPr>
        <p:spPr>
          <a:xfrm>
            <a:off x="6217920" y="430655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205224"/>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56 × 2 = 112.</a:t>
            </a:r>
            <a:endParaRPr lang="en-US" sz="1800" dirty="0"/>
          </a:p>
        </p:txBody>
      </p:sp>
      <p:sp>
        <p:nvSpPr>
          <p:cNvPr id="26" name="worked-answer"/>
          <p:cNvSpPr/>
          <p:nvPr/>
        </p:nvSpPr>
        <p:spPr>
          <a:xfrm>
            <a:off x="6126480" y="4909312"/>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56, 112</a:t>
            </a:r>
            <a:endParaRPr lang="en-US" sz="1800" dirty="0"/>
          </a:p>
        </p:txBody>
      </p:sp>
      <p:sp>
        <p:nvSpPr>
          <p:cNvPr id="27" name="bullet-card"/>
          <p:cNvSpPr/>
          <p:nvPr/>
        </p:nvSpPr>
        <p:spPr>
          <a:xfrm>
            <a:off x="548640" y="1389888"/>
            <a:ext cx="5074920" cy="1131147"/>
          </a:xfrm>
          <a:prstGeom prst="roundRect">
            <a:avLst>
              <a:gd name="adj" fmla="val 6467"/>
            </a:avLst>
          </a:prstGeom>
          <a:solidFill>
            <a:srgbClr val="F5F6F9"/>
          </a:solidFill>
          <a:ln/>
        </p:spPr>
      </p:sp>
      <p:sp>
        <p:nvSpPr>
          <p:cNvPr id="28" name="bullet-hex"/>
          <p:cNvSpPr/>
          <p:nvPr/>
        </p:nvSpPr>
        <p:spPr>
          <a:xfrm>
            <a:off x="676656" y="1789169"/>
            <a:ext cx="384048" cy="332586"/>
          </a:xfrm>
          <a:prstGeom prst="hexagon">
            <a:avLst/>
          </a:prstGeom>
          <a:solidFill>
            <a:srgbClr val="2E4A8C"/>
          </a:solidFill>
          <a:ln/>
        </p:spPr>
      </p:sp>
      <p:sp>
        <p:nvSpPr>
          <p:cNvPr id="29" name="bullet"/>
          <p:cNvSpPr txBox="1"/>
          <p:nvPr/>
        </p:nvSpPr>
        <p:spPr>
          <a:xfrm>
            <a:off x="1143000" y="1389888"/>
            <a:ext cx="4389120" cy="11311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Some sequences grow by multiplying. In 3, 6, 12, 24 each term is double the previous term.</a:t>
            </a:r>
            <a:endParaRPr lang="en-US" sz="2000" dirty="0"/>
          </a:p>
        </p:txBody>
      </p:sp>
      <p:sp>
        <p:nvSpPr>
          <p:cNvPr id="30" name="bullet-card"/>
          <p:cNvSpPr/>
          <p:nvPr/>
        </p:nvSpPr>
        <p:spPr>
          <a:xfrm>
            <a:off x="548640" y="2667339"/>
            <a:ext cx="5074920" cy="1441027"/>
          </a:xfrm>
          <a:prstGeom prst="roundRect">
            <a:avLst>
              <a:gd name="adj" fmla="val 5076"/>
            </a:avLst>
          </a:prstGeom>
          <a:solidFill>
            <a:srgbClr val="F5F6F9"/>
          </a:solidFill>
          <a:ln/>
        </p:spPr>
      </p:sp>
      <p:sp>
        <p:nvSpPr>
          <p:cNvPr id="31" name="bullet-hex"/>
          <p:cNvSpPr/>
          <p:nvPr/>
        </p:nvSpPr>
        <p:spPr>
          <a:xfrm>
            <a:off x="676656" y="3221559"/>
            <a:ext cx="384048" cy="332586"/>
          </a:xfrm>
          <a:prstGeom prst="hexagon">
            <a:avLst/>
          </a:prstGeom>
          <a:solidFill>
            <a:srgbClr val="B8862B"/>
          </a:solidFill>
          <a:ln/>
        </p:spPr>
      </p:sp>
      <p:sp>
        <p:nvSpPr>
          <p:cNvPr id="32" name="bullet"/>
          <p:cNvSpPr txBox="1"/>
          <p:nvPr/>
        </p:nvSpPr>
        <p:spPr>
          <a:xfrm>
            <a:off x="1143000" y="2667339"/>
            <a:ext cx="4389120" cy="144102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sequence like this is called a geometric sequence. It is non-linear, because the differences keep getting bigger: 3, 6, 12, and so on.</a:t>
            </a:r>
            <a:endParaRPr lang="en-US" sz="2000" dirty="0"/>
          </a:p>
        </p:txBody>
      </p:sp>
      <p:sp>
        <p:nvSpPr>
          <p:cNvPr id="33" name="bullet-card"/>
          <p:cNvSpPr/>
          <p:nvPr/>
        </p:nvSpPr>
        <p:spPr>
          <a:xfrm>
            <a:off x="548640" y="4254669"/>
            <a:ext cx="5074920" cy="821267"/>
          </a:xfrm>
          <a:prstGeom prst="roundRect">
            <a:avLst>
              <a:gd name="adj" fmla="val 8907"/>
            </a:avLst>
          </a:prstGeom>
          <a:solidFill>
            <a:srgbClr val="F5F6F9"/>
          </a:solidFill>
          <a:ln/>
        </p:spPr>
      </p:sp>
      <p:sp>
        <p:nvSpPr>
          <p:cNvPr id="34" name="bullet-hex"/>
          <p:cNvSpPr/>
          <p:nvPr/>
        </p:nvSpPr>
        <p:spPr>
          <a:xfrm>
            <a:off x="676656" y="4499010"/>
            <a:ext cx="384048" cy="332586"/>
          </a:xfrm>
          <a:prstGeom prst="hexagon">
            <a:avLst/>
          </a:prstGeom>
          <a:solidFill>
            <a:srgbClr val="2E4A8C"/>
          </a:solidFill>
          <a:ln/>
        </p:spPr>
      </p:sp>
      <p:sp>
        <p:nvSpPr>
          <p:cNvPr id="35" name="bullet"/>
          <p:cNvSpPr txBox="1"/>
          <p:nvPr/>
        </p:nvSpPr>
        <p:spPr>
          <a:xfrm>
            <a:off x="1143000" y="4254669"/>
            <a:ext cx="4389120" cy="82126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Think of a single cell in a dish that divides every hour.</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Dividing each time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Halving never gets you to zero. The terms just get smaller.</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Each term of 320, 160, 80, 40, … is half the previous term. What are the next two terms?</a:t>
            </a:r>
            <a:endParaRPr lang="en-US" sz="1800" dirty="0"/>
          </a:p>
        </p:txBody>
      </p:sp>
      <p:sp>
        <p:nvSpPr>
          <p:cNvPr id="14" name="step-box"/>
          <p:cNvSpPr/>
          <p:nvPr/>
        </p:nvSpPr>
        <p:spPr>
          <a:xfrm>
            <a:off x="6126480" y="2888488"/>
            <a:ext cx="5379415" cy="566928"/>
          </a:xfrm>
          <a:prstGeom prst="roundRect">
            <a:avLst>
              <a:gd name="adj" fmla="val 16129"/>
            </a:avLst>
          </a:prstGeom>
          <a:solidFill>
            <a:srgbClr val="F0F2F7"/>
          </a:solidFill>
          <a:ln/>
        </p:spPr>
      </p:sp>
      <p:sp>
        <p:nvSpPr>
          <p:cNvPr id="15" name="step-hex"/>
          <p:cNvSpPr/>
          <p:nvPr/>
        </p:nvSpPr>
        <p:spPr>
          <a:xfrm>
            <a:off x="6217920" y="2989822"/>
            <a:ext cx="420624" cy="364260"/>
          </a:xfrm>
          <a:prstGeom prst="hexagon">
            <a:avLst/>
          </a:prstGeom>
          <a:solidFill>
            <a:srgbClr val="2E4A8C"/>
          </a:solidFill>
          <a:ln/>
        </p:spPr>
      </p:sp>
      <p:sp>
        <p:nvSpPr>
          <p:cNvPr id="16" name="step-hex-label"/>
          <p:cNvSpPr txBox="1"/>
          <p:nvPr/>
        </p:nvSpPr>
        <p:spPr>
          <a:xfrm>
            <a:off x="6217920" y="29898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the rule: 320 ÷ 2 = 160 and 160 ÷ 2 = 80.</a:t>
            </a:r>
            <a:endParaRPr lang="en-US" sz="1800" dirty="0"/>
          </a:p>
        </p:txBody>
      </p:sp>
      <p:sp>
        <p:nvSpPr>
          <p:cNvPr id="18" name="step-box"/>
          <p:cNvSpPr/>
          <p:nvPr/>
        </p:nvSpPr>
        <p:spPr>
          <a:xfrm>
            <a:off x="6126480" y="3546856"/>
            <a:ext cx="5379415" cy="566928"/>
          </a:xfrm>
          <a:prstGeom prst="roundRect">
            <a:avLst>
              <a:gd name="adj" fmla="val 16129"/>
            </a:avLst>
          </a:prstGeom>
          <a:solidFill>
            <a:srgbClr val="F0F2F7"/>
          </a:solidFill>
          <a:ln/>
        </p:spPr>
      </p:sp>
      <p:sp>
        <p:nvSpPr>
          <p:cNvPr id="19" name="step-hex"/>
          <p:cNvSpPr/>
          <p:nvPr/>
        </p:nvSpPr>
        <p:spPr>
          <a:xfrm>
            <a:off x="6217920" y="3648190"/>
            <a:ext cx="420624" cy="364260"/>
          </a:xfrm>
          <a:prstGeom prst="hexagon">
            <a:avLst/>
          </a:prstGeom>
          <a:solidFill>
            <a:srgbClr val="2E4A8C"/>
          </a:solidFill>
          <a:ln/>
        </p:spPr>
      </p:sp>
      <p:sp>
        <p:nvSpPr>
          <p:cNvPr id="20" name="step-hex-label"/>
          <p:cNvSpPr txBox="1"/>
          <p:nvPr/>
        </p:nvSpPr>
        <p:spPr>
          <a:xfrm>
            <a:off x="6217920" y="364819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85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40 ÷ 2 = 20.</a:t>
            </a:r>
            <a:endParaRPr lang="en-US" sz="1800" dirty="0"/>
          </a:p>
        </p:txBody>
      </p:sp>
      <p:sp>
        <p:nvSpPr>
          <p:cNvPr id="22" name="step-box"/>
          <p:cNvSpPr/>
          <p:nvPr/>
        </p:nvSpPr>
        <p:spPr>
          <a:xfrm>
            <a:off x="6126480" y="4205224"/>
            <a:ext cx="5379415" cy="566928"/>
          </a:xfrm>
          <a:prstGeom prst="roundRect">
            <a:avLst>
              <a:gd name="adj" fmla="val 16129"/>
            </a:avLst>
          </a:prstGeom>
          <a:solidFill>
            <a:srgbClr val="F0F2F7"/>
          </a:solidFill>
          <a:ln/>
        </p:spPr>
      </p:sp>
      <p:sp>
        <p:nvSpPr>
          <p:cNvPr id="23" name="step-hex"/>
          <p:cNvSpPr/>
          <p:nvPr/>
        </p:nvSpPr>
        <p:spPr>
          <a:xfrm>
            <a:off x="6217920" y="4306558"/>
            <a:ext cx="420624" cy="364260"/>
          </a:xfrm>
          <a:prstGeom prst="hexagon">
            <a:avLst/>
          </a:prstGeom>
          <a:solidFill>
            <a:srgbClr val="2E4A8C"/>
          </a:solidFill>
          <a:ln/>
        </p:spPr>
      </p:sp>
      <p:sp>
        <p:nvSpPr>
          <p:cNvPr id="24" name="step-hex-label"/>
          <p:cNvSpPr txBox="1"/>
          <p:nvPr/>
        </p:nvSpPr>
        <p:spPr>
          <a:xfrm>
            <a:off x="6217920" y="430655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205224"/>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20 ÷ 2 = 10.</a:t>
            </a:r>
            <a:endParaRPr lang="en-US" sz="1800" dirty="0"/>
          </a:p>
        </p:txBody>
      </p:sp>
      <p:sp>
        <p:nvSpPr>
          <p:cNvPr id="26" name="worked-answer"/>
          <p:cNvSpPr/>
          <p:nvPr/>
        </p:nvSpPr>
        <p:spPr>
          <a:xfrm>
            <a:off x="6126480" y="4909312"/>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20, 10</a:t>
            </a:r>
            <a:endParaRPr lang="en-US" sz="1800" dirty="0"/>
          </a:p>
        </p:txBody>
      </p:sp>
      <p:sp>
        <p:nvSpPr>
          <p:cNvPr id="27" name="bullet-card"/>
          <p:cNvSpPr/>
          <p:nvPr/>
        </p:nvSpPr>
        <p:spPr>
          <a:xfrm>
            <a:off x="548640" y="1389888"/>
            <a:ext cx="5074920" cy="1244769"/>
          </a:xfrm>
          <a:prstGeom prst="roundRect">
            <a:avLst>
              <a:gd name="adj" fmla="val 5877"/>
            </a:avLst>
          </a:prstGeom>
          <a:solidFill>
            <a:srgbClr val="F5F6F9"/>
          </a:solidFill>
          <a:ln/>
        </p:spPr>
      </p:sp>
      <p:sp>
        <p:nvSpPr>
          <p:cNvPr id="28" name="bullet-hex"/>
          <p:cNvSpPr/>
          <p:nvPr/>
        </p:nvSpPr>
        <p:spPr>
          <a:xfrm>
            <a:off x="676656" y="1845980"/>
            <a:ext cx="384048" cy="332586"/>
          </a:xfrm>
          <a:prstGeom prst="hexagon">
            <a:avLst/>
          </a:prstGeom>
          <a:solidFill>
            <a:srgbClr val="2E4A8C"/>
          </a:solidFill>
          <a:ln/>
        </p:spPr>
      </p:sp>
      <p:sp>
        <p:nvSpPr>
          <p:cNvPr id="29" name="bullet"/>
          <p:cNvSpPr txBox="1"/>
          <p:nvPr/>
        </p:nvSpPr>
        <p:spPr>
          <a:xfrm>
            <a:off x="1143000" y="1389888"/>
            <a:ext cx="4389120"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geometric sequence can go down. In 400, 200, 100, 50 each term is half the previous term.</a:t>
            </a:r>
            <a:endParaRPr lang="en-US" sz="2200" dirty="0"/>
          </a:p>
        </p:txBody>
      </p:sp>
      <p:sp>
        <p:nvSpPr>
          <p:cNvPr id="30" name="bullet-card"/>
          <p:cNvSpPr/>
          <p:nvPr/>
        </p:nvSpPr>
        <p:spPr>
          <a:xfrm>
            <a:off x="548640" y="2780961"/>
            <a:ext cx="5074920" cy="1244769"/>
          </a:xfrm>
          <a:prstGeom prst="roundRect">
            <a:avLst>
              <a:gd name="adj" fmla="val 5877"/>
            </a:avLst>
          </a:prstGeom>
          <a:solidFill>
            <a:srgbClr val="F5F6F9"/>
          </a:solidFill>
          <a:ln/>
        </p:spPr>
      </p:sp>
      <p:sp>
        <p:nvSpPr>
          <p:cNvPr id="31" name="bullet-hex"/>
          <p:cNvSpPr/>
          <p:nvPr/>
        </p:nvSpPr>
        <p:spPr>
          <a:xfrm>
            <a:off x="676656" y="3237053"/>
            <a:ext cx="384048" cy="332586"/>
          </a:xfrm>
          <a:prstGeom prst="hexagon">
            <a:avLst/>
          </a:prstGeom>
          <a:solidFill>
            <a:srgbClr val="B8862B"/>
          </a:solidFill>
          <a:ln/>
        </p:spPr>
      </p:sp>
      <p:sp>
        <p:nvSpPr>
          <p:cNvPr id="32" name="bullet"/>
          <p:cNvSpPr txBox="1"/>
          <p:nvPr/>
        </p:nvSpPr>
        <p:spPr>
          <a:xfrm>
            <a:off x="1143000" y="2780961"/>
            <a:ext cx="4389120"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Keep dividing and the terms get smaller and smaller, but they never reach zero.</a:t>
            </a:r>
            <a:endParaRPr lang="en-US" sz="2200" dirty="0"/>
          </a:p>
        </p:txBody>
      </p:sp>
      <p:sp>
        <p:nvSpPr>
          <p:cNvPr id="33" name="bullet-card"/>
          <p:cNvSpPr/>
          <p:nvPr/>
        </p:nvSpPr>
        <p:spPr>
          <a:xfrm>
            <a:off x="548640" y="4172035"/>
            <a:ext cx="5074920" cy="903901"/>
          </a:xfrm>
          <a:prstGeom prst="roundRect">
            <a:avLst>
              <a:gd name="adj" fmla="val 8093"/>
            </a:avLst>
          </a:prstGeom>
          <a:solidFill>
            <a:srgbClr val="F5F6F9"/>
          </a:solidFill>
          <a:ln/>
        </p:spPr>
      </p:sp>
      <p:sp>
        <p:nvSpPr>
          <p:cNvPr id="34" name="bullet-hex"/>
          <p:cNvSpPr/>
          <p:nvPr/>
        </p:nvSpPr>
        <p:spPr>
          <a:xfrm>
            <a:off x="676656" y="4457693"/>
            <a:ext cx="384048" cy="332586"/>
          </a:xfrm>
          <a:prstGeom prst="hexagon">
            <a:avLst/>
          </a:prstGeom>
          <a:solidFill>
            <a:srgbClr val="2E4A8C"/>
          </a:solidFill>
          <a:ln/>
        </p:spPr>
      </p:sp>
      <p:sp>
        <p:nvSpPr>
          <p:cNvPr id="35" name="bullet"/>
          <p:cNvSpPr txBox="1"/>
          <p:nvPr/>
        </p:nvSpPr>
        <p:spPr>
          <a:xfrm>
            <a:off x="1143000" y="4172035"/>
            <a:ext cx="4389120"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Dividing by 2 is the same as multiplying by a half.</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Differences that grow</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the terms do not have a constant difference, look for a pattern in the differences.</a:t>
            </a:r>
            <a:endParaRPr lang="en-US" sz="1800" dirty="0"/>
          </a:p>
        </p:txBody>
      </p:sp>
      <p:sp>
        <p:nvSpPr>
          <p:cNvPr id="11" name="point-card"/>
          <p:cNvSpPr/>
          <p:nvPr/>
        </p:nvSpPr>
        <p:spPr>
          <a:xfrm>
            <a:off x="548640" y="1389888"/>
            <a:ext cx="3515258" cy="3964940"/>
          </a:xfrm>
          <a:prstGeom prst="roundRect">
            <a:avLst>
              <a:gd name="adj" fmla="val 1561"/>
            </a:avLst>
          </a:prstGeom>
          <a:solidFill>
            <a:srgbClr val="F0F2F7"/>
          </a:solidFill>
          <a:ln/>
        </p:spPr>
      </p:sp>
      <p:sp>
        <p:nvSpPr>
          <p:cNvPr id="12" name="point-hex"/>
          <p:cNvSpPr/>
          <p:nvPr/>
        </p:nvSpPr>
        <p:spPr>
          <a:xfrm>
            <a:off x="731520" y="1572768"/>
            <a:ext cx="685800" cy="593903"/>
          </a:xfrm>
          <a:prstGeom prst="hexagon">
            <a:avLst/>
          </a:prstGeom>
          <a:solidFill>
            <a:srgbClr val="2E4A8C"/>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Some non-linear sequences are not geometric. In 1, 2, 4, 7, 11 the differences are 1, 2, 3 and 4.</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To continue a sequence like this, write the differences first.</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0F2F7"/>
          </a:solidFill>
          <a:ln/>
        </p:spPr>
      </p:sp>
      <p:sp>
        <p:nvSpPr>
          <p:cNvPr id="20" name="point-hex"/>
          <p:cNvSpPr/>
          <p:nvPr/>
        </p:nvSpPr>
        <p:spPr>
          <a:xfrm>
            <a:off x="8310677" y="1572768"/>
            <a:ext cx="685800" cy="593903"/>
          </a:xfrm>
          <a:prstGeom prst="hexagon">
            <a:avLst/>
          </a:prstGeom>
          <a:solidFill>
            <a:srgbClr val="2E4A8C"/>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Always check: is the sequence linear or not? If the differences change, you must look at the pattern in the differences before you can continue.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Worked example: Differences that grow</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0F2F7"/>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Here is a sequence: 3, 5, 8, 12, 17, … Write the next two terms.</a:t>
            </a:r>
            <a:endParaRPr lang="en-US" sz="2200" dirty="0"/>
          </a:p>
        </p:txBody>
      </p:sp>
      <p:sp>
        <p:nvSpPr>
          <p:cNvPr id="9" name="step-box"/>
          <p:cNvSpPr/>
          <p:nvPr/>
        </p:nvSpPr>
        <p:spPr>
          <a:xfrm>
            <a:off x="548640" y="2314956"/>
            <a:ext cx="2464994" cy="1974088"/>
          </a:xfrm>
          <a:prstGeom prst="roundRect">
            <a:avLst>
              <a:gd name="adj" fmla="val 3706"/>
            </a:avLst>
          </a:prstGeom>
          <a:solidFill>
            <a:srgbClr val="FFFFFF"/>
          </a:solidFill>
          <a:ln w="15875">
            <a:solidFill>
              <a:srgbClr val="8C9BC0"/>
            </a:solidFill>
            <a:prstDash val="solid"/>
          </a:ln>
        </p:spPr>
      </p:sp>
      <p:sp>
        <p:nvSpPr>
          <p:cNvPr id="10" name="step-hex"/>
          <p:cNvSpPr/>
          <p:nvPr/>
        </p:nvSpPr>
        <p:spPr>
          <a:xfrm>
            <a:off x="685800" y="2424684"/>
            <a:ext cx="530352" cy="459285"/>
          </a:xfrm>
          <a:prstGeom prst="hexagon">
            <a:avLst/>
          </a:prstGeom>
          <a:solidFill>
            <a:srgbClr val="2E4A8C"/>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differences are 5 − 3 = 2, 8 − 5 = 3, 12 − 8 = 4 and 17 − 12 = 5.</a:t>
            </a:r>
            <a:endParaRPr lang="en-US" sz="1800" dirty="0"/>
          </a:p>
        </p:txBody>
      </p:sp>
      <p:sp>
        <p:nvSpPr>
          <p:cNvPr id="13" name="arrow"/>
          <p:cNvSpPr/>
          <p:nvPr/>
        </p:nvSpPr>
        <p:spPr>
          <a:xfrm>
            <a:off x="3086786" y="3164840"/>
            <a:ext cx="274320" cy="274320"/>
          </a:xfrm>
          <a:prstGeom prst="rightArrow">
            <a:avLst/>
          </a:prstGeom>
          <a:solidFill>
            <a:srgbClr val="B8862B"/>
          </a:solidFill>
          <a:ln/>
        </p:spPr>
      </p:sp>
      <p:sp>
        <p:nvSpPr>
          <p:cNvPr id="14" name="step-box"/>
          <p:cNvSpPr/>
          <p:nvPr/>
        </p:nvSpPr>
        <p:spPr>
          <a:xfrm>
            <a:off x="3425114" y="2314956"/>
            <a:ext cx="2464994" cy="1974088"/>
          </a:xfrm>
          <a:prstGeom prst="roundRect">
            <a:avLst>
              <a:gd name="adj" fmla="val 3706"/>
            </a:avLst>
          </a:prstGeom>
          <a:solidFill>
            <a:srgbClr val="FFFFFF"/>
          </a:solidFill>
          <a:ln w="15875">
            <a:solidFill>
              <a:srgbClr val="8C9BC0"/>
            </a:solidFill>
            <a:prstDash val="solid"/>
          </a:ln>
        </p:spPr>
      </p:sp>
      <p:sp>
        <p:nvSpPr>
          <p:cNvPr id="15" name="step-hex"/>
          <p:cNvSpPr/>
          <p:nvPr/>
        </p:nvSpPr>
        <p:spPr>
          <a:xfrm>
            <a:off x="3562274" y="2424684"/>
            <a:ext cx="530352" cy="459285"/>
          </a:xfrm>
          <a:prstGeom prst="hexagon">
            <a:avLst/>
          </a:prstGeom>
          <a:solidFill>
            <a:srgbClr val="2E4A8C"/>
          </a:solidFill>
          <a:ln/>
        </p:spPr>
      </p:sp>
      <p:sp>
        <p:nvSpPr>
          <p:cNvPr id="16" name="step-hex-label"/>
          <p:cNvSpPr txBox="1"/>
          <p:nvPr/>
        </p:nvSpPr>
        <p:spPr>
          <a:xfrm>
            <a:off x="3562274"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2909316"/>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differences go up by 1, so the next ones are 6 and 7.</a:t>
            </a:r>
            <a:endParaRPr lang="en-US" sz="1800" dirty="0"/>
          </a:p>
        </p:txBody>
      </p:sp>
      <p:sp>
        <p:nvSpPr>
          <p:cNvPr id="18" name="arrow"/>
          <p:cNvSpPr/>
          <p:nvPr/>
        </p:nvSpPr>
        <p:spPr>
          <a:xfrm>
            <a:off x="5963260" y="3164840"/>
            <a:ext cx="274320" cy="274320"/>
          </a:xfrm>
          <a:prstGeom prst="rightArrow">
            <a:avLst/>
          </a:prstGeom>
          <a:solidFill>
            <a:srgbClr val="B8862B"/>
          </a:solidFill>
          <a:ln/>
        </p:spPr>
      </p:sp>
      <p:sp>
        <p:nvSpPr>
          <p:cNvPr id="19" name="step-box"/>
          <p:cNvSpPr/>
          <p:nvPr/>
        </p:nvSpPr>
        <p:spPr>
          <a:xfrm>
            <a:off x="6301588" y="2314956"/>
            <a:ext cx="2464994" cy="1974088"/>
          </a:xfrm>
          <a:prstGeom prst="roundRect">
            <a:avLst>
              <a:gd name="adj" fmla="val 3706"/>
            </a:avLst>
          </a:prstGeom>
          <a:solidFill>
            <a:srgbClr val="FFFFFF"/>
          </a:solidFill>
          <a:ln w="15875">
            <a:solidFill>
              <a:srgbClr val="8C9BC0"/>
            </a:solidFill>
            <a:prstDash val="solid"/>
          </a:ln>
        </p:spPr>
      </p:sp>
      <p:sp>
        <p:nvSpPr>
          <p:cNvPr id="20" name="step-hex"/>
          <p:cNvSpPr/>
          <p:nvPr/>
        </p:nvSpPr>
        <p:spPr>
          <a:xfrm>
            <a:off x="6438748" y="2424684"/>
            <a:ext cx="530352" cy="459285"/>
          </a:xfrm>
          <a:prstGeom prst="hexagon">
            <a:avLst/>
          </a:prstGeom>
          <a:solidFill>
            <a:srgbClr val="2E4A8C"/>
          </a:solidFill>
          <a:ln/>
        </p:spPr>
      </p:sp>
      <p:sp>
        <p:nvSpPr>
          <p:cNvPr id="21"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2909316"/>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17 + 6 = 23.</a:t>
            </a:r>
            <a:endParaRPr lang="en-US" sz="1800" dirty="0"/>
          </a:p>
        </p:txBody>
      </p:sp>
      <p:sp>
        <p:nvSpPr>
          <p:cNvPr id="23" name="arrow"/>
          <p:cNvSpPr/>
          <p:nvPr/>
        </p:nvSpPr>
        <p:spPr>
          <a:xfrm>
            <a:off x="8839733" y="3164840"/>
            <a:ext cx="274320" cy="274320"/>
          </a:xfrm>
          <a:prstGeom prst="rightArrow">
            <a:avLst/>
          </a:prstGeom>
          <a:solidFill>
            <a:srgbClr val="B8862B"/>
          </a:solidFill>
          <a:ln/>
        </p:spPr>
      </p:sp>
      <p:sp>
        <p:nvSpPr>
          <p:cNvPr id="24" name="step-box"/>
          <p:cNvSpPr/>
          <p:nvPr/>
        </p:nvSpPr>
        <p:spPr>
          <a:xfrm>
            <a:off x="9178061" y="2314956"/>
            <a:ext cx="2464994" cy="1974088"/>
          </a:xfrm>
          <a:prstGeom prst="roundRect">
            <a:avLst>
              <a:gd name="adj" fmla="val 3706"/>
            </a:avLst>
          </a:prstGeom>
          <a:solidFill>
            <a:srgbClr val="FFFFFF"/>
          </a:solidFill>
          <a:ln w="15875">
            <a:solidFill>
              <a:srgbClr val="8C9BC0"/>
            </a:solidFill>
            <a:prstDash val="solid"/>
          </a:ln>
        </p:spPr>
      </p:sp>
      <p:sp>
        <p:nvSpPr>
          <p:cNvPr id="25" name="step-hex"/>
          <p:cNvSpPr/>
          <p:nvPr/>
        </p:nvSpPr>
        <p:spPr>
          <a:xfrm>
            <a:off x="9315221" y="2424684"/>
            <a:ext cx="530352" cy="459285"/>
          </a:xfrm>
          <a:prstGeom prst="hexagon">
            <a:avLst/>
          </a:prstGeom>
          <a:solidFill>
            <a:srgbClr val="2E4A8C"/>
          </a:solidFill>
          <a:ln/>
        </p:spPr>
      </p:sp>
      <p:sp>
        <p:nvSpPr>
          <p:cNvPr id="26" name="step-hex-label"/>
          <p:cNvSpPr txBox="1"/>
          <p:nvPr/>
        </p:nvSpPr>
        <p:spPr>
          <a:xfrm>
            <a:off x="9315221"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2909316"/>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23 + 7 = 30.</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23, 30</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Same task, three ways in: Doubling cells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single cell is put in a dish at 1 pm. The number of cells doubles every hour, so there are 2 cells at 2 pm. How many cells are there at 6 pm?</a:t>
            </a:r>
            <a:endParaRPr lang="en-US" sz="2000" dirty="0"/>
          </a:p>
          <a:p>
            <a:pPr algn="ctr" indent="0" marL="0">
              <a:buNone/>
            </a:pPr>
            <a:r>
              <a:rPr lang="en-US" sz="1800" b="1" dirty="0">
                <a:solidFill>
                  <a:srgbClr val="2E4A8C"/>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a:t>
            </a:r>
            <a:endParaRPr lang="en-US" sz="2000" dirty="0"/>
          </a:p>
        </p:txBody>
      </p:sp>
      <p:sp>
        <p:nvSpPr>
          <p:cNvPr id="12" name="col-Support"/>
          <p:cNvSpPr/>
          <p:nvPr/>
        </p:nvSpPr>
        <p:spPr>
          <a:xfrm>
            <a:off x="548640" y="2948940"/>
            <a:ext cx="3515258" cy="3195828"/>
          </a:xfrm>
          <a:prstGeom prst="roundRect">
            <a:avLst>
              <a:gd name="adj" fmla="val 1717"/>
            </a:avLst>
          </a:prstGeom>
          <a:solidFill>
            <a:srgbClr val="F0F2F7"/>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3240938"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Make a table with the time in one row and the number of cells in the other.</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Fill in each hour by doubling the number before.</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Stop when you reach 6 pm.</a:t>
            </a:r>
            <a:endParaRPr lang="en-US" sz="1800" dirty="0"/>
          </a:p>
        </p:txBody>
      </p:sp>
      <p:sp>
        <p:nvSpPr>
          <p:cNvPr id="17" name="col-Core"/>
          <p:cNvSpPr/>
          <p:nvPr/>
        </p:nvSpPr>
        <p:spPr>
          <a:xfrm>
            <a:off x="4338218" y="2948940"/>
            <a:ext cx="3515258" cy="3195828"/>
          </a:xfrm>
          <a:prstGeom prst="roundRect">
            <a:avLst>
              <a:gd name="adj" fmla="val 1717"/>
            </a:avLst>
          </a:prstGeom>
          <a:solidFill>
            <a:srgbClr val="D7DDE9"/>
          </a:solidFill>
          <a:ln/>
        </p:spPr>
      </p:sp>
      <p:sp>
        <p:nvSpPr>
          <p:cNvPr id="18" name="col-hex"/>
          <p:cNvSpPr/>
          <p:nvPr/>
        </p:nvSpPr>
        <p:spPr>
          <a:xfrm>
            <a:off x="4447946"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89020"/>
            <a:ext cx="3240938" cy="2446020"/>
          </a:xfrm>
          <a:prstGeom prst="rect">
            <a:avLst/>
          </a:prstGeom>
          <a:noFill/>
          <a:ln/>
        </p:spPr>
        <p:txBody>
          <a:bodyPr wrap="square" lIns="63500" tIns="63500" rIns="63500" bIns="63500" rtlCol="0" anchor="t"/>
          <a:lstStyle/>
          <a:p>
            <a:pPr algn="l" indent="0" marL="0">
              <a:buNone/>
            </a:pPr>
            <a:r>
              <a:rPr lang="en-US" sz="1800" b="1" dirty="0">
                <a:solidFill>
                  <a:srgbClr val="253B70"/>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Count the hours from 1 pm to 6 pm. That is how many times the number doubles.</a:t>
            </a:r>
            <a:endParaRPr lang="en-US" sz="1800" dirty="0"/>
          </a:p>
        </p:txBody>
      </p:sp>
      <p:sp>
        <p:nvSpPr>
          <p:cNvPr id="22" name="col-Stretch"/>
          <p:cNvSpPr/>
          <p:nvPr/>
        </p:nvSpPr>
        <p:spPr>
          <a:xfrm>
            <a:off x="8127797" y="2948940"/>
            <a:ext cx="3515258" cy="3195828"/>
          </a:xfrm>
          <a:prstGeom prst="roundRect">
            <a:avLst>
              <a:gd name="adj" fmla="val 1717"/>
            </a:avLst>
          </a:prstGeom>
          <a:solidFill>
            <a:srgbClr val="2E4A8C"/>
          </a:solidFill>
          <a:ln/>
        </p:spPr>
      </p:sp>
      <p:sp>
        <p:nvSpPr>
          <p:cNvPr id="23" name="col-hex"/>
          <p:cNvSpPr/>
          <p:nvPr/>
        </p:nvSpPr>
        <p:spPr>
          <a:xfrm>
            <a:off x="8237525"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89020"/>
            <a:ext cx="3240938"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At what time would there first be more than 1000 cells? Explain how you worked it out without a calculator.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Same task, three ways in: Halving</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74852"/>
          </a:xfrm>
          <a:prstGeom prst="roundRect">
            <a:avLst>
              <a:gd name="adj" fmla="val 9380"/>
            </a:avLst>
          </a:prstGeom>
          <a:solidFill>
            <a:srgbClr val="FFFFFF"/>
          </a:solidFill>
          <a:ln w="31750">
            <a:solidFill>
              <a:srgbClr val="B8862B"/>
            </a:solidFill>
            <a:prstDash val="solid"/>
          </a:ln>
        </p:spPr>
      </p:sp>
      <p:sp>
        <p:nvSpPr>
          <p:cNvPr id="8" name="task-hex"/>
          <p:cNvSpPr/>
          <p:nvPr/>
        </p:nvSpPr>
        <p:spPr>
          <a:xfrm>
            <a:off x="777240" y="1560566"/>
            <a:ext cx="731520" cy="633496"/>
          </a:xfrm>
          <a:prstGeom prst="hexagon">
            <a:avLst/>
          </a:prstGeom>
          <a:solidFill>
            <a:srgbClr val="B8862B"/>
          </a:solidFill>
          <a:ln/>
        </p:spPr>
      </p:sp>
      <p:sp>
        <p:nvSpPr>
          <p:cNvPr id="9" name="task-hex-label"/>
          <p:cNvSpPr txBox="1"/>
          <p:nvPr/>
        </p:nvSpPr>
        <p:spPr>
          <a:xfrm>
            <a:off x="777240" y="156056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60299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9197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Each term is half the previous term: 96, 48, 24, … What is the 6th term?</a:t>
            </a:r>
            <a:endParaRPr lang="en-US" sz="2000" dirty="0"/>
          </a:p>
          <a:p>
            <a:pPr algn="ctr" indent="0" marL="0">
              <a:buNone/>
            </a:pPr>
            <a:r>
              <a:rPr lang="en-US" sz="1800" b="1" dirty="0">
                <a:solidFill>
                  <a:srgbClr val="B8862B"/>
                </a:solidFill>
                <a:latin typeface="Calibri" pitchFamily="34" charset="0"/>
                <a:ea typeface="Calibri" pitchFamily="34" charset="-122"/>
                <a:cs typeface="Calibri" pitchFamily="34" charset="-120"/>
              </a:rPr>
              <a:t>A  </a:t>
            </a:r>
            <a:pPr algn="ctr" indent="0" marL="0">
              <a:buNone/>
            </a:pPr>
            <a:r>
              <a:rPr lang="en-US" sz="1800" dirty="0">
                <a:solidFill>
                  <a:srgbClr val="1E2229"/>
                </a:solidFill>
                <a:latin typeface="Calibri" pitchFamily="34" charset="0"/>
                <a:ea typeface="Calibri" pitchFamily="34" charset="-122"/>
                <a:cs typeface="Calibri" pitchFamily="34" charset="-120"/>
              </a:rPr>
              <a:t>3      </a:t>
            </a:r>
            <a:pPr algn="ctr" indent="0" marL="0">
              <a:buNone/>
            </a:pPr>
            <a:r>
              <a:rPr lang="en-US" sz="1800" b="1" dirty="0">
                <a:solidFill>
                  <a:srgbClr val="B8862B"/>
                </a:solidFill>
                <a:latin typeface="Calibri" pitchFamily="34" charset="0"/>
                <a:ea typeface="Calibri" pitchFamily="34" charset="-122"/>
                <a:cs typeface="Calibri" pitchFamily="34" charset="-120"/>
              </a:rPr>
              <a:t>B  </a:t>
            </a:r>
            <a:pPr algn="ctr" indent="0" marL="0">
              <a:buNone/>
            </a:pPr>
            <a:r>
              <a:rPr lang="en-US" sz="1800" dirty="0">
                <a:solidFill>
                  <a:srgbClr val="1E2229"/>
                </a:solidFill>
                <a:latin typeface="Calibri" pitchFamily="34" charset="0"/>
                <a:ea typeface="Calibri" pitchFamily="34" charset="-122"/>
                <a:cs typeface="Calibri" pitchFamily="34" charset="-120"/>
              </a:rPr>
              <a:t>6      </a:t>
            </a:r>
            <a:pPr algn="ctr" indent="0" marL="0">
              <a:buNone/>
            </a:pPr>
            <a:r>
              <a:rPr lang="en-US" sz="1800" b="1" dirty="0">
                <a:solidFill>
                  <a:srgbClr val="B8862B"/>
                </a:solidFill>
                <a:latin typeface="Calibri" pitchFamily="34" charset="0"/>
                <a:ea typeface="Calibri" pitchFamily="34" charset="-122"/>
                <a:cs typeface="Calibri" pitchFamily="34" charset="-120"/>
              </a:rPr>
              <a:t>C  </a:t>
            </a:r>
            <a:pPr algn="ctr" indent="0" marL="0">
              <a:buNone/>
            </a:pPr>
            <a:r>
              <a:rPr lang="en-US" sz="1800" dirty="0">
                <a:solidFill>
                  <a:srgbClr val="1E2229"/>
                </a:solidFill>
                <a:latin typeface="Calibri" pitchFamily="34" charset="0"/>
                <a:ea typeface="Calibri" pitchFamily="34" charset="-122"/>
                <a:cs typeface="Calibri" pitchFamily="34" charset="-120"/>
              </a:rPr>
              <a:t>1.5      </a:t>
            </a:r>
            <a:pPr algn="ctr" indent="0" marL="0">
              <a:buNone/>
            </a:pPr>
            <a:r>
              <a:rPr lang="en-US" sz="1800" b="1" dirty="0">
                <a:solidFill>
                  <a:srgbClr val="B8862B"/>
                </a:solidFill>
                <a:latin typeface="Calibri" pitchFamily="34" charset="0"/>
                <a:ea typeface="Calibri" pitchFamily="34" charset="-122"/>
                <a:cs typeface="Calibri" pitchFamily="34" charset="-120"/>
              </a:rPr>
              <a:t>D  </a:t>
            </a:r>
            <a:pPr algn="ctr" indent="0" marL="0">
              <a:buNone/>
            </a:pPr>
            <a:r>
              <a:rPr lang="en-US" sz="1800" dirty="0">
                <a:solidFill>
                  <a:srgbClr val="1E2229"/>
                </a:solidFill>
                <a:latin typeface="Calibri" pitchFamily="34" charset="0"/>
                <a:ea typeface="Calibri" pitchFamily="34" charset="-122"/>
                <a:cs typeface="Calibri" pitchFamily="34" charset="-120"/>
              </a:rPr>
              <a:t>12</a:t>
            </a:r>
            <a:endParaRPr lang="en-US" sz="2000" dirty="0"/>
          </a:p>
        </p:txBody>
      </p:sp>
      <p:sp>
        <p:nvSpPr>
          <p:cNvPr id="12" name="col-Support"/>
          <p:cNvSpPr/>
          <p:nvPr/>
        </p:nvSpPr>
        <p:spPr>
          <a:xfrm>
            <a:off x="548640" y="2639060"/>
            <a:ext cx="3515258" cy="3505708"/>
          </a:xfrm>
          <a:prstGeom prst="roundRect">
            <a:avLst>
              <a:gd name="adj" fmla="val 1565"/>
            </a:avLst>
          </a:prstGeom>
          <a:solidFill>
            <a:srgbClr val="F0F2F7"/>
          </a:solidFill>
          <a:ln/>
        </p:spPr>
      </p:sp>
      <p:sp>
        <p:nvSpPr>
          <p:cNvPr id="13" name="col-hex"/>
          <p:cNvSpPr/>
          <p:nvPr/>
        </p:nvSpPr>
        <p:spPr>
          <a:xfrm>
            <a:off x="658368" y="271221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79140"/>
            <a:ext cx="3240938" cy="275590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Check the rule: 96 ÷ 2 = 48 and 48 ÷ 2 = 24.</a:t>
            </a:r>
            <a:endParaRPr lang="en-US" sz="2200" dirty="0"/>
          </a:p>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Count which term you have reached.</a:t>
            </a:r>
            <a:endParaRPr lang="en-US" sz="2200" dirty="0"/>
          </a:p>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Keep dividing by 2, one term at a time, until you reach the 6th.</a:t>
            </a:r>
            <a:endParaRPr lang="en-US" sz="2200" dirty="0"/>
          </a:p>
        </p:txBody>
      </p:sp>
      <p:sp>
        <p:nvSpPr>
          <p:cNvPr id="17" name="col-Core"/>
          <p:cNvSpPr/>
          <p:nvPr/>
        </p:nvSpPr>
        <p:spPr>
          <a:xfrm>
            <a:off x="4338218" y="2639060"/>
            <a:ext cx="3515258" cy="3505708"/>
          </a:xfrm>
          <a:prstGeom prst="roundRect">
            <a:avLst>
              <a:gd name="adj" fmla="val 1565"/>
            </a:avLst>
          </a:prstGeom>
          <a:solidFill>
            <a:srgbClr val="D7DDE9"/>
          </a:solidFill>
          <a:ln/>
        </p:spPr>
      </p:sp>
      <p:sp>
        <p:nvSpPr>
          <p:cNvPr id="18" name="col-hex"/>
          <p:cNvSpPr/>
          <p:nvPr/>
        </p:nvSpPr>
        <p:spPr>
          <a:xfrm>
            <a:off x="4447946" y="271221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79140"/>
            <a:ext cx="3240938" cy="2755900"/>
          </a:xfrm>
          <a:prstGeom prst="rect">
            <a:avLst/>
          </a:prstGeom>
          <a:noFill/>
          <a:ln/>
        </p:spPr>
        <p:txBody>
          <a:bodyPr wrap="square" lIns="63500" tIns="63500" rIns="63500" bIns="63500" rtlCol="0" anchor="t"/>
          <a:lstStyle/>
          <a:p>
            <a:pPr algn="l" indent="0" marL="0">
              <a:buNone/>
            </a:pPr>
            <a:r>
              <a:rPr lang="en-US" sz="2200" b="1" dirty="0">
                <a:solidFill>
                  <a:srgbClr val="253B70"/>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24 is the 3rd term. How many more halvings do you need?</a:t>
            </a:r>
            <a:endParaRPr lang="en-US" sz="2200" dirty="0"/>
          </a:p>
        </p:txBody>
      </p:sp>
      <p:sp>
        <p:nvSpPr>
          <p:cNvPr id="22" name="col-Stretch"/>
          <p:cNvSpPr/>
          <p:nvPr/>
        </p:nvSpPr>
        <p:spPr>
          <a:xfrm>
            <a:off x="8127797" y="2639060"/>
            <a:ext cx="3515258" cy="3505708"/>
          </a:xfrm>
          <a:prstGeom prst="roundRect">
            <a:avLst>
              <a:gd name="adj" fmla="val 1565"/>
            </a:avLst>
          </a:prstGeom>
          <a:solidFill>
            <a:srgbClr val="2E4A8C"/>
          </a:solidFill>
          <a:ln/>
        </p:spPr>
      </p:sp>
      <p:sp>
        <p:nvSpPr>
          <p:cNvPr id="23" name="col-hex"/>
          <p:cNvSpPr/>
          <p:nvPr/>
        </p:nvSpPr>
        <p:spPr>
          <a:xfrm>
            <a:off x="8237525" y="271221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79140"/>
            <a:ext cx="3240938" cy="2755900"/>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Continue the sequence for three more terms after 3. Will it ever reach 0? Explain your answer.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E4A8C"/>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E4A8C"/>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498856"/>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Here is a sequence: 2, 3, 5, 8, 12, … What is the next term?</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8FA"/>
          </a:solidFill>
          <a:ln w="12700">
            <a:solidFill>
              <a:srgbClr val="9DAAC9"/>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Doubling cells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single cell is put in a dish at 1 pm. The number of cells doubles every hour, so there are 2 cells at 2 pm. How many cells are there at 6 pm?</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32</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From 1 pm to 6 pm is 5 hours, so the number doubles 5 times: 1, 2, 4, 8, 16, 32.</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Halving</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Each term is half the previous term: 96, 48, 24, … What is the 6th term?</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3</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24 is the 3rd term. Halve three more times: 12 is the 4th, 6 is the 5th and 3 is the 6th.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Here is a sequence: 2, 3, 5, 8, 12, … What is the next term?</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17</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differences are 1, 2, 3 and 4. They go up by 1 each time, so the next difference is 5 and the next term is 12 + 5 = 17.</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Ad Astra maths">
  <a:themeElements>
    <a:clrScheme name="Ad Astra maths">
      <a:dk1>
        <a:srgbClr val="1E2229"/>
      </a:dk1>
      <a:lt1>
        <a:srgbClr val="FFFFFF"/>
      </a:lt1>
      <a:dk2>
        <a:srgbClr val="253B70"/>
      </a:dk2>
      <a:lt2>
        <a:srgbClr val="F0F2F7"/>
      </a:lt2>
      <a:accent1>
        <a:srgbClr val="2E4A8C"/>
      </a:accent1>
      <a:accent2>
        <a:srgbClr val="B8862B"/>
      </a:accent2>
      <a:accent3>
        <a:srgbClr val="8292BA"/>
      </a:accent3>
      <a:accent4>
        <a:srgbClr val="815E1E"/>
      </a:accent4>
      <a:accent5>
        <a:srgbClr val="4A505C"/>
      </a:accent5>
      <a:accent6>
        <a:srgbClr val="DEC69B"/>
      </a:accent6>
      <a:hlink>
        <a:srgbClr val="2E4A8C"/>
      </a:hlink>
      <a:folHlink>
        <a:srgbClr val="203462"/>
      </a:folHlink>
    </a:clrScheme>
    <a:fontScheme name="Ad Astra math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Sequences · Chapter 4: Continue non-linear sequences</dc:title>
  <dc:subject>Mathematics · Year 7</dc:subject>
  <dc:creator>Dr Vitor Merissi de Carvalho</dc:creator>
  <cp:lastModifiedBy>Dr Vitor Merissi de Carvalho</cp:lastModifiedBy>
  <cp:revision>1</cp:revision>
  <dcterms:created xsi:type="dcterms:W3CDTF">2026-10-18T17:47:10Z</dcterms:created>
  <dcterms:modified xsi:type="dcterms:W3CDTF">2026-10-18T17:47:10Z</dcterms:modified>
</cp:coreProperties>
</file>