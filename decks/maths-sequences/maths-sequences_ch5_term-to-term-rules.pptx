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a5af8fb-cec3-b924-1677-6ed85019a0a4}">
          <p14:sldIdLst>
            <p14:sldId id="256"/>
          </p14:sldIdLst>
        </p14:section>
        <p14:section name="Gate" id="{4b806efb-93d6-12f3-945a-39a561a129c6}">
          <p14:sldIdLst>
            <p14:sldId id="257"/>
            <p14:sldId id="258"/>
          </p14:sldIdLst>
        </p14:section>
        <p14:section name="Pre-teach" id="{dc740b19-5e7c-af0e-af9a-0fccc12e586c}">
          <p14:sldIdLst>
            <p14:sldId id="259"/>
          </p14:sldIdLst>
        </p14:section>
        <p14:section name="Read-along" id="{300c6605-1bf3-b979-a34c-d7b66b89e8ad}">
          <p14:sldIdLst>
            <p14:sldId id="260"/>
            <p14:sldId id="261"/>
          </p14:sldIdLst>
        </p14:section>
        <p14:section name="Teach" id="{08d02540-f9eb-b7d2-6f52-9a19abc9b0a2}">
          <p14:sldIdLst>
            <p14:sldId id="262"/>
            <p14:sldId id="263"/>
            <p14:sldId id="264"/>
            <p14:sldId id="265"/>
          </p14:sldIdLst>
        </p14:section>
        <p14:section name="Routes" id="{2cf45f54-d23a-7304-8437-54ec30f49b8e}">
          <p14:sldIdLst>
            <p14:sldId id="266"/>
            <p14:sldId id="267"/>
            <p14:sldId id="268"/>
          </p14:sldIdLst>
        </p14:section>
        <p14:section name="Close" id="{8efaf06a-dbe4-f216-13bb-f22c8d0659f6}">
          <p14:sldIdLst>
            <p14:sldId id="269"/>
          </p14:sldIdLst>
        </p14:section>
        <p14:section name="Answers" id="{c6cd14d5-176f-99f2-1a49-a096f506c4b5}">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Term-to-term rules. Describe a rule in a full sentence, tell add rules from multiply rules, and use a rule to build a sequence from its first term.
This deck covers the department's lesson: 5 (Term-to-term rules: How do you describe a term-to-term rule in words, and use it to build a sequence?).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is the term-to-term rule of 8, 14, 20, 26, …?  →  A   Add 6 to the previous term
2. The first term of a sequence is 3. The term-to-term rule is add 7 to the previous term. What is the 4th term?  →  24
3. The term-to-term rule of 5, 15, 45, 135 is ___ the previous term by 3.  →  multiply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Add 6 to the previous term. Each term is 6 more than the previous one: 14 − 8 = 6 and 20 − 14 = 6.
2. 24. Start at 3 and add 7 three times: 3, 10, 17, 24.
3. multiply. 15 ÷ 5 = 3 and 45 ÷ 15 = 3, so each term is 3 times the previous one.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term-to-term rule: how to get from one term to the next. Example: "The term-to-term rule is add 5 to the previous term."
• previous term: the term just before. Example: "Multiply the previous term by 2."
• first term: the term at the start of the sequence. Example: "The first term is 7."
• describe: to say in words. Example: "Describe the rule in a full sentence."
• generate: to make the terms of a sequence from a rule. Example: "Generate the first five terms."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term-to-term rule tells you how to get from one term to the next.
2. Look at 15, 21, 27, 33.
3. The rule is add 6 to the previous term.
4. Always say what you are adding it to.
5. Add 6 on its own is not a full rule.
6. Look at 29, 24, 19, 14.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rule is subtract 5 from the previous term.
8. Some rules multiply or divide.
9. In 4, 8, 16, 32 the rule is multiply the previous term by 2.
10. If you know the first term and the rule, you can write the whole sequence.
11. Start at 7 and add 6 each time.
12. You get 7, 13, 19, 25, 31.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the rule in words. Say it in your own words, then check understanding with a quick question: ask a pupil from the pre-teach group first, since they met these words and ideas before the lesson. Pupils try to recall before you re-explain.
A term-to-term rule is a sentence. It says what to do to one term to get the next. For 15, 21, 27, 33 the rule is 'add 6 to the previous term'.
Saying just 'add 6' is not enough. Add 6 to what? The full sentence tells the reader exactly what to do: start with a term, add 6, and you have the next term.
For a descending sequence the rule uses subtract. For 29, 24, 19, 14 the rule is 'subtract 5 from the previous term'. Find the common difference first, then write the sentence.
Worked example — model it step by step, thinking aloud: Describe the term-to-term rule of 51, 44, 37, 30, … (1) Find the common difference: 51 − 44 = 7. Check: 44 − 37 = 7. (2) The terms get smaller, so the rule subtracts. (3) Write it as a full sentence. Answer: Subtract 7 from the previous term..
Tip: A rule is a full sentence: add … to the previous term, or subtract … from the previous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Multiply and divide rules. Say it in your own words, then check understanding with a quick question: ask a pupil from the pre-teach group first, since they met these words and ideas before the lesson. Pupils try to recall before you re-explain.
Geometric sequences have multiply or divide rules. For 3, 6, 12, 24 the rule is 'multiply the previous term by 2'. For 400, 200, 100, 50 the rule is 'divide the previous term by 2'.
To find a multiply rule, divide a term by the one before it. In 2, 10, 50, 250 you get 10 ÷ 2 = 5 and 50 ÷ 10 = 5. So the rule is multiply the previous term by 5.
Be careful: 3, 6, 9, 12 and 3, 6, 12, 24 both start with 3, 6. The first adds 3 each time; the second multiplies by 2. Always check a third term before you decide.
Worked example — model it step by step, thinking aloud: Describe the term-to-term rule of 2, 10, 50, 250. (1) Is it an add rule? 10 − 2 = 8 but 50 − 10 = 40. No. (2) Try a multiply rule: 10 ÷ 2 = 5 and 50 ÷ 10 = 5. Yes. (3) Write it as a full sentence. Answer: Multiply the previous term by 5..
Tip: If the differences change, try dividing each term by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a rule to write a sequence. Say it in your own words, then check understanding with a quick question: ask a pupil from the pre-teach group first, since they met these words and ideas before the lesson. Pupils try to recall before you re-explain.
If you know the first term and the term-to-term rule, you can write the whole sequence. Start with the first term. Apply the rule to get the second term. Apply it again to get the third, and so on.
First term 7, rule add 6 to the previous term: 7, 13, 19, 25, 31. First term 5, rule multiply the previous term by 3: 5, 15, 45, 135.
The same rule with a different first term gives a different sequence. Add 6 starting at 2 gives 2, 8, 14, 20. Both the first term and the rule matter.
Worked example — model it step by step, thinking aloud: The first term of a sequence is 4. The term-to-term rule is multiply the previous term by 3. Write the first 4 terms. (1) 1st term: 4. (2) 2nd term: 4 × 3 = 12. (3) 3rd term: 12 × 3 = 36. (4) 4th term: 36 × 3 = 108. Answer: 4, 12, 36, 108.
Tip: Write each term down before you work out the next. Do not try to hold them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Two-step rules. Say it in your own words, then check understanding with a quick question: ask a pupil from the pre-teach group first, since they met these words and ideas before the lesson. Pupils try to recall before you re-explain.
A rule can have two steps. For example: multiply the previous term by 2 and then add 3. Do the steps in the order they are written.
First term 1, rule multiply by 2 then add 3: 1 × 2 = 2, 2 + 3 = 5. So the second term is 5. Then 5 × 2 = 10, 10 + 3 = 13. The sequence is 1, 5, 13, 29.
The order matters. 'Add 3 then multiply by 2' from 1 gives 8, not 5. Read the rule carefully.
Worked example — model it step by step, thinking aloud: The first term is 2. The term-to-term rule is multiply the previous term by 2 and then add 3. Write the first four terms. (1) 1st term: 2. (2) 2nd term: 2 × 2 = 4, then 4 + 3 = 7. (3) 3rd term: 7 × 2 = 14, then 14 + 3 = 17. (4) 4th term: 17 × 2 = 34, then 34 + 3 = 37. Answer: 2, 7, 17, 37.
Tip: Two-step rule: do the first step, write it down, then do the second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term-to-term rule.
Support — work through the steps with the group: (1) Decide if the terms go up or down. (2) Find the differences. If they are constant, the rule adds or subtracts that amount. (3) If the differences change, divide each term by the one before to find the multiply or divide rule.
Parallel worked example for Support (model it, do not give the task answer): Describe the term-to-term rule of 6, 18, 54, 162. The terms go up. The differences are 12, 36, 108: they change.; 18 ÷ 6 = 3 and 54 ÷ 18 = 3.; So the rule multiplies by 3.. Answer: Multiply the previous term by 3..
Core — reveal the hint only on request: Two of the sequences have a constant difference. The other two do not.
Stretch — no help; when finished: Find a first term for which the rule 'add 4 to the previous term' and the rule 'multiply the previous term by 2' give the same second term. Explain how you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term-to-term rule.
Support — work through the steps with the group: (1) Decide if the terms go up or down. (2) Find the differences. If they are constant, the rule adds or subtracts that amount. (3) If the differences change, divide each term by the one before to find the multiply or divide rule.
Parallel worked example for Support (model it, do not give the task answer): Describe the term-to-term rule of 6, 18, 54, 162. The terms go up. The differences are 12, 36, 108: they change.; 18 ÷ 6 = 3 and 54 ÷ 18 = 3.; So the rule multiplies by 3.. Answer: Multiply the previous term by 3..
Core — reveal the hint only on request: Two of the sequences have a constant difference. The other two do not.
Stretch — no help; when finished: Find a first term for which the rule 'add 4 to the previous term' and the rule 'multiply the previous term by 2' give the same second term. Explain how you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first term of a sequence is 50. The term-to-term rule is subtract 6 from the previous term. What is the 6th term?
Support — work through the steps with the group: (1) Write the first term. (2) Apply the rule to get the next term, and write it down. (3) Keep going, counting the terms, until you reach the 6th.
Parallel worked example for Support (model it, do not give the task answer): The first term is 40. The term-to-term rule is subtract 9 from the previous term. What is the 4th term? 1st term: 40.; 2nd term: 40 − 9 = 31.; 3rd term: 31 − 9 = 22.; 4th term: 22 − 9 = 13.. Answer: 13.
Core — reveal the hint only on request: 50 is the 1st term. Write each term down and count them.
Stretch — no help; when finished: Which term of this sequence is the first one below zero?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first term of a sequence is 3. The term-to-term rule is multiply the previous term by 2 and then add 1. What is the 4th term?
Answer: 31. Apply the rule three times: 3 × 2 + 1 = 7, 7 × 2 + 1 = 15, 15 × 2 + 1 = 31.
Source of this question: module 3 task ("Two-step rule")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Write the rule. Reveal the answer; pupils mark their own work in a different colour, then read the "why" together. Same destination for every lane, so one answer serves the whole class.
Answer: 9, 13, 17, 21  →  C  Add 4 to the previous term; 80, 40, 20, 10  →  A  Divide the previous term by 2; 1, 4, 16, 64  →  D  Multiply the previous term by 4; 30, 26, 22, 18  →  B  Subtract 4 from the previous term
Why: 9, 13, 17, 21 and 30, 26, 22, 18 change by 4 each time, one up and one down. 1, 4, 16, 64 is multiplied by 4 each time, and 80, 40, 20, 10 is divided by 2 each time.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Use the rule. Reveal the answer; pupils mark their own work in a different colour, then read the "why" together. Same destination for every lane, so one answer serves the whole class.
Answer: 20
Why: Start at 50 and subtract 6 for each new term: 50, 44, 38, 32, 26, 20. The 6th term is 20.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31
Why: Apply the rule three times: 3 × 2 + 1 = 7, 7 × 2 + 1 = 15, 15 × 2 + 1 =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Term-to-term rules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Term-to-term rules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is the term-to-term rule of 8, 14, 20, 26, …?</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6 to the previous term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previous term by 2</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6 from the previous term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8 to the previous term</a:t>
            </a:r>
            <a:endParaRPr lang="en-US" sz="18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first term of a sequence is 3. The term-to-term rule is add 7 to the previous term. What is the 4th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term-to-term rule of 5, 15, 45, 135 is ___ the previous term by 3.</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multiply  ·  add  ·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Add 6 to the previous term</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is the term-to-term rule of 8, 14, 20, 26,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6 more than the previous one: 14 − 8 = 6 and 20 − 14 = 6.</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first term of a sequence is 3. The term-to-term rule is add 7 to the previous term. What is the 4th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Start at 3 and add 7 three times: 3, 10, 17, 24.</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multiply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term-to-term rule of 5, 15, 45, 135 is ___ the previous term by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15 ÷ 5 = 3 and 45 ÷ 15 = 3, so each term is 3 times the previous 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89178"/>
          </a:xfrm>
          <a:prstGeom prst="roundRect">
            <a:avLst>
              <a:gd name="adj" fmla="val 5546"/>
            </a:avLst>
          </a:prstGeom>
          <a:solidFill>
            <a:srgbClr val="F5F6F9"/>
          </a:solidFill>
          <a:ln/>
        </p:spPr>
      </p:sp>
      <p:sp>
        <p:nvSpPr>
          <p:cNvPr id="12" name="kw-hex"/>
          <p:cNvSpPr/>
          <p:nvPr/>
        </p:nvSpPr>
        <p:spPr>
          <a:xfrm>
            <a:off x="658368" y="2236658"/>
            <a:ext cx="411480" cy="356342"/>
          </a:xfrm>
          <a:prstGeom prst="hexagon">
            <a:avLst/>
          </a:prstGeom>
          <a:solidFill>
            <a:srgbClr val="2E4A8C"/>
          </a:solidFill>
          <a:ln/>
        </p:spPr>
      </p:sp>
      <p:sp>
        <p:nvSpPr>
          <p:cNvPr id="13" name="kw-cell"/>
          <p:cNvSpPr txBox="1"/>
          <p:nvPr/>
        </p:nvSpPr>
        <p:spPr>
          <a:xfrm>
            <a:off x="1143000" y="1920240"/>
            <a:ext cx="2331720" cy="98917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term-to-term rule</a:t>
            </a:r>
            <a:endParaRPr lang="en-US" sz="2400" dirty="0"/>
          </a:p>
        </p:txBody>
      </p:sp>
      <p:sp>
        <p:nvSpPr>
          <p:cNvPr id="14" name="kw-cell"/>
          <p:cNvSpPr txBox="1"/>
          <p:nvPr/>
        </p:nvSpPr>
        <p:spPr>
          <a:xfrm>
            <a:off x="3657600" y="1920240"/>
            <a:ext cx="3474720" cy="98917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to get from one term to the next</a:t>
            </a:r>
            <a:endParaRPr lang="en-US" sz="2200" dirty="0"/>
          </a:p>
        </p:txBody>
      </p:sp>
      <p:sp>
        <p:nvSpPr>
          <p:cNvPr id="15" name="kw-cell"/>
          <p:cNvSpPr txBox="1"/>
          <p:nvPr/>
        </p:nvSpPr>
        <p:spPr>
          <a:xfrm>
            <a:off x="7315200" y="1920240"/>
            <a:ext cx="4236415" cy="98917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term-to-term rule is add 5 to the previous term.</a:t>
            </a:r>
            <a:endParaRPr lang="en-US" sz="2200" dirty="0"/>
          </a:p>
        </p:txBody>
      </p:sp>
      <p:sp>
        <p:nvSpPr>
          <p:cNvPr id="16" name="kw-row"/>
          <p:cNvSpPr/>
          <p:nvPr/>
        </p:nvSpPr>
        <p:spPr>
          <a:xfrm>
            <a:off x="548640" y="2982570"/>
            <a:ext cx="11094415" cy="592938"/>
          </a:xfrm>
          <a:prstGeom prst="roundRect">
            <a:avLst>
              <a:gd name="adj" fmla="val 9253"/>
            </a:avLst>
          </a:prstGeom>
          <a:solidFill>
            <a:srgbClr val="F9F4EC"/>
          </a:solidFill>
          <a:ln/>
        </p:spPr>
      </p:sp>
      <p:sp>
        <p:nvSpPr>
          <p:cNvPr id="17" name="kw-hex"/>
          <p:cNvSpPr/>
          <p:nvPr/>
        </p:nvSpPr>
        <p:spPr>
          <a:xfrm>
            <a:off x="658368" y="3100868"/>
            <a:ext cx="411480" cy="356342"/>
          </a:xfrm>
          <a:prstGeom prst="hexagon">
            <a:avLst/>
          </a:prstGeom>
          <a:solidFill>
            <a:srgbClr val="B8862B"/>
          </a:solidFill>
          <a:ln/>
        </p:spPr>
      </p:sp>
      <p:sp>
        <p:nvSpPr>
          <p:cNvPr id="18" name="kw-cell"/>
          <p:cNvSpPr txBox="1"/>
          <p:nvPr/>
        </p:nvSpPr>
        <p:spPr>
          <a:xfrm>
            <a:off x="1143000" y="2982570"/>
            <a:ext cx="2331720" cy="59293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previous term</a:t>
            </a:r>
            <a:endParaRPr lang="en-US" sz="2400" dirty="0"/>
          </a:p>
        </p:txBody>
      </p:sp>
      <p:sp>
        <p:nvSpPr>
          <p:cNvPr id="19" name="kw-cell"/>
          <p:cNvSpPr txBox="1"/>
          <p:nvPr/>
        </p:nvSpPr>
        <p:spPr>
          <a:xfrm>
            <a:off x="3657600" y="2982570"/>
            <a:ext cx="3474720" cy="5929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term just before</a:t>
            </a:r>
            <a:endParaRPr lang="en-US" sz="2200" dirty="0"/>
          </a:p>
        </p:txBody>
      </p:sp>
      <p:sp>
        <p:nvSpPr>
          <p:cNvPr id="20" name="kw-cell"/>
          <p:cNvSpPr txBox="1"/>
          <p:nvPr/>
        </p:nvSpPr>
        <p:spPr>
          <a:xfrm>
            <a:off x="7315200" y="2982570"/>
            <a:ext cx="4236415" cy="59293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Multiply the previous term by 2.</a:t>
            </a:r>
            <a:endParaRPr lang="en-US" sz="2200" dirty="0"/>
          </a:p>
        </p:txBody>
      </p:sp>
      <p:sp>
        <p:nvSpPr>
          <p:cNvPr id="21" name="kw-row"/>
          <p:cNvSpPr/>
          <p:nvPr/>
        </p:nvSpPr>
        <p:spPr>
          <a:xfrm>
            <a:off x="548640" y="3648659"/>
            <a:ext cx="11094415" cy="878434"/>
          </a:xfrm>
          <a:prstGeom prst="roundRect">
            <a:avLst>
              <a:gd name="adj" fmla="val 6246"/>
            </a:avLst>
          </a:prstGeom>
          <a:solidFill>
            <a:srgbClr val="F5F6F9"/>
          </a:solidFill>
          <a:ln/>
        </p:spPr>
      </p:sp>
      <p:sp>
        <p:nvSpPr>
          <p:cNvPr id="22" name="kw-hex"/>
          <p:cNvSpPr/>
          <p:nvPr/>
        </p:nvSpPr>
        <p:spPr>
          <a:xfrm>
            <a:off x="658368" y="3909705"/>
            <a:ext cx="411480" cy="356342"/>
          </a:xfrm>
          <a:prstGeom prst="hexagon">
            <a:avLst/>
          </a:prstGeom>
          <a:solidFill>
            <a:srgbClr val="2E4A8C"/>
          </a:solidFill>
          <a:ln/>
        </p:spPr>
      </p:sp>
      <p:sp>
        <p:nvSpPr>
          <p:cNvPr id="23" name="kw-cell"/>
          <p:cNvSpPr txBox="1"/>
          <p:nvPr/>
        </p:nvSpPr>
        <p:spPr>
          <a:xfrm>
            <a:off x="1143000" y="3648659"/>
            <a:ext cx="2331720" cy="87843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first term</a:t>
            </a:r>
            <a:endParaRPr lang="en-US" sz="2400" dirty="0"/>
          </a:p>
        </p:txBody>
      </p:sp>
      <p:sp>
        <p:nvSpPr>
          <p:cNvPr id="24" name="kw-cell"/>
          <p:cNvSpPr txBox="1"/>
          <p:nvPr/>
        </p:nvSpPr>
        <p:spPr>
          <a:xfrm>
            <a:off x="3657600" y="3648659"/>
            <a:ext cx="3474720" cy="87843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term at the start of the sequence</a:t>
            </a:r>
            <a:endParaRPr lang="en-US" sz="2200" dirty="0"/>
          </a:p>
        </p:txBody>
      </p:sp>
      <p:sp>
        <p:nvSpPr>
          <p:cNvPr id="25" name="kw-cell"/>
          <p:cNvSpPr txBox="1"/>
          <p:nvPr/>
        </p:nvSpPr>
        <p:spPr>
          <a:xfrm>
            <a:off x="7315200" y="3648659"/>
            <a:ext cx="4236415" cy="878434"/>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first term is 7.</a:t>
            </a:r>
            <a:endParaRPr lang="en-US" sz="2200" dirty="0"/>
          </a:p>
        </p:txBody>
      </p:sp>
      <p:sp>
        <p:nvSpPr>
          <p:cNvPr id="26" name="kw-row"/>
          <p:cNvSpPr/>
          <p:nvPr/>
        </p:nvSpPr>
        <p:spPr>
          <a:xfrm>
            <a:off x="548640" y="4600245"/>
            <a:ext cx="11094415" cy="592938"/>
          </a:xfrm>
          <a:prstGeom prst="roundRect">
            <a:avLst>
              <a:gd name="adj" fmla="val 9253"/>
            </a:avLst>
          </a:prstGeom>
          <a:solidFill>
            <a:srgbClr val="F9F4EC"/>
          </a:solidFill>
          <a:ln/>
        </p:spPr>
      </p:sp>
      <p:sp>
        <p:nvSpPr>
          <p:cNvPr id="27" name="kw-hex"/>
          <p:cNvSpPr/>
          <p:nvPr/>
        </p:nvSpPr>
        <p:spPr>
          <a:xfrm>
            <a:off x="658368" y="4718543"/>
            <a:ext cx="411480" cy="356342"/>
          </a:xfrm>
          <a:prstGeom prst="hexagon">
            <a:avLst/>
          </a:prstGeom>
          <a:solidFill>
            <a:srgbClr val="B8862B"/>
          </a:solidFill>
          <a:ln/>
        </p:spPr>
      </p:sp>
      <p:sp>
        <p:nvSpPr>
          <p:cNvPr id="28" name="kw-cell"/>
          <p:cNvSpPr txBox="1"/>
          <p:nvPr/>
        </p:nvSpPr>
        <p:spPr>
          <a:xfrm>
            <a:off x="1143000" y="4600245"/>
            <a:ext cx="2331720" cy="59293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describe</a:t>
            </a:r>
            <a:endParaRPr lang="en-US" sz="2400" dirty="0"/>
          </a:p>
        </p:txBody>
      </p:sp>
      <p:sp>
        <p:nvSpPr>
          <p:cNvPr id="29" name="kw-cell"/>
          <p:cNvSpPr txBox="1"/>
          <p:nvPr/>
        </p:nvSpPr>
        <p:spPr>
          <a:xfrm>
            <a:off x="3657600" y="4600245"/>
            <a:ext cx="3474720" cy="5929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say in words</a:t>
            </a:r>
            <a:endParaRPr lang="en-US" sz="2200" dirty="0"/>
          </a:p>
        </p:txBody>
      </p:sp>
      <p:sp>
        <p:nvSpPr>
          <p:cNvPr id="30" name="kw-cell"/>
          <p:cNvSpPr txBox="1"/>
          <p:nvPr/>
        </p:nvSpPr>
        <p:spPr>
          <a:xfrm>
            <a:off x="7315200" y="4600245"/>
            <a:ext cx="4236415" cy="59293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Describe the rule in a full sentence.</a:t>
            </a:r>
            <a:endParaRPr lang="en-US" sz="2200" dirty="0"/>
          </a:p>
        </p:txBody>
      </p:sp>
      <p:sp>
        <p:nvSpPr>
          <p:cNvPr id="31" name="kw-row"/>
          <p:cNvSpPr/>
          <p:nvPr/>
        </p:nvSpPr>
        <p:spPr>
          <a:xfrm>
            <a:off x="548640" y="5266334"/>
            <a:ext cx="11094415" cy="878434"/>
          </a:xfrm>
          <a:prstGeom prst="roundRect">
            <a:avLst>
              <a:gd name="adj" fmla="val 6246"/>
            </a:avLst>
          </a:prstGeom>
          <a:solidFill>
            <a:srgbClr val="F5F6F9"/>
          </a:solidFill>
          <a:ln/>
        </p:spPr>
      </p:sp>
      <p:sp>
        <p:nvSpPr>
          <p:cNvPr id="32" name="kw-hex"/>
          <p:cNvSpPr/>
          <p:nvPr/>
        </p:nvSpPr>
        <p:spPr>
          <a:xfrm>
            <a:off x="658368" y="5527380"/>
            <a:ext cx="411480" cy="356342"/>
          </a:xfrm>
          <a:prstGeom prst="hexagon">
            <a:avLst/>
          </a:prstGeom>
          <a:solidFill>
            <a:srgbClr val="2E4A8C"/>
          </a:solidFill>
          <a:ln/>
        </p:spPr>
      </p:sp>
      <p:sp>
        <p:nvSpPr>
          <p:cNvPr id="33" name="kw-cell"/>
          <p:cNvSpPr txBox="1"/>
          <p:nvPr/>
        </p:nvSpPr>
        <p:spPr>
          <a:xfrm>
            <a:off x="1143000" y="5266334"/>
            <a:ext cx="2331720" cy="87843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generate</a:t>
            </a:r>
            <a:endParaRPr lang="en-US" sz="2400" dirty="0"/>
          </a:p>
        </p:txBody>
      </p:sp>
      <p:sp>
        <p:nvSpPr>
          <p:cNvPr id="34" name="kw-cell"/>
          <p:cNvSpPr txBox="1"/>
          <p:nvPr/>
        </p:nvSpPr>
        <p:spPr>
          <a:xfrm>
            <a:off x="3657600" y="5266334"/>
            <a:ext cx="3474720" cy="87843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make the terms of a sequence from a rule</a:t>
            </a:r>
            <a:endParaRPr lang="en-US" sz="2200" dirty="0"/>
          </a:p>
        </p:txBody>
      </p:sp>
      <p:sp>
        <p:nvSpPr>
          <p:cNvPr id="35" name="kw-cell"/>
          <p:cNvSpPr txBox="1"/>
          <p:nvPr/>
        </p:nvSpPr>
        <p:spPr>
          <a:xfrm>
            <a:off x="7315200" y="5266334"/>
            <a:ext cx="4236415" cy="878434"/>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Generate the first five terms.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term-to-term 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tells you how to get from one term to the next.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15, 21, 27, 33.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rule is add 6 to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Always say what you are adding it to.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6 on its own is not a full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29, 24, 19, 14.</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rule is subtract 5 from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rules multiply or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8, 16, 32 the rule is multiply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by 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first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rule, you can write the whole sequence.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at 7 and add 6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get 7, 13, 19, 25, 31.</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Describing the rule in words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rule is a full sentence: add … to the previous term, or subtract … from the previous term.</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term-to-term rule of 51, 44, 37, 30, …</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51 − 44 = 7. Check: 44 − 37 = 7.</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get smaller, so the rule subtracts.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as a full sentence.</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Subtract 7 from the previous term.</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term-to-term rule is a sentence. It says what to do to one term to get the next.</a:t>
            </a:r>
            <a:endParaRPr lang="en-US" sz="1800" dirty="0"/>
          </a:p>
        </p:txBody>
      </p:sp>
      <p:sp>
        <p:nvSpPr>
          <p:cNvPr id="30" name="bullet-card"/>
          <p:cNvSpPr/>
          <p:nvPr/>
        </p:nvSpPr>
        <p:spPr>
          <a:xfrm>
            <a:off x="548640" y="2481411"/>
            <a:ext cx="5074920" cy="945219"/>
          </a:xfrm>
          <a:prstGeom prst="roundRect">
            <a:avLst>
              <a:gd name="adj" fmla="val 7739"/>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481411"/>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Saying just 'add 6' is not enough. Add 6 to what?</a:t>
            </a:r>
            <a:endParaRPr lang="en-US" sz="1800" dirty="0"/>
          </a:p>
        </p:txBody>
      </p:sp>
      <p:sp>
        <p:nvSpPr>
          <p:cNvPr id="33" name="bullet-card"/>
          <p:cNvSpPr/>
          <p:nvPr/>
        </p:nvSpPr>
        <p:spPr>
          <a:xfrm>
            <a:off x="548640" y="3572933"/>
            <a:ext cx="5074920" cy="1224111"/>
          </a:xfrm>
          <a:prstGeom prst="roundRect">
            <a:avLst>
              <a:gd name="adj" fmla="val 5976"/>
            </a:avLst>
          </a:prstGeom>
          <a:solidFill>
            <a:srgbClr val="F5F6F9"/>
          </a:solidFill>
          <a:ln/>
        </p:spPr>
      </p:sp>
      <p:sp>
        <p:nvSpPr>
          <p:cNvPr id="34" name="bullet-hex"/>
          <p:cNvSpPr/>
          <p:nvPr/>
        </p:nvSpPr>
        <p:spPr>
          <a:xfrm>
            <a:off x="676656" y="4018696"/>
            <a:ext cx="384048" cy="332586"/>
          </a:xfrm>
          <a:prstGeom prst="hexagon">
            <a:avLst/>
          </a:prstGeom>
          <a:solidFill>
            <a:srgbClr val="2E4A8C"/>
          </a:solidFill>
          <a:ln/>
        </p:spPr>
      </p:sp>
      <p:sp>
        <p:nvSpPr>
          <p:cNvPr id="35" name="bullet"/>
          <p:cNvSpPr txBox="1"/>
          <p:nvPr/>
        </p:nvSpPr>
        <p:spPr>
          <a:xfrm>
            <a:off x="1143000" y="357293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a descending sequence the rule uses subtract. For 29, 24, 19, 14 the rule is 'subtract 5 from the previous term'.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Multiply and divide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differences change, try dividing each term by the one before.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term-to-term rule of 2, 10, 50, 250.</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Is it an add rule? 10 − 2 = 8 but 50 − 10 = 40. No.</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 multiply rule: 10 ÷ 2 = 5 and 50 ÷ 10 = 5. Yes.</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as a full sentence.</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Multiply the previous term by 5.</a:t>
            </a:r>
            <a:endParaRPr lang="en-US" sz="1800" dirty="0"/>
          </a:p>
        </p:txBody>
      </p:sp>
      <p:sp>
        <p:nvSpPr>
          <p:cNvPr id="27" name="bullet-card"/>
          <p:cNvSpPr/>
          <p:nvPr/>
        </p:nvSpPr>
        <p:spPr>
          <a:xfrm>
            <a:off x="548640" y="1389888"/>
            <a:ext cx="5074920" cy="1585637"/>
          </a:xfrm>
          <a:prstGeom prst="roundRect">
            <a:avLst>
              <a:gd name="adj" fmla="val 4613"/>
            </a:avLst>
          </a:prstGeom>
          <a:solidFill>
            <a:srgbClr val="F5F6F9"/>
          </a:solidFill>
          <a:ln/>
        </p:spPr>
      </p:sp>
      <p:sp>
        <p:nvSpPr>
          <p:cNvPr id="28" name="bullet-hex"/>
          <p:cNvSpPr/>
          <p:nvPr/>
        </p:nvSpPr>
        <p:spPr>
          <a:xfrm>
            <a:off x="676656" y="2016414"/>
            <a:ext cx="384048" cy="332586"/>
          </a:xfrm>
          <a:prstGeom prst="hexagon">
            <a:avLst/>
          </a:prstGeom>
          <a:solidFill>
            <a:srgbClr val="2E4A8C"/>
          </a:solidFill>
          <a:ln/>
        </p:spPr>
      </p:sp>
      <p:sp>
        <p:nvSpPr>
          <p:cNvPr id="29" name="bullet"/>
          <p:cNvSpPr txBox="1"/>
          <p:nvPr/>
        </p:nvSpPr>
        <p:spPr>
          <a:xfrm>
            <a:off x="1143000" y="1389888"/>
            <a:ext cx="4389120"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Geometric sequences have multiply or divide rules. For 3, 6, 12, 24 the rule is 'multiply the previous term by 2'.</a:t>
            </a:r>
            <a:endParaRPr lang="en-US" sz="2200" dirty="0"/>
          </a:p>
        </p:txBody>
      </p:sp>
      <p:sp>
        <p:nvSpPr>
          <p:cNvPr id="30" name="bullet-card"/>
          <p:cNvSpPr/>
          <p:nvPr/>
        </p:nvSpPr>
        <p:spPr>
          <a:xfrm>
            <a:off x="548640" y="3121829"/>
            <a:ext cx="5074920" cy="903901"/>
          </a:xfrm>
          <a:prstGeom prst="roundRect">
            <a:avLst>
              <a:gd name="adj" fmla="val 8093"/>
            </a:avLst>
          </a:prstGeom>
          <a:solidFill>
            <a:srgbClr val="F5F6F9"/>
          </a:solidFill>
          <a:ln/>
        </p:spPr>
      </p:sp>
      <p:sp>
        <p:nvSpPr>
          <p:cNvPr id="31" name="bullet-hex"/>
          <p:cNvSpPr/>
          <p:nvPr/>
        </p:nvSpPr>
        <p:spPr>
          <a:xfrm>
            <a:off x="676656" y="3407487"/>
            <a:ext cx="384048" cy="332586"/>
          </a:xfrm>
          <a:prstGeom prst="hexagon">
            <a:avLst/>
          </a:prstGeom>
          <a:solidFill>
            <a:srgbClr val="B8862B"/>
          </a:solidFill>
          <a:ln/>
        </p:spPr>
      </p:sp>
      <p:sp>
        <p:nvSpPr>
          <p:cNvPr id="32" name="bullet"/>
          <p:cNvSpPr txBox="1"/>
          <p:nvPr/>
        </p:nvSpPr>
        <p:spPr>
          <a:xfrm>
            <a:off x="1143000" y="3121829"/>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multiply rule, divide a term by the one before it.</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 careful: 3, 6, 9, 12 and 3, 6, 12, 24 both start with 3, 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a rule to write a sequence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each term down before you work out the next. Do not try to hold them in your head.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first term of a sequence is 4. The term-to-term rule is multiply the previous term by 3. Write the first 4 terms.</a:t>
            </a:r>
            <a:endParaRPr lang="en-US" sz="1800" dirty="0"/>
          </a:p>
        </p:txBody>
      </p:sp>
      <p:sp>
        <p:nvSpPr>
          <p:cNvPr id="14" name="step-box"/>
          <p:cNvSpPr/>
          <p:nvPr/>
        </p:nvSpPr>
        <p:spPr>
          <a:xfrm>
            <a:off x="6126480" y="3167380"/>
            <a:ext cx="5379415" cy="496570"/>
          </a:xfrm>
          <a:prstGeom prst="roundRect">
            <a:avLst>
              <a:gd name="adj" fmla="val 18414"/>
            </a:avLst>
          </a:prstGeom>
          <a:solidFill>
            <a:srgbClr val="F0F2F7"/>
          </a:solidFill>
          <a:ln/>
        </p:spPr>
      </p:sp>
      <p:sp>
        <p:nvSpPr>
          <p:cNvPr id="15" name="step-hex"/>
          <p:cNvSpPr/>
          <p:nvPr/>
        </p:nvSpPr>
        <p:spPr>
          <a:xfrm>
            <a:off x="6217920" y="3233535"/>
            <a:ext cx="420624" cy="364260"/>
          </a:xfrm>
          <a:prstGeom prst="hexagon">
            <a:avLst/>
          </a:prstGeom>
          <a:solidFill>
            <a:srgbClr val="2E4A8C"/>
          </a:solidFill>
          <a:ln/>
        </p:spPr>
      </p:sp>
      <p:sp>
        <p:nvSpPr>
          <p:cNvPr id="16" name="step-hex-label"/>
          <p:cNvSpPr txBox="1"/>
          <p:nvPr/>
        </p:nvSpPr>
        <p:spPr>
          <a:xfrm>
            <a:off x="6217920" y="323353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1st term: 4.</a:t>
            </a:r>
            <a:endParaRPr lang="en-US" sz="1800" dirty="0"/>
          </a:p>
        </p:txBody>
      </p:sp>
      <p:sp>
        <p:nvSpPr>
          <p:cNvPr id="18" name="step-box"/>
          <p:cNvSpPr/>
          <p:nvPr/>
        </p:nvSpPr>
        <p:spPr>
          <a:xfrm>
            <a:off x="6126480" y="3755390"/>
            <a:ext cx="5379415" cy="496570"/>
          </a:xfrm>
          <a:prstGeom prst="roundRect">
            <a:avLst>
              <a:gd name="adj" fmla="val 18414"/>
            </a:avLst>
          </a:prstGeom>
          <a:solidFill>
            <a:srgbClr val="F0F2F7"/>
          </a:solidFill>
          <a:ln/>
        </p:spPr>
      </p:sp>
      <p:sp>
        <p:nvSpPr>
          <p:cNvPr id="19" name="step-hex"/>
          <p:cNvSpPr/>
          <p:nvPr/>
        </p:nvSpPr>
        <p:spPr>
          <a:xfrm>
            <a:off x="6217920" y="3821545"/>
            <a:ext cx="420624" cy="364260"/>
          </a:xfrm>
          <a:prstGeom prst="hexagon">
            <a:avLst/>
          </a:prstGeom>
          <a:solidFill>
            <a:srgbClr val="2E4A8C"/>
          </a:solidFill>
          <a:ln/>
        </p:spPr>
      </p:sp>
      <p:sp>
        <p:nvSpPr>
          <p:cNvPr id="20" name="step-hex-label"/>
          <p:cNvSpPr txBox="1"/>
          <p:nvPr/>
        </p:nvSpPr>
        <p:spPr>
          <a:xfrm>
            <a:off x="6217920" y="382154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5539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2nd term: 4 × 3 = 12.</a:t>
            </a:r>
            <a:endParaRPr lang="en-US" sz="1800" dirty="0"/>
          </a:p>
        </p:txBody>
      </p:sp>
      <p:sp>
        <p:nvSpPr>
          <p:cNvPr id="22" name="step-box"/>
          <p:cNvSpPr/>
          <p:nvPr/>
        </p:nvSpPr>
        <p:spPr>
          <a:xfrm>
            <a:off x="6126480" y="4343400"/>
            <a:ext cx="5379415" cy="496570"/>
          </a:xfrm>
          <a:prstGeom prst="roundRect">
            <a:avLst>
              <a:gd name="adj" fmla="val 18414"/>
            </a:avLst>
          </a:prstGeom>
          <a:solidFill>
            <a:srgbClr val="F0F2F7"/>
          </a:solidFill>
          <a:ln/>
        </p:spPr>
      </p:sp>
      <p:sp>
        <p:nvSpPr>
          <p:cNvPr id="23" name="step-hex"/>
          <p:cNvSpPr/>
          <p:nvPr/>
        </p:nvSpPr>
        <p:spPr>
          <a:xfrm>
            <a:off x="6217920" y="4409555"/>
            <a:ext cx="420624" cy="364260"/>
          </a:xfrm>
          <a:prstGeom prst="hexagon">
            <a:avLst/>
          </a:prstGeom>
          <a:solidFill>
            <a:srgbClr val="2E4A8C"/>
          </a:solidFill>
          <a:ln/>
        </p:spPr>
      </p:sp>
      <p:sp>
        <p:nvSpPr>
          <p:cNvPr id="24" name="step-hex-label"/>
          <p:cNvSpPr txBox="1"/>
          <p:nvPr/>
        </p:nvSpPr>
        <p:spPr>
          <a:xfrm>
            <a:off x="6217920" y="440955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4340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3rd term: 12 × 3 = 36.</a:t>
            </a:r>
            <a:endParaRPr lang="en-US" sz="1800" dirty="0"/>
          </a:p>
        </p:txBody>
      </p:sp>
      <p:sp>
        <p:nvSpPr>
          <p:cNvPr id="26" name="step-box"/>
          <p:cNvSpPr/>
          <p:nvPr/>
        </p:nvSpPr>
        <p:spPr>
          <a:xfrm>
            <a:off x="6126480" y="4931410"/>
            <a:ext cx="5379415" cy="496570"/>
          </a:xfrm>
          <a:prstGeom prst="roundRect">
            <a:avLst>
              <a:gd name="adj" fmla="val 18414"/>
            </a:avLst>
          </a:prstGeom>
          <a:solidFill>
            <a:srgbClr val="F0F2F7"/>
          </a:solidFill>
          <a:ln/>
        </p:spPr>
      </p:sp>
      <p:sp>
        <p:nvSpPr>
          <p:cNvPr id="27" name="step-hex"/>
          <p:cNvSpPr/>
          <p:nvPr/>
        </p:nvSpPr>
        <p:spPr>
          <a:xfrm>
            <a:off x="6217920" y="4997565"/>
            <a:ext cx="420624" cy="364260"/>
          </a:xfrm>
          <a:prstGeom prst="hexagon">
            <a:avLst/>
          </a:prstGeom>
          <a:solidFill>
            <a:srgbClr val="2E4A8C"/>
          </a:solidFill>
          <a:ln/>
        </p:spPr>
      </p:sp>
      <p:sp>
        <p:nvSpPr>
          <p:cNvPr id="28" name="step-hex-label"/>
          <p:cNvSpPr txBox="1"/>
          <p:nvPr/>
        </p:nvSpPr>
        <p:spPr>
          <a:xfrm>
            <a:off x="6217920" y="499756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3141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4th term: 36 × 3 = 108.</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4, 12, 36, 108</a:t>
            </a:r>
            <a:endParaRPr lang="en-US" sz="1800" dirty="0"/>
          </a:p>
        </p:txBody>
      </p:sp>
      <p:sp>
        <p:nvSpPr>
          <p:cNvPr id="31" name="bullet-card"/>
          <p:cNvSpPr/>
          <p:nvPr/>
        </p:nvSpPr>
        <p:spPr>
          <a:xfrm>
            <a:off x="548640" y="1389888"/>
            <a:ext cx="5074920" cy="1265428"/>
          </a:xfrm>
          <a:prstGeom prst="roundRect">
            <a:avLst>
              <a:gd name="adj" fmla="val 5781"/>
            </a:avLst>
          </a:prstGeom>
          <a:solidFill>
            <a:srgbClr val="F5F6F9"/>
          </a:solidFill>
          <a:ln/>
        </p:spPr>
      </p:sp>
      <p:sp>
        <p:nvSpPr>
          <p:cNvPr id="32" name="bullet-hex"/>
          <p:cNvSpPr/>
          <p:nvPr/>
        </p:nvSpPr>
        <p:spPr>
          <a:xfrm>
            <a:off x="676656" y="1856309"/>
            <a:ext cx="384048" cy="332586"/>
          </a:xfrm>
          <a:prstGeom prst="hexagon">
            <a:avLst/>
          </a:prstGeom>
          <a:solidFill>
            <a:srgbClr val="2E4A8C"/>
          </a:solidFill>
          <a:ln/>
        </p:spPr>
      </p:sp>
      <p:sp>
        <p:nvSpPr>
          <p:cNvPr id="33" name="bullet"/>
          <p:cNvSpPr txBox="1"/>
          <p:nvPr/>
        </p:nvSpPr>
        <p:spPr>
          <a:xfrm>
            <a:off x="1143000" y="1389888"/>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first term and the term-to-term rule, you can write the whole sequence.</a:t>
            </a:r>
            <a:endParaRPr lang="en-US" sz="2200" dirty="0"/>
          </a:p>
        </p:txBody>
      </p:sp>
      <p:sp>
        <p:nvSpPr>
          <p:cNvPr id="34" name="bullet-card"/>
          <p:cNvSpPr/>
          <p:nvPr/>
        </p:nvSpPr>
        <p:spPr>
          <a:xfrm>
            <a:off x="548640" y="2801620"/>
            <a:ext cx="5074920" cy="924560"/>
          </a:xfrm>
          <a:prstGeom prst="roundRect">
            <a:avLst>
              <a:gd name="adj" fmla="val 7912"/>
            </a:avLst>
          </a:prstGeom>
          <a:solidFill>
            <a:srgbClr val="F5F6F9"/>
          </a:solidFill>
          <a:ln/>
        </p:spPr>
      </p:sp>
      <p:sp>
        <p:nvSpPr>
          <p:cNvPr id="35" name="bullet-hex"/>
          <p:cNvSpPr/>
          <p:nvPr/>
        </p:nvSpPr>
        <p:spPr>
          <a:xfrm>
            <a:off x="676656" y="3097607"/>
            <a:ext cx="384048" cy="332586"/>
          </a:xfrm>
          <a:prstGeom prst="hexagon">
            <a:avLst/>
          </a:prstGeom>
          <a:solidFill>
            <a:srgbClr val="B8862B"/>
          </a:solidFill>
          <a:ln/>
        </p:spPr>
      </p:sp>
      <p:sp>
        <p:nvSpPr>
          <p:cNvPr id="36" name="bullet"/>
          <p:cNvSpPr txBox="1"/>
          <p:nvPr/>
        </p:nvSpPr>
        <p:spPr>
          <a:xfrm>
            <a:off x="1143000" y="2801620"/>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 term 7, rule add 6 to the previous term: 7, 13, 19, 25, 31.</a:t>
            </a:r>
            <a:endParaRPr lang="en-US" sz="2200" dirty="0"/>
          </a:p>
        </p:txBody>
      </p:sp>
      <p:sp>
        <p:nvSpPr>
          <p:cNvPr id="37" name="bullet-card"/>
          <p:cNvSpPr/>
          <p:nvPr/>
        </p:nvSpPr>
        <p:spPr>
          <a:xfrm>
            <a:off x="548640" y="3872484"/>
            <a:ext cx="5074920" cy="924560"/>
          </a:xfrm>
          <a:prstGeom prst="roundRect">
            <a:avLst>
              <a:gd name="adj" fmla="val 7912"/>
            </a:avLst>
          </a:prstGeom>
          <a:solidFill>
            <a:srgbClr val="F5F6F9"/>
          </a:solidFill>
          <a:ln/>
        </p:spPr>
      </p:sp>
      <p:sp>
        <p:nvSpPr>
          <p:cNvPr id="38" name="bullet-hex"/>
          <p:cNvSpPr/>
          <p:nvPr/>
        </p:nvSpPr>
        <p:spPr>
          <a:xfrm>
            <a:off x="676656" y="4168471"/>
            <a:ext cx="384048" cy="332586"/>
          </a:xfrm>
          <a:prstGeom prst="hexagon">
            <a:avLst/>
          </a:prstGeom>
          <a:solidFill>
            <a:srgbClr val="2E4A8C"/>
          </a:solidFill>
          <a:ln/>
        </p:spPr>
      </p:sp>
      <p:sp>
        <p:nvSpPr>
          <p:cNvPr id="39" name="bullet"/>
          <p:cNvSpPr txBox="1"/>
          <p:nvPr/>
        </p:nvSpPr>
        <p:spPr>
          <a:xfrm>
            <a:off x="1143000" y="3872484"/>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same rule with a different first term gives a different sequence.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Two-step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Two-step rule: do the first step, write it down, then do the second step.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first term is 2. The term-to-term rule is multiply the previous term by 2 and then add 3. Write the first four terms.</a:t>
            </a:r>
            <a:endParaRPr lang="en-US" sz="1800" dirty="0"/>
          </a:p>
        </p:txBody>
      </p:sp>
      <p:sp>
        <p:nvSpPr>
          <p:cNvPr id="14" name="step-box"/>
          <p:cNvSpPr/>
          <p:nvPr/>
        </p:nvSpPr>
        <p:spPr>
          <a:xfrm>
            <a:off x="6126480" y="3167380"/>
            <a:ext cx="5379415" cy="496570"/>
          </a:xfrm>
          <a:prstGeom prst="roundRect">
            <a:avLst>
              <a:gd name="adj" fmla="val 18414"/>
            </a:avLst>
          </a:prstGeom>
          <a:solidFill>
            <a:srgbClr val="F0F2F7"/>
          </a:solidFill>
          <a:ln/>
        </p:spPr>
      </p:sp>
      <p:sp>
        <p:nvSpPr>
          <p:cNvPr id="15" name="step-hex"/>
          <p:cNvSpPr/>
          <p:nvPr/>
        </p:nvSpPr>
        <p:spPr>
          <a:xfrm>
            <a:off x="6217920" y="3233535"/>
            <a:ext cx="420624" cy="364260"/>
          </a:xfrm>
          <a:prstGeom prst="hexagon">
            <a:avLst/>
          </a:prstGeom>
          <a:solidFill>
            <a:srgbClr val="2E4A8C"/>
          </a:solidFill>
          <a:ln/>
        </p:spPr>
      </p:sp>
      <p:sp>
        <p:nvSpPr>
          <p:cNvPr id="16" name="step-hex-label"/>
          <p:cNvSpPr txBox="1"/>
          <p:nvPr/>
        </p:nvSpPr>
        <p:spPr>
          <a:xfrm>
            <a:off x="6217920" y="323353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1st term: 2.</a:t>
            </a:r>
            <a:endParaRPr lang="en-US" sz="1800" dirty="0"/>
          </a:p>
        </p:txBody>
      </p:sp>
      <p:sp>
        <p:nvSpPr>
          <p:cNvPr id="18" name="step-box"/>
          <p:cNvSpPr/>
          <p:nvPr/>
        </p:nvSpPr>
        <p:spPr>
          <a:xfrm>
            <a:off x="6126480" y="3755390"/>
            <a:ext cx="5379415" cy="496570"/>
          </a:xfrm>
          <a:prstGeom prst="roundRect">
            <a:avLst>
              <a:gd name="adj" fmla="val 18414"/>
            </a:avLst>
          </a:prstGeom>
          <a:solidFill>
            <a:srgbClr val="F0F2F7"/>
          </a:solidFill>
          <a:ln/>
        </p:spPr>
      </p:sp>
      <p:sp>
        <p:nvSpPr>
          <p:cNvPr id="19" name="step-hex"/>
          <p:cNvSpPr/>
          <p:nvPr/>
        </p:nvSpPr>
        <p:spPr>
          <a:xfrm>
            <a:off x="6217920" y="3821545"/>
            <a:ext cx="420624" cy="364260"/>
          </a:xfrm>
          <a:prstGeom prst="hexagon">
            <a:avLst/>
          </a:prstGeom>
          <a:solidFill>
            <a:srgbClr val="2E4A8C"/>
          </a:solidFill>
          <a:ln/>
        </p:spPr>
      </p:sp>
      <p:sp>
        <p:nvSpPr>
          <p:cNvPr id="20" name="step-hex-label"/>
          <p:cNvSpPr txBox="1"/>
          <p:nvPr/>
        </p:nvSpPr>
        <p:spPr>
          <a:xfrm>
            <a:off x="6217920" y="382154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5539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2nd term: 2 × 2 = 4, then 4 + 3 = 7.</a:t>
            </a:r>
            <a:endParaRPr lang="en-US" sz="1800" dirty="0"/>
          </a:p>
        </p:txBody>
      </p:sp>
      <p:sp>
        <p:nvSpPr>
          <p:cNvPr id="22" name="step-box"/>
          <p:cNvSpPr/>
          <p:nvPr/>
        </p:nvSpPr>
        <p:spPr>
          <a:xfrm>
            <a:off x="6126480" y="4343400"/>
            <a:ext cx="5379415" cy="496570"/>
          </a:xfrm>
          <a:prstGeom prst="roundRect">
            <a:avLst>
              <a:gd name="adj" fmla="val 18414"/>
            </a:avLst>
          </a:prstGeom>
          <a:solidFill>
            <a:srgbClr val="F0F2F7"/>
          </a:solidFill>
          <a:ln/>
        </p:spPr>
      </p:sp>
      <p:sp>
        <p:nvSpPr>
          <p:cNvPr id="23" name="step-hex"/>
          <p:cNvSpPr/>
          <p:nvPr/>
        </p:nvSpPr>
        <p:spPr>
          <a:xfrm>
            <a:off x="6217920" y="4409555"/>
            <a:ext cx="420624" cy="364260"/>
          </a:xfrm>
          <a:prstGeom prst="hexagon">
            <a:avLst/>
          </a:prstGeom>
          <a:solidFill>
            <a:srgbClr val="2E4A8C"/>
          </a:solidFill>
          <a:ln/>
        </p:spPr>
      </p:sp>
      <p:sp>
        <p:nvSpPr>
          <p:cNvPr id="24" name="step-hex-label"/>
          <p:cNvSpPr txBox="1"/>
          <p:nvPr/>
        </p:nvSpPr>
        <p:spPr>
          <a:xfrm>
            <a:off x="6217920" y="440955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4340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3rd term: 7 × 2 = 14, then 14 + 3 = 17.</a:t>
            </a:r>
            <a:endParaRPr lang="en-US" sz="1800" dirty="0"/>
          </a:p>
        </p:txBody>
      </p:sp>
      <p:sp>
        <p:nvSpPr>
          <p:cNvPr id="26" name="step-box"/>
          <p:cNvSpPr/>
          <p:nvPr/>
        </p:nvSpPr>
        <p:spPr>
          <a:xfrm>
            <a:off x="6126480" y="4931410"/>
            <a:ext cx="5379415" cy="496570"/>
          </a:xfrm>
          <a:prstGeom prst="roundRect">
            <a:avLst>
              <a:gd name="adj" fmla="val 18414"/>
            </a:avLst>
          </a:prstGeom>
          <a:solidFill>
            <a:srgbClr val="F0F2F7"/>
          </a:solidFill>
          <a:ln/>
        </p:spPr>
      </p:sp>
      <p:sp>
        <p:nvSpPr>
          <p:cNvPr id="27" name="step-hex"/>
          <p:cNvSpPr/>
          <p:nvPr/>
        </p:nvSpPr>
        <p:spPr>
          <a:xfrm>
            <a:off x="6217920" y="4997565"/>
            <a:ext cx="420624" cy="364260"/>
          </a:xfrm>
          <a:prstGeom prst="hexagon">
            <a:avLst/>
          </a:prstGeom>
          <a:solidFill>
            <a:srgbClr val="2E4A8C"/>
          </a:solidFill>
          <a:ln/>
        </p:spPr>
      </p:sp>
      <p:sp>
        <p:nvSpPr>
          <p:cNvPr id="28" name="step-hex-label"/>
          <p:cNvSpPr txBox="1"/>
          <p:nvPr/>
        </p:nvSpPr>
        <p:spPr>
          <a:xfrm>
            <a:off x="6217920" y="499756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3141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4th term: 17 × 2 = 34, then 34 + 3 = 37.</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2, 7, 17, 37</a:t>
            </a:r>
            <a:endParaRPr lang="en-US" sz="1800" dirty="0"/>
          </a:p>
        </p:txBody>
      </p:sp>
      <p:sp>
        <p:nvSpPr>
          <p:cNvPr id="31" name="bullet-card"/>
          <p:cNvSpPr/>
          <p:nvPr/>
        </p:nvSpPr>
        <p:spPr>
          <a:xfrm>
            <a:off x="548640" y="1389888"/>
            <a:ext cx="5074920" cy="1358392"/>
          </a:xfrm>
          <a:prstGeom prst="roundRect">
            <a:avLst>
              <a:gd name="adj" fmla="val 5385"/>
            </a:avLst>
          </a:prstGeom>
          <a:solidFill>
            <a:srgbClr val="F5F6F9"/>
          </a:solidFill>
          <a:ln/>
        </p:spPr>
      </p:sp>
      <p:sp>
        <p:nvSpPr>
          <p:cNvPr id="32" name="bullet-hex"/>
          <p:cNvSpPr/>
          <p:nvPr/>
        </p:nvSpPr>
        <p:spPr>
          <a:xfrm>
            <a:off x="676656" y="1902791"/>
            <a:ext cx="384048" cy="332586"/>
          </a:xfrm>
          <a:prstGeom prst="hexagon">
            <a:avLst/>
          </a:prstGeom>
          <a:solidFill>
            <a:srgbClr val="2E4A8C"/>
          </a:solidFill>
          <a:ln/>
        </p:spPr>
      </p:sp>
      <p:sp>
        <p:nvSpPr>
          <p:cNvPr id="33"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rule can have two steps. For example: multiply the previous term by 2 and then add 3.</a:t>
            </a:r>
            <a:endParaRPr lang="en-US" sz="2200" dirty="0"/>
          </a:p>
        </p:txBody>
      </p:sp>
      <p:sp>
        <p:nvSpPr>
          <p:cNvPr id="34" name="bullet-card"/>
          <p:cNvSpPr/>
          <p:nvPr/>
        </p:nvSpPr>
        <p:spPr>
          <a:xfrm>
            <a:off x="548640" y="2894584"/>
            <a:ext cx="5074920" cy="1017524"/>
          </a:xfrm>
          <a:prstGeom prst="roundRect">
            <a:avLst>
              <a:gd name="adj" fmla="val 7189"/>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 term 1, rule multiply by 2 then add 3: 1 × 2 = 2, 2 + 3 = 5.</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order matters. 'Add 3 then multiply by 2' from 1 gives 8, not 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sequence to its term-to-term rule.</a:t>
            </a:r>
            <a:endParaRPr lang="en-US" sz="2400" dirty="0"/>
          </a:p>
        </p:txBody>
      </p:sp>
      <p:sp>
        <p:nvSpPr>
          <p:cNvPr id="11" name="match-card"/>
          <p:cNvSpPr/>
          <p:nvPr/>
        </p:nvSpPr>
        <p:spPr>
          <a:xfrm>
            <a:off x="777240" y="2468331"/>
            <a:ext cx="3586857" cy="804809"/>
          </a:xfrm>
          <a:prstGeom prst="roundRect">
            <a:avLst>
              <a:gd name="adj" fmla="val 9089"/>
            </a:avLst>
          </a:prstGeom>
          <a:solidFill>
            <a:srgbClr val="F5F6F9"/>
          </a:solidFill>
          <a:ln/>
        </p:spPr>
      </p:sp>
      <p:sp>
        <p:nvSpPr>
          <p:cNvPr id="12" name="match-hex"/>
          <p:cNvSpPr/>
          <p:nvPr/>
        </p:nvSpPr>
        <p:spPr>
          <a:xfrm>
            <a:off x="850392" y="2704443"/>
            <a:ext cx="384048" cy="332586"/>
          </a:xfrm>
          <a:prstGeom prst="hexagon">
            <a:avLst/>
          </a:prstGeom>
          <a:solidFill>
            <a:srgbClr val="2E4A8C"/>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9, 13, 17, 21</a:t>
            </a:r>
            <a:endParaRPr lang="en-US" sz="2200" dirty="0"/>
          </a:p>
        </p:txBody>
      </p:sp>
      <p:sp>
        <p:nvSpPr>
          <p:cNvPr id="15" name="match-card"/>
          <p:cNvSpPr/>
          <p:nvPr/>
        </p:nvSpPr>
        <p:spPr>
          <a:xfrm>
            <a:off x="4729857" y="2468331"/>
            <a:ext cx="6684598" cy="804809"/>
          </a:xfrm>
          <a:prstGeom prst="roundRect">
            <a:avLst>
              <a:gd name="adj" fmla="val 9089"/>
            </a:avLst>
          </a:prstGeom>
          <a:solidFill>
            <a:srgbClr val="F9F4EC"/>
          </a:solidFill>
          <a:ln/>
        </p:spPr>
      </p:sp>
      <p:sp>
        <p:nvSpPr>
          <p:cNvPr id="16" name="match-hex"/>
          <p:cNvSpPr/>
          <p:nvPr/>
        </p:nvSpPr>
        <p:spPr>
          <a:xfrm>
            <a:off x="4803009" y="2704443"/>
            <a:ext cx="384048" cy="332586"/>
          </a:xfrm>
          <a:prstGeom prst="hexagon">
            <a:avLst/>
          </a:prstGeom>
          <a:solidFill>
            <a:srgbClr val="B8862B"/>
          </a:solidFill>
          <a:ln/>
        </p:spPr>
      </p:sp>
      <p:sp>
        <p:nvSpPr>
          <p:cNvPr id="17" name="match-hex-label"/>
          <p:cNvSpPr txBox="1"/>
          <p:nvPr/>
        </p:nvSpPr>
        <p:spPr>
          <a:xfrm>
            <a:off x="480300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251065" y="2468331"/>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the previous term by 2</a:t>
            </a:r>
            <a:endParaRPr lang="en-US" sz="2200" dirty="0"/>
          </a:p>
        </p:txBody>
      </p:sp>
      <p:sp>
        <p:nvSpPr>
          <p:cNvPr id="19" name="match-card"/>
          <p:cNvSpPr/>
          <p:nvPr/>
        </p:nvSpPr>
        <p:spPr>
          <a:xfrm>
            <a:off x="777240" y="3364581"/>
            <a:ext cx="3586857" cy="804809"/>
          </a:xfrm>
          <a:prstGeom prst="roundRect">
            <a:avLst>
              <a:gd name="adj" fmla="val 9089"/>
            </a:avLst>
          </a:prstGeom>
          <a:solidFill>
            <a:srgbClr val="F5F6F9"/>
          </a:solidFill>
          <a:ln/>
        </p:spPr>
      </p:sp>
      <p:sp>
        <p:nvSpPr>
          <p:cNvPr id="20" name="match-hex"/>
          <p:cNvSpPr/>
          <p:nvPr/>
        </p:nvSpPr>
        <p:spPr>
          <a:xfrm>
            <a:off x="850392" y="3600692"/>
            <a:ext cx="384048" cy="332586"/>
          </a:xfrm>
          <a:prstGeom prst="hexagon">
            <a:avLst/>
          </a:prstGeom>
          <a:solidFill>
            <a:srgbClr val="2E4A8C"/>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80, 40, 20, 10</a:t>
            </a:r>
            <a:endParaRPr lang="en-US" sz="2200" dirty="0"/>
          </a:p>
        </p:txBody>
      </p:sp>
      <p:sp>
        <p:nvSpPr>
          <p:cNvPr id="23" name="match-card"/>
          <p:cNvSpPr/>
          <p:nvPr/>
        </p:nvSpPr>
        <p:spPr>
          <a:xfrm>
            <a:off x="4729857" y="3364581"/>
            <a:ext cx="6684598" cy="804809"/>
          </a:xfrm>
          <a:prstGeom prst="roundRect">
            <a:avLst>
              <a:gd name="adj" fmla="val 9089"/>
            </a:avLst>
          </a:prstGeom>
          <a:solidFill>
            <a:srgbClr val="F9F4EC"/>
          </a:solidFill>
          <a:ln/>
        </p:spPr>
      </p:sp>
      <p:sp>
        <p:nvSpPr>
          <p:cNvPr id="24" name="match-hex"/>
          <p:cNvSpPr/>
          <p:nvPr/>
        </p:nvSpPr>
        <p:spPr>
          <a:xfrm>
            <a:off x="4803009" y="3600692"/>
            <a:ext cx="384048" cy="332586"/>
          </a:xfrm>
          <a:prstGeom prst="hexagon">
            <a:avLst/>
          </a:prstGeom>
          <a:solidFill>
            <a:srgbClr val="B8862B"/>
          </a:solidFill>
          <a:ln/>
        </p:spPr>
      </p:sp>
      <p:sp>
        <p:nvSpPr>
          <p:cNvPr id="25" name="match-hex-label"/>
          <p:cNvSpPr txBox="1"/>
          <p:nvPr/>
        </p:nvSpPr>
        <p:spPr>
          <a:xfrm>
            <a:off x="480300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251065" y="3364581"/>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Subtract 4 from the previous term</a:t>
            </a:r>
            <a:endParaRPr lang="en-US" sz="2200" dirty="0"/>
          </a:p>
        </p:txBody>
      </p:sp>
      <p:sp>
        <p:nvSpPr>
          <p:cNvPr id="27" name="match-card"/>
          <p:cNvSpPr/>
          <p:nvPr/>
        </p:nvSpPr>
        <p:spPr>
          <a:xfrm>
            <a:off x="777240" y="4260830"/>
            <a:ext cx="3586857" cy="804809"/>
          </a:xfrm>
          <a:prstGeom prst="roundRect">
            <a:avLst>
              <a:gd name="adj" fmla="val 9089"/>
            </a:avLst>
          </a:prstGeom>
          <a:solidFill>
            <a:srgbClr val="F5F6F9"/>
          </a:solidFill>
          <a:ln/>
        </p:spPr>
      </p:sp>
      <p:sp>
        <p:nvSpPr>
          <p:cNvPr id="28" name="match-hex"/>
          <p:cNvSpPr/>
          <p:nvPr/>
        </p:nvSpPr>
        <p:spPr>
          <a:xfrm>
            <a:off x="850392" y="4496941"/>
            <a:ext cx="384048" cy="332586"/>
          </a:xfrm>
          <a:prstGeom prst="hexagon">
            <a:avLst/>
          </a:prstGeom>
          <a:solidFill>
            <a:srgbClr val="2E4A8C"/>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1, 4, 16, 64</a:t>
            </a:r>
            <a:endParaRPr lang="en-US" sz="2200" dirty="0"/>
          </a:p>
        </p:txBody>
      </p:sp>
      <p:sp>
        <p:nvSpPr>
          <p:cNvPr id="31" name="match-card"/>
          <p:cNvSpPr/>
          <p:nvPr/>
        </p:nvSpPr>
        <p:spPr>
          <a:xfrm>
            <a:off x="4729857" y="4260830"/>
            <a:ext cx="6684598" cy="804809"/>
          </a:xfrm>
          <a:prstGeom prst="roundRect">
            <a:avLst>
              <a:gd name="adj" fmla="val 9089"/>
            </a:avLst>
          </a:prstGeom>
          <a:solidFill>
            <a:srgbClr val="F9F4EC"/>
          </a:solidFill>
          <a:ln/>
        </p:spPr>
      </p:sp>
      <p:sp>
        <p:nvSpPr>
          <p:cNvPr id="32" name="match-hex"/>
          <p:cNvSpPr/>
          <p:nvPr/>
        </p:nvSpPr>
        <p:spPr>
          <a:xfrm>
            <a:off x="4803009" y="4496941"/>
            <a:ext cx="384048" cy="332586"/>
          </a:xfrm>
          <a:prstGeom prst="hexagon">
            <a:avLst/>
          </a:prstGeom>
          <a:solidFill>
            <a:srgbClr val="B8862B"/>
          </a:solidFill>
          <a:ln/>
        </p:spPr>
      </p:sp>
      <p:sp>
        <p:nvSpPr>
          <p:cNvPr id="33" name="match-hex-label"/>
          <p:cNvSpPr txBox="1"/>
          <p:nvPr/>
        </p:nvSpPr>
        <p:spPr>
          <a:xfrm>
            <a:off x="480300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251065" y="4260830"/>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Add 4 to the previous term</a:t>
            </a:r>
            <a:endParaRPr lang="en-US" sz="2200" dirty="0"/>
          </a:p>
        </p:txBody>
      </p:sp>
      <p:sp>
        <p:nvSpPr>
          <p:cNvPr id="35" name="match-card"/>
          <p:cNvSpPr/>
          <p:nvPr/>
        </p:nvSpPr>
        <p:spPr>
          <a:xfrm>
            <a:off x="777240" y="5157079"/>
            <a:ext cx="3586857" cy="804809"/>
          </a:xfrm>
          <a:prstGeom prst="roundRect">
            <a:avLst>
              <a:gd name="adj" fmla="val 9089"/>
            </a:avLst>
          </a:prstGeom>
          <a:solidFill>
            <a:srgbClr val="F5F6F9"/>
          </a:solidFill>
          <a:ln/>
        </p:spPr>
      </p:sp>
      <p:sp>
        <p:nvSpPr>
          <p:cNvPr id="36" name="match-hex"/>
          <p:cNvSpPr/>
          <p:nvPr/>
        </p:nvSpPr>
        <p:spPr>
          <a:xfrm>
            <a:off x="850392" y="5393191"/>
            <a:ext cx="384048" cy="332586"/>
          </a:xfrm>
          <a:prstGeom prst="hexagon">
            <a:avLst/>
          </a:prstGeom>
          <a:solidFill>
            <a:srgbClr val="2E4A8C"/>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30, 26, 22, 18</a:t>
            </a:r>
            <a:endParaRPr lang="en-US" sz="2200" dirty="0"/>
          </a:p>
        </p:txBody>
      </p:sp>
      <p:sp>
        <p:nvSpPr>
          <p:cNvPr id="39" name="match-card"/>
          <p:cNvSpPr/>
          <p:nvPr/>
        </p:nvSpPr>
        <p:spPr>
          <a:xfrm>
            <a:off x="4729857" y="5157079"/>
            <a:ext cx="6684598" cy="804809"/>
          </a:xfrm>
          <a:prstGeom prst="roundRect">
            <a:avLst>
              <a:gd name="adj" fmla="val 9089"/>
            </a:avLst>
          </a:prstGeom>
          <a:solidFill>
            <a:srgbClr val="F9F4EC"/>
          </a:solidFill>
          <a:ln/>
        </p:spPr>
      </p:sp>
      <p:sp>
        <p:nvSpPr>
          <p:cNvPr id="40" name="match-hex"/>
          <p:cNvSpPr/>
          <p:nvPr/>
        </p:nvSpPr>
        <p:spPr>
          <a:xfrm>
            <a:off x="4803009" y="5393191"/>
            <a:ext cx="384048" cy="332586"/>
          </a:xfrm>
          <a:prstGeom prst="hexagon">
            <a:avLst/>
          </a:prstGeom>
          <a:solidFill>
            <a:srgbClr val="B8862B"/>
          </a:solidFill>
          <a:ln/>
        </p:spPr>
      </p:sp>
      <p:sp>
        <p:nvSpPr>
          <p:cNvPr id="41" name="match-hex-label"/>
          <p:cNvSpPr txBox="1"/>
          <p:nvPr/>
        </p:nvSpPr>
        <p:spPr>
          <a:xfrm>
            <a:off x="480300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251065" y="5157079"/>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the previous term by 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sequence to its term-to-term rule.</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if the terms go up or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differences. If they are constant, the rule adds or subtracts that amount.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differences change, divide each term by the one before to find the multiply or divide rule.</a:t>
            </a:r>
            <a:endParaRPr lang="en-US" sz="18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sequences have a constant difference. The other two do not.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a first term for which the rule 'add 4 to the previous term' and the rule 'multiply the previous term by 2' give the same second term. Explain how you found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Use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first term of a sequence is 50. The term-to-term rule is subtract 6 from the previous term. What is the 6th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first term.</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Apply the rule to get the next term, and write it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 going, counting the terms, until you reach the 6th.</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50 is the 1st term. Write each term down and count them.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term of this sequence is the first one below zero? Explain how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first term of a sequence is 3. The term-to-term rule is multiply the previous term by 2 and then add 1. What is the 4th term?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9, 13, 17, 21  →  C  Add 4 to the previous term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80, 40, 20, 10  →  A  Divide the previous term by 2</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 4, 16, 64  →  D  Multiply the previous term by 4</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 26, 22, 18  →  B  Subtract 4 from the previous term</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13, 17, 21 and 30, 26, 22, 18 change by 4 each time, one up and one down. 1, 4, 16, 64 is multiplied by 4 each time, and 80, 40, 20, 10 is divided by 2 each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Use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first term of a sequence is 50. The term-to-term rule is subtract 6 from the previous term. What is the 6th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at 50 and subtract 6 for each new term: 50, 44, 38, 32, 26, 20. The 6th term is 20.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first term of a sequence is 3. The term-to-term rule is multiply the previous term by 2 and then add 1. What is the 4th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Apply the rule three times: 3 × 2 + 1 = 7, 7 × 2 + 1 = 15, 15 × 2 + 1 =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5: Term-to-term rules</dc:title>
  <dc:subject>Mathematics · Year 7</dc:subject>
  <dc:creator>Dr Vitor Merissi de Carvalho</dc:creator>
  <cp:lastModifiedBy>Dr Vitor Merissi de Carvalho</cp:lastModifiedBy>
  <cp:revision>1</cp:revision>
  <dcterms:created xsi:type="dcterms:W3CDTF">2026-10-19T06:08:12Z</dcterms:created>
  <dcterms:modified xsi:type="dcterms:W3CDTF">2026-10-19T06:08:12Z</dcterms:modified>
</cp:coreProperties>
</file>