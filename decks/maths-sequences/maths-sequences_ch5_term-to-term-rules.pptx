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954ce18-96a8-ef54-0890-1f2e9e938ad0}">
          <p14:sldIdLst>
            <p14:sldId id="256"/>
          </p14:sldIdLst>
        </p14:section>
        <p14:section name="Gate" id="{25e98cf3-e764-93f5-7074-af65efe3a724}">
          <p14:sldIdLst>
            <p14:sldId id="257"/>
            <p14:sldId id="258"/>
          </p14:sldIdLst>
        </p14:section>
        <p14:section name="Pre-teach" id="{9f20a9d5-af13-b027-6153-0661fd4ca929}">
          <p14:sldIdLst>
            <p14:sldId id="259"/>
          </p14:sldIdLst>
        </p14:section>
        <p14:section name="Read-along" id="{0dba4c24-b458-661e-a874-51c32ffc8120}">
          <p14:sldIdLst>
            <p14:sldId id="260"/>
            <p14:sldId id="261"/>
          </p14:sldIdLst>
        </p14:section>
        <p14:section name="Teach" id="{012d4c0c-fda1-f24a-3a5b-3c2323c69deb}">
          <p14:sldIdLst>
            <p14:sldId id="262"/>
            <p14:sldId id="263"/>
            <p14:sldId id="264"/>
            <p14:sldId id="265"/>
          </p14:sldIdLst>
        </p14:section>
        <p14:section name="Routes" id="{8efcbe15-aa82-c90a-464d-0648f3ced8a6}">
          <p14:sldIdLst>
            <p14:sldId id="266"/>
            <p14:sldId id="267"/>
            <p14:sldId id="268"/>
          </p14:sldIdLst>
        </p14:section>
        <p14:section name="Close" id="{cdef273f-93c0-398d-a4ad-04270405be89}">
          <p14:sldIdLst>
            <p14:sldId id="269"/>
          </p14:sldIdLst>
        </p14:section>
        <p14:section name="Answers" id="{a037ad17-c41e-1899-6600-a12bf4b346a0}">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6: Term-to-term rules. Describe a rule in a full sentence, tell add rules from multiply rules, and use a rule to build a sequence from its first term.
This deck covers the department's lesson: 5 (Term-to-term rules: How do you describe a term-to-term rule in words, and use it to build a sequence?).
Read the big question aloud: "How can you tell what comes next in a sequence, and how do you know you are right?"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is the term-to-term rule of 8, 14, 20, 26, …?  →  A   Add 6 to the previous term
2. The first term of a sequence is 3. The term-to-term rule is add 7 to the previous term. What is the 4th term?  →  24
3. The term-to-term rule of 5, 15, 45, 135 is ___ the previous term by 3.  →  multiply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Add 6 to the previous term. Each term is 6 more than the previous one: 14 − 8 = 6 and 20 − 14 = 6.
2. 24. Start at 3 and add 7 three times: 3, 10, 17, 24.
3. multiply. 15 ÷ 5 = 3 and 45 ÷ 15 = 3, so each term is 3 times the previous one.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term-to-term rule: how to get from one term to the next. Example: "The term-to-term rule is add 5 to the previous term."
• previous term: the term just before. Example: "Multiply the previous term by 2."
• first term: the term at the start of the sequence. Example: "The first term is 7."
• describe: to say in words. Example: "Describe the rule in a full sentence."
• generate: to make the terms of a sequence from a rule. Example: "Generate the first five terms."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A term-to-term rule tells you how to get from one term to the next.
2. Look at 15, 21, 27, 33.
3. The rule is add 6 to the previous term.
4. Always say what you are adding it to.
5. Add 6 on its own is not a full rule.
6. Look at 29, 24, 19, 14.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The rule is subtract 5 from the previous term.
8. Some rules multiply or divide.
9. In 4, 8, 16, 32 the rule is multiply the previous term by 2.
10. If you know the first term and the rule, you can write the whole sequence.
11. Start at 7 and add 6 each time.
12. You get 7, 13, 19, 25, 31.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Describing the rule in words. Say it in your own words, then check understanding with a quick question: ask a pupil from the pre-teach group first, since they met these words and ideas before the lesson. Pupils try to recall before you re-explain.
A term-to-term rule is a sentence. It says what to do to one term to get the next. For 15, 21, 27, 33 the rule is 'add 6 to the previous term'.
Saying just 'add 6' is not enough. Add 6 to what? The full sentence tells the reader exactly what to do: start with a term, add 6, and you have the next term.
For a descending sequence the rule uses subtract. For 29, 24, 19, 14 the rule is 'subtract 5 from the previous term'. Find the common difference first, then write the sentence.
Worked example — model it step by step, thinking aloud: Describe the term-to-term rule of 51, 44, 37, 30, … (1) Find the common difference: 51 − 44 = 7. Check: 44 − 37 = 7. (2) The terms get smaller, so the rule subtracts. (3) Write it as a full sentence. Answer: Subtract 7 from the previous term..
Tip: A rule is a full sentence: add … to the previous term, or subtract … from the previous 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Multiply and divide rules. Say it in your own words, then check understanding with a quick question: ask a pupil from the pre-teach group first, since they met these words and ideas before the lesson. Pupils try to recall before you re-explain.
Geometric sequences have multiply or divide rules. For 3, 6, 12, 24 the rule is 'multiply the previous term by 2'. For 400, 200, 100, 50 the rule is 'divide the previous term by 2'.
To find a multiply rule, divide a term by the one before it. In 2, 10, 50, 250 you get 10 ÷ 2 = 5 and 50 ÷ 10 = 5. So the rule is multiply the previous term by 5.
Be careful: 3, 6, 9, 12 and 3, 6, 12, 24 both start with 3, 6. The first adds 3 each time; the second multiplies by 2. Always check a third term before you decide.
Worked example — model it step by step, thinking aloud: Describe the term-to-term rule of 2, 10, 50, 250. (1) Is it an add rule? 10 − 2 = 8 but 50 − 10 = 40. No. (2) Try a multiply rule: 10 ÷ 2 = 5 and 50 ÷ 10 = 5. Yes. (3) Write it as a full sentence. Answer: Multiply the previous term by 5..
Tip: If the differences change, try dividing each term by the one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Using a rule to write a sequence. Say it in your own words, then check understanding with a quick question: ask a pupil from the pre-teach group first, since they met these words and ideas before the lesson. Pupils try to recall before you re-explain.
If you know the first term and the term-to-term rule, you can write the whole sequence. Start with the first term. Apply the rule to get the second term. Apply it again to get the third, and so on.
First term 7, rule add 6 to the previous term: 7, 13, 19, 25, 31. First term 5, rule multiply the previous term by 3: 5, 15, 45, 135.
The same rule with a different first term gives a different sequence. Add 6 starting at 2 gives 2, 8, 14, 20. Both the first term and the rule matter.
Worked example — model it step by step, thinking aloud: The first term of a sequence is 4. The term-to-term rule is multiply the previous term by 3. Write the first 4 terms. (1) 1st term: 4. (2) 2nd term: 4 × 3 = 12. (3) 3rd term: 12 × 3 = 36. (4) 4th term: 36 × 3 = 108. Answer: 4, 12, 36, 108.
Tip: Write each term down before you work out the next. Do not try to hold them in your 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Two-step rules. Say it in your own words, then check understanding with a quick question: ask a pupil from the pre-teach group first, since they met these words and ideas before the lesson. Pupils try to recall before you re-explain.
A rule can have two steps. For example: multiply the previous term by 2 and then add 3. Do the steps in the order they are written.
First term 1, rule multiply by 2 then add 3: 1 × 2 = 2, 2 + 3 = 5. So the second term is 5. Then 5 × 2 = 10, 10 + 3 = 13. The sequence is 1, 5, 13, 29.
The order matters. 'Add 3 then multiply by 2' from 1 gives 8, not 5. Read the rule carefully.
Worked example — model it step by step, thinking aloud: The first term is 2. The term-to-term rule is multiply the previous term by 2 and then add 3. Write the first four terms. (1) 1st term: 2. (2) 2nd term: 2 × 2 = 4, then 4 + 3 = 7. (3) 3rd term: 7 × 2 = 14, then 14 + 3 = 17. (4) 4th term: 17 × 2 = 34, then 34 + 3 = 37. Answer: 2, 7, 17, 37.
Tip: Two-step rule: do the first step, write it down, then do the second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Write the rule.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sequence to its term-to-term rule.
Support — work through the steps with the group: (1) Decide if the terms go up or down. (2) Find the differences. If they are constant, the rule adds or subtracts that amount. (3) If the differences change, divide each term by the one before to find the multiply or divide rule.
Parallel worked example for Support (model it, do not give the task answer): Describe the term-to-term rule of 6, 18, 54, 162. The terms go up. The differences are 12, 36, 108: they change.; 18 ÷ 6 = 3 and 54 ÷ 18 = 3.; So the rule multiplies by 3.. Answer: Multiply the previous term by 3..
Core — reveal the hint only on request: Two of the sequences have a constant difference. The other two do not.
Stretch — no help; when finished: Find a first term for which the rule 'add 4 to the previous term' and the rule 'multiply the previous term by 2' give the same second term. Explain how you found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Write the rule.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sequence to its term-to-term rule.
Support — work through the steps with the group: (1) Decide if the terms go up or down. (2) Find the differences. If they are constant, the rule adds or subtracts that amount. (3) If the differences change, divide each term by the one before to find the multiply or divide rule.
Parallel worked example for Support (model it, do not give the task answer): Describe the term-to-term rule of 6, 18, 54, 162. The terms go up. The differences are 12, 36, 108: they change.; 18 ÷ 6 = 3 and 54 ÷ 18 = 3.; So the rule multiplies by 3.. Answer: Multiply the previous term by 3..
Core — reveal the hint only on request: Two of the sequences have a constant difference. The other two do not.
Stretch — no help; when finished: Find a first term for which the rule 'add 4 to the previous term' and the rule 'multiply the previous term by 2' give the same second term. Explain how you found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Use the rule.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The first term of a sequence is 50. The term-to-term rule is subtract 6 from the previous term. What is the 6th term?
Support — work through the steps with the group: (1) Write the first term. (2) Apply the rule to get the next term, and write it down. (3) Keep going, counting the terms, until you reach the 6th.
Parallel worked example for Support (model it, do not give the task answer): The first term is 40. The term-to-term rule is subtract 9 from the previous term. What is the 4th term? 1st term: 40.; 2nd term: 40 − 9 = 31.; 3rd term: 31 − 9 = 22.; 4th term: 22 − 9 = 13.. Answer: 13.
Core — reveal the hint only on request: 50 is the 1st term. Write each term down and count them.
Stretch — no help; when finished: Which term of this sequence is the first one below zero? Explain how you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The first term of a sequence is 3. The term-to-term rule is multiply the previous term by 2 and then add 1. What is the 4th term?
Answer: 31. Apply the rule three times: 3 × 2 + 1 = 7, 7 × 2 + 1 = 15, 15 × 2 + 1 = 31.
Source of this question: module 3 task ("Two-step rule")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Write the rule. Reveal the answer; pupils mark their own work in a different colour, then read the "why" together. Same destination for every lane, so one answer serves the whole class.
Answer: 9, 13, 17, 21  →  C  Add 4 to the previous term; 80, 40, 20, 10  →  A  Divide the previous term by 2; 1, 4, 16, 64  →  D  Multiply the previous term by 4; 30, 26, 22, 18  →  B  Subtract 4 from the previous term
Why: 9, 13, 17, 21 and 30, 26, 22, 18 change by 4 each time, one up and one down. 1, 4, 16, 64 is multiplied by 4 each time, and 80, 40, 20, 10 is divided by 2 each time.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Use the rule. Reveal the answer; pupils mark their own work in a different colour, then read the "why" together. Same destination for every lane, so one answer serves the whole class.
Answer: 20
Why: Start at 50 and subtract 6 for each new term: 50, 44, 38, 32, 26, 20. The 6th term is 20.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31
Why: Apply the rule three times: 3 × 2 + 1 = 7, 7 × 2 + 1 = 15, 15 × 2 + 1 = 31.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Sequences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Sequences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2E4A8C"/>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BE0EB"/>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2E4A8C"/>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2E4A8C"/>
                </a:solidFill>
                <a:latin typeface="Calibri" pitchFamily="34" charset="0"/>
                <a:ea typeface="Calibri" pitchFamily="34" charset="-122"/>
                <a:cs typeface="Calibri" pitchFamily="34" charset="-120"/>
              </a:rPr>
              <a:t>Mathematics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5/6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Sequences · AQA KS3 → 8300</a:t>
            </a:r>
            <a:endParaRPr lang="en-US" sz="1800" dirty="0"/>
          </a:p>
        </p:txBody>
      </p:sp>
      <p:sp>
        <p:nvSpPr>
          <p:cNvPr id="10" name="deck-title"/>
          <p:cNvSpPr txBox="1"/>
          <p:nvPr/>
        </p:nvSpPr>
        <p:spPr>
          <a:xfrm>
            <a:off x="548640" y="2723388"/>
            <a:ext cx="5287975" cy="7874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Term-to-term rules</a:t>
            </a:r>
            <a:endParaRPr lang="en-US" sz="4000" dirty="0"/>
          </a:p>
        </p:txBody>
      </p:sp>
      <p:sp>
        <p:nvSpPr>
          <p:cNvPr id="11" name="lessons-card"/>
          <p:cNvSpPr/>
          <p:nvPr/>
        </p:nvSpPr>
        <p:spPr>
          <a:xfrm>
            <a:off x="548640" y="3739388"/>
            <a:ext cx="5287975" cy="980440"/>
          </a:xfrm>
          <a:prstGeom prst="roundRect">
            <a:avLst>
              <a:gd name="adj" fmla="val 7461"/>
            </a:avLst>
          </a:prstGeom>
          <a:solidFill>
            <a:srgbClr val="F0F2F7"/>
          </a:solidFill>
          <a:ln/>
        </p:spPr>
      </p:sp>
      <p:sp>
        <p:nvSpPr>
          <p:cNvPr id="12" name="lessons"/>
          <p:cNvSpPr txBox="1"/>
          <p:nvPr/>
        </p:nvSpPr>
        <p:spPr>
          <a:xfrm>
            <a:off x="685800" y="38308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2E4A8C"/>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Term-to-term rules</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Mathematics,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0F2F7"/>
          </a:solidFill>
          <a:ln w="12700">
            <a:solidFill>
              <a:srgbClr val="B2BCD4"/>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2E4A8C"/>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How can you tell what comes next in a sequence, and how do you know you are right?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Which is the term-to-term rule of 8, 14, 20, 26, …?</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Add 6 to the previous term</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Multiply the previous term by 2</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Subtract 6 from the previous term</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Add 8 to the previous term</a:t>
            </a:r>
            <a:endParaRPr lang="en-US" sz="1800" dirty="0"/>
          </a:p>
        </p:txBody>
      </p:sp>
      <p:sp>
        <p:nvSpPr>
          <p:cNvPr id="12" name="card"/>
          <p:cNvSpPr/>
          <p:nvPr/>
        </p:nvSpPr>
        <p:spPr>
          <a:xfrm>
            <a:off x="4338218" y="1389888"/>
            <a:ext cx="3515258" cy="4754880"/>
          </a:xfrm>
          <a:prstGeom prst="roundRect">
            <a:avLst>
              <a:gd name="adj" fmla="val 1561"/>
            </a:avLst>
          </a:prstGeom>
          <a:solidFill>
            <a:srgbClr val="F7F8FA"/>
          </a:solidFill>
          <a:ln w="12700">
            <a:solidFill>
              <a:srgbClr val="BCC5DA"/>
            </a:solidFill>
            <a:prstDash val="solid"/>
          </a:ln>
        </p:spPr>
      </p:sp>
      <p:sp>
        <p:nvSpPr>
          <p:cNvPr id="13" name="card-hex"/>
          <p:cNvSpPr/>
          <p:nvPr/>
        </p:nvSpPr>
        <p:spPr>
          <a:xfrm>
            <a:off x="4521098" y="1572768"/>
            <a:ext cx="640080" cy="554309"/>
          </a:xfrm>
          <a:prstGeom prst="hexagon">
            <a:avLst/>
          </a:prstGeom>
          <a:solidFill>
            <a:srgbClr val="2E4A8C"/>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first term of a sequence is 3. The term-to-term rule is add 7 to the previous term. What is the 4th term?</a:t>
            </a:r>
            <a:endParaRPr lang="en-US" sz="2400" dirty="0"/>
          </a:p>
          <a:p>
            <a:pPr algn="l" indent="0" marL="0">
              <a:buNone/>
            </a:pPr>
            <a:r>
              <a:rPr lang="en-US" sz="2400" b="1" dirty="0">
                <a:solidFill>
                  <a:srgbClr val="2E4A8C"/>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a:t>
            </a:r>
            <a:endParaRPr lang="en-US" sz="2400" dirty="0"/>
          </a:p>
        </p:txBody>
      </p:sp>
      <p:sp>
        <p:nvSpPr>
          <p:cNvPr id="17" name="card"/>
          <p:cNvSpPr/>
          <p:nvPr/>
        </p:nvSpPr>
        <p:spPr>
          <a:xfrm>
            <a:off x="8127797" y="1389888"/>
            <a:ext cx="3515258" cy="4754880"/>
          </a:xfrm>
          <a:prstGeom prst="roundRect">
            <a:avLst>
              <a:gd name="adj" fmla="val 1561"/>
            </a:avLst>
          </a:prstGeom>
          <a:solidFill>
            <a:srgbClr val="F7F8FA"/>
          </a:solidFill>
          <a:ln w="12700">
            <a:solidFill>
              <a:srgbClr val="BCC5DA"/>
            </a:solidFill>
            <a:prstDash val="solid"/>
          </a:ln>
        </p:spPr>
      </p:sp>
      <p:sp>
        <p:nvSpPr>
          <p:cNvPr id="18" name="card-hex"/>
          <p:cNvSpPr/>
          <p:nvPr/>
        </p:nvSpPr>
        <p:spPr>
          <a:xfrm>
            <a:off x="8310677" y="1572768"/>
            <a:ext cx="640080" cy="554309"/>
          </a:xfrm>
          <a:prstGeom prst="hexagon">
            <a:avLst/>
          </a:prstGeom>
          <a:solidFill>
            <a:srgbClr val="2E4A8C"/>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term-to-term rule of 5, 15, 45, 135 is ___ the previous term by 3.</a:t>
            </a:r>
            <a:endParaRPr lang="en-US" sz="2400" dirty="0"/>
          </a:p>
          <a:p>
            <a:pPr algn="l" indent="0" marL="0">
              <a:buNone/>
            </a:pPr>
            <a:r>
              <a:rPr lang="en-US" sz="2400" b="1" dirty="0">
                <a:solidFill>
                  <a:srgbClr val="2E4A8C"/>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multiply  ·  add  ·  divide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955040"/>
          </a:xfrm>
          <a:prstGeom prst="roundRect">
            <a:avLst>
              <a:gd name="adj" fmla="val 11489"/>
            </a:avLst>
          </a:prstGeom>
          <a:solidFill>
            <a:srgbClr val="EFE4D0"/>
          </a:solidFill>
          <a:ln w="19050">
            <a:solidFill>
              <a:srgbClr val="B8862B"/>
            </a:solidFill>
            <a:prstDash val="solid"/>
          </a:ln>
        </p:spPr>
      </p:sp>
      <p:sp>
        <p:nvSpPr>
          <p:cNvPr id="12" name="answer"/>
          <p:cNvSpPr txBox="1"/>
          <p:nvPr/>
        </p:nvSpPr>
        <p:spPr>
          <a:xfrm>
            <a:off x="822960"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Add 6 to the previous term</a:t>
            </a:r>
            <a:endParaRPr lang="en-US" sz="2200" dirty="0"/>
          </a:p>
        </p:txBody>
      </p:sp>
      <p:sp>
        <p:nvSpPr>
          <p:cNvPr id="13" name="card-body"/>
          <p:cNvSpPr txBox="1"/>
          <p:nvPr/>
        </p:nvSpPr>
        <p:spPr>
          <a:xfrm>
            <a:off x="731520"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Which is the term-to-term rule of 8, 14, 20, 26, …?</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Each term is 6 more than the previous one: 14 − 8 = 6 and 20 − 14 = 6.</a:t>
            </a:r>
            <a:endParaRPr lang="en-US" sz="2200" dirty="0"/>
          </a:p>
        </p:txBody>
      </p:sp>
      <p:sp>
        <p:nvSpPr>
          <p:cNvPr id="14" name="card"/>
          <p:cNvSpPr/>
          <p:nvPr/>
        </p:nvSpPr>
        <p:spPr>
          <a:xfrm>
            <a:off x="4338218" y="1389888"/>
            <a:ext cx="3515258" cy="4754880"/>
          </a:xfrm>
          <a:prstGeom prst="roundRect">
            <a:avLst>
              <a:gd name="adj" fmla="val 1561"/>
            </a:avLst>
          </a:prstGeom>
          <a:solidFill>
            <a:srgbClr val="F7F8FA"/>
          </a:solidFill>
          <a:ln w="12700">
            <a:solidFill>
              <a:srgbClr val="BCC5DA"/>
            </a:solidFill>
            <a:prstDash val="solid"/>
          </a:ln>
        </p:spPr>
      </p:sp>
      <p:sp>
        <p:nvSpPr>
          <p:cNvPr id="15" name="card-hex"/>
          <p:cNvSpPr/>
          <p:nvPr/>
        </p:nvSpPr>
        <p:spPr>
          <a:xfrm>
            <a:off x="4521098" y="1572768"/>
            <a:ext cx="640080" cy="554309"/>
          </a:xfrm>
          <a:prstGeom prst="hexagon">
            <a:avLst/>
          </a:prstGeom>
          <a:solidFill>
            <a:srgbClr val="2E4A8C"/>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24</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The first term of a sequence is 3. The term-to-term rule is add 7 to the previous term. What is the 4th term?</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Start at 3 and add 7 three times: 3, 10, 17, 24.</a:t>
            </a:r>
            <a:endParaRPr lang="en-US" sz="2200" dirty="0"/>
          </a:p>
        </p:txBody>
      </p:sp>
      <p:sp>
        <p:nvSpPr>
          <p:cNvPr id="21" name="card"/>
          <p:cNvSpPr/>
          <p:nvPr/>
        </p:nvSpPr>
        <p:spPr>
          <a:xfrm>
            <a:off x="8127797" y="1389888"/>
            <a:ext cx="3515258" cy="4754880"/>
          </a:xfrm>
          <a:prstGeom prst="roundRect">
            <a:avLst>
              <a:gd name="adj" fmla="val 1561"/>
            </a:avLst>
          </a:prstGeom>
          <a:solidFill>
            <a:srgbClr val="F7F8FA"/>
          </a:solidFill>
          <a:ln w="12700">
            <a:solidFill>
              <a:srgbClr val="BCC5DA"/>
            </a:solidFill>
            <a:prstDash val="solid"/>
          </a:ln>
        </p:spPr>
      </p:sp>
      <p:sp>
        <p:nvSpPr>
          <p:cNvPr id="22" name="card-hex"/>
          <p:cNvSpPr/>
          <p:nvPr/>
        </p:nvSpPr>
        <p:spPr>
          <a:xfrm>
            <a:off x="8310677" y="1572768"/>
            <a:ext cx="640080" cy="554309"/>
          </a:xfrm>
          <a:prstGeom prst="hexagon">
            <a:avLst/>
          </a:prstGeom>
          <a:solidFill>
            <a:srgbClr val="2E4A8C"/>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multiply</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The term-to-term rule of 5, 15, 45, 135 is ___ the previous term by 3.</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15 ÷ 5 = 3 and 45 ÷ 15 = 3, so each term is 3 times the previous one.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2E4A8C"/>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989178"/>
          </a:xfrm>
          <a:prstGeom prst="roundRect">
            <a:avLst>
              <a:gd name="adj" fmla="val 5546"/>
            </a:avLst>
          </a:prstGeom>
          <a:solidFill>
            <a:srgbClr val="F5F6F9"/>
          </a:solidFill>
          <a:ln/>
        </p:spPr>
      </p:sp>
      <p:sp>
        <p:nvSpPr>
          <p:cNvPr id="12" name="kw-hex"/>
          <p:cNvSpPr/>
          <p:nvPr/>
        </p:nvSpPr>
        <p:spPr>
          <a:xfrm>
            <a:off x="658368" y="2236658"/>
            <a:ext cx="411480" cy="356342"/>
          </a:xfrm>
          <a:prstGeom prst="hexagon">
            <a:avLst/>
          </a:prstGeom>
          <a:solidFill>
            <a:srgbClr val="2E4A8C"/>
          </a:solidFill>
          <a:ln/>
        </p:spPr>
      </p:sp>
      <p:sp>
        <p:nvSpPr>
          <p:cNvPr id="13" name="kw-cell"/>
          <p:cNvSpPr txBox="1"/>
          <p:nvPr/>
        </p:nvSpPr>
        <p:spPr>
          <a:xfrm>
            <a:off x="1143000" y="1920240"/>
            <a:ext cx="2331720" cy="989178"/>
          </a:xfrm>
          <a:prstGeom prst="rect">
            <a:avLst/>
          </a:prstGeom>
          <a:noFill/>
          <a:ln/>
        </p:spPr>
        <p:txBody>
          <a:bodyPr wrap="square" lIns="63500" tIns="63500" rIns="63500" bIns="63500" rtlCol="0" anchor="ctr"/>
          <a:lstStyle/>
          <a:p>
            <a:pPr algn="l" indent="0" marL="0">
              <a:buNone/>
            </a:pPr>
            <a:r>
              <a:rPr lang="en-US" sz="2400" b="1" dirty="0">
                <a:solidFill>
                  <a:srgbClr val="2E4A8C"/>
                </a:solidFill>
                <a:latin typeface="Cambria" pitchFamily="34" charset="0"/>
                <a:ea typeface="Cambria" pitchFamily="34" charset="-122"/>
                <a:cs typeface="Cambria" pitchFamily="34" charset="-120"/>
              </a:rPr>
              <a:t>term-to-term rule</a:t>
            </a:r>
            <a:endParaRPr lang="en-US" sz="2400" dirty="0"/>
          </a:p>
        </p:txBody>
      </p:sp>
      <p:sp>
        <p:nvSpPr>
          <p:cNvPr id="14" name="kw-cell"/>
          <p:cNvSpPr txBox="1"/>
          <p:nvPr/>
        </p:nvSpPr>
        <p:spPr>
          <a:xfrm>
            <a:off x="3657600" y="1920240"/>
            <a:ext cx="3474720" cy="98917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how to get from one term to the next</a:t>
            </a:r>
            <a:endParaRPr lang="en-US" sz="2200" dirty="0"/>
          </a:p>
        </p:txBody>
      </p:sp>
      <p:sp>
        <p:nvSpPr>
          <p:cNvPr id="15" name="kw-cell"/>
          <p:cNvSpPr txBox="1"/>
          <p:nvPr/>
        </p:nvSpPr>
        <p:spPr>
          <a:xfrm>
            <a:off x="7315200" y="1920240"/>
            <a:ext cx="4236415" cy="989178"/>
          </a:xfrm>
          <a:prstGeom prst="rect">
            <a:avLst/>
          </a:prstGeom>
          <a:noFill/>
          <a:ln/>
        </p:spPr>
        <p:txBody>
          <a:bodyPr wrap="square" lIns="63500" tIns="63500" rIns="63500" bIns="63500" rtlCol="0" anchor="ctr"/>
          <a:lstStyle/>
          <a:p>
            <a:pPr algn="l" indent="0" marL="0">
              <a:buNone/>
            </a:pPr>
            <a:r>
              <a:rPr lang="en-US" sz="2200" i="1" dirty="0">
                <a:solidFill>
                  <a:srgbClr val="4A505C"/>
                </a:solidFill>
                <a:latin typeface="Calibri" pitchFamily="34" charset="0"/>
                <a:ea typeface="Calibri" pitchFamily="34" charset="-122"/>
                <a:cs typeface="Calibri" pitchFamily="34" charset="-120"/>
              </a:rPr>
              <a:t>The term-to-term rule is add 5 to the previous term.</a:t>
            </a:r>
            <a:endParaRPr lang="en-US" sz="2200" dirty="0"/>
          </a:p>
        </p:txBody>
      </p:sp>
      <p:sp>
        <p:nvSpPr>
          <p:cNvPr id="16" name="kw-row"/>
          <p:cNvSpPr/>
          <p:nvPr/>
        </p:nvSpPr>
        <p:spPr>
          <a:xfrm>
            <a:off x="548640" y="2982570"/>
            <a:ext cx="11094415" cy="592938"/>
          </a:xfrm>
          <a:prstGeom prst="roundRect">
            <a:avLst>
              <a:gd name="adj" fmla="val 9253"/>
            </a:avLst>
          </a:prstGeom>
          <a:solidFill>
            <a:srgbClr val="F9F4EC"/>
          </a:solidFill>
          <a:ln/>
        </p:spPr>
      </p:sp>
      <p:sp>
        <p:nvSpPr>
          <p:cNvPr id="17" name="kw-hex"/>
          <p:cNvSpPr/>
          <p:nvPr/>
        </p:nvSpPr>
        <p:spPr>
          <a:xfrm>
            <a:off x="658368" y="3100868"/>
            <a:ext cx="411480" cy="356342"/>
          </a:xfrm>
          <a:prstGeom prst="hexagon">
            <a:avLst/>
          </a:prstGeom>
          <a:solidFill>
            <a:srgbClr val="B8862B"/>
          </a:solidFill>
          <a:ln/>
        </p:spPr>
      </p:sp>
      <p:sp>
        <p:nvSpPr>
          <p:cNvPr id="18" name="kw-cell"/>
          <p:cNvSpPr txBox="1"/>
          <p:nvPr/>
        </p:nvSpPr>
        <p:spPr>
          <a:xfrm>
            <a:off x="1143000" y="2982570"/>
            <a:ext cx="2331720" cy="592938"/>
          </a:xfrm>
          <a:prstGeom prst="rect">
            <a:avLst/>
          </a:prstGeom>
          <a:noFill/>
          <a:ln/>
        </p:spPr>
        <p:txBody>
          <a:bodyPr wrap="square" lIns="63500" tIns="63500" rIns="63500" bIns="63500" rtlCol="0" anchor="ctr"/>
          <a:lstStyle/>
          <a:p>
            <a:pPr algn="l" indent="0" marL="0">
              <a:buNone/>
            </a:pPr>
            <a:r>
              <a:rPr lang="en-US" sz="2400" b="1" dirty="0">
                <a:solidFill>
                  <a:srgbClr val="2E4A8C"/>
                </a:solidFill>
                <a:latin typeface="Cambria" pitchFamily="34" charset="0"/>
                <a:ea typeface="Cambria" pitchFamily="34" charset="-122"/>
                <a:cs typeface="Cambria" pitchFamily="34" charset="-120"/>
              </a:rPr>
              <a:t>previous term</a:t>
            </a:r>
            <a:endParaRPr lang="en-US" sz="2400" dirty="0"/>
          </a:p>
        </p:txBody>
      </p:sp>
      <p:sp>
        <p:nvSpPr>
          <p:cNvPr id="19" name="kw-cell"/>
          <p:cNvSpPr txBox="1"/>
          <p:nvPr/>
        </p:nvSpPr>
        <p:spPr>
          <a:xfrm>
            <a:off x="3657600" y="2982570"/>
            <a:ext cx="3474720" cy="59293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term just before</a:t>
            </a:r>
            <a:endParaRPr lang="en-US" sz="2200" dirty="0"/>
          </a:p>
        </p:txBody>
      </p:sp>
      <p:sp>
        <p:nvSpPr>
          <p:cNvPr id="20" name="kw-cell"/>
          <p:cNvSpPr txBox="1"/>
          <p:nvPr/>
        </p:nvSpPr>
        <p:spPr>
          <a:xfrm>
            <a:off x="7315200" y="2982570"/>
            <a:ext cx="4236415" cy="592938"/>
          </a:xfrm>
          <a:prstGeom prst="rect">
            <a:avLst/>
          </a:prstGeom>
          <a:noFill/>
          <a:ln/>
        </p:spPr>
        <p:txBody>
          <a:bodyPr wrap="square" lIns="63500" tIns="63500" rIns="63500" bIns="63500" rtlCol="0" anchor="ctr"/>
          <a:lstStyle/>
          <a:p>
            <a:pPr algn="l" indent="0" marL="0">
              <a:buNone/>
            </a:pPr>
            <a:r>
              <a:rPr lang="en-US" sz="2200" i="1" dirty="0">
                <a:solidFill>
                  <a:srgbClr val="4A505C"/>
                </a:solidFill>
                <a:latin typeface="Calibri" pitchFamily="34" charset="0"/>
                <a:ea typeface="Calibri" pitchFamily="34" charset="-122"/>
                <a:cs typeface="Calibri" pitchFamily="34" charset="-120"/>
              </a:rPr>
              <a:t>Multiply the previous term by 2.</a:t>
            </a:r>
            <a:endParaRPr lang="en-US" sz="2200" dirty="0"/>
          </a:p>
        </p:txBody>
      </p:sp>
      <p:sp>
        <p:nvSpPr>
          <p:cNvPr id="21" name="kw-row"/>
          <p:cNvSpPr/>
          <p:nvPr/>
        </p:nvSpPr>
        <p:spPr>
          <a:xfrm>
            <a:off x="548640" y="3648659"/>
            <a:ext cx="11094415" cy="878434"/>
          </a:xfrm>
          <a:prstGeom prst="roundRect">
            <a:avLst>
              <a:gd name="adj" fmla="val 6246"/>
            </a:avLst>
          </a:prstGeom>
          <a:solidFill>
            <a:srgbClr val="F5F6F9"/>
          </a:solidFill>
          <a:ln/>
        </p:spPr>
      </p:sp>
      <p:sp>
        <p:nvSpPr>
          <p:cNvPr id="22" name="kw-hex"/>
          <p:cNvSpPr/>
          <p:nvPr/>
        </p:nvSpPr>
        <p:spPr>
          <a:xfrm>
            <a:off x="658368" y="3909705"/>
            <a:ext cx="411480" cy="356342"/>
          </a:xfrm>
          <a:prstGeom prst="hexagon">
            <a:avLst/>
          </a:prstGeom>
          <a:solidFill>
            <a:srgbClr val="2E4A8C"/>
          </a:solidFill>
          <a:ln/>
        </p:spPr>
      </p:sp>
      <p:sp>
        <p:nvSpPr>
          <p:cNvPr id="23" name="kw-cell"/>
          <p:cNvSpPr txBox="1"/>
          <p:nvPr/>
        </p:nvSpPr>
        <p:spPr>
          <a:xfrm>
            <a:off x="1143000" y="3648659"/>
            <a:ext cx="2331720" cy="878434"/>
          </a:xfrm>
          <a:prstGeom prst="rect">
            <a:avLst/>
          </a:prstGeom>
          <a:noFill/>
          <a:ln/>
        </p:spPr>
        <p:txBody>
          <a:bodyPr wrap="square" lIns="63500" tIns="63500" rIns="63500" bIns="63500" rtlCol="0" anchor="ctr"/>
          <a:lstStyle/>
          <a:p>
            <a:pPr algn="l" indent="0" marL="0">
              <a:buNone/>
            </a:pPr>
            <a:r>
              <a:rPr lang="en-US" sz="2400" b="1" dirty="0">
                <a:solidFill>
                  <a:srgbClr val="2E4A8C"/>
                </a:solidFill>
                <a:latin typeface="Cambria" pitchFamily="34" charset="0"/>
                <a:ea typeface="Cambria" pitchFamily="34" charset="-122"/>
                <a:cs typeface="Cambria" pitchFamily="34" charset="-120"/>
              </a:rPr>
              <a:t>first term</a:t>
            </a:r>
            <a:endParaRPr lang="en-US" sz="2400" dirty="0"/>
          </a:p>
        </p:txBody>
      </p:sp>
      <p:sp>
        <p:nvSpPr>
          <p:cNvPr id="24" name="kw-cell"/>
          <p:cNvSpPr txBox="1"/>
          <p:nvPr/>
        </p:nvSpPr>
        <p:spPr>
          <a:xfrm>
            <a:off x="3657600" y="3648659"/>
            <a:ext cx="3474720" cy="87843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term at the start of the sequence</a:t>
            </a:r>
            <a:endParaRPr lang="en-US" sz="2200" dirty="0"/>
          </a:p>
        </p:txBody>
      </p:sp>
      <p:sp>
        <p:nvSpPr>
          <p:cNvPr id="25" name="kw-cell"/>
          <p:cNvSpPr txBox="1"/>
          <p:nvPr/>
        </p:nvSpPr>
        <p:spPr>
          <a:xfrm>
            <a:off x="7315200" y="3648659"/>
            <a:ext cx="4236415" cy="878434"/>
          </a:xfrm>
          <a:prstGeom prst="rect">
            <a:avLst/>
          </a:prstGeom>
          <a:noFill/>
          <a:ln/>
        </p:spPr>
        <p:txBody>
          <a:bodyPr wrap="square" lIns="63500" tIns="63500" rIns="63500" bIns="63500" rtlCol="0" anchor="ctr"/>
          <a:lstStyle/>
          <a:p>
            <a:pPr algn="l" indent="0" marL="0">
              <a:buNone/>
            </a:pPr>
            <a:r>
              <a:rPr lang="en-US" sz="2200" i="1" dirty="0">
                <a:solidFill>
                  <a:srgbClr val="4A505C"/>
                </a:solidFill>
                <a:latin typeface="Calibri" pitchFamily="34" charset="0"/>
                <a:ea typeface="Calibri" pitchFamily="34" charset="-122"/>
                <a:cs typeface="Calibri" pitchFamily="34" charset="-120"/>
              </a:rPr>
              <a:t>The first term is 7.</a:t>
            </a:r>
            <a:endParaRPr lang="en-US" sz="2200" dirty="0"/>
          </a:p>
        </p:txBody>
      </p:sp>
      <p:sp>
        <p:nvSpPr>
          <p:cNvPr id="26" name="kw-row"/>
          <p:cNvSpPr/>
          <p:nvPr/>
        </p:nvSpPr>
        <p:spPr>
          <a:xfrm>
            <a:off x="548640" y="4600245"/>
            <a:ext cx="11094415" cy="592938"/>
          </a:xfrm>
          <a:prstGeom prst="roundRect">
            <a:avLst>
              <a:gd name="adj" fmla="val 9253"/>
            </a:avLst>
          </a:prstGeom>
          <a:solidFill>
            <a:srgbClr val="F9F4EC"/>
          </a:solidFill>
          <a:ln/>
        </p:spPr>
      </p:sp>
      <p:sp>
        <p:nvSpPr>
          <p:cNvPr id="27" name="kw-hex"/>
          <p:cNvSpPr/>
          <p:nvPr/>
        </p:nvSpPr>
        <p:spPr>
          <a:xfrm>
            <a:off x="658368" y="4718543"/>
            <a:ext cx="411480" cy="356342"/>
          </a:xfrm>
          <a:prstGeom prst="hexagon">
            <a:avLst/>
          </a:prstGeom>
          <a:solidFill>
            <a:srgbClr val="B8862B"/>
          </a:solidFill>
          <a:ln/>
        </p:spPr>
      </p:sp>
      <p:sp>
        <p:nvSpPr>
          <p:cNvPr id="28" name="kw-cell"/>
          <p:cNvSpPr txBox="1"/>
          <p:nvPr/>
        </p:nvSpPr>
        <p:spPr>
          <a:xfrm>
            <a:off x="1143000" y="4600245"/>
            <a:ext cx="2331720" cy="592938"/>
          </a:xfrm>
          <a:prstGeom prst="rect">
            <a:avLst/>
          </a:prstGeom>
          <a:noFill/>
          <a:ln/>
        </p:spPr>
        <p:txBody>
          <a:bodyPr wrap="square" lIns="63500" tIns="63500" rIns="63500" bIns="63500" rtlCol="0" anchor="ctr"/>
          <a:lstStyle/>
          <a:p>
            <a:pPr algn="l" indent="0" marL="0">
              <a:buNone/>
            </a:pPr>
            <a:r>
              <a:rPr lang="en-US" sz="2400" b="1" dirty="0">
                <a:solidFill>
                  <a:srgbClr val="2E4A8C"/>
                </a:solidFill>
                <a:latin typeface="Cambria" pitchFamily="34" charset="0"/>
                <a:ea typeface="Cambria" pitchFamily="34" charset="-122"/>
                <a:cs typeface="Cambria" pitchFamily="34" charset="-120"/>
              </a:rPr>
              <a:t>describe</a:t>
            </a:r>
            <a:endParaRPr lang="en-US" sz="2400" dirty="0"/>
          </a:p>
        </p:txBody>
      </p:sp>
      <p:sp>
        <p:nvSpPr>
          <p:cNvPr id="29" name="kw-cell"/>
          <p:cNvSpPr txBox="1"/>
          <p:nvPr/>
        </p:nvSpPr>
        <p:spPr>
          <a:xfrm>
            <a:off x="3657600" y="4600245"/>
            <a:ext cx="3474720" cy="59293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to say in words</a:t>
            </a:r>
            <a:endParaRPr lang="en-US" sz="2200" dirty="0"/>
          </a:p>
        </p:txBody>
      </p:sp>
      <p:sp>
        <p:nvSpPr>
          <p:cNvPr id="30" name="kw-cell"/>
          <p:cNvSpPr txBox="1"/>
          <p:nvPr/>
        </p:nvSpPr>
        <p:spPr>
          <a:xfrm>
            <a:off x="7315200" y="4600245"/>
            <a:ext cx="4236415" cy="592938"/>
          </a:xfrm>
          <a:prstGeom prst="rect">
            <a:avLst/>
          </a:prstGeom>
          <a:noFill/>
          <a:ln/>
        </p:spPr>
        <p:txBody>
          <a:bodyPr wrap="square" lIns="63500" tIns="63500" rIns="63500" bIns="63500" rtlCol="0" anchor="ctr"/>
          <a:lstStyle/>
          <a:p>
            <a:pPr algn="l" indent="0" marL="0">
              <a:buNone/>
            </a:pPr>
            <a:r>
              <a:rPr lang="en-US" sz="2200" i="1" dirty="0">
                <a:solidFill>
                  <a:srgbClr val="4A505C"/>
                </a:solidFill>
                <a:latin typeface="Calibri" pitchFamily="34" charset="0"/>
                <a:ea typeface="Calibri" pitchFamily="34" charset="-122"/>
                <a:cs typeface="Calibri" pitchFamily="34" charset="-120"/>
              </a:rPr>
              <a:t>Describe the rule in a full sentence.</a:t>
            </a:r>
            <a:endParaRPr lang="en-US" sz="2200" dirty="0"/>
          </a:p>
        </p:txBody>
      </p:sp>
      <p:sp>
        <p:nvSpPr>
          <p:cNvPr id="31" name="kw-row"/>
          <p:cNvSpPr/>
          <p:nvPr/>
        </p:nvSpPr>
        <p:spPr>
          <a:xfrm>
            <a:off x="548640" y="5266334"/>
            <a:ext cx="11094415" cy="878434"/>
          </a:xfrm>
          <a:prstGeom prst="roundRect">
            <a:avLst>
              <a:gd name="adj" fmla="val 6246"/>
            </a:avLst>
          </a:prstGeom>
          <a:solidFill>
            <a:srgbClr val="F5F6F9"/>
          </a:solidFill>
          <a:ln/>
        </p:spPr>
      </p:sp>
      <p:sp>
        <p:nvSpPr>
          <p:cNvPr id="32" name="kw-hex"/>
          <p:cNvSpPr/>
          <p:nvPr/>
        </p:nvSpPr>
        <p:spPr>
          <a:xfrm>
            <a:off x="658368" y="5527380"/>
            <a:ext cx="411480" cy="356342"/>
          </a:xfrm>
          <a:prstGeom prst="hexagon">
            <a:avLst/>
          </a:prstGeom>
          <a:solidFill>
            <a:srgbClr val="2E4A8C"/>
          </a:solidFill>
          <a:ln/>
        </p:spPr>
      </p:sp>
      <p:sp>
        <p:nvSpPr>
          <p:cNvPr id="33" name="kw-cell"/>
          <p:cNvSpPr txBox="1"/>
          <p:nvPr/>
        </p:nvSpPr>
        <p:spPr>
          <a:xfrm>
            <a:off x="1143000" y="5266334"/>
            <a:ext cx="2331720" cy="878434"/>
          </a:xfrm>
          <a:prstGeom prst="rect">
            <a:avLst/>
          </a:prstGeom>
          <a:noFill/>
          <a:ln/>
        </p:spPr>
        <p:txBody>
          <a:bodyPr wrap="square" lIns="63500" tIns="63500" rIns="63500" bIns="63500" rtlCol="0" anchor="ctr"/>
          <a:lstStyle/>
          <a:p>
            <a:pPr algn="l" indent="0" marL="0">
              <a:buNone/>
            </a:pPr>
            <a:r>
              <a:rPr lang="en-US" sz="2400" b="1" dirty="0">
                <a:solidFill>
                  <a:srgbClr val="2E4A8C"/>
                </a:solidFill>
                <a:latin typeface="Cambria" pitchFamily="34" charset="0"/>
                <a:ea typeface="Cambria" pitchFamily="34" charset="-122"/>
                <a:cs typeface="Cambria" pitchFamily="34" charset="-120"/>
              </a:rPr>
              <a:t>generate</a:t>
            </a:r>
            <a:endParaRPr lang="en-US" sz="2400" dirty="0"/>
          </a:p>
        </p:txBody>
      </p:sp>
      <p:sp>
        <p:nvSpPr>
          <p:cNvPr id="34" name="kw-cell"/>
          <p:cNvSpPr txBox="1"/>
          <p:nvPr/>
        </p:nvSpPr>
        <p:spPr>
          <a:xfrm>
            <a:off x="3657600" y="5266334"/>
            <a:ext cx="3474720" cy="87843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to make the terms of a sequence from a rule</a:t>
            </a:r>
            <a:endParaRPr lang="en-US" sz="2200" dirty="0"/>
          </a:p>
        </p:txBody>
      </p:sp>
      <p:sp>
        <p:nvSpPr>
          <p:cNvPr id="35" name="kw-cell"/>
          <p:cNvSpPr txBox="1"/>
          <p:nvPr/>
        </p:nvSpPr>
        <p:spPr>
          <a:xfrm>
            <a:off x="7315200" y="5266334"/>
            <a:ext cx="4236415" cy="878434"/>
          </a:xfrm>
          <a:prstGeom prst="rect">
            <a:avLst/>
          </a:prstGeom>
          <a:noFill/>
          <a:ln/>
        </p:spPr>
        <p:txBody>
          <a:bodyPr wrap="square" lIns="63500" tIns="63500" rIns="63500" bIns="63500" rtlCol="0" anchor="ctr"/>
          <a:lstStyle/>
          <a:p>
            <a:pPr algn="l" indent="0" marL="0">
              <a:buNone/>
            </a:pPr>
            <a:r>
              <a:rPr lang="en-US" sz="2200" i="1" dirty="0">
                <a:solidFill>
                  <a:srgbClr val="4A505C"/>
                </a:solidFill>
                <a:latin typeface="Calibri" pitchFamily="34" charset="0"/>
                <a:ea typeface="Calibri" pitchFamily="34" charset="-122"/>
                <a:cs typeface="Calibri" pitchFamily="34" charset="-120"/>
              </a:rPr>
              <a:t>Generate the first five terms.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E4A8C"/>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8FA"/>
          </a:solidFill>
          <a:ln w="12700">
            <a:solidFill>
              <a:srgbClr val="C7CEE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term-to-term rule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tells you how to get from one term to the next.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Look at 15, 21, 27, 33.</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rule is add 6 to the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previous term</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Always say what you are adding it to.</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Add 6 on its own is not a full rule.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Look at 29, 24, 19, 14.</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E4A8C"/>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8FA"/>
          </a:solidFill>
          <a:ln w="12700">
            <a:solidFill>
              <a:srgbClr val="C7CEE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rule is subtract 5 from the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previous term</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Some rules multiply or divide.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In 4, 8, 16, 32 the rule is multiply the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previous term</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by 2.</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If you know the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first term</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and the rule, you can write the whole sequence.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Start at 7 and add 6 each time.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You get 7, 13, 19, 25, 31.</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Describing the rule in words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6F0E6"/>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rule is a full sentence: add … to the previous term, or subtract … from the previous term.</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405892"/>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Describe the term-to-term rule of 51, 44, 37, 30, …</a:t>
            </a:r>
            <a:endParaRPr lang="en-US" sz="1800" dirty="0"/>
          </a:p>
        </p:txBody>
      </p:sp>
      <p:sp>
        <p:nvSpPr>
          <p:cNvPr id="14" name="step-box"/>
          <p:cNvSpPr/>
          <p:nvPr/>
        </p:nvSpPr>
        <p:spPr>
          <a:xfrm>
            <a:off x="6126480" y="2609596"/>
            <a:ext cx="5379415" cy="794512"/>
          </a:xfrm>
          <a:prstGeom prst="roundRect">
            <a:avLst>
              <a:gd name="adj" fmla="val 11509"/>
            </a:avLst>
          </a:prstGeom>
          <a:solidFill>
            <a:srgbClr val="F0F2F7"/>
          </a:solidFill>
          <a:ln/>
        </p:spPr>
      </p:sp>
      <p:sp>
        <p:nvSpPr>
          <p:cNvPr id="15" name="step-hex"/>
          <p:cNvSpPr/>
          <p:nvPr/>
        </p:nvSpPr>
        <p:spPr>
          <a:xfrm>
            <a:off x="6217920" y="2824722"/>
            <a:ext cx="420624" cy="364260"/>
          </a:xfrm>
          <a:prstGeom prst="hexagon">
            <a:avLst/>
          </a:prstGeom>
          <a:solidFill>
            <a:srgbClr val="2E4A8C"/>
          </a:solidFill>
          <a:ln/>
        </p:spPr>
      </p:sp>
      <p:sp>
        <p:nvSpPr>
          <p:cNvPr id="16" name="step-hex-label"/>
          <p:cNvSpPr txBox="1"/>
          <p:nvPr/>
        </p:nvSpPr>
        <p:spPr>
          <a:xfrm>
            <a:off x="6217920" y="282472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609596"/>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Find the common difference: 51 − 44 = 7. Check: 44 − 37 = 7.</a:t>
            </a:r>
            <a:endParaRPr lang="en-US" sz="1800" dirty="0"/>
          </a:p>
        </p:txBody>
      </p:sp>
      <p:sp>
        <p:nvSpPr>
          <p:cNvPr id="18" name="step-box"/>
          <p:cNvSpPr/>
          <p:nvPr/>
        </p:nvSpPr>
        <p:spPr>
          <a:xfrm>
            <a:off x="6126480" y="3495548"/>
            <a:ext cx="5379415" cy="566928"/>
          </a:xfrm>
          <a:prstGeom prst="roundRect">
            <a:avLst>
              <a:gd name="adj" fmla="val 16129"/>
            </a:avLst>
          </a:prstGeom>
          <a:solidFill>
            <a:srgbClr val="F0F2F7"/>
          </a:solidFill>
          <a:ln/>
        </p:spPr>
      </p:sp>
      <p:sp>
        <p:nvSpPr>
          <p:cNvPr id="19" name="step-hex"/>
          <p:cNvSpPr/>
          <p:nvPr/>
        </p:nvSpPr>
        <p:spPr>
          <a:xfrm>
            <a:off x="6217920" y="3596882"/>
            <a:ext cx="420624" cy="364260"/>
          </a:xfrm>
          <a:prstGeom prst="hexagon">
            <a:avLst/>
          </a:prstGeom>
          <a:solidFill>
            <a:srgbClr val="2E4A8C"/>
          </a:solidFill>
          <a:ln/>
        </p:spPr>
      </p:sp>
      <p:sp>
        <p:nvSpPr>
          <p:cNvPr id="20" name="step-hex-label"/>
          <p:cNvSpPr txBox="1"/>
          <p:nvPr/>
        </p:nvSpPr>
        <p:spPr>
          <a:xfrm>
            <a:off x="6217920" y="359688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49554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terms get smaller, so the rule subtracts.</a:t>
            </a:r>
            <a:endParaRPr lang="en-US" sz="1800" dirty="0"/>
          </a:p>
        </p:txBody>
      </p:sp>
      <p:sp>
        <p:nvSpPr>
          <p:cNvPr id="22" name="step-box"/>
          <p:cNvSpPr/>
          <p:nvPr/>
        </p:nvSpPr>
        <p:spPr>
          <a:xfrm>
            <a:off x="6126480" y="4153916"/>
            <a:ext cx="5379415" cy="566928"/>
          </a:xfrm>
          <a:prstGeom prst="roundRect">
            <a:avLst>
              <a:gd name="adj" fmla="val 16129"/>
            </a:avLst>
          </a:prstGeom>
          <a:solidFill>
            <a:srgbClr val="F0F2F7"/>
          </a:solidFill>
          <a:ln/>
        </p:spPr>
      </p:sp>
      <p:sp>
        <p:nvSpPr>
          <p:cNvPr id="23" name="step-hex"/>
          <p:cNvSpPr/>
          <p:nvPr/>
        </p:nvSpPr>
        <p:spPr>
          <a:xfrm>
            <a:off x="6217920" y="4255250"/>
            <a:ext cx="420624" cy="364260"/>
          </a:xfrm>
          <a:prstGeom prst="hexagon">
            <a:avLst/>
          </a:prstGeom>
          <a:solidFill>
            <a:srgbClr val="2E4A8C"/>
          </a:solidFill>
          <a:ln/>
        </p:spPr>
      </p:sp>
      <p:sp>
        <p:nvSpPr>
          <p:cNvPr id="24" name="step-hex-label"/>
          <p:cNvSpPr txBox="1"/>
          <p:nvPr/>
        </p:nvSpPr>
        <p:spPr>
          <a:xfrm>
            <a:off x="6217920" y="425525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15391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Write it as a full sentence.</a:t>
            </a:r>
            <a:endParaRPr lang="en-US" sz="1800" dirty="0"/>
          </a:p>
        </p:txBody>
      </p:sp>
      <p:sp>
        <p:nvSpPr>
          <p:cNvPr id="26" name="worked-answer"/>
          <p:cNvSpPr/>
          <p:nvPr/>
        </p:nvSpPr>
        <p:spPr>
          <a:xfrm>
            <a:off x="6126480" y="4858004"/>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Subtract 7 from the previous term.</a:t>
            </a:r>
            <a:endParaRPr lang="en-US" sz="1800" dirty="0"/>
          </a:p>
        </p:txBody>
      </p:sp>
      <p:sp>
        <p:nvSpPr>
          <p:cNvPr id="27" name="bullet-card"/>
          <p:cNvSpPr/>
          <p:nvPr/>
        </p:nvSpPr>
        <p:spPr>
          <a:xfrm>
            <a:off x="548640" y="1389888"/>
            <a:ext cx="5074920" cy="945219"/>
          </a:xfrm>
          <a:prstGeom prst="roundRect">
            <a:avLst>
              <a:gd name="adj" fmla="val 7739"/>
            </a:avLst>
          </a:prstGeom>
          <a:solidFill>
            <a:srgbClr val="F5F6F9"/>
          </a:solidFill>
          <a:ln/>
        </p:spPr>
      </p:sp>
      <p:sp>
        <p:nvSpPr>
          <p:cNvPr id="28" name="bullet-hex"/>
          <p:cNvSpPr/>
          <p:nvPr/>
        </p:nvSpPr>
        <p:spPr>
          <a:xfrm>
            <a:off x="676656" y="1696205"/>
            <a:ext cx="384048" cy="332586"/>
          </a:xfrm>
          <a:prstGeom prst="hexagon">
            <a:avLst/>
          </a:prstGeom>
          <a:solidFill>
            <a:srgbClr val="2E4A8C"/>
          </a:solidFill>
          <a:ln/>
        </p:spPr>
      </p:sp>
      <p:sp>
        <p:nvSpPr>
          <p:cNvPr id="29" name="bullet"/>
          <p:cNvSpPr txBox="1"/>
          <p:nvPr/>
        </p:nvSpPr>
        <p:spPr>
          <a:xfrm>
            <a:off x="1143000" y="1389888"/>
            <a:ext cx="4389120" cy="945219"/>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term-to-term rule is a sentence. It says what to do to one term to get the next.</a:t>
            </a:r>
            <a:endParaRPr lang="en-US" sz="1800" dirty="0"/>
          </a:p>
        </p:txBody>
      </p:sp>
      <p:sp>
        <p:nvSpPr>
          <p:cNvPr id="30" name="bullet-card"/>
          <p:cNvSpPr/>
          <p:nvPr/>
        </p:nvSpPr>
        <p:spPr>
          <a:xfrm>
            <a:off x="548640" y="2481411"/>
            <a:ext cx="5074920" cy="945219"/>
          </a:xfrm>
          <a:prstGeom prst="roundRect">
            <a:avLst>
              <a:gd name="adj" fmla="val 7739"/>
            </a:avLst>
          </a:prstGeom>
          <a:solidFill>
            <a:srgbClr val="F5F6F9"/>
          </a:solidFill>
          <a:ln/>
        </p:spPr>
      </p:sp>
      <p:sp>
        <p:nvSpPr>
          <p:cNvPr id="31" name="bullet-hex"/>
          <p:cNvSpPr/>
          <p:nvPr/>
        </p:nvSpPr>
        <p:spPr>
          <a:xfrm>
            <a:off x="676656" y="2787727"/>
            <a:ext cx="384048" cy="332586"/>
          </a:xfrm>
          <a:prstGeom prst="hexagon">
            <a:avLst/>
          </a:prstGeom>
          <a:solidFill>
            <a:srgbClr val="B8862B"/>
          </a:solidFill>
          <a:ln/>
        </p:spPr>
      </p:sp>
      <p:sp>
        <p:nvSpPr>
          <p:cNvPr id="32" name="bullet"/>
          <p:cNvSpPr txBox="1"/>
          <p:nvPr/>
        </p:nvSpPr>
        <p:spPr>
          <a:xfrm>
            <a:off x="1143000" y="2481411"/>
            <a:ext cx="4389120" cy="945219"/>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Saying just 'add 6' is not enough. Add 6 to what?</a:t>
            </a:r>
            <a:endParaRPr lang="en-US" sz="1800" dirty="0"/>
          </a:p>
        </p:txBody>
      </p:sp>
      <p:sp>
        <p:nvSpPr>
          <p:cNvPr id="33" name="bullet-card"/>
          <p:cNvSpPr/>
          <p:nvPr/>
        </p:nvSpPr>
        <p:spPr>
          <a:xfrm>
            <a:off x="548640" y="3572933"/>
            <a:ext cx="5074920" cy="1224111"/>
          </a:xfrm>
          <a:prstGeom prst="roundRect">
            <a:avLst>
              <a:gd name="adj" fmla="val 5976"/>
            </a:avLst>
          </a:prstGeom>
          <a:solidFill>
            <a:srgbClr val="F5F6F9"/>
          </a:solidFill>
          <a:ln/>
        </p:spPr>
      </p:sp>
      <p:sp>
        <p:nvSpPr>
          <p:cNvPr id="34" name="bullet-hex"/>
          <p:cNvSpPr/>
          <p:nvPr/>
        </p:nvSpPr>
        <p:spPr>
          <a:xfrm>
            <a:off x="676656" y="4018696"/>
            <a:ext cx="384048" cy="332586"/>
          </a:xfrm>
          <a:prstGeom prst="hexagon">
            <a:avLst/>
          </a:prstGeom>
          <a:solidFill>
            <a:srgbClr val="2E4A8C"/>
          </a:solidFill>
          <a:ln/>
        </p:spPr>
      </p:sp>
      <p:sp>
        <p:nvSpPr>
          <p:cNvPr id="35" name="bullet"/>
          <p:cNvSpPr txBox="1"/>
          <p:nvPr/>
        </p:nvSpPr>
        <p:spPr>
          <a:xfrm>
            <a:off x="1143000" y="3572933"/>
            <a:ext cx="4389120" cy="122411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For a descending sequence the rule uses subtract. For 29, 24, 19, 14 the rule is 'subtract 5 from the previous term'.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Multiply and divide rules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If the differences change, try dividing each term by the one before.</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405892"/>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Describe the term-to-term rule of 2, 10, 50, 250.</a:t>
            </a:r>
            <a:endParaRPr lang="en-US" sz="1800" dirty="0"/>
          </a:p>
        </p:txBody>
      </p:sp>
      <p:sp>
        <p:nvSpPr>
          <p:cNvPr id="14" name="step-box"/>
          <p:cNvSpPr/>
          <p:nvPr/>
        </p:nvSpPr>
        <p:spPr>
          <a:xfrm>
            <a:off x="6126480" y="2609596"/>
            <a:ext cx="5379415" cy="794512"/>
          </a:xfrm>
          <a:prstGeom prst="roundRect">
            <a:avLst>
              <a:gd name="adj" fmla="val 11509"/>
            </a:avLst>
          </a:prstGeom>
          <a:solidFill>
            <a:srgbClr val="F0F2F7"/>
          </a:solidFill>
          <a:ln/>
        </p:spPr>
      </p:sp>
      <p:sp>
        <p:nvSpPr>
          <p:cNvPr id="15" name="step-hex"/>
          <p:cNvSpPr/>
          <p:nvPr/>
        </p:nvSpPr>
        <p:spPr>
          <a:xfrm>
            <a:off x="6217920" y="2824722"/>
            <a:ext cx="420624" cy="364260"/>
          </a:xfrm>
          <a:prstGeom prst="hexagon">
            <a:avLst/>
          </a:prstGeom>
          <a:solidFill>
            <a:srgbClr val="2E4A8C"/>
          </a:solidFill>
          <a:ln/>
        </p:spPr>
      </p:sp>
      <p:sp>
        <p:nvSpPr>
          <p:cNvPr id="16" name="step-hex-label"/>
          <p:cNvSpPr txBox="1"/>
          <p:nvPr/>
        </p:nvSpPr>
        <p:spPr>
          <a:xfrm>
            <a:off x="6217920" y="282472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609596"/>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Is it an add rule? 10 − 2 = 8 but 50 − 10 = 40. No.</a:t>
            </a:r>
            <a:endParaRPr lang="en-US" sz="1800" dirty="0"/>
          </a:p>
        </p:txBody>
      </p:sp>
      <p:sp>
        <p:nvSpPr>
          <p:cNvPr id="18" name="step-box"/>
          <p:cNvSpPr/>
          <p:nvPr/>
        </p:nvSpPr>
        <p:spPr>
          <a:xfrm>
            <a:off x="6126480" y="3495548"/>
            <a:ext cx="5379415" cy="794512"/>
          </a:xfrm>
          <a:prstGeom prst="roundRect">
            <a:avLst>
              <a:gd name="adj" fmla="val 11509"/>
            </a:avLst>
          </a:prstGeom>
          <a:solidFill>
            <a:srgbClr val="F0F2F7"/>
          </a:solidFill>
          <a:ln/>
        </p:spPr>
      </p:sp>
      <p:sp>
        <p:nvSpPr>
          <p:cNvPr id="19" name="step-hex"/>
          <p:cNvSpPr/>
          <p:nvPr/>
        </p:nvSpPr>
        <p:spPr>
          <a:xfrm>
            <a:off x="6217920" y="3710674"/>
            <a:ext cx="420624" cy="364260"/>
          </a:xfrm>
          <a:prstGeom prst="hexagon">
            <a:avLst/>
          </a:prstGeom>
          <a:solidFill>
            <a:srgbClr val="2E4A8C"/>
          </a:solidFill>
          <a:ln/>
        </p:spPr>
      </p:sp>
      <p:sp>
        <p:nvSpPr>
          <p:cNvPr id="20" name="step-hex-label"/>
          <p:cNvSpPr txBox="1"/>
          <p:nvPr/>
        </p:nvSpPr>
        <p:spPr>
          <a:xfrm>
            <a:off x="6217920" y="371067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495548"/>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Try a multiply rule: 10 ÷ 2 = 5 and 50 ÷ 10 = 5. Yes.</a:t>
            </a:r>
            <a:endParaRPr lang="en-US" sz="1800" dirty="0"/>
          </a:p>
        </p:txBody>
      </p:sp>
      <p:sp>
        <p:nvSpPr>
          <p:cNvPr id="22" name="step-box"/>
          <p:cNvSpPr/>
          <p:nvPr/>
        </p:nvSpPr>
        <p:spPr>
          <a:xfrm>
            <a:off x="6126480" y="4381500"/>
            <a:ext cx="5379415" cy="566928"/>
          </a:xfrm>
          <a:prstGeom prst="roundRect">
            <a:avLst>
              <a:gd name="adj" fmla="val 16129"/>
            </a:avLst>
          </a:prstGeom>
          <a:solidFill>
            <a:srgbClr val="F0F2F7"/>
          </a:solidFill>
          <a:ln/>
        </p:spPr>
      </p:sp>
      <p:sp>
        <p:nvSpPr>
          <p:cNvPr id="23" name="step-hex"/>
          <p:cNvSpPr/>
          <p:nvPr/>
        </p:nvSpPr>
        <p:spPr>
          <a:xfrm>
            <a:off x="6217920" y="4482834"/>
            <a:ext cx="420624" cy="364260"/>
          </a:xfrm>
          <a:prstGeom prst="hexagon">
            <a:avLst/>
          </a:prstGeom>
          <a:solidFill>
            <a:srgbClr val="2E4A8C"/>
          </a:solidFill>
          <a:ln/>
        </p:spPr>
      </p:sp>
      <p:sp>
        <p:nvSpPr>
          <p:cNvPr id="24" name="step-hex-label"/>
          <p:cNvSpPr txBox="1"/>
          <p:nvPr/>
        </p:nvSpPr>
        <p:spPr>
          <a:xfrm>
            <a:off x="6217920" y="448283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381500"/>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Write it as a full sentence.</a:t>
            </a:r>
            <a:endParaRPr lang="en-US" sz="1800" dirty="0"/>
          </a:p>
        </p:txBody>
      </p:sp>
      <p:sp>
        <p:nvSpPr>
          <p:cNvPr id="26" name="worked-answer"/>
          <p:cNvSpPr/>
          <p:nvPr/>
        </p:nvSpPr>
        <p:spPr>
          <a:xfrm>
            <a:off x="6126480" y="5085588"/>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Multiply the previous term by 5.</a:t>
            </a:r>
            <a:endParaRPr lang="en-US" sz="1800" dirty="0"/>
          </a:p>
        </p:txBody>
      </p:sp>
      <p:sp>
        <p:nvSpPr>
          <p:cNvPr id="27" name="bullet-card"/>
          <p:cNvSpPr/>
          <p:nvPr/>
        </p:nvSpPr>
        <p:spPr>
          <a:xfrm>
            <a:off x="548640" y="1389888"/>
            <a:ext cx="5074920" cy="1585637"/>
          </a:xfrm>
          <a:prstGeom prst="roundRect">
            <a:avLst>
              <a:gd name="adj" fmla="val 4613"/>
            </a:avLst>
          </a:prstGeom>
          <a:solidFill>
            <a:srgbClr val="F5F6F9"/>
          </a:solidFill>
          <a:ln/>
        </p:spPr>
      </p:sp>
      <p:sp>
        <p:nvSpPr>
          <p:cNvPr id="28" name="bullet-hex"/>
          <p:cNvSpPr/>
          <p:nvPr/>
        </p:nvSpPr>
        <p:spPr>
          <a:xfrm>
            <a:off x="676656" y="2016414"/>
            <a:ext cx="384048" cy="332586"/>
          </a:xfrm>
          <a:prstGeom prst="hexagon">
            <a:avLst/>
          </a:prstGeom>
          <a:solidFill>
            <a:srgbClr val="2E4A8C"/>
          </a:solidFill>
          <a:ln/>
        </p:spPr>
      </p:sp>
      <p:sp>
        <p:nvSpPr>
          <p:cNvPr id="29" name="bullet"/>
          <p:cNvSpPr txBox="1"/>
          <p:nvPr/>
        </p:nvSpPr>
        <p:spPr>
          <a:xfrm>
            <a:off x="1143000" y="1389888"/>
            <a:ext cx="4389120" cy="158563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Geometric sequences have multiply or divide rules. For 3, 6, 12, 24 the rule is 'multiply the previous term by 2'.</a:t>
            </a:r>
            <a:endParaRPr lang="en-US" sz="2200" dirty="0"/>
          </a:p>
        </p:txBody>
      </p:sp>
      <p:sp>
        <p:nvSpPr>
          <p:cNvPr id="30" name="bullet-card"/>
          <p:cNvSpPr/>
          <p:nvPr/>
        </p:nvSpPr>
        <p:spPr>
          <a:xfrm>
            <a:off x="548640" y="3121829"/>
            <a:ext cx="5074920" cy="903901"/>
          </a:xfrm>
          <a:prstGeom prst="roundRect">
            <a:avLst>
              <a:gd name="adj" fmla="val 8093"/>
            </a:avLst>
          </a:prstGeom>
          <a:solidFill>
            <a:srgbClr val="F5F6F9"/>
          </a:solidFill>
          <a:ln/>
        </p:spPr>
      </p:sp>
      <p:sp>
        <p:nvSpPr>
          <p:cNvPr id="31" name="bullet-hex"/>
          <p:cNvSpPr/>
          <p:nvPr/>
        </p:nvSpPr>
        <p:spPr>
          <a:xfrm>
            <a:off x="676656" y="3407487"/>
            <a:ext cx="384048" cy="332586"/>
          </a:xfrm>
          <a:prstGeom prst="hexagon">
            <a:avLst/>
          </a:prstGeom>
          <a:solidFill>
            <a:srgbClr val="B8862B"/>
          </a:solidFill>
          <a:ln/>
        </p:spPr>
      </p:sp>
      <p:sp>
        <p:nvSpPr>
          <p:cNvPr id="32" name="bullet"/>
          <p:cNvSpPr txBox="1"/>
          <p:nvPr/>
        </p:nvSpPr>
        <p:spPr>
          <a:xfrm>
            <a:off x="1143000" y="3121829"/>
            <a:ext cx="4389120" cy="90390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To find a multiply rule, divide a term by the one before it.</a:t>
            </a:r>
            <a:endParaRPr lang="en-US" sz="2200" dirty="0"/>
          </a:p>
        </p:txBody>
      </p:sp>
      <p:sp>
        <p:nvSpPr>
          <p:cNvPr id="33" name="bullet-card"/>
          <p:cNvSpPr/>
          <p:nvPr/>
        </p:nvSpPr>
        <p:spPr>
          <a:xfrm>
            <a:off x="548640" y="4172035"/>
            <a:ext cx="5074920" cy="903901"/>
          </a:xfrm>
          <a:prstGeom prst="roundRect">
            <a:avLst>
              <a:gd name="adj" fmla="val 8093"/>
            </a:avLst>
          </a:prstGeom>
          <a:solidFill>
            <a:srgbClr val="F5F6F9"/>
          </a:solidFill>
          <a:ln/>
        </p:spPr>
      </p:sp>
      <p:sp>
        <p:nvSpPr>
          <p:cNvPr id="34" name="bullet-hex"/>
          <p:cNvSpPr/>
          <p:nvPr/>
        </p:nvSpPr>
        <p:spPr>
          <a:xfrm>
            <a:off x="676656" y="4457693"/>
            <a:ext cx="384048" cy="332586"/>
          </a:xfrm>
          <a:prstGeom prst="hexagon">
            <a:avLst/>
          </a:prstGeom>
          <a:solidFill>
            <a:srgbClr val="2E4A8C"/>
          </a:solidFill>
          <a:ln/>
        </p:spPr>
      </p:sp>
      <p:sp>
        <p:nvSpPr>
          <p:cNvPr id="35" name="bullet"/>
          <p:cNvSpPr txBox="1"/>
          <p:nvPr/>
        </p:nvSpPr>
        <p:spPr>
          <a:xfrm>
            <a:off x="1143000" y="4172035"/>
            <a:ext cx="4389120" cy="90390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Be careful: 3, 6, 9, 12 and 3, 6, 12, 24 both start with 3, 6.</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Using a rule to write a sequence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6F0E6"/>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Write each term down before you work out the next. Do not try to hold them in your head.</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963676"/>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The first term of a sequence is 4. The term-to-term rule is multiply the previous term by 3. Write the first 4 terms.</a:t>
            </a:r>
            <a:endParaRPr lang="en-US" sz="1800" dirty="0"/>
          </a:p>
        </p:txBody>
      </p:sp>
      <p:sp>
        <p:nvSpPr>
          <p:cNvPr id="14" name="step-box"/>
          <p:cNvSpPr/>
          <p:nvPr/>
        </p:nvSpPr>
        <p:spPr>
          <a:xfrm>
            <a:off x="6126480" y="3167380"/>
            <a:ext cx="5379415" cy="496570"/>
          </a:xfrm>
          <a:prstGeom prst="roundRect">
            <a:avLst>
              <a:gd name="adj" fmla="val 18414"/>
            </a:avLst>
          </a:prstGeom>
          <a:solidFill>
            <a:srgbClr val="F0F2F7"/>
          </a:solidFill>
          <a:ln/>
        </p:spPr>
      </p:sp>
      <p:sp>
        <p:nvSpPr>
          <p:cNvPr id="15" name="step-hex"/>
          <p:cNvSpPr/>
          <p:nvPr/>
        </p:nvSpPr>
        <p:spPr>
          <a:xfrm>
            <a:off x="6217920" y="3233535"/>
            <a:ext cx="420624" cy="364260"/>
          </a:xfrm>
          <a:prstGeom prst="hexagon">
            <a:avLst/>
          </a:prstGeom>
          <a:solidFill>
            <a:srgbClr val="2E4A8C"/>
          </a:solidFill>
          <a:ln/>
        </p:spPr>
      </p:sp>
      <p:sp>
        <p:nvSpPr>
          <p:cNvPr id="16" name="step-hex-label"/>
          <p:cNvSpPr txBox="1"/>
          <p:nvPr/>
        </p:nvSpPr>
        <p:spPr>
          <a:xfrm>
            <a:off x="6217920" y="3233535"/>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3167380"/>
            <a:ext cx="4739335" cy="49657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1st term: 4.</a:t>
            </a:r>
            <a:endParaRPr lang="en-US" sz="1800" dirty="0"/>
          </a:p>
        </p:txBody>
      </p:sp>
      <p:sp>
        <p:nvSpPr>
          <p:cNvPr id="18" name="step-box"/>
          <p:cNvSpPr/>
          <p:nvPr/>
        </p:nvSpPr>
        <p:spPr>
          <a:xfrm>
            <a:off x="6126480" y="3755390"/>
            <a:ext cx="5379415" cy="496570"/>
          </a:xfrm>
          <a:prstGeom prst="roundRect">
            <a:avLst>
              <a:gd name="adj" fmla="val 18414"/>
            </a:avLst>
          </a:prstGeom>
          <a:solidFill>
            <a:srgbClr val="F0F2F7"/>
          </a:solidFill>
          <a:ln/>
        </p:spPr>
      </p:sp>
      <p:sp>
        <p:nvSpPr>
          <p:cNvPr id="19" name="step-hex"/>
          <p:cNvSpPr/>
          <p:nvPr/>
        </p:nvSpPr>
        <p:spPr>
          <a:xfrm>
            <a:off x="6217920" y="3821545"/>
            <a:ext cx="420624" cy="364260"/>
          </a:xfrm>
          <a:prstGeom prst="hexagon">
            <a:avLst/>
          </a:prstGeom>
          <a:solidFill>
            <a:srgbClr val="2E4A8C"/>
          </a:solidFill>
          <a:ln/>
        </p:spPr>
      </p:sp>
      <p:sp>
        <p:nvSpPr>
          <p:cNvPr id="20" name="step-hex-label"/>
          <p:cNvSpPr txBox="1"/>
          <p:nvPr/>
        </p:nvSpPr>
        <p:spPr>
          <a:xfrm>
            <a:off x="6217920" y="3821545"/>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755390"/>
            <a:ext cx="4739335" cy="49657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2nd term: 4 × 3 = 12.</a:t>
            </a:r>
            <a:endParaRPr lang="en-US" sz="1800" dirty="0"/>
          </a:p>
        </p:txBody>
      </p:sp>
      <p:sp>
        <p:nvSpPr>
          <p:cNvPr id="22" name="step-box"/>
          <p:cNvSpPr/>
          <p:nvPr/>
        </p:nvSpPr>
        <p:spPr>
          <a:xfrm>
            <a:off x="6126480" y="4343400"/>
            <a:ext cx="5379415" cy="496570"/>
          </a:xfrm>
          <a:prstGeom prst="roundRect">
            <a:avLst>
              <a:gd name="adj" fmla="val 18414"/>
            </a:avLst>
          </a:prstGeom>
          <a:solidFill>
            <a:srgbClr val="F0F2F7"/>
          </a:solidFill>
          <a:ln/>
        </p:spPr>
      </p:sp>
      <p:sp>
        <p:nvSpPr>
          <p:cNvPr id="23" name="step-hex"/>
          <p:cNvSpPr/>
          <p:nvPr/>
        </p:nvSpPr>
        <p:spPr>
          <a:xfrm>
            <a:off x="6217920" y="4409555"/>
            <a:ext cx="420624" cy="364260"/>
          </a:xfrm>
          <a:prstGeom prst="hexagon">
            <a:avLst/>
          </a:prstGeom>
          <a:solidFill>
            <a:srgbClr val="2E4A8C"/>
          </a:solidFill>
          <a:ln/>
        </p:spPr>
      </p:sp>
      <p:sp>
        <p:nvSpPr>
          <p:cNvPr id="24" name="step-hex-label"/>
          <p:cNvSpPr txBox="1"/>
          <p:nvPr/>
        </p:nvSpPr>
        <p:spPr>
          <a:xfrm>
            <a:off x="6217920" y="4409555"/>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343400"/>
            <a:ext cx="4739335" cy="49657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3rd term: 12 × 3 = 36.</a:t>
            </a:r>
            <a:endParaRPr lang="en-US" sz="1800" dirty="0"/>
          </a:p>
        </p:txBody>
      </p:sp>
      <p:sp>
        <p:nvSpPr>
          <p:cNvPr id="26" name="step-box"/>
          <p:cNvSpPr/>
          <p:nvPr/>
        </p:nvSpPr>
        <p:spPr>
          <a:xfrm>
            <a:off x="6126480" y="4931410"/>
            <a:ext cx="5379415" cy="496570"/>
          </a:xfrm>
          <a:prstGeom prst="roundRect">
            <a:avLst>
              <a:gd name="adj" fmla="val 18414"/>
            </a:avLst>
          </a:prstGeom>
          <a:solidFill>
            <a:srgbClr val="F0F2F7"/>
          </a:solidFill>
          <a:ln/>
        </p:spPr>
      </p:sp>
      <p:sp>
        <p:nvSpPr>
          <p:cNvPr id="27" name="step-hex"/>
          <p:cNvSpPr/>
          <p:nvPr/>
        </p:nvSpPr>
        <p:spPr>
          <a:xfrm>
            <a:off x="6217920" y="4997565"/>
            <a:ext cx="420624" cy="364260"/>
          </a:xfrm>
          <a:prstGeom prst="hexagon">
            <a:avLst/>
          </a:prstGeom>
          <a:solidFill>
            <a:srgbClr val="2E4A8C"/>
          </a:solidFill>
          <a:ln/>
        </p:spPr>
      </p:sp>
      <p:sp>
        <p:nvSpPr>
          <p:cNvPr id="28" name="step-hex-label"/>
          <p:cNvSpPr txBox="1"/>
          <p:nvPr/>
        </p:nvSpPr>
        <p:spPr>
          <a:xfrm>
            <a:off x="6217920" y="4997565"/>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9" name="step"/>
          <p:cNvSpPr txBox="1"/>
          <p:nvPr/>
        </p:nvSpPr>
        <p:spPr>
          <a:xfrm>
            <a:off x="6766560" y="4931410"/>
            <a:ext cx="4739335" cy="49657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4th term: 36 × 3 = 108.</a:t>
            </a:r>
            <a:endParaRPr lang="en-US" sz="1800" dirty="0"/>
          </a:p>
        </p:txBody>
      </p:sp>
      <p:sp>
        <p:nvSpPr>
          <p:cNvPr id="30" name="worked-answer"/>
          <p:cNvSpPr/>
          <p:nvPr/>
        </p:nvSpPr>
        <p:spPr>
          <a:xfrm>
            <a:off x="6126480" y="5565140"/>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4, 12, 36, 108</a:t>
            </a:r>
            <a:endParaRPr lang="en-US" sz="1800" dirty="0"/>
          </a:p>
        </p:txBody>
      </p:sp>
      <p:sp>
        <p:nvSpPr>
          <p:cNvPr id="31" name="bullet-card"/>
          <p:cNvSpPr/>
          <p:nvPr/>
        </p:nvSpPr>
        <p:spPr>
          <a:xfrm>
            <a:off x="548640" y="1389888"/>
            <a:ext cx="5074920" cy="1265428"/>
          </a:xfrm>
          <a:prstGeom prst="roundRect">
            <a:avLst>
              <a:gd name="adj" fmla="val 5781"/>
            </a:avLst>
          </a:prstGeom>
          <a:solidFill>
            <a:srgbClr val="F5F6F9"/>
          </a:solidFill>
          <a:ln/>
        </p:spPr>
      </p:sp>
      <p:sp>
        <p:nvSpPr>
          <p:cNvPr id="32" name="bullet-hex"/>
          <p:cNvSpPr/>
          <p:nvPr/>
        </p:nvSpPr>
        <p:spPr>
          <a:xfrm>
            <a:off x="676656" y="1856309"/>
            <a:ext cx="384048" cy="332586"/>
          </a:xfrm>
          <a:prstGeom prst="hexagon">
            <a:avLst/>
          </a:prstGeom>
          <a:solidFill>
            <a:srgbClr val="2E4A8C"/>
          </a:solidFill>
          <a:ln/>
        </p:spPr>
      </p:sp>
      <p:sp>
        <p:nvSpPr>
          <p:cNvPr id="33" name="bullet"/>
          <p:cNvSpPr txBox="1"/>
          <p:nvPr/>
        </p:nvSpPr>
        <p:spPr>
          <a:xfrm>
            <a:off x="1143000" y="1389888"/>
            <a:ext cx="4389120" cy="126542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If you know the first term and the term-to-term rule, you can write the whole sequence.</a:t>
            </a:r>
            <a:endParaRPr lang="en-US" sz="2200" dirty="0"/>
          </a:p>
        </p:txBody>
      </p:sp>
      <p:sp>
        <p:nvSpPr>
          <p:cNvPr id="34" name="bullet-card"/>
          <p:cNvSpPr/>
          <p:nvPr/>
        </p:nvSpPr>
        <p:spPr>
          <a:xfrm>
            <a:off x="548640" y="2801620"/>
            <a:ext cx="5074920" cy="924560"/>
          </a:xfrm>
          <a:prstGeom prst="roundRect">
            <a:avLst>
              <a:gd name="adj" fmla="val 7912"/>
            </a:avLst>
          </a:prstGeom>
          <a:solidFill>
            <a:srgbClr val="F5F6F9"/>
          </a:solidFill>
          <a:ln/>
        </p:spPr>
      </p:sp>
      <p:sp>
        <p:nvSpPr>
          <p:cNvPr id="35" name="bullet-hex"/>
          <p:cNvSpPr/>
          <p:nvPr/>
        </p:nvSpPr>
        <p:spPr>
          <a:xfrm>
            <a:off x="676656" y="3097607"/>
            <a:ext cx="384048" cy="332586"/>
          </a:xfrm>
          <a:prstGeom prst="hexagon">
            <a:avLst/>
          </a:prstGeom>
          <a:solidFill>
            <a:srgbClr val="B8862B"/>
          </a:solidFill>
          <a:ln/>
        </p:spPr>
      </p:sp>
      <p:sp>
        <p:nvSpPr>
          <p:cNvPr id="36" name="bullet"/>
          <p:cNvSpPr txBox="1"/>
          <p:nvPr/>
        </p:nvSpPr>
        <p:spPr>
          <a:xfrm>
            <a:off x="1143000" y="2801620"/>
            <a:ext cx="4389120" cy="92456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First term 7, rule add 6 to the previous term: 7, 13, 19, 25, 31.</a:t>
            </a:r>
            <a:endParaRPr lang="en-US" sz="2200" dirty="0"/>
          </a:p>
        </p:txBody>
      </p:sp>
      <p:sp>
        <p:nvSpPr>
          <p:cNvPr id="37" name="bullet-card"/>
          <p:cNvSpPr/>
          <p:nvPr/>
        </p:nvSpPr>
        <p:spPr>
          <a:xfrm>
            <a:off x="548640" y="3872484"/>
            <a:ext cx="5074920" cy="924560"/>
          </a:xfrm>
          <a:prstGeom prst="roundRect">
            <a:avLst>
              <a:gd name="adj" fmla="val 7912"/>
            </a:avLst>
          </a:prstGeom>
          <a:solidFill>
            <a:srgbClr val="F5F6F9"/>
          </a:solidFill>
          <a:ln/>
        </p:spPr>
      </p:sp>
      <p:sp>
        <p:nvSpPr>
          <p:cNvPr id="38" name="bullet-hex"/>
          <p:cNvSpPr/>
          <p:nvPr/>
        </p:nvSpPr>
        <p:spPr>
          <a:xfrm>
            <a:off x="676656" y="4168471"/>
            <a:ext cx="384048" cy="332586"/>
          </a:xfrm>
          <a:prstGeom prst="hexagon">
            <a:avLst/>
          </a:prstGeom>
          <a:solidFill>
            <a:srgbClr val="2E4A8C"/>
          </a:solidFill>
          <a:ln/>
        </p:spPr>
      </p:sp>
      <p:sp>
        <p:nvSpPr>
          <p:cNvPr id="39" name="bullet"/>
          <p:cNvSpPr txBox="1"/>
          <p:nvPr/>
        </p:nvSpPr>
        <p:spPr>
          <a:xfrm>
            <a:off x="1143000" y="3872484"/>
            <a:ext cx="4389120" cy="92456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same rule with a different first term gives a different sequence.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Two-step rules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Two-step rule: do the first step, write it down, then do the second step.</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963676"/>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The first term is 2. The term-to-term rule is multiply the previous term by 2 and then add 3. Write the first four terms.</a:t>
            </a:r>
            <a:endParaRPr lang="en-US" sz="1800" dirty="0"/>
          </a:p>
        </p:txBody>
      </p:sp>
      <p:sp>
        <p:nvSpPr>
          <p:cNvPr id="14" name="step-box"/>
          <p:cNvSpPr/>
          <p:nvPr/>
        </p:nvSpPr>
        <p:spPr>
          <a:xfrm>
            <a:off x="6126480" y="3167380"/>
            <a:ext cx="5379415" cy="496570"/>
          </a:xfrm>
          <a:prstGeom prst="roundRect">
            <a:avLst>
              <a:gd name="adj" fmla="val 18414"/>
            </a:avLst>
          </a:prstGeom>
          <a:solidFill>
            <a:srgbClr val="F0F2F7"/>
          </a:solidFill>
          <a:ln/>
        </p:spPr>
      </p:sp>
      <p:sp>
        <p:nvSpPr>
          <p:cNvPr id="15" name="step-hex"/>
          <p:cNvSpPr/>
          <p:nvPr/>
        </p:nvSpPr>
        <p:spPr>
          <a:xfrm>
            <a:off x="6217920" y="3233535"/>
            <a:ext cx="420624" cy="364260"/>
          </a:xfrm>
          <a:prstGeom prst="hexagon">
            <a:avLst/>
          </a:prstGeom>
          <a:solidFill>
            <a:srgbClr val="2E4A8C"/>
          </a:solidFill>
          <a:ln/>
        </p:spPr>
      </p:sp>
      <p:sp>
        <p:nvSpPr>
          <p:cNvPr id="16" name="step-hex-label"/>
          <p:cNvSpPr txBox="1"/>
          <p:nvPr/>
        </p:nvSpPr>
        <p:spPr>
          <a:xfrm>
            <a:off x="6217920" y="3233535"/>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3167380"/>
            <a:ext cx="4739335" cy="49657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1st term: 2.</a:t>
            </a:r>
            <a:endParaRPr lang="en-US" sz="1800" dirty="0"/>
          </a:p>
        </p:txBody>
      </p:sp>
      <p:sp>
        <p:nvSpPr>
          <p:cNvPr id="18" name="step-box"/>
          <p:cNvSpPr/>
          <p:nvPr/>
        </p:nvSpPr>
        <p:spPr>
          <a:xfrm>
            <a:off x="6126480" y="3755390"/>
            <a:ext cx="5379415" cy="496570"/>
          </a:xfrm>
          <a:prstGeom prst="roundRect">
            <a:avLst>
              <a:gd name="adj" fmla="val 18414"/>
            </a:avLst>
          </a:prstGeom>
          <a:solidFill>
            <a:srgbClr val="F0F2F7"/>
          </a:solidFill>
          <a:ln/>
        </p:spPr>
      </p:sp>
      <p:sp>
        <p:nvSpPr>
          <p:cNvPr id="19" name="step-hex"/>
          <p:cNvSpPr/>
          <p:nvPr/>
        </p:nvSpPr>
        <p:spPr>
          <a:xfrm>
            <a:off x="6217920" y="3821545"/>
            <a:ext cx="420624" cy="364260"/>
          </a:xfrm>
          <a:prstGeom prst="hexagon">
            <a:avLst/>
          </a:prstGeom>
          <a:solidFill>
            <a:srgbClr val="2E4A8C"/>
          </a:solidFill>
          <a:ln/>
        </p:spPr>
      </p:sp>
      <p:sp>
        <p:nvSpPr>
          <p:cNvPr id="20" name="step-hex-label"/>
          <p:cNvSpPr txBox="1"/>
          <p:nvPr/>
        </p:nvSpPr>
        <p:spPr>
          <a:xfrm>
            <a:off x="6217920" y="3821545"/>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755390"/>
            <a:ext cx="4739335" cy="49657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2nd term: 2 × 2 = 4, then 4 + 3 = 7.</a:t>
            </a:r>
            <a:endParaRPr lang="en-US" sz="1800" dirty="0"/>
          </a:p>
        </p:txBody>
      </p:sp>
      <p:sp>
        <p:nvSpPr>
          <p:cNvPr id="22" name="step-box"/>
          <p:cNvSpPr/>
          <p:nvPr/>
        </p:nvSpPr>
        <p:spPr>
          <a:xfrm>
            <a:off x="6126480" y="4343400"/>
            <a:ext cx="5379415" cy="496570"/>
          </a:xfrm>
          <a:prstGeom prst="roundRect">
            <a:avLst>
              <a:gd name="adj" fmla="val 18414"/>
            </a:avLst>
          </a:prstGeom>
          <a:solidFill>
            <a:srgbClr val="F0F2F7"/>
          </a:solidFill>
          <a:ln/>
        </p:spPr>
      </p:sp>
      <p:sp>
        <p:nvSpPr>
          <p:cNvPr id="23" name="step-hex"/>
          <p:cNvSpPr/>
          <p:nvPr/>
        </p:nvSpPr>
        <p:spPr>
          <a:xfrm>
            <a:off x="6217920" y="4409555"/>
            <a:ext cx="420624" cy="364260"/>
          </a:xfrm>
          <a:prstGeom prst="hexagon">
            <a:avLst/>
          </a:prstGeom>
          <a:solidFill>
            <a:srgbClr val="2E4A8C"/>
          </a:solidFill>
          <a:ln/>
        </p:spPr>
      </p:sp>
      <p:sp>
        <p:nvSpPr>
          <p:cNvPr id="24" name="step-hex-label"/>
          <p:cNvSpPr txBox="1"/>
          <p:nvPr/>
        </p:nvSpPr>
        <p:spPr>
          <a:xfrm>
            <a:off x="6217920" y="4409555"/>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343400"/>
            <a:ext cx="4739335" cy="49657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3rd term: 7 × 2 = 14, then 14 + 3 = 17.</a:t>
            </a:r>
            <a:endParaRPr lang="en-US" sz="1800" dirty="0"/>
          </a:p>
        </p:txBody>
      </p:sp>
      <p:sp>
        <p:nvSpPr>
          <p:cNvPr id="26" name="step-box"/>
          <p:cNvSpPr/>
          <p:nvPr/>
        </p:nvSpPr>
        <p:spPr>
          <a:xfrm>
            <a:off x="6126480" y="4931410"/>
            <a:ext cx="5379415" cy="496570"/>
          </a:xfrm>
          <a:prstGeom prst="roundRect">
            <a:avLst>
              <a:gd name="adj" fmla="val 18414"/>
            </a:avLst>
          </a:prstGeom>
          <a:solidFill>
            <a:srgbClr val="F0F2F7"/>
          </a:solidFill>
          <a:ln/>
        </p:spPr>
      </p:sp>
      <p:sp>
        <p:nvSpPr>
          <p:cNvPr id="27" name="step-hex"/>
          <p:cNvSpPr/>
          <p:nvPr/>
        </p:nvSpPr>
        <p:spPr>
          <a:xfrm>
            <a:off x="6217920" y="4997565"/>
            <a:ext cx="420624" cy="364260"/>
          </a:xfrm>
          <a:prstGeom prst="hexagon">
            <a:avLst/>
          </a:prstGeom>
          <a:solidFill>
            <a:srgbClr val="2E4A8C"/>
          </a:solidFill>
          <a:ln/>
        </p:spPr>
      </p:sp>
      <p:sp>
        <p:nvSpPr>
          <p:cNvPr id="28" name="step-hex-label"/>
          <p:cNvSpPr txBox="1"/>
          <p:nvPr/>
        </p:nvSpPr>
        <p:spPr>
          <a:xfrm>
            <a:off x="6217920" y="4997565"/>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9" name="step"/>
          <p:cNvSpPr txBox="1"/>
          <p:nvPr/>
        </p:nvSpPr>
        <p:spPr>
          <a:xfrm>
            <a:off x="6766560" y="4931410"/>
            <a:ext cx="4739335" cy="49657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4th term: 17 × 2 = 34, then 34 + 3 = 37.</a:t>
            </a:r>
            <a:endParaRPr lang="en-US" sz="1800" dirty="0"/>
          </a:p>
        </p:txBody>
      </p:sp>
      <p:sp>
        <p:nvSpPr>
          <p:cNvPr id="30" name="worked-answer"/>
          <p:cNvSpPr/>
          <p:nvPr/>
        </p:nvSpPr>
        <p:spPr>
          <a:xfrm>
            <a:off x="6126480" y="5565140"/>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2, 7, 17, 37</a:t>
            </a:r>
            <a:endParaRPr lang="en-US" sz="1800" dirty="0"/>
          </a:p>
        </p:txBody>
      </p:sp>
      <p:sp>
        <p:nvSpPr>
          <p:cNvPr id="31" name="bullet-card"/>
          <p:cNvSpPr/>
          <p:nvPr/>
        </p:nvSpPr>
        <p:spPr>
          <a:xfrm>
            <a:off x="548640" y="1389888"/>
            <a:ext cx="5074920" cy="1358392"/>
          </a:xfrm>
          <a:prstGeom prst="roundRect">
            <a:avLst>
              <a:gd name="adj" fmla="val 5385"/>
            </a:avLst>
          </a:prstGeom>
          <a:solidFill>
            <a:srgbClr val="F5F6F9"/>
          </a:solidFill>
          <a:ln/>
        </p:spPr>
      </p:sp>
      <p:sp>
        <p:nvSpPr>
          <p:cNvPr id="32" name="bullet-hex"/>
          <p:cNvSpPr/>
          <p:nvPr/>
        </p:nvSpPr>
        <p:spPr>
          <a:xfrm>
            <a:off x="676656" y="1902791"/>
            <a:ext cx="384048" cy="332586"/>
          </a:xfrm>
          <a:prstGeom prst="hexagon">
            <a:avLst/>
          </a:prstGeom>
          <a:solidFill>
            <a:srgbClr val="2E4A8C"/>
          </a:solidFill>
          <a:ln/>
        </p:spPr>
      </p:sp>
      <p:sp>
        <p:nvSpPr>
          <p:cNvPr id="33" name="bullet"/>
          <p:cNvSpPr txBox="1"/>
          <p:nvPr/>
        </p:nvSpPr>
        <p:spPr>
          <a:xfrm>
            <a:off x="1143000" y="1389888"/>
            <a:ext cx="4389120" cy="13583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rule can have two steps. For example: multiply the previous term by 2 and then add 3.</a:t>
            </a:r>
            <a:endParaRPr lang="en-US" sz="2200" dirty="0"/>
          </a:p>
        </p:txBody>
      </p:sp>
      <p:sp>
        <p:nvSpPr>
          <p:cNvPr id="34" name="bullet-card"/>
          <p:cNvSpPr/>
          <p:nvPr/>
        </p:nvSpPr>
        <p:spPr>
          <a:xfrm>
            <a:off x="548640" y="2894584"/>
            <a:ext cx="5074920" cy="1017524"/>
          </a:xfrm>
          <a:prstGeom prst="roundRect">
            <a:avLst>
              <a:gd name="adj" fmla="val 7189"/>
            </a:avLst>
          </a:prstGeom>
          <a:solidFill>
            <a:srgbClr val="F5F6F9"/>
          </a:solidFill>
          <a:ln/>
        </p:spPr>
      </p:sp>
      <p:sp>
        <p:nvSpPr>
          <p:cNvPr id="35" name="bullet-hex"/>
          <p:cNvSpPr/>
          <p:nvPr/>
        </p:nvSpPr>
        <p:spPr>
          <a:xfrm>
            <a:off x="676656" y="3237053"/>
            <a:ext cx="384048" cy="332586"/>
          </a:xfrm>
          <a:prstGeom prst="hexagon">
            <a:avLst/>
          </a:prstGeom>
          <a:solidFill>
            <a:srgbClr val="B8862B"/>
          </a:solidFill>
          <a:ln/>
        </p:spPr>
      </p:sp>
      <p:sp>
        <p:nvSpPr>
          <p:cNvPr id="36" name="bullet"/>
          <p:cNvSpPr txBox="1"/>
          <p:nvPr/>
        </p:nvSpPr>
        <p:spPr>
          <a:xfrm>
            <a:off x="1143000" y="2894584"/>
            <a:ext cx="4389120" cy="101752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First term 1, rule multiply by 2 then add 3: 1 × 2 = 2, 2 + 3 = 5.</a:t>
            </a:r>
            <a:endParaRPr lang="en-US" sz="2200" dirty="0"/>
          </a:p>
        </p:txBody>
      </p:sp>
      <p:sp>
        <p:nvSpPr>
          <p:cNvPr id="37" name="bullet-card"/>
          <p:cNvSpPr/>
          <p:nvPr/>
        </p:nvSpPr>
        <p:spPr>
          <a:xfrm>
            <a:off x="548640" y="4058412"/>
            <a:ext cx="5074920" cy="1017524"/>
          </a:xfrm>
          <a:prstGeom prst="roundRect">
            <a:avLst>
              <a:gd name="adj" fmla="val 7189"/>
            </a:avLst>
          </a:prstGeom>
          <a:solidFill>
            <a:srgbClr val="F5F6F9"/>
          </a:solidFill>
          <a:ln/>
        </p:spPr>
      </p:sp>
      <p:sp>
        <p:nvSpPr>
          <p:cNvPr id="38" name="bullet-hex"/>
          <p:cNvSpPr/>
          <p:nvPr/>
        </p:nvSpPr>
        <p:spPr>
          <a:xfrm>
            <a:off x="676656" y="4400881"/>
            <a:ext cx="384048" cy="332586"/>
          </a:xfrm>
          <a:prstGeom prst="hexagon">
            <a:avLst/>
          </a:prstGeom>
          <a:solidFill>
            <a:srgbClr val="2E4A8C"/>
          </a:solidFill>
          <a:ln/>
        </p:spPr>
      </p:sp>
      <p:sp>
        <p:nvSpPr>
          <p:cNvPr id="39" name="bullet"/>
          <p:cNvSpPr txBox="1"/>
          <p:nvPr/>
        </p:nvSpPr>
        <p:spPr>
          <a:xfrm>
            <a:off x="1143000" y="4058412"/>
            <a:ext cx="4389120" cy="101752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order matters. 'Add 3 then multiply by 2' from 1 gives 8, not 5.</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The task: Write the rule</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sequence to its term-to-term rule.</a:t>
            </a:r>
            <a:endParaRPr lang="en-US" sz="2400" dirty="0"/>
          </a:p>
        </p:txBody>
      </p:sp>
      <p:sp>
        <p:nvSpPr>
          <p:cNvPr id="11" name="match-card"/>
          <p:cNvSpPr/>
          <p:nvPr/>
        </p:nvSpPr>
        <p:spPr>
          <a:xfrm>
            <a:off x="777240" y="2468331"/>
            <a:ext cx="3586857" cy="804809"/>
          </a:xfrm>
          <a:prstGeom prst="roundRect">
            <a:avLst>
              <a:gd name="adj" fmla="val 9089"/>
            </a:avLst>
          </a:prstGeom>
          <a:solidFill>
            <a:srgbClr val="F5F6F9"/>
          </a:solidFill>
          <a:ln/>
        </p:spPr>
      </p:sp>
      <p:sp>
        <p:nvSpPr>
          <p:cNvPr id="12" name="match-hex"/>
          <p:cNvSpPr/>
          <p:nvPr/>
        </p:nvSpPr>
        <p:spPr>
          <a:xfrm>
            <a:off x="850392" y="2704443"/>
            <a:ext cx="384048" cy="332586"/>
          </a:xfrm>
          <a:prstGeom prst="hexagon">
            <a:avLst/>
          </a:prstGeom>
          <a:solidFill>
            <a:srgbClr val="2E4A8C"/>
          </a:solidFill>
          <a:ln/>
        </p:spPr>
      </p:sp>
      <p:sp>
        <p:nvSpPr>
          <p:cNvPr id="13" name="match-hex-label"/>
          <p:cNvSpPr txBox="1"/>
          <p:nvPr/>
        </p:nvSpPr>
        <p:spPr>
          <a:xfrm>
            <a:off x="850392"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992497"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9, 13, 17, 21</a:t>
            </a:r>
            <a:endParaRPr lang="en-US" sz="2200" dirty="0"/>
          </a:p>
        </p:txBody>
      </p:sp>
      <p:sp>
        <p:nvSpPr>
          <p:cNvPr id="15" name="match-card"/>
          <p:cNvSpPr/>
          <p:nvPr/>
        </p:nvSpPr>
        <p:spPr>
          <a:xfrm>
            <a:off x="4729857" y="2468331"/>
            <a:ext cx="6684598" cy="804809"/>
          </a:xfrm>
          <a:prstGeom prst="roundRect">
            <a:avLst>
              <a:gd name="adj" fmla="val 9089"/>
            </a:avLst>
          </a:prstGeom>
          <a:solidFill>
            <a:srgbClr val="F9F4EC"/>
          </a:solidFill>
          <a:ln/>
        </p:spPr>
      </p:sp>
      <p:sp>
        <p:nvSpPr>
          <p:cNvPr id="16" name="match-hex"/>
          <p:cNvSpPr/>
          <p:nvPr/>
        </p:nvSpPr>
        <p:spPr>
          <a:xfrm>
            <a:off x="4803009" y="2704443"/>
            <a:ext cx="384048" cy="332586"/>
          </a:xfrm>
          <a:prstGeom prst="hexagon">
            <a:avLst/>
          </a:prstGeom>
          <a:solidFill>
            <a:srgbClr val="B8862B"/>
          </a:solidFill>
          <a:ln/>
        </p:spPr>
      </p:sp>
      <p:sp>
        <p:nvSpPr>
          <p:cNvPr id="17" name="match-hex-label"/>
          <p:cNvSpPr txBox="1"/>
          <p:nvPr/>
        </p:nvSpPr>
        <p:spPr>
          <a:xfrm>
            <a:off x="4803009"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5251065" y="2468331"/>
            <a:ext cx="6090238"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Divide the previous term by 2</a:t>
            </a:r>
            <a:endParaRPr lang="en-US" sz="2200" dirty="0"/>
          </a:p>
        </p:txBody>
      </p:sp>
      <p:sp>
        <p:nvSpPr>
          <p:cNvPr id="19" name="match-card"/>
          <p:cNvSpPr/>
          <p:nvPr/>
        </p:nvSpPr>
        <p:spPr>
          <a:xfrm>
            <a:off x="777240" y="3364581"/>
            <a:ext cx="3586857" cy="804809"/>
          </a:xfrm>
          <a:prstGeom prst="roundRect">
            <a:avLst>
              <a:gd name="adj" fmla="val 9089"/>
            </a:avLst>
          </a:prstGeom>
          <a:solidFill>
            <a:srgbClr val="F5F6F9"/>
          </a:solidFill>
          <a:ln/>
        </p:spPr>
      </p:sp>
      <p:sp>
        <p:nvSpPr>
          <p:cNvPr id="20" name="match-hex"/>
          <p:cNvSpPr/>
          <p:nvPr/>
        </p:nvSpPr>
        <p:spPr>
          <a:xfrm>
            <a:off x="850392" y="3600692"/>
            <a:ext cx="384048" cy="332586"/>
          </a:xfrm>
          <a:prstGeom prst="hexagon">
            <a:avLst/>
          </a:prstGeom>
          <a:solidFill>
            <a:srgbClr val="2E4A8C"/>
          </a:solidFill>
          <a:ln/>
        </p:spPr>
      </p:sp>
      <p:sp>
        <p:nvSpPr>
          <p:cNvPr id="21" name="match-hex-label"/>
          <p:cNvSpPr txBox="1"/>
          <p:nvPr/>
        </p:nvSpPr>
        <p:spPr>
          <a:xfrm>
            <a:off x="850392"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364581"/>
            <a:ext cx="2992497"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80, 40, 20, 10</a:t>
            </a:r>
            <a:endParaRPr lang="en-US" sz="2200" dirty="0"/>
          </a:p>
        </p:txBody>
      </p:sp>
      <p:sp>
        <p:nvSpPr>
          <p:cNvPr id="23" name="match-card"/>
          <p:cNvSpPr/>
          <p:nvPr/>
        </p:nvSpPr>
        <p:spPr>
          <a:xfrm>
            <a:off x="4729857" y="3364581"/>
            <a:ext cx="6684598" cy="804809"/>
          </a:xfrm>
          <a:prstGeom prst="roundRect">
            <a:avLst>
              <a:gd name="adj" fmla="val 9089"/>
            </a:avLst>
          </a:prstGeom>
          <a:solidFill>
            <a:srgbClr val="F9F4EC"/>
          </a:solidFill>
          <a:ln/>
        </p:spPr>
      </p:sp>
      <p:sp>
        <p:nvSpPr>
          <p:cNvPr id="24" name="match-hex"/>
          <p:cNvSpPr/>
          <p:nvPr/>
        </p:nvSpPr>
        <p:spPr>
          <a:xfrm>
            <a:off x="4803009" y="3600692"/>
            <a:ext cx="384048" cy="332586"/>
          </a:xfrm>
          <a:prstGeom prst="hexagon">
            <a:avLst/>
          </a:prstGeom>
          <a:solidFill>
            <a:srgbClr val="B8862B"/>
          </a:solidFill>
          <a:ln/>
        </p:spPr>
      </p:sp>
      <p:sp>
        <p:nvSpPr>
          <p:cNvPr id="25" name="match-hex-label"/>
          <p:cNvSpPr txBox="1"/>
          <p:nvPr/>
        </p:nvSpPr>
        <p:spPr>
          <a:xfrm>
            <a:off x="4803009"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5251065" y="3364581"/>
            <a:ext cx="6090238"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Subtract 4 from the previous term</a:t>
            </a:r>
            <a:endParaRPr lang="en-US" sz="2200" dirty="0"/>
          </a:p>
        </p:txBody>
      </p:sp>
      <p:sp>
        <p:nvSpPr>
          <p:cNvPr id="27" name="match-card"/>
          <p:cNvSpPr/>
          <p:nvPr/>
        </p:nvSpPr>
        <p:spPr>
          <a:xfrm>
            <a:off x="777240" y="4260830"/>
            <a:ext cx="3586857" cy="804809"/>
          </a:xfrm>
          <a:prstGeom prst="roundRect">
            <a:avLst>
              <a:gd name="adj" fmla="val 9089"/>
            </a:avLst>
          </a:prstGeom>
          <a:solidFill>
            <a:srgbClr val="F5F6F9"/>
          </a:solidFill>
          <a:ln/>
        </p:spPr>
      </p:sp>
      <p:sp>
        <p:nvSpPr>
          <p:cNvPr id="28" name="match-hex"/>
          <p:cNvSpPr/>
          <p:nvPr/>
        </p:nvSpPr>
        <p:spPr>
          <a:xfrm>
            <a:off x="850392" y="4496941"/>
            <a:ext cx="384048" cy="332586"/>
          </a:xfrm>
          <a:prstGeom prst="hexagon">
            <a:avLst/>
          </a:prstGeom>
          <a:solidFill>
            <a:srgbClr val="2E4A8C"/>
          </a:solidFill>
          <a:ln/>
        </p:spPr>
      </p:sp>
      <p:sp>
        <p:nvSpPr>
          <p:cNvPr id="29" name="match-hex-label"/>
          <p:cNvSpPr txBox="1"/>
          <p:nvPr/>
        </p:nvSpPr>
        <p:spPr>
          <a:xfrm>
            <a:off x="850392"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260830"/>
            <a:ext cx="2992497"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1, 4, 16, 64</a:t>
            </a:r>
            <a:endParaRPr lang="en-US" sz="2200" dirty="0"/>
          </a:p>
        </p:txBody>
      </p:sp>
      <p:sp>
        <p:nvSpPr>
          <p:cNvPr id="31" name="match-card"/>
          <p:cNvSpPr/>
          <p:nvPr/>
        </p:nvSpPr>
        <p:spPr>
          <a:xfrm>
            <a:off x="4729857" y="4260830"/>
            <a:ext cx="6684598" cy="804809"/>
          </a:xfrm>
          <a:prstGeom prst="roundRect">
            <a:avLst>
              <a:gd name="adj" fmla="val 9089"/>
            </a:avLst>
          </a:prstGeom>
          <a:solidFill>
            <a:srgbClr val="F9F4EC"/>
          </a:solidFill>
          <a:ln/>
        </p:spPr>
      </p:sp>
      <p:sp>
        <p:nvSpPr>
          <p:cNvPr id="32" name="match-hex"/>
          <p:cNvSpPr/>
          <p:nvPr/>
        </p:nvSpPr>
        <p:spPr>
          <a:xfrm>
            <a:off x="4803009" y="4496941"/>
            <a:ext cx="384048" cy="332586"/>
          </a:xfrm>
          <a:prstGeom prst="hexagon">
            <a:avLst/>
          </a:prstGeom>
          <a:solidFill>
            <a:srgbClr val="B8862B"/>
          </a:solidFill>
          <a:ln/>
        </p:spPr>
      </p:sp>
      <p:sp>
        <p:nvSpPr>
          <p:cNvPr id="33" name="match-hex-label"/>
          <p:cNvSpPr txBox="1"/>
          <p:nvPr/>
        </p:nvSpPr>
        <p:spPr>
          <a:xfrm>
            <a:off x="4803009"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5251065" y="4260830"/>
            <a:ext cx="6090238"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Add 4 to the previous term</a:t>
            </a:r>
            <a:endParaRPr lang="en-US" sz="2200" dirty="0"/>
          </a:p>
        </p:txBody>
      </p:sp>
      <p:sp>
        <p:nvSpPr>
          <p:cNvPr id="35" name="match-card"/>
          <p:cNvSpPr/>
          <p:nvPr/>
        </p:nvSpPr>
        <p:spPr>
          <a:xfrm>
            <a:off x="777240" y="5157079"/>
            <a:ext cx="3586857" cy="804809"/>
          </a:xfrm>
          <a:prstGeom prst="roundRect">
            <a:avLst>
              <a:gd name="adj" fmla="val 9089"/>
            </a:avLst>
          </a:prstGeom>
          <a:solidFill>
            <a:srgbClr val="F5F6F9"/>
          </a:solidFill>
          <a:ln/>
        </p:spPr>
      </p:sp>
      <p:sp>
        <p:nvSpPr>
          <p:cNvPr id="36" name="match-hex"/>
          <p:cNvSpPr/>
          <p:nvPr/>
        </p:nvSpPr>
        <p:spPr>
          <a:xfrm>
            <a:off x="850392" y="5393191"/>
            <a:ext cx="384048" cy="332586"/>
          </a:xfrm>
          <a:prstGeom prst="hexagon">
            <a:avLst/>
          </a:prstGeom>
          <a:solidFill>
            <a:srgbClr val="2E4A8C"/>
          </a:solidFill>
          <a:ln/>
        </p:spPr>
      </p:sp>
      <p:sp>
        <p:nvSpPr>
          <p:cNvPr id="37" name="match-hex-label"/>
          <p:cNvSpPr txBox="1"/>
          <p:nvPr/>
        </p:nvSpPr>
        <p:spPr>
          <a:xfrm>
            <a:off x="850392"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157079"/>
            <a:ext cx="2992497"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30, 26, 22, 18</a:t>
            </a:r>
            <a:endParaRPr lang="en-US" sz="2200" dirty="0"/>
          </a:p>
        </p:txBody>
      </p:sp>
      <p:sp>
        <p:nvSpPr>
          <p:cNvPr id="39" name="match-card"/>
          <p:cNvSpPr/>
          <p:nvPr/>
        </p:nvSpPr>
        <p:spPr>
          <a:xfrm>
            <a:off x="4729857" y="5157079"/>
            <a:ext cx="6684598" cy="804809"/>
          </a:xfrm>
          <a:prstGeom prst="roundRect">
            <a:avLst>
              <a:gd name="adj" fmla="val 9089"/>
            </a:avLst>
          </a:prstGeom>
          <a:solidFill>
            <a:srgbClr val="F9F4EC"/>
          </a:solidFill>
          <a:ln/>
        </p:spPr>
      </p:sp>
      <p:sp>
        <p:nvSpPr>
          <p:cNvPr id="40" name="match-hex"/>
          <p:cNvSpPr/>
          <p:nvPr/>
        </p:nvSpPr>
        <p:spPr>
          <a:xfrm>
            <a:off x="4803009" y="5393191"/>
            <a:ext cx="384048" cy="332586"/>
          </a:xfrm>
          <a:prstGeom prst="hexagon">
            <a:avLst/>
          </a:prstGeom>
          <a:solidFill>
            <a:srgbClr val="B8862B"/>
          </a:solidFill>
          <a:ln/>
        </p:spPr>
      </p:sp>
      <p:sp>
        <p:nvSpPr>
          <p:cNvPr id="41" name="match-hex-label"/>
          <p:cNvSpPr txBox="1"/>
          <p:nvPr/>
        </p:nvSpPr>
        <p:spPr>
          <a:xfrm>
            <a:off x="4803009"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5251065" y="5157079"/>
            <a:ext cx="6090238"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Multiply the previous term by 4</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Same task, three ways in: Write the rule</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sequence to its term-to-term rule.</a:t>
            </a:r>
            <a:endParaRPr lang="en-US" sz="2000" dirty="0"/>
          </a:p>
        </p:txBody>
      </p:sp>
      <p:sp>
        <p:nvSpPr>
          <p:cNvPr id="12" name="col-Support"/>
          <p:cNvSpPr/>
          <p:nvPr/>
        </p:nvSpPr>
        <p:spPr>
          <a:xfrm>
            <a:off x="548640" y="2578608"/>
            <a:ext cx="3515258" cy="3566160"/>
          </a:xfrm>
          <a:prstGeom prst="roundRect">
            <a:avLst>
              <a:gd name="adj" fmla="val 1561"/>
            </a:avLst>
          </a:prstGeom>
          <a:solidFill>
            <a:srgbClr val="F0F2F7"/>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3240938"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Decide if the terms go up or down.</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differences. If they are constant, the rule adds or subtracts that amount.</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If the differences change, divide each term by the one before to find the multiply or divide rule.</a:t>
            </a:r>
            <a:endParaRPr lang="en-US" sz="1800" dirty="0"/>
          </a:p>
        </p:txBody>
      </p:sp>
      <p:sp>
        <p:nvSpPr>
          <p:cNvPr id="17" name="col-Core"/>
          <p:cNvSpPr/>
          <p:nvPr/>
        </p:nvSpPr>
        <p:spPr>
          <a:xfrm>
            <a:off x="4338218" y="2578608"/>
            <a:ext cx="3515258" cy="3566160"/>
          </a:xfrm>
          <a:prstGeom prst="roundRect">
            <a:avLst>
              <a:gd name="adj" fmla="val 1561"/>
            </a:avLst>
          </a:prstGeom>
          <a:solidFill>
            <a:srgbClr val="D7DDE9"/>
          </a:solidFill>
          <a:ln/>
        </p:spPr>
      </p:sp>
      <p:sp>
        <p:nvSpPr>
          <p:cNvPr id="18" name="col-hex"/>
          <p:cNvSpPr/>
          <p:nvPr/>
        </p:nvSpPr>
        <p:spPr>
          <a:xfrm>
            <a:off x="4447946"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18688"/>
            <a:ext cx="3240938" cy="2816352"/>
          </a:xfrm>
          <a:prstGeom prst="rect">
            <a:avLst/>
          </a:prstGeom>
          <a:noFill/>
          <a:ln/>
        </p:spPr>
        <p:txBody>
          <a:bodyPr wrap="square" lIns="63500" tIns="63500" rIns="63500" bIns="63500" rtlCol="0" anchor="t"/>
          <a:lstStyle/>
          <a:p>
            <a:pPr algn="l" indent="0" marL="0">
              <a:buNone/>
            </a:pPr>
            <a:r>
              <a:rPr lang="en-US" sz="1800" b="1" dirty="0">
                <a:solidFill>
                  <a:srgbClr val="253B70"/>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Two of the sequences have a constant difference. The other two do not.</a:t>
            </a:r>
            <a:endParaRPr lang="en-US" sz="1800" dirty="0"/>
          </a:p>
        </p:txBody>
      </p:sp>
      <p:sp>
        <p:nvSpPr>
          <p:cNvPr id="22" name="col-Stretch"/>
          <p:cNvSpPr/>
          <p:nvPr/>
        </p:nvSpPr>
        <p:spPr>
          <a:xfrm>
            <a:off x="8127797" y="2578608"/>
            <a:ext cx="3515258" cy="3566160"/>
          </a:xfrm>
          <a:prstGeom prst="roundRect">
            <a:avLst>
              <a:gd name="adj" fmla="val 1561"/>
            </a:avLst>
          </a:prstGeom>
          <a:solidFill>
            <a:srgbClr val="2E4A8C"/>
          </a:solidFill>
          <a:ln/>
        </p:spPr>
      </p:sp>
      <p:sp>
        <p:nvSpPr>
          <p:cNvPr id="23" name="col-hex"/>
          <p:cNvSpPr/>
          <p:nvPr/>
        </p:nvSpPr>
        <p:spPr>
          <a:xfrm>
            <a:off x="8237525"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18688"/>
            <a:ext cx="3240938"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Find a first term for which the rule 'add 4 to the previous term' and the rule 'multiply the previous term by 2' give the same second term. Explain how you found 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Same task, three ways in: Use the rule</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The first term of a sequence is 50. The term-to-term rule is subtract 6 from the previous term. What is the 6th term?</a:t>
            </a:r>
            <a:endParaRPr lang="en-US" sz="2000" dirty="0"/>
          </a:p>
          <a:p>
            <a:pPr algn="ctr" indent="0" marL="0">
              <a:buNone/>
            </a:pPr>
            <a:r>
              <a:rPr lang="en-US" sz="1800" b="1" dirty="0">
                <a:solidFill>
                  <a:srgbClr val="2E4A8C"/>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a:t>
            </a:r>
            <a:endParaRPr lang="en-US" sz="2000" dirty="0"/>
          </a:p>
        </p:txBody>
      </p:sp>
      <p:sp>
        <p:nvSpPr>
          <p:cNvPr id="12" name="col-Support"/>
          <p:cNvSpPr/>
          <p:nvPr/>
        </p:nvSpPr>
        <p:spPr>
          <a:xfrm>
            <a:off x="548640" y="2948940"/>
            <a:ext cx="3515258" cy="3195828"/>
          </a:xfrm>
          <a:prstGeom prst="roundRect">
            <a:avLst>
              <a:gd name="adj" fmla="val 1717"/>
            </a:avLst>
          </a:prstGeom>
          <a:solidFill>
            <a:srgbClr val="F0F2F7"/>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3240938" cy="244602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the first term.</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Apply the rule to get the next term, and write it down.</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Keep going, counting the terms, until you reach the 6th.</a:t>
            </a:r>
            <a:endParaRPr lang="en-US" sz="1800" dirty="0"/>
          </a:p>
        </p:txBody>
      </p:sp>
      <p:sp>
        <p:nvSpPr>
          <p:cNvPr id="17" name="col-Core"/>
          <p:cNvSpPr/>
          <p:nvPr/>
        </p:nvSpPr>
        <p:spPr>
          <a:xfrm>
            <a:off x="4338218" y="2948940"/>
            <a:ext cx="3515258" cy="3195828"/>
          </a:xfrm>
          <a:prstGeom prst="roundRect">
            <a:avLst>
              <a:gd name="adj" fmla="val 1717"/>
            </a:avLst>
          </a:prstGeom>
          <a:solidFill>
            <a:srgbClr val="D7DDE9"/>
          </a:solidFill>
          <a:ln/>
        </p:spPr>
      </p:sp>
      <p:sp>
        <p:nvSpPr>
          <p:cNvPr id="18" name="col-hex"/>
          <p:cNvSpPr/>
          <p:nvPr/>
        </p:nvSpPr>
        <p:spPr>
          <a:xfrm>
            <a:off x="4447946"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589020"/>
            <a:ext cx="3240938" cy="2446020"/>
          </a:xfrm>
          <a:prstGeom prst="rect">
            <a:avLst/>
          </a:prstGeom>
          <a:noFill/>
          <a:ln/>
        </p:spPr>
        <p:txBody>
          <a:bodyPr wrap="square" lIns="63500" tIns="63500" rIns="63500" bIns="63500" rtlCol="0" anchor="t"/>
          <a:lstStyle/>
          <a:p>
            <a:pPr algn="l" indent="0" marL="0">
              <a:buNone/>
            </a:pPr>
            <a:r>
              <a:rPr lang="en-US" sz="1800" b="1" dirty="0">
                <a:solidFill>
                  <a:srgbClr val="253B70"/>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50 is the 1st term. Write each term down and count them.</a:t>
            </a:r>
            <a:endParaRPr lang="en-US" sz="1800" dirty="0"/>
          </a:p>
        </p:txBody>
      </p:sp>
      <p:sp>
        <p:nvSpPr>
          <p:cNvPr id="22" name="col-Stretch"/>
          <p:cNvSpPr/>
          <p:nvPr/>
        </p:nvSpPr>
        <p:spPr>
          <a:xfrm>
            <a:off x="8127797" y="2948940"/>
            <a:ext cx="3515258" cy="3195828"/>
          </a:xfrm>
          <a:prstGeom prst="roundRect">
            <a:avLst>
              <a:gd name="adj" fmla="val 1717"/>
            </a:avLst>
          </a:prstGeom>
          <a:solidFill>
            <a:srgbClr val="2E4A8C"/>
          </a:solidFill>
          <a:ln/>
        </p:spPr>
      </p:sp>
      <p:sp>
        <p:nvSpPr>
          <p:cNvPr id="23" name="col-hex"/>
          <p:cNvSpPr/>
          <p:nvPr/>
        </p:nvSpPr>
        <p:spPr>
          <a:xfrm>
            <a:off x="8237525"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589020"/>
            <a:ext cx="3240938" cy="244602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Which term of this sequence is the first one below zero? Explain how you know.</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2E4A8C"/>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2E4A8C"/>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124256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The first term of a sequence is 3. The term-to-term rule is multiply the previous term by 2 and then add 1. What is the 4th term?</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7F8FA"/>
          </a:solidFill>
          <a:ln w="12700">
            <a:solidFill>
              <a:srgbClr val="9DAAC9"/>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Write the rule</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9, 13, 17, 21  →  C  Add 4 to the previous term</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80, 40, 20, 10  →  A  Divide the previous term by 2</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1, 4, 16, 64  →  D  Multiply the previous term by 4</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30, 26, 22, 18  →  B  Subtract 4 from the previous term</a:t>
            </a:r>
            <a:endParaRPr lang="en-US" sz="24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9, 13, 17, 21 and 30, 26, 22, 18 change by 4 each time, one up and one down. 1, 4, 16, 64 is multiplied by 4 each time, and 80, 40, 20, 10 is divided by 2 each time.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Use the rule</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The first term of a sequence is 50. The term-to-term rule is subtract 6 from the previous term. What is the 6th term?</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20</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Start at 50 and subtract 6 for each new term: 50, 44, 38, 32, 26, 20. The 6th term is 20.</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The first term of a sequence is 3. The term-to-term rule is multiply the previous term by 2 and then add 1. What is the 4th term?</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31</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Apply the rule three times: 3 × 2 + 1 = 7, 7 × 2 + 1 = 15, 15 × 2 + 1 = 31.</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Ad Astra maths">
  <a:themeElements>
    <a:clrScheme name="Ad Astra maths">
      <a:dk1>
        <a:srgbClr val="1E2229"/>
      </a:dk1>
      <a:lt1>
        <a:srgbClr val="FFFFFF"/>
      </a:lt1>
      <a:dk2>
        <a:srgbClr val="253B70"/>
      </a:dk2>
      <a:lt2>
        <a:srgbClr val="F0F2F7"/>
      </a:lt2>
      <a:accent1>
        <a:srgbClr val="2E4A8C"/>
      </a:accent1>
      <a:accent2>
        <a:srgbClr val="B8862B"/>
      </a:accent2>
      <a:accent3>
        <a:srgbClr val="8292BA"/>
      </a:accent3>
      <a:accent4>
        <a:srgbClr val="815E1E"/>
      </a:accent4>
      <a:accent5>
        <a:srgbClr val="4A505C"/>
      </a:accent5>
      <a:accent6>
        <a:srgbClr val="DEC69B"/>
      </a:accent6>
      <a:hlink>
        <a:srgbClr val="2E4A8C"/>
      </a:hlink>
      <a:folHlink>
        <a:srgbClr val="203462"/>
      </a:folHlink>
    </a:clrScheme>
    <a:fontScheme name="Ad Astra math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Sequences · Chapter 5: Term-to-term rules</dc:title>
  <dc:subject>Mathematics · Year 7</dc:subject>
  <dc:creator>Dr Vitor Merissi de Carvalho</dc:creator>
  <cp:lastModifiedBy>Dr Vitor Merissi de Carvalho</cp:lastModifiedBy>
  <cp:revision>1</cp:revision>
  <dcterms:created xsi:type="dcterms:W3CDTF">2026-10-19T16:23:23Z</dcterms:created>
  <dcterms:modified xsi:type="dcterms:W3CDTF">2026-10-19T16:23:23Z</dcterms:modified>
</cp:coreProperties>
</file>