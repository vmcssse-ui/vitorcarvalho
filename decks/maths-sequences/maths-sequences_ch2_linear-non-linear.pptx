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aa674a-9af1-6767-3bf4-8ead11787145}">
          <p14:sldIdLst>
            <p14:sldId id="256"/>
          </p14:sldIdLst>
        </p14:section>
        <p14:section name="Gate" id="{98813ed3-551d-5812-c5b7-9dcd84cc3f9a}">
          <p14:sldIdLst>
            <p14:sldId id="257"/>
            <p14:sldId id="258"/>
          </p14:sldIdLst>
        </p14:section>
        <p14:section name="Pre-teach" id="{674477a3-f8d3-f4cc-d369-fa7affc17a07}">
          <p14:sldIdLst>
            <p14:sldId id="259"/>
            <p14:sldId id="260"/>
          </p14:sldIdLst>
        </p14:section>
        <p14:section name="Read-along" id="{bed4763d-026e-fa54-fa39-ba9ce9a4f0c4}">
          <p14:sldIdLst>
            <p14:sldId id="261"/>
            <p14:sldId id="262"/>
          </p14:sldIdLst>
        </p14:section>
        <p14:section name="Teach" id="{b04d79a6-5c94-b8d1-345a-f6b0544d1538}">
          <p14:sldIdLst>
            <p14:sldId id="263"/>
            <p14:sldId id="264"/>
            <p14:sldId id="265"/>
          </p14:sldIdLst>
        </p14:section>
        <p14:section name="Routes" id="{245ad259-7619-351c-15ba-9c0b6bff734d}">
          <p14:sldIdLst>
            <p14:sldId id="266"/>
            <p14:sldId id="267"/>
            <p14:sldId id="268"/>
          </p14:sldIdLst>
        </p14:section>
        <p14:section name="Close" id="{fa956490-fdd9-75ea-0c47-9e50e1ebceaa}">
          <p14:sldIdLst>
            <p14:sldId id="269"/>
          </p14:sldIdLst>
        </p14:section>
        <p14:section name="Answers" id="{026ecf5a-ee6b-8975-99e7-ca0760bc76c6}">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Linear and non-linear sequences. Use the differences between terms to tell a linear sequence from a non-linear one, and show sequences in tables and graphs.
This deck covers the department's lesson: 2 (Linear and non-linear sequences: How can you tell whether a sequence is linear or non-linear?).
Read the big question aloud: "How can you tell what comes next in a sequence, and how do you know you are right?"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sequences is linear?  →  B   4, 7, 10, 13
2. Here is a linear sequence: 7, 12, 17, 22. What is the difference between each term and the next?  →  5
3. A linear sequence has a ___ difference between each term and the next.  →  constant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4, 7, 10, 13. Only 4, 7, 10, 13 has a constant difference. Its differences are 3, 3, 3.
2. 5. 12 − 7 = 5, 17 − 12 = 5 and 22 − 17 = 5. The difference is 5.
3. constant. Linear means the same difference every time: the difference is constant.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linear sequence: a sequence that goes up or down by the same amount each time. Example: "4, 7, 10, 13 is a linear sequence."
• non-linear sequence: a sequence that does not go up or down by the same amount each time. Example: "1, 2, 4, 8 is a non-linear sequence."
• difference: the gap between one term and the next. Example: "The difference between 7 and 10 is 3."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constant: staying the same. Example: "In a linear sequence the difference is constant."
• ascending: going up. Example: "5, 9, 13 is ascending."
• descending: going down. Example: "30, 25, 20 is descending."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Look at the gaps between the terms of a sequence.
2. The gap between two terms next to each other is called the difference.
3. In 4, 7, 10, 13 the difference is always 3.
4. The difference is constant.
5. This is a linear sequence.
6. In 1, 2, 4, 8 the differences are 1, 2 and 4.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They are not the same.
8. This is a non-linear sequence.
9. A sequence that goes up is ascending.
10. A sequence that goes down is descending.
11. Linear sequences can be ascending or descending.
12. If you plot a linear sequence on a graph, the points make a straight line.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Constant difference. Say it in your own words, then check understanding with a quick question: ask a pupil from the pre-teach group first, since they met these words and ideas before the lesson. Pupils try to recall before you re-explain.
Write the difference between each pair of terms that are next to each other. For 4, 7, 10, 13 the differences are +3, +3, +3. The difference is constant, so this is a linear sequence.
For 2, 5, 11, 23 the differences are +3, +6, +12. They change, so this is a non-linear sequence. A non-linear sequence can still have a rule, but the rule is not 'add the same amount'.
A linear sequence is also called an arithmetic sequence. On a number line, its terms are equal jumps apart.
Worked example — model it step by step, thinking aloud: Here is a sequence: 40, 34, 28, 22, 16, … Find the differences. Is the sequence linear? What is the next term? (1) 40 − 34 = 6, 34 − 28 = 6, 28 − 22 = 6 and 22 − 16 = 6. (2) The difference is constant, so the sequence is linear. (3) The terms go down by 6, so the next term is 16 − 6 = 10. Answer: 10.
Tip: Work out every difference, not just the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Ascending and descending. Say it in your own words, then check understanding with a quick question: ask a pupil from the pre-teach group first, since they met these words and ideas before the lesson. Pupils try to recall before you re-explain.
A sequence that goes up is ascending. A sequence that goes down is descending. Both linear and non-linear sequences can go either way.
So a sequence can be described with two words. 50, 46, 42, 38 is linear and descending: it goes down by 4 each time. 3, 30, 300, 3000 is non-linear and ascending: it goes up, but by a different amount each time.
Some sequences do neither. 10, 5, 10, 5 goes down, then up, then down. It is non-linear, and it is not ascending or descending.
Worked example — model it step by step, thinking aloud: Describe the sequence 75, 65, 55, 45, … using the words linear or non-linear and ascending or descending. (1) The differences are −10, −10, −10: constant, so it is linear. (2) The terms get smaller, so it is descending. Answer: Linear and descending.
Tip: Two questions: is the difference constant? Are the terms getting bigger or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Tables and graphs. Say it in your own words, then check understanding with a quick question: ask a pupil from the pre-teach group first, since they met these words and ideas before the lesson. Pupils try to recall before you re-explain.
A table shows the position of each term and the term itself. Position 1, 2, 3, 4 with terms 3, 5, 7, 9 is a linear sequence that goes up by 2.
You can plot a sequence as a graph. Position goes along the bottom axis and the term goes up the side axis. For a linear sequence the points lie in a straight line.
For a non-linear sequence, such as 1, 4, 9, 16, the points curve upwards. The gaps between them get bigger as the position grows.
Worked example — model it step by step, thinking aloud: A table shows a sequence. Positions 1, 2, 3 and 4 have terms 3, 5, 7 and 9. Would the points lie in a straight line? What is the term at position 6? (1) The differences are 5 − 3 = 2, 7 − 5 = 2 and 9 − 7 = 2. The sequence is linear, so the points lie in a straight line. (2) Position 5: 9 + 2 = 11. (3) Position 6: 11 + 2 = 13. Answer: 13.
Tip: Straight line of points: linear. Curve: non-linear.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Linear or non-linear?.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Which of these sequences is non-linear?
Support — work through the steps with the group: (1) For each sequence, find the difference between each pair of terms that are next to each other. (2) Write the differences down. (3) If the differences are all the same the sequence is linear. If they change, it is non-linear.
Parallel worked example for Support (model it, do not give the task answer): Is 3, 7, 12, 18 linear or non-linear? 7 − 3 = 4, 12 − 7 = 5 and 18 − 12 = 6.; The differences change.; So the sequence is non-linear.. Answer: Non-linear.
Core — reveal the hint only on request: Work out the differences for each sequence. Which one has differences that change?
Stretch — no help; when finished: The sequence 5, 10, 20, 40 is non-linear, but it still has a rule. Describe the rule and find the next two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Describe the sequence.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sequence to its description.
Support — work through the steps with the group: (1) Decide if the terms get bigger (ascending) or smaller (descending). (2) Find the differences. Constant means linear, changing means non-linear. (3) Put the two words together.
Parallel worked example for Support (model it, do not give the task answer): Describe 8, 16, 32, 64 with two words. The terms get bigger: ascending.; The differences are 8, 16 and 32, which change: non-linear.. Answer: Non-linear and ascending.
Core — reveal the hint only on request: Sort them into ascending and descending first. Then look at the differences.
Stretch — no help; when finished: Write your own sequence for each of the four descriptions. Make each one start 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Describe the sequence.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sequence to its description.
Support — work through the steps with the group: (1) Decide if the terms get bigger (ascending) or smaller (descending). (2) Find the differences. Constant means linear, changing means non-linear. (3) Put the two words together.
Parallel worked example for Support (model it, do not give the task answer): Describe 8, 16, 32, 64 with two words. The terms get bigger: ascending.; The differences are 8, 16 and 32, which change: non-linear.. Answer: Non-linear and ascending.
Core — reveal the hint only on request: Sort them into ascending and descending first. Then look at the differences.
Stretch — no help; when finished: Write your own sequence for each of the four descriptions. Make each one start on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sequence is shown in a table. Positions 1, 2, 3 and 4 have terms 5, 8, 11 and 14. The points lie in a straight line when plotted. What is the term at position 7?
Answer: 23. The difference is 3. From position 4 to position 7 is 3 jumps of 3, which is 9. 14 + 9 = 23.
Source of this question: module 3 task ("Table and graph")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Linear or non-linear?. Reveal the answer; pupils mark their own work in a different colour, then read the "why" together. Same destination for every lane, so one answer serves the whole class.
Answer: C   5, 10, 20, 40
Why: 5, 10, 20, 40 has differences 5, 10 and 20, which change, so it is non-linear. The other three sequences each have a constant difference.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Describe the sequence. Reveal the answer; pupils mark their own work in a different colour, then read the "why" together. Same destination for every lane, so one answer serves the whole class.
Answer: 30, 27, 24, 21  →  B  linear and descending; 2, 6, 18, 54  →  C  non-linear and ascending; 4, 9, 14, 19  →  A  linear and ascending; 100, 50, 25, 12.5  →  D  non-linear and descending
Why: 30, 27, 24, 21 goes down by 3 each time; 4, 9, 14, 19 goes up by 5 each time. 2, 6, 18, 54 and 100, 50, 25, 12.5 change by a different amount each time, one going up and one going down.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23
Why: The difference is 3. From position 4 to position 7 is 3 jumps of 3, which is 9. 14 + 9 = 23.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Sequences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Sequences · AQA KS3 → 8300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Linear and non-linear sequences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0F2F7"/>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Linear and non-linear sequences</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can you tell what comes next in a sequence, and how do you know you are right?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sequences is linear?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3, 6, 12, 24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4, 7, 10, 13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2, 5, 10, 17</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2, 3, 5, 8</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Here is a linear sequence: 7, 12, 17, 22. What is the difference between each term and the next?</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linear sequence has a ___ difference between each term and the next.</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constant  ·  changing  ·  doubling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4, 7, 10, 13</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sequences is linear?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Only 4, 7, 10, 13 has a constant difference. Its differences are 3, 3, 3.</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5</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Here is a linear sequence: 7, 12, 17, 22. What is the difference between each term and the next?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12 − 7 = 5, 17 − 12 = 5 and 22 − 17 = 5. The difference is 5.</a:t>
            </a:r>
            <a:endParaRPr lang="en-US" sz="20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constant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linear sequence has a ___ difference between each term and the next.</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Linear means the same difference every time: the difference is constant.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6F9"/>
          </a:solidFill>
          <a:ln w="12700">
            <a:solidFill>
              <a:srgbClr val="B2BCD4"/>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linear sequence</a:t>
            </a:r>
            <a:endParaRPr lang="en-US" sz="2600" dirty="0"/>
          </a:p>
        </p:txBody>
      </p:sp>
      <p:sp>
        <p:nvSpPr>
          <p:cNvPr id="11" name="word-rule"/>
          <p:cNvSpPr/>
          <p:nvPr/>
        </p:nvSpPr>
        <p:spPr>
          <a:xfrm>
            <a:off x="731520" y="2129028"/>
            <a:ext cx="3149498" cy="0"/>
          </a:xfrm>
          <a:prstGeom prst="line">
            <a:avLst/>
          </a:prstGeom>
          <a:ln w="12700">
            <a:solidFill>
              <a:srgbClr val="B2BCD4"/>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sequence that goes up or down by the same amount each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4, 7, 10, 13 is a linear sequence.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6F9"/>
          </a:solidFill>
          <a:ln w="12700">
            <a:solidFill>
              <a:srgbClr val="B2BCD4"/>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non-linear sequence</a:t>
            </a:r>
            <a:endParaRPr lang="en-US" sz="2600" dirty="0"/>
          </a:p>
        </p:txBody>
      </p:sp>
      <p:sp>
        <p:nvSpPr>
          <p:cNvPr id="17" name="word-rule"/>
          <p:cNvSpPr/>
          <p:nvPr/>
        </p:nvSpPr>
        <p:spPr>
          <a:xfrm>
            <a:off x="4521098" y="2558288"/>
            <a:ext cx="3149498" cy="0"/>
          </a:xfrm>
          <a:prstGeom prst="line">
            <a:avLst/>
          </a:prstGeom>
          <a:ln w="12700">
            <a:solidFill>
              <a:srgbClr val="B2BCD4"/>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sequence that does not go up or down by the same amount each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1, 2, 4, 8 is a non-linear sequence.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6F9"/>
          </a:solidFill>
          <a:ln w="12700">
            <a:solidFill>
              <a:srgbClr val="B2BCD4"/>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difference</a:t>
            </a:r>
            <a:endParaRPr lang="en-US" sz="2600" dirty="0"/>
          </a:p>
        </p:txBody>
      </p:sp>
      <p:sp>
        <p:nvSpPr>
          <p:cNvPr id="23" name="word-rule"/>
          <p:cNvSpPr/>
          <p:nvPr/>
        </p:nvSpPr>
        <p:spPr>
          <a:xfrm>
            <a:off x="8310677" y="2129028"/>
            <a:ext cx="3149498" cy="0"/>
          </a:xfrm>
          <a:prstGeom prst="line">
            <a:avLst/>
          </a:prstGeom>
          <a:ln w="12700">
            <a:solidFill>
              <a:srgbClr val="B2BCD4"/>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gap between one term and the next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difference between 7 and 10 is 3.</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6F9"/>
          </a:solidFill>
          <a:ln w="12700">
            <a:solidFill>
              <a:srgbClr val="B2BCD4"/>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constant</a:t>
            </a:r>
            <a:endParaRPr lang="en-US" sz="2600" dirty="0"/>
          </a:p>
        </p:txBody>
      </p:sp>
      <p:sp>
        <p:nvSpPr>
          <p:cNvPr id="11" name="word-rule"/>
          <p:cNvSpPr/>
          <p:nvPr/>
        </p:nvSpPr>
        <p:spPr>
          <a:xfrm>
            <a:off x="731520" y="2129028"/>
            <a:ext cx="3149498" cy="0"/>
          </a:xfrm>
          <a:prstGeom prst="line">
            <a:avLst/>
          </a:prstGeom>
          <a:ln w="12700">
            <a:solidFill>
              <a:srgbClr val="B2BCD4"/>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staying the same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a linear sequence the difference is constant.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6F9"/>
          </a:solidFill>
          <a:ln w="12700">
            <a:solidFill>
              <a:srgbClr val="B2BCD4"/>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ascending</a:t>
            </a:r>
            <a:endParaRPr lang="en-US" sz="2600" dirty="0"/>
          </a:p>
        </p:txBody>
      </p:sp>
      <p:sp>
        <p:nvSpPr>
          <p:cNvPr id="17" name="word-rule"/>
          <p:cNvSpPr/>
          <p:nvPr/>
        </p:nvSpPr>
        <p:spPr>
          <a:xfrm>
            <a:off x="4521098" y="2129028"/>
            <a:ext cx="3149498" cy="0"/>
          </a:xfrm>
          <a:prstGeom prst="line">
            <a:avLst/>
          </a:prstGeom>
          <a:ln w="12700">
            <a:solidFill>
              <a:srgbClr val="B2BCD4"/>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going up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5, 9, 13 is ascending.</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6F9"/>
          </a:solidFill>
          <a:ln w="12700">
            <a:solidFill>
              <a:srgbClr val="B2BCD4"/>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descending</a:t>
            </a:r>
            <a:endParaRPr lang="en-US" sz="2600" dirty="0"/>
          </a:p>
        </p:txBody>
      </p:sp>
      <p:sp>
        <p:nvSpPr>
          <p:cNvPr id="23" name="word-rule"/>
          <p:cNvSpPr/>
          <p:nvPr/>
        </p:nvSpPr>
        <p:spPr>
          <a:xfrm>
            <a:off x="8310677" y="2129028"/>
            <a:ext cx="3149498" cy="0"/>
          </a:xfrm>
          <a:prstGeom prst="line">
            <a:avLst/>
          </a:prstGeom>
          <a:ln w="12700">
            <a:solidFill>
              <a:srgbClr val="B2BCD4"/>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going down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30, 25, 20 is descending.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Look at the gaps between the terms of a sequence.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gap between two terms next to each other is called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difference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4, 7, 10, 13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difference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always 3.</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difference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constant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linear 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 2, 4, 8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differences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1, 2 and 4.</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They are not the same.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This is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non-linear 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sequence that goes up is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ascending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sequence that goes down is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descending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Linear sequences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can be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ascending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or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descending</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If you plot 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linear sequence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on a graph, the points make a straight line.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Constant difference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Work out every difference, not just the first one.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Here is a sequence: 40, 34, 28, 22, 16, … Find the differences. Is the sequence linear? What is the next term?</a:t>
            </a:r>
            <a:endParaRPr lang="en-US" sz="1800" dirty="0"/>
          </a:p>
        </p:txBody>
      </p:sp>
      <p:sp>
        <p:nvSpPr>
          <p:cNvPr id="14" name="step-box"/>
          <p:cNvSpPr/>
          <p:nvPr/>
        </p:nvSpPr>
        <p:spPr>
          <a:xfrm>
            <a:off x="6126480" y="3167380"/>
            <a:ext cx="5379415" cy="692573"/>
          </a:xfrm>
          <a:prstGeom prst="roundRect">
            <a:avLst>
              <a:gd name="adj" fmla="val 13203"/>
            </a:avLst>
          </a:prstGeom>
          <a:solidFill>
            <a:srgbClr val="F0F2F7"/>
          </a:solidFill>
          <a:ln/>
        </p:spPr>
      </p:sp>
      <p:sp>
        <p:nvSpPr>
          <p:cNvPr id="15" name="step-hex"/>
          <p:cNvSpPr/>
          <p:nvPr/>
        </p:nvSpPr>
        <p:spPr>
          <a:xfrm>
            <a:off x="6217920" y="3331536"/>
            <a:ext cx="420624" cy="364260"/>
          </a:xfrm>
          <a:prstGeom prst="hexagon">
            <a:avLst/>
          </a:prstGeom>
          <a:solidFill>
            <a:srgbClr val="2E4A8C"/>
          </a:solidFill>
          <a:ln/>
        </p:spPr>
      </p:sp>
      <p:sp>
        <p:nvSpPr>
          <p:cNvPr id="16" name="step-hex-label"/>
          <p:cNvSpPr txBox="1"/>
          <p:nvPr/>
        </p:nvSpPr>
        <p:spPr>
          <a:xfrm>
            <a:off x="6217920" y="333153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40 − 34 = 6, 34 − 28 = 6, 28 − 22 = 6 and 22 − 16 = 6.</a:t>
            </a:r>
            <a:endParaRPr lang="en-US" sz="1800" dirty="0"/>
          </a:p>
        </p:txBody>
      </p:sp>
      <p:sp>
        <p:nvSpPr>
          <p:cNvPr id="18" name="step-box"/>
          <p:cNvSpPr/>
          <p:nvPr/>
        </p:nvSpPr>
        <p:spPr>
          <a:xfrm>
            <a:off x="6126480" y="3951393"/>
            <a:ext cx="5379415" cy="692573"/>
          </a:xfrm>
          <a:prstGeom prst="roundRect">
            <a:avLst>
              <a:gd name="adj" fmla="val 13203"/>
            </a:avLst>
          </a:prstGeom>
          <a:solidFill>
            <a:srgbClr val="F0F2F7"/>
          </a:solidFill>
          <a:ln/>
        </p:spPr>
      </p:sp>
      <p:sp>
        <p:nvSpPr>
          <p:cNvPr id="19" name="step-hex"/>
          <p:cNvSpPr/>
          <p:nvPr/>
        </p:nvSpPr>
        <p:spPr>
          <a:xfrm>
            <a:off x="6217920" y="4115550"/>
            <a:ext cx="420624" cy="364260"/>
          </a:xfrm>
          <a:prstGeom prst="hexagon">
            <a:avLst/>
          </a:prstGeom>
          <a:solidFill>
            <a:srgbClr val="2E4A8C"/>
          </a:solidFill>
          <a:ln/>
        </p:spPr>
      </p:sp>
      <p:sp>
        <p:nvSpPr>
          <p:cNvPr id="20" name="step-hex-label"/>
          <p:cNvSpPr txBox="1"/>
          <p:nvPr/>
        </p:nvSpPr>
        <p:spPr>
          <a:xfrm>
            <a:off x="6217920" y="41155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951393"/>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difference is constant, so the sequence is linear.</a:t>
            </a:r>
            <a:endParaRPr lang="en-US" sz="1800" dirty="0"/>
          </a:p>
        </p:txBody>
      </p:sp>
      <p:sp>
        <p:nvSpPr>
          <p:cNvPr id="22" name="step-box"/>
          <p:cNvSpPr/>
          <p:nvPr/>
        </p:nvSpPr>
        <p:spPr>
          <a:xfrm>
            <a:off x="6126480" y="4735407"/>
            <a:ext cx="5379415" cy="692573"/>
          </a:xfrm>
          <a:prstGeom prst="roundRect">
            <a:avLst>
              <a:gd name="adj" fmla="val 13203"/>
            </a:avLst>
          </a:prstGeom>
          <a:solidFill>
            <a:srgbClr val="F0F2F7"/>
          </a:solidFill>
          <a:ln/>
        </p:spPr>
      </p:sp>
      <p:sp>
        <p:nvSpPr>
          <p:cNvPr id="23" name="step-hex"/>
          <p:cNvSpPr/>
          <p:nvPr/>
        </p:nvSpPr>
        <p:spPr>
          <a:xfrm>
            <a:off x="6217920" y="4899563"/>
            <a:ext cx="420624" cy="364260"/>
          </a:xfrm>
          <a:prstGeom prst="hexagon">
            <a:avLst/>
          </a:prstGeom>
          <a:solidFill>
            <a:srgbClr val="2E4A8C"/>
          </a:solidFill>
          <a:ln/>
        </p:spPr>
      </p:sp>
      <p:sp>
        <p:nvSpPr>
          <p:cNvPr id="24" name="step-hex-label"/>
          <p:cNvSpPr txBox="1"/>
          <p:nvPr/>
        </p:nvSpPr>
        <p:spPr>
          <a:xfrm>
            <a:off x="6217920" y="489956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35407"/>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terms go down by 6, so the next term is 16 − 6 = 10.</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10</a:t>
            </a:r>
            <a:endParaRPr lang="en-US" sz="1800" dirty="0"/>
          </a:p>
        </p:txBody>
      </p:sp>
      <p:sp>
        <p:nvSpPr>
          <p:cNvPr id="27" name="bullet-card"/>
          <p:cNvSpPr/>
          <p:nvPr/>
        </p:nvSpPr>
        <p:spPr>
          <a:xfrm>
            <a:off x="548640" y="1389888"/>
            <a:ext cx="5074920" cy="1027853"/>
          </a:xfrm>
          <a:prstGeom prst="roundRect">
            <a:avLst>
              <a:gd name="adj" fmla="val 7117"/>
            </a:avLst>
          </a:prstGeom>
          <a:solidFill>
            <a:srgbClr val="F5F6F9"/>
          </a:solidFill>
          <a:ln/>
        </p:spPr>
      </p:sp>
      <p:sp>
        <p:nvSpPr>
          <p:cNvPr id="28" name="bullet-hex"/>
          <p:cNvSpPr/>
          <p:nvPr/>
        </p:nvSpPr>
        <p:spPr>
          <a:xfrm>
            <a:off x="676656" y="1737522"/>
            <a:ext cx="384048" cy="332586"/>
          </a:xfrm>
          <a:prstGeom prst="hexagon">
            <a:avLst/>
          </a:prstGeom>
          <a:solidFill>
            <a:srgbClr val="2E4A8C"/>
          </a:solidFill>
          <a:ln/>
        </p:spPr>
      </p:sp>
      <p:sp>
        <p:nvSpPr>
          <p:cNvPr id="29" name="bullet"/>
          <p:cNvSpPr txBox="1"/>
          <p:nvPr/>
        </p:nvSpPr>
        <p:spPr>
          <a:xfrm>
            <a:off x="1143000" y="1389888"/>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Write the difference between each pair of terms that are next to each other.</a:t>
            </a:r>
            <a:endParaRPr lang="en-US" sz="2000" dirty="0"/>
          </a:p>
        </p:txBody>
      </p:sp>
      <p:sp>
        <p:nvSpPr>
          <p:cNvPr id="30" name="bullet-card"/>
          <p:cNvSpPr/>
          <p:nvPr/>
        </p:nvSpPr>
        <p:spPr>
          <a:xfrm>
            <a:off x="548640" y="2564045"/>
            <a:ext cx="5074920" cy="1027853"/>
          </a:xfrm>
          <a:prstGeom prst="roundRect">
            <a:avLst>
              <a:gd name="adj" fmla="val 7117"/>
            </a:avLst>
          </a:prstGeom>
          <a:solidFill>
            <a:srgbClr val="F5F6F9"/>
          </a:solidFill>
          <a:ln/>
        </p:spPr>
      </p:sp>
      <p:sp>
        <p:nvSpPr>
          <p:cNvPr id="31" name="bullet-hex"/>
          <p:cNvSpPr/>
          <p:nvPr/>
        </p:nvSpPr>
        <p:spPr>
          <a:xfrm>
            <a:off x="676656" y="2911679"/>
            <a:ext cx="384048" cy="332586"/>
          </a:xfrm>
          <a:prstGeom prst="hexagon">
            <a:avLst/>
          </a:prstGeom>
          <a:solidFill>
            <a:srgbClr val="B8862B"/>
          </a:solidFill>
          <a:ln/>
        </p:spPr>
      </p:sp>
      <p:sp>
        <p:nvSpPr>
          <p:cNvPr id="32" name="bullet"/>
          <p:cNvSpPr txBox="1"/>
          <p:nvPr/>
        </p:nvSpPr>
        <p:spPr>
          <a:xfrm>
            <a:off x="1143000" y="2564045"/>
            <a:ext cx="4389120" cy="102785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 2, 5, 11, 23 the differences are +3, +6, +12.</a:t>
            </a:r>
            <a:endParaRPr lang="en-US" sz="2000" dirty="0"/>
          </a:p>
        </p:txBody>
      </p:sp>
      <p:sp>
        <p:nvSpPr>
          <p:cNvPr id="33" name="bullet-card"/>
          <p:cNvSpPr/>
          <p:nvPr/>
        </p:nvSpPr>
        <p:spPr>
          <a:xfrm>
            <a:off x="548640" y="3738203"/>
            <a:ext cx="5074920" cy="1337733"/>
          </a:xfrm>
          <a:prstGeom prst="roundRect">
            <a:avLst>
              <a:gd name="adj" fmla="val 5468"/>
            </a:avLst>
          </a:prstGeom>
          <a:solidFill>
            <a:srgbClr val="F5F6F9"/>
          </a:solidFill>
          <a:ln/>
        </p:spPr>
      </p:sp>
      <p:sp>
        <p:nvSpPr>
          <p:cNvPr id="34" name="bullet-hex"/>
          <p:cNvSpPr/>
          <p:nvPr/>
        </p:nvSpPr>
        <p:spPr>
          <a:xfrm>
            <a:off x="676656" y="4240777"/>
            <a:ext cx="384048" cy="332586"/>
          </a:xfrm>
          <a:prstGeom prst="hexagon">
            <a:avLst/>
          </a:prstGeom>
          <a:solidFill>
            <a:srgbClr val="2E4A8C"/>
          </a:solidFill>
          <a:ln/>
        </p:spPr>
      </p:sp>
      <p:sp>
        <p:nvSpPr>
          <p:cNvPr id="35" name="bullet"/>
          <p:cNvSpPr txBox="1"/>
          <p:nvPr/>
        </p:nvSpPr>
        <p:spPr>
          <a:xfrm>
            <a:off x="1143000" y="3738203"/>
            <a:ext cx="4389120" cy="1337733"/>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linear sequence is also called an arithmetic sequence. On a number line, its terms are equal jumps apart.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Ascending and descending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questions: is the difference constant? Are the terms getting bigger or smaller?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Describe the sequence 75, 65, 55, 45, … using the words linear or non-linear and ascending or descending.</a:t>
            </a:r>
            <a:endParaRPr lang="en-US" sz="1800" dirty="0"/>
          </a:p>
        </p:txBody>
      </p:sp>
      <p:sp>
        <p:nvSpPr>
          <p:cNvPr id="14" name="step-box"/>
          <p:cNvSpPr/>
          <p:nvPr/>
        </p:nvSpPr>
        <p:spPr>
          <a:xfrm>
            <a:off x="6126480" y="3167380"/>
            <a:ext cx="5379415" cy="794512"/>
          </a:xfrm>
          <a:prstGeom prst="roundRect">
            <a:avLst>
              <a:gd name="adj" fmla="val 11509"/>
            </a:avLst>
          </a:prstGeom>
          <a:solidFill>
            <a:srgbClr val="F0F2F7"/>
          </a:solidFill>
          <a:ln/>
        </p:spPr>
      </p:sp>
      <p:sp>
        <p:nvSpPr>
          <p:cNvPr id="15" name="step-hex"/>
          <p:cNvSpPr/>
          <p:nvPr/>
        </p:nvSpPr>
        <p:spPr>
          <a:xfrm>
            <a:off x="6217920" y="3382506"/>
            <a:ext cx="420624" cy="364260"/>
          </a:xfrm>
          <a:prstGeom prst="hexagon">
            <a:avLst/>
          </a:prstGeom>
          <a:solidFill>
            <a:srgbClr val="2E4A8C"/>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differences are −10, −10, −10: constant, so it is linear.</a:t>
            </a:r>
            <a:endParaRPr lang="en-US" sz="1800" dirty="0"/>
          </a:p>
        </p:txBody>
      </p:sp>
      <p:sp>
        <p:nvSpPr>
          <p:cNvPr id="18" name="step-box"/>
          <p:cNvSpPr/>
          <p:nvPr/>
        </p:nvSpPr>
        <p:spPr>
          <a:xfrm>
            <a:off x="6126480" y="4053332"/>
            <a:ext cx="5379415" cy="566928"/>
          </a:xfrm>
          <a:prstGeom prst="roundRect">
            <a:avLst>
              <a:gd name="adj" fmla="val 16129"/>
            </a:avLst>
          </a:prstGeom>
          <a:solidFill>
            <a:srgbClr val="F0F2F7"/>
          </a:solidFill>
          <a:ln/>
        </p:spPr>
      </p:sp>
      <p:sp>
        <p:nvSpPr>
          <p:cNvPr id="19" name="step-hex"/>
          <p:cNvSpPr/>
          <p:nvPr/>
        </p:nvSpPr>
        <p:spPr>
          <a:xfrm>
            <a:off x="6217920" y="4154666"/>
            <a:ext cx="420624" cy="364260"/>
          </a:xfrm>
          <a:prstGeom prst="hexagon">
            <a:avLst/>
          </a:prstGeom>
          <a:solidFill>
            <a:srgbClr val="2E4A8C"/>
          </a:solidFill>
          <a:ln/>
        </p:spPr>
      </p:sp>
      <p:sp>
        <p:nvSpPr>
          <p:cNvPr id="20"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terms get smaller, so it is descending.</a:t>
            </a:r>
            <a:endParaRPr lang="en-US" sz="1800" dirty="0"/>
          </a:p>
        </p:txBody>
      </p:sp>
      <p:sp>
        <p:nvSpPr>
          <p:cNvPr id="22" name="worked-answer"/>
          <p:cNvSpPr/>
          <p:nvPr/>
        </p:nvSpPr>
        <p:spPr>
          <a:xfrm>
            <a:off x="6126480" y="4757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Linear and descending</a:t>
            </a:r>
            <a:endParaRPr lang="en-US" sz="1800" dirty="0"/>
          </a:p>
        </p:txBody>
      </p:sp>
      <p:sp>
        <p:nvSpPr>
          <p:cNvPr id="23" name="bullet-card"/>
          <p:cNvSpPr/>
          <p:nvPr/>
        </p:nvSpPr>
        <p:spPr>
          <a:xfrm>
            <a:off x="548640" y="1389888"/>
            <a:ext cx="5074920" cy="945219"/>
          </a:xfrm>
          <a:prstGeom prst="roundRect">
            <a:avLst>
              <a:gd name="adj" fmla="val 7739"/>
            </a:avLst>
          </a:prstGeom>
          <a:solidFill>
            <a:srgbClr val="F5F6F9"/>
          </a:solidFill>
          <a:ln/>
        </p:spPr>
      </p:sp>
      <p:sp>
        <p:nvSpPr>
          <p:cNvPr id="24" name="bullet-hex"/>
          <p:cNvSpPr/>
          <p:nvPr/>
        </p:nvSpPr>
        <p:spPr>
          <a:xfrm>
            <a:off x="676656" y="1696205"/>
            <a:ext cx="384048" cy="332586"/>
          </a:xfrm>
          <a:prstGeom prst="hexagon">
            <a:avLst/>
          </a:prstGeom>
          <a:solidFill>
            <a:srgbClr val="2E4A8C"/>
          </a:solidFill>
          <a:ln/>
        </p:spPr>
      </p:sp>
      <p:sp>
        <p:nvSpPr>
          <p:cNvPr id="25" name="bullet"/>
          <p:cNvSpPr txBox="1"/>
          <p:nvPr/>
        </p:nvSpPr>
        <p:spPr>
          <a:xfrm>
            <a:off x="1143000" y="1389888"/>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sequence that goes up is ascending. A sequence that goes down is descending.</a:t>
            </a:r>
            <a:endParaRPr lang="en-US" sz="1800" dirty="0"/>
          </a:p>
        </p:txBody>
      </p:sp>
      <p:sp>
        <p:nvSpPr>
          <p:cNvPr id="26" name="bullet-card"/>
          <p:cNvSpPr/>
          <p:nvPr/>
        </p:nvSpPr>
        <p:spPr>
          <a:xfrm>
            <a:off x="548640" y="2481411"/>
            <a:ext cx="5074920" cy="1224111"/>
          </a:xfrm>
          <a:prstGeom prst="roundRect">
            <a:avLst>
              <a:gd name="adj" fmla="val 5976"/>
            </a:avLst>
          </a:prstGeom>
          <a:solidFill>
            <a:srgbClr val="F5F6F9"/>
          </a:solidFill>
          <a:ln/>
        </p:spPr>
      </p:sp>
      <p:sp>
        <p:nvSpPr>
          <p:cNvPr id="27" name="bullet-hex"/>
          <p:cNvSpPr/>
          <p:nvPr/>
        </p:nvSpPr>
        <p:spPr>
          <a:xfrm>
            <a:off x="676656" y="2927173"/>
            <a:ext cx="384048" cy="332586"/>
          </a:xfrm>
          <a:prstGeom prst="hexagon">
            <a:avLst/>
          </a:prstGeom>
          <a:solidFill>
            <a:srgbClr val="B8862B"/>
          </a:solidFill>
          <a:ln/>
        </p:spPr>
      </p:sp>
      <p:sp>
        <p:nvSpPr>
          <p:cNvPr id="28" name="bullet"/>
          <p:cNvSpPr txBox="1"/>
          <p:nvPr/>
        </p:nvSpPr>
        <p:spPr>
          <a:xfrm>
            <a:off x="1143000" y="2481411"/>
            <a:ext cx="4389120" cy="122411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a sequence can be described with two words. 50, 46, 42, 38 is linear and descending: it goes down by 4 each time.</a:t>
            </a:r>
            <a:endParaRPr lang="en-US" sz="1800" dirty="0"/>
          </a:p>
        </p:txBody>
      </p:sp>
      <p:sp>
        <p:nvSpPr>
          <p:cNvPr id="29" name="bullet-card"/>
          <p:cNvSpPr/>
          <p:nvPr/>
        </p:nvSpPr>
        <p:spPr>
          <a:xfrm>
            <a:off x="548640" y="3851825"/>
            <a:ext cx="5074920" cy="945219"/>
          </a:xfrm>
          <a:prstGeom prst="roundRect">
            <a:avLst>
              <a:gd name="adj" fmla="val 7739"/>
            </a:avLst>
          </a:prstGeom>
          <a:solidFill>
            <a:srgbClr val="F5F6F9"/>
          </a:solidFill>
          <a:ln/>
        </p:spPr>
      </p:sp>
      <p:sp>
        <p:nvSpPr>
          <p:cNvPr id="30" name="bullet-hex"/>
          <p:cNvSpPr/>
          <p:nvPr/>
        </p:nvSpPr>
        <p:spPr>
          <a:xfrm>
            <a:off x="676656" y="4158142"/>
            <a:ext cx="384048" cy="332586"/>
          </a:xfrm>
          <a:prstGeom prst="hexagon">
            <a:avLst/>
          </a:prstGeom>
          <a:solidFill>
            <a:srgbClr val="2E4A8C"/>
          </a:solidFill>
          <a:ln/>
        </p:spPr>
      </p:sp>
      <p:sp>
        <p:nvSpPr>
          <p:cNvPr id="31" name="bullet"/>
          <p:cNvSpPr txBox="1"/>
          <p:nvPr/>
        </p:nvSpPr>
        <p:spPr>
          <a:xfrm>
            <a:off x="1143000" y="3851825"/>
            <a:ext cx="4389120" cy="9452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Some sequences do neither. 10, 5, 10, 5 goes down, then up, then down.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Tables and graphs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Straight line of points: linear. Curve: non-linear.</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table shows a sequence. Positions 1, 2, 3 and 4 have terms 3, 5, 7 and 9. Would the points lie in a straight line? What is the term at position 6?</a:t>
            </a:r>
            <a:endParaRPr lang="en-US" sz="1800" dirty="0"/>
          </a:p>
        </p:txBody>
      </p:sp>
      <p:sp>
        <p:nvSpPr>
          <p:cNvPr id="14" name="step-box"/>
          <p:cNvSpPr/>
          <p:nvPr/>
        </p:nvSpPr>
        <p:spPr>
          <a:xfrm>
            <a:off x="6126480" y="3167380"/>
            <a:ext cx="5379415" cy="1030224"/>
          </a:xfrm>
          <a:prstGeom prst="roundRect">
            <a:avLst>
              <a:gd name="adj" fmla="val 8876"/>
            </a:avLst>
          </a:prstGeom>
          <a:solidFill>
            <a:srgbClr val="F0F2F7"/>
          </a:solidFill>
          <a:ln/>
        </p:spPr>
      </p:sp>
      <p:sp>
        <p:nvSpPr>
          <p:cNvPr id="15" name="step-hex"/>
          <p:cNvSpPr/>
          <p:nvPr/>
        </p:nvSpPr>
        <p:spPr>
          <a:xfrm>
            <a:off x="6217920" y="3500362"/>
            <a:ext cx="420624" cy="364260"/>
          </a:xfrm>
          <a:prstGeom prst="hexagon">
            <a:avLst/>
          </a:prstGeom>
          <a:solidFill>
            <a:srgbClr val="2E4A8C"/>
          </a:solidFill>
          <a:ln/>
        </p:spPr>
      </p:sp>
      <p:sp>
        <p:nvSpPr>
          <p:cNvPr id="16" name="step-hex-label"/>
          <p:cNvSpPr txBox="1"/>
          <p:nvPr/>
        </p:nvSpPr>
        <p:spPr>
          <a:xfrm>
            <a:off x="6217920" y="350036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1030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differences are 5 − 3 = 2, 7 − 5 = 2 and 9 − 7 = 2. The sequence is linear, so the points lie in a straight line.</a:t>
            </a:r>
            <a:endParaRPr lang="en-US" sz="1800" dirty="0"/>
          </a:p>
        </p:txBody>
      </p:sp>
      <p:sp>
        <p:nvSpPr>
          <p:cNvPr id="18" name="step-box"/>
          <p:cNvSpPr/>
          <p:nvPr/>
        </p:nvSpPr>
        <p:spPr>
          <a:xfrm>
            <a:off x="6126480" y="4289044"/>
            <a:ext cx="5379415" cy="523748"/>
          </a:xfrm>
          <a:prstGeom prst="roundRect">
            <a:avLst>
              <a:gd name="adj" fmla="val 17459"/>
            </a:avLst>
          </a:prstGeom>
          <a:solidFill>
            <a:srgbClr val="F0F2F7"/>
          </a:solidFill>
          <a:ln/>
        </p:spPr>
      </p:sp>
      <p:sp>
        <p:nvSpPr>
          <p:cNvPr id="19" name="step-hex"/>
          <p:cNvSpPr/>
          <p:nvPr/>
        </p:nvSpPr>
        <p:spPr>
          <a:xfrm>
            <a:off x="6217920" y="4368788"/>
            <a:ext cx="420624" cy="364260"/>
          </a:xfrm>
          <a:prstGeom prst="hexagon">
            <a:avLst/>
          </a:prstGeom>
          <a:solidFill>
            <a:srgbClr val="2E4A8C"/>
          </a:solidFill>
          <a:ln/>
        </p:spPr>
      </p:sp>
      <p:sp>
        <p:nvSpPr>
          <p:cNvPr id="20" name="step-hex-label"/>
          <p:cNvSpPr txBox="1"/>
          <p:nvPr/>
        </p:nvSpPr>
        <p:spPr>
          <a:xfrm>
            <a:off x="6217920" y="436878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289044"/>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Position 5: 9 + 2 = 11.</a:t>
            </a:r>
            <a:endParaRPr lang="en-US" sz="1800" dirty="0"/>
          </a:p>
        </p:txBody>
      </p:sp>
      <p:sp>
        <p:nvSpPr>
          <p:cNvPr id="22" name="step-box"/>
          <p:cNvSpPr/>
          <p:nvPr/>
        </p:nvSpPr>
        <p:spPr>
          <a:xfrm>
            <a:off x="6126480" y="4904232"/>
            <a:ext cx="5379415" cy="523748"/>
          </a:xfrm>
          <a:prstGeom prst="roundRect">
            <a:avLst>
              <a:gd name="adj" fmla="val 17459"/>
            </a:avLst>
          </a:prstGeom>
          <a:solidFill>
            <a:srgbClr val="F0F2F7"/>
          </a:solidFill>
          <a:ln/>
        </p:spPr>
      </p:sp>
      <p:sp>
        <p:nvSpPr>
          <p:cNvPr id="23" name="step-hex"/>
          <p:cNvSpPr/>
          <p:nvPr/>
        </p:nvSpPr>
        <p:spPr>
          <a:xfrm>
            <a:off x="6217920" y="4983976"/>
            <a:ext cx="420624" cy="364260"/>
          </a:xfrm>
          <a:prstGeom prst="hexagon">
            <a:avLst/>
          </a:prstGeom>
          <a:solidFill>
            <a:srgbClr val="2E4A8C"/>
          </a:solidFill>
          <a:ln/>
        </p:spPr>
      </p:sp>
      <p:sp>
        <p:nvSpPr>
          <p:cNvPr id="24" name="step-hex-label"/>
          <p:cNvSpPr txBox="1"/>
          <p:nvPr/>
        </p:nvSpPr>
        <p:spPr>
          <a:xfrm>
            <a:off x="6217920" y="498397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904232"/>
            <a:ext cx="4739335" cy="5237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Position 6: 11 + 2 = 13.</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13</a:t>
            </a:r>
            <a:endParaRPr lang="en-US" sz="1800" dirty="0"/>
          </a:p>
        </p:txBody>
      </p:sp>
      <p:sp>
        <p:nvSpPr>
          <p:cNvPr id="27" name="bullet-card"/>
          <p:cNvSpPr/>
          <p:nvPr/>
        </p:nvSpPr>
        <p:spPr>
          <a:xfrm>
            <a:off x="548640" y="1389888"/>
            <a:ext cx="5074920" cy="903901"/>
          </a:xfrm>
          <a:prstGeom prst="roundRect">
            <a:avLst>
              <a:gd name="adj" fmla="val 8093"/>
            </a:avLst>
          </a:prstGeom>
          <a:solidFill>
            <a:srgbClr val="F5F6F9"/>
          </a:solidFill>
          <a:ln/>
        </p:spPr>
      </p:sp>
      <p:sp>
        <p:nvSpPr>
          <p:cNvPr id="28" name="bullet-hex"/>
          <p:cNvSpPr/>
          <p:nvPr/>
        </p:nvSpPr>
        <p:spPr>
          <a:xfrm>
            <a:off x="676656" y="1675546"/>
            <a:ext cx="384048" cy="332586"/>
          </a:xfrm>
          <a:prstGeom prst="hexagon">
            <a:avLst/>
          </a:prstGeom>
          <a:solidFill>
            <a:srgbClr val="2E4A8C"/>
          </a:solidFill>
          <a:ln/>
        </p:spPr>
      </p:sp>
      <p:sp>
        <p:nvSpPr>
          <p:cNvPr id="29" name="bullet"/>
          <p:cNvSpPr txBox="1"/>
          <p:nvPr/>
        </p:nvSpPr>
        <p:spPr>
          <a:xfrm>
            <a:off x="1143000" y="1389888"/>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table shows the position of each term and the term itself.</a:t>
            </a:r>
            <a:endParaRPr lang="en-US" sz="2200" dirty="0"/>
          </a:p>
        </p:txBody>
      </p:sp>
      <p:sp>
        <p:nvSpPr>
          <p:cNvPr id="30" name="bullet-card"/>
          <p:cNvSpPr/>
          <p:nvPr/>
        </p:nvSpPr>
        <p:spPr>
          <a:xfrm>
            <a:off x="548640" y="2440093"/>
            <a:ext cx="5074920" cy="1244769"/>
          </a:xfrm>
          <a:prstGeom prst="roundRect">
            <a:avLst>
              <a:gd name="adj" fmla="val 5877"/>
            </a:avLst>
          </a:prstGeom>
          <a:solidFill>
            <a:srgbClr val="F5F6F9"/>
          </a:solidFill>
          <a:ln/>
        </p:spPr>
      </p:sp>
      <p:sp>
        <p:nvSpPr>
          <p:cNvPr id="31" name="bullet-hex"/>
          <p:cNvSpPr/>
          <p:nvPr/>
        </p:nvSpPr>
        <p:spPr>
          <a:xfrm>
            <a:off x="676656" y="2896185"/>
            <a:ext cx="384048" cy="332586"/>
          </a:xfrm>
          <a:prstGeom prst="hexagon">
            <a:avLst/>
          </a:prstGeom>
          <a:solidFill>
            <a:srgbClr val="B8862B"/>
          </a:solidFill>
          <a:ln/>
        </p:spPr>
      </p:sp>
      <p:sp>
        <p:nvSpPr>
          <p:cNvPr id="32" name="bullet"/>
          <p:cNvSpPr txBox="1"/>
          <p:nvPr/>
        </p:nvSpPr>
        <p:spPr>
          <a:xfrm>
            <a:off x="1143000" y="2440093"/>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You can plot a sequence as a graph. Position goes along the bottom axis and the term goes up the side axis.</a:t>
            </a:r>
            <a:endParaRPr lang="en-US" sz="2200" dirty="0"/>
          </a:p>
        </p:txBody>
      </p:sp>
      <p:sp>
        <p:nvSpPr>
          <p:cNvPr id="33" name="bullet-card"/>
          <p:cNvSpPr/>
          <p:nvPr/>
        </p:nvSpPr>
        <p:spPr>
          <a:xfrm>
            <a:off x="548640" y="3831167"/>
            <a:ext cx="5074920" cy="1244769"/>
          </a:xfrm>
          <a:prstGeom prst="roundRect">
            <a:avLst>
              <a:gd name="adj" fmla="val 5877"/>
            </a:avLst>
          </a:prstGeom>
          <a:solidFill>
            <a:srgbClr val="F5F6F9"/>
          </a:solidFill>
          <a:ln/>
        </p:spPr>
      </p:sp>
      <p:sp>
        <p:nvSpPr>
          <p:cNvPr id="34" name="bullet-hex"/>
          <p:cNvSpPr/>
          <p:nvPr/>
        </p:nvSpPr>
        <p:spPr>
          <a:xfrm>
            <a:off x="676656" y="4287259"/>
            <a:ext cx="384048" cy="332586"/>
          </a:xfrm>
          <a:prstGeom prst="hexagon">
            <a:avLst/>
          </a:prstGeom>
          <a:solidFill>
            <a:srgbClr val="2E4A8C"/>
          </a:solidFill>
          <a:ln/>
        </p:spPr>
      </p:sp>
      <p:sp>
        <p:nvSpPr>
          <p:cNvPr id="35" name="bullet"/>
          <p:cNvSpPr txBox="1"/>
          <p:nvPr/>
        </p:nvSpPr>
        <p:spPr>
          <a:xfrm>
            <a:off x="1143000" y="3831167"/>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a non-linear sequence, such as 1, 4, 9, 16, the points curve upwards.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Linear or non-linear?</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74852"/>
          </a:xfrm>
          <a:prstGeom prst="roundRect">
            <a:avLst>
              <a:gd name="adj" fmla="val 9380"/>
            </a:avLst>
          </a:prstGeom>
          <a:solidFill>
            <a:srgbClr val="FFFFFF"/>
          </a:solidFill>
          <a:ln w="31750">
            <a:solidFill>
              <a:srgbClr val="B8862B"/>
            </a:solidFill>
            <a:prstDash val="solid"/>
          </a:ln>
        </p:spPr>
      </p:sp>
      <p:sp>
        <p:nvSpPr>
          <p:cNvPr id="8" name="task-hex"/>
          <p:cNvSpPr/>
          <p:nvPr/>
        </p:nvSpPr>
        <p:spPr>
          <a:xfrm>
            <a:off x="777240" y="1560566"/>
            <a:ext cx="731520" cy="633496"/>
          </a:xfrm>
          <a:prstGeom prst="hexagon">
            <a:avLst/>
          </a:prstGeom>
          <a:solidFill>
            <a:srgbClr val="B8862B"/>
          </a:solidFill>
          <a:ln/>
        </p:spPr>
      </p:sp>
      <p:sp>
        <p:nvSpPr>
          <p:cNvPr id="9" name="task-hex-label"/>
          <p:cNvSpPr txBox="1"/>
          <p:nvPr/>
        </p:nvSpPr>
        <p:spPr>
          <a:xfrm>
            <a:off x="777240" y="156056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60299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9197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Which of these sequences is non-linear?</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12, 17, 22, 27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60, 52, 44, 36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5, 10, 20, 40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3, 13, 23, 33</a:t>
            </a:r>
            <a:endParaRPr lang="en-US" sz="2000" dirty="0"/>
          </a:p>
        </p:txBody>
      </p:sp>
      <p:sp>
        <p:nvSpPr>
          <p:cNvPr id="12" name="col-Support"/>
          <p:cNvSpPr/>
          <p:nvPr/>
        </p:nvSpPr>
        <p:spPr>
          <a:xfrm>
            <a:off x="548640" y="2639060"/>
            <a:ext cx="3515258" cy="3505708"/>
          </a:xfrm>
          <a:prstGeom prst="roundRect">
            <a:avLst>
              <a:gd name="adj" fmla="val 1565"/>
            </a:avLst>
          </a:prstGeom>
          <a:solidFill>
            <a:srgbClr val="F0F2F7"/>
          </a:solidFill>
          <a:ln/>
        </p:spPr>
      </p:sp>
      <p:sp>
        <p:nvSpPr>
          <p:cNvPr id="13" name="col-hex"/>
          <p:cNvSpPr/>
          <p:nvPr/>
        </p:nvSpPr>
        <p:spPr>
          <a:xfrm>
            <a:off x="658368" y="271221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79140"/>
            <a:ext cx="3240938" cy="275590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 each sequence, find the difference between each pair of terms that are next to each other.</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differences down.</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the differences are all the same the sequence is linear. If they change, it is non-linear.</a:t>
            </a:r>
            <a:endParaRPr lang="en-US" sz="1800" dirty="0"/>
          </a:p>
        </p:txBody>
      </p:sp>
      <p:sp>
        <p:nvSpPr>
          <p:cNvPr id="17" name="col-Core"/>
          <p:cNvSpPr/>
          <p:nvPr/>
        </p:nvSpPr>
        <p:spPr>
          <a:xfrm>
            <a:off x="4338218" y="2639060"/>
            <a:ext cx="3515258" cy="3505708"/>
          </a:xfrm>
          <a:prstGeom prst="roundRect">
            <a:avLst>
              <a:gd name="adj" fmla="val 1565"/>
            </a:avLst>
          </a:prstGeom>
          <a:solidFill>
            <a:srgbClr val="D7DDE9"/>
          </a:solidFill>
          <a:ln/>
        </p:spPr>
      </p:sp>
      <p:sp>
        <p:nvSpPr>
          <p:cNvPr id="18" name="col-hex"/>
          <p:cNvSpPr/>
          <p:nvPr/>
        </p:nvSpPr>
        <p:spPr>
          <a:xfrm>
            <a:off x="4447946" y="271221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Work out the differences for each sequence. Which one has differences that change?</a:t>
            </a:r>
            <a:endParaRPr lang="en-US" sz="1800" dirty="0"/>
          </a:p>
        </p:txBody>
      </p:sp>
      <p:sp>
        <p:nvSpPr>
          <p:cNvPr id="22" name="col-Stretch"/>
          <p:cNvSpPr/>
          <p:nvPr/>
        </p:nvSpPr>
        <p:spPr>
          <a:xfrm>
            <a:off x="8127797" y="2639060"/>
            <a:ext cx="3515258" cy="3505708"/>
          </a:xfrm>
          <a:prstGeom prst="roundRect">
            <a:avLst>
              <a:gd name="adj" fmla="val 1565"/>
            </a:avLst>
          </a:prstGeom>
          <a:solidFill>
            <a:srgbClr val="2E4A8C"/>
          </a:solidFill>
          <a:ln/>
        </p:spPr>
      </p:sp>
      <p:sp>
        <p:nvSpPr>
          <p:cNvPr id="23" name="col-hex"/>
          <p:cNvSpPr/>
          <p:nvPr/>
        </p:nvSpPr>
        <p:spPr>
          <a:xfrm>
            <a:off x="8237525" y="271221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71221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7563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79140"/>
            <a:ext cx="3240938" cy="275590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sequence 5, 10, 20, 40 is non-linear, but it still has a rule. Describe the rule and find the next two terms.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The task: Describe the sequence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sequence to its description.</a:t>
            </a:r>
            <a:endParaRPr lang="en-US" sz="2400" dirty="0"/>
          </a:p>
        </p:txBody>
      </p:sp>
      <p:sp>
        <p:nvSpPr>
          <p:cNvPr id="11" name="match-card"/>
          <p:cNvSpPr/>
          <p:nvPr/>
        </p:nvSpPr>
        <p:spPr>
          <a:xfrm>
            <a:off x="777240" y="2468331"/>
            <a:ext cx="4427351" cy="804809"/>
          </a:xfrm>
          <a:prstGeom prst="roundRect">
            <a:avLst>
              <a:gd name="adj" fmla="val 9089"/>
            </a:avLst>
          </a:prstGeom>
          <a:solidFill>
            <a:srgbClr val="F5F6F9"/>
          </a:solidFill>
          <a:ln/>
        </p:spPr>
      </p:sp>
      <p:sp>
        <p:nvSpPr>
          <p:cNvPr id="12" name="match-hex"/>
          <p:cNvSpPr/>
          <p:nvPr/>
        </p:nvSpPr>
        <p:spPr>
          <a:xfrm>
            <a:off x="850392" y="2704443"/>
            <a:ext cx="384048" cy="332586"/>
          </a:xfrm>
          <a:prstGeom prst="hexagon">
            <a:avLst/>
          </a:prstGeom>
          <a:solidFill>
            <a:srgbClr val="2E4A8C"/>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83299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30, 27, 24, 21</a:t>
            </a:r>
            <a:endParaRPr lang="en-US" sz="2200" dirty="0"/>
          </a:p>
        </p:txBody>
      </p:sp>
      <p:sp>
        <p:nvSpPr>
          <p:cNvPr id="15" name="match-card"/>
          <p:cNvSpPr/>
          <p:nvPr/>
        </p:nvSpPr>
        <p:spPr>
          <a:xfrm>
            <a:off x="5570351" y="2468331"/>
            <a:ext cx="5844104" cy="804809"/>
          </a:xfrm>
          <a:prstGeom prst="roundRect">
            <a:avLst>
              <a:gd name="adj" fmla="val 9089"/>
            </a:avLst>
          </a:prstGeom>
          <a:solidFill>
            <a:srgbClr val="F9F4EC"/>
          </a:solidFill>
          <a:ln/>
        </p:spPr>
      </p:sp>
      <p:sp>
        <p:nvSpPr>
          <p:cNvPr id="16" name="match-hex"/>
          <p:cNvSpPr/>
          <p:nvPr/>
        </p:nvSpPr>
        <p:spPr>
          <a:xfrm>
            <a:off x="5643503" y="2704443"/>
            <a:ext cx="384048" cy="332586"/>
          </a:xfrm>
          <a:prstGeom prst="hexagon">
            <a:avLst/>
          </a:prstGeom>
          <a:solidFill>
            <a:srgbClr val="B8862B"/>
          </a:solidFill>
          <a:ln/>
        </p:spPr>
      </p:sp>
      <p:sp>
        <p:nvSpPr>
          <p:cNvPr id="17" name="match-hex-label"/>
          <p:cNvSpPr txBox="1"/>
          <p:nvPr/>
        </p:nvSpPr>
        <p:spPr>
          <a:xfrm>
            <a:off x="5643503"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091559" y="2468331"/>
            <a:ext cx="524974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linear and ascending</a:t>
            </a:r>
            <a:endParaRPr lang="en-US" sz="2200" dirty="0"/>
          </a:p>
        </p:txBody>
      </p:sp>
      <p:sp>
        <p:nvSpPr>
          <p:cNvPr id="19" name="match-card"/>
          <p:cNvSpPr/>
          <p:nvPr/>
        </p:nvSpPr>
        <p:spPr>
          <a:xfrm>
            <a:off x="777240" y="3364581"/>
            <a:ext cx="4427351" cy="804809"/>
          </a:xfrm>
          <a:prstGeom prst="roundRect">
            <a:avLst>
              <a:gd name="adj" fmla="val 9089"/>
            </a:avLst>
          </a:prstGeom>
          <a:solidFill>
            <a:srgbClr val="F5F6F9"/>
          </a:solidFill>
          <a:ln/>
        </p:spPr>
      </p:sp>
      <p:sp>
        <p:nvSpPr>
          <p:cNvPr id="20" name="match-hex"/>
          <p:cNvSpPr/>
          <p:nvPr/>
        </p:nvSpPr>
        <p:spPr>
          <a:xfrm>
            <a:off x="850392" y="3600692"/>
            <a:ext cx="384048" cy="332586"/>
          </a:xfrm>
          <a:prstGeom prst="hexagon">
            <a:avLst/>
          </a:prstGeom>
          <a:solidFill>
            <a:srgbClr val="2E4A8C"/>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383299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2, 6, 18, 54</a:t>
            </a:r>
            <a:endParaRPr lang="en-US" sz="2200" dirty="0"/>
          </a:p>
        </p:txBody>
      </p:sp>
      <p:sp>
        <p:nvSpPr>
          <p:cNvPr id="23" name="match-card"/>
          <p:cNvSpPr/>
          <p:nvPr/>
        </p:nvSpPr>
        <p:spPr>
          <a:xfrm>
            <a:off x="5570351" y="3364581"/>
            <a:ext cx="5844104" cy="804809"/>
          </a:xfrm>
          <a:prstGeom prst="roundRect">
            <a:avLst>
              <a:gd name="adj" fmla="val 9089"/>
            </a:avLst>
          </a:prstGeom>
          <a:solidFill>
            <a:srgbClr val="F9F4EC"/>
          </a:solidFill>
          <a:ln/>
        </p:spPr>
      </p:sp>
      <p:sp>
        <p:nvSpPr>
          <p:cNvPr id="24" name="match-hex"/>
          <p:cNvSpPr/>
          <p:nvPr/>
        </p:nvSpPr>
        <p:spPr>
          <a:xfrm>
            <a:off x="5643503" y="3600692"/>
            <a:ext cx="384048" cy="332586"/>
          </a:xfrm>
          <a:prstGeom prst="hexagon">
            <a:avLst/>
          </a:prstGeom>
          <a:solidFill>
            <a:srgbClr val="B8862B"/>
          </a:solidFill>
          <a:ln/>
        </p:spPr>
      </p:sp>
      <p:sp>
        <p:nvSpPr>
          <p:cNvPr id="25" name="match-hex-label"/>
          <p:cNvSpPr txBox="1"/>
          <p:nvPr/>
        </p:nvSpPr>
        <p:spPr>
          <a:xfrm>
            <a:off x="5643503"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091559" y="3364581"/>
            <a:ext cx="524974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linear and descending</a:t>
            </a:r>
            <a:endParaRPr lang="en-US" sz="2200" dirty="0"/>
          </a:p>
        </p:txBody>
      </p:sp>
      <p:sp>
        <p:nvSpPr>
          <p:cNvPr id="27" name="match-card"/>
          <p:cNvSpPr/>
          <p:nvPr/>
        </p:nvSpPr>
        <p:spPr>
          <a:xfrm>
            <a:off x="777240" y="4260830"/>
            <a:ext cx="4427351" cy="804809"/>
          </a:xfrm>
          <a:prstGeom prst="roundRect">
            <a:avLst>
              <a:gd name="adj" fmla="val 9089"/>
            </a:avLst>
          </a:prstGeom>
          <a:solidFill>
            <a:srgbClr val="F5F6F9"/>
          </a:solidFill>
          <a:ln/>
        </p:spPr>
      </p:sp>
      <p:sp>
        <p:nvSpPr>
          <p:cNvPr id="28" name="match-hex"/>
          <p:cNvSpPr/>
          <p:nvPr/>
        </p:nvSpPr>
        <p:spPr>
          <a:xfrm>
            <a:off x="850392" y="4496941"/>
            <a:ext cx="384048" cy="332586"/>
          </a:xfrm>
          <a:prstGeom prst="hexagon">
            <a:avLst/>
          </a:prstGeom>
          <a:solidFill>
            <a:srgbClr val="2E4A8C"/>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383299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4, 9, 14, 19</a:t>
            </a:r>
            <a:endParaRPr lang="en-US" sz="2200" dirty="0"/>
          </a:p>
        </p:txBody>
      </p:sp>
      <p:sp>
        <p:nvSpPr>
          <p:cNvPr id="31" name="match-card"/>
          <p:cNvSpPr/>
          <p:nvPr/>
        </p:nvSpPr>
        <p:spPr>
          <a:xfrm>
            <a:off x="5570351" y="4260830"/>
            <a:ext cx="5844104" cy="804809"/>
          </a:xfrm>
          <a:prstGeom prst="roundRect">
            <a:avLst>
              <a:gd name="adj" fmla="val 9089"/>
            </a:avLst>
          </a:prstGeom>
          <a:solidFill>
            <a:srgbClr val="F9F4EC"/>
          </a:solidFill>
          <a:ln/>
        </p:spPr>
      </p:sp>
      <p:sp>
        <p:nvSpPr>
          <p:cNvPr id="32" name="match-hex"/>
          <p:cNvSpPr/>
          <p:nvPr/>
        </p:nvSpPr>
        <p:spPr>
          <a:xfrm>
            <a:off x="5643503" y="4496941"/>
            <a:ext cx="384048" cy="332586"/>
          </a:xfrm>
          <a:prstGeom prst="hexagon">
            <a:avLst/>
          </a:prstGeom>
          <a:solidFill>
            <a:srgbClr val="B8862B"/>
          </a:solidFill>
          <a:ln/>
        </p:spPr>
      </p:sp>
      <p:sp>
        <p:nvSpPr>
          <p:cNvPr id="33" name="match-hex-label"/>
          <p:cNvSpPr txBox="1"/>
          <p:nvPr/>
        </p:nvSpPr>
        <p:spPr>
          <a:xfrm>
            <a:off x="5643503"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091559" y="4260830"/>
            <a:ext cx="524974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non-linear and ascending</a:t>
            </a:r>
            <a:endParaRPr lang="en-US" sz="2200" dirty="0"/>
          </a:p>
        </p:txBody>
      </p:sp>
      <p:sp>
        <p:nvSpPr>
          <p:cNvPr id="35" name="match-card"/>
          <p:cNvSpPr/>
          <p:nvPr/>
        </p:nvSpPr>
        <p:spPr>
          <a:xfrm>
            <a:off x="777240" y="5157079"/>
            <a:ext cx="4427351" cy="804809"/>
          </a:xfrm>
          <a:prstGeom prst="roundRect">
            <a:avLst>
              <a:gd name="adj" fmla="val 9089"/>
            </a:avLst>
          </a:prstGeom>
          <a:solidFill>
            <a:srgbClr val="F5F6F9"/>
          </a:solidFill>
          <a:ln/>
        </p:spPr>
      </p:sp>
      <p:sp>
        <p:nvSpPr>
          <p:cNvPr id="36" name="match-hex"/>
          <p:cNvSpPr/>
          <p:nvPr/>
        </p:nvSpPr>
        <p:spPr>
          <a:xfrm>
            <a:off x="850392" y="5393191"/>
            <a:ext cx="384048" cy="332586"/>
          </a:xfrm>
          <a:prstGeom prst="hexagon">
            <a:avLst/>
          </a:prstGeom>
          <a:solidFill>
            <a:srgbClr val="2E4A8C"/>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3832991"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100, 50, 25, 12.5</a:t>
            </a:r>
            <a:endParaRPr lang="en-US" sz="2200" dirty="0"/>
          </a:p>
        </p:txBody>
      </p:sp>
      <p:sp>
        <p:nvSpPr>
          <p:cNvPr id="39" name="match-card"/>
          <p:cNvSpPr/>
          <p:nvPr/>
        </p:nvSpPr>
        <p:spPr>
          <a:xfrm>
            <a:off x="5570351" y="5157079"/>
            <a:ext cx="5844104" cy="804809"/>
          </a:xfrm>
          <a:prstGeom prst="roundRect">
            <a:avLst>
              <a:gd name="adj" fmla="val 9089"/>
            </a:avLst>
          </a:prstGeom>
          <a:solidFill>
            <a:srgbClr val="F9F4EC"/>
          </a:solidFill>
          <a:ln/>
        </p:spPr>
      </p:sp>
      <p:sp>
        <p:nvSpPr>
          <p:cNvPr id="40" name="match-hex"/>
          <p:cNvSpPr/>
          <p:nvPr/>
        </p:nvSpPr>
        <p:spPr>
          <a:xfrm>
            <a:off x="5643503" y="5393191"/>
            <a:ext cx="384048" cy="332586"/>
          </a:xfrm>
          <a:prstGeom prst="hexagon">
            <a:avLst/>
          </a:prstGeom>
          <a:solidFill>
            <a:srgbClr val="B8862B"/>
          </a:solidFill>
          <a:ln/>
        </p:spPr>
      </p:sp>
      <p:sp>
        <p:nvSpPr>
          <p:cNvPr id="41" name="match-hex-label"/>
          <p:cNvSpPr txBox="1"/>
          <p:nvPr/>
        </p:nvSpPr>
        <p:spPr>
          <a:xfrm>
            <a:off x="5643503"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091559" y="5157079"/>
            <a:ext cx="5249744" cy="80480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non-linear and descending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E4A8C"/>
                </a:solidFill>
                <a:latin typeface="Cambria" pitchFamily="34" charset="0"/>
                <a:ea typeface="Cambria" pitchFamily="34" charset="-122"/>
                <a:cs typeface="Cambria" pitchFamily="34" charset="-120"/>
              </a:rPr>
              <a:t>Same task, three ways in: Describe the sequence</a:t>
            </a:r>
            <a:endParaRPr lang="en-US" sz="30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sequence to its description.</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0F2F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Decide if the terms get bigger (ascending) or smaller (descending).</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Find the differences. Constant means linear, changing means non-linear.</a:t>
            </a:r>
            <a:endParaRPr lang="en-US" sz="2000" dirty="0"/>
          </a:p>
          <a:p>
            <a:pPr algn="l" indent="0" marL="0">
              <a:spcAft>
                <a:spcPts val="600"/>
              </a:spcAft>
              <a:buNone/>
            </a:pPr>
            <a:r>
              <a:rPr lang="en-US" sz="20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Put the two words together.</a:t>
            </a:r>
            <a:endParaRPr lang="en-US" sz="2000" dirty="0"/>
          </a:p>
        </p:txBody>
      </p:sp>
      <p:sp>
        <p:nvSpPr>
          <p:cNvPr id="17" name="col-Core"/>
          <p:cNvSpPr/>
          <p:nvPr/>
        </p:nvSpPr>
        <p:spPr>
          <a:xfrm>
            <a:off x="4338218" y="2578608"/>
            <a:ext cx="3515258" cy="3566160"/>
          </a:xfrm>
          <a:prstGeom prst="roundRect">
            <a:avLst>
              <a:gd name="adj" fmla="val 1561"/>
            </a:avLst>
          </a:prstGeom>
          <a:solidFill>
            <a:srgbClr val="D7DDE9"/>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253B70"/>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Sort them into ascending and descending first. Then look at the differences.</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2E4A8C"/>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Write your own sequence for each of the four descriptions. Make each one start on 10.</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sequence is shown in a table. Positions 1, 2, 3 and 4 have terms 5, 8, 11 and 14. The points lie in a straight line when plotted. What is the term at position 7?</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Linear or non-linear?</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sequences is non-linear?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5, 10, 20, 40</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5, 10, 20, 40 has differences 5, 10 and 20, which change, so it is non-linear. The other three sequences each have a constant difference.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Describe the sequence</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30, 27, 24, 21  →  B  linear and descending</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2, 6, 18, 54  →  C  non-linear and ascending</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4, 9, 14, 19  →  A  linear and ascending</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100, 50, 25, 12.5  →  D  non-linear and descending</a:t>
            </a:r>
            <a:endParaRPr lang="en-US" sz="24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30, 27, 24, 21 goes down by 3 each time; 4, 9, 14, 19 goes up by 5 each time. 2, 6, 18, 54 and 100, 50, 25, 12.5 change by a different amount each time, one going up and one going down.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sequence is shown in a table. Positions 1, 2, 3 and 4 have terms 5, 8, 11 and 14. The points lie in a straight line when plotted. What is the term at position 7?</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23</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difference is 3. From position 4 to position 7 is 3 jumps of 3, which is 9. 14 + 9 = 23.</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Sequences · Chapter 2: Linear and non-linear sequences</dc:title>
  <dc:subject>Mathematics · Year 7</dc:subject>
  <dc:creator>Dr Vitor Merissi de Carvalho</dc:creator>
  <cp:lastModifiedBy>Dr Vitor Merissi de Carvalho</cp:lastModifiedBy>
  <cp:revision>1</cp:revision>
  <dcterms:created xsi:type="dcterms:W3CDTF">2026-10-18T17:47:10Z</dcterms:created>
  <dcterms:modified xsi:type="dcterms:W3CDTF">2026-10-18T17:47:10Z</dcterms:modified>
</cp:coreProperties>
</file>