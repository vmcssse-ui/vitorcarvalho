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3cfab5a-15a3-6b48-9132-60b5ac6cb5c6}">
          <p14:sldIdLst>
            <p14:sldId id="256"/>
          </p14:sldIdLst>
        </p14:section>
        <p14:section name="Gate" id="{0f85f746-a09e-ba46-7a95-a9be92a8263c}">
          <p14:sldIdLst>
            <p14:sldId id="257"/>
            <p14:sldId id="258"/>
          </p14:sldIdLst>
        </p14:section>
        <p14:section name="Pre-teach" id="{5561a78c-2e34-2d12-9af3-b52b6600a76a}">
          <p14:sldIdLst>
            <p14:sldId id="259"/>
          </p14:sldIdLst>
        </p14:section>
        <p14:section name="Read-along" id="{f4227122-6e9b-bf52-70ee-108365ae2c27}">
          <p14:sldIdLst>
            <p14:sldId id="260"/>
            <p14:sldId id="261"/>
          </p14:sldIdLst>
        </p14:section>
        <p14:section name="Teach" id="{323dad73-d3b3-53a5-f83b-08642e8c3095}">
          <p14:sldIdLst>
            <p14:sldId id="262"/>
            <p14:sldId id="263"/>
            <p14:sldId id="264"/>
            <p14:sldId id="265"/>
            <p14:sldId id="266"/>
          </p14:sldIdLst>
        </p14:section>
        <p14:section name="Routes" id="{f87207ac-4551-dce8-4864-0b06696b69c6}">
          <p14:sldIdLst>
            <p14:sldId id="267"/>
            <p14:sldId id="268"/>
          </p14:sldIdLst>
        </p14:section>
        <p14:section name="Close" id="{db312506-3445-d16a-23d4-a38b65779857}">
          <p14:sldIdLst>
            <p14:sldId id="269"/>
          </p14:sldIdLst>
        </p14:section>
        <p14:section name="Answers" id="{db6b7fce-fc85-feff-a6fb-073d4de6a2c3}">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What is a sequence?. Learn what a sequence and a term are, spot the rule, and use it to say what comes next.
This deck covers the department's lesson: 1 (Sequences: What is a sequence, and how do you describe and continue one?).
Read the big question aloud: "How can you tell what comes next in a sequence, and how do you know you are right?"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Here is a sequence: 5, 8, 11, 14, … What is the next term?  →  C   17
2. Here is a sequence: 7, 10, 13, 16, 19. Which term is 16: the 1st, 2nd, 3rd, 4th or 5th? Write the number.  →  4
3. Each number in a sequence is called a ___.  →  term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17. Each term is 3 more than the one before, so the next term is 14 + 3 = 17.
2. 4. Count along the sequence: 7, 10, 13, 16. The number 16 is the 4th term.
3. term. The numbers in a sequence are its terms: the 1st term, the 2nd term and so 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sequence: a set of numbers or shapes in an order that follows a rule. Example: "3, 6, 9, 12 is a sequence."
• term: one of the numbers in a sequence. Example: "In 3, 6, 9, 12 the second term is 6."
• pattern: a sequence made of shapes or objects. Example: "The pattern grows by two squares each time."
• rule: what you do to get from one term to the next. Example: "The rule for 3, 6, 9, 12 is add 3."
• predict: to say what will come next before you check. Example: "I predict the next term is 15."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sequence is a set of numbers in order.
2. Each number in a sequence is called a term.
3. Look at 3, 6, 9, 12.
4. The first term is 3.
5. The second term is 6.
6. Each term is 3 more than the one before.
7. That is the rule.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If you know the rule, you can predict the next term.
9. The next term is 15.
10. A pattern is a sequence of shapes or objects.
11. Patterns follow rules too.
12. Count the shapes in each term to turn a pattern into a number sequence.
13. Then check your answer by using the rule again.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Terms and rules. Say it in your own words, then check understanding with a quick question: ask a pupil from the pre-teach group first, since they met these words and ideas before the lesson. Pupils try to recall before you re-explain.
A sequence is a set of numbers in order. Each number is called a term. We talk about the 1st term, the 2nd term, the 3rd term and so on. The three dots at the end, like 3, 6, 9, 12, …, mean the sequence carries on.
Most sequences follow a rule. In 3, 6, 9, 12 you add 3 each time. In 20, 18, 16, 14 you subtract 2 each time. Once you know the rule you can continue the sequence as far as you like.
To find the rule, look at two terms that are next to each other. Ask: what do I do to the first one to get the second one? Then check that the same thing works for the next pair.
Worked example — model it step by step, thinking aloud: Here is a sequence: 4, 9, 14, 19, … What is the rule, and what is the next term? (1) Look at the first two terms: 9 − 4 = 5. (2) Check the next pair: 14 − 9 = 5. The rule is add 5. (3) Use the rule on the last term you have: 19 + 5 = 24. Answer: 24.
Tip: Always check the rule on a second pair of terms before you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Patterns made of shapes. Say it in your own words, then check understanding with a quick question: ask a pupil from the pre-teach group first, since they met these words and ideas before the lesson. Pupils try to recall before you re-explain.
A pattern is a sequence made of shapes or objects: counters, squares, sticks or dots. Patterns follow rules too, so we can say what the next picture will look like.
To work with a pattern, count the shapes in each term. If the terms have 1, 4 and 7 counters, you have the number sequence 1, 4, 7. Three counters are added each time, so the 4th term has 10 counters.
Describing what happens in words helps: 'three more counters are added each time'. That sentence is the rule, and it tells you how to draw the next term.
Worked example — model it step by step, thinking aloud: A pattern is made of counters. The 1st term has 2 counters, the 2nd term has 7 and the 3rd term has 12. How many counters are in the 5th term? (1) Write the pattern as a number sequence: 2, 7, 12. (2) Find the rule: 7 − 2 = 5, so 5 counters are added each time. (3) 4th term: 12 + 5 = 17. (4) 5th term: 17 + 5 = 22. Answer: 22.
Tip: Turn the pictures into numbers first. Then the rule is easy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Patterns made of shapes. Say it in your own words, then check understanding with a quick question: ask a pupil from the pre-teach group first, since they met these words and ideas before the lesson. Pupils try to recall before you re-explain.
A pattern is a sequence made of shapes or objects: counters, squares, sticks or dots. Patterns follow rules too, so we can say what the next picture will look like.
To work with a pattern, count the shapes in each term. If the terms have 1, 4 and 7 counters, you have the number sequence 1, 4, 7. Three counters are added each time, so the 4th term has 10 counters.
Describing what happens in words helps: 'three more counters are added each time'. That sentence is the rule, and it tells you how to draw the next term.
Worked example — model it step by step, thinking aloud: A pattern is made of counters. The 1st term has 2 counters, the 2nd term has 7 and the 3rd term has 12. How many counters are in the 5th term? (1) Write the pattern as a number sequence: 2, 7, 12. (2) Find the rule: 7 − 2 = 5, so 5 counters are added each time. (3) 4th term: 12 + 5 = 17. (4) 5th term: 17 + 5 = 22. Answer: 22.
Tip: Turn the pictures into numbers first. Then the rule is easy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Predict and check. Say it in your own words, then check understanding with a quick question: ask a pupil from the pre-teach group first, since they met these words and ideas before the lesson. Pupils try to recall before you re-explain.
Once you have a rule, you can predict the next terms. But a prediction is only a guess until you check it. Use the rule a second time, or work out the gaps between the new terms, to make sure the pattern still holds.
Some sequences go down. In 20, 17, 14 each term is 3 less than the one before, so the next term is 11. Count carefully: the rule is take away 3, not add 3.
If a pattern gets smaller, it can run out. A pattern of squares with 5, 3, 1 squares has no 4th term that you can draw.
Worked example — model it step by step, thinking aloud: Here are the first three terms of a pattern of squares: 14, 11, 8. How many squares will be in the 5th term? (1) Find the rule: 14 − 11 = 3, so 3 squares are taken away each time. (2) 4th term: 8 − 3 = 5. (3) 5th term: 5 − 3 = 2. (4) Check: 14, 11, 8, 5, 2 goes down by 3 each time. Answer: 2.
Tip: A prediction becomes an answer only when you have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Predict and check. Say it in your own words, then check understanding with a quick question: ask a pupil from the pre-teach group first, since they met these words and ideas before the lesson. Pupils try to recall before you re-explain.
Once you have a rule, you can predict the next terms. But a prediction is only a guess until you check it. Use the rule a second time, or work out the gaps between the new terms, to make sure the pattern still holds.
Some sequences go down. In 20, 17, 14 each term is 3 less than the one before, so the next term is 11. Count carefully: the rule is take away 3, not add 3.
If a pattern gets smaller, it can run out. A pattern of squares with 5, 3, 1 squares has no 4th term that you can draw.
Worked example — model it step by step, thinking aloud: Here are the first three terms of a pattern of squares: 14, 11, 8. How many squares will be in the 5th term? (1) Find the rule: 14 − 11 = 3, so 3 squares are taken away each time. (2) 4th term: 8 − 3 = 5. (3) 5th term: 5 − 3 = 2. (4) Check: 14, 11, 8, 5, 2 goes down by 3 each time. Answer: 2.
Tip: A prediction becomes an answer only when you have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Continue the sequence.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Here is a sequence: 6, 11, 16, 21, … What is the 6th term?
Support — work through the steps with the group: (1) Find the gap between two terms that are next to each other. (2) Check the gap is the same for the next pair. (3) Count which term you are on, then add the gap on one term at a time until you reach the 6th.
Parallel worked example for Support (model it, do not give the task answer): Here is a sequence: 2, 9, 16, 23, … What is the 6th term? The gap is 9 − 2 = 7, and 16 − 9 = 7 too.; 23 is the 4th term. 5th term: 23 + 7 = 30.; 6th term: 30 + 7 = 37.. Answer: 37.
Core — reveal the hint only on request: 21 is the 4th term, not the 5th. How many more jumps do you need?
Stretch — no help; when finished: Will 100 ever be a term in this sequence? Explain how you can be sure without writing out every 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 pattern of counters.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pattern is made of counters. The 1st term has 3 counters, the 2nd term has 8 and the 3rd term has 13. How many counters are in the 7th term?
Support — work through the steps with the group: (1) Write the numbers of counters as a sequence. (2) Find how many counters are added each time. (3) Work out each term, one at a time, until you reach the 7th.
Parallel worked example for Support (model it, do not give the task answer): A pattern of squares: the 1st term has 2 squares, the 2nd has 6 and the 3rd has 10. How many squares are in the 5th term? The sequence is 2, 6, 10. 6 − 2 = 4, so 4 squares are added each time.; 4th term: 10 + 4 = 14.; 5th term: 14 + 4 = 18.. Answer: 18.
Core — reveal the hint only on request: How many jumps of 5 is it from the 3rd term to the 7th term?
Stretch — no help; when finished: Describe how the 100th term could be found without drawing or listing all the terms. Explain your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pattern of squares has 20, 17 and 14 squares in its first three terms. How many squares are in the 6th term?
Answer: B   5. Each term has 3 fewer squares than the one before. 14 is the 3rd term, so the 4th is 11, the 5th is 8 and the 6th is 5.
Source of this question: module 3 task ("Predict and check")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Continue the sequence. Reveal the answer; pupils mark their own work in a different colour, then read the "why" together. Same destination for every lane, so one answer serves the whole class.
Answer: 31
Why: The terms go up by 5 each time. 21 is the 4th term, so the 5th term is 26 and the 6th term is 31.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 pattern of counters. Reveal the answer; pupils mark their own work in a different colour, then read the "why" together. Same destination for every lane, so one answer serves the whole class.
Answer: 33
Why: 5 counters are added each time, because 8 − 3 = 5. From the 3rd term to the 7th term is 4 jumps of 5, which is 20. 13 + 20 = 33.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5
Why: Each term has 3 fewer squares than the one before. 14 is the 3rd term, so the 4th is 11, the 5th is 8 and the 6th is 5.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Sequences · AQA KS3 → 8300</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What is a sequence?</a:t>
            </a:r>
            <a:endParaRPr lang="en-US" sz="4000" dirty="0"/>
          </a:p>
        </p:txBody>
      </p:sp>
      <p:sp>
        <p:nvSpPr>
          <p:cNvPr id="11" name="lessons-card"/>
          <p:cNvSpPr/>
          <p:nvPr/>
        </p:nvSpPr>
        <p:spPr>
          <a:xfrm>
            <a:off x="548640" y="3739388"/>
            <a:ext cx="5287975" cy="980440"/>
          </a:xfrm>
          <a:prstGeom prst="roundRect">
            <a:avLst>
              <a:gd name="adj" fmla="val 7461"/>
            </a:avLst>
          </a:prstGeom>
          <a:solidFill>
            <a:srgbClr val="F0F2F7"/>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Sequences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can you tell what comes next in a sequence, and how do you know you are right?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Here is a sequence: 5, 8, 11, 14, … What is the next term?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15</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16</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17</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18</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Here is a sequence: 7, 10, 13, 16, 19. Which term is 16: the 1st, 2nd, 3rd, 4th or 5th? Write the number.</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Each number in a sequence is called a ___.</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term  ·  pattern  ·  rule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17</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Here is a sequence: 5, 8, 11, 14, … What is the next term?</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Each term is 3 more than the one before, so the next term is 14 + 3 = 17.</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4</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Here is a sequence: 7, 10, 13, 16, 19. Which term is 16: the 1st, 2nd, 3rd, 4th or 5th? Write the number.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Count along the sequence: 7, 10, 13, 16. The number 16 is the 4th term.</a:t>
            </a:r>
            <a:endParaRPr lang="en-US" sz="20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term</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Each number in a sequence is called a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numbers in a sequence are its terms: the 1st term, the 2nd term and so 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F5F6F9"/>
          </a:solidFill>
          <a:ln/>
        </p:spPr>
      </p:sp>
      <p:sp>
        <p:nvSpPr>
          <p:cNvPr id="12" name="kw-hex"/>
          <p:cNvSpPr/>
          <p:nvPr/>
        </p:nvSpPr>
        <p:spPr>
          <a:xfrm>
            <a:off x="658368" y="2158020"/>
            <a:ext cx="411480" cy="356342"/>
          </a:xfrm>
          <a:prstGeom prst="hexagon">
            <a:avLst/>
          </a:prstGeom>
          <a:solidFill>
            <a:srgbClr val="2E4A8C"/>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sequence</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set of numbers or shapes in an order that follows a rule</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3, 6, 9, 12 is a sequence.</a:t>
            </a:r>
            <a:endParaRPr lang="en-US" sz="1800" dirty="0"/>
          </a:p>
        </p:txBody>
      </p:sp>
      <p:sp>
        <p:nvSpPr>
          <p:cNvPr id="16" name="kw-row"/>
          <p:cNvSpPr/>
          <p:nvPr/>
        </p:nvSpPr>
        <p:spPr>
          <a:xfrm>
            <a:off x="548640" y="2825293"/>
            <a:ext cx="11094415" cy="604317"/>
          </a:xfrm>
          <a:prstGeom prst="roundRect">
            <a:avLst>
              <a:gd name="adj" fmla="val 9079"/>
            </a:avLst>
          </a:prstGeom>
          <a:solidFill>
            <a:srgbClr val="F9F4EC"/>
          </a:solidFill>
          <a:ln/>
        </p:spPr>
      </p:sp>
      <p:sp>
        <p:nvSpPr>
          <p:cNvPr id="17" name="kw-hex"/>
          <p:cNvSpPr/>
          <p:nvPr/>
        </p:nvSpPr>
        <p:spPr>
          <a:xfrm>
            <a:off x="658368" y="2949280"/>
            <a:ext cx="411480" cy="356342"/>
          </a:xfrm>
          <a:prstGeom prst="hexagon">
            <a:avLst/>
          </a:prstGeom>
          <a:solidFill>
            <a:srgbClr val="B8862B"/>
          </a:solidFill>
          <a:ln/>
        </p:spPr>
      </p:sp>
      <p:sp>
        <p:nvSpPr>
          <p:cNvPr id="18" name="kw-cell"/>
          <p:cNvSpPr txBox="1"/>
          <p:nvPr/>
        </p:nvSpPr>
        <p:spPr>
          <a:xfrm>
            <a:off x="1143000" y="2825293"/>
            <a:ext cx="2331720" cy="604317"/>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term</a:t>
            </a:r>
            <a:endParaRPr lang="en-US" sz="2000" dirty="0"/>
          </a:p>
        </p:txBody>
      </p:sp>
      <p:sp>
        <p:nvSpPr>
          <p:cNvPr id="19" name="kw-cell"/>
          <p:cNvSpPr txBox="1"/>
          <p:nvPr/>
        </p:nvSpPr>
        <p:spPr>
          <a:xfrm>
            <a:off x="3657600" y="2825293"/>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of the numbers in a sequence</a:t>
            </a:r>
            <a:endParaRPr lang="en-US" sz="1800" dirty="0"/>
          </a:p>
        </p:txBody>
      </p:sp>
      <p:sp>
        <p:nvSpPr>
          <p:cNvPr id="20" name="kw-cell"/>
          <p:cNvSpPr txBox="1"/>
          <p:nvPr/>
        </p:nvSpPr>
        <p:spPr>
          <a:xfrm>
            <a:off x="7315200" y="2825293"/>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3, 6, 9, 12 the second term is 6.</a:t>
            </a:r>
            <a:endParaRPr lang="en-US" sz="1800" dirty="0"/>
          </a:p>
        </p:txBody>
      </p:sp>
      <p:sp>
        <p:nvSpPr>
          <p:cNvPr id="21" name="kw-row"/>
          <p:cNvSpPr/>
          <p:nvPr/>
        </p:nvSpPr>
        <p:spPr>
          <a:xfrm>
            <a:off x="548640" y="3502762"/>
            <a:ext cx="11094415" cy="831901"/>
          </a:xfrm>
          <a:prstGeom prst="roundRect">
            <a:avLst>
              <a:gd name="adj" fmla="val 6595"/>
            </a:avLst>
          </a:prstGeom>
          <a:solidFill>
            <a:srgbClr val="F5F6F9"/>
          </a:solidFill>
          <a:ln/>
        </p:spPr>
      </p:sp>
      <p:sp>
        <p:nvSpPr>
          <p:cNvPr id="22" name="kw-hex"/>
          <p:cNvSpPr/>
          <p:nvPr/>
        </p:nvSpPr>
        <p:spPr>
          <a:xfrm>
            <a:off x="658368" y="3740541"/>
            <a:ext cx="411480" cy="356342"/>
          </a:xfrm>
          <a:prstGeom prst="hexagon">
            <a:avLst/>
          </a:prstGeom>
          <a:solidFill>
            <a:srgbClr val="2E4A8C"/>
          </a:solidFill>
          <a:ln/>
        </p:spPr>
      </p:sp>
      <p:sp>
        <p:nvSpPr>
          <p:cNvPr id="23" name="kw-cell"/>
          <p:cNvSpPr txBox="1"/>
          <p:nvPr/>
        </p:nvSpPr>
        <p:spPr>
          <a:xfrm>
            <a:off x="1143000" y="3502762"/>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pattern</a:t>
            </a:r>
            <a:endParaRPr lang="en-US" sz="2000" dirty="0"/>
          </a:p>
        </p:txBody>
      </p:sp>
      <p:sp>
        <p:nvSpPr>
          <p:cNvPr id="24" name="kw-cell"/>
          <p:cNvSpPr txBox="1"/>
          <p:nvPr/>
        </p:nvSpPr>
        <p:spPr>
          <a:xfrm>
            <a:off x="3657600" y="3502762"/>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sequence made of shapes or objects</a:t>
            </a:r>
            <a:endParaRPr lang="en-US" sz="1800" dirty="0"/>
          </a:p>
        </p:txBody>
      </p:sp>
      <p:sp>
        <p:nvSpPr>
          <p:cNvPr id="25" name="kw-cell"/>
          <p:cNvSpPr txBox="1"/>
          <p:nvPr/>
        </p:nvSpPr>
        <p:spPr>
          <a:xfrm>
            <a:off x="7315200" y="3502762"/>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pattern grows by two squares each time.</a:t>
            </a:r>
            <a:endParaRPr lang="en-US" sz="1800" dirty="0"/>
          </a:p>
        </p:txBody>
      </p:sp>
      <p:sp>
        <p:nvSpPr>
          <p:cNvPr id="26" name="kw-row"/>
          <p:cNvSpPr/>
          <p:nvPr/>
        </p:nvSpPr>
        <p:spPr>
          <a:xfrm>
            <a:off x="548640" y="4407814"/>
            <a:ext cx="11094415" cy="831901"/>
          </a:xfrm>
          <a:prstGeom prst="roundRect">
            <a:avLst>
              <a:gd name="adj" fmla="val 6595"/>
            </a:avLst>
          </a:prstGeom>
          <a:solidFill>
            <a:srgbClr val="F9F4EC"/>
          </a:solidFill>
          <a:ln/>
        </p:spPr>
      </p:sp>
      <p:sp>
        <p:nvSpPr>
          <p:cNvPr id="27" name="kw-hex"/>
          <p:cNvSpPr/>
          <p:nvPr/>
        </p:nvSpPr>
        <p:spPr>
          <a:xfrm>
            <a:off x="658368" y="4645594"/>
            <a:ext cx="411480" cy="356342"/>
          </a:xfrm>
          <a:prstGeom prst="hexagon">
            <a:avLst/>
          </a:prstGeom>
          <a:solidFill>
            <a:srgbClr val="B8862B"/>
          </a:solidFill>
          <a:ln/>
        </p:spPr>
      </p:sp>
      <p:sp>
        <p:nvSpPr>
          <p:cNvPr id="28" name="kw-cell"/>
          <p:cNvSpPr txBox="1"/>
          <p:nvPr/>
        </p:nvSpPr>
        <p:spPr>
          <a:xfrm>
            <a:off x="1143000" y="4407814"/>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rule</a:t>
            </a:r>
            <a:endParaRPr lang="en-US" sz="2000" dirty="0"/>
          </a:p>
        </p:txBody>
      </p:sp>
      <p:sp>
        <p:nvSpPr>
          <p:cNvPr id="29" name="kw-cell"/>
          <p:cNvSpPr txBox="1"/>
          <p:nvPr/>
        </p:nvSpPr>
        <p:spPr>
          <a:xfrm>
            <a:off x="3657600" y="4407814"/>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you do to get from one term to the next</a:t>
            </a:r>
            <a:endParaRPr lang="en-US" sz="1800" dirty="0"/>
          </a:p>
        </p:txBody>
      </p:sp>
      <p:sp>
        <p:nvSpPr>
          <p:cNvPr id="30" name="kw-cell"/>
          <p:cNvSpPr txBox="1"/>
          <p:nvPr/>
        </p:nvSpPr>
        <p:spPr>
          <a:xfrm>
            <a:off x="7315200" y="4407814"/>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rule for 3, 6, 9, 12 is add 3.</a:t>
            </a:r>
            <a:endParaRPr lang="en-US" sz="1800" dirty="0"/>
          </a:p>
        </p:txBody>
      </p:sp>
      <p:sp>
        <p:nvSpPr>
          <p:cNvPr id="31" name="kw-row"/>
          <p:cNvSpPr/>
          <p:nvPr/>
        </p:nvSpPr>
        <p:spPr>
          <a:xfrm>
            <a:off x="548640" y="5312867"/>
            <a:ext cx="11094415" cy="831901"/>
          </a:xfrm>
          <a:prstGeom prst="roundRect">
            <a:avLst>
              <a:gd name="adj" fmla="val 6595"/>
            </a:avLst>
          </a:prstGeom>
          <a:solidFill>
            <a:srgbClr val="F5F6F9"/>
          </a:solidFill>
          <a:ln/>
        </p:spPr>
      </p:sp>
      <p:sp>
        <p:nvSpPr>
          <p:cNvPr id="32" name="kw-hex"/>
          <p:cNvSpPr/>
          <p:nvPr/>
        </p:nvSpPr>
        <p:spPr>
          <a:xfrm>
            <a:off x="658368" y="5550647"/>
            <a:ext cx="411480" cy="356342"/>
          </a:xfrm>
          <a:prstGeom prst="hexagon">
            <a:avLst/>
          </a:prstGeom>
          <a:solidFill>
            <a:srgbClr val="2E4A8C"/>
          </a:solidFill>
          <a:ln/>
        </p:spPr>
      </p:sp>
      <p:sp>
        <p:nvSpPr>
          <p:cNvPr id="33" name="kw-cell"/>
          <p:cNvSpPr txBox="1"/>
          <p:nvPr/>
        </p:nvSpPr>
        <p:spPr>
          <a:xfrm>
            <a:off x="1143000" y="5312867"/>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predict</a:t>
            </a:r>
            <a:endParaRPr lang="en-US" sz="2000" dirty="0"/>
          </a:p>
        </p:txBody>
      </p:sp>
      <p:sp>
        <p:nvSpPr>
          <p:cNvPr id="34" name="kw-cell"/>
          <p:cNvSpPr txBox="1"/>
          <p:nvPr/>
        </p:nvSpPr>
        <p:spPr>
          <a:xfrm>
            <a:off x="3657600" y="5312867"/>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say what will come next before you check</a:t>
            </a:r>
            <a:endParaRPr lang="en-US" sz="1800" dirty="0"/>
          </a:p>
        </p:txBody>
      </p:sp>
      <p:sp>
        <p:nvSpPr>
          <p:cNvPr id="35" name="kw-cell"/>
          <p:cNvSpPr txBox="1"/>
          <p:nvPr/>
        </p:nvSpPr>
        <p:spPr>
          <a:xfrm>
            <a:off x="7315200" y="5312867"/>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 predict the next term is 15.</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sequence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 set of numbers in order.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Each number in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sequence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called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Look at 3, 6, 9, 12.</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first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3.</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second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6.</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Each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3 more than the one before.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That is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rule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If you know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rule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you can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predict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next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next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15.</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pattern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sequence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of shapes or objects.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Patterns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follow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rules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too.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Count the shapes in each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to turn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pattern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into a number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sequence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check your answer by using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rule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again.</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Terms and rules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Always check the rule on a second pair of terms before you use it.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Here is a sequence: 4, 9, 14, 19, … What is the rule, and what is the next term?</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Look at the first two terms: 9 − 4 = 5.</a:t>
            </a:r>
            <a:endParaRPr lang="en-US" sz="1800" dirty="0"/>
          </a:p>
        </p:txBody>
      </p:sp>
      <p:sp>
        <p:nvSpPr>
          <p:cNvPr id="18" name="step-box"/>
          <p:cNvSpPr/>
          <p:nvPr/>
        </p:nvSpPr>
        <p:spPr>
          <a:xfrm>
            <a:off x="6126480" y="3546856"/>
            <a:ext cx="5379415" cy="794512"/>
          </a:xfrm>
          <a:prstGeom prst="roundRect">
            <a:avLst>
              <a:gd name="adj" fmla="val 11509"/>
            </a:avLst>
          </a:prstGeom>
          <a:solidFill>
            <a:srgbClr val="F0F2F7"/>
          </a:solidFill>
          <a:ln/>
        </p:spPr>
      </p:sp>
      <p:sp>
        <p:nvSpPr>
          <p:cNvPr id="19" name="step-hex"/>
          <p:cNvSpPr/>
          <p:nvPr/>
        </p:nvSpPr>
        <p:spPr>
          <a:xfrm>
            <a:off x="6217920" y="3761982"/>
            <a:ext cx="420624" cy="364260"/>
          </a:xfrm>
          <a:prstGeom prst="hexagon">
            <a:avLst/>
          </a:prstGeom>
          <a:solidFill>
            <a:srgbClr val="2E4A8C"/>
          </a:solidFill>
          <a:ln/>
        </p:spPr>
      </p:sp>
      <p:sp>
        <p:nvSpPr>
          <p:cNvPr id="20" name="step-hex-label"/>
          <p:cNvSpPr txBox="1"/>
          <p:nvPr/>
        </p:nvSpPr>
        <p:spPr>
          <a:xfrm>
            <a:off x="6217920" y="37619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next pair: 14 − 9 = 5. The rule is add 5.</a:t>
            </a:r>
            <a:endParaRPr lang="en-US" sz="1800" dirty="0"/>
          </a:p>
        </p:txBody>
      </p:sp>
      <p:sp>
        <p:nvSpPr>
          <p:cNvPr id="22" name="step-box"/>
          <p:cNvSpPr/>
          <p:nvPr/>
        </p:nvSpPr>
        <p:spPr>
          <a:xfrm>
            <a:off x="6126480" y="4432808"/>
            <a:ext cx="5379415" cy="794512"/>
          </a:xfrm>
          <a:prstGeom prst="roundRect">
            <a:avLst>
              <a:gd name="adj" fmla="val 11509"/>
            </a:avLst>
          </a:prstGeom>
          <a:solidFill>
            <a:srgbClr val="F0F2F7"/>
          </a:solidFill>
          <a:ln/>
        </p:spPr>
      </p:sp>
      <p:sp>
        <p:nvSpPr>
          <p:cNvPr id="23" name="step-hex"/>
          <p:cNvSpPr/>
          <p:nvPr/>
        </p:nvSpPr>
        <p:spPr>
          <a:xfrm>
            <a:off x="6217920" y="4647934"/>
            <a:ext cx="420624" cy="364260"/>
          </a:xfrm>
          <a:prstGeom prst="hexagon">
            <a:avLst/>
          </a:prstGeom>
          <a:solidFill>
            <a:srgbClr val="2E4A8C"/>
          </a:solidFill>
          <a:ln/>
        </p:spPr>
      </p:sp>
      <p:sp>
        <p:nvSpPr>
          <p:cNvPr id="24" name="step-hex-label"/>
          <p:cNvSpPr txBox="1"/>
          <p:nvPr/>
        </p:nvSpPr>
        <p:spPr>
          <a:xfrm>
            <a:off x="6217920" y="46479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Use the rule on the last term you have: 19 + 5 = 24.</a:t>
            </a:r>
            <a:endParaRPr lang="en-US" sz="1800" dirty="0"/>
          </a:p>
        </p:txBody>
      </p:sp>
      <p:sp>
        <p:nvSpPr>
          <p:cNvPr id="26" name="worked-answer"/>
          <p:cNvSpPr/>
          <p:nvPr/>
        </p:nvSpPr>
        <p:spPr>
          <a:xfrm>
            <a:off x="6126480" y="536448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24</a:t>
            </a:r>
            <a:endParaRPr lang="en-US" sz="1800" dirty="0"/>
          </a:p>
        </p:txBody>
      </p:sp>
      <p:sp>
        <p:nvSpPr>
          <p:cNvPr id="27" name="bullet-card"/>
          <p:cNvSpPr/>
          <p:nvPr/>
        </p:nvSpPr>
        <p:spPr>
          <a:xfrm>
            <a:off x="548640" y="1389888"/>
            <a:ext cx="5074920" cy="1358392"/>
          </a:xfrm>
          <a:prstGeom prst="roundRect">
            <a:avLst>
              <a:gd name="adj" fmla="val 5385"/>
            </a:avLst>
          </a:prstGeom>
          <a:solidFill>
            <a:srgbClr val="F5F6F9"/>
          </a:solidFill>
          <a:ln/>
        </p:spPr>
      </p:sp>
      <p:sp>
        <p:nvSpPr>
          <p:cNvPr id="28" name="bullet-hex"/>
          <p:cNvSpPr/>
          <p:nvPr/>
        </p:nvSpPr>
        <p:spPr>
          <a:xfrm>
            <a:off x="676656" y="1902791"/>
            <a:ext cx="384048" cy="332586"/>
          </a:xfrm>
          <a:prstGeom prst="hexagon">
            <a:avLst/>
          </a:prstGeom>
          <a:solidFill>
            <a:srgbClr val="2E4A8C"/>
          </a:solidFill>
          <a:ln/>
        </p:spPr>
      </p:sp>
      <p:sp>
        <p:nvSpPr>
          <p:cNvPr id="29" name="bullet"/>
          <p:cNvSpPr txBox="1"/>
          <p:nvPr/>
        </p:nvSpPr>
        <p:spPr>
          <a:xfrm>
            <a:off x="1143000" y="1389888"/>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sequence is a set of numbers in order. Each number is called a term.</a:t>
            </a:r>
            <a:endParaRPr lang="en-US" sz="2200" dirty="0"/>
          </a:p>
        </p:txBody>
      </p:sp>
      <p:sp>
        <p:nvSpPr>
          <p:cNvPr id="30" name="bullet-card"/>
          <p:cNvSpPr/>
          <p:nvPr/>
        </p:nvSpPr>
        <p:spPr>
          <a:xfrm>
            <a:off x="548640" y="2894584"/>
            <a:ext cx="5074920" cy="1017524"/>
          </a:xfrm>
          <a:prstGeom prst="roundRect">
            <a:avLst>
              <a:gd name="adj" fmla="val 7189"/>
            </a:avLst>
          </a:prstGeom>
          <a:solidFill>
            <a:srgbClr val="F5F6F9"/>
          </a:solidFill>
          <a:ln/>
        </p:spPr>
      </p:sp>
      <p:sp>
        <p:nvSpPr>
          <p:cNvPr id="31" name="bullet-hex"/>
          <p:cNvSpPr/>
          <p:nvPr/>
        </p:nvSpPr>
        <p:spPr>
          <a:xfrm>
            <a:off x="676656" y="3237053"/>
            <a:ext cx="384048" cy="332586"/>
          </a:xfrm>
          <a:prstGeom prst="hexagon">
            <a:avLst/>
          </a:prstGeom>
          <a:solidFill>
            <a:srgbClr val="B8862B"/>
          </a:solidFill>
          <a:ln/>
        </p:spPr>
      </p:sp>
      <p:sp>
        <p:nvSpPr>
          <p:cNvPr id="32" name="bullet"/>
          <p:cNvSpPr txBox="1"/>
          <p:nvPr/>
        </p:nvSpPr>
        <p:spPr>
          <a:xfrm>
            <a:off x="1143000" y="2894584"/>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Most sequences follow a rule. In 3, 6, 9, 12 you add 3 each time.</a:t>
            </a:r>
            <a:endParaRPr lang="en-US" sz="2200" dirty="0"/>
          </a:p>
        </p:txBody>
      </p:sp>
      <p:sp>
        <p:nvSpPr>
          <p:cNvPr id="33" name="bullet-card"/>
          <p:cNvSpPr/>
          <p:nvPr/>
        </p:nvSpPr>
        <p:spPr>
          <a:xfrm>
            <a:off x="548640" y="4058412"/>
            <a:ext cx="5074920" cy="1017524"/>
          </a:xfrm>
          <a:prstGeom prst="roundRect">
            <a:avLst>
              <a:gd name="adj" fmla="val 7189"/>
            </a:avLst>
          </a:prstGeom>
          <a:solidFill>
            <a:srgbClr val="F5F6F9"/>
          </a:solidFill>
          <a:ln/>
        </p:spPr>
      </p:sp>
      <p:sp>
        <p:nvSpPr>
          <p:cNvPr id="34" name="bullet-hex"/>
          <p:cNvSpPr/>
          <p:nvPr/>
        </p:nvSpPr>
        <p:spPr>
          <a:xfrm>
            <a:off x="676656" y="4400881"/>
            <a:ext cx="384048" cy="332586"/>
          </a:xfrm>
          <a:prstGeom prst="hexagon">
            <a:avLst/>
          </a:prstGeom>
          <a:solidFill>
            <a:srgbClr val="2E4A8C"/>
          </a:solidFill>
          <a:ln/>
        </p:spPr>
      </p:sp>
      <p:sp>
        <p:nvSpPr>
          <p:cNvPr id="35"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find the rule, look at two terms that are next to each other.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Patterns made of shapes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Turn the pictures into numbers first. Then the rule is easy to see.</a:t>
            </a:r>
            <a:endParaRPr lang="en-US" sz="1800" dirty="0"/>
          </a:p>
        </p:txBody>
      </p:sp>
      <p:sp>
        <p:nvSpPr>
          <p:cNvPr id="11" name="point-card"/>
          <p:cNvSpPr/>
          <p:nvPr/>
        </p:nvSpPr>
        <p:spPr>
          <a:xfrm>
            <a:off x="548640" y="1389888"/>
            <a:ext cx="3515258" cy="3964940"/>
          </a:xfrm>
          <a:prstGeom prst="roundRect">
            <a:avLst>
              <a:gd name="adj" fmla="val 1561"/>
            </a:avLst>
          </a:prstGeom>
          <a:solidFill>
            <a:srgbClr val="F0F2F7"/>
          </a:solidFill>
          <a:ln/>
        </p:spPr>
      </p:sp>
      <p:sp>
        <p:nvSpPr>
          <p:cNvPr id="12" name="point-hex"/>
          <p:cNvSpPr/>
          <p:nvPr/>
        </p:nvSpPr>
        <p:spPr>
          <a:xfrm>
            <a:off x="731520" y="1572768"/>
            <a:ext cx="685800" cy="593903"/>
          </a:xfrm>
          <a:prstGeom prst="hexagon">
            <a:avLst/>
          </a:prstGeom>
          <a:solidFill>
            <a:srgbClr val="2E4A8C"/>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pattern is a sequence made of shapes or objects: counters, squares, sticks or dots.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 work with a pattern, count the shapes in each term.</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0F2F7"/>
          </a:solidFill>
          <a:ln/>
        </p:spPr>
      </p:sp>
      <p:sp>
        <p:nvSpPr>
          <p:cNvPr id="20" name="point-hex"/>
          <p:cNvSpPr/>
          <p:nvPr/>
        </p:nvSpPr>
        <p:spPr>
          <a:xfrm>
            <a:off x="8310677" y="1572768"/>
            <a:ext cx="685800" cy="593903"/>
          </a:xfrm>
          <a:prstGeom prst="hexagon">
            <a:avLst/>
          </a:prstGeom>
          <a:solidFill>
            <a:srgbClr val="2E4A8C"/>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Describing what happens in words helps: 'three more counters are added each time'.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Worked example: Patterns made of shapes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F2F7"/>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pattern is made of counters. The 1st term has 2 counters, the 2nd term has 7 and the 3rd term has 12. How many counters are in the 5th term?</a:t>
            </a:r>
            <a:endParaRPr lang="en-US" sz="2200" dirty="0"/>
          </a:p>
        </p:txBody>
      </p:sp>
      <p:sp>
        <p:nvSpPr>
          <p:cNvPr id="9" name="step-box"/>
          <p:cNvSpPr/>
          <p:nvPr/>
        </p:nvSpPr>
        <p:spPr>
          <a:xfrm>
            <a:off x="548640" y="2655824"/>
            <a:ext cx="2464994" cy="1695196"/>
          </a:xfrm>
          <a:prstGeom prst="roundRect">
            <a:avLst>
              <a:gd name="adj" fmla="val 4315"/>
            </a:avLst>
          </a:prstGeom>
          <a:solidFill>
            <a:srgbClr val="FFFFFF"/>
          </a:solidFill>
          <a:ln w="15875">
            <a:solidFill>
              <a:srgbClr val="8C9BC0"/>
            </a:solidFill>
            <a:prstDash val="solid"/>
          </a:ln>
        </p:spPr>
      </p:sp>
      <p:sp>
        <p:nvSpPr>
          <p:cNvPr id="10" name="step-hex"/>
          <p:cNvSpPr/>
          <p:nvPr/>
        </p:nvSpPr>
        <p:spPr>
          <a:xfrm>
            <a:off x="685800" y="2765552"/>
            <a:ext cx="530352" cy="459285"/>
          </a:xfrm>
          <a:prstGeom prst="hexagon">
            <a:avLst/>
          </a:prstGeom>
          <a:solidFill>
            <a:srgbClr val="2E4A8C"/>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the pattern as a number sequence: 2, 7, 12.</a:t>
            </a:r>
            <a:endParaRPr lang="en-US" sz="1800" dirty="0"/>
          </a:p>
        </p:txBody>
      </p:sp>
      <p:sp>
        <p:nvSpPr>
          <p:cNvPr id="13" name="arrow"/>
          <p:cNvSpPr/>
          <p:nvPr/>
        </p:nvSpPr>
        <p:spPr>
          <a:xfrm>
            <a:off x="3086786" y="3366262"/>
            <a:ext cx="274320" cy="274320"/>
          </a:xfrm>
          <a:prstGeom prst="rightArrow">
            <a:avLst/>
          </a:prstGeom>
          <a:solidFill>
            <a:srgbClr val="B8862B"/>
          </a:solidFill>
          <a:ln/>
        </p:spPr>
      </p:sp>
      <p:sp>
        <p:nvSpPr>
          <p:cNvPr id="14" name="step-box"/>
          <p:cNvSpPr/>
          <p:nvPr/>
        </p:nvSpPr>
        <p:spPr>
          <a:xfrm>
            <a:off x="3425114" y="2655824"/>
            <a:ext cx="2464994" cy="1695196"/>
          </a:xfrm>
          <a:prstGeom prst="roundRect">
            <a:avLst>
              <a:gd name="adj" fmla="val 4315"/>
            </a:avLst>
          </a:prstGeom>
          <a:solidFill>
            <a:srgbClr val="FFFFFF"/>
          </a:solidFill>
          <a:ln w="15875">
            <a:solidFill>
              <a:srgbClr val="8C9BC0"/>
            </a:solidFill>
            <a:prstDash val="solid"/>
          </a:ln>
        </p:spPr>
      </p:sp>
      <p:sp>
        <p:nvSpPr>
          <p:cNvPr id="15" name="step-hex"/>
          <p:cNvSpPr/>
          <p:nvPr/>
        </p:nvSpPr>
        <p:spPr>
          <a:xfrm>
            <a:off x="3562274" y="2765552"/>
            <a:ext cx="530352" cy="459285"/>
          </a:xfrm>
          <a:prstGeom prst="hexagon">
            <a:avLst/>
          </a:prstGeom>
          <a:solidFill>
            <a:srgbClr val="2E4A8C"/>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Find the rule: 7 − 2 = 5, so 5 counters are added each time.</a:t>
            </a:r>
            <a:endParaRPr lang="en-US" sz="1800" dirty="0"/>
          </a:p>
        </p:txBody>
      </p:sp>
      <p:sp>
        <p:nvSpPr>
          <p:cNvPr id="18" name="arrow"/>
          <p:cNvSpPr/>
          <p:nvPr/>
        </p:nvSpPr>
        <p:spPr>
          <a:xfrm>
            <a:off x="5963260" y="3366262"/>
            <a:ext cx="274320" cy="274320"/>
          </a:xfrm>
          <a:prstGeom prst="rightArrow">
            <a:avLst/>
          </a:prstGeom>
          <a:solidFill>
            <a:srgbClr val="B8862B"/>
          </a:solidFill>
          <a:ln/>
        </p:spPr>
      </p:sp>
      <p:sp>
        <p:nvSpPr>
          <p:cNvPr id="19" name="step-box"/>
          <p:cNvSpPr/>
          <p:nvPr/>
        </p:nvSpPr>
        <p:spPr>
          <a:xfrm>
            <a:off x="6301588" y="2655824"/>
            <a:ext cx="2464994" cy="1695196"/>
          </a:xfrm>
          <a:prstGeom prst="roundRect">
            <a:avLst>
              <a:gd name="adj" fmla="val 4315"/>
            </a:avLst>
          </a:prstGeom>
          <a:solidFill>
            <a:srgbClr val="FFFFFF"/>
          </a:solidFill>
          <a:ln w="15875">
            <a:solidFill>
              <a:srgbClr val="8C9BC0"/>
            </a:solidFill>
            <a:prstDash val="solid"/>
          </a:ln>
        </p:spPr>
      </p:sp>
      <p:sp>
        <p:nvSpPr>
          <p:cNvPr id="20" name="step-hex"/>
          <p:cNvSpPr/>
          <p:nvPr/>
        </p:nvSpPr>
        <p:spPr>
          <a:xfrm>
            <a:off x="6438748" y="2765552"/>
            <a:ext cx="530352" cy="459285"/>
          </a:xfrm>
          <a:prstGeom prst="hexagon">
            <a:avLst/>
          </a:prstGeom>
          <a:solidFill>
            <a:srgbClr val="2E4A8C"/>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4th term: 12 + 5 = 17.</a:t>
            </a:r>
            <a:endParaRPr lang="en-US" sz="1800" dirty="0"/>
          </a:p>
        </p:txBody>
      </p:sp>
      <p:sp>
        <p:nvSpPr>
          <p:cNvPr id="23" name="arrow"/>
          <p:cNvSpPr/>
          <p:nvPr/>
        </p:nvSpPr>
        <p:spPr>
          <a:xfrm>
            <a:off x="8839733" y="3366262"/>
            <a:ext cx="274320" cy="274320"/>
          </a:xfrm>
          <a:prstGeom prst="rightArrow">
            <a:avLst/>
          </a:prstGeom>
          <a:solidFill>
            <a:srgbClr val="B8862B"/>
          </a:solidFill>
          <a:ln/>
        </p:spPr>
      </p:sp>
      <p:sp>
        <p:nvSpPr>
          <p:cNvPr id="24" name="step-box"/>
          <p:cNvSpPr/>
          <p:nvPr/>
        </p:nvSpPr>
        <p:spPr>
          <a:xfrm>
            <a:off x="9178061" y="2655824"/>
            <a:ext cx="2464994" cy="1695196"/>
          </a:xfrm>
          <a:prstGeom prst="roundRect">
            <a:avLst>
              <a:gd name="adj" fmla="val 4315"/>
            </a:avLst>
          </a:prstGeom>
          <a:solidFill>
            <a:srgbClr val="FFFFFF"/>
          </a:solidFill>
          <a:ln w="15875">
            <a:solidFill>
              <a:srgbClr val="8C9BC0"/>
            </a:solidFill>
            <a:prstDash val="solid"/>
          </a:ln>
        </p:spPr>
      </p:sp>
      <p:sp>
        <p:nvSpPr>
          <p:cNvPr id="25" name="step-hex"/>
          <p:cNvSpPr/>
          <p:nvPr/>
        </p:nvSpPr>
        <p:spPr>
          <a:xfrm>
            <a:off x="9315221" y="2765552"/>
            <a:ext cx="530352" cy="459285"/>
          </a:xfrm>
          <a:prstGeom prst="hexagon">
            <a:avLst/>
          </a:prstGeom>
          <a:solidFill>
            <a:srgbClr val="2E4A8C"/>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5th term: 17 + 5 = 22.</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22</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Predict and check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prediction becomes an answer only when you have checked it.</a:t>
            </a:r>
            <a:endParaRPr lang="en-US" sz="1800" dirty="0"/>
          </a:p>
        </p:txBody>
      </p:sp>
      <p:sp>
        <p:nvSpPr>
          <p:cNvPr id="11" name="point-card"/>
          <p:cNvSpPr/>
          <p:nvPr/>
        </p:nvSpPr>
        <p:spPr>
          <a:xfrm>
            <a:off x="548640" y="1389888"/>
            <a:ext cx="3515258" cy="3964940"/>
          </a:xfrm>
          <a:prstGeom prst="roundRect">
            <a:avLst>
              <a:gd name="adj" fmla="val 1561"/>
            </a:avLst>
          </a:prstGeom>
          <a:solidFill>
            <a:srgbClr val="F0F2F7"/>
          </a:solidFill>
          <a:ln/>
        </p:spPr>
      </p:sp>
      <p:sp>
        <p:nvSpPr>
          <p:cNvPr id="12" name="point-hex"/>
          <p:cNvSpPr/>
          <p:nvPr/>
        </p:nvSpPr>
        <p:spPr>
          <a:xfrm>
            <a:off x="731520" y="1572768"/>
            <a:ext cx="685800" cy="593903"/>
          </a:xfrm>
          <a:prstGeom prst="hexagon">
            <a:avLst/>
          </a:prstGeom>
          <a:solidFill>
            <a:srgbClr val="2E4A8C"/>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Once you have a rule, you can predict the next terms.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Some sequences go down. In 20, 17, 14 each term is 3 less than the one before, so the next term is 11.</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0F2F7"/>
          </a:solidFill>
          <a:ln/>
        </p:spPr>
      </p:sp>
      <p:sp>
        <p:nvSpPr>
          <p:cNvPr id="20" name="point-hex"/>
          <p:cNvSpPr/>
          <p:nvPr/>
        </p:nvSpPr>
        <p:spPr>
          <a:xfrm>
            <a:off x="8310677" y="1572768"/>
            <a:ext cx="685800" cy="593903"/>
          </a:xfrm>
          <a:prstGeom prst="hexagon">
            <a:avLst/>
          </a:prstGeom>
          <a:solidFill>
            <a:srgbClr val="2E4A8C"/>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If a pattern gets smaller, it can run out. A pattern of squares with 5, 3, 1 squares has no 4th term that you can draw.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Worked example: Predict and check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F2F7"/>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Here are the first three terms of a pattern of squares: 14, 11, 8. How many squares will be in the 5th term?</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8C9BC0"/>
            </a:solidFill>
            <a:prstDash val="solid"/>
          </a:ln>
        </p:spPr>
      </p:sp>
      <p:sp>
        <p:nvSpPr>
          <p:cNvPr id="10" name="step-hex"/>
          <p:cNvSpPr/>
          <p:nvPr/>
        </p:nvSpPr>
        <p:spPr>
          <a:xfrm>
            <a:off x="685800" y="2765552"/>
            <a:ext cx="530352" cy="459285"/>
          </a:xfrm>
          <a:prstGeom prst="hexagon">
            <a:avLst/>
          </a:prstGeom>
          <a:solidFill>
            <a:srgbClr val="2E4A8C"/>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Find the rule: 14 − 11 = 3, so 3 squares are taken away each time.</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8C9BC0"/>
            </a:solidFill>
            <a:prstDash val="solid"/>
          </a:ln>
        </p:spPr>
      </p:sp>
      <p:sp>
        <p:nvSpPr>
          <p:cNvPr id="15" name="step-hex"/>
          <p:cNvSpPr/>
          <p:nvPr/>
        </p:nvSpPr>
        <p:spPr>
          <a:xfrm>
            <a:off x="3562274" y="2765552"/>
            <a:ext cx="530352" cy="459285"/>
          </a:xfrm>
          <a:prstGeom prst="hexagon">
            <a:avLst/>
          </a:prstGeom>
          <a:solidFill>
            <a:srgbClr val="2E4A8C"/>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4th term: 8 − 3 = 5.</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8C9BC0"/>
            </a:solidFill>
            <a:prstDash val="solid"/>
          </a:ln>
        </p:spPr>
      </p:sp>
      <p:sp>
        <p:nvSpPr>
          <p:cNvPr id="20" name="step-hex"/>
          <p:cNvSpPr/>
          <p:nvPr/>
        </p:nvSpPr>
        <p:spPr>
          <a:xfrm>
            <a:off x="6438748" y="2765552"/>
            <a:ext cx="530352" cy="459285"/>
          </a:xfrm>
          <a:prstGeom prst="hexagon">
            <a:avLst/>
          </a:prstGeom>
          <a:solidFill>
            <a:srgbClr val="2E4A8C"/>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5th term: 5 − 3 = 2.</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8C9BC0"/>
            </a:solidFill>
            <a:prstDash val="solid"/>
          </a:ln>
        </p:spPr>
      </p:sp>
      <p:sp>
        <p:nvSpPr>
          <p:cNvPr id="25" name="step-hex"/>
          <p:cNvSpPr/>
          <p:nvPr/>
        </p:nvSpPr>
        <p:spPr>
          <a:xfrm>
            <a:off x="9315221" y="2765552"/>
            <a:ext cx="530352" cy="459285"/>
          </a:xfrm>
          <a:prstGeom prst="hexagon">
            <a:avLst/>
          </a:prstGeom>
          <a:solidFill>
            <a:srgbClr val="2E4A8C"/>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14, 11, 8, 5, 2 goes down by 3 each time.</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Continue the sequence</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Here is a sequence: 6, 11, 16, 21, … What is the 6th term?</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639060"/>
            <a:ext cx="4667802"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4393482"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Find the gap between two terms that are next to each other.</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Check the gap is the same for the next pair.</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Count which term you are on, then add the gap on one term at a time until you reach the 6th.</a:t>
            </a:r>
            <a:endParaRPr lang="en-US" sz="2200" dirty="0"/>
          </a:p>
        </p:txBody>
      </p:sp>
      <p:sp>
        <p:nvSpPr>
          <p:cNvPr id="17" name="col-Core"/>
          <p:cNvSpPr/>
          <p:nvPr/>
        </p:nvSpPr>
        <p:spPr>
          <a:xfrm>
            <a:off x="5490762" y="2639060"/>
            <a:ext cx="2938987" cy="3505708"/>
          </a:xfrm>
          <a:prstGeom prst="roundRect">
            <a:avLst>
              <a:gd name="adj" fmla="val 1867"/>
            </a:avLst>
          </a:prstGeom>
          <a:solidFill>
            <a:srgbClr val="D7DDE9"/>
          </a:solidFill>
          <a:ln/>
        </p:spPr>
      </p:sp>
      <p:sp>
        <p:nvSpPr>
          <p:cNvPr id="18" name="col-hex"/>
          <p:cNvSpPr/>
          <p:nvPr/>
        </p:nvSpPr>
        <p:spPr>
          <a:xfrm>
            <a:off x="5600490"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7563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79140"/>
            <a:ext cx="2664667"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21 is the 4th term, not the 5th. How many more jumps do you need?</a:t>
            </a:r>
            <a:endParaRPr lang="en-US" sz="2200" dirty="0"/>
          </a:p>
        </p:txBody>
      </p:sp>
      <p:sp>
        <p:nvSpPr>
          <p:cNvPr id="22" name="col-Stretch"/>
          <p:cNvSpPr/>
          <p:nvPr/>
        </p:nvSpPr>
        <p:spPr>
          <a:xfrm>
            <a:off x="8704069" y="2639060"/>
            <a:ext cx="2938987" cy="3505708"/>
          </a:xfrm>
          <a:prstGeom prst="roundRect">
            <a:avLst>
              <a:gd name="adj" fmla="val 1867"/>
            </a:avLst>
          </a:prstGeom>
          <a:solidFill>
            <a:srgbClr val="2E4A8C"/>
          </a:solidFill>
          <a:ln/>
        </p:spPr>
      </p:sp>
      <p:sp>
        <p:nvSpPr>
          <p:cNvPr id="23" name="col-hex"/>
          <p:cNvSpPr/>
          <p:nvPr/>
        </p:nvSpPr>
        <p:spPr>
          <a:xfrm>
            <a:off x="8813797"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7563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79140"/>
            <a:ext cx="2664667"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Will 100 ever be a term in this sequence? Explain how you can be sure without writing out every term.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A pattern of counters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pattern is made of counters. The 1st term has 3 counters, the 2nd term has 8 and the 3rd term has 13. How many counters are in the 7th term?</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numbers of counters as a sequence.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how many counters are added each time.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Work out each term, one at a time, until you reach the 7th.</a:t>
            </a:r>
            <a:endParaRPr lang="en-US" sz="18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How many jumps of 5 is it from the 3rd term to the 7th term?</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Describe how the 100th term could be found without drawing or listing all the terms. Explain your method.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pattern of squares has 20, 17 and 14 squares in its first three terms. How many squares are in the 6th term?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8</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5</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2</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11</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Continue the sequence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Here is a sequence: 6, 11, 16, 21, … What is the 6th term?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31</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terms go up by 5 each time. 21 is the 4th term, so the 5th term is 26 and the 6th term is 31.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A pattern of counters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pattern is made of counters. The 1st term has 3 counters, the 2nd term has 8 and the 3rd term has 13. How many counters are in the 7th term?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33</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5 counters are added each time, because 8 − 3 = 5. From the 3rd term to the 7th term is 4 jumps of 5, which is 20. 13 + 20 = 33.</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pattern of squares has 20, 17 and 14 squares in its first three terms. How many squares are in the 6th term?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5</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Each term has 3 fewer squares than the one before. 14 is the 3rd term, so the 4th is 11, the 5th is 8 and the 6th is 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Sequences · Chapter 1: What is a sequence?</dc:title>
  <dc:subject>Mathematics · Year 7</dc:subject>
  <dc:creator>Dr Vitor Merissi de Carvalho</dc:creator>
  <cp:lastModifiedBy>Dr Vitor Merissi de Carvalho</cp:lastModifiedBy>
  <cp:revision>1</cp:revision>
  <dcterms:created xsi:type="dcterms:W3CDTF">2026-10-18T17:47:10Z</dcterms:created>
  <dcterms:modified xsi:type="dcterms:W3CDTF">2026-10-18T17:47:10Z</dcterms:modified>
</cp:coreProperties>
</file>