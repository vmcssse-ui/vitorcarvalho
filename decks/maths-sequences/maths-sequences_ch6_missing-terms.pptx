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bfaf43c-402e-d004-985d-65aea036206c}">
          <p14:sldIdLst>
            <p14:sldId id="256"/>
          </p14:sldIdLst>
        </p14:section>
        <p14:section name="Gate" id="{a7921bc5-de4e-807a-9260-40dfe18ede66}">
          <p14:sldIdLst>
            <p14:sldId id="257"/>
            <p14:sldId id="258"/>
          </p14:sldIdLst>
        </p14:section>
        <p14:section name="Pre-teach" id="{1cb3906a-a4d4-e52c-def2-addbbf133079}">
          <p14:sldIdLst>
            <p14:sldId id="259"/>
          </p14:sldIdLst>
        </p14:section>
        <p14:section name="Read-along" id="{d669cdba-dec3-b9a0-3fcc-3af33835e499}">
          <p14:sldIdLst>
            <p14:sldId id="260"/>
            <p14:sldId id="261"/>
          </p14:sldIdLst>
        </p14:section>
        <p14:section name="Teach" id="{7b06d86d-5bdb-a6a6-a146-dafb8936a400}">
          <p14:sldIdLst>
            <p14:sldId id="262"/>
            <p14:sldId id="263"/>
            <p14:sldId id="264"/>
            <p14:sldId id="265"/>
          </p14:sldIdLst>
        </p14:section>
        <p14:section name="Routes" id="{72f5a55e-ed80-f5da-eb7c-6c68f8b1db97}">
          <p14:sldIdLst>
            <p14:sldId id="266"/>
            <p14:sldId id="267"/>
          </p14:sldIdLst>
        </p14:section>
        <p14:section name="Close" id="{25679e94-5034-82e0-9422-9dc41fde539e}">
          <p14:sldIdLst>
            <p14:sldId id="268"/>
          </p14:sldIdLst>
        </p14:section>
        <p14:section name="Answers" id="{3508a40d-fd53-2605-b18c-d4c5f9899992}">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Missing terms. Use the rule to fill gaps in a sequence, go backwards to find a first term, and jump straight to a far-off term.
This deck covers the department's lesson: 6 (Missing terms: How do you find a term that is missing from a sequence?).
Read the big question aloud: "How can you tell what comes next in a sequence, and how do you know you are right?"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Find the missing term: 9, 14, 19, ___, 29.  →  24
2. Find the missing first term: ___, 52, 45, 38.  →  A   59
3. The number that tells you where a term sits in a sequence is its ___.  →  position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24. The common difference is 5. 19 + 5 = 24, and 24 + 5 = 29 checks.
2. A   59. The terms go down by 7, so going backwards you add 7: 52 + 7 = 59.
3. position. The 1st term is at position 1, the 2nd at position 2, and so on.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missing term: a term that has been left out of a sequence. Example: "Find the missing term in 4, 8, ___, 16."
• position: where a term sits in the sequence. Example: "The first term is at position 1."
• consecutive: next to each other. Example: "7 and 11 are consecutive terms."
• arithmetic sequence: another name for a linear sequence. Example: "An arithmetic sequence adds or subtracts the same amount each time."
• geometric sequence: a sequence where you multiply or divide by the same number each time. Example: "5, 10, 20, 40 is a geometric sequence."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Sometimes a term in a sequence is missing.
2. You can find it with the rule.
3. Look at 6, 10, 14, ___, 22.
4. The terms go up by 4 each time.
5. So the missing term is 18.
6. Check: 18 + 4 = 22.
7. If two terms are missing, use the terms you do have.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Find the rule from two consecutive terms.
9. Every term has a position.
10. The first term is at position 1.
11. From the 1st term to the 4th term is 3 jumps.
12. From the 1st term to the 10th term is 9 jumps.
13. A sequence that adds the two previous terms is not linear.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missing term in the middle. Say it in your own words, then check understanding with a quick question: ask a pupil from the pre-teach group first, since they met these words and ideas before the lesson. Pupils try to recall before you re-explain.
When a term is missing, find the rule from two consecutive terms that you do have. Then use the rule to fill the gap.
In 6, 10, 14, ___, 22 the common difference is 10 − 6 = 4. So the missing term is 14 + 4 = 18. Check with the term after the gap: 18 + 4 = 22. It fits.
Always check with the next term. If your missing term plus the difference does not give the next term, the rule is wrong.
Worked example — model it step by step, thinking aloud: Find the missing term: 6, 13, 20, ___, 34. (1) Find the common difference from two consecutive terms: 13 − 6 = 7. (2) Add it to the term before the gap: 20 + 7 = 27. (3) Check with the term after the gap: 27 + 7 = 34. Answer: 27.
Tip: Find the rule from two consecutive terms you have. Then check with the term after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Missing first term, missing pair. Say it in your own words, then check understanding with a quick question: ask a pupil from the pre-teach group first, since they met these words and ideas before the lesson. Pupils try to recall before you re-explain.
If the first term is missing, go backwards. The rule going forwards is subtract 5 in ___, 29, 24, 19. So going backwards you add 5: 29 + 5 = 34. The first term is 34.
Two terms can be missing in a row, like 5, 11, ___, ___, 29. Find the rule from the terms you have: 11 − 5 = 6. Then fill both gaps: 17 and 23. Check: 23 + 6 = 29.
If the two missing terms are between two terms you know, count the jumps between them. From 11 to 29 is 3 jumps, and 29 − 11 = 18, so each jump is 6.
Worked example — model it step by step, thinking aloud: Find the missing first term: ___, 41, 35, 29. (1) Find the rule from the terms you have: 41 − 35 = 6. The terms go down by 6. (2) Going backwards, do the opposite: add 6. (3) 41 + 6 = 47. Answer: 47.
Tip: To go backwards along a sequence, do the opposite of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Jumps from the first term. Say it in your own words, then check understanding with a quick question: ask a pupil from the pre-teach group first, since they met these words and ideas before the lesson. Pupils try to recall before you re-explain.
Look at 3, 8, 13, 18, 23. The difference between the 1st term and the 2nd term is 5. Between the 1st and the 3rd it is 10. Between the 1st and the 4th it is 15. Between the 1st and the 5th it is 20.
Each position along adds another 5. From the 1st term to the 4th term is 3 jumps, so the gap is 3 × 5 = 15. From the 1st term to the 10th term is 9 jumps, so the gap is 9 × 5 = 45.
This lets you jump straight to a far-off term without writing all the terms. The 10th term of 3, 8, 13, … is 3 + 45 = 48. Count the jumps carefully: from the 1st to the 10th is 9 jumps, not 10.
Worked example — model it step by step, thinking aloud: A linear sequence starts 4, 10, 16, … What is the 10th term? (1) The common difference is 10 − 4 = 6. (2) From the 1st term to the 10th term is 9 jumps. (3) 9 jumps of 6 is 9 × 6 = 54. (4) 4 + 54 = 58. Answer: 58.
Tip: The number of jumps from the 1st term to any position is one fewer than the position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Rules that multiply, divide or add two terms. Say it in your own words, then check understanding with a quick question: ask a pupil from the pre-teach group first, since they met these words and ideas before the lesson. Pupils try to recall before you re-explain.
A missing term can be in a geometric sequence. In 4, 20, 100, ___, 2500 each term is 5 times the previous term, because 20 ÷ 4 = 5. The missing term is 100 × 5 = 500. Check: 500 × 5 = 2500.
Some sequences add the two previous terms. In 1, 3, 4, 7, 11, 18 you get 1 + 3 = 4, 3 + 4 = 7, 4 + 7 = 11 and 7 + 11 = 18. This sequence is not linear and not geometric.
Whatever the rule, the method is the same: work the rule out from the terms you have, fill the gap, then check with the term after it.
Worked example — model it step by step, thinking aloud: Find the missing term: 2, 6, 18, ___, 162. (1) Try an add rule: 6 − 2 = 4 but 18 − 6 = 12. It is not linear. (2) Try a multiply rule: 6 ÷ 2 = 3 and 18 ÷ 6 = 3. The rule is multiply by 3. (3) 18 × 3 = 54. Check: 54 × 3 = 162. Answer: 54.
Tip: If the differences change, try dividing a term by the one before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Two missing terms.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Find the first missing term: 8, 15, ___, ___, 36.
Support — work through the steps with the group: (1) Find the common difference from the two consecutive terms you have. (2) Add it to the last term before the gap. (3) Fill the second gap too, and check that one more jump lands on the last term.
Parallel worked example for Support (model it, do not give the task answer): Find the first missing term: 4, 9, ___, ___, 24. 9 − 4 = 5.; First gap: 9 + 5 = 14.; Second gap: 14 + 5 = 19. Check: 19 + 5 = 24.. Answer: 14.
Core — reveal the hint only on request: Use 8 and 15 to find the common difference. Then check your two terms lead to 36.
Stretch — no help; when finished: Suppose only 8, ___, ___, ___, 36 were given. Work out the three missing terms and explain how you found the common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Jump straight to a term.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linear sequence starts 5, 9, 13, … What is the 20th term?
Support — work through the steps with the group: (1) Find the common difference. (2) Count the jumps from the 1st term to the 20th term: one fewer than 20. (3) Multiply the jumps by the common difference and add the result to the first term.
Parallel worked example for Support (model it, do not give the task answer): A linear sequence starts 2, 8, 14, … What is the 10th term? The common difference is 8 − 2 = 6.; From the 1st term to the 10th term is 9 jumps.; 9 × 6 = 54, and 2 + 54 = 56.. Answer: 56.
Core — reveal the hint only on request: The common difference is 4. How many jumps from the 1st term to the 20th?
Stretch — no help; when finished: Which position in this sequence has the term 201? Explain how you worked backwards to find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Find the missing term: 3, 4, 7, 11, ___, 29. Each term is the sum of the two previous terms.
Answer: D   18. The two terms before the gap are 7 and 11, and 7 + 11 = 18. Check: 11 + 18 = 29.
Source of this question: module 3 task ("Add the two previous terms")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Two missing terms. Reveal the answer; pupils mark their own work in a different colour, then read the "why" together. Same destination for every lane, so one answer serves the whole class.
Answer: 22
Why: The common difference is 15 − 8 = 7. The gaps are 22 and 29, and 29 + 7 = 36 checks.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Jump straight to a term. Reveal the answer; pupils mark their own work in a different colour, then read the "why" together. Same destination for every lane, so one answer serves the whole class.
Answer: 81
Why: The common difference is 9 − 5 = 4. From the 1st term to the 20th is 19 jumps: 19 × 4 = 76, and 5 + 76 = 81.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18
Why: The two terms before the gap are 7 and 11, and 7 + 11 = 18. Check: 11 + 18 = 29.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Sequences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Sequences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E4A8C"/>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0E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E4A8C"/>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E4A8C"/>
                </a:solidFill>
                <a:latin typeface="Calibri" pitchFamily="34" charset="0"/>
                <a:ea typeface="Calibri" pitchFamily="34" charset="-122"/>
                <a:cs typeface="Calibri" pitchFamily="34" charset="-120"/>
              </a:rPr>
              <a:t>Mathematics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Sequences · AQA KS3 → 8300</a:t>
            </a:r>
            <a:endParaRPr lang="en-US" sz="1800" dirty="0"/>
          </a:p>
        </p:txBody>
      </p:sp>
      <p:sp>
        <p:nvSpPr>
          <p:cNvPr id="10" name="deck-title"/>
          <p:cNvSpPr txBox="1"/>
          <p:nvPr/>
        </p:nvSpPr>
        <p:spPr>
          <a:xfrm>
            <a:off x="548640" y="272338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Missing terms</a:t>
            </a:r>
            <a:endParaRPr lang="en-US" sz="4000" dirty="0"/>
          </a:p>
        </p:txBody>
      </p:sp>
      <p:sp>
        <p:nvSpPr>
          <p:cNvPr id="11" name="lessons-card"/>
          <p:cNvSpPr/>
          <p:nvPr/>
        </p:nvSpPr>
        <p:spPr>
          <a:xfrm>
            <a:off x="548640" y="3739388"/>
            <a:ext cx="5287975" cy="980440"/>
          </a:xfrm>
          <a:prstGeom prst="roundRect">
            <a:avLst>
              <a:gd name="adj" fmla="val 7461"/>
            </a:avLst>
          </a:prstGeom>
          <a:solidFill>
            <a:srgbClr val="F0F2F7"/>
          </a:solidFill>
          <a:ln/>
        </p:spPr>
      </p:sp>
      <p:sp>
        <p:nvSpPr>
          <p:cNvPr id="12" name="lessons"/>
          <p:cNvSpPr txBox="1"/>
          <p:nvPr/>
        </p:nvSpPr>
        <p:spPr>
          <a:xfrm>
            <a:off x="685800" y="38308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E4A8C"/>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Missing terms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Mathematics,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F2F7"/>
          </a:solidFill>
          <a:ln w="12700">
            <a:solidFill>
              <a:srgbClr val="B2BCD4"/>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E4A8C"/>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can you tell what comes next in a sequence, and how do you know you are right?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Find the missing term: 9, 14, 19, ___, 29.</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2"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3" name="card-hex"/>
          <p:cNvSpPr/>
          <p:nvPr/>
        </p:nvSpPr>
        <p:spPr>
          <a:xfrm>
            <a:off x="4521098" y="1572768"/>
            <a:ext cx="640080" cy="554309"/>
          </a:xfrm>
          <a:prstGeom prst="hexagon">
            <a:avLst/>
          </a:prstGeom>
          <a:solidFill>
            <a:srgbClr val="2E4A8C"/>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Find the missing first term: ___, 52, 45, 38.</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59</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66</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45</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31</a:t>
            </a:r>
            <a:endParaRPr lang="en-US" sz="2400" dirty="0"/>
          </a:p>
        </p:txBody>
      </p:sp>
      <p:sp>
        <p:nvSpPr>
          <p:cNvPr id="17"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18" name="card-hex"/>
          <p:cNvSpPr/>
          <p:nvPr/>
        </p:nvSpPr>
        <p:spPr>
          <a:xfrm>
            <a:off x="8310677" y="1572768"/>
            <a:ext cx="640080" cy="554309"/>
          </a:xfrm>
          <a:prstGeom prst="hexagon">
            <a:avLst/>
          </a:prstGeom>
          <a:solidFill>
            <a:srgbClr val="2E4A8C"/>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number that tells you where a term sits in a sequence is its ___.</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position  ·  difference  ·  rule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24</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Find the missing term: 9, 14, 19, ___, 29.</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common difference is 5. 19 + 5 = 24, and 24 + 5 = 29 checks.</a:t>
            </a:r>
            <a:endParaRPr lang="en-US" sz="2200" dirty="0"/>
          </a:p>
        </p:txBody>
      </p:sp>
      <p:sp>
        <p:nvSpPr>
          <p:cNvPr id="14"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5" name="card-hex"/>
          <p:cNvSpPr/>
          <p:nvPr/>
        </p:nvSpPr>
        <p:spPr>
          <a:xfrm>
            <a:off x="4521098" y="1572768"/>
            <a:ext cx="640080" cy="554309"/>
          </a:xfrm>
          <a:prstGeom prst="hexagon">
            <a:avLst/>
          </a:prstGeom>
          <a:solidFill>
            <a:srgbClr val="2E4A8C"/>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59</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Find the missing first term: ___, 52, 45, 38.</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terms go down by 7, so going backwards you add 7: 52 + 7 = 59.</a:t>
            </a:r>
            <a:endParaRPr lang="en-US" sz="2200" dirty="0"/>
          </a:p>
        </p:txBody>
      </p:sp>
      <p:sp>
        <p:nvSpPr>
          <p:cNvPr id="21"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22" name="card-hex"/>
          <p:cNvSpPr/>
          <p:nvPr/>
        </p:nvSpPr>
        <p:spPr>
          <a:xfrm>
            <a:off x="8310677" y="1572768"/>
            <a:ext cx="640080" cy="554309"/>
          </a:xfrm>
          <a:prstGeom prst="hexagon">
            <a:avLst/>
          </a:prstGeom>
          <a:solidFill>
            <a:srgbClr val="2E4A8C"/>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position</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The number that tells you where a term sits in a sequence is its ___.</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1st term is at position 1, the 2nd at position 2, and so 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2E4A8C"/>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801116"/>
          </a:xfrm>
          <a:prstGeom prst="roundRect">
            <a:avLst>
              <a:gd name="adj" fmla="val 6848"/>
            </a:avLst>
          </a:prstGeom>
          <a:solidFill>
            <a:srgbClr val="F5F6F9"/>
          </a:solidFill>
          <a:ln/>
        </p:spPr>
      </p:sp>
      <p:sp>
        <p:nvSpPr>
          <p:cNvPr id="12" name="kw-hex"/>
          <p:cNvSpPr/>
          <p:nvPr/>
        </p:nvSpPr>
        <p:spPr>
          <a:xfrm>
            <a:off x="658368" y="2142627"/>
            <a:ext cx="411480" cy="356342"/>
          </a:xfrm>
          <a:prstGeom prst="hexagon">
            <a:avLst/>
          </a:prstGeom>
          <a:solidFill>
            <a:srgbClr val="2E4A8C"/>
          </a:solidFill>
          <a:ln/>
        </p:spPr>
      </p:sp>
      <p:sp>
        <p:nvSpPr>
          <p:cNvPr id="13" name="kw-cell"/>
          <p:cNvSpPr txBox="1"/>
          <p:nvPr/>
        </p:nvSpPr>
        <p:spPr>
          <a:xfrm>
            <a:off x="1143000" y="1920240"/>
            <a:ext cx="2331720" cy="801116"/>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missing term</a:t>
            </a:r>
            <a:endParaRPr lang="en-US" sz="2000" dirty="0"/>
          </a:p>
        </p:txBody>
      </p:sp>
      <p:sp>
        <p:nvSpPr>
          <p:cNvPr id="14" name="kw-cell"/>
          <p:cNvSpPr txBox="1"/>
          <p:nvPr/>
        </p:nvSpPr>
        <p:spPr>
          <a:xfrm>
            <a:off x="3657600" y="1920240"/>
            <a:ext cx="3474720" cy="80111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term that has been left out of a sequence</a:t>
            </a:r>
            <a:endParaRPr lang="en-US" sz="1800" dirty="0"/>
          </a:p>
        </p:txBody>
      </p:sp>
      <p:sp>
        <p:nvSpPr>
          <p:cNvPr id="15" name="kw-cell"/>
          <p:cNvSpPr txBox="1"/>
          <p:nvPr/>
        </p:nvSpPr>
        <p:spPr>
          <a:xfrm>
            <a:off x="7315200" y="1920240"/>
            <a:ext cx="4236415" cy="801116"/>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Find the missing term in 4, 8, ___, 16.</a:t>
            </a:r>
            <a:endParaRPr lang="en-US" sz="1800" dirty="0"/>
          </a:p>
        </p:txBody>
      </p:sp>
      <p:sp>
        <p:nvSpPr>
          <p:cNvPr id="16" name="kw-row"/>
          <p:cNvSpPr/>
          <p:nvPr/>
        </p:nvSpPr>
        <p:spPr>
          <a:xfrm>
            <a:off x="548640" y="2794508"/>
            <a:ext cx="11094415" cy="573532"/>
          </a:xfrm>
          <a:prstGeom prst="roundRect">
            <a:avLst>
              <a:gd name="adj" fmla="val 9566"/>
            </a:avLst>
          </a:prstGeom>
          <a:solidFill>
            <a:srgbClr val="F9F4EC"/>
          </a:solidFill>
          <a:ln/>
        </p:spPr>
      </p:sp>
      <p:sp>
        <p:nvSpPr>
          <p:cNvPr id="17" name="kw-hex"/>
          <p:cNvSpPr/>
          <p:nvPr/>
        </p:nvSpPr>
        <p:spPr>
          <a:xfrm>
            <a:off x="658368" y="2903103"/>
            <a:ext cx="411480" cy="356342"/>
          </a:xfrm>
          <a:prstGeom prst="hexagon">
            <a:avLst/>
          </a:prstGeom>
          <a:solidFill>
            <a:srgbClr val="B8862B"/>
          </a:solidFill>
          <a:ln/>
        </p:spPr>
      </p:sp>
      <p:sp>
        <p:nvSpPr>
          <p:cNvPr id="18" name="kw-cell"/>
          <p:cNvSpPr txBox="1"/>
          <p:nvPr/>
        </p:nvSpPr>
        <p:spPr>
          <a:xfrm>
            <a:off x="1143000" y="2794508"/>
            <a:ext cx="2331720" cy="573532"/>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position</a:t>
            </a:r>
            <a:endParaRPr lang="en-US" sz="2000" dirty="0"/>
          </a:p>
        </p:txBody>
      </p:sp>
      <p:sp>
        <p:nvSpPr>
          <p:cNvPr id="19" name="kw-cell"/>
          <p:cNvSpPr txBox="1"/>
          <p:nvPr/>
        </p:nvSpPr>
        <p:spPr>
          <a:xfrm>
            <a:off x="3657600" y="2794508"/>
            <a:ext cx="3474720" cy="57353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where a term sits in the sequence</a:t>
            </a:r>
            <a:endParaRPr lang="en-US" sz="1800" dirty="0"/>
          </a:p>
        </p:txBody>
      </p:sp>
      <p:sp>
        <p:nvSpPr>
          <p:cNvPr id="20" name="kw-cell"/>
          <p:cNvSpPr txBox="1"/>
          <p:nvPr/>
        </p:nvSpPr>
        <p:spPr>
          <a:xfrm>
            <a:off x="7315200" y="2794508"/>
            <a:ext cx="4236415" cy="573532"/>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first term is at position 1.</a:t>
            </a:r>
            <a:endParaRPr lang="en-US" sz="1800" dirty="0"/>
          </a:p>
        </p:txBody>
      </p:sp>
      <p:sp>
        <p:nvSpPr>
          <p:cNvPr id="21" name="kw-row"/>
          <p:cNvSpPr/>
          <p:nvPr/>
        </p:nvSpPr>
        <p:spPr>
          <a:xfrm>
            <a:off x="548640" y="3441192"/>
            <a:ext cx="11094415" cy="573532"/>
          </a:xfrm>
          <a:prstGeom prst="roundRect">
            <a:avLst>
              <a:gd name="adj" fmla="val 9566"/>
            </a:avLst>
          </a:prstGeom>
          <a:solidFill>
            <a:srgbClr val="F5F6F9"/>
          </a:solidFill>
          <a:ln/>
        </p:spPr>
      </p:sp>
      <p:sp>
        <p:nvSpPr>
          <p:cNvPr id="22" name="kw-hex"/>
          <p:cNvSpPr/>
          <p:nvPr/>
        </p:nvSpPr>
        <p:spPr>
          <a:xfrm>
            <a:off x="658368" y="3549787"/>
            <a:ext cx="411480" cy="356342"/>
          </a:xfrm>
          <a:prstGeom prst="hexagon">
            <a:avLst/>
          </a:prstGeom>
          <a:solidFill>
            <a:srgbClr val="2E4A8C"/>
          </a:solidFill>
          <a:ln/>
        </p:spPr>
      </p:sp>
      <p:sp>
        <p:nvSpPr>
          <p:cNvPr id="23" name="kw-cell"/>
          <p:cNvSpPr txBox="1"/>
          <p:nvPr/>
        </p:nvSpPr>
        <p:spPr>
          <a:xfrm>
            <a:off x="1143000" y="3441192"/>
            <a:ext cx="2331720" cy="573532"/>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consecutive</a:t>
            </a:r>
            <a:endParaRPr lang="en-US" sz="2000" dirty="0"/>
          </a:p>
        </p:txBody>
      </p:sp>
      <p:sp>
        <p:nvSpPr>
          <p:cNvPr id="24" name="kw-cell"/>
          <p:cNvSpPr txBox="1"/>
          <p:nvPr/>
        </p:nvSpPr>
        <p:spPr>
          <a:xfrm>
            <a:off x="3657600" y="3441192"/>
            <a:ext cx="3474720" cy="57353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next to each other</a:t>
            </a:r>
            <a:endParaRPr lang="en-US" sz="1800" dirty="0"/>
          </a:p>
        </p:txBody>
      </p:sp>
      <p:sp>
        <p:nvSpPr>
          <p:cNvPr id="25" name="kw-cell"/>
          <p:cNvSpPr txBox="1"/>
          <p:nvPr/>
        </p:nvSpPr>
        <p:spPr>
          <a:xfrm>
            <a:off x="7315200" y="3441192"/>
            <a:ext cx="4236415" cy="573532"/>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7 and 11 are consecutive terms.</a:t>
            </a:r>
            <a:endParaRPr lang="en-US" sz="1800" dirty="0"/>
          </a:p>
        </p:txBody>
      </p:sp>
      <p:sp>
        <p:nvSpPr>
          <p:cNvPr id="26" name="kw-row"/>
          <p:cNvSpPr/>
          <p:nvPr/>
        </p:nvSpPr>
        <p:spPr>
          <a:xfrm>
            <a:off x="548640" y="4087876"/>
            <a:ext cx="11094415" cy="903732"/>
          </a:xfrm>
          <a:prstGeom prst="roundRect">
            <a:avLst>
              <a:gd name="adj" fmla="val 6071"/>
            </a:avLst>
          </a:prstGeom>
          <a:solidFill>
            <a:srgbClr val="F9F4EC"/>
          </a:solidFill>
          <a:ln/>
        </p:spPr>
      </p:sp>
      <p:sp>
        <p:nvSpPr>
          <p:cNvPr id="27" name="kw-hex"/>
          <p:cNvSpPr/>
          <p:nvPr/>
        </p:nvSpPr>
        <p:spPr>
          <a:xfrm>
            <a:off x="658368" y="4361571"/>
            <a:ext cx="411480" cy="356342"/>
          </a:xfrm>
          <a:prstGeom prst="hexagon">
            <a:avLst/>
          </a:prstGeom>
          <a:solidFill>
            <a:srgbClr val="B8862B"/>
          </a:solidFill>
          <a:ln/>
        </p:spPr>
      </p:sp>
      <p:sp>
        <p:nvSpPr>
          <p:cNvPr id="28" name="kw-cell"/>
          <p:cNvSpPr txBox="1"/>
          <p:nvPr/>
        </p:nvSpPr>
        <p:spPr>
          <a:xfrm>
            <a:off x="1143000" y="4087876"/>
            <a:ext cx="2331720" cy="903732"/>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arithmetic sequence</a:t>
            </a:r>
            <a:endParaRPr lang="en-US" sz="2000" dirty="0"/>
          </a:p>
        </p:txBody>
      </p:sp>
      <p:sp>
        <p:nvSpPr>
          <p:cNvPr id="29" name="kw-cell"/>
          <p:cNvSpPr txBox="1"/>
          <p:nvPr/>
        </p:nvSpPr>
        <p:spPr>
          <a:xfrm>
            <a:off x="3657600" y="4087876"/>
            <a:ext cx="3474720" cy="90373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another name for a linear sequence</a:t>
            </a:r>
            <a:endParaRPr lang="en-US" sz="1800" dirty="0"/>
          </a:p>
        </p:txBody>
      </p:sp>
      <p:sp>
        <p:nvSpPr>
          <p:cNvPr id="30" name="kw-cell"/>
          <p:cNvSpPr txBox="1"/>
          <p:nvPr/>
        </p:nvSpPr>
        <p:spPr>
          <a:xfrm>
            <a:off x="7315200" y="4087876"/>
            <a:ext cx="4236415" cy="903732"/>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An arithmetic sequence adds or subtracts the same amount each time.</a:t>
            </a:r>
            <a:endParaRPr lang="en-US" sz="1800" dirty="0"/>
          </a:p>
        </p:txBody>
      </p:sp>
      <p:sp>
        <p:nvSpPr>
          <p:cNvPr id="31" name="kw-row"/>
          <p:cNvSpPr/>
          <p:nvPr/>
        </p:nvSpPr>
        <p:spPr>
          <a:xfrm>
            <a:off x="548640" y="5064760"/>
            <a:ext cx="11094415" cy="1080008"/>
          </a:xfrm>
          <a:prstGeom prst="roundRect">
            <a:avLst>
              <a:gd name="adj" fmla="val 5080"/>
            </a:avLst>
          </a:prstGeom>
          <a:solidFill>
            <a:srgbClr val="F5F6F9"/>
          </a:solidFill>
          <a:ln/>
        </p:spPr>
      </p:sp>
      <p:sp>
        <p:nvSpPr>
          <p:cNvPr id="32" name="kw-hex"/>
          <p:cNvSpPr/>
          <p:nvPr/>
        </p:nvSpPr>
        <p:spPr>
          <a:xfrm>
            <a:off x="658368" y="5426593"/>
            <a:ext cx="411480" cy="356342"/>
          </a:xfrm>
          <a:prstGeom prst="hexagon">
            <a:avLst/>
          </a:prstGeom>
          <a:solidFill>
            <a:srgbClr val="2E4A8C"/>
          </a:solidFill>
          <a:ln/>
        </p:spPr>
      </p:sp>
      <p:sp>
        <p:nvSpPr>
          <p:cNvPr id="33" name="kw-cell"/>
          <p:cNvSpPr txBox="1"/>
          <p:nvPr/>
        </p:nvSpPr>
        <p:spPr>
          <a:xfrm>
            <a:off x="1143000" y="5064760"/>
            <a:ext cx="2331720" cy="1080008"/>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geometric sequence</a:t>
            </a:r>
            <a:endParaRPr lang="en-US" sz="2000" dirty="0"/>
          </a:p>
        </p:txBody>
      </p:sp>
      <p:sp>
        <p:nvSpPr>
          <p:cNvPr id="34" name="kw-cell"/>
          <p:cNvSpPr txBox="1"/>
          <p:nvPr/>
        </p:nvSpPr>
        <p:spPr>
          <a:xfrm>
            <a:off x="3657600" y="5064760"/>
            <a:ext cx="3474720" cy="108000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sequence where you multiply or divide by the same number each time</a:t>
            </a:r>
            <a:endParaRPr lang="en-US" sz="1800" dirty="0"/>
          </a:p>
        </p:txBody>
      </p:sp>
      <p:sp>
        <p:nvSpPr>
          <p:cNvPr id="35" name="kw-cell"/>
          <p:cNvSpPr txBox="1"/>
          <p:nvPr/>
        </p:nvSpPr>
        <p:spPr>
          <a:xfrm>
            <a:off x="7315200" y="5064760"/>
            <a:ext cx="4236415" cy="1080008"/>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5, 10, 20, 40 is a geometric sequence.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Sometimes a term in a sequence is missing.</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You can find it with the rule.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Look at 6, 10, 14, ___, 22.</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terms go up by 4 each time.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missing term</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18.</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Check: 18 + 4 = 22.</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If two terms are missing, use the terms you do have.</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Find the rule from two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consecutive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terms.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Every term has a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position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first term is at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position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1.</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From the 1st term to the 4th term is 3 jumps.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From the 1st term to the 10th term is 9 jumps.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sequence that adds the two previous terms is not linear.</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 missing term in the middle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Find the rule from two consecutive terms you have. Then check with the term after the gap.</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405892"/>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Find the missing term: 6, 13, 20, ___, 34.</a:t>
            </a:r>
            <a:endParaRPr lang="en-US" sz="1800" dirty="0"/>
          </a:p>
        </p:txBody>
      </p:sp>
      <p:sp>
        <p:nvSpPr>
          <p:cNvPr id="14" name="step-box"/>
          <p:cNvSpPr/>
          <p:nvPr/>
        </p:nvSpPr>
        <p:spPr>
          <a:xfrm>
            <a:off x="6126480" y="2609596"/>
            <a:ext cx="5379415" cy="794512"/>
          </a:xfrm>
          <a:prstGeom prst="roundRect">
            <a:avLst>
              <a:gd name="adj" fmla="val 11509"/>
            </a:avLst>
          </a:prstGeom>
          <a:solidFill>
            <a:srgbClr val="F0F2F7"/>
          </a:solidFill>
          <a:ln/>
        </p:spPr>
      </p:sp>
      <p:sp>
        <p:nvSpPr>
          <p:cNvPr id="15" name="step-hex"/>
          <p:cNvSpPr/>
          <p:nvPr/>
        </p:nvSpPr>
        <p:spPr>
          <a:xfrm>
            <a:off x="6217920" y="2824722"/>
            <a:ext cx="420624" cy="364260"/>
          </a:xfrm>
          <a:prstGeom prst="hexagon">
            <a:avLst/>
          </a:prstGeom>
          <a:solidFill>
            <a:srgbClr val="2E4A8C"/>
          </a:solidFill>
          <a:ln/>
        </p:spPr>
      </p:sp>
      <p:sp>
        <p:nvSpPr>
          <p:cNvPr id="16" name="step-hex-label"/>
          <p:cNvSpPr txBox="1"/>
          <p:nvPr/>
        </p:nvSpPr>
        <p:spPr>
          <a:xfrm>
            <a:off x="6217920" y="28247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609596"/>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Find the common difference from two consecutive terms: 13 − 6 = 7.</a:t>
            </a:r>
            <a:endParaRPr lang="en-US" sz="1800" dirty="0"/>
          </a:p>
        </p:txBody>
      </p:sp>
      <p:sp>
        <p:nvSpPr>
          <p:cNvPr id="18" name="step-box"/>
          <p:cNvSpPr/>
          <p:nvPr/>
        </p:nvSpPr>
        <p:spPr>
          <a:xfrm>
            <a:off x="6126480" y="3495548"/>
            <a:ext cx="5379415" cy="566928"/>
          </a:xfrm>
          <a:prstGeom prst="roundRect">
            <a:avLst>
              <a:gd name="adj" fmla="val 16129"/>
            </a:avLst>
          </a:prstGeom>
          <a:solidFill>
            <a:srgbClr val="F0F2F7"/>
          </a:solidFill>
          <a:ln/>
        </p:spPr>
      </p:sp>
      <p:sp>
        <p:nvSpPr>
          <p:cNvPr id="19" name="step-hex"/>
          <p:cNvSpPr/>
          <p:nvPr/>
        </p:nvSpPr>
        <p:spPr>
          <a:xfrm>
            <a:off x="6217920" y="3596882"/>
            <a:ext cx="420624" cy="364260"/>
          </a:xfrm>
          <a:prstGeom prst="hexagon">
            <a:avLst/>
          </a:prstGeom>
          <a:solidFill>
            <a:srgbClr val="2E4A8C"/>
          </a:solidFill>
          <a:ln/>
        </p:spPr>
      </p:sp>
      <p:sp>
        <p:nvSpPr>
          <p:cNvPr id="20" name="step-hex-label"/>
          <p:cNvSpPr txBox="1"/>
          <p:nvPr/>
        </p:nvSpPr>
        <p:spPr>
          <a:xfrm>
            <a:off x="6217920" y="359688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49554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Add it to the term before the gap: 20 + 7 = 27.</a:t>
            </a:r>
            <a:endParaRPr lang="en-US" sz="1800" dirty="0"/>
          </a:p>
        </p:txBody>
      </p:sp>
      <p:sp>
        <p:nvSpPr>
          <p:cNvPr id="22" name="step-box"/>
          <p:cNvSpPr/>
          <p:nvPr/>
        </p:nvSpPr>
        <p:spPr>
          <a:xfrm>
            <a:off x="6126480" y="4153916"/>
            <a:ext cx="5379415" cy="566928"/>
          </a:xfrm>
          <a:prstGeom prst="roundRect">
            <a:avLst>
              <a:gd name="adj" fmla="val 16129"/>
            </a:avLst>
          </a:prstGeom>
          <a:solidFill>
            <a:srgbClr val="F0F2F7"/>
          </a:solidFill>
          <a:ln/>
        </p:spPr>
      </p:sp>
      <p:sp>
        <p:nvSpPr>
          <p:cNvPr id="23" name="step-hex"/>
          <p:cNvSpPr/>
          <p:nvPr/>
        </p:nvSpPr>
        <p:spPr>
          <a:xfrm>
            <a:off x="6217920" y="4255250"/>
            <a:ext cx="420624" cy="364260"/>
          </a:xfrm>
          <a:prstGeom prst="hexagon">
            <a:avLst/>
          </a:prstGeom>
          <a:solidFill>
            <a:srgbClr val="2E4A8C"/>
          </a:solidFill>
          <a:ln/>
        </p:spPr>
      </p:sp>
      <p:sp>
        <p:nvSpPr>
          <p:cNvPr id="24" name="step-hex-label"/>
          <p:cNvSpPr txBox="1"/>
          <p:nvPr/>
        </p:nvSpPr>
        <p:spPr>
          <a:xfrm>
            <a:off x="6217920" y="425525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15391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with the term after the gap: 27 + 7 = 34.</a:t>
            </a:r>
            <a:endParaRPr lang="en-US" sz="1800" dirty="0"/>
          </a:p>
        </p:txBody>
      </p:sp>
      <p:sp>
        <p:nvSpPr>
          <p:cNvPr id="26" name="worked-answer"/>
          <p:cNvSpPr/>
          <p:nvPr/>
        </p:nvSpPr>
        <p:spPr>
          <a:xfrm>
            <a:off x="6126480" y="4858004"/>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27</a:t>
            </a:r>
            <a:endParaRPr lang="en-US" sz="1800" dirty="0"/>
          </a:p>
        </p:txBody>
      </p:sp>
      <p:sp>
        <p:nvSpPr>
          <p:cNvPr id="27" name="bullet-card"/>
          <p:cNvSpPr/>
          <p:nvPr/>
        </p:nvSpPr>
        <p:spPr>
          <a:xfrm>
            <a:off x="548640" y="1389888"/>
            <a:ext cx="5074920" cy="945219"/>
          </a:xfrm>
          <a:prstGeom prst="roundRect">
            <a:avLst>
              <a:gd name="adj" fmla="val 7739"/>
            </a:avLst>
          </a:prstGeom>
          <a:solidFill>
            <a:srgbClr val="F5F6F9"/>
          </a:solidFill>
          <a:ln/>
        </p:spPr>
      </p:sp>
      <p:sp>
        <p:nvSpPr>
          <p:cNvPr id="28" name="bullet-hex"/>
          <p:cNvSpPr/>
          <p:nvPr/>
        </p:nvSpPr>
        <p:spPr>
          <a:xfrm>
            <a:off x="676656" y="1696205"/>
            <a:ext cx="384048" cy="332586"/>
          </a:xfrm>
          <a:prstGeom prst="hexagon">
            <a:avLst/>
          </a:prstGeom>
          <a:solidFill>
            <a:srgbClr val="2E4A8C"/>
          </a:solidFill>
          <a:ln/>
        </p:spPr>
      </p:sp>
      <p:sp>
        <p:nvSpPr>
          <p:cNvPr id="29" name="bullet"/>
          <p:cNvSpPr txBox="1"/>
          <p:nvPr/>
        </p:nvSpPr>
        <p:spPr>
          <a:xfrm>
            <a:off x="1143000" y="1389888"/>
            <a:ext cx="4389120" cy="94521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When a term is missing, find the rule from two consecutive terms that you do have.</a:t>
            </a:r>
            <a:endParaRPr lang="en-US" sz="1800" dirty="0"/>
          </a:p>
        </p:txBody>
      </p:sp>
      <p:sp>
        <p:nvSpPr>
          <p:cNvPr id="30" name="bullet-card"/>
          <p:cNvSpPr/>
          <p:nvPr/>
        </p:nvSpPr>
        <p:spPr>
          <a:xfrm>
            <a:off x="548640" y="2481411"/>
            <a:ext cx="5074920" cy="945219"/>
          </a:xfrm>
          <a:prstGeom prst="roundRect">
            <a:avLst>
              <a:gd name="adj" fmla="val 7739"/>
            </a:avLst>
          </a:prstGeom>
          <a:solidFill>
            <a:srgbClr val="F5F6F9"/>
          </a:solidFill>
          <a:ln/>
        </p:spPr>
      </p:sp>
      <p:sp>
        <p:nvSpPr>
          <p:cNvPr id="31" name="bullet-hex"/>
          <p:cNvSpPr/>
          <p:nvPr/>
        </p:nvSpPr>
        <p:spPr>
          <a:xfrm>
            <a:off x="676656" y="2787727"/>
            <a:ext cx="384048" cy="332586"/>
          </a:xfrm>
          <a:prstGeom prst="hexagon">
            <a:avLst/>
          </a:prstGeom>
          <a:solidFill>
            <a:srgbClr val="B8862B"/>
          </a:solidFill>
          <a:ln/>
        </p:spPr>
      </p:sp>
      <p:sp>
        <p:nvSpPr>
          <p:cNvPr id="32" name="bullet"/>
          <p:cNvSpPr txBox="1"/>
          <p:nvPr/>
        </p:nvSpPr>
        <p:spPr>
          <a:xfrm>
            <a:off x="1143000" y="2481411"/>
            <a:ext cx="4389120" cy="94521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In 6, 10, 14, ___, 22 the common difference is 10 − 6 = 4.</a:t>
            </a:r>
            <a:endParaRPr lang="en-US" sz="1800" dirty="0"/>
          </a:p>
        </p:txBody>
      </p:sp>
      <p:sp>
        <p:nvSpPr>
          <p:cNvPr id="33" name="bullet-card"/>
          <p:cNvSpPr/>
          <p:nvPr/>
        </p:nvSpPr>
        <p:spPr>
          <a:xfrm>
            <a:off x="548640" y="3572933"/>
            <a:ext cx="5074920" cy="1224111"/>
          </a:xfrm>
          <a:prstGeom prst="roundRect">
            <a:avLst>
              <a:gd name="adj" fmla="val 5976"/>
            </a:avLst>
          </a:prstGeom>
          <a:solidFill>
            <a:srgbClr val="F5F6F9"/>
          </a:solidFill>
          <a:ln/>
        </p:spPr>
      </p:sp>
      <p:sp>
        <p:nvSpPr>
          <p:cNvPr id="34" name="bullet-hex"/>
          <p:cNvSpPr/>
          <p:nvPr/>
        </p:nvSpPr>
        <p:spPr>
          <a:xfrm>
            <a:off x="676656" y="4018696"/>
            <a:ext cx="384048" cy="332586"/>
          </a:xfrm>
          <a:prstGeom prst="hexagon">
            <a:avLst/>
          </a:prstGeom>
          <a:solidFill>
            <a:srgbClr val="2E4A8C"/>
          </a:solidFill>
          <a:ln/>
        </p:spPr>
      </p:sp>
      <p:sp>
        <p:nvSpPr>
          <p:cNvPr id="35" name="bullet"/>
          <p:cNvSpPr txBox="1"/>
          <p:nvPr/>
        </p:nvSpPr>
        <p:spPr>
          <a:xfrm>
            <a:off x="1143000" y="3572933"/>
            <a:ext cx="4389120" cy="122411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Always check with the next term. If your missing term plus the difference does not give the next term, the rule is wrong.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Missing first term, missing pair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To go backwards along a sequence, do the opposite of the rule.</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405892"/>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Find the missing first term: ___, 41, 35, 29.</a:t>
            </a:r>
            <a:endParaRPr lang="en-US" sz="1800" dirty="0"/>
          </a:p>
        </p:txBody>
      </p:sp>
      <p:sp>
        <p:nvSpPr>
          <p:cNvPr id="14" name="step-box"/>
          <p:cNvSpPr/>
          <p:nvPr/>
        </p:nvSpPr>
        <p:spPr>
          <a:xfrm>
            <a:off x="6126480" y="2609596"/>
            <a:ext cx="5379415" cy="794512"/>
          </a:xfrm>
          <a:prstGeom prst="roundRect">
            <a:avLst>
              <a:gd name="adj" fmla="val 11509"/>
            </a:avLst>
          </a:prstGeom>
          <a:solidFill>
            <a:srgbClr val="F0F2F7"/>
          </a:solidFill>
          <a:ln/>
        </p:spPr>
      </p:sp>
      <p:sp>
        <p:nvSpPr>
          <p:cNvPr id="15" name="step-hex"/>
          <p:cNvSpPr/>
          <p:nvPr/>
        </p:nvSpPr>
        <p:spPr>
          <a:xfrm>
            <a:off x="6217920" y="2824722"/>
            <a:ext cx="420624" cy="364260"/>
          </a:xfrm>
          <a:prstGeom prst="hexagon">
            <a:avLst/>
          </a:prstGeom>
          <a:solidFill>
            <a:srgbClr val="2E4A8C"/>
          </a:solidFill>
          <a:ln/>
        </p:spPr>
      </p:sp>
      <p:sp>
        <p:nvSpPr>
          <p:cNvPr id="16" name="step-hex-label"/>
          <p:cNvSpPr txBox="1"/>
          <p:nvPr/>
        </p:nvSpPr>
        <p:spPr>
          <a:xfrm>
            <a:off x="6217920" y="28247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609596"/>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Find the rule from the terms you have: 41 − 35 = 6. The terms go down by 6.</a:t>
            </a:r>
            <a:endParaRPr lang="en-US" sz="1800" dirty="0"/>
          </a:p>
        </p:txBody>
      </p:sp>
      <p:sp>
        <p:nvSpPr>
          <p:cNvPr id="18" name="step-box"/>
          <p:cNvSpPr/>
          <p:nvPr/>
        </p:nvSpPr>
        <p:spPr>
          <a:xfrm>
            <a:off x="6126480" y="3495548"/>
            <a:ext cx="5379415" cy="566928"/>
          </a:xfrm>
          <a:prstGeom prst="roundRect">
            <a:avLst>
              <a:gd name="adj" fmla="val 16129"/>
            </a:avLst>
          </a:prstGeom>
          <a:solidFill>
            <a:srgbClr val="F0F2F7"/>
          </a:solidFill>
          <a:ln/>
        </p:spPr>
      </p:sp>
      <p:sp>
        <p:nvSpPr>
          <p:cNvPr id="19" name="step-hex"/>
          <p:cNvSpPr/>
          <p:nvPr/>
        </p:nvSpPr>
        <p:spPr>
          <a:xfrm>
            <a:off x="6217920" y="3596882"/>
            <a:ext cx="420624" cy="364260"/>
          </a:xfrm>
          <a:prstGeom prst="hexagon">
            <a:avLst/>
          </a:prstGeom>
          <a:solidFill>
            <a:srgbClr val="2E4A8C"/>
          </a:solidFill>
          <a:ln/>
        </p:spPr>
      </p:sp>
      <p:sp>
        <p:nvSpPr>
          <p:cNvPr id="20" name="step-hex-label"/>
          <p:cNvSpPr txBox="1"/>
          <p:nvPr/>
        </p:nvSpPr>
        <p:spPr>
          <a:xfrm>
            <a:off x="6217920" y="359688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49554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Going backwards, do the opposite: add 6.</a:t>
            </a:r>
            <a:endParaRPr lang="en-US" sz="1800" dirty="0"/>
          </a:p>
        </p:txBody>
      </p:sp>
      <p:sp>
        <p:nvSpPr>
          <p:cNvPr id="22" name="step-box"/>
          <p:cNvSpPr/>
          <p:nvPr/>
        </p:nvSpPr>
        <p:spPr>
          <a:xfrm>
            <a:off x="6126480" y="4153916"/>
            <a:ext cx="5379415" cy="566928"/>
          </a:xfrm>
          <a:prstGeom prst="roundRect">
            <a:avLst>
              <a:gd name="adj" fmla="val 16129"/>
            </a:avLst>
          </a:prstGeom>
          <a:solidFill>
            <a:srgbClr val="F0F2F7"/>
          </a:solidFill>
          <a:ln/>
        </p:spPr>
      </p:sp>
      <p:sp>
        <p:nvSpPr>
          <p:cNvPr id="23" name="step-hex"/>
          <p:cNvSpPr/>
          <p:nvPr/>
        </p:nvSpPr>
        <p:spPr>
          <a:xfrm>
            <a:off x="6217920" y="4255250"/>
            <a:ext cx="420624" cy="364260"/>
          </a:xfrm>
          <a:prstGeom prst="hexagon">
            <a:avLst/>
          </a:prstGeom>
          <a:solidFill>
            <a:srgbClr val="2E4A8C"/>
          </a:solidFill>
          <a:ln/>
        </p:spPr>
      </p:sp>
      <p:sp>
        <p:nvSpPr>
          <p:cNvPr id="24" name="step-hex-label"/>
          <p:cNvSpPr txBox="1"/>
          <p:nvPr/>
        </p:nvSpPr>
        <p:spPr>
          <a:xfrm>
            <a:off x="6217920" y="425525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15391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41 + 6 = 47.</a:t>
            </a:r>
            <a:endParaRPr lang="en-US" sz="1800" dirty="0"/>
          </a:p>
        </p:txBody>
      </p:sp>
      <p:sp>
        <p:nvSpPr>
          <p:cNvPr id="26" name="worked-answer"/>
          <p:cNvSpPr/>
          <p:nvPr/>
        </p:nvSpPr>
        <p:spPr>
          <a:xfrm>
            <a:off x="6126480" y="4858004"/>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47</a:t>
            </a:r>
            <a:endParaRPr lang="en-US" sz="1800" dirty="0"/>
          </a:p>
        </p:txBody>
      </p:sp>
      <p:sp>
        <p:nvSpPr>
          <p:cNvPr id="27" name="bullet-card"/>
          <p:cNvSpPr/>
          <p:nvPr/>
        </p:nvSpPr>
        <p:spPr>
          <a:xfrm>
            <a:off x="548640" y="1389888"/>
            <a:ext cx="5074920" cy="1244769"/>
          </a:xfrm>
          <a:prstGeom prst="roundRect">
            <a:avLst>
              <a:gd name="adj" fmla="val 5877"/>
            </a:avLst>
          </a:prstGeom>
          <a:solidFill>
            <a:srgbClr val="F5F6F9"/>
          </a:solidFill>
          <a:ln/>
        </p:spPr>
      </p:sp>
      <p:sp>
        <p:nvSpPr>
          <p:cNvPr id="28" name="bullet-hex"/>
          <p:cNvSpPr/>
          <p:nvPr/>
        </p:nvSpPr>
        <p:spPr>
          <a:xfrm>
            <a:off x="676656" y="1845980"/>
            <a:ext cx="384048" cy="332586"/>
          </a:xfrm>
          <a:prstGeom prst="hexagon">
            <a:avLst/>
          </a:prstGeom>
          <a:solidFill>
            <a:srgbClr val="2E4A8C"/>
          </a:solidFill>
          <a:ln/>
        </p:spPr>
      </p:sp>
      <p:sp>
        <p:nvSpPr>
          <p:cNvPr id="29" name="bullet"/>
          <p:cNvSpPr txBox="1"/>
          <p:nvPr/>
        </p:nvSpPr>
        <p:spPr>
          <a:xfrm>
            <a:off x="1143000" y="1389888"/>
            <a:ext cx="4389120"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If the first term is missing, go backwards. The rule going forwards is subtract 5 in ___, 29, 24, 19.</a:t>
            </a:r>
            <a:endParaRPr lang="en-US" sz="2200" dirty="0"/>
          </a:p>
        </p:txBody>
      </p:sp>
      <p:sp>
        <p:nvSpPr>
          <p:cNvPr id="30" name="bullet-card"/>
          <p:cNvSpPr/>
          <p:nvPr/>
        </p:nvSpPr>
        <p:spPr>
          <a:xfrm>
            <a:off x="548640" y="2780961"/>
            <a:ext cx="5074920" cy="903901"/>
          </a:xfrm>
          <a:prstGeom prst="roundRect">
            <a:avLst>
              <a:gd name="adj" fmla="val 8093"/>
            </a:avLst>
          </a:prstGeom>
          <a:solidFill>
            <a:srgbClr val="F5F6F9"/>
          </a:solidFill>
          <a:ln/>
        </p:spPr>
      </p:sp>
      <p:sp>
        <p:nvSpPr>
          <p:cNvPr id="31" name="bullet-hex"/>
          <p:cNvSpPr/>
          <p:nvPr/>
        </p:nvSpPr>
        <p:spPr>
          <a:xfrm>
            <a:off x="676656" y="3066619"/>
            <a:ext cx="384048" cy="332586"/>
          </a:xfrm>
          <a:prstGeom prst="hexagon">
            <a:avLst/>
          </a:prstGeom>
          <a:solidFill>
            <a:srgbClr val="B8862B"/>
          </a:solidFill>
          <a:ln/>
        </p:spPr>
      </p:sp>
      <p:sp>
        <p:nvSpPr>
          <p:cNvPr id="32" name="bullet"/>
          <p:cNvSpPr txBox="1"/>
          <p:nvPr/>
        </p:nvSpPr>
        <p:spPr>
          <a:xfrm>
            <a:off x="1143000" y="2780961"/>
            <a:ext cx="4389120"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Two terms can be missing in a row, like 5, 11, ___, ___, 29.</a:t>
            </a:r>
            <a:endParaRPr lang="en-US" sz="2200" dirty="0"/>
          </a:p>
        </p:txBody>
      </p:sp>
      <p:sp>
        <p:nvSpPr>
          <p:cNvPr id="33" name="bullet-card"/>
          <p:cNvSpPr/>
          <p:nvPr/>
        </p:nvSpPr>
        <p:spPr>
          <a:xfrm>
            <a:off x="548640" y="3831167"/>
            <a:ext cx="5074920" cy="1244769"/>
          </a:xfrm>
          <a:prstGeom prst="roundRect">
            <a:avLst>
              <a:gd name="adj" fmla="val 5877"/>
            </a:avLst>
          </a:prstGeom>
          <a:solidFill>
            <a:srgbClr val="F5F6F9"/>
          </a:solidFill>
          <a:ln/>
        </p:spPr>
      </p:sp>
      <p:sp>
        <p:nvSpPr>
          <p:cNvPr id="34" name="bullet-hex"/>
          <p:cNvSpPr/>
          <p:nvPr/>
        </p:nvSpPr>
        <p:spPr>
          <a:xfrm>
            <a:off x="676656" y="4287259"/>
            <a:ext cx="384048" cy="332586"/>
          </a:xfrm>
          <a:prstGeom prst="hexagon">
            <a:avLst/>
          </a:prstGeom>
          <a:solidFill>
            <a:srgbClr val="2E4A8C"/>
          </a:solidFill>
          <a:ln/>
        </p:spPr>
      </p:sp>
      <p:sp>
        <p:nvSpPr>
          <p:cNvPr id="35" name="bullet"/>
          <p:cNvSpPr txBox="1"/>
          <p:nvPr/>
        </p:nvSpPr>
        <p:spPr>
          <a:xfrm>
            <a:off x="1143000" y="3831167"/>
            <a:ext cx="4389120"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If the two missing terms are between two terms you know, count the jumps between them.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Jumps from the first term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number of jumps from the 1st term to any position is one fewer than the position number.</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linear sequence starts 4, 10, 16, … What is the 10th term?</a:t>
            </a:r>
            <a:endParaRPr lang="en-US" sz="1800" dirty="0"/>
          </a:p>
        </p:txBody>
      </p:sp>
      <p:sp>
        <p:nvSpPr>
          <p:cNvPr id="14" name="step-box"/>
          <p:cNvSpPr/>
          <p:nvPr/>
        </p:nvSpPr>
        <p:spPr>
          <a:xfrm>
            <a:off x="6126480" y="2888488"/>
            <a:ext cx="5379415" cy="566293"/>
          </a:xfrm>
          <a:prstGeom prst="roundRect">
            <a:avLst>
              <a:gd name="adj" fmla="val 16147"/>
            </a:avLst>
          </a:prstGeom>
          <a:solidFill>
            <a:srgbClr val="F0F2F7"/>
          </a:solidFill>
          <a:ln/>
        </p:spPr>
      </p:sp>
      <p:sp>
        <p:nvSpPr>
          <p:cNvPr id="15" name="step-hex"/>
          <p:cNvSpPr/>
          <p:nvPr/>
        </p:nvSpPr>
        <p:spPr>
          <a:xfrm>
            <a:off x="6217920" y="2989504"/>
            <a:ext cx="420624" cy="364260"/>
          </a:xfrm>
          <a:prstGeom prst="hexagon">
            <a:avLst/>
          </a:prstGeom>
          <a:solidFill>
            <a:srgbClr val="2E4A8C"/>
          </a:solidFill>
          <a:ln/>
        </p:spPr>
      </p:sp>
      <p:sp>
        <p:nvSpPr>
          <p:cNvPr id="16" name="step-hex-label"/>
          <p:cNvSpPr txBox="1"/>
          <p:nvPr/>
        </p:nvSpPr>
        <p:spPr>
          <a:xfrm>
            <a:off x="6217920" y="298950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common difference is 10 − 4 = 6.</a:t>
            </a:r>
            <a:endParaRPr lang="en-US" sz="1800" dirty="0"/>
          </a:p>
        </p:txBody>
      </p:sp>
      <p:sp>
        <p:nvSpPr>
          <p:cNvPr id="18" name="step-box"/>
          <p:cNvSpPr/>
          <p:nvPr/>
        </p:nvSpPr>
        <p:spPr>
          <a:xfrm>
            <a:off x="6126480" y="3546221"/>
            <a:ext cx="5379415" cy="566293"/>
          </a:xfrm>
          <a:prstGeom prst="roundRect">
            <a:avLst>
              <a:gd name="adj" fmla="val 16147"/>
            </a:avLst>
          </a:prstGeom>
          <a:solidFill>
            <a:srgbClr val="F0F2F7"/>
          </a:solidFill>
          <a:ln/>
        </p:spPr>
      </p:sp>
      <p:sp>
        <p:nvSpPr>
          <p:cNvPr id="19" name="step-hex"/>
          <p:cNvSpPr/>
          <p:nvPr/>
        </p:nvSpPr>
        <p:spPr>
          <a:xfrm>
            <a:off x="6217920" y="3647237"/>
            <a:ext cx="420624" cy="364260"/>
          </a:xfrm>
          <a:prstGeom prst="hexagon">
            <a:avLst/>
          </a:prstGeom>
          <a:solidFill>
            <a:srgbClr val="2E4A8C"/>
          </a:solidFill>
          <a:ln/>
        </p:spPr>
      </p:sp>
      <p:sp>
        <p:nvSpPr>
          <p:cNvPr id="20" name="step-hex-label"/>
          <p:cNvSpPr txBox="1"/>
          <p:nvPr/>
        </p:nvSpPr>
        <p:spPr>
          <a:xfrm>
            <a:off x="6217920" y="3647237"/>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221"/>
            <a:ext cx="4739335" cy="566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From the 1st term to the 10th term is 9 jumps.</a:t>
            </a:r>
            <a:endParaRPr lang="en-US" sz="1800" dirty="0"/>
          </a:p>
        </p:txBody>
      </p:sp>
      <p:sp>
        <p:nvSpPr>
          <p:cNvPr id="22" name="step-box"/>
          <p:cNvSpPr/>
          <p:nvPr/>
        </p:nvSpPr>
        <p:spPr>
          <a:xfrm>
            <a:off x="6126480" y="4203954"/>
            <a:ext cx="5379415" cy="566293"/>
          </a:xfrm>
          <a:prstGeom prst="roundRect">
            <a:avLst>
              <a:gd name="adj" fmla="val 16147"/>
            </a:avLst>
          </a:prstGeom>
          <a:solidFill>
            <a:srgbClr val="F0F2F7"/>
          </a:solidFill>
          <a:ln/>
        </p:spPr>
      </p:sp>
      <p:sp>
        <p:nvSpPr>
          <p:cNvPr id="23" name="step-hex"/>
          <p:cNvSpPr/>
          <p:nvPr/>
        </p:nvSpPr>
        <p:spPr>
          <a:xfrm>
            <a:off x="6217920" y="4304970"/>
            <a:ext cx="420624" cy="364260"/>
          </a:xfrm>
          <a:prstGeom prst="hexagon">
            <a:avLst/>
          </a:prstGeom>
          <a:solidFill>
            <a:srgbClr val="2E4A8C"/>
          </a:solidFill>
          <a:ln/>
        </p:spPr>
      </p:sp>
      <p:sp>
        <p:nvSpPr>
          <p:cNvPr id="24" name="step-hex-label"/>
          <p:cNvSpPr txBox="1"/>
          <p:nvPr/>
        </p:nvSpPr>
        <p:spPr>
          <a:xfrm>
            <a:off x="6217920" y="430497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3954"/>
            <a:ext cx="4739335" cy="566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9 jumps of 6 is 9 × 6 = 54.</a:t>
            </a:r>
            <a:endParaRPr lang="en-US" sz="1800" dirty="0"/>
          </a:p>
        </p:txBody>
      </p:sp>
      <p:sp>
        <p:nvSpPr>
          <p:cNvPr id="26" name="step-box"/>
          <p:cNvSpPr/>
          <p:nvPr/>
        </p:nvSpPr>
        <p:spPr>
          <a:xfrm>
            <a:off x="6126480" y="4861687"/>
            <a:ext cx="5379415" cy="566293"/>
          </a:xfrm>
          <a:prstGeom prst="roundRect">
            <a:avLst>
              <a:gd name="adj" fmla="val 16147"/>
            </a:avLst>
          </a:prstGeom>
          <a:solidFill>
            <a:srgbClr val="F0F2F7"/>
          </a:solidFill>
          <a:ln/>
        </p:spPr>
      </p:sp>
      <p:sp>
        <p:nvSpPr>
          <p:cNvPr id="27" name="step-hex"/>
          <p:cNvSpPr/>
          <p:nvPr/>
        </p:nvSpPr>
        <p:spPr>
          <a:xfrm>
            <a:off x="6217920" y="4962703"/>
            <a:ext cx="420624" cy="364260"/>
          </a:xfrm>
          <a:prstGeom prst="hexagon">
            <a:avLst/>
          </a:prstGeom>
          <a:solidFill>
            <a:srgbClr val="2E4A8C"/>
          </a:solidFill>
          <a:ln/>
        </p:spPr>
      </p:sp>
      <p:sp>
        <p:nvSpPr>
          <p:cNvPr id="28" name="step-hex-label"/>
          <p:cNvSpPr txBox="1"/>
          <p:nvPr/>
        </p:nvSpPr>
        <p:spPr>
          <a:xfrm>
            <a:off x="6217920" y="4962703"/>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861687"/>
            <a:ext cx="4739335" cy="566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4 + 54 = 58.</a:t>
            </a:r>
            <a:endParaRPr lang="en-US" sz="1800" dirty="0"/>
          </a:p>
        </p:txBody>
      </p:sp>
      <p:sp>
        <p:nvSpPr>
          <p:cNvPr id="30" name="worked-answer"/>
          <p:cNvSpPr/>
          <p:nvPr/>
        </p:nvSpPr>
        <p:spPr>
          <a:xfrm>
            <a:off x="6126480" y="556514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58</a:t>
            </a:r>
            <a:endParaRPr lang="en-US" sz="1800" dirty="0"/>
          </a:p>
        </p:txBody>
      </p:sp>
      <p:sp>
        <p:nvSpPr>
          <p:cNvPr id="31" name="bullet-card"/>
          <p:cNvSpPr/>
          <p:nvPr/>
        </p:nvSpPr>
        <p:spPr>
          <a:xfrm>
            <a:off x="548640" y="1389888"/>
            <a:ext cx="5074920" cy="1141476"/>
          </a:xfrm>
          <a:prstGeom prst="roundRect">
            <a:avLst>
              <a:gd name="adj" fmla="val 6409"/>
            </a:avLst>
          </a:prstGeom>
          <a:solidFill>
            <a:srgbClr val="F5F6F9"/>
          </a:solidFill>
          <a:ln/>
        </p:spPr>
      </p:sp>
      <p:sp>
        <p:nvSpPr>
          <p:cNvPr id="32" name="bullet-hex"/>
          <p:cNvSpPr/>
          <p:nvPr/>
        </p:nvSpPr>
        <p:spPr>
          <a:xfrm>
            <a:off x="676656" y="1794333"/>
            <a:ext cx="384048" cy="332586"/>
          </a:xfrm>
          <a:prstGeom prst="hexagon">
            <a:avLst/>
          </a:prstGeom>
          <a:solidFill>
            <a:srgbClr val="2E4A8C"/>
          </a:solidFill>
          <a:ln/>
        </p:spPr>
      </p:sp>
      <p:sp>
        <p:nvSpPr>
          <p:cNvPr id="33" name="bullet"/>
          <p:cNvSpPr txBox="1"/>
          <p:nvPr/>
        </p:nvSpPr>
        <p:spPr>
          <a:xfrm>
            <a:off x="1143000" y="1389888"/>
            <a:ext cx="4389120" cy="114147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Look at 3, 8, 13, 18, 23. The difference between the 1st term and the 2nd term is 5.</a:t>
            </a:r>
            <a:endParaRPr lang="en-US" sz="2000" dirty="0"/>
          </a:p>
        </p:txBody>
      </p:sp>
      <p:sp>
        <p:nvSpPr>
          <p:cNvPr id="34" name="bullet-card"/>
          <p:cNvSpPr/>
          <p:nvPr/>
        </p:nvSpPr>
        <p:spPr>
          <a:xfrm>
            <a:off x="548640" y="2677668"/>
            <a:ext cx="5074920" cy="1141476"/>
          </a:xfrm>
          <a:prstGeom prst="roundRect">
            <a:avLst>
              <a:gd name="adj" fmla="val 6409"/>
            </a:avLst>
          </a:prstGeom>
          <a:solidFill>
            <a:srgbClr val="F5F6F9"/>
          </a:solidFill>
          <a:ln/>
        </p:spPr>
      </p:sp>
      <p:sp>
        <p:nvSpPr>
          <p:cNvPr id="35" name="bullet-hex"/>
          <p:cNvSpPr/>
          <p:nvPr/>
        </p:nvSpPr>
        <p:spPr>
          <a:xfrm>
            <a:off x="676656" y="3082113"/>
            <a:ext cx="384048" cy="332586"/>
          </a:xfrm>
          <a:prstGeom prst="hexagon">
            <a:avLst/>
          </a:prstGeom>
          <a:solidFill>
            <a:srgbClr val="B8862B"/>
          </a:solidFill>
          <a:ln/>
        </p:spPr>
      </p:sp>
      <p:sp>
        <p:nvSpPr>
          <p:cNvPr id="36" name="bullet"/>
          <p:cNvSpPr txBox="1"/>
          <p:nvPr/>
        </p:nvSpPr>
        <p:spPr>
          <a:xfrm>
            <a:off x="1143000" y="2677668"/>
            <a:ext cx="4389120" cy="114147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Each position along adds another 5. From the 1st term to the 4th term is 3 jumps, so the gap is 3 × 5 = 15.</a:t>
            </a:r>
            <a:endParaRPr lang="en-US" sz="2000" dirty="0"/>
          </a:p>
        </p:txBody>
      </p:sp>
      <p:sp>
        <p:nvSpPr>
          <p:cNvPr id="37" name="bullet-card"/>
          <p:cNvSpPr/>
          <p:nvPr/>
        </p:nvSpPr>
        <p:spPr>
          <a:xfrm>
            <a:off x="548640" y="3965448"/>
            <a:ext cx="5074920" cy="831596"/>
          </a:xfrm>
          <a:prstGeom prst="roundRect">
            <a:avLst>
              <a:gd name="adj" fmla="val 8797"/>
            </a:avLst>
          </a:prstGeom>
          <a:solidFill>
            <a:srgbClr val="F5F6F9"/>
          </a:solidFill>
          <a:ln/>
        </p:spPr>
      </p:sp>
      <p:sp>
        <p:nvSpPr>
          <p:cNvPr id="38" name="bullet-hex"/>
          <p:cNvSpPr/>
          <p:nvPr/>
        </p:nvSpPr>
        <p:spPr>
          <a:xfrm>
            <a:off x="676656" y="4214953"/>
            <a:ext cx="384048" cy="332586"/>
          </a:xfrm>
          <a:prstGeom prst="hexagon">
            <a:avLst/>
          </a:prstGeom>
          <a:solidFill>
            <a:srgbClr val="2E4A8C"/>
          </a:solidFill>
          <a:ln/>
        </p:spPr>
      </p:sp>
      <p:sp>
        <p:nvSpPr>
          <p:cNvPr id="39" name="bullet"/>
          <p:cNvSpPr txBox="1"/>
          <p:nvPr/>
        </p:nvSpPr>
        <p:spPr>
          <a:xfrm>
            <a:off x="1143000" y="3965448"/>
            <a:ext cx="4389120" cy="83159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This lets you jump straight to a far-off term without writing all the terms.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Rules that multiply, divide or add two terms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the differences change, try dividing a term by the one before it.</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405892"/>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Find the missing term: 2, 6, 18, ___, 162.</a:t>
            </a:r>
            <a:endParaRPr lang="en-US" sz="1800" dirty="0"/>
          </a:p>
        </p:txBody>
      </p:sp>
      <p:sp>
        <p:nvSpPr>
          <p:cNvPr id="14" name="step-box"/>
          <p:cNvSpPr/>
          <p:nvPr/>
        </p:nvSpPr>
        <p:spPr>
          <a:xfrm>
            <a:off x="6126480" y="2609596"/>
            <a:ext cx="5379415" cy="794512"/>
          </a:xfrm>
          <a:prstGeom prst="roundRect">
            <a:avLst>
              <a:gd name="adj" fmla="val 11509"/>
            </a:avLst>
          </a:prstGeom>
          <a:solidFill>
            <a:srgbClr val="F0F2F7"/>
          </a:solidFill>
          <a:ln/>
        </p:spPr>
      </p:sp>
      <p:sp>
        <p:nvSpPr>
          <p:cNvPr id="15" name="step-hex"/>
          <p:cNvSpPr/>
          <p:nvPr/>
        </p:nvSpPr>
        <p:spPr>
          <a:xfrm>
            <a:off x="6217920" y="2824722"/>
            <a:ext cx="420624" cy="364260"/>
          </a:xfrm>
          <a:prstGeom prst="hexagon">
            <a:avLst/>
          </a:prstGeom>
          <a:solidFill>
            <a:srgbClr val="2E4A8C"/>
          </a:solidFill>
          <a:ln/>
        </p:spPr>
      </p:sp>
      <p:sp>
        <p:nvSpPr>
          <p:cNvPr id="16" name="step-hex-label"/>
          <p:cNvSpPr txBox="1"/>
          <p:nvPr/>
        </p:nvSpPr>
        <p:spPr>
          <a:xfrm>
            <a:off x="6217920" y="28247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609596"/>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Try an add rule: 6 − 2 = 4 but 18 − 6 = 12. It is not linear.</a:t>
            </a:r>
            <a:endParaRPr lang="en-US" sz="1800" dirty="0"/>
          </a:p>
        </p:txBody>
      </p:sp>
      <p:sp>
        <p:nvSpPr>
          <p:cNvPr id="18" name="step-box"/>
          <p:cNvSpPr/>
          <p:nvPr/>
        </p:nvSpPr>
        <p:spPr>
          <a:xfrm>
            <a:off x="6126480" y="3495548"/>
            <a:ext cx="5379415" cy="794512"/>
          </a:xfrm>
          <a:prstGeom prst="roundRect">
            <a:avLst>
              <a:gd name="adj" fmla="val 11509"/>
            </a:avLst>
          </a:prstGeom>
          <a:solidFill>
            <a:srgbClr val="F0F2F7"/>
          </a:solidFill>
          <a:ln/>
        </p:spPr>
      </p:sp>
      <p:sp>
        <p:nvSpPr>
          <p:cNvPr id="19" name="step-hex"/>
          <p:cNvSpPr/>
          <p:nvPr/>
        </p:nvSpPr>
        <p:spPr>
          <a:xfrm>
            <a:off x="6217920" y="3710674"/>
            <a:ext cx="420624" cy="364260"/>
          </a:xfrm>
          <a:prstGeom prst="hexagon">
            <a:avLst/>
          </a:prstGeom>
          <a:solidFill>
            <a:srgbClr val="2E4A8C"/>
          </a:solidFill>
          <a:ln/>
        </p:spPr>
      </p:sp>
      <p:sp>
        <p:nvSpPr>
          <p:cNvPr id="20" name="step-hex-label"/>
          <p:cNvSpPr txBox="1"/>
          <p:nvPr/>
        </p:nvSpPr>
        <p:spPr>
          <a:xfrm>
            <a:off x="6217920" y="371067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49554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Try a multiply rule: 6 ÷ 2 = 3 and 18 ÷ 6 = 3. The rule is multiply by 3.</a:t>
            </a:r>
            <a:endParaRPr lang="en-US" sz="1800" dirty="0"/>
          </a:p>
        </p:txBody>
      </p:sp>
      <p:sp>
        <p:nvSpPr>
          <p:cNvPr id="22" name="step-box"/>
          <p:cNvSpPr/>
          <p:nvPr/>
        </p:nvSpPr>
        <p:spPr>
          <a:xfrm>
            <a:off x="6126480" y="4381500"/>
            <a:ext cx="5379415" cy="566928"/>
          </a:xfrm>
          <a:prstGeom prst="roundRect">
            <a:avLst>
              <a:gd name="adj" fmla="val 16129"/>
            </a:avLst>
          </a:prstGeom>
          <a:solidFill>
            <a:srgbClr val="F0F2F7"/>
          </a:solidFill>
          <a:ln/>
        </p:spPr>
      </p:sp>
      <p:sp>
        <p:nvSpPr>
          <p:cNvPr id="23" name="step-hex"/>
          <p:cNvSpPr/>
          <p:nvPr/>
        </p:nvSpPr>
        <p:spPr>
          <a:xfrm>
            <a:off x="6217920" y="4482834"/>
            <a:ext cx="420624" cy="364260"/>
          </a:xfrm>
          <a:prstGeom prst="hexagon">
            <a:avLst/>
          </a:prstGeom>
          <a:solidFill>
            <a:srgbClr val="2E4A8C"/>
          </a:solidFill>
          <a:ln/>
        </p:spPr>
      </p:sp>
      <p:sp>
        <p:nvSpPr>
          <p:cNvPr id="24" name="step-hex-label"/>
          <p:cNvSpPr txBox="1"/>
          <p:nvPr/>
        </p:nvSpPr>
        <p:spPr>
          <a:xfrm>
            <a:off x="6217920" y="448283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38150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18 × 3 = 54. Check: 54 × 3 = 162.</a:t>
            </a:r>
            <a:endParaRPr lang="en-US" sz="1800" dirty="0"/>
          </a:p>
        </p:txBody>
      </p:sp>
      <p:sp>
        <p:nvSpPr>
          <p:cNvPr id="26" name="worked-answer"/>
          <p:cNvSpPr/>
          <p:nvPr/>
        </p:nvSpPr>
        <p:spPr>
          <a:xfrm>
            <a:off x="6126480" y="5085588"/>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54</a:t>
            </a:r>
            <a:endParaRPr lang="en-US" sz="1800" dirty="0"/>
          </a:p>
        </p:txBody>
      </p:sp>
      <p:sp>
        <p:nvSpPr>
          <p:cNvPr id="27" name="bullet-card"/>
          <p:cNvSpPr/>
          <p:nvPr/>
        </p:nvSpPr>
        <p:spPr>
          <a:xfrm>
            <a:off x="548640" y="1389888"/>
            <a:ext cx="5074920" cy="1769872"/>
          </a:xfrm>
          <a:prstGeom prst="roundRect">
            <a:avLst>
              <a:gd name="adj" fmla="val 4133"/>
            </a:avLst>
          </a:prstGeom>
          <a:solidFill>
            <a:srgbClr val="F5F6F9"/>
          </a:solidFill>
          <a:ln/>
        </p:spPr>
      </p:sp>
      <p:sp>
        <p:nvSpPr>
          <p:cNvPr id="28" name="bullet-hex"/>
          <p:cNvSpPr/>
          <p:nvPr/>
        </p:nvSpPr>
        <p:spPr>
          <a:xfrm>
            <a:off x="676656" y="2108531"/>
            <a:ext cx="384048" cy="332586"/>
          </a:xfrm>
          <a:prstGeom prst="hexagon">
            <a:avLst/>
          </a:prstGeom>
          <a:solidFill>
            <a:srgbClr val="2E4A8C"/>
          </a:solidFill>
          <a:ln/>
        </p:spPr>
      </p:sp>
      <p:sp>
        <p:nvSpPr>
          <p:cNvPr id="29" name="bullet"/>
          <p:cNvSpPr txBox="1"/>
          <p:nvPr/>
        </p:nvSpPr>
        <p:spPr>
          <a:xfrm>
            <a:off x="1143000" y="1389888"/>
            <a:ext cx="4389120" cy="176987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missing term can be in a geometric sequence. In 4, 20, 100, ___, 2500 each term is 5 times the previous term, because 20 ÷ 4 = 5.</a:t>
            </a:r>
            <a:endParaRPr lang="en-US" sz="2200" dirty="0"/>
          </a:p>
        </p:txBody>
      </p:sp>
      <p:sp>
        <p:nvSpPr>
          <p:cNvPr id="30" name="bullet-card"/>
          <p:cNvSpPr/>
          <p:nvPr/>
        </p:nvSpPr>
        <p:spPr>
          <a:xfrm>
            <a:off x="548640" y="3306064"/>
            <a:ext cx="5074920" cy="1769872"/>
          </a:xfrm>
          <a:prstGeom prst="roundRect">
            <a:avLst>
              <a:gd name="adj" fmla="val 4133"/>
            </a:avLst>
          </a:prstGeom>
          <a:solidFill>
            <a:srgbClr val="F5F6F9"/>
          </a:solidFill>
          <a:ln/>
        </p:spPr>
      </p:sp>
      <p:sp>
        <p:nvSpPr>
          <p:cNvPr id="31" name="bullet-hex"/>
          <p:cNvSpPr/>
          <p:nvPr/>
        </p:nvSpPr>
        <p:spPr>
          <a:xfrm>
            <a:off x="676656" y="4024707"/>
            <a:ext cx="384048" cy="332586"/>
          </a:xfrm>
          <a:prstGeom prst="hexagon">
            <a:avLst/>
          </a:prstGeom>
          <a:solidFill>
            <a:srgbClr val="B8862B"/>
          </a:solidFill>
          <a:ln/>
        </p:spPr>
      </p:sp>
      <p:sp>
        <p:nvSpPr>
          <p:cNvPr id="32" name="bullet"/>
          <p:cNvSpPr txBox="1"/>
          <p:nvPr/>
        </p:nvSpPr>
        <p:spPr>
          <a:xfrm>
            <a:off x="1143000" y="3306064"/>
            <a:ext cx="4389120" cy="176987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Some sequences add the two previous terms. In 1, 3, 4, 7, 11, 18 you get 1 + 3 = 4, 3 + 4 = 7, 4 + 7 = 11 and 7 + 11 = 18.</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Same task, three ways in: Two missing terms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74852"/>
          </a:xfrm>
          <a:prstGeom prst="roundRect">
            <a:avLst>
              <a:gd name="adj" fmla="val 9380"/>
            </a:avLst>
          </a:prstGeom>
          <a:solidFill>
            <a:srgbClr val="FFFFFF"/>
          </a:solidFill>
          <a:ln w="31750">
            <a:solidFill>
              <a:srgbClr val="B8862B"/>
            </a:solidFill>
            <a:prstDash val="solid"/>
          </a:ln>
        </p:spPr>
      </p:sp>
      <p:sp>
        <p:nvSpPr>
          <p:cNvPr id="8" name="task-hex"/>
          <p:cNvSpPr/>
          <p:nvPr/>
        </p:nvSpPr>
        <p:spPr>
          <a:xfrm>
            <a:off x="777240" y="1560566"/>
            <a:ext cx="731520" cy="633496"/>
          </a:xfrm>
          <a:prstGeom prst="hexagon">
            <a:avLst/>
          </a:prstGeom>
          <a:solidFill>
            <a:srgbClr val="B8862B"/>
          </a:solidFill>
          <a:ln/>
        </p:spPr>
      </p:sp>
      <p:sp>
        <p:nvSpPr>
          <p:cNvPr id="9" name="task-hex-label"/>
          <p:cNvSpPr txBox="1"/>
          <p:nvPr/>
        </p:nvSpPr>
        <p:spPr>
          <a:xfrm>
            <a:off x="777240" y="156056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60299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9197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Find the first missing term: 8, 15, ___, ___, 36.</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a:t>
            </a:r>
            <a:endParaRPr lang="en-US" sz="2000" dirty="0"/>
          </a:p>
        </p:txBody>
      </p:sp>
      <p:sp>
        <p:nvSpPr>
          <p:cNvPr id="12" name="col-Support"/>
          <p:cNvSpPr/>
          <p:nvPr/>
        </p:nvSpPr>
        <p:spPr>
          <a:xfrm>
            <a:off x="548640" y="2639060"/>
            <a:ext cx="3515258" cy="3505708"/>
          </a:xfrm>
          <a:prstGeom prst="roundRect">
            <a:avLst>
              <a:gd name="adj" fmla="val 1565"/>
            </a:avLst>
          </a:prstGeom>
          <a:solidFill>
            <a:srgbClr val="F0F2F7"/>
          </a:solidFill>
          <a:ln/>
        </p:spPr>
      </p:sp>
      <p:sp>
        <p:nvSpPr>
          <p:cNvPr id="13" name="col-hex"/>
          <p:cNvSpPr/>
          <p:nvPr/>
        </p:nvSpPr>
        <p:spPr>
          <a:xfrm>
            <a:off x="658368" y="271221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79140"/>
            <a:ext cx="3240938" cy="275590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common difference from the two consecutive terms you have.</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Add it to the last term before the gap.</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Fill the second gap too, and check that one more jump lands on the last term.</a:t>
            </a:r>
            <a:endParaRPr lang="en-US" sz="1800" dirty="0"/>
          </a:p>
        </p:txBody>
      </p:sp>
      <p:sp>
        <p:nvSpPr>
          <p:cNvPr id="17" name="col-Core"/>
          <p:cNvSpPr/>
          <p:nvPr/>
        </p:nvSpPr>
        <p:spPr>
          <a:xfrm>
            <a:off x="4338218" y="2639060"/>
            <a:ext cx="3515258" cy="3505708"/>
          </a:xfrm>
          <a:prstGeom prst="roundRect">
            <a:avLst>
              <a:gd name="adj" fmla="val 1565"/>
            </a:avLst>
          </a:prstGeom>
          <a:solidFill>
            <a:srgbClr val="D7DDE9"/>
          </a:solidFill>
          <a:ln/>
        </p:spPr>
      </p:sp>
      <p:sp>
        <p:nvSpPr>
          <p:cNvPr id="18" name="col-hex"/>
          <p:cNvSpPr/>
          <p:nvPr/>
        </p:nvSpPr>
        <p:spPr>
          <a:xfrm>
            <a:off x="4447946" y="271221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79140"/>
            <a:ext cx="3240938" cy="2755900"/>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Use 8 and 15 to find the common difference. Then check your two terms lead to 36.</a:t>
            </a:r>
            <a:endParaRPr lang="en-US" sz="1800" dirty="0"/>
          </a:p>
        </p:txBody>
      </p:sp>
      <p:sp>
        <p:nvSpPr>
          <p:cNvPr id="22" name="col-Stretch"/>
          <p:cNvSpPr/>
          <p:nvPr/>
        </p:nvSpPr>
        <p:spPr>
          <a:xfrm>
            <a:off x="8127797" y="2639060"/>
            <a:ext cx="3515258" cy="3505708"/>
          </a:xfrm>
          <a:prstGeom prst="roundRect">
            <a:avLst>
              <a:gd name="adj" fmla="val 1565"/>
            </a:avLst>
          </a:prstGeom>
          <a:solidFill>
            <a:srgbClr val="2E4A8C"/>
          </a:solidFill>
          <a:ln/>
        </p:spPr>
      </p:sp>
      <p:sp>
        <p:nvSpPr>
          <p:cNvPr id="23" name="col-hex"/>
          <p:cNvSpPr/>
          <p:nvPr/>
        </p:nvSpPr>
        <p:spPr>
          <a:xfrm>
            <a:off x="8237525" y="271221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79140"/>
            <a:ext cx="3240938" cy="275590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Suppose only 8, ___, ___, ___, 36 were given. Work out the three missing terms and explain how you found the common difference.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E4A8C"/>
                </a:solidFill>
                <a:latin typeface="Cambria" pitchFamily="34" charset="0"/>
                <a:ea typeface="Cambria" pitchFamily="34" charset="-122"/>
                <a:cs typeface="Cambria" pitchFamily="34" charset="-120"/>
              </a:rPr>
              <a:t>Same task, three ways in: Jump straight to a term</a:t>
            </a:r>
            <a:endParaRPr lang="en-US" sz="30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74852"/>
          </a:xfrm>
          <a:prstGeom prst="roundRect">
            <a:avLst>
              <a:gd name="adj" fmla="val 9380"/>
            </a:avLst>
          </a:prstGeom>
          <a:solidFill>
            <a:srgbClr val="FFFFFF"/>
          </a:solidFill>
          <a:ln w="31750">
            <a:solidFill>
              <a:srgbClr val="B8862B"/>
            </a:solidFill>
            <a:prstDash val="solid"/>
          </a:ln>
        </p:spPr>
      </p:sp>
      <p:sp>
        <p:nvSpPr>
          <p:cNvPr id="8" name="task-hex"/>
          <p:cNvSpPr/>
          <p:nvPr/>
        </p:nvSpPr>
        <p:spPr>
          <a:xfrm>
            <a:off x="777240" y="1560566"/>
            <a:ext cx="731520" cy="633496"/>
          </a:xfrm>
          <a:prstGeom prst="hexagon">
            <a:avLst/>
          </a:prstGeom>
          <a:solidFill>
            <a:srgbClr val="B8862B"/>
          </a:solidFill>
          <a:ln/>
        </p:spPr>
      </p:sp>
      <p:sp>
        <p:nvSpPr>
          <p:cNvPr id="9" name="task-hex-label"/>
          <p:cNvSpPr txBox="1"/>
          <p:nvPr/>
        </p:nvSpPr>
        <p:spPr>
          <a:xfrm>
            <a:off x="777240" y="156056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60299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9197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linear sequence starts 5, 9, 13, … What is the 20th term?</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a:t>
            </a:r>
            <a:endParaRPr lang="en-US" sz="2000" dirty="0"/>
          </a:p>
        </p:txBody>
      </p:sp>
      <p:sp>
        <p:nvSpPr>
          <p:cNvPr id="12" name="col-Support"/>
          <p:cNvSpPr/>
          <p:nvPr/>
        </p:nvSpPr>
        <p:spPr>
          <a:xfrm>
            <a:off x="548640" y="2639060"/>
            <a:ext cx="3515258" cy="3505708"/>
          </a:xfrm>
          <a:prstGeom prst="roundRect">
            <a:avLst>
              <a:gd name="adj" fmla="val 1565"/>
            </a:avLst>
          </a:prstGeom>
          <a:solidFill>
            <a:srgbClr val="F0F2F7"/>
          </a:solidFill>
          <a:ln/>
        </p:spPr>
      </p:sp>
      <p:sp>
        <p:nvSpPr>
          <p:cNvPr id="13" name="col-hex"/>
          <p:cNvSpPr/>
          <p:nvPr/>
        </p:nvSpPr>
        <p:spPr>
          <a:xfrm>
            <a:off x="658368" y="271221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79140"/>
            <a:ext cx="3240938" cy="275590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common difference.</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Count the jumps from the 1st term to the 20th term: one fewer than 20.</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Multiply the jumps by the common difference and add the result to the first term.</a:t>
            </a:r>
            <a:endParaRPr lang="en-US" sz="1800" dirty="0"/>
          </a:p>
        </p:txBody>
      </p:sp>
      <p:sp>
        <p:nvSpPr>
          <p:cNvPr id="17" name="col-Core"/>
          <p:cNvSpPr/>
          <p:nvPr/>
        </p:nvSpPr>
        <p:spPr>
          <a:xfrm>
            <a:off x="4338218" y="2639060"/>
            <a:ext cx="3515258" cy="3505708"/>
          </a:xfrm>
          <a:prstGeom prst="roundRect">
            <a:avLst>
              <a:gd name="adj" fmla="val 1565"/>
            </a:avLst>
          </a:prstGeom>
          <a:solidFill>
            <a:srgbClr val="D7DDE9"/>
          </a:solidFill>
          <a:ln/>
        </p:spPr>
      </p:sp>
      <p:sp>
        <p:nvSpPr>
          <p:cNvPr id="18" name="col-hex"/>
          <p:cNvSpPr/>
          <p:nvPr/>
        </p:nvSpPr>
        <p:spPr>
          <a:xfrm>
            <a:off x="4447946" y="271221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79140"/>
            <a:ext cx="3240938" cy="2755900"/>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 common difference is 4. How many jumps from the 1st term to the 20th?</a:t>
            </a:r>
            <a:endParaRPr lang="en-US" sz="1800" dirty="0"/>
          </a:p>
        </p:txBody>
      </p:sp>
      <p:sp>
        <p:nvSpPr>
          <p:cNvPr id="22" name="col-Stretch"/>
          <p:cNvSpPr/>
          <p:nvPr/>
        </p:nvSpPr>
        <p:spPr>
          <a:xfrm>
            <a:off x="8127797" y="2639060"/>
            <a:ext cx="3515258" cy="3505708"/>
          </a:xfrm>
          <a:prstGeom prst="roundRect">
            <a:avLst>
              <a:gd name="adj" fmla="val 1565"/>
            </a:avLst>
          </a:prstGeom>
          <a:solidFill>
            <a:srgbClr val="2E4A8C"/>
          </a:solidFill>
          <a:ln/>
        </p:spPr>
      </p:sp>
      <p:sp>
        <p:nvSpPr>
          <p:cNvPr id="23" name="col-hex"/>
          <p:cNvSpPr/>
          <p:nvPr/>
        </p:nvSpPr>
        <p:spPr>
          <a:xfrm>
            <a:off x="8237525" y="271221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79140"/>
            <a:ext cx="3240938" cy="275590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Which position in this sequence has the term 201? Explain how you worked backwards to find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E4A8C"/>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E4A8C"/>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Find the missing term: 3, 4, 7, 11, ___, 29. Each term is the sum of the two previous terms.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15</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22</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14</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18</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8FA"/>
          </a:solidFill>
          <a:ln w="12700">
            <a:solidFill>
              <a:srgbClr val="9DAAC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Two missing terms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Find the first missing term: 8, 15, ___, ___, 36.</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22</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common difference is 15 − 8 = 7. The gaps are 22 and 29, and 29 + 7 = 36 checks.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Jump straight to a term</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linear sequence starts 5, 9, 13, … What is the 20th term?</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81</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common difference is 9 − 5 = 4. From the 1st term to the 20th is 19 jumps: 19 × 4 = 76, and 5 + 76 = 81.</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Find the missing term: 3, 4, 7, 11, ___, 29. Each term is the sum of the two previous terms.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18</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two terms before the gap are 7 and 11, and 7 + 11 = 18. Check: 11 + 18 = 29.</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Ad Astra maths">
  <a:themeElements>
    <a:clrScheme name="Ad Astra maths">
      <a:dk1>
        <a:srgbClr val="1E2229"/>
      </a:dk1>
      <a:lt1>
        <a:srgbClr val="FFFFFF"/>
      </a:lt1>
      <a:dk2>
        <a:srgbClr val="253B70"/>
      </a:dk2>
      <a:lt2>
        <a:srgbClr val="F0F2F7"/>
      </a:lt2>
      <a:accent1>
        <a:srgbClr val="2E4A8C"/>
      </a:accent1>
      <a:accent2>
        <a:srgbClr val="B8862B"/>
      </a:accent2>
      <a:accent3>
        <a:srgbClr val="8292BA"/>
      </a:accent3>
      <a:accent4>
        <a:srgbClr val="815E1E"/>
      </a:accent4>
      <a:accent5>
        <a:srgbClr val="4A505C"/>
      </a:accent5>
      <a:accent6>
        <a:srgbClr val="DEC69B"/>
      </a:accent6>
      <a:hlink>
        <a:srgbClr val="2E4A8C"/>
      </a:hlink>
      <a:folHlink>
        <a:srgbClr val="203462"/>
      </a:folHlink>
    </a:clrScheme>
    <a:fontScheme name="Ad Astra math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Sequences · Chapter 6: Missing terms</dc:title>
  <dc:subject>Mathematics · Year 7</dc:subject>
  <dc:creator>Dr Vitor Merissi de Carvalho</dc:creator>
  <cp:lastModifiedBy>Dr Vitor Merissi de Carvalho</cp:lastModifiedBy>
  <cp:revision>1</cp:revision>
  <dcterms:created xsi:type="dcterms:W3CDTF">2026-10-19T16:23:23Z</dcterms:created>
  <dcterms:modified xsi:type="dcterms:W3CDTF">2026-10-19T16:23:23Z</dcterms:modified>
</cp:coreProperties>
</file>