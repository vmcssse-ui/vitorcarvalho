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d3750e44-54bf-e623-9403-bf3757777439}">
          <p14:sldIdLst>
            <p14:sldId id="256"/>
          </p14:sldIdLst>
        </p14:section>
        <p14:section name="Gate" id="{11308fec-c967-6811-0514-b99a809274bc}">
          <p14:sldIdLst>
            <p14:sldId id="257"/>
            <p14:sldId id="258"/>
          </p14:sldIdLst>
        </p14:section>
        <p14:section name="Pre-teach" id="{21514d15-236f-2fbc-91bb-da1f91a7c311}">
          <p14:sldIdLst>
            <p14:sldId id="259"/>
            <p14:sldId id="260"/>
          </p14:sldIdLst>
        </p14:section>
        <p14:section name="Read-along" id="{54185a24-1e19-8e0d-dd41-3e8e962fff5a}">
          <p14:sldIdLst>
            <p14:sldId id="261"/>
            <p14:sldId id="262"/>
          </p14:sldIdLst>
        </p14:section>
        <p14:section name="Teach" id="{ff1d849f-bbe8-5f3c-0a22-fce426a38871}">
          <p14:sldIdLst>
            <p14:sldId id="263"/>
            <p14:sldId id="264"/>
            <p14:sldId id="265"/>
            <p14:sldId id="266"/>
          </p14:sldIdLst>
        </p14:section>
        <p14:section name="Routes" id="{37b33034-6027-71a3-5c20-a4d6cd238bfb}">
          <p14:sldIdLst>
            <p14:sldId id="267"/>
            <p14:sldId id="268"/>
          </p14:sldIdLst>
        </p14:section>
        <p14:section name="Close" id="{c347eae8-1236-7067-2f31-6c9bfb18a511}">
          <p14:sldIdLst>
            <p14:sldId id="269"/>
          </p14:sldIdLst>
        </p14:section>
        <p14:section name="Answers" id="{3856c98e-83d9-0f63-0ba7-a432d26e4550}">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Area of a trapezium. See where the trapezium formula comes from, use it, and find a missing height.
This deck covers the department's lesson: 6 (Area of a trapezium: How do we calculate the area of a trapezium?).
Read the big question aloud: "How do we measure the edge of a shape and the space inside it, and how can letters stand for lengths we do not know?"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In the trapezium formula, which pair of sides do you add?  →  A   the two parallel sides
2. A trapezium has parallel sides of 6 cm and 10 cm and a perpendicular height of 4 cm. What is its area?  →  32 cm²
3. Two identical trapezia fit together to make a ___.  →  parallelogram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the two parallel sides. The formula adds the two parallel sides, halves, then multiplies by the perpendicular height.
2. 32 cm². 6 + 10 = 16, half is 8, and 8 × 4 = 32.
3. parallelogram. Turn one trapezium upside down and fit it against the other: the result is a parallelogram.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trapezium: a four-sided shape with exactly one pair of parallel sides. Example: "A trapezium looks like a triangle with the top cut off."
• parallel: two lines that stay the same distance apart and never meet. Example: "The top and bottom of the trapezium are parallel."
• perpendicular height: the straight-across distance between the parallel sides, at a right angle. Example: "The perpendicular height of this trapezium is 5 cm."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sum: the answer when you add. Example: "The sum of 4 and 6 is 10."
• formula: a rule written with letters that tells you how to work something out. Example: "The formula for the area of a trapezium uses the parallel sides and the height."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A trapezium has four sides.
2. Two of its sides are parallel.
3. The other two sides are not.
4. We call the parallel sides a and b.
5. The perpendicular height, h, goes straight between them.
6. To find the area, add the two parallel sides.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Halve the answer.
8. Then multiply by the height.
9. Parallel sides of 4 cm and 6 cm with a height of 3 cm give an area of 15 cm².
10. Two identical trapezia fit together to make a parallelogram.
11. That is why we halve.
12. Check that every length is in the same unit before you start.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a trapezium is. Say it in your own words, then check understanding with a quick question: ask a pupil from the pre-teach group first, since they met these words and ideas before the lesson. Pupils try to recall before you re-explain.
A trapezium is a four-sided shape with one pair of parallel sides. The parallel sides are usually the top and the bottom, and they are different lengths. The other two sides can slant any way they like.
The perpendicular height is the straight distance between the two parallel sides, at a right angle to both. As with triangles and parallelograms, a slanted side is never the height.
One way to find the area is to split the trapezium into a rectangle and a triangle. A trapezium with parallel sides of 5 cm and 9 cm and a height of 4 cm splits into a 5 cm by 4 cm rectangle and a triangle with base 9 − 5 = 4 cm and height 4 cm.
Worked example — model it step by step, thinking aloud: A trapezium has parallel sides of 5 cm and 9 cm and a perpendicular height of 4 cm. Split it into a rectangle and a triangle to find its area. (1) Rectangle: 5 × 4 = 20. (2) Triangle: its base is 9 − 5 = 4, so its area is 4 × 4 ÷ 2 = 8. (3) Add the two parts: 20 + 8 = 28. The area is 28 cm². Answer: 28 cm².
Tip: Splitting a shape into pieces you know is a method you can always fall back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Two trapezia make a parallelogram. Say it in your own words, then check understanding with a quick question: ask a pupil from the pre-teach group first, since they met these words and ideas before the lesson. Pupils try to recall before you re-explain.
Take two identical trapezia. Turn one upside down and slide it next to the other. Together they make a parallelogram. Its base is the two parallel sides added together, a + b, and its height is still h.
The parallelogram's area is (a + b) × h. The trapezium is exactly half of it, so the area of a trapezium is half of (a + b) × h.
For parallel sides of 7 cm and 11 cm and a height of 6 cm, the parallelogram has a base of 7 + 11 = 18 and an area of 18 × 6 = 108. The trapezium is half: 108 ÷ 2 = 54 cm².
Worked example — model it step by step, thinking aloud: Two identical trapezia with parallel sides of 7 cm and 11 cm and a height of 6 cm are joined to make a parallelogram. Find the area of the parallelogram, then of one trapezium. (1) The parallelogram's base is 7 + 11 = 18. (2) Its area is 18 × 6 = 108. (3) One trapezium is half: 108 ÷ 2 = 54. Answer: 54 cm².
Tip: The half in the formula is there because two trapezia make one parallelogram.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Using the formula. Say it in your own words, then check understanding with a quick question: ask a pupil from the pre-teach group first, since they met these words and ideas before the lesson. Pupils try to recall before you re-explain.
Area of a trapezium = half of (a + b) × h, where a and b are the parallel sides and h is the perpendicular height. In words: half of the sum of the parallel sides, multiplied by the perpendicular height.
Work in three steps. Add the parallel sides. Halve. Multiply by the height. For parallel sides of 8 cm and 14 cm and a height of 5 cm: 8 + 14 = 22, then 22 ÷ 2 = 11, then 11 × 5 = 55.
If the sum of the parallel sides is odd, you can multiply by the height first and halve at the end instead. The answer is the same.
Worked example — model it step by step, thinking aloud: A trapezium has parallel sides of 8 cm and 14 cm and a perpendicular height of 5 cm. Work out its area. (1) Add the parallel sides: 8 + 14 = 22. (2) Halve: 22 ÷ 2 = 11. (3) Multiply by the height: 11 × 5 = 55. The area is 55 cm². Answer: 55 cm².
Tip: Add, halve, multiply.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Same units, and working backwards. Say it in your own words, then check understanding with a quick question: ask a pupil from the pre-teach group first, since they met these words and ideas before the lesson. Pupils try to recall before you re-explain.
Before you use the formula, check that every length is in the same unit. If the parallel sides are in centimetres and the height is in metres, convert the height to centimetres first. Multiplying 50 by a height of 0.5 instead of 50 gives an answer 100 times too small.
If you know the area and the parallel sides, you can find the height. Add the parallel sides and halve, as usual. Then divide the area by that number.
A trapezium has an area of 30 cm² and parallel sides of 4 cm and 8 cm. Add and halve: 4 + 8 = 12, and 12 ÷ 2 = 6. Then the height is 30 ÷ 6 = 5 cm.
Worked example — model it step by step, thinking aloud: A trapezium has parallel sides of 40 cm and 60 cm and a perpendicular height of 0.2 m. Work out its area in cm². (1) Change the height into centimetres: 0.2 × 100 = 20. (2) Add the parallel sides and halve: 40 + 60 = 100, and 100 ÷ 2 = 50. (3) Multiply by the height: 50 × 20 = 1000. The area is 1000 cm². Answer: 1000 cm².
Tip: Mixed units are the most common mistake in this topic. Convert first,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Area of a trapezium.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trapezium has parallel sides of 9 cm and 15 cm and a perpendicular height of 6 cm. Work out its area.
Support — work through the steps with the group: (1) Add the two parallel sides. (2) Halve the answer. (3) Multiply by the perpendicular height and write cm².
Parallel worked example for Support (model it, do not give the task answer): A trapezium has parallel sides of 5 cm and 7 cm and a perpendicular height of 4 cm. Work out its area. 5 + 7 = 12.; 12 ÷ 2 = 6.; 6 × 4 = 24, so the area is 24 cm².. Answer: 24 cm².
Core — reveal the hint only on request: Add 9 and 15, halve, then multiply by 6.
Stretch — no help; when finished: Split the same trapezium into a rectangle and a triangle and show that you get the same area. Which method do you prefer,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Which calculation?.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trapezium has parallel sides of 8 cm and 12 cm, a slanted side of 5 cm and a perpendicular height of 4 cm. Which calculation gives its area in cm²?
Support — work through the steps with the group: (1) Find the two parallel sides and the perpendicular height. Cross out the slanted side. (2) The formula adds the parallel sides, halves, then multiplies by the height. (3) Look for the calculation that does exactly those three things.
Parallel worked example for Support (model it, do not give the task answer): A trapezium has parallel sides of 6 cm and 10 cm, a slanted side of 5 cm and a perpendicular height of 3 cm. Write the calculation for its area and work it out. Parallel sides 6 and 10; height 3; ignore the 5.; (6 + 10) ÷ 2 × 3.; 16 ÷ 2 = 8, and 8 × 3 = 24.. Answer: 24 cm².
Core — reveal the hint only on request: Three of the calculations use a wrong length, skip the halving or use the wrong operation. Only one adds the parallel sides, halves and multiplies by the height.
Stretch — no help; when finished: Work out the value of each of the four calculations and explain, for each wrong one, what mistake a pupil would have made to write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trapezium has an area of 60 cm² and parallel sides of 7 cm and 13 cm. What is its perpendicular height?
Answer: 6 cm. 7 + 13 = 20, half is 10, and 60 ÷ 10 = 6. Check: 10 × 6 = 60.
Source of this question: module 3 task ("Find the missing height")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Area of a trapezium. Reveal the answer; pupils mark their own work in a different colour, then read the "why" together. Same destination for every lane, so one answer serves the whole class.
Answer: 72 cm²
Why: 9 + 15 = 24, half is 12, and 12 × 6 = 72.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Which calculation?. Reveal the answer; pupils mark their own work in a different colour, then read the "why" together. Same destination for every lane, so one answer serves the whole class.
Answer: A   (8 + 12) ÷ 2 × 4
Why: Add the parallel sides, halve, multiply by the perpendicular height: (8 + 12) ÷ 2 × 4 = 40.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6 cm
Why: 7 + 13 = 20, half is 10, and 60 ÷ 10 = 6. Check: 10 × 6 = 60.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Perimeter and Area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BF7EE"/>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F0F2F7"/>
          </a:solidFill>
          <a:ln w="12700">
            <a:solidFill>
              <a:srgbClr val="F0F2F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Mathematics · Year 7 · Perimeter and Area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E4A8C"/>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BE0E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E4A8C"/>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E4A8C"/>
                </a:solidFill>
                <a:latin typeface="Calibri" pitchFamily="34" charset="0"/>
                <a:ea typeface="Calibri" pitchFamily="34" charset="-122"/>
                <a:cs typeface="Calibri" pitchFamily="34" charset="-120"/>
              </a:rPr>
              <a:t>Mathematics · Year 7</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Perimeter and Area · AQA KS3 → 8300</a:t>
            </a:r>
            <a:endParaRPr lang="en-US" sz="1800" dirty="0"/>
          </a:p>
        </p:txBody>
      </p:sp>
      <p:sp>
        <p:nvSpPr>
          <p:cNvPr id="10" name="deck-title"/>
          <p:cNvSpPr txBox="1"/>
          <p:nvPr/>
        </p:nvSpPr>
        <p:spPr>
          <a:xfrm>
            <a:off x="548640" y="2723388"/>
            <a:ext cx="5287975" cy="7874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Area of a trapezium</a:t>
            </a:r>
            <a:endParaRPr lang="en-US" sz="4000" dirty="0"/>
          </a:p>
        </p:txBody>
      </p:sp>
      <p:sp>
        <p:nvSpPr>
          <p:cNvPr id="11" name="lessons-card"/>
          <p:cNvSpPr/>
          <p:nvPr/>
        </p:nvSpPr>
        <p:spPr>
          <a:xfrm>
            <a:off x="548640" y="3739388"/>
            <a:ext cx="5287975" cy="980440"/>
          </a:xfrm>
          <a:prstGeom prst="roundRect">
            <a:avLst>
              <a:gd name="adj" fmla="val 7461"/>
            </a:avLst>
          </a:prstGeom>
          <a:solidFill>
            <a:srgbClr val="F0F2F7"/>
          </a:solidFill>
          <a:ln/>
        </p:spPr>
      </p:sp>
      <p:sp>
        <p:nvSpPr>
          <p:cNvPr id="12" name="lessons"/>
          <p:cNvSpPr txBox="1"/>
          <p:nvPr/>
        </p:nvSpPr>
        <p:spPr>
          <a:xfrm>
            <a:off x="685800" y="38308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E4A8C"/>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6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Area of a trapezium</a:t>
            </a:r>
            <a:endParaRPr lang="en-US" sz="2000" dirty="0"/>
          </a:p>
        </p:txBody>
      </p:sp>
      <p:sp>
        <p:nvSpPr>
          <p:cNvPr id="13" name="plate-frame"/>
          <p:cNvSpPr/>
          <p:nvPr/>
        </p:nvSpPr>
        <p:spPr>
          <a:xfrm>
            <a:off x="6248095" y="411480"/>
            <a:ext cx="5394960" cy="3130677"/>
          </a:xfrm>
          <a:prstGeom prst="rect">
            <a:avLst/>
          </a:prstGeom>
          <a:solidFill>
            <a:srgbClr val="F4EDDF"/>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Mathematics, Year 7">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0F2F7"/>
          </a:solidFill>
          <a:ln w="12700">
            <a:solidFill>
              <a:srgbClr val="B2BCD4"/>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E4A8C"/>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 we measure the edge of a shape and the space inside it, and how can letters stand for lengths we do not know?</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the trapezium formula, which pair of sides do you add?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two parallel sides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two slanted sides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base and the height</a:t>
            </a:r>
            <a:endParaRPr lang="en-US" sz="2400" dirty="0"/>
          </a:p>
        </p:txBody>
      </p:sp>
      <p:sp>
        <p:nvSpPr>
          <p:cNvPr id="12"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3" name="card-hex"/>
          <p:cNvSpPr/>
          <p:nvPr/>
        </p:nvSpPr>
        <p:spPr>
          <a:xfrm>
            <a:off x="4521098" y="1572768"/>
            <a:ext cx="640080" cy="554309"/>
          </a:xfrm>
          <a:prstGeom prst="hexagon">
            <a:avLst/>
          </a:prstGeom>
          <a:solidFill>
            <a:srgbClr val="2E4A8C"/>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trapezium has parallel sides of 6 cm and 10 cm and a perpendicular height of 4 cm. What is its area?</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cm²</a:t>
            </a:r>
            <a:endParaRPr lang="en-US" sz="2400" dirty="0"/>
          </a:p>
        </p:txBody>
      </p:sp>
      <p:sp>
        <p:nvSpPr>
          <p:cNvPr id="17"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18" name="card-hex"/>
          <p:cNvSpPr/>
          <p:nvPr/>
        </p:nvSpPr>
        <p:spPr>
          <a:xfrm>
            <a:off x="8310677" y="1572768"/>
            <a:ext cx="640080" cy="554309"/>
          </a:xfrm>
          <a:prstGeom prst="hexagon">
            <a:avLst/>
          </a:prstGeom>
          <a:solidFill>
            <a:srgbClr val="2E4A8C"/>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Two identical trapezia fit together to make a ___.</a:t>
            </a:r>
            <a:endParaRPr lang="en-US" sz="2400" dirty="0"/>
          </a:p>
          <a:p>
            <a:pPr algn="l" indent="0" marL="0">
              <a:buNone/>
            </a:pPr>
            <a:r>
              <a:rPr lang="en-US" sz="2400" b="1" dirty="0">
                <a:solidFill>
                  <a:srgbClr val="2E4A8C"/>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parallelogram  ·  triangle  ·  circle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7F8FA"/>
          </a:solidFill>
          <a:ln w="12700">
            <a:solidFill>
              <a:srgbClr val="BCC5DA"/>
            </a:solidFill>
            <a:prstDash val="solid"/>
          </a:ln>
        </p:spPr>
      </p:sp>
      <p:sp>
        <p:nvSpPr>
          <p:cNvPr id="8" name="card-hex"/>
          <p:cNvSpPr/>
          <p:nvPr/>
        </p:nvSpPr>
        <p:spPr>
          <a:xfrm>
            <a:off x="731520" y="1572768"/>
            <a:ext cx="640080" cy="554309"/>
          </a:xfrm>
          <a:prstGeom prst="hexagon">
            <a:avLst/>
          </a:prstGeom>
          <a:solidFill>
            <a:srgbClr val="2E4A8C"/>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FE4D0"/>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the two parallel sides</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In the trapezium formula, which pair of sides do you add?</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The formula adds the two parallel sides, halves, then multiplies by the perpendicular height.</a:t>
            </a:r>
            <a:endParaRPr lang="en-US" sz="2200" dirty="0"/>
          </a:p>
        </p:txBody>
      </p:sp>
      <p:sp>
        <p:nvSpPr>
          <p:cNvPr id="14" name="card"/>
          <p:cNvSpPr/>
          <p:nvPr/>
        </p:nvSpPr>
        <p:spPr>
          <a:xfrm>
            <a:off x="4338218" y="1389888"/>
            <a:ext cx="3515258" cy="4754880"/>
          </a:xfrm>
          <a:prstGeom prst="roundRect">
            <a:avLst>
              <a:gd name="adj" fmla="val 1561"/>
            </a:avLst>
          </a:prstGeom>
          <a:solidFill>
            <a:srgbClr val="F7F8FA"/>
          </a:solidFill>
          <a:ln w="12700">
            <a:solidFill>
              <a:srgbClr val="BCC5DA"/>
            </a:solidFill>
            <a:prstDash val="solid"/>
          </a:ln>
        </p:spPr>
      </p:sp>
      <p:sp>
        <p:nvSpPr>
          <p:cNvPr id="15" name="card-hex"/>
          <p:cNvSpPr/>
          <p:nvPr/>
        </p:nvSpPr>
        <p:spPr>
          <a:xfrm>
            <a:off x="4521098" y="1572768"/>
            <a:ext cx="640080" cy="554309"/>
          </a:xfrm>
          <a:prstGeom prst="hexagon">
            <a:avLst/>
          </a:prstGeom>
          <a:solidFill>
            <a:srgbClr val="2E4A8C"/>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FE4D0"/>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32 cm²</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A trapezium has parallel sides of 6 cm and 10 cm and a perpendicular height of 4 cm. What is its area?</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6 + 10 = 16, half is 8, and 8 × 4 = 32.</a:t>
            </a:r>
            <a:endParaRPr lang="en-US" sz="2200" dirty="0"/>
          </a:p>
        </p:txBody>
      </p:sp>
      <p:sp>
        <p:nvSpPr>
          <p:cNvPr id="21" name="card"/>
          <p:cNvSpPr/>
          <p:nvPr/>
        </p:nvSpPr>
        <p:spPr>
          <a:xfrm>
            <a:off x="8127797" y="1389888"/>
            <a:ext cx="3515258" cy="4754880"/>
          </a:xfrm>
          <a:prstGeom prst="roundRect">
            <a:avLst>
              <a:gd name="adj" fmla="val 1561"/>
            </a:avLst>
          </a:prstGeom>
          <a:solidFill>
            <a:srgbClr val="F7F8FA"/>
          </a:solidFill>
          <a:ln w="12700">
            <a:solidFill>
              <a:srgbClr val="BCC5DA"/>
            </a:solidFill>
            <a:prstDash val="solid"/>
          </a:ln>
        </p:spPr>
      </p:sp>
      <p:sp>
        <p:nvSpPr>
          <p:cNvPr id="22" name="card-hex"/>
          <p:cNvSpPr/>
          <p:nvPr/>
        </p:nvSpPr>
        <p:spPr>
          <a:xfrm>
            <a:off x="8310677" y="1572768"/>
            <a:ext cx="640080" cy="554309"/>
          </a:xfrm>
          <a:prstGeom prst="hexagon">
            <a:avLst/>
          </a:prstGeom>
          <a:solidFill>
            <a:srgbClr val="2E4A8C"/>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FE4D0"/>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parallelogram</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200" dirty="0">
                <a:solidFill>
                  <a:srgbClr val="4A505C"/>
                </a:solidFill>
                <a:latin typeface="Calibri" pitchFamily="34" charset="0"/>
                <a:ea typeface="Calibri" pitchFamily="34" charset="-122"/>
                <a:cs typeface="Calibri" pitchFamily="34" charset="-120"/>
              </a:rPr>
              <a:t>Two identical trapezia fit together to make a ___.</a:t>
            </a:r>
            <a:endParaRPr lang="en-US" sz="2200" dirty="0"/>
          </a:p>
          <a:p>
            <a:pPr algn="l" indent="0" marL="0">
              <a:buNone/>
            </a:pPr>
            <a:r>
              <a:rPr lang="en-US" sz="2200" i="1" dirty="0">
                <a:solidFill>
                  <a:srgbClr val="1E2229"/>
                </a:solidFill>
                <a:latin typeface="Calibri" pitchFamily="34" charset="0"/>
                <a:ea typeface="Calibri" pitchFamily="34" charset="-122"/>
                <a:cs typeface="Calibri" pitchFamily="34" charset="-120"/>
              </a:rPr>
              <a:t>Turn one trapezium upside down and fit it against the other: the result is a parallelogram.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5F6F9"/>
          </a:solidFill>
          <a:ln w="12700">
            <a:solidFill>
              <a:srgbClr val="B2BCD4"/>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E4A8C"/>
                </a:solidFill>
                <a:latin typeface="Cambria" pitchFamily="34" charset="0"/>
                <a:ea typeface="Cambria" pitchFamily="34" charset="-122"/>
                <a:cs typeface="Cambria" pitchFamily="34" charset="-120"/>
              </a:rPr>
              <a:t>trapezium</a:t>
            </a:r>
            <a:endParaRPr lang="en-US" sz="2600" dirty="0"/>
          </a:p>
        </p:txBody>
      </p:sp>
      <p:sp>
        <p:nvSpPr>
          <p:cNvPr id="11" name="word-rule"/>
          <p:cNvSpPr/>
          <p:nvPr/>
        </p:nvSpPr>
        <p:spPr>
          <a:xfrm>
            <a:off x="731520" y="2129028"/>
            <a:ext cx="3149498" cy="0"/>
          </a:xfrm>
          <a:prstGeom prst="line">
            <a:avLst/>
          </a:prstGeom>
          <a:ln w="12700">
            <a:solidFill>
              <a:srgbClr val="B2BCD4"/>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four-sided shape with exactly one pair of parallel sides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trapezium looks like a triangle with the top cut off.</a:t>
            </a:r>
            <a:endParaRPr lang="en-US" sz="2200" dirty="0"/>
          </a:p>
        </p:txBody>
      </p:sp>
      <p:sp>
        <p:nvSpPr>
          <p:cNvPr id="13" name="word-card"/>
          <p:cNvSpPr/>
          <p:nvPr/>
        </p:nvSpPr>
        <p:spPr>
          <a:xfrm>
            <a:off x="4338218" y="1389888"/>
            <a:ext cx="3515258" cy="4754880"/>
          </a:xfrm>
          <a:prstGeom prst="roundRect">
            <a:avLst>
              <a:gd name="adj" fmla="val 1561"/>
            </a:avLst>
          </a:prstGeom>
          <a:solidFill>
            <a:srgbClr val="F5F6F9"/>
          </a:solidFill>
          <a:ln w="12700">
            <a:solidFill>
              <a:srgbClr val="B2BCD4"/>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2E4A8C"/>
                </a:solidFill>
                <a:latin typeface="Cambria" pitchFamily="34" charset="0"/>
                <a:ea typeface="Cambria" pitchFamily="34" charset="-122"/>
                <a:cs typeface="Cambria" pitchFamily="34" charset="-120"/>
              </a:rPr>
              <a:t>parallel</a:t>
            </a:r>
            <a:endParaRPr lang="en-US" sz="2600" dirty="0"/>
          </a:p>
        </p:txBody>
      </p:sp>
      <p:sp>
        <p:nvSpPr>
          <p:cNvPr id="17" name="word-rule"/>
          <p:cNvSpPr/>
          <p:nvPr/>
        </p:nvSpPr>
        <p:spPr>
          <a:xfrm>
            <a:off x="4521098" y="2129028"/>
            <a:ext cx="3149498" cy="0"/>
          </a:xfrm>
          <a:prstGeom prst="line">
            <a:avLst/>
          </a:prstGeom>
          <a:ln w="12700">
            <a:solidFill>
              <a:srgbClr val="B2BCD4"/>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two lines that stay the same distance apart and never meet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top and bottom of the trapezium are parallel.</a:t>
            </a:r>
            <a:endParaRPr lang="en-US" sz="2200" dirty="0"/>
          </a:p>
        </p:txBody>
      </p:sp>
      <p:sp>
        <p:nvSpPr>
          <p:cNvPr id="19" name="word-card"/>
          <p:cNvSpPr/>
          <p:nvPr/>
        </p:nvSpPr>
        <p:spPr>
          <a:xfrm>
            <a:off x="8127797" y="1389888"/>
            <a:ext cx="3515258" cy="4754880"/>
          </a:xfrm>
          <a:prstGeom prst="roundRect">
            <a:avLst>
              <a:gd name="adj" fmla="val 1561"/>
            </a:avLst>
          </a:prstGeom>
          <a:solidFill>
            <a:srgbClr val="F5F6F9"/>
          </a:solidFill>
          <a:ln w="12700">
            <a:solidFill>
              <a:srgbClr val="B2BCD4"/>
            </a:solidFill>
            <a:prstDash val="solid"/>
          </a:ln>
        </p:spPr>
      </p:sp>
      <p:sp>
        <p:nvSpPr>
          <p:cNvPr id="20" name="word-hex"/>
          <p:cNvSpPr/>
          <p:nvPr/>
        </p:nvSpPr>
        <p:spPr>
          <a:xfrm>
            <a:off x="8264957" y="1802044"/>
            <a:ext cx="502920" cy="435529"/>
          </a:xfrm>
          <a:prstGeom prst="hexagon">
            <a:avLst/>
          </a:prstGeom>
          <a:solidFill>
            <a:srgbClr val="B8862B"/>
          </a:solidFill>
          <a:ln/>
        </p:spPr>
      </p:sp>
      <p:sp>
        <p:nvSpPr>
          <p:cNvPr id="21" name="word-hex-label"/>
          <p:cNvSpPr txBox="1"/>
          <p:nvPr/>
        </p:nvSpPr>
        <p:spPr>
          <a:xfrm>
            <a:off x="8264957"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2E4A8C"/>
                </a:solidFill>
                <a:latin typeface="Cambria" pitchFamily="34" charset="0"/>
                <a:ea typeface="Cambria" pitchFamily="34" charset="-122"/>
                <a:cs typeface="Cambria" pitchFamily="34" charset="-120"/>
              </a:rPr>
              <a:t>perpendicular height</a:t>
            </a:r>
            <a:endParaRPr lang="en-US" sz="2600" dirty="0"/>
          </a:p>
        </p:txBody>
      </p:sp>
      <p:sp>
        <p:nvSpPr>
          <p:cNvPr id="23" name="word-rule"/>
          <p:cNvSpPr/>
          <p:nvPr/>
        </p:nvSpPr>
        <p:spPr>
          <a:xfrm>
            <a:off x="8310677" y="2558288"/>
            <a:ext cx="3149498" cy="0"/>
          </a:xfrm>
          <a:prstGeom prst="line">
            <a:avLst/>
          </a:prstGeom>
          <a:ln w="12700">
            <a:solidFill>
              <a:srgbClr val="B2BCD4"/>
            </a:solidFill>
            <a:prstDash val="solid"/>
          </a:ln>
        </p:spPr>
      </p:sp>
      <p:sp>
        <p:nvSpPr>
          <p:cNvPr id="24" name="word-body"/>
          <p:cNvSpPr txBox="1"/>
          <p:nvPr/>
        </p:nvSpPr>
        <p:spPr>
          <a:xfrm>
            <a:off x="8310677"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straight-across distance between the parallel sides, at a right angle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perpendicular height of this trapezium is 5 cm.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5F6F9"/>
          </a:solidFill>
          <a:ln w="12700">
            <a:solidFill>
              <a:srgbClr val="B2BCD4"/>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2E4A8C"/>
                </a:solidFill>
                <a:latin typeface="Cambria" pitchFamily="34" charset="0"/>
                <a:ea typeface="Cambria" pitchFamily="34" charset="-122"/>
                <a:cs typeface="Cambria" pitchFamily="34" charset="-120"/>
              </a:rPr>
              <a:t>sum</a:t>
            </a:r>
            <a:endParaRPr lang="en-US" sz="2600" dirty="0"/>
          </a:p>
        </p:txBody>
      </p:sp>
      <p:sp>
        <p:nvSpPr>
          <p:cNvPr id="11" name="word-rule"/>
          <p:cNvSpPr/>
          <p:nvPr/>
        </p:nvSpPr>
        <p:spPr>
          <a:xfrm>
            <a:off x="731520" y="2129028"/>
            <a:ext cx="5044288" cy="0"/>
          </a:xfrm>
          <a:prstGeom prst="line">
            <a:avLst/>
          </a:prstGeom>
          <a:ln w="12700">
            <a:solidFill>
              <a:srgbClr val="B2BCD4"/>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answer when you add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sum of 4 and 6 is 10.</a:t>
            </a:r>
            <a:endParaRPr lang="en-US" sz="2200" dirty="0"/>
          </a:p>
        </p:txBody>
      </p:sp>
      <p:sp>
        <p:nvSpPr>
          <p:cNvPr id="13" name="word-card"/>
          <p:cNvSpPr/>
          <p:nvPr/>
        </p:nvSpPr>
        <p:spPr>
          <a:xfrm>
            <a:off x="6233008" y="1389888"/>
            <a:ext cx="5410048" cy="4754880"/>
          </a:xfrm>
          <a:prstGeom prst="roundRect">
            <a:avLst>
              <a:gd name="adj" fmla="val 1154"/>
            </a:avLst>
          </a:prstGeom>
          <a:solidFill>
            <a:srgbClr val="F5F6F9"/>
          </a:solidFill>
          <a:ln w="12700">
            <a:solidFill>
              <a:srgbClr val="B2BCD4"/>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2E4A8C"/>
                </a:solidFill>
                <a:latin typeface="Cambria" pitchFamily="34" charset="0"/>
                <a:ea typeface="Cambria" pitchFamily="34" charset="-122"/>
                <a:cs typeface="Cambria" pitchFamily="34" charset="-120"/>
              </a:rPr>
              <a:t>formula</a:t>
            </a:r>
            <a:endParaRPr lang="en-US" sz="2600" dirty="0"/>
          </a:p>
        </p:txBody>
      </p:sp>
      <p:sp>
        <p:nvSpPr>
          <p:cNvPr id="17" name="word-rule"/>
          <p:cNvSpPr/>
          <p:nvPr/>
        </p:nvSpPr>
        <p:spPr>
          <a:xfrm>
            <a:off x="6415888" y="2129028"/>
            <a:ext cx="5044288" cy="0"/>
          </a:xfrm>
          <a:prstGeom prst="line">
            <a:avLst/>
          </a:prstGeom>
          <a:ln w="12700">
            <a:solidFill>
              <a:srgbClr val="B2BCD4"/>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rule written with letters that tells you how to work something out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formula for the area of a trapezium uses the parallel sides and the height.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trapezium</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has four sides.</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Two of its sides are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parallel</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other two sides are not.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We call 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parallel</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sides a and b.</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perpendicular height</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h, goes straight between them.</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To find the area, add the two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parallel</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sides.</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E4A8C"/>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7F8FA"/>
          </a:solidFill>
          <a:ln w="12700">
            <a:solidFill>
              <a:srgbClr val="C7CEE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Halve the answer.</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Then multiply by the height.</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800" b="1" dirty="0">
                <a:solidFill>
                  <a:srgbClr val="2E4A8C"/>
                </a:solidFill>
                <a:latin typeface="Calibri" pitchFamily="34" charset="0"/>
                <a:ea typeface="Calibri" pitchFamily="34" charset="-122"/>
                <a:cs typeface="Calibri" pitchFamily="34" charset="-120"/>
              </a:rPr>
              <a:t>Parallel</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 sides of 4 cm and 6 cm with a height of 3 cm give an area of 15 cm².</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Two identical trapezia fit together to make a parallelogram.</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That is why we halve.</a:t>
            </a:r>
            <a:endParaRPr lang="en-US" sz="2800" dirty="0"/>
          </a:p>
          <a:p>
            <a:pPr algn="l" indent="0" marL="0">
              <a:spcAft>
                <a:spcPts val="600"/>
              </a:spcAft>
              <a:buNone/>
            </a:pPr>
            <a:r>
              <a:rPr lang="en-US" sz="28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800" dirty="0">
                <a:solidFill>
                  <a:srgbClr val="1E2229"/>
                </a:solidFill>
                <a:latin typeface="Calibri" pitchFamily="34" charset="0"/>
                <a:ea typeface="Calibri" pitchFamily="34" charset="-122"/>
                <a:cs typeface="Calibri" pitchFamily="34" charset="-120"/>
              </a:rPr>
              <a:t>Check that every length is in the same unit before you start.</a:t>
            </a:r>
            <a:endParaRPr lang="en-US" sz="2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What a trapezium is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6F0E6"/>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Splitting a shape into pieces you know is a method you can always fall back on.</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963676"/>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trapezium has parallel sides of 5 cm and 9 cm and a perpendicular height of 4 cm. Split it into a rectangle and a triangle to find its area.</a:t>
            </a:r>
            <a:endParaRPr lang="en-US" sz="1800" dirty="0"/>
          </a:p>
        </p:txBody>
      </p:sp>
      <p:sp>
        <p:nvSpPr>
          <p:cNvPr id="14" name="step-box"/>
          <p:cNvSpPr/>
          <p:nvPr/>
        </p:nvSpPr>
        <p:spPr>
          <a:xfrm>
            <a:off x="6126480" y="3167380"/>
            <a:ext cx="5379415" cy="540851"/>
          </a:xfrm>
          <a:prstGeom prst="roundRect">
            <a:avLst>
              <a:gd name="adj" fmla="val 16907"/>
            </a:avLst>
          </a:prstGeom>
          <a:solidFill>
            <a:srgbClr val="F0F2F7"/>
          </a:solidFill>
          <a:ln/>
        </p:spPr>
      </p:sp>
      <p:sp>
        <p:nvSpPr>
          <p:cNvPr id="15" name="step-hex"/>
          <p:cNvSpPr/>
          <p:nvPr/>
        </p:nvSpPr>
        <p:spPr>
          <a:xfrm>
            <a:off x="6217920" y="3255675"/>
            <a:ext cx="420624" cy="364260"/>
          </a:xfrm>
          <a:prstGeom prst="hexagon">
            <a:avLst/>
          </a:prstGeom>
          <a:solidFill>
            <a:srgbClr val="2E4A8C"/>
          </a:solidFill>
          <a:ln/>
        </p:spPr>
      </p:sp>
      <p:sp>
        <p:nvSpPr>
          <p:cNvPr id="16" name="step-hex-label"/>
          <p:cNvSpPr txBox="1"/>
          <p:nvPr/>
        </p:nvSpPr>
        <p:spPr>
          <a:xfrm>
            <a:off x="6217920" y="3255675"/>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167380"/>
            <a:ext cx="4739335" cy="54085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Rectangle: 5 × 4 = 20.</a:t>
            </a:r>
            <a:endParaRPr lang="en-US" sz="1800" dirty="0"/>
          </a:p>
        </p:txBody>
      </p:sp>
      <p:sp>
        <p:nvSpPr>
          <p:cNvPr id="18" name="step-box"/>
          <p:cNvSpPr/>
          <p:nvPr/>
        </p:nvSpPr>
        <p:spPr>
          <a:xfrm>
            <a:off x="6126480" y="3799671"/>
            <a:ext cx="5379415" cy="768435"/>
          </a:xfrm>
          <a:prstGeom prst="roundRect">
            <a:avLst>
              <a:gd name="adj" fmla="val 11900"/>
            </a:avLst>
          </a:prstGeom>
          <a:solidFill>
            <a:srgbClr val="F0F2F7"/>
          </a:solidFill>
          <a:ln/>
        </p:spPr>
      </p:sp>
      <p:sp>
        <p:nvSpPr>
          <p:cNvPr id="19" name="step-hex"/>
          <p:cNvSpPr/>
          <p:nvPr/>
        </p:nvSpPr>
        <p:spPr>
          <a:xfrm>
            <a:off x="6217920" y="4001758"/>
            <a:ext cx="420624" cy="364260"/>
          </a:xfrm>
          <a:prstGeom prst="hexagon">
            <a:avLst/>
          </a:prstGeom>
          <a:solidFill>
            <a:srgbClr val="2E4A8C"/>
          </a:solidFill>
          <a:ln/>
        </p:spPr>
      </p:sp>
      <p:sp>
        <p:nvSpPr>
          <p:cNvPr id="20" name="step-hex-label"/>
          <p:cNvSpPr txBox="1"/>
          <p:nvPr/>
        </p:nvSpPr>
        <p:spPr>
          <a:xfrm>
            <a:off x="6217920" y="400175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799671"/>
            <a:ext cx="4739335" cy="76843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Triangle: its base is 9 − 5 = 4, so its area is 4 × 4 ÷ 2 = 8.</a:t>
            </a:r>
            <a:endParaRPr lang="en-US" sz="1800" dirty="0"/>
          </a:p>
        </p:txBody>
      </p:sp>
      <p:sp>
        <p:nvSpPr>
          <p:cNvPr id="22" name="step-box"/>
          <p:cNvSpPr/>
          <p:nvPr/>
        </p:nvSpPr>
        <p:spPr>
          <a:xfrm>
            <a:off x="6126480" y="4659545"/>
            <a:ext cx="5379415" cy="768435"/>
          </a:xfrm>
          <a:prstGeom prst="roundRect">
            <a:avLst>
              <a:gd name="adj" fmla="val 11900"/>
            </a:avLst>
          </a:prstGeom>
          <a:solidFill>
            <a:srgbClr val="F0F2F7"/>
          </a:solidFill>
          <a:ln/>
        </p:spPr>
      </p:sp>
      <p:sp>
        <p:nvSpPr>
          <p:cNvPr id="23" name="step-hex"/>
          <p:cNvSpPr/>
          <p:nvPr/>
        </p:nvSpPr>
        <p:spPr>
          <a:xfrm>
            <a:off x="6217920" y="4861632"/>
            <a:ext cx="420624" cy="364260"/>
          </a:xfrm>
          <a:prstGeom prst="hexagon">
            <a:avLst/>
          </a:prstGeom>
          <a:solidFill>
            <a:srgbClr val="2E4A8C"/>
          </a:solidFill>
          <a:ln/>
        </p:spPr>
      </p:sp>
      <p:sp>
        <p:nvSpPr>
          <p:cNvPr id="24" name="step-hex-label"/>
          <p:cNvSpPr txBox="1"/>
          <p:nvPr/>
        </p:nvSpPr>
        <p:spPr>
          <a:xfrm>
            <a:off x="6217920" y="486163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659545"/>
            <a:ext cx="4739335" cy="76843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Add the two parts: 20 + 8 = 28. The area is 28 cm².</a:t>
            </a:r>
            <a:endParaRPr lang="en-US" sz="1800" dirty="0"/>
          </a:p>
        </p:txBody>
      </p:sp>
      <p:sp>
        <p:nvSpPr>
          <p:cNvPr id="26" name="worked-answer"/>
          <p:cNvSpPr/>
          <p:nvPr/>
        </p:nvSpPr>
        <p:spPr>
          <a:xfrm>
            <a:off x="6126480" y="556514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28 cm²</a:t>
            </a:r>
            <a:endParaRPr lang="en-US" sz="1800" dirty="0"/>
          </a:p>
        </p:txBody>
      </p:sp>
      <p:sp>
        <p:nvSpPr>
          <p:cNvPr id="27" name="bullet-card"/>
          <p:cNvSpPr/>
          <p:nvPr/>
        </p:nvSpPr>
        <p:spPr>
          <a:xfrm>
            <a:off x="548640" y="1389888"/>
            <a:ext cx="5074920" cy="924560"/>
          </a:xfrm>
          <a:prstGeom prst="roundRect">
            <a:avLst>
              <a:gd name="adj" fmla="val 7912"/>
            </a:avLst>
          </a:prstGeom>
          <a:solidFill>
            <a:srgbClr val="F5F6F9"/>
          </a:solidFill>
          <a:ln/>
        </p:spPr>
      </p:sp>
      <p:sp>
        <p:nvSpPr>
          <p:cNvPr id="28" name="bullet-hex"/>
          <p:cNvSpPr/>
          <p:nvPr/>
        </p:nvSpPr>
        <p:spPr>
          <a:xfrm>
            <a:off x="676656" y="1685875"/>
            <a:ext cx="384048" cy="332586"/>
          </a:xfrm>
          <a:prstGeom prst="hexagon">
            <a:avLst/>
          </a:prstGeom>
          <a:solidFill>
            <a:srgbClr val="2E4A8C"/>
          </a:solidFill>
          <a:ln/>
        </p:spPr>
      </p:sp>
      <p:sp>
        <p:nvSpPr>
          <p:cNvPr id="29" name="bullet"/>
          <p:cNvSpPr txBox="1"/>
          <p:nvPr/>
        </p:nvSpPr>
        <p:spPr>
          <a:xfrm>
            <a:off x="1143000" y="1389888"/>
            <a:ext cx="4389120" cy="92456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trapezium is a four-sided shape with one pair of parallel sides.</a:t>
            </a:r>
            <a:endParaRPr lang="en-US" sz="2000" dirty="0"/>
          </a:p>
        </p:txBody>
      </p:sp>
      <p:sp>
        <p:nvSpPr>
          <p:cNvPr id="30" name="bullet-card"/>
          <p:cNvSpPr/>
          <p:nvPr/>
        </p:nvSpPr>
        <p:spPr>
          <a:xfrm>
            <a:off x="548640" y="2460752"/>
            <a:ext cx="5074920" cy="1234440"/>
          </a:xfrm>
          <a:prstGeom prst="roundRect">
            <a:avLst>
              <a:gd name="adj" fmla="val 5926"/>
            </a:avLst>
          </a:prstGeom>
          <a:solidFill>
            <a:srgbClr val="F5F6F9"/>
          </a:solidFill>
          <a:ln/>
        </p:spPr>
      </p:sp>
      <p:sp>
        <p:nvSpPr>
          <p:cNvPr id="31" name="bullet-hex"/>
          <p:cNvSpPr/>
          <p:nvPr/>
        </p:nvSpPr>
        <p:spPr>
          <a:xfrm>
            <a:off x="676656" y="2911679"/>
            <a:ext cx="384048" cy="332586"/>
          </a:xfrm>
          <a:prstGeom prst="hexagon">
            <a:avLst/>
          </a:prstGeom>
          <a:solidFill>
            <a:srgbClr val="B8862B"/>
          </a:solidFill>
          <a:ln/>
        </p:spPr>
      </p:sp>
      <p:sp>
        <p:nvSpPr>
          <p:cNvPr id="32" name="bullet"/>
          <p:cNvSpPr txBox="1"/>
          <p:nvPr/>
        </p:nvSpPr>
        <p:spPr>
          <a:xfrm>
            <a:off x="1143000" y="2460752"/>
            <a:ext cx="4389120" cy="123444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perpendicular height is the straight distance between the two parallel sides, at a right angle to both.</a:t>
            </a:r>
            <a:endParaRPr lang="en-US" sz="2000" dirty="0"/>
          </a:p>
        </p:txBody>
      </p:sp>
      <p:sp>
        <p:nvSpPr>
          <p:cNvPr id="33" name="bullet-card"/>
          <p:cNvSpPr/>
          <p:nvPr/>
        </p:nvSpPr>
        <p:spPr>
          <a:xfrm>
            <a:off x="548640" y="3841496"/>
            <a:ext cx="5074920" cy="1234440"/>
          </a:xfrm>
          <a:prstGeom prst="roundRect">
            <a:avLst>
              <a:gd name="adj" fmla="val 5926"/>
            </a:avLst>
          </a:prstGeom>
          <a:solidFill>
            <a:srgbClr val="F5F6F9"/>
          </a:solidFill>
          <a:ln/>
        </p:spPr>
      </p:sp>
      <p:sp>
        <p:nvSpPr>
          <p:cNvPr id="34" name="bullet-hex"/>
          <p:cNvSpPr/>
          <p:nvPr/>
        </p:nvSpPr>
        <p:spPr>
          <a:xfrm>
            <a:off x="676656" y="4292423"/>
            <a:ext cx="384048" cy="332586"/>
          </a:xfrm>
          <a:prstGeom prst="hexagon">
            <a:avLst/>
          </a:prstGeom>
          <a:solidFill>
            <a:srgbClr val="2E4A8C"/>
          </a:solidFill>
          <a:ln/>
        </p:spPr>
      </p:sp>
      <p:sp>
        <p:nvSpPr>
          <p:cNvPr id="35" name="bullet"/>
          <p:cNvSpPr txBox="1"/>
          <p:nvPr/>
        </p:nvSpPr>
        <p:spPr>
          <a:xfrm>
            <a:off x="1143000" y="3841496"/>
            <a:ext cx="4389120" cy="1234440"/>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One way to find the area is to split the trapezium into a rectangle and a triangle.</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Two trapezia make a parallelogram</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The half in the formula is there because two trapezia make one parallelogram.</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1242568"/>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Two identical trapezia with parallel sides of 7 cm and 11 cm and a height of 6 cm are joined to make a parallelogram. Find the area of the parallelogram, then of one trapezium.</a:t>
            </a:r>
            <a:endParaRPr lang="en-US" sz="1800" dirty="0"/>
          </a:p>
        </p:txBody>
      </p:sp>
      <p:sp>
        <p:nvSpPr>
          <p:cNvPr id="14" name="step-box"/>
          <p:cNvSpPr/>
          <p:nvPr/>
        </p:nvSpPr>
        <p:spPr>
          <a:xfrm>
            <a:off x="6126480" y="3446272"/>
            <a:ext cx="5379415" cy="566928"/>
          </a:xfrm>
          <a:prstGeom prst="roundRect">
            <a:avLst>
              <a:gd name="adj" fmla="val 16129"/>
            </a:avLst>
          </a:prstGeom>
          <a:solidFill>
            <a:srgbClr val="F0F2F7"/>
          </a:solidFill>
          <a:ln/>
        </p:spPr>
      </p:sp>
      <p:sp>
        <p:nvSpPr>
          <p:cNvPr id="15" name="step-hex"/>
          <p:cNvSpPr/>
          <p:nvPr/>
        </p:nvSpPr>
        <p:spPr>
          <a:xfrm>
            <a:off x="6217920" y="3547606"/>
            <a:ext cx="420624" cy="364260"/>
          </a:xfrm>
          <a:prstGeom prst="hexagon">
            <a:avLst/>
          </a:prstGeom>
          <a:solidFill>
            <a:srgbClr val="2E4A8C"/>
          </a:solidFill>
          <a:ln/>
        </p:spPr>
      </p:sp>
      <p:sp>
        <p:nvSpPr>
          <p:cNvPr id="16" name="step-hex-label"/>
          <p:cNvSpPr txBox="1"/>
          <p:nvPr/>
        </p:nvSpPr>
        <p:spPr>
          <a:xfrm>
            <a:off x="6217920" y="354760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446272"/>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parallelogram's base is 7 + 11 = 18.</a:t>
            </a:r>
            <a:endParaRPr lang="en-US" sz="1800" dirty="0"/>
          </a:p>
        </p:txBody>
      </p:sp>
      <p:sp>
        <p:nvSpPr>
          <p:cNvPr id="18" name="step-box"/>
          <p:cNvSpPr/>
          <p:nvPr/>
        </p:nvSpPr>
        <p:spPr>
          <a:xfrm>
            <a:off x="6126480" y="4104640"/>
            <a:ext cx="5379415" cy="566928"/>
          </a:xfrm>
          <a:prstGeom prst="roundRect">
            <a:avLst>
              <a:gd name="adj" fmla="val 16129"/>
            </a:avLst>
          </a:prstGeom>
          <a:solidFill>
            <a:srgbClr val="F0F2F7"/>
          </a:solidFill>
          <a:ln/>
        </p:spPr>
      </p:sp>
      <p:sp>
        <p:nvSpPr>
          <p:cNvPr id="19" name="step-hex"/>
          <p:cNvSpPr/>
          <p:nvPr/>
        </p:nvSpPr>
        <p:spPr>
          <a:xfrm>
            <a:off x="6217920" y="4205974"/>
            <a:ext cx="420624" cy="364260"/>
          </a:xfrm>
          <a:prstGeom prst="hexagon">
            <a:avLst/>
          </a:prstGeom>
          <a:solidFill>
            <a:srgbClr val="2E4A8C"/>
          </a:solidFill>
          <a:ln/>
        </p:spPr>
      </p:sp>
      <p:sp>
        <p:nvSpPr>
          <p:cNvPr id="20" name="step-hex-label"/>
          <p:cNvSpPr txBox="1"/>
          <p:nvPr/>
        </p:nvSpPr>
        <p:spPr>
          <a:xfrm>
            <a:off x="6217920" y="420597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410464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Its area is 18 × 6 = 108.</a:t>
            </a:r>
            <a:endParaRPr lang="en-US" sz="1800" dirty="0"/>
          </a:p>
        </p:txBody>
      </p:sp>
      <p:sp>
        <p:nvSpPr>
          <p:cNvPr id="22" name="step-box"/>
          <p:cNvSpPr/>
          <p:nvPr/>
        </p:nvSpPr>
        <p:spPr>
          <a:xfrm>
            <a:off x="6126480" y="4763008"/>
            <a:ext cx="5379415" cy="566928"/>
          </a:xfrm>
          <a:prstGeom prst="roundRect">
            <a:avLst>
              <a:gd name="adj" fmla="val 16129"/>
            </a:avLst>
          </a:prstGeom>
          <a:solidFill>
            <a:srgbClr val="F0F2F7"/>
          </a:solidFill>
          <a:ln/>
        </p:spPr>
      </p:sp>
      <p:sp>
        <p:nvSpPr>
          <p:cNvPr id="23" name="step-hex"/>
          <p:cNvSpPr/>
          <p:nvPr/>
        </p:nvSpPr>
        <p:spPr>
          <a:xfrm>
            <a:off x="6217920" y="4864342"/>
            <a:ext cx="420624" cy="364260"/>
          </a:xfrm>
          <a:prstGeom prst="hexagon">
            <a:avLst/>
          </a:prstGeom>
          <a:solidFill>
            <a:srgbClr val="2E4A8C"/>
          </a:solidFill>
          <a:ln/>
        </p:spPr>
      </p:sp>
      <p:sp>
        <p:nvSpPr>
          <p:cNvPr id="24" name="step-hex-label"/>
          <p:cNvSpPr txBox="1"/>
          <p:nvPr/>
        </p:nvSpPr>
        <p:spPr>
          <a:xfrm>
            <a:off x="6217920" y="486434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76300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One trapezium is half: 108 ÷ 2 = 54.</a:t>
            </a:r>
            <a:endParaRPr lang="en-US" sz="1800" dirty="0"/>
          </a:p>
        </p:txBody>
      </p:sp>
      <p:sp>
        <p:nvSpPr>
          <p:cNvPr id="26" name="worked-answer"/>
          <p:cNvSpPr/>
          <p:nvPr/>
        </p:nvSpPr>
        <p:spPr>
          <a:xfrm>
            <a:off x="6126480" y="5467096"/>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54 cm²</a:t>
            </a:r>
            <a:endParaRPr lang="en-US" sz="1800" dirty="0"/>
          </a:p>
        </p:txBody>
      </p:sp>
      <p:sp>
        <p:nvSpPr>
          <p:cNvPr id="27" name="bullet-card"/>
          <p:cNvSpPr/>
          <p:nvPr/>
        </p:nvSpPr>
        <p:spPr>
          <a:xfrm>
            <a:off x="548640" y="1389888"/>
            <a:ext cx="5074920" cy="759291"/>
          </a:xfrm>
          <a:prstGeom prst="roundRect">
            <a:avLst>
              <a:gd name="adj" fmla="val 9634"/>
            </a:avLst>
          </a:prstGeom>
          <a:solidFill>
            <a:srgbClr val="F5F6F9"/>
          </a:solidFill>
          <a:ln/>
        </p:spPr>
      </p:sp>
      <p:sp>
        <p:nvSpPr>
          <p:cNvPr id="28" name="bullet-hex"/>
          <p:cNvSpPr/>
          <p:nvPr/>
        </p:nvSpPr>
        <p:spPr>
          <a:xfrm>
            <a:off x="676656" y="1603241"/>
            <a:ext cx="384048" cy="332586"/>
          </a:xfrm>
          <a:prstGeom prst="hexagon">
            <a:avLst/>
          </a:prstGeom>
          <a:solidFill>
            <a:srgbClr val="2E4A8C"/>
          </a:solidFill>
          <a:ln/>
        </p:spPr>
      </p:sp>
      <p:sp>
        <p:nvSpPr>
          <p:cNvPr id="29" name="bullet"/>
          <p:cNvSpPr txBox="1"/>
          <p:nvPr/>
        </p:nvSpPr>
        <p:spPr>
          <a:xfrm>
            <a:off x="1143000" y="1389888"/>
            <a:ext cx="4389120" cy="75929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Take two identical trapezia. Turn one upside down and slide it next to the other.</a:t>
            </a:r>
            <a:endParaRPr lang="en-US" sz="1800" dirty="0"/>
          </a:p>
        </p:txBody>
      </p:sp>
      <p:sp>
        <p:nvSpPr>
          <p:cNvPr id="30" name="bullet-card"/>
          <p:cNvSpPr/>
          <p:nvPr/>
        </p:nvSpPr>
        <p:spPr>
          <a:xfrm>
            <a:off x="548640" y="2295483"/>
            <a:ext cx="5074920" cy="1038183"/>
          </a:xfrm>
          <a:prstGeom prst="roundRect">
            <a:avLst>
              <a:gd name="adj" fmla="val 7046"/>
            </a:avLst>
          </a:prstGeom>
          <a:solidFill>
            <a:srgbClr val="F5F6F9"/>
          </a:solidFill>
          <a:ln/>
        </p:spPr>
      </p:sp>
      <p:sp>
        <p:nvSpPr>
          <p:cNvPr id="31" name="bullet-hex"/>
          <p:cNvSpPr/>
          <p:nvPr/>
        </p:nvSpPr>
        <p:spPr>
          <a:xfrm>
            <a:off x="676656" y="2648281"/>
            <a:ext cx="384048" cy="332586"/>
          </a:xfrm>
          <a:prstGeom prst="hexagon">
            <a:avLst/>
          </a:prstGeom>
          <a:solidFill>
            <a:srgbClr val="B8862B"/>
          </a:solidFill>
          <a:ln/>
        </p:spPr>
      </p:sp>
      <p:sp>
        <p:nvSpPr>
          <p:cNvPr id="32" name="bullet"/>
          <p:cNvSpPr txBox="1"/>
          <p:nvPr/>
        </p:nvSpPr>
        <p:spPr>
          <a:xfrm>
            <a:off x="1143000" y="2295483"/>
            <a:ext cx="4389120" cy="103818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parallelogram's area is (a + b) × h. The trapezium is exactly half of it, so the area of a trapezium is half of (a + b) × h.</a:t>
            </a:r>
            <a:endParaRPr lang="en-US" sz="1800" dirty="0"/>
          </a:p>
        </p:txBody>
      </p:sp>
      <p:sp>
        <p:nvSpPr>
          <p:cNvPr id="33" name="bullet-card"/>
          <p:cNvSpPr/>
          <p:nvPr/>
        </p:nvSpPr>
        <p:spPr>
          <a:xfrm>
            <a:off x="548640" y="3479969"/>
            <a:ext cx="5074920" cy="1317075"/>
          </a:xfrm>
          <a:prstGeom prst="roundRect">
            <a:avLst>
              <a:gd name="adj" fmla="val 5554"/>
            </a:avLst>
          </a:prstGeom>
          <a:solidFill>
            <a:srgbClr val="F5F6F9"/>
          </a:solidFill>
          <a:ln/>
        </p:spPr>
      </p:sp>
      <p:sp>
        <p:nvSpPr>
          <p:cNvPr id="34" name="bullet-hex"/>
          <p:cNvSpPr/>
          <p:nvPr/>
        </p:nvSpPr>
        <p:spPr>
          <a:xfrm>
            <a:off x="676656" y="3972214"/>
            <a:ext cx="384048" cy="332586"/>
          </a:xfrm>
          <a:prstGeom prst="hexagon">
            <a:avLst/>
          </a:prstGeom>
          <a:solidFill>
            <a:srgbClr val="2E4A8C"/>
          </a:solidFill>
          <a:ln/>
        </p:spPr>
      </p:sp>
      <p:sp>
        <p:nvSpPr>
          <p:cNvPr id="35" name="bullet"/>
          <p:cNvSpPr txBox="1"/>
          <p:nvPr/>
        </p:nvSpPr>
        <p:spPr>
          <a:xfrm>
            <a:off x="1143000" y="3479969"/>
            <a:ext cx="4389120" cy="131707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For parallel sides of 7 cm and 11 cm and a height of 6 cm, the parallelogram has a base of 7 + 11 = 18 and an area of 18 × 6 = 108.</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Using the formula</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5074920" cy="515620"/>
          </a:xfrm>
          <a:prstGeom prst="roundRect">
            <a:avLst>
              <a:gd name="adj" fmla="val 26601"/>
            </a:avLst>
          </a:prstGeom>
          <a:solidFill>
            <a:srgbClr val="F6F0E6"/>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4206240"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Add, halve, multiply.</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trapezium has parallel sides of 8 cm and 14 cm and a perpendicular height of 5 cm. Work out its area.</a:t>
            </a:r>
            <a:endParaRPr lang="en-US" sz="1800" dirty="0"/>
          </a:p>
        </p:txBody>
      </p:sp>
      <p:sp>
        <p:nvSpPr>
          <p:cNvPr id="14" name="step-box"/>
          <p:cNvSpPr/>
          <p:nvPr/>
        </p:nvSpPr>
        <p:spPr>
          <a:xfrm>
            <a:off x="6126480" y="2888488"/>
            <a:ext cx="5379415" cy="566928"/>
          </a:xfrm>
          <a:prstGeom prst="roundRect">
            <a:avLst>
              <a:gd name="adj" fmla="val 16129"/>
            </a:avLst>
          </a:prstGeom>
          <a:solidFill>
            <a:srgbClr val="F0F2F7"/>
          </a:solidFill>
          <a:ln/>
        </p:spPr>
      </p:sp>
      <p:sp>
        <p:nvSpPr>
          <p:cNvPr id="15" name="step-hex"/>
          <p:cNvSpPr/>
          <p:nvPr/>
        </p:nvSpPr>
        <p:spPr>
          <a:xfrm>
            <a:off x="6217920" y="2989822"/>
            <a:ext cx="420624" cy="364260"/>
          </a:xfrm>
          <a:prstGeom prst="hexagon">
            <a:avLst/>
          </a:prstGeom>
          <a:solidFill>
            <a:srgbClr val="2E4A8C"/>
          </a:solidFill>
          <a:ln/>
        </p:spPr>
      </p:sp>
      <p:sp>
        <p:nvSpPr>
          <p:cNvPr id="16" name="step-hex-label"/>
          <p:cNvSpPr txBox="1"/>
          <p:nvPr/>
        </p:nvSpPr>
        <p:spPr>
          <a:xfrm>
            <a:off x="6217920" y="29898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Add the parallel sides: 8 + 14 = 22.</a:t>
            </a:r>
            <a:endParaRPr lang="en-US" sz="1800" dirty="0"/>
          </a:p>
        </p:txBody>
      </p:sp>
      <p:sp>
        <p:nvSpPr>
          <p:cNvPr id="18" name="step-box"/>
          <p:cNvSpPr/>
          <p:nvPr/>
        </p:nvSpPr>
        <p:spPr>
          <a:xfrm>
            <a:off x="6126480" y="3546856"/>
            <a:ext cx="5379415" cy="566928"/>
          </a:xfrm>
          <a:prstGeom prst="roundRect">
            <a:avLst>
              <a:gd name="adj" fmla="val 16129"/>
            </a:avLst>
          </a:prstGeom>
          <a:solidFill>
            <a:srgbClr val="F0F2F7"/>
          </a:solidFill>
          <a:ln/>
        </p:spPr>
      </p:sp>
      <p:sp>
        <p:nvSpPr>
          <p:cNvPr id="19" name="step-hex"/>
          <p:cNvSpPr/>
          <p:nvPr/>
        </p:nvSpPr>
        <p:spPr>
          <a:xfrm>
            <a:off x="6217920" y="3648190"/>
            <a:ext cx="420624" cy="364260"/>
          </a:xfrm>
          <a:prstGeom prst="hexagon">
            <a:avLst/>
          </a:prstGeom>
          <a:solidFill>
            <a:srgbClr val="2E4A8C"/>
          </a:solidFill>
          <a:ln/>
        </p:spPr>
      </p:sp>
      <p:sp>
        <p:nvSpPr>
          <p:cNvPr id="20" name="step-hex-label"/>
          <p:cNvSpPr txBox="1"/>
          <p:nvPr/>
        </p:nvSpPr>
        <p:spPr>
          <a:xfrm>
            <a:off x="6217920" y="364819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85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Halve: 22 ÷ 2 = 11.</a:t>
            </a:r>
            <a:endParaRPr lang="en-US" sz="1800" dirty="0"/>
          </a:p>
        </p:txBody>
      </p:sp>
      <p:sp>
        <p:nvSpPr>
          <p:cNvPr id="22" name="step-box"/>
          <p:cNvSpPr/>
          <p:nvPr/>
        </p:nvSpPr>
        <p:spPr>
          <a:xfrm>
            <a:off x="6126480" y="4205224"/>
            <a:ext cx="5379415" cy="794512"/>
          </a:xfrm>
          <a:prstGeom prst="roundRect">
            <a:avLst>
              <a:gd name="adj" fmla="val 11509"/>
            </a:avLst>
          </a:prstGeom>
          <a:solidFill>
            <a:srgbClr val="F0F2F7"/>
          </a:solidFill>
          <a:ln/>
        </p:spPr>
      </p:sp>
      <p:sp>
        <p:nvSpPr>
          <p:cNvPr id="23" name="step-hex"/>
          <p:cNvSpPr/>
          <p:nvPr/>
        </p:nvSpPr>
        <p:spPr>
          <a:xfrm>
            <a:off x="6217920" y="4420350"/>
            <a:ext cx="420624" cy="364260"/>
          </a:xfrm>
          <a:prstGeom prst="hexagon">
            <a:avLst/>
          </a:prstGeom>
          <a:solidFill>
            <a:srgbClr val="2E4A8C"/>
          </a:solidFill>
          <a:ln/>
        </p:spPr>
      </p:sp>
      <p:sp>
        <p:nvSpPr>
          <p:cNvPr id="24" name="step-hex-label"/>
          <p:cNvSpPr txBox="1"/>
          <p:nvPr/>
        </p:nvSpPr>
        <p:spPr>
          <a:xfrm>
            <a:off x="6217920" y="442035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205224"/>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Multiply by the height: 11 × 5 = 55. The area is 55 cm².</a:t>
            </a:r>
            <a:endParaRPr lang="en-US" sz="1800" dirty="0"/>
          </a:p>
        </p:txBody>
      </p:sp>
      <p:sp>
        <p:nvSpPr>
          <p:cNvPr id="26" name="worked-answer"/>
          <p:cNvSpPr/>
          <p:nvPr/>
        </p:nvSpPr>
        <p:spPr>
          <a:xfrm>
            <a:off x="6126480" y="5136896"/>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55 cm²</a:t>
            </a:r>
            <a:endParaRPr lang="en-US" sz="1800" dirty="0"/>
          </a:p>
        </p:txBody>
      </p:sp>
      <p:sp>
        <p:nvSpPr>
          <p:cNvPr id="27" name="bullet-card"/>
          <p:cNvSpPr/>
          <p:nvPr/>
        </p:nvSpPr>
        <p:spPr>
          <a:xfrm>
            <a:off x="548640" y="1389888"/>
            <a:ext cx="5074920" cy="1564979"/>
          </a:xfrm>
          <a:prstGeom prst="roundRect">
            <a:avLst>
              <a:gd name="adj" fmla="val 4674"/>
            </a:avLst>
          </a:prstGeom>
          <a:solidFill>
            <a:srgbClr val="F5F6F9"/>
          </a:solidFill>
          <a:ln/>
        </p:spPr>
      </p:sp>
      <p:sp>
        <p:nvSpPr>
          <p:cNvPr id="28" name="bullet-hex"/>
          <p:cNvSpPr/>
          <p:nvPr/>
        </p:nvSpPr>
        <p:spPr>
          <a:xfrm>
            <a:off x="676656" y="2006085"/>
            <a:ext cx="384048" cy="332586"/>
          </a:xfrm>
          <a:prstGeom prst="hexagon">
            <a:avLst/>
          </a:prstGeom>
          <a:solidFill>
            <a:srgbClr val="2E4A8C"/>
          </a:solidFill>
          <a:ln/>
        </p:spPr>
      </p:sp>
      <p:sp>
        <p:nvSpPr>
          <p:cNvPr id="29" name="bullet"/>
          <p:cNvSpPr txBox="1"/>
          <p:nvPr/>
        </p:nvSpPr>
        <p:spPr>
          <a:xfrm>
            <a:off x="1143000" y="1389888"/>
            <a:ext cx="4389120" cy="156497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Area of a trapezium = half of (a + b) × h, where a and b are the parallel sides and h is the perpendicular height.</a:t>
            </a:r>
            <a:endParaRPr lang="en-US" sz="2200" dirty="0"/>
          </a:p>
        </p:txBody>
      </p:sp>
      <p:sp>
        <p:nvSpPr>
          <p:cNvPr id="30" name="bullet-card"/>
          <p:cNvSpPr/>
          <p:nvPr/>
        </p:nvSpPr>
        <p:spPr>
          <a:xfrm>
            <a:off x="548640" y="3101171"/>
            <a:ext cx="5074920" cy="883243"/>
          </a:xfrm>
          <a:prstGeom prst="roundRect">
            <a:avLst>
              <a:gd name="adj" fmla="val 8282"/>
            </a:avLst>
          </a:prstGeom>
          <a:solidFill>
            <a:srgbClr val="F5F6F9"/>
          </a:solidFill>
          <a:ln/>
        </p:spPr>
      </p:sp>
      <p:sp>
        <p:nvSpPr>
          <p:cNvPr id="31" name="bullet-hex"/>
          <p:cNvSpPr/>
          <p:nvPr/>
        </p:nvSpPr>
        <p:spPr>
          <a:xfrm>
            <a:off x="676656" y="3376499"/>
            <a:ext cx="384048" cy="332586"/>
          </a:xfrm>
          <a:prstGeom prst="hexagon">
            <a:avLst/>
          </a:prstGeom>
          <a:solidFill>
            <a:srgbClr val="B8862B"/>
          </a:solidFill>
          <a:ln/>
        </p:spPr>
      </p:sp>
      <p:sp>
        <p:nvSpPr>
          <p:cNvPr id="32" name="bullet"/>
          <p:cNvSpPr txBox="1"/>
          <p:nvPr/>
        </p:nvSpPr>
        <p:spPr>
          <a:xfrm>
            <a:off x="1143000" y="3101171"/>
            <a:ext cx="4389120" cy="883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Work in three steps. Add the parallel sides.</a:t>
            </a:r>
            <a:endParaRPr lang="en-US" sz="2200" dirty="0"/>
          </a:p>
        </p:txBody>
      </p:sp>
      <p:sp>
        <p:nvSpPr>
          <p:cNvPr id="33" name="bullet-card"/>
          <p:cNvSpPr/>
          <p:nvPr/>
        </p:nvSpPr>
        <p:spPr>
          <a:xfrm>
            <a:off x="548640" y="4130717"/>
            <a:ext cx="5074920" cy="1224111"/>
          </a:xfrm>
          <a:prstGeom prst="roundRect">
            <a:avLst>
              <a:gd name="adj" fmla="val 5976"/>
            </a:avLst>
          </a:prstGeom>
          <a:solidFill>
            <a:srgbClr val="F5F6F9"/>
          </a:solidFill>
          <a:ln/>
        </p:spPr>
      </p:sp>
      <p:sp>
        <p:nvSpPr>
          <p:cNvPr id="34" name="bullet-hex"/>
          <p:cNvSpPr/>
          <p:nvPr/>
        </p:nvSpPr>
        <p:spPr>
          <a:xfrm>
            <a:off x="676656" y="4576480"/>
            <a:ext cx="384048" cy="332586"/>
          </a:xfrm>
          <a:prstGeom prst="hexagon">
            <a:avLst/>
          </a:prstGeom>
          <a:solidFill>
            <a:srgbClr val="2E4A8C"/>
          </a:solidFill>
          <a:ln/>
        </p:spPr>
      </p:sp>
      <p:sp>
        <p:nvSpPr>
          <p:cNvPr id="35" name="bullet"/>
          <p:cNvSpPr txBox="1"/>
          <p:nvPr/>
        </p:nvSpPr>
        <p:spPr>
          <a:xfrm>
            <a:off x="1143000" y="4130717"/>
            <a:ext cx="4389120" cy="122411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If the sum of the parallel sides is odd, you can multiply by the height first and halve at the end instead.</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Same units, and working backwards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071364"/>
            <a:ext cx="5074920" cy="1073404"/>
          </a:xfrm>
          <a:prstGeom prst="roundRect">
            <a:avLst>
              <a:gd name="adj" fmla="val 12778"/>
            </a:avLst>
          </a:prstGeom>
          <a:solidFill>
            <a:srgbClr val="F6F0E6"/>
          </a:solidFill>
          <a:ln w="15875">
            <a:solidFill>
              <a:srgbClr val="B8862B"/>
            </a:solidFill>
            <a:prstDash val="solid"/>
          </a:ln>
        </p:spPr>
      </p:sp>
      <p:sp>
        <p:nvSpPr>
          <p:cNvPr id="8" name="tip-hex"/>
          <p:cNvSpPr/>
          <p:nvPr/>
        </p:nvSpPr>
        <p:spPr>
          <a:xfrm>
            <a:off x="685800" y="5410098"/>
            <a:ext cx="457200" cy="395935"/>
          </a:xfrm>
          <a:prstGeom prst="hexagon">
            <a:avLst/>
          </a:prstGeom>
          <a:solidFill>
            <a:srgbClr val="B8862B"/>
          </a:solidFill>
          <a:ln/>
        </p:spPr>
      </p:sp>
      <p:sp>
        <p:nvSpPr>
          <p:cNvPr id="9" name="tip-hex-label"/>
          <p:cNvSpPr txBox="1"/>
          <p:nvPr/>
        </p:nvSpPr>
        <p:spPr>
          <a:xfrm>
            <a:off x="685800" y="5410098"/>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126228"/>
            <a:ext cx="4206240" cy="963676"/>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Mixed units are the most common mistake in this topic. Convert first, every time.</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9DAAC9"/>
            </a:solidFill>
            <a:prstDash val="solid"/>
          </a:ln>
        </p:spPr>
      </p:sp>
      <p:sp>
        <p:nvSpPr>
          <p:cNvPr id="12" name="worked-tab"/>
          <p:cNvSpPr/>
          <p:nvPr/>
        </p:nvSpPr>
        <p:spPr>
          <a:xfrm>
            <a:off x="6126480" y="1499616"/>
            <a:ext cx="2377440" cy="457200"/>
          </a:xfrm>
          <a:prstGeom prst="roundRect">
            <a:avLst>
              <a:gd name="adj" fmla="val 40000"/>
            </a:avLst>
          </a:prstGeom>
          <a:solidFill>
            <a:srgbClr val="2E4A8C"/>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963676"/>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trapezium has parallel sides of 40 cm and 60 cm and a perpendicular height of 0.2 m. Work out its area in cm².</a:t>
            </a:r>
            <a:endParaRPr lang="en-US" sz="1800" dirty="0"/>
          </a:p>
        </p:txBody>
      </p:sp>
      <p:sp>
        <p:nvSpPr>
          <p:cNvPr id="14" name="step-box"/>
          <p:cNvSpPr/>
          <p:nvPr/>
        </p:nvSpPr>
        <p:spPr>
          <a:xfrm>
            <a:off x="6126480" y="3167380"/>
            <a:ext cx="5379415" cy="692573"/>
          </a:xfrm>
          <a:prstGeom prst="roundRect">
            <a:avLst>
              <a:gd name="adj" fmla="val 13203"/>
            </a:avLst>
          </a:prstGeom>
          <a:solidFill>
            <a:srgbClr val="F0F2F7"/>
          </a:solidFill>
          <a:ln/>
        </p:spPr>
      </p:sp>
      <p:sp>
        <p:nvSpPr>
          <p:cNvPr id="15" name="step-hex"/>
          <p:cNvSpPr/>
          <p:nvPr/>
        </p:nvSpPr>
        <p:spPr>
          <a:xfrm>
            <a:off x="6217920" y="3331536"/>
            <a:ext cx="420624" cy="364260"/>
          </a:xfrm>
          <a:prstGeom prst="hexagon">
            <a:avLst/>
          </a:prstGeom>
          <a:solidFill>
            <a:srgbClr val="2E4A8C"/>
          </a:solidFill>
          <a:ln/>
        </p:spPr>
      </p:sp>
      <p:sp>
        <p:nvSpPr>
          <p:cNvPr id="16" name="step-hex-label"/>
          <p:cNvSpPr txBox="1"/>
          <p:nvPr/>
        </p:nvSpPr>
        <p:spPr>
          <a:xfrm>
            <a:off x="6217920" y="333153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167380"/>
            <a:ext cx="4739335" cy="69257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Change the height into centimetres: 0.2 × 100 = 20.</a:t>
            </a:r>
            <a:endParaRPr lang="en-US" sz="1800" dirty="0"/>
          </a:p>
        </p:txBody>
      </p:sp>
      <p:sp>
        <p:nvSpPr>
          <p:cNvPr id="18" name="step-box"/>
          <p:cNvSpPr/>
          <p:nvPr/>
        </p:nvSpPr>
        <p:spPr>
          <a:xfrm>
            <a:off x="6126480" y="3951393"/>
            <a:ext cx="5379415" cy="692573"/>
          </a:xfrm>
          <a:prstGeom prst="roundRect">
            <a:avLst>
              <a:gd name="adj" fmla="val 13203"/>
            </a:avLst>
          </a:prstGeom>
          <a:solidFill>
            <a:srgbClr val="F0F2F7"/>
          </a:solidFill>
          <a:ln/>
        </p:spPr>
      </p:sp>
      <p:sp>
        <p:nvSpPr>
          <p:cNvPr id="19" name="step-hex"/>
          <p:cNvSpPr/>
          <p:nvPr/>
        </p:nvSpPr>
        <p:spPr>
          <a:xfrm>
            <a:off x="6217920" y="4115550"/>
            <a:ext cx="420624" cy="364260"/>
          </a:xfrm>
          <a:prstGeom prst="hexagon">
            <a:avLst/>
          </a:prstGeom>
          <a:solidFill>
            <a:srgbClr val="2E4A8C"/>
          </a:solidFill>
          <a:ln/>
        </p:spPr>
      </p:sp>
      <p:sp>
        <p:nvSpPr>
          <p:cNvPr id="20" name="step-hex-label"/>
          <p:cNvSpPr txBox="1"/>
          <p:nvPr/>
        </p:nvSpPr>
        <p:spPr>
          <a:xfrm>
            <a:off x="6217920" y="411555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951393"/>
            <a:ext cx="4739335" cy="69257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Add the parallel sides and halve: 40 + 60 = 100, and 100 ÷ 2 = 50.</a:t>
            </a:r>
            <a:endParaRPr lang="en-US" sz="1800" dirty="0"/>
          </a:p>
        </p:txBody>
      </p:sp>
      <p:sp>
        <p:nvSpPr>
          <p:cNvPr id="22" name="step-box"/>
          <p:cNvSpPr/>
          <p:nvPr/>
        </p:nvSpPr>
        <p:spPr>
          <a:xfrm>
            <a:off x="6126480" y="4735407"/>
            <a:ext cx="5379415" cy="692573"/>
          </a:xfrm>
          <a:prstGeom prst="roundRect">
            <a:avLst>
              <a:gd name="adj" fmla="val 13203"/>
            </a:avLst>
          </a:prstGeom>
          <a:solidFill>
            <a:srgbClr val="F0F2F7"/>
          </a:solidFill>
          <a:ln/>
        </p:spPr>
      </p:sp>
      <p:sp>
        <p:nvSpPr>
          <p:cNvPr id="23" name="step-hex"/>
          <p:cNvSpPr/>
          <p:nvPr/>
        </p:nvSpPr>
        <p:spPr>
          <a:xfrm>
            <a:off x="6217920" y="4899563"/>
            <a:ext cx="420624" cy="364260"/>
          </a:xfrm>
          <a:prstGeom prst="hexagon">
            <a:avLst/>
          </a:prstGeom>
          <a:solidFill>
            <a:srgbClr val="2E4A8C"/>
          </a:solidFill>
          <a:ln/>
        </p:spPr>
      </p:sp>
      <p:sp>
        <p:nvSpPr>
          <p:cNvPr id="24" name="step-hex-label"/>
          <p:cNvSpPr txBox="1"/>
          <p:nvPr/>
        </p:nvSpPr>
        <p:spPr>
          <a:xfrm>
            <a:off x="6217920" y="4899563"/>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735407"/>
            <a:ext cx="4739335" cy="69257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Multiply by the height: 50 × 20 = 1000. The area is 1000 cm².</a:t>
            </a:r>
            <a:endParaRPr lang="en-US" sz="1800" dirty="0"/>
          </a:p>
        </p:txBody>
      </p:sp>
      <p:sp>
        <p:nvSpPr>
          <p:cNvPr id="26" name="worked-answer"/>
          <p:cNvSpPr/>
          <p:nvPr/>
        </p:nvSpPr>
        <p:spPr>
          <a:xfrm>
            <a:off x="6126480" y="5565140"/>
            <a:ext cx="5379415" cy="552196"/>
          </a:xfrm>
          <a:prstGeom prst="roundRect">
            <a:avLst>
              <a:gd name="adj" fmla="val 33119"/>
            </a:avLst>
          </a:prstGeom>
          <a:solidFill>
            <a:srgbClr val="EFE4D0"/>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1000 cm²</a:t>
            </a:r>
            <a:endParaRPr lang="en-US" sz="1800" dirty="0"/>
          </a:p>
        </p:txBody>
      </p:sp>
      <p:sp>
        <p:nvSpPr>
          <p:cNvPr id="27" name="bullet-card"/>
          <p:cNvSpPr/>
          <p:nvPr/>
        </p:nvSpPr>
        <p:spPr>
          <a:xfrm>
            <a:off x="548640" y="1389888"/>
            <a:ext cx="5074920" cy="1151805"/>
          </a:xfrm>
          <a:prstGeom prst="roundRect">
            <a:avLst>
              <a:gd name="adj" fmla="val 6351"/>
            </a:avLst>
          </a:prstGeom>
          <a:solidFill>
            <a:srgbClr val="F5F6F9"/>
          </a:solidFill>
          <a:ln/>
        </p:spPr>
      </p:sp>
      <p:sp>
        <p:nvSpPr>
          <p:cNvPr id="28" name="bullet-hex"/>
          <p:cNvSpPr/>
          <p:nvPr/>
        </p:nvSpPr>
        <p:spPr>
          <a:xfrm>
            <a:off x="676656" y="1799498"/>
            <a:ext cx="384048" cy="332586"/>
          </a:xfrm>
          <a:prstGeom prst="hexagon">
            <a:avLst/>
          </a:prstGeom>
          <a:solidFill>
            <a:srgbClr val="2E4A8C"/>
          </a:solidFill>
          <a:ln/>
        </p:spPr>
      </p:sp>
      <p:sp>
        <p:nvSpPr>
          <p:cNvPr id="29" name="bullet"/>
          <p:cNvSpPr txBox="1"/>
          <p:nvPr/>
        </p:nvSpPr>
        <p:spPr>
          <a:xfrm>
            <a:off x="1143000" y="1389888"/>
            <a:ext cx="4389120" cy="115180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Before you use the formula, check that every length is in the same unit.</a:t>
            </a:r>
            <a:endParaRPr lang="en-US" sz="2200" dirty="0"/>
          </a:p>
        </p:txBody>
      </p:sp>
      <p:sp>
        <p:nvSpPr>
          <p:cNvPr id="30" name="bullet-card"/>
          <p:cNvSpPr/>
          <p:nvPr/>
        </p:nvSpPr>
        <p:spPr>
          <a:xfrm>
            <a:off x="548640" y="2687997"/>
            <a:ext cx="5074920" cy="1151805"/>
          </a:xfrm>
          <a:prstGeom prst="roundRect">
            <a:avLst>
              <a:gd name="adj" fmla="val 6351"/>
            </a:avLst>
          </a:prstGeom>
          <a:solidFill>
            <a:srgbClr val="F5F6F9"/>
          </a:solidFill>
          <a:ln/>
        </p:spPr>
      </p:sp>
      <p:sp>
        <p:nvSpPr>
          <p:cNvPr id="31" name="bullet-hex"/>
          <p:cNvSpPr/>
          <p:nvPr/>
        </p:nvSpPr>
        <p:spPr>
          <a:xfrm>
            <a:off x="676656" y="3097607"/>
            <a:ext cx="384048" cy="332586"/>
          </a:xfrm>
          <a:prstGeom prst="hexagon">
            <a:avLst/>
          </a:prstGeom>
          <a:solidFill>
            <a:srgbClr val="B8862B"/>
          </a:solidFill>
          <a:ln/>
        </p:spPr>
      </p:sp>
      <p:sp>
        <p:nvSpPr>
          <p:cNvPr id="32" name="bullet"/>
          <p:cNvSpPr txBox="1"/>
          <p:nvPr/>
        </p:nvSpPr>
        <p:spPr>
          <a:xfrm>
            <a:off x="1143000" y="2687997"/>
            <a:ext cx="4389120" cy="115180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If you know the area and the parallel sides, you can find the height.</a:t>
            </a:r>
            <a:endParaRPr lang="en-US" sz="2200" dirty="0"/>
          </a:p>
        </p:txBody>
      </p:sp>
      <p:sp>
        <p:nvSpPr>
          <p:cNvPr id="33" name="bullet-card"/>
          <p:cNvSpPr/>
          <p:nvPr/>
        </p:nvSpPr>
        <p:spPr>
          <a:xfrm>
            <a:off x="548640" y="3986107"/>
            <a:ext cx="5074920" cy="810937"/>
          </a:xfrm>
          <a:prstGeom prst="roundRect">
            <a:avLst>
              <a:gd name="adj" fmla="val 9021"/>
            </a:avLst>
          </a:prstGeom>
          <a:solidFill>
            <a:srgbClr val="F5F6F9"/>
          </a:solidFill>
          <a:ln/>
        </p:spPr>
      </p:sp>
      <p:sp>
        <p:nvSpPr>
          <p:cNvPr id="34" name="bullet-hex"/>
          <p:cNvSpPr/>
          <p:nvPr/>
        </p:nvSpPr>
        <p:spPr>
          <a:xfrm>
            <a:off x="676656" y="4225283"/>
            <a:ext cx="384048" cy="332586"/>
          </a:xfrm>
          <a:prstGeom prst="hexagon">
            <a:avLst/>
          </a:prstGeom>
          <a:solidFill>
            <a:srgbClr val="2E4A8C"/>
          </a:solidFill>
          <a:ln/>
        </p:spPr>
      </p:sp>
      <p:sp>
        <p:nvSpPr>
          <p:cNvPr id="35" name="bullet"/>
          <p:cNvSpPr txBox="1"/>
          <p:nvPr/>
        </p:nvSpPr>
        <p:spPr>
          <a:xfrm>
            <a:off x="1143000" y="3986107"/>
            <a:ext cx="4389120" cy="810937"/>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trapezium has an area of 30 cm² and parallel sides of 4 cm and 8 cm.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Same task, three ways in: Area of a trapezium</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trapezium has parallel sides of 9 cm and 15 cm and a perpendicular height of 6 cm. Work out its area.</a:t>
            </a:r>
            <a:endParaRPr lang="en-US" sz="2000" dirty="0"/>
          </a:p>
          <a:p>
            <a:pPr algn="ctr" indent="0" marL="0">
              <a:buNone/>
            </a:pPr>
            <a:r>
              <a:rPr lang="en-US" sz="1800" b="1" dirty="0">
                <a:solidFill>
                  <a:srgbClr val="2E4A8C"/>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cm²</a:t>
            </a:r>
            <a:endParaRPr lang="en-US" sz="2000" dirty="0"/>
          </a:p>
        </p:txBody>
      </p:sp>
      <p:sp>
        <p:nvSpPr>
          <p:cNvPr id="12" name="col-Support"/>
          <p:cNvSpPr/>
          <p:nvPr/>
        </p:nvSpPr>
        <p:spPr>
          <a:xfrm>
            <a:off x="548640" y="2948940"/>
            <a:ext cx="3515258" cy="3195828"/>
          </a:xfrm>
          <a:prstGeom prst="roundRect">
            <a:avLst>
              <a:gd name="adj" fmla="val 1717"/>
            </a:avLst>
          </a:prstGeom>
          <a:solidFill>
            <a:srgbClr val="F0F2F7"/>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3240938" cy="244602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Add the two parallel sides.</a:t>
            </a:r>
            <a:endParaRPr lang="en-US" sz="2200" dirty="0"/>
          </a:p>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Halve the answer.</a:t>
            </a:r>
            <a:endParaRPr lang="en-US" sz="2200" dirty="0"/>
          </a:p>
          <a:p>
            <a:pPr algn="l" indent="0" marL="0">
              <a:spcAft>
                <a:spcPts val="600"/>
              </a:spcAft>
              <a:buNone/>
            </a:pPr>
            <a:r>
              <a:rPr lang="en-US" sz="22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Multiply by the perpendicular height and write cm².</a:t>
            </a:r>
            <a:endParaRPr lang="en-US" sz="2200" dirty="0"/>
          </a:p>
        </p:txBody>
      </p:sp>
      <p:sp>
        <p:nvSpPr>
          <p:cNvPr id="17" name="col-Core"/>
          <p:cNvSpPr/>
          <p:nvPr/>
        </p:nvSpPr>
        <p:spPr>
          <a:xfrm>
            <a:off x="4338218" y="2948940"/>
            <a:ext cx="3515258" cy="3195828"/>
          </a:xfrm>
          <a:prstGeom prst="roundRect">
            <a:avLst>
              <a:gd name="adj" fmla="val 1717"/>
            </a:avLst>
          </a:prstGeom>
          <a:solidFill>
            <a:srgbClr val="D7DDE9"/>
          </a:solidFill>
          <a:ln/>
        </p:spPr>
      </p:sp>
      <p:sp>
        <p:nvSpPr>
          <p:cNvPr id="18" name="col-hex"/>
          <p:cNvSpPr/>
          <p:nvPr/>
        </p:nvSpPr>
        <p:spPr>
          <a:xfrm>
            <a:off x="4447946"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89020"/>
            <a:ext cx="3240938" cy="2446020"/>
          </a:xfrm>
          <a:prstGeom prst="rect">
            <a:avLst/>
          </a:prstGeom>
          <a:noFill/>
          <a:ln/>
        </p:spPr>
        <p:txBody>
          <a:bodyPr wrap="square" lIns="63500" tIns="63500" rIns="63500" bIns="63500" rtlCol="0" anchor="t"/>
          <a:lstStyle/>
          <a:p>
            <a:pPr algn="l" indent="0" marL="0">
              <a:buNone/>
            </a:pPr>
            <a:r>
              <a:rPr lang="en-US" sz="2200" b="1" dirty="0">
                <a:solidFill>
                  <a:srgbClr val="253B70"/>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Add 9 and 15, halve, then multiply by 6.</a:t>
            </a:r>
            <a:endParaRPr lang="en-US" sz="2200" dirty="0"/>
          </a:p>
        </p:txBody>
      </p:sp>
      <p:sp>
        <p:nvSpPr>
          <p:cNvPr id="22" name="col-Stretch"/>
          <p:cNvSpPr/>
          <p:nvPr/>
        </p:nvSpPr>
        <p:spPr>
          <a:xfrm>
            <a:off x="8127797" y="2948940"/>
            <a:ext cx="3515258" cy="3195828"/>
          </a:xfrm>
          <a:prstGeom prst="roundRect">
            <a:avLst>
              <a:gd name="adj" fmla="val 1717"/>
            </a:avLst>
          </a:prstGeom>
          <a:solidFill>
            <a:srgbClr val="2E4A8C"/>
          </a:solidFill>
          <a:ln/>
        </p:spPr>
      </p:sp>
      <p:sp>
        <p:nvSpPr>
          <p:cNvPr id="23" name="col-hex"/>
          <p:cNvSpPr/>
          <p:nvPr/>
        </p:nvSpPr>
        <p:spPr>
          <a:xfrm>
            <a:off x="8237525"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89020"/>
            <a:ext cx="3240938" cy="2446020"/>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Split the same trapezium into a rectangle and a triangle and show that you get the same area. Which method do you prefer, and why?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Same task, three ways in: Which calculation?</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trapezium has parallel sides of 8 cm and 12 cm, a slanted side of 5 cm and a perpendicular height of 4 cm. Which calculation gives its area in cm²?</a:t>
            </a:r>
            <a:endParaRPr lang="en-US" sz="2000" dirty="0"/>
          </a:p>
          <a:p>
            <a:pPr algn="ctr" indent="0" marL="0">
              <a:buNone/>
            </a:pPr>
            <a:r>
              <a:rPr lang="en-US" sz="1800" b="1" dirty="0">
                <a:solidFill>
                  <a:srgbClr val="B8862B"/>
                </a:solidFill>
                <a:latin typeface="Calibri" pitchFamily="34" charset="0"/>
                <a:ea typeface="Calibri" pitchFamily="34" charset="-122"/>
                <a:cs typeface="Calibri" pitchFamily="34" charset="-120"/>
              </a:rPr>
              <a:t>A  </a:t>
            </a:r>
            <a:pPr algn="ctr" indent="0" marL="0">
              <a:buNone/>
            </a:pPr>
            <a:r>
              <a:rPr lang="en-US" sz="1800" dirty="0">
                <a:solidFill>
                  <a:srgbClr val="1E2229"/>
                </a:solidFill>
                <a:latin typeface="Calibri" pitchFamily="34" charset="0"/>
                <a:ea typeface="Calibri" pitchFamily="34" charset="-122"/>
                <a:cs typeface="Calibri" pitchFamily="34" charset="-120"/>
              </a:rPr>
              <a:t>(8 + 12) ÷ 2 × 4      </a:t>
            </a:r>
            <a:pPr algn="ctr" indent="0" marL="0">
              <a:buNone/>
            </a:pPr>
            <a:r>
              <a:rPr lang="en-US" sz="1800" b="1" dirty="0">
                <a:solidFill>
                  <a:srgbClr val="B8862B"/>
                </a:solidFill>
                <a:latin typeface="Calibri" pitchFamily="34" charset="0"/>
                <a:ea typeface="Calibri" pitchFamily="34" charset="-122"/>
                <a:cs typeface="Calibri" pitchFamily="34" charset="-120"/>
              </a:rPr>
              <a:t>B  </a:t>
            </a:r>
            <a:pPr algn="ctr" indent="0" marL="0">
              <a:buNone/>
            </a:pPr>
            <a:r>
              <a:rPr lang="en-US" sz="1800" dirty="0">
                <a:solidFill>
                  <a:srgbClr val="1E2229"/>
                </a:solidFill>
                <a:latin typeface="Calibri" pitchFamily="34" charset="0"/>
                <a:ea typeface="Calibri" pitchFamily="34" charset="-122"/>
                <a:cs typeface="Calibri" pitchFamily="34" charset="-120"/>
              </a:rPr>
              <a:t>(8 + 12) × 4      </a:t>
            </a:r>
            <a:pPr algn="ctr" indent="0" marL="0">
              <a:buNone/>
            </a:pPr>
            <a:r>
              <a:rPr lang="en-US" sz="1800" b="1" dirty="0">
                <a:solidFill>
                  <a:srgbClr val="B8862B"/>
                </a:solidFill>
                <a:latin typeface="Calibri" pitchFamily="34" charset="0"/>
                <a:ea typeface="Calibri" pitchFamily="34" charset="-122"/>
                <a:cs typeface="Calibri" pitchFamily="34" charset="-120"/>
              </a:rPr>
              <a:t>C  </a:t>
            </a:r>
            <a:pPr algn="ctr" indent="0" marL="0">
              <a:buNone/>
            </a:pPr>
            <a:r>
              <a:rPr lang="en-US" sz="1800" dirty="0">
                <a:solidFill>
                  <a:srgbClr val="1E2229"/>
                </a:solidFill>
                <a:latin typeface="Calibri" pitchFamily="34" charset="0"/>
                <a:ea typeface="Calibri" pitchFamily="34" charset="-122"/>
                <a:cs typeface="Calibri" pitchFamily="34" charset="-120"/>
              </a:rPr>
              <a:t>(8 + 5) ÷ 2 × 4      </a:t>
            </a:r>
            <a:pPr algn="ctr" indent="0" marL="0">
              <a:buNone/>
            </a:pPr>
            <a:r>
              <a:rPr lang="en-US" sz="1800" b="1" dirty="0">
                <a:solidFill>
                  <a:srgbClr val="B8862B"/>
                </a:solidFill>
                <a:latin typeface="Calibri" pitchFamily="34" charset="0"/>
                <a:ea typeface="Calibri" pitchFamily="34" charset="-122"/>
                <a:cs typeface="Calibri" pitchFamily="34" charset="-120"/>
              </a:rPr>
              <a:t>D  </a:t>
            </a:r>
            <a:pPr algn="ctr" indent="0" marL="0">
              <a:buNone/>
            </a:pPr>
            <a:r>
              <a:rPr lang="en-US" sz="1800" dirty="0">
                <a:solidFill>
                  <a:srgbClr val="1E2229"/>
                </a:solidFill>
                <a:latin typeface="Calibri" pitchFamily="34" charset="0"/>
                <a:ea typeface="Calibri" pitchFamily="34" charset="-122"/>
                <a:cs typeface="Calibri" pitchFamily="34" charset="-120"/>
              </a:rPr>
              <a:t>8 × 12 ÷ 2</a:t>
            </a:r>
            <a:endParaRPr lang="en-US" sz="2000" dirty="0"/>
          </a:p>
        </p:txBody>
      </p:sp>
      <p:sp>
        <p:nvSpPr>
          <p:cNvPr id="12" name="col-Support"/>
          <p:cNvSpPr/>
          <p:nvPr/>
        </p:nvSpPr>
        <p:spPr>
          <a:xfrm>
            <a:off x="548640" y="2948940"/>
            <a:ext cx="4667802" cy="3195828"/>
          </a:xfrm>
          <a:prstGeom prst="roundRect">
            <a:avLst>
              <a:gd name="adj" fmla="val 1717"/>
            </a:avLst>
          </a:prstGeom>
          <a:solidFill>
            <a:srgbClr val="F0F2F7"/>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3936282"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4393482"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Find the two parallel sides and the perpendicular height. Cross out the slanted side.</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formula adds the parallel sides, halves, then multiplies by the height.</a:t>
            </a:r>
            <a:endParaRPr lang="en-US" sz="1800" dirty="0"/>
          </a:p>
          <a:p>
            <a:pPr algn="l" indent="0" marL="0">
              <a:spcAft>
                <a:spcPts val="600"/>
              </a:spcAft>
              <a:buNone/>
            </a:pPr>
            <a:r>
              <a:rPr lang="en-US" sz="1800" b="1" dirty="0">
                <a:solidFill>
                  <a:srgbClr val="2E4A8C"/>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Look for the calculation that does exactly those three things.</a:t>
            </a:r>
            <a:endParaRPr lang="en-US" sz="1800" dirty="0"/>
          </a:p>
        </p:txBody>
      </p:sp>
      <p:sp>
        <p:nvSpPr>
          <p:cNvPr id="17" name="col-Core"/>
          <p:cNvSpPr/>
          <p:nvPr/>
        </p:nvSpPr>
        <p:spPr>
          <a:xfrm>
            <a:off x="5490762" y="2948940"/>
            <a:ext cx="2938987" cy="3195828"/>
          </a:xfrm>
          <a:prstGeom prst="roundRect">
            <a:avLst>
              <a:gd name="adj" fmla="val 1867"/>
            </a:avLst>
          </a:prstGeom>
          <a:solidFill>
            <a:srgbClr val="D7DDE9"/>
          </a:solidFill>
          <a:ln/>
        </p:spPr>
      </p:sp>
      <p:sp>
        <p:nvSpPr>
          <p:cNvPr id="18" name="col-hex"/>
          <p:cNvSpPr/>
          <p:nvPr/>
        </p:nvSpPr>
        <p:spPr>
          <a:xfrm>
            <a:off x="5600490"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203462"/>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253B70"/>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Three of the calculations use a wrong length, skip the halving or use the wrong operation. Only one adds the parallel sides, halves and multiplies by the height.</a:t>
            </a:r>
            <a:endParaRPr lang="en-US" sz="1800" dirty="0"/>
          </a:p>
        </p:txBody>
      </p:sp>
      <p:sp>
        <p:nvSpPr>
          <p:cNvPr id="22" name="col-Stretch"/>
          <p:cNvSpPr/>
          <p:nvPr/>
        </p:nvSpPr>
        <p:spPr>
          <a:xfrm>
            <a:off x="8704069" y="2948940"/>
            <a:ext cx="2938987" cy="3195828"/>
          </a:xfrm>
          <a:prstGeom prst="roundRect">
            <a:avLst>
              <a:gd name="adj" fmla="val 1867"/>
            </a:avLst>
          </a:prstGeom>
          <a:solidFill>
            <a:srgbClr val="2E4A8C"/>
          </a:solidFill>
          <a:ln/>
        </p:spPr>
      </p:sp>
      <p:sp>
        <p:nvSpPr>
          <p:cNvPr id="23" name="col-hex"/>
          <p:cNvSpPr/>
          <p:nvPr/>
        </p:nvSpPr>
        <p:spPr>
          <a:xfrm>
            <a:off x="8813797"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Work out the value of each of the four calculations and explain, for each wrong one, what mistake a pupil would have made to write it.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E4A8C"/>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E4A8C"/>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87071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trapezium has an area of 60 cm² and parallel sides of 7 cm and 13 cm. What is its perpendicular height?</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7F8FA"/>
          </a:solidFill>
          <a:ln w="12700">
            <a:solidFill>
              <a:srgbClr val="9DAAC9"/>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My answer (cm):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Area of a trapezium</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trapezium has parallel sides of 9 cm and 15 cm and a perpendicular height of 6 cm. Work out its area.</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72 cm²</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9 + 15 = 24, half is 12, and 12 × 6 = 72.</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Which calculation?</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trapezium has parallel sides of 8 cm and 12 cm, a slanted side of 5 cm and a perpendicular height of 4 cm. Which calculation gives its area in cm²?</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(8 + 12) ÷ 2 × 4</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Add the parallel sides, halve, multiply by the perpendicular height: (8 + 12) ÷ 2 × 4 = 40.</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E4A8C"/>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E4A8C"/>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E4A8C"/>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9F4EC"/>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trapezium has an area of 60 cm² and parallel sides of 7 cm and 13 cm. What is its perpendicular height?</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6 cm</a:t>
            </a:r>
            <a:endParaRPr lang="en-US" sz="1800" dirty="0"/>
          </a:p>
        </p:txBody>
      </p:sp>
      <p:sp>
        <p:nvSpPr>
          <p:cNvPr id="10" name="why-panel"/>
          <p:cNvSpPr/>
          <p:nvPr/>
        </p:nvSpPr>
        <p:spPr>
          <a:xfrm>
            <a:off x="7223760" y="1389888"/>
            <a:ext cx="4419295" cy="4754880"/>
          </a:xfrm>
          <a:prstGeom prst="roundRect">
            <a:avLst>
              <a:gd name="adj" fmla="val 1035"/>
            </a:avLst>
          </a:prstGeom>
          <a:solidFill>
            <a:srgbClr val="F0F2F7"/>
          </a:solidFill>
          <a:ln/>
        </p:spPr>
      </p:sp>
      <p:sp>
        <p:nvSpPr>
          <p:cNvPr id="11" name="why-hex"/>
          <p:cNvSpPr/>
          <p:nvPr/>
        </p:nvSpPr>
        <p:spPr>
          <a:xfrm>
            <a:off x="7406640" y="1572768"/>
            <a:ext cx="685800" cy="593903"/>
          </a:xfrm>
          <a:prstGeom prst="hexagon">
            <a:avLst/>
          </a:prstGeom>
          <a:solidFill>
            <a:srgbClr val="2E4A8C"/>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7 + 13 = 20, half is 10, and 60 ÷ 10 = 6. Check: 10 × 6 = 60.</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9437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Ad Astra maths">
  <a:themeElements>
    <a:clrScheme name="Ad Astra maths">
      <a:dk1>
        <a:srgbClr val="1E2229"/>
      </a:dk1>
      <a:lt1>
        <a:srgbClr val="FFFFFF"/>
      </a:lt1>
      <a:dk2>
        <a:srgbClr val="253B70"/>
      </a:dk2>
      <a:lt2>
        <a:srgbClr val="F0F2F7"/>
      </a:lt2>
      <a:accent1>
        <a:srgbClr val="2E4A8C"/>
      </a:accent1>
      <a:accent2>
        <a:srgbClr val="B8862B"/>
      </a:accent2>
      <a:accent3>
        <a:srgbClr val="8292BA"/>
      </a:accent3>
      <a:accent4>
        <a:srgbClr val="815E1E"/>
      </a:accent4>
      <a:accent5>
        <a:srgbClr val="4A505C"/>
      </a:accent5>
      <a:accent6>
        <a:srgbClr val="DEC69B"/>
      </a:accent6>
      <a:hlink>
        <a:srgbClr val="2E4A8C"/>
      </a:hlink>
      <a:folHlink>
        <a:srgbClr val="203462"/>
      </a:folHlink>
    </a:clrScheme>
    <a:fontScheme name="Ad Astra math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Perimeter and Area · Chapter 5: Area of a trapezium</dc:title>
  <dc:subject>Mathematics · Year 7</dc:subject>
  <dc:creator>Dr Vitor Merissi de Carvalho</dc:creator>
  <cp:lastModifiedBy>Dr Vitor Merissi de Carvalho</cp:lastModifiedBy>
  <cp:revision>1</cp:revision>
  <dcterms:created xsi:type="dcterms:W3CDTF">2026-10-18T17:47:13Z</dcterms:created>
  <dcterms:modified xsi:type="dcterms:W3CDTF">2026-10-18T17:47:13Z</dcterms:modified>
</cp:coreProperties>
</file>