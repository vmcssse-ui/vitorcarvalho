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d1ee9a7-924e-2582-d662-28ef0ebc745a}">
          <p14:sldIdLst>
            <p14:sldId id="256"/>
          </p14:sldIdLst>
        </p14:section>
        <p14:section name="Gate" id="{b80fc71c-6df8-60e2-2641-25f943ce94c5}">
          <p14:sldIdLst>
            <p14:sldId id="257"/>
            <p14:sldId id="258"/>
          </p14:sldIdLst>
        </p14:section>
        <p14:section name="Pre-teach" id="{c831abb0-9fcb-653b-9bc3-f04e1f9c817b}">
          <p14:sldIdLst>
            <p14:sldId id="259"/>
          </p14:sldIdLst>
        </p14:section>
        <p14:section name="Read-along" id="{c91a816b-eb63-c542-8529-f1e67e5674e7}">
          <p14:sldIdLst>
            <p14:sldId id="260"/>
          </p14:sldIdLst>
        </p14:section>
        <p14:section name="Teach" id="{a59c899f-cccd-2d68-9af9-1b897cb46986}">
          <p14:sldIdLst>
            <p14:sldId id="261"/>
            <p14:sldId id="262"/>
            <p14:sldId id="263"/>
            <p14:sldId id="264"/>
          </p14:sldIdLst>
        </p14:section>
        <p14:section name="Routes" id="{223d893e-0560-e255-7c29-842f74fc3d66}">
          <p14:sldIdLst>
            <p14:sldId id="265"/>
            <p14:sldId id="266"/>
          </p14:sldIdLst>
        </p14:section>
        <p14:section name="Close" id="{71337747-e387-5778-cc6d-4b1121e1d28a}">
          <p14:sldIdLst>
            <p14:sldId id="267"/>
          </p14:sldIdLst>
        </p14:section>
        <p14:section name="Answers" id="{ee50908b-f8b6-d725-0c46-08747e8ffae3}">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Area of a triangle. See why a triangle is half a rectangle, use the formula with the right height, and work backwards.
This deck covers the department's lesson: 5 (Area of a triangle: Why is the area of a triangle half of base times height?).
Read the big question aloud: "How do we measure the edge of a shape and the space inside it, and how can letters stand for lengths we do not know?"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triangle has a base of 8 cm and a perpendicular height of 3 cm. What is its area?  →  12 cm²
2. Why is the area of a triangle half of base × height?  →  B   Because a triangle is half of a rectangle with the same base and height
3. The height used in the triangle formula must be at a ___ angle to the base.  →  right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12 cm². 8 × 3 = 24, and a triangle is half a rectangle, so 24 ÷ 2 = 12.
2. B   Because a triangle is half of a rectangle with the same base and height. Cut a rectangle along a diagonal and you get two identical triangles, so each is half the rectangle's area.
3. right. Perpendicular means at a right angle. The height stands straight up from the base.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triangle: a flat shape with three straight sides. Example: "Fold a square in half along a diagonal to make two triangles."
• base: the side of the triangle the height is measured from. Example: "The base of the triangle is 8 cm."
• perpendicular height: the height measured at a right angle to the base. Example: "The perpendicular height goes straight up from the base."
• half: one of two equal parts; to halve is to divide by 2. Example: "Half of 30 is 15."
• diagonal: a straight line from one corner of a shape to an opposite corner. Example: "Cut the rectangle along its diagonal."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1–11 of 11:
1. A triangle is half of a rectangle.
2. Draw a rectangle and cut it along a diagonal.
3. You get two triangles that are the same size.
4. So the area of a triangle is half the area of the rectangle.
5. First multiply the base by the perpendicular height.
6. Then divide by 2.
7. The perpendicular height is at a right angle to the base.
8. It is not the slanted side.
9. A triangle with a base of 6 cm and a height of 4 cm has an area of 12 cm².
10. We say the formula as half of base times height.
11. Area is always measured in square units, like cm².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Half a rectangle. Say it in your own words, then check understanding with a quick question: ask a pupil from the pre-teach group first, since they met these words and ideas before the lesson. Pupils try to recall before you re-explain.
Draw a rectangle 8 cm long and 5 cm high. Its area is 8 × 5 = 40 cm². Now draw a diagonal from one corner to the opposite corner. You have cut the rectangle into two identical triangles.
Each triangle has the same base and height as the rectangle, but only half the space. So its area is 40 ÷ 2 = 20 cm².
This works for every triangle, not just right-angled ones. Any triangle can be fitted inside a rectangle with the same base and height, and it always takes up exactly half of it.
Worked example — model it step by step, thinking aloud: A right-angled triangle has a base of 8 cm and a height of 5 cm. Work out its area. (1) Find the area of the rectangle with the same base and height: 8 × 5 = 40. (2) The triangle is half of it: 40 ÷ 2 = 20. (3) The area is 20 cm². Answer: 20 cm².
Tip: Picture the rectangle round the triangle. The triangle is always half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formula and the right height. Say it in your own words, then check understanding with a quick question: ask a pupil from the pre-teach group first, since they met these words and ideas before the lesson. Pupils try to recall before you re-explain.
Area of a triangle = base × perpendicular height ÷ 2. You can also say it as half of base times height. Both give the same answer, because halving and dividing by 2 are the same thing.
Triangles often have three lengths labelled, but you only use two. The base is one side. The perpendicular height goes from the base straight up to the opposite corner, at a right angle. It is often drawn as a dashed line with a right-angle mark.
The slanted sides are never the height. If a triangle has a base of 10 cm, a perpendicular height of 7 cm and slanted sides of 8 cm and 9 cm, the area is 10 × 7 ÷ 2 = 35 cm². The 8 and the 9 are not used.
Worked example — model it step by step, thinking aloud: A triangle has a base of 10 cm, a perpendicular height of 7 cm and slanted sides of 8 cm and 9 cm. Work out its area. (1) Pick out the base, 10 cm, and the perpendicular height, 7 cm. (2) Multiply: 10 × 7 = 70. (3) Halve: 70 ÷ 2 = 35. The area is 35 cm². Answer: 35 cm².
Tip: Three lengths, use two: the base and the height. Ignore the slant.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When the answer is a decimal. Say it in your own words, then check understanding with a quick question: ask a pupil from the pre-teach group first, since they met these words and ideas before the lesson. Pupils try to recall before you re-explain.
Sometimes base × height is an odd number, so halving gives a decimal. That is fine: 9 × 5 = 45, and 45 ÷ 2 = 22.5.
You can halve first if that is easier. For a base of 10 cm and a height of 7 cm, half of 10 is 5, and 5 × 7 = 35. Halving either number first gives the same answer as halving at the end.
Whatever order you use, the unit is still a square unit, such as cm² or m².
Worked example — model it step by step, thinking aloud: A triangle has a base of 9 m and a perpendicular height of 5 m. Work out its area. (1) Multiply: 9 × 5 = 45. (2) Halve: 45 ÷ 2 = 22.5. (3) The area is 22.5 m². Answer: 22.5 m².
Tip: If one of the numbers is even, halve that one first to avoid decimals in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Working backwards. Say it in your own words, then check understanding with a quick question: ask a pupil from the pre-teach group first, since they met these words and ideas before the lesson. Pupils try to recall before you re-explain.
If you know a triangle's area and its height, you can find its base. The formula says area = base × height ÷ 2, so undo it backwards: double the area, then divide by the height.
A triangle has an area of 24 cm² and a perpendicular height of 6 cm. Double the area: 24 × 2 = 48. Divide by the height: 48 ÷ 6 = 8. The base is 8 cm.
Check your answer by putting it back into the formula: 8 × 6 ÷ 2 = 24.
Worked example — model it step by step, thinking aloud: A triangle has an area of 24 cm² and a perpendicular height of 6 cm. Work out its base. (1) Double the area: 24 × 2 = 48. (2) Divide by the height: 48 ÷ 6 = 8. (3) The base is 8 cm. Check: 8 × 6 ÷ 2 = 24. Answer: 8 cm.
Tip: Undo the formula in reverse: double first, then divide.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Area of a triangle.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triangle has a base of 14 cm and a perpendicular height of 5 cm. Work out its area.
Support — work through the steps with the group: (1) Multiply the base by the perpendicular height. (2) Halve the answer, because a triangle is half a rectangle. (3) Write the unit as cm².
Parallel worked example for Support (model it, do not give the task answer): A triangle has a base of 10 cm and a perpendicular height of 6 cm. Work out its area. 10 × 6 = 60.; 60 ÷ 2 = 30.; Area = 30 cm².. Answer: 30 cm².
Core — reveal the hint only on request: Base × height, then halve.
Stretch — no help; when finished: Draw, in words, two different triangles that both have an area of 35 cm². Explain how you chose the base and height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Choose the right height.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triangle has a base of 12 cm, a perpendicular height of 5 cm and slanted sides of 7 cm and 9 cm. What is its area?
Support — work through the steps with the group: (1) Find the base and the perpendicular height. The height is the one at a right angle to the base. (2) Cross out both slanted sides. (3) Multiply base × height, then halve.
Parallel worked example for Support (model it, do not give the task answer): A triangle has a base of 8 cm, a perpendicular height of 3 cm and slanted sides of 5 cm and 4 cm. Work out its area. Base 8 cm, perpendicular height 3 cm.; 8 × 3 = 24.; 24 ÷ 2 = 12, so the area is 12 cm².. Answer: 12 cm².
Core — reveal the hint only on request: Only the base and the perpendicular height are used. Two of the four lengths are distractions.
Stretch — no help; when finished: Priya says the area must be bigger because the triangle has long slanted sides. Explain why the slanted sides do not change the area if the base and height stay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triangle has an area of 36 cm² and a base of 9 cm. What is its perpendicular height?
Answer: 8 cm. Double the area: 36 × 2 = 72. Divide by the base: 72 ÷ 9 = 8. Check: 9 × 8 ÷ 2 = 36.
Source of this question: module 3 task ("Find the missing length")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Area of a triangle. Reveal the answer; pupils mark their own work in a different colour, then read the "why" together. Same destination for every lane, so one answer serves the whole class.
Answer: 35 cm²
Why: 14 × 5 = 70, and a triangle is half a rectangle, so 70 ÷ 2 = 35.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Choose the right height. Reveal the answer; pupils mark their own work in a different colour, then read the "why" together. Same destination for every lane, so one answer serves the whole class.
Answer: A   30 cm²
Why: Only the base and the perpendicular height matter: 12 × 5 = 60, and 60 ÷ 2 = 30.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8 cm
Why: Double the area: 36 × 2 = 72. Divide by the base: 72 ÷ 9 = 8. Check: 9 × 8 ÷ 2 = 36.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Perimeter and Area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Perimeter and Area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Perimeter and Area · AQA KS3 → 8300</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Area of a triangle</a:t>
            </a:r>
            <a:endParaRPr lang="en-US" sz="4000" dirty="0"/>
          </a:p>
        </p:txBody>
      </p:sp>
      <p:sp>
        <p:nvSpPr>
          <p:cNvPr id="11" name="lessons-card"/>
          <p:cNvSpPr/>
          <p:nvPr/>
        </p:nvSpPr>
        <p:spPr>
          <a:xfrm>
            <a:off x="548640" y="3739388"/>
            <a:ext cx="5287975" cy="980440"/>
          </a:xfrm>
          <a:prstGeom prst="roundRect">
            <a:avLst>
              <a:gd name="adj" fmla="val 7461"/>
            </a:avLst>
          </a:prstGeom>
          <a:solidFill>
            <a:srgbClr val="F0F2F7"/>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Area of a triangle</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we measure the edge of a shape and the space inside it, and how can letters stand for lengths we do not know?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A triangle has a base of 8 cm and a perpendicular height of 3 cm. What is its area?</a:t>
            </a:r>
            <a:endParaRPr lang="en-US" sz="2200" dirty="0"/>
          </a:p>
          <a:p>
            <a:pPr algn="l" indent="0" marL="0">
              <a:buNone/>
            </a:pPr>
            <a:r>
              <a:rPr lang="en-US" sz="2200" b="1" dirty="0">
                <a:solidFill>
                  <a:srgbClr val="2E4A8C"/>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cm²</a:t>
            </a:r>
            <a:endParaRPr lang="en-US" sz="2200" dirty="0"/>
          </a:p>
        </p:txBody>
      </p:sp>
      <p:sp>
        <p:nvSpPr>
          <p:cNvPr id="12" name="card"/>
          <p:cNvSpPr/>
          <p:nvPr/>
        </p:nvSpPr>
        <p:spPr>
          <a:xfrm>
            <a:off x="3459404" y="1389888"/>
            <a:ext cx="5272888" cy="4754880"/>
          </a:xfrm>
          <a:prstGeom prst="roundRect">
            <a:avLst>
              <a:gd name="adj" fmla="val 1154"/>
            </a:avLst>
          </a:prstGeom>
          <a:solidFill>
            <a:srgbClr val="F7F8FA"/>
          </a:solidFill>
          <a:ln w="12700">
            <a:solidFill>
              <a:srgbClr val="BCC5DA"/>
            </a:solidFill>
            <a:prstDash val="solid"/>
          </a:ln>
        </p:spPr>
      </p:sp>
      <p:sp>
        <p:nvSpPr>
          <p:cNvPr id="13" name="card-hex"/>
          <p:cNvSpPr/>
          <p:nvPr/>
        </p:nvSpPr>
        <p:spPr>
          <a:xfrm>
            <a:off x="3642284" y="1572768"/>
            <a:ext cx="640080" cy="554309"/>
          </a:xfrm>
          <a:prstGeom prst="hexagon">
            <a:avLst/>
          </a:prstGeom>
          <a:solidFill>
            <a:srgbClr val="2E4A8C"/>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3642284"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Why is the area of a triangle half of base × height?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Because a triangle has three sides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Because a triangle is half of a rectangle with the same base and height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Because the height is always half the base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Because every area formula has a half in it</a:t>
            </a:r>
            <a:endParaRPr lang="en-US" sz="2000" dirty="0"/>
          </a:p>
        </p:txBody>
      </p:sp>
      <p:sp>
        <p:nvSpPr>
          <p:cNvPr id="17" name="card"/>
          <p:cNvSpPr/>
          <p:nvPr/>
        </p:nvSpPr>
        <p:spPr>
          <a:xfrm>
            <a:off x="9006611" y="1389888"/>
            <a:ext cx="2636444" cy="4754880"/>
          </a:xfrm>
          <a:prstGeom prst="roundRect">
            <a:avLst>
              <a:gd name="adj" fmla="val 2081"/>
            </a:avLst>
          </a:prstGeom>
          <a:solidFill>
            <a:srgbClr val="F7F8FA"/>
          </a:solidFill>
          <a:ln w="12700">
            <a:solidFill>
              <a:srgbClr val="BCC5DA"/>
            </a:solidFill>
            <a:prstDash val="solid"/>
          </a:ln>
        </p:spPr>
      </p:sp>
      <p:sp>
        <p:nvSpPr>
          <p:cNvPr id="18" name="card-hex"/>
          <p:cNvSpPr/>
          <p:nvPr/>
        </p:nvSpPr>
        <p:spPr>
          <a:xfrm>
            <a:off x="9189491" y="1572768"/>
            <a:ext cx="640080" cy="554309"/>
          </a:xfrm>
          <a:prstGeom prst="hexagon">
            <a:avLst/>
          </a:prstGeom>
          <a:solidFill>
            <a:srgbClr val="2E4A8C"/>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The height used in the triangle formula must be at a ___ angle to the base.</a:t>
            </a:r>
            <a:endParaRPr lang="en-US" sz="2200" dirty="0"/>
          </a:p>
          <a:p>
            <a:pPr algn="l" indent="0" marL="0">
              <a:buNone/>
            </a:pPr>
            <a:r>
              <a:rPr lang="en-US" sz="2200" b="1" dirty="0">
                <a:solidFill>
                  <a:srgbClr val="2E4A8C"/>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right  ·  acute  ·  straight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12 cm²</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triangle has a base of 8 cm and a perpendicular height of 3 cm. What is its area?</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8 × 3 = 24, and a triangle is half a rectangle, so 24 ÷ 2 = 12.</a:t>
            </a:r>
            <a:endParaRPr lang="en-US" sz="1800" dirty="0"/>
          </a:p>
        </p:txBody>
      </p:sp>
      <p:sp>
        <p:nvSpPr>
          <p:cNvPr id="14" name="card"/>
          <p:cNvSpPr/>
          <p:nvPr/>
        </p:nvSpPr>
        <p:spPr>
          <a:xfrm>
            <a:off x="3459404" y="1389888"/>
            <a:ext cx="5272888" cy="4754880"/>
          </a:xfrm>
          <a:prstGeom prst="roundRect">
            <a:avLst>
              <a:gd name="adj" fmla="val 1154"/>
            </a:avLst>
          </a:prstGeom>
          <a:solidFill>
            <a:srgbClr val="F7F8FA"/>
          </a:solidFill>
          <a:ln w="12700">
            <a:solidFill>
              <a:srgbClr val="BCC5DA"/>
            </a:solidFill>
            <a:prstDash val="solid"/>
          </a:ln>
        </p:spPr>
      </p:sp>
      <p:sp>
        <p:nvSpPr>
          <p:cNvPr id="15" name="card-hex"/>
          <p:cNvSpPr/>
          <p:nvPr/>
        </p:nvSpPr>
        <p:spPr>
          <a:xfrm>
            <a:off x="3642284" y="1572768"/>
            <a:ext cx="640080" cy="554309"/>
          </a:xfrm>
          <a:prstGeom prst="hexagon">
            <a:avLst/>
          </a:prstGeom>
          <a:solidFill>
            <a:srgbClr val="2E4A8C"/>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4907128" cy="1295908"/>
          </a:xfrm>
          <a:prstGeom prst="roundRect">
            <a:avLst>
              <a:gd name="adj" fmla="val 8467"/>
            </a:avLst>
          </a:prstGeom>
          <a:solidFill>
            <a:srgbClr val="EFE4D0"/>
          </a:solidFill>
          <a:ln w="19050">
            <a:solidFill>
              <a:srgbClr val="B8862B"/>
            </a:solidFill>
            <a:prstDash val="solid"/>
          </a:ln>
        </p:spPr>
      </p:sp>
      <p:sp>
        <p:nvSpPr>
          <p:cNvPr id="19" name="answer"/>
          <p:cNvSpPr txBox="1"/>
          <p:nvPr/>
        </p:nvSpPr>
        <p:spPr>
          <a:xfrm>
            <a:off x="3733724"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Because a triangle is half of a rectangle with the same base and height</a:t>
            </a:r>
            <a:endParaRPr lang="en-US" sz="2200" dirty="0"/>
          </a:p>
        </p:txBody>
      </p:sp>
      <p:sp>
        <p:nvSpPr>
          <p:cNvPr id="20" name="card-body"/>
          <p:cNvSpPr txBox="1"/>
          <p:nvPr/>
        </p:nvSpPr>
        <p:spPr>
          <a:xfrm>
            <a:off x="3642284"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Why is the area of a triangle half of base × height?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Cut a rectangle along a diagonal and you get two identical triangles, so each is half the rectangle's area.</a:t>
            </a:r>
            <a:endParaRPr lang="en-US" sz="2200" dirty="0"/>
          </a:p>
        </p:txBody>
      </p:sp>
      <p:sp>
        <p:nvSpPr>
          <p:cNvPr id="21" name="card"/>
          <p:cNvSpPr/>
          <p:nvPr/>
        </p:nvSpPr>
        <p:spPr>
          <a:xfrm>
            <a:off x="9006611" y="1389888"/>
            <a:ext cx="2636444" cy="4754880"/>
          </a:xfrm>
          <a:prstGeom prst="roundRect">
            <a:avLst>
              <a:gd name="adj" fmla="val 2081"/>
            </a:avLst>
          </a:prstGeom>
          <a:solidFill>
            <a:srgbClr val="F7F8FA"/>
          </a:solidFill>
          <a:ln w="12700">
            <a:solidFill>
              <a:srgbClr val="BCC5DA"/>
            </a:solidFill>
            <a:prstDash val="solid"/>
          </a:ln>
        </p:spPr>
      </p:sp>
      <p:sp>
        <p:nvSpPr>
          <p:cNvPr id="22" name="card-hex"/>
          <p:cNvSpPr/>
          <p:nvPr/>
        </p:nvSpPr>
        <p:spPr>
          <a:xfrm>
            <a:off x="9189491" y="1572768"/>
            <a:ext cx="640080" cy="554309"/>
          </a:xfrm>
          <a:prstGeom prst="hexagon">
            <a:avLst/>
          </a:prstGeom>
          <a:solidFill>
            <a:srgbClr val="2E4A8C"/>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right</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height used in the triangle formula must be at a ___ angle to the base.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Perpendicular means at a right angle. The height stands straight up from the base.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65861"/>
          </a:xfrm>
          <a:prstGeom prst="roundRect">
            <a:avLst>
              <a:gd name="adj" fmla="val 7164"/>
            </a:avLst>
          </a:prstGeom>
          <a:solidFill>
            <a:srgbClr val="F5F6F9"/>
          </a:solidFill>
          <a:ln/>
        </p:spPr>
      </p:sp>
      <p:sp>
        <p:nvSpPr>
          <p:cNvPr id="12" name="kw-hex"/>
          <p:cNvSpPr/>
          <p:nvPr/>
        </p:nvSpPr>
        <p:spPr>
          <a:xfrm>
            <a:off x="658368" y="2125000"/>
            <a:ext cx="411480" cy="356342"/>
          </a:xfrm>
          <a:prstGeom prst="hexagon">
            <a:avLst/>
          </a:prstGeom>
          <a:solidFill>
            <a:srgbClr val="2E4A8C"/>
          </a:solidFill>
          <a:ln/>
        </p:spPr>
      </p:sp>
      <p:sp>
        <p:nvSpPr>
          <p:cNvPr id="13" name="kw-cell"/>
          <p:cNvSpPr txBox="1"/>
          <p:nvPr/>
        </p:nvSpPr>
        <p:spPr>
          <a:xfrm>
            <a:off x="1143000" y="1920240"/>
            <a:ext cx="2331720" cy="76586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triangle</a:t>
            </a:r>
            <a:endParaRPr lang="en-US" sz="2000" dirty="0"/>
          </a:p>
        </p:txBody>
      </p:sp>
      <p:sp>
        <p:nvSpPr>
          <p:cNvPr id="14" name="kw-cell"/>
          <p:cNvSpPr txBox="1"/>
          <p:nvPr/>
        </p:nvSpPr>
        <p:spPr>
          <a:xfrm>
            <a:off x="3657600" y="1920240"/>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flat shape with three straight sides</a:t>
            </a:r>
            <a:endParaRPr lang="en-US" sz="1800" dirty="0"/>
          </a:p>
        </p:txBody>
      </p:sp>
      <p:sp>
        <p:nvSpPr>
          <p:cNvPr id="15" name="kw-cell"/>
          <p:cNvSpPr txBox="1"/>
          <p:nvPr/>
        </p:nvSpPr>
        <p:spPr>
          <a:xfrm>
            <a:off x="7315200" y="1920240"/>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Fold a square in half along a diagonal to make two triangles.</a:t>
            </a:r>
            <a:endParaRPr lang="en-US" sz="1800" dirty="0"/>
          </a:p>
        </p:txBody>
      </p:sp>
      <p:sp>
        <p:nvSpPr>
          <p:cNvPr id="16" name="kw-row"/>
          <p:cNvSpPr/>
          <p:nvPr/>
        </p:nvSpPr>
        <p:spPr>
          <a:xfrm>
            <a:off x="548640" y="2759253"/>
            <a:ext cx="11094415" cy="765861"/>
          </a:xfrm>
          <a:prstGeom prst="roundRect">
            <a:avLst>
              <a:gd name="adj" fmla="val 7164"/>
            </a:avLst>
          </a:prstGeom>
          <a:solidFill>
            <a:srgbClr val="F9F4EC"/>
          </a:solidFill>
          <a:ln/>
        </p:spPr>
      </p:sp>
      <p:sp>
        <p:nvSpPr>
          <p:cNvPr id="17" name="kw-hex"/>
          <p:cNvSpPr/>
          <p:nvPr/>
        </p:nvSpPr>
        <p:spPr>
          <a:xfrm>
            <a:off x="658368" y="2964012"/>
            <a:ext cx="411480" cy="356342"/>
          </a:xfrm>
          <a:prstGeom prst="hexagon">
            <a:avLst/>
          </a:prstGeom>
          <a:solidFill>
            <a:srgbClr val="B8862B"/>
          </a:solidFill>
          <a:ln/>
        </p:spPr>
      </p:sp>
      <p:sp>
        <p:nvSpPr>
          <p:cNvPr id="18" name="kw-cell"/>
          <p:cNvSpPr txBox="1"/>
          <p:nvPr/>
        </p:nvSpPr>
        <p:spPr>
          <a:xfrm>
            <a:off x="1143000" y="2759253"/>
            <a:ext cx="2331720" cy="76586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base</a:t>
            </a:r>
            <a:endParaRPr lang="en-US" sz="2000" dirty="0"/>
          </a:p>
        </p:txBody>
      </p:sp>
      <p:sp>
        <p:nvSpPr>
          <p:cNvPr id="19" name="kw-cell"/>
          <p:cNvSpPr txBox="1"/>
          <p:nvPr/>
        </p:nvSpPr>
        <p:spPr>
          <a:xfrm>
            <a:off x="3657600" y="2759253"/>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side of the triangle the height is measured from</a:t>
            </a:r>
            <a:endParaRPr lang="en-US" sz="1800" dirty="0"/>
          </a:p>
        </p:txBody>
      </p:sp>
      <p:sp>
        <p:nvSpPr>
          <p:cNvPr id="20" name="kw-cell"/>
          <p:cNvSpPr txBox="1"/>
          <p:nvPr/>
        </p:nvSpPr>
        <p:spPr>
          <a:xfrm>
            <a:off x="7315200" y="2759253"/>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base of the triangle is 8 cm.</a:t>
            </a:r>
            <a:endParaRPr lang="en-US" sz="1800" dirty="0"/>
          </a:p>
        </p:txBody>
      </p:sp>
      <p:sp>
        <p:nvSpPr>
          <p:cNvPr id="21" name="kw-row"/>
          <p:cNvSpPr/>
          <p:nvPr/>
        </p:nvSpPr>
        <p:spPr>
          <a:xfrm>
            <a:off x="548640" y="3598266"/>
            <a:ext cx="11094415" cy="868477"/>
          </a:xfrm>
          <a:prstGeom prst="roundRect">
            <a:avLst>
              <a:gd name="adj" fmla="val 6317"/>
            </a:avLst>
          </a:prstGeom>
          <a:solidFill>
            <a:srgbClr val="F5F6F9"/>
          </a:solidFill>
          <a:ln/>
        </p:spPr>
      </p:sp>
      <p:sp>
        <p:nvSpPr>
          <p:cNvPr id="22" name="kw-hex"/>
          <p:cNvSpPr/>
          <p:nvPr/>
        </p:nvSpPr>
        <p:spPr>
          <a:xfrm>
            <a:off x="658368" y="3854333"/>
            <a:ext cx="411480" cy="356342"/>
          </a:xfrm>
          <a:prstGeom prst="hexagon">
            <a:avLst/>
          </a:prstGeom>
          <a:solidFill>
            <a:srgbClr val="2E4A8C"/>
          </a:solidFill>
          <a:ln/>
        </p:spPr>
      </p:sp>
      <p:sp>
        <p:nvSpPr>
          <p:cNvPr id="23" name="kw-cell"/>
          <p:cNvSpPr txBox="1"/>
          <p:nvPr/>
        </p:nvSpPr>
        <p:spPr>
          <a:xfrm>
            <a:off x="1143000" y="3598266"/>
            <a:ext cx="2331720" cy="868477"/>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perpendicular height</a:t>
            </a:r>
            <a:endParaRPr lang="en-US" sz="2000" dirty="0"/>
          </a:p>
        </p:txBody>
      </p:sp>
      <p:sp>
        <p:nvSpPr>
          <p:cNvPr id="24" name="kw-cell"/>
          <p:cNvSpPr txBox="1"/>
          <p:nvPr/>
        </p:nvSpPr>
        <p:spPr>
          <a:xfrm>
            <a:off x="3657600" y="3598266"/>
            <a:ext cx="3474720" cy="86847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height measured at a right angle to the base</a:t>
            </a:r>
            <a:endParaRPr lang="en-US" sz="1800" dirty="0"/>
          </a:p>
        </p:txBody>
      </p:sp>
      <p:sp>
        <p:nvSpPr>
          <p:cNvPr id="25" name="kw-cell"/>
          <p:cNvSpPr txBox="1"/>
          <p:nvPr/>
        </p:nvSpPr>
        <p:spPr>
          <a:xfrm>
            <a:off x="7315200" y="3598266"/>
            <a:ext cx="4236415" cy="86847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perpendicular height goes straight up from the base.</a:t>
            </a:r>
            <a:endParaRPr lang="en-US" sz="1800" dirty="0"/>
          </a:p>
        </p:txBody>
      </p:sp>
      <p:sp>
        <p:nvSpPr>
          <p:cNvPr id="26" name="kw-row"/>
          <p:cNvSpPr/>
          <p:nvPr/>
        </p:nvSpPr>
        <p:spPr>
          <a:xfrm>
            <a:off x="548640" y="4539894"/>
            <a:ext cx="11094415" cy="765861"/>
          </a:xfrm>
          <a:prstGeom prst="roundRect">
            <a:avLst>
              <a:gd name="adj" fmla="val 7164"/>
            </a:avLst>
          </a:prstGeom>
          <a:solidFill>
            <a:srgbClr val="F9F4EC"/>
          </a:solidFill>
          <a:ln/>
        </p:spPr>
      </p:sp>
      <p:sp>
        <p:nvSpPr>
          <p:cNvPr id="27" name="kw-hex"/>
          <p:cNvSpPr/>
          <p:nvPr/>
        </p:nvSpPr>
        <p:spPr>
          <a:xfrm>
            <a:off x="658368" y="4744654"/>
            <a:ext cx="411480" cy="356342"/>
          </a:xfrm>
          <a:prstGeom prst="hexagon">
            <a:avLst/>
          </a:prstGeom>
          <a:solidFill>
            <a:srgbClr val="B8862B"/>
          </a:solidFill>
          <a:ln/>
        </p:spPr>
      </p:sp>
      <p:sp>
        <p:nvSpPr>
          <p:cNvPr id="28" name="kw-cell"/>
          <p:cNvSpPr txBox="1"/>
          <p:nvPr/>
        </p:nvSpPr>
        <p:spPr>
          <a:xfrm>
            <a:off x="1143000" y="4539894"/>
            <a:ext cx="2331720" cy="76586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half</a:t>
            </a:r>
            <a:endParaRPr lang="en-US" sz="2000" dirty="0"/>
          </a:p>
        </p:txBody>
      </p:sp>
      <p:sp>
        <p:nvSpPr>
          <p:cNvPr id="29" name="kw-cell"/>
          <p:cNvSpPr txBox="1"/>
          <p:nvPr/>
        </p:nvSpPr>
        <p:spPr>
          <a:xfrm>
            <a:off x="3657600" y="4539894"/>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of two equal parts; to halve is to divide by 2</a:t>
            </a:r>
            <a:endParaRPr lang="en-US" sz="1800" dirty="0"/>
          </a:p>
        </p:txBody>
      </p:sp>
      <p:sp>
        <p:nvSpPr>
          <p:cNvPr id="30" name="kw-cell"/>
          <p:cNvSpPr txBox="1"/>
          <p:nvPr/>
        </p:nvSpPr>
        <p:spPr>
          <a:xfrm>
            <a:off x="7315200" y="4539894"/>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Half of 30 is 15.</a:t>
            </a:r>
            <a:endParaRPr lang="en-US" sz="1800" dirty="0"/>
          </a:p>
        </p:txBody>
      </p:sp>
      <p:sp>
        <p:nvSpPr>
          <p:cNvPr id="31" name="kw-row"/>
          <p:cNvSpPr/>
          <p:nvPr/>
        </p:nvSpPr>
        <p:spPr>
          <a:xfrm>
            <a:off x="548640" y="5378907"/>
            <a:ext cx="11094415" cy="765861"/>
          </a:xfrm>
          <a:prstGeom prst="roundRect">
            <a:avLst>
              <a:gd name="adj" fmla="val 7164"/>
            </a:avLst>
          </a:prstGeom>
          <a:solidFill>
            <a:srgbClr val="F5F6F9"/>
          </a:solidFill>
          <a:ln/>
        </p:spPr>
      </p:sp>
      <p:sp>
        <p:nvSpPr>
          <p:cNvPr id="32" name="kw-hex"/>
          <p:cNvSpPr/>
          <p:nvPr/>
        </p:nvSpPr>
        <p:spPr>
          <a:xfrm>
            <a:off x="658368" y="5583667"/>
            <a:ext cx="411480" cy="356342"/>
          </a:xfrm>
          <a:prstGeom prst="hexagon">
            <a:avLst/>
          </a:prstGeom>
          <a:solidFill>
            <a:srgbClr val="2E4A8C"/>
          </a:solidFill>
          <a:ln/>
        </p:spPr>
      </p:sp>
      <p:sp>
        <p:nvSpPr>
          <p:cNvPr id="33" name="kw-cell"/>
          <p:cNvSpPr txBox="1"/>
          <p:nvPr/>
        </p:nvSpPr>
        <p:spPr>
          <a:xfrm>
            <a:off x="1143000" y="5378907"/>
            <a:ext cx="2331720" cy="76586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diagonal</a:t>
            </a:r>
            <a:endParaRPr lang="en-US" sz="2000" dirty="0"/>
          </a:p>
        </p:txBody>
      </p:sp>
      <p:sp>
        <p:nvSpPr>
          <p:cNvPr id="34" name="kw-cell"/>
          <p:cNvSpPr txBox="1"/>
          <p:nvPr/>
        </p:nvSpPr>
        <p:spPr>
          <a:xfrm>
            <a:off x="3657600" y="5378907"/>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straight line from one corner of a shape to an opposite corner</a:t>
            </a:r>
            <a:endParaRPr lang="en-US" sz="1800" dirty="0"/>
          </a:p>
        </p:txBody>
      </p:sp>
      <p:sp>
        <p:nvSpPr>
          <p:cNvPr id="35" name="kw-cell"/>
          <p:cNvSpPr txBox="1"/>
          <p:nvPr/>
        </p:nvSpPr>
        <p:spPr>
          <a:xfrm>
            <a:off x="7315200" y="5378907"/>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Cut the rectangle along its diagonal.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triangle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is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half</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of a rectangle.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Draw a rectangle and cut it along a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diagonal</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You get two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triangles</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that are the same size.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So the area of a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triangle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is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half</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the area of the rectangle.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First multiply the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base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by the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perpendicular height</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Then divide by 2.</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perpendicular height</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is at a right angle to the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base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is not the slanted side.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triangle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with a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base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of 6 cm and a height of 4 cm has an area of 12 cm².</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We say the formula as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half</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of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base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times height.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Area is always measured in square units, like cm².</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Half a rectangle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Picture the rectangle round the triangle. The triangle is always half of it.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right-angled triangle has a base of 8 cm and a height of 5 cm. Work out its area.</a:t>
            </a:r>
            <a:endParaRPr lang="en-US" sz="1800" dirty="0"/>
          </a:p>
        </p:txBody>
      </p:sp>
      <p:sp>
        <p:nvSpPr>
          <p:cNvPr id="14" name="step-box"/>
          <p:cNvSpPr/>
          <p:nvPr/>
        </p:nvSpPr>
        <p:spPr>
          <a:xfrm>
            <a:off x="6126480" y="2888488"/>
            <a:ext cx="5379415" cy="794512"/>
          </a:xfrm>
          <a:prstGeom prst="roundRect">
            <a:avLst>
              <a:gd name="adj" fmla="val 11509"/>
            </a:avLst>
          </a:prstGeom>
          <a:solidFill>
            <a:srgbClr val="F0F2F7"/>
          </a:solidFill>
          <a:ln/>
        </p:spPr>
      </p:sp>
      <p:sp>
        <p:nvSpPr>
          <p:cNvPr id="15" name="step-hex"/>
          <p:cNvSpPr/>
          <p:nvPr/>
        </p:nvSpPr>
        <p:spPr>
          <a:xfrm>
            <a:off x="6217920" y="3103614"/>
            <a:ext cx="420624" cy="364260"/>
          </a:xfrm>
          <a:prstGeom prst="hexagon">
            <a:avLst/>
          </a:prstGeom>
          <a:solidFill>
            <a:srgbClr val="2E4A8C"/>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the area of the rectangle with the same base and height: 8 × 5 = 40.</a:t>
            </a:r>
            <a:endParaRPr lang="en-US" sz="1800" dirty="0"/>
          </a:p>
        </p:txBody>
      </p:sp>
      <p:sp>
        <p:nvSpPr>
          <p:cNvPr id="18" name="step-box"/>
          <p:cNvSpPr/>
          <p:nvPr/>
        </p:nvSpPr>
        <p:spPr>
          <a:xfrm>
            <a:off x="6126480" y="3774440"/>
            <a:ext cx="5379415" cy="566928"/>
          </a:xfrm>
          <a:prstGeom prst="roundRect">
            <a:avLst>
              <a:gd name="adj" fmla="val 16129"/>
            </a:avLst>
          </a:prstGeom>
          <a:solidFill>
            <a:srgbClr val="F0F2F7"/>
          </a:solidFill>
          <a:ln/>
        </p:spPr>
      </p:sp>
      <p:sp>
        <p:nvSpPr>
          <p:cNvPr id="19" name="step-hex"/>
          <p:cNvSpPr/>
          <p:nvPr/>
        </p:nvSpPr>
        <p:spPr>
          <a:xfrm>
            <a:off x="6217920" y="3875774"/>
            <a:ext cx="420624" cy="364260"/>
          </a:xfrm>
          <a:prstGeom prst="hexagon">
            <a:avLst/>
          </a:prstGeom>
          <a:solidFill>
            <a:srgbClr val="2E4A8C"/>
          </a:solidFill>
          <a:ln/>
        </p:spPr>
      </p:sp>
      <p:sp>
        <p:nvSpPr>
          <p:cNvPr id="20" name="step-hex-label"/>
          <p:cNvSpPr txBox="1"/>
          <p:nvPr/>
        </p:nvSpPr>
        <p:spPr>
          <a:xfrm>
            <a:off x="6217920" y="38757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triangle is half of it: 40 ÷ 2 = 20.</a:t>
            </a:r>
            <a:endParaRPr lang="en-US" sz="1800" dirty="0"/>
          </a:p>
        </p:txBody>
      </p:sp>
      <p:sp>
        <p:nvSpPr>
          <p:cNvPr id="22" name="step-box"/>
          <p:cNvSpPr/>
          <p:nvPr/>
        </p:nvSpPr>
        <p:spPr>
          <a:xfrm>
            <a:off x="6126480" y="4432808"/>
            <a:ext cx="5379415" cy="566928"/>
          </a:xfrm>
          <a:prstGeom prst="roundRect">
            <a:avLst>
              <a:gd name="adj" fmla="val 16129"/>
            </a:avLst>
          </a:prstGeom>
          <a:solidFill>
            <a:srgbClr val="F0F2F7"/>
          </a:solidFill>
          <a:ln/>
        </p:spPr>
      </p:sp>
      <p:sp>
        <p:nvSpPr>
          <p:cNvPr id="23" name="step-hex"/>
          <p:cNvSpPr/>
          <p:nvPr/>
        </p:nvSpPr>
        <p:spPr>
          <a:xfrm>
            <a:off x="6217920" y="4534142"/>
            <a:ext cx="420624" cy="364260"/>
          </a:xfrm>
          <a:prstGeom prst="hexagon">
            <a:avLst/>
          </a:prstGeom>
          <a:solidFill>
            <a:srgbClr val="2E4A8C"/>
          </a:solidFill>
          <a:ln/>
        </p:spPr>
      </p:sp>
      <p:sp>
        <p:nvSpPr>
          <p:cNvPr id="24" name="step-hex-label"/>
          <p:cNvSpPr txBox="1"/>
          <p:nvPr/>
        </p:nvSpPr>
        <p:spPr>
          <a:xfrm>
            <a:off x="6217920" y="45341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3280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area is 20 cm².</a:t>
            </a:r>
            <a:endParaRPr lang="en-US" sz="1800" dirty="0"/>
          </a:p>
        </p:txBody>
      </p:sp>
      <p:sp>
        <p:nvSpPr>
          <p:cNvPr id="26" name="worked-answer"/>
          <p:cNvSpPr/>
          <p:nvPr/>
        </p:nvSpPr>
        <p:spPr>
          <a:xfrm>
            <a:off x="6126480" y="5136896"/>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20 cm²</a:t>
            </a:r>
            <a:endParaRPr lang="en-US" sz="1800" dirty="0"/>
          </a:p>
        </p:txBody>
      </p:sp>
      <p:sp>
        <p:nvSpPr>
          <p:cNvPr id="27" name="bullet-card"/>
          <p:cNvSpPr/>
          <p:nvPr/>
        </p:nvSpPr>
        <p:spPr>
          <a:xfrm>
            <a:off x="548640" y="1389888"/>
            <a:ext cx="5074920" cy="773684"/>
          </a:xfrm>
          <a:prstGeom prst="roundRect">
            <a:avLst>
              <a:gd name="adj" fmla="val 9455"/>
            </a:avLst>
          </a:prstGeom>
          <a:solidFill>
            <a:srgbClr val="F5F6F9"/>
          </a:solidFill>
          <a:ln/>
        </p:spPr>
      </p:sp>
      <p:sp>
        <p:nvSpPr>
          <p:cNvPr id="28" name="bullet-hex"/>
          <p:cNvSpPr/>
          <p:nvPr/>
        </p:nvSpPr>
        <p:spPr>
          <a:xfrm>
            <a:off x="676656" y="1610437"/>
            <a:ext cx="384048" cy="332586"/>
          </a:xfrm>
          <a:prstGeom prst="hexagon">
            <a:avLst/>
          </a:prstGeom>
          <a:solidFill>
            <a:srgbClr val="2E4A8C"/>
          </a:solidFill>
          <a:ln/>
        </p:spPr>
      </p:sp>
      <p:sp>
        <p:nvSpPr>
          <p:cNvPr id="29" name="bullet"/>
          <p:cNvSpPr txBox="1"/>
          <p:nvPr/>
        </p:nvSpPr>
        <p:spPr>
          <a:xfrm>
            <a:off x="1143000" y="1389888"/>
            <a:ext cx="4389120" cy="7736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Draw a rectangle 8 cm long and 5 cm high.</a:t>
            </a:r>
            <a:endParaRPr lang="en-US" sz="1800" dirty="0"/>
          </a:p>
        </p:txBody>
      </p:sp>
      <p:sp>
        <p:nvSpPr>
          <p:cNvPr id="30" name="bullet-card"/>
          <p:cNvSpPr/>
          <p:nvPr/>
        </p:nvSpPr>
        <p:spPr>
          <a:xfrm>
            <a:off x="548640" y="2309876"/>
            <a:ext cx="5074920" cy="891540"/>
          </a:xfrm>
          <a:prstGeom prst="roundRect">
            <a:avLst>
              <a:gd name="adj" fmla="val 8205"/>
            </a:avLst>
          </a:prstGeom>
          <a:solidFill>
            <a:srgbClr val="F5F6F9"/>
          </a:solidFill>
          <a:ln/>
        </p:spPr>
      </p:sp>
      <p:sp>
        <p:nvSpPr>
          <p:cNvPr id="31" name="bullet-hex"/>
          <p:cNvSpPr/>
          <p:nvPr/>
        </p:nvSpPr>
        <p:spPr>
          <a:xfrm>
            <a:off x="676656" y="2589353"/>
            <a:ext cx="384048" cy="332586"/>
          </a:xfrm>
          <a:prstGeom prst="hexagon">
            <a:avLst/>
          </a:prstGeom>
          <a:solidFill>
            <a:srgbClr val="B8862B"/>
          </a:solidFill>
          <a:ln/>
        </p:spPr>
      </p:sp>
      <p:sp>
        <p:nvSpPr>
          <p:cNvPr id="32" name="bullet"/>
          <p:cNvSpPr txBox="1"/>
          <p:nvPr/>
        </p:nvSpPr>
        <p:spPr>
          <a:xfrm>
            <a:off x="1143000" y="2309876"/>
            <a:ext cx="4389120" cy="89154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Each triangle has the same base and height as the rectangle, but only half the space.</a:t>
            </a:r>
            <a:endParaRPr lang="en-US" sz="1800" dirty="0"/>
          </a:p>
        </p:txBody>
      </p:sp>
      <p:sp>
        <p:nvSpPr>
          <p:cNvPr id="33" name="bullet-card"/>
          <p:cNvSpPr/>
          <p:nvPr/>
        </p:nvSpPr>
        <p:spPr>
          <a:xfrm>
            <a:off x="548640" y="3347720"/>
            <a:ext cx="5074920" cy="1728216"/>
          </a:xfrm>
          <a:prstGeom prst="roundRect">
            <a:avLst>
              <a:gd name="adj" fmla="val 4233"/>
            </a:avLst>
          </a:prstGeom>
          <a:solidFill>
            <a:srgbClr val="F5F6F9"/>
          </a:solidFill>
          <a:ln/>
        </p:spPr>
      </p:sp>
      <p:sp>
        <p:nvSpPr>
          <p:cNvPr id="34" name="bullet-hex"/>
          <p:cNvSpPr/>
          <p:nvPr/>
        </p:nvSpPr>
        <p:spPr>
          <a:xfrm>
            <a:off x="676656" y="4045535"/>
            <a:ext cx="384048" cy="332586"/>
          </a:xfrm>
          <a:prstGeom prst="hexagon">
            <a:avLst/>
          </a:prstGeom>
          <a:solidFill>
            <a:srgbClr val="2E4A8C"/>
          </a:solidFill>
          <a:ln/>
        </p:spPr>
      </p:sp>
      <p:sp>
        <p:nvSpPr>
          <p:cNvPr id="35" name="bullet"/>
          <p:cNvSpPr txBox="1"/>
          <p:nvPr/>
        </p:nvSpPr>
        <p:spPr>
          <a:xfrm>
            <a:off x="1143000" y="3347720"/>
            <a:ext cx="4389120" cy="172821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This works for every triangle, not just right-angled ones. Any triangle can be fitted inside a rectangle with the same base and height, and it always takes up exactly half of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The formula and the right height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lengths, use two: the base and the height. Ignore the slant.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triangle has a base of 10 cm, a perpendicular height of 7 cm and slanted sides of 8 cm and 9 cm. Work out its area.</a:t>
            </a:r>
            <a:endParaRPr lang="en-US" sz="1800" dirty="0"/>
          </a:p>
        </p:txBody>
      </p:sp>
      <p:sp>
        <p:nvSpPr>
          <p:cNvPr id="14" name="step-box"/>
          <p:cNvSpPr/>
          <p:nvPr/>
        </p:nvSpPr>
        <p:spPr>
          <a:xfrm>
            <a:off x="6126480" y="3167380"/>
            <a:ext cx="5379415" cy="794512"/>
          </a:xfrm>
          <a:prstGeom prst="roundRect">
            <a:avLst>
              <a:gd name="adj" fmla="val 11509"/>
            </a:avLst>
          </a:prstGeom>
          <a:solidFill>
            <a:srgbClr val="F0F2F7"/>
          </a:solidFill>
          <a:ln/>
        </p:spPr>
      </p:sp>
      <p:sp>
        <p:nvSpPr>
          <p:cNvPr id="15" name="step-hex"/>
          <p:cNvSpPr/>
          <p:nvPr/>
        </p:nvSpPr>
        <p:spPr>
          <a:xfrm>
            <a:off x="6217920" y="3382506"/>
            <a:ext cx="420624" cy="364260"/>
          </a:xfrm>
          <a:prstGeom prst="hexagon">
            <a:avLst/>
          </a:prstGeom>
          <a:solidFill>
            <a:srgbClr val="2E4A8C"/>
          </a:solidFill>
          <a:ln/>
        </p:spPr>
      </p:sp>
      <p:sp>
        <p:nvSpPr>
          <p:cNvPr id="16" name="step-hex-label"/>
          <p:cNvSpPr txBox="1"/>
          <p:nvPr/>
        </p:nvSpPr>
        <p:spPr>
          <a:xfrm>
            <a:off x="6217920" y="338250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Pick out the base, 10 cm, and the perpendicular height, 7 cm.</a:t>
            </a:r>
            <a:endParaRPr lang="en-US" sz="1800" dirty="0"/>
          </a:p>
        </p:txBody>
      </p:sp>
      <p:sp>
        <p:nvSpPr>
          <p:cNvPr id="18" name="step-box"/>
          <p:cNvSpPr/>
          <p:nvPr/>
        </p:nvSpPr>
        <p:spPr>
          <a:xfrm>
            <a:off x="6126480" y="4053332"/>
            <a:ext cx="5379415" cy="566928"/>
          </a:xfrm>
          <a:prstGeom prst="roundRect">
            <a:avLst>
              <a:gd name="adj" fmla="val 16129"/>
            </a:avLst>
          </a:prstGeom>
          <a:solidFill>
            <a:srgbClr val="F0F2F7"/>
          </a:solidFill>
          <a:ln/>
        </p:spPr>
      </p:sp>
      <p:sp>
        <p:nvSpPr>
          <p:cNvPr id="19" name="step-hex"/>
          <p:cNvSpPr/>
          <p:nvPr/>
        </p:nvSpPr>
        <p:spPr>
          <a:xfrm>
            <a:off x="6217920" y="4154666"/>
            <a:ext cx="420624" cy="364260"/>
          </a:xfrm>
          <a:prstGeom prst="hexagon">
            <a:avLst/>
          </a:prstGeom>
          <a:solidFill>
            <a:srgbClr val="2E4A8C"/>
          </a:solidFill>
          <a:ln/>
        </p:spPr>
      </p:sp>
      <p:sp>
        <p:nvSpPr>
          <p:cNvPr id="20" name="step-hex-label"/>
          <p:cNvSpPr txBox="1"/>
          <p:nvPr/>
        </p:nvSpPr>
        <p:spPr>
          <a:xfrm>
            <a:off x="6217920" y="4154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053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Multiply: 10 × 7 = 70.</a:t>
            </a:r>
            <a:endParaRPr lang="en-US" sz="1800" dirty="0"/>
          </a:p>
        </p:txBody>
      </p:sp>
      <p:sp>
        <p:nvSpPr>
          <p:cNvPr id="22" name="step-box"/>
          <p:cNvSpPr/>
          <p:nvPr/>
        </p:nvSpPr>
        <p:spPr>
          <a:xfrm>
            <a:off x="6126480" y="4711700"/>
            <a:ext cx="5379415" cy="566928"/>
          </a:xfrm>
          <a:prstGeom prst="roundRect">
            <a:avLst>
              <a:gd name="adj" fmla="val 16129"/>
            </a:avLst>
          </a:prstGeom>
          <a:solidFill>
            <a:srgbClr val="F0F2F7"/>
          </a:solidFill>
          <a:ln/>
        </p:spPr>
      </p:sp>
      <p:sp>
        <p:nvSpPr>
          <p:cNvPr id="23" name="step-hex"/>
          <p:cNvSpPr/>
          <p:nvPr/>
        </p:nvSpPr>
        <p:spPr>
          <a:xfrm>
            <a:off x="6217920" y="4813034"/>
            <a:ext cx="420624" cy="364260"/>
          </a:xfrm>
          <a:prstGeom prst="hexagon">
            <a:avLst/>
          </a:prstGeom>
          <a:solidFill>
            <a:srgbClr val="2E4A8C"/>
          </a:solidFill>
          <a:ln/>
        </p:spPr>
      </p:sp>
      <p:sp>
        <p:nvSpPr>
          <p:cNvPr id="24" name="step-hex-label"/>
          <p:cNvSpPr txBox="1"/>
          <p:nvPr/>
        </p:nvSpPr>
        <p:spPr>
          <a:xfrm>
            <a:off x="6217920" y="48130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7117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Halve: 70 ÷ 2 = 35. The area is 35 cm².</a:t>
            </a:r>
            <a:endParaRPr lang="en-US" sz="1800" dirty="0"/>
          </a:p>
        </p:txBody>
      </p:sp>
      <p:sp>
        <p:nvSpPr>
          <p:cNvPr id="26" name="worked-answer"/>
          <p:cNvSpPr/>
          <p:nvPr/>
        </p:nvSpPr>
        <p:spPr>
          <a:xfrm>
            <a:off x="6126480" y="541578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35 cm²</a:t>
            </a:r>
            <a:endParaRPr lang="en-US" sz="1800" dirty="0"/>
          </a:p>
        </p:txBody>
      </p:sp>
      <p:sp>
        <p:nvSpPr>
          <p:cNvPr id="27" name="bullet-card"/>
          <p:cNvSpPr/>
          <p:nvPr/>
        </p:nvSpPr>
        <p:spPr>
          <a:xfrm>
            <a:off x="548640" y="1389888"/>
            <a:ext cx="5074920" cy="821267"/>
          </a:xfrm>
          <a:prstGeom prst="roundRect">
            <a:avLst>
              <a:gd name="adj" fmla="val 8907"/>
            </a:avLst>
          </a:prstGeom>
          <a:solidFill>
            <a:srgbClr val="F5F6F9"/>
          </a:solidFill>
          <a:ln/>
        </p:spPr>
      </p:sp>
      <p:sp>
        <p:nvSpPr>
          <p:cNvPr id="28" name="bullet-hex"/>
          <p:cNvSpPr/>
          <p:nvPr/>
        </p:nvSpPr>
        <p:spPr>
          <a:xfrm>
            <a:off x="676656" y="1634229"/>
            <a:ext cx="384048" cy="332586"/>
          </a:xfrm>
          <a:prstGeom prst="hexagon">
            <a:avLst/>
          </a:prstGeom>
          <a:solidFill>
            <a:srgbClr val="2E4A8C"/>
          </a:solidFill>
          <a:ln/>
        </p:spPr>
      </p:sp>
      <p:sp>
        <p:nvSpPr>
          <p:cNvPr id="29" name="bullet"/>
          <p:cNvSpPr txBox="1"/>
          <p:nvPr/>
        </p:nvSpPr>
        <p:spPr>
          <a:xfrm>
            <a:off x="1143000" y="1389888"/>
            <a:ext cx="4389120"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Area of a triangle = base × perpendicular height ÷ 2.</a:t>
            </a:r>
            <a:endParaRPr lang="en-US" sz="2000" dirty="0"/>
          </a:p>
        </p:txBody>
      </p:sp>
      <p:sp>
        <p:nvSpPr>
          <p:cNvPr id="30" name="bullet-card"/>
          <p:cNvSpPr/>
          <p:nvPr/>
        </p:nvSpPr>
        <p:spPr>
          <a:xfrm>
            <a:off x="548640" y="2357459"/>
            <a:ext cx="5074920" cy="821267"/>
          </a:xfrm>
          <a:prstGeom prst="roundRect">
            <a:avLst>
              <a:gd name="adj" fmla="val 8907"/>
            </a:avLst>
          </a:prstGeom>
          <a:solidFill>
            <a:srgbClr val="F5F6F9"/>
          </a:solidFill>
          <a:ln/>
        </p:spPr>
      </p:sp>
      <p:sp>
        <p:nvSpPr>
          <p:cNvPr id="31" name="bullet-hex"/>
          <p:cNvSpPr/>
          <p:nvPr/>
        </p:nvSpPr>
        <p:spPr>
          <a:xfrm>
            <a:off x="676656" y="2601799"/>
            <a:ext cx="384048" cy="332586"/>
          </a:xfrm>
          <a:prstGeom prst="hexagon">
            <a:avLst/>
          </a:prstGeom>
          <a:solidFill>
            <a:srgbClr val="B8862B"/>
          </a:solidFill>
          <a:ln/>
        </p:spPr>
      </p:sp>
      <p:sp>
        <p:nvSpPr>
          <p:cNvPr id="32" name="bullet"/>
          <p:cNvSpPr txBox="1"/>
          <p:nvPr/>
        </p:nvSpPr>
        <p:spPr>
          <a:xfrm>
            <a:off x="1143000" y="2357459"/>
            <a:ext cx="4389120"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Triangles often have three lengths labelled, but you only use two.</a:t>
            </a:r>
            <a:endParaRPr lang="en-US" sz="2000" dirty="0"/>
          </a:p>
        </p:txBody>
      </p:sp>
      <p:sp>
        <p:nvSpPr>
          <p:cNvPr id="33" name="bullet-card"/>
          <p:cNvSpPr/>
          <p:nvPr/>
        </p:nvSpPr>
        <p:spPr>
          <a:xfrm>
            <a:off x="548640" y="3325029"/>
            <a:ext cx="5074920" cy="1750907"/>
          </a:xfrm>
          <a:prstGeom prst="roundRect">
            <a:avLst>
              <a:gd name="adj" fmla="val 4178"/>
            </a:avLst>
          </a:prstGeom>
          <a:solidFill>
            <a:srgbClr val="F5F6F9"/>
          </a:solidFill>
          <a:ln/>
        </p:spPr>
      </p:sp>
      <p:sp>
        <p:nvSpPr>
          <p:cNvPr id="34" name="bullet-hex"/>
          <p:cNvSpPr/>
          <p:nvPr/>
        </p:nvSpPr>
        <p:spPr>
          <a:xfrm>
            <a:off x="676656" y="4034190"/>
            <a:ext cx="384048" cy="332586"/>
          </a:xfrm>
          <a:prstGeom prst="hexagon">
            <a:avLst/>
          </a:prstGeom>
          <a:solidFill>
            <a:srgbClr val="2E4A8C"/>
          </a:solidFill>
          <a:ln/>
        </p:spPr>
      </p:sp>
      <p:sp>
        <p:nvSpPr>
          <p:cNvPr id="35" name="bullet"/>
          <p:cNvSpPr txBox="1"/>
          <p:nvPr/>
        </p:nvSpPr>
        <p:spPr>
          <a:xfrm>
            <a:off x="1143000" y="3325029"/>
            <a:ext cx="4389120" cy="175090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slanted sides are never the height. If a triangle has a base of 10 cm, a perpendicular height of 7 cm and slanted sides of 8 cm and 9 cm, the area is 10 × 7 ÷ 2 = 35 cm².</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When the answer is a decimal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one of the numbers is even, halve that one first to avoid decimals in the middle.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triangle has a base of 9 m and a perpendicular height of 5 m. Work out its area.</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Multiply: 9 × 5 = 45.</a:t>
            </a:r>
            <a:endParaRPr lang="en-US" sz="1800" dirty="0"/>
          </a:p>
        </p:txBody>
      </p:sp>
      <p:sp>
        <p:nvSpPr>
          <p:cNvPr id="18" name="step-box"/>
          <p:cNvSpPr/>
          <p:nvPr/>
        </p:nvSpPr>
        <p:spPr>
          <a:xfrm>
            <a:off x="6126480" y="3546856"/>
            <a:ext cx="5379415" cy="566928"/>
          </a:xfrm>
          <a:prstGeom prst="roundRect">
            <a:avLst>
              <a:gd name="adj" fmla="val 16129"/>
            </a:avLst>
          </a:prstGeom>
          <a:solidFill>
            <a:srgbClr val="F0F2F7"/>
          </a:solidFill>
          <a:ln/>
        </p:spPr>
      </p:sp>
      <p:sp>
        <p:nvSpPr>
          <p:cNvPr id="19" name="step-hex"/>
          <p:cNvSpPr/>
          <p:nvPr/>
        </p:nvSpPr>
        <p:spPr>
          <a:xfrm>
            <a:off x="6217920" y="3648190"/>
            <a:ext cx="420624" cy="364260"/>
          </a:xfrm>
          <a:prstGeom prst="hexagon">
            <a:avLst/>
          </a:prstGeom>
          <a:solidFill>
            <a:srgbClr val="2E4A8C"/>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Halve: 45 ÷ 2 = 22.5.</a:t>
            </a:r>
            <a:endParaRPr lang="en-US" sz="1800" dirty="0"/>
          </a:p>
        </p:txBody>
      </p:sp>
      <p:sp>
        <p:nvSpPr>
          <p:cNvPr id="22" name="step-box"/>
          <p:cNvSpPr/>
          <p:nvPr/>
        </p:nvSpPr>
        <p:spPr>
          <a:xfrm>
            <a:off x="6126480" y="4205224"/>
            <a:ext cx="5379415" cy="566928"/>
          </a:xfrm>
          <a:prstGeom prst="roundRect">
            <a:avLst>
              <a:gd name="adj" fmla="val 16129"/>
            </a:avLst>
          </a:prstGeom>
          <a:solidFill>
            <a:srgbClr val="F0F2F7"/>
          </a:solidFill>
          <a:ln/>
        </p:spPr>
      </p:sp>
      <p:sp>
        <p:nvSpPr>
          <p:cNvPr id="23" name="step-hex"/>
          <p:cNvSpPr/>
          <p:nvPr/>
        </p:nvSpPr>
        <p:spPr>
          <a:xfrm>
            <a:off x="6217920" y="4306558"/>
            <a:ext cx="420624" cy="364260"/>
          </a:xfrm>
          <a:prstGeom prst="hexagon">
            <a:avLst/>
          </a:prstGeom>
          <a:solidFill>
            <a:srgbClr val="2E4A8C"/>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area is 22.5 m².</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22.5 m²</a:t>
            </a:r>
            <a:endParaRPr lang="en-US" sz="1800" dirty="0"/>
          </a:p>
        </p:txBody>
      </p:sp>
      <p:sp>
        <p:nvSpPr>
          <p:cNvPr id="27" name="bullet-card"/>
          <p:cNvSpPr/>
          <p:nvPr/>
        </p:nvSpPr>
        <p:spPr>
          <a:xfrm>
            <a:off x="548640" y="1389888"/>
            <a:ext cx="5074920" cy="810937"/>
          </a:xfrm>
          <a:prstGeom prst="roundRect">
            <a:avLst>
              <a:gd name="adj" fmla="val 9021"/>
            </a:avLst>
          </a:prstGeom>
          <a:solidFill>
            <a:srgbClr val="F5F6F9"/>
          </a:solidFill>
          <a:ln/>
        </p:spPr>
      </p:sp>
      <p:sp>
        <p:nvSpPr>
          <p:cNvPr id="28" name="bullet-hex"/>
          <p:cNvSpPr/>
          <p:nvPr/>
        </p:nvSpPr>
        <p:spPr>
          <a:xfrm>
            <a:off x="676656" y="1629064"/>
            <a:ext cx="384048" cy="332586"/>
          </a:xfrm>
          <a:prstGeom prst="hexagon">
            <a:avLst/>
          </a:prstGeom>
          <a:solidFill>
            <a:srgbClr val="2E4A8C"/>
          </a:solidFill>
          <a:ln/>
        </p:spPr>
      </p:sp>
      <p:sp>
        <p:nvSpPr>
          <p:cNvPr id="29" name="bullet"/>
          <p:cNvSpPr txBox="1"/>
          <p:nvPr/>
        </p:nvSpPr>
        <p:spPr>
          <a:xfrm>
            <a:off x="1143000" y="1389888"/>
            <a:ext cx="4389120" cy="8109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Sometimes base × height is an odd number, so halving gives a decimal.</a:t>
            </a:r>
            <a:endParaRPr lang="en-US" sz="2200" dirty="0"/>
          </a:p>
        </p:txBody>
      </p:sp>
      <p:sp>
        <p:nvSpPr>
          <p:cNvPr id="30" name="bullet-card"/>
          <p:cNvSpPr/>
          <p:nvPr/>
        </p:nvSpPr>
        <p:spPr>
          <a:xfrm>
            <a:off x="548640" y="2347129"/>
            <a:ext cx="5074920" cy="1151805"/>
          </a:xfrm>
          <a:prstGeom prst="roundRect">
            <a:avLst>
              <a:gd name="adj" fmla="val 6351"/>
            </a:avLst>
          </a:prstGeom>
          <a:solidFill>
            <a:srgbClr val="F5F6F9"/>
          </a:solidFill>
          <a:ln/>
        </p:spPr>
      </p:sp>
      <p:sp>
        <p:nvSpPr>
          <p:cNvPr id="31" name="bullet-hex"/>
          <p:cNvSpPr/>
          <p:nvPr/>
        </p:nvSpPr>
        <p:spPr>
          <a:xfrm>
            <a:off x="676656" y="2756739"/>
            <a:ext cx="384048" cy="332586"/>
          </a:xfrm>
          <a:prstGeom prst="hexagon">
            <a:avLst/>
          </a:prstGeom>
          <a:solidFill>
            <a:srgbClr val="B8862B"/>
          </a:solidFill>
          <a:ln/>
        </p:spPr>
      </p:sp>
      <p:sp>
        <p:nvSpPr>
          <p:cNvPr id="32" name="bullet"/>
          <p:cNvSpPr txBox="1"/>
          <p:nvPr/>
        </p:nvSpPr>
        <p:spPr>
          <a:xfrm>
            <a:off x="1143000" y="2347129"/>
            <a:ext cx="4389120" cy="115180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 can halve first if that is easier. For a base of 10 cm and a height of 7 cm, half of 10 is 5, and 5 × 7 = 35.</a:t>
            </a:r>
            <a:endParaRPr lang="en-US" sz="2200" dirty="0"/>
          </a:p>
        </p:txBody>
      </p:sp>
      <p:sp>
        <p:nvSpPr>
          <p:cNvPr id="33" name="bullet-card"/>
          <p:cNvSpPr/>
          <p:nvPr/>
        </p:nvSpPr>
        <p:spPr>
          <a:xfrm>
            <a:off x="548640" y="3645239"/>
            <a:ext cx="5074920" cy="1151805"/>
          </a:xfrm>
          <a:prstGeom prst="roundRect">
            <a:avLst>
              <a:gd name="adj" fmla="val 6351"/>
            </a:avLst>
          </a:prstGeom>
          <a:solidFill>
            <a:srgbClr val="F5F6F9"/>
          </a:solidFill>
          <a:ln/>
        </p:spPr>
      </p:sp>
      <p:sp>
        <p:nvSpPr>
          <p:cNvPr id="34" name="bullet-hex"/>
          <p:cNvSpPr/>
          <p:nvPr/>
        </p:nvSpPr>
        <p:spPr>
          <a:xfrm>
            <a:off x="676656" y="4054849"/>
            <a:ext cx="384048" cy="332586"/>
          </a:xfrm>
          <a:prstGeom prst="hexagon">
            <a:avLst/>
          </a:prstGeom>
          <a:solidFill>
            <a:srgbClr val="2E4A8C"/>
          </a:solidFill>
          <a:ln/>
        </p:spPr>
      </p:sp>
      <p:sp>
        <p:nvSpPr>
          <p:cNvPr id="35" name="bullet"/>
          <p:cNvSpPr txBox="1"/>
          <p:nvPr/>
        </p:nvSpPr>
        <p:spPr>
          <a:xfrm>
            <a:off x="1143000" y="3645239"/>
            <a:ext cx="4389120" cy="115180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Whatever order you use, the unit is still a square unit, such as cm² or m².</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Working backwards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Undo the formula in reverse: double first, then divide.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triangle has an area of 24 cm² and a perpendicular height of 6 cm. Work out its base.</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Double the area: 24 × 2 = 48.</a:t>
            </a:r>
            <a:endParaRPr lang="en-US" sz="1800" dirty="0"/>
          </a:p>
        </p:txBody>
      </p:sp>
      <p:sp>
        <p:nvSpPr>
          <p:cNvPr id="18" name="step-box"/>
          <p:cNvSpPr/>
          <p:nvPr/>
        </p:nvSpPr>
        <p:spPr>
          <a:xfrm>
            <a:off x="6126480" y="3546856"/>
            <a:ext cx="5379415" cy="566928"/>
          </a:xfrm>
          <a:prstGeom prst="roundRect">
            <a:avLst>
              <a:gd name="adj" fmla="val 16129"/>
            </a:avLst>
          </a:prstGeom>
          <a:solidFill>
            <a:srgbClr val="F0F2F7"/>
          </a:solidFill>
          <a:ln/>
        </p:spPr>
      </p:sp>
      <p:sp>
        <p:nvSpPr>
          <p:cNvPr id="19" name="step-hex"/>
          <p:cNvSpPr/>
          <p:nvPr/>
        </p:nvSpPr>
        <p:spPr>
          <a:xfrm>
            <a:off x="6217920" y="3648190"/>
            <a:ext cx="420624" cy="364260"/>
          </a:xfrm>
          <a:prstGeom prst="hexagon">
            <a:avLst/>
          </a:prstGeom>
          <a:solidFill>
            <a:srgbClr val="2E4A8C"/>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Divide by the height: 48 ÷ 6 = 8.</a:t>
            </a:r>
            <a:endParaRPr lang="en-US" sz="1800" dirty="0"/>
          </a:p>
        </p:txBody>
      </p:sp>
      <p:sp>
        <p:nvSpPr>
          <p:cNvPr id="22" name="step-box"/>
          <p:cNvSpPr/>
          <p:nvPr/>
        </p:nvSpPr>
        <p:spPr>
          <a:xfrm>
            <a:off x="6126480" y="4205224"/>
            <a:ext cx="5379415" cy="566928"/>
          </a:xfrm>
          <a:prstGeom prst="roundRect">
            <a:avLst>
              <a:gd name="adj" fmla="val 16129"/>
            </a:avLst>
          </a:prstGeom>
          <a:solidFill>
            <a:srgbClr val="F0F2F7"/>
          </a:solidFill>
          <a:ln/>
        </p:spPr>
      </p:sp>
      <p:sp>
        <p:nvSpPr>
          <p:cNvPr id="23" name="step-hex"/>
          <p:cNvSpPr/>
          <p:nvPr/>
        </p:nvSpPr>
        <p:spPr>
          <a:xfrm>
            <a:off x="6217920" y="4306558"/>
            <a:ext cx="420624" cy="364260"/>
          </a:xfrm>
          <a:prstGeom prst="hexagon">
            <a:avLst/>
          </a:prstGeom>
          <a:solidFill>
            <a:srgbClr val="2E4A8C"/>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base is 8 cm. Check: 8 × 6 ÷ 2 = 24.</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8 cm</a:t>
            </a:r>
            <a:endParaRPr lang="en-US" sz="1800" dirty="0"/>
          </a:p>
        </p:txBody>
      </p:sp>
      <p:sp>
        <p:nvSpPr>
          <p:cNvPr id="27" name="bullet-card"/>
          <p:cNvSpPr/>
          <p:nvPr/>
        </p:nvSpPr>
        <p:spPr>
          <a:xfrm>
            <a:off x="548640" y="1389888"/>
            <a:ext cx="5074920" cy="1017524"/>
          </a:xfrm>
          <a:prstGeom prst="roundRect">
            <a:avLst>
              <a:gd name="adj" fmla="val 7189"/>
            </a:avLst>
          </a:prstGeom>
          <a:solidFill>
            <a:srgbClr val="F5F6F9"/>
          </a:solidFill>
          <a:ln/>
        </p:spPr>
      </p:sp>
      <p:sp>
        <p:nvSpPr>
          <p:cNvPr id="28" name="bullet-hex"/>
          <p:cNvSpPr/>
          <p:nvPr/>
        </p:nvSpPr>
        <p:spPr>
          <a:xfrm>
            <a:off x="676656" y="1732357"/>
            <a:ext cx="384048" cy="332586"/>
          </a:xfrm>
          <a:prstGeom prst="hexagon">
            <a:avLst/>
          </a:prstGeom>
          <a:solidFill>
            <a:srgbClr val="2E4A8C"/>
          </a:solidFill>
          <a:ln/>
        </p:spPr>
      </p:sp>
      <p:sp>
        <p:nvSpPr>
          <p:cNvPr id="29" name="bullet"/>
          <p:cNvSpPr txBox="1"/>
          <p:nvPr/>
        </p:nvSpPr>
        <p:spPr>
          <a:xfrm>
            <a:off x="1143000" y="1389888"/>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If you know a triangle's area and its height, you can find its base.</a:t>
            </a:r>
            <a:endParaRPr lang="en-US" sz="2200" dirty="0"/>
          </a:p>
        </p:txBody>
      </p:sp>
      <p:sp>
        <p:nvSpPr>
          <p:cNvPr id="30" name="bullet-card"/>
          <p:cNvSpPr/>
          <p:nvPr/>
        </p:nvSpPr>
        <p:spPr>
          <a:xfrm>
            <a:off x="548640" y="2553716"/>
            <a:ext cx="5074920" cy="1017524"/>
          </a:xfrm>
          <a:prstGeom prst="roundRect">
            <a:avLst>
              <a:gd name="adj" fmla="val 7189"/>
            </a:avLst>
          </a:prstGeom>
          <a:solidFill>
            <a:srgbClr val="F5F6F9"/>
          </a:solidFill>
          <a:ln/>
        </p:spPr>
      </p:sp>
      <p:sp>
        <p:nvSpPr>
          <p:cNvPr id="31" name="bullet-hex"/>
          <p:cNvSpPr/>
          <p:nvPr/>
        </p:nvSpPr>
        <p:spPr>
          <a:xfrm>
            <a:off x="676656" y="2896185"/>
            <a:ext cx="384048" cy="332586"/>
          </a:xfrm>
          <a:prstGeom prst="hexagon">
            <a:avLst/>
          </a:prstGeom>
          <a:solidFill>
            <a:srgbClr val="B8862B"/>
          </a:solidFill>
          <a:ln/>
        </p:spPr>
      </p:sp>
      <p:sp>
        <p:nvSpPr>
          <p:cNvPr id="32" name="bullet"/>
          <p:cNvSpPr txBox="1"/>
          <p:nvPr/>
        </p:nvSpPr>
        <p:spPr>
          <a:xfrm>
            <a:off x="1143000" y="2553716"/>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triangle has an area of 24 cm² and a perpendicular height of 6 cm.</a:t>
            </a:r>
            <a:endParaRPr lang="en-US" sz="2200" dirty="0"/>
          </a:p>
        </p:txBody>
      </p:sp>
      <p:sp>
        <p:nvSpPr>
          <p:cNvPr id="33" name="bullet-card"/>
          <p:cNvSpPr/>
          <p:nvPr/>
        </p:nvSpPr>
        <p:spPr>
          <a:xfrm>
            <a:off x="548640" y="3717544"/>
            <a:ext cx="5074920" cy="1358392"/>
          </a:xfrm>
          <a:prstGeom prst="roundRect">
            <a:avLst>
              <a:gd name="adj" fmla="val 5385"/>
            </a:avLst>
          </a:prstGeom>
          <a:solidFill>
            <a:srgbClr val="F5F6F9"/>
          </a:solidFill>
          <a:ln/>
        </p:spPr>
      </p:sp>
      <p:sp>
        <p:nvSpPr>
          <p:cNvPr id="34" name="bullet-hex"/>
          <p:cNvSpPr/>
          <p:nvPr/>
        </p:nvSpPr>
        <p:spPr>
          <a:xfrm>
            <a:off x="676656" y="4230447"/>
            <a:ext cx="384048" cy="332586"/>
          </a:xfrm>
          <a:prstGeom prst="hexagon">
            <a:avLst/>
          </a:prstGeom>
          <a:solidFill>
            <a:srgbClr val="2E4A8C"/>
          </a:solidFill>
          <a:ln/>
        </p:spPr>
      </p:sp>
      <p:sp>
        <p:nvSpPr>
          <p:cNvPr id="35" name="bullet"/>
          <p:cNvSpPr txBox="1"/>
          <p:nvPr/>
        </p:nvSpPr>
        <p:spPr>
          <a:xfrm>
            <a:off x="1143000" y="3717544"/>
            <a:ext cx="4389120"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Check your answer by putting it back into the formula: 8 × 6 ÷ 2 = 24.</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Area of a triangle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triangle has a base of 14 cm and a perpendicular height of 5 cm. Work out its area.</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cm²</a:t>
            </a:r>
            <a:endParaRPr lang="en-US" sz="2000" dirty="0"/>
          </a:p>
        </p:txBody>
      </p:sp>
      <p:sp>
        <p:nvSpPr>
          <p:cNvPr id="12" name="col-Support"/>
          <p:cNvSpPr/>
          <p:nvPr/>
        </p:nvSpPr>
        <p:spPr>
          <a:xfrm>
            <a:off x="548640" y="2948940"/>
            <a:ext cx="3515258"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Multiply the base by the perpendicular height.</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Halve the answer, because a triangle is half a rectangle.</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Write the unit as cm².</a:t>
            </a:r>
            <a:endParaRPr lang="en-US" sz="2200" dirty="0"/>
          </a:p>
        </p:txBody>
      </p:sp>
      <p:sp>
        <p:nvSpPr>
          <p:cNvPr id="17" name="col-Core"/>
          <p:cNvSpPr/>
          <p:nvPr/>
        </p:nvSpPr>
        <p:spPr>
          <a:xfrm>
            <a:off x="4338218" y="2948940"/>
            <a:ext cx="3515258" cy="3195828"/>
          </a:xfrm>
          <a:prstGeom prst="roundRect">
            <a:avLst>
              <a:gd name="adj" fmla="val 1717"/>
            </a:avLst>
          </a:prstGeom>
          <a:solidFill>
            <a:srgbClr val="D7DDE9"/>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253B70"/>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Base × height, then halve.</a:t>
            </a:r>
            <a:endParaRPr lang="en-US" sz="2200" dirty="0"/>
          </a:p>
        </p:txBody>
      </p:sp>
      <p:sp>
        <p:nvSpPr>
          <p:cNvPr id="22" name="col-Stretch"/>
          <p:cNvSpPr/>
          <p:nvPr/>
        </p:nvSpPr>
        <p:spPr>
          <a:xfrm>
            <a:off x="8127797" y="2948940"/>
            <a:ext cx="3515258" cy="3195828"/>
          </a:xfrm>
          <a:prstGeom prst="roundRect">
            <a:avLst>
              <a:gd name="adj" fmla="val 1717"/>
            </a:avLst>
          </a:prstGeom>
          <a:solidFill>
            <a:srgbClr val="2E4A8C"/>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Draw, in words, two different triangles that both have an area of 35 cm². Explain how you chose the base and height for each.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E4A8C"/>
                </a:solidFill>
                <a:latin typeface="Cambria" pitchFamily="34" charset="0"/>
                <a:ea typeface="Cambria" pitchFamily="34" charset="-122"/>
                <a:cs typeface="Cambria" pitchFamily="34" charset="-120"/>
              </a:rPr>
              <a:t>Same task, three ways in: Choose the right height</a:t>
            </a:r>
            <a:endParaRPr lang="en-US" sz="30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triangle has a base of 12 cm, a perpendicular height of 5 cm and slanted sides of 7 cm and 9 cm. What is its area?</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30 cm²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42 cm²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54 cm²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60 cm²</a:t>
            </a:r>
            <a:endParaRPr lang="en-US" sz="2000" dirty="0"/>
          </a:p>
        </p:txBody>
      </p:sp>
      <p:sp>
        <p:nvSpPr>
          <p:cNvPr id="12" name="col-Support"/>
          <p:cNvSpPr/>
          <p:nvPr/>
        </p:nvSpPr>
        <p:spPr>
          <a:xfrm>
            <a:off x="548640" y="2948940"/>
            <a:ext cx="3515258"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base and the perpendicular height. The height is the one at a right angle to the base.</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out both slanted sides.</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base × height, then halve.</a:t>
            </a:r>
            <a:endParaRPr lang="en-US" sz="1800" dirty="0"/>
          </a:p>
        </p:txBody>
      </p:sp>
      <p:sp>
        <p:nvSpPr>
          <p:cNvPr id="17" name="col-Core"/>
          <p:cNvSpPr/>
          <p:nvPr/>
        </p:nvSpPr>
        <p:spPr>
          <a:xfrm>
            <a:off x="4338218" y="2948940"/>
            <a:ext cx="3515258" cy="3195828"/>
          </a:xfrm>
          <a:prstGeom prst="roundRect">
            <a:avLst>
              <a:gd name="adj" fmla="val 1717"/>
            </a:avLst>
          </a:prstGeom>
          <a:solidFill>
            <a:srgbClr val="D7DDE9"/>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Only the base and the perpendicular height are used. Two of the four lengths are distractions.</a:t>
            </a:r>
            <a:endParaRPr lang="en-US" sz="1800" dirty="0"/>
          </a:p>
        </p:txBody>
      </p:sp>
      <p:sp>
        <p:nvSpPr>
          <p:cNvPr id="22" name="col-Stretch"/>
          <p:cNvSpPr/>
          <p:nvPr/>
        </p:nvSpPr>
        <p:spPr>
          <a:xfrm>
            <a:off x="8127797" y="2948940"/>
            <a:ext cx="3515258" cy="3195828"/>
          </a:xfrm>
          <a:prstGeom prst="roundRect">
            <a:avLst>
              <a:gd name="adj" fmla="val 1717"/>
            </a:avLst>
          </a:prstGeom>
          <a:solidFill>
            <a:srgbClr val="2E4A8C"/>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Priya says the area must be bigger because the triangle has long slanted sides. Explain why the slanted sides do not change the area if the base and height stay the same.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triangle has an area of 36 cm² and a base of 9 cm. What is its perpendicular height?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 (cm):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Area of a triangle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triangle has a base of 14 cm and a perpendicular height of 5 cm. Work out its area.</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35 cm²</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14 × 5 = 70, and a triangle is half a rectangle, so 70 ÷ 2 = 35.</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Choose the right height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triangle has a base of 12 cm, a perpendicular height of 5 cm and slanted sides of 7 cm and 9 cm. What is its area?</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30 cm²</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Only the base and the perpendicular height matter: 12 × 5 = 60, and 60 ÷ 2 = 30.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triangle has an area of 36 cm² and a base of 9 cm. What is its perpendicular height?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8 cm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Double the area: 36 × 2 = 72. Divide by the base: 72 ÷ 9 = 8. Check: 9 × 8 ÷ 2 = 36.</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Perimeter and Area · Chapter 4: Area of a triangle</dc:title>
  <dc:subject>Mathematics · Year 7</dc:subject>
  <dc:creator>Dr Vitor Merissi de Carvalho</dc:creator>
  <cp:lastModifiedBy>Dr Vitor Merissi de Carvalho</cp:lastModifiedBy>
  <cp:revision>1</cp:revision>
  <dcterms:created xsi:type="dcterms:W3CDTF">2026-10-18T17:47:12Z</dcterms:created>
  <dcterms:modified xsi:type="dcterms:W3CDTF">2026-10-18T17:47:12Z</dcterms:modified>
</cp:coreProperties>
</file>