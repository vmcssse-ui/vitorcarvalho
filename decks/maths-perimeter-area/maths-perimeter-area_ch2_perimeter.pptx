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d757908-3c87-615e-ebba-b0b36297a68d}">
          <p14:sldIdLst>
            <p14:sldId id="256"/>
          </p14:sldIdLst>
        </p14:section>
        <p14:section name="Gate" id="{d31f4a18-b079-10c1-b0fa-a4f8a991a9bf}">
          <p14:sldIdLst>
            <p14:sldId id="257"/>
            <p14:sldId id="258"/>
          </p14:sldIdLst>
        </p14:section>
        <p14:section name="Pre-teach" id="{a8268b00-4398-6c49-5859-357fbb2a5d8e}">
          <p14:sldIdLst>
            <p14:sldId id="259"/>
          </p14:sldIdLst>
        </p14:section>
        <p14:section name="Read-along" id="{896cc58a-ef37-c359-fa9c-ad9bfbbc1446}">
          <p14:sldIdLst>
            <p14:sldId id="260"/>
            <p14:sldId id="261"/>
          </p14:sldIdLst>
        </p14:section>
        <p14:section name="Teach" id="{f840cf1f-a9d2-ba24-06b4-a7663d823f53}">
          <p14:sldIdLst>
            <p14:sldId id="262"/>
            <p14:sldId id="263"/>
            <p14:sldId id="264"/>
            <p14:sldId id="265"/>
            <p14:sldId id="266"/>
          </p14:sldIdLst>
        </p14:section>
        <p14:section name="Routes" id="{159be6cb-990a-2fb9-8307-16598b26f3d1}">
          <p14:sldIdLst>
            <p14:sldId id="267"/>
            <p14:sldId id="268"/>
            <p14:sldId id="269"/>
          </p14:sldIdLst>
        </p14:section>
        <p14:section name="Close" id="{60346cd9-bfcf-6bb7-3f3d-2e1631ff00b5}">
          <p14:sldIdLst>
            <p14:sldId id="270"/>
          </p14:sldIdLst>
        </p14:section>
        <p14:section name="Answers" id="{d6e7a163-2d6d-ac22-30ba-c0a1f2485dcf}">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Perimeter of polygons and compound shapes. Add the sides to find the distance round a shape, find a missing side, and deal with shapes made of other shapes.
This deck covers the department's lessons: 2 (Perimeter of a polygon: How do we calculate the perimeter of a 2-D shape?); 3 (Perimeter of a compound shape: How do we find the perimeter of a shape made from two or more polygons?).
Read the big question aloud: "How do we measure the edge of a shape and the space inside it, and how can letters stand for lengths we do not know?"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triangle has sides of 8 cm, 11 cm and 13 cm. What is its perimeter?  →  32 cm
2. A regular hexagon has sides of 9 cm. Which calculation gives its perimeter?  →  B   9 × 6
3. A compound shape is made from two or more ___ shapes joined together.  →  simple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32 cm. Add every side: 8 + 11 + 13 = 32.
2. B   9 × 6. A hexagon has 6 equal sides, so the perimeter is 9 × 6 = 54.
3. simple. A compound shape is built from simple shapes, such as rectangles and triangles, joined together.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perimeter: the distance all the way round the edge of a shape. Example: "The perimeter of the field is 400 metres."
• polygon: a closed flat shape made of straight sides. Example: "A triangle is a polygon with three sides."
• regular polygon: a polygon with all sides the same length. Example: "A square is a regular polygon."
• compound shape: a shape made from two or more simple shapes joined together. Example: "An L-shape is a compound shape made from two rectangles."
• edge: one straight side of a shape. Example: "A rectangle has four edges."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11:
1. The perimeter is the distance all the way round a shape.
2. Imagine an ant walking along every edge and back to the start.
3. To find the perimeter, add up all the sides.
4. A triangle with sides 3 cm, 4 cm and 5 cm has a perimeter of 12 cm.
5. A regular polygon has sides that are all the same length.
6. So you can multiply one side by the number of sides.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7–11 of 11:
7. A compound shape is made from two or more simple shapes joined together.
8. Some of its sides are not labelled.
9. You work them out from the sides opposite them.
10. Then you add up every side, including the ones you worked out.
11. Always write the unit, like cm or m, with your answer.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Adding the sides. Say it in your own words, then check understanding with a quick question: ask a pupil from the pre-teach group first, since they met these words and ideas before the lesson. Pupils try to recall before you re-explain.
The perimeter of a polygon is the total length of its edges. To find it, add every side. It does not matter what order you add them in, but you must include every side once.
A rectangle has two pairs of equal sides, so you can add the length and the width and then double: a rectangle 7 cm by 3 cm has a perimeter of 2 × (7 + 3) = 20 cm.
All the sides must be in the same unit before you add. If one side is in metres and another in centimetres, convert first.
Worked example — model it step by step, thinking aloud: A quadrilateral has sides of 9 m, 6 m, 11 m and 8 m. Work out its perimeter. (1) Check every side is in the same unit: all metres. (2) Add all four sides: 9 + 6 + 11 + 8 = 34. (3) Write the unit: the perimeter is 34 m. Answer: 34 m.
Tip: Tick each side as you add it, so you never miss one or count one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Regular polygons. Say it in your own words, then check understanding with a quick question: ask a pupil from the pre-teach group first, since they met these words and ideas before the lesson. Pupils try to recall before you re-explain.
A regular polygon has every side the same length, so you only need to know one side and the number of sides. Then multiply.
A regular pentagon has 5 sides, a hexagon has 6, a heptagon has 7 and an octagon has 8. A regular pentagon with 4 cm sides has a perimeter of 4 × 5 = 20 cm.
If you are told the perimeter of a regular polygon, divide by the number of sides to find one side: a regular hexagon with a perimeter of 42 cm has sides of 42 ÷ 6 = 7 cm.
Worked example — model it step by step, thinking aloud: A regular octagon (8 sides) has sides of 7 cm. Work out its perimeter. (1) An octagon has 8 sides, all 7 cm. (2) Multiply: 7 × 8 = 56. (3) The perimeter is 56 cm. Answer: 56 cm.
Tip: Count the sides from the name: penta- 5, hexa- 6, hepta- 7, octa- 8.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Finding a missing side. Say it in your own words, then check understanding with a quick question: ask a pupil from the pre-teach group first, since they met these words and ideas before the lesson. Pupils try to recall before you re-explain.
If you know the perimeter and all the sides but one, subtract the sides you know from the perimeter. What is left is the missing side.
A triangle has a perimeter of 40 cm and two sides of 14 cm and 17 cm. The third side is 40 − 14 − 17 = 9 cm. Check by adding: 14 + 17 + 9 = 40.
For a rectangle, remember that the missing side appears twice. If the perimeter is 30 cm and one side is 9 cm, subtract 9 twice: 30 − 9 − 9 = 12. The two missing sides share 12 cm, so each is 12 ÷ 2 = 6 cm.
Worked example — model it step by step, thinking aloud: A rectangle has a perimeter of 26 cm. Its longer sides are 8 cm each. How long is each shorter side? (1) Subtract both long sides: 26 − 8 − 8 = 10. (2) The two short sides share 10 cm. (3) Halve: 10 ÷ 2 = 5. Answer: 5 cm.
Tip: Always check: add all the sides back up and you should get the perimeter.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Compound shapes. Say it in your own words, then check understanding with a quick question: ask a pupil from the pre-teach group first, since they met these words and ideas before the lesson. Pupils try to recall before you re-explain.
A compound shape is made from simple shapes joined together, like an L-shape made from two rectangles. Some of its sides are not labelled, so your first job is to find them.
In an L-shape, the two short horizontal edges add up to the long horizontal edge, and the two short vertical edges add up to the long vertical edge. Subtract to find a missing edge.
Once every edge has a length, add them all. Many pupils add only the labelled edges and miss the ones they had to work out, so label every edge before you add.
Worked example — model it step by step, thinking aloud: An L-shape has a bottom edge of 12 cm and a left edge of 9 cm. Its top edge is 7 cm and its right edge is 5 cm. Work out the two missing edges and the perimeter. (1) The two horizontal edges at the top add to the bottom edge: 12 − 7 = 5. (2) The two vertical edges on the right add to the left edge: 9 − 5 = 4. (3) Add all six edges: 12 + 9 + 7 + 5 + 5 + 4 = 42. Answer: 42 cm.
Tip: An L-shape has the same perimeter as the rectangle it fits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Compound shapes. Say it in your own words, then check understanding with a quick question: ask a pupil from the pre-teach group first, since they met these words and ideas before the lesson. Pupils try to recall before you re-explain.
A compound shape is made from simple shapes joined together, like an L-shape made from two rectangles. Some of its sides are not labelled, so your first job is to find them.
In an L-shape, the two short horizontal edges add up to the long horizontal edge, and the two short vertical edges add up to the long vertical edge. Subtract to find a missing edge.
Once every edge has a length, add them all. Many pupils add only the labelled edges and miss the ones they had to work out, so label every edge before you add.
Worked example — model it step by step, thinking aloud: An L-shape has a bottom edge of 12 cm and a left edge of 9 cm. Its top edge is 7 cm and its right edge is 5 cm. Work out the two missing edges and the perimeter. (1) The two horizontal edges at the top add to the bottom edge: 12 − 7 = 5. (2) The two vertical edges on the right add to the left edge: 9 − 5 = 4. (3) Add all six edges: 12 + 9 + 7 + 5 + 5 + 4 = 42. Answer: 42 cm.
Tip: An L-shape has the same perimeter as the rectangle it fits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shape to its perimeter.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shape to its perimeter.
Support — work through the steps with the group: (1) For a regular shape, multiply one side by the number of sides. (2) For a rectangle, add the length and the width, then double. (3) Write the unit with every answer.
Parallel worked example for Support (model it, do not give the task answer): Find the perimeter of a regular hexagon with sides of 5 cm, and of a rectangle 6 cm long and 2 cm wide. Hexagon: 6 sides of 5 cm, so 5 × 6 = 30.; Rectangle: 6 + 2 = 8, then double: 8 × 2 = 16.. Answer: 30 cm, 16 cm.
Core — reveal the hint only on request: A square has 4 equal sides, a pentagon 5 and an equilateral triangle 3.
Stretch — no help; when finished: Two of these shapes have perimeters that differ by only 2 cm. Which two? Design a regular polygon whose perimeter is exactly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shape to its perimeter.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shape to its perimeter.
Support — work through the steps with the group: (1) For a regular shape, multiply one side by the number of sides. (2) For a rectangle, add the length and the width, then double. (3) Write the unit with every answer.
Parallel worked example for Support (model it, do not give the task answer): Find the perimeter of a regular hexagon with sides of 5 cm, and of a rectangle 6 cm long and 2 cm wide. Hexagon: 6 sides of 5 cm, so 5 × 6 = 30.; Rectangle: 6 + 2 = 8, then double: 8 × 2 = 16.. Answer: 30 cm, 16 cm.
Core — reveal the hint only on request: A square has 4 equal sides, a pentagon 5 and an equilateral triangle 3.
Stretch — no help; when finished: Two of these shapes have perimeters that differ by only 2 cm. Which two? Design a regular polygon whose perimeter is exactly between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Find the missing side.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rectangle has a perimeter of 38 cm. Its longer sides are 12 cm each. How long is each shorter side?
Support — work through the steps with the group: (1) Subtract the long side from the perimeter twice, because a rectangle has two long sides. (2) What is left is shared equally by the two short sides. (3) Halve it to find one short side.
Parallel worked example for Support (model it, do not give the task answer): A rectangle has a perimeter of 30 cm and longer sides of 9 cm. How long is each shorter side? 30 − 9 − 9 = 12.; 12 cm is shared by two short sides.; 12 ÷ 2 = 6.. Answer: 6 cm.
Core — reveal the hint only on request: Subtract 12 twice, then halve what is left.
Stretch — no help; when finished: Check your answer by adding all four sides. Then find the shorter side of a rectangle with perimeter 38 cm whose longer sides are 15 cm. What do you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An L-shape has a bottom edge of 15 cm and a left edge of 10 cm. Its top edge is 9 cm and its right edge is 4 cm. Work out its perimeter.
Answer: 50 cm. The missing edges are 15 − 9 = 6 and 10 − 4 = 6. Then 15 + 10 + 9 + 4 + 6 + 6 = 50.
Source of this question: module 3 task ("Perimeter of a compound shape")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the shape to its perimeter. Reveal the answer; pupils mark their own work in a different colour, then read the "why" together. Same destination for every lane, so one answer serves the whole class.
Answer: a square with sides of 7 cm  →  C  28 cm; a regular pentagon with 5 sides of 6 cm  →  B  30 cm; a rectangle 9 cm long and 4 cm wide  →  A  26 cm; an equilateral triangle with 3 sides of 8 cm  →  D  24 cm
Why: Square: 7 × 4 = 28. Pentagon: 6 × 5 = 30. Rectangle: 2 × (9 + 4) = 26. Triangle: 8 × 3 = 24.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Find the missing side. Reveal the answer; pupils mark their own work in a different colour, then read the "why" together. Same destination for every lane, so one answer serves the whole class.
Answer: 7 cm
Why: 38 − 12 − 12 = 14, and the two shorter sides share it, so each is 14 ÷ 2 = 7.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50 cm
Why: The missing edges are 15 − 9 = 6 and 10 − 4 = 6. Then 15 + 10 + 9 + 4 + 6 + 6 = 50.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Perimeter and Area · AQA KS3 → 8300</a:t>
            </a:r>
            <a:endParaRPr lang="en-US" sz="1800" dirty="0"/>
          </a:p>
        </p:txBody>
      </p:sp>
      <p:sp>
        <p:nvSpPr>
          <p:cNvPr id="10" name="deck-title"/>
          <p:cNvSpPr txBox="1"/>
          <p:nvPr/>
        </p:nvSpPr>
        <p:spPr>
          <a:xfrm>
            <a:off x="548640" y="228523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Perimeter of polygons and compound shapes</a:t>
            </a:r>
            <a:endParaRPr lang="en-US" sz="3600" dirty="0"/>
          </a:p>
        </p:txBody>
      </p:sp>
      <p:sp>
        <p:nvSpPr>
          <p:cNvPr id="11" name="lessons-card"/>
          <p:cNvSpPr/>
          <p:nvPr/>
        </p:nvSpPr>
        <p:spPr>
          <a:xfrm>
            <a:off x="548640" y="3829558"/>
            <a:ext cx="5287975" cy="1328420"/>
          </a:xfrm>
          <a:prstGeom prst="roundRect">
            <a:avLst>
              <a:gd name="adj" fmla="val 5507"/>
            </a:avLst>
          </a:prstGeom>
          <a:solidFill>
            <a:srgbClr val="F0F2F7"/>
          </a:solidFill>
          <a:ln/>
        </p:spPr>
      </p:sp>
      <p:sp>
        <p:nvSpPr>
          <p:cNvPr id="12" name="lessons"/>
          <p:cNvSpPr txBox="1"/>
          <p:nvPr/>
        </p:nvSpPr>
        <p:spPr>
          <a:xfrm>
            <a:off x="685800" y="392099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Perimeter of a polygon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Perimeter of a compound shape</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we measure the edge of a shape and the space inside it, and how can letters stand for lengths we do not know?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triangle has sides of 8 cm, 11 cm and 13 cm. What is its perimeter?</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cm</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regular hexagon has sides of 9 cm. Which calculation gives its perimeter?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9 × 5</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9 × 6</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9 × 9</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9 + 6</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compound shape is made from two or more ___ shapes joined together.</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simple  ·  regular  ·  round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32 cm</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triangle has sides of 8 cm, 11 cm and 13 cm. What is its perimeter?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Add every side: 8 + 11 + 13 = 32.</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9 × 6</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regular hexagon has sides of 9 cm. Which calculation gives its perimeter?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hexagon has 6 equal sides, so the perimeter is 9 × 6 = 54.</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simple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compound shape is made from two or more ___ shapes joined together.</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compound shape is built from simple shapes, such as rectangles and triangles, joined together.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F5F6F9"/>
          </a:solidFill>
          <a:ln/>
        </p:spPr>
      </p:sp>
      <p:sp>
        <p:nvSpPr>
          <p:cNvPr id="12" name="kw-hex"/>
          <p:cNvSpPr/>
          <p:nvPr/>
        </p:nvSpPr>
        <p:spPr>
          <a:xfrm>
            <a:off x="658368" y="2158020"/>
            <a:ext cx="411480" cy="356342"/>
          </a:xfrm>
          <a:prstGeom prst="hexagon">
            <a:avLst/>
          </a:prstGeom>
          <a:solidFill>
            <a:srgbClr val="2E4A8C"/>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perimeter</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distance all the way round the edge of a shape</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perimeter of the field is 400 metres.</a:t>
            </a:r>
            <a:endParaRPr lang="en-US" sz="1800" dirty="0"/>
          </a:p>
        </p:txBody>
      </p:sp>
      <p:sp>
        <p:nvSpPr>
          <p:cNvPr id="16" name="kw-row"/>
          <p:cNvSpPr/>
          <p:nvPr/>
        </p:nvSpPr>
        <p:spPr>
          <a:xfrm>
            <a:off x="548640" y="2825293"/>
            <a:ext cx="11094415" cy="831901"/>
          </a:xfrm>
          <a:prstGeom prst="roundRect">
            <a:avLst>
              <a:gd name="adj" fmla="val 6595"/>
            </a:avLst>
          </a:prstGeom>
          <a:solidFill>
            <a:srgbClr val="F9F4EC"/>
          </a:solidFill>
          <a:ln/>
        </p:spPr>
      </p:sp>
      <p:sp>
        <p:nvSpPr>
          <p:cNvPr id="17" name="kw-hex"/>
          <p:cNvSpPr/>
          <p:nvPr/>
        </p:nvSpPr>
        <p:spPr>
          <a:xfrm>
            <a:off x="658368" y="3063072"/>
            <a:ext cx="411480" cy="356342"/>
          </a:xfrm>
          <a:prstGeom prst="hexagon">
            <a:avLst/>
          </a:prstGeom>
          <a:solidFill>
            <a:srgbClr val="B8862B"/>
          </a:solidFill>
          <a:ln/>
        </p:spPr>
      </p:sp>
      <p:sp>
        <p:nvSpPr>
          <p:cNvPr id="18" name="kw-cell"/>
          <p:cNvSpPr txBox="1"/>
          <p:nvPr/>
        </p:nvSpPr>
        <p:spPr>
          <a:xfrm>
            <a:off x="1143000" y="2825293"/>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polygon</a:t>
            </a:r>
            <a:endParaRPr lang="en-US" sz="2000" dirty="0"/>
          </a:p>
        </p:txBody>
      </p:sp>
      <p:sp>
        <p:nvSpPr>
          <p:cNvPr id="19" name="kw-cell"/>
          <p:cNvSpPr txBox="1"/>
          <p:nvPr/>
        </p:nvSpPr>
        <p:spPr>
          <a:xfrm>
            <a:off x="3657600" y="2825293"/>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closed flat shape made of straight sides</a:t>
            </a:r>
            <a:endParaRPr lang="en-US" sz="1800" dirty="0"/>
          </a:p>
        </p:txBody>
      </p:sp>
      <p:sp>
        <p:nvSpPr>
          <p:cNvPr id="20" name="kw-cell"/>
          <p:cNvSpPr txBox="1"/>
          <p:nvPr/>
        </p:nvSpPr>
        <p:spPr>
          <a:xfrm>
            <a:off x="7315200" y="2825293"/>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triangle is a polygon with three sides.</a:t>
            </a:r>
            <a:endParaRPr lang="en-US" sz="1800" dirty="0"/>
          </a:p>
        </p:txBody>
      </p:sp>
      <p:sp>
        <p:nvSpPr>
          <p:cNvPr id="21" name="kw-row"/>
          <p:cNvSpPr/>
          <p:nvPr/>
        </p:nvSpPr>
        <p:spPr>
          <a:xfrm>
            <a:off x="548640" y="3730346"/>
            <a:ext cx="11094415" cy="831901"/>
          </a:xfrm>
          <a:prstGeom prst="roundRect">
            <a:avLst>
              <a:gd name="adj" fmla="val 6595"/>
            </a:avLst>
          </a:prstGeom>
          <a:solidFill>
            <a:srgbClr val="F5F6F9"/>
          </a:solidFill>
          <a:ln/>
        </p:spPr>
      </p:sp>
      <p:sp>
        <p:nvSpPr>
          <p:cNvPr id="22" name="kw-hex"/>
          <p:cNvSpPr/>
          <p:nvPr/>
        </p:nvSpPr>
        <p:spPr>
          <a:xfrm>
            <a:off x="658368" y="3968125"/>
            <a:ext cx="411480" cy="356342"/>
          </a:xfrm>
          <a:prstGeom prst="hexagon">
            <a:avLst/>
          </a:prstGeom>
          <a:solidFill>
            <a:srgbClr val="2E4A8C"/>
          </a:solidFill>
          <a:ln/>
        </p:spPr>
      </p:sp>
      <p:sp>
        <p:nvSpPr>
          <p:cNvPr id="23" name="kw-cell"/>
          <p:cNvSpPr txBox="1"/>
          <p:nvPr/>
        </p:nvSpPr>
        <p:spPr>
          <a:xfrm>
            <a:off x="1143000" y="3730346"/>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regular polygon</a:t>
            </a:r>
            <a:endParaRPr lang="en-US" sz="2000" dirty="0"/>
          </a:p>
        </p:txBody>
      </p:sp>
      <p:sp>
        <p:nvSpPr>
          <p:cNvPr id="24" name="kw-cell"/>
          <p:cNvSpPr txBox="1"/>
          <p:nvPr/>
        </p:nvSpPr>
        <p:spPr>
          <a:xfrm>
            <a:off x="3657600" y="3730346"/>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polygon with all sides the same length</a:t>
            </a:r>
            <a:endParaRPr lang="en-US" sz="1800" dirty="0"/>
          </a:p>
        </p:txBody>
      </p:sp>
      <p:sp>
        <p:nvSpPr>
          <p:cNvPr id="25" name="kw-cell"/>
          <p:cNvSpPr txBox="1"/>
          <p:nvPr/>
        </p:nvSpPr>
        <p:spPr>
          <a:xfrm>
            <a:off x="7315200" y="3730346"/>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square is a regular polygon.</a:t>
            </a:r>
            <a:endParaRPr lang="en-US" sz="1800" dirty="0"/>
          </a:p>
        </p:txBody>
      </p:sp>
      <p:sp>
        <p:nvSpPr>
          <p:cNvPr id="26" name="kw-row"/>
          <p:cNvSpPr/>
          <p:nvPr/>
        </p:nvSpPr>
        <p:spPr>
          <a:xfrm>
            <a:off x="548640" y="4635398"/>
            <a:ext cx="11094415" cy="831901"/>
          </a:xfrm>
          <a:prstGeom prst="roundRect">
            <a:avLst>
              <a:gd name="adj" fmla="val 6595"/>
            </a:avLst>
          </a:prstGeom>
          <a:solidFill>
            <a:srgbClr val="F9F4EC"/>
          </a:solidFill>
          <a:ln/>
        </p:spPr>
      </p:sp>
      <p:sp>
        <p:nvSpPr>
          <p:cNvPr id="27" name="kw-hex"/>
          <p:cNvSpPr/>
          <p:nvPr/>
        </p:nvSpPr>
        <p:spPr>
          <a:xfrm>
            <a:off x="658368" y="4873178"/>
            <a:ext cx="411480" cy="356342"/>
          </a:xfrm>
          <a:prstGeom prst="hexagon">
            <a:avLst/>
          </a:prstGeom>
          <a:solidFill>
            <a:srgbClr val="B8862B"/>
          </a:solidFill>
          <a:ln/>
        </p:spPr>
      </p:sp>
      <p:sp>
        <p:nvSpPr>
          <p:cNvPr id="28" name="kw-cell"/>
          <p:cNvSpPr txBox="1"/>
          <p:nvPr/>
        </p:nvSpPr>
        <p:spPr>
          <a:xfrm>
            <a:off x="1143000" y="4635398"/>
            <a:ext cx="2331720" cy="831901"/>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compound shape</a:t>
            </a:r>
            <a:endParaRPr lang="en-US" sz="2000" dirty="0"/>
          </a:p>
        </p:txBody>
      </p:sp>
      <p:sp>
        <p:nvSpPr>
          <p:cNvPr id="29" name="kw-cell"/>
          <p:cNvSpPr txBox="1"/>
          <p:nvPr/>
        </p:nvSpPr>
        <p:spPr>
          <a:xfrm>
            <a:off x="3657600" y="4635398"/>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shape made from two or more simple shapes joined together</a:t>
            </a:r>
            <a:endParaRPr lang="en-US" sz="1800" dirty="0"/>
          </a:p>
        </p:txBody>
      </p:sp>
      <p:sp>
        <p:nvSpPr>
          <p:cNvPr id="30" name="kw-cell"/>
          <p:cNvSpPr txBox="1"/>
          <p:nvPr/>
        </p:nvSpPr>
        <p:spPr>
          <a:xfrm>
            <a:off x="7315200" y="4635398"/>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An L-shape is a compound shape made from two rectangles.</a:t>
            </a:r>
            <a:endParaRPr lang="en-US" sz="1800" dirty="0"/>
          </a:p>
        </p:txBody>
      </p:sp>
      <p:sp>
        <p:nvSpPr>
          <p:cNvPr id="31" name="kw-row"/>
          <p:cNvSpPr/>
          <p:nvPr/>
        </p:nvSpPr>
        <p:spPr>
          <a:xfrm>
            <a:off x="548640" y="5540451"/>
            <a:ext cx="11094415" cy="604317"/>
          </a:xfrm>
          <a:prstGeom prst="roundRect">
            <a:avLst>
              <a:gd name="adj" fmla="val 9079"/>
            </a:avLst>
          </a:prstGeom>
          <a:solidFill>
            <a:srgbClr val="F5F6F9"/>
          </a:solidFill>
          <a:ln/>
        </p:spPr>
      </p:sp>
      <p:sp>
        <p:nvSpPr>
          <p:cNvPr id="32" name="kw-hex"/>
          <p:cNvSpPr/>
          <p:nvPr/>
        </p:nvSpPr>
        <p:spPr>
          <a:xfrm>
            <a:off x="658368" y="5664439"/>
            <a:ext cx="411480" cy="356342"/>
          </a:xfrm>
          <a:prstGeom prst="hexagon">
            <a:avLst/>
          </a:prstGeom>
          <a:solidFill>
            <a:srgbClr val="2E4A8C"/>
          </a:solidFill>
          <a:ln/>
        </p:spPr>
      </p:sp>
      <p:sp>
        <p:nvSpPr>
          <p:cNvPr id="33" name="kw-cell"/>
          <p:cNvSpPr txBox="1"/>
          <p:nvPr/>
        </p:nvSpPr>
        <p:spPr>
          <a:xfrm>
            <a:off x="1143000" y="5540451"/>
            <a:ext cx="2331720" cy="604317"/>
          </a:xfrm>
          <a:prstGeom prst="rect">
            <a:avLst/>
          </a:prstGeom>
          <a:noFill/>
          <a:ln/>
        </p:spPr>
        <p:txBody>
          <a:bodyPr wrap="square" lIns="63500" tIns="63500" rIns="63500" bIns="63500" rtlCol="0" anchor="ctr"/>
          <a:lstStyle/>
          <a:p>
            <a:pPr algn="l" indent="0" marL="0">
              <a:buNone/>
            </a:pPr>
            <a:r>
              <a:rPr lang="en-US" sz="2000" b="1" dirty="0">
                <a:solidFill>
                  <a:srgbClr val="2E4A8C"/>
                </a:solidFill>
                <a:latin typeface="Cambria" pitchFamily="34" charset="0"/>
                <a:ea typeface="Cambria" pitchFamily="34" charset="-122"/>
                <a:cs typeface="Cambria" pitchFamily="34" charset="-120"/>
              </a:rPr>
              <a:t>edge</a:t>
            </a:r>
            <a:endParaRPr lang="en-US" sz="2000" dirty="0"/>
          </a:p>
        </p:txBody>
      </p:sp>
      <p:sp>
        <p:nvSpPr>
          <p:cNvPr id="34" name="kw-cell"/>
          <p:cNvSpPr txBox="1"/>
          <p:nvPr/>
        </p:nvSpPr>
        <p:spPr>
          <a:xfrm>
            <a:off x="3657600" y="5540451"/>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straight side of a shape</a:t>
            </a:r>
            <a:endParaRPr lang="en-US" sz="1800" dirty="0"/>
          </a:p>
        </p:txBody>
      </p:sp>
      <p:sp>
        <p:nvSpPr>
          <p:cNvPr id="35" name="kw-cell"/>
          <p:cNvSpPr txBox="1"/>
          <p:nvPr/>
        </p:nvSpPr>
        <p:spPr>
          <a:xfrm>
            <a:off x="7315200" y="5540451"/>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rectangle has four edges.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perimeter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distance all the way round a shape.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Imagine an ant walking along every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edge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and back to the start.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To find the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perimeter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add up all the sides.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triangle with sides 3 cm, 4 cm and 5 cm has a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perimeter</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12 cm.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regular polygon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has sides that are all the same length.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 you can multiply one side by the number of sides.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2E4A8C"/>
                </a:solidFill>
                <a:latin typeface="Calibri" pitchFamily="34" charset="0"/>
                <a:ea typeface="Calibri" pitchFamily="34" charset="-122"/>
                <a:cs typeface="Calibri" pitchFamily="34" charset="-120"/>
              </a:rPr>
              <a:t>compound shape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made from two or more simple shapes joined together.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Some of its sides are not labelled.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 work them out from the sides opposite them.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you add up every side, including the ones you worked out.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Always write the unit, like cm or m, with your answer.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Adding the sides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Tick each side as you add it, so you never miss one or count one twice.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quadrilateral has sides of 9 m, 6 m, 11 m and 8 m. Work out its perimeter.</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every side is in the same unit: all metres.</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all four sides: 9 + 6 + 11 + 8 = 34.</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unit: the perimeter is 34 m.</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34 m</a:t>
            </a:r>
            <a:endParaRPr lang="en-US" sz="1800" dirty="0"/>
          </a:p>
        </p:txBody>
      </p:sp>
      <p:sp>
        <p:nvSpPr>
          <p:cNvPr id="27" name="bullet-card"/>
          <p:cNvSpPr/>
          <p:nvPr/>
        </p:nvSpPr>
        <p:spPr>
          <a:xfrm>
            <a:off x="548640" y="1389888"/>
            <a:ext cx="5074920" cy="821267"/>
          </a:xfrm>
          <a:prstGeom prst="roundRect">
            <a:avLst>
              <a:gd name="adj" fmla="val 8907"/>
            </a:avLst>
          </a:prstGeom>
          <a:solidFill>
            <a:srgbClr val="F5F6F9"/>
          </a:solidFill>
          <a:ln/>
        </p:spPr>
      </p:sp>
      <p:sp>
        <p:nvSpPr>
          <p:cNvPr id="28" name="bullet-hex"/>
          <p:cNvSpPr/>
          <p:nvPr/>
        </p:nvSpPr>
        <p:spPr>
          <a:xfrm>
            <a:off x="676656" y="1634229"/>
            <a:ext cx="384048" cy="332586"/>
          </a:xfrm>
          <a:prstGeom prst="hexagon">
            <a:avLst/>
          </a:prstGeom>
          <a:solidFill>
            <a:srgbClr val="2E4A8C"/>
          </a:solidFill>
          <a:ln/>
        </p:spPr>
      </p:sp>
      <p:sp>
        <p:nvSpPr>
          <p:cNvPr id="29" name="bullet"/>
          <p:cNvSpPr txBox="1"/>
          <p:nvPr/>
        </p:nvSpPr>
        <p:spPr>
          <a:xfrm>
            <a:off x="1143000" y="1389888"/>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perimeter of a polygon is the total length of its edges.</a:t>
            </a:r>
            <a:endParaRPr lang="en-US" sz="2000" dirty="0"/>
          </a:p>
        </p:txBody>
      </p:sp>
      <p:sp>
        <p:nvSpPr>
          <p:cNvPr id="30" name="bullet-card"/>
          <p:cNvSpPr/>
          <p:nvPr/>
        </p:nvSpPr>
        <p:spPr>
          <a:xfrm>
            <a:off x="548640" y="2357459"/>
            <a:ext cx="5074920" cy="1750907"/>
          </a:xfrm>
          <a:prstGeom prst="roundRect">
            <a:avLst>
              <a:gd name="adj" fmla="val 4178"/>
            </a:avLst>
          </a:prstGeom>
          <a:solidFill>
            <a:srgbClr val="F5F6F9"/>
          </a:solidFill>
          <a:ln/>
        </p:spPr>
      </p:sp>
      <p:sp>
        <p:nvSpPr>
          <p:cNvPr id="31" name="bullet-hex"/>
          <p:cNvSpPr/>
          <p:nvPr/>
        </p:nvSpPr>
        <p:spPr>
          <a:xfrm>
            <a:off x="676656" y="3066619"/>
            <a:ext cx="384048" cy="332586"/>
          </a:xfrm>
          <a:prstGeom prst="hexagon">
            <a:avLst/>
          </a:prstGeom>
          <a:solidFill>
            <a:srgbClr val="B8862B"/>
          </a:solidFill>
          <a:ln/>
        </p:spPr>
      </p:sp>
      <p:sp>
        <p:nvSpPr>
          <p:cNvPr id="32" name="bullet"/>
          <p:cNvSpPr txBox="1"/>
          <p:nvPr/>
        </p:nvSpPr>
        <p:spPr>
          <a:xfrm>
            <a:off x="1143000" y="2357459"/>
            <a:ext cx="4389120" cy="175090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rectangle has two pairs of equal sides, so you can add the length and the width and then double: a rectangle 7 cm by 3 cm has a perimeter of 2 × (7 + 3) = 20 cm.</a:t>
            </a:r>
            <a:endParaRPr lang="en-US" sz="2000" dirty="0"/>
          </a:p>
        </p:txBody>
      </p:sp>
      <p:sp>
        <p:nvSpPr>
          <p:cNvPr id="33" name="bullet-card"/>
          <p:cNvSpPr/>
          <p:nvPr/>
        </p:nvSpPr>
        <p:spPr>
          <a:xfrm>
            <a:off x="548640" y="4254669"/>
            <a:ext cx="5074920" cy="821267"/>
          </a:xfrm>
          <a:prstGeom prst="roundRect">
            <a:avLst>
              <a:gd name="adj" fmla="val 8907"/>
            </a:avLst>
          </a:prstGeom>
          <a:solidFill>
            <a:srgbClr val="F5F6F9"/>
          </a:solidFill>
          <a:ln/>
        </p:spPr>
      </p:sp>
      <p:sp>
        <p:nvSpPr>
          <p:cNvPr id="34" name="bullet-hex"/>
          <p:cNvSpPr/>
          <p:nvPr/>
        </p:nvSpPr>
        <p:spPr>
          <a:xfrm>
            <a:off x="676656" y="4499010"/>
            <a:ext cx="384048" cy="332586"/>
          </a:xfrm>
          <a:prstGeom prst="hexagon">
            <a:avLst/>
          </a:prstGeom>
          <a:solidFill>
            <a:srgbClr val="2E4A8C"/>
          </a:solidFill>
          <a:ln/>
        </p:spPr>
      </p:sp>
      <p:sp>
        <p:nvSpPr>
          <p:cNvPr id="35" name="bullet"/>
          <p:cNvSpPr txBox="1"/>
          <p:nvPr/>
        </p:nvSpPr>
        <p:spPr>
          <a:xfrm>
            <a:off x="1143000" y="4254669"/>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All the sides must be in the same unit before you add.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Regular polygons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Count the sides from the name: penta- 5, hexa- 6, hepta- 7, octa- 8.</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regular octagon (8 sides) has sides of 7 cm. Work out its perimeter.</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octagon has 8 sides, all 7 cm.</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Multiply: 7 × 8 = 56.</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perimeter is 56 cm.</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56 cm</a:t>
            </a:r>
            <a:endParaRPr lang="en-US" sz="1800" dirty="0"/>
          </a:p>
        </p:txBody>
      </p:sp>
      <p:sp>
        <p:nvSpPr>
          <p:cNvPr id="27" name="bullet-card"/>
          <p:cNvSpPr/>
          <p:nvPr/>
        </p:nvSpPr>
        <p:spPr>
          <a:xfrm>
            <a:off x="548640" y="1389888"/>
            <a:ext cx="5074920" cy="1940306"/>
          </a:xfrm>
          <a:prstGeom prst="roundRect">
            <a:avLst>
              <a:gd name="adj" fmla="val 3770"/>
            </a:avLst>
          </a:prstGeom>
          <a:solidFill>
            <a:srgbClr val="F5F6F9"/>
          </a:solidFill>
          <a:ln/>
        </p:spPr>
      </p:sp>
      <p:sp>
        <p:nvSpPr>
          <p:cNvPr id="28" name="bullet-hex"/>
          <p:cNvSpPr/>
          <p:nvPr/>
        </p:nvSpPr>
        <p:spPr>
          <a:xfrm>
            <a:off x="676656" y="2193748"/>
            <a:ext cx="384048" cy="332586"/>
          </a:xfrm>
          <a:prstGeom prst="hexagon">
            <a:avLst/>
          </a:prstGeom>
          <a:solidFill>
            <a:srgbClr val="2E4A8C"/>
          </a:solidFill>
          <a:ln/>
        </p:spPr>
      </p:sp>
      <p:sp>
        <p:nvSpPr>
          <p:cNvPr id="29" name="bullet"/>
          <p:cNvSpPr txBox="1"/>
          <p:nvPr/>
        </p:nvSpPr>
        <p:spPr>
          <a:xfrm>
            <a:off x="1143000" y="1389888"/>
            <a:ext cx="4389120" cy="194030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regular polygon has every side the same length, so you only need to know one side and the number of sides.</a:t>
            </a:r>
            <a:endParaRPr lang="en-US" sz="2200" dirty="0"/>
          </a:p>
        </p:txBody>
      </p:sp>
      <p:sp>
        <p:nvSpPr>
          <p:cNvPr id="30" name="bullet-card"/>
          <p:cNvSpPr/>
          <p:nvPr/>
        </p:nvSpPr>
        <p:spPr>
          <a:xfrm>
            <a:off x="548640" y="3476498"/>
            <a:ext cx="5074920" cy="1599438"/>
          </a:xfrm>
          <a:prstGeom prst="roundRect">
            <a:avLst>
              <a:gd name="adj" fmla="val 4574"/>
            </a:avLst>
          </a:prstGeom>
          <a:solidFill>
            <a:srgbClr val="F5F6F9"/>
          </a:solidFill>
          <a:ln/>
        </p:spPr>
      </p:sp>
      <p:sp>
        <p:nvSpPr>
          <p:cNvPr id="31" name="bullet-hex"/>
          <p:cNvSpPr/>
          <p:nvPr/>
        </p:nvSpPr>
        <p:spPr>
          <a:xfrm>
            <a:off x="676656" y="4109924"/>
            <a:ext cx="384048" cy="332586"/>
          </a:xfrm>
          <a:prstGeom prst="hexagon">
            <a:avLst/>
          </a:prstGeom>
          <a:solidFill>
            <a:srgbClr val="B8862B"/>
          </a:solidFill>
          <a:ln/>
        </p:spPr>
      </p:sp>
      <p:sp>
        <p:nvSpPr>
          <p:cNvPr id="32" name="bullet"/>
          <p:cNvSpPr txBox="1"/>
          <p:nvPr/>
        </p:nvSpPr>
        <p:spPr>
          <a:xfrm>
            <a:off x="1143000" y="3476498"/>
            <a:ext cx="4389120" cy="159943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regular pentagon has 5 sides, a hexagon has 6, a heptagon has 7 and an octagon has 8.</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Finding a missing side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Always check: add all the sides back up and you should get the perimeter.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rectangle has a perimeter of 26 cm. Its longer sides are 8 cm each. How long is each shorter side?</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Subtract both long sides: 26 − 8 − 8 = 10.</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two short sides share 10 cm.</a:t>
            </a:r>
            <a:endParaRPr lang="en-US" sz="1800" dirty="0"/>
          </a:p>
        </p:txBody>
      </p:sp>
      <p:sp>
        <p:nvSpPr>
          <p:cNvPr id="22" name="step-box"/>
          <p:cNvSpPr/>
          <p:nvPr/>
        </p:nvSpPr>
        <p:spPr>
          <a:xfrm>
            <a:off x="6126480" y="4205224"/>
            <a:ext cx="5379415" cy="566928"/>
          </a:xfrm>
          <a:prstGeom prst="roundRect">
            <a:avLst>
              <a:gd name="adj" fmla="val 16129"/>
            </a:avLst>
          </a:prstGeom>
          <a:solidFill>
            <a:srgbClr val="F0F2F7"/>
          </a:solidFill>
          <a:ln/>
        </p:spPr>
      </p:sp>
      <p:sp>
        <p:nvSpPr>
          <p:cNvPr id="23" name="step-hex"/>
          <p:cNvSpPr/>
          <p:nvPr/>
        </p:nvSpPr>
        <p:spPr>
          <a:xfrm>
            <a:off x="6217920" y="4306558"/>
            <a:ext cx="420624" cy="364260"/>
          </a:xfrm>
          <a:prstGeom prst="hexagon">
            <a:avLst/>
          </a:prstGeom>
          <a:solidFill>
            <a:srgbClr val="2E4A8C"/>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Halve: 10 ÷ 2 = 5.</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 cm</a:t>
            </a:r>
            <a:endParaRPr lang="en-US" sz="1800" dirty="0"/>
          </a:p>
        </p:txBody>
      </p:sp>
      <p:sp>
        <p:nvSpPr>
          <p:cNvPr id="27" name="bullet-card"/>
          <p:cNvSpPr/>
          <p:nvPr/>
        </p:nvSpPr>
        <p:spPr>
          <a:xfrm>
            <a:off x="548640" y="1389888"/>
            <a:ext cx="5074920" cy="1358392"/>
          </a:xfrm>
          <a:prstGeom prst="roundRect">
            <a:avLst>
              <a:gd name="adj" fmla="val 5385"/>
            </a:avLst>
          </a:prstGeom>
          <a:solidFill>
            <a:srgbClr val="F5F6F9"/>
          </a:solidFill>
          <a:ln/>
        </p:spPr>
      </p:sp>
      <p:sp>
        <p:nvSpPr>
          <p:cNvPr id="28" name="bullet-hex"/>
          <p:cNvSpPr/>
          <p:nvPr/>
        </p:nvSpPr>
        <p:spPr>
          <a:xfrm>
            <a:off x="676656" y="1902791"/>
            <a:ext cx="384048" cy="332586"/>
          </a:xfrm>
          <a:prstGeom prst="hexagon">
            <a:avLst/>
          </a:prstGeom>
          <a:solidFill>
            <a:srgbClr val="2E4A8C"/>
          </a:solidFill>
          <a:ln/>
        </p:spPr>
      </p:sp>
      <p:sp>
        <p:nvSpPr>
          <p:cNvPr id="29" name="bullet"/>
          <p:cNvSpPr txBox="1"/>
          <p:nvPr/>
        </p:nvSpPr>
        <p:spPr>
          <a:xfrm>
            <a:off x="1143000" y="1389888"/>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you know the perimeter and all the sides but one, subtract the sides you know from the perimeter.</a:t>
            </a:r>
            <a:endParaRPr lang="en-US" sz="2200" dirty="0"/>
          </a:p>
        </p:txBody>
      </p:sp>
      <p:sp>
        <p:nvSpPr>
          <p:cNvPr id="30" name="bullet-card"/>
          <p:cNvSpPr/>
          <p:nvPr/>
        </p:nvSpPr>
        <p:spPr>
          <a:xfrm>
            <a:off x="548640" y="2894584"/>
            <a:ext cx="5074920" cy="1017524"/>
          </a:xfrm>
          <a:prstGeom prst="roundRect">
            <a:avLst>
              <a:gd name="adj" fmla="val 7189"/>
            </a:avLst>
          </a:prstGeom>
          <a:solidFill>
            <a:srgbClr val="F5F6F9"/>
          </a:solidFill>
          <a:ln/>
        </p:spPr>
      </p:sp>
      <p:sp>
        <p:nvSpPr>
          <p:cNvPr id="31" name="bullet-hex"/>
          <p:cNvSpPr/>
          <p:nvPr/>
        </p:nvSpPr>
        <p:spPr>
          <a:xfrm>
            <a:off x="676656" y="3237053"/>
            <a:ext cx="384048" cy="332586"/>
          </a:xfrm>
          <a:prstGeom prst="hexagon">
            <a:avLst/>
          </a:prstGeom>
          <a:solidFill>
            <a:srgbClr val="B8862B"/>
          </a:solidFill>
          <a:ln/>
        </p:spPr>
      </p:sp>
      <p:sp>
        <p:nvSpPr>
          <p:cNvPr id="32" name="bullet"/>
          <p:cNvSpPr txBox="1"/>
          <p:nvPr/>
        </p:nvSpPr>
        <p:spPr>
          <a:xfrm>
            <a:off x="1143000" y="2894584"/>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triangle has a perimeter of 40 cm and two sides of 14 cm and 17 cm.</a:t>
            </a:r>
            <a:endParaRPr lang="en-US" sz="2200" dirty="0"/>
          </a:p>
        </p:txBody>
      </p:sp>
      <p:sp>
        <p:nvSpPr>
          <p:cNvPr id="33" name="bullet-card"/>
          <p:cNvSpPr/>
          <p:nvPr/>
        </p:nvSpPr>
        <p:spPr>
          <a:xfrm>
            <a:off x="548640" y="4058412"/>
            <a:ext cx="5074920" cy="1017524"/>
          </a:xfrm>
          <a:prstGeom prst="roundRect">
            <a:avLst>
              <a:gd name="adj" fmla="val 7189"/>
            </a:avLst>
          </a:prstGeom>
          <a:solidFill>
            <a:srgbClr val="F5F6F9"/>
          </a:solidFill>
          <a:ln/>
        </p:spPr>
      </p:sp>
      <p:sp>
        <p:nvSpPr>
          <p:cNvPr id="34" name="bullet-hex"/>
          <p:cNvSpPr/>
          <p:nvPr/>
        </p:nvSpPr>
        <p:spPr>
          <a:xfrm>
            <a:off x="676656" y="4400881"/>
            <a:ext cx="384048" cy="332586"/>
          </a:xfrm>
          <a:prstGeom prst="hexagon">
            <a:avLst/>
          </a:prstGeom>
          <a:solidFill>
            <a:srgbClr val="2E4A8C"/>
          </a:solidFill>
          <a:ln/>
        </p:spPr>
      </p:sp>
      <p:sp>
        <p:nvSpPr>
          <p:cNvPr id="35"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a rectangle, remember that the missing side appears twice.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Compound shapes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L-shape has the same perimeter as the rectangle it fits inside.</a:t>
            </a:r>
            <a:endParaRPr lang="en-US" sz="1800" dirty="0"/>
          </a:p>
        </p:txBody>
      </p:sp>
      <p:sp>
        <p:nvSpPr>
          <p:cNvPr id="11" name="point-card"/>
          <p:cNvSpPr/>
          <p:nvPr/>
        </p:nvSpPr>
        <p:spPr>
          <a:xfrm>
            <a:off x="548640" y="1389888"/>
            <a:ext cx="3515258" cy="3964940"/>
          </a:xfrm>
          <a:prstGeom prst="roundRect">
            <a:avLst>
              <a:gd name="adj" fmla="val 1561"/>
            </a:avLst>
          </a:prstGeom>
          <a:solidFill>
            <a:srgbClr val="F0F2F7"/>
          </a:solidFill>
          <a:ln/>
        </p:spPr>
      </p:sp>
      <p:sp>
        <p:nvSpPr>
          <p:cNvPr id="12" name="point-hex"/>
          <p:cNvSpPr/>
          <p:nvPr/>
        </p:nvSpPr>
        <p:spPr>
          <a:xfrm>
            <a:off x="731520" y="1572768"/>
            <a:ext cx="685800" cy="593903"/>
          </a:xfrm>
          <a:prstGeom prst="hexagon">
            <a:avLst/>
          </a:prstGeom>
          <a:solidFill>
            <a:srgbClr val="2E4A8C"/>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compound shape is made from simple shapes joined together, like an L-shape made from two rectangles.</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an L-shape, the two short horizontal edges add up to the long horizontal edge, and the two short vertical edges add up to the long vertical edge.</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0F2F7"/>
          </a:solidFill>
          <a:ln/>
        </p:spPr>
      </p:sp>
      <p:sp>
        <p:nvSpPr>
          <p:cNvPr id="20" name="point-hex"/>
          <p:cNvSpPr/>
          <p:nvPr/>
        </p:nvSpPr>
        <p:spPr>
          <a:xfrm>
            <a:off x="8310677" y="1572768"/>
            <a:ext cx="685800" cy="593903"/>
          </a:xfrm>
          <a:prstGeom prst="hexagon">
            <a:avLst/>
          </a:prstGeom>
          <a:solidFill>
            <a:srgbClr val="2E4A8C"/>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Once every edge has a length, add them all. Many pupils add only the labelled edges and miss the ones they had to work out, so label every edge before you add.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Worked example: Compound shapes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0F2F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An L-shape has a bottom edge of 12 cm and a left edge of 9 cm. Its top edge is 7 cm and its right edge is 5 cm. Work out the two missing edges and the perimeter.</a:t>
            </a:r>
            <a:endParaRPr lang="en-US" sz="2200" dirty="0"/>
          </a:p>
        </p:txBody>
      </p:sp>
      <p:sp>
        <p:nvSpPr>
          <p:cNvPr id="9" name="step-box"/>
          <p:cNvSpPr/>
          <p:nvPr/>
        </p:nvSpPr>
        <p:spPr>
          <a:xfrm>
            <a:off x="548640" y="2655824"/>
            <a:ext cx="3423818" cy="1695196"/>
          </a:xfrm>
          <a:prstGeom prst="roundRect">
            <a:avLst>
              <a:gd name="adj" fmla="val 4315"/>
            </a:avLst>
          </a:prstGeom>
          <a:solidFill>
            <a:srgbClr val="FFFFFF"/>
          </a:solidFill>
          <a:ln w="15875">
            <a:solidFill>
              <a:srgbClr val="8C9BC0"/>
            </a:solidFill>
            <a:prstDash val="solid"/>
          </a:ln>
        </p:spPr>
      </p:sp>
      <p:sp>
        <p:nvSpPr>
          <p:cNvPr id="10" name="step-hex"/>
          <p:cNvSpPr/>
          <p:nvPr/>
        </p:nvSpPr>
        <p:spPr>
          <a:xfrm>
            <a:off x="685800" y="2765552"/>
            <a:ext cx="530352" cy="459285"/>
          </a:xfrm>
          <a:prstGeom prst="hexagon">
            <a:avLst/>
          </a:prstGeom>
          <a:solidFill>
            <a:srgbClr val="2E4A8C"/>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two horizontal edges at the top add to the bottom edge: 12 − 7 = 5.</a:t>
            </a:r>
            <a:endParaRPr lang="en-US" sz="1800" dirty="0"/>
          </a:p>
        </p:txBody>
      </p:sp>
      <p:sp>
        <p:nvSpPr>
          <p:cNvPr id="13" name="arrow"/>
          <p:cNvSpPr/>
          <p:nvPr/>
        </p:nvSpPr>
        <p:spPr>
          <a:xfrm>
            <a:off x="4045610" y="3366262"/>
            <a:ext cx="274320" cy="274320"/>
          </a:xfrm>
          <a:prstGeom prst="rightArrow">
            <a:avLst/>
          </a:prstGeom>
          <a:solidFill>
            <a:srgbClr val="B8862B"/>
          </a:solidFill>
          <a:ln/>
        </p:spPr>
      </p:sp>
      <p:sp>
        <p:nvSpPr>
          <p:cNvPr id="14" name="step-box"/>
          <p:cNvSpPr/>
          <p:nvPr/>
        </p:nvSpPr>
        <p:spPr>
          <a:xfrm>
            <a:off x="4383938" y="2655824"/>
            <a:ext cx="3423818" cy="1695196"/>
          </a:xfrm>
          <a:prstGeom prst="roundRect">
            <a:avLst>
              <a:gd name="adj" fmla="val 4315"/>
            </a:avLst>
          </a:prstGeom>
          <a:solidFill>
            <a:srgbClr val="FFFFFF"/>
          </a:solidFill>
          <a:ln w="15875">
            <a:solidFill>
              <a:srgbClr val="8C9BC0"/>
            </a:solidFill>
            <a:prstDash val="solid"/>
          </a:ln>
        </p:spPr>
      </p:sp>
      <p:sp>
        <p:nvSpPr>
          <p:cNvPr id="15" name="step-hex"/>
          <p:cNvSpPr/>
          <p:nvPr/>
        </p:nvSpPr>
        <p:spPr>
          <a:xfrm>
            <a:off x="4521098" y="2765552"/>
            <a:ext cx="530352" cy="459285"/>
          </a:xfrm>
          <a:prstGeom prst="hexagon">
            <a:avLst/>
          </a:prstGeom>
          <a:solidFill>
            <a:srgbClr val="2E4A8C"/>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two vertical edges on the right add to the left edge: 9 − 5 = 4.</a:t>
            </a:r>
            <a:endParaRPr lang="en-US" sz="1800" dirty="0"/>
          </a:p>
        </p:txBody>
      </p:sp>
      <p:sp>
        <p:nvSpPr>
          <p:cNvPr id="18" name="arrow"/>
          <p:cNvSpPr/>
          <p:nvPr/>
        </p:nvSpPr>
        <p:spPr>
          <a:xfrm>
            <a:off x="7880909" y="3366262"/>
            <a:ext cx="274320" cy="274320"/>
          </a:xfrm>
          <a:prstGeom prst="rightArrow">
            <a:avLst/>
          </a:prstGeom>
          <a:solidFill>
            <a:srgbClr val="B8862B"/>
          </a:solidFill>
          <a:ln/>
        </p:spPr>
      </p:sp>
      <p:sp>
        <p:nvSpPr>
          <p:cNvPr id="19" name="step-box"/>
          <p:cNvSpPr/>
          <p:nvPr/>
        </p:nvSpPr>
        <p:spPr>
          <a:xfrm>
            <a:off x="8219237" y="2655824"/>
            <a:ext cx="3423818" cy="1695196"/>
          </a:xfrm>
          <a:prstGeom prst="roundRect">
            <a:avLst>
              <a:gd name="adj" fmla="val 4315"/>
            </a:avLst>
          </a:prstGeom>
          <a:solidFill>
            <a:srgbClr val="FFFFFF"/>
          </a:solidFill>
          <a:ln w="15875">
            <a:solidFill>
              <a:srgbClr val="8C9BC0"/>
            </a:solidFill>
            <a:prstDash val="solid"/>
          </a:ln>
        </p:spPr>
      </p:sp>
      <p:sp>
        <p:nvSpPr>
          <p:cNvPr id="20" name="step-hex"/>
          <p:cNvSpPr/>
          <p:nvPr/>
        </p:nvSpPr>
        <p:spPr>
          <a:xfrm>
            <a:off x="8356397" y="2765552"/>
            <a:ext cx="530352" cy="459285"/>
          </a:xfrm>
          <a:prstGeom prst="hexagon">
            <a:avLst/>
          </a:prstGeom>
          <a:solidFill>
            <a:srgbClr val="2E4A8C"/>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all six edges: 12 + 9 + 7 + 5 + 5 + 4 = 42.</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42 cm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The task: Match the shape to its perimeter</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shape to its perimeter.</a:t>
            </a:r>
            <a:endParaRPr lang="en-US" sz="2400" dirty="0"/>
          </a:p>
        </p:txBody>
      </p:sp>
      <p:sp>
        <p:nvSpPr>
          <p:cNvPr id="11" name="match-card"/>
          <p:cNvSpPr/>
          <p:nvPr/>
        </p:nvSpPr>
        <p:spPr>
          <a:xfrm>
            <a:off x="777240" y="2468331"/>
            <a:ext cx="5135728" cy="634375"/>
          </a:xfrm>
          <a:prstGeom prst="roundRect">
            <a:avLst>
              <a:gd name="adj" fmla="val 11531"/>
            </a:avLst>
          </a:prstGeom>
          <a:solidFill>
            <a:srgbClr val="F5F6F9"/>
          </a:solidFill>
          <a:ln/>
        </p:spPr>
      </p:sp>
      <p:sp>
        <p:nvSpPr>
          <p:cNvPr id="12" name="match-hex"/>
          <p:cNvSpPr/>
          <p:nvPr/>
        </p:nvSpPr>
        <p:spPr>
          <a:xfrm>
            <a:off x="850392" y="2619226"/>
            <a:ext cx="384048" cy="332586"/>
          </a:xfrm>
          <a:prstGeom prst="hexagon">
            <a:avLst/>
          </a:prstGeom>
          <a:solidFill>
            <a:srgbClr val="2E4A8C"/>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square with sides of 7 cm</a:t>
            </a:r>
            <a:endParaRPr lang="en-US" sz="2200" dirty="0"/>
          </a:p>
        </p:txBody>
      </p:sp>
      <p:sp>
        <p:nvSpPr>
          <p:cNvPr id="15" name="match-card"/>
          <p:cNvSpPr/>
          <p:nvPr/>
        </p:nvSpPr>
        <p:spPr>
          <a:xfrm>
            <a:off x="6278728" y="2468331"/>
            <a:ext cx="5135728" cy="634375"/>
          </a:xfrm>
          <a:prstGeom prst="roundRect">
            <a:avLst>
              <a:gd name="adj" fmla="val 11531"/>
            </a:avLst>
          </a:prstGeom>
          <a:solidFill>
            <a:srgbClr val="F9F4EC"/>
          </a:solidFill>
          <a:ln/>
        </p:spPr>
      </p:sp>
      <p:sp>
        <p:nvSpPr>
          <p:cNvPr id="16" name="match-hex"/>
          <p:cNvSpPr/>
          <p:nvPr/>
        </p:nvSpPr>
        <p:spPr>
          <a:xfrm>
            <a:off x="6351880" y="2619226"/>
            <a:ext cx="384048" cy="332586"/>
          </a:xfrm>
          <a:prstGeom prst="hexagon">
            <a:avLst/>
          </a:prstGeom>
          <a:solidFill>
            <a:srgbClr val="B8862B"/>
          </a:solidFill>
          <a:ln/>
        </p:spPr>
      </p:sp>
      <p:sp>
        <p:nvSpPr>
          <p:cNvPr id="17" name="match-hex-label"/>
          <p:cNvSpPr txBox="1"/>
          <p:nvPr/>
        </p:nvSpPr>
        <p:spPr>
          <a:xfrm>
            <a:off x="6351880"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26 cm</a:t>
            </a:r>
            <a:endParaRPr lang="en-US" sz="2200" dirty="0"/>
          </a:p>
        </p:txBody>
      </p:sp>
      <p:sp>
        <p:nvSpPr>
          <p:cNvPr id="19" name="match-card"/>
          <p:cNvSpPr/>
          <p:nvPr/>
        </p:nvSpPr>
        <p:spPr>
          <a:xfrm>
            <a:off x="777240" y="3194147"/>
            <a:ext cx="5135728" cy="975243"/>
          </a:xfrm>
          <a:prstGeom prst="roundRect">
            <a:avLst>
              <a:gd name="adj" fmla="val 7501"/>
            </a:avLst>
          </a:prstGeom>
          <a:solidFill>
            <a:srgbClr val="F5F6F9"/>
          </a:solidFill>
          <a:ln/>
        </p:spPr>
      </p:sp>
      <p:sp>
        <p:nvSpPr>
          <p:cNvPr id="20" name="match-hex"/>
          <p:cNvSpPr/>
          <p:nvPr/>
        </p:nvSpPr>
        <p:spPr>
          <a:xfrm>
            <a:off x="850392" y="3515475"/>
            <a:ext cx="384048" cy="332586"/>
          </a:xfrm>
          <a:prstGeom prst="hexagon">
            <a:avLst/>
          </a:prstGeom>
          <a:solidFill>
            <a:srgbClr val="2E4A8C"/>
          </a:solidFill>
          <a:ln/>
        </p:spPr>
      </p:sp>
      <p:sp>
        <p:nvSpPr>
          <p:cNvPr id="21" name="match-hex-label"/>
          <p:cNvSpPr txBox="1"/>
          <p:nvPr/>
        </p:nvSpPr>
        <p:spPr>
          <a:xfrm>
            <a:off x="850392" y="351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regular pentagon with 5 sides of 6 cm</a:t>
            </a:r>
            <a:endParaRPr lang="en-US" sz="2200" dirty="0"/>
          </a:p>
        </p:txBody>
      </p:sp>
      <p:sp>
        <p:nvSpPr>
          <p:cNvPr id="23" name="match-card"/>
          <p:cNvSpPr/>
          <p:nvPr/>
        </p:nvSpPr>
        <p:spPr>
          <a:xfrm>
            <a:off x="6278728" y="3194147"/>
            <a:ext cx="5135728" cy="975243"/>
          </a:xfrm>
          <a:prstGeom prst="roundRect">
            <a:avLst>
              <a:gd name="adj" fmla="val 7501"/>
            </a:avLst>
          </a:prstGeom>
          <a:solidFill>
            <a:srgbClr val="F9F4EC"/>
          </a:solidFill>
          <a:ln/>
        </p:spPr>
      </p:sp>
      <p:sp>
        <p:nvSpPr>
          <p:cNvPr id="24" name="match-hex"/>
          <p:cNvSpPr/>
          <p:nvPr/>
        </p:nvSpPr>
        <p:spPr>
          <a:xfrm>
            <a:off x="6351880" y="3515475"/>
            <a:ext cx="384048" cy="332586"/>
          </a:xfrm>
          <a:prstGeom prst="hexagon">
            <a:avLst/>
          </a:prstGeom>
          <a:solidFill>
            <a:srgbClr val="B8862B"/>
          </a:solidFill>
          <a:ln/>
        </p:spPr>
      </p:sp>
      <p:sp>
        <p:nvSpPr>
          <p:cNvPr id="25" name="match-hex-label"/>
          <p:cNvSpPr txBox="1"/>
          <p:nvPr/>
        </p:nvSpPr>
        <p:spPr>
          <a:xfrm>
            <a:off x="6351880" y="351547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194147"/>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30 cm</a:t>
            </a:r>
            <a:endParaRPr lang="en-US" sz="2200" dirty="0"/>
          </a:p>
        </p:txBody>
      </p:sp>
      <p:sp>
        <p:nvSpPr>
          <p:cNvPr id="27" name="match-card"/>
          <p:cNvSpPr/>
          <p:nvPr/>
        </p:nvSpPr>
        <p:spPr>
          <a:xfrm>
            <a:off x="777240" y="4260830"/>
            <a:ext cx="5135728" cy="634375"/>
          </a:xfrm>
          <a:prstGeom prst="roundRect">
            <a:avLst>
              <a:gd name="adj" fmla="val 11531"/>
            </a:avLst>
          </a:prstGeom>
          <a:solidFill>
            <a:srgbClr val="F5F6F9"/>
          </a:solidFill>
          <a:ln/>
        </p:spPr>
      </p:sp>
      <p:sp>
        <p:nvSpPr>
          <p:cNvPr id="28" name="match-hex"/>
          <p:cNvSpPr/>
          <p:nvPr/>
        </p:nvSpPr>
        <p:spPr>
          <a:xfrm>
            <a:off x="850392" y="4411724"/>
            <a:ext cx="384048" cy="332586"/>
          </a:xfrm>
          <a:prstGeom prst="hexagon">
            <a:avLst/>
          </a:prstGeom>
          <a:solidFill>
            <a:srgbClr val="2E4A8C"/>
          </a:solidFill>
          <a:ln/>
        </p:spPr>
      </p:sp>
      <p:sp>
        <p:nvSpPr>
          <p:cNvPr id="29" name="match-hex-label"/>
          <p:cNvSpPr txBox="1"/>
          <p:nvPr/>
        </p:nvSpPr>
        <p:spPr>
          <a:xfrm>
            <a:off x="850392" y="44117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rectangle 9 cm long and 4 cm wide</a:t>
            </a:r>
            <a:endParaRPr lang="en-US" sz="2200" dirty="0"/>
          </a:p>
        </p:txBody>
      </p:sp>
      <p:sp>
        <p:nvSpPr>
          <p:cNvPr id="31" name="match-card"/>
          <p:cNvSpPr/>
          <p:nvPr/>
        </p:nvSpPr>
        <p:spPr>
          <a:xfrm>
            <a:off x="6278728" y="4260830"/>
            <a:ext cx="5135728" cy="634375"/>
          </a:xfrm>
          <a:prstGeom prst="roundRect">
            <a:avLst>
              <a:gd name="adj" fmla="val 11531"/>
            </a:avLst>
          </a:prstGeom>
          <a:solidFill>
            <a:srgbClr val="F9F4EC"/>
          </a:solidFill>
          <a:ln/>
        </p:spPr>
      </p:sp>
      <p:sp>
        <p:nvSpPr>
          <p:cNvPr id="32" name="match-hex"/>
          <p:cNvSpPr/>
          <p:nvPr/>
        </p:nvSpPr>
        <p:spPr>
          <a:xfrm>
            <a:off x="6351880" y="4411724"/>
            <a:ext cx="384048" cy="332586"/>
          </a:xfrm>
          <a:prstGeom prst="hexagon">
            <a:avLst/>
          </a:prstGeom>
          <a:solidFill>
            <a:srgbClr val="B8862B"/>
          </a:solidFill>
          <a:ln/>
        </p:spPr>
      </p:sp>
      <p:sp>
        <p:nvSpPr>
          <p:cNvPr id="33" name="match-hex-label"/>
          <p:cNvSpPr txBox="1"/>
          <p:nvPr/>
        </p:nvSpPr>
        <p:spPr>
          <a:xfrm>
            <a:off x="6351880" y="44117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260830"/>
            <a:ext cx="4541368"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28 cm</a:t>
            </a:r>
            <a:endParaRPr lang="en-US" sz="2200" dirty="0"/>
          </a:p>
        </p:txBody>
      </p:sp>
      <p:sp>
        <p:nvSpPr>
          <p:cNvPr id="35" name="match-card"/>
          <p:cNvSpPr/>
          <p:nvPr/>
        </p:nvSpPr>
        <p:spPr>
          <a:xfrm>
            <a:off x="777240" y="4986645"/>
            <a:ext cx="5135728" cy="975243"/>
          </a:xfrm>
          <a:prstGeom prst="roundRect">
            <a:avLst>
              <a:gd name="adj" fmla="val 7501"/>
            </a:avLst>
          </a:prstGeom>
          <a:solidFill>
            <a:srgbClr val="F5F6F9"/>
          </a:solidFill>
          <a:ln/>
        </p:spPr>
      </p:sp>
      <p:sp>
        <p:nvSpPr>
          <p:cNvPr id="36" name="match-hex"/>
          <p:cNvSpPr/>
          <p:nvPr/>
        </p:nvSpPr>
        <p:spPr>
          <a:xfrm>
            <a:off x="850392" y="5307974"/>
            <a:ext cx="384048" cy="332586"/>
          </a:xfrm>
          <a:prstGeom prst="hexagon">
            <a:avLst/>
          </a:prstGeom>
          <a:solidFill>
            <a:srgbClr val="2E4A8C"/>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equilateral triangle with 3 sides of 8 cm</a:t>
            </a:r>
            <a:endParaRPr lang="en-US" sz="2200" dirty="0"/>
          </a:p>
        </p:txBody>
      </p:sp>
      <p:sp>
        <p:nvSpPr>
          <p:cNvPr id="39" name="match-card"/>
          <p:cNvSpPr/>
          <p:nvPr/>
        </p:nvSpPr>
        <p:spPr>
          <a:xfrm>
            <a:off x="6278728" y="4986645"/>
            <a:ext cx="5135728" cy="975243"/>
          </a:xfrm>
          <a:prstGeom prst="roundRect">
            <a:avLst>
              <a:gd name="adj" fmla="val 7501"/>
            </a:avLst>
          </a:prstGeom>
          <a:solidFill>
            <a:srgbClr val="F9F4EC"/>
          </a:solidFill>
          <a:ln/>
        </p:spPr>
      </p:sp>
      <p:sp>
        <p:nvSpPr>
          <p:cNvPr id="40" name="match-hex"/>
          <p:cNvSpPr/>
          <p:nvPr/>
        </p:nvSpPr>
        <p:spPr>
          <a:xfrm>
            <a:off x="6351880" y="5307974"/>
            <a:ext cx="384048" cy="332586"/>
          </a:xfrm>
          <a:prstGeom prst="hexagon">
            <a:avLst/>
          </a:prstGeom>
          <a:solidFill>
            <a:srgbClr val="B8862B"/>
          </a:solidFill>
          <a:ln/>
        </p:spPr>
      </p:sp>
      <p:sp>
        <p:nvSpPr>
          <p:cNvPr id="41" name="match-hex-label"/>
          <p:cNvSpPr txBox="1"/>
          <p:nvPr/>
        </p:nvSpPr>
        <p:spPr>
          <a:xfrm>
            <a:off x="6351880"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4986645"/>
            <a:ext cx="4541368"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24 cm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E4A8C"/>
                </a:solidFill>
                <a:latin typeface="Cambria" pitchFamily="34" charset="0"/>
                <a:ea typeface="Cambria" pitchFamily="34" charset="-122"/>
                <a:cs typeface="Cambria" pitchFamily="34" charset="-120"/>
              </a:rPr>
              <a:t>Same task, three ways in: Match the shape to its perimeter</a:t>
            </a:r>
            <a:endParaRPr lang="en-US" sz="24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shape to its perimeter.</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0F2F7"/>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For a regular shape, multiply one side by the number of sides.</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For a rectangle, add the length and the width, then double.</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Write the unit with every answer.</a:t>
            </a:r>
            <a:endParaRPr lang="en-US" sz="2000" dirty="0"/>
          </a:p>
        </p:txBody>
      </p:sp>
      <p:sp>
        <p:nvSpPr>
          <p:cNvPr id="17" name="col-Core"/>
          <p:cNvSpPr/>
          <p:nvPr/>
        </p:nvSpPr>
        <p:spPr>
          <a:xfrm>
            <a:off x="4338218" y="2578608"/>
            <a:ext cx="3515258" cy="3566160"/>
          </a:xfrm>
          <a:prstGeom prst="roundRect">
            <a:avLst>
              <a:gd name="adj" fmla="val 1561"/>
            </a:avLst>
          </a:prstGeom>
          <a:solidFill>
            <a:srgbClr val="D7DDE9"/>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253B70"/>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A square has 4 equal sides, a pentagon 5 and an equilateral triangle 3.</a:t>
            </a:r>
            <a:endParaRPr lang="en-US" sz="2000" dirty="0"/>
          </a:p>
        </p:txBody>
      </p:sp>
      <p:sp>
        <p:nvSpPr>
          <p:cNvPr id="22" name="col-Stretch"/>
          <p:cNvSpPr/>
          <p:nvPr/>
        </p:nvSpPr>
        <p:spPr>
          <a:xfrm>
            <a:off x="8127797" y="2578608"/>
            <a:ext cx="3515258" cy="3566160"/>
          </a:xfrm>
          <a:prstGeom prst="roundRect">
            <a:avLst>
              <a:gd name="adj" fmla="val 1561"/>
            </a:avLst>
          </a:prstGeom>
          <a:solidFill>
            <a:srgbClr val="2E4A8C"/>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Two of these shapes have perimeters that differ by only 2 cm. Which two? Design a regular polygon whose perimeter is exactly between them.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Find the missing side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rectangle has a perimeter of 38 cm. Its longer sides are 12 cm each. How long is each shorter side?</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cm</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long side from the perimeter twice, because a rectangle has two long sides.</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is left is shared equally by the two short sides.</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Halve it to find one short side.</a:t>
            </a:r>
            <a:endParaRPr lang="en-US" sz="18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Subtract 12 twice, then halve what is left.</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Check your answer by adding all four sides. Then find the shorter side of a rectangle with perimeter 38 cm whose longer sides are 15 cm. What do you notice?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An L-shape has a bottom edge of 15 cm and a left edge of 10 cm. Its top edge is 9 cm and its right edge is 4 cm. Work out its perimeter.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 (cm):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Match the shape to its perimeter</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square with sides of 7 cm  →  C  28 cm</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regular pentagon with 5 sides of 6 cm  →  B  30 cm</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 rectangle 9 cm long and 4 cm wide  →  A  26 cm</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an equilateral triangle with 3 sides of 8 cm  →  D  24 cm</a:t>
            </a:r>
            <a:endParaRPr lang="en-US" sz="24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Square: 7 × 4 = 28. Pentagon: 6 × 5 = 30. Rectangle: 2 × (9 + 4) = 26. Triangle: 8 × 3 = 24.</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Find the missing side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rectangle has a perimeter of 38 cm. Its longer sides are 12 cm each. How long is each shorter side?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7 cm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38 − 12 − 12 = 14, and the two shorter sides share it, so each is 14 ÷ 2 = 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An L-shape has a bottom edge of 15 cm and a left edge of 10 cm. Its top edge is 9 cm and its right edge is 4 cm. Work out its perimeter.</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50 cm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missing edges are 15 − 9 = 6 and 10 − 4 = 6. Then 15 + 10 + 9 + 4 + 6 + 6 = 50.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Perimeter and Area · Chapter 2: Perimeter of polygons and compound shapes</dc:title>
  <dc:subject>Mathematics · Year 7</dc:subject>
  <dc:creator>Dr Vitor Merissi de Carvalho</dc:creator>
  <cp:lastModifiedBy>Dr Vitor Merissi de Carvalho</cp:lastModifiedBy>
  <cp:revision>1</cp:revision>
  <dcterms:created xsi:type="dcterms:W3CDTF">2026-10-19T16:23:22Z</dcterms:created>
  <dcterms:modified xsi:type="dcterms:W3CDTF">2026-10-19T16:23:22Z</dcterms:modified>
</cp:coreProperties>
</file>