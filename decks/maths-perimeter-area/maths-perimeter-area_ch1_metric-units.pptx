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ece4710-15ad-e3db-1bba-7e9e3f9a2c71}">
          <p14:sldIdLst>
            <p14:sldId id="256"/>
          </p14:sldIdLst>
        </p14:section>
        <p14:section name="Gate" id="{83b14d2f-b1b0-e4cc-0e91-18732086d1dc}">
          <p14:sldIdLst>
            <p14:sldId id="257"/>
            <p14:sldId id="258"/>
          </p14:sldIdLst>
        </p14:section>
        <p14:section name="Pre-teach" id="{f1c5cb47-d71a-af12-3015-c0637fd59a3f}">
          <p14:sldIdLst>
            <p14:sldId id="259"/>
          </p14:sldIdLst>
        </p14:section>
        <p14:section name="Read-along" id="{aeae3441-2219-e5b1-ea2e-3bc37f0b9cd5}">
          <p14:sldIdLst>
            <p14:sldId id="260"/>
            <p14:sldId id="261"/>
          </p14:sldIdLst>
        </p14:section>
        <p14:section name="Teach" id="{2ae1c446-54d2-d705-0976-3f4789030ca6}">
          <p14:sldIdLst>
            <p14:sldId id="262"/>
            <p14:sldId id="263"/>
            <p14:sldId id="264"/>
            <p14:sldId id="265"/>
          </p14:sldIdLst>
        </p14:section>
        <p14:section name="Routes" id="{5257a759-820f-dd1d-88d4-ede22573e47f}">
          <p14:sldIdLst>
            <p14:sldId id="266"/>
            <p14:sldId id="267"/>
          </p14:sldIdLst>
        </p14:section>
        <p14:section name="Close" id="{d3917cd8-5506-c3a8-4b0c-1866bbae8e55}">
          <p14:sldIdLst>
            <p14:sldId id="268"/>
          </p14:sldIdLst>
        </p14:section>
        <p14:section name="Answers" id="{0a64ce27-5e2a-8de4-2ac3-d761b7974f4b}">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Metric units of length. Choose a sensible unit, and change between millimetres, centimetres, metres and kilometres.
This deck covers the department's lesson: 1 (Convert metric units of length: How do we change between millimetres, centimetres, metres and kilometres?).
Read the big question aloud: "How do we measure the edge of a shape and the space inside it, and how can letters stand for lengths we do not know?"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unit is most sensible for measuring the length of a classroom?  →  A   metres
2. Convert 7 cm to millimetres.  →  70 mm
3. There are ___ metres in 1 kilometre.  →  1000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metres. A classroom is a few big steps long, so metres give a sensible number, about 8 m.
2. 70 mm. There are 10 mm in every centimetre, so 7 × 10 = 70.
3. 1000. Kilo- means a thousand: 1 km is 1000 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millimetre: a very small unit of length, written mm. Example: "A grain of rice is about 7 millimetres long."
• centimetre: a unit of length, written cm; there are 10 mm in 1 cm. Example: "This ruler is 30 centimetres long."
• metre: a unit of length, written m; there are 100 cm in 1 m. Example: "The door is about 2 metres tall."
• kilometre: a unit for long distances, written km; 1 km is 1000 m. Example: "We walked 3 kilometres to the park."
• convert: to change a measurement from one unit to another. Example: "Convert 4 metres to centimetres: it is 400 cm."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We measure length in metric units.
2. The small units are millimetres and centimetres.
3. A grain of rice is a few millimetres long.
4. A pencil is about 15 centimetres long.
5. A door is about 2 metres tall.
6. Long distances are measured in kilometres.
7. There are 10 millimetres in 1 centimetre.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There are 100 centimetres in 1 metre.
9. There are 1000 metres in 1 kilometre.
10. To change a big unit into a small unit, we multiply.
11. To change a small unit into a big unit, we divide.
12. So 3 centimetres is 30 millimetres.
13. And 500 centimetres is 5 metres.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Choosing a sensible unit. Say it in your own words, then check understanding with a quick question: ask a pupil from the pre-teach group first, since they met these words and ideas before the lesson. Pupils try to recall before you re-explain.
Before you measure anything, choose a unit that fits. Millimetres are for tiny things: the thickness of a bank card, the length of a grain of rice. Centimetres suit a pencil, a book or your own height.
Metres suit a room, a house or a swimming pool. Kilometres are for distances you would travel: the way to school, or the distance from London to Brighton.
Two people can both be right. Your height could be 150 cm or 1.5 m. They are the same length written in different units. The unit you pick should give a number that is easy to picture.
Worked example — model it step by step, thinking aloud: Which unit would you use to measure the height of a house? (1) A house is much taller than a person, so centimetres would give a very big number. (2) A house is nowhere near a kilometre tall. (3) Metres fit: a house is about 8 to 10 metres tall. Answer: metres.
Tip: Picture the unit: a millimetre is about the thickness of a bank card, a centimetre is about a fingernail, a metre is one big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Millimetres, centimetres and metres. Say it in your own words, then check understanding with a quick question: ask a pupil from the pre-teach group first, since they met these words and ideas before the lesson. Pupils try to recall before you re-explain.
There are 10 millimetres in 1 centimetre. To change centimetres into millimetres, multiply by 10. To change millimetres into centimetres, divide by 10.
There are 100 centimetres in 1 metre. To change metres into centimetres, multiply by 100. To change centimetres into metres, divide by 100.
Here is the rule to remember. Going to a smaller unit means you need more of them, so the number gets bigger: multiply. Going to a bigger unit means you need fewer of them, so the number gets smaller: divide.
Worked example — model it step by step, thinking aloud: Convert 36 cm to millimetres. (1) Millimetres are smaller than centimetres, so the number will get bigger: multiply. (2) There are 10 mm in 1 cm, so multiply by 10. (3) 36 × 10 = 360. Answer: 360 mm.
Tip: Smaller unit, bigger number. Bigger unit, smaller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Metres, kilometres and the whole chain. Say it in your own words, then check understanding with a quick question: ask a pupil from the pre-teach group first, since they met these words and ideas before the lesson. Pupils try to recall before you re-explain.
The prefix kilo- means a thousand, so 1 kilometre is 1000 metres. To change kilometres into metres, multiply by 1000. To change metres into kilometres, divide by 1000.
You can line the units up as a chain: kilometres, metres, centimetres, millimetres. Moving right along the chain you multiply by 1000, then 100, then 10. Moving left you divide by the same numbers.
To change a length through two steps, do one step at a time. To change 2 km into centimetres: 2 × 1000 = 2000 metres, then 2000 × 100 = 200000 centimetres.
Worked example — model it step by step, thinking aloud: Convert 3.4 km to metres. (1) Metres are smaller than kilometres, so multiply. (2) There are 1000 m in 1 km, so multiply by 1000. (3) 3.4 × 1000 = 3400. Answer: 3400 m.
Tip: Multiplying a decimal by 1000 moves every digit three places to the left: 3.4 becomes 3400.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Comparing lengths in different units. Say it in your own words, then check understanding with a quick question: ask a pupil from the pre-teach group first, since they met these words and ideas before the lesson. Pupils try to recall before you re-explain.
You cannot compare 4.9 m with 4900 mm just by looking at the numbers. First write both lengths in the same unit. 4.9 m is 490 cm, which is 4900 mm, so the two lengths are equal.
Pick the unit that makes the numbers easy. Usually the smaller unit works best, because you avoid decimals.
Once both lengths are in the same unit, compare the numbers as normal, and remember to say which length is longer, not just which number is bigger.
Worked example — model it step by step, thinking aloud: How many metres longer is 0.8 km than 750 m? (1) Change 0.8 km into metres: 0.8 × 1000 = 800. (2) Now both lengths are in metres: 800 m and 750 m. (3) 800 − 750 = 50. Answer: 50 m.
Tip: Same unit first, then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Millimetres to centimetres.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key is 58 mm long. What is its length in centimetres?
Support — work through the steps with the group: (1) Decide: is the new unit bigger or smaller than the old one? (2) Bigger unit means a smaller number, so divide. (3) Millimetres to centimetres is one step of 10, so divide by 10.
Parallel worked example for Support (model it, do not give the task answer): Convert 73 mm to centimetres. Centimetres are bigger than millimetres, so divide.; There are 10 mm in 1 cm, so divide by 10.; 73 ÷ 10 = 7.3.. Answer: 7.3 cm.
Core — reveal the hint only on request: There are 10 mm in 1 cm. Are you going to a bigger or a smaller unit?
Stretch — no help; when finished: Now write 58 mm in metres. Explain each step of the chain you used, and why the number got smaller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Metres to centimetres.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rope is 3.6 m long. How long is it in centimetres?
Support — work through the steps with the group: (1) Centimetres are smaller than metres, so the number gets bigger: multiply. (2) There are 100 cm in 1 m, so multiply by 100. (3) Multiplying by 100 moves every digit two places to the left.
Parallel worked example for Support (model it, do not give the task answer): Convert 2.4 m to centimetres. Centimetres are smaller, so multiply.; Multiply by 100.; 2.4 × 100 = 240.. Answer: 240 cm.
Core — reveal the hint only on request: There are 100 cm in 1 m.
Stretch — no help; when finished: Sam says 3.6 m is 36 cm because you just remove the decimal point. Explain what Sam has done wrong and what the correct method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these lengths in order, shortest first: 45 m, 0.05 km, 4900 mm, 4800 cm.
Answer: 4900 mm  (C); 45 m  (D); 4800 cm  (A); 0.05 km  (B). In metres the lengths are 4.9 m, 45 m, 48 m and 50 m, so the order is 4900 mm, 45 m, 4800 cm, 0.05 km.
Source of this question: module 3 task ("Order lengths in mixed units")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Millimetres to centimetres. Reveal the answer; pupils mark their own work in a different colour, then read the "why" together. Same destination for every lane, so one answer serves the whole class.
Answer: 5.8 cm
Why: Centimetres are bigger than millimetres, so you need fewer of them: 58 ÷ 10 = 5.8.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Metres to centimetres. Reveal the answer; pupils mark their own work in a different colour, then read the "why" together. Same destination for every lane, so one answer serves the whole class.
Answer: D   360 cm
Why: There are 100 cm in every metre, so 3.6 × 100 = 360.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4900 mm  (C); 45 m  (D); 4800 cm  (A); 0.05 km  (B)
Why: In metres the lengths are 4.9 m, 45 m, 48 m and 50 m, so the order is 4900 mm, 45 m, 4800 cm, 0.05 km.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Perimeter and Area · AQA KS3 → 8300</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Metric units of length</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0F2F7"/>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Convert metric units of length</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we measure the edge of a shape and the space inside it, and how can letters stand for lengths we do not know?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unit is most sensible for measuring the length of a classroom?</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metres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kilometres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millimetres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centimetres</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Convert 7 cm to millimetres.</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mm</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There are ___ metres in 1 kilometre.</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10  ·  100  ·  1000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metres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unit is most sensible for measuring the length of a classroom?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classroom is a few big steps long, so metres give a sensible number, about 8 m.</a:t>
            </a:r>
            <a:endParaRPr lang="en-US" sz="20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70 mm</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Convert 7 cm to millimetres.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There are 10 mm in every centimetre, so 7 × 10 = 70.</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1000</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There are ___ metres in 1 kilometre.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Kilo- means a thousand: 1 km is 1000 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5F6F9"/>
          </a:solidFill>
          <a:ln/>
        </p:spPr>
      </p:sp>
      <p:sp>
        <p:nvSpPr>
          <p:cNvPr id="12" name="kw-hex"/>
          <p:cNvSpPr/>
          <p:nvPr/>
        </p:nvSpPr>
        <p:spPr>
          <a:xfrm>
            <a:off x="658368" y="2135261"/>
            <a:ext cx="411480" cy="356342"/>
          </a:xfrm>
          <a:prstGeom prst="hexagon">
            <a:avLst/>
          </a:prstGeom>
          <a:solidFill>
            <a:srgbClr val="2E4A8C"/>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millimetre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very small unit of length, written mm</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grain of rice is about 7 millimetres long.</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centimetre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unit of length, written cm; there are 10 mm in 1 cm</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This ruler is 30 centimetres long.</a:t>
            </a:r>
            <a:endParaRPr lang="en-US" sz="1800" dirty="0"/>
          </a:p>
        </p:txBody>
      </p:sp>
      <p:sp>
        <p:nvSpPr>
          <p:cNvPr id="21" name="kw-row"/>
          <p:cNvSpPr/>
          <p:nvPr/>
        </p:nvSpPr>
        <p:spPr>
          <a:xfrm>
            <a:off x="548640" y="3639312"/>
            <a:ext cx="11094415" cy="786384"/>
          </a:xfrm>
          <a:prstGeom prst="roundRect">
            <a:avLst>
              <a:gd name="adj" fmla="val 6977"/>
            </a:avLst>
          </a:prstGeom>
          <a:solidFill>
            <a:srgbClr val="F5F6F9"/>
          </a:solidFill>
          <a:ln/>
        </p:spPr>
      </p:sp>
      <p:sp>
        <p:nvSpPr>
          <p:cNvPr id="22" name="kw-hex"/>
          <p:cNvSpPr/>
          <p:nvPr/>
        </p:nvSpPr>
        <p:spPr>
          <a:xfrm>
            <a:off x="658368" y="3854333"/>
            <a:ext cx="411480" cy="356342"/>
          </a:xfrm>
          <a:prstGeom prst="hexagon">
            <a:avLst/>
          </a:prstGeom>
          <a:solidFill>
            <a:srgbClr val="2E4A8C"/>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metre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unit of length, written m; there are 100 cm in 1 m</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door is about 2 metres tall.</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kilometre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unit for long distances, written km; 1 km is 1000 m</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We walked 3 kilometres to the park.</a:t>
            </a:r>
            <a:endParaRPr lang="en-US" sz="1800" dirty="0"/>
          </a:p>
        </p:txBody>
      </p:sp>
      <p:sp>
        <p:nvSpPr>
          <p:cNvPr id="31" name="kw-row"/>
          <p:cNvSpPr/>
          <p:nvPr/>
        </p:nvSpPr>
        <p:spPr>
          <a:xfrm>
            <a:off x="548640" y="5358384"/>
            <a:ext cx="11094415" cy="786384"/>
          </a:xfrm>
          <a:prstGeom prst="roundRect">
            <a:avLst>
              <a:gd name="adj" fmla="val 6977"/>
            </a:avLst>
          </a:prstGeom>
          <a:solidFill>
            <a:srgbClr val="F5F6F9"/>
          </a:solidFill>
          <a:ln/>
        </p:spPr>
      </p:sp>
      <p:sp>
        <p:nvSpPr>
          <p:cNvPr id="32" name="kw-hex"/>
          <p:cNvSpPr/>
          <p:nvPr/>
        </p:nvSpPr>
        <p:spPr>
          <a:xfrm>
            <a:off x="658368" y="5573405"/>
            <a:ext cx="411480" cy="356342"/>
          </a:xfrm>
          <a:prstGeom prst="hexagon">
            <a:avLst/>
          </a:prstGeom>
          <a:solidFill>
            <a:srgbClr val="2E4A8C"/>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convert</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change a measurement from one unit to another</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Convert 4 metres to centimetres: it is 400 cm.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measure length in metric units.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small units are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millimetres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centimetres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grain of rice is a few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millimetres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long.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pencil is about 15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centimetres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long.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door is about 2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tall.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Long distances are measured in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kilometres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are 10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millimetres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1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centimetre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are 100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centimetres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1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metre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are 1000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1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kilometre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change a big unit into a small unit, we multiply.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change a small unit into a big unit, we divide.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3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centimetres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30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millimetres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And 500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centimetres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5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Choosing a sensible unit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6F0E6"/>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Picture the unit: a millimetre is about the thickness of a bank card, a centimetre is about a fingernail, a metre is one big step.</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Which unit would you use to measure the height of a house?</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house is much taller than a person, so centimetres would give a very big number.</a:t>
            </a:r>
            <a:endParaRPr lang="en-US" sz="1800" dirty="0"/>
          </a:p>
        </p:txBody>
      </p:sp>
      <p:sp>
        <p:nvSpPr>
          <p:cNvPr id="18" name="step-box"/>
          <p:cNvSpPr/>
          <p:nvPr/>
        </p:nvSpPr>
        <p:spPr>
          <a:xfrm>
            <a:off x="6126480" y="3774440"/>
            <a:ext cx="5379415" cy="566928"/>
          </a:xfrm>
          <a:prstGeom prst="roundRect">
            <a:avLst>
              <a:gd name="adj" fmla="val 16129"/>
            </a:avLst>
          </a:prstGeom>
          <a:solidFill>
            <a:srgbClr val="F0F2F7"/>
          </a:solidFill>
          <a:ln/>
        </p:spPr>
      </p:sp>
      <p:sp>
        <p:nvSpPr>
          <p:cNvPr id="19" name="step-hex"/>
          <p:cNvSpPr/>
          <p:nvPr/>
        </p:nvSpPr>
        <p:spPr>
          <a:xfrm>
            <a:off x="6217920" y="3875774"/>
            <a:ext cx="420624" cy="364260"/>
          </a:xfrm>
          <a:prstGeom prst="hexagon">
            <a:avLst/>
          </a:prstGeom>
          <a:solidFill>
            <a:srgbClr val="2E4A8C"/>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house is nowhere near a kilometre tall.</a:t>
            </a:r>
            <a:endParaRPr lang="en-US" sz="1800" dirty="0"/>
          </a:p>
        </p:txBody>
      </p:sp>
      <p:sp>
        <p:nvSpPr>
          <p:cNvPr id="22" name="step-box"/>
          <p:cNvSpPr/>
          <p:nvPr/>
        </p:nvSpPr>
        <p:spPr>
          <a:xfrm>
            <a:off x="6126480" y="4432808"/>
            <a:ext cx="5379415" cy="566928"/>
          </a:xfrm>
          <a:prstGeom prst="roundRect">
            <a:avLst>
              <a:gd name="adj" fmla="val 16129"/>
            </a:avLst>
          </a:prstGeom>
          <a:solidFill>
            <a:srgbClr val="F0F2F7"/>
          </a:solidFill>
          <a:ln/>
        </p:spPr>
      </p:sp>
      <p:sp>
        <p:nvSpPr>
          <p:cNvPr id="23" name="step-hex"/>
          <p:cNvSpPr/>
          <p:nvPr/>
        </p:nvSpPr>
        <p:spPr>
          <a:xfrm>
            <a:off x="6217920" y="4534142"/>
            <a:ext cx="420624" cy="364260"/>
          </a:xfrm>
          <a:prstGeom prst="hexagon">
            <a:avLst/>
          </a:prstGeom>
          <a:solidFill>
            <a:srgbClr val="2E4A8C"/>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Metres fit: a house is about 8 to 10 metres tall.</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metres</a:t>
            </a:r>
            <a:endParaRPr lang="en-US" sz="1800" dirty="0"/>
          </a:p>
        </p:txBody>
      </p:sp>
      <p:sp>
        <p:nvSpPr>
          <p:cNvPr id="27" name="bullet-card"/>
          <p:cNvSpPr/>
          <p:nvPr/>
        </p:nvSpPr>
        <p:spPr>
          <a:xfrm>
            <a:off x="548640" y="1389888"/>
            <a:ext cx="5074920" cy="1317075"/>
          </a:xfrm>
          <a:prstGeom prst="roundRect">
            <a:avLst>
              <a:gd name="adj" fmla="val 5554"/>
            </a:avLst>
          </a:prstGeom>
          <a:solidFill>
            <a:srgbClr val="F5F6F9"/>
          </a:solidFill>
          <a:ln/>
        </p:spPr>
      </p:sp>
      <p:sp>
        <p:nvSpPr>
          <p:cNvPr id="28" name="bullet-hex"/>
          <p:cNvSpPr/>
          <p:nvPr/>
        </p:nvSpPr>
        <p:spPr>
          <a:xfrm>
            <a:off x="676656" y="1882133"/>
            <a:ext cx="384048" cy="332586"/>
          </a:xfrm>
          <a:prstGeom prst="hexagon">
            <a:avLst/>
          </a:prstGeom>
          <a:solidFill>
            <a:srgbClr val="2E4A8C"/>
          </a:solidFill>
          <a:ln/>
        </p:spPr>
      </p:sp>
      <p:sp>
        <p:nvSpPr>
          <p:cNvPr id="29" name="bullet"/>
          <p:cNvSpPr txBox="1"/>
          <p:nvPr/>
        </p:nvSpPr>
        <p:spPr>
          <a:xfrm>
            <a:off x="1143000" y="1389888"/>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Before you measure anything, choose a unit that fits. Millimetres are for tiny things: the thickness of a bank card, the length of a grain of rice.</a:t>
            </a:r>
            <a:endParaRPr lang="en-US" sz="1800" dirty="0"/>
          </a:p>
        </p:txBody>
      </p:sp>
      <p:sp>
        <p:nvSpPr>
          <p:cNvPr id="30" name="bullet-card"/>
          <p:cNvSpPr/>
          <p:nvPr/>
        </p:nvSpPr>
        <p:spPr>
          <a:xfrm>
            <a:off x="548640" y="2853267"/>
            <a:ext cx="5074920" cy="759291"/>
          </a:xfrm>
          <a:prstGeom prst="roundRect">
            <a:avLst>
              <a:gd name="adj" fmla="val 9634"/>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853267"/>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Metres suit a room, a house or a swimming pool.</a:t>
            </a:r>
            <a:endParaRPr lang="en-US" sz="1800" dirty="0"/>
          </a:p>
        </p:txBody>
      </p:sp>
      <p:sp>
        <p:nvSpPr>
          <p:cNvPr id="33" name="bullet-card"/>
          <p:cNvSpPr/>
          <p:nvPr/>
        </p:nvSpPr>
        <p:spPr>
          <a:xfrm>
            <a:off x="548640" y="3758861"/>
            <a:ext cx="5074920" cy="759291"/>
          </a:xfrm>
          <a:prstGeom prst="roundRect">
            <a:avLst>
              <a:gd name="adj" fmla="val 9634"/>
            </a:avLst>
          </a:prstGeom>
          <a:solidFill>
            <a:srgbClr val="F5F6F9"/>
          </a:solidFill>
          <a:ln/>
        </p:spPr>
      </p:sp>
      <p:sp>
        <p:nvSpPr>
          <p:cNvPr id="34" name="bullet-hex"/>
          <p:cNvSpPr/>
          <p:nvPr/>
        </p:nvSpPr>
        <p:spPr>
          <a:xfrm>
            <a:off x="676656" y="3972214"/>
            <a:ext cx="384048" cy="332586"/>
          </a:xfrm>
          <a:prstGeom prst="hexagon">
            <a:avLst/>
          </a:prstGeom>
          <a:solidFill>
            <a:srgbClr val="2E4A8C"/>
          </a:solidFill>
          <a:ln/>
        </p:spPr>
      </p:sp>
      <p:sp>
        <p:nvSpPr>
          <p:cNvPr id="35" name="bullet"/>
          <p:cNvSpPr txBox="1"/>
          <p:nvPr/>
        </p:nvSpPr>
        <p:spPr>
          <a:xfrm>
            <a:off x="1143000" y="3758861"/>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Two people can both be right. Your height could be 150 cm or 1.5 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Millimetres, centimetres and metres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Smaller unit, bigger number. Bigger unit, smaller number.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Convert 36 cm to millimetres.</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Millimetres are smaller than centimetres, so the number will get bigger: multiply.</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There are 10 mm in 1 cm, so multiply by 10.</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36 × 10 = 360.</a:t>
            </a:r>
            <a:endParaRPr lang="en-US" sz="1800" dirty="0"/>
          </a:p>
        </p:txBody>
      </p:sp>
      <p:sp>
        <p:nvSpPr>
          <p:cNvPr id="26" name="worked-answer"/>
          <p:cNvSpPr/>
          <p:nvPr/>
        </p:nvSpPr>
        <p:spPr>
          <a:xfrm>
            <a:off x="6126480" y="4858004"/>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360 mm</a:t>
            </a:r>
            <a:endParaRPr lang="en-US" sz="1800" dirty="0"/>
          </a:p>
        </p:txBody>
      </p:sp>
      <p:sp>
        <p:nvSpPr>
          <p:cNvPr id="27" name="bullet-card"/>
          <p:cNvSpPr/>
          <p:nvPr/>
        </p:nvSpPr>
        <p:spPr>
          <a:xfrm>
            <a:off x="548640" y="1389888"/>
            <a:ext cx="5074920" cy="1131147"/>
          </a:xfrm>
          <a:prstGeom prst="roundRect">
            <a:avLst>
              <a:gd name="adj" fmla="val 6467"/>
            </a:avLst>
          </a:prstGeom>
          <a:solidFill>
            <a:srgbClr val="F5F6F9"/>
          </a:solidFill>
          <a:ln/>
        </p:spPr>
      </p:sp>
      <p:sp>
        <p:nvSpPr>
          <p:cNvPr id="28" name="bullet-hex"/>
          <p:cNvSpPr/>
          <p:nvPr/>
        </p:nvSpPr>
        <p:spPr>
          <a:xfrm>
            <a:off x="676656" y="1789169"/>
            <a:ext cx="384048" cy="332586"/>
          </a:xfrm>
          <a:prstGeom prst="hexagon">
            <a:avLst/>
          </a:prstGeom>
          <a:solidFill>
            <a:srgbClr val="2E4A8C"/>
          </a:solidFill>
          <a:ln/>
        </p:spPr>
      </p:sp>
      <p:sp>
        <p:nvSpPr>
          <p:cNvPr id="29"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There are 10 millimetres in 1 centimetre. To change centimetres into millimetres, multiply by 10.</a:t>
            </a:r>
            <a:endParaRPr lang="en-US" sz="1800" dirty="0"/>
          </a:p>
        </p:txBody>
      </p:sp>
      <p:sp>
        <p:nvSpPr>
          <p:cNvPr id="30" name="bullet-card"/>
          <p:cNvSpPr/>
          <p:nvPr/>
        </p:nvSpPr>
        <p:spPr>
          <a:xfrm>
            <a:off x="548640" y="2667339"/>
            <a:ext cx="5074920" cy="1131147"/>
          </a:xfrm>
          <a:prstGeom prst="roundRect">
            <a:avLst>
              <a:gd name="adj" fmla="val 6467"/>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667339"/>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There are 100 centimetres in 1 metre. To change metres into centimetres, multiply by 100.</a:t>
            </a:r>
            <a:endParaRPr lang="en-US" sz="1800" dirty="0"/>
          </a:p>
        </p:txBody>
      </p:sp>
      <p:sp>
        <p:nvSpPr>
          <p:cNvPr id="33" name="bullet-card"/>
          <p:cNvSpPr/>
          <p:nvPr/>
        </p:nvSpPr>
        <p:spPr>
          <a:xfrm>
            <a:off x="548640" y="3944789"/>
            <a:ext cx="5074920" cy="1131147"/>
          </a:xfrm>
          <a:prstGeom prst="roundRect">
            <a:avLst>
              <a:gd name="adj" fmla="val 6467"/>
            </a:avLst>
          </a:prstGeom>
          <a:solidFill>
            <a:srgbClr val="F5F6F9"/>
          </a:solidFill>
          <a:ln/>
        </p:spPr>
      </p:sp>
      <p:sp>
        <p:nvSpPr>
          <p:cNvPr id="34" name="bullet-hex"/>
          <p:cNvSpPr/>
          <p:nvPr/>
        </p:nvSpPr>
        <p:spPr>
          <a:xfrm>
            <a:off x="676656" y="4344070"/>
            <a:ext cx="384048" cy="332586"/>
          </a:xfrm>
          <a:prstGeom prst="hexagon">
            <a:avLst/>
          </a:prstGeom>
          <a:solidFill>
            <a:srgbClr val="2E4A8C"/>
          </a:solidFill>
          <a:ln/>
        </p:spPr>
      </p:sp>
      <p:sp>
        <p:nvSpPr>
          <p:cNvPr id="35"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Here is the rule to remember. Going to a smaller unit means you need more of them, so the number gets bigger: multiply.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Metres, kilometres and the whole chain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Multiplying a decimal by 1000 moves every digit three places to the left: 3.4 becomes 3400.</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Convert 3.4 km to metres.</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Metres are smaller than kilometres, so multiply.</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There are 1000 m in 1 km, so multiply by 1000.</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3.4 × 1000 = 3400.</a:t>
            </a:r>
            <a:endParaRPr lang="en-US" sz="1800" dirty="0"/>
          </a:p>
        </p:txBody>
      </p:sp>
      <p:sp>
        <p:nvSpPr>
          <p:cNvPr id="26" name="worked-answer"/>
          <p:cNvSpPr/>
          <p:nvPr/>
        </p:nvSpPr>
        <p:spPr>
          <a:xfrm>
            <a:off x="6126480" y="4858004"/>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3400 m</a:t>
            </a:r>
            <a:endParaRPr lang="en-US" sz="1800" dirty="0"/>
          </a:p>
        </p:txBody>
      </p:sp>
      <p:sp>
        <p:nvSpPr>
          <p:cNvPr id="27" name="bullet-card"/>
          <p:cNvSpPr/>
          <p:nvPr/>
        </p:nvSpPr>
        <p:spPr>
          <a:xfrm>
            <a:off x="548640" y="1389888"/>
            <a:ext cx="5074920" cy="924560"/>
          </a:xfrm>
          <a:prstGeom prst="roundRect">
            <a:avLst>
              <a:gd name="adj" fmla="val 7912"/>
            </a:avLst>
          </a:prstGeom>
          <a:solidFill>
            <a:srgbClr val="F5F6F9"/>
          </a:solidFill>
          <a:ln/>
        </p:spPr>
      </p:sp>
      <p:sp>
        <p:nvSpPr>
          <p:cNvPr id="28" name="bullet-hex"/>
          <p:cNvSpPr/>
          <p:nvPr/>
        </p:nvSpPr>
        <p:spPr>
          <a:xfrm>
            <a:off x="676656" y="1685875"/>
            <a:ext cx="384048" cy="332586"/>
          </a:xfrm>
          <a:prstGeom prst="hexagon">
            <a:avLst/>
          </a:prstGeom>
          <a:solidFill>
            <a:srgbClr val="2E4A8C"/>
          </a:solidFill>
          <a:ln/>
        </p:spPr>
      </p:sp>
      <p:sp>
        <p:nvSpPr>
          <p:cNvPr id="29" name="bullet"/>
          <p:cNvSpPr txBox="1"/>
          <p:nvPr/>
        </p:nvSpPr>
        <p:spPr>
          <a:xfrm>
            <a:off x="1143000" y="1389888"/>
            <a:ext cx="4389120" cy="9245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prefix kilo- means a thousand, so 1 kilometre is 1000 metres.</a:t>
            </a:r>
            <a:endParaRPr lang="en-US" sz="2200" dirty="0"/>
          </a:p>
        </p:txBody>
      </p:sp>
      <p:sp>
        <p:nvSpPr>
          <p:cNvPr id="30" name="bullet-card"/>
          <p:cNvSpPr/>
          <p:nvPr/>
        </p:nvSpPr>
        <p:spPr>
          <a:xfrm>
            <a:off x="548640" y="2460752"/>
            <a:ext cx="5074920" cy="1265428"/>
          </a:xfrm>
          <a:prstGeom prst="roundRect">
            <a:avLst>
              <a:gd name="adj" fmla="val 5781"/>
            </a:avLst>
          </a:prstGeom>
          <a:solidFill>
            <a:srgbClr val="F5F6F9"/>
          </a:solidFill>
          <a:ln/>
        </p:spPr>
      </p:sp>
      <p:sp>
        <p:nvSpPr>
          <p:cNvPr id="31" name="bullet-hex"/>
          <p:cNvSpPr/>
          <p:nvPr/>
        </p:nvSpPr>
        <p:spPr>
          <a:xfrm>
            <a:off x="676656" y="2927173"/>
            <a:ext cx="384048" cy="332586"/>
          </a:xfrm>
          <a:prstGeom prst="hexagon">
            <a:avLst/>
          </a:prstGeom>
          <a:solidFill>
            <a:srgbClr val="B8862B"/>
          </a:solidFill>
          <a:ln/>
        </p:spPr>
      </p:sp>
      <p:sp>
        <p:nvSpPr>
          <p:cNvPr id="32" name="bullet"/>
          <p:cNvSpPr txBox="1"/>
          <p:nvPr/>
        </p:nvSpPr>
        <p:spPr>
          <a:xfrm>
            <a:off x="1143000" y="2460752"/>
            <a:ext cx="4389120" cy="126542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 can line the units up as a chain: kilometres, metres, centimetres, millimetres.</a:t>
            </a:r>
            <a:endParaRPr lang="en-US" sz="2200" dirty="0"/>
          </a:p>
        </p:txBody>
      </p:sp>
      <p:sp>
        <p:nvSpPr>
          <p:cNvPr id="33" name="bullet-card"/>
          <p:cNvSpPr/>
          <p:nvPr/>
        </p:nvSpPr>
        <p:spPr>
          <a:xfrm>
            <a:off x="548640" y="3872484"/>
            <a:ext cx="5074920" cy="924560"/>
          </a:xfrm>
          <a:prstGeom prst="roundRect">
            <a:avLst>
              <a:gd name="adj" fmla="val 7912"/>
            </a:avLst>
          </a:prstGeom>
          <a:solidFill>
            <a:srgbClr val="F5F6F9"/>
          </a:solidFill>
          <a:ln/>
        </p:spPr>
      </p:sp>
      <p:sp>
        <p:nvSpPr>
          <p:cNvPr id="34" name="bullet-hex"/>
          <p:cNvSpPr/>
          <p:nvPr/>
        </p:nvSpPr>
        <p:spPr>
          <a:xfrm>
            <a:off x="676656" y="4168471"/>
            <a:ext cx="384048" cy="332586"/>
          </a:xfrm>
          <a:prstGeom prst="hexagon">
            <a:avLst/>
          </a:prstGeom>
          <a:solidFill>
            <a:srgbClr val="2E4A8C"/>
          </a:solidFill>
          <a:ln/>
        </p:spPr>
      </p:sp>
      <p:sp>
        <p:nvSpPr>
          <p:cNvPr id="35" name="bullet"/>
          <p:cNvSpPr txBox="1"/>
          <p:nvPr/>
        </p:nvSpPr>
        <p:spPr>
          <a:xfrm>
            <a:off x="1143000" y="3872484"/>
            <a:ext cx="4389120" cy="9245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change a length through two steps, do one step at a time.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Comparing lengths in different units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5074920"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4206240"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Same unit first, then compare.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How many metres longer is 0.8 km than 750 m?</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Change 0.8 km into metres: 0.8 × 1000 = 800.</a:t>
            </a:r>
            <a:endParaRPr lang="en-US" sz="1800" dirty="0"/>
          </a:p>
        </p:txBody>
      </p:sp>
      <p:sp>
        <p:nvSpPr>
          <p:cNvPr id="18" name="step-box"/>
          <p:cNvSpPr/>
          <p:nvPr/>
        </p:nvSpPr>
        <p:spPr>
          <a:xfrm>
            <a:off x="6126480" y="3267964"/>
            <a:ext cx="5379415" cy="794512"/>
          </a:xfrm>
          <a:prstGeom prst="roundRect">
            <a:avLst>
              <a:gd name="adj" fmla="val 11509"/>
            </a:avLst>
          </a:prstGeom>
          <a:solidFill>
            <a:srgbClr val="F0F2F7"/>
          </a:solidFill>
          <a:ln/>
        </p:spPr>
      </p:sp>
      <p:sp>
        <p:nvSpPr>
          <p:cNvPr id="19" name="step-hex"/>
          <p:cNvSpPr/>
          <p:nvPr/>
        </p:nvSpPr>
        <p:spPr>
          <a:xfrm>
            <a:off x="6217920" y="3483090"/>
            <a:ext cx="420624" cy="364260"/>
          </a:xfrm>
          <a:prstGeom prst="hexagon">
            <a:avLst/>
          </a:prstGeom>
          <a:solidFill>
            <a:srgbClr val="2E4A8C"/>
          </a:solidFill>
          <a:ln/>
        </p:spPr>
      </p:sp>
      <p:sp>
        <p:nvSpPr>
          <p:cNvPr id="20" name="step-hex-label"/>
          <p:cNvSpPr txBox="1"/>
          <p:nvPr/>
        </p:nvSpPr>
        <p:spPr>
          <a:xfrm>
            <a:off x="6217920" y="34830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Now both lengths are in metres: 800 m and 750 m.</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800 − 750 = 50.</a:t>
            </a:r>
            <a:endParaRPr lang="en-US" sz="1800" dirty="0"/>
          </a:p>
        </p:txBody>
      </p:sp>
      <p:sp>
        <p:nvSpPr>
          <p:cNvPr id="26" name="worked-answer"/>
          <p:cNvSpPr/>
          <p:nvPr/>
        </p:nvSpPr>
        <p:spPr>
          <a:xfrm>
            <a:off x="6126480" y="4858004"/>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50 m</a:t>
            </a:r>
            <a:endParaRPr lang="en-US" sz="1800" dirty="0"/>
          </a:p>
        </p:txBody>
      </p:sp>
      <p:sp>
        <p:nvSpPr>
          <p:cNvPr id="27" name="bullet-card"/>
          <p:cNvSpPr/>
          <p:nvPr/>
        </p:nvSpPr>
        <p:spPr>
          <a:xfrm>
            <a:off x="548640" y="1389888"/>
            <a:ext cx="5074920" cy="810937"/>
          </a:xfrm>
          <a:prstGeom prst="roundRect">
            <a:avLst>
              <a:gd name="adj" fmla="val 9021"/>
            </a:avLst>
          </a:prstGeom>
          <a:solidFill>
            <a:srgbClr val="F5F6F9"/>
          </a:solidFill>
          <a:ln/>
        </p:spPr>
      </p:sp>
      <p:sp>
        <p:nvSpPr>
          <p:cNvPr id="28" name="bullet-hex"/>
          <p:cNvSpPr/>
          <p:nvPr/>
        </p:nvSpPr>
        <p:spPr>
          <a:xfrm>
            <a:off x="676656" y="1629064"/>
            <a:ext cx="384048" cy="332586"/>
          </a:xfrm>
          <a:prstGeom prst="hexagon">
            <a:avLst/>
          </a:prstGeom>
          <a:solidFill>
            <a:srgbClr val="2E4A8C"/>
          </a:solidFill>
          <a:ln/>
        </p:spPr>
      </p:sp>
      <p:sp>
        <p:nvSpPr>
          <p:cNvPr id="29" name="bullet"/>
          <p:cNvSpPr txBox="1"/>
          <p:nvPr/>
        </p:nvSpPr>
        <p:spPr>
          <a:xfrm>
            <a:off x="1143000" y="1389888"/>
            <a:ext cx="4389120" cy="81093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 cannot compare 4.9 m with 4900 mm just by looking at the numbers.</a:t>
            </a:r>
            <a:endParaRPr lang="en-US" sz="2000" dirty="0"/>
          </a:p>
        </p:txBody>
      </p:sp>
      <p:sp>
        <p:nvSpPr>
          <p:cNvPr id="30" name="bullet-card"/>
          <p:cNvSpPr/>
          <p:nvPr/>
        </p:nvSpPr>
        <p:spPr>
          <a:xfrm>
            <a:off x="548640" y="2347129"/>
            <a:ext cx="5074920" cy="1120817"/>
          </a:xfrm>
          <a:prstGeom prst="roundRect">
            <a:avLst>
              <a:gd name="adj" fmla="val 6527"/>
            </a:avLst>
          </a:prstGeom>
          <a:solidFill>
            <a:srgbClr val="F5F6F9"/>
          </a:solidFill>
          <a:ln/>
        </p:spPr>
      </p:sp>
      <p:sp>
        <p:nvSpPr>
          <p:cNvPr id="31" name="bullet-hex"/>
          <p:cNvSpPr/>
          <p:nvPr/>
        </p:nvSpPr>
        <p:spPr>
          <a:xfrm>
            <a:off x="676656" y="2741245"/>
            <a:ext cx="384048" cy="332586"/>
          </a:xfrm>
          <a:prstGeom prst="hexagon">
            <a:avLst/>
          </a:prstGeom>
          <a:solidFill>
            <a:srgbClr val="B8862B"/>
          </a:solidFill>
          <a:ln/>
        </p:spPr>
      </p:sp>
      <p:sp>
        <p:nvSpPr>
          <p:cNvPr id="32" name="bullet"/>
          <p:cNvSpPr txBox="1"/>
          <p:nvPr/>
        </p:nvSpPr>
        <p:spPr>
          <a:xfrm>
            <a:off x="1143000" y="2347129"/>
            <a:ext cx="4389120" cy="112081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Pick the unit that makes the numbers easy. Usually the smaller unit works best, because you avoid decimals.</a:t>
            </a:r>
            <a:endParaRPr lang="en-US" sz="2000" dirty="0"/>
          </a:p>
        </p:txBody>
      </p:sp>
      <p:sp>
        <p:nvSpPr>
          <p:cNvPr id="33" name="bullet-card"/>
          <p:cNvSpPr/>
          <p:nvPr/>
        </p:nvSpPr>
        <p:spPr>
          <a:xfrm>
            <a:off x="548640" y="3614251"/>
            <a:ext cx="5074920" cy="1740577"/>
          </a:xfrm>
          <a:prstGeom prst="roundRect">
            <a:avLst>
              <a:gd name="adj" fmla="val 4203"/>
            </a:avLst>
          </a:prstGeom>
          <a:solidFill>
            <a:srgbClr val="F5F6F9"/>
          </a:solidFill>
          <a:ln/>
        </p:spPr>
      </p:sp>
      <p:sp>
        <p:nvSpPr>
          <p:cNvPr id="34" name="bullet-hex"/>
          <p:cNvSpPr/>
          <p:nvPr/>
        </p:nvSpPr>
        <p:spPr>
          <a:xfrm>
            <a:off x="676656" y="4318247"/>
            <a:ext cx="384048" cy="332586"/>
          </a:xfrm>
          <a:prstGeom prst="hexagon">
            <a:avLst/>
          </a:prstGeom>
          <a:solidFill>
            <a:srgbClr val="2E4A8C"/>
          </a:solidFill>
          <a:ln/>
        </p:spPr>
      </p:sp>
      <p:sp>
        <p:nvSpPr>
          <p:cNvPr id="35" name="bullet"/>
          <p:cNvSpPr txBox="1"/>
          <p:nvPr/>
        </p:nvSpPr>
        <p:spPr>
          <a:xfrm>
            <a:off x="1143000" y="3614251"/>
            <a:ext cx="4389120" cy="174057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Once both lengths are in the same unit, compare the numbers as normal, and remember to say which length is longer, not just which number is bigger.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E4A8C"/>
                </a:solidFill>
                <a:latin typeface="Cambria" pitchFamily="34" charset="0"/>
                <a:ea typeface="Cambria" pitchFamily="34" charset="-122"/>
                <a:cs typeface="Cambria" pitchFamily="34" charset="-120"/>
              </a:rPr>
              <a:t>Same task, three ways in: Millimetres to centimetres</a:t>
            </a:r>
            <a:endParaRPr lang="en-US" sz="28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key is 58 mm long. What is its length in centimetres?</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cm</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is the new unit bigger or smaller than the old one?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Bigger unit means a smaller number, so divide.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Millimetres to centimetres is one step of 10, so divide by 10.</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There are 10 mm in 1 cm. Are you going to a bigger or a smaller unit?</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Now write 58 mm in metres. Explain each step of the chain you used, and why the number got smaller each time.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Metres to centimetres</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rope is 3.6 m long. How long is it in centimetres?</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3600 cm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36 cm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0.036 cm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360 cm</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Centimetres are smaller than metres, so the number gets bigger: multiply.</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There are 100 cm in 1 m, so multiply by 100.</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Multiplying by 100 moves every digit two places to the left.</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There are 100 cm in 1 m.</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Sam says 3.6 m is 36 cm because you just remove the decimal point. Explain what Sam has done wrong and what the correct method is.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Put these lengths in order, shortest first: 45 m, 0.05 km, 4900 mm, 4800 cm.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4800 cm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0.05 km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4900 mm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45 m</a:t>
            </a:r>
            <a:endParaRPr lang="en-US" sz="2400" dirty="0"/>
          </a:p>
        </p:txBody>
      </p:sp>
      <p:sp>
        <p:nvSpPr>
          <p:cNvPr id="11" name="exit-answer-box"/>
          <p:cNvSpPr/>
          <p:nvPr/>
        </p:nvSpPr>
        <p:spPr>
          <a:xfrm>
            <a:off x="2286000" y="5184648"/>
            <a:ext cx="7619695" cy="685800"/>
          </a:xfrm>
          <a:prstGeom prst="roundRect">
            <a:avLst>
              <a:gd name="adj" fmla="val 13333"/>
            </a:avLst>
          </a:prstGeom>
          <a:solidFill>
            <a:srgbClr val="F7F8FA"/>
          </a:solidFill>
          <a:ln w="12700">
            <a:solidFill>
              <a:srgbClr val="9DAAC9"/>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Millimetres to centimetres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key is 58 mm long. What is its length in centimetres?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5.8 cm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Centimetres are bigger than millimetres, so you need fewer of them: 58 ÷ 10 = 5.8.</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Metres to centimetres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rope is 3.6 m long. How long is it in centimetres?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360 cm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100 cm in every metre, so 3.6 × 100 = 360.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4900 mm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45 m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4800 cm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0.05 km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metres the lengths are 4.9 m, 45 m, 48 m and 50 m, so the order is 4900 mm, 45 m, 4800 cm, 0.05 km.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Perimeter and Area · Chapter 1: Metric units of length</dc:title>
  <dc:subject>Mathematics · Year 7</dc:subject>
  <dc:creator>Dr Vitor Merissi de Carvalho</dc:creator>
  <cp:lastModifiedBy>Dr Vitor Merissi de Carvalho</cp:lastModifiedBy>
  <cp:revision>1</cp:revision>
  <dcterms:created xsi:type="dcterms:W3CDTF">2026-10-19T06:08:11Z</dcterms:created>
  <dcterms:modified xsi:type="dcterms:W3CDTF">2026-10-19T06:08:11Z</dcterms:modified>
</cp:coreProperties>
</file>