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0c74494-4756-b10c-ca0c-d367554b8bd1}">
          <p14:sldIdLst>
            <p14:sldId id="256"/>
          </p14:sldIdLst>
        </p14:section>
        <p14:section name="Gate" id="{885e1ae0-e513-abec-4206-12e1dcff5979}">
          <p14:sldIdLst>
            <p14:sldId id="257"/>
            <p14:sldId id="258"/>
          </p14:sldIdLst>
        </p14:section>
        <p14:section name="Pre-teach" id="{3c890d47-c0f4-2c92-87d7-acab827025f9}">
          <p14:sldIdLst>
            <p14:sldId id="259"/>
          </p14:sldIdLst>
        </p14:section>
        <p14:section name="Read-along" id="{0cf76b8b-59f5-7f1f-067f-5ec5802813cc}">
          <p14:sldIdLst>
            <p14:sldId id="260"/>
            <p14:sldId id="261"/>
          </p14:sldIdLst>
        </p14:section>
        <p14:section name="Teach" id="{5c5c8b3f-5c3a-3208-924c-b48d3e312fde}">
          <p14:sldIdLst>
            <p14:sldId id="262"/>
            <p14:sldId id="263"/>
            <p14:sldId id="264"/>
            <p14:sldId id="265"/>
          </p14:sldIdLst>
        </p14:section>
        <p14:section name="Routes" id="{955de156-df00-8163-d331-4815d22d13b7}">
          <p14:sldIdLst>
            <p14:sldId id="266"/>
            <p14:sldId id="267"/>
          </p14:sldIdLst>
        </p14:section>
        <p14:section name="Close" id="{b2733f7f-4a76-74f7-680a-7ec2f14e85f9}">
          <p14:sldIdLst>
            <p14:sldId id="268"/>
          </p14:sldIdLst>
        </p14:section>
        <p14:section name="Answers" id="{a46b1779-157b-9a43-aa26-7bc74228191c}">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Area of rectangles, squares and parallelograms. Measure the space inside a shape in square units, and use base times perpendicular height.
This deck covers the department's lesson: 4 (Area of rectangles and parallelograms: How do we work out the area of a rectangle and of a parallelogram?).
Read the big question aloud: "How do we measure the edge of a shape and the space inside it, and how can letters stand for lengths we do not know?"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rectangle is 7 cm long and 5 cm wide. What is its area?  →  35 cm²
2. Which unit is used for area?  →  C   cm²
3. A parallelogram has a base of 10 cm, a slanted side of 6 cm and a perpendicular height of 5 cm. Which calculation gives its area?  →  A   10 × 5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35 cm². Area of a rectangle = length × width = 7 × 5 = 35.
2. C   cm². Area counts squares, so its unit is square centimetres, cm².
3. A   10 × 5. Area of a parallelogram = base × perpendicular height = 10 × 5 = 50.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area: the amount of space inside a flat shape. Example: "The area of the rug is 6 square metres."
• square centimetre: a square with sides of 1 cm; the unit written cm². Example: "This stamp covers 4 square centimetres."
• parallelogram: a four-sided shape with two pairs of parallel sides. Example: "A parallelogram looks like a pushed-over rectangle."
• base: the side a shape's height is measured from. Example: "The base of the parallelogram is 8 cm."
• perpendicular height: the height measured at a right angle to the base. Example: "The perpendicular height is marked with a right angle."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Area is the amount of space inside a flat shape.
2. We measure it in square units, like square centimetres.
3. A square centimetre is a square with sides of 1 cm.
4. We write it as cm².
5. To find the area of a rectangle, multiply the length by the width.
6. A rectangle 5 cm long and 3 cm wide has an area of 15 cm².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 square has four equal sides, so multiply the side by itself.
8. A parallelogram is like a pushed-over rectangle.
9. Its area is the base times the perpendicular height.
10. The perpendicular height goes straight up from the base, at a right angle.
11. Do not use the slanted side.
12. Perimeter is measured in cm, but area is measured in cm².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area means. Say it in your own words, then check understanding with a quick question: ask a pupil from the pre-teach group first, since they met these words and ideas before the lesson. Pupils try to recall before you re-explain.
Area is how much flat space a shape covers. Imagine covering the shape with squares that are 1 cm along each side. The number of squares you need is the area in square centimetres, written cm².
A rectangle 6 cm long and 4 cm wide holds 6 squares in each row and has 4 rows, so it holds 6 × 4 = 24 squares. Its area is 24 cm². Multiplying is just a fast way of counting the squares.
Perimeter and area are different. Perimeter is a length, measured in cm. Area is a space, measured in cm². The little 2 tells you that the unit is a square.
Worked example — model it step by step, thinking aloud: A rectangle is 6 cm long and 4 cm wide. Work out its area. (1) Area of a rectangle = length × width. (2) 6 × 4 = 24. (3) Area is measured in square units: 24 cm². Answer: 24 cm².
Tip: Area has a little 2 in its unit: cm². Perimeter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Rectangles and squares. Say it in your own words, then check understanding with a quick question: ask a pupil from the pre-teach group first, since they met these words and ideas before the lesson. Pupils try to recall before you re-explain.
For any rectangle, area = length × width. The two lengths must be in the same unit. If one is in metres and the other in centimetres, convert before you multiply.
A square is a rectangle with equal sides, so multiply the side by itself. A square with 5 cm sides has an area of 5 × 5 = 25 cm². We can also write 5 × 5 as 5², which we say as five squared.
Decimals work the same way. A rectangle 3.5 m long and 4 m wide has an area of 3.5 × 4 = 14 m².
Worked example — model it step by step, thinking aloud: A square has sides of 9 m. Work out its area. (1) A square has equal sides, so area = side × side. (2) 9 × 9 = 81. (3) The area is 81 m². Answer: 81 m².
Tip: Side squared means side times side, not side times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Parallelograms. Say it in your own words, then check understanding with a quick question: ask a pupil from the pre-teach group first, since they met these words and ideas before the lesson. Pupils try to recall before you re-explain.
A parallelogram is like a rectangle that has been pushed over. If you cut a triangle off one end and slide it to the other end, you get a rectangle with the same base and the same height. So the area is the same as that rectangle: base × perpendicular height.
The perpendicular height is the straight-up distance from the base to the opposite side, at a right angle. It is usually marked with a small square for the right angle. It is not the slanted side.
A parallelogram with a base of 10 cm, a slanted side of 6 cm and a perpendicular height of 5 cm has an area of 10 × 5 = 50 cm². The 6 cm is not used.
Worked example — model it step by step, thinking aloud: A parallelogram has a base of 8 cm, a slanted side of 5 cm and a perpendicular height of 4 cm. Work out its area. (1) Area of a parallelogram = base × perpendicular height. (2) Use the 8 cm base and the 4 cm height. Ignore the slanted 5 cm side. (3) 8 × 4 = 32, so the area is 32 cm². Answer: 32 cm².
Tip: Look for the right-angle mark. The line it sits on is the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Finding a missing length. Say it in your own words, then check understanding with a quick question: ask a pupil from the pre-teach group first, since they met these words and ideas before the lesson. Pupils try to recall before you re-explain.
If you know the area of a rectangle and one side, you can find the other side. Area = length × width, so width = area ÷ length.
A rectangle has an area of 54 cm² and a length of 9 cm. Its width is 54 ÷ 9 = 6 cm. Check: 9 × 6 = 54.
The same idea works for a parallelogram: height = area ÷ base. Division undoes the multiplication.
Worked example — model it step by step, thinking aloud: A rectangle has an area of 54 cm² and a length of 9 cm. Work out its width. (1) Area = length × width, so width = area ÷ length. (2) 54 ÷ 9 = 6. (3) The width is 6 cm. Check: 9 × 6 = 54. Answer: 6 cm.
Tip: A missing length comes from dividing. Its unit is cm, not cm².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Area of a rectangle.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rectangle is 12 cm long and 7 cm wide. Work out its area.
Support — work through the steps with the group: (1) Area of a rectangle = length × width. (2) Multiply the two numbers. (3) Write the unit as cm², because area counts squares.
Parallel worked example for Support (model it, do not give the task answer): A rectangle is 8 cm long and 3 cm wide. Work out its area. Length × width.; 8 × 3 = 24.; Area = 24 cm².. Answer: 24 cm².
Core — reveal the hint only on request: Area = length × width. Do not add.
Stretch — no help; when finished: Find a different rectangle with whole-number sides and the same area of 84 cm². Which of the two rectangles has the smaller perimeter,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Area of a parallelogram.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parallelogram has a base of 9 cm, a slanted side of 7 cm and a perpendicular height of 6 cm. Work out its area.
Support — work through the steps with the group: (1) Find the base and the perpendicular height. The height is the one at a right angle to the base. (2) Cross out the slanted side; it is not needed. (3) Multiply base × height and write cm².
Parallel worked example for Support (model it, do not give the task answer): A parallelogram has a base of 11 cm, a slanted side of 6 cm and a perpendicular height of 5 cm. Work out its area. Base 11 cm, perpendicular height 5 cm.; Ignore the slanted 6 cm.; 11 × 5 = 55, so the area is 55 cm².. Answer: 55 cm².
Core — reveal the hint only on request: Only two of the three lengths are needed: the base and the perpendicular height.
Stretch — no help; when finished: Explain, with a sketch in words, why cutting a triangle off one end of a parallelogram and moving it to the other end shows the area is base × perpendicular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rectangle has an area of 72 cm² and a width of 8 cm. How long is it?
Answer: 9 cm. Length = area ÷ width = 72 ÷ 8 = 9. Check: 9 × 8 = 72.
Source of this question: module 3 task ("Work backwards from the area")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Area of a rectangle. Reveal the answer; pupils mark their own work in a different colour, then read the "why" together. Same destination for every lane, so one answer serves the whole class.
Answer: 84 cm²
Why: Area = length × width = 12 × 7 = 84.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Area of a parallelogram. Reveal the answer; pupils mark their own work in a different colour, then read the "why" together. Same destination for every lane, so one answer serves the whole class.
Answer: 54 cm²
Why: Area = base × perpendicular height = 9 × 6 = 54. The slanted 7 cm side is not used.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9 cm
Why: Length = area ÷ width = 72 ÷ 8 = 9. Check: 9 × 8 = 72.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Perimeter and Area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Perimeter and Area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Perimeter and Area · AQA KS3 → 8300</a:t>
            </a:r>
            <a:endParaRPr lang="en-US" sz="1800" dirty="0"/>
          </a:p>
        </p:txBody>
      </p:sp>
      <p:sp>
        <p:nvSpPr>
          <p:cNvPr id="10" name="deck-title"/>
          <p:cNvSpPr txBox="1"/>
          <p:nvPr/>
        </p:nvSpPr>
        <p:spPr>
          <a:xfrm>
            <a:off x="548640" y="252526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Area of rectangles, squares and parallelograms</a:t>
            </a:r>
            <a:endParaRPr lang="en-US" sz="3200" dirty="0"/>
          </a:p>
        </p:txBody>
      </p:sp>
      <p:sp>
        <p:nvSpPr>
          <p:cNvPr id="11" name="lessons-card"/>
          <p:cNvSpPr/>
          <p:nvPr/>
        </p:nvSpPr>
        <p:spPr>
          <a:xfrm>
            <a:off x="548640" y="3937508"/>
            <a:ext cx="5287975" cy="980440"/>
          </a:xfrm>
          <a:prstGeom prst="roundRect">
            <a:avLst>
              <a:gd name="adj" fmla="val 7461"/>
            </a:avLst>
          </a:prstGeom>
          <a:solidFill>
            <a:srgbClr val="F0F2F7"/>
          </a:solidFill>
          <a:ln/>
        </p:spPr>
      </p:sp>
      <p:sp>
        <p:nvSpPr>
          <p:cNvPr id="12" name="lessons"/>
          <p:cNvSpPr txBox="1"/>
          <p:nvPr/>
        </p:nvSpPr>
        <p:spPr>
          <a:xfrm>
            <a:off x="685800" y="40289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Area of rectangles and parallelograms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we measure the edge of a shape and the space inside it, and how can letters stand for lengths we do not know?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rectangle is 7 cm long and 5 cm wide. What is its area?</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cm²</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unit is used for area?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cm³</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cm²</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A parallelogram has a base of 10 cm, a slanted side of 6 cm and a perpendicular height of 5 cm. Which calculation gives its area?</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10 × 5</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6 × 5</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10 + 6 + 5</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10 × 6</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35 cm²</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rectangle is 7 cm long and 5 cm wide. What is its area?</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Area of a rectangle = length × width = 7 × 5 = 35.</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cm²</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unit is used for area?</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Area counts squares, so its unit is square centimetres, cm².</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10 × 5</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parallelogram has a base of 10 cm, a slanted side of 6 cm and a perpendicular height of 5 cm. Which calculation gives its area?</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Area of a parallelogram = base × perpendicular height = 10 × 5 = 50.</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65861"/>
          </a:xfrm>
          <a:prstGeom prst="roundRect">
            <a:avLst>
              <a:gd name="adj" fmla="val 7164"/>
            </a:avLst>
          </a:prstGeom>
          <a:solidFill>
            <a:srgbClr val="F5F6F9"/>
          </a:solidFill>
          <a:ln/>
        </p:spPr>
      </p:sp>
      <p:sp>
        <p:nvSpPr>
          <p:cNvPr id="12" name="kw-hex"/>
          <p:cNvSpPr/>
          <p:nvPr/>
        </p:nvSpPr>
        <p:spPr>
          <a:xfrm>
            <a:off x="658368" y="2125000"/>
            <a:ext cx="411480" cy="356342"/>
          </a:xfrm>
          <a:prstGeom prst="hexagon">
            <a:avLst/>
          </a:prstGeom>
          <a:solidFill>
            <a:srgbClr val="2E4A8C"/>
          </a:solidFill>
          <a:ln/>
        </p:spPr>
      </p:sp>
      <p:sp>
        <p:nvSpPr>
          <p:cNvPr id="13" name="kw-cell"/>
          <p:cNvSpPr txBox="1"/>
          <p:nvPr/>
        </p:nvSpPr>
        <p:spPr>
          <a:xfrm>
            <a:off x="1143000" y="1920240"/>
            <a:ext cx="2331720" cy="76586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area</a:t>
            </a:r>
            <a:endParaRPr lang="en-US" sz="2000" dirty="0"/>
          </a:p>
        </p:txBody>
      </p:sp>
      <p:sp>
        <p:nvSpPr>
          <p:cNvPr id="14" name="kw-cell"/>
          <p:cNvSpPr txBox="1"/>
          <p:nvPr/>
        </p:nvSpPr>
        <p:spPr>
          <a:xfrm>
            <a:off x="3657600" y="1920240"/>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amount of space inside a flat shape</a:t>
            </a:r>
            <a:endParaRPr lang="en-US" sz="1800" dirty="0"/>
          </a:p>
        </p:txBody>
      </p:sp>
      <p:sp>
        <p:nvSpPr>
          <p:cNvPr id="15" name="kw-cell"/>
          <p:cNvSpPr txBox="1"/>
          <p:nvPr/>
        </p:nvSpPr>
        <p:spPr>
          <a:xfrm>
            <a:off x="7315200" y="1920240"/>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area of the rug is 6 square metres.</a:t>
            </a:r>
            <a:endParaRPr lang="en-US" sz="1800" dirty="0"/>
          </a:p>
        </p:txBody>
      </p:sp>
      <p:sp>
        <p:nvSpPr>
          <p:cNvPr id="16" name="kw-row"/>
          <p:cNvSpPr/>
          <p:nvPr/>
        </p:nvSpPr>
        <p:spPr>
          <a:xfrm>
            <a:off x="548640" y="2759253"/>
            <a:ext cx="11094415" cy="765861"/>
          </a:xfrm>
          <a:prstGeom prst="roundRect">
            <a:avLst>
              <a:gd name="adj" fmla="val 7164"/>
            </a:avLst>
          </a:prstGeom>
          <a:solidFill>
            <a:srgbClr val="F9F4EC"/>
          </a:solidFill>
          <a:ln/>
        </p:spPr>
      </p:sp>
      <p:sp>
        <p:nvSpPr>
          <p:cNvPr id="17" name="kw-hex"/>
          <p:cNvSpPr/>
          <p:nvPr/>
        </p:nvSpPr>
        <p:spPr>
          <a:xfrm>
            <a:off x="658368" y="2964012"/>
            <a:ext cx="411480" cy="356342"/>
          </a:xfrm>
          <a:prstGeom prst="hexagon">
            <a:avLst/>
          </a:prstGeom>
          <a:solidFill>
            <a:srgbClr val="B8862B"/>
          </a:solidFill>
          <a:ln/>
        </p:spPr>
      </p:sp>
      <p:sp>
        <p:nvSpPr>
          <p:cNvPr id="18" name="kw-cell"/>
          <p:cNvSpPr txBox="1"/>
          <p:nvPr/>
        </p:nvSpPr>
        <p:spPr>
          <a:xfrm>
            <a:off x="1143000" y="2759253"/>
            <a:ext cx="2331720" cy="76586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square centimetre</a:t>
            </a:r>
            <a:endParaRPr lang="en-US" sz="2000" dirty="0"/>
          </a:p>
        </p:txBody>
      </p:sp>
      <p:sp>
        <p:nvSpPr>
          <p:cNvPr id="19" name="kw-cell"/>
          <p:cNvSpPr txBox="1"/>
          <p:nvPr/>
        </p:nvSpPr>
        <p:spPr>
          <a:xfrm>
            <a:off x="3657600" y="2759253"/>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square with sides of 1 cm; the unit written cm²</a:t>
            </a:r>
            <a:endParaRPr lang="en-US" sz="1800" dirty="0"/>
          </a:p>
        </p:txBody>
      </p:sp>
      <p:sp>
        <p:nvSpPr>
          <p:cNvPr id="20" name="kw-cell"/>
          <p:cNvSpPr txBox="1"/>
          <p:nvPr/>
        </p:nvSpPr>
        <p:spPr>
          <a:xfrm>
            <a:off x="7315200" y="2759253"/>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This stamp covers 4 square centimetres.</a:t>
            </a:r>
            <a:endParaRPr lang="en-US" sz="1800" dirty="0"/>
          </a:p>
        </p:txBody>
      </p:sp>
      <p:sp>
        <p:nvSpPr>
          <p:cNvPr id="21" name="kw-row"/>
          <p:cNvSpPr/>
          <p:nvPr/>
        </p:nvSpPr>
        <p:spPr>
          <a:xfrm>
            <a:off x="548640" y="3598266"/>
            <a:ext cx="11094415" cy="765861"/>
          </a:xfrm>
          <a:prstGeom prst="roundRect">
            <a:avLst>
              <a:gd name="adj" fmla="val 7164"/>
            </a:avLst>
          </a:prstGeom>
          <a:solidFill>
            <a:srgbClr val="F5F6F9"/>
          </a:solidFill>
          <a:ln/>
        </p:spPr>
      </p:sp>
      <p:sp>
        <p:nvSpPr>
          <p:cNvPr id="22" name="kw-hex"/>
          <p:cNvSpPr/>
          <p:nvPr/>
        </p:nvSpPr>
        <p:spPr>
          <a:xfrm>
            <a:off x="658368" y="3803025"/>
            <a:ext cx="411480" cy="356342"/>
          </a:xfrm>
          <a:prstGeom prst="hexagon">
            <a:avLst/>
          </a:prstGeom>
          <a:solidFill>
            <a:srgbClr val="2E4A8C"/>
          </a:solidFill>
          <a:ln/>
        </p:spPr>
      </p:sp>
      <p:sp>
        <p:nvSpPr>
          <p:cNvPr id="23" name="kw-cell"/>
          <p:cNvSpPr txBox="1"/>
          <p:nvPr/>
        </p:nvSpPr>
        <p:spPr>
          <a:xfrm>
            <a:off x="1143000" y="3598266"/>
            <a:ext cx="2331720" cy="76586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parallelogram</a:t>
            </a:r>
            <a:endParaRPr lang="en-US" sz="2000" dirty="0"/>
          </a:p>
        </p:txBody>
      </p:sp>
      <p:sp>
        <p:nvSpPr>
          <p:cNvPr id="24" name="kw-cell"/>
          <p:cNvSpPr txBox="1"/>
          <p:nvPr/>
        </p:nvSpPr>
        <p:spPr>
          <a:xfrm>
            <a:off x="3657600" y="3598266"/>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four-sided shape with two pairs of parallel sides</a:t>
            </a:r>
            <a:endParaRPr lang="en-US" sz="1800" dirty="0"/>
          </a:p>
        </p:txBody>
      </p:sp>
      <p:sp>
        <p:nvSpPr>
          <p:cNvPr id="25" name="kw-cell"/>
          <p:cNvSpPr txBox="1"/>
          <p:nvPr/>
        </p:nvSpPr>
        <p:spPr>
          <a:xfrm>
            <a:off x="7315200" y="3598266"/>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parallelogram looks like a pushed-over rectangle.</a:t>
            </a:r>
            <a:endParaRPr lang="en-US" sz="1800" dirty="0"/>
          </a:p>
        </p:txBody>
      </p:sp>
      <p:sp>
        <p:nvSpPr>
          <p:cNvPr id="26" name="kw-row"/>
          <p:cNvSpPr/>
          <p:nvPr/>
        </p:nvSpPr>
        <p:spPr>
          <a:xfrm>
            <a:off x="548640" y="4437278"/>
            <a:ext cx="11094415" cy="765861"/>
          </a:xfrm>
          <a:prstGeom prst="roundRect">
            <a:avLst>
              <a:gd name="adj" fmla="val 7164"/>
            </a:avLst>
          </a:prstGeom>
          <a:solidFill>
            <a:srgbClr val="F9F4EC"/>
          </a:solidFill>
          <a:ln/>
        </p:spPr>
      </p:sp>
      <p:sp>
        <p:nvSpPr>
          <p:cNvPr id="27" name="kw-hex"/>
          <p:cNvSpPr/>
          <p:nvPr/>
        </p:nvSpPr>
        <p:spPr>
          <a:xfrm>
            <a:off x="658368" y="4642038"/>
            <a:ext cx="411480" cy="356342"/>
          </a:xfrm>
          <a:prstGeom prst="hexagon">
            <a:avLst/>
          </a:prstGeom>
          <a:solidFill>
            <a:srgbClr val="B8862B"/>
          </a:solidFill>
          <a:ln/>
        </p:spPr>
      </p:sp>
      <p:sp>
        <p:nvSpPr>
          <p:cNvPr id="28" name="kw-cell"/>
          <p:cNvSpPr txBox="1"/>
          <p:nvPr/>
        </p:nvSpPr>
        <p:spPr>
          <a:xfrm>
            <a:off x="1143000" y="4437278"/>
            <a:ext cx="2331720" cy="76586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base</a:t>
            </a:r>
            <a:endParaRPr lang="en-US" sz="2000" dirty="0"/>
          </a:p>
        </p:txBody>
      </p:sp>
      <p:sp>
        <p:nvSpPr>
          <p:cNvPr id="29" name="kw-cell"/>
          <p:cNvSpPr txBox="1"/>
          <p:nvPr/>
        </p:nvSpPr>
        <p:spPr>
          <a:xfrm>
            <a:off x="3657600" y="4437278"/>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side a shape's height is measured from</a:t>
            </a:r>
            <a:endParaRPr lang="en-US" sz="1800" dirty="0"/>
          </a:p>
        </p:txBody>
      </p:sp>
      <p:sp>
        <p:nvSpPr>
          <p:cNvPr id="30" name="kw-cell"/>
          <p:cNvSpPr txBox="1"/>
          <p:nvPr/>
        </p:nvSpPr>
        <p:spPr>
          <a:xfrm>
            <a:off x="7315200" y="4437278"/>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base of the parallelogram is 8 cm.</a:t>
            </a:r>
            <a:endParaRPr lang="en-US" sz="1800" dirty="0"/>
          </a:p>
        </p:txBody>
      </p:sp>
      <p:sp>
        <p:nvSpPr>
          <p:cNvPr id="31" name="kw-row"/>
          <p:cNvSpPr/>
          <p:nvPr/>
        </p:nvSpPr>
        <p:spPr>
          <a:xfrm>
            <a:off x="548640" y="5276291"/>
            <a:ext cx="11094415" cy="868477"/>
          </a:xfrm>
          <a:prstGeom prst="roundRect">
            <a:avLst>
              <a:gd name="adj" fmla="val 6317"/>
            </a:avLst>
          </a:prstGeom>
          <a:solidFill>
            <a:srgbClr val="F5F6F9"/>
          </a:solidFill>
          <a:ln/>
        </p:spPr>
      </p:sp>
      <p:sp>
        <p:nvSpPr>
          <p:cNvPr id="32" name="kw-hex"/>
          <p:cNvSpPr/>
          <p:nvPr/>
        </p:nvSpPr>
        <p:spPr>
          <a:xfrm>
            <a:off x="658368" y="5532359"/>
            <a:ext cx="411480" cy="356342"/>
          </a:xfrm>
          <a:prstGeom prst="hexagon">
            <a:avLst/>
          </a:prstGeom>
          <a:solidFill>
            <a:srgbClr val="2E4A8C"/>
          </a:solidFill>
          <a:ln/>
        </p:spPr>
      </p:sp>
      <p:sp>
        <p:nvSpPr>
          <p:cNvPr id="33" name="kw-cell"/>
          <p:cNvSpPr txBox="1"/>
          <p:nvPr/>
        </p:nvSpPr>
        <p:spPr>
          <a:xfrm>
            <a:off x="1143000" y="5276291"/>
            <a:ext cx="2331720" cy="868477"/>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perpendicular height</a:t>
            </a:r>
            <a:endParaRPr lang="en-US" sz="2000" dirty="0"/>
          </a:p>
        </p:txBody>
      </p:sp>
      <p:sp>
        <p:nvSpPr>
          <p:cNvPr id="34" name="kw-cell"/>
          <p:cNvSpPr txBox="1"/>
          <p:nvPr/>
        </p:nvSpPr>
        <p:spPr>
          <a:xfrm>
            <a:off x="3657600" y="5276291"/>
            <a:ext cx="3474720" cy="8684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height measured at a right angle to the base</a:t>
            </a:r>
            <a:endParaRPr lang="en-US" sz="1800" dirty="0"/>
          </a:p>
        </p:txBody>
      </p:sp>
      <p:sp>
        <p:nvSpPr>
          <p:cNvPr id="35" name="kw-cell"/>
          <p:cNvSpPr txBox="1"/>
          <p:nvPr/>
        </p:nvSpPr>
        <p:spPr>
          <a:xfrm>
            <a:off x="7315200" y="5276291"/>
            <a:ext cx="4236415" cy="86847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perpendicular height is marked with a right angle.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Area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the amount of space inside a flat shape.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We measure it in square units, like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square centimetres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square centimetre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 square with sides of 1 cm.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We write it as cm².</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 find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area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of a rectangle, multiply the length by the width.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rectangle 5 cm long and 3 cm wide has an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area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of 15 cm².</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square has four equal sides, so multiply the side by itself.</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parallelogram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like a pushed-over rectangle.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Its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area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base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times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perpendicular height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perpendicular height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goes straight up from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base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at a right angle.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Do not use the slanted side.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Perimeter is measured in cm, but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area</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measured in cm².</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What area means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Area has a little 2 in its unit: cm². Perimeter does not.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rectangle is 6 cm long and 4 cm wide. Work out its area.</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Area of a rectangle = length × width.</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6 × 4 = 24.</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Area is measured in square units: 24 cm².</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24 cm²</a:t>
            </a:r>
            <a:endParaRPr lang="en-US" sz="1800" dirty="0"/>
          </a:p>
        </p:txBody>
      </p:sp>
      <p:sp>
        <p:nvSpPr>
          <p:cNvPr id="27" name="bullet-card"/>
          <p:cNvSpPr/>
          <p:nvPr/>
        </p:nvSpPr>
        <p:spPr>
          <a:xfrm>
            <a:off x="548640" y="1389888"/>
            <a:ext cx="5074920" cy="1441027"/>
          </a:xfrm>
          <a:prstGeom prst="roundRect">
            <a:avLst>
              <a:gd name="adj" fmla="val 5076"/>
            </a:avLst>
          </a:prstGeom>
          <a:solidFill>
            <a:srgbClr val="F5F6F9"/>
          </a:solidFill>
          <a:ln/>
        </p:spPr>
      </p:sp>
      <p:sp>
        <p:nvSpPr>
          <p:cNvPr id="28" name="bullet-hex"/>
          <p:cNvSpPr/>
          <p:nvPr/>
        </p:nvSpPr>
        <p:spPr>
          <a:xfrm>
            <a:off x="676656" y="1944109"/>
            <a:ext cx="384048" cy="332586"/>
          </a:xfrm>
          <a:prstGeom prst="hexagon">
            <a:avLst/>
          </a:prstGeom>
          <a:solidFill>
            <a:srgbClr val="2E4A8C"/>
          </a:solidFill>
          <a:ln/>
        </p:spPr>
      </p:sp>
      <p:sp>
        <p:nvSpPr>
          <p:cNvPr id="29" name="bullet"/>
          <p:cNvSpPr txBox="1"/>
          <p:nvPr/>
        </p:nvSpPr>
        <p:spPr>
          <a:xfrm>
            <a:off x="1143000" y="1389888"/>
            <a:ext cx="4389120" cy="144102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Area is how much flat space a shape covers. Imagine covering the shape with squares that are 1 cm along each side.</a:t>
            </a:r>
            <a:endParaRPr lang="en-US" sz="2000" dirty="0"/>
          </a:p>
        </p:txBody>
      </p:sp>
      <p:sp>
        <p:nvSpPr>
          <p:cNvPr id="30" name="bullet-card"/>
          <p:cNvSpPr/>
          <p:nvPr/>
        </p:nvSpPr>
        <p:spPr>
          <a:xfrm>
            <a:off x="548640" y="2977219"/>
            <a:ext cx="5074920" cy="1131147"/>
          </a:xfrm>
          <a:prstGeom prst="roundRect">
            <a:avLst>
              <a:gd name="adj" fmla="val 6467"/>
            </a:avLst>
          </a:prstGeom>
          <a:solidFill>
            <a:srgbClr val="F5F6F9"/>
          </a:solidFill>
          <a:ln/>
        </p:spPr>
      </p:sp>
      <p:sp>
        <p:nvSpPr>
          <p:cNvPr id="31" name="bullet-hex"/>
          <p:cNvSpPr/>
          <p:nvPr/>
        </p:nvSpPr>
        <p:spPr>
          <a:xfrm>
            <a:off x="676656" y="3376499"/>
            <a:ext cx="384048" cy="332586"/>
          </a:xfrm>
          <a:prstGeom prst="hexagon">
            <a:avLst/>
          </a:prstGeom>
          <a:solidFill>
            <a:srgbClr val="B8862B"/>
          </a:solidFill>
          <a:ln/>
        </p:spPr>
      </p:sp>
      <p:sp>
        <p:nvSpPr>
          <p:cNvPr id="32" name="bullet"/>
          <p:cNvSpPr txBox="1"/>
          <p:nvPr/>
        </p:nvSpPr>
        <p:spPr>
          <a:xfrm>
            <a:off x="1143000" y="2977219"/>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rectangle 6 cm long and 4 cm wide holds 6 squares in each row and has 4 rows, so it holds 6 × 4 = 24 squares.</a:t>
            </a:r>
            <a:endParaRPr lang="en-US" sz="2000" dirty="0"/>
          </a:p>
        </p:txBody>
      </p:sp>
      <p:sp>
        <p:nvSpPr>
          <p:cNvPr id="33" name="bullet-card"/>
          <p:cNvSpPr/>
          <p:nvPr/>
        </p:nvSpPr>
        <p:spPr>
          <a:xfrm>
            <a:off x="548640" y="4254669"/>
            <a:ext cx="5074920" cy="821267"/>
          </a:xfrm>
          <a:prstGeom prst="roundRect">
            <a:avLst>
              <a:gd name="adj" fmla="val 8907"/>
            </a:avLst>
          </a:prstGeom>
          <a:solidFill>
            <a:srgbClr val="F5F6F9"/>
          </a:solidFill>
          <a:ln/>
        </p:spPr>
      </p:sp>
      <p:sp>
        <p:nvSpPr>
          <p:cNvPr id="34" name="bullet-hex"/>
          <p:cNvSpPr/>
          <p:nvPr/>
        </p:nvSpPr>
        <p:spPr>
          <a:xfrm>
            <a:off x="676656" y="4499010"/>
            <a:ext cx="384048" cy="332586"/>
          </a:xfrm>
          <a:prstGeom prst="hexagon">
            <a:avLst/>
          </a:prstGeom>
          <a:solidFill>
            <a:srgbClr val="2E4A8C"/>
          </a:solidFill>
          <a:ln/>
        </p:spPr>
      </p:sp>
      <p:sp>
        <p:nvSpPr>
          <p:cNvPr id="35" name="bullet"/>
          <p:cNvSpPr txBox="1"/>
          <p:nvPr/>
        </p:nvSpPr>
        <p:spPr>
          <a:xfrm>
            <a:off x="1143000" y="4254669"/>
            <a:ext cx="4389120"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Perimeter and area are different. Perimeter is a length, measured in cm.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Rectangles and squares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Side squared means side times side, not side times 2.</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square has sides of 9 m. Work out its area.</a:t>
            </a:r>
            <a:endParaRPr lang="en-US" sz="1800" dirty="0"/>
          </a:p>
        </p:txBody>
      </p:sp>
      <p:sp>
        <p:nvSpPr>
          <p:cNvPr id="14" name="step-box"/>
          <p:cNvSpPr/>
          <p:nvPr/>
        </p:nvSpPr>
        <p:spPr>
          <a:xfrm>
            <a:off x="6126480" y="2609596"/>
            <a:ext cx="5379415" cy="566928"/>
          </a:xfrm>
          <a:prstGeom prst="roundRect">
            <a:avLst>
              <a:gd name="adj" fmla="val 16129"/>
            </a:avLst>
          </a:prstGeom>
          <a:solidFill>
            <a:srgbClr val="F0F2F7"/>
          </a:solidFill>
          <a:ln/>
        </p:spPr>
      </p:sp>
      <p:sp>
        <p:nvSpPr>
          <p:cNvPr id="15" name="step-hex"/>
          <p:cNvSpPr/>
          <p:nvPr/>
        </p:nvSpPr>
        <p:spPr>
          <a:xfrm>
            <a:off x="6217920" y="2710930"/>
            <a:ext cx="420624" cy="364260"/>
          </a:xfrm>
          <a:prstGeom prst="hexagon">
            <a:avLst/>
          </a:prstGeom>
          <a:solidFill>
            <a:srgbClr val="2E4A8C"/>
          </a:solidFill>
          <a:ln/>
        </p:spPr>
      </p:sp>
      <p:sp>
        <p:nvSpPr>
          <p:cNvPr id="16" name="step-hex-label"/>
          <p:cNvSpPr txBox="1"/>
          <p:nvPr/>
        </p:nvSpPr>
        <p:spPr>
          <a:xfrm>
            <a:off x="6217920" y="27109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square has equal sides, so area = side × side.</a:t>
            </a:r>
            <a:endParaRPr lang="en-US" sz="1800" dirty="0"/>
          </a:p>
        </p:txBody>
      </p:sp>
      <p:sp>
        <p:nvSpPr>
          <p:cNvPr id="18" name="step-box"/>
          <p:cNvSpPr/>
          <p:nvPr/>
        </p:nvSpPr>
        <p:spPr>
          <a:xfrm>
            <a:off x="6126480" y="3267964"/>
            <a:ext cx="5379415" cy="566928"/>
          </a:xfrm>
          <a:prstGeom prst="roundRect">
            <a:avLst>
              <a:gd name="adj" fmla="val 16129"/>
            </a:avLst>
          </a:prstGeom>
          <a:solidFill>
            <a:srgbClr val="F0F2F7"/>
          </a:solidFill>
          <a:ln/>
        </p:spPr>
      </p:sp>
      <p:sp>
        <p:nvSpPr>
          <p:cNvPr id="19" name="step-hex"/>
          <p:cNvSpPr/>
          <p:nvPr/>
        </p:nvSpPr>
        <p:spPr>
          <a:xfrm>
            <a:off x="6217920" y="3369298"/>
            <a:ext cx="420624" cy="364260"/>
          </a:xfrm>
          <a:prstGeom prst="hexagon">
            <a:avLst/>
          </a:prstGeom>
          <a:solidFill>
            <a:srgbClr val="2E4A8C"/>
          </a:solidFill>
          <a:ln/>
        </p:spPr>
      </p:sp>
      <p:sp>
        <p:nvSpPr>
          <p:cNvPr id="20" name="step-hex-label"/>
          <p:cNvSpPr txBox="1"/>
          <p:nvPr/>
        </p:nvSpPr>
        <p:spPr>
          <a:xfrm>
            <a:off x="6217920" y="336929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26796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9 × 9 = 81.</a:t>
            </a:r>
            <a:endParaRPr lang="en-US" sz="1800" dirty="0"/>
          </a:p>
        </p:txBody>
      </p:sp>
      <p:sp>
        <p:nvSpPr>
          <p:cNvPr id="22" name="step-box"/>
          <p:cNvSpPr/>
          <p:nvPr/>
        </p:nvSpPr>
        <p:spPr>
          <a:xfrm>
            <a:off x="6126480" y="3926332"/>
            <a:ext cx="5379415" cy="566928"/>
          </a:xfrm>
          <a:prstGeom prst="roundRect">
            <a:avLst>
              <a:gd name="adj" fmla="val 16129"/>
            </a:avLst>
          </a:prstGeom>
          <a:solidFill>
            <a:srgbClr val="F0F2F7"/>
          </a:solidFill>
          <a:ln/>
        </p:spPr>
      </p:sp>
      <p:sp>
        <p:nvSpPr>
          <p:cNvPr id="23" name="step-hex"/>
          <p:cNvSpPr/>
          <p:nvPr/>
        </p:nvSpPr>
        <p:spPr>
          <a:xfrm>
            <a:off x="6217920" y="4027666"/>
            <a:ext cx="420624" cy="364260"/>
          </a:xfrm>
          <a:prstGeom prst="hexagon">
            <a:avLst/>
          </a:prstGeom>
          <a:solidFill>
            <a:srgbClr val="2E4A8C"/>
          </a:solidFill>
          <a:ln/>
        </p:spPr>
      </p:sp>
      <p:sp>
        <p:nvSpPr>
          <p:cNvPr id="24" name="step-hex-label"/>
          <p:cNvSpPr txBox="1"/>
          <p:nvPr/>
        </p:nvSpPr>
        <p:spPr>
          <a:xfrm>
            <a:off x="6217920" y="4027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3926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area is 81 m².</a:t>
            </a:r>
            <a:endParaRPr lang="en-US" sz="1800" dirty="0"/>
          </a:p>
        </p:txBody>
      </p:sp>
      <p:sp>
        <p:nvSpPr>
          <p:cNvPr id="26" name="worked-answer"/>
          <p:cNvSpPr/>
          <p:nvPr/>
        </p:nvSpPr>
        <p:spPr>
          <a:xfrm>
            <a:off x="6126480" y="463042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81 m²</a:t>
            </a:r>
            <a:endParaRPr lang="en-US" sz="1800" dirty="0"/>
          </a:p>
        </p:txBody>
      </p:sp>
      <p:sp>
        <p:nvSpPr>
          <p:cNvPr id="27" name="bullet-card"/>
          <p:cNvSpPr/>
          <p:nvPr/>
        </p:nvSpPr>
        <p:spPr>
          <a:xfrm>
            <a:off x="548640" y="1389888"/>
            <a:ext cx="5074920" cy="1244769"/>
          </a:xfrm>
          <a:prstGeom prst="roundRect">
            <a:avLst>
              <a:gd name="adj" fmla="val 5877"/>
            </a:avLst>
          </a:prstGeom>
          <a:solidFill>
            <a:srgbClr val="F5F6F9"/>
          </a:solidFill>
          <a:ln/>
        </p:spPr>
      </p:sp>
      <p:sp>
        <p:nvSpPr>
          <p:cNvPr id="28" name="bullet-hex"/>
          <p:cNvSpPr/>
          <p:nvPr/>
        </p:nvSpPr>
        <p:spPr>
          <a:xfrm>
            <a:off x="676656" y="1845980"/>
            <a:ext cx="384048" cy="332586"/>
          </a:xfrm>
          <a:prstGeom prst="hexagon">
            <a:avLst/>
          </a:prstGeom>
          <a:solidFill>
            <a:srgbClr val="2E4A8C"/>
          </a:solidFill>
          <a:ln/>
        </p:spPr>
      </p:sp>
      <p:sp>
        <p:nvSpPr>
          <p:cNvPr id="29" name="bullet"/>
          <p:cNvSpPr txBox="1"/>
          <p:nvPr/>
        </p:nvSpPr>
        <p:spPr>
          <a:xfrm>
            <a:off x="1143000" y="1389888"/>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 any rectangle, area = length × width. The two lengths must be in the same unit.</a:t>
            </a:r>
            <a:endParaRPr lang="en-US" sz="2200" dirty="0"/>
          </a:p>
        </p:txBody>
      </p:sp>
      <p:sp>
        <p:nvSpPr>
          <p:cNvPr id="30" name="bullet-card"/>
          <p:cNvSpPr/>
          <p:nvPr/>
        </p:nvSpPr>
        <p:spPr>
          <a:xfrm>
            <a:off x="548640" y="2780961"/>
            <a:ext cx="5074920" cy="903901"/>
          </a:xfrm>
          <a:prstGeom prst="roundRect">
            <a:avLst>
              <a:gd name="adj" fmla="val 8093"/>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780961"/>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square is a rectangle with equal sides, so multiply the side by itself.</a:t>
            </a:r>
            <a:endParaRPr lang="en-US" sz="2200" dirty="0"/>
          </a:p>
        </p:txBody>
      </p:sp>
      <p:sp>
        <p:nvSpPr>
          <p:cNvPr id="33" name="bullet-card"/>
          <p:cNvSpPr/>
          <p:nvPr/>
        </p:nvSpPr>
        <p:spPr>
          <a:xfrm>
            <a:off x="548640" y="3831167"/>
            <a:ext cx="5074920" cy="1244769"/>
          </a:xfrm>
          <a:prstGeom prst="roundRect">
            <a:avLst>
              <a:gd name="adj" fmla="val 5877"/>
            </a:avLst>
          </a:prstGeom>
          <a:solidFill>
            <a:srgbClr val="F5F6F9"/>
          </a:solidFill>
          <a:ln/>
        </p:spPr>
      </p:sp>
      <p:sp>
        <p:nvSpPr>
          <p:cNvPr id="34" name="bullet-hex"/>
          <p:cNvSpPr/>
          <p:nvPr/>
        </p:nvSpPr>
        <p:spPr>
          <a:xfrm>
            <a:off x="676656" y="4287259"/>
            <a:ext cx="384048" cy="332586"/>
          </a:xfrm>
          <a:prstGeom prst="hexagon">
            <a:avLst/>
          </a:prstGeom>
          <a:solidFill>
            <a:srgbClr val="2E4A8C"/>
          </a:solidFill>
          <a:ln/>
        </p:spPr>
      </p:sp>
      <p:sp>
        <p:nvSpPr>
          <p:cNvPr id="35" name="bullet"/>
          <p:cNvSpPr txBox="1"/>
          <p:nvPr/>
        </p:nvSpPr>
        <p:spPr>
          <a:xfrm>
            <a:off x="1143000" y="3831167"/>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Decimals work the same way. A rectangle 3.5 m long and 4 m wide has an area of 3.5 × 4 = 14 m².</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Parallelograms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Look for the right-angle mark. The line it sits on is the height.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parallelogram has a base of 8 cm, a slanted side of 5 cm and a perpendicular height of 4 cm. Work out its area.</a:t>
            </a:r>
            <a:endParaRPr lang="en-US" sz="1800" dirty="0"/>
          </a:p>
        </p:txBody>
      </p:sp>
      <p:sp>
        <p:nvSpPr>
          <p:cNvPr id="14" name="step-box"/>
          <p:cNvSpPr/>
          <p:nvPr/>
        </p:nvSpPr>
        <p:spPr>
          <a:xfrm>
            <a:off x="6126480" y="3167380"/>
            <a:ext cx="5379415" cy="768435"/>
          </a:xfrm>
          <a:prstGeom prst="roundRect">
            <a:avLst>
              <a:gd name="adj" fmla="val 11900"/>
            </a:avLst>
          </a:prstGeom>
          <a:solidFill>
            <a:srgbClr val="F0F2F7"/>
          </a:solidFill>
          <a:ln/>
        </p:spPr>
      </p:sp>
      <p:sp>
        <p:nvSpPr>
          <p:cNvPr id="15" name="step-hex"/>
          <p:cNvSpPr/>
          <p:nvPr/>
        </p:nvSpPr>
        <p:spPr>
          <a:xfrm>
            <a:off x="6217920" y="3369467"/>
            <a:ext cx="420624" cy="364260"/>
          </a:xfrm>
          <a:prstGeom prst="hexagon">
            <a:avLst/>
          </a:prstGeom>
          <a:solidFill>
            <a:srgbClr val="2E4A8C"/>
          </a:solidFill>
          <a:ln/>
        </p:spPr>
      </p:sp>
      <p:sp>
        <p:nvSpPr>
          <p:cNvPr id="16" name="step-hex-label"/>
          <p:cNvSpPr txBox="1"/>
          <p:nvPr/>
        </p:nvSpPr>
        <p:spPr>
          <a:xfrm>
            <a:off x="6217920" y="336946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76843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Area of a parallelogram = base × perpendicular height.</a:t>
            </a:r>
            <a:endParaRPr lang="en-US" sz="1800" dirty="0"/>
          </a:p>
        </p:txBody>
      </p:sp>
      <p:sp>
        <p:nvSpPr>
          <p:cNvPr id="18" name="step-box"/>
          <p:cNvSpPr/>
          <p:nvPr/>
        </p:nvSpPr>
        <p:spPr>
          <a:xfrm>
            <a:off x="6126480" y="4027255"/>
            <a:ext cx="5379415" cy="768435"/>
          </a:xfrm>
          <a:prstGeom prst="roundRect">
            <a:avLst>
              <a:gd name="adj" fmla="val 11900"/>
            </a:avLst>
          </a:prstGeom>
          <a:solidFill>
            <a:srgbClr val="F0F2F7"/>
          </a:solidFill>
          <a:ln/>
        </p:spPr>
      </p:sp>
      <p:sp>
        <p:nvSpPr>
          <p:cNvPr id="19" name="step-hex"/>
          <p:cNvSpPr/>
          <p:nvPr/>
        </p:nvSpPr>
        <p:spPr>
          <a:xfrm>
            <a:off x="6217920" y="4229342"/>
            <a:ext cx="420624" cy="364260"/>
          </a:xfrm>
          <a:prstGeom prst="hexagon">
            <a:avLst/>
          </a:prstGeom>
          <a:solidFill>
            <a:srgbClr val="2E4A8C"/>
          </a:solidFill>
          <a:ln/>
        </p:spPr>
      </p:sp>
      <p:sp>
        <p:nvSpPr>
          <p:cNvPr id="20" name="step-hex-label"/>
          <p:cNvSpPr txBox="1"/>
          <p:nvPr/>
        </p:nvSpPr>
        <p:spPr>
          <a:xfrm>
            <a:off x="6217920" y="42293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027255"/>
            <a:ext cx="4739335" cy="76843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Use the 8 cm base and the 4 cm height. Ignore the slanted 5 cm side.</a:t>
            </a:r>
            <a:endParaRPr lang="en-US" sz="1800" dirty="0"/>
          </a:p>
        </p:txBody>
      </p:sp>
      <p:sp>
        <p:nvSpPr>
          <p:cNvPr id="22" name="step-box"/>
          <p:cNvSpPr/>
          <p:nvPr/>
        </p:nvSpPr>
        <p:spPr>
          <a:xfrm>
            <a:off x="6126480" y="4887129"/>
            <a:ext cx="5379415" cy="540851"/>
          </a:xfrm>
          <a:prstGeom prst="roundRect">
            <a:avLst>
              <a:gd name="adj" fmla="val 16907"/>
            </a:avLst>
          </a:prstGeom>
          <a:solidFill>
            <a:srgbClr val="F0F2F7"/>
          </a:solidFill>
          <a:ln/>
        </p:spPr>
      </p:sp>
      <p:sp>
        <p:nvSpPr>
          <p:cNvPr id="23" name="step-hex"/>
          <p:cNvSpPr/>
          <p:nvPr/>
        </p:nvSpPr>
        <p:spPr>
          <a:xfrm>
            <a:off x="6217920" y="4975424"/>
            <a:ext cx="420624" cy="364260"/>
          </a:xfrm>
          <a:prstGeom prst="hexagon">
            <a:avLst/>
          </a:prstGeom>
          <a:solidFill>
            <a:srgbClr val="2E4A8C"/>
          </a:solidFill>
          <a:ln/>
        </p:spPr>
      </p:sp>
      <p:sp>
        <p:nvSpPr>
          <p:cNvPr id="24" name="step-hex-label"/>
          <p:cNvSpPr txBox="1"/>
          <p:nvPr/>
        </p:nvSpPr>
        <p:spPr>
          <a:xfrm>
            <a:off x="6217920" y="497542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887129"/>
            <a:ext cx="4739335" cy="54085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8 × 4 = 32, so the area is 32 cm².</a:t>
            </a:r>
            <a:endParaRPr lang="en-US" sz="1800" dirty="0"/>
          </a:p>
        </p:txBody>
      </p:sp>
      <p:sp>
        <p:nvSpPr>
          <p:cNvPr id="26"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32 cm²</a:t>
            </a:r>
            <a:endParaRPr lang="en-US" sz="1800" dirty="0"/>
          </a:p>
        </p:txBody>
      </p:sp>
      <p:sp>
        <p:nvSpPr>
          <p:cNvPr id="27" name="bullet-card"/>
          <p:cNvSpPr/>
          <p:nvPr/>
        </p:nvSpPr>
        <p:spPr>
          <a:xfrm>
            <a:off x="548640" y="1389888"/>
            <a:ext cx="5074920" cy="821267"/>
          </a:xfrm>
          <a:prstGeom prst="roundRect">
            <a:avLst>
              <a:gd name="adj" fmla="val 8907"/>
            </a:avLst>
          </a:prstGeom>
          <a:solidFill>
            <a:srgbClr val="F5F6F9"/>
          </a:solidFill>
          <a:ln/>
        </p:spPr>
      </p:sp>
      <p:sp>
        <p:nvSpPr>
          <p:cNvPr id="28" name="bullet-hex"/>
          <p:cNvSpPr/>
          <p:nvPr/>
        </p:nvSpPr>
        <p:spPr>
          <a:xfrm>
            <a:off x="676656" y="1634229"/>
            <a:ext cx="384048" cy="332586"/>
          </a:xfrm>
          <a:prstGeom prst="hexagon">
            <a:avLst/>
          </a:prstGeom>
          <a:solidFill>
            <a:srgbClr val="2E4A8C"/>
          </a:solidFill>
          <a:ln/>
        </p:spPr>
      </p:sp>
      <p:sp>
        <p:nvSpPr>
          <p:cNvPr id="29" name="bullet"/>
          <p:cNvSpPr txBox="1"/>
          <p:nvPr/>
        </p:nvSpPr>
        <p:spPr>
          <a:xfrm>
            <a:off x="1143000" y="1389888"/>
            <a:ext cx="4389120"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parallelogram is like a rectangle that has been pushed over.</a:t>
            </a:r>
            <a:endParaRPr lang="en-US" sz="2000" dirty="0"/>
          </a:p>
        </p:txBody>
      </p:sp>
      <p:sp>
        <p:nvSpPr>
          <p:cNvPr id="30" name="bullet-card"/>
          <p:cNvSpPr/>
          <p:nvPr/>
        </p:nvSpPr>
        <p:spPr>
          <a:xfrm>
            <a:off x="548640" y="2357459"/>
            <a:ext cx="5074920" cy="1131147"/>
          </a:xfrm>
          <a:prstGeom prst="roundRect">
            <a:avLst>
              <a:gd name="adj" fmla="val 6467"/>
            </a:avLst>
          </a:prstGeom>
          <a:solidFill>
            <a:srgbClr val="F5F6F9"/>
          </a:solidFill>
          <a:ln/>
        </p:spPr>
      </p:sp>
      <p:sp>
        <p:nvSpPr>
          <p:cNvPr id="31" name="bullet-hex"/>
          <p:cNvSpPr/>
          <p:nvPr/>
        </p:nvSpPr>
        <p:spPr>
          <a:xfrm>
            <a:off x="676656" y="2756739"/>
            <a:ext cx="384048" cy="332586"/>
          </a:xfrm>
          <a:prstGeom prst="hexagon">
            <a:avLst/>
          </a:prstGeom>
          <a:solidFill>
            <a:srgbClr val="B8862B"/>
          </a:solidFill>
          <a:ln/>
        </p:spPr>
      </p:sp>
      <p:sp>
        <p:nvSpPr>
          <p:cNvPr id="32" name="bullet"/>
          <p:cNvSpPr txBox="1"/>
          <p:nvPr/>
        </p:nvSpPr>
        <p:spPr>
          <a:xfrm>
            <a:off x="1143000" y="2357459"/>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perpendicular height is the straight-up distance from the base to the opposite side, at a right angle.</a:t>
            </a:r>
            <a:endParaRPr lang="en-US" sz="2000" dirty="0"/>
          </a:p>
        </p:txBody>
      </p:sp>
      <p:sp>
        <p:nvSpPr>
          <p:cNvPr id="33" name="bullet-card"/>
          <p:cNvSpPr/>
          <p:nvPr/>
        </p:nvSpPr>
        <p:spPr>
          <a:xfrm>
            <a:off x="548640" y="3634909"/>
            <a:ext cx="5074920" cy="1441027"/>
          </a:xfrm>
          <a:prstGeom prst="roundRect">
            <a:avLst>
              <a:gd name="adj" fmla="val 5076"/>
            </a:avLst>
          </a:prstGeom>
          <a:solidFill>
            <a:srgbClr val="F5F6F9"/>
          </a:solidFill>
          <a:ln/>
        </p:spPr>
      </p:sp>
      <p:sp>
        <p:nvSpPr>
          <p:cNvPr id="34" name="bullet-hex"/>
          <p:cNvSpPr/>
          <p:nvPr/>
        </p:nvSpPr>
        <p:spPr>
          <a:xfrm>
            <a:off x="676656" y="4189130"/>
            <a:ext cx="384048" cy="332586"/>
          </a:xfrm>
          <a:prstGeom prst="hexagon">
            <a:avLst/>
          </a:prstGeom>
          <a:solidFill>
            <a:srgbClr val="2E4A8C"/>
          </a:solidFill>
          <a:ln/>
        </p:spPr>
      </p:sp>
      <p:sp>
        <p:nvSpPr>
          <p:cNvPr id="35" name="bullet"/>
          <p:cNvSpPr txBox="1"/>
          <p:nvPr/>
        </p:nvSpPr>
        <p:spPr>
          <a:xfrm>
            <a:off x="1143000" y="3634909"/>
            <a:ext cx="4389120" cy="144102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parallelogram with a base of 10 cm, a slanted side of 6 cm and a perpendicular height of 5 cm has an area of 10 × 5 = 50 cm².</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Finding a missing length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missing length comes from dividing. Its unit is cm, not cm².</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rectangle has an area of 54 cm² and a length of 9 cm. Work out its width.</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Area = length × width, so width = area ÷ length.</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54 ÷ 9 = 6.</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width is 6 cm. Check: 9 × 6 = 54.</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6 cm</a:t>
            </a:r>
            <a:endParaRPr lang="en-US" sz="1800" dirty="0"/>
          </a:p>
        </p:txBody>
      </p:sp>
      <p:sp>
        <p:nvSpPr>
          <p:cNvPr id="27" name="bullet-card"/>
          <p:cNvSpPr/>
          <p:nvPr/>
        </p:nvSpPr>
        <p:spPr>
          <a:xfrm>
            <a:off x="548640" y="1389888"/>
            <a:ext cx="5074920" cy="1358392"/>
          </a:xfrm>
          <a:prstGeom prst="roundRect">
            <a:avLst>
              <a:gd name="adj" fmla="val 5385"/>
            </a:avLst>
          </a:prstGeom>
          <a:solidFill>
            <a:srgbClr val="F5F6F9"/>
          </a:solidFill>
          <a:ln/>
        </p:spPr>
      </p:sp>
      <p:sp>
        <p:nvSpPr>
          <p:cNvPr id="28" name="bullet-hex"/>
          <p:cNvSpPr/>
          <p:nvPr/>
        </p:nvSpPr>
        <p:spPr>
          <a:xfrm>
            <a:off x="676656" y="1902791"/>
            <a:ext cx="384048" cy="332586"/>
          </a:xfrm>
          <a:prstGeom prst="hexagon">
            <a:avLst/>
          </a:prstGeom>
          <a:solidFill>
            <a:srgbClr val="2E4A8C"/>
          </a:solidFill>
          <a:ln/>
        </p:spPr>
      </p:sp>
      <p:sp>
        <p:nvSpPr>
          <p:cNvPr id="29" name="bullet"/>
          <p:cNvSpPr txBox="1"/>
          <p:nvPr/>
        </p:nvSpPr>
        <p:spPr>
          <a:xfrm>
            <a:off x="1143000" y="1389888"/>
            <a:ext cx="4389120"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you know the area of a rectangle and one side, you can find the other side.</a:t>
            </a:r>
            <a:endParaRPr lang="en-US" sz="2200" dirty="0"/>
          </a:p>
        </p:txBody>
      </p:sp>
      <p:sp>
        <p:nvSpPr>
          <p:cNvPr id="30" name="bullet-card"/>
          <p:cNvSpPr/>
          <p:nvPr/>
        </p:nvSpPr>
        <p:spPr>
          <a:xfrm>
            <a:off x="548640" y="2894584"/>
            <a:ext cx="5074920" cy="1017524"/>
          </a:xfrm>
          <a:prstGeom prst="roundRect">
            <a:avLst>
              <a:gd name="adj" fmla="val 7189"/>
            </a:avLst>
          </a:prstGeom>
          <a:solidFill>
            <a:srgbClr val="F5F6F9"/>
          </a:solidFill>
          <a:ln/>
        </p:spPr>
      </p:sp>
      <p:sp>
        <p:nvSpPr>
          <p:cNvPr id="31" name="bullet-hex"/>
          <p:cNvSpPr/>
          <p:nvPr/>
        </p:nvSpPr>
        <p:spPr>
          <a:xfrm>
            <a:off x="676656" y="3237053"/>
            <a:ext cx="384048" cy="332586"/>
          </a:xfrm>
          <a:prstGeom prst="hexagon">
            <a:avLst/>
          </a:prstGeom>
          <a:solidFill>
            <a:srgbClr val="B8862B"/>
          </a:solidFill>
          <a:ln/>
        </p:spPr>
      </p:sp>
      <p:sp>
        <p:nvSpPr>
          <p:cNvPr id="32" name="bullet"/>
          <p:cNvSpPr txBox="1"/>
          <p:nvPr/>
        </p:nvSpPr>
        <p:spPr>
          <a:xfrm>
            <a:off x="1143000" y="2894584"/>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rectangle has an area of 54 cm² and a length of 9 cm.</a:t>
            </a:r>
            <a:endParaRPr lang="en-US" sz="2200" dirty="0"/>
          </a:p>
        </p:txBody>
      </p:sp>
      <p:sp>
        <p:nvSpPr>
          <p:cNvPr id="33" name="bullet-card"/>
          <p:cNvSpPr/>
          <p:nvPr/>
        </p:nvSpPr>
        <p:spPr>
          <a:xfrm>
            <a:off x="548640" y="4058412"/>
            <a:ext cx="5074920" cy="1017524"/>
          </a:xfrm>
          <a:prstGeom prst="roundRect">
            <a:avLst>
              <a:gd name="adj" fmla="val 7189"/>
            </a:avLst>
          </a:prstGeom>
          <a:solidFill>
            <a:srgbClr val="F5F6F9"/>
          </a:solidFill>
          <a:ln/>
        </p:spPr>
      </p:sp>
      <p:sp>
        <p:nvSpPr>
          <p:cNvPr id="34" name="bullet-hex"/>
          <p:cNvSpPr/>
          <p:nvPr/>
        </p:nvSpPr>
        <p:spPr>
          <a:xfrm>
            <a:off x="676656" y="4400881"/>
            <a:ext cx="384048" cy="332586"/>
          </a:xfrm>
          <a:prstGeom prst="hexagon">
            <a:avLst/>
          </a:prstGeom>
          <a:solidFill>
            <a:srgbClr val="2E4A8C"/>
          </a:solidFill>
          <a:ln/>
        </p:spPr>
      </p:sp>
      <p:sp>
        <p:nvSpPr>
          <p:cNvPr id="35" name="bullet"/>
          <p:cNvSpPr txBox="1"/>
          <p:nvPr/>
        </p:nvSpPr>
        <p:spPr>
          <a:xfrm>
            <a:off x="1143000" y="4058412"/>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same idea works for a parallelogram: height = area ÷ base.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Area of a rectangle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rectangle is 12 cm long and 7 cm wide. Work out its area.</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cm²</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Area of a rectangle = length × width.</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Multiply the two numbers.</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Write the unit as cm², because area counts squares.</a:t>
            </a:r>
            <a:endParaRPr lang="en-US" sz="22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Area = length × width. Do not add.</a:t>
            </a:r>
            <a:endParaRPr lang="en-US" sz="22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Find a different rectangle with whole-number sides and the same area of 84 cm². Which of the two rectangles has the smaller perimeter, and why?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E4A8C"/>
                </a:solidFill>
                <a:latin typeface="Cambria" pitchFamily="34" charset="0"/>
                <a:ea typeface="Cambria" pitchFamily="34" charset="-122"/>
                <a:cs typeface="Cambria" pitchFamily="34" charset="-120"/>
              </a:rPr>
              <a:t>Same task, three ways in: Area of a parallelogram</a:t>
            </a:r>
            <a:endParaRPr lang="en-US" sz="30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parallelogram has a base of 9 cm, a slanted side of 7 cm and a perpendicular height of 6 cm. Work out its area.</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cm²</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base and the perpendicular height. The height is the one at a right angle to the base.</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the slanted side; it is not needed.</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base × height and write cm².</a:t>
            </a:r>
            <a:endParaRPr lang="en-US" sz="1800" dirty="0"/>
          </a:p>
        </p:txBody>
      </p:sp>
      <p:sp>
        <p:nvSpPr>
          <p:cNvPr id="17" name="col-Core"/>
          <p:cNvSpPr/>
          <p:nvPr/>
        </p:nvSpPr>
        <p:spPr>
          <a:xfrm>
            <a:off x="5490762" y="2948940"/>
            <a:ext cx="2938987" cy="3195828"/>
          </a:xfrm>
          <a:prstGeom prst="roundRect">
            <a:avLst>
              <a:gd name="adj" fmla="val 1867"/>
            </a:avLst>
          </a:prstGeom>
          <a:solidFill>
            <a:srgbClr val="D7DDE9"/>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Only two of the three lengths are needed: the base and the perpendicular height.</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2E4A8C"/>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with a sketch in words, why cutting a triangle off one end of a parallelogram and moving it to the other end shows the area is base × perpendicular height.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rectangle has an area of 72 cm² and a width of 8 cm. How long is it?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 (cm):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Area of a rectangle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rectangle is 12 cm long and 7 cm wide. Work out its area.</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84 cm²</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Area = length × width = 12 × 7 = 84.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Area of a parallelogram</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parallelogram has a base of 9 cm, a slanted side of 7 cm and a perpendicular height of 6 cm. Work out its area.</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54 cm²</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Area = base × perpendicular height = 9 × 6 = 54. The slanted 7 cm side is not used.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rectangle has an area of 72 cm² and a width of 8 cm. How long is it?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9 cm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Length = area ÷ width = 72 ÷ 8 = 9. Check: 9 × 8 = 72.</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Perimeter and Area · Chapter 3: Area of rectangles, squares and parallelograms</dc:title>
  <dc:subject>Mathematics · Year 7</dc:subject>
  <dc:creator>Dr Vitor Merissi de Carvalho</dc:creator>
  <cp:lastModifiedBy>Dr Vitor Merissi de Carvalho</cp:lastModifiedBy>
  <cp:revision>1</cp:revision>
  <dcterms:created xsi:type="dcterms:W3CDTF">2026-10-19T16:23:22Z</dcterms:created>
  <dcterms:modified xsi:type="dcterms:W3CDTF">2026-10-19T16:23:22Z</dcterms:modified>
</cp:coreProperties>
</file>