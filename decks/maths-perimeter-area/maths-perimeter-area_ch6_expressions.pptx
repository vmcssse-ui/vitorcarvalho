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23e239f-e349-874c-364b-1ffed1b1b12f}">
          <p14:sldIdLst>
            <p14:sldId id="256"/>
          </p14:sldIdLst>
        </p14:section>
        <p14:section name="Gate" id="{77e10862-a1e0-c3c3-56e6-870042f78956}">
          <p14:sldIdLst>
            <p14:sldId id="257"/>
            <p14:sldId id="258"/>
          </p14:sldIdLst>
        </p14:section>
        <p14:section name="Pre-teach" id="{44ea9d6d-484d-cf3f-f761-58bd7bc0442a}">
          <p14:sldIdLst>
            <p14:sldId id="259"/>
          </p14:sldIdLst>
        </p14:section>
        <p14:section name="Read-along" id="{b63a84e1-91bf-2787-1217-eff4174d25b2}">
          <p14:sldIdLst>
            <p14:sldId id="260"/>
            <p14:sldId id="261"/>
          </p14:sldIdLst>
        </p14:section>
        <p14:section name="Teach" id="{d0b00bcd-1de3-c8f8-9a2e-1b74ea490ca9}">
          <p14:sldIdLst>
            <p14:sldId id="262"/>
            <p14:sldId id="263"/>
            <p14:sldId id="264"/>
            <p14:sldId id="265"/>
          </p14:sldIdLst>
        </p14:section>
        <p14:section name="Routes" id="{9e2ca2b6-5912-2931-d2de-480807770275}">
          <p14:sldIdLst>
            <p14:sldId id="266"/>
            <p14:sldId id="267"/>
          </p14:sldIdLst>
        </p14:section>
        <p14:section name="Close" id="{3cb9f5ec-56db-112a-8719-c91d599f26e0}">
          <p14:sldIdLst>
            <p14:sldId id="268"/>
          </p14:sldIdLst>
        </p14:section>
        <p14:section name="Answers" id="{cbc736a2-90bb-875b-18ee-457bad2b7657}">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Expressions for perimeter and area. Use letters for lengths you do not know, and write and simplify expressions for perimeter and area.
This deck covers the department's lesson: 7 (Form expressions with perimeter and area: How can we write the perimeter and area of a shape when some sides are letters?).
Read the big question aloud: "How do we measure the edge of a shape and the space inside it, and how can letters stand for lengths we do not know?"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Simplify a + a + a + a + a.  →  C   5a
2. The perimeter of a square with sides of length y is ___.  →  4y
3. A rectangle has sides of 3b and 2b. What is its area?  →  A   6b²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5a. Five lots of a added together is 5 × a, written 5a.
2. 4y. A square has four sides of y, so the perimeter is y + y + y + y = 4y.
3. A   6b². 3b × 2b: multiply the numbers, 3 × 2 = 6, and the letters, b × b is b². So the area is 6b².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expression: numbers and letters joined by + or −, like 4a + 6. Example: "The expression 4a + 6 has two terms."
• term: one part of an expression. Example: "In 3a + 2b, the terms are 3a and 2b."
• like terms: terms with exactly the same letter part. Example: "3a and 5a are like terms, so they add to make 8a."
• simplify: to write an expression using as few terms as possible. Example: "Simplify a + a + a to get 3a."
• letter: a symbol that stands for a number we do not know yet. Example: "The letter a stands for the length of one side."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Sometimes a side is not a number.
2. It is a letter, like a.
3. The letter stands for a length we do not know yet.
4. We can still write the perimeter.
5. A square with sides of a has a perimeter of a + a + a + a.
6. We simplify this to 4a.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4a means 4 times a.
8. A rectangle with sides 3a and 2a has a perimeter of 10a.
9. For area, we multiply the lengths.
10. A rectangle with sides 5 and a has an area of 5a.
11. A square with sides of b has an area of b times b, written b².
12. Only add terms with the same letter.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Letters for lengths, and simplifying. Say it in your own words, then check understanding with a quick question: ask a pupil from the pre-teach group first, since they met these words and ideas before the lesson. Pupils try to recall before you re-explain.
When we do not know a length, we give it a letter. A side of a cm is a centimetres long, where a could be any number. We write 5 × a as 5a, with no multiplication sign, and a × a as a².
Adding the same letter several times is like adding the same number: a + a + a is 3a, just as 2 + 2 + 2 is 3 × 2. Terms with the same letter part are called like terms, and we add them by adding the numbers in front: 7a + 4a is 11a.
Terms with different letters cannot be combined. 11a + 3b stays as 11a + 3b. It is as simple as it can be, so we say it is simplified.
Worked example — model it step by step, thinking aloud: Simplify 6x + 2x + 5y. (1) 6x and 2x are like terms: add the numbers in front, 6 + 2 = 8, so 6x + 2x is 8x. (2) 5y has a different letter, so it stays as it is. (3) The simplified expression is 8x + 5y. Answer: 8x + 5y.
Tip: Like terms have exactly the same letter. 3a and 3b are not like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Expressions for perimeter. Say it in your own words, then check understanding with a quick question: ask a pupil from the pre-teach group first, since they met these words and ideas before the lesson. Pupils try to recall before you re-explain.
Perimeter still means add every side. Write down each side, letters and all, then collect the like terms. A rectangle with sides 3a and 5 has four sides: 3a + 5 + 3a + 5. Collect: 3a + 3a is 6a and 5 + 5 is 10, so the perimeter is 6a + 10.
For a regular polygon, multiply instead: a regular pentagon with sides of y has a perimeter of 5y. Writing y + y + y + y + y is also right, but 5y is simpler.
Count the sides before you start. A rectangle has four terms before simplifying, a triangle three. A common mistake is to add each different side once and forget that a rectangle has two of each.
Worked example — model it step by step, thinking aloud: A triangle has sides of 7a cm, 4a cm and 3b cm. Write and simplify an expression for its perimeter. (1) Write every side: 7a + 4a + 3b. (2) Collect the like terms: 7a + 4a is 11a. (3) 3b stays. The perimeter is 11a + 3b cm. Answer: 11a + 3b cm.
Tip: Letters add just like numbers, but only with their own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Expressions for area. Say it in your own words, then check understanding with a quick question: ask a pupil from the pre-teach group first, since they met these words and ideas before the lesson. Pupils try to recall before you re-explain.
Area means multiply, and letters multiply too. A rectangle with sides 4 and a has an area of 4 × a, which is 4a. A rectangle with sides 3a and 2 has an area of 3a × 2, which is 6a, because 3 × 2 is 6 and the a comes along.
When a letter is multiplied by itself you get a square: a × a is a². So a rectangle with sides 4g and 3g has an area of 4g × 3g, which is 12g², because 4 × 3 = 12 and g × g is g².
Triangles still halve. A triangle with a base of 8g cm and a perpendicular height of 3 cm has an area of 8g × 3 ÷ 2, which is 24g ÷ 2, or 12g cm².
Worked example — model it step by step, thinking aloud: A rectangle has sides of 5a m and 3 m. Write an expression for its area. (1) Area = length × width = 5a × 3. (2) Multiply the numbers: 5 × 3 = 15. The a stays. (3) The area is 15a m². Answer: 15a m².
Tip: a × a is a², not 2a. 2a means a +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Using an expression to find a length. Say it in your own words, then check understanding with a quick question: ask a pupil from the pre-teach group first, since they met these words and ideas before the lesson. Pupils try to recall before you re-explain.
If you know the area or perimeter as a number and also as an expression, you can find the letter. A rectangle with sides 4a cm and 6 cm has an area of 4a × 6, which is 24a. If the area is 72 cm², then 24a is 72.
Ask yourself: 24 times what makes 72? Since 72 ÷ 24 = 3, the letter a is 3. Check by putting it back: the sides are 12 cm and 6 cm, and 12 × 6 = 72.
The same idea works for perimeter. A square with sides of p has a perimeter of 4p. If the perimeter is 36 cm, then p is 36 ÷ 4 = 9.
Worked example — model it step by step, thinking aloud: A rectangle has sides of 4a cm and 6 cm. Its area is 72 cm². Find the value of a. (1) Write the area as an expression: 4a × 6 is 24a. (2) The area is 72, so 24a is 72. (3) 72 ÷ 24 = 3, so a is 3. Check: 12 × 6 = 72. Answer: 3.
Tip: Put your value back into the shape and check it gives the number you were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Perimeter expression for a rectangle.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rectangle has sides of 5x cm and 3 cm. Which expression gives its perimeter in cm?
Support — work through the steps with the group: (1) Write down all four sides of the rectangle: two long and two short. (2) Add the like terms together: the x terms with each other, the plain numbers with each other. (3) Write the simplified expression with its unit.
Parallel worked example for Support (model it, do not give the task answer): A rectangle has sides of 2a cm and 7 cm. Write and simplify an expression for its perimeter. Four sides: 2a + 7 + 2a + 7.; 2a + 2a is 4a, and 7 + 7 = 14.; Perimeter = 4a + 14 cm.. Answer: 4a + 14 cm.
Core — reveal the hint only on request: A rectangle has four sides. Write all four down before you simplify.
Stretch — no help; when finished: The perimeter of this rectangle is 46 cm. Find x, then work out the area of the rectangle.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Simplify a perimeter.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triangle has sides of 6a cm, 4a cm and 5b cm. Its perimeter is ___ cm.
Support — work through the steps with the group: (1) Write every side with a plus sign between them. (2) Circle the terms with the same letter and add their numbers. (3) Leave any term with a different letter as it is.
Parallel worked example for Support (model it, do not give the task answer): A triangle has sides of 3a cm, 5a cm and 2b cm. Write and simplify an expression for its perimeter. 3a + 5a + 2b.; 3a + 5a is 8a.; Perimeter = 8a + 2b cm.. Answer: 8a + 2b cm.
Core — reveal the hint only on request: Only like terms can be added. Which two sides have the same letter?
Stretch — no help; when finished: If a is 2 and b is 3, work out the actual perimeter in cm. Then explain why 15ab would give a different,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triangle has a base of 6y cm and a perpendicular height of 4 cm. Which expression gives its area in cm²?
Answer: C   12y. 6y × 4 is 24y, and a triangle is half a rectangle, so the area is 12y. There is no y² because only the base has a y.
Source of this question: module 3 task ("Area expression for a triangle")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Perimeter expression for a rectangle. Reveal the answer; pupils mark their own work in a different colour, then read the "why" together. Same destination for every lane, so one answer serves the whole class.
Answer: D   10x + 6
Why: The four sides are 5x, 3, 5x and 3. Collect like terms: 5x + 5x is 10x and 3 + 3 = 6, so the perimeter is 10x + 6.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Simplify a perimeter. Reveal the answer; pupils mark their own work in a different colour, then read the "why" together. Same destination for every lane, so one answer serves the whole class.
Answer: A triangle has sides of 6a cm, 4a cm and 5b cm. Its perimeter is 10a + 5b cm.
Why: 6a + 4a + 5b: the like terms 6a and 4a make 10a, and 5b stays, so the perimeter is 10a + 5b.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12y
Why: 6y × 4 is 24y, and a triangle is half a rectangle, so the area is 12y. There is no y² because only the base has a 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Perimeter and Area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Perimeter and Area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Perimeter and Area · AQA KS3 → 8300</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Expressions for perimeter and area</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0F2F7"/>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Form expressions with perimeter and area</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we measure the edge of a shape and the space inside it, and how can letters stand for lengths we do not know?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Simplify a + a + a + a + 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+ 5</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4a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5a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a⁵</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perimeter of a square with sides of length y is ___.</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4y  ·  y⁴  ·  y + 4</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rectangle has sides of 3b and 2b. What is its area?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6b²</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5b</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10b</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6b</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5a</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Simplify a + a + a + a + a.</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Five lots of a added together is 5 × a, written 5a.</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4y</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perimeter of a square with sides of length y is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square has four sides of y, so the perimeter is y + y + y + y = 4y.</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6b²</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rectangle has sides of 3b and 2b. What is its area?</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3b × 2b: multiply the numbers, 3 × 2 = 6, and the letters, b × b is b². So the area is 6b².</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7692"/>
          </a:xfrm>
          <a:prstGeom prst="roundRect">
            <a:avLst>
              <a:gd name="adj" fmla="val 6549"/>
            </a:avLst>
          </a:prstGeom>
          <a:solidFill>
            <a:srgbClr val="F5F6F9"/>
          </a:solidFill>
          <a:ln/>
        </p:spPr>
      </p:sp>
      <p:sp>
        <p:nvSpPr>
          <p:cNvPr id="12" name="kw-hex"/>
          <p:cNvSpPr/>
          <p:nvPr/>
        </p:nvSpPr>
        <p:spPr>
          <a:xfrm>
            <a:off x="658368" y="2160915"/>
            <a:ext cx="411480" cy="356342"/>
          </a:xfrm>
          <a:prstGeom prst="hexagon">
            <a:avLst/>
          </a:prstGeom>
          <a:solidFill>
            <a:srgbClr val="2E4A8C"/>
          </a:solidFill>
          <a:ln/>
        </p:spPr>
      </p:sp>
      <p:sp>
        <p:nvSpPr>
          <p:cNvPr id="13" name="kw-cell"/>
          <p:cNvSpPr txBox="1"/>
          <p:nvPr/>
        </p:nvSpPr>
        <p:spPr>
          <a:xfrm>
            <a:off x="1143000" y="1920240"/>
            <a:ext cx="2331720" cy="837692"/>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expression</a:t>
            </a:r>
            <a:endParaRPr lang="en-US" sz="2200" dirty="0"/>
          </a:p>
        </p:txBody>
      </p:sp>
      <p:sp>
        <p:nvSpPr>
          <p:cNvPr id="14" name="kw-cell"/>
          <p:cNvSpPr txBox="1"/>
          <p:nvPr/>
        </p:nvSpPr>
        <p:spPr>
          <a:xfrm>
            <a:off x="3657600" y="1920240"/>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numbers and letters joined by + or −, like 4a + 6</a:t>
            </a:r>
            <a:endParaRPr lang="en-US" sz="2000" dirty="0"/>
          </a:p>
        </p:txBody>
      </p:sp>
      <p:sp>
        <p:nvSpPr>
          <p:cNvPr id="15" name="kw-cell"/>
          <p:cNvSpPr txBox="1"/>
          <p:nvPr/>
        </p:nvSpPr>
        <p:spPr>
          <a:xfrm>
            <a:off x="7315200" y="1920240"/>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The expression 4a + 6 has two terms.</a:t>
            </a:r>
            <a:endParaRPr lang="en-US" sz="2000" dirty="0"/>
          </a:p>
        </p:txBody>
      </p:sp>
      <p:sp>
        <p:nvSpPr>
          <p:cNvPr id="16" name="kw-row"/>
          <p:cNvSpPr/>
          <p:nvPr/>
        </p:nvSpPr>
        <p:spPr>
          <a:xfrm>
            <a:off x="548640" y="2831084"/>
            <a:ext cx="11094415" cy="581152"/>
          </a:xfrm>
          <a:prstGeom prst="roundRect">
            <a:avLst>
              <a:gd name="adj" fmla="val 9441"/>
            </a:avLst>
          </a:prstGeom>
          <a:solidFill>
            <a:srgbClr val="F9F4EC"/>
          </a:solidFill>
          <a:ln/>
        </p:spPr>
      </p:sp>
      <p:sp>
        <p:nvSpPr>
          <p:cNvPr id="17" name="kw-hex"/>
          <p:cNvSpPr/>
          <p:nvPr/>
        </p:nvSpPr>
        <p:spPr>
          <a:xfrm>
            <a:off x="658368" y="2943489"/>
            <a:ext cx="411480" cy="356342"/>
          </a:xfrm>
          <a:prstGeom prst="hexagon">
            <a:avLst/>
          </a:prstGeom>
          <a:solidFill>
            <a:srgbClr val="B8862B"/>
          </a:solidFill>
          <a:ln/>
        </p:spPr>
      </p:sp>
      <p:sp>
        <p:nvSpPr>
          <p:cNvPr id="18" name="kw-cell"/>
          <p:cNvSpPr txBox="1"/>
          <p:nvPr/>
        </p:nvSpPr>
        <p:spPr>
          <a:xfrm>
            <a:off x="1143000" y="2831084"/>
            <a:ext cx="2331720" cy="581152"/>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term</a:t>
            </a:r>
            <a:endParaRPr lang="en-US" sz="2200" dirty="0"/>
          </a:p>
        </p:txBody>
      </p:sp>
      <p:sp>
        <p:nvSpPr>
          <p:cNvPr id="19" name="kw-cell"/>
          <p:cNvSpPr txBox="1"/>
          <p:nvPr/>
        </p:nvSpPr>
        <p:spPr>
          <a:xfrm>
            <a:off x="3657600" y="2831084"/>
            <a:ext cx="3474720" cy="58115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one part of an expression</a:t>
            </a:r>
            <a:endParaRPr lang="en-US" sz="2000" dirty="0"/>
          </a:p>
        </p:txBody>
      </p:sp>
      <p:sp>
        <p:nvSpPr>
          <p:cNvPr id="20" name="kw-cell"/>
          <p:cNvSpPr txBox="1"/>
          <p:nvPr/>
        </p:nvSpPr>
        <p:spPr>
          <a:xfrm>
            <a:off x="7315200" y="2831084"/>
            <a:ext cx="4236415" cy="58115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In 3a + 2b, the terms are 3a and 2b.</a:t>
            </a:r>
            <a:endParaRPr lang="en-US" sz="2000" dirty="0"/>
          </a:p>
        </p:txBody>
      </p:sp>
      <p:sp>
        <p:nvSpPr>
          <p:cNvPr id="21" name="kw-row"/>
          <p:cNvSpPr/>
          <p:nvPr/>
        </p:nvSpPr>
        <p:spPr>
          <a:xfrm>
            <a:off x="548640" y="3485388"/>
            <a:ext cx="11094415" cy="837692"/>
          </a:xfrm>
          <a:prstGeom prst="roundRect">
            <a:avLst>
              <a:gd name="adj" fmla="val 6549"/>
            </a:avLst>
          </a:prstGeom>
          <a:solidFill>
            <a:srgbClr val="F5F6F9"/>
          </a:solidFill>
          <a:ln/>
        </p:spPr>
      </p:sp>
      <p:sp>
        <p:nvSpPr>
          <p:cNvPr id="22" name="kw-hex"/>
          <p:cNvSpPr/>
          <p:nvPr/>
        </p:nvSpPr>
        <p:spPr>
          <a:xfrm>
            <a:off x="658368" y="3726063"/>
            <a:ext cx="411480" cy="356342"/>
          </a:xfrm>
          <a:prstGeom prst="hexagon">
            <a:avLst/>
          </a:prstGeom>
          <a:solidFill>
            <a:srgbClr val="2E4A8C"/>
          </a:solidFill>
          <a:ln/>
        </p:spPr>
      </p:sp>
      <p:sp>
        <p:nvSpPr>
          <p:cNvPr id="23" name="kw-cell"/>
          <p:cNvSpPr txBox="1"/>
          <p:nvPr/>
        </p:nvSpPr>
        <p:spPr>
          <a:xfrm>
            <a:off x="1143000" y="3485388"/>
            <a:ext cx="2331720" cy="837692"/>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like terms</a:t>
            </a:r>
            <a:endParaRPr lang="en-US" sz="2200" dirty="0"/>
          </a:p>
        </p:txBody>
      </p:sp>
      <p:sp>
        <p:nvSpPr>
          <p:cNvPr id="24" name="kw-cell"/>
          <p:cNvSpPr txBox="1"/>
          <p:nvPr/>
        </p:nvSpPr>
        <p:spPr>
          <a:xfrm>
            <a:off x="3657600" y="3485388"/>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terms with exactly the same letter part</a:t>
            </a:r>
            <a:endParaRPr lang="en-US" sz="2000" dirty="0"/>
          </a:p>
        </p:txBody>
      </p:sp>
      <p:sp>
        <p:nvSpPr>
          <p:cNvPr id="25" name="kw-cell"/>
          <p:cNvSpPr txBox="1"/>
          <p:nvPr/>
        </p:nvSpPr>
        <p:spPr>
          <a:xfrm>
            <a:off x="7315200" y="3485388"/>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3a and 5a are like terms, so they add to make 8a.</a:t>
            </a:r>
            <a:endParaRPr lang="en-US" sz="2000" dirty="0"/>
          </a:p>
        </p:txBody>
      </p:sp>
      <p:sp>
        <p:nvSpPr>
          <p:cNvPr id="26" name="kw-row"/>
          <p:cNvSpPr/>
          <p:nvPr/>
        </p:nvSpPr>
        <p:spPr>
          <a:xfrm>
            <a:off x="548640" y="4396232"/>
            <a:ext cx="11094415" cy="837692"/>
          </a:xfrm>
          <a:prstGeom prst="roundRect">
            <a:avLst>
              <a:gd name="adj" fmla="val 6549"/>
            </a:avLst>
          </a:prstGeom>
          <a:solidFill>
            <a:srgbClr val="F9F4EC"/>
          </a:solidFill>
          <a:ln/>
        </p:spPr>
      </p:sp>
      <p:sp>
        <p:nvSpPr>
          <p:cNvPr id="27" name="kw-hex"/>
          <p:cNvSpPr/>
          <p:nvPr/>
        </p:nvSpPr>
        <p:spPr>
          <a:xfrm>
            <a:off x="658368" y="4636907"/>
            <a:ext cx="411480" cy="356342"/>
          </a:xfrm>
          <a:prstGeom prst="hexagon">
            <a:avLst/>
          </a:prstGeom>
          <a:solidFill>
            <a:srgbClr val="B8862B"/>
          </a:solidFill>
          <a:ln/>
        </p:spPr>
      </p:sp>
      <p:sp>
        <p:nvSpPr>
          <p:cNvPr id="28" name="kw-cell"/>
          <p:cNvSpPr txBox="1"/>
          <p:nvPr/>
        </p:nvSpPr>
        <p:spPr>
          <a:xfrm>
            <a:off x="1143000" y="4396232"/>
            <a:ext cx="2331720" cy="837692"/>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simplify</a:t>
            </a:r>
            <a:endParaRPr lang="en-US" sz="2200" dirty="0"/>
          </a:p>
        </p:txBody>
      </p:sp>
      <p:sp>
        <p:nvSpPr>
          <p:cNvPr id="29" name="kw-cell"/>
          <p:cNvSpPr txBox="1"/>
          <p:nvPr/>
        </p:nvSpPr>
        <p:spPr>
          <a:xfrm>
            <a:off x="3657600" y="4396232"/>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to write an expression using as few terms as possible</a:t>
            </a:r>
            <a:endParaRPr lang="en-US" sz="2000" dirty="0"/>
          </a:p>
        </p:txBody>
      </p:sp>
      <p:sp>
        <p:nvSpPr>
          <p:cNvPr id="30" name="kw-cell"/>
          <p:cNvSpPr txBox="1"/>
          <p:nvPr/>
        </p:nvSpPr>
        <p:spPr>
          <a:xfrm>
            <a:off x="7315200" y="4396232"/>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Simplify a + a + a to get 3a.</a:t>
            </a:r>
            <a:endParaRPr lang="en-US" sz="2000" dirty="0"/>
          </a:p>
        </p:txBody>
      </p:sp>
      <p:sp>
        <p:nvSpPr>
          <p:cNvPr id="31" name="kw-row"/>
          <p:cNvSpPr/>
          <p:nvPr/>
        </p:nvSpPr>
        <p:spPr>
          <a:xfrm>
            <a:off x="548640" y="5307076"/>
            <a:ext cx="11094415" cy="837692"/>
          </a:xfrm>
          <a:prstGeom prst="roundRect">
            <a:avLst>
              <a:gd name="adj" fmla="val 6549"/>
            </a:avLst>
          </a:prstGeom>
          <a:solidFill>
            <a:srgbClr val="F5F6F9"/>
          </a:solidFill>
          <a:ln/>
        </p:spPr>
      </p:sp>
      <p:sp>
        <p:nvSpPr>
          <p:cNvPr id="32" name="kw-hex"/>
          <p:cNvSpPr/>
          <p:nvPr/>
        </p:nvSpPr>
        <p:spPr>
          <a:xfrm>
            <a:off x="658368" y="5547751"/>
            <a:ext cx="411480" cy="356342"/>
          </a:xfrm>
          <a:prstGeom prst="hexagon">
            <a:avLst/>
          </a:prstGeom>
          <a:solidFill>
            <a:srgbClr val="2E4A8C"/>
          </a:solidFill>
          <a:ln/>
        </p:spPr>
      </p:sp>
      <p:sp>
        <p:nvSpPr>
          <p:cNvPr id="33" name="kw-cell"/>
          <p:cNvSpPr txBox="1"/>
          <p:nvPr/>
        </p:nvSpPr>
        <p:spPr>
          <a:xfrm>
            <a:off x="1143000" y="5307076"/>
            <a:ext cx="2331720" cy="837692"/>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letter</a:t>
            </a:r>
            <a:endParaRPr lang="en-US" sz="2200" dirty="0"/>
          </a:p>
        </p:txBody>
      </p:sp>
      <p:sp>
        <p:nvSpPr>
          <p:cNvPr id="34" name="kw-cell"/>
          <p:cNvSpPr txBox="1"/>
          <p:nvPr/>
        </p:nvSpPr>
        <p:spPr>
          <a:xfrm>
            <a:off x="3657600" y="5307076"/>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symbol that stands for a number we do not know yet</a:t>
            </a:r>
            <a:endParaRPr lang="en-US" sz="2000" dirty="0"/>
          </a:p>
        </p:txBody>
      </p:sp>
      <p:sp>
        <p:nvSpPr>
          <p:cNvPr id="35" name="kw-cell"/>
          <p:cNvSpPr txBox="1"/>
          <p:nvPr/>
        </p:nvSpPr>
        <p:spPr>
          <a:xfrm>
            <a:off x="7315200" y="5307076"/>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The letter a stands for the length of one side.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Sometimes a side is not a number.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is 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letter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like a.</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letter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stands for a length we do not know yet.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We can still write the perimeter.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square with sides of a has a perimeter of a + a + a + a.</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simplify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this to 4a.</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4a means 4 times a.</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rectangle with sides 3a and 2a has a perimeter of 10a.</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For area, we multiply the lengths.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rectangle with sides 5 and a has an area of 5a.</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square with sides of b has an area of b times b, written b².</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Only add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terms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with the same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letter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Letters for lengths, and simplifying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Like terms have exactly the same letter. 3a and 3b are not like terms.</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Simplify 6x + 2x + 5y.</a:t>
            </a:r>
            <a:endParaRPr lang="en-US" sz="1800" dirty="0"/>
          </a:p>
        </p:txBody>
      </p:sp>
      <p:sp>
        <p:nvSpPr>
          <p:cNvPr id="14" name="step-box"/>
          <p:cNvSpPr/>
          <p:nvPr/>
        </p:nvSpPr>
        <p:spPr>
          <a:xfrm>
            <a:off x="6126480" y="2609596"/>
            <a:ext cx="5379415" cy="794512"/>
          </a:xfrm>
          <a:prstGeom prst="roundRect">
            <a:avLst>
              <a:gd name="adj" fmla="val 11509"/>
            </a:avLst>
          </a:prstGeom>
          <a:solidFill>
            <a:srgbClr val="F0F2F7"/>
          </a:solidFill>
          <a:ln/>
        </p:spPr>
      </p:sp>
      <p:sp>
        <p:nvSpPr>
          <p:cNvPr id="15" name="step-hex"/>
          <p:cNvSpPr/>
          <p:nvPr/>
        </p:nvSpPr>
        <p:spPr>
          <a:xfrm>
            <a:off x="6217920" y="2824722"/>
            <a:ext cx="420624" cy="364260"/>
          </a:xfrm>
          <a:prstGeom prst="hexagon">
            <a:avLst/>
          </a:prstGeom>
          <a:solidFill>
            <a:srgbClr val="2E4A8C"/>
          </a:solidFill>
          <a:ln/>
        </p:spPr>
      </p:sp>
      <p:sp>
        <p:nvSpPr>
          <p:cNvPr id="16" name="step-hex-label"/>
          <p:cNvSpPr txBox="1"/>
          <p:nvPr/>
        </p:nvSpPr>
        <p:spPr>
          <a:xfrm>
            <a:off x="6217920" y="28247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6x and 2x are like terms: add the numbers in front, 6 + 2 = 8, so 6x + 2x is 8x.</a:t>
            </a:r>
            <a:endParaRPr lang="en-US" sz="1800" dirty="0"/>
          </a:p>
        </p:txBody>
      </p:sp>
      <p:sp>
        <p:nvSpPr>
          <p:cNvPr id="18" name="step-box"/>
          <p:cNvSpPr/>
          <p:nvPr/>
        </p:nvSpPr>
        <p:spPr>
          <a:xfrm>
            <a:off x="6126480" y="3495548"/>
            <a:ext cx="5379415" cy="566928"/>
          </a:xfrm>
          <a:prstGeom prst="roundRect">
            <a:avLst>
              <a:gd name="adj" fmla="val 16129"/>
            </a:avLst>
          </a:prstGeom>
          <a:solidFill>
            <a:srgbClr val="F0F2F7"/>
          </a:solidFill>
          <a:ln/>
        </p:spPr>
      </p:sp>
      <p:sp>
        <p:nvSpPr>
          <p:cNvPr id="19" name="step-hex"/>
          <p:cNvSpPr/>
          <p:nvPr/>
        </p:nvSpPr>
        <p:spPr>
          <a:xfrm>
            <a:off x="6217920" y="3596882"/>
            <a:ext cx="420624" cy="364260"/>
          </a:xfrm>
          <a:prstGeom prst="hexagon">
            <a:avLst/>
          </a:prstGeom>
          <a:solidFill>
            <a:srgbClr val="2E4A8C"/>
          </a:solidFill>
          <a:ln/>
        </p:spPr>
      </p:sp>
      <p:sp>
        <p:nvSpPr>
          <p:cNvPr id="20" name="step-hex-label"/>
          <p:cNvSpPr txBox="1"/>
          <p:nvPr/>
        </p:nvSpPr>
        <p:spPr>
          <a:xfrm>
            <a:off x="6217920" y="35968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9554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5y has a different letter, so it stays as it is.</a:t>
            </a:r>
            <a:endParaRPr lang="en-US" sz="1800" dirty="0"/>
          </a:p>
        </p:txBody>
      </p:sp>
      <p:sp>
        <p:nvSpPr>
          <p:cNvPr id="22" name="step-box"/>
          <p:cNvSpPr/>
          <p:nvPr/>
        </p:nvSpPr>
        <p:spPr>
          <a:xfrm>
            <a:off x="6126480" y="4153916"/>
            <a:ext cx="5379415" cy="566928"/>
          </a:xfrm>
          <a:prstGeom prst="roundRect">
            <a:avLst>
              <a:gd name="adj" fmla="val 16129"/>
            </a:avLst>
          </a:prstGeom>
          <a:solidFill>
            <a:srgbClr val="F0F2F7"/>
          </a:solidFill>
          <a:ln/>
        </p:spPr>
      </p:sp>
      <p:sp>
        <p:nvSpPr>
          <p:cNvPr id="23" name="step-hex"/>
          <p:cNvSpPr/>
          <p:nvPr/>
        </p:nvSpPr>
        <p:spPr>
          <a:xfrm>
            <a:off x="6217920" y="4255250"/>
            <a:ext cx="420624" cy="364260"/>
          </a:xfrm>
          <a:prstGeom prst="hexagon">
            <a:avLst/>
          </a:prstGeom>
          <a:solidFill>
            <a:srgbClr val="2E4A8C"/>
          </a:solidFill>
          <a:ln/>
        </p:spPr>
      </p:sp>
      <p:sp>
        <p:nvSpPr>
          <p:cNvPr id="24" name="step-hex-label"/>
          <p:cNvSpPr txBox="1"/>
          <p:nvPr/>
        </p:nvSpPr>
        <p:spPr>
          <a:xfrm>
            <a:off x="6217920" y="42552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15391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simplified expression is 8x + 5y.</a:t>
            </a:r>
            <a:endParaRPr lang="en-US" sz="1800" dirty="0"/>
          </a:p>
        </p:txBody>
      </p:sp>
      <p:sp>
        <p:nvSpPr>
          <p:cNvPr id="26" name="worked-answer"/>
          <p:cNvSpPr/>
          <p:nvPr/>
        </p:nvSpPr>
        <p:spPr>
          <a:xfrm>
            <a:off x="6126480" y="4858004"/>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8x + 5y</a:t>
            </a:r>
            <a:endParaRPr lang="en-US" sz="1800" dirty="0"/>
          </a:p>
        </p:txBody>
      </p:sp>
      <p:sp>
        <p:nvSpPr>
          <p:cNvPr id="27" name="bullet-card"/>
          <p:cNvSpPr/>
          <p:nvPr/>
        </p:nvSpPr>
        <p:spPr>
          <a:xfrm>
            <a:off x="548640" y="1389888"/>
            <a:ext cx="5074920" cy="1027853"/>
          </a:xfrm>
          <a:prstGeom prst="roundRect">
            <a:avLst>
              <a:gd name="adj" fmla="val 7117"/>
            </a:avLst>
          </a:prstGeom>
          <a:solidFill>
            <a:srgbClr val="F5F6F9"/>
          </a:solidFill>
          <a:ln/>
        </p:spPr>
      </p:sp>
      <p:sp>
        <p:nvSpPr>
          <p:cNvPr id="28" name="bullet-hex"/>
          <p:cNvSpPr/>
          <p:nvPr/>
        </p:nvSpPr>
        <p:spPr>
          <a:xfrm>
            <a:off x="676656" y="1737522"/>
            <a:ext cx="384048" cy="332586"/>
          </a:xfrm>
          <a:prstGeom prst="hexagon">
            <a:avLst/>
          </a:prstGeom>
          <a:solidFill>
            <a:srgbClr val="2E4A8C"/>
          </a:solidFill>
          <a:ln/>
        </p:spPr>
      </p:sp>
      <p:sp>
        <p:nvSpPr>
          <p:cNvPr id="29" name="bullet"/>
          <p:cNvSpPr txBox="1"/>
          <p:nvPr/>
        </p:nvSpPr>
        <p:spPr>
          <a:xfrm>
            <a:off x="1143000" y="1389888"/>
            <a:ext cx="4389120" cy="102785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When we do not know a length, we give it a letter.</a:t>
            </a:r>
            <a:endParaRPr lang="en-US" sz="2000" dirty="0"/>
          </a:p>
        </p:txBody>
      </p:sp>
      <p:sp>
        <p:nvSpPr>
          <p:cNvPr id="30" name="bullet-card"/>
          <p:cNvSpPr/>
          <p:nvPr/>
        </p:nvSpPr>
        <p:spPr>
          <a:xfrm>
            <a:off x="548640" y="2564045"/>
            <a:ext cx="5074920" cy="1337733"/>
          </a:xfrm>
          <a:prstGeom prst="roundRect">
            <a:avLst>
              <a:gd name="adj" fmla="val 5468"/>
            </a:avLst>
          </a:prstGeom>
          <a:solidFill>
            <a:srgbClr val="F5F6F9"/>
          </a:solidFill>
          <a:ln/>
        </p:spPr>
      </p:sp>
      <p:sp>
        <p:nvSpPr>
          <p:cNvPr id="31" name="bullet-hex"/>
          <p:cNvSpPr/>
          <p:nvPr/>
        </p:nvSpPr>
        <p:spPr>
          <a:xfrm>
            <a:off x="676656" y="3066619"/>
            <a:ext cx="384048" cy="332586"/>
          </a:xfrm>
          <a:prstGeom prst="hexagon">
            <a:avLst/>
          </a:prstGeom>
          <a:solidFill>
            <a:srgbClr val="B8862B"/>
          </a:solidFill>
          <a:ln/>
        </p:spPr>
      </p:sp>
      <p:sp>
        <p:nvSpPr>
          <p:cNvPr id="32" name="bullet"/>
          <p:cNvSpPr txBox="1"/>
          <p:nvPr/>
        </p:nvSpPr>
        <p:spPr>
          <a:xfrm>
            <a:off x="1143000" y="2564045"/>
            <a:ext cx="4389120" cy="133773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Adding the same letter several times is like adding the same number: a + a + a is 3a, just as 2 + 2 + 2 is 3 × 2.</a:t>
            </a:r>
            <a:endParaRPr lang="en-US" sz="2000" dirty="0"/>
          </a:p>
        </p:txBody>
      </p:sp>
      <p:sp>
        <p:nvSpPr>
          <p:cNvPr id="33" name="bullet-card"/>
          <p:cNvSpPr/>
          <p:nvPr/>
        </p:nvSpPr>
        <p:spPr>
          <a:xfrm>
            <a:off x="548640" y="4048083"/>
            <a:ext cx="5074920" cy="1027853"/>
          </a:xfrm>
          <a:prstGeom prst="roundRect">
            <a:avLst>
              <a:gd name="adj" fmla="val 7117"/>
            </a:avLst>
          </a:prstGeom>
          <a:solidFill>
            <a:srgbClr val="F5F6F9"/>
          </a:solidFill>
          <a:ln/>
        </p:spPr>
      </p:sp>
      <p:sp>
        <p:nvSpPr>
          <p:cNvPr id="34" name="bullet-hex"/>
          <p:cNvSpPr/>
          <p:nvPr/>
        </p:nvSpPr>
        <p:spPr>
          <a:xfrm>
            <a:off x="676656" y="4395717"/>
            <a:ext cx="384048" cy="332586"/>
          </a:xfrm>
          <a:prstGeom prst="hexagon">
            <a:avLst/>
          </a:prstGeom>
          <a:solidFill>
            <a:srgbClr val="2E4A8C"/>
          </a:solidFill>
          <a:ln/>
        </p:spPr>
      </p:sp>
      <p:sp>
        <p:nvSpPr>
          <p:cNvPr id="35" name="bullet"/>
          <p:cNvSpPr txBox="1"/>
          <p:nvPr/>
        </p:nvSpPr>
        <p:spPr>
          <a:xfrm>
            <a:off x="1143000" y="4048083"/>
            <a:ext cx="4389120" cy="102785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Terms with different letters cannot be combined. 11a + 3b stays as 11a + 3b.</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Expressions for perimeter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Letters add just like numbers, but only with their own kind.</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triangle has sides of 7a cm, 4a cm and 3b cm. Write and simplify an expression for its perimeter.</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every side: 7a + 4a + 3b.</a:t>
            </a:r>
            <a:endParaRPr lang="en-US" sz="1800" dirty="0"/>
          </a:p>
        </p:txBody>
      </p:sp>
      <p:sp>
        <p:nvSpPr>
          <p:cNvPr id="18" name="step-box"/>
          <p:cNvSpPr/>
          <p:nvPr/>
        </p:nvSpPr>
        <p:spPr>
          <a:xfrm>
            <a:off x="6126480" y="3546856"/>
            <a:ext cx="5379415" cy="566928"/>
          </a:xfrm>
          <a:prstGeom prst="roundRect">
            <a:avLst>
              <a:gd name="adj" fmla="val 16129"/>
            </a:avLst>
          </a:prstGeom>
          <a:solidFill>
            <a:srgbClr val="F0F2F7"/>
          </a:solidFill>
          <a:ln/>
        </p:spPr>
      </p:sp>
      <p:sp>
        <p:nvSpPr>
          <p:cNvPr id="19" name="step-hex"/>
          <p:cNvSpPr/>
          <p:nvPr/>
        </p:nvSpPr>
        <p:spPr>
          <a:xfrm>
            <a:off x="6217920" y="3648190"/>
            <a:ext cx="420624" cy="364260"/>
          </a:xfrm>
          <a:prstGeom prst="hexagon">
            <a:avLst/>
          </a:prstGeom>
          <a:solidFill>
            <a:srgbClr val="2E4A8C"/>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Collect the like terms: 7a + 4a is 11a.</a:t>
            </a:r>
            <a:endParaRPr lang="en-US" sz="1800" dirty="0"/>
          </a:p>
        </p:txBody>
      </p:sp>
      <p:sp>
        <p:nvSpPr>
          <p:cNvPr id="22" name="step-box"/>
          <p:cNvSpPr/>
          <p:nvPr/>
        </p:nvSpPr>
        <p:spPr>
          <a:xfrm>
            <a:off x="6126480" y="4205224"/>
            <a:ext cx="5379415" cy="566928"/>
          </a:xfrm>
          <a:prstGeom prst="roundRect">
            <a:avLst>
              <a:gd name="adj" fmla="val 16129"/>
            </a:avLst>
          </a:prstGeom>
          <a:solidFill>
            <a:srgbClr val="F0F2F7"/>
          </a:solidFill>
          <a:ln/>
        </p:spPr>
      </p:sp>
      <p:sp>
        <p:nvSpPr>
          <p:cNvPr id="23" name="step-hex"/>
          <p:cNvSpPr/>
          <p:nvPr/>
        </p:nvSpPr>
        <p:spPr>
          <a:xfrm>
            <a:off x="6217920" y="4306558"/>
            <a:ext cx="420624" cy="364260"/>
          </a:xfrm>
          <a:prstGeom prst="hexagon">
            <a:avLst/>
          </a:prstGeom>
          <a:solidFill>
            <a:srgbClr val="2E4A8C"/>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3b stays. The perimeter is 11a + 3b cm.</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11a + 3b cm</a:t>
            </a:r>
            <a:endParaRPr lang="en-US" sz="1800" dirty="0"/>
          </a:p>
        </p:txBody>
      </p:sp>
      <p:sp>
        <p:nvSpPr>
          <p:cNvPr id="27" name="bullet-card"/>
          <p:cNvSpPr/>
          <p:nvPr/>
        </p:nvSpPr>
        <p:spPr>
          <a:xfrm>
            <a:off x="548640" y="1389888"/>
            <a:ext cx="5074920" cy="1131147"/>
          </a:xfrm>
          <a:prstGeom prst="roundRect">
            <a:avLst>
              <a:gd name="adj" fmla="val 6467"/>
            </a:avLst>
          </a:prstGeom>
          <a:solidFill>
            <a:srgbClr val="F5F6F9"/>
          </a:solidFill>
          <a:ln/>
        </p:spPr>
      </p:sp>
      <p:sp>
        <p:nvSpPr>
          <p:cNvPr id="28" name="bullet-hex"/>
          <p:cNvSpPr/>
          <p:nvPr/>
        </p:nvSpPr>
        <p:spPr>
          <a:xfrm>
            <a:off x="676656" y="1789169"/>
            <a:ext cx="384048" cy="332586"/>
          </a:xfrm>
          <a:prstGeom prst="hexagon">
            <a:avLst/>
          </a:prstGeom>
          <a:solidFill>
            <a:srgbClr val="2E4A8C"/>
          </a:solidFill>
          <a:ln/>
        </p:spPr>
      </p:sp>
      <p:sp>
        <p:nvSpPr>
          <p:cNvPr id="29" name="bullet"/>
          <p:cNvSpPr txBox="1"/>
          <p:nvPr/>
        </p:nvSpPr>
        <p:spPr>
          <a:xfrm>
            <a:off x="1143000" y="1389888"/>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Perimeter still means add every side. Write down each side, letters and all, then collect the like terms.</a:t>
            </a:r>
            <a:endParaRPr lang="en-US" sz="2000" dirty="0"/>
          </a:p>
        </p:txBody>
      </p:sp>
      <p:sp>
        <p:nvSpPr>
          <p:cNvPr id="30" name="bullet-card"/>
          <p:cNvSpPr/>
          <p:nvPr/>
        </p:nvSpPr>
        <p:spPr>
          <a:xfrm>
            <a:off x="548640" y="2667339"/>
            <a:ext cx="5074920" cy="1131147"/>
          </a:xfrm>
          <a:prstGeom prst="roundRect">
            <a:avLst>
              <a:gd name="adj" fmla="val 6467"/>
            </a:avLst>
          </a:prstGeom>
          <a:solidFill>
            <a:srgbClr val="F5F6F9"/>
          </a:solidFill>
          <a:ln/>
        </p:spPr>
      </p:sp>
      <p:sp>
        <p:nvSpPr>
          <p:cNvPr id="31" name="bullet-hex"/>
          <p:cNvSpPr/>
          <p:nvPr/>
        </p:nvSpPr>
        <p:spPr>
          <a:xfrm>
            <a:off x="676656" y="3066619"/>
            <a:ext cx="384048" cy="332586"/>
          </a:xfrm>
          <a:prstGeom prst="hexagon">
            <a:avLst/>
          </a:prstGeom>
          <a:solidFill>
            <a:srgbClr val="B8862B"/>
          </a:solidFill>
          <a:ln/>
        </p:spPr>
      </p:sp>
      <p:sp>
        <p:nvSpPr>
          <p:cNvPr id="32" name="bullet"/>
          <p:cNvSpPr txBox="1"/>
          <p:nvPr/>
        </p:nvSpPr>
        <p:spPr>
          <a:xfrm>
            <a:off x="1143000" y="2667339"/>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For a regular polygon, multiply instead: a regular pentagon with sides of y has a perimeter of 5y.</a:t>
            </a:r>
            <a:endParaRPr lang="en-US" sz="2000" dirty="0"/>
          </a:p>
        </p:txBody>
      </p:sp>
      <p:sp>
        <p:nvSpPr>
          <p:cNvPr id="33" name="bullet-card"/>
          <p:cNvSpPr/>
          <p:nvPr/>
        </p:nvSpPr>
        <p:spPr>
          <a:xfrm>
            <a:off x="548640" y="3944789"/>
            <a:ext cx="5074920" cy="1131147"/>
          </a:xfrm>
          <a:prstGeom prst="roundRect">
            <a:avLst>
              <a:gd name="adj" fmla="val 6467"/>
            </a:avLst>
          </a:prstGeom>
          <a:solidFill>
            <a:srgbClr val="F5F6F9"/>
          </a:solidFill>
          <a:ln/>
        </p:spPr>
      </p:sp>
      <p:sp>
        <p:nvSpPr>
          <p:cNvPr id="34" name="bullet-hex"/>
          <p:cNvSpPr/>
          <p:nvPr/>
        </p:nvSpPr>
        <p:spPr>
          <a:xfrm>
            <a:off x="676656" y="4344070"/>
            <a:ext cx="384048" cy="332586"/>
          </a:xfrm>
          <a:prstGeom prst="hexagon">
            <a:avLst/>
          </a:prstGeom>
          <a:solidFill>
            <a:srgbClr val="2E4A8C"/>
          </a:solidFill>
          <a:ln/>
        </p:spPr>
      </p:sp>
      <p:sp>
        <p:nvSpPr>
          <p:cNvPr id="35" name="bullet"/>
          <p:cNvSpPr txBox="1"/>
          <p:nvPr/>
        </p:nvSpPr>
        <p:spPr>
          <a:xfrm>
            <a:off x="1143000" y="3944789"/>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Count the sides before you start. A rectangle has four terms before simplifying, a triangle three.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Expressions for area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5074920"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4206240"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 a is a², not 2a. 2a means a + a.</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rectangle has sides of 5a m and 3 m. Write an expression for its area.</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Area = length × width = 5a × 3.</a:t>
            </a:r>
            <a:endParaRPr lang="en-US" sz="1800" dirty="0"/>
          </a:p>
        </p:txBody>
      </p:sp>
      <p:sp>
        <p:nvSpPr>
          <p:cNvPr id="18" name="step-box"/>
          <p:cNvSpPr/>
          <p:nvPr/>
        </p:nvSpPr>
        <p:spPr>
          <a:xfrm>
            <a:off x="6126480" y="3546856"/>
            <a:ext cx="5379415" cy="566928"/>
          </a:xfrm>
          <a:prstGeom prst="roundRect">
            <a:avLst>
              <a:gd name="adj" fmla="val 16129"/>
            </a:avLst>
          </a:prstGeom>
          <a:solidFill>
            <a:srgbClr val="F0F2F7"/>
          </a:solidFill>
          <a:ln/>
        </p:spPr>
      </p:sp>
      <p:sp>
        <p:nvSpPr>
          <p:cNvPr id="19" name="step-hex"/>
          <p:cNvSpPr/>
          <p:nvPr/>
        </p:nvSpPr>
        <p:spPr>
          <a:xfrm>
            <a:off x="6217920" y="3648190"/>
            <a:ext cx="420624" cy="364260"/>
          </a:xfrm>
          <a:prstGeom prst="hexagon">
            <a:avLst/>
          </a:prstGeom>
          <a:solidFill>
            <a:srgbClr val="2E4A8C"/>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Multiply the numbers: 5 × 3 = 15. The a stays.</a:t>
            </a:r>
            <a:endParaRPr lang="en-US" sz="1800" dirty="0"/>
          </a:p>
        </p:txBody>
      </p:sp>
      <p:sp>
        <p:nvSpPr>
          <p:cNvPr id="22" name="step-box"/>
          <p:cNvSpPr/>
          <p:nvPr/>
        </p:nvSpPr>
        <p:spPr>
          <a:xfrm>
            <a:off x="6126480" y="4205224"/>
            <a:ext cx="5379415" cy="566928"/>
          </a:xfrm>
          <a:prstGeom prst="roundRect">
            <a:avLst>
              <a:gd name="adj" fmla="val 16129"/>
            </a:avLst>
          </a:prstGeom>
          <a:solidFill>
            <a:srgbClr val="F0F2F7"/>
          </a:solidFill>
          <a:ln/>
        </p:spPr>
      </p:sp>
      <p:sp>
        <p:nvSpPr>
          <p:cNvPr id="23" name="step-hex"/>
          <p:cNvSpPr/>
          <p:nvPr/>
        </p:nvSpPr>
        <p:spPr>
          <a:xfrm>
            <a:off x="6217920" y="4306558"/>
            <a:ext cx="420624" cy="364260"/>
          </a:xfrm>
          <a:prstGeom prst="hexagon">
            <a:avLst/>
          </a:prstGeom>
          <a:solidFill>
            <a:srgbClr val="2E4A8C"/>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area is 15a m².</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15a m²</a:t>
            </a:r>
            <a:endParaRPr lang="en-US" sz="1800" dirty="0"/>
          </a:p>
        </p:txBody>
      </p:sp>
      <p:sp>
        <p:nvSpPr>
          <p:cNvPr id="27" name="bullet-card"/>
          <p:cNvSpPr/>
          <p:nvPr/>
        </p:nvSpPr>
        <p:spPr>
          <a:xfrm>
            <a:off x="548640" y="1389888"/>
            <a:ext cx="5074920" cy="1224111"/>
          </a:xfrm>
          <a:prstGeom prst="roundRect">
            <a:avLst>
              <a:gd name="adj" fmla="val 5976"/>
            </a:avLst>
          </a:prstGeom>
          <a:solidFill>
            <a:srgbClr val="F5F6F9"/>
          </a:solidFill>
          <a:ln/>
        </p:spPr>
      </p:sp>
      <p:sp>
        <p:nvSpPr>
          <p:cNvPr id="28" name="bullet-hex"/>
          <p:cNvSpPr/>
          <p:nvPr/>
        </p:nvSpPr>
        <p:spPr>
          <a:xfrm>
            <a:off x="676656" y="1835651"/>
            <a:ext cx="384048" cy="332586"/>
          </a:xfrm>
          <a:prstGeom prst="hexagon">
            <a:avLst/>
          </a:prstGeom>
          <a:solidFill>
            <a:srgbClr val="2E4A8C"/>
          </a:solidFill>
          <a:ln/>
        </p:spPr>
      </p:sp>
      <p:sp>
        <p:nvSpPr>
          <p:cNvPr id="29" name="bullet"/>
          <p:cNvSpPr txBox="1"/>
          <p:nvPr/>
        </p:nvSpPr>
        <p:spPr>
          <a:xfrm>
            <a:off x="1143000" y="1389888"/>
            <a:ext cx="4389120" cy="1224111"/>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Area means multiply, and letters multiply too. A rectangle with sides 4 and a has an area of 4 × a, which is 4a.</a:t>
            </a:r>
            <a:endParaRPr lang="en-US" sz="2000" dirty="0"/>
          </a:p>
        </p:txBody>
      </p:sp>
      <p:sp>
        <p:nvSpPr>
          <p:cNvPr id="30" name="bullet-card"/>
          <p:cNvSpPr/>
          <p:nvPr/>
        </p:nvSpPr>
        <p:spPr>
          <a:xfrm>
            <a:off x="548640" y="2760303"/>
            <a:ext cx="5074920" cy="914231"/>
          </a:xfrm>
          <a:prstGeom prst="roundRect">
            <a:avLst>
              <a:gd name="adj" fmla="val 8001"/>
            </a:avLst>
          </a:prstGeom>
          <a:solidFill>
            <a:srgbClr val="F5F6F9"/>
          </a:solidFill>
          <a:ln/>
        </p:spPr>
      </p:sp>
      <p:sp>
        <p:nvSpPr>
          <p:cNvPr id="31" name="bullet-hex"/>
          <p:cNvSpPr/>
          <p:nvPr/>
        </p:nvSpPr>
        <p:spPr>
          <a:xfrm>
            <a:off x="676656" y="3051125"/>
            <a:ext cx="384048" cy="332586"/>
          </a:xfrm>
          <a:prstGeom prst="hexagon">
            <a:avLst/>
          </a:prstGeom>
          <a:solidFill>
            <a:srgbClr val="B8862B"/>
          </a:solidFill>
          <a:ln/>
        </p:spPr>
      </p:sp>
      <p:sp>
        <p:nvSpPr>
          <p:cNvPr id="32" name="bullet"/>
          <p:cNvSpPr txBox="1"/>
          <p:nvPr/>
        </p:nvSpPr>
        <p:spPr>
          <a:xfrm>
            <a:off x="1143000" y="2760303"/>
            <a:ext cx="4389120" cy="914231"/>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When a letter is multiplied by itself you get a square: a × a is a².</a:t>
            </a:r>
            <a:endParaRPr lang="en-US" sz="2000" dirty="0"/>
          </a:p>
        </p:txBody>
      </p:sp>
      <p:sp>
        <p:nvSpPr>
          <p:cNvPr id="33" name="bullet-card"/>
          <p:cNvSpPr/>
          <p:nvPr/>
        </p:nvSpPr>
        <p:spPr>
          <a:xfrm>
            <a:off x="548640" y="3820837"/>
            <a:ext cx="5074920" cy="1533991"/>
          </a:xfrm>
          <a:prstGeom prst="roundRect">
            <a:avLst>
              <a:gd name="adj" fmla="val 4769"/>
            </a:avLst>
          </a:prstGeom>
          <a:solidFill>
            <a:srgbClr val="F5F6F9"/>
          </a:solidFill>
          <a:ln/>
        </p:spPr>
      </p:sp>
      <p:sp>
        <p:nvSpPr>
          <p:cNvPr id="34" name="bullet-hex"/>
          <p:cNvSpPr/>
          <p:nvPr/>
        </p:nvSpPr>
        <p:spPr>
          <a:xfrm>
            <a:off x="676656" y="4421540"/>
            <a:ext cx="384048" cy="332586"/>
          </a:xfrm>
          <a:prstGeom prst="hexagon">
            <a:avLst/>
          </a:prstGeom>
          <a:solidFill>
            <a:srgbClr val="2E4A8C"/>
          </a:solidFill>
          <a:ln/>
        </p:spPr>
      </p:sp>
      <p:sp>
        <p:nvSpPr>
          <p:cNvPr id="35" name="bullet"/>
          <p:cNvSpPr txBox="1"/>
          <p:nvPr/>
        </p:nvSpPr>
        <p:spPr>
          <a:xfrm>
            <a:off x="1143000" y="3820837"/>
            <a:ext cx="4389120" cy="1533991"/>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Triangles still halve. A triangle with a base of 8g cm and a perpendicular height of 3 cm has an area of 8g × 3 ÷ 2, which is 24g ÷ 2, or 12g cm².</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Using an expression to find a length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Put your value back into the shape and check it gives the number you were told.</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rectangle has sides of 4a cm and 6 cm. Its area is 72 cm². Find the value of a.</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area as an expression: 4a × 6 is 24a.</a:t>
            </a:r>
            <a:endParaRPr lang="en-US" sz="1800" dirty="0"/>
          </a:p>
        </p:txBody>
      </p:sp>
      <p:sp>
        <p:nvSpPr>
          <p:cNvPr id="18" name="step-box"/>
          <p:cNvSpPr/>
          <p:nvPr/>
        </p:nvSpPr>
        <p:spPr>
          <a:xfrm>
            <a:off x="6126480" y="3546856"/>
            <a:ext cx="5379415" cy="566928"/>
          </a:xfrm>
          <a:prstGeom prst="roundRect">
            <a:avLst>
              <a:gd name="adj" fmla="val 16129"/>
            </a:avLst>
          </a:prstGeom>
          <a:solidFill>
            <a:srgbClr val="F0F2F7"/>
          </a:solidFill>
          <a:ln/>
        </p:spPr>
      </p:sp>
      <p:sp>
        <p:nvSpPr>
          <p:cNvPr id="19" name="step-hex"/>
          <p:cNvSpPr/>
          <p:nvPr/>
        </p:nvSpPr>
        <p:spPr>
          <a:xfrm>
            <a:off x="6217920" y="3648190"/>
            <a:ext cx="420624" cy="364260"/>
          </a:xfrm>
          <a:prstGeom prst="hexagon">
            <a:avLst/>
          </a:prstGeom>
          <a:solidFill>
            <a:srgbClr val="2E4A8C"/>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area is 72, so 24a is 72.</a:t>
            </a:r>
            <a:endParaRPr lang="en-US" sz="1800" dirty="0"/>
          </a:p>
        </p:txBody>
      </p:sp>
      <p:sp>
        <p:nvSpPr>
          <p:cNvPr id="22" name="step-box"/>
          <p:cNvSpPr/>
          <p:nvPr/>
        </p:nvSpPr>
        <p:spPr>
          <a:xfrm>
            <a:off x="6126480" y="4205224"/>
            <a:ext cx="5379415" cy="566928"/>
          </a:xfrm>
          <a:prstGeom prst="roundRect">
            <a:avLst>
              <a:gd name="adj" fmla="val 16129"/>
            </a:avLst>
          </a:prstGeom>
          <a:solidFill>
            <a:srgbClr val="F0F2F7"/>
          </a:solidFill>
          <a:ln/>
        </p:spPr>
      </p:sp>
      <p:sp>
        <p:nvSpPr>
          <p:cNvPr id="23" name="step-hex"/>
          <p:cNvSpPr/>
          <p:nvPr/>
        </p:nvSpPr>
        <p:spPr>
          <a:xfrm>
            <a:off x="6217920" y="4306558"/>
            <a:ext cx="420624" cy="364260"/>
          </a:xfrm>
          <a:prstGeom prst="hexagon">
            <a:avLst/>
          </a:prstGeom>
          <a:solidFill>
            <a:srgbClr val="2E4A8C"/>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72 ÷ 24 = 3, so a is 3. Check: 12 × 6 = 72.</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a:t>
            </a:r>
            <a:endParaRPr lang="en-US" sz="1800" dirty="0"/>
          </a:p>
        </p:txBody>
      </p:sp>
      <p:sp>
        <p:nvSpPr>
          <p:cNvPr id="27" name="bullet-card"/>
          <p:cNvSpPr/>
          <p:nvPr/>
        </p:nvSpPr>
        <p:spPr>
          <a:xfrm>
            <a:off x="548640" y="1389888"/>
            <a:ext cx="5074920" cy="1141476"/>
          </a:xfrm>
          <a:prstGeom prst="roundRect">
            <a:avLst>
              <a:gd name="adj" fmla="val 6409"/>
            </a:avLst>
          </a:prstGeom>
          <a:solidFill>
            <a:srgbClr val="F5F6F9"/>
          </a:solidFill>
          <a:ln/>
        </p:spPr>
      </p:sp>
      <p:sp>
        <p:nvSpPr>
          <p:cNvPr id="28" name="bullet-hex"/>
          <p:cNvSpPr/>
          <p:nvPr/>
        </p:nvSpPr>
        <p:spPr>
          <a:xfrm>
            <a:off x="676656" y="1794333"/>
            <a:ext cx="384048" cy="332586"/>
          </a:xfrm>
          <a:prstGeom prst="hexagon">
            <a:avLst/>
          </a:prstGeom>
          <a:solidFill>
            <a:srgbClr val="2E4A8C"/>
          </a:solidFill>
          <a:ln/>
        </p:spPr>
      </p:sp>
      <p:sp>
        <p:nvSpPr>
          <p:cNvPr id="29" name="bullet"/>
          <p:cNvSpPr txBox="1"/>
          <p:nvPr/>
        </p:nvSpPr>
        <p:spPr>
          <a:xfrm>
            <a:off x="1143000" y="1389888"/>
            <a:ext cx="4389120" cy="11414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If you know the area or perimeter as a number and also as an expression, you can find the letter.</a:t>
            </a:r>
            <a:endParaRPr lang="en-US" sz="2000" dirty="0"/>
          </a:p>
        </p:txBody>
      </p:sp>
      <p:sp>
        <p:nvSpPr>
          <p:cNvPr id="30" name="bullet-card"/>
          <p:cNvSpPr/>
          <p:nvPr/>
        </p:nvSpPr>
        <p:spPr>
          <a:xfrm>
            <a:off x="548640" y="2677668"/>
            <a:ext cx="5074920" cy="831596"/>
          </a:xfrm>
          <a:prstGeom prst="roundRect">
            <a:avLst>
              <a:gd name="adj" fmla="val 8797"/>
            </a:avLst>
          </a:prstGeom>
          <a:solidFill>
            <a:srgbClr val="F5F6F9"/>
          </a:solidFill>
          <a:ln/>
        </p:spPr>
      </p:sp>
      <p:sp>
        <p:nvSpPr>
          <p:cNvPr id="31" name="bullet-hex"/>
          <p:cNvSpPr/>
          <p:nvPr/>
        </p:nvSpPr>
        <p:spPr>
          <a:xfrm>
            <a:off x="676656" y="2927173"/>
            <a:ext cx="384048" cy="332586"/>
          </a:xfrm>
          <a:prstGeom prst="hexagon">
            <a:avLst/>
          </a:prstGeom>
          <a:solidFill>
            <a:srgbClr val="B8862B"/>
          </a:solidFill>
          <a:ln/>
        </p:spPr>
      </p:sp>
      <p:sp>
        <p:nvSpPr>
          <p:cNvPr id="32" name="bullet"/>
          <p:cNvSpPr txBox="1"/>
          <p:nvPr/>
        </p:nvSpPr>
        <p:spPr>
          <a:xfrm>
            <a:off x="1143000" y="2677668"/>
            <a:ext cx="4389120" cy="83159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Ask yourself: 24 times what makes 72? Since 72 ÷ 24 = 3, the letter a is 3.</a:t>
            </a:r>
            <a:endParaRPr lang="en-US" sz="2000" dirty="0"/>
          </a:p>
        </p:txBody>
      </p:sp>
      <p:sp>
        <p:nvSpPr>
          <p:cNvPr id="33" name="bullet-card"/>
          <p:cNvSpPr/>
          <p:nvPr/>
        </p:nvSpPr>
        <p:spPr>
          <a:xfrm>
            <a:off x="548640" y="3655568"/>
            <a:ext cx="5074920" cy="1141476"/>
          </a:xfrm>
          <a:prstGeom prst="roundRect">
            <a:avLst>
              <a:gd name="adj" fmla="val 6409"/>
            </a:avLst>
          </a:prstGeom>
          <a:solidFill>
            <a:srgbClr val="F5F6F9"/>
          </a:solidFill>
          <a:ln/>
        </p:spPr>
      </p:sp>
      <p:sp>
        <p:nvSpPr>
          <p:cNvPr id="34" name="bullet-hex"/>
          <p:cNvSpPr/>
          <p:nvPr/>
        </p:nvSpPr>
        <p:spPr>
          <a:xfrm>
            <a:off x="676656" y="4060013"/>
            <a:ext cx="384048" cy="332586"/>
          </a:xfrm>
          <a:prstGeom prst="hexagon">
            <a:avLst/>
          </a:prstGeom>
          <a:solidFill>
            <a:srgbClr val="2E4A8C"/>
          </a:solidFill>
          <a:ln/>
        </p:spPr>
      </p:sp>
      <p:sp>
        <p:nvSpPr>
          <p:cNvPr id="35" name="bullet"/>
          <p:cNvSpPr txBox="1"/>
          <p:nvPr/>
        </p:nvSpPr>
        <p:spPr>
          <a:xfrm>
            <a:off x="1143000" y="3655568"/>
            <a:ext cx="4389120" cy="114147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same idea works for perimeter. A square with sides of p has a perimeter of 4p.</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Same task, three ways in: Perimeter expression for a rectangle</a:t>
            </a:r>
            <a:endParaRPr lang="en-US" sz="24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rectangle has sides of 5x cm and 3 cm. Which expression gives its perimeter in cm?</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8x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5x + 3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15x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10x + 6</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all four sides of the rectangle: two long and two short.</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the like terms together: the x terms with each other, the plain numbers with each other.</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simplified expression with its unit.</a:t>
            </a:r>
            <a:endParaRPr lang="en-US" sz="1800" dirty="0"/>
          </a:p>
        </p:txBody>
      </p:sp>
      <p:sp>
        <p:nvSpPr>
          <p:cNvPr id="17" name="col-Core"/>
          <p:cNvSpPr/>
          <p:nvPr/>
        </p:nvSpPr>
        <p:spPr>
          <a:xfrm>
            <a:off x="5490762" y="2948940"/>
            <a:ext cx="2938987" cy="3195828"/>
          </a:xfrm>
          <a:prstGeom prst="roundRect">
            <a:avLst>
              <a:gd name="adj" fmla="val 1867"/>
            </a:avLst>
          </a:prstGeom>
          <a:solidFill>
            <a:srgbClr val="D7DDE9"/>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 rectangle has four sides. Write all four down before you simplify.</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2E4A8C"/>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perimeter of this rectangle is 46 cm. Find x, then work out the area of the rectangle.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Simplify a perimeter</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triangle has sides of 6a cm, 4a cm and 5b cm. Its perimeter is ___ cm.</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Word bank:  </a:t>
            </a:r>
            <a:pPr algn="ctr" indent="0" marL="0">
              <a:buNone/>
            </a:pPr>
            <a:r>
              <a:rPr lang="en-US" sz="1800" dirty="0">
                <a:solidFill>
                  <a:srgbClr val="1E2229"/>
                </a:solidFill>
                <a:latin typeface="Calibri" pitchFamily="34" charset="0"/>
                <a:ea typeface="Calibri" pitchFamily="34" charset="-122"/>
                <a:cs typeface="Calibri" pitchFamily="34" charset="-120"/>
              </a:rPr>
              <a:t>10a + 5b   ·   15ab   ·   15a + b   ·   10a + 5</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Write every side with a plus sign between them.</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Circle the terms with the same letter and add their numbers.</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Leave any term with a different letter as it is.</a:t>
            </a:r>
            <a:endParaRPr lang="en-US" sz="22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253B70"/>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Only like terms can be added. Which two sides have the same letter?</a:t>
            </a:r>
            <a:endParaRPr lang="en-US" sz="22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If a is 2 and b is 3, work out the actual perimeter in cm. Then explain why 15ab would give a different, wrong, answer.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triangle has a base of 6y cm and a perpendicular height of 4 cm. Which expression gives its area in cm²?</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24y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10y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12y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12y²</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Perimeter expression for a rectangle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rectangle has sides of 5x cm and 3 cm. Which expression gives its perimeter in cm?</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10x + 6</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four sides are 5x, 3, 5x and 3. Collect like terms: 5x + 5x is 10x and 3 + 3 = 6, so the perimeter is 10x + 6.</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Simplify a perimeter</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triangle has sides of 6a cm, 4a cm and 5b cm. Its perimeter is ___ cm.</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triangle has sides of 6a cm, 4a cm and 5b cm. Its perimeter is 10a + 5b cm.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6a + 4a + 5b: the like terms 6a and 4a make 10a, and 5b stays, so the perimeter is 10a + 5b.</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triangle has a base of 6y cm and a perpendicular height of 4 cm. Which expression gives its area in cm²?</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12y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6y × 4 is 24y, and a triangle is half a rectangle, so the area is 12y. There is no y² because only the base has a 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Perimeter and Area · Chapter 6: Expressions for perimeter and area</dc:title>
  <dc:subject>Mathematics · Year 7</dc:subject>
  <dc:creator>Dr Vitor Merissi de Carvalho</dc:creator>
  <cp:lastModifiedBy>Dr Vitor Merissi de Carvalho</cp:lastModifiedBy>
  <cp:revision>1</cp:revision>
  <dcterms:created xsi:type="dcterms:W3CDTF">2026-10-19T16:23:22Z</dcterms:created>
  <dcterms:modified xsi:type="dcterms:W3CDTF">2026-10-19T16:23:22Z</dcterms:modified>
</cp:coreProperties>
</file>