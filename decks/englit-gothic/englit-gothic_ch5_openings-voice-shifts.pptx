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369a51-a773-1dc0-2a81-40830c0a5bcb}">
          <p14:sldIdLst>
            <p14:sldId id="256"/>
          </p14:sldIdLst>
        </p14:section>
        <p14:section name="Gate" id="{4163247c-f3d9-e841-492a-4dda502d5435}">
          <p14:sldIdLst>
            <p14:sldId id="257"/>
            <p14:sldId id="258"/>
          </p14:sldIdLst>
        </p14:section>
        <p14:section name="Pre-teach" id="{6a662987-4940-3cfe-65cb-fd52f501c570}">
          <p14:sldIdLst>
            <p14:sldId id="259"/>
          </p14:sldIdLst>
        </p14:section>
        <p14:section name="Read-along" id="{5edd46ed-307f-b1d0-e57b-c7ad94d62015}">
          <p14:sldIdLst>
            <p14:sldId id="260"/>
            <p14:sldId id="261"/>
          </p14:sldIdLst>
        </p14:section>
        <p14:section name="Teach" id="{1d22089b-7c11-f2b0-998d-131fd7f84047}">
          <p14:sldIdLst>
            <p14:sldId id="262"/>
            <p14:sldId id="263"/>
            <p14:sldId id="264"/>
            <p14:sldId id="265"/>
            <p14:sldId id="266"/>
            <p14:sldId id="267"/>
          </p14:sldIdLst>
        </p14:section>
        <p14:section name="Routes" id="{fe88d88c-0e5b-4c01-4610-23ccfb98072b}">
          <p14:sldIdLst>
            <p14:sldId id="268"/>
            <p14:sldId id="269"/>
            <p14:sldId id="270"/>
            <p14:sldId id="271"/>
            <p14:sldId id="272"/>
            <p14:sldId id="273"/>
          </p14:sldIdLst>
        </p14:section>
        <p14:section name="Close" id="{082252db-79f0-62dd-9f04-3e7f6d9d711a}">
          <p14:sldIdLst>
            <p14:sldId id="274"/>
          </p14:sldIdLst>
        </p14:section>
        <p14:section name="Answers" id="{f4061b40-f301-7508-a111-692d9606dd1b}">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Openings, narrative voice and shifts. This chapter gives you the craft of telling: how to hook a reader, who should tell your story, and how to move it through time and focus.
This deck covers the department's lessons: 6 (Mid-unit lesson: openings: What makes an effective opening to a story?); 9 (Narrative voice: Who is telling the story, and how does this affect the story?); 10 (Narrative shifts: What is a narrative shift, and how can it improve my writing?).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‘in medias res’ mean?  →  C   Beginning in the middle of the action
2. Which narrator knows everything about the story and calls the characters ‘he’ or ‘she’?  →  A   Third-person omniscient narrator
3. A narrator who cannot be trusted to give a true version of events is called an ___ narrator.  →  unreliable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Beginning in the middle of the action. The Latin phrase means into the middle of things. The story opens with the action already under way.
2. A   Third-person omniscient narrator. Omniscient means all-knowing. A third-person omniscient narrator can enter any character's mind and is often assumed to be the author.
3. unreliable. An unreliable narrator may be lying, self-deceiving or simply mistaken. Readers must judge the story for themselves.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hook: an opening that grabs the reader's attention. Example: "A good hook makes you want to read on."
• in medias res: starting in the middle of the action. Example: "The story begins in medias res, with the chase already happening."
• narrator: the voice that tells the story. Example: "The narrator in Dracula is Jonathan Harker, writing his journal."
• unreliable: not to be trusted. Example: "An unreliable narrator may be lying, or may not understand what they see."
• flashback: a jump back to an earlier time in the story. Example: "A flashback shows us what happened in the house a year ago."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first line of a story is a promise.
2. It tells the reader what kind of story this is.
3. Some stories start in the middle of the action.
4. Some start at the end and look back.
5. Some build suspense, and some set the scene.
6. Next, decide who tells the story.
7. A first-person narrator says I, and we share their fear.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third-person narrator can see everything.
9. Some narrators cannot be trusted.
10. Finally, think about shifts.
11. You can jump back in time, or forward.
12. You can change the focus from the sky to a single hand.
13. Shifts give your story shape.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Hooking the reader. Say it in your own words, then check understanding with a quick question: ask a pupil from the pre-teach group first, since they met these words and ideas before the lesson. Pupils try to recall before you re-explain.
Your lesson gave you four types of opening: beginning at the end, creating suspense, starting in the middle of the action (in medias res, Latin for ‘into the middle of things’), and setting the scene. Each makes a different promise to the reader. Beginning at the end promises an explanation. In medias res promises you will catch up. Setting the scene promises atmosphere. Suspense promises that something is about to happen.
You also studied the first sentences of famous novels. Herman Melville opens Moby-Dick (1851) with three words: a stranger introduces himself, and the voice is so direct that we trust it at once. Jane Austen opens Pride and Prejudice (1813) with a grand, confident statement that sounds like a law of nature, and which the whole novel will gently mock. Remember that you may not be the intended reader of these books. The question is not whether the line engages you, but how it tries to engage its reader.
Before you write your own opening, know how your story will develop. Your lesson gave you a plot and asked for two openings in different styles, then asked which was better and why. Writing the same opening twice is the fastest way to learn what each style does.
Quotation: "Call me Ishmael." (Melville, Moby-Dick (1851), chapter 1). Read it aloud; ask what it shows.
Tip: Write your first sentence last. Once you know where the story goes, you will know what to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is telling the story?. Say it in your own words, then check understanding with a quick question: ask a pupil from the pre-teach group first, since they met these words and ideas before the lesson. Pupils try to recall before you re-explain.
Three terms first. A narrative is a spoken or written account of connected events: a story. Narrative point of view is the lens through which the story is told. Narrative voice is the way the narrator speaks and presents information to the reader. Change the narrator and you change the story, because you change what can be known.
Your lesson matched eight voices to definitions. A first-person narrator speaks as ‘I’, often a character in the story. A third-person omniscient narrator knows everything and calls the characters ‘he’ or ‘she’. A second-person address speaks to the reader as ‘you’, which is rare and hard to sustain. An unreliable narrator cannot be trusted to give a true version of events, perhaps because they are deceiving themselves. Multiple voices use more than one narrator. An interior monologue gives us the narrator's thoughts as they happen, and stream of consciousness imitates the jumble of thought itself. A focaliser is the character whose eyes we see through in a third-person story.
Gothic writers love the first person, and for good reason. Harker, Poe's narrator, Lockwood and Jane Eyre each know only what they can see, so we are trapped inside their knowledge. When Jane mistakes her own reflection for a spirit, we cannot step outside her to check. Is she reliable? Partly. She is ten, frightened and locked in. Gothic fear often comes from not being sure whether to trust the voice.
Quotation: "the strange little figure there gazing at me, with a white face and arms specking the gloom, and glittering eyes of fear moving where all else was still, had the effect of a real spirit" (C. Brontë, Jane Eyre (1847), chapter 2). Read it aloud; ask what it shows.
Tip: Before you write a scene, ask three questions: Who is telling it? What can they know? What might they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Narrative shifts: drop in, then move. Say it in your own words, then check understanding with a quick question: ask a pupil from the pre-teach group first, since they met these words and ideas before the lesson. Pupils try to recall before you re-explain.
Your lesson taught a way to open a description called ‘drop in and describe’. You drop the reader straight into a close detail, using the senses, with no introduction. Pathetic fallacy is a good way to drop in, because the weather sets the mood before anything happens. Then you need to move, or the description stands still.
A narrative shift moves the story in time, focus, setting, mood or perspective. A flashback jumps back; a flashforward jumps ahead. A shift in focus moves from the wide view to a single hand on a door. A shift in mood turns a calm scene cold. Your lesson's model used three time markers in a row, moving from the distant past to today, so that the reader feels the change by comparing the three pictures.
Two more structural features finish the shape: repetition and a return to the beginning. If your first sentence mentions the moon, mention it again at the end, changed. The reader feels the story has travelled somewhere and come back.
Worked example — model it step by step, thinking aloud: Plan a drop-in opening with a shift in time and a return. (1) Drop in: a close sensory detail. Frost on the inside of the window. (2) Widen: the room, the cold, the empty bed (pathetic fallacy: the frost matches the loneliness). (3) Shift: ‘Three winters ago’, the same room warm, the bed slept in. (4) Return: back to today, the frost, but now the reader knows who is missing. Answer: Frost on the inside of the glass. The room beyond it is empty and the bed is made. Three winters ago the fire was lit and two cups stood on the sill. Today there is one cup, and the frost..
Tip: Signal your shift clearly: ‘A year ago’, ‘Suddenly’, ‘Across the valley’, ‘Inside her head’. A shift the reader misses is just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Narrative shifts: drop in, then move. Say it in your own words, then check understanding with a quick question: ask a pupil from the pre-teach group first, since they met these words and ideas before the lesson. Pupils try to recall before you re-explain.
Your lesson taught a way to open a description called ‘drop in and describe’. You drop the reader straight into a close detail, using the senses, with no introduction. Pathetic fallacy is a good way to drop in, because the weather sets the mood before anything happens. Then you need to move, or the description stands still.
A narrative shift moves the story in time, focus, setting, mood or perspective. A flashback jumps back; a flashforward jumps ahead. A shift in focus moves from the wide view to a single hand on a door. A shift in mood turns a calm scene cold. Your lesson's model used three time markers in a row, moving from the distant past to today, so that the reader feels the change by comparing the three pictures.
Two more structural features finish the shape: repetition and a return to the beginning. If your first sentence mentions the moon, mention it again at the end, changed. The reader feels the story has travelled somewhere and come back.
Worked example — model it step by step, thinking aloud: Plan a drop-in opening with a shift in time and a return. (1) Drop in: a close sensory detail. Frost on the inside of the window. (2) Widen: the room, the cold, the empty bed (pathetic fallacy: the frost matches the loneliness). (3) Shift: ‘Three winters ago’, the same room warm, the bed slept in. (4) Return: back to today, the frost, but now the reader knows who is missing. Answer: Frost on the inside of the glass. The room beyond it is empty and the bed is made. Three winters ago the fire was lit and two cups stood on the sill. Today there is one cup, and the frost..
Tip: Signal your shift clearly: ‘A year ago’, ‘Suddenly’, ‘Across the valley’, ‘Inside her head’. A shift the reader misses is just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Crafting the sentence. Say it in your own words, then check understanding with a quick question: ask a pupil from the pre-teach group first, since they met these words and ideas before the lesson. Pupils try to recall before you re-explain.
Your lesson gave you eight ways to rebuild a plain sentence: start with a verb; start or end with a simile; add an embedded clause between commas; open with a subordinate clause; use a fronted adverbial; add brackets; use a double adjective; or use a colon to introduce a reveal. The sentence ‘The hall was cold’ can become any of these.
Vary them. A paragraph in which every sentence starts with ‘The’ feels flat; a paragraph in which every sentence starts with a verb feels breathless. Mix long and short, plain and built. Your peer-assessment criteria asked for a range of sentence starters and a range of punctuation, and this toolkit is how you deliver it.
Worked example — model it step by step, thinking aloud: Rebuild ‘The hall was cold’ in four ways. (1) Verb opening: Shivering, I stepped into the hall. (2) Colon reveal: The hall held one thing: cold. (3) Subordinate clause: Although the fire had been lit, the hall was cold. (4) Simile ending: The hall was cold as a church at dawn. Answer: Shivering, I stepped into the hall. The hall held one thing: cold. Although the fire had been lit, the hall was cold. The hall was cold as a church at dawn..
Tip: Keep the toolkit list in the back of your book. When a paragraph feels flat, rebuild two sentences using tools you have not used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Crafting the sentence. Say it in your own words, then check understanding with a quick question: ask a pupil from the pre-teach group first, since they met these words and ideas before the lesson. Pupils try to recall before you re-explain.
Your lesson gave you eight ways to rebuild a plain sentence: start with a verb; start or end with a simile; add an embedded clause between commas; open with a subordinate clause; use a fronted adverbial; add brackets; use a double adjective; or use a colon to introduce a reveal. The sentence ‘The hall was cold’ can become any of these.
Vary them. A paragraph in which every sentence starts with ‘The’ feels flat; a paragraph in which every sentence starts with a verb feels breathless. Mix long and short, plain and built. Your peer-assessment criteria asked for a range of sentence starters and a range of punctuation, and this toolkit is how you deliver it.
Worked example — model it step by step, thinking aloud: Rebuild ‘The hall was cold’ in four ways. (1) Verb opening: Shivering, I stepped into the hall. (2) Colon reveal: The hall held one thing: cold. (3) Subordinate clause: Although the fire had been lit, the hall was cold. (4) Simile ending: The hall was cold as a church at dawn. Answer: Shivering, I stepped into the hall. The hall held one thing: cold. Although the fire had been lit, the hall was cold. The hall was cold as a church at dawn..
Tip: Keep the toolkit list in the back of your book. When a paragraph feels flat, rebuild two sentences using tools you have not used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Same scene, different narrator.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young woman is locked in a tower room. Footsteps are climbing the stairs towards her door. Write this moment from the woman's point of view, as a first-person narrator. Write one paragraph of six to eight sentences.
Support — work through the steps with the group: (1) Decide what your narrator can know: she cannot see the stairs, so use sound. (2) Give her one physical action that shows fear without naming it. (3) Use the footsteps as a countdown, with sentences getting shorter. (4) End just before the door opens, never after.
Parallel worked example for Support (model it, do not give the task answer): Practice: write three sentences from the point of view of a child hiding under a bed as someone enters the room. What can the child see? Only feet and the floor.; What can they hear? Boards, breathing.; Show fear: holding breath, not the word afraid.. Answer: From under the bed I could see two boots and a drip of mud sliding off the left one. The boards complained once, then stopped. I held my breath until the room went grey at the edges..
Core — reveal the hint only on request: Everything in the paragraph must come through one pair of eyes and ears. If she cannot see it, you cannot write it.
Stretch — no help; when finished: Write the same moment again from the point of view of the person on the stairs, in the first person. Which version is more reliable, and which is more frightening? Explain the difference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Same scene, different narrator.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young woman is locked in a tower room. Footsteps are climbing the stairs towards her door. Write this moment from the woman's point of view, as a first-person narrator. Write one paragraph of six to eight sentences.
Support — work through the steps with the group: (1) Decide what your narrator can know: she cannot see the stairs, so use sound. (2) Give her one physical action that shows fear without naming it. (3) Use the footsteps as a countdown, with sentences getting shorter. (4) End just before the door opens, never after.
Parallel worked example for Support (model it, do not give the task answer): Practice: write three sentences from the point of view of a child hiding under a bed as someone enters the room. What can the child see? Only feet and the floor.; What can they hear? Boards, breathing.; Show fear: holding breath, not the word afraid.. Answer: From under the bed I could see two boots and a drip of mud sliding off the left one. The boards complained once, then stopped. I held my breath until the room went grey at the edges..
Core — reveal the hint only on request: Everything in the paragraph must come through one pair of eyes and ears. If she cannot see it, you cannot write it.
Stretch — no help; when finished: Write the same moment again from the point of view of the person on the stairs, in the first person. Which version is more reliable, and which is more frightening? Explain the difference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‘in medias res’ mean?
Answer: B   Beginning in the middle of the action. The Latin phrase means into the middle of things. The story opens with the action already under way.
Source of this question: gate item 1 re-asked (options rotated) — this chapter has no third quick-check module.
The ebook also holds task 3, "Shape the opening",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voice. Reveal the answer; pupils mark their own work in a different colour, then read the "why" together. Same destination for every lane, so one answer serves the whole class.
Answer: First-person narrative  →  C  Speaks as ‘I’, often a character who plays a part in the story; Third-person omniscient narrator  →  E  Knows everything connected with the story and refers to characters as ‘he’ or ‘she’; Second-person address  →  B  Speaks directly to the reader as ‘you’; Unreliable narrator  →  A  Cannot be trusted to give a version of events that is to be believed; Focaliser  →  D  In a third-person story, the character from whose perspective we see the action
Why: Narrative voices are defined by who speaks (I, you, he or she), what they can know, and whether we can trust them. The focaliser is the one voice that belongs to a character who is not the narrator.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Same scene, different narrator. Reveal the answer; pupils mark their own work in a different colour, then read the "why" together. Same destination for every lane, so one answer serves the whole class.
Answer: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Why: Changing the narrator changes what can be known. A first-person narrator locked in a room can only hear the stairs, so sound and counting carry the tension; a different narrator would know different things and hide different ones.
Model answer: 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
Success criteria: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Same scene, different narrator. Reveal the answer; pupils mark their own work in a different colour, then read the "why" together. Same destination for every lane, so one answer serves the whole class.
Answer: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Why: Changing the narrator changes what can be known. A first-person narrator locked in a room can only hear the stairs, so sound and counting carry the tension; a different narrator would know different things and hide different ones.
Model answer: 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
Success criteria: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Beginning in the middle of the action
Why: The Latin phrase means into the middle of things. The story opens with the action already under 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Openings, narrative voice and shifts</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FEBF2"/>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lesson: openings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Narrative voice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Narrative shifts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‘in medias res’ mean?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by setting the scene slowly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with a question to the reader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in the middle of the action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at the end and looking back</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narrator knows everything about the story and calls the characters ‘he’ or ‘she’?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Third-person omniscient narrator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First-person narrator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Second-person address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Unreliable narrator</a:t>
            </a:r>
            <a:endParaRPr lang="en-US" sz="22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narrator who cannot be trusted to give a true version of events is called an ___ narrator.</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unreliable  ·  omniscient  ·  interior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Beginning in the middle of the action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‘in medias res’ mean?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Latin phrase means into the middle of things. The story opens with the action already under way.</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Third-person omniscient narrator</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Omniscient means all-knowing. A third-person omniscient narrator can enter any character's mind and is often assumed to be the author.</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unreliable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narrator who cannot be trusted to give a true version of events is called an ___ narrator.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unreliable narrator may be lying, self-deceiving or simply mistaken. Readers must judge the story for themselves.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hook</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opening that grabs the reader's attention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hook makes you want to read on.</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in medias res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starting in the middle of the action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story begins in medias res, with the chase already happening.</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narrator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voice that tells the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narrator in Dracula is Jonathan Harker, writing his journal.</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unreliable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to be trusted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unreliable narrator may be lying, or may not understand what they see.</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flashback</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jump back to an earlier time in the story</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flashback shows us what happened in the house a year ago.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line of a story is a promise.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tells the reader what kind of story this is.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stories start in the middle of the action.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start at the end and look back.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build suspense, and some set the scene.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Next, decide who tells the story.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first-person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says I, and we share their fear.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third-person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see everything.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cannot be trusted.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Finally, think about shifts.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jump back in time, or forward.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change the focus from the sky to a single hand.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Shifts give your story shape.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Hooking the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first sentence last. Once you know where the story goes, you will know what to promise.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Call me Ishmael.</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Melville, Moby-Dick (1851), chapter 1</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four types of opening: beginning at the end, creating suspense, starting in the middle of the action (in medias res, Latin for ‘into the middle of things’), and setting the scene.</a:t>
            </a:r>
            <a:endParaRPr lang="en-US" sz="1800" dirty="0"/>
          </a:p>
        </p:txBody>
      </p:sp>
      <p:sp>
        <p:nvSpPr>
          <p:cNvPr id="17" name="bullet-card"/>
          <p:cNvSpPr/>
          <p:nvPr/>
        </p:nvSpPr>
        <p:spPr>
          <a:xfrm>
            <a:off x="548640" y="3166618"/>
            <a:ext cx="5074920" cy="1630426"/>
          </a:xfrm>
          <a:prstGeom prst="roundRect">
            <a:avLst>
              <a:gd name="adj" fmla="val 4487"/>
            </a:avLst>
          </a:prstGeom>
          <a:solidFill>
            <a:srgbClr val="F2EFF4"/>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 also studied the first sentences of famous novels. Herman Melville opens Moby-Dick (1851) with three words: a stranger introduces himself, and the voice is so direct that we trust it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Who is telling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write a scene, ask three questions: Who is telling it? What can they know? What might they get wrong?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strange little figure there gazing at me, with a white face and arms specking the gloom, and glittering eyes of fear moving where all else was still, had the effect of a real spirit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 Brontë, Jane Eyre (1847), chapter 2</a:t>
            </a:r>
            <a:endParaRPr lang="en-US" sz="2600" dirty="0"/>
          </a:p>
        </p:txBody>
      </p:sp>
      <p:sp>
        <p:nvSpPr>
          <p:cNvPr id="14" name="bullet-card"/>
          <p:cNvSpPr/>
          <p:nvPr/>
        </p:nvSpPr>
        <p:spPr>
          <a:xfrm>
            <a:off x="548640" y="1389888"/>
            <a:ext cx="5074920" cy="1131147"/>
          </a:xfrm>
          <a:prstGeom prst="roundRect">
            <a:avLst>
              <a:gd name="adj" fmla="val 6467"/>
            </a:avLst>
          </a:prstGeom>
          <a:solidFill>
            <a:srgbClr val="F2EFF4"/>
          </a:solidFill>
          <a:ln/>
        </p:spPr>
      </p:sp>
      <p:sp>
        <p:nvSpPr>
          <p:cNvPr id="15" name="bullet-hex"/>
          <p:cNvSpPr/>
          <p:nvPr/>
        </p:nvSpPr>
        <p:spPr>
          <a:xfrm>
            <a:off x="676656" y="1789169"/>
            <a:ext cx="384048" cy="332586"/>
          </a:xfrm>
          <a:prstGeom prst="hexagon">
            <a:avLst/>
          </a:prstGeom>
          <a:solidFill>
            <a:srgbClr val="5B3A7A"/>
          </a:solidFill>
          <a:ln/>
        </p:spPr>
      </p:sp>
      <p:sp>
        <p:nvSpPr>
          <p:cNvPr id="16"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Three terms first. A narrative is a spoken or written account of connected events: a story.</a:t>
            </a:r>
            <a:endParaRPr lang="en-US" sz="1800" dirty="0"/>
          </a:p>
        </p:txBody>
      </p:sp>
      <p:sp>
        <p:nvSpPr>
          <p:cNvPr id="17" name="bullet-card"/>
          <p:cNvSpPr/>
          <p:nvPr/>
        </p:nvSpPr>
        <p:spPr>
          <a:xfrm>
            <a:off x="548640" y="2667339"/>
            <a:ext cx="5074920" cy="1131147"/>
          </a:xfrm>
          <a:prstGeom prst="roundRect">
            <a:avLst>
              <a:gd name="adj" fmla="val 6467"/>
            </a:avLst>
          </a:prstGeom>
          <a:solidFill>
            <a:srgbClr val="F2EFF4"/>
          </a:solidFill>
          <a:ln/>
        </p:spPr>
      </p:sp>
      <p:sp>
        <p:nvSpPr>
          <p:cNvPr id="18" name="bullet-hex"/>
          <p:cNvSpPr/>
          <p:nvPr/>
        </p:nvSpPr>
        <p:spPr>
          <a:xfrm>
            <a:off x="676656" y="3066619"/>
            <a:ext cx="384048" cy="332586"/>
          </a:xfrm>
          <a:prstGeom prst="hexagon">
            <a:avLst/>
          </a:prstGeom>
          <a:solidFill>
            <a:srgbClr val="B8862B"/>
          </a:solidFill>
          <a:ln/>
        </p:spPr>
      </p:sp>
      <p:sp>
        <p:nvSpPr>
          <p:cNvPr id="19"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matched eight voices to definitions. A first-person narrator speaks as ‘I’, often a character in the story.</a:t>
            </a:r>
            <a:endParaRPr lang="en-US" sz="1800" dirty="0"/>
          </a:p>
        </p:txBody>
      </p:sp>
      <p:sp>
        <p:nvSpPr>
          <p:cNvPr id="20" name="bullet-card"/>
          <p:cNvSpPr/>
          <p:nvPr/>
        </p:nvSpPr>
        <p:spPr>
          <a:xfrm>
            <a:off x="548640" y="3944789"/>
            <a:ext cx="5074920" cy="852255"/>
          </a:xfrm>
          <a:prstGeom prst="roundRect">
            <a:avLst>
              <a:gd name="adj" fmla="val 8583"/>
            </a:avLst>
          </a:prstGeom>
          <a:solidFill>
            <a:srgbClr val="F2EFF4"/>
          </a:solidFill>
          <a:ln/>
        </p:spPr>
      </p:sp>
      <p:sp>
        <p:nvSpPr>
          <p:cNvPr id="21" name="bullet-hex"/>
          <p:cNvSpPr/>
          <p:nvPr/>
        </p:nvSpPr>
        <p:spPr>
          <a:xfrm>
            <a:off x="676656" y="4204624"/>
            <a:ext cx="384048" cy="332586"/>
          </a:xfrm>
          <a:prstGeom prst="hexagon">
            <a:avLst/>
          </a:prstGeom>
          <a:solidFill>
            <a:srgbClr val="5B3A7A"/>
          </a:solidFill>
          <a:ln/>
        </p:spPr>
      </p:sp>
      <p:sp>
        <p:nvSpPr>
          <p:cNvPr id="22" name="bullet"/>
          <p:cNvSpPr txBox="1"/>
          <p:nvPr/>
        </p:nvSpPr>
        <p:spPr>
          <a:xfrm>
            <a:off x="1143000" y="394478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Gothic writers love the first person, and for good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Narrative shifts: drop in, then move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Signal your shift clearly: ‘A year ago’, ‘Suddenly’, ‘Across the valley’, ‘Inside her head’. A shift the reader misses is just confusion.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taught a way to open a description called ‘drop in and describe’.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narrative shift moves the story in time, focus, setting, mood or perspective.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more structural features finish the shape: repetition and a return to the beginning.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Worked example: Narrative shifts: drop in, then move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drop-in opening with a shift in time and a return.</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Drop in: a close sensory detail. Frost on the inside of the window.</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A593B6"/>
            </a:solidFill>
            <a:prstDash val="solid"/>
          </a:ln>
        </p:spPr>
      </p:sp>
      <p:sp>
        <p:nvSpPr>
          <p:cNvPr id="15" name="step-hex"/>
          <p:cNvSpPr/>
          <p:nvPr/>
        </p:nvSpPr>
        <p:spPr>
          <a:xfrm>
            <a:off x="3562274" y="2424684"/>
            <a:ext cx="530352" cy="459285"/>
          </a:xfrm>
          <a:prstGeom prst="hexagon">
            <a:avLst/>
          </a:prstGeom>
          <a:solidFill>
            <a:srgbClr val="5B3A7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Widen: the room, the cold, the empty bed (pathetic fallacy: the frost matches the loneliness).</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A593B6"/>
            </a:solidFill>
            <a:prstDash val="solid"/>
          </a:ln>
        </p:spPr>
      </p:sp>
      <p:sp>
        <p:nvSpPr>
          <p:cNvPr id="20" name="step-hex"/>
          <p:cNvSpPr/>
          <p:nvPr/>
        </p:nvSpPr>
        <p:spPr>
          <a:xfrm>
            <a:off x="6438748" y="2424684"/>
            <a:ext cx="530352" cy="459285"/>
          </a:xfrm>
          <a:prstGeom prst="hexagon">
            <a:avLst/>
          </a:prstGeom>
          <a:solidFill>
            <a:srgbClr val="5B3A7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Shift: ‘Three winters ago’, the same room warm, the bed slept in.</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A593B6"/>
            </a:solidFill>
            <a:prstDash val="solid"/>
          </a:ln>
        </p:spPr>
      </p:sp>
      <p:sp>
        <p:nvSpPr>
          <p:cNvPr id="25" name="step-hex"/>
          <p:cNvSpPr/>
          <p:nvPr/>
        </p:nvSpPr>
        <p:spPr>
          <a:xfrm>
            <a:off x="9315221" y="2424684"/>
            <a:ext cx="530352" cy="459285"/>
          </a:xfrm>
          <a:prstGeom prst="hexagon">
            <a:avLst/>
          </a:prstGeom>
          <a:solidFill>
            <a:srgbClr val="5B3A7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Return: back to today, the frost, but now the reader knows who is missing.</a:t>
            </a:r>
            <a:endParaRPr lang="en-US" sz="1800" dirty="0"/>
          </a:p>
        </p:txBody>
      </p:sp>
      <p:sp>
        <p:nvSpPr>
          <p:cNvPr id="2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Frost on the inside of the glass. The room beyond it is empty and the bed is made. Three winters ago the fire was lit and two cups stood on the sill. Today there is one cup, and the frost.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Crafting the sentence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Keep the toolkit list in the back of your book. When a paragraph feels flat, rebuild two sentences using tools you have not used yet.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gave you eight ways to rebuild a plain sentence: start with a verb; start or end with a simile; add an embedded clause between commas; open with a subordinate clause; use a fronted adverbial; add brackets; use a double adjective; or use a colon to introduce a reveal.</a:t>
            </a:r>
            <a:endParaRPr lang="en-US" sz="20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Vary them. A paragraph in which every sentence starts with ‘The’ feels flat; a paragraph in which every sentence starts with a verb feels breathless.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Worked example: Crafting the sentence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Rebuild ‘The hall was cold’ in four ways.</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Verb opening: Shivering, I stepped into the hall.</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3562274" y="2424684"/>
            <a:ext cx="530352" cy="459285"/>
          </a:xfrm>
          <a:prstGeom prst="hexagon">
            <a:avLst/>
          </a:prstGeom>
          <a:solidFill>
            <a:srgbClr val="5B3A7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Colon reveal: The hall held one thing: cold.</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6438748" y="2424684"/>
            <a:ext cx="530352" cy="459285"/>
          </a:xfrm>
          <a:prstGeom prst="hexagon">
            <a:avLst/>
          </a:prstGeom>
          <a:solidFill>
            <a:srgbClr val="5B3A7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Subordinate clause: Although the fire had been lit, the hall was cold.</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A593B6"/>
            </a:solidFill>
            <a:prstDash val="solid"/>
          </a:ln>
        </p:spPr>
      </p:sp>
      <p:sp>
        <p:nvSpPr>
          <p:cNvPr id="25" name="step-hex"/>
          <p:cNvSpPr/>
          <p:nvPr/>
        </p:nvSpPr>
        <p:spPr>
          <a:xfrm>
            <a:off x="9315221" y="2424684"/>
            <a:ext cx="530352" cy="459285"/>
          </a:xfrm>
          <a:prstGeom prst="hexagon">
            <a:avLst/>
          </a:prstGeom>
          <a:solidFill>
            <a:srgbClr val="5B3A7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Simile ending: The hall was cold as a church at dawn.</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Shivering, I stepped into the hall. The hall held one thing: cold. Although the fire had been lit, the hall was cold. The hall was cold as a church at dawn.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11" name="match-card"/>
          <p:cNvSpPr/>
          <p:nvPr/>
        </p:nvSpPr>
        <p:spPr>
          <a:xfrm>
            <a:off x="777240" y="2468331"/>
            <a:ext cx="3136322" cy="1103559"/>
          </a:xfrm>
          <a:prstGeom prst="roundRect">
            <a:avLst>
              <a:gd name="adj" fmla="val 6629"/>
            </a:avLst>
          </a:prstGeom>
          <a:solidFill>
            <a:srgbClr val="F2EFF4"/>
          </a:solidFill>
          <a:ln/>
        </p:spPr>
      </p:sp>
      <p:sp>
        <p:nvSpPr>
          <p:cNvPr id="12" name="match-hex"/>
          <p:cNvSpPr/>
          <p:nvPr/>
        </p:nvSpPr>
        <p:spPr>
          <a:xfrm>
            <a:off x="850392" y="2853818"/>
            <a:ext cx="384048" cy="332586"/>
          </a:xfrm>
          <a:prstGeom prst="hexagon">
            <a:avLst/>
          </a:prstGeom>
          <a:solidFill>
            <a:srgbClr val="5B3A7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First-person narrative</a:t>
            </a:r>
            <a:endParaRPr lang="en-US" sz="2200" dirty="0"/>
          </a:p>
        </p:txBody>
      </p:sp>
      <p:sp>
        <p:nvSpPr>
          <p:cNvPr id="15" name="match-card"/>
          <p:cNvSpPr/>
          <p:nvPr/>
        </p:nvSpPr>
        <p:spPr>
          <a:xfrm>
            <a:off x="4279322" y="2468331"/>
            <a:ext cx="7135133" cy="1103559"/>
          </a:xfrm>
          <a:prstGeom prst="roundRect">
            <a:avLst>
              <a:gd name="adj" fmla="val 6629"/>
            </a:avLst>
          </a:prstGeom>
          <a:solidFill>
            <a:srgbClr val="F6F0E6"/>
          </a:solidFill>
          <a:ln/>
        </p:spPr>
      </p:sp>
      <p:sp>
        <p:nvSpPr>
          <p:cNvPr id="16" name="match-hex"/>
          <p:cNvSpPr/>
          <p:nvPr/>
        </p:nvSpPr>
        <p:spPr>
          <a:xfrm>
            <a:off x="4352474" y="2853818"/>
            <a:ext cx="384048" cy="332586"/>
          </a:xfrm>
          <a:prstGeom prst="hexagon">
            <a:avLst/>
          </a:prstGeom>
          <a:solidFill>
            <a:srgbClr val="B8862B"/>
          </a:solidFill>
          <a:ln/>
        </p:spPr>
      </p:sp>
      <p:sp>
        <p:nvSpPr>
          <p:cNvPr id="17" name="match-hex-label"/>
          <p:cNvSpPr txBox="1"/>
          <p:nvPr/>
        </p:nvSpPr>
        <p:spPr>
          <a:xfrm>
            <a:off x="4352474"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800530" y="2468331"/>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Speaks directly to the reader as ‘you’</a:t>
            </a:r>
            <a:endParaRPr lang="en-US" sz="2200" dirty="0"/>
          </a:p>
        </p:txBody>
      </p:sp>
      <p:sp>
        <p:nvSpPr>
          <p:cNvPr id="19" name="match-card"/>
          <p:cNvSpPr/>
          <p:nvPr/>
        </p:nvSpPr>
        <p:spPr>
          <a:xfrm>
            <a:off x="777240" y="3663330"/>
            <a:ext cx="3136322" cy="1103559"/>
          </a:xfrm>
          <a:prstGeom prst="roundRect">
            <a:avLst>
              <a:gd name="adj" fmla="val 6629"/>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Third-person omniscient narrator</a:t>
            </a:r>
            <a:endParaRPr lang="en-US" sz="2200" dirty="0"/>
          </a:p>
        </p:txBody>
      </p:sp>
      <p:sp>
        <p:nvSpPr>
          <p:cNvPr id="23" name="match-card"/>
          <p:cNvSpPr/>
          <p:nvPr/>
        </p:nvSpPr>
        <p:spPr>
          <a:xfrm>
            <a:off x="4279322" y="3663330"/>
            <a:ext cx="7135133" cy="1103559"/>
          </a:xfrm>
          <a:prstGeom prst="roundRect">
            <a:avLst>
              <a:gd name="adj" fmla="val 6629"/>
            </a:avLst>
          </a:prstGeom>
          <a:solidFill>
            <a:srgbClr val="F6F0E6"/>
          </a:solidFill>
          <a:ln/>
        </p:spPr>
      </p:sp>
      <p:sp>
        <p:nvSpPr>
          <p:cNvPr id="24" name="match-hex"/>
          <p:cNvSpPr/>
          <p:nvPr/>
        </p:nvSpPr>
        <p:spPr>
          <a:xfrm>
            <a:off x="4352474" y="4048817"/>
            <a:ext cx="384048" cy="332586"/>
          </a:xfrm>
          <a:prstGeom prst="hexagon">
            <a:avLst/>
          </a:prstGeom>
          <a:solidFill>
            <a:srgbClr val="B8862B"/>
          </a:solidFill>
          <a:ln/>
        </p:spPr>
      </p:sp>
      <p:sp>
        <p:nvSpPr>
          <p:cNvPr id="25" name="match-hex-label"/>
          <p:cNvSpPr txBox="1"/>
          <p:nvPr/>
        </p:nvSpPr>
        <p:spPr>
          <a:xfrm>
            <a:off x="4352474"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800530" y="3663330"/>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Knows everything connected with the story and refers to characters as ‘he’ or ‘she’</a:t>
            </a:r>
            <a:endParaRPr lang="en-US" sz="2200" dirty="0"/>
          </a:p>
        </p:txBody>
      </p:sp>
      <p:sp>
        <p:nvSpPr>
          <p:cNvPr id="27" name="match-card"/>
          <p:cNvSpPr/>
          <p:nvPr/>
        </p:nvSpPr>
        <p:spPr>
          <a:xfrm>
            <a:off x="777240" y="4858329"/>
            <a:ext cx="3136322" cy="1103559"/>
          </a:xfrm>
          <a:prstGeom prst="roundRect">
            <a:avLst>
              <a:gd name="adj" fmla="val 6629"/>
            </a:avLst>
          </a:prstGeom>
          <a:solidFill>
            <a:srgbClr val="F2EFF4"/>
          </a:solidFill>
          <a:ln/>
        </p:spPr>
      </p:sp>
      <p:sp>
        <p:nvSpPr>
          <p:cNvPr id="28" name="match-hex"/>
          <p:cNvSpPr/>
          <p:nvPr/>
        </p:nvSpPr>
        <p:spPr>
          <a:xfrm>
            <a:off x="850392" y="5243816"/>
            <a:ext cx="384048" cy="332586"/>
          </a:xfrm>
          <a:prstGeom prst="hexagon">
            <a:avLst/>
          </a:prstGeom>
          <a:solidFill>
            <a:srgbClr val="5B3A7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Second-person address</a:t>
            </a:r>
            <a:endParaRPr lang="en-US" sz="2200" dirty="0"/>
          </a:p>
        </p:txBody>
      </p:sp>
      <p:sp>
        <p:nvSpPr>
          <p:cNvPr id="31" name="match-card"/>
          <p:cNvSpPr/>
          <p:nvPr/>
        </p:nvSpPr>
        <p:spPr>
          <a:xfrm>
            <a:off x="4279322" y="4858329"/>
            <a:ext cx="7135133" cy="1103559"/>
          </a:xfrm>
          <a:prstGeom prst="roundRect">
            <a:avLst>
              <a:gd name="adj" fmla="val 6629"/>
            </a:avLst>
          </a:prstGeom>
          <a:solidFill>
            <a:srgbClr val="F6F0E6"/>
          </a:solidFill>
          <a:ln/>
        </p:spPr>
      </p:sp>
      <p:sp>
        <p:nvSpPr>
          <p:cNvPr id="32" name="match-hex"/>
          <p:cNvSpPr/>
          <p:nvPr/>
        </p:nvSpPr>
        <p:spPr>
          <a:xfrm>
            <a:off x="4352474" y="5243816"/>
            <a:ext cx="384048" cy="332586"/>
          </a:xfrm>
          <a:prstGeom prst="hexagon">
            <a:avLst/>
          </a:prstGeom>
          <a:solidFill>
            <a:srgbClr val="B8862B"/>
          </a:solidFill>
          <a:ln/>
        </p:spPr>
      </p:sp>
      <p:sp>
        <p:nvSpPr>
          <p:cNvPr id="33" name="match-hex-label"/>
          <p:cNvSpPr txBox="1"/>
          <p:nvPr/>
        </p:nvSpPr>
        <p:spPr>
          <a:xfrm>
            <a:off x="4352474"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800530" y="4858329"/>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Speaks as ‘I’, often a character who plays a part in the 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2EFF4"/>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Unreliable narrator</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third-person story, the character from whose perspective we see the action</a:t>
            </a:r>
            <a:endParaRPr lang="en-US" sz="2200" dirty="0"/>
          </a:p>
        </p:txBody>
      </p:sp>
      <p:sp>
        <p:nvSpPr>
          <p:cNvPr id="19" name="match-card"/>
          <p:cNvSpPr/>
          <p:nvPr/>
        </p:nvSpPr>
        <p:spPr>
          <a:xfrm>
            <a:off x="777240" y="3725123"/>
            <a:ext cx="3081437" cy="1165352"/>
          </a:xfrm>
          <a:prstGeom prst="roundRect">
            <a:avLst>
              <a:gd name="adj" fmla="val 6277"/>
            </a:avLst>
          </a:prstGeom>
          <a:solidFill>
            <a:srgbClr val="F2EFF4"/>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Focaliser</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Cannot be trusted to give a version of events that is to be believed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narrative voice to its definition.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pronoun in each definition: I, you, he or she.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I to first person, you to second person, he or she to third person.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voices are left. One is about trust; the other is about whose eyes we use in a third-person story.</a:t>
            </a:r>
            <a:endParaRPr lang="en-US" sz="1800" dirty="0"/>
          </a:p>
        </p:txBody>
      </p:sp>
      <p:sp>
        <p:nvSpPr>
          <p:cNvPr id="17" name="col-Core"/>
          <p:cNvSpPr/>
          <p:nvPr/>
        </p:nvSpPr>
        <p:spPr>
          <a:xfrm>
            <a:off x="4338218" y="2578608"/>
            <a:ext cx="3515258" cy="3566160"/>
          </a:xfrm>
          <a:prstGeom prst="roundRect">
            <a:avLst>
              <a:gd name="adj" fmla="val 1561"/>
            </a:avLst>
          </a:prstGeom>
          <a:solidFill>
            <a:srgbClr val="DBD4E2"/>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five can be solved by pronouns alone. The other two are about trust and about perspective.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five voices does Stoker use for Harker's journal, and which does Charlotte Brontë use for Jane? Explain what each writer gains and loses by that choice.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young woman is locked in a tower room. Footsteps are climbing the stairs towards her door. Write this moment from the woman's point of view, as a first-person narrator.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Same scene, different narrator</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Same scene, different narrator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what your narrator can know: she cannot see the stairs, so use sound.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her one physical action that shows fear without naming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footsteps as a countdown, with sentences getting shorter.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just before the door opens, never after.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Everything in the paragraph must come through one pair of eyes and ears. If she cannot see it, you cannot write it.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same moment again from the point of view of the person on the stairs, in the first person. Which version is more reliable, and which is more frightening? Explain the difference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‘in medias res’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with a question to the reader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in the middle of the action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at the end and looking back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by setting the scene slowly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First-person narrative  →  C  Speaks as ‘I’, often a character who plays a part in the story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Third-person omniscient narrator  →  E  Knows everything connected with the story and refers to characters as ‘he’ or ‘she’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Second-person address  →  B  Speaks directly to the reader as ‘you’</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Unreliable narrator  →  A  Cannot be trusted to give a version of events that is to be believed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Focaliser  →  D  In a third-person story, the character from whose perspective we see the action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Narrative voices are defined by who speaks (I, you, he or she), what they can know, and whether we can trust them. The focaliser is the one voice that belongs to a character who is not the narrator.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2EFF4"/>
          </a:solidFill>
          <a:ln/>
        </p:spPr>
      </p:sp>
      <p:sp>
        <p:nvSpPr>
          <p:cNvPr id="9" name="tickbox"/>
          <p:cNvSpPr/>
          <p:nvPr/>
        </p:nvSpPr>
        <p:spPr>
          <a:xfrm>
            <a:off x="713232" y="21741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narrative voice consistent from the first sentence to the last.</a:t>
            </a:r>
            <a:endParaRPr lang="en-US" sz="2200" dirty="0"/>
          </a:p>
        </p:txBody>
      </p:sp>
      <p:sp>
        <p:nvSpPr>
          <p:cNvPr id="11" name="crit-box"/>
          <p:cNvSpPr/>
          <p:nvPr/>
        </p:nvSpPr>
        <p:spPr>
          <a:xfrm>
            <a:off x="548640" y="2748178"/>
            <a:ext cx="11094415" cy="672490"/>
          </a:xfrm>
          <a:prstGeom prst="roundRect">
            <a:avLst>
              <a:gd name="adj" fmla="val 13597"/>
            </a:avLst>
          </a:prstGeom>
          <a:solidFill>
            <a:srgbClr val="F2EFF4"/>
          </a:solidFill>
          <a:ln/>
        </p:spPr>
      </p:sp>
      <p:sp>
        <p:nvSpPr>
          <p:cNvPr id="12" name="tickbox"/>
          <p:cNvSpPr/>
          <p:nvPr/>
        </p:nvSpPr>
        <p:spPr>
          <a:xfrm>
            <a:off x="713232" y="293812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only what this narrator could know, see or hear.</a:t>
            </a:r>
            <a:endParaRPr lang="en-US" sz="2200" dirty="0"/>
          </a:p>
        </p:txBody>
      </p:sp>
      <p:sp>
        <p:nvSpPr>
          <p:cNvPr id="14" name="crit-box"/>
          <p:cNvSpPr/>
          <p:nvPr/>
        </p:nvSpPr>
        <p:spPr>
          <a:xfrm>
            <a:off x="548640" y="3512109"/>
            <a:ext cx="11094415" cy="1013358"/>
          </a:xfrm>
          <a:prstGeom prst="roundRect">
            <a:avLst>
              <a:gd name="adj" fmla="val 9023"/>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12109"/>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show the narrator's feelings through what they notice and do, not by naming the feeling.</a:t>
            </a:r>
            <a:endParaRPr lang="en-US" sz="2200" dirty="0"/>
          </a:p>
        </p:txBody>
      </p:sp>
      <p:sp>
        <p:nvSpPr>
          <p:cNvPr id="17" name="crit-box"/>
          <p:cNvSpPr/>
          <p:nvPr/>
        </p:nvSpPr>
        <p:spPr>
          <a:xfrm>
            <a:off x="548640" y="4616907"/>
            <a:ext cx="11094415" cy="672490"/>
          </a:xfrm>
          <a:prstGeom prst="roundRect">
            <a:avLst>
              <a:gd name="adj" fmla="val 13597"/>
            </a:avLst>
          </a:prstGeom>
          <a:solidFill>
            <a:srgbClr val="F2EFF4"/>
          </a:solidFill>
          <a:ln/>
        </p:spPr>
      </p:sp>
      <p:sp>
        <p:nvSpPr>
          <p:cNvPr id="18" name="tickbox"/>
          <p:cNvSpPr/>
          <p:nvPr/>
        </p:nvSpPr>
        <p:spPr>
          <a:xfrm>
            <a:off x="713232" y="4806848"/>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61690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Gothic conventions and one language feature from the unit.</a:t>
            </a:r>
            <a:endParaRPr lang="en-US" sz="2200" dirty="0"/>
          </a:p>
        </p:txBody>
      </p:sp>
      <p:sp>
        <p:nvSpPr>
          <p:cNvPr id="20" name="crit-box"/>
          <p:cNvSpPr/>
          <p:nvPr/>
        </p:nvSpPr>
        <p:spPr>
          <a:xfrm>
            <a:off x="548640" y="5380838"/>
            <a:ext cx="11094415" cy="672490"/>
          </a:xfrm>
          <a:prstGeom prst="roundRect">
            <a:avLst>
              <a:gd name="adj" fmla="val 13597"/>
            </a:avLst>
          </a:prstGeom>
          <a:solidFill>
            <a:srgbClr val="F2EFF4"/>
          </a:solidFill>
          <a:ln/>
        </p:spPr>
      </p:sp>
      <p:sp>
        <p:nvSpPr>
          <p:cNvPr id="21" name="tickbox"/>
          <p:cNvSpPr/>
          <p:nvPr/>
        </p:nvSpPr>
        <p:spPr>
          <a:xfrm>
            <a:off x="713232" y="557077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lengths to build tension as the footsteps approach.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‘in medias res’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Beginning in the middle of the action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Latin phrase means into the middle of things. The story opens with the action already under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5: Openings, narrative voice and shifts</dc:title>
  <dc:subject>English Literature · Year 9</dc:subject>
  <dc:creator>Dr Vitor Merissi de Carvalho</dc:creator>
  <cp:lastModifiedBy>Dr Vitor Merissi de Carvalho</cp:lastModifiedBy>
  <cp:revision>1</cp:revision>
  <dcterms:created xsi:type="dcterms:W3CDTF">2026-10-19T16:22:38Z</dcterms:created>
  <dcterms:modified xsi:type="dcterms:W3CDTF">2026-10-19T16:22:38Z</dcterms:modified>
</cp:coreProperties>
</file>