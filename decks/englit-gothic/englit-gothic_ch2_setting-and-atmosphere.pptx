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ed663d3-d704-34fd-87ac-9c845cce0241}">
          <p14:sldIdLst>
            <p14:sldId id="256"/>
          </p14:sldIdLst>
        </p14:section>
        <p14:section name="Gate" id="{abe6af0b-4da9-cfee-4c8f-a78e09c8b85b}">
          <p14:sldIdLst>
            <p14:sldId id="257"/>
            <p14:sldId id="258"/>
          </p14:sldIdLst>
        </p14:section>
        <p14:section name="Pre-teach" id="{766bae50-174e-884e-c50f-46bc2718463b}">
          <p14:sldIdLst>
            <p14:sldId id="259"/>
          </p14:sldIdLst>
        </p14:section>
        <p14:section name="Read-along" id="{ab9ca627-39c8-d86e-41bb-39cd65d156ce}">
          <p14:sldIdLst>
            <p14:sldId id="260"/>
            <p14:sldId id="261"/>
          </p14:sldIdLst>
        </p14:section>
        <p14:section name="Teach" id="{24c1f9aa-5800-bf0d-b3fd-8c2859d08b8d}">
          <p14:sldIdLst>
            <p14:sldId id="262"/>
            <p14:sldId id="263"/>
            <p14:sldId id="264"/>
            <p14:sldId id="265"/>
            <p14:sldId id="266"/>
          </p14:sldIdLst>
        </p14:section>
        <p14:section name="Routes" id="{f5a7b39a-0c53-9bdf-7d9c-8ddeea56b589}">
          <p14:sldIdLst>
            <p14:sldId id="267"/>
            <p14:sldId id="268"/>
            <p14:sldId id="269"/>
            <p14:sldId id="270"/>
          </p14:sldIdLst>
        </p14:section>
        <p14:section name="Close" id="{70628f19-bfea-1fce-dad6-e105565814fd}">
          <p14:sldIdLst>
            <p14:sldId id="271"/>
          </p14:sldIdLst>
        </p14:section>
        <p14:section name="Answers" id="{26cbb8f0-d636-6949-d635-3778de6e22f7}">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Setting and atmosphere. This chapter shows you where Gothic stories happen, how great writers describe those places, and how to build your own description word by word.
This deck covers the department's lessons: 2 (Settings: creating atmosphere: Can you identify what makes a successful description of setting in Gothic stories?); 3 (Describing setting in your own writing: Can you create a successful description of setting suitable for a Gothic story?).
Read the big question aloud: "What makes a story Gothic, and how can you use the conventions of the genre to write a Gothic narrative of your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pathetic fallacy?  →  B   When the weather or nature reflects a character's feelings
2. In Poe's description, the House of Usher has ___ eye-like windows.  →  vacant
3. In what order did your lesson build a description?  →  C   Noun, adjective, verb, adverb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When the weather or nature reflects a character's feelings. Pathetic comes from an old word for feeling, and fallacy means a mistaken idea: the weather seems to share our feelings.
2. vacant. Vacant means empty. The windows are like eyes with nobody behind them, which is why the house feels dead and watching at once.
3. C   Noun, adjective, verb, adverb. Name the thing (noun), describe it (adjective), make it do something (verb), say how (adverb). Each step adds to the last.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eerie: strange and frightening in a quiet way. Example: "An eerie silence hung over the graveyard."
• foreboding: a feeling that something bad is coming. Example: "The locked gate filled him with foreboding."
• isolated: far away from other people and from help. Example: "The house was isolated, miles from the nearest village."
• pathetic fallacy: when the weather matches a character's feelings. Example: "The storm broke as she wept: that is pathetic fallacy."
• ruin: a building that has fallen apart with age. Example: "Ivy covered the ruin of the old abbey."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Gothic stories need the right place.
2. Think of a ruined castle, or a house with no lights on.
3. Think of a graveyard at night, or a dark forest.
4. These places are old, cold and far from help.
5. Writers describe them carefully to build an atmosphere.
6. They use light and dark.
7. They use the weather to show how a character feels.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They hint that something is hidden.
9. You can build a description one word at a time.
10. Start with a noun, such as the gate.
11. Add an adjective: the rusted gate.
12. Add a verb and an adverb: the rusted gate groans softly.
13. Now the reader can see and hear your setting.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Gothic stories happen. Say it in your own words, then check understanding with a quick question: ask a pupil from the pre-teach group first, since they met these words and ideas before the lesson. Pupils try to recall before you re-explain.
Ask a class to name a Gothic setting and the answers come fast: an abandoned house, a haunted mansion, a castle, a graveyard, a dark forest, a hidden passage, anywhere at all at night. What do these places have in common? They are old. They are falling apart. They are far from other people, so nobody will come when you shout. And they are dark, so you cannot see what is coming.
Ann Radcliffe, one of the most popular Gothic writers of the 1790s, sends two young men to explore a ruined fortress at night in The Italian. The ruins are high on a cliff, the walls are crumbling, and when one of them calls for his friend only the echoes answer. Everything that makes the place dangerous also makes it Gothic: height, decay, isolation and darkness.
Your lesson built a list of ingredients for a successful Gothic setting: the use of light and dark; building tension; describing the buildings and surroundings so that they hint at fear, isolation or violence; placing a character somewhere in the scene; and using weather and nature to reflect the character's feelings or to create an oppressive atmosphere. Keep this list. You will use it as your success criteria.
Quotation: "Bonarmo looked round in vain for his friend, and the echoes of his own voice only, among the rocks, replied to his repeated calls." (Radcliffe, The Italian (1797)). Read it aloud; ask what it shows.
Tip: Echoes are a Gothic favourite. They prove the place is huge, empty and made of stone, in a single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masters: Poe and Stoker. Say it in your own words, then check understanding with a quick question: ask a pupil from the pre-teach group first, since they met these words and ideas before the lesson. Pupils try to recall before you re-explain.
Edgar Allan Poe's narrator rides alone towards the House of Usher at the end of a dark autumn day. Before he has even described the house, he tells us how it makes him feel: a gloom he cannot explain. Then he lists what he sees. The walls are bleak. The windows are vacant and eye-like, so the house seems to stare back. The trees are white and decayed, like bones. Poe gives the building a face and a body, and both are dying.
Bram Stoker uses a different method in Dracula. Jonathan Harker writes a journal inside the Count's castle, and he realises that every door is locked. The setting is described through what it does to him: it is a prison, and he is a prisoner. Notice the exclamation mark. Harker is not describing stone; he is panicking.
Both writers connect place and person. Poe's narrator feels the gloom of the house in his own spirit; Harker's nerves break down the longer he is trapped. When you describe a setting, always ask: what is this place doing to the person inside it?
Quotation: "upon the bleak walls—upon the vacant eye-like windows—upon a few rank sedges—and upon a few white trunks of decayed trees" (Poe, The Fall of the House of Usher (1839)). Read it aloud; ask what it shows.
Tip: ‘Vacant eye-like windows’ is personification. A house with eyes can watch you. Steal the idea, not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Building a description, one word at a time. Say it in your own words, then check understanding with a quick question: ask a pupil from the pre-teach group first, since they met these words and ideas before the lesson. Pupils try to recall before you re-explain.
Your lesson gave you a method you can use on any image. Start by naming the nouns you can see: the gate, the tower, the moon, the windows. Add an adjective to each that creates the atmosphere you want: mysterious, eerie, spooky or foreboding. Then add a verb that shows what the noun is doing, and an adverb that describes how. A still picture starts to move.
Then stretch each sentence. Use two adjectives separated by a comma. Use a preposition to tell the reader where to look. Add a subordinate clause, a chunk of extra information between commas, to slow the sentence down. Finally, decide where in the image you will begin and how you will travel through it: the sky first, then the tower, then the door, then inside.
Worked example — model it step by step, thinking aloud: Build one Gothic sentence from the noun ‘gate’. (1) Noun: the gate. (2) Adjective: the rusted gate. (3) Verb: the rusted gate groans. (4) Adverb: the rusted gate groans softly. (5) Two adjectives with a comma: the rusted, crooked gate groans softly. (6) Preposition and subordinate clause: Beyond the yew trees, the rusted, crooked gate, loosened by a century of storms, groans softly. Answer: Beyond the yew trees, the rusted, crooked gate, loosened by a century of storms, groans softly..
Tip: When you have a page of ideas, be ruthless. Keep the descriptions that build the atmosphere and cross out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Building a description, one word at a time. Say it in your own words, then check understanding with a quick question: ask a pupil from the pre-teach group first, since they met these words and ideas before the lesson. Pupils try to recall before you re-explain.
Your lesson gave you a method you can use on any image. Start by naming the nouns you can see: the gate, the tower, the moon, the windows. Add an adjective to each that creates the atmosphere you want: mysterious, eerie, spooky or foreboding. Then add a verb that shows what the noun is doing, and an adverb that describes how. A still picture starts to move.
Then stretch each sentence. Use two adjectives separated by a comma. Use a preposition to tell the reader where to look. Add a subordinate clause, a chunk of extra information between commas, to slow the sentence down. Finally, decide where in the image you will begin and how you will travel through it: the sky first, then the tower, then the door, then inside.
Worked example — model it step by step, thinking aloud: Build one Gothic sentence from the noun ‘gate’. (1) Noun: the gate. (2) Adjective: the rusted gate. (3) Verb: the rusted gate groans. (4) Adverb: the rusted gate groans softly. (5) Two adjectives with a comma: the rusted, crooked gate groans softly. (6) Preposition and subordinate clause: Beyond the yew trees, the rusted, crooked gate, loosened by a century of storms, groans softly. Answer: Beyond the yew trees, the rusted, crooked gate, loosened by a century of storms, groans softly..
Tip: When you have a page of ideas, be ruthless. Keep the descriptions that build the atmosphere and cross out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Light, dark and the weather. Say it in your own words, then check understanding with a quick question: ask a pupil from the pre-teach group first, since they met these words and ideas before the lesson. Pupils try to recall before you re-explain.
Light and dark are the Gothic writer's cheapest and best tool. Moonlight shows just enough to frighten. A single candle makes everything outside its circle unknown. Shadows move. When Harker writes that he starts at his own shadow, he is telling us how far his nerves have gone.
Pathetic fallacy means letting the weather or the landscape reflect a character's feelings. A storm breaks as the hero loses hope; fog thickens as a secret is hidden. It is called a fallacy because the weather does not really care about us, but readers feel the link anyway. Use it to drop the reader into a mood before anything has happened.
Your lesson also asked you to climb a ladder of vocabulary. ‘Dark’ can become gloomy, sombre or murky. ‘Scary’ can become eerie, chilling, haunting or sinister. The further you climb, the more precise the atmosphere you create. Choose the word that fits the feeling, not just the biggest word you know.
Quotation: "I am beginning to feel this nocturnal existence tell on me. It is destroying my nerve. I start at my own shadow, and am full of all sorts of horrible imaginings." (Stoker, Dracula (1897), chapter 3). Read it aloud; ask what it shows.
Tip: ‘Nocturnal’ means ‘of the night’. Harker is living by night because the Count does. The word itself makes him sound like a creature.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a Gothic setting.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a ruined castle on a hillside at night, for the opening of a Gothic story. Create an eerie, foreboding atmosphere. Write one paragraph of six to eight sentences.
Support — work through the steps with the group: (1) Plan: list four nouns from the scene (tower, moon, fog, door) and give each an adjective, a verb and an adverb. (2) Decide your route: sky, then the castle, then the ground, then one sound from inside. (3) Write one short sentence (one to three words) somewhere in the middle for shock. (4) Check: have you used the weather to create mood, and have you shown rather than told?
Parallel worked example for Support (model it, do not give the task answer): Practice: describe a church at dusk in three sentences, using the noun, adjective, verb, adverb method. Nouns: spire, bell, door. Adjectives: crooked, silent, iron-bound.; Verbs and adverbs: the spire leans wearily; the bell waits silently; the door stands tightly shut.; Add light and weather: the last light drains from the sky.. Answer: The crooked spire leaned wearily over the graves as the last light drained from the sky. Inside its tower, a silent bell waited. The iron-bound door stood tightly shut, as it had for years..
Core — reveal the hint only on request: Use the five ingredients from your lesson as a checklist: light and dark; tension; buildings that hint at fear, isolation or violence; where the character is; weather or nature.
Stretch — no help; when finished: Rewrite your paragraph so that a character is present but never named: show their fear only through what they notice. Then explain which version builds more foreboding,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a Gothic setting.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a ruined castle on a hillside at night, for the opening of a Gothic story. Create an eerie, foreboding atmosphere. Write one paragraph of six to eight sentences.
Support — work through the steps with the group: (1) Plan: list four nouns from the scene (tower, moon, fog, door) and give each an adjective, a verb and an adverb. (2) Decide your route: sky, then the castle, then the ground, then one sound from inside. (3) Write one short sentence (one to three words) somewhere in the middle for shock. (4) Check: have you used the weather to create mood, and have you shown rather than told?
Parallel worked example for Support (model it, do not give the task answer): Practice: describe a church at dusk in three sentences, using the noun, adjective, verb, adverb method. Nouns: spire, bell, door. Adjectives: crooked, silent, iron-bound.; Verbs and adverbs: the spire leans wearily; the bell waits silently; the door stands tightly shut.; Add light and weather: the last light drains from the sky.. Answer: The crooked spire leaned wearily over the graves as the last light drained from the sky. Inside its tower, a silent bell waited. The iron-bound door stood tightly shut, as it had for years..
Core — reveal the hint only on request: Use the five ingredients from your lesson as a checklist: light and dark; tension; buildings that hint at fear, isolation or violence; where the character is; weather or nature.
Stretch — no help; when finished: Rewrite your paragraph so that a character is present but never named: show their fear only through what they notice. Then explain which version builds more foreboding,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Grow the sentence.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steps of building a description in the order your lesson taught them, from a bare noun to a full Gothic sentence.
Support — work through the steps with the group: (1) Find the shortest version: that is the start. (2) Each step adds exactly one new kind of word or clause. Read each item and ask what has been added since the last. (3) The longest version, with a preposition and a clause between commas, is the end.
Parallel worked example for Support (model it, do not give the task answer): Practice: put these in order: the shattered glass glitters; the glass; the shattered glass glitters coldly; the shattered glass. Noun only: the glass.; Add the adjective: the shattered glass.; Add the verb: the shattered glass glitters.; Add the adverb: the shattered glass glitters coldly.. Answer: the glass; the shattered glass; the shattered glass glitters; the shattered glass glitters coldly..
Core — reveal the hint only on request: Count the words. Each step makes the sentence longer, and the last two add commas.
Stretch — no help; when finished: Take the final sentence and change the preposition, the subordinate clause and the adverb so that the gate becomes welcoming instead of frightening. Which words did the most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Grow the sentence.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steps of building a description in the order your lesson taught them, from a bare noun to a full Gothic sentence.
Support — work through the steps with the group: (1) Find the shortest version: that is the start. (2) Each step adds exactly one new kind of word or clause. Read each item and ask what has been added since the last. (3) The longest version, with a preposition and a clause between commas, is the end.
Parallel worked example for Support (model it, do not give the task answer): Practice: put these in order: the shattered glass glitters; the glass; the shattered glass glitters coldly; the shattered glass. Noun only: the glass.; Add the adjective: the shattered glass.; Add the verb: the shattered glass glitters.; Add the adverb: the shattered glass glitters coldly.. Answer: the glass; the shattered glass; the shattered glass glitters; the shattered glass glitters coldly..
Core — reveal the hint only on request: Count the words. Each step makes the sentence longer, and the last two add commas.
Stretch — no help; when finished: Take the final sentence and change the preposition, the subordinate clause and the adverb so that the gate becomes welcoming instead of frightening. Which words did the most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sentence uses pathetic fallacy?
Answer: B   Rain hammered the window as Eliza wept over the letter.. Only the first sentence has weather (rain) that mirrors a feeling (grief). The fourth has weather that contrasts with the feeling; the others have no weather at all.
Source of this question: module 3 task ("Find the pathetic fallacy")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a Gothic setting. Reveal the answer; pupils mark their own work in a different colour, then read the "why" together. Same destination for every lane, so one answer serves the whole class.
Answer: I use at least three Gothic conventions, such as an isolated setting, darkness, decay or strange sounds.; I build my nouns with well-chosen adjectives, verbs and adverbs.; I use light and dark, and the weather, to create atmosphere (pathetic fallacy).; I vary my sentence openings, including at least one preposition and one subordinate clause.; I show the atmosphere through detail rather than telling the reader it is scary.
Why: A strong setting paragraph chooses a route through the image, builds each noun with precise words, uses light and weather to set the mood, and shows fear through details, such as a door that shuts itself, rather than stating it.
Model answer: The castle had stopped pretending to be a building. Its last tower leaned into the wind like a tired old man against a wall, and the moon, thin as a fingernail, picked out the holes where windows had been. Below it, the hillside fell away into fog. Nothing moved. Then, from somewhere inside the walls, a door that should have rotted away a hundred years ago swung shut with a boom that rolled down the valley. The fog did not stir. It only climbed a little higher, as if it wanted to see.
Success criteria: I use at least three Gothic conventions, such as an isolated setting, darkness, decay or strange sounds.; I build my nouns with well-chosen adjectives, verbs and adverbs.; I use light and dark, and the weather, to create atmosphere (pathetic fallacy).; I vary my sentence openings, including at least one preposition and one subordinate clause.; I show the atmosphere through detail rather than telling the reader it is scary.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a Gothic setting. Reveal the answer; pupils mark their own work in a different colour, then read the "why" together. Same destination for every lane, so one answer serves the whole class.
Answer: I use at least three Gothic conventions, such as an isolated setting, darkness, decay or strange sounds.; I build my nouns with well-chosen adjectives, verbs and adverbs.; I use light and dark, and the weather, to create atmosphere (pathetic fallacy).; I vary my sentence openings, including at least one preposition and one subordinate clause.; I show the atmosphere through detail rather than telling the reader it is scary.
Why: A strong setting paragraph chooses a route through the image, builds each noun with precise words, uses light and weather to set the mood, and shows fear through details, such as a door that shuts itself, rather than stating it.
Model answer: The castle had stopped pretending to be a building. Its last tower leaned into the wind like a tired old man against a wall, and the moon, thin as a fingernail, picked out the holes where windows had been. Below it, the hillside fell away into fog. Nothing moved. Then, from somewhere inside the walls, a door that should have rotted away a hundred years ago swung shut with a boom that rolled down the valley. The fog did not stir. It only climbed a little higher, as if it wanted to see.
Success criteria: I use at least three Gothic conventions, such as an isolated setting, darkness, decay or strange sounds.; I build my nouns with well-chosen adjectives, verbs and adverbs.; I use light and dark, and the weather, to create atmosphere (pathetic fallacy).; I vary my sentence openings, including at least one preposition and one subordinate clause.; I show the atmosphere through detail rather than telling the reader it is scary.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Grow the sentence. Reveal the answer; pupils mark their own work in a different colour, then read the "why" together. Same destination for every lane, so one answer serves the whole class.
Answer: Name a noun from the image: the gate.  (E); Add an adjective: the rusted gate.  (D); Add a verb that shows what the noun is doing: the rusted gate groans.  (B); Add an adverb that describes the verb: the rusted gate groans softly.  (A); Add a second adjective, separated by a comma: the rusted, crooked gate groans softly.  (C); Add a preposition and a subordinate clause: Beyond the yew trees, the rusted, crooked gate, loosened by a century of storms, groans softly.  (F)
Why: The method grows a sentence in layers: noun, adjective, verb, adverb, then a second adjective, then a preposition and a subordinate clause. Each layer gives the reader one more thing to see, hear or feel.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Rain hammered the window as Eliza wept over the letter.
Why: Only the first sentence has weather (rain) that mirrors a feeling (grief). The fourth has weather that contrasts with the feeling; the others have no weather at all.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Gothic Literature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Gothic Literature · AQA KS3 → 8702</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Setting and atmosphere</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EFEBF2"/>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Settings: creating atmosphere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Describing setting in your own writing</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story Gothic, and how can you use the conventions of the genre to write a Gothic narrative of your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pathetic fallacy?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list of adjectives before a noun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When the weather or nature reflects a character's feelings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statement in a story that turns out to be false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character who is weak and pathetic</a:t>
            </a:r>
            <a:endParaRPr lang="en-US" sz="1800" dirty="0"/>
          </a:p>
        </p:txBody>
      </p:sp>
      <p:sp>
        <p:nvSpPr>
          <p:cNvPr id="12"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3" name="card-hex"/>
          <p:cNvSpPr/>
          <p:nvPr/>
        </p:nvSpPr>
        <p:spPr>
          <a:xfrm>
            <a:off x="4521098" y="1572768"/>
            <a:ext cx="640080" cy="554309"/>
          </a:xfrm>
          <a:prstGeom prst="hexagon">
            <a:avLst/>
          </a:prstGeom>
          <a:solidFill>
            <a:srgbClr val="5B3A7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Poe's description, the House of Usher has ___ eye-like windows.</a:t>
            </a:r>
            <a:endParaRPr lang="en-US" sz="2400" dirty="0"/>
          </a:p>
          <a:p>
            <a:pPr algn="l" indent="0" marL="0">
              <a:buNone/>
            </a:pPr>
            <a:r>
              <a:rPr lang="en-US" sz="2400" b="1" dirty="0">
                <a:solidFill>
                  <a:srgbClr val="5B3A7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vacant  ·  glowing  ·  shattered</a:t>
            </a:r>
            <a:endParaRPr lang="en-US" sz="2400" dirty="0"/>
          </a:p>
        </p:txBody>
      </p:sp>
      <p:sp>
        <p:nvSpPr>
          <p:cNvPr id="17"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18" name="card-hex"/>
          <p:cNvSpPr/>
          <p:nvPr/>
        </p:nvSpPr>
        <p:spPr>
          <a:xfrm>
            <a:off x="8310677" y="1572768"/>
            <a:ext cx="640080" cy="554309"/>
          </a:xfrm>
          <a:prstGeom prst="hexagon">
            <a:avLst/>
          </a:prstGeom>
          <a:solidFill>
            <a:srgbClr val="5B3A7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what order did your lesson build a description?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Adverb, verb, adjective, noun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Adjective, adverb, noun, verb</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Noun, adjective, verb, adverb</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Verb, noun, adverb, adjective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When the weather or nature reflects a character's feelings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pathetic fallacy?</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Pathetic comes from an old word for feeling, and fallacy means a mistaken idea: the weather seems to share our feelings.</a:t>
            </a:r>
            <a:endParaRPr lang="en-US" sz="2000" dirty="0"/>
          </a:p>
        </p:txBody>
      </p:sp>
      <p:sp>
        <p:nvSpPr>
          <p:cNvPr id="14" name="card"/>
          <p:cNvSpPr/>
          <p:nvPr/>
        </p:nvSpPr>
        <p:spPr>
          <a:xfrm>
            <a:off x="4338218" y="1389888"/>
            <a:ext cx="3515258" cy="4754880"/>
          </a:xfrm>
          <a:prstGeom prst="roundRect">
            <a:avLst>
              <a:gd name="adj" fmla="val 1561"/>
            </a:avLst>
          </a:prstGeom>
          <a:solidFill>
            <a:srgbClr val="F4F1F6"/>
          </a:solidFill>
          <a:ln w="12700">
            <a:solidFill>
              <a:srgbClr val="C6BAD0"/>
            </a:solidFill>
            <a:prstDash val="solid"/>
          </a:ln>
        </p:spPr>
      </p:sp>
      <p:sp>
        <p:nvSpPr>
          <p:cNvPr id="15" name="card-hex"/>
          <p:cNvSpPr/>
          <p:nvPr/>
        </p:nvSpPr>
        <p:spPr>
          <a:xfrm>
            <a:off x="4521098" y="1572768"/>
            <a:ext cx="640080" cy="554309"/>
          </a:xfrm>
          <a:prstGeom prst="hexagon">
            <a:avLst/>
          </a:prstGeom>
          <a:solidFill>
            <a:srgbClr val="5B3A7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vacant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Poe's description, the House of Usher has ___ eye-like windows.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Vacant means empty. The windows are like eyes with nobody behind them, which is why the house feels dead and watching at once.</a:t>
            </a:r>
            <a:endParaRPr lang="en-US" sz="2000" dirty="0"/>
          </a:p>
        </p:txBody>
      </p:sp>
      <p:sp>
        <p:nvSpPr>
          <p:cNvPr id="21" name="card"/>
          <p:cNvSpPr/>
          <p:nvPr/>
        </p:nvSpPr>
        <p:spPr>
          <a:xfrm>
            <a:off x="8127797" y="1389888"/>
            <a:ext cx="3515258" cy="4754880"/>
          </a:xfrm>
          <a:prstGeom prst="roundRect">
            <a:avLst>
              <a:gd name="adj" fmla="val 1561"/>
            </a:avLst>
          </a:prstGeom>
          <a:solidFill>
            <a:srgbClr val="F4F1F6"/>
          </a:solidFill>
          <a:ln w="12700">
            <a:solidFill>
              <a:srgbClr val="C6BAD0"/>
            </a:solidFill>
            <a:prstDash val="solid"/>
          </a:ln>
        </p:spPr>
      </p:sp>
      <p:sp>
        <p:nvSpPr>
          <p:cNvPr id="22" name="card-hex"/>
          <p:cNvSpPr/>
          <p:nvPr/>
        </p:nvSpPr>
        <p:spPr>
          <a:xfrm>
            <a:off x="8310677" y="1572768"/>
            <a:ext cx="640080" cy="554309"/>
          </a:xfrm>
          <a:prstGeom prst="hexagon">
            <a:avLst/>
          </a:prstGeom>
          <a:solidFill>
            <a:srgbClr val="5B3A7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Noun, adjective, verb, adverb</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what order did your lesson build a description?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Name the thing (noun), describe it (adjective), make it do something (verb), say how (adverb). Each step adds to the last.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eerie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strange and frightening in a quiet way</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eerie silence hung over the graveyard.</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foreboding</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feeling that something bad is coming</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locked gate filled him with foreboding.</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isolated</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far away from other people and from help</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house was isolated, miles from the nearest village.</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pathetic fallacy</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weather matches a character's feelings</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storm broke as she wept: that is pathetic fallacy.</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ruin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building that has fallen apart with age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Ivy covered the ruin of the old abbey.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Gothic stories need the right place.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Think of a ruined castle, or a house with no lights 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Think of a graveyard at night, or a dark forest.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These places are old, cold and far from help.</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Writers describe them carefully to build an atmosphere.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use light and dark.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use the weather to show how a character feels.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hint that something is hidden.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You can build a description one word at a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Start with a noun, such as the gate.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 an adjective: the rusted gate.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Add a verb and an adverb: the rusted gate groans softly.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Now the reader can see and hear your setting.</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Where Gothic stories happen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Echoes are a Gothic favourite. They prove the place is huge, empty and made of stone, in a single sound.</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Bonarmo looked round in vain for his friend, and the echoes of his own voice only, among the rocks, replied to his repeated calls.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Radcliffe, The Italian (1797)</a:t>
            </a:r>
            <a:endParaRPr lang="en-US" sz="2600" dirty="0"/>
          </a:p>
        </p:txBody>
      </p:sp>
      <p:sp>
        <p:nvSpPr>
          <p:cNvPr id="14" name="bullet-card"/>
          <p:cNvSpPr/>
          <p:nvPr/>
        </p:nvSpPr>
        <p:spPr>
          <a:xfrm>
            <a:off x="548640" y="1389888"/>
            <a:ext cx="5074920" cy="1769872"/>
          </a:xfrm>
          <a:prstGeom prst="roundRect">
            <a:avLst>
              <a:gd name="adj" fmla="val 4133"/>
            </a:avLst>
          </a:prstGeom>
          <a:solidFill>
            <a:srgbClr val="F2EFF4"/>
          </a:solidFill>
          <a:ln/>
        </p:spPr>
      </p:sp>
      <p:sp>
        <p:nvSpPr>
          <p:cNvPr id="15" name="bullet-hex"/>
          <p:cNvSpPr/>
          <p:nvPr/>
        </p:nvSpPr>
        <p:spPr>
          <a:xfrm>
            <a:off x="676656" y="2108531"/>
            <a:ext cx="384048" cy="332586"/>
          </a:xfrm>
          <a:prstGeom prst="hexagon">
            <a:avLst/>
          </a:prstGeom>
          <a:solidFill>
            <a:srgbClr val="5B3A7A"/>
          </a:solidFill>
          <a:ln/>
        </p:spPr>
      </p:sp>
      <p:sp>
        <p:nvSpPr>
          <p:cNvPr id="16" name="bullet"/>
          <p:cNvSpPr txBox="1"/>
          <p:nvPr/>
        </p:nvSpPr>
        <p:spPr>
          <a:xfrm>
            <a:off x="1143000" y="1389888"/>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Ask a class to name a Gothic setting and the answers come fast: an abandoned house, a haunted mansion, a castle, a graveyard, a dark forest, a hidden passage, anywhere at all at night.</a:t>
            </a:r>
            <a:endParaRPr lang="en-US" sz="1800" dirty="0"/>
          </a:p>
        </p:txBody>
      </p:sp>
      <p:sp>
        <p:nvSpPr>
          <p:cNvPr id="17" name="bullet-card"/>
          <p:cNvSpPr/>
          <p:nvPr/>
        </p:nvSpPr>
        <p:spPr>
          <a:xfrm>
            <a:off x="548640" y="3306064"/>
            <a:ext cx="5074920" cy="1490980"/>
          </a:xfrm>
          <a:prstGeom prst="roundRect">
            <a:avLst>
              <a:gd name="adj" fmla="val 4906"/>
            </a:avLst>
          </a:prstGeom>
          <a:solidFill>
            <a:srgbClr val="F2EFF4"/>
          </a:solidFill>
          <a:ln/>
        </p:spPr>
      </p:sp>
      <p:sp>
        <p:nvSpPr>
          <p:cNvPr id="18" name="bullet-hex"/>
          <p:cNvSpPr/>
          <p:nvPr/>
        </p:nvSpPr>
        <p:spPr>
          <a:xfrm>
            <a:off x="676656" y="3885261"/>
            <a:ext cx="384048" cy="332586"/>
          </a:xfrm>
          <a:prstGeom prst="hexagon">
            <a:avLst/>
          </a:prstGeom>
          <a:solidFill>
            <a:srgbClr val="B8862B"/>
          </a:solidFill>
          <a:ln/>
        </p:spPr>
      </p:sp>
      <p:sp>
        <p:nvSpPr>
          <p:cNvPr id="19" name="bullet"/>
          <p:cNvSpPr txBox="1"/>
          <p:nvPr/>
        </p:nvSpPr>
        <p:spPr>
          <a:xfrm>
            <a:off x="1143000" y="3306064"/>
            <a:ext cx="4389120" cy="14909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Ann Radcliffe, one of the most popular Gothic writers of the 1790s, sends two young men to explore a ruined fortress at night in The Italian.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Reading the masters: Poe and Stoker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‘Vacant eye-like windows’ is personification. A house with eyes can watch you. Steal the idea, not the words.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upon the bleak walls—upon the vacant eye-like windows—upon a few rank sedges—and upon a few white trunks of decayed trees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Poe, The Fall of the House of Usher (1839)</a:t>
            </a:r>
            <a:endParaRPr lang="en-US" sz="2600" dirty="0"/>
          </a:p>
        </p:txBody>
      </p:sp>
      <p:sp>
        <p:nvSpPr>
          <p:cNvPr id="14" name="bullet-card"/>
          <p:cNvSpPr/>
          <p:nvPr/>
        </p:nvSpPr>
        <p:spPr>
          <a:xfrm>
            <a:off x="548640" y="1389888"/>
            <a:ext cx="5074920" cy="1289558"/>
          </a:xfrm>
          <a:prstGeom prst="roundRect">
            <a:avLst>
              <a:gd name="adj" fmla="val 5673"/>
            </a:avLst>
          </a:prstGeom>
          <a:solidFill>
            <a:srgbClr val="F2EFF4"/>
          </a:solidFill>
          <a:ln/>
        </p:spPr>
      </p:sp>
      <p:sp>
        <p:nvSpPr>
          <p:cNvPr id="15" name="bullet-hex"/>
          <p:cNvSpPr/>
          <p:nvPr/>
        </p:nvSpPr>
        <p:spPr>
          <a:xfrm>
            <a:off x="676656" y="1868374"/>
            <a:ext cx="384048" cy="332586"/>
          </a:xfrm>
          <a:prstGeom prst="hexagon">
            <a:avLst/>
          </a:prstGeom>
          <a:solidFill>
            <a:srgbClr val="5B3A7A"/>
          </a:solidFill>
          <a:ln/>
        </p:spPr>
      </p:sp>
      <p:sp>
        <p:nvSpPr>
          <p:cNvPr id="16" name="bullet"/>
          <p:cNvSpPr txBox="1"/>
          <p:nvPr/>
        </p:nvSpPr>
        <p:spPr>
          <a:xfrm>
            <a:off x="1143000" y="1389888"/>
            <a:ext cx="4389120" cy="12895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Edgar Allan Poe's narrator rides alone towards the House of Usher at the end of a dark autumn day.</a:t>
            </a:r>
            <a:endParaRPr lang="en-US" sz="2200" dirty="0"/>
          </a:p>
        </p:txBody>
      </p:sp>
      <p:sp>
        <p:nvSpPr>
          <p:cNvPr id="17" name="bullet-card"/>
          <p:cNvSpPr/>
          <p:nvPr/>
        </p:nvSpPr>
        <p:spPr>
          <a:xfrm>
            <a:off x="548640" y="2825750"/>
            <a:ext cx="5074920" cy="1971294"/>
          </a:xfrm>
          <a:prstGeom prst="roundRect">
            <a:avLst>
              <a:gd name="adj" fmla="val 3711"/>
            </a:avLst>
          </a:prstGeom>
          <a:solidFill>
            <a:srgbClr val="F2EFF4"/>
          </a:solidFill>
          <a:ln/>
        </p:spPr>
      </p:sp>
      <p:sp>
        <p:nvSpPr>
          <p:cNvPr id="18" name="bullet-hex"/>
          <p:cNvSpPr/>
          <p:nvPr/>
        </p:nvSpPr>
        <p:spPr>
          <a:xfrm>
            <a:off x="676656" y="3645104"/>
            <a:ext cx="384048" cy="332586"/>
          </a:xfrm>
          <a:prstGeom prst="hexagon">
            <a:avLst/>
          </a:prstGeom>
          <a:solidFill>
            <a:srgbClr val="B8862B"/>
          </a:solidFill>
          <a:ln/>
        </p:spPr>
      </p:sp>
      <p:sp>
        <p:nvSpPr>
          <p:cNvPr id="19" name="bullet"/>
          <p:cNvSpPr txBox="1"/>
          <p:nvPr/>
        </p:nvSpPr>
        <p:spPr>
          <a:xfrm>
            <a:off x="1143000" y="2825750"/>
            <a:ext cx="4389120" cy="197129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Bram Stoker uses a different method in Dracula. Jonathan Harker writes a journal inside the Count's castle, and he realises that every door is locked.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Building a description, one word at a time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have a page of ideas, be ruthless. Keep the descriptions that build the atmosphere and cross out the rest.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FEBF2"/>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gave you a method you can use on any image.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stretch each sentence. Use two adjectives separated by a comma.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Worked example: Building a description, one word at a time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FEB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Build one Gothic sentence from the noun ‘gate’.</a:t>
            </a:r>
            <a:endParaRPr lang="en-US" sz="2000" dirty="0"/>
          </a:p>
        </p:txBody>
      </p:sp>
      <p:sp>
        <p:nvSpPr>
          <p:cNvPr id="9" name="step-box"/>
          <p:cNvSpPr/>
          <p:nvPr/>
        </p:nvSpPr>
        <p:spPr>
          <a:xfrm>
            <a:off x="548640" y="2192528"/>
            <a:ext cx="11094415" cy="429695"/>
          </a:xfrm>
          <a:prstGeom prst="roundRect">
            <a:avLst>
              <a:gd name="adj" fmla="val 17024"/>
            </a:avLst>
          </a:prstGeom>
          <a:solidFill>
            <a:srgbClr val="FFFFFF"/>
          </a:solidFill>
          <a:ln w="15875">
            <a:solidFill>
              <a:srgbClr val="A593B6"/>
            </a:solidFill>
            <a:prstDash val="solid"/>
          </a:ln>
        </p:spPr>
      </p:sp>
      <p:sp>
        <p:nvSpPr>
          <p:cNvPr id="10" name="step-hex"/>
          <p:cNvSpPr/>
          <p:nvPr/>
        </p:nvSpPr>
        <p:spPr>
          <a:xfrm>
            <a:off x="685800" y="2209408"/>
            <a:ext cx="457200" cy="395935"/>
          </a:xfrm>
          <a:prstGeom prst="hexagon">
            <a:avLst/>
          </a:prstGeom>
          <a:solidFill>
            <a:srgbClr val="5B3A7A"/>
          </a:solidFill>
          <a:ln/>
        </p:spPr>
      </p:sp>
      <p:sp>
        <p:nvSpPr>
          <p:cNvPr id="11" name="step-hex-label"/>
          <p:cNvSpPr txBox="1"/>
          <p:nvPr/>
        </p:nvSpPr>
        <p:spPr>
          <a:xfrm>
            <a:off x="685800" y="220940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296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Noun: the gate.</a:t>
            </a:r>
            <a:endParaRPr lang="en-US" sz="1800" dirty="0"/>
          </a:p>
        </p:txBody>
      </p:sp>
      <p:sp>
        <p:nvSpPr>
          <p:cNvPr id="13" name="step-box"/>
          <p:cNvSpPr/>
          <p:nvPr/>
        </p:nvSpPr>
        <p:spPr>
          <a:xfrm>
            <a:off x="548640" y="2695375"/>
            <a:ext cx="11094415" cy="429695"/>
          </a:xfrm>
          <a:prstGeom prst="roundRect">
            <a:avLst>
              <a:gd name="adj" fmla="val 17024"/>
            </a:avLst>
          </a:prstGeom>
          <a:solidFill>
            <a:srgbClr val="FFFFFF"/>
          </a:solidFill>
          <a:ln w="15875">
            <a:solidFill>
              <a:srgbClr val="A593B6"/>
            </a:solidFill>
            <a:prstDash val="solid"/>
          </a:ln>
        </p:spPr>
      </p:sp>
      <p:sp>
        <p:nvSpPr>
          <p:cNvPr id="14" name="step-hex"/>
          <p:cNvSpPr/>
          <p:nvPr/>
        </p:nvSpPr>
        <p:spPr>
          <a:xfrm>
            <a:off x="685800" y="2712256"/>
            <a:ext cx="457200" cy="395935"/>
          </a:xfrm>
          <a:prstGeom prst="hexagon">
            <a:avLst/>
          </a:prstGeom>
          <a:solidFill>
            <a:srgbClr val="5B3A7A"/>
          </a:solidFill>
          <a:ln/>
        </p:spPr>
      </p:sp>
      <p:sp>
        <p:nvSpPr>
          <p:cNvPr id="15" name="step-hex-label"/>
          <p:cNvSpPr txBox="1"/>
          <p:nvPr/>
        </p:nvSpPr>
        <p:spPr>
          <a:xfrm>
            <a:off x="685800" y="2712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695375"/>
            <a:ext cx="10180015" cy="4296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Adjective: the rusted gate.</a:t>
            </a:r>
            <a:endParaRPr lang="en-US" sz="1800" dirty="0"/>
          </a:p>
        </p:txBody>
      </p:sp>
      <p:sp>
        <p:nvSpPr>
          <p:cNvPr id="17" name="step-box"/>
          <p:cNvSpPr/>
          <p:nvPr/>
        </p:nvSpPr>
        <p:spPr>
          <a:xfrm>
            <a:off x="548640" y="3198223"/>
            <a:ext cx="11094415" cy="429695"/>
          </a:xfrm>
          <a:prstGeom prst="roundRect">
            <a:avLst>
              <a:gd name="adj" fmla="val 17024"/>
            </a:avLst>
          </a:prstGeom>
          <a:solidFill>
            <a:srgbClr val="FFFFFF"/>
          </a:solidFill>
          <a:ln w="15875">
            <a:solidFill>
              <a:srgbClr val="A593B6"/>
            </a:solidFill>
            <a:prstDash val="solid"/>
          </a:ln>
        </p:spPr>
      </p:sp>
      <p:sp>
        <p:nvSpPr>
          <p:cNvPr id="18" name="step-hex"/>
          <p:cNvSpPr/>
          <p:nvPr/>
        </p:nvSpPr>
        <p:spPr>
          <a:xfrm>
            <a:off x="685800" y="3215103"/>
            <a:ext cx="457200" cy="395935"/>
          </a:xfrm>
          <a:prstGeom prst="hexagon">
            <a:avLst/>
          </a:prstGeom>
          <a:solidFill>
            <a:srgbClr val="5B3A7A"/>
          </a:solidFill>
          <a:ln/>
        </p:spPr>
      </p:sp>
      <p:sp>
        <p:nvSpPr>
          <p:cNvPr id="19" name="step-hex-label"/>
          <p:cNvSpPr txBox="1"/>
          <p:nvPr/>
        </p:nvSpPr>
        <p:spPr>
          <a:xfrm>
            <a:off x="685800" y="321510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198223"/>
            <a:ext cx="10180015" cy="4296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Verb: the rusted gate groans.</a:t>
            </a:r>
            <a:endParaRPr lang="en-US" sz="1800" dirty="0"/>
          </a:p>
        </p:txBody>
      </p:sp>
      <p:sp>
        <p:nvSpPr>
          <p:cNvPr id="21" name="step-box"/>
          <p:cNvSpPr/>
          <p:nvPr/>
        </p:nvSpPr>
        <p:spPr>
          <a:xfrm>
            <a:off x="548640" y="3701070"/>
            <a:ext cx="11094415" cy="429695"/>
          </a:xfrm>
          <a:prstGeom prst="roundRect">
            <a:avLst>
              <a:gd name="adj" fmla="val 17024"/>
            </a:avLst>
          </a:prstGeom>
          <a:solidFill>
            <a:srgbClr val="FFFFFF"/>
          </a:solidFill>
          <a:ln w="15875">
            <a:solidFill>
              <a:srgbClr val="A593B6"/>
            </a:solidFill>
            <a:prstDash val="solid"/>
          </a:ln>
        </p:spPr>
      </p:sp>
      <p:sp>
        <p:nvSpPr>
          <p:cNvPr id="22" name="step-hex"/>
          <p:cNvSpPr/>
          <p:nvPr/>
        </p:nvSpPr>
        <p:spPr>
          <a:xfrm>
            <a:off x="685800" y="3717950"/>
            <a:ext cx="457200" cy="395935"/>
          </a:xfrm>
          <a:prstGeom prst="hexagon">
            <a:avLst/>
          </a:prstGeom>
          <a:solidFill>
            <a:srgbClr val="5B3A7A"/>
          </a:solidFill>
          <a:ln/>
        </p:spPr>
      </p:sp>
      <p:sp>
        <p:nvSpPr>
          <p:cNvPr id="23" name="step-hex-label"/>
          <p:cNvSpPr txBox="1"/>
          <p:nvPr/>
        </p:nvSpPr>
        <p:spPr>
          <a:xfrm>
            <a:off x="685800" y="371795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701070"/>
            <a:ext cx="10180015" cy="4296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Adverb: the rusted gate groans softly.</a:t>
            </a:r>
            <a:endParaRPr lang="en-US" sz="1800" dirty="0"/>
          </a:p>
        </p:txBody>
      </p:sp>
      <p:sp>
        <p:nvSpPr>
          <p:cNvPr id="25" name="step-box"/>
          <p:cNvSpPr/>
          <p:nvPr/>
        </p:nvSpPr>
        <p:spPr>
          <a:xfrm>
            <a:off x="548640" y="4203918"/>
            <a:ext cx="11094415" cy="429695"/>
          </a:xfrm>
          <a:prstGeom prst="roundRect">
            <a:avLst>
              <a:gd name="adj" fmla="val 17024"/>
            </a:avLst>
          </a:prstGeom>
          <a:solidFill>
            <a:srgbClr val="FFFFFF"/>
          </a:solidFill>
          <a:ln w="15875">
            <a:solidFill>
              <a:srgbClr val="A593B6"/>
            </a:solidFill>
            <a:prstDash val="solid"/>
          </a:ln>
        </p:spPr>
      </p:sp>
      <p:sp>
        <p:nvSpPr>
          <p:cNvPr id="26" name="step-hex"/>
          <p:cNvSpPr/>
          <p:nvPr/>
        </p:nvSpPr>
        <p:spPr>
          <a:xfrm>
            <a:off x="685800" y="4220798"/>
            <a:ext cx="457200" cy="395935"/>
          </a:xfrm>
          <a:prstGeom prst="hexagon">
            <a:avLst/>
          </a:prstGeom>
          <a:solidFill>
            <a:srgbClr val="5B3A7A"/>
          </a:solidFill>
          <a:ln/>
        </p:spPr>
      </p:sp>
      <p:sp>
        <p:nvSpPr>
          <p:cNvPr id="27" name="step-hex-label"/>
          <p:cNvSpPr txBox="1"/>
          <p:nvPr/>
        </p:nvSpPr>
        <p:spPr>
          <a:xfrm>
            <a:off x="685800" y="422079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203918"/>
            <a:ext cx="10180015" cy="42969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Two adjectives with a comma: the rusted, crooked gate groans softly.</a:t>
            </a:r>
            <a:endParaRPr lang="en-US" sz="1800" dirty="0"/>
          </a:p>
        </p:txBody>
      </p:sp>
      <p:sp>
        <p:nvSpPr>
          <p:cNvPr id="29" name="step-box"/>
          <p:cNvSpPr/>
          <p:nvPr/>
        </p:nvSpPr>
        <p:spPr>
          <a:xfrm>
            <a:off x="548640" y="4706765"/>
            <a:ext cx="11094415" cy="693855"/>
          </a:xfrm>
          <a:prstGeom prst="roundRect">
            <a:avLst>
              <a:gd name="adj" fmla="val 10543"/>
            </a:avLst>
          </a:prstGeom>
          <a:solidFill>
            <a:srgbClr val="FFFFFF"/>
          </a:solidFill>
          <a:ln w="15875">
            <a:solidFill>
              <a:srgbClr val="A593B6"/>
            </a:solidFill>
            <a:prstDash val="solid"/>
          </a:ln>
        </p:spPr>
      </p:sp>
      <p:sp>
        <p:nvSpPr>
          <p:cNvPr id="30" name="step-hex"/>
          <p:cNvSpPr/>
          <p:nvPr/>
        </p:nvSpPr>
        <p:spPr>
          <a:xfrm>
            <a:off x="685800" y="4855725"/>
            <a:ext cx="457200" cy="395935"/>
          </a:xfrm>
          <a:prstGeom prst="hexagon">
            <a:avLst/>
          </a:prstGeom>
          <a:solidFill>
            <a:srgbClr val="5B3A7A"/>
          </a:solidFill>
          <a:ln/>
        </p:spPr>
      </p:sp>
      <p:sp>
        <p:nvSpPr>
          <p:cNvPr id="31" name="step-hex-label"/>
          <p:cNvSpPr txBox="1"/>
          <p:nvPr/>
        </p:nvSpPr>
        <p:spPr>
          <a:xfrm>
            <a:off x="685800" y="485572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step"/>
          <p:cNvSpPr txBox="1"/>
          <p:nvPr/>
        </p:nvSpPr>
        <p:spPr>
          <a:xfrm>
            <a:off x="1280160" y="4706765"/>
            <a:ext cx="10180015" cy="6938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Preposition and subordinate clause: Beyond the yew trees, the rusted, crooked gate, loosened by a century of storms, groans softly.</a:t>
            </a:r>
            <a:endParaRPr lang="en-US" sz="1800" dirty="0"/>
          </a:p>
        </p:txBody>
      </p:sp>
      <p:sp>
        <p:nvSpPr>
          <p:cNvPr id="33" name="worked-answer"/>
          <p:cNvSpPr/>
          <p:nvPr/>
        </p:nvSpPr>
        <p:spPr>
          <a:xfrm>
            <a:off x="548640" y="5583501"/>
            <a:ext cx="11094415" cy="552196"/>
          </a:xfrm>
          <a:prstGeom prst="roundRect">
            <a:avLst>
              <a:gd name="adj" fmla="val 24839"/>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Beyond the yew trees, the rusted, crooked gate, loosened by a century of storms, groans softly.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Light, dark and the weather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‘Nocturnal’ means ‘of the night’. Harker is living by night because the Count does. The word itself makes him sound like a creature.</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I am beginning to feel this nocturnal existence tell on me. It is destroying my nerve. I start at my own shadow, and am full of all sorts of horrible imaginings.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Stoker, Dracula (1897), chapter 3</a:t>
            </a:r>
            <a:endParaRPr lang="en-US" sz="2600" dirty="0"/>
          </a:p>
        </p:txBody>
      </p:sp>
      <p:sp>
        <p:nvSpPr>
          <p:cNvPr id="14" name="bullet-card"/>
          <p:cNvSpPr/>
          <p:nvPr/>
        </p:nvSpPr>
        <p:spPr>
          <a:xfrm>
            <a:off x="548640" y="1389888"/>
            <a:ext cx="5074920" cy="831596"/>
          </a:xfrm>
          <a:prstGeom prst="roundRect">
            <a:avLst>
              <a:gd name="adj" fmla="val 8797"/>
            </a:avLst>
          </a:prstGeom>
          <a:solidFill>
            <a:srgbClr val="F2EFF4"/>
          </a:solidFill>
          <a:ln/>
        </p:spPr>
      </p:sp>
      <p:sp>
        <p:nvSpPr>
          <p:cNvPr id="15" name="bullet-hex"/>
          <p:cNvSpPr/>
          <p:nvPr/>
        </p:nvSpPr>
        <p:spPr>
          <a:xfrm>
            <a:off x="676656" y="1639393"/>
            <a:ext cx="384048" cy="332586"/>
          </a:xfrm>
          <a:prstGeom prst="hexagon">
            <a:avLst/>
          </a:prstGeom>
          <a:solidFill>
            <a:srgbClr val="5B3A7A"/>
          </a:solidFill>
          <a:ln/>
        </p:spPr>
      </p:sp>
      <p:sp>
        <p:nvSpPr>
          <p:cNvPr id="16" name="bullet"/>
          <p:cNvSpPr txBox="1"/>
          <p:nvPr/>
        </p:nvSpPr>
        <p:spPr>
          <a:xfrm>
            <a:off x="1143000" y="1389888"/>
            <a:ext cx="4389120" cy="8315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Light and dark are the Gothic writer's cheapest and best tool.</a:t>
            </a:r>
            <a:endParaRPr lang="en-US" sz="2200" dirty="0"/>
          </a:p>
        </p:txBody>
      </p:sp>
      <p:sp>
        <p:nvSpPr>
          <p:cNvPr id="17" name="bullet-card"/>
          <p:cNvSpPr/>
          <p:nvPr/>
        </p:nvSpPr>
        <p:spPr>
          <a:xfrm>
            <a:off x="548640" y="2367788"/>
            <a:ext cx="5074920" cy="1172464"/>
          </a:xfrm>
          <a:prstGeom prst="roundRect">
            <a:avLst>
              <a:gd name="adj" fmla="val 6239"/>
            </a:avLst>
          </a:prstGeom>
          <a:solidFill>
            <a:srgbClr val="F2EFF4"/>
          </a:solidFill>
          <a:ln/>
        </p:spPr>
      </p:sp>
      <p:sp>
        <p:nvSpPr>
          <p:cNvPr id="18" name="bullet-hex"/>
          <p:cNvSpPr/>
          <p:nvPr/>
        </p:nvSpPr>
        <p:spPr>
          <a:xfrm>
            <a:off x="676656" y="2787727"/>
            <a:ext cx="384048" cy="332586"/>
          </a:xfrm>
          <a:prstGeom prst="hexagon">
            <a:avLst/>
          </a:prstGeom>
          <a:solidFill>
            <a:srgbClr val="B8862B"/>
          </a:solidFill>
          <a:ln/>
        </p:spPr>
      </p:sp>
      <p:sp>
        <p:nvSpPr>
          <p:cNvPr id="19" name="bullet"/>
          <p:cNvSpPr txBox="1"/>
          <p:nvPr/>
        </p:nvSpPr>
        <p:spPr>
          <a:xfrm>
            <a:off x="1143000" y="2367788"/>
            <a:ext cx="4389120" cy="117246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Pathetic fallacy means letting the weather or the landscape reflect a character's feelings.</a:t>
            </a:r>
            <a:endParaRPr lang="en-US" sz="2200" dirty="0"/>
          </a:p>
        </p:txBody>
      </p:sp>
      <p:sp>
        <p:nvSpPr>
          <p:cNvPr id="20" name="bullet-card"/>
          <p:cNvSpPr/>
          <p:nvPr/>
        </p:nvSpPr>
        <p:spPr>
          <a:xfrm>
            <a:off x="548640" y="3686556"/>
            <a:ext cx="5074920" cy="831596"/>
          </a:xfrm>
          <a:prstGeom prst="roundRect">
            <a:avLst>
              <a:gd name="adj" fmla="val 8797"/>
            </a:avLst>
          </a:prstGeom>
          <a:solidFill>
            <a:srgbClr val="F2EFF4"/>
          </a:solidFill>
          <a:ln/>
        </p:spPr>
      </p:sp>
      <p:sp>
        <p:nvSpPr>
          <p:cNvPr id="21" name="bullet-hex"/>
          <p:cNvSpPr/>
          <p:nvPr/>
        </p:nvSpPr>
        <p:spPr>
          <a:xfrm>
            <a:off x="676656" y="3936061"/>
            <a:ext cx="384048" cy="332586"/>
          </a:xfrm>
          <a:prstGeom prst="hexagon">
            <a:avLst/>
          </a:prstGeom>
          <a:solidFill>
            <a:srgbClr val="5B3A7A"/>
          </a:solidFill>
          <a:ln/>
        </p:spPr>
      </p:sp>
      <p:sp>
        <p:nvSpPr>
          <p:cNvPr id="22" name="bullet"/>
          <p:cNvSpPr txBox="1"/>
          <p:nvPr/>
        </p:nvSpPr>
        <p:spPr>
          <a:xfrm>
            <a:off x="1143000" y="3686556"/>
            <a:ext cx="4389120" cy="8315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also asked you to climb a ladder of vocabulary.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Describe a Gothic setting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Describe a ruined castle on a hillside at night, for the opening of a Gothic story. Create an eerie, foreboding atmosphere. Write one paragraph of six to eight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Same task, three ways in: Describe a Gothic setting</a:t>
            </a:r>
            <a:endParaRPr lang="en-US" sz="28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Describe a Gothic setting</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EB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Plan: list four nouns from the scene (tower, moon, fog, door) and give each an adjective, a verb and an adverb.</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your route: sky, then the castle, then the ground, then one sound from inside.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one short sentence (one to three words) somewhere in the middle for shock.</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have you used the weather to create mood, and have you shown rather than told?</a:t>
            </a:r>
            <a:endParaRPr lang="en-US" sz="1800" dirty="0"/>
          </a:p>
        </p:txBody>
      </p:sp>
      <p:sp>
        <p:nvSpPr>
          <p:cNvPr id="17" name="col-Core"/>
          <p:cNvSpPr/>
          <p:nvPr/>
        </p:nvSpPr>
        <p:spPr>
          <a:xfrm>
            <a:off x="6425403" y="2395728"/>
            <a:ext cx="2471666" cy="3749040"/>
          </a:xfrm>
          <a:prstGeom prst="roundRect">
            <a:avLst>
              <a:gd name="adj" fmla="val 2220"/>
            </a:avLst>
          </a:prstGeom>
          <a:solidFill>
            <a:srgbClr val="DBD4E2"/>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Use the five ingredients from your lesson as a checklist: light and dark; tension; buildings that hint at fear, isolation or violence; where the character is; weather or nature.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5B3A7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Rewrite your paragraph so that a character is present but never named: show their fear only through what they notice. Then explain which version builds more foreboding,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Grow the sentence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200" b="1" dirty="0">
                <a:solidFill>
                  <a:srgbClr val="1E2229"/>
                </a:solidFill>
                <a:latin typeface="Calibri" pitchFamily="34" charset="0"/>
                <a:ea typeface="Calibri" pitchFamily="34" charset="-122"/>
                <a:cs typeface="Calibri" pitchFamily="34" charset="-120"/>
              </a:rPr>
              <a:t>Put the six steps of building a description in the order your lesson taught them, from a bare noun to a full Gothic sentence.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Add an adverb that describes the verb: the rusted gate groans softly.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Add a verb that shows what the noun is doing: the rusted gate groans.</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Add a second adjective, separated by a comma: the rusted, crooked gate groans softly.</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Add an adjective: the rusted gate.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Name a noun from the image: the gate.</a:t>
            </a:r>
            <a:endParaRPr lang="en-US" sz="2200" dirty="0"/>
          </a:p>
          <a:p>
            <a:pPr algn="l" indent="0" marL="0">
              <a:spcAft>
                <a:spcPts val="200"/>
              </a:spcAft>
              <a:buNone/>
            </a:pPr>
            <a:r>
              <a:rPr lang="en-US" sz="20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000" dirty="0">
                <a:solidFill>
                  <a:srgbClr val="1E2229"/>
                </a:solidFill>
                <a:latin typeface="Calibri" pitchFamily="34" charset="0"/>
                <a:ea typeface="Calibri" pitchFamily="34" charset="-122"/>
                <a:cs typeface="Calibri" pitchFamily="34" charset="-120"/>
              </a:rPr>
              <a:t>Add a preposition and a subordinate clause: Beyond the yew trees, the rusted, crooked gate, loosened by a century of storms, groans softly.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Same task, three ways in: Grow the sentence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six steps of building a description in the order your lesson taught them, from a bare noun to a full Gothic sentence.</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shortest version: that is the start.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step adds exactly one new kind of word or clause. Read each item and ask what has been added since the last.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longest version, with a preposition and a clause between commas, is the end.</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Count the words. Each step makes the sentence longer, and the last two add commas.</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Take the final sentence and change the preposition, the subordinate clause and the adverb so that the gate becomes welcoming instead of frightening. Which words did the most work?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sentence uses pathetic fallacy?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castle had twelve rooms, a tower and a well.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Rain hammered the window as Eliza wept over the letter.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sun shone on the picnic while Eliza wept over the letter.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Eliza ate her breakfast slowly and read the letter twice.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Describe a Gothic setting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5185"/>
          </a:xfrm>
          <a:prstGeom prst="roundRect">
            <a:avLst>
              <a:gd name="adj" fmla="val 9674"/>
            </a:avLst>
          </a:prstGeom>
          <a:solidFill>
            <a:srgbClr val="F2EFF4"/>
          </a:solidFill>
          <a:ln/>
        </p:spPr>
      </p:sp>
      <p:sp>
        <p:nvSpPr>
          <p:cNvPr id="9" name="tickbox"/>
          <p:cNvSpPr/>
          <p:nvPr/>
        </p:nvSpPr>
        <p:spPr>
          <a:xfrm>
            <a:off x="713232" y="2310536"/>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three Gothic conventions, such as an isolated setting, darkness, decay or strange sounds.</a:t>
            </a:r>
            <a:endParaRPr lang="en-US" sz="2200" dirty="0"/>
          </a:p>
        </p:txBody>
      </p:sp>
      <p:sp>
        <p:nvSpPr>
          <p:cNvPr id="11" name="crit-box"/>
          <p:cNvSpPr/>
          <p:nvPr/>
        </p:nvSpPr>
        <p:spPr>
          <a:xfrm>
            <a:off x="548640" y="3020873"/>
            <a:ext cx="11094415" cy="604317"/>
          </a:xfrm>
          <a:prstGeom prst="roundRect">
            <a:avLst>
              <a:gd name="adj" fmla="val 15131"/>
            </a:avLst>
          </a:prstGeom>
          <a:solidFill>
            <a:srgbClr val="F2EFF4"/>
          </a:solidFill>
          <a:ln/>
        </p:spPr>
      </p:sp>
      <p:sp>
        <p:nvSpPr>
          <p:cNvPr id="12" name="tickbox"/>
          <p:cNvSpPr/>
          <p:nvPr/>
        </p:nvSpPr>
        <p:spPr>
          <a:xfrm>
            <a:off x="713232" y="3176727"/>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020873"/>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build my nouns with well-chosen adjectives, verbs and adverbs.</a:t>
            </a:r>
            <a:endParaRPr lang="en-US" sz="2200" dirty="0"/>
          </a:p>
        </p:txBody>
      </p:sp>
      <p:sp>
        <p:nvSpPr>
          <p:cNvPr id="14" name="crit-box"/>
          <p:cNvSpPr/>
          <p:nvPr/>
        </p:nvSpPr>
        <p:spPr>
          <a:xfrm>
            <a:off x="548640" y="3716630"/>
            <a:ext cx="11094415" cy="604317"/>
          </a:xfrm>
          <a:prstGeom prst="roundRect">
            <a:avLst>
              <a:gd name="adj" fmla="val 15131"/>
            </a:avLst>
          </a:prstGeom>
          <a:solidFill>
            <a:srgbClr val="F2EFF4"/>
          </a:solidFill>
          <a:ln/>
        </p:spPr>
      </p:sp>
      <p:sp>
        <p:nvSpPr>
          <p:cNvPr id="15" name="tickbox"/>
          <p:cNvSpPr/>
          <p:nvPr/>
        </p:nvSpPr>
        <p:spPr>
          <a:xfrm>
            <a:off x="713232" y="3872484"/>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3716630"/>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light and dark, and the weather, to create atmosphere (pathetic fallacy).</a:t>
            </a:r>
            <a:endParaRPr lang="en-US" sz="2200" dirty="0"/>
          </a:p>
        </p:txBody>
      </p:sp>
      <p:sp>
        <p:nvSpPr>
          <p:cNvPr id="17" name="crit-box"/>
          <p:cNvSpPr/>
          <p:nvPr/>
        </p:nvSpPr>
        <p:spPr>
          <a:xfrm>
            <a:off x="548640" y="4412386"/>
            <a:ext cx="11094415" cy="945185"/>
          </a:xfrm>
          <a:prstGeom prst="roundRect">
            <a:avLst>
              <a:gd name="adj" fmla="val 9674"/>
            </a:avLst>
          </a:prstGeom>
          <a:solidFill>
            <a:srgbClr val="F2EFF4"/>
          </a:solidFill>
          <a:ln/>
        </p:spPr>
      </p:sp>
      <p:sp>
        <p:nvSpPr>
          <p:cNvPr id="18" name="tickbox"/>
          <p:cNvSpPr/>
          <p:nvPr/>
        </p:nvSpPr>
        <p:spPr>
          <a:xfrm>
            <a:off x="713232" y="4738675"/>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4412386"/>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vary my sentence openings, including at least one preposition and one subordinate clause.</a:t>
            </a:r>
            <a:endParaRPr lang="en-US" sz="2200" dirty="0"/>
          </a:p>
        </p:txBody>
      </p:sp>
      <p:sp>
        <p:nvSpPr>
          <p:cNvPr id="20" name="crit-box"/>
          <p:cNvSpPr/>
          <p:nvPr/>
        </p:nvSpPr>
        <p:spPr>
          <a:xfrm>
            <a:off x="548640" y="5449011"/>
            <a:ext cx="11094415" cy="604317"/>
          </a:xfrm>
          <a:prstGeom prst="roundRect">
            <a:avLst>
              <a:gd name="adj" fmla="val 15131"/>
            </a:avLst>
          </a:prstGeom>
          <a:solidFill>
            <a:srgbClr val="F2EFF4"/>
          </a:solidFill>
          <a:ln/>
        </p:spPr>
      </p:sp>
      <p:sp>
        <p:nvSpPr>
          <p:cNvPr id="21" name="tickbox"/>
          <p:cNvSpPr/>
          <p:nvPr/>
        </p:nvSpPr>
        <p:spPr>
          <a:xfrm>
            <a:off x="713232" y="5604866"/>
            <a:ext cx="292608" cy="292608"/>
          </a:xfrm>
          <a:prstGeom prst="rect">
            <a:avLst/>
          </a:prstGeom>
          <a:solidFill>
            <a:srgbClr val="FFFFFF"/>
          </a:solidFill>
          <a:ln w="19050">
            <a:solidFill>
              <a:srgbClr val="5B3A7A"/>
            </a:solidFill>
            <a:prstDash val="solid"/>
          </a:ln>
        </p:spPr>
      </p:sp>
      <p:sp>
        <p:nvSpPr>
          <p:cNvPr id="22" name="crit"/>
          <p:cNvSpPr txBox="1"/>
          <p:nvPr/>
        </p:nvSpPr>
        <p:spPr>
          <a:xfrm>
            <a:off x="1143000" y="5449011"/>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show the atmosphere through detail rather than telling the reader it is scary.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Describe a Gothic setting</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castle had stopped pretending to be a building. Its last tower leaned into the wind like a tired old man against a wall, and the moon, thin as a fingernail, picked out the holes where windows had been. Below it, the hillside fell away into fog. Nothing moved. Then, from somewhere inside the walls, a door that should have rotted away a hundred years ago swung shut with a boom that rolled down the valley. The fog did not stir. It only climbed a little higher, as if it wanted to see.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Grow the sentence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Name a noun from the image: the gate.  (E)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Add an adjective: the rusted gate.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Add a verb that shows what the noun is doing: the rusted gate groans.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Add an adverb that describes the verb: the rusted gate groans softly.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Add a second adjective, separated by a comma: the rusted, crooked gate groans softly.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Add a preposition and a subordinate clause: Beyond the yew trees, the rusted, crooked gate, loosened by a century of storms, groans softly.  (F)</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method grows a sentence in layers: noun, adjective, verb, adverb, then a second adjective, then a preposition and a subordinate clause. Each layer gives the reader one more thing to see, hear or feel.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sentence uses pathetic fallacy?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Rain hammered the window as Eliza wept over the letter.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the first sentence has weather (rain) that mirrors a feeling (grief). The fourth has weather that contrasts with the feeling; the others have no weather at 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Gothic Literature · Chapter 2: Setting and atmosphere</dc:title>
  <dc:subject>English Literature · Year 9</dc:subject>
  <dc:creator>Dr Vitor Merissi de Carvalho</dc:creator>
  <cp:lastModifiedBy>Dr Vitor Merissi de Carvalho</cp:lastModifiedBy>
  <cp:revision>1</cp:revision>
  <dcterms:created xsi:type="dcterms:W3CDTF">2026-10-19T06:07:28Z</dcterms:created>
  <dcterms:modified xsi:type="dcterms:W3CDTF">2026-10-19T06:07:28Z</dcterms:modified>
</cp:coreProperties>
</file>