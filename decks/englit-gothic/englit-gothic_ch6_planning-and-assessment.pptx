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8453615-d9be-7c4c-12b9-dee4b245bbf7}">
          <p14:sldIdLst>
            <p14:sldId id="256"/>
          </p14:sldIdLst>
        </p14:section>
        <p14:section name="Gate" id="{cee2b026-9d00-dea4-5f71-1a8660b7077c}">
          <p14:sldIdLst>
            <p14:sldId id="257"/>
            <p14:sldId id="258"/>
          </p14:sldIdLst>
        </p14:section>
        <p14:section name="Pre-teach" id="{12c6ab41-2286-98f6-369e-5757921f6557}">
          <p14:sldIdLst>
            <p14:sldId id="259"/>
          </p14:sldIdLst>
        </p14:section>
        <p14:section name="Read-along" id="{c760e758-ebbe-70b9-815a-132c8aa3f329}">
          <p14:sldIdLst>
            <p14:sldId id="260"/>
            <p14:sldId id="261"/>
          </p14:sldIdLst>
        </p14:section>
        <p14:section name="Teach" id="{e37686ce-ee1d-d21c-69f8-e90769fe104c}">
          <p14:sldIdLst>
            <p14:sldId id="262"/>
            <p14:sldId id="263"/>
            <p14:sldId id="264"/>
            <p14:sldId id="265"/>
            <p14:sldId id="266"/>
            <p14:sldId id="267"/>
          </p14:sldIdLst>
        </p14:section>
        <p14:section name="Routes" id="{44050c4c-09e4-89bf-1548-a52ca9c35966}">
          <p14:sldIdLst>
            <p14:sldId id="268"/>
            <p14:sldId id="269"/>
            <p14:sldId id="270"/>
            <p14:sldId id="271"/>
          </p14:sldIdLst>
        </p14:section>
        <p14:section name="Close" id="{6a6cd39d-bd84-36e7-0838-9ad8372a42c4}">
          <p14:sldIdLst>
            <p14:sldId id="272"/>
          </p14:sldIdLst>
        </p14:section>
        <p14:section name="Answers" id="{3ff92de6-08f9-800f-1375-d24e34c840e5}">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Planning, drafting and the assessment. This chapter takes you from a spray diagram to a finished Gothic scene: planning on the story mountain, drafting with success criteria, and knowing what the assessment rewards.
This deck covers the department's lessons: 11 (Planning and drafting: How do I structure my story?); 12 (Writing a Gothic narrative: continuing a story: How can I continue a story to create tension and atmosphere using Gothic techniques?); 13 (Assessment: writing a scene in the Gothic genre inspired by an image: Can I write a Gothic scene that uses conventions, techniques and structure for effect?); 14 (Extra lesson (if needed): Gothic covers and blurbs: How do covers and blurbs suggest the Gothic genre and entice a reader?).
Read the big question aloud: "What makes a story Gothic, and how can you use the conventions of the genre to write a Gothic narrative of your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On the story mountain, what is the crisis?  →  C   The major event that everything in the story leads up to
2. How long is the end-of-unit assessment, and how long should you spend planning?  →  D   45 minutes, with 5 minutes planning
3. The short summary on the back of a book that tries to make you read it is called the ___.  →  blurb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The major event that everything in the story leads up to. The crisis is the peak of the mountain. The conflict climbs towards it, and the resolution comes down from it.
2. D   45 minutes, with 5 minutes planning. You have 45 minutes in total. The top tip is to spend the first five planning, which leaves 40 to write.
3. blurb. A blurb suggests the genre, gives key information and entices the reader without giving the ending away.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plan: to decide what will happen before you write. Example: "A good plan stops your story from getting lost."
• crisis: the biggest moment, which everything leads up to. Example: "The crisis comes when the door finally opens."
• resolution: how the problem is sorted out at the end. Example: "The resolution shows the spirit set free."
• draft: a first version of your writing that you will improve. Example: "Write a draft, then improve it with a purple pen."
• blurb: the short description on the back of a book. Example: "The blurb made the story sound dark and exciting."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Every story has a shape.
2. We call it the story mountain.
3. It starts calmly, then a problem appears.
4. The problem grows until the crisis, the biggest moment.
5. After the crisis comes the resolution.
6. Then the story ends.
7. Plan your story in this order, even if you open at the end.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Then write your draft.
9. Use a hook, Gothic conventions and a narrative shift.
10. Swap with a partner and give feedback.
11. Improve your work with a purple pen.
12. In the assessment you have 45 minutes to write a Gothic scene.
13. Spend the first five minutes planning.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story mountain. Say it in your own words, then check understanding with a quick question: ask a pupil from the pre-teach group first, since they met these words and ideas before the lesson. Pupils try to recall before you re-explain.
Your lesson began with a spray diagram: your story idea in the middle, everything you know about it around the edge. Then it gave you a shape to pour those ideas into. Freytag's pyramid, which you may know as the story mountain, has five stages: the beginning; the conflict or problem that leads towards the crisis; the crisis itself, the major event everything has been building to; the deflation or resolution, where the crisis is sorted out; and the ending.
Two warnings from your lesson. First, plan chronologically, in the order events happen, even if you plan to open your story at the end or in the middle. You need to know where the story is going before you can decide where to start telling it. Second, a story can have more than one mountain: a smaller crisis, a release, then a bigger climb. That is how writers build and release tension across a whole story.
Decide whose perspective you are writing from before you plan the opening. Shelley's crisis in Frankenstein is the moment the creature opens its eyes, and it hits hard because we see it through Victor, who made it. The same event through the creature's eyes would be a different story.
Quotation: "How can I describe my emotions at this catastrophe, or how delineate the wretch whom with such infinite pains and care I had endeavoured to form?" (Shelley, Frankenstein (1818), chapter 5). Read it aloud; ask what it shows.
Tip: If you cannot say what your crisis is in one sentence, you are not ready to write. Fix the crisis first; the beginning will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Drafting the opening and building tension. Say it in your own words, then check understanding with a quick question: ask a pupil from the pre-teach group first, since they met these words and ideas before the lesson. Pupils try to recall before you re-explain.
Your lesson asked for an opening of one to three paragraphs, written in fifteen minutes against a set of success criteria: hook the reader with an interesting opening style; use Gothic conventions; build your descriptions; introduce the main character implicitly, not explicitly; hint at what is to come without telling the whole story; and use a range of sentence starters and a range of punctuation.
Then came the next section, where you build tension and suspense. The criteria stayed the same with one addition: a narrative shift. This is where the tools from the last chapter earn their place: a flashback, a change of focus, a shift in mood.
After each section you peer-assessed. Your partner read your work against the criteria and set you a target. Then you purple-penned: you found the part of your draft the target referred to and rewrote it. Writers redraft. The first version is for finding out what the story is; the second is for the reader.
Tip: When you peer-assess, give a WWW (what went well) and an EBI (even better if). Make the EBI something your partner can do in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Continuing a story: devices and the senses. Say it in your own words, then check understanding with a quick question: ask a pupil from the pre-teach group first, since they met these words and ideas before the lesson. Pupils try to recall before you re-explain.
Lesson 12 opened with a recall of devices. Personification gives human actions to things: the moon glared down coldly. Metaphor says one thing is another: the kitchen was a furnace. Simile compares with like or as. Onomatopoeia is a word that sounds like its noise: crack, bang. Alliteration repeats a starting sound. Repetition repeats a word or phrase for effect. Oxymoron joins two opposites: a deafening silence.
Then you read the moment in Neil Gaiman's Coraline where a child unlocks a door that used to open onto bricks and finds a dark corridor instead, and you continued the story in turns with a partner. The criteria asked for sensory details from all five senses; at least two Gothic conventions; varied sentence lengths for tension; suspense and atmosphere; and language techniques such as simile, onomatopoeia, pathetic fallacy and metaphor.
Continuing someone else's story is good practice for the assessment, because you must match a tone that is already set. Read the given opening twice. Notice what seems familiar but strange. Ask how the character feels and how you can show it. Then decide how the atmosphere could shift to increase tension.
Worked example — model it step by step, thinking aloud: Name the device in each: (1) The fog crept up the stairs on silent feet. (2) The hall was a tomb. (3) Crack! The ice gave way. (4) Dead leaves, dead light, dead silence. (1) (1) Fog given feet and the ability to creep: personification. (2) (2) The hall is said to BE a tomb: metaphor. (3) (3) Crack imitates the sound: onomatopoeia. (4) (4) ‘Dead’ three times: repetition. Answer: 1 personification; 2 metaphor; 3 onomatopoeia; 4 repetition..
Quotation: "a sense of insufferable gloom pervaded my spirit" (Poe, The Fall of the House of Usher (1839)). Read it aloud; ask what it shows.
Tip: Sensory detail means more than sight. Gothic writers use smell (damp, rot) and touch (cold stone, a warm handle) because readers cannot close their eyes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Continuing a story: devices and the senses. Say it in your own words, then check understanding with a quick question: ask a pupil from the pre-teach group first, since they met these words and ideas before the lesson. Pupils try to recall before you re-explain.
Lesson 12 opened with a recall of devices. Personification gives human actions to things: the moon glared down coldly. Metaphor says one thing is another: the kitchen was a furnace. Simile compares with like or as. Onomatopoeia is a word that sounds like its noise: crack, bang. Alliteration repeats a starting sound. Repetition repeats a word or phrase for effect. Oxymoron joins two opposites: a deafening silence.
Then you read the moment in Neil Gaiman's Coraline where a child unlocks a door that used to open onto bricks and finds a dark corridor instead, and you continued the story in turns with a partner. The criteria asked for sensory details from all five senses; at least two Gothic conventions; varied sentence lengths for tension; suspense and atmosphere; and language techniques such as simile, onomatopoeia, pathetic fallacy and metaphor.
Continuing someone else's story is good practice for the assessment, because you must match a tone that is already set. Read the given opening twice. Notice what seems familiar but strange. Ask how the character feels and how you can show it. Then decide how the atmosphere could shift to increase tension.
Worked example — model it step by step, thinking aloud: Name the device in each: (1) The fog crept up the stairs on silent feet. (2) The hall was a tomb. (3) Crack! The ice gave way. (4) Dead leaves, dead light, dead silence. (1) (1) Fog given feet and the ability to creep: personification. (2) (2) The hall is said to BE a tomb: metaphor. (3) (3) Crack imitates the sound: onomatopoeia. (4) (4) ‘Dead’ three times: repetition. Answer: 1 personification; 2 metaphor; 3 onomatopoeia; 4 repetition..
Quotation: "a sense of insufferable gloom pervaded my spirit" (Poe, The Fall of the House of Usher (1839)). Read it aloud; ask what it shows.
Tip: Sensory detail means more than sight. Gothic writers use smell (damp, rot) and touch (cold stone, a warm handle) because readers cannot close their eyes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Continuing a story: devices and the senses. Say it in your own words, then check understanding with a quick question: ask a pupil from the pre-teach group first, since they met these words and ideas before the lesson. Pupils try to recall before you re-explain.
Lesson 12 opened with a recall of devices. Personification gives human actions to things: the moon glared down coldly. Metaphor says one thing is another: the kitchen was a furnace. Simile compares with like or as. Onomatopoeia is a word that sounds like its noise: crack, bang. Alliteration repeats a starting sound. Repetition repeats a word or phrase for effect. Oxymoron joins two opposites: a deafening silence.
Then you read the moment in Neil Gaiman's Coraline where a child unlocks a door that used to open onto bricks and finds a dark corridor instead, and you continued the story in turns with a partner. The criteria asked for sensory details from all five senses; at least two Gothic conventions; varied sentence lengths for tension; suspense and atmosphere; and language techniques such as simile, onomatopoeia, pathetic fallacy and metaphor.
Continuing someone else's story is good practice for the assessment, because you must match a tone that is already set. Read the given opening twice. Notice what seems familiar but strange. Ask how the character feels and how you can show it. Then decide how the atmosphere could shift to increase tension.
Worked example — model it step by step, thinking aloud: Name the device in each: (1) The fog crept up the stairs on silent feet. (2) The hall was a tomb. (3) Crack! The ice gave way. (4) Dead leaves, dead light, dead silence. (1) (1) Fog given feet and the ability to creep: personification. (2) (2) The hall is said to BE a tomb: metaphor. (3) (3) Crack imitates the sound: onomatopoeia. (4) (4) ‘Dead’ three times: repetition. Answer: 1 personification; 2 metaphor; 3 onomatopoeia; 4 repetition..
Quotation: "a sense of insufferable gloom pervaded my spirit" (Poe, The Fall of the House of Usher (1839)). Read it aloud; ask what it shows.
Tip: Sensory detail means more than sight. Gothic writers use smell (damp, rot) and touch (cold stone, a warm handle) because readers cannot close their eyes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assessment, the blurb and the cover. Say it in your own words, then check understanding with a quick question: ask a pupil from the pre-teach group first, since they met these words and ideas before the lesson. Pupils try to recall before you re-explain.
The end-of-unit assessment gives you 45 minutes to write a Gothic scene inspired by an image. Your checklist: adhere to Gothic conventions; build a strong Gothic setting; use tension and suspense for effect; use pathetic fallacy; use sensory imagery; use structure and punctuation for effect, including the dash, the semicolon, the ellipsis and sentence length; use language techniques and ambitious vocabulary; zoom in on specific detail; and show, don't tell in the descriptive parts. Spend five minutes planning.
The department marks two strands across four bands: emerging, developing, securing and excelling. The first strand is your use of Gothic genre conventions: does the scene create a coherent Gothic atmosphere through setting, characters and themes such as horror, the supernatural and decay? The second is your use of literary techniques: varied sentence structures, rich vocabulary, imagery and figurative language that add to the atmosphere. A securing answer does both clearly; an excelling answer immerses the reader completely.
If there is time, the unit ends with covers and blurbs. A blurb is a short summary that suggests the genre, gives key information about characters and story, and tries to entice the reader without giving the ending away. Writing one for your own story is a test: can you say what your story is in a paragraph, and make a stranger want to read it?
Tip: In the assessment, the image is a starting point, not a cage. Use what you see, then add what the reader cannot see: the sound, the smell, the thing behind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device.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to the literary device it uses.
Support — work through the steps with the group: (1) Look for like or as: that is a simile. (2) Look for a thing doing something only a person can do: personification. (3) Look for X was Y with no like or as: metaphor. (4) Look for a word that sounds like its noise, or a word used three times.
Parallel worked example for Support (model it, do not give the task answer): Practice: ‘The silence screamed.’ Which device? Silence and screaming are opposites.; Two opposites joined is an oxymoron.. Answer: Oxymoron..
Core — reveal the hint only on request: Two devices are about comparing (one uses like or as, one does not). One is about sound. One is about a repeated word. One gives a thing human actions.
Stretch — no help; when finished: Write one Gothic sentence that uses three of the five devices at once, then say whether it is better or worse than a sentence that uses one. What does that tell you about using techniques for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device.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to the literary device it uses.
Support — work through the steps with the group: (1) Look for like or as: that is a simile. (2) Look for a thing doing something only a person can do: personification. (3) Look for X was Y with no like or as: metaphor. (4) Look for a word that sounds like its noise, or a word used three times.
Parallel worked example for Support (model it, do not give the task answer): Practice: ‘The silence screamed.’ Which device? Silence and screaming are opposites.; Two opposites joined is an oxymoron.. Answer: Oxymoron..
Core — reveal the hint only on request: Two devices are about comparing (one uses like or as, one does not). One is about sound. One is about a repeated word. One gives a thing human actions.
Stretch — no help; when finished: Write one Gothic sentence that uses three of the five devices at once, then say whether it is better or worse than a sentence that uses one. What does that tell you about using techniques for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Plan on the story mountain.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stages of this Gothic story plan in the order of the story mountain.
Support — work through the steps with the group: (1) The beginning introduces the place and the character calmly. (2) The conflict is the problem that starts to grow. (3) The crisis is the peak: the most frightening moment. (4) The resolution sorts out the problem; the ending shows the world afterwards.
Parallel worked example for Support (model it, do not give the task answer): Practice: put in order: the ghost is laid to rest; a girl moves into a haunted school; the ghost appears in the library at midnight; she finds the ghost's name in an old register. Moving in is the beginning.; Finding the name is the conflict growing.; The midnight appearance is the crisis.; Laying the ghost to rest is the resolution.. Answer: Moves in; finds the name; the ghost appears; the ghost is laid to rest..
Core — reveal the hint only on request: Find the most frightening moment: that is the peak. Everything before it climbs; everything after it comes down.
Stretch — no help; when finished: This plan has one mountain. Add a second, smaller crisis before the main one, so that tension is built and released twice. Then say where you would open the story if you began in medias 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Plan on the story mountain.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five stages of this Gothic story plan in the order of the story mountain.
Support — work through the steps with the group: (1) The beginning introduces the place and the character calmly. (2) The conflict is the problem that starts to grow. (3) The crisis is the peak: the most frightening moment. (4) The resolution sorts out the problem; the ending shows the world afterwards.
Parallel worked example for Support (model it, do not give the task answer): Practice: put in order: the ghost is laid to rest; a girl moves into a haunted school; the ghost appears in the library at midnight; she finds the ghost's name in an old register. Moving in is the beginning.; Finding the name is the conflict growing.; The midnight appearance is the crisis.; Laying the ghost to rest is the resolution.. Answer: Moves in; finds the name; the ghost appears; the ghost is laid to rest..
Core — reveal the hint only on request: Find the most frightening moment: that is the peak. Everything before it climbs; everything after it comes down.
Stretch — no help; when finished: This plan has one mountain. Add a second, smaller crisis before the main one, so that tension is built and released twice. Then say where you would open the story if you began in medias 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On the story mountain, what is the crisis?
Answer: B   The major event that everything in the story leads up to. The crisis is the peak of the mountain. The conflict climbs towards it, and the resolution comes down from it.
Source of this question: gate item 1 re-asked (options rotated) — this chapter has no third quick-check module.
The ebook also holds task 3, "Write the Gothic scene",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the device. Reveal the answer; pupils mark their own work in a different colour, then read the "why" together. Same destination for every lane, so one answer serves the whole class.
Answer: The fog crept up the stairs on silent feet.  →  A  Personification; The hall was a tomb.  →  B  Metaphor; Her breath came like a saw through wood.  →  D  Simile; Crack! The ice on the pond gave way.  →  C  Onomatopoeia; Dead leaves, dead light, dead silence.  →  E  Repetition
Why: Personification gives human actions to things, metaphor says one thing is another, simile compares with like or as, onomatopoeia imitates a sound, and repetition repeats for effect. Naming them lets you choose them on purpose.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Plan on the story mountain. Reveal the answer; pupils mark their own work in a different colour, then read the "why" together. Same destination for every lane, so one answer serves the whole class.
Answer: Beginning: Tom arrives at his grandmother's cottage beside the marsh, where a boarded-up well stands in the garden.  (B); Conflict: at night he hears knocking from inside the well, and finds a child's locket caught in the boards.  (C); Crisis: he lifts the boards, and a pale hand reaches up out of the dark.  (E); Resolution: he drops the locket into the well, and the knocking stops for the first time in years.  (D); Ending: in the morning the well is dry and full of leaves, as if it had never held anything at all.  (A)
Why: Beginning, conflict, crisis, resolution, ending: the story mountain rises to the crisis and falls away from it. Planning in this order, even if the finished story opens elsewhere, keeps the writer in control.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The major event that everything in the story leads up to
Why: The crisis is the peak of the mountain. The conflict climbs towards it, and the resolution comes down from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Gothic Literature · AQA KS3 → 8702</a:t>
            </a:r>
            <a:endParaRPr lang="en-US" sz="1800" dirty="0"/>
          </a:p>
        </p:txBody>
      </p:sp>
      <p:sp>
        <p:nvSpPr>
          <p:cNvPr id="10" name="deck-title"/>
          <p:cNvSpPr txBox="1"/>
          <p:nvPr/>
        </p:nvSpPr>
        <p:spPr>
          <a:xfrm>
            <a:off x="548640" y="1669796"/>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Planning, drafting and the assessment</a:t>
            </a:r>
            <a:endParaRPr lang="en-US" sz="4000" dirty="0"/>
          </a:p>
        </p:txBody>
      </p:sp>
      <p:sp>
        <p:nvSpPr>
          <p:cNvPr id="11" name="lessons-card"/>
          <p:cNvSpPr/>
          <p:nvPr/>
        </p:nvSpPr>
        <p:spPr>
          <a:xfrm>
            <a:off x="548640" y="3346196"/>
            <a:ext cx="5287975" cy="2427224"/>
          </a:xfrm>
          <a:prstGeom prst="roundRect">
            <a:avLst>
              <a:gd name="adj" fmla="val 3014"/>
            </a:avLst>
          </a:prstGeom>
          <a:solidFill>
            <a:srgbClr val="EFEBF2"/>
          </a:solidFill>
          <a:ln/>
        </p:spPr>
      </p:sp>
      <p:sp>
        <p:nvSpPr>
          <p:cNvPr id="12" name="lessons"/>
          <p:cNvSpPr txBox="1"/>
          <p:nvPr/>
        </p:nvSpPr>
        <p:spPr>
          <a:xfrm>
            <a:off x="685800" y="3437636"/>
            <a:ext cx="5013655" cy="2244344"/>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Planning and drafting</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Writing a Gothic narrative: continuing a story</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Assessment: writing a scene in the Gothic genre inspired by an image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14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Extra lesson (if needed): Gothic covers and blurbs</a:t>
            </a:r>
            <a:endParaRPr lang="en-US" sz="18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story Gothic, and how can you use the conventions of the genre to write a Gothic narrative of your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On the story mountain, what is the crisis?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calm opening where the setting is described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feedback your partner gives you</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major event that everything in the story leads up to</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sentence of the story</a:t>
            </a:r>
            <a:endParaRPr lang="en-US" sz="1800" dirty="0"/>
          </a:p>
        </p:txBody>
      </p:sp>
      <p:sp>
        <p:nvSpPr>
          <p:cNvPr id="12" name="card"/>
          <p:cNvSpPr/>
          <p:nvPr/>
        </p:nvSpPr>
        <p:spPr>
          <a:xfrm>
            <a:off x="4777626" y="1389888"/>
            <a:ext cx="3954666" cy="4754880"/>
          </a:xfrm>
          <a:prstGeom prst="roundRect">
            <a:avLst>
              <a:gd name="adj" fmla="val 1387"/>
            </a:avLst>
          </a:prstGeom>
          <a:solidFill>
            <a:srgbClr val="F4F1F6"/>
          </a:solidFill>
          <a:ln w="12700">
            <a:solidFill>
              <a:srgbClr val="C6BAD0"/>
            </a:solidFill>
            <a:prstDash val="solid"/>
          </a:ln>
        </p:spPr>
      </p:sp>
      <p:sp>
        <p:nvSpPr>
          <p:cNvPr id="13" name="card-hex"/>
          <p:cNvSpPr/>
          <p:nvPr/>
        </p:nvSpPr>
        <p:spPr>
          <a:xfrm>
            <a:off x="4960506" y="1572768"/>
            <a:ext cx="640080" cy="554309"/>
          </a:xfrm>
          <a:prstGeom prst="hexagon">
            <a:avLst/>
          </a:prstGeom>
          <a:solidFill>
            <a:srgbClr val="5B3A7A"/>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960506"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How long is the end-of-unit assessment, and how long should you spend planning?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60 minutes, with 20 minutes planning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45 minutes, with 25 minutes planning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30 minutes, with no planning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45 minutes, with 5 minutes planning</a:t>
            </a:r>
            <a:endParaRPr lang="en-US" sz="1800" dirty="0"/>
          </a:p>
        </p:txBody>
      </p:sp>
      <p:sp>
        <p:nvSpPr>
          <p:cNvPr id="17" name="card"/>
          <p:cNvSpPr/>
          <p:nvPr/>
        </p:nvSpPr>
        <p:spPr>
          <a:xfrm>
            <a:off x="9006611" y="1389888"/>
            <a:ext cx="2636444" cy="4754880"/>
          </a:xfrm>
          <a:prstGeom prst="roundRect">
            <a:avLst>
              <a:gd name="adj" fmla="val 2081"/>
            </a:avLst>
          </a:prstGeom>
          <a:solidFill>
            <a:srgbClr val="F4F1F6"/>
          </a:solidFill>
          <a:ln w="12700">
            <a:solidFill>
              <a:srgbClr val="C6BAD0"/>
            </a:solidFill>
            <a:prstDash val="solid"/>
          </a:ln>
        </p:spPr>
      </p:sp>
      <p:sp>
        <p:nvSpPr>
          <p:cNvPr id="18" name="card-hex"/>
          <p:cNvSpPr/>
          <p:nvPr/>
        </p:nvSpPr>
        <p:spPr>
          <a:xfrm>
            <a:off x="9189491" y="1572768"/>
            <a:ext cx="640080" cy="554309"/>
          </a:xfrm>
          <a:prstGeom prst="hexagon">
            <a:avLst/>
          </a:prstGeom>
          <a:solidFill>
            <a:srgbClr val="5B3A7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short summary on the back of a book that tries to make you read it is called the ___.</a:t>
            </a:r>
            <a:endParaRPr lang="en-US" sz="2200" dirty="0"/>
          </a:p>
          <a:p>
            <a:pPr algn="l" indent="0" marL="0">
              <a:buNone/>
            </a:pPr>
            <a:r>
              <a:rPr lang="en-US" sz="2200" b="1" dirty="0">
                <a:solidFill>
                  <a:srgbClr val="5B3A7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blurb  ·  preface  ·  contents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major event that everything in the story leads up to</a:t>
            </a:r>
            <a:endParaRPr lang="en-US" sz="2200" dirty="0"/>
          </a:p>
        </p:txBody>
      </p:sp>
      <p:sp>
        <p:nvSpPr>
          <p:cNvPr id="13" name="card-body"/>
          <p:cNvSpPr txBox="1"/>
          <p:nvPr/>
        </p:nvSpPr>
        <p:spPr>
          <a:xfrm>
            <a:off x="731520"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On the story mountain, what is the crisis?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crisis is the peak of the mountain. The conflict climbs towards it, and the resolution comes down from it.</a:t>
            </a:r>
            <a:endParaRPr lang="en-US" sz="2000" dirty="0"/>
          </a:p>
        </p:txBody>
      </p:sp>
      <p:sp>
        <p:nvSpPr>
          <p:cNvPr id="14" name="card"/>
          <p:cNvSpPr/>
          <p:nvPr/>
        </p:nvSpPr>
        <p:spPr>
          <a:xfrm>
            <a:off x="4777626" y="1389888"/>
            <a:ext cx="3954666" cy="4754880"/>
          </a:xfrm>
          <a:prstGeom prst="roundRect">
            <a:avLst>
              <a:gd name="adj" fmla="val 1387"/>
            </a:avLst>
          </a:prstGeom>
          <a:solidFill>
            <a:srgbClr val="F4F1F6"/>
          </a:solidFill>
          <a:ln w="12700">
            <a:solidFill>
              <a:srgbClr val="C6BAD0"/>
            </a:solidFill>
            <a:prstDash val="solid"/>
          </a:ln>
        </p:spPr>
      </p:sp>
      <p:sp>
        <p:nvSpPr>
          <p:cNvPr id="15" name="card-hex"/>
          <p:cNvSpPr/>
          <p:nvPr/>
        </p:nvSpPr>
        <p:spPr>
          <a:xfrm>
            <a:off x="4960506" y="1572768"/>
            <a:ext cx="640080" cy="554309"/>
          </a:xfrm>
          <a:prstGeom prst="hexagon">
            <a:avLst/>
          </a:prstGeom>
          <a:solidFill>
            <a:srgbClr val="5B3A7A"/>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3588906" cy="955040"/>
          </a:xfrm>
          <a:prstGeom prst="roundRect">
            <a:avLst>
              <a:gd name="adj" fmla="val 11489"/>
            </a:avLst>
          </a:prstGeom>
          <a:solidFill>
            <a:srgbClr val="EDE1CA"/>
          </a:solidFill>
          <a:ln w="19050">
            <a:solidFill>
              <a:srgbClr val="B8862B"/>
            </a:solidFill>
            <a:prstDash val="solid"/>
          </a:ln>
        </p:spPr>
      </p:sp>
      <p:sp>
        <p:nvSpPr>
          <p:cNvPr id="19" name="answer"/>
          <p:cNvSpPr txBox="1"/>
          <p:nvPr/>
        </p:nvSpPr>
        <p:spPr>
          <a:xfrm>
            <a:off x="5051946"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45 minutes, with 5 minutes planning</a:t>
            </a:r>
            <a:endParaRPr lang="en-US" sz="2200" dirty="0"/>
          </a:p>
        </p:txBody>
      </p:sp>
      <p:sp>
        <p:nvSpPr>
          <p:cNvPr id="20" name="card-body"/>
          <p:cNvSpPr txBox="1"/>
          <p:nvPr/>
        </p:nvSpPr>
        <p:spPr>
          <a:xfrm>
            <a:off x="4960506"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How long is the end-of-unit assessment, and how long should you spend planning?</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You have 45 minutes in total. The top tip is to spend the first five planning, which leaves 40 to write.</a:t>
            </a:r>
            <a:endParaRPr lang="en-US" sz="2000" dirty="0"/>
          </a:p>
        </p:txBody>
      </p:sp>
      <p:sp>
        <p:nvSpPr>
          <p:cNvPr id="21" name="card"/>
          <p:cNvSpPr/>
          <p:nvPr/>
        </p:nvSpPr>
        <p:spPr>
          <a:xfrm>
            <a:off x="9006611" y="1389888"/>
            <a:ext cx="2636444" cy="4754880"/>
          </a:xfrm>
          <a:prstGeom prst="roundRect">
            <a:avLst>
              <a:gd name="adj" fmla="val 2081"/>
            </a:avLst>
          </a:prstGeom>
          <a:solidFill>
            <a:srgbClr val="F4F1F6"/>
          </a:solidFill>
          <a:ln w="12700">
            <a:solidFill>
              <a:srgbClr val="C6BAD0"/>
            </a:solidFill>
            <a:prstDash val="solid"/>
          </a:ln>
        </p:spPr>
      </p:sp>
      <p:sp>
        <p:nvSpPr>
          <p:cNvPr id="22" name="card-hex"/>
          <p:cNvSpPr/>
          <p:nvPr/>
        </p:nvSpPr>
        <p:spPr>
          <a:xfrm>
            <a:off x="9189491" y="1572768"/>
            <a:ext cx="640080" cy="554309"/>
          </a:xfrm>
          <a:prstGeom prst="hexagon">
            <a:avLst/>
          </a:prstGeom>
          <a:solidFill>
            <a:srgbClr val="5B3A7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blurb</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blurb suggests the genre, gives key information and entices the reader without giving the ending away.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FF4"/>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plan</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decide what will happen before you write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good plan stops your story from getting lost.</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crisis</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biggest moment, which everything leads up to</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crisis comes when the door finally opens.</a:t>
            </a:r>
            <a:endParaRPr lang="en-US" sz="1800" dirty="0"/>
          </a:p>
        </p:txBody>
      </p:sp>
      <p:sp>
        <p:nvSpPr>
          <p:cNvPr id="21" name="kw-row"/>
          <p:cNvSpPr/>
          <p:nvPr/>
        </p:nvSpPr>
        <p:spPr>
          <a:xfrm>
            <a:off x="548640" y="3639312"/>
            <a:ext cx="11094415" cy="786384"/>
          </a:xfrm>
          <a:prstGeom prst="roundRect">
            <a:avLst>
              <a:gd name="adj" fmla="val 6977"/>
            </a:avLst>
          </a:prstGeom>
          <a:solidFill>
            <a:srgbClr val="F2EFF4"/>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resolution</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the problem is sorted out at the end</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resolution shows the spirit set free.</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draft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first version of your writing that you will improve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Write a draft, then improve it with a purple pen.</a:t>
            </a:r>
            <a:endParaRPr lang="en-US" sz="1800" dirty="0"/>
          </a:p>
        </p:txBody>
      </p:sp>
      <p:sp>
        <p:nvSpPr>
          <p:cNvPr id="31" name="kw-row"/>
          <p:cNvSpPr/>
          <p:nvPr/>
        </p:nvSpPr>
        <p:spPr>
          <a:xfrm>
            <a:off x="548640" y="5358384"/>
            <a:ext cx="11094415" cy="786384"/>
          </a:xfrm>
          <a:prstGeom prst="roundRect">
            <a:avLst>
              <a:gd name="adj" fmla="val 6977"/>
            </a:avLst>
          </a:prstGeom>
          <a:solidFill>
            <a:srgbClr val="F2EFF4"/>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blurb</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short description on the back of a book</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blurb made the story sound dark and exciting.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Every story has a shape.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call it the story mountain.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starts calmly, then a problem appears.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problem grows until the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crisis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the biggest moment.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After the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crisis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comes the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resolution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the story ends.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Plan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your story in this order, even if you open at the end.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write your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draft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Use a hook, Gothic conventions and a narrative shift.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Swap with a partner and give feedback.</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Improve your work with a purple pen.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the assessment you have 45 minutes to write a Gothic scene.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Spend the first five minutes planning.</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story mountain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cannot say what your crisis is in one sentence, you are not ready to write. Fix the crisis first; the beginning will follow.</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How can I describe my emotions at this catastrophe, or how delineate the wretch whom with such infinite pains and care I had endeavoured to form?</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Shelley, Frankenstein (1818), chapter 5</a:t>
            </a:r>
            <a:endParaRPr lang="en-US" sz="2600" dirty="0"/>
          </a:p>
        </p:txBody>
      </p:sp>
      <p:sp>
        <p:nvSpPr>
          <p:cNvPr id="14" name="bullet-card"/>
          <p:cNvSpPr/>
          <p:nvPr/>
        </p:nvSpPr>
        <p:spPr>
          <a:xfrm>
            <a:off x="548640" y="1389888"/>
            <a:ext cx="5074920" cy="1351534"/>
          </a:xfrm>
          <a:prstGeom prst="roundRect">
            <a:avLst>
              <a:gd name="adj" fmla="val 5413"/>
            </a:avLst>
          </a:prstGeom>
          <a:solidFill>
            <a:srgbClr val="F2EFF4"/>
          </a:solidFill>
          <a:ln/>
        </p:spPr>
      </p:sp>
      <p:sp>
        <p:nvSpPr>
          <p:cNvPr id="15" name="bullet-hex"/>
          <p:cNvSpPr/>
          <p:nvPr/>
        </p:nvSpPr>
        <p:spPr>
          <a:xfrm>
            <a:off x="676656" y="1899362"/>
            <a:ext cx="384048" cy="332586"/>
          </a:xfrm>
          <a:prstGeom prst="hexagon">
            <a:avLst/>
          </a:prstGeom>
          <a:solidFill>
            <a:srgbClr val="5B3A7A"/>
          </a:solidFill>
          <a:ln/>
        </p:spPr>
      </p:sp>
      <p:sp>
        <p:nvSpPr>
          <p:cNvPr id="16" name="bullet"/>
          <p:cNvSpPr txBox="1"/>
          <p:nvPr/>
        </p:nvSpPr>
        <p:spPr>
          <a:xfrm>
            <a:off x="1143000" y="1389888"/>
            <a:ext cx="4389120" cy="13515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lesson began with a spray diagram: your story idea in the middle, everything you know about it around the edge.</a:t>
            </a:r>
            <a:endParaRPr lang="en-US" sz="1800" dirty="0"/>
          </a:p>
        </p:txBody>
      </p:sp>
      <p:sp>
        <p:nvSpPr>
          <p:cNvPr id="17" name="bullet-card"/>
          <p:cNvSpPr/>
          <p:nvPr/>
        </p:nvSpPr>
        <p:spPr>
          <a:xfrm>
            <a:off x="548640" y="2887726"/>
            <a:ext cx="5074920" cy="1630426"/>
          </a:xfrm>
          <a:prstGeom prst="roundRect">
            <a:avLst>
              <a:gd name="adj" fmla="val 4487"/>
            </a:avLst>
          </a:prstGeom>
          <a:solidFill>
            <a:srgbClr val="F2EFF4"/>
          </a:solidFill>
          <a:ln/>
        </p:spPr>
      </p:sp>
      <p:sp>
        <p:nvSpPr>
          <p:cNvPr id="18" name="bullet-hex"/>
          <p:cNvSpPr/>
          <p:nvPr/>
        </p:nvSpPr>
        <p:spPr>
          <a:xfrm>
            <a:off x="676656" y="3536646"/>
            <a:ext cx="384048" cy="332586"/>
          </a:xfrm>
          <a:prstGeom prst="hexagon">
            <a:avLst/>
          </a:prstGeom>
          <a:solidFill>
            <a:srgbClr val="B8862B"/>
          </a:solidFill>
          <a:ln/>
        </p:spPr>
      </p:sp>
      <p:sp>
        <p:nvSpPr>
          <p:cNvPr id="19" name="bullet"/>
          <p:cNvSpPr txBox="1"/>
          <p:nvPr/>
        </p:nvSpPr>
        <p:spPr>
          <a:xfrm>
            <a:off x="1143000" y="2887726"/>
            <a:ext cx="4389120" cy="16304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Two warnings from your lesson. First, plan chronologically, in the order events happen, even if you plan to open your story at the end or in the middle.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Drafting the opening and building tension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peer-assess, give a WWW (what went well) and an EBI (even better if). Make the EBI something your partner can do in five minutes.</a:t>
            </a:r>
            <a:endParaRPr lang="en-US" sz="1800" dirty="0"/>
          </a:p>
        </p:txBody>
      </p:sp>
      <p:sp>
        <p:nvSpPr>
          <p:cNvPr id="11" name="bullet-card"/>
          <p:cNvSpPr/>
          <p:nvPr/>
        </p:nvSpPr>
        <p:spPr>
          <a:xfrm>
            <a:off x="548640" y="1389888"/>
            <a:ext cx="11094415" cy="1893485"/>
          </a:xfrm>
          <a:prstGeom prst="roundRect">
            <a:avLst>
              <a:gd name="adj" fmla="val 3863"/>
            </a:avLst>
          </a:prstGeom>
          <a:solidFill>
            <a:srgbClr val="F2EFF4"/>
          </a:solidFill>
          <a:ln/>
        </p:spPr>
      </p:sp>
      <p:sp>
        <p:nvSpPr>
          <p:cNvPr id="12" name="bullet-hex"/>
          <p:cNvSpPr/>
          <p:nvPr/>
        </p:nvSpPr>
        <p:spPr>
          <a:xfrm>
            <a:off x="676656" y="2170338"/>
            <a:ext cx="384048" cy="332586"/>
          </a:xfrm>
          <a:prstGeom prst="hexagon">
            <a:avLst/>
          </a:prstGeom>
          <a:solidFill>
            <a:srgbClr val="5B3A7A"/>
          </a:solidFill>
          <a:ln/>
        </p:spPr>
      </p:sp>
      <p:sp>
        <p:nvSpPr>
          <p:cNvPr id="13" name="bullet"/>
          <p:cNvSpPr txBox="1"/>
          <p:nvPr/>
        </p:nvSpPr>
        <p:spPr>
          <a:xfrm>
            <a:off x="1143000" y="1389888"/>
            <a:ext cx="10408615" cy="18934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asked for an opening of one to three paragraphs, written in fifteen minutes against a set of success criteria: hook the reader with an interesting opening style; use Gothic conventions; build your descriptions; introduce the main character implicitly, not explicitly; hint at what is to come without telling the whole story; and use a range of sentence starters and a range of punctuation.</a:t>
            </a:r>
            <a:endParaRPr lang="en-US" sz="2200" dirty="0"/>
          </a:p>
        </p:txBody>
      </p:sp>
      <p:sp>
        <p:nvSpPr>
          <p:cNvPr id="14" name="bullet-card"/>
          <p:cNvSpPr/>
          <p:nvPr/>
        </p:nvSpPr>
        <p:spPr>
          <a:xfrm>
            <a:off x="548640" y="3429677"/>
            <a:ext cx="11094415" cy="629073"/>
          </a:xfrm>
          <a:prstGeom prst="roundRect">
            <a:avLst>
              <a:gd name="adj" fmla="val 11629"/>
            </a:avLst>
          </a:prstGeom>
          <a:solidFill>
            <a:srgbClr val="F2EFF4"/>
          </a:solidFill>
          <a:ln/>
        </p:spPr>
      </p:sp>
      <p:sp>
        <p:nvSpPr>
          <p:cNvPr id="15" name="bullet-hex"/>
          <p:cNvSpPr/>
          <p:nvPr/>
        </p:nvSpPr>
        <p:spPr>
          <a:xfrm>
            <a:off x="676656" y="3577921"/>
            <a:ext cx="384048" cy="332586"/>
          </a:xfrm>
          <a:prstGeom prst="hexagon">
            <a:avLst/>
          </a:prstGeom>
          <a:solidFill>
            <a:srgbClr val="B8862B"/>
          </a:solidFill>
          <a:ln/>
        </p:spPr>
      </p:sp>
      <p:sp>
        <p:nvSpPr>
          <p:cNvPr id="16" name="bullet"/>
          <p:cNvSpPr txBox="1"/>
          <p:nvPr/>
        </p:nvSpPr>
        <p:spPr>
          <a:xfrm>
            <a:off x="1143000" y="3429677"/>
            <a:ext cx="10408615" cy="62907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Then came the next section, where you build tension and suspense.</a:t>
            </a:r>
            <a:endParaRPr lang="en-US" sz="2200" dirty="0"/>
          </a:p>
        </p:txBody>
      </p:sp>
      <p:sp>
        <p:nvSpPr>
          <p:cNvPr id="17" name="bullet-card"/>
          <p:cNvSpPr/>
          <p:nvPr/>
        </p:nvSpPr>
        <p:spPr>
          <a:xfrm>
            <a:off x="548640" y="4205055"/>
            <a:ext cx="11094415" cy="870881"/>
          </a:xfrm>
          <a:prstGeom prst="roundRect">
            <a:avLst>
              <a:gd name="adj" fmla="val 8400"/>
            </a:avLst>
          </a:prstGeom>
          <a:solidFill>
            <a:srgbClr val="F2EFF4"/>
          </a:solidFill>
          <a:ln/>
        </p:spPr>
      </p:sp>
      <p:sp>
        <p:nvSpPr>
          <p:cNvPr id="18" name="bullet-hex"/>
          <p:cNvSpPr/>
          <p:nvPr/>
        </p:nvSpPr>
        <p:spPr>
          <a:xfrm>
            <a:off x="676656" y="4474203"/>
            <a:ext cx="384048" cy="332586"/>
          </a:xfrm>
          <a:prstGeom prst="hexagon">
            <a:avLst/>
          </a:prstGeom>
          <a:solidFill>
            <a:srgbClr val="5B3A7A"/>
          </a:solidFill>
          <a:ln/>
        </p:spPr>
      </p:sp>
      <p:sp>
        <p:nvSpPr>
          <p:cNvPr id="19" name="bullet"/>
          <p:cNvSpPr txBox="1"/>
          <p:nvPr/>
        </p:nvSpPr>
        <p:spPr>
          <a:xfrm>
            <a:off x="1143000" y="4205055"/>
            <a:ext cx="10408615" cy="87088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After each section you peer-assessed. Your partner read your work against the criteria and set you a target.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Continuing a story: devices and the senses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Sensory detail means more than sight. Gothic writers use smell (damp, rot) and touch (cold stone, a warm handle) because readers cannot close their eyes to them.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EBF2"/>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Lesson 12 opened with a recall of devices. Personification gives human actions to things: the moon glared down coldly.</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Then you read the moment in Neil Gaiman's Coraline where a child unlocks a door that used to open onto bricks and finds a dark corridor instead, and you continued the story in turns with a partner.</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FEBF2"/>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Continuing someone else's story is good practice for the assessment, because you must match a tone that is already set.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Worked example: Continuing a story: devices and the senses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EBF2"/>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Name the device in each: (1) The fog crept up the stairs on silent feet. (2) The hall was a tomb. (3) Crack! The ice gave way. (4) Dead leaves, dead light, dead silence.</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A593B6"/>
            </a:solidFill>
            <a:prstDash val="solid"/>
          </a:ln>
        </p:spPr>
      </p:sp>
      <p:sp>
        <p:nvSpPr>
          <p:cNvPr id="10" name="step-hex"/>
          <p:cNvSpPr/>
          <p:nvPr/>
        </p:nvSpPr>
        <p:spPr>
          <a:xfrm>
            <a:off x="685800" y="2765552"/>
            <a:ext cx="530352" cy="459285"/>
          </a:xfrm>
          <a:prstGeom prst="hexagon">
            <a:avLst/>
          </a:prstGeom>
          <a:solidFill>
            <a:srgbClr val="5B3A7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(1) Fog given feet and the ability to creep: personification.</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A593B6"/>
            </a:solidFill>
            <a:prstDash val="solid"/>
          </a:ln>
        </p:spPr>
      </p:sp>
      <p:sp>
        <p:nvSpPr>
          <p:cNvPr id="15" name="step-hex"/>
          <p:cNvSpPr/>
          <p:nvPr/>
        </p:nvSpPr>
        <p:spPr>
          <a:xfrm>
            <a:off x="3562274" y="2765552"/>
            <a:ext cx="530352" cy="459285"/>
          </a:xfrm>
          <a:prstGeom prst="hexagon">
            <a:avLst/>
          </a:prstGeom>
          <a:solidFill>
            <a:srgbClr val="5B3A7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(2) The hall is said to BE a tomb: metaphor.</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A593B6"/>
            </a:solidFill>
            <a:prstDash val="solid"/>
          </a:ln>
        </p:spPr>
      </p:sp>
      <p:sp>
        <p:nvSpPr>
          <p:cNvPr id="20" name="step-hex"/>
          <p:cNvSpPr/>
          <p:nvPr/>
        </p:nvSpPr>
        <p:spPr>
          <a:xfrm>
            <a:off x="6438748" y="2765552"/>
            <a:ext cx="530352" cy="459285"/>
          </a:xfrm>
          <a:prstGeom prst="hexagon">
            <a:avLst/>
          </a:prstGeom>
          <a:solidFill>
            <a:srgbClr val="5B3A7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(3) Crack imitates the sound: onomatopoeia.</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A593B6"/>
            </a:solidFill>
            <a:prstDash val="solid"/>
          </a:ln>
        </p:spPr>
      </p:sp>
      <p:sp>
        <p:nvSpPr>
          <p:cNvPr id="25" name="step-hex"/>
          <p:cNvSpPr/>
          <p:nvPr/>
        </p:nvSpPr>
        <p:spPr>
          <a:xfrm>
            <a:off x="9315221" y="2765552"/>
            <a:ext cx="530352" cy="459285"/>
          </a:xfrm>
          <a:prstGeom prst="hexagon">
            <a:avLst/>
          </a:prstGeom>
          <a:solidFill>
            <a:srgbClr val="5B3A7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(4) ‘Dead’ three times: repetition.</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1 personification; 2 metaphor; 3 onomatopoeia; 4 repetition.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Continuing a story: devices and the senses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EFEBF2"/>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a sense of insufferable gloom pervaded my spirit</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Poe, The Fall of the House of Usher (1839)</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assessment, the blurb and the cover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the assessment, the image is a starting point, not a cage. Use what you see, then add what the reader cannot see: the sound, the smell, the thing behind the door.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EBF2"/>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end-of-unit assessment gives you 45 minutes to write a Gothic scene inspired by an image.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department marks two strands across four bands: emerging, developing, securing and excelling.</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EBF2"/>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If there is time, the unit ends with covers and blurbs.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Name the device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sentence to the literary device it uses.</a:t>
            </a:r>
            <a:endParaRPr lang="en-US" sz="2400" dirty="0"/>
          </a:p>
        </p:txBody>
      </p:sp>
      <p:sp>
        <p:nvSpPr>
          <p:cNvPr id="11" name="match-card"/>
          <p:cNvSpPr/>
          <p:nvPr/>
        </p:nvSpPr>
        <p:spPr>
          <a:xfrm>
            <a:off x="777240" y="2468331"/>
            <a:ext cx="5135728" cy="567647"/>
          </a:xfrm>
          <a:prstGeom prst="roundRect">
            <a:avLst>
              <a:gd name="adj" fmla="val 12887"/>
            </a:avLst>
          </a:prstGeom>
          <a:solidFill>
            <a:srgbClr val="F2EFF4"/>
          </a:solidFill>
          <a:ln/>
        </p:spPr>
      </p:sp>
      <p:sp>
        <p:nvSpPr>
          <p:cNvPr id="12" name="match-hex"/>
          <p:cNvSpPr/>
          <p:nvPr/>
        </p:nvSpPr>
        <p:spPr>
          <a:xfrm>
            <a:off x="850392" y="2585862"/>
            <a:ext cx="384048" cy="332586"/>
          </a:xfrm>
          <a:prstGeom prst="hexagon">
            <a:avLst/>
          </a:prstGeom>
          <a:solidFill>
            <a:srgbClr val="5B3A7A"/>
          </a:solidFill>
          <a:ln/>
        </p:spPr>
      </p:sp>
      <p:sp>
        <p:nvSpPr>
          <p:cNvPr id="13" name="match-hex-label"/>
          <p:cNvSpPr txBox="1"/>
          <p:nvPr/>
        </p:nvSpPr>
        <p:spPr>
          <a:xfrm>
            <a:off x="850392" y="2585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fog crept up the stairs on silent feet.</a:t>
            </a:r>
            <a:endParaRPr lang="en-US" sz="2000" dirty="0"/>
          </a:p>
        </p:txBody>
      </p:sp>
      <p:sp>
        <p:nvSpPr>
          <p:cNvPr id="15" name="match-card"/>
          <p:cNvSpPr/>
          <p:nvPr/>
        </p:nvSpPr>
        <p:spPr>
          <a:xfrm>
            <a:off x="6278728" y="2468331"/>
            <a:ext cx="5135728" cy="567647"/>
          </a:xfrm>
          <a:prstGeom prst="roundRect">
            <a:avLst>
              <a:gd name="adj" fmla="val 12887"/>
            </a:avLst>
          </a:prstGeom>
          <a:solidFill>
            <a:srgbClr val="F6F0E6"/>
          </a:solidFill>
          <a:ln/>
        </p:spPr>
      </p:sp>
      <p:sp>
        <p:nvSpPr>
          <p:cNvPr id="16" name="match-hex"/>
          <p:cNvSpPr/>
          <p:nvPr/>
        </p:nvSpPr>
        <p:spPr>
          <a:xfrm>
            <a:off x="6351880" y="2585862"/>
            <a:ext cx="384048" cy="332586"/>
          </a:xfrm>
          <a:prstGeom prst="hexagon">
            <a:avLst/>
          </a:prstGeom>
          <a:solidFill>
            <a:srgbClr val="B8862B"/>
          </a:solidFill>
          <a:ln/>
        </p:spPr>
      </p:sp>
      <p:sp>
        <p:nvSpPr>
          <p:cNvPr id="17" name="match-hex-label"/>
          <p:cNvSpPr txBox="1"/>
          <p:nvPr/>
        </p:nvSpPr>
        <p:spPr>
          <a:xfrm>
            <a:off x="6351880" y="2585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Personification</a:t>
            </a:r>
            <a:endParaRPr lang="en-US" sz="2000" dirty="0"/>
          </a:p>
        </p:txBody>
      </p:sp>
      <p:sp>
        <p:nvSpPr>
          <p:cNvPr id="19" name="match-card"/>
          <p:cNvSpPr/>
          <p:nvPr/>
        </p:nvSpPr>
        <p:spPr>
          <a:xfrm>
            <a:off x="777240" y="3127419"/>
            <a:ext cx="5135728" cy="567647"/>
          </a:xfrm>
          <a:prstGeom prst="roundRect">
            <a:avLst>
              <a:gd name="adj" fmla="val 12887"/>
            </a:avLst>
          </a:prstGeom>
          <a:solidFill>
            <a:srgbClr val="F2EFF4"/>
          </a:solidFill>
          <a:ln/>
        </p:spPr>
      </p:sp>
      <p:sp>
        <p:nvSpPr>
          <p:cNvPr id="20" name="match-hex"/>
          <p:cNvSpPr/>
          <p:nvPr/>
        </p:nvSpPr>
        <p:spPr>
          <a:xfrm>
            <a:off x="850392" y="3244950"/>
            <a:ext cx="384048" cy="332586"/>
          </a:xfrm>
          <a:prstGeom prst="hexagon">
            <a:avLst/>
          </a:prstGeom>
          <a:solidFill>
            <a:srgbClr val="5B3A7A"/>
          </a:solidFill>
          <a:ln/>
        </p:spPr>
      </p:sp>
      <p:sp>
        <p:nvSpPr>
          <p:cNvPr id="21" name="match-hex-label"/>
          <p:cNvSpPr txBox="1"/>
          <p:nvPr/>
        </p:nvSpPr>
        <p:spPr>
          <a:xfrm>
            <a:off x="850392" y="32449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27419"/>
            <a:ext cx="4541368"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hall was a tomb.</a:t>
            </a:r>
            <a:endParaRPr lang="en-US" sz="2000" dirty="0"/>
          </a:p>
        </p:txBody>
      </p:sp>
      <p:sp>
        <p:nvSpPr>
          <p:cNvPr id="23" name="match-card"/>
          <p:cNvSpPr/>
          <p:nvPr/>
        </p:nvSpPr>
        <p:spPr>
          <a:xfrm>
            <a:off x="6278728" y="3127419"/>
            <a:ext cx="5135728" cy="567647"/>
          </a:xfrm>
          <a:prstGeom prst="roundRect">
            <a:avLst>
              <a:gd name="adj" fmla="val 12887"/>
            </a:avLst>
          </a:prstGeom>
          <a:solidFill>
            <a:srgbClr val="F6F0E6"/>
          </a:solidFill>
          <a:ln/>
        </p:spPr>
      </p:sp>
      <p:sp>
        <p:nvSpPr>
          <p:cNvPr id="24" name="match-hex"/>
          <p:cNvSpPr/>
          <p:nvPr/>
        </p:nvSpPr>
        <p:spPr>
          <a:xfrm>
            <a:off x="6351880" y="3244950"/>
            <a:ext cx="384048" cy="332586"/>
          </a:xfrm>
          <a:prstGeom prst="hexagon">
            <a:avLst/>
          </a:prstGeom>
          <a:solidFill>
            <a:srgbClr val="B8862B"/>
          </a:solidFill>
          <a:ln/>
        </p:spPr>
      </p:sp>
      <p:sp>
        <p:nvSpPr>
          <p:cNvPr id="25" name="match-hex-label"/>
          <p:cNvSpPr txBox="1"/>
          <p:nvPr/>
        </p:nvSpPr>
        <p:spPr>
          <a:xfrm>
            <a:off x="6351880" y="32449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127419"/>
            <a:ext cx="4541368"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Metaphor</a:t>
            </a:r>
            <a:endParaRPr lang="en-US" sz="2000" dirty="0"/>
          </a:p>
        </p:txBody>
      </p:sp>
      <p:sp>
        <p:nvSpPr>
          <p:cNvPr id="27" name="match-card"/>
          <p:cNvSpPr/>
          <p:nvPr/>
        </p:nvSpPr>
        <p:spPr>
          <a:xfrm>
            <a:off x="777240" y="3786506"/>
            <a:ext cx="5135728" cy="857207"/>
          </a:xfrm>
          <a:prstGeom prst="roundRect">
            <a:avLst>
              <a:gd name="adj" fmla="val 8534"/>
            </a:avLst>
          </a:prstGeom>
          <a:solidFill>
            <a:srgbClr val="F2EFF4"/>
          </a:solidFill>
          <a:ln/>
        </p:spPr>
      </p:sp>
      <p:sp>
        <p:nvSpPr>
          <p:cNvPr id="28" name="match-hex"/>
          <p:cNvSpPr/>
          <p:nvPr/>
        </p:nvSpPr>
        <p:spPr>
          <a:xfrm>
            <a:off x="850392" y="4048817"/>
            <a:ext cx="384048" cy="332586"/>
          </a:xfrm>
          <a:prstGeom prst="hexagon">
            <a:avLst/>
          </a:prstGeom>
          <a:solidFill>
            <a:srgbClr val="5B3A7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786506"/>
            <a:ext cx="4541368" cy="8572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Her breath came like a saw through wood.</a:t>
            </a:r>
            <a:endParaRPr lang="en-US" sz="2000" dirty="0"/>
          </a:p>
        </p:txBody>
      </p:sp>
      <p:sp>
        <p:nvSpPr>
          <p:cNvPr id="31" name="match-card"/>
          <p:cNvSpPr/>
          <p:nvPr/>
        </p:nvSpPr>
        <p:spPr>
          <a:xfrm>
            <a:off x="6278728" y="3786506"/>
            <a:ext cx="5135728" cy="857207"/>
          </a:xfrm>
          <a:prstGeom prst="roundRect">
            <a:avLst>
              <a:gd name="adj" fmla="val 8534"/>
            </a:avLst>
          </a:prstGeom>
          <a:solidFill>
            <a:srgbClr val="F6F0E6"/>
          </a:solidFill>
          <a:ln/>
        </p:spPr>
      </p:sp>
      <p:sp>
        <p:nvSpPr>
          <p:cNvPr id="32" name="match-hex"/>
          <p:cNvSpPr/>
          <p:nvPr/>
        </p:nvSpPr>
        <p:spPr>
          <a:xfrm>
            <a:off x="6351880" y="4048817"/>
            <a:ext cx="384048" cy="332586"/>
          </a:xfrm>
          <a:prstGeom prst="hexagon">
            <a:avLst/>
          </a:prstGeom>
          <a:solidFill>
            <a:srgbClr val="B8862B"/>
          </a:solidFill>
          <a:ln/>
        </p:spPr>
      </p:sp>
      <p:sp>
        <p:nvSpPr>
          <p:cNvPr id="33" name="match-hex-label"/>
          <p:cNvSpPr txBox="1"/>
          <p:nvPr/>
        </p:nvSpPr>
        <p:spPr>
          <a:xfrm>
            <a:off x="6351880"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3786506"/>
            <a:ext cx="4541368" cy="8572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Onomatopoeia</a:t>
            </a:r>
            <a:endParaRPr lang="en-US" sz="2000" dirty="0"/>
          </a:p>
        </p:txBody>
      </p:sp>
      <p:sp>
        <p:nvSpPr>
          <p:cNvPr id="35" name="match-card"/>
          <p:cNvSpPr/>
          <p:nvPr/>
        </p:nvSpPr>
        <p:spPr>
          <a:xfrm>
            <a:off x="777240" y="4735153"/>
            <a:ext cx="5135728" cy="567647"/>
          </a:xfrm>
          <a:prstGeom prst="roundRect">
            <a:avLst>
              <a:gd name="adj" fmla="val 12887"/>
            </a:avLst>
          </a:prstGeom>
          <a:solidFill>
            <a:srgbClr val="F2EFF4"/>
          </a:solidFill>
          <a:ln/>
        </p:spPr>
      </p:sp>
      <p:sp>
        <p:nvSpPr>
          <p:cNvPr id="36" name="match-hex"/>
          <p:cNvSpPr/>
          <p:nvPr/>
        </p:nvSpPr>
        <p:spPr>
          <a:xfrm>
            <a:off x="850392" y="4852684"/>
            <a:ext cx="384048" cy="332586"/>
          </a:xfrm>
          <a:prstGeom prst="hexagon">
            <a:avLst/>
          </a:prstGeom>
          <a:solidFill>
            <a:srgbClr val="5B3A7A"/>
          </a:solidFill>
          <a:ln/>
        </p:spPr>
      </p:sp>
      <p:sp>
        <p:nvSpPr>
          <p:cNvPr id="37" name="match-hex-label"/>
          <p:cNvSpPr txBox="1"/>
          <p:nvPr/>
        </p:nvSpPr>
        <p:spPr>
          <a:xfrm>
            <a:off x="850392" y="485268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735153"/>
            <a:ext cx="4541368"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Crack! The ice on the pond gave way.</a:t>
            </a:r>
            <a:endParaRPr lang="en-US" sz="2000" dirty="0"/>
          </a:p>
        </p:txBody>
      </p:sp>
      <p:sp>
        <p:nvSpPr>
          <p:cNvPr id="39" name="match-card"/>
          <p:cNvSpPr/>
          <p:nvPr/>
        </p:nvSpPr>
        <p:spPr>
          <a:xfrm>
            <a:off x="6278728" y="4735153"/>
            <a:ext cx="5135728" cy="567647"/>
          </a:xfrm>
          <a:prstGeom prst="roundRect">
            <a:avLst>
              <a:gd name="adj" fmla="val 12887"/>
            </a:avLst>
          </a:prstGeom>
          <a:solidFill>
            <a:srgbClr val="F6F0E6"/>
          </a:solidFill>
          <a:ln/>
        </p:spPr>
      </p:sp>
      <p:sp>
        <p:nvSpPr>
          <p:cNvPr id="40" name="match-hex"/>
          <p:cNvSpPr/>
          <p:nvPr/>
        </p:nvSpPr>
        <p:spPr>
          <a:xfrm>
            <a:off x="6351880" y="4852684"/>
            <a:ext cx="384048" cy="332586"/>
          </a:xfrm>
          <a:prstGeom prst="hexagon">
            <a:avLst/>
          </a:prstGeom>
          <a:solidFill>
            <a:srgbClr val="B8862B"/>
          </a:solidFill>
          <a:ln/>
        </p:spPr>
      </p:sp>
      <p:sp>
        <p:nvSpPr>
          <p:cNvPr id="41" name="match-hex-label"/>
          <p:cNvSpPr txBox="1"/>
          <p:nvPr/>
        </p:nvSpPr>
        <p:spPr>
          <a:xfrm>
            <a:off x="6351880" y="485268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4735153"/>
            <a:ext cx="4541368"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Simile</a:t>
            </a:r>
            <a:endParaRPr lang="en-US" sz="2000" dirty="0"/>
          </a:p>
        </p:txBody>
      </p:sp>
      <p:sp>
        <p:nvSpPr>
          <p:cNvPr id="43" name="match-card"/>
          <p:cNvSpPr/>
          <p:nvPr/>
        </p:nvSpPr>
        <p:spPr>
          <a:xfrm>
            <a:off x="777240" y="5394241"/>
            <a:ext cx="5135728" cy="567647"/>
          </a:xfrm>
          <a:prstGeom prst="roundRect">
            <a:avLst>
              <a:gd name="adj" fmla="val 12887"/>
            </a:avLst>
          </a:prstGeom>
          <a:solidFill>
            <a:srgbClr val="F2EFF4"/>
          </a:solidFill>
          <a:ln/>
        </p:spPr>
      </p:sp>
      <p:sp>
        <p:nvSpPr>
          <p:cNvPr id="44" name="match-hex"/>
          <p:cNvSpPr/>
          <p:nvPr/>
        </p:nvSpPr>
        <p:spPr>
          <a:xfrm>
            <a:off x="850392" y="5511772"/>
            <a:ext cx="384048" cy="332586"/>
          </a:xfrm>
          <a:prstGeom prst="hexagon">
            <a:avLst/>
          </a:prstGeom>
          <a:solidFill>
            <a:srgbClr val="5B3A7A"/>
          </a:solidFill>
          <a:ln/>
        </p:spPr>
      </p:sp>
      <p:sp>
        <p:nvSpPr>
          <p:cNvPr id="45" name="match-hex-label"/>
          <p:cNvSpPr txBox="1"/>
          <p:nvPr/>
        </p:nvSpPr>
        <p:spPr>
          <a:xfrm>
            <a:off x="850392" y="5511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94241"/>
            <a:ext cx="4541368"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Dead leaves, dead light, dead silence.</a:t>
            </a:r>
            <a:endParaRPr lang="en-US" sz="2000" dirty="0"/>
          </a:p>
        </p:txBody>
      </p:sp>
      <p:sp>
        <p:nvSpPr>
          <p:cNvPr id="47" name="match-card"/>
          <p:cNvSpPr/>
          <p:nvPr/>
        </p:nvSpPr>
        <p:spPr>
          <a:xfrm>
            <a:off x="6278728" y="5394241"/>
            <a:ext cx="5135728" cy="567647"/>
          </a:xfrm>
          <a:prstGeom prst="roundRect">
            <a:avLst>
              <a:gd name="adj" fmla="val 12887"/>
            </a:avLst>
          </a:prstGeom>
          <a:solidFill>
            <a:srgbClr val="F6F0E6"/>
          </a:solidFill>
          <a:ln/>
        </p:spPr>
      </p:sp>
      <p:sp>
        <p:nvSpPr>
          <p:cNvPr id="48" name="match-hex"/>
          <p:cNvSpPr/>
          <p:nvPr/>
        </p:nvSpPr>
        <p:spPr>
          <a:xfrm>
            <a:off x="6351880" y="5511772"/>
            <a:ext cx="384048" cy="332586"/>
          </a:xfrm>
          <a:prstGeom prst="hexagon">
            <a:avLst/>
          </a:prstGeom>
          <a:solidFill>
            <a:srgbClr val="B8862B"/>
          </a:solidFill>
          <a:ln/>
        </p:spPr>
      </p:sp>
      <p:sp>
        <p:nvSpPr>
          <p:cNvPr id="49" name="match-hex-label"/>
          <p:cNvSpPr txBox="1"/>
          <p:nvPr/>
        </p:nvSpPr>
        <p:spPr>
          <a:xfrm>
            <a:off x="6351880" y="5511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6799936" y="5394241"/>
            <a:ext cx="4541368" cy="5676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Repetition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Name the device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sentence to the literary device it uses.</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FEB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like or as: that is a simile.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a thing doing something only a person can do: personification.</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X was Y with no like or as: metaphor.</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a word that sounds like its noise, or a word used three times.</a:t>
            </a:r>
            <a:endParaRPr lang="en-US" sz="1800" dirty="0"/>
          </a:p>
        </p:txBody>
      </p:sp>
      <p:sp>
        <p:nvSpPr>
          <p:cNvPr id="17" name="col-Core"/>
          <p:cNvSpPr/>
          <p:nvPr/>
        </p:nvSpPr>
        <p:spPr>
          <a:xfrm>
            <a:off x="5490762" y="2578608"/>
            <a:ext cx="2938987" cy="3566160"/>
          </a:xfrm>
          <a:prstGeom prst="roundRect">
            <a:avLst>
              <a:gd name="adj" fmla="val 1867"/>
            </a:avLst>
          </a:prstGeom>
          <a:solidFill>
            <a:srgbClr val="DBD4E2"/>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devices are about comparing (one uses like or as, one does not). One is about sound. One is about a repeated word. One gives a thing human actions.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5B3A7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one Gothic sentence that uses three of the five devices at once, then say whether it is better or worse than a sentence that uses one. What does that tell you about using techniques for effect?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Plan on the story mountain</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five stages of this Gothic story plan in the order of the story mountain.</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Ending: in the morning the well is dry and full of leaves, as if it had never held anything at all.</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Beginning: Tom arrives at his grandmother's cottage beside the marsh, where a boarded-up well stands in the garden.</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Conflict: at night he hears knocking from inside the well, and finds a child's locket caught in the boards.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Resolution: he drops the locket into the well, and the knocking stops for the first time in years.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Crisis: he lifts the boards, and a pale hand reaches up out of the dark.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Same task, three ways in: Plan on the story mountain</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five stages of this Gothic story plan in the order of the story mountain.</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FEB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beginning introduces the place and the character calmly.</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conflict is the problem that starts to grow.</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crisis is the peak: the most frightening moment.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resolution sorts out the problem; the ending shows the world afterwards.</a:t>
            </a:r>
            <a:endParaRPr lang="en-US" sz="1800" dirty="0"/>
          </a:p>
        </p:txBody>
      </p:sp>
      <p:sp>
        <p:nvSpPr>
          <p:cNvPr id="17" name="col-Core"/>
          <p:cNvSpPr/>
          <p:nvPr/>
        </p:nvSpPr>
        <p:spPr>
          <a:xfrm>
            <a:off x="5490762" y="2593848"/>
            <a:ext cx="2938987" cy="3550920"/>
          </a:xfrm>
          <a:prstGeom prst="roundRect">
            <a:avLst>
              <a:gd name="adj" fmla="val 1867"/>
            </a:avLst>
          </a:prstGeom>
          <a:solidFill>
            <a:srgbClr val="DBD4E2"/>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Find the most frightening moment: that is the peak. Everything before it climbs; everything after it comes down.</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5B3A7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This plan has one mountain. Add a second, smaller crisis before the main one, so that tension is built and released twice. Then say where you would open the story if you began in medias res.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On the story mountain, what is the crisis?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feedback your partner gives you</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major event that everything in the story leads up to</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last sentence of the story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calm opening where the setting is described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Name the device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fog crept up the stairs on silent feet.  →  A  Personification</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hall was a tomb.  →  B  Metaphor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Her breath came like a saw through wood.  →  D  Simile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Crack! The ice on the pond gave way.  →  C  Onomatopoeia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Dead leaves, dead light, dead silence.  →  E  Repetition</a:t>
            </a:r>
            <a:endParaRPr lang="en-US" sz="22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Personification gives human actions to things, metaphor says one thing is another, simile compares with like or as, onomatopoeia imitates a sound, and repetition repeats for effect. Naming them lets you choose them on purpose.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Plan on the story mountain</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Beginning: Tom arrives at his grandmother's cottage beside the marsh, where a boarded-up well stands in the garden.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Conflict: at night he hears knocking from inside the well, and finds a child's locket caught in the boards.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Crisis: he lifts the boards, and a pale hand reaches up out of the dark.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Resolution: he drops the locket into the well, and the knocking stops for the first time in years.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Ending: in the morning the well is dry and full of leaves, as if it had never held anything at all.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Beginning, conflict, crisis, resolution, ending: the story mountain rises to the crisis and falls away from it. Planning in this order, even if the finished story opens elsewhere, keeps the writer in control.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On the story mountain, what is the crisis?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The major event that everything in the story leads up to</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crisis is the peak of the mountain. The conflict climbs towards it, and the resolution comes down from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Gothic Literature · Chapter 6: Planning, drafting and the assessment</dc:title>
  <dc:subject>English Literature · Year 9</dc:subject>
  <dc:creator>Dr Vitor Merissi de Carvalho</dc:creator>
  <cp:lastModifiedBy>Dr Vitor Merissi de Carvalho</cp:lastModifiedBy>
  <cp:revision>1</cp:revision>
  <dcterms:created xsi:type="dcterms:W3CDTF">2026-10-19T16:22:38Z</dcterms:created>
  <dcterms:modified xsi:type="dcterms:W3CDTF">2026-10-19T16:22:38Z</dcterms:modified>
</cp:coreProperties>
</file>