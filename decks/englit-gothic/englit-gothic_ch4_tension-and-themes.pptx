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142786-8bb0-726f-b25b-67e77f9d0369}">
          <p14:sldIdLst>
            <p14:sldId id="256"/>
          </p14:sldIdLst>
        </p14:section>
        <p14:section name="Gate" id="{7ce09b50-34f2-5b35-1dcf-46492bc7770b}">
          <p14:sldIdLst>
            <p14:sldId id="257"/>
            <p14:sldId id="258"/>
          </p14:sldIdLst>
        </p14:section>
        <p14:section name="Pre-teach" id="{9ca84401-8317-861b-b835-6de5623c22cf}">
          <p14:sldIdLst>
            <p14:sldId id="259"/>
          </p14:sldIdLst>
        </p14:section>
        <p14:section name="Read-along" id="{531bb6f9-6b3d-63c7-c366-970df80d188e}">
          <p14:sldIdLst>
            <p14:sldId id="260"/>
            <p14:sldId id="261"/>
          </p14:sldIdLst>
        </p14:section>
        <p14:section name="Teach" id="{712ca464-34ba-531c-3472-df7f7df764fd}">
          <p14:sldIdLst>
            <p14:sldId id="262"/>
            <p14:sldId id="263"/>
            <p14:sldId id="264"/>
            <p14:sldId id="265"/>
            <p14:sldId id="266"/>
            <p14:sldId id="267"/>
          </p14:sldIdLst>
        </p14:section>
        <p14:section name="Routes" id="{4e814b7d-96d4-3ca6-bebc-add4e1f500be}">
          <p14:sldIdLst>
            <p14:sldId id="268"/>
            <p14:sldId id="269"/>
            <p14:sldId id="270"/>
            <p14:sldId id="271"/>
            <p14:sldId id="272"/>
            <p14:sldId id="273"/>
          </p14:sldIdLst>
        </p14:section>
        <p14:section name="Close" id="{0903bb9a-02c9-3417-e643-c3bb22bbbb03}">
          <p14:sldIdLst>
            <p14:sldId id="274"/>
          </p14:sldIdLst>
        </p14:section>
        <p14:section name="Answers" id="{326923be-5d5e-3288-dc2a-bd0a9d06212f}">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Tension, suspense and the big ideas. This chapter separates tension from suspense, shows you the techniques that build both, and names the themes that run through every Gothic story.
This deck covers the department's lessons: 7 (Suspense and tension: Is there a difference between tension and suspense?); 8 (Themes: What are the common themes in Gothic literature?).
Read the big question aloud: "What makes a story Gothic, and how can you use the conventions of the genre to write a Gothic narrative of your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definition matches SUSPENSE as your lesson defined it?  →  B   Anticipation or worry about what is going to happen next
2. Being locked in with no way out is the Gothic theme of ___.  →  entrapment
3. In the red-room passage, what does the repeated colour red suggest?  →  B   Blood, horror and death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Anticipation or worry about what is going to happen next. Suspense is about waiting: the reader anticipates what comes next. Tension is the stress of an uncertain outcome.
2. entrapment. Entrapment is being trapped. Jane in the red-room and Harker in the castle are both examples.
3. B   Blood, horror and death. Your lesson called this a lexical chain: red, crimson, damask. In a Gothic text it points to blood and death, and the room is where Mr Reed died.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tension: the stress you feel when you do not know how things will turn out. Example: "The tension grew as the footsteps came closer."
• suspense: the worry of waiting to find out what happens next. Example: "The writer builds suspense by not opening the door yet."
• theme: a big idea a story explores. Example: "Fear and madness are themes of Gothic stories."
• entrapment: being trapped with no way out. Example: "The locked room is a symbol of entrapment."
• dread: a heavy fear of something that is coming. Example: "A sense of dread filled the empty house."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Gothic writers want you to feel two things.
2. The first is tension.
3. Tension is stress, because you do not know how things will end.
4. The second is suspense.
5. Suspense is worry about what happens next.
6. Writers build them with short sentences and delays.
7. They hint at danger before it arrives.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Gothic stories also share big ideas, called themes.
9. The themes include fear, death, madness and isolation.
10. Another theme is entrapment: being locked in.
11. In Jane Eyre, a girl is locked in a red room.
12. The red reminds us of blood.
13. She sees a ghostly figure in the mirror: herself.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Tension or suspense?. Say it in your own words, then check understanding with a quick question: ask a pupil from the pre-teach group first, since they met these words and ideas before the lesson. Pupils try to recall before you re-explain.
Your lesson began with a question: is there a difference between tension and suspense? There is, and it is worth knowing. Tension is a feeling of stress or nervousness created by a situation where the outcome is uncertain. Suspense is a feeling of anticipation or worry about what is going to happen next. Tension is the tight string; suspense is waiting for it to snap.
Jonathan Harker's journal in Dracula is tension. He knows he is a prisoner. He does not know what the Count will do, and his nerves are wearing through. Poe's narrator riding towards the House of Usher is suspense. He stops to ask himself what it is about the house that unnerves him, and he cannot answer, so the reader leans forward, waiting.
Most good Gothic scenes use both. The character is under pressure (tension), and the reader is waiting for the moment it breaks (suspense). When you write, ask which you are creating in each sentence.
Quotation: "The castle is a veritable prison, and I am a prisoner!" (Stoker, Dracula (1897), chapter 2). Read it aloud; ask what it shows.
Tip: ‘Veritable’ means ‘real, true’. Harker is insisting that this is not a metaphor. The castle really is a prison.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Techniques that build both. Say it in your own words, then check understanding with a quick question: ask a pupil from the pre-teach group first, since they met these words and ideas before the lesson. Pupils try to recall before you re-explain.
Your lesson gave you a word bank: for tension, words like prison, sinking, shadow, danger and dread; for suspense, words like dull, dark, desolate, bleak, vacant, decayed and shadowy. Notice that tension words are about pressure and threat, while suspense words slow things down and empty them out.
Beyond vocabulary, there are structural tools. Vary your sentence lengths: a run of long sentences followed by one short one makes the short one hit. Delay: describe three things the character notices before they look at the thing that matters. Foreshadow: plant a small detail early that will matter later. Control the pacing: slow down for suspense, speed up for tension. And stay implicit: a shadow that moves is more frightening than the word ‘monster’.
Worked example — model it step by step, thinking aloud: Build suspense in three sentences about a locked door, then release it into tension. (1) Sentence 1, long and slow: describe the corridor, the dust, the one door with no dust on its handle. (2) Sentence 2, delay: the character notices three ordinary things before touching the handle. (3) Sentence 3, short: the handle turns from the other side. Answer: The corridor was thick with dust, except for the handle of the last door, which shone. She noticed the cold, the smell of damp, the single footprint that was not hers. Then the handle turned..
Quotation: "What was it—I paused to think—what was it that so unnerved me in the contemplation of the House of Usher?" (Poe, The Fall of the House of Usher (1839)). Read it aloud; ask what it shows.
Tip: Poe's narrator repeats ‘what was it’ and interrupts himself with dashes. The sentence stutters, so the reader stutters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Techniques that build both. Say it in your own words, then check understanding with a quick question: ask a pupil from the pre-teach group first, since they met these words and ideas before the lesson. Pupils try to recall before you re-explain.
Your lesson gave you a word bank: for tension, words like prison, sinking, shadow, danger and dread; for suspense, words like dull, dark, desolate, bleak, vacant, decayed and shadowy. Notice that tension words are about pressure and threat, while suspense words slow things down and empty them out.
Beyond vocabulary, there are structural tools. Vary your sentence lengths: a run of long sentences followed by one short one makes the short one hit. Delay: describe three things the character notices before they look at the thing that matters. Foreshadow: plant a small detail early that will matter later. Control the pacing: slow down for suspense, speed up for tension. And stay implicit: a shadow that moves is more frightening than the word ‘monster’.
Worked example — model it step by step, thinking aloud: Build suspense in three sentences about a locked door, then release it into tension. (1) Sentence 1, long and slow: describe the corridor, the dust, the one door with no dust on its handle. (2) Sentence 2, delay: the character notices three ordinary things before touching the handle. (3) Sentence 3, short: the handle turns from the other side. Answer: The corridor was thick with dust, except for the handle of the last door, which shone. She noticed the cold, the smell of damp, the single footprint that was not hers. Then the handle turned..
Quotation: "What was it—I paused to think—what was it that so unnerved me in the contemplation of the House of Usher?" (Poe, The Fall of the House of Usher (1839)). Read it aloud; ask what it shows.
Tip: Poe's narrator repeats ‘what was it’ and interrupts himself with dashes. The sentence stutters, so the reader stutters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Techniques that build both. Say it in your own words, then check understanding with a quick question: ask a pupil from the pre-teach group first, since they met these words and ideas before the lesson. Pupils try to recall before you re-explain.
Your lesson gave you a word bank: for tension, words like prison, sinking, shadow, danger and dread; for suspense, words like dull, dark, desolate, bleak, vacant, decayed and shadowy. Notice that tension words are about pressure and threat, while suspense words slow things down and empty them out.
Beyond vocabulary, there are structural tools. Vary your sentence lengths: a run of long sentences followed by one short one makes the short one hit. Delay: describe three things the character notices before they look at the thing that matters. Foreshadow: plant a small detail early that will matter later. Control the pacing: slow down for suspense, speed up for tension. And stay implicit: a shadow that moves is more frightening than the word ‘monster’.
Worked example — model it step by step, thinking aloud: Build suspense in three sentences about a locked door, then release it into tension. (1) Sentence 1, long and slow: describe the corridor, the dust, the one door with no dust on its handle. (2) Sentence 2, delay: the character notices three ordinary things before touching the handle. (3) Sentence 3, short: the handle turns from the other side. Answer: The corridor was thick with dust, except for the handle of the last door, which shone. She noticed the cold, the smell of damp, the single footprint that was not hers. Then the handle turned..
Quotation: "What was it—I paused to think—what was it that so unnerved me in the contemplation of the House of Usher?" (Poe, The Fall of the House of Usher (1839)). Read it aloud; ask what it shows.
Tip: Poe's narrator repeats ‘what was it’ and interrupts himself with dashes. The sentence stutters, so the reader stutters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themes of the Gothic. Say it in your own words, then check understanding with a quick question: ask a pupil from the pre-teach group first, since they met these words and ideas before the lesson. Pupils try to recall before you re-explain.
A theme is a big idea that a story explores, usually without naming it. Your lesson collected the themes you had met so far in the unit: madness, death, fear, physical danger, entrapment, guilt, the supernatural, appearance and reality, isolation, and the corruption of innocence.
Themes are suggested through details. A locked door suggests entrapment. A mirror that shows something wrong suggests appearance and reality. A child in a dark house suggests the corruption of innocence. When you write, choose one or two themes for a scene and let your details carry them. A reader who can guess your theme without being told has been shown, not told.
At GCSE you will be asked how writers present ideas. Learning to spot a theme from its details now, and to plant one in your own writing, is exactly that skill.
Tip: Make a two-column list for your own story: theme on the left, three details that suggest it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red-room: Jane Eyre. Say it in your own words, then check understanding with a quick question: ask a pupil from the pre-teach group first, since they met these words and ideas before the lesson. Pupils try to recall before you re-explain.
In Charlotte Brontë's Jane Eyre (1847), ten-year-old Jane is punished by being locked in the red-room, the bedroom where her uncle died. Your lesson broke the passage into three parts. In the first, Brontë describes the room: a huge bed on pillars of mahogany, curtains of deep red damask, a red carpet, a crimson tablecloth, and, rising out of the shadows, white mattresses and a white chair that looks like a pale throne.
The lexical chain of red, that is, the cluster of words that all mean red, suggests blood, horror and death. The white suggests innocence, and Jane's innocence is being damaged by what the adults do to her. The furniture is so large that it overwhelms a small child, which adds fear. The room has secrets: a drawer of jewels and a picture of the dead man.
In the third part, Jane checks whether the door is locked. It is: no jail was ever more secure. That is entrapment. Then she sees herself in the mirror, white-faced with glittering eyes of fear, and takes herself for a spirit. In one passage Brontë gives you entrapment, fear, death, the supernatural, appearance and reality and the corruption of innocence.
Quotation: "no jail was ever more secure" (C. Brontë, Jane Eyre (1847), chapter 2). Read it aloud; ask what it shows.
Tip: When a narrator mistakes their own reflection for a ghost, ask what has happened to their sense of who they are. That is where the theme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Technique and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technique to the effect it has on the reader.
Support — work through the steps with the group: (1) For each technique, ask: does it slow the reader down or speed them up? (2) Slowing down with delay or detail builds suspense; speeding up builds tension. (3) Two techniques are about what is NOT said: the planted detail and the thing left unnamed.
Parallel worked example for Support (model it, do not give the task answer): Practice: what is the effect of ending a chapter at the moment the door opens, before we see who is there? The reader is made to wait.; Waiting is suspense.. Answer: It creates suspense: the reader turns the page to find out what happens next..
Core — reveal the hint only on request: Think about speed. Two of these slow the story down, one speeds it up, one stops it dead, and one hides something.
Stretch — no help; when finished: Write five sentences, each using one of the five techniques, in a single scene. Label each. Then say which one you would cut if you could keep only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Technique and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technique to the effect it has on the reader.
Support — work through the steps with the group: (1) For each technique, ask: does it slow the reader down or speed them up? (2) Slowing down with delay or detail builds suspense; speeding up builds tension. (3) Two techniques are about what is NOT said: the planted detail and the thing left unnamed.
Parallel worked example for Support (model it, do not give the task answer): Practice: what is the effect of ending a chapter at the moment the door opens, before we see who is there? The reader is made to wait.; Waiting is suspense.. Answer: It creates suspense: the reader turns the page to find out what happens next..
Core — reveal the hint only on request: Think about speed. Two of these slow the story down, one speeds it up, one stops it dead, and one hides something.
Stretch — no help; when finished: Write five sentences, each using one of the five techniques, in a single scene. Label each. Then say which one you would cut if you could keep only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Technique and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technique to the effect it has on the reader.
Support — work through the steps with the group: (1) For each technique, ask: does it slow the reader down or speed them up? (2) Slowing down with delay or detail builds suspense; speeding up builds tension. (3) Two techniques are about what is NOT said: the planted detail and the thing left unnamed.
Parallel worked example for Support (model it, do not give the task answer): Practice: what is the effect of ending a chapter at the moment the door opens, before we see who is there? The reader is made to wait.; Waiting is suspense.. Answer: It creates suspense: the reader turns the page to find out what happens next..
Core — reveal the hint only on request: Think about speed. Two of these slow the story down, one speeds it up, one stops it dead, and one hides something.
Stretch — no help; when finished: Write five sentences, each using one of the five techniques, in a single scene. Label each. Then say which one you would cut if you could keep only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Technique and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technique to the effect it has on the reader.
Support — work through the steps with the group: (1) For each technique, ask: does it slow the reader down or speed them up? (2) Slowing down with delay or detail builds suspense; speeding up builds tension. (3) Two techniques are about what is NOT said: the planted detail and the thing left unnamed.
Parallel worked example for Support (model it, do not give the task answer): Practice: what is the effect of ending a chapter at the moment the door opens, before we see who is there? The reader is made to wait.; Waiting is suspense.. Answer: It creates suspense: the reader turns the page to find out what happens next..
Core — reveal the hint only on request: Think about speed. Two of these slow the story down, one speeds it up, one stops it dead, and one hides something.
Stretch — no help; when finished: Write five sentences, each using one of the five techniques, in a single scene. Label each. Then say which one you would cut if you could keep only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Write a scene with tension and suspense.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character alone in an old house hears a sound from a room that has been locked for years. Write a short Gothic scene of eight to ten sentences that creates both tension and suspense.
Support — work through the steps with the group: (1) Open with the sound, then stop and describe the silence around it (suspense). (2) Give one detail of the character's body that shows strain: hands, breath, counting steps (tension). (3) Delay the door: three ordinary details before the handle. (4) End on an action by the thing behind the door, never on what it is.
Parallel worked example for Support (model it, do not give the task answer): Practice: write three sentences in which a character waits for a knock to come again. Sentence 1: the first knock, and what the character was doing.; Sentence 2: the silence, described as if it were a thing.; Sentence 3: short. The knock, or something instead of it.. Answer: The knock came while he was still laughing at something on the radio. The silence afterwards was so complete that he could hear the clock in the next room. Then the letterbox lifted..
Core — reveal the hint only on request: Suspense is what the reader waits for; tension is what the character feels in their body. Make sure each has at least two sentences.
Stretch — no help; when finished: Rewrite your scene so that it contains no sounds at all, only sight and touch. Which version is more frightening, and what does that tell you about the Gothic use of strange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Write a scene with tension and suspense.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character alone in an old house hears a sound from a room that has been locked for years. Write a short Gothic scene of eight to ten sentences that creates both tension and suspense.
Support — work through the steps with the group: (1) Open with the sound, then stop and describe the silence around it (suspense). (2) Give one detail of the character's body that shows strain: hands, breath, counting steps (tension). (3) Delay the door: three ordinary details before the handle. (4) End on an action by the thing behind the door, never on what it is.
Parallel worked example for Support (model it, do not give the task answer): Practice: write three sentences in which a character waits for a knock to come again. Sentence 1: the first knock, and what the character was doing.; Sentence 2: the silence, described as if it were a thing.; Sentence 3: short. The knock, or something instead of it.. Answer: The knock came while he was still laughing at something on the radio. The silence afterwards was so complete that he could hear the clock in the next room. Then the letterbox lifted..
Core — reveal the hint only on request: Suspense is what the reader waits for; tension is what the character feels in their body. Make sure each has at least two sentences.
Stretch — no help; when finished: Rewrite your scene so that it contains no sounds at all, only sight and touch. Which version is more frightening, and what does that tell you about the Gothic use of strange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Read this sentence: ‘The door was bolted from the outside, and for the ninth time that day she counted the bricks in the wall.’ Which Gothic theme does it suggest most strongly?
Answer: A   Entrapment. A door bolted from the outside is the clearest signal of entrapment. The counted bricks add a hint of madness, but nothing in the sentence is supernatural, deceptive or about innocence.
Source of this question: module 3 task ("Name the theme")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Technique and effect. Reveal the answer; pupils mark their own work in a different colour, then read the "why" together. Same destination for every lane, so one answer serves the whole class.
Answer: A one-word sentence after three long ones  →  E  Jolts the reader and freezes a single moment; Describing three ordinary things before the character looks at the door  →  B  Delays the reveal, so suspense builds; A small detail planted early that matters later  →  D  Foreshadowing: plants a question the reader wants answered; Short, quick sentences during a chase  →  C  Speeds up the pacing, so tension rises; A shadow that moves instead of a monster that is named  →  A  Keeps the horror implicit, so the reader imagines something worse
Why: Suspense comes from slowing down and withholding: delay, foreshadowing, the unnamed. Tension comes from pressure and speed: quick sentences, the sudden short one. Good Gothic scenes alternate between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Write a scene with tension and suspense. Reveal the answer; pupils mark their own work in a different colour, then read the "why" together. Same destination for every lane, so one answer serves the whole class.
Answer: I use advanced vocabulary from the tension and suspense word banks, chosen for precision.; I vary my sentence structures and lengths, including at least one very short sentence.; I use at least two devices such as foreshadowing, imagery or pacing.; I keep the horror implicit: I suggest rather than state what is behind the door.; I create suspense (making the reader wait) AND tension (making the character's situation feel strained).
Why: A scene that creates both feelings slows down for suspense (silence, delay, counting) and tightens for tension (the warm handle, the short sentence). Ending on an implicit action keeps the reader imagining.
Model answer: The house had been quiet for so long that the sound seemed rude. It came again: a slow scrape, like a chair being dragged by someone who did not want to be heard. Marta set down her candle. The door at the end of the landing had been locked since before she was born, and the key, her aunt had always said, was lost. She counted the steps towards it. Eleven. The brass handle was warm. She waited for the scrape a third time, and when it did not come, that was worse. Then, very gently, something on the other side tried the handle too.
Success criteria: I use advanced vocabulary from the tension and suspense word banks, chosen for precision.; I vary my sentence structures and lengths, including at least one very short sentence.; I use at least two devices such as foreshadowing, imagery or pacing.; I keep the horror implicit: I suggest rather than state what is behind the door.; I create suspense (making the reader wait) AND tension (making the character's situation feel strained).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Write a scene with tension and suspense. Reveal the answer; pupils mark their own work in a different colour, then read the "why" together. Same destination for every lane, so one answer serves the whole class.
Answer: I use advanced vocabulary from the tension and suspense word banks, chosen for precision.; I vary my sentence structures and lengths, including at least one very short sentence.; I use at least two devices such as foreshadowing, imagery or pacing.; I keep the horror implicit: I suggest rather than state what is behind the door.; I create suspense (making the reader wait) AND tension (making the character's situation feel strained).
Why: A scene that creates both feelings slows down for suspense (silence, delay, counting) and tightens for tension (the warm handle, the short sentence). Ending on an implicit action keeps the reader imagining.
Model answer: The house had been quiet for so long that the sound seemed rude. It came again: a slow scrape, like a chair being dragged by someone who did not want to be heard. Marta set down her candle. The door at the end of the landing had been locked since before she was born, and the key, her aunt had always said, was lost. She counted the steps towards it. Eleven. The brass handle was warm. She waited for the scrape a third time, and when it did not come, that was worse. Then, very gently, something on the other side tried the handle too.
Success criteria: I use advanced vocabulary from the tension and suspense word banks, chosen for precision.; I vary my sentence structures and lengths, including at least one very short sentence.; I use at least two devices such as foreshadowing, imagery or pacing.; I keep the horror implicit: I suggest rather than state what is behind the door.; I create suspense (making the reader wait) AND tension (making the character's situation feel strained).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Entrapment
Why: A door bolted from the outside is the clearest signal of entrapment. The counted bricks add a hint of madness, but nothing in the sentence is supernatural, deceptive or about innocence.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Gothic Literature · AQA KS3 → 8702</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Tension, suspense and the big ideas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FEBF2"/>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Suspense and tension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Themes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story Gothic, and how can you use the conventions of the genre to write a Gothic narrative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definition matches SUSPENSE as your lesson defined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Stress or nervousness because the outcome is uncertain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Anticipation or worry about what is going to happen next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sudden shock that makes the reader jump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sad or frightening ending</a:t>
            </a:r>
            <a:endParaRPr lang="en-US" sz="1800" dirty="0"/>
          </a:p>
        </p:txBody>
      </p:sp>
      <p:sp>
        <p:nvSpPr>
          <p:cNvPr id="12" name="card"/>
          <p:cNvSpPr/>
          <p:nvPr/>
        </p:nvSpPr>
        <p:spPr>
          <a:xfrm>
            <a:off x="4777626" y="1389888"/>
            <a:ext cx="2636444" cy="4754880"/>
          </a:xfrm>
          <a:prstGeom prst="roundRect">
            <a:avLst>
              <a:gd name="adj" fmla="val 2081"/>
            </a:avLst>
          </a:prstGeom>
          <a:solidFill>
            <a:srgbClr val="F4F1F6"/>
          </a:solidFill>
          <a:ln w="12700">
            <a:solidFill>
              <a:srgbClr val="C6BAD0"/>
            </a:solidFill>
            <a:prstDash val="solid"/>
          </a:ln>
        </p:spPr>
      </p:sp>
      <p:sp>
        <p:nvSpPr>
          <p:cNvPr id="13" name="card-hex"/>
          <p:cNvSpPr/>
          <p:nvPr/>
        </p:nvSpPr>
        <p:spPr>
          <a:xfrm>
            <a:off x="4960506" y="1572768"/>
            <a:ext cx="640080" cy="554309"/>
          </a:xfrm>
          <a:prstGeom prst="hexagon">
            <a:avLst/>
          </a:prstGeom>
          <a:solidFill>
            <a:srgbClr val="5B3A7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Being locked in with no way out is the Gothic theme of ___.</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entrapment  ·  isolation  ·  guilt</a:t>
            </a:r>
            <a:endParaRPr lang="en-US" sz="2400" dirty="0"/>
          </a:p>
        </p:txBody>
      </p:sp>
      <p:sp>
        <p:nvSpPr>
          <p:cNvPr id="17" name="card"/>
          <p:cNvSpPr/>
          <p:nvPr/>
        </p:nvSpPr>
        <p:spPr>
          <a:xfrm>
            <a:off x="7688389" y="1389888"/>
            <a:ext cx="3954666" cy="4754880"/>
          </a:xfrm>
          <a:prstGeom prst="roundRect">
            <a:avLst>
              <a:gd name="adj" fmla="val 1387"/>
            </a:avLst>
          </a:prstGeom>
          <a:solidFill>
            <a:srgbClr val="F4F1F6"/>
          </a:solidFill>
          <a:ln w="12700">
            <a:solidFill>
              <a:srgbClr val="C6BAD0"/>
            </a:solidFill>
            <a:prstDash val="solid"/>
          </a:ln>
        </p:spPr>
      </p:sp>
      <p:sp>
        <p:nvSpPr>
          <p:cNvPr id="18" name="card-hex"/>
          <p:cNvSpPr/>
          <p:nvPr/>
        </p:nvSpPr>
        <p:spPr>
          <a:xfrm>
            <a:off x="7871269" y="1572768"/>
            <a:ext cx="640080" cy="554309"/>
          </a:xfrm>
          <a:prstGeom prst="hexagon">
            <a:avLst/>
          </a:prstGeom>
          <a:solidFill>
            <a:srgbClr val="5B3A7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red-room passage, what does the repeated colour red suggest?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Warmth and comfort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Blood, horror and death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Wealth and celebration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Autumn leaves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Anticipation or worry about what is going to happen next</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Suspense is about waiting: the reader anticipates what comes next. Tension is the stress of an uncertain outcome.</a:t>
            </a:r>
            <a:endParaRPr lang="en-US" sz="1800" dirty="0"/>
          </a:p>
        </p:txBody>
      </p:sp>
      <p:sp>
        <p:nvSpPr>
          <p:cNvPr id="14" name="card"/>
          <p:cNvSpPr/>
          <p:nvPr/>
        </p:nvSpPr>
        <p:spPr>
          <a:xfrm>
            <a:off x="4777626" y="1389888"/>
            <a:ext cx="2636444" cy="4754880"/>
          </a:xfrm>
          <a:prstGeom prst="roundRect">
            <a:avLst>
              <a:gd name="adj" fmla="val 2081"/>
            </a:avLst>
          </a:prstGeom>
          <a:solidFill>
            <a:srgbClr val="F4F1F6"/>
          </a:solidFill>
          <a:ln w="12700">
            <a:solidFill>
              <a:srgbClr val="C6BAD0"/>
            </a:solidFill>
            <a:prstDash val="solid"/>
          </a:ln>
        </p:spPr>
      </p:sp>
      <p:sp>
        <p:nvSpPr>
          <p:cNvPr id="15" name="card-hex"/>
          <p:cNvSpPr/>
          <p:nvPr/>
        </p:nvSpPr>
        <p:spPr>
          <a:xfrm>
            <a:off x="4960506" y="1572768"/>
            <a:ext cx="640080" cy="554309"/>
          </a:xfrm>
          <a:prstGeom prst="hexagon">
            <a:avLst/>
          </a:prstGeom>
          <a:solidFill>
            <a:srgbClr val="5B3A7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entrapment</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Being locked in with no way out is the Gothic theme of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Entrapment is being trapped. Jane in the red-room and Harker in the castle are both examples.</a:t>
            </a:r>
            <a:endParaRPr lang="en-US" sz="1800" dirty="0"/>
          </a:p>
        </p:txBody>
      </p:sp>
      <p:sp>
        <p:nvSpPr>
          <p:cNvPr id="21" name="card"/>
          <p:cNvSpPr/>
          <p:nvPr/>
        </p:nvSpPr>
        <p:spPr>
          <a:xfrm>
            <a:off x="7688389" y="1389888"/>
            <a:ext cx="3954666" cy="4754880"/>
          </a:xfrm>
          <a:prstGeom prst="roundRect">
            <a:avLst>
              <a:gd name="adj" fmla="val 1387"/>
            </a:avLst>
          </a:prstGeom>
          <a:solidFill>
            <a:srgbClr val="F4F1F6"/>
          </a:solidFill>
          <a:ln w="12700">
            <a:solidFill>
              <a:srgbClr val="C6BAD0"/>
            </a:solidFill>
            <a:prstDash val="solid"/>
          </a:ln>
        </p:spPr>
      </p:sp>
      <p:sp>
        <p:nvSpPr>
          <p:cNvPr id="22" name="card-hex"/>
          <p:cNvSpPr/>
          <p:nvPr/>
        </p:nvSpPr>
        <p:spPr>
          <a:xfrm>
            <a:off x="7871269" y="1572768"/>
            <a:ext cx="640080" cy="554309"/>
          </a:xfrm>
          <a:prstGeom prst="hexagon">
            <a:avLst/>
          </a:prstGeom>
          <a:solidFill>
            <a:srgbClr val="5B3A7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7962709" y="2428829"/>
            <a:ext cx="3406026"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Blood, horror and death</a:t>
            </a:r>
            <a:endParaRPr lang="en-US" sz="2200" dirty="0"/>
          </a:p>
        </p:txBody>
      </p:sp>
      <p:sp>
        <p:nvSpPr>
          <p:cNvPr id="27" name="card-body"/>
          <p:cNvSpPr txBox="1"/>
          <p:nvPr/>
        </p:nvSpPr>
        <p:spPr>
          <a:xfrm>
            <a:off x="7871269" y="3152729"/>
            <a:ext cx="3588906"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the red-room passage, what does the repeated colour red suggest?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Your lesson called this a lexical chain: red, crimson, damask. In a Gothic text it points to blood and death, and the room is where Mr Reed died.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tension</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stress you feel when you do not know how things will turn out</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tension grew as the footsteps came closer.</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suspense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worry of waiting to find out what happens next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writer builds suspense by not opening the door yet.</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theme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big idea a story explores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Fear and madness are themes of Gothic stories.</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entrapment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being trapped with no way out</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locked room is a symbol of entrapment.</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dread</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heavy fear of something that is coming</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sense of dread filled the empty house.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Gothic writers want you to feel two things.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first is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tension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Tension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stress, because you do not know how things will end.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second is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suspense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Suspense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worry about what happens next.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Writers build them with short sentences and delays.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hint at danger before it arrives.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Gothic stories also share big ideas, called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themes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themes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include fear, death, madness and isolation.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Another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theme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entrapment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being locked 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Jane Eyre, a girl is locked in a red room.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red reminds us of blood.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sees a ghostly figure in the mirror: herself.</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Tension or suspense?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‘Veritable’ means ‘real, true’. Harker is insisting that this is not a metaphor. The castle really is a prison.</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The castle is a veritable prison, and I am a prisoner!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Stoker, Dracula (1897), chapter 2</a:t>
            </a:r>
            <a:endParaRPr lang="en-US" sz="2600" dirty="0"/>
          </a:p>
        </p:txBody>
      </p:sp>
      <p:sp>
        <p:nvSpPr>
          <p:cNvPr id="14" name="bullet-card"/>
          <p:cNvSpPr/>
          <p:nvPr/>
        </p:nvSpPr>
        <p:spPr>
          <a:xfrm>
            <a:off x="548640" y="1389888"/>
            <a:ext cx="5074920" cy="1038183"/>
          </a:xfrm>
          <a:prstGeom prst="roundRect">
            <a:avLst>
              <a:gd name="adj" fmla="val 7046"/>
            </a:avLst>
          </a:prstGeom>
          <a:solidFill>
            <a:srgbClr val="F2EFF4"/>
          </a:solidFill>
          <a:ln/>
        </p:spPr>
      </p:sp>
      <p:sp>
        <p:nvSpPr>
          <p:cNvPr id="15" name="bullet-hex"/>
          <p:cNvSpPr/>
          <p:nvPr/>
        </p:nvSpPr>
        <p:spPr>
          <a:xfrm>
            <a:off x="676656" y="1742687"/>
            <a:ext cx="384048" cy="332586"/>
          </a:xfrm>
          <a:prstGeom prst="hexagon">
            <a:avLst/>
          </a:prstGeom>
          <a:solidFill>
            <a:srgbClr val="5B3A7A"/>
          </a:solidFill>
          <a:ln/>
        </p:spPr>
      </p:sp>
      <p:sp>
        <p:nvSpPr>
          <p:cNvPr id="16" name="bullet"/>
          <p:cNvSpPr txBox="1"/>
          <p:nvPr/>
        </p:nvSpPr>
        <p:spPr>
          <a:xfrm>
            <a:off x="1143000" y="1389888"/>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began with a question: is there a difference between tension and suspense?</a:t>
            </a:r>
            <a:endParaRPr lang="en-US" sz="1800" dirty="0"/>
          </a:p>
        </p:txBody>
      </p:sp>
      <p:sp>
        <p:nvSpPr>
          <p:cNvPr id="17" name="bullet-card"/>
          <p:cNvSpPr/>
          <p:nvPr/>
        </p:nvSpPr>
        <p:spPr>
          <a:xfrm>
            <a:off x="548640" y="2574375"/>
            <a:ext cx="5074920" cy="759291"/>
          </a:xfrm>
          <a:prstGeom prst="roundRect">
            <a:avLst>
              <a:gd name="adj" fmla="val 9634"/>
            </a:avLst>
          </a:prstGeom>
          <a:solidFill>
            <a:srgbClr val="F2EFF4"/>
          </a:solidFill>
          <a:ln/>
        </p:spPr>
      </p:sp>
      <p:sp>
        <p:nvSpPr>
          <p:cNvPr id="18" name="bullet-hex"/>
          <p:cNvSpPr/>
          <p:nvPr/>
        </p:nvSpPr>
        <p:spPr>
          <a:xfrm>
            <a:off x="676656" y="2787727"/>
            <a:ext cx="384048" cy="332586"/>
          </a:xfrm>
          <a:prstGeom prst="hexagon">
            <a:avLst/>
          </a:prstGeom>
          <a:solidFill>
            <a:srgbClr val="B8862B"/>
          </a:solidFill>
          <a:ln/>
        </p:spPr>
      </p:sp>
      <p:sp>
        <p:nvSpPr>
          <p:cNvPr id="19" name="bullet"/>
          <p:cNvSpPr txBox="1"/>
          <p:nvPr/>
        </p:nvSpPr>
        <p:spPr>
          <a:xfrm>
            <a:off x="1143000" y="2574375"/>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Jonathan Harker's journal in Dracula is tension. He knows he is a prisoner.</a:t>
            </a:r>
            <a:endParaRPr lang="en-US" sz="1800" dirty="0"/>
          </a:p>
        </p:txBody>
      </p:sp>
      <p:sp>
        <p:nvSpPr>
          <p:cNvPr id="20" name="bullet-card"/>
          <p:cNvSpPr/>
          <p:nvPr/>
        </p:nvSpPr>
        <p:spPr>
          <a:xfrm>
            <a:off x="548640" y="3479969"/>
            <a:ext cx="5074920" cy="1317075"/>
          </a:xfrm>
          <a:prstGeom prst="roundRect">
            <a:avLst>
              <a:gd name="adj" fmla="val 5554"/>
            </a:avLst>
          </a:prstGeom>
          <a:solidFill>
            <a:srgbClr val="F2EFF4"/>
          </a:solidFill>
          <a:ln/>
        </p:spPr>
      </p:sp>
      <p:sp>
        <p:nvSpPr>
          <p:cNvPr id="21" name="bullet-hex"/>
          <p:cNvSpPr/>
          <p:nvPr/>
        </p:nvSpPr>
        <p:spPr>
          <a:xfrm>
            <a:off x="676656" y="3972214"/>
            <a:ext cx="384048" cy="332586"/>
          </a:xfrm>
          <a:prstGeom prst="hexagon">
            <a:avLst/>
          </a:prstGeom>
          <a:solidFill>
            <a:srgbClr val="5B3A7A"/>
          </a:solidFill>
          <a:ln/>
        </p:spPr>
      </p:sp>
      <p:sp>
        <p:nvSpPr>
          <p:cNvPr id="22" name="bullet"/>
          <p:cNvSpPr txBox="1"/>
          <p:nvPr/>
        </p:nvSpPr>
        <p:spPr>
          <a:xfrm>
            <a:off x="1143000" y="3479969"/>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Most good Gothic scenes use both. The character is under pressure (tension), and the reader is waiting for the moment it breaks (suspense).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Techniques that build both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Poe's narrator repeats ‘what was it’ and interrupts himself with dashes. The sentence stutters, so the reader stutters too.</a:t>
            </a:r>
            <a:endParaRPr lang="en-US" sz="1800" dirty="0"/>
          </a:p>
        </p:txBody>
      </p:sp>
      <p:sp>
        <p:nvSpPr>
          <p:cNvPr id="11" name="point-card"/>
          <p:cNvSpPr/>
          <p:nvPr/>
        </p:nvSpPr>
        <p:spPr>
          <a:xfrm>
            <a:off x="548640" y="1389888"/>
            <a:ext cx="5410048" cy="3686048"/>
          </a:xfrm>
          <a:prstGeom prst="roundRect">
            <a:avLst>
              <a:gd name="adj" fmla="val 1488"/>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gave you a word bank: for tension, words like prison, sinking, shadow, danger and dread; for suspense, words like dull, dark, desolate, bleak, vacant, decayed and shadowy.</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Beyond vocabulary, there are structural tools. Vary your sentence lengths: a run of long sentences followed by one short one makes the short one hit.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Worked example: Techniques that build both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EB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Build suspense in three sentences about a locked door, then release it into tension.</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A593B6"/>
            </a:solidFill>
            <a:prstDash val="solid"/>
          </a:ln>
        </p:spPr>
      </p:sp>
      <p:sp>
        <p:nvSpPr>
          <p:cNvPr id="10" name="step-hex"/>
          <p:cNvSpPr/>
          <p:nvPr/>
        </p:nvSpPr>
        <p:spPr>
          <a:xfrm>
            <a:off x="685800" y="2424684"/>
            <a:ext cx="530352" cy="459285"/>
          </a:xfrm>
          <a:prstGeom prst="hexagon">
            <a:avLst/>
          </a:prstGeom>
          <a:solidFill>
            <a:srgbClr val="5B3A7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Sentence 1, long and slow: describe the corridor, the dust, the one door with no dust on its handle.</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A593B6"/>
            </a:solidFill>
            <a:prstDash val="solid"/>
          </a:ln>
        </p:spPr>
      </p:sp>
      <p:sp>
        <p:nvSpPr>
          <p:cNvPr id="15" name="step-hex"/>
          <p:cNvSpPr/>
          <p:nvPr/>
        </p:nvSpPr>
        <p:spPr>
          <a:xfrm>
            <a:off x="4521098" y="2424684"/>
            <a:ext cx="530352" cy="459285"/>
          </a:xfrm>
          <a:prstGeom prst="hexagon">
            <a:avLst/>
          </a:prstGeom>
          <a:solidFill>
            <a:srgbClr val="5B3A7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Sentence 2, delay: the character notices three ordinary things before touching the handle.</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A593B6"/>
            </a:solidFill>
            <a:prstDash val="solid"/>
          </a:ln>
        </p:spPr>
      </p:sp>
      <p:sp>
        <p:nvSpPr>
          <p:cNvPr id="20" name="step-hex"/>
          <p:cNvSpPr/>
          <p:nvPr/>
        </p:nvSpPr>
        <p:spPr>
          <a:xfrm>
            <a:off x="8356397" y="2424684"/>
            <a:ext cx="530352" cy="459285"/>
          </a:xfrm>
          <a:prstGeom prst="hexagon">
            <a:avLst/>
          </a:prstGeom>
          <a:solidFill>
            <a:srgbClr val="5B3A7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Sentence 3, short: the handle turns from the other side.</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corridor was thick with dust, except for the handle of the last door, which shone. She noticed the cold, the smell of damp, the single footprint that was not hers. Then the handle turned.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Techniques that build both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EFEBF2"/>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What was it—I paused to think—what was it that so unnerved me in the contemplation of the House of Usher?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Poe, The Fall of the House of Usher (1839)</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themes of the Gothic</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Make a two-column list for your own story: theme on the left, three details that suggest it on the right.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theme is a big idea that a story explores, usually without naming 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Themes are suggested through details. A locked door suggests entrapment.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EBF2"/>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GCSE you will be asked how writers present ideas.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Reading the red-room: Jane Eyre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narrator mistakes their own reflection for a ghost, ask what has happened to their sense of who they are. That is where the theme lives.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no jail was ever more secure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C. Brontë, Jane Eyre (1847), chapter 2</a:t>
            </a:r>
            <a:endParaRPr lang="en-US" sz="2600" dirty="0"/>
          </a:p>
        </p:txBody>
      </p:sp>
      <p:sp>
        <p:nvSpPr>
          <p:cNvPr id="14" name="bullet-card"/>
          <p:cNvSpPr/>
          <p:nvPr/>
        </p:nvSpPr>
        <p:spPr>
          <a:xfrm>
            <a:off x="548640" y="1389888"/>
            <a:ext cx="5074920" cy="1831848"/>
          </a:xfrm>
          <a:prstGeom prst="roundRect">
            <a:avLst>
              <a:gd name="adj" fmla="val 3993"/>
            </a:avLst>
          </a:prstGeom>
          <a:solidFill>
            <a:srgbClr val="F2EFF4"/>
          </a:solidFill>
          <a:ln/>
        </p:spPr>
      </p:sp>
      <p:sp>
        <p:nvSpPr>
          <p:cNvPr id="15" name="bullet-hex"/>
          <p:cNvSpPr/>
          <p:nvPr/>
        </p:nvSpPr>
        <p:spPr>
          <a:xfrm>
            <a:off x="676656" y="2139519"/>
            <a:ext cx="384048" cy="332586"/>
          </a:xfrm>
          <a:prstGeom prst="hexagon">
            <a:avLst/>
          </a:prstGeom>
          <a:solidFill>
            <a:srgbClr val="5B3A7A"/>
          </a:solidFill>
          <a:ln/>
        </p:spPr>
      </p:sp>
      <p:sp>
        <p:nvSpPr>
          <p:cNvPr id="16" name="bullet"/>
          <p:cNvSpPr txBox="1"/>
          <p:nvPr/>
        </p:nvSpPr>
        <p:spPr>
          <a:xfrm>
            <a:off x="1143000" y="1389888"/>
            <a:ext cx="4389120" cy="183184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Charlotte Brontë's Jane Eyre (1847), ten-year-old Jane is punished by being locked in the red-room, the bedroom where her uncle died.</a:t>
            </a:r>
            <a:endParaRPr lang="en-US" sz="2200" dirty="0"/>
          </a:p>
        </p:txBody>
      </p:sp>
      <p:sp>
        <p:nvSpPr>
          <p:cNvPr id="17" name="bullet-card"/>
          <p:cNvSpPr/>
          <p:nvPr/>
        </p:nvSpPr>
        <p:spPr>
          <a:xfrm>
            <a:off x="548640" y="3368040"/>
            <a:ext cx="5074920" cy="1150112"/>
          </a:xfrm>
          <a:prstGeom prst="roundRect">
            <a:avLst>
              <a:gd name="adj" fmla="val 6360"/>
            </a:avLst>
          </a:prstGeom>
          <a:solidFill>
            <a:srgbClr val="F2EFF4"/>
          </a:solidFill>
          <a:ln/>
        </p:spPr>
      </p:sp>
      <p:sp>
        <p:nvSpPr>
          <p:cNvPr id="18" name="bullet-hex"/>
          <p:cNvSpPr/>
          <p:nvPr/>
        </p:nvSpPr>
        <p:spPr>
          <a:xfrm>
            <a:off x="676656" y="3776803"/>
            <a:ext cx="384048" cy="332586"/>
          </a:xfrm>
          <a:prstGeom prst="hexagon">
            <a:avLst/>
          </a:prstGeom>
          <a:solidFill>
            <a:srgbClr val="B8862B"/>
          </a:solidFill>
          <a:ln/>
        </p:spPr>
      </p:sp>
      <p:sp>
        <p:nvSpPr>
          <p:cNvPr id="19" name="bullet"/>
          <p:cNvSpPr txBox="1"/>
          <p:nvPr/>
        </p:nvSpPr>
        <p:spPr>
          <a:xfrm>
            <a:off x="1143000" y="3368040"/>
            <a:ext cx="4389120" cy="115011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lexical chain of red, that is, the cluster of words that all mean red, suggests blood, horror and death.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Technique and effect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technique to the effect it has on the reader.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(1 of 2): Technique and effect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technique to the effect it has on the reader.</a:t>
            </a:r>
            <a:endParaRPr lang="en-US" sz="2400" dirty="0"/>
          </a:p>
        </p:txBody>
      </p:sp>
      <p:sp>
        <p:nvSpPr>
          <p:cNvPr id="11" name="match-card"/>
          <p:cNvSpPr/>
          <p:nvPr/>
        </p:nvSpPr>
        <p:spPr>
          <a:xfrm>
            <a:off x="777240" y="2468331"/>
            <a:ext cx="5135728" cy="989936"/>
          </a:xfrm>
          <a:prstGeom prst="roundRect">
            <a:avLst>
              <a:gd name="adj" fmla="val 7390"/>
            </a:avLst>
          </a:prstGeom>
          <a:solidFill>
            <a:srgbClr val="F2EFF4"/>
          </a:solidFill>
          <a:ln/>
        </p:spPr>
      </p:sp>
      <p:sp>
        <p:nvSpPr>
          <p:cNvPr id="12" name="match-hex"/>
          <p:cNvSpPr/>
          <p:nvPr/>
        </p:nvSpPr>
        <p:spPr>
          <a:xfrm>
            <a:off x="850392" y="2797007"/>
            <a:ext cx="384048" cy="332586"/>
          </a:xfrm>
          <a:prstGeom prst="hexagon">
            <a:avLst/>
          </a:prstGeom>
          <a:solidFill>
            <a:srgbClr val="5B3A7A"/>
          </a:solidFill>
          <a:ln/>
        </p:spPr>
      </p:sp>
      <p:sp>
        <p:nvSpPr>
          <p:cNvPr id="13" name="match-hex-label"/>
          <p:cNvSpPr txBox="1"/>
          <p:nvPr/>
        </p:nvSpPr>
        <p:spPr>
          <a:xfrm>
            <a:off x="850392" y="27970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one-word sentence after three long ones</a:t>
            </a:r>
            <a:endParaRPr lang="en-US" sz="2200" dirty="0"/>
          </a:p>
        </p:txBody>
      </p:sp>
      <p:sp>
        <p:nvSpPr>
          <p:cNvPr id="15" name="match-card"/>
          <p:cNvSpPr/>
          <p:nvPr/>
        </p:nvSpPr>
        <p:spPr>
          <a:xfrm>
            <a:off x="6278728" y="2468331"/>
            <a:ext cx="5135728" cy="989936"/>
          </a:xfrm>
          <a:prstGeom prst="roundRect">
            <a:avLst>
              <a:gd name="adj" fmla="val 7390"/>
            </a:avLst>
          </a:prstGeom>
          <a:solidFill>
            <a:srgbClr val="F6F0E6"/>
          </a:solidFill>
          <a:ln/>
        </p:spPr>
      </p:sp>
      <p:sp>
        <p:nvSpPr>
          <p:cNvPr id="16" name="match-hex"/>
          <p:cNvSpPr/>
          <p:nvPr/>
        </p:nvSpPr>
        <p:spPr>
          <a:xfrm>
            <a:off x="6351880" y="2797007"/>
            <a:ext cx="384048" cy="332586"/>
          </a:xfrm>
          <a:prstGeom prst="hexagon">
            <a:avLst/>
          </a:prstGeom>
          <a:solidFill>
            <a:srgbClr val="B8862B"/>
          </a:solidFill>
          <a:ln/>
        </p:spPr>
      </p:sp>
      <p:sp>
        <p:nvSpPr>
          <p:cNvPr id="17" name="match-hex-label"/>
          <p:cNvSpPr txBox="1"/>
          <p:nvPr/>
        </p:nvSpPr>
        <p:spPr>
          <a:xfrm>
            <a:off x="6351880" y="27970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Delays the reveal, so suspense builds</a:t>
            </a:r>
            <a:endParaRPr lang="en-US" sz="2200" dirty="0"/>
          </a:p>
        </p:txBody>
      </p:sp>
      <p:sp>
        <p:nvSpPr>
          <p:cNvPr id="19" name="match-card"/>
          <p:cNvSpPr/>
          <p:nvPr/>
        </p:nvSpPr>
        <p:spPr>
          <a:xfrm>
            <a:off x="777240" y="3549708"/>
            <a:ext cx="5135728" cy="1330804"/>
          </a:xfrm>
          <a:prstGeom prst="roundRect">
            <a:avLst>
              <a:gd name="adj" fmla="val 5497"/>
            </a:avLst>
          </a:prstGeom>
          <a:solidFill>
            <a:srgbClr val="F2EFF4"/>
          </a:solidFill>
          <a:ln/>
        </p:spPr>
      </p:sp>
      <p:sp>
        <p:nvSpPr>
          <p:cNvPr id="20" name="match-hex"/>
          <p:cNvSpPr/>
          <p:nvPr/>
        </p:nvSpPr>
        <p:spPr>
          <a:xfrm>
            <a:off x="850392" y="4048817"/>
            <a:ext cx="384048" cy="332586"/>
          </a:xfrm>
          <a:prstGeom prst="hexagon">
            <a:avLst/>
          </a:prstGeom>
          <a:solidFill>
            <a:srgbClr val="5B3A7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49708"/>
            <a:ext cx="4541368" cy="13308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Describing three ordinary things before the character looks at the door</a:t>
            </a:r>
            <a:endParaRPr lang="en-US" sz="2200" dirty="0"/>
          </a:p>
        </p:txBody>
      </p:sp>
      <p:sp>
        <p:nvSpPr>
          <p:cNvPr id="23" name="match-card"/>
          <p:cNvSpPr/>
          <p:nvPr/>
        </p:nvSpPr>
        <p:spPr>
          <a:xfrm>
            <a:off x="6278728" y="3549708"/>
            <a:ext cx="5135728" cy="1330804"/>
          </a:xfrm>
          <a:prstGeom prst="roundRect">
            <a:avLst>
              <a:gd name="adj" fmla="val 5497"/>
            </a:avLst>
          </a:prstGeom>
          <a:solidFill>
            <a:srgbClr val="F6F0E6"/>
          </a:solidFill>
          <a:ln/>
        </p:spPr>
      </p:sp>
      <p:sp>
        <p:nvSpPr>
          <p:cNvPr id="24" name="match-hex"/>
          <p:cNvSpPr/>
          <p:nvPr/>
        </p:nvSpPr>
        <p:spPr>
          <a:xfrm>
            <a:off x="6351880" y="4048817"/>
            <a:ext cx="384048" cy="332586"/>
          </a:xfrm>
          <a:prstGeom prst="hexagon">
            <a:avLst/>
          </a:prstGeom>
          <a:solidFill>
            <a:srgbClr val="B8862B"/>
          </a:solidFill>
          <a:ln/>
        </p:spPr>
      </p:sp>
      <p:sp>
        <p:nvSpPr>
          <p:cNvPr id="25"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549708"/>
            <a:ext cx="4541368" cy="13308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Foreshadowing: plants a question the reader wants answered</a:t>
            </a:r>
            <a:endParaRPr lang="en-US" sz="2200" dirty="0"/>
          </a:p>
        </p:txBody>
      </p:sp>
      <p:sp>
        <p:nvSpPr>
          <p:cNvPr id="27" name="match-card"/>
          <p:cNvSpPr/>
          <p:nvPr/>
        </p:nvSpPr>
        <p:spPr>
          <a:xfrm>
            <a:off x="777240" y="4971952"/>
            <a:ext cx="5135728" cy="989936"/>
          </a:xfrm>
          <a:prstGeom prst="roundRect">
            <a:avLst>
              <a:gd name="adj" fmla="val 7390"/>
            </a:avLst>
          </a:prstGeom>
          <a:solidFill>
            <a:srgbClr val="F2EFF4"/>
          </a:solidFill>
          <a:ln/>
        </p:spPr>
      </p:sp>
      <p:sp>
        <p:nvSpPr>
          <p:cNvPr id="28" name="match-hex"/>
          <p:cNvSpPr/>
          <p:nvPr/>
        </p:nvSpPr>
        <p:spPr>
          <a:xfrm>
            <a:off x="850392" y="5300627"/>
            <a:ext cx="384048" cy="332586"/>
          </a:xfrm>
          <a:prstGeom prst="hexagon">
            <a:avLst/>
          </a:prstGeom>
          <a:solidFill>
            <a:srgbClr val="5B3A7A"/>
          </a:solidFill>
          <a:ln/>
        </p:spPr>
      </p:sp>
      <p:sp>
        <p:nvSpPr>
          <p:cNvPr id="29" name="match-hex-label"/>
          <p:cNvSpPr txBox="1"/>
          <p:nvPr/>
        </p:nvSpPr>
        <p:spPr>
          <a:xfrm>
            <a:off x="850392" y="53006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71952"/>
            <a:ext cx="4541368"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small detail planted early that matters later</a:t>
            </a:r>
            <a:endParaRPr lang="en-US" sz="2200" dirty="0"/>
          </a:p>
        </p:txBody>
      </p:sp>
      <p:sp>
        <p:nvSpPr>
          <p:cNvPr id="31" name="match-card"/>
          <p:cNvSpPr/>
          <p:nvPr/>
        </p:nvSpPr>
        <p:spPr>
          <a:xfrm>
            <a:off x="6278728" y="4971952"/>
            <a:ext cx="5135728" cy="989936"/>
          </a:xfrm>
          <a:prstGeom prst="roundRect">
            <a:avLst>
              <a:gd name="adj" fmla="val 7390"/>
            </a:avLst>
          </a:prstGeom>
          <a:solidFill>
            <a:srgbClr val="F6F0E6"/>
          </a:solidFill>
          <a:ln/>
        </p:spPr>
      </p:sp>
      <p:sp>
        <p:nvSpPr>
          <p:cNvPr id="32" name="match-hex"/>
          <p:cNvSpPr/>
          <p:nvPr/>
        </p:nvSpPr>
        <p:spPr>
          <a:xfrm>
            <a:off x="6351880" y="5300627"/>
            <a:ext cx="384048" cy="332586"/>
          </a:xfrm>
          <a:prstGeom prst="hexagon">
            <a:avLst/>
          </a:prstGeom>
          <a:solidFill>
            <a:srgbClr val="B8862B"/>
          </a:solidFill>
          <a:ln/>
        </p:spPr>
      </p:sp>
      <p:sp>
        <p:nvSpPr>
          <p:cNvPr id="33" name="match-hex-label"/>
          <p:cNvSpPr txBox="1"/>
          <p:nvPr/>
        </p:nvSpPr>
        <p:spPr>
          <a:xfrm>
            <a:off x="6351880" y="53006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971952"/>
            <a:ext cx="4541368"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Jolts the reader and freezes a single moment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(2 of 2): Technique and effect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technique to the effect it has on the reader.</a:t>
            </a:r>
            <a:endParaRPr lang="en-US" sz="2400" dirty="0"/>
          </a:p>
        </p:txBody>
      </p:sp>
      <p:sp>
        <p:nvSpPr>
          <p:cNvPr id="11" name="match-card"/>
          <p:cNvSpPr/>
          <p:nvPr/>
        </p:nvSpPr>
        <p:spPr>
          <a:xfrm>
            <a:off x="777240" y="2468331"/>
            <a:ext cx="4717261" cy="1165352"/>
          </a:xfrm>
          <a:prstGeom prst="roundRect">
            <a:avLst>
              <a:gd name="adj" fmla="val 6277"/>
            </a:avLst>
          </a:prstGeom>
          <a:solidFill>
            <a:srgbClr val="F2EFF4"/>
          </a:solidFill>
          <a:ln/>
        </p:spPr>
      </p:sp>
      <p:sp>
        <p:nvSpPr>
          <p:cNvPr id="12" name="match-hex"/>
          <p:cNvSpPr/>
          <p:nvPr/>
        </p:nvSpPr>
        <p:spPr>
          <a:xfrm>
            <a:off x="850392" y="2884715"/>
            <a:ext cx="384048" cy="332586"/>
          </a:xfrm>
          <a:prstGeom prst="hexagon">
            <a:avLst/>
          </a:prstGeom>
          <a:solidFill>
            <a:srgbClr val="5B3A7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122901"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Short, quick sentences during a chase</a:t>
            </a:r>
            <a:endParaRPr lang="en-US" sz="2200" dirty="0"/>
          </a:p>
        </p:txBody>
      </p:sp>
      <p:sp>
        <p:nvSpPr>
          <p:cNvPr id="15" name="match-card"/>
          <p:cNvSpPr/>
          <p:nvPr/>
        </p:nvSpPr>
        <p:spPr>
          <a:xfrm>
            <a:off x="5860261" y="2468331"/>
            <a:ext cx="5554194" cy="1165352"/>
          </a:xfrm>
          <a:prstGeom prst="roundRect">
            <a:avLst>
              <a:gd name="adj" fmla="val 6277"/>
            </a:avLst>
          </a:prstGeom>
          <a:solidFill>
            <a:srgbClr val="F6F0E6"/>
          </a:solidFill>
          <a:ln/>
        </p:spPr>
      </p:sp>
      <p:sp>
        <p:nvSpPr>
          <p:cNvPr id="16" name="match-hex"/>
          <p:cNvSpPr/>
          <p:nvPr/>
        </p:nvSpPr>
        <p:spPr>
          <a:xfrm>
            <a:off x="5933413" y="2884715"/>
            <a:ext cx="384048" cy="332586"/>
          </a:xfrm>
          <a:prstGeom prst="hexagon">
            <a:avLst/>
          </a:prstGeom>
          <a:solidFill>
            <a:srgbClr val="B8862B"/>
          </a:solidFill>
          <a:ln/>
        </p:spPr>
      </p:sp>
      <p:sp>
        <p:nvSpPr>
          <p:cNvPr id="17" name="match-hex-label"/>
          <p:cNvSpPr txBox="1"/>
          <p:nvPr/>
        </p:nvSpPr>
        <p:spPr>
          <a:xfrm>
            <a:off x="5933413"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381469" y="2468331"/>
            <a:ext cx="4959834"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Keeps the horror implicit, so the reader imagines something worse</a:t>
            </a:r>
            <a:endParaRPr lang="en-US" sz="2200" dirty="0"/>
          </a:p>
        </p:txBody>
      </p:sp>
      <p:sp>
        <p:nvSpPr>
          <p:cNvPr id="19" name="match-card"/>
          <p:cNvSpPr/>
          <p:nvPr/>
        </p:nvSpPr>
        <p:spPr>
          <a:xfrm>
            <a:off x="777240" y="3725123"/>
            <a:ext cx="4717261" cy="1165352"/>
          </a:xfrm>
          <a:prstGeom prst="roundRect">
            <a:avLst>
              <a:gd name="adj" fmla="val 6277"/>
            </a:avLst>
          </a:prstGeom>
          <a:solidFill>
            <a:srgbClr val="F2EFF4"/>
          </a:solidFill>
          <a:ln/>
        </p:spPr>
      </p:sp>
      <p:sp>
        <p:nvSpPr>
          <p:cNvPr id="20" name="match-hex"/>
          <p:cNvSpPr/>
          <p:nvPr/>
        </p:nvSpPr>
        <p:spPr>
          <a:xfrm>
            <a:off x="850392" y="4141507"/>
            <a:ext cx="384048" cy="332586"/>
          </a:xfrm>
          <a:prstGeom prst="hexagon">
            <a:avLst/>
          </a:prstGeom>
          <a:solidFill>
            <a:srgbClr val="5B3A7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4122901"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shadow that moves instead of a monster that is named</a:t>
            </a:r>
            <a:endParaRPr lang="en-US" sz="2200" dirty="0"/>
          </a:p>
        </p:txBody>
      </p:sp>
      <p:sp>
        <p:nvSpPr>
          <p:cNvPr id="23" name="match-card"/>
          <p:cNvSpPr/>
          <p:nvPr/>
        </p:nvSpPr>
        <p:spPr>
          <a:xfrm>
            <a:off x="5860261" y="3725123"/>
            <a:ext cx="5554194" cy="1165352"/>
          </a:xfrm>
          <a:prstGeom prst="roundRect">
            <a:avLst>
              <a:gd name="adj" fmla="val 6277"/>
            </a:avLst>
          </a:prstGeom>
          <a:solidFill>
            <a:srgbClr val="F6F0E6"/>
          </a:solidFill>
          <a:ln/>
        </p:spPr>
      </p:sp>
      <p:sp>
        <p:nvSpPr>
          <p:cNvPr id="24" name="match-hex"/>
          <p:cNvSpPr/>
          <p:nvPr/>
        </p:nvSpPr>
        <p:spPr>
          <a:xfrm>
            <a:off x="5933413" y="4141507"/>
            <a:ext cx="384048" cy="332586"/>
          </a:xfrm>
          <a:prstGeom prst="hexagon">
            <a:avLst/>
          </a:prstGeom>
          <a:solidFill>
            <a:srgbClr val="B8862B"/>
          </a:solidFill>
          <a:ln/>
        </p:spPr>
      </p:sp>
      <p:sp>
        <p:nvSpPr>
          <p:cNvPr id="25" name="match-hex-label"/>
          <p:cNvSpPr txBox="1"/>
          <p:nvPr/>
        </p:nvSpPr>
        <p:spPr>
          <a:xfrm>
            <a:off x="5933413"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381469" y="3725123"/>
            <a:ext cx="4959834"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Speeds up the pacing, so tension rises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Technique and effect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technique to the effect it has on the reader.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EB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For each technique, ask: does it slow the reader down or speed them up?</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Slowing down with delay or detail builds suspense; speeding up builds tension.</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Two techniques are about what is NOT said: the planted detail and the thing left unnamed.</a:t>
            </a:r>
            <a:endParaRPr lang="en-US" sz="2000" dirty="0"/>
          </a:p>
        </p:txBody>
      </p:sp>
      <p:sp>
        <p:nvSpPr>
          <p:cNvPr id="17" name="col-Core"/>
          <p:cNvSpPr/>
          <p:nvPr/>
        </p:nvSpPr>
        <p:spPr>
          <a:xfrm>
            <a:off x="5490762" y="2578608"/>
            <a:ext cx="2938987" cy="3566160"/>
          </a:xfrm>
          <a:prstGeom prst="roundRect">
            <a:avLst>
              <a:gd name="adj" fmla="val 1867"/>
            </a:avLst>
          </a:prstGeom>
          <a:solidFill>
            <a:srgbClr val="DBD4E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492E62"/>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Think about speed. Two of these slow the story down, one speeds it up, one stops it dead, and one hides something.</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5B3A7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Write five sentences, each using one of the five techniques, in a single scene. Label each. Then say which one you would cut if you could keep only four.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The task: Write a scene with tension and suspense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character alone in an old house hears a sound from a room that has been locked for years. Write a short Gothic scene of eight to ten sentences that creates both tension and suspense.</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Write a scene with tension and suspense</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Write a scene with tension and suspense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Open with the sound, then stop and describe the silence around it (suspense).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one detail of the character's body that shows strain: hands, breath, counting steps (tension).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Delay the door: three ordinary details before the handle.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End on an action by the thing behind the door, never on what it is.</a:t>
            </a:r>
            <a:endParaRPr lang="en-US" sz="1800" dirty="0"/>
          </a:p>
        </p:txBody>
      </p:sp>
      <p:sp>
        <p:nvSpPr>
          <p:cNvPr id="17" name="col-Core"/>
          <p:cNvSpPr/>
          <p:nvPr/>
        </p:nvSpPr>
        <p:spPr>
          <a:xfrm>
            <a:off x="5490762" y="2395728"/>
            <a:ext cx="2938987" cy="3749040"/>
          </a:xfrm>
          <a:prstGeom prst="roundRect">
            <a:avLst>
              <a:gd name="adj" fmla="val 1867"/>
            </a:avLst>
          </a:prstGeom>
          <a:solidFill>
            <a:srgbClr val="DBD4E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Suspense is what the reader waits for; tension is what the character feels in their body. Make sure each has at least two sentences.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5B3A7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your scene so that it contains no sounds at all, only sight and touch. Which version is more frightening, and what does that tell you about the Gothic use of strange sounds?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7012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Read this sentence: ‘The door was bolted from the outside, and for the ninth time that day she counted the bricks in the wall.’ Which Gothic theme does it suggest most strongly?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Entrapment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supernatural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Corruption of innocence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Appearance and reality</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Technique and effect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one-word sentence after three long ones  →  E  Jolts the reader and freezes a single moment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Describing three ordinary things before the character looks at the door  →  B  Delays the reveal, so suspense builds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small detail planted early that matters later  →  D  Foreshadowing: plants a question the reader wants answered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Short, quick sentences during a chase  →  C  Speeds up the pacing, so tension rises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shadow that moves instead of a monster that is named  →  A  Keeps the horror implicit, so the reader imagines something worse</a:t>
            </a:r>
            <a:endParaRPr lang="en-US" sz="1800" dirty="0"/>
          </a:p>
        </p:txBody>
      </p:sp>
      <p:sp>
        <p:nvSpPr>
          <p:cNvPr id="10" name="why-panel"/>
          <p:cNvSpPr/>
          <p:nvPr/>
        </p:nvSpPr>
        <p:spPr>
          <a:xfrm>
            <a:off x="7955280" y="1389888"/>
            <a:ext cx="3687775" cy="4754880"/>
          </a:xfrm>
          <a:prstGeom prst="roundRect">
            <a:avLst>
              <a:gd name="adj" fmla="val 1240"/>
            </a:avLst>
          </a:prstGeom>
          <a:solidFill>
            <a:srgbClr val="EFEBF2"/>
          </a:solidFill>
          <a:ln/>
        </p:spPr>
      </p:sp>
      <p:sp>
        <p:nvSpPr>
          <p:cNvPr id="11" name="why-hex"/>
          <p:cNvSpPr/>
          <p:nvPr/>
        </p:nvSpPr>
        <p:spPr>
          <a:xfrm>
            <a:off x="8138160" y="1572768"/>
            <a:ext cx="685800" cy="593903"/>
          </a:xfrm>
          <a:prstGeom prst="hexagon">
            <a:avLst/>
          </a:prstGeom>
          <a:solidFill>
            <a:srgbClr val="5B3A7A"/>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Suspense comes from slowing down and withholding: delay, foreshadowing, the unnamed. Tension comes from pressure and speed: quick sentences, the sudden short one. Good Gothic scenes alternate between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Answers: Write a scene with tension and suspense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5185"/>
          </a:xfrm>
          <a:prstGeom prst="roundRect">
            <a:avLst>
              <a:gd name="adj" fmla="val 9674"/>
            </a:avLst>
          </a:prstGeom>
          <a:solidFill>
            <a:srgbClr val="F2EFF4"/>
          </a:solidFill>
          <a:ln/>
        </p:spPr>
      </p:sp>
      <p:sp>
        <p:nvSpPr>
          <p:cNvPr id="9" name="tickbox"/>
          <p:cNvSpPr/>
          <p:nvPr/>
        </p:nvSpPr>
        <p:spPr>
          <a:xfrm>
            <a:off x="713232" y="2310536"/>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advanced vocabulary from the tension and suspense word banks, chosen for precision.</a:t>
            </a:r>
            <a:endParaRPr lang="en-US" sz="2200" dirty="0"/>
          </a:p>
        </p:txBody>
      </p:sp>
      <p:sp>
        <p:nvSpPr>
          <p:cNvPr id="11" name="crit-box"/>
          <p:cNvSpPr/>
          <p:nvPr/>
        </p:nvSpPr>
        <p:spPr>
          <a:xfrm>
            <a:off x="548640" y="3020873"/>
            <a:ext cx="11094415" cy="604317"/>
          </a:xfrm>
          <a:prstGeom prst="roundRect">
            <a:avLst>
              <a:gd name="adj" fmla="val 15131"/>
            </a:avLst>
          </a:prstGeom>
          <a:solidFill>
            <a:srgbClr val="F2EFF4"/>
          </a:solidFill>
          <a:ln/>
        </p:spPr>
      </p:sp>
      <p:sp>
        <p:nvSpPr>
          <p:cNvPr id="12" name="tickbox"/>
          <p:cNvSpPr/>
          <p:nvPr/>
        </p:nvSpPr>
        <p:spPr>
          <a:xfrm>
            <a:off x="713232" y="3176727"/>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020873"/>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vary my sentence structures and lengths, including at least one very short sentence.</a:t>
            </a:r>
            <a:endParaRPr lang="en-US" sz="2200" dirty="0"/>
          </a:p>
        </p:txBody>
      </p:sp>
      <p:sp>
        <p:nvSpPr>
          <p:cNvPr id="14" name="crit-box"/>
          <p:cNvSpPr/>
          <p:nvPr/>
        </p:nvSpPr>
        <p:spPr>
          <a:xfrm>
            <a:off x="548640" y="3716630"/>
            <a:ext cx="11094415" cy="604317"/>
          </a:xfrm>
          <a:prstGeom prst="roundRect">
            <a:avLst>
              <a:gd name="adj" fmla="val 15131"/>
            </a:avLst>
          </a:prstGeom>
          <a:solidFill>
            <a:srgbClr val="F2EFF4"/>
          </a:solidFill>
          <a:ln/>
        </p:spPr>
      </p:sp>
      <p:sp>
        <p:nvSpPr>
          <p:cNvPr id="15" name="tickbox"/>
          <p:cNvSpPr/>
          <p:nvPr/>
        </p:nvSpPr>
        <p:spPr>
          <a:xfrm>
            <a:off x="713232" y="387248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716630"/>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two devices such as foreshadowing, imagery or pacing.</a:t>
            </a:r>
            <a:endParaRPr lang="en-US" sz="2200" dirty="0"/>
          </a:p>
        </p:txBody>
      </p:sp>
      <p:sp>
        <p:nvSpPr>
          <p:cNvPr id="17" name="crit-box"/>
          <p:cNvSpPr/>
          <p:nvPr/>
        </p:nvSpPr>
        <p:spPr>
          <a:xfrm>
            <a:off x="548640" y="4412386"/>
            <a:ext cx="11094415" cy="604317"/>
          </a:xfrm>
          <a:prstGeom prst="roundRect">
            <a:avLst>
              <a:gd name="adj" fmla="val 15131"/>
            </a:avLst>
          </a:prstGeom>
          <a:solidFill>
            <a:srgbClr val="F2EFF4"/>
          </a:solidFill>
          <a:ln/>
        </p:spPr>
      </p:sp>
      <p:sp>
        <p:nvSpPr>
          <p:cNvPr id="18" name="tickbox"/>
          <p:cNvSpPr/>
          <p:nvPr/>
        </p:nvSpPr>
        <p:spPr>
          <a:xfrm>
            <a:off x="713232" y="4568241"/>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412386"/>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keep the horror implicit: I suggest rather than state what is behind the door.</a:t>
            </a:r>
            <a:endParaRPr lang="en-US" sz="2200" dirty="0"/>
          </a:p>
        </p:txBody>
      </p:sp>
      <p:sp>
        <p:nvSpPr>
          <p:cNvPr id="20" name="crit-box"/>
          <p:cNvSpPr/>
          <p:nvPr/>
        </p:nvSpPr>
        <p:spPr>
          <a:xfrm>
            <a:off x="548640" y="5108143"/>
            <a:ext cx="11094415" cy="945185"/>
          </a:xfrm>
          <a:prstGeom prst="roundRect">
            <a:avLst>
              <a:gd name="adj" fmla="val 9674"/>
            </a:avLst>
          </a:prstGeom>
          <a:solidFill>
            <a:srgbClr val="F2EFF4"/>
          </a:solidFill>
          <a:ln/>
        </p:spPr>
      </p:sp>
      <p:sp>
        <p:nvSpPr>
          <p:cNvPr id="21" name="tickbox"/>
          <p:cNvSpPr/>
          <p:nvPr/>
        </p:nvSpPr>
        <p:spPr>
          <a:xfrm>
            <a:off x="713232" y="5434432"/>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108143"/>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create suspense (making the reader wait) AND tension (making the character's situation feel strained).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Model answer: Write a scene with tension and suspense</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house had been quiet for so long that the sound seemed rude. It came again: a slow scrape, like a chair being dragged by someone who did not want to be heard. Marta set down her candle. The door at the end of the landing had been locked since before she was born, and the key, her aunt had always said, was lost. She counted the steps towards it. Eleven. The brass handle was warm. She waited for the scrape a third time, and when it did not come, that was worse. Then, very gently, something on the other side tried the handle too.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Read this sentence: ‘The door was bolted from the outside, and for the ninth time that day she counted the bricks in the wall.’ Which Gothic theme does it suggest most strongly?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Entrapment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door bolted from the outside is the clearest signal of entrapment. The counted bricks add a hint of madness, but nothing in the sentence is supernatural, deceptive or about innocence.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 · Chapter 4: Tension, suspense and the big ideas</dc:title>
  <dc:subject>English Literature · Year 9</dc:subject>
  <dc:creator>Dr Vitor Merissi de Carvalho</dc:creator>
  <cp:lastModifiedBy>Dr Vitor Merissi de Carvalho</cp:lastModifiedBy>
  <cp:revision>1</cp:revision>
  <dcterms:created xsi:type="dcterms:W3CDTF">2026-10-18T17:47:08Z</dcterms:created>
  <dcterms:modified xsi:type="dcterms:W3CDTF">2026-10-18T17:47:08Z</dcterms:modified>
</cp:coreProperties>
</file>