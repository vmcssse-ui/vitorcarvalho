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c2b5e7a-4eb1-c87d-4036-a8c33f085805}">
          <p14:sldIdLst>
            <p14:sldId id="256"/>
          </p14:sldIdLst>
        </p14:section>
        <p14:section name="Gate" id="{83a484d8-b6b9-d374-9eef-aac80d299bbb}">
          <p14:sldIdLst>
            <p14:sldId id="257"/>
            <p14:sldId id="258"/>
            <p14:sldId id="259"/>
          </p14:sldIdLst>
        </p14:section>
        <p14:section name="Pre-teach" id="{d49c3555-871a-7131-66a0-d46b7bc4beab}">
          <p14:sldIdLst>
            <p14:sldId id="260"/>
          </p14:sldIdLst>
        </p14:section>
        <p14:section name="Read-along" id="{50913e2c-aa02-d08b-e7f5-4daeb6dd2ae5}">
          <p14:sldIdLst>
            <p14:sldId id="261"/>
            <p14:sldId id="262"/>
          </p14:sldIdLst>
        </p14:section>
        <p14:section name="Teach" id="{f3207b85-1a21-e517-4b4f-6933df75ad45}">
          <p14:sldIdLst>
            <p14:sldId id="263"/>
            <p14:sldId id="264"/>
            <p14:sldId id="265"/>
            <p14:sldId id="266"/>
          </p14:sldIdLst>
        </p14:section>
        <p14:section name="Routes" id="{b1739dd8-b2e3-7eb9-2a56-8f257eebc190}">
          <p14:sldIdLst>
            <p14:sldId id="267"/>
            <p14:sldId id="268"/>
            <p14:sldId id="269"/>
            <p14:sldId id="270"/>
            <p14:sldId id="271"/>
            <p14:sldId id="272"/>
            <p14:sldId id="273"/>
            <p14:sldId id="274"/>
          </p14:sldIdLst>
        </p14:section>
        <p14:section name="Close" id="{c455c9bc-b22e-7d7c-6a9a-05a9d0a60ce8}">
          <p14:sldIdLst>
            <p14:sldId id="275"/>
          </p14:sldIdLst>
        </p14:section>
        <p14:section name="Answers" id="{5e8ec016-33af-088e-77aa-aba1c8dd9557}">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Gothic characters: heroes, victims and villains. This chapter introduces the character types that Gothic writers return to again and again, and shows you how to build an antagonist readers cannot forget.
This deck covers the department's lessons: 4 (Gothic characters: Can you identify and recreate the character traits of typical Gothic characters?); 5 (Gothic characters: antagonists: How do writers create effective Gothic antagonists, and how can you replicate this in your own writing?).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set of traits describes a Byronic hero?  →  D   Rebellious, proud, troubled and set apart from society
2. A character whose name is the title of the book is called an ___ hero or villain.  →  eponymous
3. Why does Count Dracula's appearance feel uncanny to Jonathan Harker?  →  B   He looks almost human, but small details are wrong, such as the hairs on his palms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set of traits describes a Byronic hero?  →  D   Rebellious, proud, troubled and set apart from society
2. A character whose name is the title of the book is called an ___ hero or villain.  →  eponymous
3. Why does Count Dracula's appearance feel uncanny to Jonathan Harker?  →  B   He looks almost human, but small details are wrong, such as the hairs on his palms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Rebellious, proud, troubled and set apart from society. The Byronic hero is an antihero named after Lord Byron: rebellious, arrogant, anti-social or exiled, and tortured by inner turmoil.
2. eponymous. Eponymous means giving your name to something. Macbeth, Othello and Dracula are all eponymous characters.
3. B   He looks almost human, but small details are wrong, such as the hairs on his palms. The uncanny is the familiar made strange. Dracula has a nobleman's face, but pointed ears, sharp protruding teeth, hairy palms and pointed nails.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archetype: a type of character that appears in many stories. Example: "The brooding, lonely hero is an archetype."
• trait: a quality that makes a character who they are. Example: "Pride is one of his strongest traits."
• eponymous: giving their name to the title of the book. Example: "Dracula is the eponymous villain of Dracula."
• antagonist: the character who works against the hero. Example: "The vampire is the antagonist of the story."
• uncanny: familiar, but strange in a way that disturbs you. Example: "His smile was uncanny: almost right, but not quite."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Gothic stories use the same kinds of character again and again.
2. We call these character types archetypes.
3. The Byronic hero is proud, moody and alone.
4. He is named after the poet Lord Byron.
5. The damsel in distress is a young woman in danger.
6. She is often locked in a castle by a cruel man.
7. The femme fatale is charming but dangerous to know.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antagonist is the villain who works against the hero.
9. Dracula and Frankenstein's creature are famous antagonists.
10. Writers make them frightening by making them almost human.
11. Something small is wrong: the teeth, the hands, the eyes.
12. This feeling is called the uncanny.
13. You will create a Gothic character of your 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Byronic hero. Say it in your own words, then check understanding with a quick question: ask a pupil from the pre-teach group first, since they met these words and ideas before the lesson. Pupils try to recall before you re-explain.
An archetype is a character type that turns up in story after story, so that readers know it at once. Gothic writers love four: the Byronic hero, the damsel in distress, the femme fatale and the antagonist. Many Gothic novels also have an eponymous hero or villain: a character whose name is the title, like Macbeth, Othello or Dracula.
The Byronic hero is named after the Romantic poet Lord Byron, who was famously described as ‘mad, bad, and dangerous to know’. He is an antihero: rebellious, arrogant, anti-social or living in exile, and darkly, dangerously attractive. He works against the rules of society. He is a tortured soul whose inner turmoil makes him the centre of his own world, and his emotional scars run too deep for ordinary people to understand.
Emily Brontë's Heathcliff in Wuthering Heights (1847) is the archetype in full. When the narrator, Lockwood, arrives at the house, Heathcliff's black eyes withdraw suspiciously under his brows and his fingers retreat into his waistcoat. He invites Lockwood in through closed teeth. He is rude, closed and alone, and Lockwood is fascinated.
Quotation: "I felt interested in a man who seemed more exaggeratedly reserved than myself." (E. Brontë, Wuthering Heights (1847), chapter 1). Read it aloud; ask what it shows.
Tip: Byronic heroes are shown, not told. Brontë never writes ‘Heathcliff was moody’. She shows his eyes, his hands and his teeth.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damsel in distress and the femme fatale. Say it in your own words, then check understanding with a quick question: ask a pupil from the pre-teach group first, since they met these words and ideas before the lesson. Pupils try to recall before you re-explain.
The word ‘damsel’ comes from the French for ‘young lady’. The damsel in distress is one of the oldest Gothic characters: a beautiful, innocent or helpless young woman, often imprisoned in a castle or a monastery and terrorised by a cruel nobleman or a sinister religious order. She is placed in terrible danger by a villain and usually needs a male hero to rescue her.
Isabella in The Castle of Otranto is the first of them. Manfred, the father of the man she was going to marry, tells her he will divorce his wife and marry her himself. He seizes her cold hand; she shrieks and breaks free. At that moment the moon shows the plumes of a giant helmet waving at the window, and she cries that heaven itself is against him. He answers that neither heaven nor hell will stop him.
The femme fatale, French for ‘deadly woman’, is her opposite: charming, mysterious and dangerous. People who are drawn to her come to harm, and nobody escapes her without being changed. In your lesson you looked at Carmilla, from Sheridan Le Fanu's 1872 vampire story, whose narrator is drawn to her and repelled by her at the same time. Be careful with both archetypes: they are old stereotypes about women, and modern Gothic writers often turn them upside down.
Quotation: "At those words he seized the cold hand of Isabella, who was half-dead with fright and horror. She shrieked and started from him." (Walpole, The Castle of Otranto (1764), chapter 1). Read it aloud; ask what it shows.
Tip: A damsel who rescues herself, or a femme fatale who is the hero, is still using the archetype. Breaking a pattern only works if the reader knows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Antagonists and the uncanny. Say it in your own words, then check understanding with a quick question: ask a pupil from the pre-teach group first, since they met these words and ideas before the lesson. Pupils try to recall before you re-explain.
The antagonist is the character who works against the hero. In Gothic fiction the antagonist is often the most memorable figure in the book. Two of the most famous are Count Dracula and Frankenstein's creature. Your lesson asked you to describe them before you read how their authors did it, which is a good test of what you already knew about the genre.
Stoker builds Dracula from ordinary human features with small, wrong details. The nose is strong and aquiline, the forehead high: a nobleman's face. But the teeth are peculiarly sharp and white and protrude over the lips; the ears are pointed; the palms have hairs in the centre; the nails are long and cut to a point. Nothing is a monster on its own. Together, they make Harker shudder. This is the uncanny: something familiar that is strange in a way that disturbs you.
Mary Shelley does the reverse. Victor Frankenstein chose each feature of his creature to be beautiful: lustrous black hair, teeth of pearly whiteness. But when the creature breathes, those beautiful parts form a horrid contrast with its watery eyes, shrivelled skin and straight black lips. Beauty next to decay is more horrifying than decay alone. Both antagonists have a motive: Dracula wants to corrupt; the creature wants revenge on the maker who abandoned him.
Quotation: "Strange to say, there were hairs in the centre of the palm. The nails were long and fine, and cut to a sharp point. As the Count leaned over me and his hands touched me, I could not repress a shudder." (Stoker, Dracula (1897), chapter 2). Read it aloud; ask what it shows.
Tip: Give your antagonist one wrong detail that the narrator notices too late. The reader will remember it longer than any amount of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your own character: show, don't tell. Say it in your own words, then check understanding with a quick question: ask a pupil from the pre-teach group first, since they met these words and ideas before the lesson. Pupils try to recall before you re-explain.
When you describe a character, decide first what you want the reader to think about them, then show it rather than stating it. ‘He was cruel’ tells. ‘He smiled as the dog whimpered’ shows. Your lesson called this implicit rather than explicit description. The reader works it out, and that makes them feel clever, and uneasy.
Plan a route, as you did with setting. You can start at the top of the body and move down, start with clothing and then zoom in on particular features, or zoom in on a single detail and then zoom out. Ask what your antagonist wants. Are they after the damsel? In league with the femme fatale? Driven by revenge? Do they have supernatural powers, or are they simply evil?
Your success criteria were: use a range of vocabulary to imply details about the character; use a range of sentence structures to keep the writing engaging; use interesting comparisons so the reader can build an image; and build the description for effect, towards a sense of the uncanny or of horror. A peer who reads your work should be able to say what your character is like without being told.
Quotation: "his hair was of a lustrous black, and flowing; his teeth of a pearly whiteness; but these luxuriances only formed a more horrid contrast with his watery eyes" (Shelley, Frankenstein (1818), chapter 5). Read it aloud; ask what it shows.
Tip: A comparison does two jobs: it helps the reader see, and it tells them how to feel. ‘Teeth like piano keys’ and ‘teeth like gravestones’ describe the same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archetype?.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character description to the Gothic archetype it fits.
Support — work through the steps with the group: (1) Ask: is this character in danger, or is this character the danger? (2) If the character is the danger, ask: do they charm their victims (femme fatale) or hunt them (antagonist)? (3) If nobody is in danger yet, look for pride and loneliness (Byronic hero) or a name on the cover (eponymous).
Parallel worked example for Support (model it, do not give the task answer): Practice: a scientist who defies nature, hides from his friends and is tormented by what he has done. Which archetype? He is not in danger from a villain, so not a damsel.; He breaks society's rules and is tortured inside.; That is the Byronic hero.. Answer: Byronic hero: Victor Frankenstein fits the type closely..
Core — reveal the hint only on request: Two archetypes are defined by what they do to others; one by what is done to them; one by his mood; one by the cover of the book.
Stretch — no help; when finished: Choose one archetype and write a two-sentence description that reverses the reader's expectation of it, for example a damsel who is the most dangerous person in the castle. Explain what you kept from the archetype and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archetype?.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character description to the Gothic archetype it fits.
Support — work through the steps with the group: (1) Ask: is this character in danger, or is this character the danger? (2) If the character is the danger, ask: do they charm their victims (femme fatale) or hunt them (antagonist)? (3) If nobody is in danger yet, look for pride and loneliness (Byronic hero) or a name on the cover (eponymous).
Parallel worked example for Support (model it, do not give the task answer): Practice: a scientist who defies nature, hides from his friends and is tormented by what he has done. Which archetype? He is not in danger from a villain, so not a damsel.; He breaks society's rules and is tortured inside.; That is the Byronic hero.. Answer: Byronic hero: Victor Frankenstein fits the type closely..
Core — reveal the hint only on request: Two archetypes are defined by what they do to others; one by what is done to them; one by his mood; one by the cover of the book.
Stretch — no help; when finished: Choose one archetype and write a two-sentence description that reverses the reader's expectation of it, for example a damsel who is the most dangerous person in the castle. Explain what you kept from the archetype and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archetype?.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character description to the Gothic archetype it fits.
Support — work through the steps with the group: (1) Ask: is this character in danger, or is this character the danger? (2) If the character is the danger, ask: do they charm their victims (femme fatale) or hunt them (antagonist)? (3) If nobody is in danger yet, look for pride and loneliness (Byronic hero) or a name on the cover (eponymous).
Parallel worked example for Support (model it, do not give the task answer): Practice: a scientist who defies nature, hides from his friends and is tormented by what he has done. Which archetype? He is not in danger from a villain, so not a damsel.; He breaks society's rules and is tortured inside.; That is the Byronic hero.. Answer: Byronic hero: Victor Frankenstein fits the type closely..
Core — reveal the hint only on request: Two archetypes are defined by what they do to others; one by what is done to them; one by his mood; one by the cover of the book.
Stretch — no help; when finished: Choose one archetype and write a two-sentence description that reverses the reader's expectation of it, for example a damsel who is the most dangerous person in the castle. Explain what you kept from the archetype and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archetype?.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character description to the Gothic archetype it fits.
Support — work through the steps with the group: (1) Ask: is this character in danger, or is this character the danger? (2) If the character is the danger, ask: do they charm their victims (femme fatale) or hunt them (antagonist)? (3) If nobody is in danger yet, look for pride and loneliness (Byronic hero) or a name on the cover (eponymous).
Parallel worked example for Support (model it, do not give the task answer): Practice: a scientist who defies nature, hides from his friends and is tormented by what he has done. Which archetype? He is not in danger from a villain, so not a damsel.; He breaks society's rules and is tortured inside.; That is the Byronic hero.. Answer: Byronic hero: Victor Frankenstein fits the type closely..
Core — reveal the hint only on request: Two archetypes are defined by what they do to others; one by what is done to them; one by his mood; one by the cover of the book.
Stretch — no help; when finished: Choose one archetype and write a two-sentence description that reverses the reader's expectation of it, for example a damsel who is the most dangerous person in the castle. Explain what you kept from the archetype and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archetype?.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character description to the Gothic archetype it fits.
Support — work through the steps with the group: (1) Ask: is this character in danger, or is this character the danger? (2) If the character is the danger, ask: do they charm their victims (femme fatale) or hunt them (antagonist)? (3) If nobody is in danger yet, look for pride and loneliness (Byronic hero) or a name on the cover (eponymous).
Parallel worked example for Support (model it, do not give the task answer): Practice: a scientist who defies nature, hides from his friends and is tormented by what he has done. Which archetype? He is not in danger from a villain, so not a damsel.; He breaks society's rules and is tortured inside.; That is the Byronic hero.. Answer: Byronic hero: Victor Frankenstein fits the type closely..
Core — reveal the hint only on request: Two archetypes are defined by what they do to others; one by what is done to them; one by his mood; one by the cover of the book.
Stretch — no help; when finished: Choose one archetype and write a two-sentence description that reverses the reader's expectation of it, for example a damsel who is the most dangerous person in the castle. Explain what you kept from the archetype and what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your antagonist.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frightened first-person narrator meets the master of a lonely castle for the first time. Describe him so that the reader feels the uncanny: almost normal, but wrong. Write one paragraph of six to eight sentences.
Support — work through the steps with the group: (1) Decide the one wrong detail (hands, teeth, eyes, voice, shadow) and save it for the middle of the paragraph. (2) Open with something ordinary and polite, so the reader relaxes. (3) Add a comparison that makes the character seem old, cold or not quite alive. (4) End on the narrator's reaction, shown through what they do or feel, not the word ‘scared’.
Parallel worked example for Support (model it, do not give the task answer): Practice: in three sentences, describe a kindly-looking nurse so that something feels wrong. Start ordinary: her uniform is spotless, her voice soft.; Add the wrong detail: she never blinks.; End with the narrator's reaction shown, not told.. Answer: Her uniform was spotless and her voice was soft as a lullaby. It took me a long time to understand what was wrong: in all the hours she sat beside my bed, she never once blinked. I began to pretend to sleep..
Core — reveal the hint only on request: Build the character from almost-normal details. One wrong thing, noticed late, is worth ten monstrous ones.
Stretch — no help; when finished: Give your antagonist a motive that the narrator does not yet understand but the reader can guess. Then explain how a reader who knows Dracula would react to your character differently from a reader who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your antagonist.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frightened first-person narrator meets the master of a lonely castle for the first time. Describe him so that the reader feels the uncanny: almost normal, but wrong. Write one paragraph of six to eight sentences.
Support — work through the steps with the group: (1) Decide the one wrong detail (hands, teeth, eyes, voice, shadow) and save it for the middle of the paragraph. (2) Open with something ordinary and polite, so the reader relaxes. (3) Add a comparison that makes the character seem old, cold or not quite alive. (4) End on the narrator's reaction, shown through what they do or feel, not the word ‘scared’.
Parallel worked example for Support (model it, do not give the task answer): Practice: in three sentences, describe a kindly-looking nurse so that something feels wrong. Start ordinary: her uniform is spotless, her voice soft.; Add the wrong detail: she never blinks.; End with the narrator's reaction shown, not told.. Answer: Her uniform was spotless and her voice was soft as a lullaby. It took me a long time to understand what was wrong: in all the hours she sat beside my bed, she never once blinked. I began to pretend to sleep..
Core — reveal the hint only on request: Build the character from almost-normal details. One wrong thing, noticed late, is worth ten monstrous ones.
Stretch — no help; when finished: Give your antagonist a motive that the narrator does not yet understand but the reader can guess. Then explain how a reader who knows Dracula would react to your character differently from a reader who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your antagonist.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frightened first-person narrator meets the master of a lonely castle for the first time. Describe him so that the reader feels the uncanny: almost normal, but wrong. Write one paragraph of six to eight sentences.
Support — work through the steps with the group: (1) Decide the one wrong detail (hands, teeth, eyes, voice, shadow) and save it for the middle of the paragraph. (2) Open with something ordinary and polite, so the reader relaxes. (3) Add a comparison that makes the character seem old, cold or not quite alive. (4) End on the narrator's reaction, shown through what they do or feel, not the word ‘scared’.
Parallel worked example for Support (model it, do not give the task answer): Practice: in three sentences, describe a kindly-looking nurse so that something feels wrong. Start ordinary: her uniform is spotless, her voice soft.; Add the wrong detail: she never blinks.; End with the narrator's reaction shown, not told.. Answer: Her uniform was spotless and her voice was soft as a lullaby. It took me a long time to understand what was wrong: in all the hours she sat beside my bed, she never once blinked. I began to pretend to sleep..
Core — reveal the hint only on request: Build the character from almost-normal details. One wrong thing, noticed late, is worth ten monstrous ones.
Stretch — no help; when finished: Give your antagonist a motive that the narrator does not yet understand but the reader can guess. Then explain how a reader who knows Dracula would react to your character differently from a reader who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sentence SHOWS that the count is dangerous, rather than telling the reader?
Answer: B   The count smiled, and his lips drew back a little too far from his teeth.. Only the second sentence gives a physical detail, the smile that goes too far, and lets the reader conclude that the count is dangerous. The others state the conclusion.
Source of this question: module 3 task ("Show, don't tell")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archetype?. Reveal the answer; pupils mark their own work in a different colour, then read the "why" together. Same destination for every lane, so one answer serves the whole class.
Answer: A brooding nobleman who lives alone on the moor, scorns his neighbours and will not speak of his past  →  E  Byronic hero; A young heiress locked in a tower room by the guardian who wants her fortune  →  C  Damsel in distress; A charming stranger whose every admirer comes to harm, and who seems to enjoy it  →  D  Femme fatale; The pale figure who hunts the hero from chapter one and wants revenge on the family  →  A  Antagonist; The character whose name is on the cover of the book  →  B  Eponymous character
Why: Archetypes are defined by their role: the Byronic hero by his pride and isolation, the damsel by her danger, the femme fatale by the harm her charm causes, the antagonist by working against the hero, and the eponymous character by giving the book its name.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Describe your antagonist. Reveal the answer; pupils mark their own work in a different colour, then read the "why" together. Same destination for every lane, so one answer serves the whole class.
Answer: I write in the first person, so the reader shares the narrator's unease.; I use a range of vocabulary to imply what the character is like, rather than stating it.; I include at least one small, wrong detail that creates the uncanny.; I use interesting comparisons (a simile or metaphor) to help the reader see the character.; I vary my sentence structures and build the description towards an effect.
Why: Stoker and Shelley both make their antagonists from recognisable human parts with something wrong. A first-person narrator who notices the wrong detail late, and shows a reaction rather than naming a feeling, lets the reader feel the uncanny for themselves.
Model answer: My host rose as I entered, and the first thing I noticed was how little noise he made. He was tall and courteous, with the long face of an old portrait, and he bowed with the ease of a man who had been bowing for a very long time. His hand, when he took mine, was cool and dry as paper. I told myself the fire had not reached that side of the room. Then he smiled, and his lips drew back a fraction too far, so that for a moment I was looking not at a man's mouth but at an arrangement of teeth. ‘You must be tired,’ he said kindly, and I found that I was.
Success criteria: I write in the first person, so the reader shares the narrator's unease.; I use a range of vocabulary to imply what the character is like, rather than stating it.; I include at least one small, wrong detail that creates the uncanny.; I use interesting comparisons (a simile or metaphor) to help the reader see the character.; I vary my sentence structures and build the description towards an effect.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Describe your antagonist. Reveal the answer; pupils mark their own work in a different colour, then read the "why" together. Same destination for every lane, so one answer serves the whole class.
Answer: I write in the first person, so the reader shares the narrator's unease.; I use a range of vocabulary to imply what the character is like, rather than stating it.; I include at least one small, wrong detail that creates the uncanny.; I use interesting comparisons (a simile or metaphor) to help the reader see the character.; I vary my sentence structures and build the description towards an effect.
Why: Stoker and Shelley both make their antagonists from recognisable human parts with something wrong. A first-person narrator who notices the wrong detail late, and shows a reaction rather than naming a feeling, lets the reader feel the uncanny for themselves.
Model answer: My host rose as I entered, and the first thing I noticed was how little noise he made. He was tall and courteous, with the long face of an old portrait, and he bowed with the ease of a man who had been bowing for a very long time. His hand, when he took mine, was cool and dry as paper. I told myself the fire had not reached that side of the room. Then he smiled, and his lips drew back a fraction too far, so that for a moment I was looking not at a man's mouth but at an arrangement of teeth. ‘You must be tired,’ he said kindly, and I found that I was.
Success criteria: I write in the first person, so the reader shares the narrator's unease.; I use a range of vocabulary to imply what the character is like, rather than stating it.; I include at least one small, wrong detail that creates the uncanny.; I use interesting comparisons (a simile or metaphor) to help the reader see the character.; I vary my sentence structures and build the description towards an effect.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count smiled, and his lips drew back a little too far from his teeth.
Why: Only the second sentence gives a physical detail, the smile that goes too far, and lets the reader conclude that the count is dangerous. The others state the conclusion.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Gothic characters: heroes, victims and villains</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EFEBF2"/>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Gothic characters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Gothic characters: antagonists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set of traits describes a Byronic hero?</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Loyal, obedient and respectful of authority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Cheerful, sociable and easy to understand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Weak, innocent and in need of rescue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Rebellious, proud, troubled and set apart from society</a:t>
            </a:r>
            <a:endParaRPr lang="en-US" sz="2200" dirty="0"/>
          </a:p>
        </p:txBody>
      </p:sp>
      <p:sp>
        <p:nvSpPr>
          <p:cNvPr id="12" name="card"/>
          <p:cNvSpPr/>
          <p:nvPr/>
        </p:nvSpPr>
        <p:spPr>
          <a:xfrm>
            <a:off x="6233008" y="1389888"/>
            <a:ext cx="5410048" cy="4754880"/>
          </a:xfrm>
          <a:prstGeom prst="roundRect">
            <a:avLst>
              <a:gd name="adj" fmla="val 1154"/>
            </a:avLst>
          </a:prstGeom>
          <a:solidFill>
            <a:srgbClr val="F4F1F6"/>
          </a:solidFill>
          <a:ln w="12700">
            <a:solidFill>
              <a:srgbClr val="C6BAD0"/>
            </a:solidFill>
            <a:prstDash val="solid"/>
          </a:ln>
        </p:spPr>
      </p:sp>
      <p:sp>
        <p:nvSpPr>
          <p:cNvPr id="13" name="card-hex"/>
          <p:cNvSpPr/>
          <p:nvPr/>
        </p:nvSpPr>
        <p:spPr>
          <a:xfrm>
            <a:off x="6415888" y="1572768"/>
            <a:ext cx="640080" cy="554309"/>
          </a:xfrm>
          <a:prstGeom prst="hexagon">
            <a:avLst/>
          </a:prstGeom>
          <a:solidFill>
            <a:srgbClr val="5B3A7A"/>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character whose name is the title of the book is called an ___ hero or villain.</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eponymous  ·  anonymous  ·  archetypal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does Count Dracula's appearance feel uncanny to Jonathan Harker?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is invisible except for his eyes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looks almost human, but small details are wrong, such as the hairs on his palms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wears a mask that hides his face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looks nothing like a human being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Rebellious, proud, troubled and set apart from society</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Byronic hero is an antihero named after Lord Byron: rebellious, arrogant, anti-social or exiled, and tortured by inner turmoil.</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eponymous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character whose name is the title of the book is called an ___ hero or villain.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Eponymous means giving your name to something. Macbeth, Othello and Dracula are all eponymous characters.</a:t>
            </a:r>
            <a:endParaRPr lang="en-US" sz="20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He looks almost human, but small details are wrong, such as the hairs on his palms</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uncanny is the familiar made strange. Dracula has a nobleman's face, but pointed ears, sharp protruding teeth…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archetype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type of character that appears in many stories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brooding, lonely hero is an archetype.</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trait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quality that makes a character who they are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Pride is one of his strongest traits.</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eponymous</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giving their name to the title of the book</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Dracula is the eponymous villain of Dracula.</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antagonist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character who works against the hero</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vampire is the antagonist of the story.</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uncanny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familiar, but strange in a way that disturbs you</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His smile was uncanny: almost right, but not quite.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Gothic stories use the same kinds of character again and again.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these character types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archetypes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Byronic hero is proud, moody and alone.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is named after the poet Lord Byron.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damsel in distress is a young woman in danger.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is often locked in a castle by a cruel man.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femme fatale is charming but dangerous to know.</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antagonist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villain who works against the hero.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Dracula and Frankenstein's creature are famous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antagonists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Writers make them frightening by making them almost human.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Something small is wrong: the teeth, the hands, the eyes.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feeling is called 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uncanny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will create a Gothic character of your own.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Byronic hero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Byronic heroes are shown, not told. Brontë never writes ‘Heathcliff was moody’. She shows his eyes, his hands and his teeth.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felt interested in a man who seemed more exaggeratedly reserved than myself.</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E. Brontë, Wuthering Heights (1847), chapter 1</a:t>
            </a:r>
            <a:endParaRPr lang="en-US" sz="2600" dirty="0"/>
          </a:p>
        </p:txBody>
      </p:sp>
      <p:sp>
        <p:nvSpPr>
          <p:cNvPr id="14" name="bullet-card"/>
          <p:cNvSpPr/>
          <p:nvPr/>
        </p:nvSpPr>
        <p:spPr>
          <a:xfrm>
            <a:off x="548640" y="1389888"/>
            <a:ext cx="5074920" cy="1320546"/>
          </a:xfrm>
          <a:prstGeom prst="roundRect">
            <a:avLst>
              <a:gd name="adj" fmla="val 5540"/>
            </a:avLst>
          </a:prstGeom>
          <a:solidFill>
            <a:srgbClr val="F2EFF4"/>
          </a:solidFill>
          <a:ln/>
        </p:spPr>
      </p:sp>
      <p:sp>
        <p:nvSpPr>
          <p:cNvPr id="15" name="bullet-hex"/>
          <p:cNvSpPr/>
          <p:nvPr/>
        </p:nvSpPr>
        <p:spPr>
          <a:xfrm>
            <a:off x="676656" y="1883868"/>
            <a:ext cx="384048" cy="332586"/>
          </a:xfrm>
          <a:prstGeom prst="hexagon">
            <a:avLst/>
          </a:prstGeom>
          <a:solidFill>
            <a:srgbClr val="5B3A7A"/>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archetype is a character type that turns up in story after story, so that readers know it at once.</a:t>
            </a:r>
            <a:endParaRPr lang="en-US" sz="2200" dirty="0"/>
          </a:p>
        </p:txBody>
      </p:sp>
      <p:sp>
        <p:nvSpPr>
          <p:cNvPr id="17" name="bullet-card"/>
          <p:cNvSpPr/>
          <p:nvPr/>
        </p:nvSpPr>
        <p:spPr>
          <a:xfrm>
            <a:off x="548640" y="2856738"/>
            <a:ext cx="5074920" cy="1661414"/>
          </a:xfrm>
          <a:prstGeom prst="roundRect">
            <a:avLst>
              <a:gd name="adj" fmla="val 4403"/>
            </a:avLst>
          </a:prstGeom>
          <a:solidFill>
            <a:srgbClr val="F2EFF4"/>
          </a:solidFill>
          <a:ln/>
        </p:spPr>
      </p:sp>
      <p:sp>
        <p:nvSpPr>
          <p:cNvPr id="18" name="bullet-hex"/>
          <p:cNvSpPr/>
          <p:nvPr/>
        </p:nvSpPr>
        <p:spPr>
          <a:xfrm>
            <a:off x="676656" y="3521152"/>
            <a:ext cx="384048" cy="332586"/>
          </a:xfrm>
          <a:prstGeom prst="hexagon">
            <a:avLst/>
          </a:prstGeom>
          <a:solidFill>
            <a:srgbClr val="B8862B"/>
          </a:solidFill>
          <a:ln/>
        </p:spPr>
      </p:sp>
      <p:sp>
        <p:nvSpPr>
          <p:cNvPr id="19"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Byronic hero is named after the Romantic poet Lord Byron, who was famously described as ‘mad, bad, and dangerous to know’.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damsel in distress and the femme fatale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damsel who rescues herself, or a femme fatale who is the hero, is still using the archetype. Breaking a pattern only works if the reader knows the pattern.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At those words he seized the cold hand of Isabella, who was half-dead with fright and horror. She shrieked and started from him.</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Walpole, The Castle of Otranto (1764), chapter 1</a:t>
            </a:r>
            <a:endParaRPr lang="en-US" sz="2600" dirty="0"/>
          </a:p>
        </p:txBody>
      </p:sp>
      <p:sp>
        <p:nvSpPr>
          <p:cNvPr id="14" name="bullet-card"/>
          <p:cNvSpPr/>
          <p:nvPr/>
        </p:nvSpPr>
        <p:spPr>
          <a:xfrm>
            <a:off x="548640" y="1389888"/>
            <a:ext cx="5074920" cy="841925"/>
          </a:xfrm>
          <a:prstGeom prst="roundRect">
            <a:avLst>
              <a:gd name="adj" fmla="val 8689"/>
            </a:avLst>
          </a:prstGeom>
          <a:solidFill>
            <a:srgbClr val="F2EFF4"/>
          </a:solidFill>
          <a:ln/>
        </p:spPr>
      </p:sp>
      <p:sp>
        <p:nvSpPr>
          <p:cNvPr id="15" name="bullet-hex"/>
          <p:cNvSpPr/>
          <p:nvPr/>
        </p:nvSpPr>
        <p:spPr>
          <a:xfrm>
            <a:off x="676656" y="1644558"/>
            <a:ext cx="384048" cy="332586"/>
          </a:xfrm>
          <a:prstGeom prst="hexagon">
            <a:avLst/>
          </a:prstGeom>
          <a:solidFill>
            <a:srgbClr val="5B3A7A"/>
          </a:solidFill>
          <a:ln/>
        </p:spPr>
      </p:sp>
      <p:sp>
        <p:nvSpPr>
          <p:cNvPr id="16" name="bullet"/>
          <p:cNvSpPr txBox="1"/>
          <p:nvPr/>
        </p:nvSpPr>
        <p:spPr>
          <a:xfrm>
            <a:off x="1143000" y="1389888"/>
            <a:ext cx="4389120" cy="84192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word ‘damsel’ comes from the French for ‘young lady’.</a:t>
            </a:r>
            <a:endParaRPr lang="en-US" sz="2000" dirty="0"/>
          </a:p>
        </p:txBody>
      </p:sp>
      <p:sp>
        <p:nvSpPr>
          <p:cNvPr id="17" name="bullet-card"/>
          <p:cNvSpPr/>
          <p:nvPr/>
        </p:nvSpPr>
        <p:spPr>
          <a:xfrm>
            <a:off x="548640" y="2378117"/>
            <a:ext cx="5074920" cy="841925"/>
          </a:xfrm>
          <a:prstGeom prst="roundRect">
            <a:avLst>
              <a:gd name="adj" fmla="val 8689"/>
            </a:avLst>
          </a:prstGeom>
          <a:solidFill>
            <a:srgbClr val="F2EFF4"/>
          </a:solidFill>
          <a:ln/>
        </p:spPr>
      </p:sp>
      <p:sp>
        <p:nvSpPr>
          <p:cNvPr id="18" name="bullet-hex"/>
          <p:cNvSpPr/>
          <p:nvPr/>
        </p:nvSpPr>
        <p:spPr>
          <a:xfrm>
            <a:off x="676656" y="2632787"/>
            <a:ext cx="384048" cy="332586"/>
          </a:xfrm>
          <a:prstGeom prst="hexagon">
            <a:avLst/>
          </a:prstGeom>
          <a:solidFill>
            <a:srgbClr val="B8862B"/>
          </a:solidFill>
          <a:ln/>
        </p:spPr>
      </p:sp>
      <p:sp>
        <p:nvSpPr>
          <p:cNvPr id="19" name="bullet"/>
          <p:cNvSpPr txBox="1"/>
          <p:nvPr/>
        </p:nvSpPr>
        <p:spPr>
          <a:xfrm>
            <a:off x="1143000" y="2378117"/>
            <a:ext cx="4389120" cy="84192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Isabella in The Castle of Otranto is the first of them.</a:t>
            </a:r>
            <a:endParaRPr lang="en-US" sz="2000" dirty="0"/>
          </a:p>
        </p:txBody>
      </p:sp>
      <p:sp>
        <p:nvSpPr>
          <p:cNvPr id="20" name="bullet-card"/>
          <p:cNvSpPr/>
          <p:nvPr/>
        </p:nvSpPr>
        <p:spPr>
          <a:xfrm>
            <a:off x="548640" y="3366347"/>
            <a:ext cx="5074920" cy="1151805"/>
          </a:xfrm>
          <a:prstGeom prst="roundRect">
            <a:avLst>
              <a:gd name="adj" fmla="val 6351"/>
            </a:avLst>
          </a:prstGeom>
          <a:solidFill>
            <a:srgbClr val="F2EFF4"/>
          </a:solidFill>
          <a:ln/>
        </p:spPr>
      </p:sp>
      <p:sp>
        <p:nvSpPr>
          <p:cNvPr id="21" name="bullet-hex"/>
          <p:cNvSpPr/>
          <p:nvPr/>
        </p:nvSpPr>
        <p:spPr>
          <a:xfrm>
            <a:off x="676656" y="3775957"/>
            <a:ext cx="384048" cy="332586"/>
          </a:xfrm>
          <a:prstGeom prst="hexagon">
            <a:avLst/>
          </a:prstGeom>
          <a:solidFill>
            <a:srgbClr val="5B3A7A"/>
          </a:solidFill>
          <a:ln/>
        </p:spPr>
      </p:sp>
      <p:sp>
        <p:nvSpPr>
          <p:cNvPr id="22" name="bullet"/>
          <p:cNvSpPr txBox="1"/>
          <p:nvPr/>
        </p:nvSpPr>
        <p:spPr>
          <a:xfrm>
            <a:off x="1143000" y="3366347"/>
            <a:ext cx="4389120" cy="115180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femme fatale, French for ‘deadly woman’, is her opposite: charming, mysterious and dangerous.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Antagonists and the uncanny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Give your antagonist one wrong detail that the narrator notices too late. The reader will remember it longer than any amount of blood.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Strange to say, there were hairs in the centre of the palm. The nails were long and fine, and cut to a sharp point. As the Count leaned over me and his hands touched me, I could not repress a shudder.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Stoker, Dracula (1897), chapter 2</a:t>
            </a:r>
            <a:endParaRPr lang="en-US" sz="2600" dirty="0"/>
          </a:p>
        </p:txBody>
      </p:sp>
      <p:sp>
        <p:nvSpPr>
          <p:cNvPr id="14" name="bullet-card"/>
          <p:cNvSpPr/>
          <p:nvPr/>
        </p:nvSpPr>
        <p:spPr>
          <a:xfrm>
            <a:off x="548640" y="1389888"/>
            <a:ext cx="5074920" cy="759291"/>
          </a:xfrm>
          <a:prstGeom prst="roundRect">
            <a:avLst>
              <a:gd name="adj" fmla="val 9634"/>
            </a:avLst>
          </a:prstGeom>
          <a:solidFill>
            <a:srgbClr val="F2EFF4"/>
          </a:solidFill>
          <a:ln/>
        </p:spPr>
      </p:sp>
      <p:sp>
        <p:nvSpPr>
          <p:cNvPr id="15" name="bullet-hex"/>
          <p:cNvSpPr/>
          <p:nvPr/>
        </p:nvSpPr>
        <p:spPr>
          <a:xfrm>
            <a:off x="676656" y="1603241"/>
            <a:ext cx="384048" cy="332586"/>
          </a:xfrm>
          <a:prstGeom prst="hexagon">
            <a:avLst/>
          </a:prstGeom>
          <a:solidFill>
            <a:srgbClr val="5B3A7A"/>
          </a:solidFill>
          <a:ln/>
        </p:spPr>
      </p:sp>
      <p:sp>
        <p:nvSpPr>
          <p:cNvPr id="16"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antagonist is the character who works against the hero.</a:t>
            </a:r>
            <a:endParaRPr lang="en-US" sz="1800" dirty="0"/>
          </a:p>
        </p:txBody>
      </p:sp>
      <p:sp>
        <p:nvSpPr>
          <p:cNvPr id="17" name="bullet-card"/>
          <p:cNvSpPr/>
          <p:nvPr/>
        </p:nvSpPr>
        <p:spPr>
          <a:xfrm>
            <a:off x="548640" y="2295483"/>
            <a:ext cx="5074920" cy="759291"/>
          </a:xfrm>
          <a:prstGeom prst="roundRect">
            <a:avLst>
              <a:gd name="adj" fmla="val 9634"/>
            </a:avLst>
          </a:prstGeom>
          <a:solidFill>
            <a:srgbClr val="F2EFF4"/>
          </a:solidFill>
          <a:ln/>
        </p:spPr>
      </p:sp>
      <p:sp>
        <p:nvSpPr>
          <p:cNvPr id="18" name="bullet-hex"/>
          <p:cNvSpPr/>
          <p:nvPr/>
        </p:nvSpPr>
        <p:spPr>
          <a:xfrm>
            <a:off x="676656" y="2508835"/>
            <a:ext cx="384048" cy="332586"/>
          </a:xfrm>
          <a:prstGeom prst="hexagon">
            <a:avLst/>
          </a:prstGeom>
          <a:solidFill>
            <a:srgbClr val="B8862B"/>
          </a:solidFill>
          <a:ln/>
        </p:spPr>
      </p:sp>
      <p:sp>
        <p:nvSpPr>
          <p:cNvPr id="19" name="bullet"/>
          <p:cNvSpPr txBox="1"/>
          <p:nvPr/>
        </p:nvSpPr>
        <p:spPr>
          <a:xfrm>
            <a:off x="1143000" y="2295483"/>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Stoker builds Dracula from ordinary human features with small, wrong details.</a:t>
            </a:r>
            <a:endParaRPr lang="en-US" sz="1800" dirty="0"/>
          </a:p>
        </p:txBody>
      </p:sp>
      <p:sp>
        <p:nvSpPr>
          <p:cNvPr id="20" name="bullet-card"/>
          <p:cNvSpPr/>
          <p:nvPr/>
        </p:nvSpPr>
        <p:spPr>
          <a:xfrm>
            <a:off x="548640" y="3201077"/>
            <a:ext cx="5074920" cy="1317075"/>
          </a:xfrm>
          <a:prstGeom prst="roundRect">
            <a:avLst>
              <a:gd name="adj" fmla="val 5554"/>
            </a:avLst>
          </a:prstGeom>
          <a:solidFill>
            <a:srgbClr val="F2EFF4"/>
          </a:solidFill>
          <a:ln/>
        </p:spPr>
      </p:sp>
      <p:sp>
        <p:nvSpPr>
          <p:cNvPr id="21" name="bullet-hex"/>
          <p:cNvSpPr/>
          <p:nvPr/>
        </p:nvSpPr>
        <p:spPr>
          <a:xfrm>
            <a:off x="676656" y="3693322"/>
            <a:ext cx="384048" cy="332586"/>
          </a:xfrm>
          <a:prstGeom prst="hexagon">
            <a:avLst/>
          </a:prstGeom>
          <a:solidFill>
            <a:srgbClr val="5B3A7A"/>
          </a:solidFill>
          <a:ln/>
        </p:spPr>
      </p:sp>
      <p:sp>
        <p:nvSpPr>
          <p:cNvPr id="22" name="bullet"/>
          <p:cNvSpPr txBox="1"/>
          <p:nvPr/>
        </p:nvSpPr>
        <p:spPr>
          <a:xfrm>
            <a:off x="1143000" y="3201077"/>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Mary Shelley does the reverse. Victor Frankenstein chose each feature of his creature to be beautiful: lustrous black hair, teeth of pearly whiteness.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Writing your own character: show, don't tell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comparison does two jobs: it helps the reader see, and it tells them how to feel. ‘Teeth like piano keys’ and ‘teeth like gravestones’ describe the same mouth.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his hair was of a lustrous black, and flowing; his teeth of a pearly whiteness; but these luxuriances only formed a more horrid contrast with his watery eyes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Shelley, Frankenstein (1818), chapter 5</a:t>
            </a:r>
            <a:endParaRPr lang="en-US" sz="2600" dirty="0"/>
          </a:p>
        </p:txBody>
      </p:sp>
      <p:sp>
        <p:nvSpPr>
          <p:cNvPr id="14" name="bullet-card"/>
          <p:cNvSpPr/>
          <p:nvPr/>
        </p:nvSpPr>
        <p:spPr>
          <a:xfrm>
            <a:off x="548640" y="1389888"/>
            <a:ext cx="5074920" cy="1212088"/>
          </a:xfrm>
          <a:prstGeom prst="roundRect">
            <a:avLst>
              <a:gd name="adj" fmla="val 6035"/>
            </a:avLst>
          </a:prstGeom>
          <a:solidFill>
            <a:srgbClr val="F2EFF4"/>
          </a:solidFill>
          <a:ln/>
        </p:spPr>
      </p:sp>
      <p:sp>
        <p:nvSpPr>
          <p:cNvPr id="15" name="bullet-hex"/>
          <p:cNvSpPr/>
          <p:nvPr/>
        </p:nvSpPr>
        <p:spPr>
          <a:xfrm>
            <a:off x="676656" y="1829639"/>
            <a:ext cx="384048" cy="332586"/>
          </a:xfrm>
          <a:prstGeom prst="hexagon">
            <a:avLst/>
          </a:prstGeom>
          <a:solidFill>
            <a:srgbClr val="5B3A7A"/>
          </a:solidFill>
          <a:ln/>
        </p:spPr>
      </p:sp>
      <p:sp>
        <p:nvSpPr>
          <p:cNvPr id="16" name="bullet"/>
          <p:cNvSpPr txBox="1"/>
          <p:nvPr/>
        </p:nvSpPr>
        <p:spPr>
          <a:xfrm>
            <a:off x="1143000" y="1389888"/>
            <a:ext cx="4389120" cy="12120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you describe a character, decide first what you want the reader to think about them, then show it rather than stating it.</a:t>
            </a:r>
            <a:endParaRPr lang="en-US" sz="1800" dirty="0"/>
          </a:p>
        </p:txBody>
      </p:sp>
      <p:sp>
        <p:nvSpPr>
          <p:cNvPr id="17" name="bullet-card"/>
          <p:cNvSpPr/>
          <p:nvPr/>
        </p:nvSpPr>
        <p:spPr>
          <a:xfrm>
            <a:off x="548640" y="2748280"/>
            <a:ext cx="5074920" cy="1769872"/>
          </a:xfrm>
          <a:prstGeom prst="roundRect">
            <a:avLst>
              <a:gd name="adj" fmla="val 4133"/>
            </a:avLst>
          </a:prstGeom>
          <a:solidFill>
            <a:srgbClr val="F2EFF4"/>
          </a:solidFill>
          <a:ln/>
        </p:spPr>
      </p:sp>
      <p:sp>
        <p:nvSpPr>
          <p:cNvPr id="18" name="bullet-hex"/>
          <p:cNvSpPr/>
          <p:nvPr/>
        </p:nvSpPr>
        <p:spPr>
          <a:xfrm>
            <a:off x="676656" y="3466923"/>
            <a:ext cx="384048" cy="332586"/>
          </a:xfrm>
          <a:prstGeom prst="hexagon">
            <a:avLst/>
          </a:prstGeom>
          <a:solidFill>
            <a:srgbClr val="B8862B"/>
          </a:solidFill>
          <a:ln/>
        </p:spPr>
      </p:sp>
      <p:sp>
        <p:nvSpPr>
          <p:cNvPr id="19" name="bullet"/>
          <p:cNvSpPr txBox="1"/>
          <p:nvPr/>
        </p:nvSpPr>
        <p:spPr>
          <a:xfrm>
            <a:off x="1143000" y="2748280"/>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a route, as you did with setting. You can start at the top of the body and move down, start with clothing and then zoom in on particular features, or zoom in on a single detail and then zoom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Which archetype?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character description to the Gothic archetype it fits.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Which archetype?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character description to the Gothic archetype it fits.</a:t>
            </a:r>
            <a:endParaRPr lang="en-US" sz="2200" dirty="0"/>
          </a:p>
        </p:txBody>
      </p:sp>
      <p:sp>
        <p:nvSpPr>
          <p:cNvPr id="11" name="match-card"/>
          <p:cNvSpPr/>
          <p:nvPr/>
        </p:nvSpPr>
        <p:spPr>
          <a:xfrm>
            <a:off x="777240" y="2468331"/>
            <a:ext cx="5135728" cy="1206852"/>
          </a:xfrm>
          <a:prstGeom prst="roundRect">
            <a:avLst>
              <a:gd name="adj" fmla="val 6061"/>
            </a:avLst>
          </a:prstGeom>
          <a:solidFill>
            <a:srgbClr val="F2EFF4"/>
          </a:solidFill>
          <a:ln/>
        </p:spPr>
      </p:sp>
      <p:sp>
        <p:nvSpPr>
          <p:cNvPr id="12" name="match-hex"/>
          <p:cNvSpPr/>
          <p:nvPr/>
        </p:nvSpPr>
        <p:spPr>
          <a:xfrm>
            <a:off x="850392" y="2905465"/>
            <a:ext cx="384048" cy="332586"/>
          </a:xfrm>
          <a:prstGeom prst="hexagon">
            <a:avLst/>
          </a:prstGeom>
          <a:solidFill>
            <a:srgbClr val="5B3A7A"/>
          </a:solidFill>
          <a:ln/>
        </p:spPr>
      </p:sp>
      <p:sp>
        <p:nvSpPr>
          <p:cNvPr id="13" name="match-hex-label"/>
          <p:cNvSpPr txBox="1"/>
          <p:nvPr/>
        </p:nvSpPr>
        <p:spPr>
          <a:xfrm>
            <a:off x="850392" y="29054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2068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brooding nobleman who lives alone on the moor, scorns his neighbours and will not speak of his past</a:t>
            </a:r>
            <a:endParaRPr lang="en-US" sz="2000" dirty="0"/>
          </a:p>
        </p:txBody>
      </p:sp>
      <p:sp>
        <p:nvSpPr>
          <p:cNvPr id="15" name="match-card"/>
          <p:cNvSpPr/>
          <p:nvPr/>
        </p:nvSpPr>
        <p:spPr>
          <a:xfrm>
            <a:off x="6278728" y="2468331"/>
            <a:ext cx="5135728" cy="1206852"/>
          </a:xfrm>
          <a:prstGeom prst="roundRect">
            <a:avLst>
              <a:gd name="adj" fmla="val 6061"/>
            </a:avLst>
          </a:prstGeom>
          <a:solidFill>
            <a:srgbClr val="F6F0E6"/>
          </a:solidFill>
          <a:ln/>
        </p:spPr>
      </p:sp>
      <p:sp>
        <p:nvSpPr>
          <p:cNvPr id="16" name="match-hex"/>
          <p:cNvSpPr/>
          <p:nvPr/>
        </p:nvSpPr>
        <p:spPr>
          <a:xfrm>
            <a:off x="6351880" y="2905465"/>
            <a:ext cx="384048" cy="332586"/>
          </a:xfrm>
          <a:prstGeom prst="hexagon">
            <a:avLst/>
          </a:prstGeom>
          <a:solidFill>
            <a:srgbClr val="B8862B"/>
          </a:solidFill>
          <a:ln/>
        </p:spPr>
      </p:sp>
      <p:sp>
        <p:nvSpPr>
          <p:cNvPr id="17" name="match-hex-label"/>
          <p:cNvSpPr txBox="1"/>
          <p:nvPr/>
        </p:nvSpPr>
        <p:spPr>
          <a:xfrm>
            <a:off x="6351880" y="29054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2068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Femme fatale</a:t>
            </a:r>
            <a:endParaRPr lang="en-US" sz="2000" dirty="0"/>
          </a:p>
        </p:txBody>
      </p:sp>
      <p:sp>
        <p:nvSpPr>
          <p:cNvPr id="19" name="match-card"/>
          <p:cNvSpPr/>
          <p:nvPr/>
        </p:nvSpPr>
        <p:spPr>
          <a:xfrm>
            <a:off x="777240" y="3766624"/>
            <a:ext cx="5135728" cy="896972"/>
          </a:xfrm>
          <a:prstGeom prst="roundRect">
            <a:avLst>
              <a:gd name="adj" fmla="val 8155"/>
            </a:avLst>
          </a:prstGeom>
          <a:solidFill>
            <a:srgbClr val="F2EFF4"/>
          </a:solidFill>
          <a:ln/>
        </p:spPr>
      </p:sp>
      <p:sp>
        <p:nvSpPr>
          <p:cNvPr id="20" name="match-hex"/>
          <p:cNvSpPr/>
          <p:nvPr/>
        </p:nvSpPr>
        <p:spPr>
          <a:xfrm>
            <a:off x="850392" y="4048817"/>
            <a:ext cx="384048" cy="332586"/>
          </a:xfrm>
          <a:prstGeom prst="hexagon">
            <a:avLst/>
          </a:prstGeom>
          <a:solidFill>
            <a:srgbClr val="5B3A7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66624"/>
            <a:ext cx="4541368" cy="89697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young heiress locked in a tower room by the guardian who wants her fortune</a:t>
            </a:r>
            <a:endParaRPr lang="en-US" sz="2000" dirty="0"/>
          </a:p>
        </p:txBody>
      </p:sp>
      <p:sp>
        <p:nvSpPr>
          <p:cNvPr id="23" name="match-card"/>
          <p:cNvSpPr/>
          <p:nvPr/>
        </p:nvSpPr>
        <p:spPr>
          <a:xfrm>
            <a:off x="6278728" y="3766624"/>
            <a:ext cx="5135728" cy="896972"/>
          </a:xfrm>
          <a:prstGeom prst="roundRect">
            <a:avLst>
              <a:gd name="adj" fmla="val 8155"/>
            </a:avLst>
          </a:prstGeom>
          <a:solidFill>
            <a:srgbClr val="F6F0E6"/>
          </a:solidFill>
          <a:ln/>
        </p:spPr>
      </p:sp>
      <p:sp>
        <p:nvSpPr>
          <p:cNvPr id="24" name="match-hex"/>
          <p:cNvSpPr/>
          <p:nvPr/>
        </p:nvSpPr>
        <p:spPr>
          <a:xfrm>
            <a:off x="6351880" y="4048817"/>
            <a:ext cx="384048" cy="332586"/>
          </a:xfrm>
          <a:prstGeom prst="hexagon">
            <a:avLst/>
          </a:prstGeom>
          <a:solidFill>
            <a:srgbClr val="B8862B"/>
          </a:solidFill>
          <a:ln/>
        </p:spPr>
      </p:sp>
      <p:sp>
        <p:nvSpPr>
          <p:cNvPr id="25"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766624"/>
            <a:ext cx="4541368" cy="89697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Damsel in distress</a:t>
            </a:r>
            <a:endParaRPr lang="en-US" sz="2000" dirty="0"/>
          </a:p>
        </p:txBody>
      </p:sp>
      <p:sp>
        <p:nvSpPr>
          <p:cNvPr id="27" name="match-card"/>
          <p:cNvSpPr/>
          <p:nvPr/>
        </p:nvSpPr>
        <p:spPr>
          <a:xfrm>
            <a:off x="777240" y="4755036"/>
            <a:ext cx="5135728" cy="1206852"/>
          </a:xfrm>
          <a:prstGeom prst="roundRect">
            <a:avLst>
              <a:gd name="adj" fmla="val 6061"/>
            </a:avLst>
          </a:prstGeom>
          <a:solidFill>
            <a:srgbClr val="F2EFF4"/>
          </a:solidFill>
          <a:ln/>
        </p:spPr>
      </p:sp>
      <p:sp>
        <p:nvSpPr>
          <p:cNvPr id="28" name="match-hex"/>
          <p:cNvSpPr/>
          <p:nvPr/>
        </p:nvSpPr>
        <p:spPr>
          <a:xfrm>
            <a:off x="850392" y="5192169"/>
            <a:ext cx="384048" cy="332586"/>
          </a:xfrm>
          <a:prstGeom prst="hexagon">
            <a:avLst/>
          </a:prstGeom>
          <a:solidFill>
            <a:srgbClr val="5B3A7A"/>
          </a:solidFill>
          <a:ln/>
        </p:spPr>
      </p:sp>
      <p:sp>
        <p:nvSpPr>
          <p:cNvPr id="29" name="match-hex-label"/>
          <p:cNvSpPr txBox="1"/>
          <p:nvPr/>
        </p:nvSpPr>
        <p:spPr>
          <a:xfrm>
            <a:off x="850392" y="51921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755036"/>
            <a:ext cx="4541368" cy="12068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charming stranger whose every admirer comes to harm, and who seems to enjoy it</a:t>
            </a:r>
            <a:endParaRPr lang="en-US" sz="2000" dirty="0"/>
          </a:p>
        </p:txBody>
      </p:sp>
      <p:sp>
        <p:nvSpPr>
          <p:cNvPr id="31" name="match-card"/>
          <p:cNvSpPr/>
          <p:nvPr/>
        </p:nvSpPr>
        <p:spPr>
          <a:xfrm>
            <a:off x="6278728" y="4755036"/>
            <a:ext cx="5135728" cy="1206852"/>
          </a:xfrm>
          <a:prstGeom prst="roundRect">
            <a:avLst>
              <a:gd name="adj" fmla="val 6061"/>
            </a:avLst>
          </a:prstGeom>
          <a:solidFill>
            <a:srgbClr val="F6F0E6"/>
          </a:solidFill>
          <a:ln/>
        </p:spPr>
      </p:sp>
      <p:sp>
        <p:nvSpPr>
          <p:cNvPr id="32" name="match-hex"/>
          <p:cNvSpPr/>
          <p:nvPr/>
        </p:nvSpPr>
        <p:spPr>
          <a:xfrm>
            <a:off x="6351880" y="5192169"/>
            <a:ext cx="384048" cy="332586"/>
          </a:xfrm>
          <a:prstGeom prst="hexagon">
            <a:avLst/>
          </a:prstGeom>
          <a:solidFill>
            <a:srgbClr val="B8862B"/>
          </a:solidFill>
          <a:ln/>
        </p:spPr>
      </p:sp>
      <p:sp>
        <p:nvSpPr>
          <p:cNvPr id="33" name="match-hex-label"/>
          <p:cNvSpPr txBox="1"/>
          <p:nvPr/>
        </p:nvSpPr>
        <p:spPr>
          <a:xfrm>
            <a:off x="6351880" y="51921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755036"/>
            <a:ext cx="4541368" cy="12068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Byronic hero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Which archetype?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character description to the Gothic archetype it fits.</a:t>
            </a:r>
            <a:endParaRPr lang="en-US" sz="2200" dirty="0"/>
          </a:p>
        </p:txBody>
      </p:sp>
      <p:sp>
        <p:nvSpPr>
          <p:cNvPr id="11" name="match-card"/>
          <p:cNvSpPr/>
          <p:nvPr/>
        </p:nvSpPr>
        <p:spPr>
          <a:xfrm>
            <a:off x="777240" y="2468331"/>
            <a:ext cx="5135728" cy="1506220"/>
          </a:xfrm>
          <a:prstGeom prst="roundRect">
            <a:avLst>
              <a:gd name="adj" fmla="val 4857"/>
            </a:avLst>
          </a:prstGeom>
          <a:solidFill>
            <a:srgbClr val="F2EFF4"/>
          </a:solidFill>
          <a:ln/>
        </p:spPr>
      </p:sp>
      <p:sp>
        <p:nvSpPr>
          <p:cNvPr id="12" name="match-hex"/>
          <p:cNvSpPr/>
          <p:nvPr/>
        </p:nvSpPr>
        <p:spPr>
          <a:xfrm>
            <a:off x="850392" y="3055149"/>
            <a:ext cx="384048" cy="332586"/>
          </a:xfrm>
          <a:prstGeom prst="hexagon">
            <a:avLst/>
          </a:prstGeom>
          <a:solidFill>
            <a:srgbClr val="5B3A7A"/>
          </a:solidFill>
          <a:ln/>
        </p:spPr>
      </p:sp>
      <p:sp>
        <p:nvSpPr>
          <p:cNvPr id="13" name="match-hex-label"/>
          <p:cNvSpPr txBox="1"/>
          <p:nvPr/>
        </p:nvSpPr>
        <p:spPr>
          <a:xfrm>
            <a:off x="850392"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pale figure who hunts the hero from chapter one and wants revenge on the family</a:t>
            </a:r>
            <a:endParaRPr lang="en-US" sz="2200" dirty="0"/>
          </a:p>
        </p:txBody>
      </p:sp>
      <p:sp>
        <p:nvSpPr>
          <p:cNvPr id="15" name="match-card"/>
          <p:cNvSpPr/>
          <p:nvPr/>
        </p:nvSpPr>
        <p:spPr>
          <a:xfrm>
            <a:off x="6278728" y="2468331"/>
            <a:ext cx="5135728" cy="1506220"/>
          </a:xfrm>
          <a:prstGeom prst="roundRect">
            <a:avLst>
              <a:gd name="adj" fmla="val 4857"/>
            </a:avLst>
          </a:prstGeom>
          <a:solidFill>
            <a:srgbClr val="F6F0E6"/>
          </a:solidFill>
          <a:ln/>
        </p:spPr>
      </p:sp>
      <p:sp>
        <p:nvSpPr>
          <p:cNvPr id="16" name="match-hex"/>
          <p:cNvSpPr/>
          <p:nvPr/>
        </p:nvSpPr>
        <p:spPr>
          <a:xfrm>
            <a:off x="6351880" y="3055149"/>
            <a:ext cx="384048" cy="332586"/>
          </a:xfrm>
          <a:prstGeom prst="hexagon">
            <a:avLst/>
          </a:prstGeom>
          <a:solidFill>
            <a:srgbClr val="B8862B"/>
          </a:solidFill>
          <a:ln/>
        </p:spPr>
      </p:sp>
      <p:sp>
        <p:nvSpPr>
          <p:cNvPr id="17" name="match-hex-label"/>
          <p:cNvSpPr txBox="1"/>
          <p:nvPr/>
        </p:nvSpPr>
        <p:spPr>
          <a:xfrm>
            <a:off x="6351880"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Eponymous character</a:t>
            </a:r>
            <a:endParaRPr lang="en-US" sz="2200" dirty="0"/>
          </a:p>
        </p:txBody>
      </p:sp>
      <p:sp>
        <p:nvSpPr>
          <p:cNvPr id="19" name="match-card"/>
          <p:cNvSpPr/>
          <p:nvPr/>
        </p:nvSpPr>
        <p:spPr>
          <a:xfrm>
            <a:off x="777240" y="4065991"/>
            <a:ext cx="5135728" cy="1165352"/>
          </a:xfrm>
          <a:prstGeom prst="roundRect">
            <a:avLst>
              <a:gd name="adj" fmla="val 6277"/>
            </a:avLst>
          </a:prstGeom>
          <a:solidFill>
            <a:srgbClr val="F2EFF4"/>
          </a:solidFill>
          <a:ln/>
        </p:spPr>
      </p:sp>
      <p:sp>
        <p:nvSpPr>
          <p:cNvPr id="20" name="match-hex"/>
          <p:cNvSpPr/>
          <p:nvPr/>
        </p:nvSpPr>
        <p:spPr>
          <a:xfrm>
            <a:off x="850392" y="4482375"/>
            <a:ext cx="384048" cy="332586"/>
          </a:xfrm>
          <a:prstGeom prst="hexagon">
            <a:avLst/>
          </a:prstGeom>
          <a:solidFill>
            <a:srgbClr val="5B3A7A"/>
          </a:solidFill>
          <a:ln/>
        </p:spPr>
      </p:sp>
      <p:sp>
        <p:nvSpPr>
          <p:cNvPr id="21" name="match-hex-label"/>
          <p:cNvSpPr txBox="1"/>
          <p:nvPr/>
        </p:nvSpPr>
        <p:spPr>
          <a:xfrm>
            <a:off x="850392" y="44823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06599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character whose name is on the cover of the book</a:t>
            </a:r>
            <a:endParaRPr lang="en-US" sz="2200" dirty="0"/>
          </a:p>
        </p:txBody>
      </p:sp>
      <p:sp>
        <p:nvSpPr>
          <p:cNvPr id="23" name="match-card"/>
          <p:cNvSpPr/>
          <p:nvPr/>
        </p:nvSpPr>
        <p:spPr>
          <a:xfrm>
            <a:off x="6278728" y="4065991"/>
            <a:ext cx="5135728" cy="1165352"/>
          </a:xfrm>
          <a:prstGeom prst="roundRect">
            <a:avLst>
              <a:gd name="adj" fmla="val 6277"/>
            </a:avLst>
          </a:prstGeom>
          <a:solidFill>
            <a:srgbClr val="F6F0E6"/>
          </a:solidFill>
          <a:ln/>
        </p:spPr>
      </p:sp>
      <p:sp>
        <p:nvSpPr>
          <p:cNvPr id="24" name="match-hex"/>
          <p:cNvSpPr/>
          <p:nvPr/>
        </p:nvSpPr>
        <p:spPr>
          <a:xfrm>
            <a:off x="6351880" y="4482375"/>
            <a:ext cx="384048" cy="332586"/>
          </a:xfrm>
          <a:prstGeom prst="hexagon">
            <a:avLst/>
          </a:prstGeom>
          <a:solidFill>
            <a:srgbClr val="B8862B"/>
          </a:solidFill>
          <a:ln/>
        </p:spPr>
      </p:sp>
      <p:sp>
        <p:nvSpPr>
          <p:cNvPr id="25" name="match-hex-label"/>
          <p:cNvSpPr txBox="1"/>
          <p:nvPr/>
        </p:nvSpPr>
        <p:spPr>
          <a:xfrm>
            <a:off x="6351880" y="44823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406599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Antagonist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(1 of 2): Which archetype?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character description to the Gothic archetype it fits.</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Ask: is this character in danger, or is this character the danger?</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If the character is the danger, ask: do they charm their victims (femme fatale) or hunt them (antagonist)?</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If nobody is in danger yet, look for pride and loneliness (Byronic hero) or a name on the cover (eponymous).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(2 of 2): Which archetype?</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character description to the Gothic archetype it fits.</a:t>
            </a:r>
            <a:endParaRPr lang="en-US" sz="2000" dirty="0"/>
          </a:p>
        </p:txBody>
      </p:sp>
      <p:sp>
        <p:nvSpPr>
          <p:cNvPr id="12" name="col-Core"/>
          <p:cNvSpPr/>
          <p:nvPr/>
        </p:nvSpPr>
        <p:spPr>
          <a:xfrm>
            <a:off x="548640" y="2578608"/>
            <a:ext cx="5410048" cy="3566160"/>
          </a:xfrm>
          <a:prstGeom prst="roundRect">
            <a:avLst>
              <a:gd name="adj" fmla="val 1538"/>
            </a:avLst>
          </a:prstGeom>
          <a:solidFill>
            <a:srgbClr val="DBD4E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Two archetypes are defined by what they do to others; one by what is done to them; one by his mood; one by the cover of the book.</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5B3A7A"/>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Choose one archetype and write a two-sentence description that reverses the reader's expectation of it, for example a damsel who is the most dangerous person in the castle. Explain what you kept from the archetype and what you changed.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Describe your antagonist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frightened first-person narrator meets the master of a lonely castle for the first time. Describe him so that the reader feels the uncanny: almost normal, but wrong. Write one paragraph of six to eight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(1 of 2): Describe your antagonist</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frightened first-person narrator meets the master of a lonely castle for the first time. Describe him so that the reader feels the uncanny: almost normal, but wrong. Write one paragraph of six to eight sentences.</a:t>
            </a:r>
            <a:endParaRPr lang="en-US" sz="2000" dirty="0"/>
          </a:p>
        </p:txBody>
      </p:sp>
      <p:sp>
        <p:nvSpPr>
          <p:cNvPr id="12" name="col-Support"/>
          <p:cNvSpPr/>
          <p:nvPr/>
        </p:nvSpPr>
        <p:spPr>
          <a:xfrm>
            <a:off x="548640" y="2903728"/>
            <a:ext cx="11094415" cy="3241040"/>
          </a:xfrm>
          <a:prstGeom prst="roundRect">
            <a:avLst>
              <a:gd name="adj" fmla="val 1693"/>
            </a:avLst>
          </a:prstGeom>
          <a:solidFill>
            <a:srgbClr val="EFEBF2"/>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10820095" cy="249123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Decide the one wrong detail (hands, teeth, eyes, voice, shadow) and save it for the middle of the paragraph.</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Open with something ordinary and polite, so the reader relaxes.</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a comparison that makes the character seem old, cold or not quite alive.</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End on the narrator's reaction, shown through what they do or feel, not the word ‘scared’.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(2 of 2): Describe your antagonist</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frightened first-person narrator meets the master of a lonely castle for the first time. Describe him so that the reader feels the uncanny: almost normal, but wrong. Write one paragraph of six to eight sentences.</a:t>
            </a:r>
            <a:endParaRPr lang="en-US" sz="2000" dirty="0"/>
          </a:p>
        </p:txBody>
      </p:sp>
      <p:sp>
        <p:nvSpPr>
          <p:cNvPr id="12" name="col-Core"/>
          <p:cNvSpPr/>
          <p:nvPr/>
        </p:nvSpPr>
        <p:spPr>
          <a:xfrm>
            <a:off x="548640" y="2903728"/>
            <a:ext cx="5410048" cy="3241040"/>
          </a:xfrm>
          <a:prstGeom prst="roundRect">
            <a:avLst>
              <a:gd name="adj" fmla="val 1693"/>
            </a:avLst>
          </a:prstGeom>
          <a:solidFill>
            <a:srgbClr val="DBD4E2"/>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Build the character from almost-normal details. One wrong thing, noticed late, is worth ten monstrous ones.</a:t>
            </a:r>
            <a:endParaRPr lang="en-US" sz="2200" dirty="0"/>
          </a:p>
        </p:txBody>
      </p:sp>
      <p:sp>
        <p:nvSpPr>
          <p:cNvPr id="17" name="col-Stretch"/>
          <p:cNvSpPr/>
          <p:nvPr/>
        </p:nvSpPr>
        <p:spPr>
          <a:xfrm>
            <a:off x="6233008" y="2903728"/>
            <a:ext cx="5410048" cy="3241040"/>
          </a:xfrm>
          <a:prstGeom prst="roundRect">
            <a:avLst>
              <a:gd name="adj" fmla="val 1693"/>
            </a:avLst>
          </a:prstGeom>
          <a:solidFill>
            <a:srgbClr val="5B3A7A"/>
          </a:solidFill>
          <a:ln/>
        </p:spPr>
      </p:sp>
      <p:sp>
        <p:nvSpPr>
          <p:cNvPr id="18" name="col-hex"/>
          <p:cNvSpPr/>
          <p:nvPr/>
        </p:nvSpPr>
        <p:spPr>
          <a:xfrm>
            <a:off x="634273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Give your antagonist a motive that the narrator does not yet understand but the reader can guess. Then explain how a reader who knows Dracula would react to your character differently from a reader who does not.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sentence SHOWS that the count is dangerous, rather than telling the reader?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count was evil and did many terrible things.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count smiled, and his lips drew back a little too far from his teeth.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Everybody in the village knew that the count was a villain.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count was a very dangerous and frightening man.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Which archetype?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brooding nobleman who lives alone on the moor, scorns his neighbours and will not speak of his past  →  E  Byronic hero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young heiress locked in a tower room by the guardian who wants her fortune  →  C  Damsel in distress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charming stranger whose every admirer comes to harm, and who seems to enjoy it  →  D  Femme fatale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pale figure who hunts the hero from chapter one and wants revenge on the family  →  A  Antagonist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character whose name is on the cover of the book  →  B  Eponymous character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Archetypes are defined by their role: the Byronic hero by his pride and isolation, the damsel by her danger, the femme fatale by the harm her charm causes, the antagonist by working against the hero, and the eponymous character by giving the book its name.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Describe your antagonist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2EFF4"/>
          </a:solidFill>
          <a:ln/>
        </p:spPr>
      </p:sp>
      <p:sp>
        <p:nvSpPr>
          <p:cNvPr id="9" name="tickbox"/>
          <p:cNvSpPr/>
          <p:nvPr/>
        </p:nvSpPr>
        <p:spPr>
          <a:xfrm>
            <a:off x="713232" y="217418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write in the first person, so the reader shares the narrator's unease.</a:t>
            </a:r>
            <a:endParaRPr lang="en-US" sz="2200" dirty="0"/>
          </a:p>
        </p:txBody>
      </p:sp>
      <p:sp>
        <p:nvSpPr>
          <p:cNvPr id="11" name="crit-box"/>
          <p:cNvSpPr/>
          <p:nvPr/>
        </p:nvSpPr>
        <p:spPr>
          <a:xfrm>
            <a:off x="548640" y="2748178"/>
            <a:ext cx="11094415" cy="672490"/>
          </a:xfrm>
          <a:prstGeom prst="roundRect">
            <a:avLst>
              <a:gd name="adj" fmla="val 13597"/>
            </a:avLst>
          </a:prstGeom>
          <a:solidFill>
            <a:srgbClr val="F2EFF4"/>
          </a:solidFill>
          <a:ln/>
        </p:spPr>
      </p:sp>
      <p:sp>
        <p:nvSpPr>
          <p:cNvPr id="12" name="tickbox"/>
          <p:cNvSpPr/>
          <p:nvPr/>
        </p:nvSpPr>
        <p:spPr>
          <a:xfrm>
            <a:off x="713232" y="2938120"/>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74817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 range of vocabulary to imply what the character is like, rather than stating it.</a:t>
            </a:r>
            <a:endParaRPr lang="en-US" sz="2200" dirty="0"/>
          </a:p>
        </p:txBody>
      </p:sp>
      <p:sp>
        <p:nvSpPr>
          <p:cNvPr id="14" name="crit-box"/>
          <p:cNvSpPr/>
          <p:nvPr/>
        </p:nvSpPr>
        <p:spPr>
          <a:xfrm>
            <a:off x="548640" y="3512109"/>
            <a:ext cx="11094415" cy="672490"/>
          </a:xfrm>
          <a:prstGeom prst="roundRect">
            <a:avLst>
              <a:gd name="adj" fmla="val 13597"/>
            </a:avLst>
          </a:prstGeom>
          <a:solidFill>
            <a:srgbClr val="F2EFF4"/>
          </a:solidFill>
          <a:ln/>
        </p:spPr>
      </p:sp>
      <p:sp>
        <p:nvSpPr>
          <p:cNvPr id="15" name="tickbox"/>
          <p:cNvSpPr/>
          <p:nvPr/>
        </p:nvSpPr>
        <p:spPr>
          <a:xfrm>
            <a:off x="713232" y="3702050"/>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512109"/>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include at least one small, wrong detail that creates the uncanny.</a:t>
            </a:r>
            <a:endParaRPr lang="en-US" sz="2200" dirty="0"/>
          </a:p>
        </p:txBody>
      </p:sp>
      <p:sp>
        <p:nvSpPr>
          <p:cNvPr id="17" name="crit-box"/>
          <p:cNvSpPr/>
          <p:nvPr/>
        </p:nvSpPr>
        <p:spPr>
          <a:xfrm>
            <a:off x="548640" y="4276039"/>
            <a:ext cx="11094415" cy="1013358"/>
          </a:xfrm>
          <a:prstGeom prst="roundRect">
            <a:avLst>
              <a:gd name="adj" fmla="val 9023"/>
            </a:avLst>
          </a:prstGeom>
          <a:solidFill>
            <a:srgbClr val="F2EFF4"/>
          </a:solidFill>
          <a:ln/>
        </p:spPr>
      </p:sp>
      <p:sp>
        <p:nvSpPr>
          <p:cNvPr id="18" name="tickbox"/>
          <p:cNvSpPr/>
          <p:nvPr/>
        </p:nvSpPr>
        <p:spPr>
          <a:xfrm>
            <a:off x="713232" y="4636414"/>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276039"/>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interesting comparisons (a simile or metaphor) to help the reader see the character.</a:t>
            </a:r>
            <a:endParaRPr lang="en-US" sz="2200" dirty="0"/>
          </a:p>
        </p:txBody>
      </p:sp>
      <p:sp>
        <p:nvSpPr>
          <p:cNvPr id="20" name="crit-box"/>
          <p:cNvSpPr/>
          <p:nvPr/>
        </p:nvSpPr>
        <p:spPr>
          <a:xfrm>
            <a:off x="548640" y="5380838"/>
            <a:ext cx="11094415" cy="672490"/>
          </a:xfrm>
          <a:prstGeom prst="roundRect">
            <a:avLst>
              <a:gd name="adj" fmla="val 13597"/>
            </a:avLst>
          </a:prstGeom>
          <a:solidFill>
            <a:srgbClr val="F2EFF4"/>
          </a:solidFill>
          <a:ln/>
        </p:spPr>
      </p:sp>
      <p:sp>
        <p:nvSpPr>
          <p:cNvPr id="21" name="tickbox"/>
          <p:cNvSpPr/>
          <p:nvPr/>
        </p:nvSpPr>
        <p:spPr>
          <a:xfrm>
            <a:off x="713232" y="5570779"/>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vary my sentence structures and build the description towards an effect.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Describe your antagonist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My host rose as I entered, and the first thing I noticed was how little noise he made. He was tall and courteous, with the long face of an old portrait, and he bowed with the ease of a man who had been bowing for a very long time. His hand, when he took mine, was cool and dry as paper. I told myself the fire had not reached that side of the room. Then he smiled, and his lips drew back a fraction too far, so that for a moment I was looking not at a man's mouth but at an arrangement of teeth. ‘You must be tired,’ he said kindly, and I found that I was.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SHOWS that the count is dangerous, rather than telling the reader?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count smiled, and his lips drew back a little too far from his teeth.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the second sentence gives a physical detail, the smile that goes too far, and lets the reader conclude that the count is dangerous. The others state the conclusion.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3: Gothic characters: heroes, victims and villains</dc:title>
  <dc:subject>English Literature · Year 9</dc:subject>
  <dc:creator>Dr Vitor Merissi de Carvalho</dc:creator>
  <cp:lastModifiedBy>Dr Vitor Merissi de Carvalho</cp:lastModifiedBy>
  <cp:revision>1</cp:revision>
  <dcterms:created xsi:type="dcterms:W3CDTF">2026-10-19T16:22:38Z</dcterms:created>
  <dcterms:modified xsi:type="dcterms:W3CDTF">2026-10-19T16:22:38Z</dcterms:modified>
</cp:coreProperties>
</file>