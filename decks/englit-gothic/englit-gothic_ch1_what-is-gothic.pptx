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643af3e-e3ac-192e-8ca8-e217280b372b}">
          <p14:sldIdLst>
            <p14:sldId id="256"/>
          </p14:sldIdLst>
        </p14:section>
        <p14:section name="Gate" id="{cdd6f82f-90f8-9643-304f-0df531d75ca5}">
          <p14:sldIdLst>
            <p14:sldId id="257"/>
            <p14:sldId id="258"/>
          </p14:sldIdLst>
        </p14:section>
        <p14:section name="Pre-teach" id="{53bdd37a-86cd-bf39-bbf1-f8ca031a58fb}">
          <p14:sldIdLst>
            <p14:sldId id="259"/>
          </p14:sldIdLst>
        </p14:section>
        <p14:section name="Read-along" id="{5dbcdddb-5407-3da4-9b70-4a0ef8287a46}">
          <p14:sldIdLst>
            <p14:sldId id="260"/>
            <p14:sldId id="261"/>
          </p14:sldIdLst>
        </p14:section>
        <p14:section name="Teach" id="{4f365c24-84f7-3156-4978-6ed703e5c401}">
          <p14:sldIdLst>
            <p14:sldId id="262"/>
            <p14:sldId id="263"/>
            <p14:sldId id="264"/>
          </p14:sldIdLst>
        </p14:section>
        <p14:section name="Routes" id="{315fa4cc-d6d9-5fa5-baf3-01ad69b3b600}">
          <p14:sldIdLst>
            <p14:sldId id="265"/>
            <p14:sldId id="266"/>
            <p14:sldId id="267"/>
            <p14:sldId id="268"/>
            <p14:sldId id="269"/>
          </p14:sldIdLst>
        </p14:section>
        <p14:section name="Close" id="{a5a4d19d-06d0-78b1-1d1b-5cd17c28b2dc}">
          <p14:sldIdLst>
            <p14:sldId id="270"/>
          </p14:sldIdLst>
        </p14:section>
        <p14:section name="Answers" id="{0ffc1071-7e34-3103-1c45-1b3abb193d0e}">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What makes a story Gothic?. This chapter gives you the history of the genre and its conventions, so you can spot the Gothic in anything you read.
This deck covers the department's lesson: 1 (An introduction to Gothic literature: conventions and language features: Can you identify and use the conventions of the Gothic genre for desired effects?).
Read the big question aloud: "What makes a story Gothic, and how can you use the conventions of the genre to write a Gothic narrative of your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novel is usually called the first Gothic novel?  →  D   The Castle of Otranto (1764)
2. A ___ is something a type of story usually includes, such as a ruined castle or a ghost.  →  convention
3. Which of these is a language feature rather than a Gothic convention?  →  A   Pathetic fallacy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The Castle of Otranto (1764). Horace Walpole's The Castle of Otranto was published in 1764, and its second edition was subtitled A Gothic Story. The others came 54 to 219 years later.
2. convention. Conventions are the expected ingredients of a genre. Gothic conventions include isolated settings, the supernatural and constant tension.
3. A   Pathetic fallacy. Pathetic fallacy is a choice about how the writer uses words: the weather describes a mood. The other three are things the story contains.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genre: a type of story with its own rules and patterns. Example: "Horror, romance and crime are all types of genre."
• convention: something a type of story usually includes. Example: "A ruined castle is a convention of Gothic stories."
• atmosphere: the mood or feeling of a place in a story. Example: "The dark corridor gave the scene a frightening atmosphere."
• supernatural: things science cannot explain, such as ghosts. Example: "A door that opens by itself hints at the supernatural."
• setting: where and when a story takes place. Example: "The setting is a lonely castle on a stormy night."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Gothic stories are written to make you shiver.
2. The first one appeared in 1764.
3. It was The Castle of Otranto, by Horace Walpole.
4. The word Gothic comes from the Goths, an ancient tribe.
5. People thought the Goths were wild and rough.
6. Later, the name was given to old buildings with tall, pointed arches.
7. Gothic stories often happen in these old, dark places.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They use ghosts, storms, blood and strange sounds.
9. The things a genre usually includes are called conventions.
10. Writers use them to build an atmosphere of fear.
11. In this unit you will spot conventions in famous stories.
12. Then you will use them in a Gothic story of your own.
13. In Year 10 you will meet them again in Jekyll and Hyde.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castle, a tribe and a word. Say it in your own words, then check understanding with a quick question: ask a pupil from the pre-teach group first, since they met these words and ideas before the lesson. Pupils try to recall before you re-explain.
Gothic literature is a genre of fiction that first became popular in the eighteenth century. The word was first linked to a story in 1764, when Horace Walpole published The Castle of Otranto. Its second edition carried the subtitle A Gothic Story, and the name stuck. In the novel, a tyrant called Manfred pursues a young woman called Isabella through a castle full of hidden passages, while a giant helmet falls from the sky.
Why ‘Gothic’? The Goths were an ancient Germanic tribe who helped to bring down the Roman Empire. For centuries their name meant ‘barbaric’. In the Middle Ages, builders put up churches and castles with tall, pointed arches and gargoyles, and later critics called this style Gothic as a kind of insult: wild, old and dark. Walpole borrowed the word, and the buildings, for his story.
Many of the most famous Gothic novels were written in the late Romantic and early Victorian periods, between about 1790 and 1900. But the conventions of the genre are still everywhere today, from film and television to video games. Once you know them, you will see them everywhere.
Quotation: "Heaven nor hell shall impede my designs" (Walpole, The Castle of Otranto (1764), chapter 1). Read it aloud; ask what it shows.
Tip: Say ‘Otranto’ as oh-TRAN-toe. It is a real town in southern Italy, which is why the castle felt so far away to Walpole's English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Five stories, two hundred years. Say it in your own words, then check understanding with a quick question: ask a pupil from the pre-teach group first, since they met these words and ideas before the lesson. Pupils try to recall before you re-explain.
Your lesson gave you a timeline of five Gothic stories. The Castle of Otranto (1764) introduced the themes, settings and characters: supernatural events, a dark and isolated castle, a villain and a victim. Mary Shelley's Frankenstein (1818) raised the dead through science, and many readers take it as a warning about what happens when we play with powers we do not understand.
Robert Louis Stevenson's Strange Case of Dr Jekyll and Mr Hyde (1886) explores good and evil inside one man, the Gothic idea of the double. Bram Stoker's Dracula (1897) gave us the vampire so completely that most vampires since have copied him. Susan Hill's The Woman in Black (1983) shows that the genre did not die with the Victorians: a solicitor is sent to a secluded house in a remote place and finds a haunting, an innocent victim and an isolated setting.
Notice how the dates stretch across more than two hundred years. A genre is not a moment in history. It is a set of conventions that each new writer picks up and changes.
Quotation: "I saw the dull yellow eye of the creature open; it breathed hard, and a convulsive motion agitated its limbs." (Shelley, Frankenstein (1818), chapter 5). Read it aloud; ask what it shows.
Tip: Frankenstein is the scientist, not the creature. Shelley never gives the creature a name. Getting this right marks you out as a careful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Conventions and language features. Say it in your own words, then check understanding with a quick question: ask a pupil from the pre-teach group first, since they met these words and ideas before the lesson. Pupils try to recall before you re-explain.
Your lesson sorted a list of Gothic ingredients into two groups. Conventions are the things a Gothic story usually contains: a dark, foreboding setting; a remote and isolated place; strange sounds; madness or insanity; an outsider or onlooker; ghosts and the supernatural; blood and body parts; religious symbolism; and constant tension. These are the ‘what’ of the genre.
Language features are the ‘how’: the choices a writer makes with words. A first-person narrator makes you share the fear of one person who does not know what is coming. Pathetic fallacy lets the weather mirror a character's mood. Similes and metaphors turn a house into a face or a mist into a crowd of ghosts. One-word sentences stop the reader dead.
Edgar Allan Poe's story The Fall of the House of Usher (1839) opens with almost every one of these at once: a dull, dark, soundless day, low clouds, a lone rider, and a house that seems to stare back at him. When you write, you need both lists: conventions to choose your ingredients, and language features to cook them.
Quotation: "During the whole of a dull, dark, and soundless day in the autumn of the year, when the clouds hung oppressively low in the heavens, I had been passing alone, on horseback, through a singularly dreary tract of country" (Poe, The Fall of the House of Usher (1839)). Read it aloud; ask what it shows.
Tip: Convention = what the story contains. Language feature = how the words are chosen. At GCSE you are rewarded for naming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 the ingredients.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Gothic ingredient to the group it belongs to and what it does.
Support — work through the steps with the group: (1) Ask of each item: is it a thing in the story (a convention) or a way of using words (a language feature)? (2) Conventions are things you could draw: a castle, a ghost, a cross. (3) Language features are choices you can only hear when you read: a short sentence, a comparison, who is speaking. (4) Then match the effect on the right that fits.
Parallel worked example for Support (model it, do not give the task answer): Practice: is a simile a convention or a language feature, and what does it do? A simile compares one thing to another using like or as.; You cannot draw a simile; it is a way of using words.; So it is a language feature, and it helps the reader picture something strange by linking it to something they know.. Answer: A language feature. It helps the reader picture the strange by comparing it to the familiar..
Core — reveal the hint only on request: Two of the five are things you could draw on a map of the castle. The other three are things you can only do with words.
Stretch — no help; when finished: Choose one convention and one language feature from the list and write a single Gothic sentence that uses both. Then explain which one does more to frighten the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 the ingredients.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Gothic ingredient to the group it belongs to and what it does.
Support — work through the steps with the group: (1) Ask of each item: is it a thing in the story (a convention) or a way of using words (a language feature)? (2) Conventions are things you could draw: a castle, a ghost, a cross. (3) Language features are choices you can only hear when you read: a short sentence, a comparison, who is speaking. (4) Then match the effect on the right that fits.
Parallel worked example for Support (model it, do not give the task answer): Practice: is a simile a convention or a language feature, and what does it do? A simile compares one thing to another using like or as.; You cannot draw a simile; it is a way of using words.; So it is a language feature, and it helps the reader picture something strange by linking it to something they know.. Answer: A language feature. It helps the reader picture the strange by comparing it to the familiar..
Core — reveal the hint only on request: Two of the five are things you could draw on a map of the castle. The other three are things you can only do with words.
Stretch — no help; when finished: Choose one convention and one language feature from the list and write a single Gothic sentence that uses both. Then explain which one does more to frighten the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Gothic timeline.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Gothic stories in the order they were published, earliest first.
Support — work through the steps with the group: (1) Start with the first Gothic novel: the one with the castle in its title, 1764. (2) End with the only book from the twentieth century: 1983. (3) Frankenstein was written by a teenager during the Romantic period, so it comes before the two Victorian novels. (4) Of the two Victorian novels, the one about a scientist with a double came eleven years before the vampire.
Parallel worked example for Support (model it, do not give the task answer): Practice: put these in order: Macbeth (Shakespeare), A Christmas Carol (Dickens), Beowulf (unknown poet). Beowulf is an Old English poem from over a thousand years ago.; Shakespeare wrote Macbeth in about 1606.; Dickens wrote A Christmas Carol in 1843.. Answer: Beowulf; Macbeth; A Christmas Carol..
Core — reveal the hint only on request: 1764, 1818, 1886, 1897, 1983. Match each date to its period: Georgian, Romantic, Victorian, Victorian, modern.
Stretch — no help; when finished: Each book on the timeline added something to the genre: a castle, a creature, a double, a vampire, a modern haunting. Write one sentence for each saying what it added, and then say which addition you think changed the genre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Gothic timeline.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Gothic stories in the order they were published, earliest first.
Support — work through the steps with the group: (1) Start with the first Gothic novel: the one with the castle in its title, 1764. (2) End with the only book from the twentieth century: 1983. (3) Frankenstein was written by a teenager during the Romantic period, so it comes before the two Victorian novels. (4) Of the two Victorian novels, the one about a scientist with a double came eleven years before the vampire.
Parallel worked example for Support (model it, do not give the task answer): Practice: put these in order: Macbeth (Shakespeare), A Christmas Carol (Dickens), Beowulf (unknown poet). Beowulf is an Old English poem from over a thousand years ago.; Shakespeare wrote Macbeth in about 1606.; Dickens wrote A Christmas Carol in 1843.. Answer: Beowulf; Macbeth; A Christmas Carol..
Core — reveal the hint only on request: 1764, 1818, 1886, 1897, 1983. Match each date to its period: Georgian, Romantic, Victorian, Victorian, modern.
Stretch — no help; when finished: Each book on the timeline added something to the genre: a castle, a creature, a double, a vampire, a modern haunting. Write one sentence for each saying what it added, and then say which addition you think changed the genre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Gothic timeline.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Gothic stories in the order they were published, earliest first.
Support — work through the steps with the group: (1) Start with the first Gothic novel: the one with the castle in its title, 1764. (2) End with the only book from the twentieth century: 1983. (3) Frankenstein was written by a teenager during the Romantic period, so it comes before the two Victorian novels. (4) Of the two Victorian novels, the one about a scientist with a double came eleven years before the vampire.
Parallel worked example for Support (model it, do not give the task answer): Practice: put these in order: Macbeth (Shakespeare), A Christmas Carol (Dickens), Beowulf (unknown poet). Beowulf is an Old English poem from over a thousand years ago.; Shakespeare wrote Macbeth in about 1606.; Dickens wrote A Christmas Carol in 1843.. Answer: Beowulf; Macbeth; A Christmas Carol..
Core — reveal the hint only on request: 1764, 1818, 1886, 1897, 1983. Match each date to its period: Georgian, Romantic, Victorian, Victorian, modern.
Stretch — no help; when finished: Each book on the timeline added something to the genre: a castle, a creature, a double, a vampire, a modern haunting. Write one sentence for each saying what it added, and then say which addition you think changed the genre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Read this sentence: ‘Alone on the moor, I heard the chapel bell toll once, though nobody had rung it in a hundred years.’ Which Gothic convention is NOT used here?
Answer: B   Blood and body parts. The sentence has isolation (alone on the moor), the supernatural (a bell that rings itself) and religious symbolism (the chapel), but no blood or body parts.
Source of this question: module 3 task ("Spot the conventions")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Sort the ingredients. Reveal the answer; pupils mark their own work in a different colour, then read the "why" together. Same destination for every lane, so one answer serves the whole class.
Answer: Pathetic fallacy  →  E  Language feature: the weather reflects the character's mood; One-word sentences  →  B  Language feature: a single word stops the reader dead; A remote, isolated setting  →  D  Convention: nobody can hear the character call for help; Religious symbolism  →  A  Convention: chapels, crosses and graves hint at good and evil; A first-person narrator  →  C  Language feature: we share the fear of one person who does not know what is coming
Why: Conventions are what a Gothic story contains; language features are how it is written. Knowing which is which lets you plan a story (conventions) and then craft it (language features).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Gothic timeline. Reveal the answer; pupils mark their own work in a different colour, then read the "why" together. Same destination for every lane, so one answer serves the whole class.
Answer: The Castle of Otranto (Horace Walpole)  (A); Frankenstein (Mary Shelley)  (D); Strange Case of Dr Jekyll and Mr Hyde (Robert Louis Stevenson)  (C); Dracula (Bram Stoker)  (E); The Woman in Black (Susan Hill)  (B)
Why: Otranto (1764) started the genre; Frankenstein (1818) brought science; Jekyll and Hyde (1886) brought the double; Dracula (1897) fixed the vampire; The Woman in Black (1983) proved the genre still works today.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Blood and body parts
Why: The sentence has isolation (alone on the moor), the supernatural (a bell that rings itself) and religious symbolism (the chapel), but no blood or body parts.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Gothic Literature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Gothic Literature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D8E4"/>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Gothic Literature · AQA KS3 → 8702</a:t>
            </a:r>
            <a:endParaRPr lang="en-US" sz="1800" dirty="0"/>
          </a:p>
        </p:txBody>
      </p:sp>
      <p:sp>
        <p:nvSpPr>
          <p:cNvPr id="10" name="deck-title"/>
          <p:cNvSpPr txBox="1"/>
          <p:nvPr/>
        </p:nvSpPr>
        <p:spPr>
          <a:xfrm>
            <a:off x="548640" y="223824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What makes a story Gothic?</a:t>
            </a:r>
            <a:endParaRPr lang="en-US" sz="4000" dirty="0"/>
          </a:p>
        </p:txBody>
      </p:sp>
      <p:sp>
        <p:nvSpPr>
          <p:cNvPr id="11" name="lessons-card"/>
          <p:cNvSpPr/>
          <p:nvPr/>
        </p:nvSpPr>
        <p:spPr>
          <a:xfrm>
            <a:off x="548640" y="3914648"/>
            <a:ext cx="5287975" cy="1290320"/>
          </a:xfrm>
          <a:prstGeom prst="roundRect">
            <a:avLst>
              <a:gd name="adj" fmla="val 5669"/>
            </a:avLst>
          </a:prstGeom>
          <a:solidFill>
            <a:srgbClr val="EFEBF2"/>
          </a:solidFill>
          <a:ln/>
        </p:spPr>
      </p:sp>
      <p:sp>
        <p:nvSpPr>
          <p:cNvPr id="12" name="lessons"/>
          <p:cNvSpPr txBox="1"/>
          <p:nvPr/>
        </p:nvSpPr>
        <p:spPr>
          <a:xfrm>
            <a:off x="685800" y="400608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An introduction to Gothic literature: conventions and language features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EBF2"/>
          </a:solidFill>
          <a:ln w="12700">
            <a:solidFill>
              <a:srgbClr val="BDB0C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makes a story Gothic, and how can you use the conventions of the genre to write a Gothic narrative of your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novel is usually called the first Gothic novel?</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Dracula (1897)</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Woman in Black (1983)</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Frankenstein (1818)</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Castle of Otranto (1764)</a:t>
            </a:r>
            <a:endParaRPr lang="en-US" sz="2200" dirty="0"/>
          </a:p>
        </p:txBody>
      </p:sp>
      <p:sp>
        <p:nvSpPr>
          <p:cNvPr id="12"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___ is something a type of story usually includes, such as a ruined castle or a ghost.</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convention  ·  genre  ·  theme</a:t>
            </a:r>
            <a:endParaRPr lang="en-US" sz="2400" dirty="0"/>
          </a:p>
        </p:txBody>
      </p:sp>
      <p:sp>
        <p:nvSpPr>
          <p:cNvPr id="17"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of these is a language feature rather than a Gothic convention?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Pathetic fallacy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Ghosts and the supernatural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remote, isolated setting</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Blood and body parts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Castle of Otranto (1764)</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novel is usually called the first Gothic novel?</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Horace Walpole's The Castle of Otranto was published in 1764, and its second edition was subtitled A Gothic Story. The others came 54 to 219 years later.</a:t>
            </a:r>
            <a:endParaRPr lang="en-US" sz="1800" dirty="0"/>
          </a:p>
        </p:txBody>
      </p:sp>
      <p:sp>
        <p:nvSpPr>
          <p:cNvPr id="14"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convention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___ is something a type of story usually includes, such as a ruined castle or a ghost.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Conventions are the expected ingredients of a genre. Gothic conventions include isolated settings, the supernatural and constant tension.</a:t>
            </a:r>
            <a:endParaRPr lang="en-US" sz="1800" dirty="0"/>
          </a:p>
        </p:txBody>
      </p:sp>
      <p:sp>
        <p:nvSpPr>
          <p:cNvPr id="21"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Pathetic fallacy</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is a language feature rather than a Gothic convention?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Pathetic fallacy is a choice about how the writer uses words: the weather describes a mood. The other three are things the story contains.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FF4"/>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genre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type of story with its own rules and patterns</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Horror, romance and crime are all types of genre.</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convention</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something a type of story usually includes</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ruined castle is a convention of Gothic stories.</a:t>
            </a:r>
            <a:endParaRPr lang="en-US" sz="1800" dirty="0"/>
          </a:p>
        </p:txBody>
      </p:sp>
      <p:sp>
        <p:nvSpPr>
          <p:cNvPr id="21" name="kw-row"/>
          <p:cNvSpPr/>
          <p:nvPr/>
        </p:nvSpPr>
        <p:spPr>
          <a:xfrm>
            <a:off x="548640" y="3639312"/>
            <a:ext cx="11094415" cy="786384"/>
          </a:xfrm>
          <a:prstGeom prst="roundRect">
            <a:avLst>
              <a:gd name="adj" fmla="val 6977"/>
            </a:avLst>
          </a:prstGeom>
          <a:solidFill>
            <a:srgbClr val="F2EFF4"/>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atmosphere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mood or feeling of a place in a story</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dark corridor gave the scene a frightening atmosphere.</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supernatural</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things science cannot explain, such as ghosts</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door that opens by itself hints at the supernatural.</a:t>
            </a:r>
            <a:endParaRPr lang="en-US" sz="1800" dirty="0"/>
          </a:p>
        </p:txBody>
      </p:sp>
      <p:sp>
        <p:nvSpPr>
          <p:cNvPr id="31" name="kw-row"/>
          <p:cNvSpPr/>
          <p:nvPr/>
        </p:nvSpPr>
        <p:spPr>
          <a:xfrm>
            <a:off x="548640" y="5358384"/>
            <a:ext cx="11094415" cy="786384"/>
          </a:xfrm>
          <a:prstGeom prst="roundRect">
            <a:avLst>
              <a:gd name="adj" fmla="val 6977"/>
            </a:avLst>
          </a:prstGeom>
          <a:solidFill>
            <a:srgbClr val="F2EFF4"/>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setting</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where and when a story takes place</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setting is a lonely castle on a stormy night.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Gothic stories are written to make you shiver.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first one appeared in 1764.</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was The Castle of Otranto, by Horace Walpole.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word Gothic comes from the Goths, an ancient tribe.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People thought the Goths were wild and rough.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Later, the name was given to old buildings with tall, pointed arches.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Gothic stories often happen in these old, dark places.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use ghosts, storms, blood and strange sounds.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things a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genre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usually includes are called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conventions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Writers use them to build an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atmosphere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of fear.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this unit you will spot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conventions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in famous stories.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you will use them in a Gothic story of your own.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Year 10 you will meet them again in Jekyll and Hyde.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 castle, a tribe and a word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Say ‘Otranto’ as oh-TRAN-toe. It is a real town in southern Italy, which is why the castle felt so far away to Walpole's English readers.</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Heaven nor hell shall impede my designs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Walpole, The Castle of Otranto (1764), chapter 1</a:t>
            </a:r>
            <a:endParaRPr lang="en-US" sz="2600" dirty="0"/>
          </a:p>
        </p:txBody>
      </p:sp>
      <p:sp>
        <p:nvSpPr>
          <p:cNvPr id="14" name="bullet-card"/>
          <p:cNvSpPr/>
          <p:nvPr/>
        </p:nvSpPr>
        <p:spPr>
          <a:xfrm>
            <a:off x="548640" y="1389888"/>
            <a:ext cx="5074920" cy="1490980"/>
          </a:xfrm>
          <a:prstGeom prst="roundRect">
            <a:avLst>
              <a:gd name="adj" fmla="val 4906"/>
            </a:avLst>
          </a:prstGeom>
          <a:solidFill>
            <a:srgbClr val="F2EFF4"/>
          </a:solidFill>
          <a:ln/>
        </p:spPr>
      </p:sp>
      <p:sp>
        <p:nvSpPr>
          <p:cNvPr id="15" name="bullet-hex"/>
          <p:cNvSpPr/>
          <p:nvPr/>
        </p:nvSpPr>
        <p:spPr>
          <a:xfrm>
            <a:off x="676656" y="1969085"/>
            <a:ext cx="384048" cy="332586"/>
          </a:xfrm>
          <a:prstGeom prst="hexagon">
            <a:avLst/>
          </a:prstGeom>
          <a:solidFill>
            <a:srgbClr val="5B3A7A"/>
          </a:solidFill>
          <a:ln/>
        </p:spPr>
      </p:sp>
      <p:sp>
        <p:nvSpPr>
          <p:cNvPr id="16" name="bullet"/>
          <p:cNvSpPr txBox="1"/>
          <p:nvPr/>
        </p:nvSpPr>
        <p:spPr>
          <a:xfrm>
            <a:off x="1143000" y="1389888"/>
            <a:ext cx="4389120" cy="1490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Gothic literature is a genre of fiction that first became popular in the eighteenth century.</a:t>
            </a:r>
            <a:endParaRPr lang="en-US" sz="2200" dirty="0"/>
          </a:p>
        </p:txBody>
      </p:sp>
      <p:sp>
        <p:nvSpPr>
          <p:cNvPr id="17" name="bullet-card"/>
          <p:cNvSpPr/>
          <p:nvPr/>
        </p:nvSpPr>
        <p:spPr>
          <a:xfrm>
            <a:off x="548640" y="3027172"/>
            <a:ext cx="5074920" cy="1490980"/>
          </a:xfrm>
          <a:prstGeom prst="roundRect">
            <a:avLst>
              <a:gd name="adj" fmla="val 4906"/>
            </a:avLst>
          </a:prstGeom>
          <a:solidFill>
            <a:srgbClr val="F2EFF4"/>
          </a:solidFill>
          <a:ln/>
        </p:spPr>
      </p:sp>
      <p:sp>
        <p:nvSpPr>
          <p:cNvPr id="18" name="bullet-hex"/>
          <p:cNvSpPr/>
          <p:nvPr/>
        </p:nvSpPr>
        <p:spPr>
          <a:xfrm>
            <a:off x="676656" y="3606369"/>
            <a:ext cx="384048" cy="332586"/>
          </a:xfrm>
          <a:prstGeom prst="hexagon">
            <a:avLst/>
          </a:prstGeom>
          <a:solidFill>
            <a:srgbClr val="B8862B"/>
          </a:solidFill>
          <a:ln/>
        </p:spPr>
      </p:sp>
      <p:sp>
        <p:nvSpPr>
          <p:cNvPr id="19" name="bullet"/>
          <p:cNvSpPr txBox="1"/>
          <p:nvPr/>
        </p:nvSpPr>
        <p:spPr>
          <a:xfrm>
            <a:off x="1143000" y="3027172"/>
            <a:ext cx="4389120" cy="1490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Why ‘Gothic’? The Goths were an ancient Germanic tribe who helped to bring down the Roman Empire.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Five stories, two hundred years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Frankenstein is the scientist, not the creature. Shelley never gives the creature a name. Getting this right marks you out as a careful reader.</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I saw the dull yellow eye of the creature open; it breathed hard, and a convulsive motion agitated its limbs.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Shelley, Frankenstein (1818), chapter 5</a:t>
            </a:r>
            <a:endParaRPr lang="en-US" sz="2600" dirty="0"/>
          </a:p>
        </p:txBody>
      </p:sp>
      <p:sp>
        <p:nvSpPr>
          <p:cNvPr id="14" name="bullet-card"/>
          <p:cNvSpPr/>
          <p:nvPr/>
        </p:nvSpPr>
        <p:spPr>
          <a:xfrm>
            <a:off x="548640" y="1389888"/>
            <a:ext cx="5074920" cy="759291"/>
          </a:xfrm>
          <a:prstGeom prst="roundRect">
            <a:avLst>
              <a:gd name="adj" fmla="val 9634"/>
            </a:avLst>
          </a:prstGeom>
          <a:solidFill>
            <a:srgbClr val="F2EFF4"/>
          </a:solidFill>
          <a:ln/>
        </p:spPr>
      </p:sp>
      <p:sp>
        <p:nvSpPr>
          <p:cNvPr id="15" name="bullet-hex"/>
          <p:cNvSpPr/>
          <p:nvPr/>
        </p:nvSpPr>
        <p:spPr>
          <a:xfrm>
            <a:off x="676656" y="1603241"/>
            <a:ext cx="384048" cy="332586"/>
          </a:xfrm>
          <a:prstGeom prst="hexagon">
            <a:avLst/>
          </a:prstGeom>
          <a:solidFill>
            <a:srgbClr val="5B3A7A"/>
          </a:solidFill>
          <a:ln/>
        </p:spPr>
      </p:sp>
      <p:sp>
        <p:nvSpPr>
          <p:cNvPr id="16" name="bullet"/>
          <p:cNvSpPr txBox="1"/>
          <p:nvPr/>
        </p:nvSpPr>
        <p:spPr>
          <a:xfrm>
            <a:off x="1143000" y="1389888"/>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lesson gave you a timeline of five Gothic stories.</a:t>
            </a:r>
            <a:endParaRPr lang="en-US" sz="1800" dirty="0"/>
          </a:p>
        </p:txBody>
      </p:sp>
      <p:sp>
        <p:nvSpPr>
          <p:cNvPr id="17" name="bullet-card"/>
          <p:cNvSpPr/>
          <p:nvPr/>
        </p:nvSpPr>
        <p:spPr>
          <a:xfrm>
            <a:off x="548640" y="2295483"/>
            <a:ext cx="5074920" cy="1317075"/>
          </a:xfrm>
          <a:prstGeom prst="roundRect">
            <a:avLst>
              <a:gd name="adj" fmla="val 5554"/>
            </a:avLst>
          </a:prstGeom>
          <a:solidFill>
            <a:srgbClr val="F2EFF4"/>
          </a:solidFill>
          <a:ln/>
        </p:spPr>
      </p:sp>
      <p:sp>
        <p:nvSpPr>
          <p:cNvPr id="18" name="bullet-hex"/>
          <p:cNvSpPr/>
          <p:nvPr/>
        </p:nvSpPr>
        <p:spPr>
          <a:xfrm>
            <a:off x="676656" y="2787727"/>
            <a:ext cx="384048" cy="332586"/>
          </a:xfrm>
          <a:prstGeom prst="hexagon">
            <a:avLst/>
          </a:prstGeom>
          <a:solidFill>
            <a:srgbClr val="B8862B"/>
          </a:solidFill>
          <a:ln/>
        </p:spPr>
      </p:sp>
      <p:sp>
        <p:nvSpPr>
          <p:cNvPr id="19" name="bullet"/>
          <p:cNvSpPr txBox="1"/>
          <p:nvPr/>
        </p:nvSpPr>
        <p:spPr>
          <a:xfrm>
            <a:off x="1143000" y="2295483"/>
            <a:ext cx="4389120" cy="1317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Robert Louis Stevenson's Strange Case of Dr Jekyll and Mr Hyde (1886) explores good and evil inside one man, the Gothic idea of the double.</a:t>
            </a:r>
            <a:endParaRPr lang="en-US" sz="1800" dirty="0"/>
          </a:p>
        </p:txBody>
      </p:sp>
      <p:sp>
        <p:nvSpPr>
          <p:cNvPr id="20" name="bullet-card"/>
          <p:cNvSpPr/>
          <p:nvPr/>
        </p:nvSpPr>
        <p:spPr>
          <a:xfrm>
            <a:off x="548640" y="3758861"/>
            <a:ext cx="5074920" cy="759291"/>
          </a:xfrm>
          <a:prstGeom prst="roundRect">
            <a:avLst>
              <a:gd name="adj" fmla="val 9634"/>
            </a:avLst>
          </a:prstGeom>
          <a:solidFill>
            <a:srgbClr val="F2EFF4"/>
          </a:solidFill>
          <a:ln/>
        </p:spPr>
      </p:sp>
      <p:sp>
        <p:nvSpPr>
          <p:cNvPr id="21" name="bullet-hex"/>
          <p:cNvSpPr/>
          <p:nvPr/>
        </p:nvSpPr>
        <p:spPr>
          <a:xfrm>
            <a:off x="676656" y="3972214"/>
            <a:ext cx="384048" cy="332586"/>
          </a:xfrm>
          <a:prstGeom prst="hexagon">
            <a:avLst/>
          </a:prstGeom>
          <a:solidFill>
            <a:srgbClr val="5B3A7A"/>
          </a:solidFill>
          <a:ln/>
        </p:spPr>
      </p:sp>
      <p:sp>
        <p:nvSpPr>
          <p:cNvPr id="22" name="bullet"/>
          <p:cNvSpPr txBox="1"/>
          <p:nvPr/>
        </p:nvSpPr>
        <p:spPr>
          <a:xfrm>
            <a:off x="1143000" y="3758861"/>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Notice how the dates stretch across more than two hundred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Conventions and language features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Convention = what the story contains. Language feature = how the words are chosen. At GCSE you are rewarded for naming both.</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400" i="1" dirty="0">
                <a:solidFill>
                  <a:srgbClr val="1E2229"/>
                </a:solidFill>
                <a:latin typeface="Cambria" pitchFamily="34" charset="0"/>
                <a:ea typeface="Cambria" pitchFamily="34" charset="-122"/>
                <a:cs typeface="Cambria" pitchFamily="34" charset="-120"/>
              </a:rPr>
              <a:t>During the whole of a dull, dark, and soundless day in the autumn of the year, when the clouds hung oppressively low in the heavens, I had been passing alone, on horseback, through a singularly dreary tract of country</a:t>
            </a:r>
            <a:endParaRPr lang="en-US" sz="2400" dirty="0"/>
          </a:p>
          <a:p>
            <a:pPr algn="l" indent="0" marL="0">
              <a:buNone/>
            </a:pPr>
            <a:r>
              <a:rPr lang="en-US" sz="1800" dirty="0">
                <a:solidFill>
                  <a:srgbClr val="4A505C"/>
                </a:solidFill>
                <a:latin typeface="Calibri" pitchFamily="34" charset="0"/>
                <a:ea typeface="Calibri" pitchFamily="34" charset="-122"/>
                <a:cs typeface="Calibri" pitchFamily="34" charset="-120"/>
              </a:rPr>
              <a:t>— Poe, The Fall of the House of Usher (1839)</a:t>
            </a:r>
            <a:endParaRPr lang="en-US" sz="2400" dirty="0"/>
          </a:p>
        </p:txBody>
      </p:sp>
      <p:sp>
        <p:nvSpPr>
          <p:cNvPr id="14" name="bullet-card"/>
          <p:cNvSpPr/>
          <p:nvPr/>
        </p:nvSpPr>
        <p:spPr>
          <a:xfrm>
            <a:off x="548640" y="1389888"/>
            <a:ext cx="5074920" cy="1320546"/>
          </a:xfrm>
          <a:prstGeom prst="roundRect">
            <a:avLst>
              <a:gd name="adj" fmla="val 5540"/>
            </a:avLst>
          </a:prstGeom>
          <a:solidFill>
            <a:srgbClr val="F2EFF4"/>
          </a:solidFill>
          <a:ln/>
        </p:spPr>
      </p:sp>
      <p:sp>
        <p:nvSpPr>
          <p:cNvPr id="15" name="bullet-hex"/>
          <p:cNvSpPr/>
          <p:nvPr/>
        </p:nvSpPr>
        <p:spPr>
          <a:xfrm>
            <a:off x="676656" y="1883868"/>
            <a:ext cx="384048" cy="332586"/>
          </a:xfrm>
          <a:prstGeom prst="hexagon">
            <a:avLst/>
          </a:prstGeom>
          <a:solidFill>
            <a:srgbClr val="5B3A7A"/>
          </a:solidFill>
          <a:ln/>
        </p:spPr>
      </p:sp>
      <p:sp>
        <p:nvSpPr>
          <p:cNvPr id="16" name="bullet"/>
          <p:cNvSpPr txBox="1"/>
          <p:nvPr/>
        </p:nvSpPr>
        <p:spPr>
          <a:xfrm>
            <a:off x="1143000" y="1389888"/>
            <a:ext cx="4389120" cy="132054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sorted a list of Gothic ingredients into two groups.</a:t>
            </a:r>
            <a:endParaRPr lang="en-US" sz="2200" dirty="0"/>
          </a:p>
        </p:txBody>
      </p:sp>
      <p:sp>
        <p:nvSpPr>
          <p:cNvPr id="17" name="bullet-card"/>
          <p:cNvSpPr/>
          <p:nvPr/>
        </p:nvSpPr>
        <p:spPr>
          <a:xfrm>
            <a:off x="548640" y="2856738"/>
            <a:ext cx="5074920" cy="1661414"/>
          </a:xfrm>
          <a:prstGeom prst="roundRect">
            <a:avLst>
              <a:gd name="adj" fmla="val 4403"/>
            </a:avLst>
          </a:prstGeom>
          <a:solidFill>
            <a:srgbClr val="F2EFF4"/>
          </a:solidFill>
          <a:ln/>
        </p:spPr>
      </p:sp>
      <p:sp>
        <p:nvSpPr>
          <p:cNvPr id="18" name="bullet-hex"/>
          <p:cNvSpPr/>
          <p:nvPr/>
        </p:nvSpPr>
        <p:spPr>
          <a:xfrm>
            <a:off x="676656" y="3521152"/>
            <a:ext cx="384048" cy="332586"/>
          </a:xfrm>
          <a:prstGeom prst="hexagon">
            <a:avLst/>
          </a:prstGeom>
          <a:solidFill>
            <a:srgbClr val="B8862B"/>
          </a:solidFill>
          <a:ln/>
        </p:spPr>
      </p:sp>
      <p:sp>
        <p:nvSpPr>
          <p:cNvPr id="19" name="bullet"/>
          <p:cNvSpPr txBox="1"/>
          <p:nvPr/>
        </p:nvSpPr>
        <p:spPr>
          <a:xfrm>
            <a:off x="1143000" y="2856738"/>
            <a:ext cx="4389120" cy="166141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Language features are the ‘how’: the choices a writer makes with words.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Sort the ingredients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Gothic ingredient to the group it belongs to and what it does.</a:t>
            </a:r>
            <a:endParaRPr lang="en-US" sz="2000" dirty="0"/>
          </a:p>
        </p:txBody>
      </p:sp>
      <p:sp>
        <p:nvSpPr>
          <p:cNvPr id="11" name="match-card"/>
          <p:cNvSpPr/>
          <p:nvPr/>
        </p:nvSpPr>
        <p:spPr>
          <a:xfrm>
            <a:off x="777240" y="2468331"/>
            <a:ext cx="3081437" cy="580043"/>
          </a:xfrm>
          <a:prstGeom prst="roundRect">
            <a:avLst>
              <a:gd name="adj" fmla="val 12611"/>
            </a:avLst>
          </a:prstGeom>
          <a:solidFill>
            <a:srgbClr val="F2EFF4"/>
          </a:solidFill>
          <a:ln/>
        </p:spPr>
      </p:sp>
      <p:sp>
        <p:nvSpPr>
          <p:cNvPr id="12" name="match-hex"/>
          <p:cNvSpPr/>
          <p:nvPr/>
        </p:nvSpPr>
        <p:spPr>
          <a:xfrm>
            <a:off x="850392" y="2592060"/>
            <a:ext cx="384048" cy="332586"/>
          </a:xfrm>
          <a:prstGeom prst="hexagon">
            <a:avLst/>
          </a:prstGeom>
          <a:solidFill>
            <a:srgbClr val="5B3A7A"/>
          </a:solidFill>
          <a:ln/>
        </p:spPr>
      </p:sp>
      <p:sp>
        <p:nvSpPr>
          <p:cNvPr id="13" name="match-hex-label"/>
          <p:cNvSpPr txBox="1"/>
          <p:nvPr/>
        </p:nvSpPr>
        <p:spPr>
          <a:xfrm>
            <a:off x="850392" y="25920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Pathetic fallacy</a:t>
            </a:r>
            <a:endParaRPr lang="en-US" sz="1800" dirty="0"/>
          </a:p>
        </p:txBody>
      </p:sp>
      <p:sp>
        <p:nvSpPr>
          <p:cNvPr id="15" name="match-card"/>
          <p:cNvSpPr/>
          <p:nvPr/>
        </p:nvSpPr>
        <p:spPr>
          <a:xfrm>
            <a:off x="4224437" y="2468331"/>
            <a:ext cx="7190019" cy="580043"/>
          </a:xfrm>
          <a:prstGeom prst="roundRect">
            <a:avLst>
              <a:gd name="adj" fmla="val 12611"/>
            </a:avLst>
          </a:prstGeom>
          <a:solidFill>
            <a:srgbClr val="F6F0E6"/>
          </a:solidFill>
          <a:ln/>
        </p:spPr>
      </p:sp>
      <p:sp>
        <p:nvSpPr>
          <p:cNvPr id="16" name="match-hex"/>
          <p:cNvSpPr/>
          <p:nvPr/>
        </p:nvSpPr>
        <p:spPr>
          <a:xfrm>
            <a:off x="4297589" y="2592060"/>
            <a:ext cx="384048" cy="332586"/>
          </a:xfrm>
          <a:prstGeom prst="hexagon">
            <a:avLst/>
          </a:prstGeom>
          <a:solidFill>
            <a:srgbClr val="B8862B"/>
          </a:solidFill>
          <a:ln/>
        </p:spPr>
      </p:sp>
      <p:sp>
        <p:nvSpPr>
          <p:cNvPr id="17" name="match-hex-label"/>
          <p:cNvSpPr txBox="1"/>
          <p:nvPr/>
        </p:nvSpPr>
        <p:spPr>
          <a:xfrm>
            <a:off x="4297589" y="25920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Convention: chapels, crosses and graves hint at good and evil</a:t>
            </a:r>
            <a:endParaRPr lang="en-US" sz="1800" dirty="0"/>
          </a:p>
        </p:txBody>
      </p:sp>
      <p:sp>
        <p:nvSpPr>
          <p:cNvPr id="19" name="match-card"/>
          <p:cNvSpPr/>
          <p:nvPr/>
        </p:nvSpPr>
        <p:spPr>
          <a:xfrm>
            <a:off x="777240" y="3139814"/>
            <a:ext cx="3081437" cy="580043"/>
          </a:xfrm>
          <a:prstGeom prst="roundRect">
            <a:avLst>
              <a:gd name="adj" fmla="val 12611"/>
            </a:avLst>
          </a:prstGeom>
          <a:solidFill>
            <a:srgbClr val="F2EFF4"/>
          </a:solidFill>
          <a:ln/>
        </p:spPr>
      </p:sp>
      <p:sp>
        <p:nvSpPr>
          <p:cNvPr id="20" name="match-hex"/>
          <p:cNvSpPr/>
          <p:nvPr/>
        </p:nvSpPr>
        <p:spPr>
          <a:xfrm>
            <a:off x="850392" y="3263542"/>
            <a:ext cx="384048" cy="332586"/>
          </a:xfrm>
          <a:prstGeom prst="hexagon">
            <a:avLst/>
          </a:prstGeom>
          <a:solidFill>
            <a:srgbClr val="5B3A7A"/>
          </a:solidFill>
          <a:ln/>
        </p:spPr>
      </p:sp>
      <p:sp>
        <p:nvSpPr>
          <p:cNvPr id="21" name="match-hex-label"/>
          <p:cNvSpPr txBox="1"/>
          <p:nvPr/>
        </p:nvSpPr>
        <p:spPr>
          <a:xfrm>
            <a:off x="850392" y="32635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39814"/>
            <a:ext cx="2487077"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One-word sentences</a:t>
            </a:r>
            <a:endParaRPr lang="en-US" sz="1800" dirty="0"/>
          </a:p>
        </p:txBody>
      </p:sp>
      <p:sp>
        <p:nvSpPr>
          <p:cNvPr id="23" name="match-card"/>
          <p:cNvSpPr/>
          <p:nvPr/>
        </p:nvSpPr>
        <p:spPr>
          <a:xfrm>
            <a:off x="4224437" y="3139814"/>
            <a:ext cx="7190019" cy="580043"/>
          </a:xfrm>
          <a:prstGeom prst="roundRect">
            <a:avLst>
              <a:gd name="adj" fmla="val 12611"/>
            </a:avLst>
          </a:prstGeom>
          <a:solidFill>
            <a:srgbClr val="F6F0E6"/>
          </a:solidFill>
          <a:ln/>
        </p:spPr>
      </p:sp>
      <p:sp>
        <p:nvSpPr>
          <p:cNvPr id="24" name="match-hex"/>
          <p:cNvSpPr/>
          <p:nvPr/>
        </p:nvSpPr>
        <p:spPr>
          <a:xfrm>
            <a:off x="4297589" y="3263542"/>
            <a:ext cx="384048" cy="332586"/>
          </a:xfrm>
          <a:prstGeom prst="hexagon">
            <a:avLst/>
          </a:prstGeom>
          <a:solidFill>
            <a:srgbClr val="B8862B"/>
          </a:solidFill>
          <a:ln/>
        </p:spPr>
      </p:sp>
      <p:sp>
        <p:nvSpPr>
          <p:cNvPr id="25" name="match-hex-label"/>
          <p:cNvSpPr txBox="1"/>
          <p:nvPr/>
        </p:nvSpPr>
        <p:spPr>
          <a:xfrm>
            <a:off x="4297589" y="32635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39814"/>
            <a:ext cx="6595659"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Language feature: a single word stops the reader dead</a:t>
            </a:r>
            <a:endParaRPr lang="en-US" sz="1800" dirty="0"/>
          </a:p>
        </p:txBody>
      </p:sp>
      <p:sp>
        <p:nvSpPr>
          <p:cNvPr id="27" name="match-card"/>
          <p:cNvSpPr/>
          <p:nvPr/>
        </p:nvSpPr>
        <p:spPr>
          <a:xfrm>
            <a:off x="777240" y="3811296"/>
            <a:ext cx="3081437" cy="807627"/>
          </a:xfrm>
          <a:prstGeom prst="roundRect">
            <a:avLst>
              <a:gd name="adj" fmla="val 9058"/>
            </a:avLst>
          </a:prstGeom>
          <a:solidFill>
            <a:srgbClr val="F2EFF4"/>
          </a:solidFill>
          <a:ln/>
        </p:spPr>
      </p:sp>
      <p:sp>
        <p:nvSpPr>
          <p:cNvPr id="28" name="match-hex"/>
          <p:cNvSpPr/>
          <p:nvPr/>
        </p:nvSpPr>
        <p:spPr>
          <a:xfrm>
            <a:off x="850392" y="4048817"/>
            <a:ext cx="384048" cy="332586"/>
          </a:xfrm>
          <a:prstGeom prst="hexagon">
            <a:avLst/>
          </a:prstGeom>
          <a:solidFill>
            <a:srgbClr val="5B3A7A"/>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811296"/>
            <a:ext cx="2487077" cy="80762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remote, isolated setting</a:t>
            </a:r>
            <a:endParaRPr lang="en-US" sz="1800" dirty="0"/>
          </a:p>
        </p:txBody>
      </p:sp>
      <p:sp>
        <p:nvSpPr>
          <p:cNvPr id="31" name="match-card"/>
          <p:cNvSpPr/>
          <p:nvPr/>
        </p:nvSpPr>
        <p:spPr>
          <a:xfrm>
            <a:off x="4224437" y="3811296"/>
            <a:ext cx="7190019" cy="807627"/>
          </a:xfrm>
          <a:prstGeom prst="roundRect">
            <a:avLst>
              <a:gd name="adj" fmla="val 9058"/>
            </a:avLst>
          </a:prstGeom>
          <a:solidFill>
            <a:srgbClr val="F6F0E6"/>
          </a:solidFill>
          <a:ln/>
        </p:spPr>
      </p:sp>
      <p:sp>
        <p:nvSpPr>
          <p:cNvPr id="32" name="match-hex"/>
          <p:cNvSpPr/>
          <p:nvPr/>
        </p:nvSpPr>
        <p:spPr>
          <a:xfrm>
            <a:off x="4297589" y="4048817"/>
            <a:ext cx="384048" cy="332586"/>
          </a:xfrm>
          <a:prstGeom prst="hexagon">
            <a:avLst/>
          </a:prstGeom>
          <a:solidFill>
            <a:srgbClr val="B8862B"/>
          </a:solidFill>
          <a:ln/>
        </p:spPr>
      </p:sp>
      <p:sp>
        <p:nvSpPr>
          <p:cNvPr id="33"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811296"/>
            <a:ext cx="6595659" cy="80762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Language feature: we share the fear of one person who does not know what is coming</a:t>
            </a:r>
            <a:endParaRPr lang="en-US" sz="1800" dirty="0"/>
          </a:p>
        </p:txBody>
      </p:sp>
      <p:sp>
        <p:nvSpPr>
          <p:cNvPr id="35" name="match-card"/>
          <p:cNvSpPr/>
          <p:nvPr/>
        </p:nvSpPr>
        <p:spPr>
          <a:xfrm>
            <a:off x="777240" y="4710363"/>
            <a:ext cx="3081437" cy="580043"/>
          </a:xfrm>
          <a:prstGeom prst="roundRect">
            <a:avLst>
              <a:gd name="adj" fmla="val 12611"/>
            </a:avLst>
          </a:prstGeom>
          <a:solidFill>
            <a:srgbClr val="F2EFF4"/>
          </a:solidFill>
          <a:ln/>
        </p:spPr>
      </p:sp>
      <p:sp>
        <p:nvSpPr>
          <p:cNvPr id="36" name="match-hex"/>
          <p:cNvSpPr/>
          <p:nvPr/>
        </p:nvSpPr>
        <p:spPr>
          <a:xfrm>
            <a:off x="850392" y="4834091"/>
            <a:ext cx="384048" cy="332586"/>
          </a:xfrm>
          <a:prstGeom prst="hexagon">
            <a:avLst/>
          </a:prstGeom>
          <a:solidFill>
            <a:srgbClr val="5B3A7A"/>
          </a:solidFill>
          <a:ln/>
        </p:spPr>
      </p:sp>
      <p:sp>
        <p:nvSpPr>
          <p:cNvPr id="37" name="match-hex-label"/>
          <p:cNvSpPr txBox="1"/>
          <p:nvPr/>
        </p:nvSpPr>
        <p:spPr>
          <a:xfrm>
            <a:off x="850392" y="48340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710363"/>
            <a:ext cx="2487077"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Religious symbolism</a:t>
            </a:r>
            <a:endParaRPr lang="en-US" sz="1800" dirty="0"/>
          </a:p>
        </p:txBody>
      </p:sp>
      <p:sp>
        <p:nvSpPr>
          <p:cNvPr id="39" name="match-card"/>
          <p:cNvSpPr/>
          <p:nvPr/>
        </p:nvSpPr>
        <p:spPr>
          <a:xfrm>
            <a:off x="4224437" y="4710363"/>
            <a:ext cx="7190019" cy="580043"/>
          </a:xfrm>
          <a:prstGeom prst="roundRect">
            <a:avLst>
              <a:gd name="adj" fmla="val 12611"/>
            </a:avLst>
          </a:prstGeom>
          <a:solidFill>
            <a:srgbClr val="F6F0E6"/>
          </a:solidFill>
          <a:ln/>
        </p:spPr>
      </p:sp>
      <p:sp>
        <p:nvSpPr>
          <p:cNvPr id="40" name="match-hex"/>
          <p:cNvSpPr/>
          <p:nvPr/>
        </p:nvSpPr>
        <p:spPr>
          <a:xfrm>
            <a:off x="4297589" y="4834091"/>
            <a:ext cx="384048" cy="332586"/>
          </a:xfrm>
          <a:prstGeom prst="hexagon">
            <a:avLst/>
          </a:prstGeom>
          <a:solidFill>
            <a:srgbClr val="B8862B"/>
          </a:solidFill>
          <a:ln/>
        </p:spPr>
      </p:sp>
      <p:sp>
        <p:nvSpPr>
          <p:cNvPr id="41" name="match-hex-label"/>
          <p:cNvSpPr txBox="1"/>
          <p:nvPr/>
        </p:nvSpPr>
        <p:spPr>
          <a:xfrm>
            <a:off x="4297589" y="48340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710363"/>
            <a:ext cx="6595659"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Convention: nobody can hear the character call for help</a:t>
            </a:r>
            <a:endParaRPr lang="en-US" sz="1800" dirty="0"/>
          </a:p>
        </p:txBody>
      </p:sp>
      <p:sp>
        <p:nvSpPr>
          <p:cNvPr id="43" name="match-card"/>
          <p:cNvSpPr/>
          <p:nvPr/>
        </p:nvSpPr>
        <p:spPr>
          <a:xfrm>
            <a:off x="777240" y="5381845"/>
            <a:ext cx="3081437" cy="580043"/>
          </a:xfrm>
          <a:prstGeom prst="roundRect">
            <a:avLst>
              <a:gd name="adj" fmla="val 12611"/>
            </a:avLst>
          </a:prstGeom>
          <a:solidFill>
            <a:srgbClr val="F2EFF4"/>
          </a:solidFill>
          <a:ln/>
        </p:spPr>
      </p:sp>
      <p:sp>
        <p:nvSpPr>
          <p:cNvPr id="44" name="match-hex"/>
          <p:cNvSpPr/>
          <p:nvPr/>
        </p:nvSpPr>
        <p:spPr>
          <a:xfrm>
            <a:off x="850392" y="5505574"/>
            <a:ext cx="384048" cy="332586"/>
          </a:xfrm>
          <a:prstGeom prst="hexagon">
            <a:avLst/>
          </a:prstGeom>
          <a:solidFill>
            <a:srgbClr val="5B3A7A"/>
          </a:solidFill>
          <a:ln/>
        </p:spPr>
      </p:sp>
      <p:sp>
        <p:nvSpPr>
          <p:cNvPr id="45" name="match-hex-label"/>
          <p:cNvSpPr txBox="1"/>
          <p:nvPr/>
        </p:nvSpPr>
        <p:spPr>
          <a:xfrm>
            <a:off x="850392" y="55055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81845"/>
            <a:ext cx="2487077"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first-person narrator</a:t>
            </a:r>
            <a:endParaRPr lang="en-US" sz="1800" dirty="0"/>
          </a:p>
        </p:txBody>
      </p:sp>
      <p:sp>
        <p:nvSpPr>
          <p:cNvPr id="47" name="match-card"/>
          <p:cNvSpPr/>
          <p:nvPr/>
        </p:nvSpPr>
        <p:spPr>
          <a:xfrm>
            <a:off x="4224437" y="5381845"/>
            <a:ext cx="7190019" cy="580043"/>
          </a:xfrm>
          <a:prstGeom prst="roundRect">
            <a:avLst>
              <a:gd name="adj" fmla="val 12611"/>
            </a:avLst>
          </a:prstGeom>
          <a:solidFill>
            <a:srgbClr val="F6F0E6"/>
          </a:solidFill>
          <a:ln/>
        </p:spPr>
      </p:sp>
      <p:sp>
        <p:nvSpPr>
          <p:cNvPr id="48" name="match-hex"/>
          <p:cNvSpPr/>
          <p:nvPr/>
        </p:nvSpPr>
        <p:spPr>
          <a:xfrm>
            <a:off x="4297589" y="5505574"/>
            <a:ext cx="384048" cy="332586"/>
          </a:xfrm>
          <a:prstGeom prst="hexagon">
            <a:avLst/>
          </a:prstGeom>
          <a:solidFill>
            <a:srgbClr val="B8862B"/>
          </a:solidFill>
          <a:ln/>
        </p:spPr>
      </p:sp>
      <p:sp>
        <p:nvSpPr>
          <p:cNvPr id="49" name="match-hex-label"/>
          <p:cNvSpPr txBox="1"/>
          <p:nvPr/>
        </p:nvSpPr>
        <p:spPr>
          <a:xfrm>
            <a:off x="4297589" y="55055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381845"/>
            <a:ext cx="6595659"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Language feature: the weather reflects the character's mood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Same task, three ways in: Sort the ingredients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Sort the ingredients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EB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of each item: is it a thing in the story (a convention) or a way of using words (a language feature)?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Conventions are things you could draw: a castle, a ghost, a cross.</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Language features are choices you can only hear when you read: a short sentence, a comparison, who is speaking.</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match the effect on the right that fits.</a:t>
            </a:r>
            <a:endParaRPr lang="en-US" sz="1800" dirty="0"/>
          </a:p>
        </p:txBody>
      </p:sp>
      <p:sp>
        <p:nvSpPr>
          <p:cNvPr id="17" name="col-Core"/>
          <p:cNvSpPr/>
          <p:nvPr/>
        </p:nvSpPr>
        <p:spPr>
          <a:xfrm>
            <a:off x="6425403" y="2395728"/>
            <a:ext cx="2471666" cy="3749040"/>
          </a:xfrm>
          <a:prstGeom prst="roundRect">
            <a:avLst>
              <a:gd name="adj" fmla="val 2220"/>
            </a:avLst>
          </a:prstGeom>
          <a:solidFill>
            <a:srgbClr val="DBD4E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of the five are things you could draw on a map of the castle. The other three are things you can only do with words.</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5B3A7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one convention and one language feature from the list and write a single Gothic sentence that uses both. Then explain which one does more to frighten the reader.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The Gothic timeline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five Gothic stories in the order they were published, earliest first.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Castle of Otranto (Horace Walpole)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Woman in Black (Susan Hill)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Strange Case of Dr Jekyll and Mr Hyde (Robert Louis Stevenson)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Frankenstein (Mary Shelley)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Dracula (Bram Stoker)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Same task, three ways in (1 of 2): The Gothic timeline</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five Gothic stories in the order they were published, earliest first.</a:t>
            </a:r>
            <a:endParaRPr lang="en-US" sz="2000" dirty="0"/>
          </a:p>
        </p:txBody>
      </p:sp>
      <p:sp>
        <p:nvSpPr>
          <p:cNvPr id="12" name="col-Support"/>
          <p:cNvSpPr/>
          <p:nvPr/>
        </p:nvSpPr>
        <p:spPr>
          <a:xfrm>
            <a:off x="548640" y="2578608"/>
            <a:ext cx="11094415" cy="3566160"/>
          </a:xfrm>
          <a:prstGeom prst="roundRect">
            <a:avLst>
              <a:gd name="adj" fmla="val 1538"/>
            </a:avLst>
          </a:prstGeom>
          <a:solidFill>
            <a:srgbClr val="EFEB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10820095" cy="281635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Start with the first Gothic novel: the one with the castle in its title, 1764.</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End with the only book from the twentieth century: 1983.</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Frankenstein was written by a teenager during the Romantic period, so it comes before the two Victorian novels.</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Of the two Victorian novels, the one about a scientist with a double came eleven years before the vampire.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Same task, three ways in (2 of 2): The Gothic timeline</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five Gothic stories in the order they were published, earliest first.</a:t>
            </a:r>
            <a:endParaRPr lang="en-US" sz="2000" dirty="0"/>
          </a:p>
        </p:txBody>
      </p:sp>
      <p:sp>
        <p:nvSpPr>
          <p:cNvPr id="12" name="col-Core"/>
          <p:cNvSpPr/>
          <p:nvPr/>
        </p:nvSpPr>
        <p:spPr>
          <a:xfrm>
            <a:off x="548640" y="2578608"/>
            <a:ext cx="5410048" cy="3566160"/>
          </a:xfrm>
          <a:prstGeom prst="roundRect">
            <a:avLst>
              <a:gd name="adj" fmla="val 1538"/>
            </a:avLst>
          </a:prstGeom>
          <a:solidFill>
            <a:srgbClr val="DBD4E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492E62"/>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1764, 1818, 1886, 1897, 1983. Match each date to its period: Georgian, Romantic, Victorian, Victorian, modern.</a:t>
            </a:r>
            <a:endParaRPr lang="en-US" sz="2200" dirty="0"/>
          </a:p>
        </p:txBody>
      </p:sp>
      <p:sp>
        <p:nvSpPr>
          <p:cNvPr id="17" name="col-Stretch"/>
          <p:cNvSpPr/>
          <p:nvPr/>
        </p:nvSpPr>
        <p:spPr>
          <a:xfrm>
            <a:off x="6233008" y="2578608"/>
            <a:ext cx="5410048" cy="3566160"/>
          </a:xfrm>
          <a:prstGeom prst="roundRect">
            <a:avLst>
              <a:gd name="adj" fmla="val 1538"/>
            </a:avLst>
          </a:prstGeom>
          <a:solidFill>
            <a:srgbClr val="5B3A7A"/>
          </a:solidFill>
          <a:ln/>
        </p:spPr>
      </p:sp>
      <p:sp>
        <p:nvSpPr>
          <p:cNvPr id="18" name="col-hex"/>
          <p:cNvSpPr/>
          <p:nvPr/>
        </p:nvSpPr>
        <p:spPr>
          <a:xfrm>
            <a:off x="634273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Each book on the timeline added something to the genre: a castle, a creature, a double, a vampire, a modern haunting. Write one sentence for each saying what it added, and then say which addition you think changed the genre most.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770124"/>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Read this sentence: ‘Alone on the moor, I heard the chapel bell toll once, though nobody had rung it in a hundred years.’ Which Gothic convention is NOT used here?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supernatural</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Blood and body parts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An isolated setting</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Religious symbolism</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4F1F6"/>
          </a:solidFill>
          <a:ln w="12700">
            <a:solidFill>
              <a:srgbClr val="AD9DB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Sort the ingredients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Pathetic fallacy  →  E  Language feature: the weather reflects the character's mood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One-word sentences  →  B  Language feature: a single word stops the reader dead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remote, isolated setting  →  D  Convention: nobody can hear the character call for help</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Religious symbolism  →  A  Convention: chapels, crosses and graves hint at good and evil</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first-person narrator  →  C  Language feature: we share the fear of one person who does not know what is coming</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Conventions are what a Gothic story contains; language features are how it is written. Knowing which is which lets you plan a story (conventions) and then craft it (language features).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The Gothic timeline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Castle of Otranto (Horace Walpole)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Frankenstein (Mary Shelley)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Strange Case of Dr Jekyll and Mr Hyde (Robert Louis Stevenson)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Dracula (Bram Stoker)  (E)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Woman in Black (Susan Hill)  (B)</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Otranto (1764) started the genre; Frankenstein (1818) brought science; Jekyll and Hyde (1886) brought the double; Dracula (1897) fixed the vampire; The Woman in Black (1983) proved the genre still works today.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Read this sentence: ‘Alone on the moor, I heard the chapel bell toll once, though nobody had rung it in a hundred years.’ Which Gothic convention is NOT used here?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Blood and body parts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sentence has isolation (alone on the moor), the supernatural (a bell that rings itself) and religious symbolism (the chapel), but no blood or body parts.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FEBF2"/>
      </a:lt2>
      <a:accent1>
        <a:srgbClr val="5B3A7A"/>
      </a:accent1>
      <a:accent2>
        <a:srgbClr val="B8862B"/>
      </a:accent2>
      <a:accent3>
        <a:srgbClr val="9D89AF"/>
      </a:accent3>
      <a:accent4>
        <a:srgbClr val="815E1E"/>
      </a:accent4>
      <a:accent5>
        <a:srgbClr val="4A505C"/>
      </a:accent5>
      <a:accent6>
        <a:srgbClr val="DCC395"/>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Gothic Literature · Chapter 1: What makes a story Gothic?</dc:title>
  <dc:subject>English Literature · Year 9</dc:subject>
  <dc:creator>Dr Vitor Merissi de Carvalho</dc:creator>
  <cp:lastModifiedBy>Dr Vitor Merissi de Carvalho</cp:lastModifiedBy>
  <cp:revision>1</cp:revision>
  <dcterms:created xsi:type="dcterms:W3CDTF">2026-10-19T06:07:28Z</dcterms:created>
  <dcterms:modified xsi:type="dcterms:W3CDTF">2026-10-19T06:07:28Z</dcterms:modified>
</cp:coreProperties>
</file>