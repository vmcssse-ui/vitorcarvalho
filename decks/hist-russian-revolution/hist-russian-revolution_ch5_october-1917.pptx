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ad1de88-cc41-b9f4-53a9-ca5a15b7b03f}">
          <p14:sldIdLst>
            <p14:sldId id="256"/>
          </p14:sldIdLst>
        </p14:section>
        <p14:section name="Gate" id="{d326b80e-8afe-8fe2-720a-a610c6a992c5}">
          <p14:sldIdLst>
            <p14:sldId id="257"/>
            <p14:sldId id="258"/>
            <p14:sldId id="259"/>
          </p14:sldIdLst>
        </p14:section>
        <p14:section name="Pre-teach" id="{ca1c4cb2-ec61-3e3e-5b1c-1838f3372c4b}">
          <p14:sldIdLst>
            <p14:sldId id="260"/>
            <p14:sldId id="261"/>
          </p14:sldIdLst>
        </p14:section>
        <p14:section name="Read-along" id="{95ebccb8-66fb-0a39-f7e7-798555322230}">
          <p14:sldIdLst>
            <p14:sldId id="262"/>
            <p14:sldId id="263"/>
          </p14:sldIdLst>
        </p14:section>
        <p14:section name="Teach" id="{c8cc0379-0752-c717-2d07-afca9a6dc9ef}">
          <p14:sldIdLst>
            <p14:sldId id="264"/>
            <p14:sldId id="265"/>
            <p14:sldId id="266"/>
            <p14:sldId id="267"/>
            <p14:sldId id="268"/>
            <p14:sldId id="269"/>
            <p14:sldId id="270"/>
          </p14:sldIdLst>
        </p14:section>
        <p14:section name="Routes" id="{df484eed-b0c7-1722-4f9a-56631dbf98f5}">
          <p14:sldIdLst>
            <p14:sldId id="271"/>
            <p14:sldId id="272"/>
            <p14:sldId id="273"/>
            <p14:sldId id="274"/>
          </p14:sldIdLst>
        </p14:section>
        <p14:section name="Close" id="{63247506-4503-b18a-86dd-5de21196b9d1}">
          <p14:sldIdLst>
            <p14:sldId id="275"/>
          </p14:sldIdLst>
        </p14:section>
        <p14:section name="Answers" id="{4d34948f-35a3-0f72-e1a6-13570bb308a6}">
          <p14:sldIdLst>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October 1917: the Bolsheviks seize power. Why Russia had a second revolution eight months after the first: the Provisional Government's mistakes, the Bolsheviks' promises, the Kornilov affair, and the nights the Red Guards took the capital.
This deck covers the department's lesson: 4 (The October 1917 Revolution and progress check: Why was there a second revolution in October 1917, and how do you write a narrative account?).
Read the big question aloud: "To what extent did the Russian Revolution bring about change?"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promise did the Bolsheviks use to win support in 1917?  →  B   An immediate end to the war, with bread for the cities and land for the peasants
2. The armed Bolshevik supporters who seized the key buildings of Petrograd were called the Red ___.  →  Guards
3. Why did the Kornilov affair in August 1917 end up helping the Bolsheviks?  →  B   Kerensky armed the Red Guards to stop Kornilov, and they kept their weapons afterwards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promise did the Bolsheviks use to win support in 1917?  →  B   An immediate end to the war, with bread for the cities and land for the peasants
2. The armed Bolshevik supporters who seized the key buildings of Petrograd were called the Red ___.  →  Guards
3. Why did the Kornilov affair in August 1917 end up helping the Bolsheviks?  →  B   Kerensky armed the Red Guards to stop Kornilov, and they kept their weapons afterwards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An immediate end to the war, with bread for the cities and land for the peasants. Bread, peace and land answered the three things people wanted most, and the Bolsheviks were the only party offering to leave the war at once.
2. Guards. Trotsky created the Red Guards in March 1917, and Kerensky armed them during the Kornilov affair.
3. B   Kerensky armed the Red Guards to stop Kornilov, and they kept their weapons afterwards. Kerensky handed weapons to the very people training to overthrow him. The Red Guards saved the city, kept the guns and gained a reputation as its defenders.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Bolsheviks: the revolutionary party led by Vladimir Lenin. Example: "The Bolsheviks were the only party promising to leave the war at once."
• Red Guards: armed Bolshevik supporters, trained in secret. Example: "The Red Guards were given weapons to defend the capital and never gave them back."
• Winter Palace: the Tsar's old palace in Petrograd, where the Provisional Government met. Example: "Taking the Winter Palace meant taking the government."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propaganda: information spread to make people believe something, true or not. Example: "Kerensky used propaganda to accuse Lenin of working for Germany."
• slogan: a short phrase repeated to win support. Example: "The Bolshevik slogan promised bread, peace and land in four words."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After February, Russia had two rival sources of power.
2. The Provisional Government kept Russia in the war.
3. Food was still short and prices still rose.
4. Vladimir Lenin led a party called the Bolsheviks.
5. He returned from exile abroad in April 1917.
6. His slogan was short: bread, peace and land.
7. In July the government's new attack on Germany failed badly.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Soldiers and sailors protested, and Lenin had to flee again.
9. In August a general called Kornilov tried to seize power.
10. Kerensky armed the Bolshevik Red Guards to stop him.
11. They stopped Kornilov, and then they kept their guns.
12. On 25 October, Old Style, the Red Guards surrounded the Winter Palace.
13. By our calendar that was 7 November, New Style.
14. The Provisional Government surrendered, and the Bolsheviks held the capital.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a second revolution? The Provisional Government's mistakes. Say it in your own words, then check understanding with a quick question: ask a pupil from the pre-teach group first, since they met these words and ideas before the lesson. Pupils try to recall before you re-explain.
Your lesson sets the October Revolution up as a question with two possible answers: was there a second revolution because the Provisional Government made bad decisions, or because Lenin and the Bolsheviks made good ones? Work through the evidence and you will find the honest answer is both, with the government going first.
Its worst decision was to stay in the First World War. The war was why the bread had run out, why the soldiers had mutinied and why the Tsar had fallen, and the new government chose to carry on with it. Its second failure was economic: prices went on rising and food stayed short, so for most people February had changed the people in charge and nothing else.
Behind both sat the structural problem from the last chapter. Dual power meant the Provisional Government shared authority with the Petrograd Soviet, and Order Number One told soldiers and workers to ignore instructions they disagreed with. A government that cannot end the war, cannot feed the cities and cannot be sure of being obeyed is a government waiting for a successor.
Tip: For a causes paragraph on October, pair each government mistake with the Bolshevik promise that answered it. War answered by peace, hunger by bread, land hunger by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Lenin, the Bolsheviks and their promises. Say it in your own words, then check understanding with a quick question: ask a pupil from the pre-teach group first, since they met these words and ideas before the lesson. Pupils try to recall before you re-explain.
Vladimir Lenin, the leader of the Bolsheviks, had been living abroad in Switzerland. He returned to Russia in April 1917, travelling through enemy Germany, whose government let him pass because they expected him to cause trouble for Russia's war effort. Your lesson describes him as a powerful speaker and an excellent leader, and support for his party grew as it won more seats in the soviets.
The Bolshevik message was short enough to shout and specific enough to matter: bread, peace and land, and all power to the soviets. Between May and June, Lenin promised the peasants land and claimed the Bolsheviks could solve the food shortages. Your lesson credits Trotsky, who joined him, with creating the Red Guards in March 1917 and with bringing remarkable organising skill to the party.
It did not run smoothly. In July 1917 Kerensky, then the government's Minister for War, launched a large attack on the Germans, and it went badly wrong. Soldiers and sailors protested in the streets and many turned to the Bolsheviks as the only party that wanted the war stopped. Kerensky struck back with propaganda, accusing Lenin of being anti-Russian and of secretly wanting Germany to win, and Lenin had to flee abroad again. At that point it looked as though the Bolsheviks had missed their chance.
Tip: Learn the three Bolshevik promises as a list, then learn which government failure each one answered. That gives you cause and effect in one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Kornilov affair: the guns the Bolsheviks kept. Say it in your own words, then check understanding with a quick question: ask a pupil from the pre-teach group first, since they met these words and ideas before the lesson. Pupils try to recall before you re-explain.
In the autumn of 1917 Kerensky made a general called Kornilov head of the army. Kornilov decided to end the protests for good and sent Cossack soldiers to Petrograd, and in August he attempted to seize power for himself. There was fighting and confusion in the streets of the capital.
Kerensky panicked and did the thing that destroyed him. He handed weapons to the Red Guards, the Bolshevik supporters who had been training in secret to overthrow his own government, so that they could help defend the city. They did defend it, and your lesson says people treated them as heroes.
Then they kept the guns. Within two months the Bolsheviks had a popular, armed force inside the capital, the liberal and conservative parties were demoralised by the whole affair, and the Provisional Government looked helpless. Your lesson lists exactly those three things among Lenin's reasons for thinking the moment had come.
Tip: The Kornilov affair is the single best example of a government mistake handing a revolution to someone else. Use it when you are asked whose fault October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Red October: the nights the capital changed hands. Say it in your own words, then check understanding with a quick question: ask a pupil from the pre-teach group first, since they met these words and ideas before the lesson. Pupils try to recall before you re-explain.
Lenin pressed for action. In a message to the Bolshevik Central Committee dated 12 September 1917, Old Style, he warned that the chance would not come again, and on 10 October, Old Style, he returned to Petrograd from exile in Finland and persuaded the Committee to back an armed seizure of power. The Committee declared that “an armed uprising is inevitable”. A Military Revolutionary Committee was set up to plan it, with Trotsky in charge, and it hardly bothered to hide its preparations: Kerensky knew, and details leaked by Kamenev and Zinoviev were printed in newspapers.
The seizure itself took two days. In the early hours of 24 October, Old Style, soldiers loyal to the government raided the printing house of the Bolshevik newspaper and destroyed equipment and thousands of copies; by ten in the morning Bolshevik soldiers had taken it back. That evening the Bolsheviks occupied the railway stations, the telephone exchange and the State Bank, and made the Smolny Institute their headquarters. The Kronstadt sailors and most of the Petrograd garrison declared for them.
On 25 October, Old Style, the Red Guards surrounded the Winter Palace, where most of the Cabinet was sitting; Kerensky had already escaped the city. The palace was defended by Cossacks, some junior officers and the Women's Battalion. The cruiser Aurora and the Peter and Paul Fortress opened fire in the evening, doing little damage but persuading most of the defenders to surrender, and by ten past two in the morning of 26 October, Old Style, the Bolsheviks were in control. In our calendar the night the palace fell was 7 November, New Style, which is why some books call this the November Revolution.
Worked example — model it step by step, thinking aloud: Explain why the October Revolution met so little resistance compared with February. (1) Point: by October there was hardly anyone left willing to fight for the Provisional Government. (2) Evidence one: the Kronstadt sailors and most of the Petrograd garrison had already declared for the Bolsheviks. (3) Evidence two: Kerensky had fled the city, and the Winter Palace was held only by Cossacks, junior officers and the Women's Battalion. (4) Explain and contrast: February was a mass uprising against an army that eventually changed sides, while October was a planned takeover of key buildings that almost nobody defended. Answer: February was a popular rising that had to break the army; October was an organised seizure of a capital whose garrison had already joined the Bolsheviks and whose government had lost its leader and its supporters..
Quotation: "History will not forgive us" (Vladimir Lenin, message to the Bolshevik Central Committee (12 September 1917, Old Style), as printed in your lesson). Read it aloud; ask what it shows.
Tip: If you are asked how October differed from February, use the words planned and spontaneous. February had no leaders; October had a committee and a timetable.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Red October: the nights the capital changed hands. Say it in your own words, then check understanding with a quick question: ask a pupil from the pre-teach group first, since they met these words and ideas before the lesson. Pupils try to recall before you re-explain.
Lenin pressed for action. In a message to the Bolshevik Central Committee dated 12 September 1917, Old Style, he warned that the chance would not come again, and on 10 October, Old Style, he returned to Petrograd from exile in Finland and persuaded the Committee to back an armed seizure of power. The Committee declared that “an armed uprising is inevitable”. A Military Revolutionary Committee was set up to plan it, with Trotsky in charge, and it hardly bothered to hide its preparations: Kerensky knew, and details leaked by Kamenev and Zinoviev were printed in newspapers.
The seizure itself took two days. In the early hours of 24 October, Old Style, soldiers loyal to the government raided the printing house of the Bolshevik newspaper and destroyed equipment and thousands of copies; by ten in the morning Bolshevik soldiers had taken it back. That evening the Bolsheviks occupied the railway stations, the telephone exchange and the State Bank, and made the Smolny Institute their headquarters. The Kronstadt sailors and most of the Petrograd garrison declared for them.
On 25 October, Old Style, the Red Guards surrounded the Winter Palace, where most of the Cabinet was sitting; Kerensky had already escaped the city. The palace was defended by Cossacks, some junior officers and the Women's Battalion. The cruiser Aurora and the Peter and Paul Fortress opened fire in the evening, doing little damage but persuading most of the defenders to surrender, and by ten past two in the morning of 26 October, Old Style, the Bolsheviks were in control. In our calendar the night the palace fell was 7 November, New Style, which is why some books call this the November Revolution.
Worked example — model it step by step, thinking aloud: Explain why the October Revolution met so little resistance compared with February. (1) Point: by October there was hardly anyone left willing to fight for the Provisional Government. (2) Evidence one: the Kronstadt sailors and most of the Petrograd garrison had already declared for the Bolsheviks. (3) Evidence two: Kerensky had fled the city, and the Winter Palace was held only by Cossacks, junior officers and the Women's Battalion. (4) Explain and contrast: February was a mass uprising against an army that eventually changed sides, while October was a planned takeover of key buildings that almost nobody defended. Answer: February was a popular rising that had to break the army; October was an organised seizure of a capital whose garrison had already joined the Bolsheviks and whose government had lost its leader and its supporters..
Quotation: "History will not forgive us" (Vladimir Lenin, message to the Bolshevik Central Committee (12 September 1917, Old Style), as printed in your lesson). Read it aloud; ask what it shows.
Tip: If you are asked how October differed from February, use the words planned and spontaneous. February had no leaders; October had a committee and a timetable.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Red October: the nights the capital changed hands. Say it in your own words, then check understanding with a quick question: ask a pupil from the pre-teach group first, since they met these words and ideas before the lesson. Pupils try to recall before you re-explain.
Lenin pressed for action. In a message to the Bolshevik Central Committee dated 12 September 1917, Old Style, he warned that the chance would not come again, and on 10 October, Old Style, he returned to Petrograd from exile in Finland and persuaded the Committee to back an armed seizure of power. The Committee declared that “an armed uprising is inevitable”. A Military Revolutionary Committee was set up to plan it, with Trotsky in charge, and it hardly bothered to hide its preparations: Kerensky knew, and details leaked by Kamenev and Zinoviev were printed in newspapers.
The seizure itself took two days. In the early hours of 24 October, Old Style, soldiers loyal to the government raided the printing house of the Bolshevik newspaper and destroyed equipment and thousands of copies; by ten in the morning Bolshevik soldiers had taken it back. That evening the Bolsheviks occupied the railway stations, the telephone exchange and the State Bank, and made the Smolny Institute their headquarters. The Kronstadt sailors and most of the Petrograd garrison declared for them.
On 25 October, Old Style, the Red Guards surrounded the Winter Palace, where most of the Cabinet was sitting; Kerensky had already escaped the city. The palace was defended by Cossacks, some junior officers and the Women's Battalion. The cruiser Aurora and the Peter and Paul Fortress opened fire in the evening, doing little damage but persuading most of the defenders to surrender, and by ten past two in the morning of 26 October, Old Style, the Bolsheviks were in control. In our calendar the night the palace fell was 7 November, New Style, which is why some books call this the November Revolution.
Worked example — model it step by step, thinking aloud: Explain why the October Revolution met so little resistance compared with February. (1) Point: by October there was hardly anyone left willing to fight for the Provisional Government. (2) Evidence one: the Kronstadt sailors and most of the Petrograd garrison had already declared for the Bolsheviks. (3) Evidence two: Kerensky had fled the city, and the Winter Palace was held only by Cossacks, junior officers and the Women's Battalion. (4) Explain and contrast: February was a mass uprising against an army that eventually changed sides, while October was a planned takeover of key buildings that almost nobody defended. Answer: February was a popular rising that had to break the army; October was an organised seizure of a capital whose garrison had already joined the Bolsheviks and whose government had lost its leader and its supporters..
Quotation: "History will not forgive us" (Vladimir Lenin, message to the Bolshevik Central Committee (12 September 1917, Old Style), as printed in your lesson). Read it aloud; ask what it shows.
Tip: If you are asked how October differed from February, use the words planned and spontaneous. February had no leaders; October had a committee and a timetable.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Red October: the nights the capital changed hands. Say it in your own words, then check understanding with a quick question: ask a pupil from the pre-teach group first, since they met these words and ideas before the lesson. Pupils try to recall before you re-explain.
Lenin pressed for action. In a message to the Bolshevik Central Committee dated 12 September 1917, Old Style, he warned that the chance would not come again, and on 10 October, Old Style, he returned to Petrograd from exile in Finland and persuaded the Committee to back an armed seizure of power. The Committee declared that “an armed uprising is inevitable”. A Military Revolutionary Committee was set up to plan it, with Trotsky in charge, and it hardly bothered to hide its preparations: Kerensky knew, and details leaked by Kamenev and Zinoviev were printed in newspapers.
The seizure itself took two days. In the early hours of 24 October, Old Style, soldiers loyal to the government raided the printing house of the Bolshevik newspaper and destroyed equipment and thousands of copies; by ten in the morning Bolshevik soldiers had taken it back. That evening the Bolsheviks occupied the railway stations, the telephone exchange and the State Bank, and made the Smolny Institute their headquarters. The Kronstadt sailors and most of the Petrograd garrison declared for them.
On 25 October, Old Style, the Red Guards surrounded the Winter Palace, where most of the Cabinet was sitting; Kerensky had already escaped the city. The palace was defended by Cossacks, some junior officers and the Women's Battalion. The cruiser Aurora and the Peter and Paul Fortress opened fire in the evening, doing little damage but persuading most of the defenders to surrender, and by ten past two in the morning of 26 October, Old Style, the Bolsheviks were in control. In our calendar the night the palace fell was 7 November, New Style, which is why some books call this the November Revolution.
Worked example — model it step by step, thinking aloud: Explain why the October Revolution met so little resistance compared with February. (1) Point: by October there was hardly anyone left willing to fight for the Provisional Government. (2) Evidence one: the Kronstadt sailors and most of the Petrograd garrison had already declared for the Bolsheviks. (3) Evidence two: Kerensky had fled the city, and the Winter Palace was held only by Cossacks, junior officers and the Women's Battalion. (4) Explain and contrast: February was a mass uprising against an army that eventually changed sides, while October was a planned takeover of key buildings that almost nobody defended. Answer: February was a popular rising that had to break the army; October was an organised seizure of a capital whose garrison had already joined the Bolsheviks and whose government had lost its leader and its supporters..
Quotation: "History will not forgive us" (Vladimir Lenin, message to the Bolshevik Central Committee (12 September 1917, Old Style), as printed in your lesson). Read it aloud; ask what it shows.
Tip: If you are asked how October differed from February, use the words planned and spontaneous. February had no leaders; October had a committee and a timetable.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road to October,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steps towards the October Revolution in chronological order.
Support — work through the steps with the group: (1) Each step carries its month in brackets. Put the months in order first: April, July, August, September, October. (2) Two steps fall in the autumn: one is a letter, one is a decision. The letter has to come first. (3) The last step is the one where buildings change hands. (4) Read the sequence back and check each step explains the next.
Parallel worked example for Support (model it, do not give the task answer): Put these stages of a school election in order: the result is announced; candidates give speeches; nominations open; pupils vote. Nobody can stand until nominations open.; Then candidates give speeches.; Then pupils vote.; The result is announced last.. Answer: nominations open; candidates give speeches; pupils vote; the result is announced.
Core — reveal the hint only on request: April, July, August, September, October. Within the autumn, Lenin argues before the Committee acts.
Stretch — no help; when finished: Explain which one of these six steps the Bolsheviks could least afford to lose, and what would probably have happened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road to October,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steps towards the October Revolution in chronological order.
Support — work through the steps with the group: (1) Each step carries its month in brackets. Put the months in order first: April, July, August, September, October. (2) Two steps fall in the autumn: one is a letter, one is a decision. The letter has to come first. (3) The last step is the one where buildings change hands. (4) Read the sequence back and check each step explains the next.
Parallel worked example for Support (model it, do not give the task answer): Put these stages of a school election in order: the result is announced; candidates give speeches; nominations open; pupils vote. Nobody can stand until nominations open.; Then candidates give speeches.; Then pupils vote.; The result is announced last.. Answer: nominations open; candidates give speeches; pupils vote; the result is announced.
Core — reveal the hint only on request: April, July, August, September, October. Within the autumn, Lenin argues before the Committee acts.
Stretch — no help; when finished: Explain which one of these six steps the Bolsheviks could least afford to lose, and what would probably have happened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Whose fault was October?.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June 1917 the Provisional Government chose to stay in the First World War and ordered a new attack. Was this mainly a mistake by the Provisional Government, or mainly a good decision by the Bolsheviks?
Support — work through the steps with the group: (1) Ask who actually made the decision in the question. (2) If the Provisional Government made it, it goes in the mistake column. (3) Then ask what the Bolsheviks gained from it. (4) Choose the option that names a government mistake and the gain it handed the Bolsheviks.
Parallel worked example for Support (model it, do not give the task answer): A team loses a match after its own goalkeeper kicks the ball to an opponent. Was that mainly the goalkeeper's mistake or mainly the opponent's skill? Ask who made the decision: the goalkeeper.; Ask what the opponent did: accepted the gift.; So it counts mainly as the mistake.. Answer: Mainly the goalkeeper's mistake, although the opponent still had to finish it..
Core — reveal the hint only on request: Follow the decision. Whoever chose to act owns the consequence; the other side only has to be ready.
Stretch — no help; when finished: Your lesson's table asks you to judge the whole question. Decide whether the October Revolution was mainly caused by the Provisional Government's mistakes or by the Bolsheviks' skill, and defend your answer with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Whose fault was October?.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June 1917 the Provisional Government chose to stay in the First World War and ordered a new attack. Was this mainly a mistake by the Provisional Government, or mainly a good decision by the Bolsheviks?
Support — work through the steps with the group: (1) Ask who actually made the decision in the question. (2) If the Provisional Government made it, it goes in the mistake column. (3) Then ask what the Bolsheviks gained from it. (4) Choose the option that names a government mistake and the gain it handed the Bolsheviks.
Parallel worked example for Support (model it, do not give the task answer): A team loses a match after its own goalkeeper kicks the ball to an opponent. Was that mainly the goalkeeper's mistake or mainly the opponent's skill? Ask who made the decision: the goalkeeper.; Ask what the opponent did: accepted the gift.; So it counts mainly as the mistake.. Answer: Mainly the goalkeeper's mistake, although the opponent still had to finish it..
Core — reveal the hint only on request: Follow the decision. Whoever chose to act owns the consequence; the other side only has to be ready.
Stretch — no help; when finished: Your lesson's table asks you to judge the whole question. Decide whether the October Revolution was mainly caused by the Provisional Government's mistakes or by the Bolsheviks' skill, and defend your answer with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promise did the Bolsheviks use to win support in 1917?
Answer: A   An immediate end to the war, with bread for the cities and land for the peasants. Bread, peace and land answered the three things people wanted most, and the Bolsheviks were the only party offering to leave the war at once.
Source of this question: gate item 1 re-asked (options rotated) — this chapter has no third quick-check module.
The ebook also holds task 3, "Why the Bolsheviks succeeded",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road to October, in order. Reveal the answer; pupils mark their own work in a different colour, then read the "why" together. Same destination for every lane, so one answer serves the whole class.
Answer: Lenin returns to Russia from Switzerland and the Bolsheviks begin to gain seats in the soviets (April 1917)  (C); Kerensky's new attack on Germany fails, protests follow and Lenin flees abroad (July 1917)  (D); Kornilov tries to seize power; Kerensky arms the Red Guards, who defeat him (August 1917)  (E); Lenin writes to the Bolshevik Central Committee urging it to seize power now (12 September 1917, Old Style)  (A); Lenin returns to Petrograd, the Committee agrees and a Military Revolutionary Committee is formed (10 October 1917, Old Style)  (B); The Red Guards surround the Winter Palace and the Provisional Government surrenders (25 to 26 October 1917, Old Style)  (F)
Why: Lenin returns in April; the July Days cost him his position and nearly his party; the Kornilov affair in August arms the Red Guards; Lenin's September letter presses for action; the Central Committee agrees in October; and the Winter Palace falls on 25 to 26 October, Old Style.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road to October, in order. Reveal the answer; pupils mark their own work in a different colour, then read the "why" together. Same destination for every lane, so one answer serves the whole class.
Answer: Lenin returns to Russia from Switzerland and the Bolsheviks begin to gain seats in the soviets (April 1917)  (C); Kerensky's new attack on Germany fails, protests follow and Lenin flees abroad (July 1917)  (D); Kornilov tries to seize power; Kerensky arms the Red Guards, who defeat him (August 1917)  (E); Lenin writes to the Bolshevik Central Committee urging it to seize power now (12 September 1917, Old Style)  (A); Lenin returns to Petrograd, the Committee agrees and a Military Revolutionary Committee is formed (10 October 1917, Old Style)  (B); The Red Guards surround the Winter Palace and the Provisional Government surrenders (25 to 26 October 1917, Old Style)  (F)
Why: Lenin returns in April; the July Days cost him his position and nearly his party; the Kornilov affair in August arms the Red Guards; Lenin's September letter presses for action; the Central Committee agrees in October; and the Winter Palace falls on 25 to 26 October, Old Style.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Whose fault was October?. Reveal the answer; pupils mark their own work in a different colour, then read the "why" together. Same destination for every lane, so one answer serves the whole class.
Answer: D   Mainly a mistake by the Provisional Government, because it kept or created a problem that pushed people towards the Bolsheviks
Why: Most of your lesson's examples are government decisions: staying in the war, failing on prices, appointing Kornilov, arming the Red Guards. The Bolsheviks' skill was in being ready for each of them, which is why historians give both sides a share.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An immediate end to the war, with bread for the cities and land for the peasants
Why: Bread, peace and land answered the three things people wanted most, and the Bolsheviks were the only party offering to leave the war at once.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Russian Revolution · AQA KS3 → 8145</a:t>
            </a:r>
            <a:endParaRPr lang="en-US" sz="1800" dirty="0"/>
          </a:p>
        </p:txBody>
      </p:sp>
      <p:sp>
        <p:nvSpPr>
          <p:cNvPr id="10" name="deck-title"/>
          <p:cNvSpPr txBox="1"/>
          <p:nvPr/>
        </p:nvSpPr>
        <p:spPr>
          <a:xfrm>
            <a:off x="548640" y="230428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October 1917: the Bolsheviks seize power</a:t>
            </a:r>
            <a:endParaRPr lang="en-US" sz="3600" dirty="0"/>
          </a:p>
        </p:txBody>
      </p:sp>
      <p:sp>
        <p:nvSpPr>
          <p:cNvPr id="11" name="lessons-card"/>
          <p:cNvSpPr/>
          <p:nvPr/>
        </p:nvSpPr>
        <p:spPr>
          <a:xfrm>
            <a:off x="548640" y="3848608"/>
            <a:ext cx="5287975" cy="1290320"/>
          </a:xfrm>
          <a:prstGeom prst="roundRect">
            <a:avLst>
              <a:gd name="adj" fmla="val 5669"/>
            </a:avLst>
          </a:prstGeom>
          <a:solidFill>
            <a:srgbClr val="F2EDE9"/>
          </a:solidFill>
          <a:ln/>
        </p:spPr>
      </p:sp>
      <p:sp>
        <p:nvSpPr>
          <p:cNvPr id="12" name="lessons"/>
          <p:cNvSpPr txBox="1"/>
          <p:nvPr/>
        </p:nvSpPr>
        <p:spPr>
          <a:xfrm>
            <a:off x="685800" y="394004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October 1917 Revolution and progress check</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did the Russian Revolution bring about change?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promise did the Bolsheviks use to win support in 1917?</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return of the Tsar on condition that he shared power with a Duma</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immediate end to the war, with bread for the cities and land for the peasants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Higher wages for factory owners and lower taxes for landowners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Victory over Germany followed by a large empire in eastern Europe</a:t>
            </a:r>
            <a:endParaRPr lang="en-US" sz="18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armed Bolshevik supporters who seized the key buildings of Petrograd were called the Red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Guards  ·  Cossacks  ·  Soviets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did the Kornilov affair in August 1917 end up helping the Bolsheviks?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affair forced the Petrograd Soviet to close down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Kerensky armed the Red Guards to stop Kornilov, and they kept their weapons afterwards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Kornilov's attempt persuaded the Germans to stop fighting Russia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Kornilov joined the Bolsheviks and brought the army with him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DE1CA"/>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An immediate end to the war, with bread for the cities and land for the peasants</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Bread, peace and land answered the three things people wanted most, and the Bolsheviks were the only party offering to leave the war at once.</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Guards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armed Bolshevik supporters who seized the key buildings of Petrograd were called the Red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Trotsky created the Red Guards in March 1917, and Kerensky armed them during the Kornilov affair.</a:t>
            </a:r>
            <a:endParaRPr lang="en-US" sz="20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DE1CA"/>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Kerensky armed the Red Guards to stop Kornilov, and they kept their weapons afterwards</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Kerensky handed weapons to the very people training to overthrow him. The Red Guards saved the city, kept…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Bolsheviks</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revolutionary party led by Vladimir Lenin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Bolsheviks were the only party promising to leave the war at once.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Red Guards</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armed Bolshevik supporters, trained in secret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Red Guards were given weapons to defend the capital and never gave them back.</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Winter Palace</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Tsar's old palace in Petrograd, where the Provisional Government met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Taking the Winter Palace meant taking the government.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propaganda</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information spread to make people believe something, true or not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Kerensky used propaganda to accuse Lenin of working for Germany.</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slogan</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short phrase repeated to win support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Bolshevik slogan promised bread, peace and land in four words.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After February, Russia had two rival sources of power.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Provisional Government kept Russia in the war.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Food was still short and prices still rose.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Vladimir Lenin led a party called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Bolsheviks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returned from exile abroad in April 1917.</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slogan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was short: bread, peace and 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July the government's new attack on Germany failed badly.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Soldiers and sailors protested, and Lenin had to flee again.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August a general called Kornilov tried to seize power.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Kerensky armed the Bolshevik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Red Guards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to stop him.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stopped Kornilov, and then they kept their guns.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 25 October, Old Style,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Red Guards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surrounded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Winter Palace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By our calendar that was 7 November, New Style.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Provisional Government surrendered, and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Bolsheviks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held the capital.</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Why a second revolution? The Provisional Government's mistakes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causes paragraph on October, pair each government mistake with the Bolshevik promise that answered it. War answered by peace, hunger by bread, land hunger by land.</a:t>
            </a:r>
            <a:endParaRPr lang="en-US" sz="1800" dirty="0"/>
          </a:p>
        </p:txBody>
      </p:sp>
      <p:sp>
        <p:nvSpPr>
          <p:cNvPr id="11" name="bullet-card"/>
          <p:cNvSpPr/>
          <p:nvPr/>
        </p:nvSpPr>
        <p:spPr>
          <a:xfrm>
            <a:off x="548640" y="1389888"/>
            <a:ext cx="11094415" cy="1519597"/>
          </a:xfrm>
          <a:prstGeom prst="roundRect">
            <a:avLst>
              <a:gd name="adj" fmla="val 4814"/>
            </a:avLst>
          </a:prstGeom>
          <a:solidFill>
            <a:srgbClr val="F4F1ED"/>
          </a:solidFill>
          <a:ln/>
        </p:spPr>
      </p:sp>
      <p:sp>
        <p:nvSpPr>
          <p:cNvPr id="12" name="bullet-hex"/>
          <p:cNvSpPr/>
          <p:nvPr/>
        </p:nvSpPr>
        <p:spPr>
          <a:xfrm>
            <a:off x="676656" y="1983394"/>
            <a:ext cx="384048" cy="332586"/>
          </a:xfrm>
          <a:prstGeom prst="hexagon">
            <a:avLst/>
          </a:prstGeom>
          <a:solidFill>
            <a:srgbClr val="7A4A1E"/>
          </a:solidFill>
          <a:ln/>
        </p:spPr>
      </p:sp>
      <p:sp>
        <p:nvSpPr>
          <p:cNvPr id="13" name="bullet"/>
          <p:cNvSpPr txBox="1"/>
          <p:nvPr/>
        </p:nvSpPr>
        <p:spPr>
          <a:xfrm>
            <a:off x="1143000" y="1389888"/>
            <a:ext cx="10408615" cy="151959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sets the October Revolution up as a question with two possible answers: was there a second revolution because the Provisional Government made bad decisions, or because Lenin and the Bolsheviks made good ones?</a:t>
            </a:r>
            <a:endParaRPr lang="en-US" sz="2200" dirty="0"/>
          </a:p>
        </p:txBody>
      </p:sp>
      <p:sp>
        <p:nvSpPr>
          <p:cNvPr id="14" name="bullet-card"/>
          <p:cNvSpPr/>
          <p:nvPr/>
        </p:nvSpPr>
        <p:spPr>
          <a:xfrm>
            <a:off x="548640" y="3055789"/>
            <a:ext cx="11094415" cy="936921"/>
          </a:xfrm>
          <a:prstGeom prst="roundRect">
            <a:avLst>
              <a:gd name="adj" fmla="val 7808"/>
            </a:avLst>
          </a:prstGeom>
          <a:solidFill>
            <a:srgbClr val="F4F1ED"/>
          </a:solidFill>
          <a:ln/>
        </p:spPr>
      </p:sp>
      <p:sp>
        <p:nvSpPr>
          <p:cNvPr id="15" name="bullet-hex"/>
          <p:cNvSpPr/>
          <p:nvPr/>
        </p:nvSpPr>
        <p:spPr>
          <a:xfrm>
            <a:off x="676656" y="3357957"/>
            <a:ext cx="384048" cy="332586"/>
          </a:xfrm>
          <a:prstGeom prst="hexagon">
            <a:avLst/>
          </a:prstGeom>
          <a:solidFill>
            <a:srgbClr val="B8862B"/>
          </a:solidFill>
          <a:ln/>
        </p:spPr>
      </p:sp>
      <p:sp>
        <p:nvSpPr>
          <p:cNvPr id="16" name="bullet"/>
          <p:cNvSpPr txBox="1"/>
          <p:nvPr/>
        </p:nvSpPr>
        <p:spPr>
          <a:xfrm>
            <a:off x="1143000" y="3055789"/>
            <a:ext cx="10408615" cy="93692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Its worst decision was to stay in the First World War.</a:t>
            </a:r>
            <a:endParaRPr lang="en-US" sz="2200" dirty="0"/>
          </a:p>
        </p:txBody>
      </p:sp>
      <p:sp>
        <p:nvSpPr>
          <p:cNvPr id="17" name="bullet-card"/>
          <p:cNvSpPr/>
          <p:nvPr/>
        </p:nvSpPr>
        <p:spPr>
          <a:xfrm>
            <a:off x="548640" y="4139015"/>
            <a:ext cx="11094415" cy="936921"/>
          </a:xfrm>
          <a:prstGeom prst="roundRect">
            <a:avLst>
              <a:gd name="adj" fmla="val 7808"/>
            </a:avLst>
          </a:prstGeom>
          <a:solidFill>
            <a:srgbClr val="F4F1ED"/>
          </a:solidFill>
          <a:ln/>
        </p:spPr>
      </p:sp>
      <p:sp>
        <p:nvSpPr>
          <p:cNvPr id="18" name="bullet-hex"/>
          <p:cNvSpPr/>
          <p:nvPr/>
        </p:nvSpPr>
        <p:spPr>
          <a:xfrm>
            <a:off x="676656" y="4441183"/>
            <a:ext cx="384048" cy="332586"/>
          </a:xfrm>
          <a:prstGeom prst="hexagon">
            <a:avLst/>
          </a:prstGeom>
          <a:solidFill>
            <a:srgbClr val="7A4A1E"/>
          </a:solidFill>
          <a:ln/>
        </p:spPr>
      </p:sp>
      <p:sp>
        <p:nvSpPr>
          <p:cNvPr id="19" name="bullet"/>
          <p:cNvSpPr txBox="1"/>
          <p:nvPr/>
        </p:nvSpPr>
        <p:spPr>
          <a:xfrm>
            <a:off x="1143000" y="4139015"/>
            <a:ext cx="10408615" cy="93692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Behind both sat the structural problem from the last chapter.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Lenin, the Bolsheviks and their promises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three Bolshevik promises as a list, then learn which government failure each one answered. That gives you cause and effect in one move.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Vladimir Lenin, the leader of the Bolsheviks, had been living abroad in Switzerland.</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Bolshevik message was short enough to shout and specific enough to matter: bread, peace and land, and all power to the soviets.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It did not run smoothly. In July 1917 Kerensky, then the government's Minister for War, launched a large attack on the Germans, and it went badly wrong.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Kornilov affair: the guns the Bolsheviks kept</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Kornilov affair is the single best example of a government mistake handing a revolution to someone else. Use it when you are asked whose fault October was.</a:t>
            </a:r>
            <a:endParaRPr lang="en-US" sz="1800" dirty="0"/>
          </a:p>
        </p:txBody>
      </p:sp>
      <p:sp>
        <p:nvSpPr>
          <p:cNvPr id="11" name="bullet-card"/>
          <p:cNvSpPr/>
          <p:nvPr/>
        </p:nvSpPr>
        <p:spPr>
          <a:xfrm>
            <a:off x="548640" y="1389888"/>
            <a:ext cx="11094415" cy="742696"/>
          </a:xfrm>
          <a:prstGeom prst="roundRect">
            <a:avLst>
              <a:gd name="adj" fmla="val 9850"/>
            </a:avLst>
          </a:prstGeom>
          <a:solidFill>
            <a:srgbClr val="F4F1ED"/>
          </a:solidFill>
          <a:ln/>
        </p:spPr>
      </p:sp>
      <p:sp>
        <p:nvSpPr>
          <p:cNvPr id="12" name="bullet-hex"/>
          <p:cNvSpPr/>
          <p:nvPr/>
        </p:nvSpPr>
        <p:spPr>
          <a:xfrm>
            <a:off x="676656" y="1594943"/>
            <a:ext cx="384048" cy="332586"/>
          </a:xfrm>
          <a:prstGeom prst="hexagon">
            <a:avLst/>
          </a:prstGeom>
          <a:solidFill>
            <a:srgbClr val="7A4A1E"/>
          </a:solidFill>
          <a:ln/>
        </p:spPr>
      </p:sp>
      <p:sp>
        <p:nvSpPr>
          <p:cNvPr id="13" name="bullet"/>
          <p:cNvSpPr txBox="1"/>
          <p:nvPr/>
        </p:nvSpPr>
        <p:spPr>
          <a:xfrm>
            <a:off x="1143000" y="1389888"/>
            <a:ext cx="10408615" cy="7426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the autumn of 1917 Kerensky made a general called Kornilov head of the army.</a:t>
            </a:r>
            <a:endParaRPr lang="en-US" sz="2200" dirty="0"/>
          </a:p>
        </p:txBody>
      </p:sp>
      <p:sp>
        <p:nvSpPr>
          <p:cNvPr id="14" name="bullet-card"/>
          <p:cNvSpPr/>
          <p:nvPr/>
        </p:nvSpPr>
        <p:spPr>
          <a:xfrm>
            <a:off x="548640" y="2278888"/>
            <a:ext cx="11094415" cy="1325372"/>
          </a:xfrm>
          <a:prstGeom prst="roundRect">
            <a:avLst>
              <a:gd name="adj" fmla="val 5519"/>
            </a:avLst>
          </a:prstGeom>
          <a:solidFill>
            <a:srgbClr val="F4F1ED"/>
          </a:solidFill>
          <a:ln/>
        </p:spPr>
      </p:sp>
      <p:sp>
        <p:nvSpPr>
          <p:cNvPr id="15" name="bullet-hex"/>
          <p:cNvSpPr/>
          <p:nvPr/>
        </p:nvSpPr>
        <p:spPr>
          <a:xfrm>
            <a:off x="676656" y="2775281"/>
            <a:ext cx="384048" cy="332586"/>
          </a:xfrm>
          <a:prstGeom prst="hexagon">
            <a:avLst/>
          </a:prstGeom>
          <a:solidFill>
            <a:srgbClr val="B8862B"/>
          </a:solidFill>
          <a:ln/>
        </p:spPr>
      </p:sp>
      <p:sp>
        <p:nvSpPr>
          <p:cNvPr id="16" name="bullet"/>
          <p:cNvSpPr txBox="1"/>
          <p:nvPr/>
        </p:nvSpPr>
        <p:spPr>
          <a:xfrm>
            <a:off x="1143000" y="2278888"/>
            <a:ext cx="10408615" cy="13253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Kerensky panicked and did the thing that destroyed him. He handed weapons to the Red Guards, the Bolshevik supporters who had been training in secret to overthrow his own government, so that they could help defend the city.</a:t>
            </a:r>
            <a:endParaRPr lang="en-US" sz="2200" dirty="0"/>
          </a:p>
        </p:txBody>
      </p:sp>
      <p:sp>
        <p:nvSpPr>
          <p:cNvPr id="17" name="bullet-card"/>
          <p:cNvSpPr/>
          <p:nvPr/>
        </p:nvSpPr>
        <p:spPr>
          <a:xfrm>
            <a:off x="548640" y="3750564"/>
            <a:ext cx="11094415" cy="1325372"/>
          </a:xfrm>
          <a:prstGeom prst="roundRect">
            <a:avLst>
              <a:gd name="adj" fmla="val 5519"/>
            </a:avLst>
          </a:prstGeom>
          <a:solidFill>
            <a:srgbClr val="F4F1ED"/>
          </a:solidFill>
          <a:ln/>
        </p:spPr>
      </p:sp>
      <p:sp>
        <p:nvSpPr>
          <p:cNvPr id="18" name="bullet-hex"/>
          <p:cNvSpPr/>
          <p:nvPr/>
        </p:nvSpPr>
        <p:spPr>
          <a:xfrm>
            <a:off x="676656" y="4246957"/>
            <a:ext cx="384048" cy="332586"/>
          </a:xfrm>
          <a:prstGeom prst="hexagon">
            <a:avLst/>
          </a:prstGeom>
          <a:solidFill>
            <a:srgbClr val="7A4A1E"/>
          </a:solidFill>
          <a:ln/>
        </p:spPr>
      </p:sp>
      <p:sp>
        <p:nvSpPr>
          <p:cNvPr id="19" name="bullet"/>
          <p:cNvSpPr txBox="1"/>
          <p:nvPr/>
        </p:nvSpPr>
        <p:spPr>
          <a:xfrm>
            <a:off x="1143000" y="3750564"/>
            <a:ext cx="10408615" cy="13253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Then they kept the guns. Within two months the Bolsheviks had a popular, armed force inside the capital, the liberal and conservative parties were demoralised by the whole affair, and the Provisional Government looked helpless.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Red October: the nights the capital changed hands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are asked how October differed from February, use the words planned and spontaneous. February had no leaders; October had a committee and a timetable.</a:t>
            </a:r>
            <a:endParaRPr lang="en-US" sz="1800" dirty="0"/>
          </a:p>
        </p:txBody>
      </p:sp>
      <p:sp>
        <p:nvSpPr>
          <p:cNvPr id="11" name="bullet-card"/>
          <p:cNvSpPr/>
          <p:nvPr/>
        </p:nvSpPr>
        <p:spPr>
          <a:xfrm>
            <a:off x="548640" y="1389888"/>
            <a:ext cx="11094415" cy="1441027"/>
          </a:xfrm>
          <a:prstGeom prst="roundRect">
            <a:avLst>
              <a:gd name="adj" fmla="val 5076"/>
            </a:avLst>
          </a:prstGeom>
          <a:solidFill>
            <a:srgbClr val="F4F1ED"/>
          </a:solidFill>
          <a:ln/>
        </p:spPr>
      </p:sp>
      <p:sp>
        <p:nvSpPr>
          <p:cNvPr id="12" name="bullet-hex"/>
          <p:cNvSpPr/>
          <p:nvPr/>
        </p:nvSpPr>
        <p:spPr>
          <a:xfrm>
            <a:off x="676656" y="1944109"/>
            <a:ext cx="384048" cy="332586"/>
          </a:xfrm>
          <a:prstGeom prst="hexagon">
            <a:avLst/>
          </a:prstGeom>
          <a:solidFill>
            <a:srgbClr val="7A4A1E"/>
          </a:solidFill>
          <a:ln/>
        </p:spPr>
      </p:sp>
      <p:sp>
        <p:nvSpPr>
          <p:cNvPr id="13" name="bullet"/>
          <p:cNvSpPr txBox="1"/>
          <p:nvPr/>
        </p:nvSpPr>
        <p:spPr>
          <a:xfrm>
            <a:off x="1143000" y="1389888"/>
            <a:ext cx="10408615"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Lenin pressed for action. In a message to the Bolshevik Central Committee dated 12 September 1917, Old Style, he warned that the chance would not come again, and on 10 October, Old Style, he returned to Petrograd from exile in Finland and persuaded the Committee to back an armed seizure of power.</a:t>
            </a:r>
            <a:endParaRPr lang="en-US" sz="2000" dirty="0"/>
          </a:p>
        </p:txBody>
      </p:sp>
      <p:sp>
        <p:nvSpPr>
          <p:cNvPr id="14" name="bullet-card"/>
          <p:cNvSpPr/>
          <p:nvPr/>
        </p:nvSpPr>
        <p:spPr>
          <a:xfrm>
            <a:off x="548640" y="2977219"/>
            <a:ext cx="11094415" cy="1131147"/>
          </a:xfrm>
          <a:prstGeom prst="roundRect">
            <a:avLst>
              <a:gd name="adj" fmla="val 6467"/>
            </a:avLst>
          </a:prstGeom>
          <a:solidFill>
            <a:srgbClr val="F4F1ED"/>
          </a:solidFill>
          <a:ln/>
        </p:spPr>
      </p:sp>
      <p:sp>
        <p:nvSpPr>
          <p:cNvPr id="15" name="bullet-hex"/>
          <p:cNvSpPr/>
          <p:nvPr/>
        </p:nvSpPr>
        <p:spPr>
          <a:xfrm>
            <a:off x="676656" y="3376499"/>
            <a:ext cx="384048" cy="332586"/>
          </a:xfrm>
          <a:prstGeom prst="hexagon">
            <a:avLst/>
          </a:prstGeom>
          <a:solidFill>
            <a:srgbClr val="B8862B"/>
          </a:solidFill>
          <a:ln/>
        </p:spPr>
      </p:sp>
      <p:sp>
        <p:nvSpPr>
          <p:cNvPr id="16" name="bullet"/>
          <p:cNvSpPr txBox="1"/>
          <p:nvPr/>
        </p:nvSpPr>
        <p:spPr>
          <a:xfrm>
            <a:off x="1143000" y="2977219"/>
            <a:ext cx="10408615"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seizure itself took two days. In the early hours of 24 October, Old Style, soldiers loyal to the government raided the printing house of the Bolshevik newspaper and destroyed equipment and thousands of copies; by ten in the morning Bolshevik soldiers had taken it back.</a:t>
            </a:r>
            <a:endParaRPr lang="en-US" sz="2000" dirty="0"/>
          </a:p>
        </p:txBody>
      </p:sp>
      <p:sp>
        <p:nvSpPr>
          <p:cNvPr id="17" name="bullet-card"/>
          <p:cNvSpPr/>
          <p:nvPr/>
        </p:nvSpPr>
        <p:spPr>
          <a:xfrm>
            <a:off x="548640" y="4254669"/>
            <a:ext cx="11094415" cy="821267"/>
          </a:xfrm>
          <a:prstGeom prst="roundRect">
            <a:avLst>
              <a:gd name="adj" fmla="val 8907"/>
            </a:avLst>
          </a:prstGeom>
          <a:solidFill>
            <a:srgbClr val="F4F1ED"/>
          </a:solidFill>
          <a:ln/>
        </p:spPr>
      </p:sp>
      <p:sp>
        <p:nvSpPr>
          <p:cNvPr id="18" name="bullet-hex"/>
          <p:cNvSpPr/>
          <p:nvPr/>
        </p:nvSpPr>
        <p:spPr>
          <a:xfrm>
            <a:off x="676656" y="4499010"/>
            <a:ext cx="384048" cy="332586"/>
          </a:xfrm>
          <a:prstGeom prst="hexagon">
            <a:avLst/>
          </a:prstGeom>
          <a:solidFill>
            <a:srgbClr val="7A4A1E"/>
          </a:solidFill>
          <a:ln/>
        </p:spPr>
      </p:sp>
      <p:sp>
        <p:nvSpPr>
          <p:cNvPr id="19" name="bullet"/>
          <p:cNvSpPr txBox="1"/>
          <p:nvPr/>
        </p:nvSpPr>
        <p:spPr>
          <a:xfrm>
            <a:off x="1143000" y="4254669"/>
            <a:ext cx="10408615"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 25 October, Old Style, the Red Guards surrounded the Winter Palace, where most of the Cabinet was sitting; Kerensky had already escaped the city.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Red October: the nights the capital changed hands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EDE9"/>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the October Revolution met so little resistance compared with February.</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by October there was hardly anyone left willing to fight for the Provisional Government.</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one: the Kronstadt sailors and most of the Petrograd garrison had already declared for the Bolsheviks.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Red October: the nights the capital changed hands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EDE9"/>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the October Revolution met so little resistance compared with February.</a:t>
            </a:r>
            <a:endParaRPr lang="en-US" sz="2200" dirty="0"/>
          </a:p>
        </p:txBody>
      </p:sp>
      <p:sp>
        <p:nvSpPr>
          <p:cNvPr id="9" name="step-box"/>
          <p:cNvSpPr/>
          <p:nvPr/>
        </p:nvSpPr>
        <p:spPr>
          <a:xfrm>
            <a:off x="548640" y="2314956"/>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two: Kerensky had fled the city, and the Winter Palace was held only by Cossacks, junior officers and the Women's Battalion.</a:t>
            </a:r>
            <a:endParaRPr lang="en-US" sz="1800" dirty="0"/>
          </a:p>
        </p:txBody>
      </p:sp>
      <p:sp>
        <p:nvSpPr>
          <p:cNvPr id="13" name="arrow"/>
          <p:cNvSpPr/>
          <p:nvPr/>
        </p:nvSpPr>
        <p:spPr>
          <a:xfrm>
            <a:off x="5963260" y="3164840"/>
            <a:ext cx="274320" cy="274320"/>
          </a:xfrm>
          <a:prstGeom prst="rightArrow">
            <a:avLst/>
          </a:prstGeom>
          <a:solidFill>
            <a:srgbClr val="B8862B"/>
          </a:solidFill>
          <a:ln/>
        </p:spPr>
      </p:sp>
      <p:sp>
        <p:nvSpPr>
          <p:cNvPr id="14" name="step-box"/>
          <p:cNvSpPr/>
          <p:nvPr/>
        </p:nvSpPr>
        <p:spPr>
          <a:xfrm>
            <a:off x="6301588" y="2314956"/>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and contrast: February was a mass uprising against an army that eventually changed sides, while October was a planned takeover of key buildings that almost nobody defended.</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February was a popular rising that had to break the army; October was an organised seizure of a capital whose garrison had already joined the Bolsheviks and whose government had lost its leader and its supporters.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Red October: the nights the capital changed hands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2EDE9"/>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History will not forgive us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Vladimir Lenin, message to the Bolshevik Central Committee (12 September 1917, Old Style), as printed in your lesson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road to October,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steps towards the October Revolution in chronological order.</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Lenin writes to the Bolshevik Central Committee urging it to seize power now (12 September 1917, Old Style)</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Lenin returns to Petrograd, the Committee agrees and a Military Revolutionary Committee is formed (10 October 1917, Old Style)</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Lenin returns to Russia from Switzerland and the Bolsheviks begin to gain seats in the soviets (April 1917)</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Kerensky's new attack on Germany fails, protests follow and Lenin flees abroad (July 1917)</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Kornilov tries to seize power; Kerensky arms the Red Guards, who defeat him (August 1917)</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The Red Guards surround the Winter Palace and the Provisional Government surrenders (25 to 26 October 1917, Old Style)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The road to October, in order</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road to October,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step carries its month in brackets. Put the months in order first: April, July, August, September, October.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steps fall in the autumn: one is a letter, one is a decision. The letter has to come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step is the one where buildings change hands.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sequence back and check each step explains the next.</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April, July, August, September, October. Within the autumn, Lenin argues before the Committee acts.</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which one of these six steps the Bolsheviks could least afford to lose, and what would probably have happened without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Whose fault was October?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200" b="1" dirty="0">
                <a:solidFill>
                  <a:srgbClr val="1E2229"/>
                </a:solidFill>
                <a:latin typeface="Calibri" pitchFamily="34" charset="0"/>
                <a:ea typeface="Calibri" pitchFamily="34" charset="-122"/>
                <a:cs typeface="Calibri" pitchFamily="34" charset="-120"/>
              </a:rPr>
              <a:t>In June 1917 the Provisional Government chose to stay in the First World War and ordered a new attack. Was this mainly a mistake by the Provisional Government, or mainly a good decision by the Bolsheviks?</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Both equally, because the Bolsheviks were in charge of the Provisional Government's choices</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Neither, because this made no difference to whether there was a second revolution</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Mainly a good decision by the Bolsheviks, because they planned it and persuaded the government to act</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Mainly a mistake by the Provisional Government, because it kept or created a problem that pushed people towards the Bolsheviks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Whose fault was October?</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Whose fault was October?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who actually made the decision in the question.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the Provisional Government made it, it goes in the mistake column.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ask what the Bolsheviks gained from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the option that names a government mistake and the gain it handed the Bolsheviks.</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Follow the decision. Whoever chose to act owns the consequence; the other side only has to be ready.</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Your lesson's table asks you to judge the whole question. Decide whether the October Revolution was mainly caused by the Provisional Government's mistakes or by the Bolsheviks' skill, and defend your answer with two examples.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398268"/>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Which promise did the Bolsheviks use to win support in 1917?</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An immediate end to the war, with bread for the cities and land for the peasants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Higher wages for factory owners and lower taxes for landowners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Victory over Germany followed by a large empire in eastern Europe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return of the Tsar on condition that he shared power with a Duma</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(1 of 2): The road to October,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16459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1691640" y="2167128"/>
            <a:ext cx="8808415"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Lenin returns to Russia from Switzerland and the Bolsheviks begin to gain seats in the soviets (April 1917)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Kerensky's new attack on Germany fails, protests follow and Lenin flees abroad (July 1917)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Kornilov tries to seize power; Kerensky arms the Red Guards, who defeat him (August 1917)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Lenin writes to the Bolshevik Central Committee urging it to seize power now (12 September 1917, Old Style)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Lenin returns to Petrograd, the Committee agrees and a Military Revolutionary Committee is formed (10 October 1917, Old Style)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Red Guards surround the Winter Palace and the Provisional Government surrenders (25 to 26 October 1917, Old Style)  (F)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(2 of 2): The road to October,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why-panel"/>
          <p:cNvSpPr/>
          <p:nvPr/>
        </p:nvSpPr>
        <p:spPr>
          <a:xfrm>
            <a:off x="1463040" y="1389888"/>
            <a:ext cx="9265615" cy="4754880"/>
          </a:xfrm>
          <a:prstGeom prst="roundRect">
            <a:avLst>
              <a:gd name="adj" fmla="val 962"/>
            </a:avLst>
          </a:prstGeom>
          <a:solidFill>
            <a:srgbClr val="F2EDE9"/>
          </a:solidFill>
          <a:ln/>
        </p:spPr>
      </p:sp>
      <p:sp>
        <p:nvSpPr>
          <p:cNvPr id="8" name="why-hex"/>
          <p:cNvSpPr/>
          <p:nvPr/>
        </p:nvSpPr>
        <p:spPr>
          <a:xfrm>
            <a:off x="1645920" y="1572768"/>
            <a:ext cx="685800" cy="593903"/>
          </a:xfrm>
          <a:prstGeom prst="hexagon">
            <a:avLst/>
          </a:prstGeom>
          <a:solidFill>
            <a:srgbClr val="7A4A1E"/>
          </a:solidFill>
          <a:ln/>
        </p:spPr>
      </p:sp>
      <p:sp>
        <p:nvSpPr>
          <p:cNvPr id="9" name="why-hex-label"/>
          <p:cNvSpPr txBox="1"/>
          <p:nvPr/>
        </p:nvSpPr>
        <p:spPr>
          <a:xfrm>
            <a:off x="164592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0" name="why"/>
          <p:cNvSpPr txBox="1"/>
          <p:nvPr/>
        </p:nvSpPr>
        <p:spPr>
          <a:xfrm>
            <a:off x="1645920" y="2304288"/>
            <a:ext cx="889985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Lenin returns in April; the July Days cost him his position and nearly his party; the Kornilov affair in August arms the Red Guards; Lenin's September letter presses for action; the Central Committee agrees in October; and the Winter Palace falls on 25 to 26 October, Old Style.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Whose fault was October?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buNone/>
            </a:pPr>
            <a:r>
              <a:rPr lang="en-US" sz="3200" b="1" dirty="0">
                <a:solidFill>
                  <a:srgbClr val="1E2229"/>
                </a:solidFill>
                <a:latin typeface="Cambria" pitchFamily="34" charset="0"/>
                <a:ea typeface="Cambria" pitchFamily="34" charset="-122"/>
                <a:cs typeface="Cambria" pitchFamily="34" charset="-120"/>
              </a:rPr>
              <a:t>D   Mainly a mistake by the Provisional Government, because it kept or created a problem that pushed people towards the Bolsheviks</a:t>
            </a:r>
            <a:endParaRPr lang="en-US" sz="32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Most of your lesson's examples are government decisions: staying in the war, failing on prices, appointing Kornilov, arming the Red Guards. The Bolsheviks' skill was in being ready for each of them, which is why historians give both sides a share.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promise did the Bolsheviks use to win support in 1917?</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An immediate end to the war, with bread for the cities and land for the peasants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Bread, peace and land answered the three things people wanted most, and the Bolsheviks were the only party offering to leave the war at once.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Russian Revolution · Chapter 5: October 1917: the Bolsheviks seize power</dc:title>
  <dc:subject>History · Year 9</dc:subject>
  <dc:creator>Dr Vitor Merissi de Carvalho</dc:creator>
  <cp:lastModifiedBy>Dr Vitor Merissi de Carvalho</cp:lastModifiedBy>
  <cp:revision>1</cp:revision>
  <dcterms:created xsi:type="dcterms:W3CDTF">2026-10-19T06:08:01Z</dcterms:created>
  <dcterms:modified xsi:type="dcterms:W3CDTF">2026-10-19T06:08:01Z</dcterms:modified>
</cp:coreProperties>
</file>