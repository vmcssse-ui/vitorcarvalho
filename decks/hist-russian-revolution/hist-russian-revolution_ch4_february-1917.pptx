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02b2751-7fa5-1d5a-fa49-6ffa45fb1124}">
          <p14:sldIdLst>
            <p14:sldId id="256"/>
          </p14:sldIdLst>
        </p14:section>
        <p14:section name="Gate" id="{ba51ec80-b5fe-ace1-8399-4f80e52cd366}">
          <p14:sldIdLst>
            <p14:sldId id="257"/>
            <p14:sldId id="258"/>
          </p14:sldIdLst>
        </p14:section>
        <p14:section name="Pre-teach" id="{99bd69af-4b8a-b59d-2f3e-0480359ab174}">
          <p14:sldIdLst>
            <p14:sldId id="259"/>
            <p14:sldId id="260"/>
          </p14:sldIdLst>
        </p14:section>
        <p14:section name="Read-along" id="{3b725478-2cac-6a5b-e73a-4f72c9606128}">
          <p14:sldIdLst>
            <p14:sldId id="261"/>
            <p14:sldId id="262"/>
          </p14:sldIdLst>
        </p14:section>
        <p14:section name="Teach" id="{d89bfdb3-43b7-2b2f-3db7-b9e48a01198b}">
          <p14:sldIdLst>
            <p14:sldId id="263"/>
            <p14:sldId id="264"/>
            <p14:sldId id="265"/>
            <p14:sldId id="266"/>
            <p14:sldId id="267"/>
            <p14:sldId id="268"/>
          </p14:sldIdLst>
        </p14:section>
        <p14:section name="Routes" id="{53be439e-0149-52a0-b0ac-5fed6519698b}">
          <p14:sldIdLst>
            <p14:sldId id="269"/>
            <p14:sldId id="270"/>
            <p14:sldId id="271"/>
            <p14:sldId id="272"/>
          </p14:sldIdLst>
        </p14:section>
        <p14:section name="Close" id="{e8aabc9d-9c15-529a-d63b-3fe829ce09c4}">
          <p14:sldIdLst>
            <p14:sldId id="273"/>
          </p14:sldIdLst>
        </p14:section>
        <p14:section name="Answers" id="{c6a7a73f-681a-6c7c-a408-159e2da93b1c}">
          <p14:sldIdLst>
            <p14:sldId id="274"/>
            <p14:sldId id="275"/>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4 of 6: February 1917: the Tsar falls. Why the dates look wrong, what happened in Petrograd across eight days, the moment the soldiers changed sides, and the two rival governments that were left behind.
This deck covers the department's lessons: 3 (The February 1917 Revolution: What were the causes, events and consequences of the February Revolution?); 4 (The October 1917 Revolution and progress check: Why was there a second revolution in October 1917, and how do you write a narrative account?).
Read the big question aloud: "To what extent did the Russian Revolution bring about change?"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Your lesson dates the Tsar's abdication 15 March 1917, New Style. Russia's own Old Style calendar ran thirteen days behind. What was the date of the month in Russia?  →  2
2. When Nicholas II agreed to give up the throne in 1917, we say that he chose to ___.  →  abdicate
3. Which moment is the strongest candidate for the turning point of the February Revolution?  →  B   Soldiers refused to fire on the crowds and mutinied instead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2. 15 − 13 = 2, so the abdication was 2 March, Old Style. The same day has two dates, which is why the February Revolution is dated in March.
2. abdicate. To abdicate is to give up the throne. Nicholas abdicated from his railway carriage when he could not even reach the capital.
3. B   Soldiers refused to fire on the crowds and mutinied instead. Strikes and marches had been broken by troops before, as in 1905. Once the troops would not obey, the Tsar had nothing left to break them with.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Old Style: a date in the older Julian calendar Russia used until 1918. Example: "The revolution began in late February, Old Style, which is why we call it the February Revolution."
• New Style: a date in the calendar we use, which was thirteen days ahead of Russia's. Example: "Your lesson's information sheet gives the New Style dates in March."
• abdicate: to give up the throne. Example: "Nicholas II agreed to abdicate from a railway carriage outside the capital."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soviet: a council of workers and soldiers elected to act for them. Example: "The Petrograd Soviet took charge of the city before any new government existed."
• Provisional Government: the temporary government set up by Duma politicians. Example: "The Provisional Government was meant to run Russia only until elections could be held."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14:
1. In 1917 Russia used an older calendar than ours.
2. It ran thirteen days behind, and we call its dates Old Style.
3. So the February Revolution happened in March by our dates.
4. Your lesson calls it both the February and the March Revolution.
5. It began with strikes over bread in Petrograd.
6. On 7 March, New Style, workers at the Putilov steel works walked out.
7. The next day thousands of women joined them for International Women's Day.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8–14 of 14:
8. Soon 250,000 workers were on strike and the city stopped.
9. The Tsar ordered the Duma to close and the army to restore order.
10. Both refused him.
11. Soldiers mutinied and took the side of the crowds.
12. A Petrograd Soviet of workers and soldiers took charge of the city.
13. On 15 March, New Style, Nicholas II abdicated.
14. Three hundred years of Romanov rule were over.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February or March? A note on the calendar. Say it in your own words, then check understanding with a quick question: ask a pupil from the pre-teach group first, since they met these words and ideas before the lesson. Pupils try to recall before you re-explain.
Open your lesson's information sheet on the February Revolution and something looks wrong: every date is in March. One of the slides even asks about the main causes of the March Revolution. Both names are used, and neither is a mistake, so here is the explanation you need.
Until 1918, Russia used the old Julian calendar, which by then ran thirteen days behind the Gregorian calendar used in Britain and most of Europe. Historians call Russian dates Old Style and ours New Style. The revolution began on 23 February in Russia's own calendar, which was 8 March in ours. The Tsar abdicated on 2 March, Old Style, which was 15 March, New Style. The event is named February after the Russian date and dated in March after ours.
Three rules will keep you out of trouble. First, always say which calendar you are using. Second, the February Revolution and the March Revolution are the same thing, so do not treat them as two events in a narrative. Third, remember that the same trick is waiting for you in the next chapter, where the October Revolution falls in November by our dates.
Tip: Write N.S. or O.S. after any date from 1917. One letter stops a whole paragraph from falling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Eight days in Petrograd. Say it in your own words, then check understanding with a quick question: ask a pupil from the pre-teach group first, since they met these words and ideas before the lesson. Pupils try to recall before you re-explain.
Your lesson asks you to summarise the revolution into six key moments, and they are worth learning as a sequence. First, strikes begin: through January and February 1917 food shortages, bad conditions and the failing war brought one Petrograd factory out after another, and some soldiers were already sympathising with the protesters. Second, on 7 March, New Style, the huge Putilov steel works came out, and the next day thousands of women joined the marches for International Women's Day, demanding bread, peace and better conditions.
Third, the strikes became general. Between 7 and 10 March, New Style, your lesson says the number of strikers rose to 250,000, which stopped all industry and transport in the capital; the police could not control the crowds and some officers joined them. Fourth, the Tsar lost control. Between 10 and 12 March, New Style, the Duma set up a Provisional Government. Nicholas ordered the Duma to disband and the army to restore order, and both refused him.
Fifth, on 12 March, New Style, the Petrograd Soviet was re-established, a council of workers and soldiers that took charge of the city, with similar soviets forming across Russia. Sixth, on 15 March, New Style, with no support from either the army or the government, Nicholas II abdicated. A plan for his brother Michael to take the throne collapsed when Michael refused it, and three hundred years of Romanov rule came to an end.
Tip: Learn the six moments as a shape: strikes, women's march, general strike, orders refused, soviet takes the city, abdication.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turning point: when the soldiers refused. Say it in your own words, then check understanding with a quick question: ask a pupil from the pre-teach group first, since they met these words and ideas before the lesson. Pupils try to recall before you re-explain.
Your lesson asks you to identify the turning point, which it defines as the moment when it first looked as though the revolution would succeed. There is a strong case for one answer: the moment the soldiers refused to fire.
Think about why. Petrograd had seen strikes before and the government had always broken them the same way, by sending in troops. In 1905 that worked. In February 1917 it did not. Officers joined the demonstrators, whole units mutinied and called for the Duma to take power, and the Tsar's order to restore order simply was not carried out. An autocrat with no army is not an autocrat.
The end followed quickly and almost quietly. Nicholas tried to return to the capital, but railway workers refused to let his train through, and it was from that carriage that he agreed to give up the throne. A ruler who cannot reach his own capital has already lost it.
Worked example — model it step by step, thinking aloud: Write the opening of an events paragraph on the February Revolution, using your lesson's success criteria. (1) Open with the event and a date: The February Revolution broke out in Petrograd in late February 1917, Old Style, when workers at the Putilov steel works went on strike. (2) Add evidence: this was 7 March, New Style, by our calendar, and within days the number of strikers had risen to 250,000, stopping industry and transport in the capital. (3) Explain why it mattered: this event was important because a strike that size could not be ignored or broken by the usual methods. (4) Link to the next event: this led to the Tsar ordering the army to restore order, and when soldiers refused and mutinied instead, he lost the only pillar still holding him up. Answer: Event with a date, evidence with a figure, an explanation of why it mattered, and a linking sentence that hands the narrative on to the next event..
Tip: Your lesson's criteria want sequence, links, specific knowledge, and a final link onwards. Use the words this led to and as a result on purpose, not by accident.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turning point: when the soldiers refused. Say it in your own words, then check understanding with a quick question: ask a pupil from the pre-teach group first, since they met these words and ideas before the lesson. Pupils try to recall before you re-explain.
Your lesson asks you to identify the turning point, which it defines as the moment when it first looked as though the revolution would succeed. There is a strong case for one answer: the moment the soldiers refused to fire.
Think about why. Petrograd had seen strikes before and the government had always broken them the same way, by sending in troops. In 1905 that worked. In February 1917 it did not. Officers joined the demonstrators, whole units mutinied and called for the Duma to take power, and the Tsar's order to restore order simply was not carried out. An autocrat with no army is not an autocrat.
The end followed quickly and almost quietly. Nicholas tried to return to the capital, but railway workers refused to let his train through, and it was from that carriage that he agreed to give up the throne. A ruler who cannot reach his own capital has already lost it.
Worked example — model it step by step, thinking aloud: Write the opening of an events paragraph on the February Revolution, using your lesson's success criteria. (1) Open with the event and a date: The February Revolution broke out in Petrograd in late February 1917, Old Style, when workers at the Putilov steel works went on strike. (2) Add evidence: this was 7 March, New Style, by our calendar, and within days the number of strikers had risen to 250,000, stopping industry and transport in the capital. (3) Explain why it mattered: this event was important because a strike that size could not be ignored or broken by the usual methods. (4) Link to the next event: this led to the Tsar ordering the army to restore order, and when soldiers refused and mutinied instead, he lost the only pillar still holding him up. Answer: Event with a date, evidence with a figure, an explanation of why it mattered, and a linking sentence that hands the narrative on to the next event..
Tip: Your lesson's criteria want sequence, links, specific knowledge, and a final link onwards. Use the words this led to and as a result on purpose, not by accident.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turning point: when the soldiers refused. Say it in your own words, then check understanding with a quick question: ask a pupil from the pre-teach group first, since they met these words and ideas before the lesson. Pupils try to recall before you re-explain.
Your lesson asks you to identify the turning point, which it defines as the moment when it first looked as though the revolution would succeed. There is a strong case for one answer: the moment the soldiers refused to fire.
Think about why. Petrograd had seen strikes before and the government had always broken them the same way, by sending in troops. In 1905 that worked. In February 1917 it did not. Officers joined the demonstrators, whole units mutinied and called for the Duma to take power, and the Tsar's order to restore order simply was not carried out. An autocrat with no army is not an autocrat.
The end followed quickly and almost quietly. Nicholas tried to return to the capital, but railway workers refused to let his train through, and it was from that carriage that he agreed to give up the throne. A ruler who cannot reach his own capital has already lost it.
Worked example — model it step by step, thinking aloud: Write the opening of an events paragraph on the February Revolution, using your lesson's success criteria. (1) Open with the event and a date: The February Revolution broke out in Petrograd in late February 1917, Old Style, when workers at the Putilov steel works went on strike. (2) Add evidence: this was 7 March, New Style, by our calendar, and within days the number of strikers had risen to 250,000, stopping industry and transport in the capital. (3) Explain why it mattered: this event was important because a strike that size could not be ignored or broken by the usual methods. (4) Link to the next event: this led to the Tsar ordering the army to restore order, and when soldiers refused and mutinied instead, he lost the only pillar still holding him up. Answer: Event with a date, evidence with a figure, an explanation of why it mattered, and a linking sentence that hands the narrative on to the next event..
Tip: Your lesson's criteria want sequence, links, specific knowledge, and a final link onwards. Use the words this led to and as a result on purpose, not by accident.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Dual power: two governments in one country. Say it in your own words, then check understanding with a quick question: ask a pupil from the pre-teach group first, since they met these words and ideas before the lesson. Pupils try to recall before you re-explain.
The Tsar had gone, but Russia did not get one new government. It got two. Duma politicians set up the Provisional Government, led first by Prince Georgy Lvov and later by Alexander Kerensky, and it was meant to govern only until a proper election could be held. Alongside it sat the Petrograd Soviet, the council of workers and soldiers. Historians call the arrangement dual power.
The Soviet's strength was simple: it spoke for the people who actually did things, and your lesson records its Order Number One, which told soldiers and workers not to obey any government order they disagreed with. A government whose orders are optional is not fully a government.
The Provisional Government then made the decision that destroyed it. In June it chose to stay in the First World War and organised a new attack on Germany's ally Austria, which failed badly. The war was the reason the bread had run out and the reason the soldiers had mutinied, so continuing it meant inheriting the Tsar's biggest problem on purpose. Your lesson's challenge question asks how similar the Provisional Government's problems were to the Tsar's. The honest answer is: almost identical, because they were the same problems.
Tip: If you are asked why there was a second revolution in 1917, start here: dual power, Order Number One, and the decision to keep fighting.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The six moments of February.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your lesson's six key moments of the February Revolution in order.
Support — work through the steps with the group: (1) Every moment carries its dates in brackets. Read all six sets of dates first. (2) One moment is dated in January and February, so it comes first. (3) Then work through March in order: the seventh, then the tenth, then the twelfth, then the fifteenth. (4) Check the story makes sense: strikes grow, the Tsar's orders fail, a soviet takes over, the Tsar goes.
Parallel worked example for Support (model it, do not give the task answer): Put these stages of a bus journey in order: the bus reaches the terminus; passengers board at the first stop; the driver starts the engine; the bus pulls away from the kerb. The engine starts before anything moves.; Passengers board at the first stop.; The bus pulls away.; It reaches the terminus last.. Answer: the driver starts the engine; passengers board at the first stop; the bus pulls away from the kerb; the bus reaches the terminus.
Core — reveal the hint only on request: Use the dates in brackets, and remember they are New Style. Two moments begin on the seventh, and your lesson puts the Putilov strike first.
Stretch — no help; when finished: Explain which two of these six moments you could not leave out of a narrative account, and why the other four matter 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The six moments of February.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your lesson's six key moments of the February Revolution in order.
Support — work through the steps with the group: (1) Every moment carries its dates in brackets. Read all six sets of dates first. (2) One moment is dated in January and February, so it comes first. (3) Then work through March in order: the seventh, then the tenth, then the twelfth, then the fifteenth. (4) Check the story makes sense: strikes grow, the Tsar's orders fail, a soviet takes over, the Tsar goes.
Parallel worked example for Support (model it, do not give the task answer): Put these stages of a bus journey in order: the bus reaches the terminus; passengers board at the first stop; the driver starts the engine; the bus pulls away from the kerb. The engine starts before anything moves.; Passengers board at the first stop.; The bus pulls away.; It reaches the terminus last.. Answer: the driver starts the engine; passengers board at the first stop; the bus pulls away from the kerb; the bus reaches the terminus.
Core — reveal the hint only on request: Use the dates in brackets, and remember they are New Style. Two moments begin on the seventh, and your lesson puts the Putilov strike first.
Stretch — no help; when finished: Explain which two of these six moments you could not leave out of a narrative account, and why the other four matter 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A narrative paragraph on the events.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Write a narrative account of the key events of the February 1917 Revolution. Write one paragraph of five to seven sentences, in order, linking each event to the next.
Support — work through the steps with the group: (1) Sentence 1: The February Revolution began in Petrograd when... (2) Sentence 2: give the Putilov strike and the women's march, with a date and its calendar. (3) Sentence 3: This led to... Use the figure of 250,000 strikers. (4) Sentences 4 and 5: As a result... the Tsar's orders were refused and the soldiers mutinied. Finish with the abdication.
Parallel worked example for Support (model it, do not give the task answer): Write a narrative paragraph of three sentences on the events of the 1905 Revolution, linking each event to the next. Open with Bloody Sunday on 22 January 1905, New Style, and what happened to the marchers.; Link: this led to strikes, peasant riots and mutinies across the empire.; Finish: as a result the Tsar published the October Manifesto, promising rights and a Duma.. Answer: Three linked sentences: the trigger, the spreading reaction, and the Tsar's response..
Core — reveal the hint only on request: Four events is plenty. What matters is the joins: this led to, as a result, which meant that.
Stretch — no help; when finished: Add one sentence explaining why your final event made a second revolution likely later in 1917.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A narrative paragraph on the events.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Write a narrative account of the key events of the February 1917 Revolution. Write one paragraph of five to seven sentences, in order, linking each event to the next.
Support — work through the steps with the group: (1) Sentence 1: The February Revolution began in Petrograd when... (2) Sentence 2: give the Putilov strike and the women's march, with a date and its calendar. (3) Sentence 3: This led to... Use the figure of 250,000 strikers. (4) Sentences 4 and 5: As a result... the Tsar's orders were refused and the soldiers mutinied. Finish with the abdication.
Parallel worked example for Support (model it, do not give the task answer): Write a narrative paragraph of three sentences on the events of the 1905 Revolution, linking each event to the next. Open with Bloody Sunday on 22 January 1905, New Style, and what happened to the marchers.; Link: this led to strikes, peasant riots and mutinies across the empire.; Finish: as a result the Tsar published the October Manifesto, promising rights and a Duma.. Answer: Three linked sentences: the trigger, the spreading reaction, and the Tsar's response..
Core — reveal the hint only on request: Four events is plenty. What matters is the joins: this led to, as a result, which meant that.
Stretch — no help; when finished: Add one sentence explaining why your final event made a second revolution likely later in 1917.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Why was the Provisional Government weak from the moment it was created?
Answer: D   It had to share power with the Petrograd Soviet, which told people to ignore orders it disagreed with. The Provisional Government held the title and the Petrograd Soviet held the loyalty of the workers and soldiers. Order Number One made that split official, and staying in the war in June 1917 made it fatal.
Source of this question: module 3 task ("Why dual power was unstable")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The six moments of February. Reveal the answer; pupils mark their own work in a different colour, then read the "why" together. Same destination for every lane, so one answer serves the whole class.
Answer: Strikes begin across Petrograd over bread, conditions and the failing war (January to February 1917, Old Style)  (D); The Putilov steel works strikes, and women march the next day for International Women's Day (7 to 8 March, New Style)  (F); Mass strikes shut down Petrograd as the number of strikers reaches 250,000 (7 to 10 March, New Style)  (B); The Duma sets up a Provisional Government, and the Tsar's orders are refused (10 to 12 March, New Style)  (E); The Petrograd Soviet of workers and soldiers takes control of the city (12 March, New Style)  (C); Nicholas II abdicates, ending three hundred years of Romanov rule (15 March, New Style)  (A)
Why: Strikes begin in January and February; Putilov and the women's march on 7 and 8 March, New Style; the general strike by 10 March; the Tsar's orders refused by 12 March; the Petrograd Soviet on 12 March; and the abdication on 15 March, New Style.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The six moments of February. Reveal the answer; pupils mark their own work in a different colour, then read the "why" together. Same destination for every lane, so one answer serves the whole class.
Answer: Strikes begin across Petrograd over bread, conditions and the failing war (January to February 1917, Old Style)  (D); The Putilov steel works strikes, and women march the next day for International Women's Day (7 to 8 March, New Style)  (F); Mass strikes shut down Petrograd as the number of strikers reaches 250,000 (7 to 10 March, New Style)  (B); The Duma sets up a Provisional Government, and the Tsar's orders are refused (10 to 12 March, New Style)  (E); The Petrograd Soviet of workers and soldiers takes control of the city (12 March, New Style)  (C); Nicholas II abdicates, ending three hundred years of Romanov rule (15 March, New Style)  (A)
Why: Strikes begin in January and February; Putilov and the women's march on 7 and 8 March, New Style; the general strike by 10 March; the Tsar's orders refused by 12 March; the Petrograd Soviet on 12 March; and the abdication on 15 March, New Style.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A narrative paragraph on the events. Reveal the answer; pupils mark their own work in a different colour, then read the "why" together. Same destination for every lane, so one answer serves the whole class.
Answer: My events are in a clear order, and I state at least one date with its calendar named.; I link each event to the next with a phrase such as this led to or as a result.; I use specific knowledge, such as the Putilov strike, the figure of 250,000 strikers, or the soldiers' mutiny.; My last sentence links on to what came next, the abdication or the Provisional Government.; I write about the people involved as people, not just as crowds and numbers.
Why: Your lesson's criteria reward sequence, explained links, specific knowledge and a closing link onwards. The events themselves are easy to remember; the marks sit in the joins between them.
Model answer: The February Revolution began in Petrograd with strikes over bread, poor conditions and the failing war. On 7 March, New Style, workers at the huge Putilov steel works walked out, and the next day thousands of women joined the marches for International Women's Day, demanding bread and peace. This led to a general strike: within three days around 250,000 workers had stopped work, and industry and transport in the capital came to a halt. As a result the Tsar ordered the Duma to disband and the army to restore order, but both refused him, and soldiers began to mutiny and join the crowds instead. This left him with nothing to rule with, so when he tried to return to Petrograd and railway workers stopped his train, he agreed on 15 March, New Style, to abdicate. His brother Michael refused the throne, which ended three hundred years of Romanov rule and left the Provisional Government and the Petrograd Soviet sharing power.
Success criteria: My events are in a clear order, and I state at least one date with its calendar named.; I link each event to the next with a phrase such as this led to or as a result.; I use specific knowledge, such as the Putilov strike, the figure of 250,000 strikers, or the soldiers' mutiny.; My last sentence links on to what came next, the abdication or the Provisional Government.; I write about the people involved as people, not just as crowds and numbers.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A narrative paragraph on the events. Reveal the answer; pupils mark their own work in a different colour, then read the "why" together. Same destination for every lane, so one answer serves the whole class.
Answer: My events are in a clear order, and I state at least one date with its calendar named.; I link each event to the next with a phrase such as this led to or as a result.; I use specific knowledge, such as the Putilov strike, the figure of 250,000 strikers, or the soldiers' mutiny.; My last sentence links on to what came next, the abdication or the Provisional Government.; I write about the people involved as people, not just as crowds and numbers.
Why: Your lesson's criteria reward sequence, explained links, specific knowledge and a closing link onwards. The events themselves are easy to remember; the marks sit in the joins between them.
Model answer: The February Revolution began in Petrograd with strikes over bread, poor conditions and the failing war. On 7 March, New Style, workers at the huge Putilov steel works walked out, and the next day thousands of women joined the marches for International Women's Day, demanding bread and peace. This led to a general strike: within three days around 250,000 workers had stopped work, and industry and transport in the capital came to a halt. As a result the Tsar ordered the Duma to disband and the army to restore order, but both refused him, and soldiers began to mutiny and join the crowds instead. This left him with nothing to rule with, so when he tried to return to Petrograd and railway workers stopped his train, he agreed on 15 March, New Style, to abdicate. His brother Michael refused the throne, which ended three hundred years of Romanov rule and left the Provisional Government and the Petrograd Soviet sharing power.
Success criteria: My events are in a clear order, and I state at least one date with its calendar named.; I link each event to the next with a phrase such as this led to or as a result.; I use specific knowledge, such as the Putilov strike, the figure of 250,000 strikers, or the soldiers' mutiny.; My last sentence links on to what came next, the abdication or the Provisional Government.; I write about the people involved as people, not just as crowds and numbers.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D   It had to share power with the Petrograd Soviet, which told people to ignore orders it disagreed with
Why: The Provisional Government held the title and the Petrograd Soviet held the loyalty of the workers and soldiers. Order Number One made that split official, and staying in the war in June 1917 made it fatal.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DED7"/>
          </a:solidFill>
          <a:ln w="12700">
            <a:solidFill>
              <a:srgbClr val="E7DED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9 · The Russian Revolution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8F7F4"/>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DED7"/>
          </a:solidFill>
          <a:ln w="12700">
            <a:solidFill>
              <a:srgbClr val="E7DED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9 · The Russian Revolution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4DBD2"/>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4</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9</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4/6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Russian Revolution · AQA KS3 → 8145</a:t>
            </a:r>
            <a:endParaRPr lang="en-US" sz="1800" dirty="0"/>
          </a:p>
        </p:txBody>
      </p:sp>
      <p:sp>
        <p:nvSpPr>
          <p:cNvPr id="10" name="deck-title"/>
          <p:cNvSpPr txBox="1"/>
          <p:nvPr/>
        </p:nvSpPr>
        <p:spPr>
          <a:xfrm>
            <a:off x="548640" y="206425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February 1917: the Tsar falls</a:t>
            </a:r>
            <a:endParaRPr lang="en-US" sz="4000" dirty="0"/>
          </a:p>
        </p:txBody>
      </p:sp>
      <p:sp>
        <p:nvSpPr>
          <p:cNvPr id="11" name="lessons-card"/>
          <p:cNvSpPr/>
          <p:nvPr/>
        </p:nvSpPr>
        <p:spPr>
          <a:xfrm>
            <a:off x="548640" y="3740658"/>
            <a:ext cx="5287975" cy="1638300"/>
          </a:xfrm>
          <a:prstGeom prst="roundRect">
            <a:avLst>
              <a:gd name="adj" fmla="val 4465"/>
            </a:avLst>
          </a:prstGeom>
          <a:solidFill>
            <a:srgbClr val="F2EDE9"/>
          </a:solidFill>
          <a:ln/>
        </p:spPr>
      </p:sp>
      <p:sp>
        <p:nvSpPr>
          <p:cNvPr id="12" name="lessons"/>
          <p:cNvSpPr txBox="1"/>
          <p:nvPr/>
        </p:nvSpPr>
        <p:spPr>
          <a:xfrm>
            <a:off x="685800" y="3832098"/>
            <a:ext cx="5013655" cy="145542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3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The February 1917 Revolution</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4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The October 1917 Revolution and progress check</a:t>
            </a:r>
            <a:endParaRPr lang="en-US" sz="2000" dirty="0"/>
          </a:p>
        </p:txBody>
      </p:sp>
      <p:sp>
        <p:nvSpPr>
          <p:cNvPr id="13" name="plate-frame"/>
          <p:cNvSpPr/>
          <p:nvPr/>
        </p:nvSpPr>
        <p:spPr>
          <a:xfrm>
            <a:off x="6248095" y="411480"/>
            <a:ext cx="5394960" cy="3130677"/>
          </a:xfrm>
          <a:prstGeom prst="rect">
            <a:avLst/>
          </a:prstGeom>
          <a:solidFill>
            <a:srgbClr val="F2E9D9"/>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9">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2EDE9"/>
          </a:solidFill>
          <a:ln w="12700">
            <a:solidFill>
              <a:srgbClr val="CAB7A5"/>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To what extent did the Russian Revolution bring about change?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2636444" cy="4754880"/>
          </a:xfrm>
          <a:prstGeom prst="roundRect">
            <a:avLst>
              <a:gd name="adj" fmla="val 2081"/>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Work it out</a:t>
            </a:r>
            <a:endParaRPr lang="en-US" sz="1800" dirty="0"/>
          </a:p>
        </p:txBody>
      </p:sp>
      <p:sp>
        <p:nvSpPr>
          <p:cNvPr id="11" name="card-body"/>
          <p:cNvSpPr txBox="1"/>
          <p:nvPr/>
        </p:nvSpPr>
        <p:spPr>
          <a:xfrm>
            <a:off x="731520"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Your lesson dates the Tsar's abdication 15 March 1917, New Style. Russia's own Old Style calendar ran thirteen days behind. What was the date of the month in Russia?</a:t>
            </a:r>
            <a:endParaRPr lang="en-US" sz="1800" dirty="0"/>
          </a:p>
          <a:p>
            <a:pPr algn="l" indent="0" marL="0">
              <a:buNone/>
            </a:pPr>
            <a:r>
              <a:rPr lang="en-US" sz="1800" b="1" dirty="0">
                <a:solidFill>
                  <a:srgbClr val="7A4A1E"/>
                </a:solidFill>
                <a:latin typeface="Calibri" pitchFamily="34" charset="0"/>
                <a:ea typeface="Calibri" pitchFamily="34" charset="-122"/>
                <a:cs typeface="Calibri" pitchFamily="34" charset="-120"/>
              </a:rPr>
              <a:t>Answer:  </a:t>
            </a:r>
            <a:pPr algn="l" indent="0" marL="0">
              <a:buNone/>
            </a:pPr>
            <a:r>
              <a:rPr lang="en-US" sz="1800" dirty="0">
                <a:solidFill>
                  <a:srgbClr val="1E2229"/>
                </a:solidFill>
                <a:latin typeface="Calibri" pitchFamily="34" charset="0"/>
                <a:ea typeface="Calibri" pitchFamily="34" charset="-122"/>
                <a:cs typeface="Calibri" pitchFamily="34" charset="-120"/>
              </a:rPr>
              <a:t>________</a:t>
            </a:r>
            <a:endParaRPr lang="en-US" sz="1800" dirty="0"/>
          </a:p>
        </p:txBody>
      </p:sp>
      <p:sp>
        <p:nvSpPr>
          <p:cNvPr id="12" name="card"/>
          <p:cNvSpPr/>
          <p:nvPr/>
        </p:nvSpPr>
        <p:spPr>
          <a:xfrm>
            <a:off x="3459404" y="1389888"/>
            <a:ext cx="2636444" cy="4754880"/>
          </a:xfrm>
          <a:prstGeom prst="roundRect">
            <a:avLst>
              <a:gd name="adj" fmla="val 2081"/>
            </a:avLst>
          </a:prstGeom>
          <a:solidFill>
            <a:srgbClr val="F6F2EF"/>
          </a:solidFill>
          <a:ln w="12700">
            <a:solidFill>
              <a:srgbClr val="D0C0B0"/>
            </a:solidFill>
            <a:prstDash val="solid"/>
          </a:ln>
        </p:spPr>
      </p:sp>
      <p:sp>
        <p:nvSpPr>
          <p:cNvPr id="13" name="card-hex"/>
          <p:cNvSpPr/>
          <p:nvPr/>
        </p:nvSpPr>
        <p:spPr>
          <a:xfrm>
            <a:off x="3642284" y="1572768"/>
            <a:ext cx="640080" cy="554309"/>
          </a:xfrm>
          <a:prstGeom prst="hexagon">
            <a:avLst/>
          </a:prstGeom>
          <a:solidFill>
            <a:srgbClr val="7A4A1E"/>
          </a:solidFill>
          <a:ln/>
        </p:spPr>
      </p:sp>
      <p:sp>
        <p:nvSpPr>
          <p:cNvPr id="14" name="card-hex-label"/>
          <p:cNvSpPr txBox="1"/>
          <p:nvPr/>
        </p:nvSpPr>
        <p:spPr>
          <a:xfrm>
            <a:off x="3642284"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4373804"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3642284"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When Nicholas II agreed to give up the throne in 1917, we say that he chose to ___.</a:t>
            </a:r>
            <a:endParaRPr lang="en-US" sz="2200" dirty="0"/>
          </a:p>
          <a:p>
            <a:pPr algn="l" indent="0" marL="0">
              <a:buNone/>
            </a:pPr>
            <a:r>
              <a:rPr lang="en-US" sz="2200" b="1" dirty="0">
                <a:solidFill>
                  <a:srgbClr val="7A4A1E"/>
                </a:solidFill>
                <a:latin typeface="Calibri" pitchFamily="34" charset="0"/>
                <a:ea typeface="Calibri" pitchFamily="34" charset="-122"/>
                <a:cs typeface="Calibri" pitchFamily="34" charset="-120"/>
              </a:rPr>
              <a:t>Word bank:  </a:t>
            </a:r>
            <a:pPr algn="l" indent="0" marL="0">
              <a:buNone/>
            </a:pPr>
            <a:r>
              <a:rPr lang="en-US" sz="2200" dirty="0">
                <a:solidFill>
                  <a:srgbClr val="1E2229"/>
                </a:solidFill>
                <a:latin typeface="Calibri" pitchFamily="34" charset="0"/>
                <a:ea typeface="Calibri" pitchFamily="34" charset="-122"/>
                <a:cs typeface="Calibri" pitchFamily="34" charset="-120"/>
              </a:rPr>
              <a:t>abdicate  ·  mutiny  ·  industrialise</a:t>
            </a:r>
            <a:endParaRPr lang="en-US" sz="2200" dirty="0"/>
          </a:p>
        </p:txBody>
      </p:sp>
      <p:sp>
        <p:nvSpPr>
          <p:cNvPr id="17" name="card"/>
          <p:cNvSpPr/>
          <p:nvPr/>
        </p:nvSpPr>
        <p:spPr>
          <a:xfrm>
            <a:off x="6370168" y="1389888"/>
            <a:ext cx="5272888" cy="4754880"/>
          </a:xfrm>
          <a:prstGeom prst="roundRect">
            <a:avLst>
              <a:gd name="adj" fmla="val 1154"/>
            </a:avLst>
          </a:prstGeom>
          <a:solidFill>
            <a:srgbClr val="F6F2EF"/>
          </a:solidFill>
          <a:ln w="12700">
            <a:solidFill>
              <a:srgbClr val="D0C0B0"/>
            </a:solidFill>
            <a:prstDash val="solid"/>
          </a:ln>
        </p:spPr>
      </p:sp>
      <p:sp>
        <p:nvSpPr>
          <p:cNvPr id="18" name="card-hex"/>
          <p:cNvSpPr/>
          <p:nvPr/>
        </p:nvSpPr>
        <p:spPr>
          <a:xfrm>
            <a:off x="6553048" y="1572768"/>
            <a:ext cx="640080" cy="554309"/>
          </a:xfrm>
          <a:prstGeom prst="hexagon">
            <a:avLst/>
          </a:prstGeom>
          <a:solidFill>
            <a:srgbClr val="7A4A1E"/>
          </a:solidFill>
          <a:ln/>
        </p:spPr>
      </p:sp>
      <p:sp>
        <p:nvSpPr>
          <p:cNvPr id="19" name="card-hex-label"/>
          <p:cNvSpPr txBox="1"/>
          <p:nvPr/>
        </p:nvSpPr>
        <p:spPr>
          <a:xfrm>
            <a:off x="655304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7284568"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6553048" y="2355677"/>
            <a:ext cx="490712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Which moment is the strongest candidate for the turning point of the February Revolution?</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Thousands of women marched for International Women's Day</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Soldiers refused to fire on the crowds and mutinied instead</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Putilov steel works went on strike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Duma set up a Provisional Government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2636444" cy="4754880"/>
          </a:xfrm>
          <a:prstGeom prst="roundRect">
            <a:avLst>
              <a:gd name="adj" fmla="val 2081"/>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2270684" cy="614172"/>
          </a:xfrm>
          <a:prstGeom prst="roundRect">
            <a:avLst>
              <a:gd name="adj" fmla="val 17866"/>
            </a:avLst>
          </a:prstGeom>
          <a:solidFill>
            <a:srgbClr val="EDE1CA"/>
          </a:solidFill>
          <a:ln w="19050">
            <a:solidFill>
              <a:srgbClr val="B8862B"/>
            </a:solidFill>
            <a:prstDash val="solid"/>
          </a:ln>
        </p:spPr>
      </p:sp>
      <p:sp>
        <p:nvSpPr>
          <p:cNvPr id="12" name="answer"/>
          <p:cNvSpPr txBox="1"/>
          <p:nvPr/>
        </p:nvSpPr>
        <p:spPr>
          <a:xfrm>
            <a:off x="822960"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2</a:t>
            </a:r>
            <a:endParaRPr lang="en-US" sz="2200" dirty="0"/>
          </a:p>
        </p:txBody>
      </p:sp>
      <p:sp>
        <p:nvSpPr>
          <p:cNvPr id="13" name="card-body"/>
          <p:cNvSpPr txBox="1"/>
          <p:nvPr/>
        </p:nvSpPr>
        <p:spPr>
          <a:xfrm>
            <a:off x="731520" y="3152729"/>
            <a:ext cx="2270684"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15 − 13 = 2, so the abdication was 2 March, Old Style. The same day has two dates, which is why the February Revolution is dated in March.</a:t>
            </a:r>
            <a:endParaRPr lang="en-US" sz="1800" dirty="0"/>
          </a:p>
        </p:txBody>
      </p:sp>
      <p:sp>
        <p:nvSpPr>
          <p:cNvPr id="14" name="card"/>
          <p:cNvSpPr/>
          <p:nvPr/>
        </p:nvSpPr>
        <p:spPr>
          <a:xfrm>
            <a:off x="3459404" y="1389888"/>
            <a:ext cx="2636444" cy="4754880"/>
          </a:xfrm>
          <a:prstGeom prst="roundRect">
            <a:avLst>
              <a:gd name="adj" fmla="val 2081"/>
            </a:avLst>
          </a:prstGeom>
          <a:solidFill>
            <a:srgbClr val="F6F2EF"/>
          </a:solidFill>
          <a:ln w="12700">
            <a:solidFill>
              <a:srgbClr val="D0C0B0"/>
            </a:solidFill>
            <a:prstDash val="solid"/>
          </a:ln>
        </p:spPr>
      </p:sp>
      <p:sp>
        <p:nvSpPr>
          <p:cNvPr id="15" name="card-hex"/>
          <p:cNvSpPr/>
          <p:nvPr/>
        </p:nvSpPr>
        <p:spPr>
          <a:xfrm>
            <a:off x="3642284" y="1572768"/>
            <a:ext cx="640080" cy="554309"/>
          </a:xfrm>
          <a:prstGeom prst="hexagon">
            <a:avLst/>
          </a:prstGeom>
          <a:solidFill>
            <a:srgbClr val="7A4A1E"/>
          </a:solidFill>
          <a:ln/>
        </p:spPr>
      </p:sp>
      <p:sp>
        <p:nvSpPr>
          <p:cNvPr id="16" name="card-hex-label"/>
          <p:cNvSpPr txBox="1"/>
          <p:nvPr/>
        </p:nvSpPr>
        <p:spPr>
          <a:xfrm>
            <a:off x="3642284"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4373804"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3642284" y="2355677"/>
            <a:ext cx="2270684" cy="614172"/>
          </a:xfrm>
          <a:prstGeom prst="roundRect">
            <a:avLst>
              <a:gd name="adj" fmla="val 17866"/>
            </a:avLst>
          </a:prstGeom>
          <a:solidFill>
            <a:srgbClr val="EDE1CA"/>
          </a:solidFill>
          <a:ln w="19050">
            <a:solidFill>
              <a:srgbClr val="B8862B"/>
            </a:solidFill>
            <a:prstDash val="solid"/>
          </a:ln>
        </p:spPr>
      </p:sp>
      <p:sp>
        <p:nvSpPr>
          <p:cNvPr id="19" name="answer"/>
          <p:cNvSpPr txBox="1"/>
          <p:nvPr/>
        </p:nvSpPr>
        <p:spPr>
          <a:xfrm>
            <a:off x="3733724"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abdicate</a:t>
            </a:r>
            <a:endParaRPr lang="en-US" sz="2200" dirty="0"/>
          </a:p>
        </p:txBody>
      </p:sp>
      <p:sp>
        <p:nvSpPr>
          <p:cNvPr id="20" name="card-body"/>
          <p:cNvSpPr txBox="1"/>
          <p:nvPr/>
        </p:nvSpPr>
        <p:spPr>
          <a:xfrm>
            <a:off x="3642284" y="3152729"/>
            <a:ext cx="2270684"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To abdicate is to give up the throne. Nicholas abdicated from his railway carriage when he could not even reach the capital.</a:t>
            </a:r>
            <a:endParaRPr lang="en-US" sz="1800" dirty="0"/>
          </a:p>
        </p:txBody>
      </p:sp>
      <p:sp>
        <p:nvSpPr>
          <p:cNvPr id="21" name="card"/>
          <p:cNvSpPr/>
          <p:nvPr/>
        </p:nvSpPr>
        <p:spPr>
          <a:xfrm>
            <a:off x="6370168" y="1389888"/>
            <a:ext cx="5272888" cy="4754880"/>
          </a:xfrm>
          <a:prstGeom prst="roundRect">
            <a:avLst>
              <a:gd name="adj" fmla="val 1154"/>
            </a:avLst>
          </a:prstGeom>
          <a:solidFill>
            <a:srgbClr val="F6F2EF"/>
          </a:solidFill>
          <a:ln w="12700">
            <a:solidFill>
              <a:srgbClr val="D0C0B0"/>
            </a:solidFill>
            <a:prstDash val="solid"/>
          </a:ln>
        </p:spPr>
      </p:sp>
      <p:sp>
        <p:nvSpPr>
          <p:cNvPr id="22" name="card-hex"/>
          <p:cNvSpPr/>
          <p:nvPr/>
        </p:nvSpPr>
        <p:spPr>
          <a:xfrm>
            <a:off x="6553048" y="1572768"/>
            <a:ext cx="640080" cy="554309"/>
          </a:xfrm>
          <a:prstGeom prst="hexagon">
            <a:avLst/>
          </a:prstGeom>
          <a:solidFill>
            <a:srgbClr val="7A4A1E"/>
          </a:solidFill>
          <a:ln/>
        </p:spPr>
      </p:sp>
      <p:sp>
        <p:nvSpPr>
          <p:cNvPr id="23" name="card-hex-label"/>
          <p:cNvSpPr txBox="1"/>
          <p:nvPr/>
        </p:nvSpPr>
        <p:spPr>
          <a:xfrm>
            <a:off x="655304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7284568"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6553048" y="2355677"/>
            <a:ext cx="4907128" cy="955040"/>
          </a:xfrm>
          <a:prstGeom prst="roundRect">
            <a:avLst>
              <a:gd name="adj" fmla="val 11489"/>
            </a:avLst>
          </a:prstGeom>
          <a:solidFill>
            <a:srgbClr val="EDE1CA"/>
          </a:solidFill>
          <a:ln w="19050">
            <a:solidFill>
              <a:srgbClr val="B8862B"/>
            </a:solidFill>
            <a:prstDash val="solid"/>
          </a:ln>
        </p:spPr>
      </p:sp>
      <p:sp>
        <p:nvSpPr>
          <p:cNvPr id="26" name="answer"/>
          <p:cNvSpPr txBox="1"/>
          <p:nvPr/>
        </p:nvSpPr>
        <p:spPr>
          <a:xfrm>
            <a:off x="6644488" y="2428829"/>
            <a:ext cx="472424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Soldiers refused to fire on the crowds and mutinied instead</a:t>
            </a:r>
            <a:endParaRPr lang="en-US" sz="2200" dirty="0"/>
          </a:p>
        </p:txBody>
      </p:sp>
      <p:sp>
        <p:nvSpPr>
          <p:cNvPr id="27" name="card-body"/>
          <p:cNvSpPr txBox="1"/>
          <p:nvPr/>
        </p:nvSpPr>
        <p:spPr>
          <a:xfrm>
            <a:off x="6553048" y="3493597"/>
            <a:ext cx="4907128" cy="2514011"/>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Which moment is the strongest candidate for the turning point of the February Revolution?</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Strikes and marches had been broken by troops before, as in 1905. Once the troops would not obey, the Tsar had nothing left to break them with.</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4F1ED"/>
          </a:solidFill>
          <a:ln w="12700">
            <a:solidFill>
              <a:srgbClr val="CAB7A5"/>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Old Style</a:t>
            </a:r>
            <a:endParaRPr lang="en-US" sz="2600" dirty="0"/>
          </a:p>
        </p:txBody>
      </p:sp>
      <p:sp>
        <p:nvSpPr>
          <p:cNvPr id="11" name="word-rule"/>
          <p:cNvSpPr/>
          <p:nvPr/>
        </p:nvSpPr>
        <p:spPr>
          <a:xfrm>
            <a:off x="731520" y="2129028"/>
            <a:ext cx="3149498" cy="0"/>
          </a:xfrm>
          <a:prstGeom prst="line">
            <a:avLst/>
          </a:prstGeom>
          <a:ln w="12700">
            <a:solidFill>
              <a:srgbClr val="CAB7A5"/>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date in the older Julian calendar Russia used until 1918</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revolution began in late February, Old Style, which is why we call it the February Revolution.</a:t>
            </a:r>
            <a:endParaRPr lang="en-US" sz="2200" dirty="0"/>
          </a:p>
        </p:txBody>
      </p:sp>
      <p:sp>
        <p:nvSpPr>
          <p:cNvPr id="13" name="word-card"/>
          <p:cNvSpPr/>
          <p:nvPr/>
        </p:nvSpPr>
        <p:spPr>
          <a:xfrm>
            <a:off x="4338218" y="1389888"/>
            <a:ext cx="3515258" cy="4754880"/>
          </a:xfrm>
          <a:prstGeom prst="roundRect">
            <a:avLst>
              <a:gd name="adj" fmla="val 1561"/>
            </a:avLst>
          </a:prstGeom>
          <a:solidFill>
            <a:srgbClr val="F4F1ED"/>
          </a:solidFill>
          <a:ln w="12700">
            <a:solidFill>
              <a:srgbClr val="CAB7A5"/>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New Style</a:t>
            </a:r>
            <a:endParaRPr lang="en-US" sz="2600" dirty="0"/>
          </a:p>
        </p:txBody>
      </p:sp>
      <p:sp>
        <p:nvSpPr>
          <p:cNvPr id="17" name="word-rule"/>
          <p:cNvSpPr/>
          <p:nvPr/>
        </p:nvSpPr>
        <p:spPr>
          <a:xfrm>
            <a:off x="4521098" y="2129028"/>
            <a:ext cx="3149498" cy="0"/>
          </a:xfrm>
          <a:prstGeom prst="line">
            <a:avLst/>
          </a:prstGeom>
          <a:ln w="12700">
            <a:solidFill>
              <a:srgbClr val="CAB7A5"/>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date in the calendar we use, which was thirteen days ahead of Russia's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Your lesson's information sheet gives the New Style dates in March.</a:t>
            </a:r>
            <a:endParaRPr lang="en-US" sz="2200" dirty="0"/>
          </a:p>
        </p:txBody>
      </p:sp>
      <p:sp>
        <p:nvSpPr>
          <p:cNvPr id="19" name="word-card"/>
          <p:cNvSpPr/>
          <p:nvPr/>
        </p:nvSpPr>
        <p:spPr>
          <a:xfrm>
            <a:off x="8127797" y="1389888"/>
            <a:ext cx="3515258" cy="4754880"/>
          </a:xfrm>
          <a:prstGeom prst="roundRect">
            <a:avLst>
              <a:gd name="adj" fmla="val 1561"/>
            </a:avLst>
          </a:prstGeom>
          <a:solidFill>
            <a:srgbClr val="F4F1ED"/>
          </a:solidFill>
          <a:ln w="12700">
            <a:solidFill>
              <a:srgbClr val="CAB7A5"/>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abdicate</a:t>
            </a:r>
            <a:endParaRPr lang="en-US" sz="2600" dirty="0"/>
          </a:p>
        </p:txBody>
      </p:sp>
      <p:sp>
        <p:nvSpPr>
          <p:cNvPr id="23" name="word-rule"/>
          <p:cNvSpPr/>
          <p:nvPr/>
        </p:nvSpPr>
        <p:spPr>
          <a:xfrm>
            <a:off x="8310677" y="2129028"/>
            <a:ext cx="3149498" cy="0"/>
          </a:xfrm>
          <a:prstGeom prst="line">
            <a:avLst/>
          </a:prstGeom>
          <a:ln w="12700">
            <a:solidFill>
              <a:srgbClr val="CAB7A5"/>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to give up the throne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Nicholas II agreed to abdicate from a railway carriage outside the capital.</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5410048" cy="4754880"/>
          </a:xfrm>
          <a:prstGeom prst="roundRect">
            <a:avLst>
              <a:gd name="adj" fmla="val 1154"/>
            </a:avLst>
          </a:prstGeom>
          <a:solidFill>
            <a:srgbClr val="F4F1ED"/>
          </a:solidFill>
          <a:ln w="12700">
            <a:solidFill>
              <a:srgbClr val="CAB7A5"/>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soviet</a:t>
            </a:r>
            <a:endParaRPr lang="en-US" sz="2600" dirty="0"/>
          </a:p>
        </p:txBody>
      </p:sp>
      <p:sp>
        <p:nvSpPr>
          <p:cNvPr id="11" name="word-rule"/>
          <p:cNvSpPr/>
          <p:nvPr/>
        </p:nvSpPr>
        <p:spPr>
          <a:xfrm>
            <a:off x="731520" y="2129028"/>
            <a:ext cx="5044288" cy="0"/>
          </a:xfrm>
          <a:prstGeom prst="line">
            <a:avLst/>
          </a:prstGeom>
          <a:ln w="12700">
            <a:solidFill>
              <a:srgbClr val="CAB7A5"/>
            </a:solidFill>
            <a:prstDash val="solid"/>
          </a:ln>
        </p:spPr>
      </p:sp>
      <p:sp>
        <p:nvSpPr>
          <p:cNvPr id="12" name="word-body"/>
          <p:cNvSpPr txBox="1"/>
          <p:nvPr/>
        </p:nvSpPr>
        <p:spPr>
          <a:xfrm>
            <a:off x="731520"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council of workers and soldiers elected to act for them</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Petrograd Soviet took charge of the city before any new government existed.</a:t>
            </a:r>
            <a:endParaRPr lang="en-US" sz="2200" dirty="0"/>
          </a:p>
        </p:txBody>
      </p:sp>
      <p:sp>
        <p:nvSpPr>
          <p:cNvPr id="13" name="word-card"/>
          <p:cNvSpPr/>
          <p:nvPr/>
        </p:nvSpPr>
        <p:spPr>
          <a:xfrm>
            <a:off x="6233008" y="1389888"/>
            <a:ext cx="5410048" cy="4754880"/>
          </a:xfrm>
          <a:prstGeom prst="roundRect">
            <a:avLst>
              <a:gd name="adj" fmla="val 1154"/>
            </a:avLst>
          </a:prstGeom>
          <a:solidFill>
            <a:srgbClr val="F4F1ED"/>
          </a:solidFill>
          <a:ln w="12700">
            <a:solidFill>
              <a:srgbClr val="CAB7A5"/>
            </a:solidFill>
            <a:prstDash val="solid"/>
          </a:ln>
        </p:spPr>
      </p:sp>
      <p:sp>
        <p:nvSpPr>
          <p:cNvPr id="14" name="word-hex"/>
          <p:cNvSpPr/>
          <p:nvPr/>
        </p:nvSpPr>
        <p:spPr>
          <a:xfrm>
            <a:off x="6370168" y="1587414"/>
            <a:ext cx="502920" cy="435529"/>
          </a:xfrm>
          <a:prstGeom prst="hexagon">
            <a:avLst/>
          </a:prstGeom>
          <a:solidFill>
            <a:srgbClr val="B8862B"/>
          </a:solidFill>
          <a:ln/>
        </p:spPr>
      </p:sp>
      <p:sp>
        <p:nvSpPr>
          <p:cNvPr id="15" name="word-hex-label"/>
          <p:cNvSpPr txBox="1"/>
          <p:nvPr/>
        </p:nvSpPr>
        <p:spPr>
          <a:xfrm>
            <a:off x="637016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6964528"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Provisional Government</a:t>
            </a:r>
            <a:endParaRPr lang="en-US" sz="2600" dirty="0"/>
          </a:p>
        </p:txBody>
      </p:sp>
      <p:sp>
        <p:nvSpPr>
          <p:cNvPr id="17" name="word-rule"/>
          <p:cNvSpPr/>
          <p:nvPr/>
        </p:nvSpPr>
        <p:spPr>
          <a:xfrm>
            <a:off x="6415888" y="2129028"/>
            <a:ext cx="5044288" cy="0"/>
          </a:xfrm>
          <a:prstGeom prst="line">
            <a:avLst/>
          </a:prstGeom>
          <a:ln w="12700">
            <a:solidFill>
              <a:srgbClr val="CAB7A5"/>
            </a:solidFill>
            <a:prstDash val="solid"/>
          </a:ln>
        </p:spPr>
      </p:sp>
      <p:sp>
        <p:nvSpPr>
          <p:cNvPr id="18" name="word-body"/>
          <p:cNvSpPr txBox="1"/>
          <p:nvPr/>
        </p:nvSpPr>
        <p:spPr>
          <a:xfrm>
            <a:off x="6415888"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temporary government set up by Duma politicians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Provisional Government was meant to run Russia only until elections could be held.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6F2EF"/>
          </a:solidFill>
          <a:ln w="12700">
            <a:solidFill>
              <a:srgbClr val="D7C9BC"/>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1917 Russia used an older calendar than ours.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It ran thirteen days behind, and we call its dates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Old Style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So the February Revolution happened in March by our dates.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Your lesson calls it both the February and the March Revolution.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It began with strikes over bread in Petrograd.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On 7 March,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New Style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workers at the Putilov steel works walked out.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next day thousands of women joined them for International Women's Day.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6F2EF"/>
          </a:solidFill>
          <a:ln w="12700">
            <a:solidFill>
              <a:srgbClr val="D7C9BC"/>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Soon 250,000 workers were on strike and the city stopped.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Tsar ordered the Duma to close and the army to restore order.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Both refused him.</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Soldiers mutinied and took the side of the crowds.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Petrograd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Soviet</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of workers and soldiers took charge of the city.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On 15 March,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New Style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Nicholas II abdicated.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Three hundred years of Romanov rule were over.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February or March? A note on the calendar</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4EDDF"/>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Write N.S. or O.S. after any date from 1917. One letter stops a whole paragraph from falling apart.</a:t>
            </a:r>
            <a:endParaRPr lang="en-US" sz="1800" dirty="0"/>
          </a:p>
        </p:txBody>
      </p:sp>
      <p:sp>
        <p:nvSpPr>
          <p:cNvPr id="11" name="point-card"/>
          <p:cNvSpPr/>
          <p:nvPr/>
        </p:nvSpPr>
        <p:spPr>
          <a:xfrm>
            <a:off x="548640" y="1389888"/>
            <a:ext cx="3515258" cy="3964940"/>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Open your lesson's information sheet on the February Revolution and something looks wrong: every date is in March.</a:t>
            </a:r>
            <a:endParaRPr lang="en-US" sz="2400" dirty="0"/>
          </a:p>
        </p:txBody>
      </p:sp>
      <p:sp>
        <p:nvSpPr>
          <p:cNvPr id="15" name="point-card"/>
          <p:cNvSpPr/>
          <p:nvPr/>
        </p:nvSpPr>
        <p:spPr>
          <a:xfrm>
            <a:off x="4338218" y="1389888"/>
            <a:ext cx="3515258" cy="3964940"/>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Until 1918, Russia used the old Julian calendar, which by then ran thirteen days behind the Gregorian calendar used in Britain and most of Europe.</a:t>
            </a:r>
            <a:endParaRPr lang="en-US" sz="2400" dirty="0"/>
          </a:p>
        </p:txBody>
      </p:sp>
      <p:sp>
        <p:nvSpPr>
          <p:cNvPr id="19" name="point-card"/>
          <p:cNvSpPr/>
          <p:nvPr/>
        </p:nvSpPr>
        <p:spPr>
          <a:xfrm>
            <a:off x="8127797" y="1389888"/>
            <a:ext cx="3515258" cy="3964940"/>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Three rules will keep you out of trouble. First, always say which calendar you are using.</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Eight days in Petrograd</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Learn the six moments as a shape: strikes, women's march, general strike, orders refused, soviet takes the city, abdication.</a:t>
            </a:r>
            <a:endParaRPr lang="en-US" sz="1800" dirty="0"/>
          </a:p>
        </p:txBody>
      </p:sp>
      <p:sp>
        <p:nvSpPr>
          <p:cNvPr id="11" name="bullet-card"/>
          <p:cNvSpPr/>
          <p:nvPr/>
        </p:nvSpPr>
        <p:spPr>
          <a:xfrm>
            <a:off x="548640" y="1389888"/>
            <a:ext cx="11094415" cy="903901"/>
          </a:xfrm>
          <a:prstGeom prst="roundRect">
            <a:avLst>
              <a:gd name="adj" fmla="val 8093"/>
            </a:avLst>
          </a:prstGeom>
          <a:solidFill>
            <a:srgbClr val="F4F1ED"/>
          </a:solidFill>
          <a:ln/>
        </p:spPr>
      </p:sp>
      <p:sp>
        <p:nvSpPr>
          <p:cNvPr id="12" name="bullet-hex"/>
          <p:cNvSpPr/>
          <p:nvPr/>
        </p:nvSpPr>
        <p:spPr>
          <a:xfrm>
            <a:off x="676656" y="1675546"/>
            <a:ext cx="384048" cy="332586"/>
          </a:xfrm>
          <a:prstGeom prst="hexagon">
            <a:avLst/>
          </a:prstGeom>
          <a:solidFill>
            <a:srgbClr val="7A4A1E"/>
          </a:solidFill>
          <a:ln/>
        </p:spPr>
      </p:sp>
      <p:sp>
        <p:nvSpPr>
          <p:cNvPr id="13" name="bullet"/>
          <p:cNvSpPr txBox="1"/>
          <p:nvPr/>
        </p:nvSpPr>
        <p:spPr>
          <a:xfrm>
            <a:off x="1143000" y="1389888"/>
            <a:ext cx="10408615" cy="903901"/>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Your lesson asks you to summarise the revolution into six key moments, and they are worth learning as a sequence.</a:t>
            </a:r>
            <a:endParaRPr lang="en-US" sz="2200" dirty="0"/>
          </a:p>
        </p:txBody>
      </p:sp>
      <p:sp>
        <p:nvSpPr>
          <p:cNvPr id="14" name="bullet-card"/>
          <p:cNvSpPr/>
          <p:nvPr/>
        </p:nvSpPr>
        <p:spPr>
          <a:xfrm>
            <a:off x="548640" y="2440093"/>
            <a:ext cx="11094415" cy="1244769"/>
          </a:xfrm>
          <a:prstGeom prst="roundRect">
            <a:avLst>
              <a:gd name="adj" fmla="val 5877"/>
            </a:avLst>
          </a:prstGeom>
          <a:solidFill>
            <a:srgbClr val="F4F1ED"/>
          </a:solidFill>
          <a:ln/>
        </p:spPr>
      </p:sp>
      <p:sp>
        <p:nvSpPr>
          <p:cNvPr id="15" name="bullet-hex"/>
          <p:cNvSpPr/>
          <p:nvPr/>
        </p:nvSpPr>
        <p:spPr>
          <a:xfrm>
            <a:off x="676656" y="2896185"/>
            <a:ext cx="384048" cy="332586"/>
          </a:xfrm>
          <a:prstGeom prst="hexagon">
            <a:avLst/>
          </a:prstGeom>
          <a:solidFill>
            <a:srgbClr val="B8862B"/>
          </a:solidFill>
          <a:ln/>
        </p:spPr>
      </p:sp>
      <p:sp>
        <p:nvSpPr>
          <p:cNvPr id="16" name="bullet"/>
          <p:cNvSpPr txBox="1"/>
          <p:nvPr/>
        </p:nvSpPr>
        <p:spPr>
          <a:xfrm>
            <a:off x="1143000" y="2440093"/>
            <a:ext cx="10408615" cy="124476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Third, the strikes became general. Between 7 and 10 March, New Style, your lesson says the number of strikers rose to 250,000, which stopped all industry and transport in the capital; the police could not control the crowds and some officers joined them.</a:t>
            </a:r>
            <a:endParaRPr lang="en-US" sz="2200" dirty="0"/>
          </a:p>
        </p:txBody>
      </p:sp>
      <p:sp>
        <p:nvSpPr>
          <p:cNvPr id="17" name="bullet-card"/>
          <p:cNvSpPr/>
          <p:nvPr/>
        </p:nvSpPr>
        <p:spPr>
          <a:xfrm>
            <a:off x="548640" y="3831167"/>
            <a:ext cx="11094415" cy="1244769"/>
          </a:xfrm>
          <a:prstGeom prst="roundRect">
            <a:avLst>
              <a:gd name="adj" fmla="val 5877"/>
            </a:avLst>
          </a:prstGeom>
          <a:solidFill>
            <a:srgbClr val="F4F1ED"/>
          </a:solidFill>
          <a:ln/>
        </p:spPr>
      </p:sp>
      <p:sp>
        <p:nvSpPr>
          <p:cNvPr id="18" name="bullet-hex"/>
          <p:cNvSpPr/>
          <p:nvPr/>
        </p:nvSpPr>
        <p:spPr>
          <a:xfrm>
            <a:off x="676656" y="4287259"/>
            <a:ext cx="384048" cy="332586"/>
          </a:xfrm>
          <a:prstGeom prst="hexagon">
            <a:avLst/>
          </a:prstGeom>
          <a:solidFill>
            <a:srgbClr val="7A4A1E"/>
          </a:solidFill>
          <a:ln/>
        </p:spPr>
      </p:sp>
      <p:sp>
        <p:nvSpPr>
          <p:cNvPr id="19" name="bullet"/>
          <p:cNvSpPr txBox="1"/>
          <p:nvPr/>
        </p:nvSpPr>
        <p:spPr>
          <a:xfrm>
            <a:off x="1143000" y="3831167"/>
            <a:ext cx="10408615" cy="124476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Fifth, on 12 March, New Style, the Petrograd Soviet was re-established, a council of workers and soldiers that took charge of the city, with similar soviets forming across Russia.</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turning point: when the soldiers refused</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Your lesson's criteria want sequence, links, specific knowledge, and a final link onwards. Use the words this led to and as a result on purpose, not by accident.</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Your lesson asks you to identify the turning point, which it defines as the moment when it first looked as though the revolution would succeed.</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Think about why. Petrograd had seen strikes before and the government had always broken them the same way, by sending in troops.</a:t>
            </a:r>
            <a:endParaRPr lang="en-US" sz="18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end followed quickly and almost quietly. Nicholas tried to return to the capital, but railway workers refused to let his train through, and it was from that carriage that he agreed to give up the throne.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Worked example (1 of 2): The turning point: when the soldiers refused</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2EDE9"/>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Write the opening of an events paragraph on the February Revolution, using your lesson's success criteria.</a:t>
            </a:r>
            <a:endParaRPr lang="en-US" sz="2200" dirty="0"/>
          </a:p>
        </p:txBody>
      </p:sp>
      <p:sp>
        <p:nvSpPr>
          <p:cNvPr id="9" name="step-box"/>
          <p:cNvSpPr/>
          <p:nvPr/>
        </p:nvSpPr>
        <p:spPr>
          <a:xfrm>
            <a:off x="548640" y="2655824"/>
            <a:ext cx="5341468" cy="1974088"/>
          </a:xfrm>
          <a:prstGeom prst="roundRect">
            <a:avLst>
              <a:gd name="adj" fmla="val 3706"/>
            </a:avLst>
          </a:prstGeom>
          <a:solidFill>
            <a:srgbClr val="FFFFFF"/>
          </a:solidFill>
          <a:ln w="15875">
            <a:solidFill>
              <a:srgbClr val="B69B83"/>
            </a:solidFill>
            <a:prstDash val="solid"/>
          </a:ln>
        </p:spPr>
      </p:sp>
      <p:sp>
        <p:nvSpPr>
          <p:cNvPr id="10" name="step-hex"/>
          <p:cNvSpPr/>
          <p:nvPr/>
        </p:nvSpPr>
        <p:spPr>
          <a:xfrm>
            <a:off x="685800" y="2765552"/>
            <a:ext cx="530352" cy="459285"/>
          </a:xfrm>
          <a:prstGeom prst="hexagon">
            <a:avLst/>
          </a:prstGeom>
          <a:solidFill>
            <a:srgbClr val="7A4A1E"/>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506714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Open with the event and a date: The February Revolution broke out in Petrograd in late February 1917, Old Style, when workers at the Putilov steel works went on strike.</a:t>
            </a:r>
            <a:endParaRPr lang="en-US" sz="1800" dirty="0"/>
          </a:p>
        </p:txBody>
      </p:sp>
      <p:sp>
        <p:nvSpPr>
          <p:cNvPr id="13" name="arrow"/>
          <p:cNvSpPr/>
          <p:nvPr/>
        </p:nvSpPr>
        <p:spPr>
          <a:xfrm>
            <a:off x="5963260" y="3505708"/>
            <a:ext cx="274320" cy="274320"/>
          </a:xfrm>
          <a:prstGeom prst="rightArrow">
            <a:avLst/>
          </a:prstGeom>
          <a:solidFill>
            <a:srgbClr val="B8862B"/>
          </a:solidFill>
          <a:ln/>
        </p:spPr>
      </p:sp>
      <p:sp>
        <p:nvSpPr>
          <p:cNvPr id="14" name="step-box"/>
          <p:cNvSpPr/>
          <p:nvPr/>
        </p:nvSpPr>
        <p:spPr>
          <a:xfrm>
            <a:off x="6301588" y="2655824"/>
            <a:ext cx="5341468" cy="1974088"/>
          </a:xfrm>
          <a:prstGeom prst="roundRect">
            <a:avLst>
              <a:gd name="adj" fmla="val 3706"/>
            </a:avLst>
          </a:prstGeom>
          <a:solidFill>
            <a:srgbClr val="FFFFFF"/>
          </a:solidFill>
          <a:ln w="15875">
            <a:solidFill>
              <a:srgbClr val="B69B83"/>
            </a:solidFill>
            <a:prstDash val="solid"/>
          </a:ln>
        </p:spPr>
      </p:sp>
      <p:sp>
        <p:nvSpPr>
          <p:cNvPr id="15" name="step-hex"/>
          <p:cNvSpPr/>
          <p:nvPr/>
        </p:nvSpPr>
        <p:spPr>
          <a:xfrm>
            <a:off x="6438748" y="2765552"/>
            <a:ext cx="530352" cy="459285"/>
          </a:xfrm>
          <a:prstGeom prst="hexagon">
            <a:avLst/>
          </a:prstGeom>
          <a:solidFill>
            <a:srgbClr val="7A4A1E"/>
          </a:solidFill>
          <a:ln/>
        </p:spPr>
      </p:sp>
      <p:sp>
        <p:nvSpPr>
          <p:cNvPr id="16"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6438748" y="3250184"/>
            <a:ext cx="506714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Add evidence: this was 7 March, New Style, by our calendar, and within days the number of strikers had risen to 250,000, stopping industry and transport in the capital.</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Worked example (2 of 2): The turning point: when the soldiers refused</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2EDE9"/>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Write the opening of an events paragraph on the February Revolution, using your lesson's success criteria.</a:t>
            </a:r>
            <a:endParaRPr lang="en-US" sz="2200" dirty="0"/>
          </a:p>
        </p:txBody>
      </p:sp>
      <p:sp>
        <p:nvSpPr>
          <p:cNvPr id="9" name="step-box"/>
          <p:cNvSpPr/>
          <p:nvPr/>
        </p:nvSpPr>
        <p:spPr>
          <a:xfrm>
            <a:off x="548640" y="2655824"/>
            <a:ext cx="5341468" cy="1974088"/>
          </a:xfrm>
          <a:prstGeom prst="roundRect">
            <a:avLst>
              <a:gd name="adj" fmla="val 3706"/>
            </a:avLst>
          </a:prstGeom>
          <a:solidFill>
            <a:srgbClr val="FFFFFF"/>
          </a:solidFill>
          <a:ln w="15875">
            <a:solidFill>
              <a:srgbClr val="B69B83"/>
            </a:solidFill>
            <a:prstDash val="solid"/>
          </a:ln>
        </p:spPr>
      </p:sp>
      <p:sp>
        <p:nvSpPr>
          <p:cNvPr id="10" name="step-hex"/>
          <p:cNvSpPr/>
          <p:nvPr/>
        </p:nvSpPr>
        <p:spPr>
          <a:xfrm>
            <a:off x="685800" y="2765552"/>
            <a:ext cx="530352" cy="459285"/>
          </a:xfrm>
          <a:prstGeom prst="hexagon">
            <a:avLst/>
          </a:prstGeom>
          <a:solidFill>
            <a:srgbClr val="7A4A1E"/>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2" name="step"/>
          <p:cNvSpPr txBox="1"/>
          <p:nvPr/>
        </p:nvSpPr>
        <p:spPr>
          <a:xfrm>
            <a:off x="685800" y="3250184"/>
            <a:ext cx="506714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Explain why it mattered: this event was important because a strike that size could not be ignored or broken by the usual methods.</a:t>
            </a:r>
            <a:endParaRPr lang="en-US" sz="1800" dirty="0"/>
          </a:p>
        </p:txBody>
      </p:sp>
      <p:sp>
        <p:nvSpPr>
          <p:cNvPr id="13" name="arrow"/>
          <p:cNvSpPr/>
          <p:nvPr/>
        </p:nvSpPr>
        <p:spPr>
          <a:xfrm>
            <a:off x="5963260" y="3505708"/>
            <a:ext cx="274320" cy="274320"/>
          </a:xfrm>
          <a:prstGeom prst="rightArrow">
            <a:avLst/>
          </a:prstGeom>
          <a:solidFill>
            <a:srgbClr val="B8862B"/>
          </a:solidFill>
          <a:ln/>
        </p:spPr>
      </p:sp>
      <p:sp>
        <p:nvSpPr>
          <p:cNvPr id="14" name="step-box"/>
          <p:cNvSpPr/>
          <p:nvPr/>
        </p:nvSpPr>
        <p:spPr>
          <a:xfrm>
            <a:off x="6301588" y="2655824"/>
            <a:ext cx="5341468" cy="1974088"/>
          </a:xfrm>
          <a:prstGeom prst="roundRect">
            <a:avLst>
              <a:gd name="adj" fmla="val 3706"/>
            </a:avLst>
          </a:prstGeom>
          <a:solidFill>
            <a:srgbClr val="FFFFFF"/>
          </a:solidFill>
          <a:ln w="15875">
            <a:solidFill>
              <a:srgbClr val="B69B83"/>
            </a:solidFill>
            <a:prstDash val="solid"/>
          </a:ln>
        </p:spPr>
      </p:sp>
      <p:sp>
        <p:nvSpPr>
          <p:cNvPr id="15" name="step-hex"/>
          <p:cNvSpPr/>
          <p:nvPr/>
        </p:nvSpPr>
        <p:spPr>
          <a:xfrm>
            <a:off x="6438748" y="2765552"/>
            <a:ext cx="530352" cy="459285"/>
          </a:xfrm>
          <a:prstGeom prst="hexagon">
            <a:avLst/>
          </a:prstGeom>
          <a:solidFill>
            <a:srgbClr val="7A4A1E"/>
          </a:solidFill>
          <a:ln/>
        </p:spPr>
      </p:sp>
      <p:sp>
        <p:nvSpPr>
          <p:cNvPr id="16"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7" name="step"/>
          <p:cNvSpPr txBox="1"/>
          <p:nvPr/>
        </p:nvSpPr>
        <p:spPr>
          <a:xfrm>
            <a:off x="6438748" y="3250184"/>
            <a:ext cx="506714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Link to the next event: this led to the Tsar ordering the army to restore order, and when soldiers refused and mutinied instead, he lost the only pillar still holding him up.</a:t>
            </a:r>
            <a:endParaRPr lang="en-US" sz="1800" dirty="0"/>
          </a:p>
        </p:txBody>
      </p:sp>
      <p:sp>
        <p:nvSpPr>
          <p:cNvPr id="18" name="worked-answer"/>
          <p:cNvSpPr/>
          <p:nvPr/>
        </p:nvSpPr>
        <p:spPr>
          <a:xfrm>
            <a:off x="1463040" y="5313680"/>
            <a:ext cx="9265615" cy="831088"/>
          </a:xfrm>
          <a:prstGeom prst="roundRect">
            <a:avLst>
              <a:gd name="adj" fmla="val 22005"/>
            </a:avLst>
          </a:prstGeom>
          <a:solidFill>
            <a:srgbClr val="EDE1CA"/>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Event with a date, evidence with a figure, an explanation of why it mattered, and a linking sentence that hands the narrative on to the next event.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Dual power: two governments in one country</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If you are asked why there was a second revolution in 1917, start here: dual power, Order Number One, and the decision to keep fighting.</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Tsar had gone, but Russia did not get one new government.</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Soviet's strength was simple: it spoke for the people who actually did things, and your lesson records its Order Number One, which told soldiers and workers not to obey any government order they disagreed with.</a:t>
            </a:r>
            <a:endParaRPr lang="en-US" sz="18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Provisional Government then made the decision that destroyed it.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The six moments of February</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Put your lesson's six key moments of the February Revolution in order.</a:t>
            </a:r>
            <a:endParaRPr lang="en-US" sz="2000" dirty="0"/>
          </a:p>
          <a:p>
            <a:pPr algn="l" indent="0" marL="0">
              <a:spcAft>
                <a:spcPts val="2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1800" dirty="0">
                <a:solidFill>
                  <a:srgbClr val="1E2229"/>
                </a:solidFill>
                <a:latin typeface="Calibri" pitchFamily="34" charset="0"/>
                <a:ea typeface="Calibri" pitchFamily="34" charset="-122"/>
                <a:cs typeface="Calibri" pitchFamily="34" charset="-120"/>
              </a:rPr>
              <a:t>Nicholas II abdicates, ending three hundred years of Romanov rule (15 March, New Style)</a:t>
            </a:r>
            <a:endParaRPr lang="en-US" sz="2000" dirty="0"/>
          </a:p>
          <a:p>
            <a:pPr algn="l" indent="0" marL="0">
              <a:spcAft>
                <a:spcPts val="2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1800" dirty="0">
                <a:solidFill>
                  <a:srgbClr val="1E2229"/>
                </a:solidFill>
                <a:latin typeface="Calibri" pitchFamily="34" charset="0"/>
                <a:ea typeface="Calibri" pitchFamily="34" charset="-122"/>
                <a:cs typeface="Calibri" pitchFamily="34" charset="-120"/>
              </a:rPr>
              <a:t>Mass strikes shut down Petrograd as the number of strikers reaches 250,000 (7 to 10 March, New Style)</a:t>
            </a:r>
            <a:endParaRPr lang="en-US" sz="2000" dirty="0"/>
          </a:p>
          <a:p>
            <a:pPr algn="l" indent="0" marL="0">
              <a:spcAft>
                <a:spcPts val="2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1800" dirty="0">
                <a:solidFill>
                  <a:srgbClr val="1E2229"/>
                </a:solidFill>
                <a:latin typeface="Calibri" pitchFamily="34" charset="0"/>
                <a:ea typeface="Calibri" pitchFamily="34" charset="-122"/>
                <a:cs typeface="Calibri" pitchFamily="34" charset="-120"/>
              </a:rPr>
              <a:t>The Petrograd Soviet of workers and soldiers takes control of the city (12 March, New Style)</a:t>
            </a:r>
            <a:endParaRPr lang="en-US" sz="2000" dirty="0"/>
          </a:p>
          <a:p>
            <a:pPr algn="l" indent="0" marL="0">
              <a:spcAft>
                <a:spcPts val="2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1800" dirty="0">
                <a:solidFill>
                  <a:srgbClr val="1E2229"/>
                </a:solidFill>
                <a:latin typeface="Calibri" pitchFamily="34" charset="0"/>
                <a:ea typeface="Calibri" pitchFamily="34" charset="-122"/>
                <a:cs typeface="Calibri" pitchFamily="34" charset="-120"/>
              </a:rPr>
              <a:t>Strikes begin across Petrograd over bread, conditions and the failing war (January to February 1917, Old Style)</a:t>
            </a:r>
            <a:endParaRPr lang="en-US" sz="2000" dirty="0"/>
          </a:p>
          <a:p>
            <a:pPr algn="l" indent="0" marL="0">
              <a:spcAft>
                <a:spcPts val="200"/>
              </a:spcAft>
              <a:buNone/>
            </a:pPr>
            <a:r>
              <a:rPr lang="en-US" sz="18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1800" dirty="0">
                <a:solidFill>
                  <a:srgbClr val="1E2229"/>
                </a:solidFill>
                <a:latin typeface="Calibri" pitchFamily="34" charset="0"/>
                <a:ea typeface="Calibri" pitchFamily="34" charset="-122"/>
                <a:cs typeface="Calibri" pitchFamily="34" charset="-120"/>
              </a:rPr>
              <a:t>The Duma sets up a Provisional Government, and the Tsar's orders are refused (10 to 12 March, New Style)</a:t>
            </a:r>
            <a:endParaRPr lang="en-US" sz="2000" dirty="0"/>
          </a:p>
          <a:p>
            <a:pPr algn="l" indent="0" marL="0">
              <a:spcAft>
                <a:spcPts val="200"/>
              </a:spcAft>
              <a:buNone/>
            </a:pPr>
            <a:r>
              <a:rPr lang="en-US" sz="1800" b="1" dirty="0">
                <a:solidFill>
                  <a:srgbClr val="B8862B"/>
                </a:solidFill>
                <a:latin typeface="Calibri" pitchFamily="34" charset="0"/>
                <a:ea typeface="Calibri" pitchFamily="34" charset="-122"/>
                <a:cs typeface="Calibri" pitchFamily="34" charset="-120"/>
              </a:rPr>
              <a:t>F   </a:t>
            </a:r>
            <a:pPr algn="l" indent="0" marL="0">
              <a:spcAft>
                <a:spcPts val="200"/>
              </a:spcAft>
              <a:buNone/>
            </a:pPr>
            <a:r>
              <a:rPr lang="en-US" sz="1800" dirty="0">
                <a:solidFill>
                  <a:srgbClr val="1E2229"/>
                </a:solidFill>
                <a:latin typeface="Calibri" pitchFamily="34" charset="0"/>
                <a:ea typeface="Calibri" pitchFamily="34" charset="-122"/>
                <a:cs typeface="Calibri" pitchFamily="34" charset="-120"/>
              </a:rPr>
              <a:t>The Putilov steel works strikes, and women march the next day for International Women's Day (7 to 8 March, New Style)</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Same task, three ways in: The six moments of February</a:t>
            </a:r>
            <a:endParaRPr lang="en-US" sz="26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The six moments of February</a:t>
            </a:r>
            <a:endParaRPr lang="en-US" sz="2000" dirty="0"/>
          </a:p>
        </p:txBody>
      </p:sp>
      <p:sp>
        <p:nvSpPr>
          <p:cNvPr id="12" name="col-Support"/>
          <p:cNvSpPr/>
          <p:nvPr/>
        </p:nvSpPr>
        <p:spPr>
          <a:xfrm>
            <a:off x="548640" y="2395728"/>
            <a:ext cx="5602443" cy="3749040"/>
          </a:xfrm>
          <a:prstGeom prst="roundRect">
            <a:avLst>
              <a:gd name="adj" fmla="val 1463"/>
            </a:avLst>
          </a:prstGeom>
          <a:solidFill>
            <a:srgbClr val="F2EDE9"/>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Every moment carries its dates in brackets. Read all six sets of dates first.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One moment is dated in January and February, so it comes first.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Then work through March in order: the seventh, then the tenth, then the twelfth, then the fifteenth.</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the story makes sense: strikes grow, the Tsar's orders fail, a soviet takes over, the Tsar goes.</a:t>
            </a:r>
            <a:endParaRPr lang="en-US" sz="1800" dirty="0"/>
          </a:p>
        </p:txBody>
      </p:sp>
      <p:sp>
        <p:nvSpPr>
          <p:cNvPr id="17" name="col-Core"/>
          <p:cNvSpPr/>
          <p:nvPr/>
        </p:nvSpPr>
        <p:spPr>
          <a:xfrm>
            <a:off x="6425403" y="2395728"/>
            <a:ext cx="2471666" cy="3749040"/>
          </a:xfrm>
          <a:prstGeom prst="roundRect">
            <a:avLst>
              <a:gd name="adj" fmla="val 2220"/>
            </a:avLst>
          </a:prstGeom>
          <a:solidFill>
            <a:srgbClr val="E2D7CE"/>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Use the dates in brackets, and remember they are New Style. Two moments begin on the seventh, and your lesson puts the Putilov strike first.</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7A4A1E"/>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which two of these six moments you could not leave out of a narrative account, and why the other four matter less.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A narrative paragraph on the events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Write a narrative account of the key events of the February 1917 Revolution. Write one paragraph of five to seven sentences, in order, linking each event to the next.</a:t>
            </a:r>
            <a:endParaRPr lang="en-US" sz="2600" dirty="0"/>
          </a:p>
          <a:p>
            <a:pPr algn="ctr" indent="0" marL="0">
              <a:buNone/>
            </a:pPr>
            <a:r>
              <a:rPr lang="en-US" sz="2400" dirty="0">
                <a:solidFill>
                  <a:srgbClr val="4A505C"/>
                </a:solidFill>
                <a:latin typeface="Calibri" pitchFamily="34" charset="0"/>
                <a:ea typeface="Calibri" pitchFamily="34" charset="-122"/>
                <a:cs typeface="Calibri" pitchFamily="34" charset="-120"/>
              </a:rPr>
              <a:t>Write in full sentences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Same task, three ways in: A narrative paragraph on the events</a:t>
            </a:r>
            <a:endParaRPr lang="en-US" sz="24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A narrative paragraph on the events</a:t>
            </a:r>
            <a:endParaRPr lang="en-US" sz="2000" dirty="0"/>
          </a:p>
        </p:txBody>
      </p:sp>
      <p:sp>
        <p:nvSpPr>
          <p:cNvPr id="12" name="col-Support"/>
          <p:cNvSpPr/>
          <p:nvPr/>
        </p:nvSpPr>
        <p:spPr>
          <a:xfrm>
            <a:off x="548640" y="2395728"/>
            <a:ext cx="5602443" cy="3749040"/>
          </a:xfrm>
          <a:prstGeom prst="roundRect">
            <a:avLst>
              <a:gd name="adj" fmla="val 1463"/>
            </a:avLst>
          </a:prstGeom>
          <a:solidFill>
            <a:srgbClr val="F2EDE9"/>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 1: The February Revolution began in Petrograd when...</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 2: give the Putilov strike and the women's march, with a date and its calendar.</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 3: This led to... Use the figure of 250,000 strikers.</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Sentences 4 and 5: As a result... the Tsar's orders were refused and the soldiers mutinied. Finish with the abdication.</a:t>
            </a:r>
            <a:endParaRPr lang="en-US" sz="1800" dirty="0"/>
          </a:p>
        </p:txBody>
      </p:sp>
      <p:sp>
        <p:nvSpPr>
          <p:cNvPr id="17" name="col-Core"/>
          <p:cNvSpPr/>
          <p:nvPr/>
        </p:nvSpPr>
        <p:spPr>
          <a:xfrm>
            <a:off x="6425403" y="2395728"/>
            <a:ext cx="2471666" cy="3749040"/>
          </a:xfrm>
          <a:prstGeom prst="roundRect">
            <a:avLst>
              <a:gd name="adj" fmla="val 2220"/>
            </a:avLst>
          </a:prstGeom>
          <a:solidFill>
            <a:srgbClr val="E2D7CE"/>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Four events is plenty. What matters is the joins: this led to, as a result, which meant that.</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7A4A1E"/>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Add one sentence explaining why your final event made a second revolution likely later in 1917.</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3049016"/>
          </a:xfrm>
          <a:prstGeom prst="rect">
            <a:avLst/>
          </a:prstGeom>
          <a:noFill/>
          <a:ln/>
        </p:spPr>
        <p:txBody>
          <a:bodyPr wrap="square" lIns="63500" tIns="63500" rIns="63500" bIns="63500" rtlCol="0" anchor="t"/>
          <a:lstStyle/>
          <a:p>
            <a:pPr algn="l" indent="0" marL="0">
              <a:spcAft>
                <a:spcPts val="1200"/>
              </a:spcAft>
              <a:buNone/>
            </a:pPr>
            <a:r>
              <a:rPr lang="en-US" sz="2200" b="1" dirty="0">
                <a:solidFill>
                  <a:srgbClr val="1E2229"/>
                </a:solidFill>
                <a:latin typeface="Calibri" pitchFamily="34" charset="0"/>
                <a:ea typeface="Calibri" pitchFamily="34" charset="-122"/>
                <a:cs typeface="Calibri" pitchFamily="34" charset="-120"/>
              </a:rPr>
              <a:t>Why was the Provisional Government weak from the moment it was created?</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It refused to govern until a new Tsar had been chosen</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It had no money, because the Tsar had taken the contents of the State Bank with him</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It was led by Vladimir Lenin, who did not want it to succeed</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It had to share power with the Petrograd Soviet, which told people to ignore orders it disagreed with</a:t>
            </a:r>
            <a:endParaRPr lang="en-US" sz="2200" dirty="0"/>
          </a:p>
        </p:txBody>
      </p:sp>
      <p:sp>
        <p:nvSpPr>
          <p:cNvPr id="11" name="exit-answer-box"/>
          <p:cNvSpPr/>
          <p:nvPr/>
        </p:nvSpPr>
        <p:spPr>
          <a:xfrm>
            <a:off x="2286000" y="5047488"/>
            <a:ext cx="7619695" cy="822960"/>
          </a:xfrm>
          <a:prstGeom prst="roundRect">
            <a:avLst>
              <a:gd name="adj" fmla="val 11111"/>
            </a:avLst>
          </a:prstGeom>
          <a:solidFill>
            <a:srgbClr val="F6F2EF"/>
          </a:solidFill>
          <a:ln w="12700">
            <a:solidFill>
              <a:srgbClr val="BDA58F"/>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(1 of 2): The six moments of February</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1463040" y="1389888"/>
            <a:ext cx="9265615"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16459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1691640" y="2167128"/>
            <a:ext cx="8808415" cy="3840480"/>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Strikes begin across Petrograd over bread, conditions and the failing war (January to February 1917, Old Style)  (D)</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The Putilov steel works strikes, and women march the next day for International Women's Day (7 to 8 March, New Style)  (F)</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Mass strikes shut down Petrograd as the number of strikers reaches 250,000 (7 to 10 March, New Style)  (B)</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The Duma sets up a Provisional Government, and the Tsar's orders are refused (10 to 12 March, New Style)  (E)</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The Petrograd Soviet of workers and soldiers takes control of the city (12 March, New Style)  (C)</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6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Nicholas II abdicates, ending three hundred years of Romanov rule (15 March, New Style)  (A)</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(2 of 2): The six moments of February</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why-panel"/>
          <p:cNvSpPr/>
          <p:nvPr/>
        </p:nvSpPr>
        <p:spPr>
          <a:xfrm>
            <a:off x="1463040" y="1389888"/>
            <a:ext cx="9265615" cy="4754880"/>
          </a:xfrm>
          <a:prstGeom prst="roundRect">
            <a:avLst>
              <a:gd name="adj" fmla="val 962"/>
            </a:avLst>
          </a:prstGeom>
          <a:solidFill>
            <a:srgbClr val="F2EDE9"/>
          </a:solidFill>
          <a:ln/>
        </p:spPr>
      </p:sp>
      <p:sp>
        <p:nvSpPr>
          <p:cNvPr id="8" name="why-hex"/>
          <p:cNvSpPr/>
          <p:nvPr/>
        </p:nvSpPr>
        <p:spPr>
          <a:xfrm>
            <a:off x="1645920" y="1572768"/>
            <a:ext cx="685800" cy="593903"/>
          </a:xfrm>
          <a:prstGeom prst="hexagon">
            <a:avLst/>
          </a:prstGeom>
          <a:solidFill>
            <a:srgbClr val="7A4A1E"/>
          </a:solidFill>
          <a:ln/>
        </p:spPr>
      </p:sp>
      <p:sp>
        <p:nvSpPr>
          <p:cNvPr id="9" name="why-hex-label"/>
          <p:cNvSpPr txBox="1"/>
          <p:nvPr/>
        </p:nvSpPr>
        <p:spPr>
          <a:xfrm>
            <a:off x="164592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0" name="why"/>
          <p:cNvSpPr txBox="1"/>
          <p:nvPr/>
        </p:nvSpPr>
        <p:spPr>
          <a:xfrm>
            <a:off x="1645920" y="2304288"/>
            <a:ext cx="889985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Strikes begin in January and February; Putilov and the women's march on 7 and 8 March, New Style; the general strike by 10 March; the Tsar's orders refused by 12 March; the Petrograd Soviet on 12 March; and the abdication on 15 March, New Style.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A narrative paragraph on the events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crit-head"/>
          <p:cNvSpPr txBox="1"/>
          <p:nvPr/>
        </p:nvSpPr>
        <p:spPr>
          <a:xfrm>
            <a:off x="548640" y="1389888"/>
            <a:ext cx="11094415" cy="50292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Success criteria: tick what you did</a:t>
            </a:r>
            <a:endParaRPr lang="en-US" sz="1800" dirty="0"/>
          </a:p>
        </p:txBody>
      </p:sp>
      <p:sp>
        <p:nvSpPr>
          <p:cNvPr id="8" name="crit-box"/>
          <p:cNvSpPr/>
          <p:nvPr/>
        </p:nvSpPr>
        <p:spPr>
          <a:xfrm>
            <a:off x="548640" y="1984248"/>
            <a:ext cx="11094415" cy="604317"/>
          </a:xfrm>
          <a:prstGeom prst="roundRect">
            <a:avLst>
              <a:gd name="adj" fmla="val 15131"/>
            </a:avLst>
          </a:prstGeom>
          <a:solidFill>
            <a:srgbClr val="F4F1ED"/>
          </a:solidFill>
          <a:ln/>
        </p:spPr>
      </p:sp>
      <p:sp>
        <p:nvSpPr>
          <p:cNvPr id="9" name="tickbox"/>
          <p:cNvSpPr/>
          <p:nvPr/>
        </p:nvSpPr>
        <p:spPr>
          <a:xfrm>
            <a:off x="713232" y="2140102"/>
            <a:ext cx="292608" cy="292608"/>
          </a:xfrm>
          <a:prstGeom prst="rect">
            <a:avLst/>
          </a:prstGeom>
          <a:solidFill>
            <a:srgbClr val="FFFFFF"/>
          </a:solidFill>
          <a:ln w="19050">
            <a:solidFill>
              <a:srgbClr val="7A4A1E"/>
            </a:solidFill>
            <a:prstDash val="solid"/>
          </a:ln>
        </p:spPr>
      </p:sp>
      <p:sp>
        <p:nvSpPr>
          <p:cNvPr id="10" name="crit"/>
          <p:cNvSpPr txBox="1"/>
          <p:nvPr/>
        </p:nvSpPr>
        <p:spPr>
          <a:xfrm>
            <a:off x="1143000" y="1984248"/>
            <a:ext cx="10317175" cy="60431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My events are in a clear order, and I state at least one date with its calendar named.</a:t>
            </a:r>
            <a:endParaRPr lang="en-US" sz="2200" dirty="0"/>
          </a:p>
        </p:txBody>
      </p:sp>
      <p:sp>
        <p:nvSpPr>
          <p:cNvPr id="11" name="crit-box"/>
          <p:cNvSpPr/>
          <p:nvPr/>
        </p:nvSpPr>
        <p:spPr>
          <a:xfrm>
            <a:off x="548640" y="2680005"/>
            <a:ext cx="11094415" cy="604317"/>
          </a:xfrm>
          <a:prstGeom prst="roundRect">
            <a:avLst>
              <a:gd name="adj" fmla="val 15131"/>
            </a:avLst>
          </a:prstGeom>
          <a:solidFill>
            <a:srgbClr val="F4F1ED"/>
          </a:solidFill>
          <a:ln/>
        </p:spPr>
      </p:sp>
      <p:sp>
        <p:nvSpPr>
          <p:cNvPr id="12" name="tickbox"/>
          <p:cNvSpPr/>
          <p:nvPr/>
        </p:nvSpPr>
        <p:spPr>
          <a:xfrm>
            <a:off x="713232" y="2835859"/>
            <a:ext cx="292608" cy="292608"/>
          </a:xfrm>
          <a:prstGeom prst="rect">
            <a:avLst/>
          </a:prstGeom>
          <a:solidFill>
            <a:srgbClr val="FFFFFF"/>
          </a:solidFill>
          <a:ln w="19050">
            <a:solidFill>
              <a:srgbClr val="7A4A1E"/>
            </a:solidFill>
            <a:prstDash val="solid"/>
          </a:ln>
        </p:spPr>
      </p:sp>
      <p:sp>
        <p:nvSpPr>
          <p:cNvPr id="13" name="crit"/>
          <p:cNvSpPr txBox="1"/>
          <p:nvPr/>
        </p:nvSpPr>
        <p:spPr>
          <a:xfrm>
            <a:off x="1143000" y="2680005"/>
            <a:ext cx="10317175" cy="60431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link each event to the next with a phrase such as this led to or as a result.</a:t>
            </a:r>
            <a:endParaRPr lang="en-US" sz="2200" dirty="0"/>
          </a:p>
        </p:txBody>
      </p:sp>
      <p:sp>
        <p:nvSpPr>
          <p:cNvPr id="14" name="crit-box"/>
          <p:cNvSpPr/>
          <p:nvPr/>
        </p:nvSpPr>
        <p:spPr>
          <a:xfrm>
            <a:off x="548640" y="3375762"/>
            <a:ext cx="11094415" cy="945185"/>
          </a:xfrm>
          <a:prstGeom prst="roundRect">
            <a:avLst>
              <a:gd name="adj" fmla="val 9674"/>
            </a:avLst>
          </a:prstGeom>
          <a:solidFill>
            <a:srgbClr val="F4F1ED"/>
          </a:solidFill>
          <a:ln/>
        </p:spPr>
      </p:sp>
      <p:sp>
        <p:nvSpPr>
          <p:cNvPr id="15" name="tickbox"/>
          <p:cNvSpPr/>
          <p:nvPr/>
        </p:nvSpPr>
        <p:spPr>
          <a:xfrm>
            <a:off x="713232" y="3702050"/>
            <a:ext cx="292608" cy="292608"/>
          </a:xfrm>
          <a:prstGeom prst="rect">
            <a:avLst/>
          </a:prstGeom>
          <a:solidFill>
            <a:srgbClr val="FFFFFF"/>
          </a:solidFill>
          <a:ln w="19050">
            <a:solidFill>
              <a:srgbClr val="7A4A1E"/>
            </a:solidFill>
            <a:prstDash val="solid"/>
          </a:ln>
        </p:spPr>
      </p:sp>
      <p:sp>
        <p:nvSpPr>
          <p:cNvPr id="16" name="crit"/>
          <p:cNvSpPr txBox="1"/>
          <p:nvPr/>
        </p:nvSpPr>
        <p:spPr>
          <a:xfrm>
            <a:off x="1143000" y="3375762"/>
            <a:ext cx="10317175" cy="94518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use specific knowledge, such as the Putilov strike, the figure of 250,000 strikers, or the soldiers' mutiny.</a:t>
            </a:r>
            <a:endParaRPr lang="en-US" sz="2200" dirty="0"/>
          </a:p>
        </p:txBody>
      </p:sp>
      <p:sp>
        <p:nvSpPr>
          <p:cNvPr id="17" name="crit-box"/>
          <p:cNvSpPr/>
          <p:nvPr/>
        </p:nvSpPr>
        <p:spPr>
          <a:xfrm>
            <a:off x="548640" y="4412386"/>
            <a:ext cx="11094415" cy="945185"/>
          </a:xfrm>
          <a:prstGeom prst="roundRect">
            <a:avLst>
              <a:gd name="adj" fmla="val 9674"/>
            </a:avLst>
          </a:prstGeom>
          <a:solidFill>
            <a:srgbClr val="F4F1ED"/>
          </a:solidFill>
          <a:ln/>
        </p:spPr>
      </p:sp>
      <p:sp>
        <p:nvSpPr>
          <p:cNvPr id="18" name="tickbox"/>
          <p:cNvSpPr/>
          <p:nvPr/>
        </p:nvSpPr>
        <p:spPr>
          <a:xfrm>
            <a:off x="713232" y="4738675"/>
            <a:ext cx="292608" cy="292608"/>
          </a:xfrm>
          <a:prstGeom prst="rect">
            <a:avLst/>
          </a:prstGeom>
          <a:solidFill>
            <a:srgbClr val="FFFFFF"/>
          </a:solidFill>
          <a:ln w="19050">
            <a:solidFill>
              <a:srgbClr val="7A4A1E"/>
            </a:solidFill>
            <a:prstDash val="solid"/>
          </a:ln>
        </p:spPr>
      </p:sp>
      <p:sp>
        <p:nvSpPr>
          <p:cNvPr id="19" name="crit"/>
          <p:cNvSpPr txBox="1"/>
          <p:nvPr/>
        </p:nvSpPr>
        <p:spPr>
          <a:xfrm>
            <a:off x="1143000" y="4412386"/>
            <a:ext cx="10317175" cy="94518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My last sentence links on to what came next, the abdication or the Provisional Government.</a:t>
            </a:r>
            <a:endParaRPr lang="en-US" sz="2200" dirty="0"/>
          </a:p>
        </p:txBody>
      </p:sp>
      <p:sp>
        <p:nvSpPr>
          <p:cNvPr id="20" name="crit-box"/>
          <p:cNvSpPr/>
          <p:nvPr/>
        </p:nvSpPr>
        <p:spPr>
          <a:xfrm>
            <a:off x="548640" y="5449011"/>
            <a:ext cx="11094415" cy="604317"/>
          </a:xfrm>
          <a:prstGeom prst="roundRect">
            <a:avLst>
              <a:gd name="adj" fmla="val 15131"/>
            </a:avLst>
          </a:prstGeom>
          <a:solidFill>
            <a:srgbClr val="F4F1ED"/>
          </a:solidFill>
          <a:ln/>
        </p:spPr>
      </p:sp>
      <p:sp>
        <p:nvSpPr>
          <p:cNvPr id="21" name="tickbox"/>
          <p:cNvSpPr/>
          <p:nvPr/>
        </p:nvSpPr>
        <p:spPr>
          <a:xfrm>
            <a:off x="713232" y="5604866"/>
            <a:ext cx="292608" cy="292608"/>
          </a:xfrm>
          <a:prstGeom prst="rect">
            <a:avLst/>
          </a:prstGeom>
          <a:solidFill>
            <a:srgbClr val="FFFFFF"/>
          </a:solidFill>
          <a:ln w="19050">
            <a:solidFill>
              <a:srgbClr val="7A4A1E"/>
            </a:solidFill>
            <a:prstDash val="solid"/>
          </a:ln>
        </p:spPr>
      </p:sp>
      <p:sp>
        <p:nvSpPr>
          <p:cNvPr id="22" name="crit"/>
          <p:cNvSpPr txBox="1"/>
          <p:nvPr/>
        </p:nvSpPr>
        <p:spPr>
          <a:xfrm>
            <a:off x="1143000" y="5449011"/>
            <a:ext cx="10317175" cy="60431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write about the people involved as people, not just as crowds and numbers.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Model answer: A narrative paragraph on the events</a:t>
            </a:r>
            <a:endParaRPr lang="en-US" sz="28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model-panel"/>
          <p:cNvSpPr/>
          <p:nvPr/>
        </p:nvSpPr>
        <p:spPr>
          <a:xfrm>
            <a:off x="1463040" y="1389888"/>
            <a:ext cx="9265615" cy="4754880"/>
          </a:xfrm>
          <a:prstGeom prst="roundRect">
            <a:avLst>
              <a:gd name="adj" fmla="val 962"/>
            </a:avLst>
          </a:prstGeom>
          <a:solidFill>
            <a:srgbClr val="F6F0E6"/>
          </a:solidFill>
          <a:ln w="19050">
            <a:solidFill>
              <a:srgbClr val="B8862B"/>
            </a:solidFill>
            <a:prstDash val="solid"/>
          </a:ln>
        </p:spPr>
      </p:sp>
      <p:sp>
        <p:nvSpPr>
          <p:cNvPr id="8" name="model-tab"/>
          <p:cNvSpPr/>
          <p:nvPr/>
        </p:nvSpPr>
        <p:spPr>
          <a:xfrm>
            <a:off x="1645920" y="1554480"/>
            <a:ext cx="201168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Model answer</a:t>
            </a:r>
            <a:endParaRPr lang="en-US" sz="1800" dirty="0"/>
          </a:p>
        </p:txBody>
      </p:sp>
      <p:sp>
        <p:nvSpPr>
          <p:cNvPr id="9" name="model"/>
          <p:cNvSpPr txBox="1"/>
          <p:nvPr/>
        </p:nvSpPr>
        <p:spPr>
          <a:xfrm>
            <a:off x="1691640" y="2167128"/>
            <a:ext cx="8808415" cy="38404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February Revolution began in Petrograd with strikes over bread, poor conditions and the failing war. On 7 March, New Style, workers at the huge Putilov steel works walked out, and the next day thousands of women joined the marches for International Women's Day, demanding bread and peace. This led to a general strike: within three days around 250,000 workers had stopped work, and industry and transport in the capital came to a halt. As a result the Tsar ordered the Duma to disband and the army to restore order, but both refused him, and soldiers began to mutiny and join the crowds instead. This left him with nothing to rule with, so when he tried to return to Petrograd and railway workers stopped his train, he agreed on 15 March, New Style, to abdicate. His brother Michael refused the throne, which ended three hundred years of Romanov rule and left the Provisional Government and the Petrograd Soviet sharing power.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Why was the Provisional Government weak from the moment it was created?</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It had to share power with the Petrograd Soviet, which told people to ignore orders it disagreed with</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Provisional Government held the title and the Petrograd Soviet held the loyalty of the workers and soldiers. Order Number One made that split official, and staying in the war in June 1917 made it fatal.</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2EDE9"/>
      </a:lt2>
      <a:accent1>
        <a:srgbClr val="7A4A1E"/>
      </a:accent1>
      <a:accent2>
        <a:srgbClr val="B8862B"/>
      </a:accent2>
      <a:accent3>
        <a:srgbClr val="AF9278"/>
      </a:accent3>
      <a:accent4>
        <a:srgbClr val="815E1E"/>
      </a:accent4>
      <a:accent5>
        <a:srgbClr val="4A505C"/>
      </a:accent5>
      <a:accent6>
        <a:srgbClr val="DCC395"/>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Russian Revolution · Chapter 4: February 1917: the Tsar falls</dc:title>
  <dc:subject>History · Year 9</dc:subject>
  <dc:creator>Dr Vitor Merissi de Carvalho</dc:creator>
  <cp:lastModifiedBy>Dr Vitor Merissi de Carvalho</cp:lastModifiedBy>
  <cp:revision>1</cp:revision>
  <dcterms:created xsi:type="dcterms:W3CDTF">2026-10-19T06:08:01Z</dcterms:created>
  <dcterms:modified xsi:type="dcterms:W3CDTF">2026-10-19T06:08:01Z</dcterms:modified>
</cp:coreProperties>
</file>