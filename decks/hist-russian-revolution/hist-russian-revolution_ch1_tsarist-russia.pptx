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d221bc0-c577-b5eb-00f3-0489db22c36a}">
          <p14:sldIdLst>
            <p14:sldId id="256"/>
          </p14:sldIdLst>
        </p14:section>
        <p14:section name="Gate" id="{49e2c375-6971-c517-af7c-0b88b9511e8d}">
          <p14:sldIdLst>
            <p14:sldId id="257"/>
            <p14:sldId id="258"/>
            <p14:sldId id="259"/>
          </p14:sldIdLst>
        </p14:section>
        <p14:section name="Pre-teach" id="{e5856b92-07f1-34a6-306c-eeaa5a8f5976}">
          <p14:sldIdLst>
            <p14:sldId id="260"/>
            <p14:sldId id="261"/>
          </p14:sldIdLst>
        </p14:section>
        <p14:section name="Read-along" id="{e9199eed-d2b1-a950-9b07-60822512c2a6}">
          <p14:sldIdLst>
            <p14:sldId id="262"/>
            <p14:sldId id="263"/>
          </p14:sldIdLst>
        </p14:section>
        <p14:section name="Teach" id="{25cddf84-1967-3549-aed9-388d2a50a789}">
          <p14:sldIdLst>
            <p14:sldId id="264"/>
            <p14:sldId id="265"/>
            <p14:sldId id="266"/>
            <p14:sldId id="267"/>
            <p14:sldId id="268"/>
            <p14:sldId id="269"/>
          </p14:sldIdLst>
        </p14:section>
        <p14:section name="Routes" id="{9fdf3316-8eb5-19b8-64e0-d58fa288466d}">
          <p14:sldIdLst>
            <p14:sldId id="270"/>
            <p14:sldId id="271"/>
            <p14:sldId id="272"/>
            <p14:sldId id="273"/>
          </p14:sldIdLst>
        </p14:section>
        <p14:section name="Close" id="{d1f91bda-cf06-8af4-994a-0d9980292831}">
          <p14:sldIdLst>
            <p14:sldId id="274"/>
          </p14:sldIdLst>
        </p14:section>
        <p14:section name="Answers" id="{fca2909e-de1e-4ee6-8e11-cd69aa03b708}">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Life in Tsarist Russia. What the Russian Empire was like in the 1800s, who the Romanovs and the Tsars were, how autocracy worked, and why so many Russians were unhappy before any revolution began.
This deck covers the department's lesson: 1 (Life in Tsarist Russia: What was life like in Tsarist Russia?).
Read the big question aloud: "To what extent did the Russian Revolution bring about change?"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the word autocrat mean?  →  A   A ruler who holds all the political power himself
2. The Romanov dynasty came to power in Russia in ___ and ruled for about three hundred years.  →  1613
3. Which three institutions did your lesson call the pillars of autocracy that held up the Tsar's power?  →  C   The army, the civil service and the Orthodox Church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the word autocrat mean?  →  A   A ruler who holds all the political power himself
2. The Romanov dynasty came to power in Russia in ___ and ruled for about three hundred years.  →  1613
3. Which three institutions did your lesson call the pillars of autocracy that held up the Tsar's power?  →  C   The army, the civil service and the Orthodox Church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A ruler who holds all the political power himself. An autocrat holds all the political power. Nicholas II could appoint or sack any minister and no law or parliament could stop him.
2. 1613. The Romanovs came to power in 1613 and the last Tsar abdicated in 1917, which is where your lesson's figure of three hundred years comes from.
3. C   The army, the civil service and the Orthodox Church. Nicholas relied on the army to enforce his will, the civil service to run the empire and the Orthodox Church to teach that he was chosen by God.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Tsar: the Russian word for king: the ruler of the Russian Empire. Example: "The Tsar ruled Russia without a parliament to answer to."
• autocrat: a ruler who holds all the political power himself. Example: "Nicholas II was an autocrat, so no law could limit what he decided."
• dynasty: a family that rules a country, passing power from parent to child. Example: "The Romanov dynasty held the Russian throne for three hundred years."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peasant: a person who worked the land, usually very poor. Example: "Most Russians were peasants who grew food on land they did not own."
• industrialisation: the building of factories, mines and railways. Example: "Industrialisation turned peasants into city workers in a single generation."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14:
1. In the 1800s the Russian Empire was the largest country in the world.
2. One family ruled it: the Romanovs.
3. They had come to power in 1613.
4. Their ruler was called the Tsar, the Russian word for king.
5. The Tsar was an autocrat.
6. That means one person held all the political power.
7. There was no elected parliament and no lawful way to challenge him.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8–14 of 14:
8. Three pillars held him up: the army, the civil service and the Orthodox Church.
9. About 85 per cent of Russians were peasants who farmed the land.
10. Most of them were very poor.
11. Nicholas II became Tsar in 1894.
12. He was a quiet family man who had never wanted the job.
13. When Russia built factories, a new group grew in the cities.
14. These workers had long hours, low pay and no voice either.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Russia in the 1800s: huge, cold and unequal. Say it in your own words, then check understanding with a quick question: ask a pupil from the pre-teach group first, since they met these words and ideas before the lesson. Pupils try to recall before you re-explain.
In the nineteenth century the Russian Empire was the largest country on earth. Your lesson asks you to look at a map and notice three things: its size, how far it reached, and how much of it was difficult land. The empire ran from Europe right across northern Asia. Your lesson gives the figure as roughly 95 times the area of the United Kingdom today.
Your bell work asks you to study a picture of the order of Russian society. At the top sat the Tsar and his family. Below them came the nobles who owned the land, the officers of the army and the leaders of the Orthodox Church. At the bottom, and far more numerous than everyone else put together, were the peasants. Your lesson says about 85 per cent of Russians were peasants.
The bell work also asks which system from Year 7 this looks like. The answer is the feudal system of medieval England: one ruler at the top, a small group of landowners below him, and a huge majority of farming people at the bottom with no say at all. Russia still looked like that centuries after England had changed.
Tip: If a question asks where power lay in Russia in the 1800s, answer with the shape of the pyramid: nearly all of it sat at the very top, and almost none at the 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Romanovs, the Tsars and autocracy. Say it in your own words, then check understanding with a quick question: ask a pupil from the pre-teach group first, since they met these words and ideas before the lesson. Pupils try to recall before you re-explain.
The Romanov dynasty came to power in 1613 and ruled until 1917: about three hundred years, which is the figure your lesson uses. A dynasty passes power down inside one family, so nobody chose the Tsar and nobody could vote him out.
The Tsar ruled as an autocrat. Autocracy means one person holds all the political power. Nicholas II could appoint or sack any minister he liked, and he believed, as the Orthodox Church taught, that God had chosen him to rule. Russia was therefore not a democracy. Your lesson puts it plainly: the country was run by one man who acted as a dictator.
To govern an empire that size, Nicholas leaned on what your lesson calls the three pillars of autocracy: the army, the civil service and the Orthodox Church. There was no elected parliament until 1905, there were no elections for government jobs, and there was no lawful method of challenging the Tsar's decisions.
Worked example — model it step by step, thinking aloud: Explain one reason why it was hard for people in Russia to change the way their country was run in 1900. (1) Make the point in one sentence: it was hard to change Russia because the Tsar was an autocrat who held all the political power. (2) Give the evidence from your lesson: there was no elected parliament before 1905, no elections for government posts, and no lawful way to challenge the Tsar. (3) Explain the link: if there is no parliament to vote in and no court to appeal to, the only ways left to push for change are protest, strikes or violence. (4) Finish with what this shows: it shows that autocracy itself was one of the causes of revolution, because it left people no peaceful route. Answer: Point, evidence, explain: the Tsar was an autocrat; there was no parliament, no elections and no legal challenge; so the only remaining routes were protest and force, which is why pressure built up instead of being settled..
Tip: Learn the three pillars as a list you can say in order: army, civil service, Church. Then add the missing fourth thing: no parliament.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Romanovs, the Tsars and autocracy. Say it in your own words, then check understanding with a quick question: ask a pupil from the pre-teach group first, since they met these words and ideas before the lesson. Pupils try to recall before you re-explain.
The Romanov dynasty came to power in 1613 and ruled until 1917: about three hundred years, which is the figure your lesson uses. A dynasty passes power down inside one family, so nobody chose the Tsar and nobody could vote him out.
The Tsar ruled as an autocrat. Autocracy means one person holds all the political power. Nicholas II could appoint or sack any minister he liked, and he believed, as the Orthodox Church taught, that God had chosen him to rule. Russia was therefore not a democracy. Your lesson puts it plainly: the country was run by one man who acted as a dictator.
To govern an empire that size, Nicholas leaned on what your lesson calls the three pillars of autocracy: the army, the civil service and the Orthodox Church. There was no elected parliament until 1905, there were no elections for government jobs, and there was no lawful method of challenging the Tsar's decisions.
Worked example — model it step by step, thinking aloud: Explain one reason why it was hard for people in Russia to change the way their country was run in 1900. (1) Make the point in one sentence: it was hard to change Russia because the Tsar was an autocrat who held all the political power. (2) Give the evidence from your lesson: there was no elected parliament before 1905, no elections for government posts, and no lawful way to challenge the Tsar. (3) Explain the link: if there is no parliament to vote in and no court to appeal to, the only ways left to push for change are protest, strikes or violence. (4) Finish with what this shows: it shows that autocracy itself was one of the causes of revolution, because it left people no peaceful route. Answer: Point, evidence, explain: the Tsar was an autocrat; there was no parliament, no elections and no legal challenge; so the only remaining routes were protest and force, which is why pressure built up instead of being settled..
Tip: Learn the three pillars as a list you can say in order: army, civil service, Church. Then add the missing fourth thing: no parliament.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Romanovs, the Tsars and autocracy. Say it in your own words, then check understanding with a quick question: ask a pupil from the pre-teach group first, since they met these words and ideas before the lesson. Pupils try to recall before you re-explain.
The Romanov dynasty came to power in 1613 and ruled until 1917: about three hundred years, which is the figure your lesson uses. A dynasty passes power down inside one family, so nobody chose the Tsar and nobody could vote him out.
The Tsar ruled as an autocrat. Autocracy means one person holds all the political power. Nicholas II could appoint or sack any minister he liked, and he believed, as the Orthodox Church taught, that God had chosen him to rule. Russia was therefore not a democracy. Your lesson puts it plainly: the country was run by one man who acted as a dictator.
To govern an empire that size, Nicholas leaned on what your lesson calls the three pillars of autocracy: the army, the civil service and the Orthodox Church. There was no elected parliament until 1905, there were no elections for government jobs, and there was no lawful method of challenging the Tsar's decisions.
Worked example — model it step by step, thinking aloud: Explain one reason why it was hard for people in Russia to change the way their country was run in 1900. (1) Make the point in one sentence: it was hard to change Russia because the Tsar was an autocrat who held all the political power. (2) Give the evidence from your lesson: there was no elected parliament before 1905, no elections for government posts, and no lawful way to challenge the Tsar. (3) Explain the link: if there is no parliament to vote in and no court to appeal to, the only ways left to push for change are protest, strikes or violence. (4) Finish with what this shows: it shows that autocracy itself was one of the causes of revolution, because it left people no peaceful route. Answer: Point, evidence, explain: the Tsar was an autocrat; there was no parliament, no elections and no legal challenge; so the only remaining routes were protest and force, which is why pressure built up instead of being settled..
Tip: Learn the three pillars as a list you can say in order: army, civil service, Church. Then add the missing fourth thing: no parliament.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Nicholas II: the man who did not want the throne. Say it in your own words, then check understanding with a quick question: ask a pupil from the pre-teach group first, since they met these words and ideas before the lesson. Pupils try to recall before you re-explain.
Nicholas II became Tsar in 1894, when his father died, and he was crowned in a great ceremony in 1896. Your lesson uses both dates, so be careful: he was already ruling from 1894, and the coronation two years later was the public ceremony that confirmed it.
Your lesson says something surprising about him. Nicholas never really wanted to rule. He was a quiet family man who would rather have lived in the countryside with his wife and children. He was Tsar only because he had been born into the Romanov dynasty, and a dynasty does not ask whether the next heir is any good at the job.
That is the weakness at the heart of autocracy. If one person holds every decision, everything depends on that person's judgement, and nobody can correct him. Your lesson's verdict is that Nicholas was extremely powerful but not a very good leader. Keep that in mind: it will matter in 1905, and it will matter even more in 1917.
Tip: Two dates, two different things: 1894 is when Nicholas became Tsar; 1896 is the coronation. Say which one you mean.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Factories, cities and a new group of unhappy people. Say it in your own words, then check understanding with a quick question: ask a pupil from the pre-teach group first, since they met these words and ideas before the lesson. Pupils try to recall before you re-explain.
Towards the end of the 1800s Russia began to industrialise. New factories, mines and railways were built, and the empire grew richer. Peasants left the villages to work in the cities, and within a generation Russia had something it had never had before: a large industrial working class.
Life for those workers was hard. They worked very long hours for very low pay and lived in cramped, unhealthy housing. They had left behind the poverty of the countryside and arrived at a different kind of poverty in the city.
Your lesson's extension question asks how making Russia richer could create more problems for the Tsar. Here is the answer. Peasant anger was spread thinly across thousands of villages. Factory anger was concentrated: thousands of people with the same complaint, in the same street, able to talk to each other and to stop work on the same morning. Industrialisation did not create the unhappiness, but it gave the unhappiness a way to organise.
Tip: When you write about causes, separate the social groups: peasants, city workers, middle classes, nobles. Each wanted something different, and that matters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Key words for Tsarist Russia.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key word to its meaning.
Support — work through the steps with the group: (1) Two of the five words are about how power is held. Which two? (2) One word is a job title, one is a family, and one is a social group. (3) Start with the word you are surest of and cross off its meaning. (4) Check the last pair makes sense when you read it aloud.
Parallel worked example for Support (model it, do not give the task answer): Match these Year 7 words: monarch, baron, villein. Meanings: a peasant tied to a lord's land; a king or queen; a great landowner who served the king. Monarch is the ruler, so that is the king or queen.; A baron held land from the king, so that is the great landowner.; The villein is the farming person at the bottom.. Answer: Monarch: a king or queen. Baron: a great landowner who served the king. Villein: a peasant tied to a lord's land..
Core — reveal the hint only on request: Autocracy is a system, a dynasty is a family, and a Tsar is one person. Sort them by what kind of thing each word names.
Stretch — no help; when finished: Explain how the Orthodox Church helped the Tsar stay in power, and why losing the Church's support would have been dangerous for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Key words for Tsarist Russia.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key word to its meaning.
Support — work through the steps with the group: (1) Two of the five words are about how power is held. Which two? (2) One word is a job title, one is a family, and one is a social group. (3) Start with the word you are surest of and cross off its meaning. (4) Check the last pair makes sense when you read it aloud.
Parallel worked example for Support (model it, do not give the task answer): Match these Year 7 words: monarch, baron, villein. Meanings: a peasant tied to a lord's land; a king or queen; a great landowner who served the king. Monarch is the ruler, so that is the king or queen.; A baron held land from the king, so that is the great landowner.; The villein is the farming person at the bottom.. Answer: Monarch: a king or queen. Baron: a great landowner who served the king. Villein: a peasant tied to a lord's land..
Core — reveal the hint only on request: Autocracy is a system, a dynasty is a family, and a Tsar is one person. Sort them by what kind of thing each word names.
Stretch — no help; when finished: Explain how the Orthodox Church helped the Tsar stay in power, and why losing the Church's support would have been dangerous for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were the people of Russia unhappy?.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many people in Russia were unhappy with the way their country was ruled in 1900. Write one paragraph of four to six sentences.
Support — work through the steps with the group: (1) Sentence 1: By 1900 many groups in Russia were unhappy. (2) Sentence 2: pick the peasants. What did they not own, and how poor were they? (3) Sentence 3: pick the city workers. What were their hours, pay and housing like? (4) Last sentence: explain that there was no parliament and no lawful way to complain, so nothing was ever settled.
Parallel worked example for Support (model it, do not give the task answer): Explain why many people in medieval England were unhappy with the feudal system. Write one paragraph. Name a group: the villeins, who farmed land they did not own.; Give a detail: they owed days of work to the lord and could not leave the manor.; Name a second group: the barons, who resented a king who ignored them.; Finish: there was no way for an ordinary person to appeal against a lord.. Answer: Two groups, each with a detail, and a closing point about having no way to appeal..
Core — reveal the hint only on request: Two groups at least, one detail each, then the point that matters most: there was no parliament and no lawful route to change.
Stretch — no help; when finished: Explain which group you think was the most dangerous to the Tsar in 1900, and give one reason for your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Why were the people of Russia unhappy?.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why many people in Russia were unhappy with the way their country was ruled in 1900. Write one paragraph of four to six sentences.
Support — work through the steps with the group: (1) Sentence 1: By 1900 many groups in Russia were unhappy. (2) Sentence 2: pick the peasants. What did they not own, and how poor were they? (3) Sentence 3: pick the city workers. What were their hours, pay and housing like? (4) Last sentence: explain that there was no parliament and no lawful way to complain, so nothing was ever settled.
Parallel worked example for Support (model it, do not give the task answer): Explain why many people in medieval England were unhappy with the feudal system. Write one paragraph. Name a group: the villeins, who farmed land they did not own.; Give a detail: they owed days of work to the lord and could not leave the manor.; Name a second group: the barons, who resented a king who ignored them.; Finish: there was no way for an ordinary person to appeal against a lord.. Answer: Two groups, each with a detail, and a closing point about having no way to appeal..
Core — reveal the hint only on request: Two groups at least, one detail each, then the point that matters most: there was no parliament and no lawful route to change.
Stretch — no help; when finished: Explain which group you think was the most dangerous to the Tsar in 1900, and give one reason for your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Russia built factories and railways at the end of the 1800s and grew richer. Why did this create a new problem for the Tsar?
Answer: B   It gathered a large working class into the cities, where they could organise strikes together. Industrialisation made Russia richer and the Tsar's position weaker at the same time, because it turned scattered discontent into a concentrated, organised working class. That working class is who marches in 1905 and strikes in 1917.
Source of this question: module 3 task ("Richer, and more dangerous") from the manifest.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Key words for Tsarist Russia. Reveal the answer; pupils mark their own work in a different colour, then read the "why" together. Same destination for every lane, so one answer serves the whole class.
Answer: Tsar  →  A  The Russian word for king: the ruler of the Russian Empire; Autocracy  →  E  A system in which one person holds all the political power; Dynasty  →  D  A family that rules a country, passing power from parent to child; Peasant  →  B  A person who worked the land, usually very poor; Orthodox Church  →  C  The Church that taught Russians their ruler was chosen by God
Why: A Tsar is the ruler; autocracy is the system he ruled under; a dynasty is the family that handed the throne down; a peasant is one of the millions at the bottom; and the Orthodox Church taught that the whole arrangement came from God.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were the people of Russia unhappy?. Reveal the answer; pupils mark their own work in a different colour, then read the "why" together. Same destination for every lane, so one answer serves the whole class.
Answer: I name at least two groups of people and say what each one was unhappy about.; I use the word autocracy or autocrat correctly, and explain what it meant for ordinary people.; I support a point with a detail from the chapter, such as the 85 per cent figure or the lack of a parliament.; I finish by linking the unhappiness to the lack of any peaceful way to change things.
Why: A strong answer names more than one group, gives each a specific grievance, and ends on the structural point: autocracy left no peaceful route for any of them, so the pressure had nowhere to go.
Model answer: By 1900 many different groups in Russia were unhappy, and for different reasons. About 85 per cent of Russians were peasants who worked land they did not own and lived in deep poverty, so they resented the landowners and the taxes they had to pay. In the cities a newer group, the industrial workers, had arrived from the villages to find long hours, low pay and cramped housing. Even wealthier Russians were frustrated, because Nicholas II ruled as an autocrat and did not have to listen to anyone's opinion but his own. The most important point is that there was no elected parliament before 1905 and no lawful way to challenge the Tsar, so people with a complaint had nowhere to take it. That is why the unhappiness built up instead of being settled.
Success criteria: I name at least two groups of people and say what each one was unhappy about.; I use the word autocracy or autocrat correctly, and explain what it meant for ordinary people.; I support a point with a detail from the chapter, such as the 85 per cent figure or the lack of a parliament.; I finish by linking the unhappiness to the lack of any peaceful way to change things.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Why were the people of Russia unhappy?. Reveal the answer; pupils mark their own work in a different colour, then read the "why" together. Same destination for every lane, so one answer serves the whole class.
Answer: I name at least two groups of people and say what each one was unhappy about.; I use the word autocracy or autocrat correctly, and explain what it meant for ordinary people.; I support a point with a detail from the chapter, such as the 85 per cent figure or the lack of a parliament.; I finish by linking the unhappiness to the lack of any peaceful way to change things.
Why: A strong answer names more than one group, gives each a specific grievance, and ends on the structural point: autocracy left no peaceful route for any of them, so the pressure had nowhere to go.
Model answer: By 1900 many different groups in Russia were unhappy, and for different reasons. About 85 per cent of Russians were peasants who worked land they did not own and lived in deep poverty, so they resented the landowners and the taxes they had to pay. In the cities a newer group, the industrial workers, had arrived from the villages to find long hours, low pay and cramped housing. Even wealthier Russians were frustrated, because Nicholas II ruled as an autocrat and did not have to listen to anyone's opinion but his own. The most important point is that there was no elected parliament before 1905 and no lawful way to challenge the Tsar, so people with a complaint had nowhere to take it. That is why the unhappiness built up instead of being settled.
Success criteria: I name at least two groups of people and say what each one was unhappy about.; I use the word autocracy or autocrat correctly, and explain what it meant for ordinary people.; I support a point with a detail from the chapter, such as the 85 per cent figure or the lack of a parliament.; I finish by linking the unhappiness to the lack of any peaceful way to change things.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It gathered a large working class into the cities, where they could organise strikes together
Why: Industrialisation made Russia richer and the Tsar's position weaker at the same time, because it turned scattered discontent into a concentrated, organised working class. That working class is who marches in 1905 and strikes in 1917.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Russian Revolution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The Russian Revolution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The Russian Revolution · AQA KS3 → 8145</a:t>
            </a:r>
            <a:endParaRPr lang="en-US" sz="1800" dirty="0"/>
          </a:p>
        </p:txBody>
      </p:sp>
      <p:sp>
        <p:nvSpPr>
          <p:cNvPr id="10" name="deck-title"/>
          <p:cNvSpPr txBox="1"/>
          <p:nvPr/>
        </p:nvSpPr>
        <p:spPr>
          <a:xfrm>
            <a:off x="548640" y="2723388"/>
            <a:ext cx="5287975" cy="787400"/>
          </a:xfrm>
          <a:prstGeom prst="rect">
            <a:avLst/>
          </a:prstGeom>
          <a:noFill/>
          <a:ln/>
        </p:spPr>
        <p:txBody>
          <a:bodyPr wrap="square" lIns="63500" tIns="63500" rIns="63500" bIns="63500" rtlCol="0" anchor="t"/>
          <a:lstStyle/>
          <a:p>
            <a:pPr algn="l" indent="0" marL="0">
              <a:buNone/>
            </a:pPr>
            <a:r>
              <a:rPr lang="en-US" sz="4000" b="1" dirty="0">
                <a:solidFill>
                  <a:srgbClr val="1E2229"/>
                </a:solidFill>
                <a:latin typeface="Cambria" pitchFamily="34" charset="0"/>
                <a:ea typeface="Cambria" pitchFamily="34" charset="-122"/>
                <a:cs typeface="Cambria" pitchFamily="34" charset="-120"/>
              </a:rPr>
              <a:t>Life in Tsarist Russia</a:t>
            </a:r>
            <a:endParaRPr lang="en-US" sz="4000" dirty="0"/>
          </a:p>
        </p:txBody>
      </p:sp>
      <p:sp>
        <p:nvSpPr>
          <p:cNvPr id="11" name="lessons-card"/>
          <p:cNvSpPr/>
          <p:nvPr/>
        </p:nvSpPr>
        <p:spPr>
          <a:xfrm>
            <a:off x="548640" y="3739388"/>
            <a:ext cx="5287975" cy="980440"/>
          </a:xfrm>
          <a:prstGeom prst="roundRect">
            <a:avLst>
              <a:gd name="adj" fmla="val 7461"/>
            </a:avLst>
          </a:prstGeom>
          <a:solidFill>
            <a:srgbClr val="F2EDE9"/>
          </a:solidFill>
          <a:ln/>
        </p:spPr>
      </p:sp>
      <p:sp>
        <p:nvSpPr>
          <p:cNvPr id="12" name="lessons"/>
          <p:cNvSpPr txBox="1"/>
          <p:nvPr/>
        </p:nvSpPr>
        <p:spPr>
          <a:xfrm>
            <a:off x="685800" y="383082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Life in Tsarist Russia</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To what extent did the Russian Revolution bring about change?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does the word autocrat mean?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ruler who holds all the political power himself</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king who must obey a written set of laws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government made up of several political parties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ruler elected by the people every few years</a:t>
            </a:r>
            <a:endParaRPr lang="en-US" sz="22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The Romanov dynasty came to power in Russia in ___ and ruled for about three hundred years.</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1613  ·  1894  ·  1905</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three institutions did your lesson call the pillars of autocracy that held up the Tsar's power?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nobles, the merchants and the peasants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Duma, the courts and the newspapers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army, the civil service and the Orthodox Church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navy, the railways and the banks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DE1CA"/>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ruler who holds all the political power himself</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An autocrat holds all the political power. Nicholas II could appoint or sack any minister and no law or parliament could stop him.</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1613</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The Romanovs came to power in 1613 and the last Tsar abdicated in 1917, which is where your lesson's figure of three hundred years comes from.</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295908"/>
          </a:xfrm>
          <a:prstGeom prst="roundRect">
            <a:avLst>
              <a:gd name="adj" fmla="val 8467"/>
            </a:avLst>
          </a:prstGeom>
          <a:solidFill>
            <a:srgbClr val="EDE1CA"/>
          </a:solidFill>
          <a:ln w="19050">
            <a:solidFill>
              <a:srgbClr val="B8862B"/>
            </a:solidFill>
            <a:prstDash val="solid"/>
          </a:ln>
        </p:spPr>
      </p:sp>
      <p:sp>
        <p:nvSpPr>
          <p:cNvPr id="26" name="answer"/>
          <p:cNvSpPr txBox="1"/>
          <p:nvPr/>
        </p:nvSpPr>
        <p:spPr>
          <a:xfrm>
            <a:off x="8402117"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The army, the civil service and the Orthodox Church</a:t>
            </a:r>
            <a:endParaRPr lang="en-US" sz="2200" dirty="0"/>
          </a:p>
        </p:txBody>
      </p:sp>
      <p:sp>
        <p:nvSpPr>
          <p:cNvPr id="27" name="card-body"/>
          <p:cNvSpPr txBox="1"/>
          <p:nvPr/>
        </p:nvSpPr>
        <p:spPr>
          <a:xfrm>
            <a:off x="8310677" y="3834465"/>
            <a:ext cx="3149498" cy="2173143"/>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Nicholas relied on the army to enforce his will, the civil service to run the empire and the Orthodox Church to teach that he was chosen by God.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Tsar</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Russian word for king: the ruler of the Russian Empire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Tsar ruled Russia without a parliament to answer to.</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autocrat</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ruler who holds all the political power himself</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Nicholas II was an autocrat, so no law could limit what he decided.</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dynasty</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family that rules a country, passing power from parent to child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Romanov dynasty held the Russian throne for three hundred years.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peasant</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person who worked the land, usually very poor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Most Russians were peasants who grew food on land they did not own.</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industrialisation</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building of factories, mines and railways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Industrialisation turned peasants into city workers in a single generation.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1800s the Russian Empire was the largest country in the world.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One family ruled it: the Romanovs.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They had come to power in 1613.</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Their ruler was called 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Tsar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the Russian word for king.</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Tsar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was an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autocrat</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That means one person held all the political power.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was no elected parliament and no lawful way to challenge him.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Three pillars held him up: the army, the civil service and the Orthodox Church.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About 85 per cent of Russians were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peasants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who farmed the land.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Most of them were very poor.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Nicholas II became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Tsar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in 1894.</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 was a quiet family man who had never wanted the job.</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Russia built factories, a new group grew in the cities.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These workers had long hours, low pay and no voice either.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Russia in the 1800s: huge, cold and unequal</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If a question asks where power lay in Russia in the 1800s, answer with the shape of the pyramid: nearly all of it sat at the very top, and almost none at the bottom.</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 the nineteenth century the Russian Empire was the largest country on earth.</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bell work asks you to study a picture of the order of Russian society.</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bell work also asks which system from Year 7 this looks like.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Romanovs, the Tsars and autocracy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three pillars as a list you can say in order: army, civil service, Church. Then add the missing fourth thing: no parliament.</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Romanov dynasty came to power in 1613 and ruled until 1917: about three hundred years, which is the figure your lesson uses.</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The Tsar ruled as an autocrat. Autocracy means one person holds all the political power.</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To govern an empire that size, Nicholas leaned on what your lesson calls the three pillars of autocracy: the army, the civil service and the Orthodox Church.</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(1 of 2): The Romanovs, the Tsars and autocracy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reason why it was hard for people in Russia to change the way their country was run in 1900.</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Make the point in one sentence: it was hard to change Russia because the Tsar was an autocrat who held all the political power.</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Give the evidence from your lesson: there was no elected parliament before 1905, no elections for government posts, and no lawful way to challenge the Tsar.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Worked example (2 of 2): The Romanovs, the Tsars and autocracy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F2ED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Explain one reason why it was hard for people in Russia to change the way their country was run in 1900.</a:t>
            </a:r>
            <a:endParaRPr lang="en-US" sz="2200" dirty="0"/>
          </a:p>
        </p:txBody>
      </p:sp>
      <p:sp>
        <p:nvSpPr>
          <p:cNvPr id="9" name="step-box"/>
          <p:cNvSpPr/>
          <p:nvPr/>
        </p:nvSpPr>
        <p:spPr>
          <a:xfrm>
            <a:off x="548640" y="2655824"/>
            <a:ext cx="5341468" cy="1974088"/>
          </a:xfrm>
          <a:prstGeom prst="roundRect">
            <a:avLst>
              <a:gd name="adj" fmla="val 3706"/>
            </a:avLst>
          </a:prstGeom>
          <a:solidFill>
            <a:srgbClr val="FFFFFF"/>
          </a:solidFill>
          <a:ln w="15875">
            <a:solidFill>
              <a:srgbClr val="B69B83"/>
            </a:solidFill>
            <a:prstDash val="solid"/>
          </a:ln>
        </p:spPr>
      </p:sp>
      <p:sp>
        <p:nvSpPr>
          <p:cNvPr id="10" name="step-hex"/>
          <p:cNvSpPr/>
          <p:nvPr/>
        </p:nvSpPr>
        <p:spPr>
          <a:xfrm>
            <a:off x="685800" y="2765552"/>
            <a:ext cx="530352" cy="459285"/>
          </a:xfrm>
          <a:prstGeom prst="hexagon">
            <a:avLst/>
          </a:prstGeom>
          <a:solidFill>
            <a:srgbClr val="7A4A1E"/>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step"/>
          <p:cNvSpPr txBox="1"/>
          <p:nvPr/>
        </p:nvSpPr>
        <p:spPr>
          <a:xfrm>
            <a:off x="685800"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Explain the link: if there is no parliament to vote in and no court to appeal to, the only ways left to push for change are protest, strikes or violence.</a:t>
            </a:r>
            <a:endParaRPr lang="en-US" sz="1800" dirty="0"/>
          </a:p>
        </p:txBody>
      </p:sp>
      <p:sp>
        <p:nvSpPr>
          <p:cNvPr id="13" name="arrow"/>
          <p:cNvSpPr/>
          <p:nvPr/>
        </p:nvSpPr>
        <p:spPr>
          <a:xfrm>
            <a:off x="5963260" y="3505708"/>
            <a:ext cx="274320" cy="274320"/>
          </a:xfrm>
          <a:prstGeom prst="rightArrow">
            <a:avLst/>
          </a:prstGeom>
          <a:solidFill>
            <a:srgbClr val="B8862B"/>
          </a:solidFill>
          <a:ln/>
        </p:spPr>
      </p:sp>
      <p:sp>
        <p:nvSpPr>
          <p:cNvPr id="14" name="step-box"/>
          <p:cNvSpPr/>
          <p:nvPr/>
        </p:nvSpPr>
        <p:spPr>
          <a:xfrm>
            <a:off x="6301588" y="2655824"/>
            <a:ext cx="5341468" cy="1974088"/>
          </a:xfrm>
          <a:prstGeom prst="roundRect">
            <a:avLst>
              <a:gd name="adj" fmla="val 3706"/>
            </a:avLst>
          </a:prstGeom>
          <a:solidFill>
            <a:srgbClr val="FFFFFF"/>
          </a:solidFill>
          <a:ln w="15875">
            <a:solidFill>
              <a:srgbClr val="B69B83"/>
            </a:solidFill>
            <a:prstDash val="solid"/>
          </a:ln>
        </p:spPr>
      </p:sp>
      <p:sp>
        <p:nvSpPr>
          <p:cNvPr id="15" name="step-hex"/>
          <p:cNvSpPr/>
          <p:nvPr/>
        </p:nvSpPr>
        <p:spPr>
          <a:xfrm>
            <a:off x="6438748" y="2765552"/>
            <a:ext cx="530352" cy="459285"/>
          </a:xfrm>
          <a:prstGeom prst="hexagon">
            <a:avLst/>
          </a:prstGeom>
          <a:solidFill>
            <a:srgbClr val="7A4A1E"/>
          </a:solidFill>
          <a:ln/>
        </p:spPr>
      </p:sp>
      <p:sp>
        <p:nvSpPr>
          <p:cNvPr id="16"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7" name="step"/>
          <p:cNvSpPr txBox="1"/>
          <p:nvPr/>
        </p:nvSpPr>
        <p:spPr>
          <a:xfrm>
            <a:off x="6438748" y="3250184"/>
            <a:ext cx="5067148" cy="128828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Finish with what this shows: it shows that autocracy itself was one of the causes of revolution, because it left people no peaceful route.</a:t>
            </a:r>
            <a:endParaRPr lang="en-US" sz="1800" dirty="0"/>
          </a:p>
        </p:txBody>
      </p:sp>
      <p:sp>
        <p:nvSpPr>
          <p:cNvPr id="18" name="worked-answer"/>
          <p:cNvSpPr/>
          <p:nvPr/>
        </p:nvSpPr>
        <p:spPr>
          <a:xfrm>
            <a:off x="1463040" y="5034788"/>
            <a:ext cx="9265615" cy="1109980"/>
          </a:xfrm>
          <a:prstGeom prst="roundRect">
            <a:avLst>
              <a:gd name="adj" fmla="val 16476"/>
            </a:avLst>
          </a:prstGeom>
          <a:solidFill>
            <a:srgbClr val="EDE1CA"/>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Point, evidence, explain: the Tsar was an autocrat; there was no parliament, no elections and no legal challenge; so the only remaining routes were protest and force, which is why pressure built up instead of being settled.</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000" b="1" dirty="0">
                <a:solidFill>
                  <a:srgbClr val="7A4A1E"/>
                </a:solidFill>
                <a:latin typeface="Cambria" pitchFamily="34" charset="0"/>
                <a:ea typeface="Cambria" pitchFamily="34" charset="-122"/>
                <a:cs typeface="Cambria" pitchFamily="34" charset="-120"/>
              </a:rPr>
              <a:t>Nicholas II: the man who did not want the throne</a:t>
            </a:r>
            <a:endParaRPr lang="en-US" sz="30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Two dates, two different things: 1894 is when Nicholas became Tsar; 1896 is the coronation. Say which one you mean.</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Nicholas II became Tsar in 1894, when his father died, and he was crowned in a great ceremony in 1896.</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Your lesson says something surprising about him. Nicholas never really wanted to rule.</a:t>
            </a:r>
            <a:endParaRPr lang="en-US" sz="22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That is the weakness at the heart of autocracy. If one person holds every decision, everything depends on that person's judgement, and nobody can correct him.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Factories, cities and a new group of unhappy people</a:t>
            </a:r>
            <a:endParaRPr lang="en-US" sz="28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When you write about causes, separate the social groups: peasants, city workers, middle classes, nobles. Each wanted something different, and that matters later.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Towards the end of the 1800s Russia began to industrialise.</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Life for those workers was hard. They worked very long hours for very low pay and lived in cramped, unhealthy housing.</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Your lesson's extension question asks how making Russia richer could create more problems for the Tsar.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Key words for Tsarist Russia</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key word to its meaning.</a:t>
            </a:r>
            <a:endParaRPr lang="en-US" sz="2400" dirty="0"/>
          </a:p>
        </p:txBody>
      </p:sp>
      <p:sp>
        <p:nvSpPr>
          <p:cNvPr id="11" name="match-card"/>
          <p:cNvSpPr/>
          <p:nvPr/>
        </p:nvSpPr>
        <p:spPr>
          <a:xfrm>
            <a:off x="777240" y="2468331"/>
            <a:ext cx="3081437" cy="509735"/>
          </a:xfrm>
          <a:prstGeom prst="roundRect">
            <a:avLst>
              <a:gd name="adj" fmla="val 14351"/>
            </a:avLst>
          </a:prstGeom>
          <a:solidFill>
            <a:srgbClr val="F4F1ED"/>
          </a:solidFill>
          <a:ln/>
        </p:spPr>
      </p:sp>
      <p:sp>
        <p:nvSpPr>
          <p:cNvPr id="12" name="match-hex"/>
          <p:cNvSpPr/>
          <p:nvPr/>
        </p:nvSpPr>
        <p:spPr>
          <a:xfrm>
            <a:off x="850392" y="2556906"/>
            <a:ext cx="384048" cy="332586"/>
          </a:xfrm>
          <a:prstGeom prst="hexagon">
            <a:avLst/>
          </a:prstGeom>
          <a:solidFill>
            <a:srgbClr val="7A4A1E"/>
          </a:solidFill>
          <a:ln/>
        </p:spPr>
      </p:sp>
      <p:sp>
        <p:nvSpPr>
          <p:cNvPr id="13" name="match-hex-label"/>
          <p:cNvSpPr txBox="1"/>
          <p:nvPr/>
        </p:nvSpPr>
        <p:spPr>
          <a:xfrm>
            <a:off x="850392" y="25569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Tsar</a:t>
            </a:r>
            <a:endParaRPr lang="en-US" sz="2000" dirty="0"/>
          </a:p>
        </p:txBody>
      </p:sp>
      <p:sp>
        <p:nvSpPr>
          <p:cNvPr id="15" name="match-card"/>
          <p:cNvSpPr/>
          <p:nvPr/>
        </p:nvSpPr>
        <p:spPr>
          <a:xfrm>
            <a:off x="4224437" y="2468331"/>
            <a:ext cx="7190019" cy="509735"/>
          </a:xfrm>
          <a:prstGeom prst="roundRect">
            <a:avLst>
              <a:gd name="adj" fmla="val 14351"/>
            </a:avLst>
          </a:prstGeom>
          <a:solidFill>
            <a:srgbClr val="F6F0E6"/>
          </a:solidFill>
          <a:ln/>
        </p:spPr>
      </p:sp>
      <p:sp>
        <p:nvSpPr>
          <p:cNvPr id="16" name="match-hex"/>
          <p:cNvSpPr/>
          <p:nvPr/>
        </p:nvSpPr>
        <p:spPr>
          <a:xfrm>
            <a:off x="4297589" y="2556906"/>
            <a:ext cx="384048" cy="332586"/>
          </a:xfrm>
          <a:prstGeom prst="hexagon">
            <a:avLst/>
          </a:prstGeom>
          <a:solidFill>
            <a:srgbClr val="B8862B"/>
          </a:solidFill>
          <a:ln/>
        </p:spPr>
      </p:sp>
      <p:sp>
        <p:nvSpPr>
          <p:cNvPr id="17" name="match-hex-label"/>
          <p:cNvSpPr txBox="1"/>
          <p:nvPr/>
        </p:nvSpPr>
        <p:spPr>
          <a:xfrm>
            <a:off x="4297589" y="2556906"/>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Russian word for king: the ruler of the Russian Empire</a:t>
            </a:r>
            <a:endParaRPr lang="en-US" sz="2000" dirty="0"/>
          </a:p>
        </p:txBody>
      </p:sp>
      <p:sp>
        <p:nvSpPr>
          <p:cNvPr id="19" name="match-card"/>
          <p:cNvSpPr/>
          <p:nvPr/>
        </p:nvSpPr>
        <p:spPr>
          <a:xfrm>
            <a:off x="777240" y="3069507"/>
            <a:ext cx="3081437" cy="509735"/>
          </a:xfrm>
          <a:prstGeom prst="roundRect">
            <a:avLst>
              <a:gd name="adj" fmla="val 14351"/>
            </a:avLst>
          </a:prstGeom>
          <a:solidFill>
            <a:srgbClr val="F4F1ED"/>
          </a:solidFill>
          <a:ln/>
        </p:spPr>
      </p:sp>
      <p:sp>
        <p:nvSpPr>
          <p:cNvPr id="20" name="match-hex"/>
          <p:cNvSpPr/>
          <p:nvPr/>
        </p:nvSpPr>
        <p:spPr>
          <a:xfrm>
            <a:off x="850392" y="3158082"/>
            <a:ext cx="384048" cy="332586"/>
          </a:xfrm>
          <a:prstGeom prst="hexagon">
            <a:avLst/>
          </a:prstGeom>
          <a:solidFill>
            <a:srgbClr val="7A4A1E"/>
          </a:solidFill>
          <a:ln/>
        </p:spPr>
      </p:sp>
      <p:sp>
        <p:nvSpPr>
          <p:cNvPr id="21" name="match-hex-label"/>
          <p:cNvSpPr txBox="1"/>
          <p:nvPr/>
        </p:nvSpPr>
        <p:spPr>
          <a:xfrm>
            <a:off x="850392" y="31580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069507"/>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Autocracy</a:t>
            </a:r>
            <a:endParaRPr lang="en-US" sz="2000" dirty="0"/>
          </a:p>
        </p:txBody>
      </p:sp>
      <p:sp>
        <p:nvSpPr>
          <p:cNvPr id="23" name="match-card"/>
          <p:cNvSpPr/>
          <p:nvPr/>
        </p:nvSpPr>
        <p:spPr>
          <a:xfrm>
            <a:off x="4224437" y="3069507"/>
            <a:ext cx="7190019" cy="509735"/>
          </a:xfrm>
          <a:prstGeom prst="roundRect">
            <a:avLst>
              <a:gd name="adj" fmla="val 14351"/>
            </a:avLst>
          </a:prstGeom>
          <a:solidFill>
            <a:srgbClr val="F6F0E6"/>
          </a:solidFill>
          <a:ln/>
        </p:spPr>
      </p:sp>
      <p:sp>
        <p:nvSpPr>
          <p:cNvPr id="24" name="match-hex"/>
          <p:cNvSpPr/>
          <p:nvPr/>
        </p:nvSpPr>
        <p:spPr>
          <a:xfrm>
            <a:off x="4297589" y="3158082"/>
            <a:ext cx="384048" cy="332586"/>
          </a:xfrm>
          <a:prstGeom prst="hexagon">
            <a:avLst/>
          </a:prstGeom>
          <a:solidFill>
            <a:srgbClr val="B8862B"/>
          </a:solidFill>
          <a:ln/>
        </p:spPr>
      </p:sp>
      <p:sp>
        <p:nvSpPr>
          <p:cNvPr id="25" name="match-hex-label"/>
          <p:cNvSpPr txBox="1"/>
          <p:nvPr/>
        </p:nvSpPr>
        <p:spPr>
          <a:xfrm>
            <a:off x="4297589" y="315808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069507"/>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person who worked the land, usually very poor</a:t>
            </a:r>
            <a:endParaRPr lang="en-US" sz="2000" dirty="0"/>
          </a:p>
        </p:txBody>
      </p:sp>
      <p:sp>
        <p:nvSpPr>
          <p:cNvPr id="27" name="match-card"/>
          <p:cNvSpPr/>
          <p:nvPr/>
        </p:nvSpPr>
        <p:spPr>
          <a:xfrm>
            <a:off x="777240" y="3670682"/>
            <a:ext cx="3081437" cy="799295"/>
          </a:xfrm>
          <a:prstGeom prst="roundRect">
            <a:avLst>
              <a:gd name="adj" fmla="val 9152"/>
            </a:avLst>
          </a:prstGeom>
          <a:solidFill>
            <a:srgbClr val="F4F1ED"/>
          </a:solidFill>
          <a:ln/>
        </p:spPr>
      </p:sp>
      <p:sp>
        <p:nvSpPr>
          <p:cNvPr id="28" name="match-hex"/>
          <p:cNvSpPr/>
          <p:nvPr/>
        </p:nvSpPr>
        <p:spPr>
          <a:xfrm>
            <a:off x="850392" y="3904037"/>
            <a:ext cx="384048" cy="332586"/>
          </a:xfrm>
          <a:prstGeom prst="hexagon">
            <a:avLst/>
          </a:prstGeom>
          <a:solidFill>
            <a:srgbClr val="7A4A1E"/>
          </a:solidFill>
          <a:ln/>
        </p:spPr>
      </p:sp>
      <p:sp>
        <p:nvSpPr>
          <p:cNvPr id="29" name="match-hex-label"/>
          <p:cNvSpPr txBox="1"/>
          <p:nvPr/>
        </p:nvSpPr>
        <p:spPr>
          <a:xfrm>
            <a:off x="850392" y="390403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3670682"/>
            <a:ext cx="2487077"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Dynasty</a:t>
            </a:r>
            <a:endParaRPr lang="en-US" sz="2000" dirty="0"/>
          </a:p>
        </p:txBody>
      </p:sp>
      <p:sp>
        <p:nvSpPr>
          <p:cNvPr id="31" name="match-card"/>
          <p:cNvSpPr/>
          <p:nvPr/>
        </p:nvSpPr>
        <p:spPr>
          <a:xfrm>
            <a:off x="4224437" y="3670682"/>
            <a:ext cx="7190019" cy="799295"/>
          </a:xfrm>
          <a:prstGeom prst="roundRect">
            <a:avLst>
              <a:gd name="adj" fmla="val 9152"/>
            </a:avLst>
          </a:prstGeom>
          <a:solidFill>
            <a:srgbClr val="F6F0E6"/>
          </a:solidFill>
          <a:ln/>
        </p:spPr>
      </p:sp>
      <p:sp>
        <p:nvSpPr>
          <p:cNvPr id="32" name="match-hex"/>
          <p:cNvSpPr/>
          <p:nvPr/>
        </p:nvSpPr>
        <p:spPr>
          <a:xfrm>
            <a:off x="4297589" y="3904037"/>
            <a:ext cx="384048" cy="332586"/>
          </a:xfrm>
          <a:prstGeom prst="hexagon">
            <a:avLst/>
          </a:prstGeom>
          <a:solidFill>
            <a:srgbClr val="B8862B"/>
          </a:solidFill>
          <a:ln/>
        </p:spPr>
      </p:sp>
      <p:sp>
        <p:nvSpPr>
          <p:cNvPr id="33" name="match-hex-label"/>
          <p:cNvSpPr txBox="1"/>
          <p:nvPr/>
        </p:nvSpPr>
        <p:spPr>
          <a:xfrm>
            <a:off x="4297589" y="3904037"/>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3670682"/>
            <a:ext cx="6595659"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Church that taught Russians their ruler was chosen by God</a:t>
            </a:r>
            <a:endParaRPr lang="en-US" sz="2000" dirty="0"/>
          </a:p>
        </p:txBody>
      </p:sp>
      <p:sp>
        <p:nvSpPr>
          <p:cNvPr id="35" name="match-card"/>
          <p:cNvSpPr/>
          <p:nvPr/>
        </p:nvSpPr>
        <p:spPr>
          <a:xfrm>
            <a:off x="777240" y="4561417"/>
            <a:ext cx="3081437" cy="799295"/>
          </a:xfrm>
          <a:prstGeom prst="roundRect">
            <a:avLst>
              <a:gd name="adj" fmla="val 9152"/>
            </a:avLst>
          </a:prstGeom>
          <a:solidFill>
            <a:srgbClr val="F4F1ED"/>
          </a:solidFill>
          <a:ln/>
        </p:spPr>
      </p:sp>
      <p:sp>
        <p:nvSpPr>
          <p:cNvPr id="36" name="match-hex"/>
          <p:cNvSpPr/>
          <p:nvPr/>
        </p:nvSpPr>
        <p:spPr>
          <a:xfrm>
            <a:off x="850392" y="4794772"/>
            <a:ext cx="384048" cy="332586"/>
          </a:xfrm>
          <a:prstGeom prst="hexagon">
            <a:avLst/>
          </a:prstGeom>
          <a:solidFill>
            <a:srgbClr val="7A4A1E"/>
          </a:solidFill>
          <a:ln/>
        </p:spPr>
      </p:sp>
      <p:sp>
        <p:nvSpPr>
          <p:cNvPr id="37" name="match-hex-label"/>
          <p:cNvSpPr txBox="1"/>
          <p:nvPr/>
        </p:nvSpPr>
        <p:spPr>
          <a:xfrm>
            <a:off x="850392" y="4794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4561417"/>
            <a:ext cx="2487077"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Peasant</a:t>
            </a:r>
            <a:endParaRPr lang="en-US" sz="2000" dirty="0"/>
          </a:p>
        </p:txBody>
      </p:sp>
      <p:sp>
        <p:nvSpPr>
          <p:cNvPr id="39" name="match-card"/>
          <p:cNvSpPr/>
          <p:nvPr/>
        </p:nvSpPr>
        <p:spPr>
          <a:xfrm>
            <a:off x="4224437" y="4561417"/>
            <a:ext cx="7190019" cy="799295"/>
          </a:xfrm>
          <a:prstGeom prst="roundRect">
            <a:avLst>
              <a:gd name="adj" fmla="val 9152"/>
            </a:avLst>
          </a:prstGeom>
          <a:solidFill>
            <a:srgbClr val="F6F0E6"/>
          </a:solidFill>
          <a:ln/>
        </p:spPr>
      </p:sp>
      <p:sp>
        <p:nvSpPr>
          <p:cNvPr id="40" name="match-hex"/>
          <p:cNvSpPr/>
          <p:nvPr/>
        </p:nvSpPr>
        <p:spPr>
          <a:xfrm>
            <a:off x="4297589" y="4794772"/>
            <a:ext cx="384048" cy="332586"/>
          </a:xfrm>
          <a:prstGeom prst="hexagon">
            <a:avLst/>
          </a:prstGeom>
          <a:solidFill>
            <a:srgbClr val="B8862B"/>
          </a:solidFill>
          <a:ln/>
        </p:spPr>
      </p:sp>
      <p:sp>
        <p:nvSpPr>
          <p:cNvPr id="41" name="match-hex-label"/>
          <p:cNvSpPr txBox="1"/>
          <p:nvPr/>
        </p:nvSpPr>
        <p:spPr>
          <a:xfrm>
            <a:off x="4297589" y="479477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4561417"/>
            <a:ext cx="6595659" cy="79929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family that rules a country, passing power from parent to child</a:t>
            </a:r>
            <a:endParaRPr lang="en-US" sz="2000" dirty="0"/>
          </a:p>
        </p:txBody>
      </p:sp>
      <p:sp>
        <p:nvSpPr>
          <p:cNvPr id="43" name="match-card"/>
          <p:cNvSpPr/>
          <p:nvPr/>
        </p:nvSpPr>
        <p:spPr>
          <a:xfrm>
            <a:off x="777240" y="5452153"/>
            <a:ext cx="3081437" cy="509735"/>
          </a:xfrm>
          <a:prstGeom prst="roundRect">
            <a:avLst>
              <a:gd name="adj" fmla="val 14351"/>
            </a:avLst>
          </a:prstGeom>
          <a:solidFill>
            <a:srgbClr val="F4F1ED"/>
          </a:solidFill>
          <a:ln/>
        </p:spPr>
      </p:sp>
      <p:sp>
        <p:nvSpPr>
          <p:cNvPr id="44" name="match-hex"/>
          <p:cNvSpPr/>
          <p:nvPr/>
        </p:nvSpPr>
        <p:spPr>
          <a:xfrm>
            <a:off x="850392" y="5540728"/>
            <a:ext cx="384048" cy="332586"/>
          </a:xfrm>
          <a:prstGeom prst="hexagon">
            <a:avLst/>
          </a:prstGeom>
          <a:solidFill>
            <a:srgbClr val="7A4A1E"/>
          </a:solidFill>
          <a:ln/>
        </p:spPr>
      </p:sp>
      <p:sp>
        <p:nvSpPr>
          <p:cNvPr id="45" name="match-hex-label"/>
          <p:cNvSpPr txBox="1"/>
          <p:nvPr/>
        </p:nvSpPr>
        <p:spPr>
          <a:xfrm>
            <a:off x="850392"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46" name="match-text"/>
          <p:cNvSpPr txBox="1"/>
          <p:nvPr/>
        </p:nvSpPr>
        <p:spPr>
          <a:xfrm>
            <a:off x="1298448" y="5452153"/>
            <a:ext cx="2487077"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Orthodox Church</a:t>
            </a:r>
            <a:endParaRPr lang="en-US" sz="2000" dirty="0"/>
          </a:p>
        </p:txBody>
      </p:sp>
      <p:sp>
        <p:nvSpPr>
          <p:cNvPr id="47" name="match-card"/>
          <p:cNvSpPr/>
          <p:nvPr/>
        </p:nvSpPr>
        <p:spPr>
          <a:xfrm>
            <a:off x="4224437" y="5452153"/>
            <a:ext cx="7190019" cy="509735"/>
          </a:xfrm>
          <a:prstGeom prst="roundRect">
            <a:avLst>
              <a:gd name="adj" fmla="val 14351"/>
            </a:avLst>
          </a:prstGeom>
          <a:solidFill>
            <a:srgbClr val="F6F0E6"/>
          </a:solidFill>
          <a:ln/>
        </p:spPr>
      </p:sp>
      <p:sp>
        <p:nvSpPr>
          <p:cNvPr id="48" name="match-hex"/>
          <p:cNvSpPr/>
          <p:nvPr/>
        </p:nvSpPr>
        <p:spPr>
          <a:xfrm>
            <a:off x="4297589" y="5540728"/>
            <a:ext cx="384048" cy="332586"/>
          </a:xfrm>
          <a:prstGeom prst="hexagon">
            <a:avLst/>
          </a:prstGeom>
          <a:solidFill>
            <a:srgbClr val="B8862B"/>
          </a:solidFill>
          <a:ln/>
        </p:spPr>
      </p:sp>
      <p:sp>
        <p:nvSpPr>
          <p:cNvPr id="49" name="match-hex-label"/>
          <p:cNvSpPr txBox="1"/>
          <p:nvPr/>
        </p:nvSpPr>
        <p:spPr>
          <a:xfrm>
            <a:off x="4297589" y="554072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a:t>
            </a:r>
            <a:endParaRPr lang="en-US" sz="1800" dirty="0"/>
          </a:p>
        </p:txBody>
      </p:sp>
      <p:sp>
        <p:nvSpPr>
          <p:cNvPr id="50" name="match-text"/>
          <p:cNvSpPr txBox="1"/>
          <p:nvPr/>
        </p:nvSpPr>
        <p:spPr>
          <a:xfrm>
            <a:off x="4745645" y="5452153"/>
            <a:ext cx="6595659" cy="509735"/>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system in which one person holds all the political power</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Key words for Tsarist Russia</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key word to its meaning.</a:t>
            </a:r>
            <a:endParaRPr lang="en-US" sz="2000" dirty="0"/>
          </a:p>
        </p:txBody>
      </p:sp>
      <p:sp>
        <p:nvSpPr>
          <p:cNvPr id="12" name="col-Support"/>
          <p:cNvSpPr/>
          <p:nvPr/>
        </p:nvSpPr>
        <p:spPr>
          <a:xfrm>
            <a:off x="548640" y="2578608"/>
            <a:ext cx="4667802" cy="3566160"/>
          </a:xfrm>
          <a:prstGeom prst="roundRect">
            <a:avLst>
              <a:gd name="adj" fmla="val 1538"/>
            </a:avLst>
          </a:prstGeom>
          <a:solidFill>
            <a:srgbClr val="F2ED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of the five words are about how power is held. Which two?</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word is a job title, one is a family, and one is a social group.</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Start with the word you are surest of and cross off its meaning.</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Check the last pair makes sense when you read it aloud.</a:t>
            </a:r>
            <a:endParaRPr lang="en-US" sz="1800" dirty="0"/>
          </a:p>
        </p:txBody>
      </p:sp>
      <p:sp>
        <p:nvSpPr>
          <p:cNvPr id="17" name="col-Core"/>
          <p:cNvSpPr/>
          <p:nvPr/>
        </p:nvSpPr>
        <p:spPr>
          <a:xfrm>
            <a:off x="5490762" y="2578608"/>
            <a:ext cx="2938987" cy="3566160"/>
          </a:xfrm>
          <a:prstGeom prst="roundRect">
            <a:avLst>
              <a:gd name="adj" fmla="val 1867"/>
            </a:avLst>
          </a:prstGeom>
          <a:solidFill>
            <a:srgbClr val="E2D7CE"/>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Autocracy is a system, a dynasty is a family, and a Tsar is one person. Sort them by what kind of thing each word names.</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7A4A1E"/>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how the Orthodox Church helped the Tsar stay in power, and why losing the Church's support would have been dangerous for him.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The task: Why were the people of Russia unhappy?</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why many people in Russia were unhappy with the way their country was ruled in 1900. Write one paragraph of four to six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Why were the people of Russia unhappy?</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Why were the people of Russia unhappy?</a:t>
            </a:r>
            <a:endParaRPr lang="en-US" sz="2000" dirty="0"/>
          </a:p>
        </p:txBody>
      </p:sp>
      <p:sp>
        <p:nvSpPr>
          <p:cNvPr id="12" name="col-Support"/>
          <p:cNvSpPr/>
          <p:nvPr/>
        </p:nvSpPr>
        <p:spPr>
          <a:xfrm>
            <a:off x="548640" y="2395728"/>
            <a:ext cx="4667802"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3936282"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4393482"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By 1900 many groups in Russia were unhappy.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2: pick the peasants. What did they not own, and how poor were they?</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3: pick the city workers. What were their hours, pay and housing like?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Last sentence: explain that there was no parliament and no lawful way to complain, so nothing was ever settled.</a:t>
            </a:r>
            <a:endParaRPr lang="en-US" sz="1800" dirty="0"/>
          </a:p>
        </p:txBody>
      </p:sp>
      <p:sp>
        <p:nvSpPr>
          <p:cNvPr id="17" name="col-Core"/>
          <p:cNvSpPr/>
          <p:nvPr/>
        </p:nvSpPr>
        <p:spPr>
          <a:xfrm>
            <a:off x="5490762" y="2395728"/>
            <a:ext cx="2938987" cy="3749040"/>
          </a:xfrm>
          <a:prstGeom prst="roundRect">
            <a:avLst>
              <a:gd name="adj" fmla="val 1867"/>
            </a:avLst>
          </a:prstGeom>
          <a:solidFill>
            <a:srgbClr val="E2D7CE"/>
          </a:solidFill>
          <a:ln/>
        </p:spPr>
      </p:sp>
      <p:sp>
        <p:nvSpPr>
          <p:cNvPr id="18" name="col-hex"/>
          <p:cNvSpPr/>
          <p:nvPr/>
        </p:nvSpPr>
        <p:spPr>
          <a:xfrm>
            <a:off x="5600490"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Two groups at least, one detail each, then the point that matters most: there was no parliament and no lawful route to change.</a:t>
            </a:r>
            <a:endParaRPr lang="en-US" sz="1800" dirty="0"/>
          </a:p>
        </p:txBody>
      </p:sp>
      <p:sp>
        <p:nvSpPr>
          <p:cNvPr id="22" name="col-Stretch"/>
          <p:cNvSpPr/>
          <p:nvPr/>
        </p:nvSpPr>
        <p:spPr>
          <a:xfrm>
            <a:off x="8704069" y="2395728"/>
            <a:ext cx="2938987" cy="3749040"/>
          </a:xfrm>
          <a:prstGeom prst="roundRect">
            <a:avLst>
              <a:gd name="adj" fmla="val 1867"/>
            </a:avLst>
          </a:prstGeom>
          <a:solidFill>
            <a:srgbClr val="7A4A1E"/>
          </a:solidFill>
          <a:ln/>
        </p:spPr>
      </p:sp>
      <p:sp>
        <p:nvSpPr>
          <p:cNvPr id="23" name="col-hex"/>
          <p:cNvSpPr/>
          <p:nvPr/>
        </p:nvSpPr>
        <p:spPr>
          <a:xfrm>
            <a:off x="881379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43230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035808"/>
            <a:ext cx="2664667"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which group you think was the most dangerous to the Tsar in 1900, and give one reason for your judgement.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739136"/>
          </a:xfrm>
          <a:prstGeom prst="rect">
            <a:avLst/>
          </a:prstGeom>
          <a:noFill/>
          <a:ln/>
        </p:spPr>
        <p:txBody>
          <a:bodyPr wrap="square" lIns="63500" tIns="63500" rIns="63500" bIns="63500" rtlCol="0" anchor="t"/>
          <a:lstStyle/>
          <a:p>
            <a:pPr algn="l" indent="0" marL="0">
              <a:spcAft>
                <a:spcPts val="1200"/>
              </a:spcAft>
              <a:buNone/>
            </a:pPr>
            <a:r>
              <a:rPr lang="en-US" sz="2200" b="1" dirty="0">
                <a:solidFill>
                  <a:srgbClr val="1E2229"/>
                </a:solidFill>
                <a:latin typeface="Calibri" pitchFamily="34" charset="0"/>
                <a:ea typeface="Calibri" pitchFamily="34" charset="-122"/>
                <a:cs typeface="Calibri" pitchFamily="34" charset="-120"/>
              </a:rPr>
              <a:t>Russia built factories and railways at the end of the 1800s and grew richer. Why did this create a new problem for the Tsar?</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gave the peasants the right to vote for the first time</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gathered a large working class into the cities, where they could organise strikes together</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ended the Orthodox Church's influence over ordinary Russians</a:t>
            </a:r>
            <a:endParaRPr lang="en-US" sz="2200" dirty="0"/>
          </a:p>
          <a:p>
            <a:pPr algn="l" indent="0" marL="0">
              <a:spcAft>
                <a:spcPts val="600"/>
              </a:spcAft>
              <a:buNone/>
            </a:pPr>
            <a:r>
              <a:rPr lang="en-US" sz="20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It made Russia poorer, so the Tsar could no longer pay his army</a:t>
            </a:r>
            <a:endParaRPr lang="en-US" sz="22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Key words for Tsarist Russia</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Tsar  →  A  The Russian word for king: the ruler of the Russian Empire</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Autocracy  →  E  A system in which one person holds all the political power</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Dynasty  →  D  A family that rules a country, passing power from parent to child</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Peasant  →  B  A person who worked the land, usually very poor</a:t>
            </a:r>
            <a:endParaRPr lang="en-US" sz="2000" dirty="0"/>
          </a:p>
          <a:p>
            <a:pPr algn="l" indent="0" marL="0">
              <a:spcAft>
                <a:spcPts val="1000"/>
              </a:spcAft>
              <a:buNone/>
            </a:pPr>
            <a:r>
              <a:rPr lang="en-US" sz="2000" b="1" dirty="0">
                <a:solidFill>
                  <a:srgbClr val="815E1E"/>
                </a:solidFill>
                <a:latin typeface="Calibri" pitchFamily="34" charset="0"/>
                <a:ea typeface="Calibri" pitchFamily="34" charset="-122"/>
                <a:cs typeface="Calibri" pitchFamily="34" charset="-120"/>
              </a:rPr>
              <a:t>5  </a:t>
            </a:r>
            <a:pPr algn="l" indent="0" marL="0">
              <a:spcAft>
                <a:spcPts val="1000"/>
              </a:spcAft>
              <a:buNone/>
            </a:pPr>
            <a:r>
              <a:rPr lang="en-US" sz="2000" dirty="0">
                <a:solidFill>
                  <a:srgbClr val="1E2229"/>
                </a:solidFill>
                <a:latin typeface="Calibri" pitchFamily="34" charset="0"/>
                <a:ea typeface="Calibri" pitchFamily="34" charset="-122"/>
                <a:cs typeface="Calibri" pitchFamily="34" charset="-120"/>
              </a:rPr>
              <a:t>Orthodox Church  →  C  The Church that taught Russians their ruler was chosen by God</a:t>
            </a:r>
            <a:endParaRPr lang="en-US" sz="20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Tsar is the ruler; autocracy is the system he ruled under; a dynasty is the family that handed the throne down; a peasant is one of the millions at the bottom; and the Orthodox Church taught that the whole arrangement came from God.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7A4A1E"/>
                </a:solidFill>
                <a:latin typeface="Cambria" pitchFamily="34" charset="0"/>
                <a:ea typeface="Cambria" pitchFamily="34" charset="-122"/>
                <a:cs typeface="Cambria" pitchFamily="34" charset="-120"/>
              </a:rPr>
              <a:t>Answers: Why were the people of Russia unhappy?</a:t>
            </a:r>
            <a:endParaRPr lang="en-US" sz="28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742188"/>
          </a:xfrm>
          <a:prstGeom prst="roundRect">
            <a:avLst>
              <a:gd name="adj" fmla="val 12320"/>
            </a:avLst>
          </a:prstGeom>
          <a:solidFill>
            <a:srgbClr val="F4F1ED"/>
          </a:solidFill>
          <a:ln/>
        </p:spPr>
      </p:sp>
      <p:sp>
        <p:nvSpPr>
          <p:cNvPr id="9" name="tickbox"/>
          <p:cNvSpPr/>
          <p:nvPr/>
        </p:nvSpPr>
        <p:spPr>
          <a:xfrm>
            <a:off x="713232" y="2209038"/>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name at least two groups of people and say what each one was unhappy about.</a:t>
            </a:r>
            <a:endParaRPr lang="en-US" sz="2200" dirty="0"/>
          </a:p>
        </p:txBody>
      </p:sp>
      <p:sp>
        <p:nvSpPr>
          <p:cNvPr id="11" name="crit-box"/>
          <p:cNvSpPr/>
          <p:nvPr/>
        </p:nvSpPr>
        <p:spPr>
          <a:xfrm>
            <a:off x="548640" y="2817876"/>
            <a:ext cx="11094415" cy="1083056"/>
          </a:xfrm>
          <a:prstGeom prst="roundRect">
            <a:avLst>
              <a:gd name="adj" fmla="val 8443"/>
            </a:avLst>
          </a:prstGeom>
          <a:solidFill>
            <a:srgbClr val="F4F1ED"/>
          </a:solidFill>
          <a:ln/>
        </p:spPr>
      </p:sp>
      <p:sp>
        <p:nvSpPr>
          <p:cNvPr id="12" name="tickbox"/>
          <p:cNvSpPr/>
          <p:nvPr/>
        </p:nvSpPr>
        <p:spPr>
          <a:xfrm>
            <a:off x="713232" y="3213100"/>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817876"/>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the word autocracy or autocrat correctly, and explain what it meant for ordinary people.</a:t>
            </a:r>
            <a:endParaRPr lang="en-US" sz="2200" dirty="0"/>
          </a:p>
        </p:txBody>
      </p:sp>
      <p:sp>
        <p:nvSpPr>
          <p:cNvPr id="14" name="crit-box"/>
          <p:cNvSpPr/>
          <p:nvPr/>
        </p:nvSpPr>
        <p:spPr>
          <a:xfrm>
            <a:off x="548640" y="3992372"/>
            <a:ext cx="11094415" cy="1083056"/>
          </a:xfrm>
          <a:prstGeom prst="roundRect">
            <a:avLst>
              <a:gd name="adj" fmla="val 8443"/>
            </a:avLst>
          </a:prstGeom>
          <a:solidFill>
            <a:srgbClr val="F4F1ED"/>
          </a:solidFill>
          <a:ln/>
        </p:spPr>
      </p:sp>
      <p:sp>
        <p:nvSpPr>
          <p:cNvPr id="15" name="tickbox"/>
          <p:cNvSpPr/>
          <p:nvPr/>
        </p:nvSpPr>
        <p:spPr>
          <a:xfrm>
            <a:off x="713232" y="4387596"/>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992372"/>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support a point with a detail from the chapter, such as the 85 per cent figure or the lack of a parliament.</a:t>
            </a:r>
            <a:endParaRPr lang="en-US" sz="2200" dirty="0"/>
          </a:p>
        </p:txBody>
      </p:sp>
      <p:sp>
        <p:nvSpPr>
          <p:cNvPr id="17" name="crit-box"/>
          <p:cNvSpPr/>
          <p:nvPr/>
        </p:nvSpPr>
        <p:spPr>
          <a:xfrm>
            <a:off x="548640" y="5166868"/>
            <a:ext cx="11094415" cy="742188"/>
          </a:xfrm>
          <a:prstGeom prst="roundRect">
            <a:avLst>
              <a:gd name="adj" fmla="val 12320"/>
            </a:avLst>
          </a:prstGeom>
          <a:solidFill>
            <a:srgbClr val="F4F1ED"/>
          </a:solidFill>
          <a:ln/>
        </p:spPr>
      </p:sp>
      <p:sp>
        <p:nvSpPr>
          <p:cNvPr id="18" name="tickbox"/>
          <p:cNvSpPr/>
          <p:nvPr/>
        </p:nvSpPr>
        <p:spPr>
          <a:xfrm>
            <a:off x="713232" y="5391658"/>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5166868"/>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finish by linking the unhappiness to the lack of any peaceful way to change things.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Model answer: Why were the people of Russia unhappy?</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By 1900 many different groups in Russia were unhappy, and for different reasons. About 85 per cent of Russians were peasants who worked land they did not own and lived in deep poverty, so they resented the landowners and the taxes they had to pay. In the cities a newer group, the industrial workers, had arrived from the villages to find long hours, low pay and cramped housing. Even wealthier Russians were frustrated, because Nicholas II ruled as an autocrat and did not have to listen to anyone's opinion but his own. The most important point is that there was no elected parliament before 1905 and no lawful way to challenge the Tsar, so people with a complaint had nowhere to take it. That is why the unhappiness built up instead of being settled.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Russia built factories and railways at the end of the 1800s and grew richer. Why did this create a new problem for the Tsar?</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It gathered a large working class into the cities, where they could organise strikes together</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Industrialisation made Russia richer and the Tsar's position weaker at the same time, because it turned scattered discontent into a concentrated, organised working class. That working class is who marches in 1905 and strikes in 1917.</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Russian Revolution · Chapter 1: Life in Tsarist Russia</dc:title>
  <dc:subject>History · Year 9</dc:subject>
  <dc:creator>Dr Vitor Merissi de Carvalho</dc:creator>
  <cp:lastModifiedBy>Dr Vitor Merissi de Carvalho</cp:lastModifiedBy>
  <cp:revision>1</cp:revision>
  <dcterms:created xsi:type="dcterms:W3CDTF">2026-10-19T06:08:00Z</dcterms:created>
  <dcterms:modified xsi:type="dcterms:W3CDTF">2026-10-19T06:08:00Z</dcterms:modified>
</cp:coreProperties>
</file>