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9d1d59-fd6d-a157-6acf-e0dce0b93255}">
          <p14:sldIdLst>
            <p14:sldId id="256"/>
          </p14:sldIdLst>
        </p14:section>
        <p14:section name="Gate" id="{828d1bd9-ff01-637b-ff57-706bde585d18}">
          <p14:sldIdLst>
            <p14:sldId id="257"/>
            <p14:sldId id="258"/>
            <p14:sldId id="259"/>
          </p14:sldIdLst>
        </p14:section>
        <p14:section name="Pre-teach" id="{147ada53-1c6f-d5a5-8a02-6c35547c6b4d}">
          <p14:sldIdLst>
            <p14:sldId id="260"/>
            <p14:sldId id="261"/>
          </p14:sldIdLst>
        </p14:section>
        <p14:section name="Read-along" id="{861c14e0-7355-9b39-13b8-9af25637346b}">
          <p14:sldIdLst>
            <p14:sldId id="262"/>
            <p14:sldId id="263"/>
          </p14:sldIdLst>
        </p14:section>
        <p14:section name="Teach" id="{ec8903e1-4ee7-2509-e105-fbb20ac9fa1a}">
          <p14:sldIdLst>
            <p14:sldId id="264"/>
            <p14:sldId id="265"/>
            <p14:sldId id="266"/>
            <p14:sldId id="267"/>
            <p14:sldId id="268"/>
          </p14:sldIdLst>
        </p14:section>
        <p14:section name="Routes" id="{053ab37e-88de-9c5e-d545-b05e742a444a}">
          <p14:sldIdLst>
            <p14:sldId id="269"/>
            <p14:sldId id="270"/>
            <p14:sldId id="271"/>
            <p14:sldId id="272"/>
            <p14:sldId id="273"/>
            <p14:sldId id="274"/>
            <p14:sldId id="275"/>
          </p14:sldIdLst>
        </p14:section>
        <p14:section name="Close" id="{bf2150be-cc44-f6a3-a5d7-c3bc713555f8}">
          <p14:sldIdLst>
            <p14:sldId id="276"/>
          </p14:sldIdLst>
        </p14:section>
        <p14:section name="Answers" id="{e3e05de7-8b73-9310-abc6-18c44fb37d90}">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1905 Revolution. The long-term and short-term causes of the first revolution, what happened on Bloody Sunday and across the year, what the October Manifesto promised, and whether anything really changed.
This deck covers the department's lesson: 2 (The 1905 Russian Revolution: To what extent did the 1905 Revolution bring about change?).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happened on Bloody Sunday, 22 January 1905, New Style?  →  C   Soldiers opened fire on a peaceful march of workers and families taking a petition to the Tsar
2. The Russian word for a parliament, promised in the October Manifesto, is the ___.  →  Duma
3. Which of these is the strongest evidence that the 1905 Revolution did NOT really change Russia?  →  B   Within about six months the Tsar gave himself the power to dissolve the Duma whenever he liked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happened on Bloody Sunday, 22 January 1905, New Style?  →  C   Soldiers opened fire on a peaceful march of workers and families taking a petition to the Tsar
2. The Russian word for a parliament, promised in the October Manifesto, is the ___.  →  Duma
3. Which of these is the strongest evidence that the 1905 Revolution did NOT really change Russia?  →  B   Within about six months the Tsar gave himself the power to dissolve the Duma whenever he liked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Soldiers opened fire on a peaceful march of workers and families taking a petition to the Tsar. Father Gapon led a peaceful, unarmed march to the Winter Palace with a petition. Troops fired on the crowd and your lesson says over 100 people were killed.
2. Duma. A Duma is an elected parliament. The October Manifesto promised one that could approve or reject new laws.
3. B   Within about six months the Tsar gave himself the power to dissolve the Duma whenever he liked. A promise only counts if it cannot be taken back. The Fundamental Laws let the Tsar dissolve the Duma at will, which is why most historians say the change was thin.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serf: a peasant who was owned by a landowner. Example: "Serfdom had ended, but peasants still had to work the landowner's fields and pay him."
• mutiny: when soldiers or sailors refuse to obey orders. Example: "The mutiny on the battleship Potemkin showed the Tsar could not rely on his forces."
• manifesto: a published plan for running the country. Example: "The October Manifesto was the Tsar's written promise of reform."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Duma: the Russian word for a parliament. Example: "The Tsar agreed to a Duma, then made sure it had very little power."
• reforms: changes a government makes to try to improve things. Example: "The reforms of 1905 looked generous on paper and felt thin in practice."
• revolution: a quick change of government or social order. Example: "Historians still argue whether 1905 was a real revolution."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By 1905 many groups in Russia wanted change.
2. Peasants were angry about land, rent and famine.
3. Middle-class Russians wanted a say in decisions.
4. Then Russia lost a war against Japan.
5. Losing to a country they thought weak was humiliating.
6. On 22 January 1905, New Style, workers marched to the Winter Palace.
7. They carried a petition for the Tsar and brought their families.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Soldiers opened fire and killed over 100 people.
9. This day is called Bloody Sunday.
10. Strikes, riots and mutinies spread across the empire.
11. In October the Tsar published the October Manifesto.
12. It promised free speech and an elected parliament, the Duma.
13. Then he used the army to crush what was left of the revolt.
14. Within months he took most of the promises back.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Long-term causes: land, class and a weak Tsar. Say it in your own words, then check understanding with a quick question: ask a pupil from the pre-teach group first, since they met these words and ideas before the lesson. Pupils try to recall before you re-explain.
Your lesson's reading divides the causes of 1905 into long-term problems and one short-term trigger. Start with the peasants. Russia depended on farming, and the people who farmed were unhappy. They had once been serfs, owned by the landowner along with the land. Serfdom had been abolished, but the peasants still had to work the landowner's fields and keep paying him, and when harvests failed there was famine. Freedom on paper had not made them better off.
The second long-term cause was the middle classes. Richer, educated Russians were angry at how decisions were made. The Tsar held all the power, and because Nicholas was a weak ruler he made poor choices and asked nobody's opinion. Notice what these people wanted, because it is easy to get wrong in an exam: they did not want to get rid of the Tsar. They wanted a parliament so that their views would count.
Third, revolutionary parties were growing. The Liberals spoke for the middle classes and wanted to keep the Tsar but reduce his power by creating a Duma. The Socialist Revolutionaries wanted far more radical change, used violence, and aimed to give power to peasants and workers; your lesson says they carried out about 2,000 political assassinations, though they were poorly organised. Your lesson also records that the revolutionaries split in 1903 over a single question: start the revolution now, as Lenin wanted, or wait until the workers were ready?
Tip: Sort the causes into long-term (land, class, autocracy, revolutionary parties) and short-term (the lost war). Examiners reward that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short-term cause and the trigger: Japan, then Bloody Sunday. Say it in your own words, then check understanding with a quick question: ask a pupil from the pre-teach group first, since they met these words and ideas before the lesson. Pupils try to recall before you re-explain.
The short-term cause was the Russo-Japanese War of 1904 to 1905. Russia lost. Russians had believed their empire was a great military power and that Japan was weak, so defeat was a national embarrassment, and the blame landed on the Tsar personally. Humiliation abroad turned into fury at home.
The trigger came on 22 January 1905, New Style. A priest, Father Gapon, led a peaceful march of workers and their families to the Tsar's Winter Palace to hand over a petition. They were not armed and they were not calling for revolution. Troops opened fire on them, and your lesson says over 100 people were killed. The day is remembered as Bloody Sunday.
A note on the date. Russia still used the old Julian calendar, which was thirteen days behind the calendar we use. In Russia this was 9 January, Old Style; in Britain it was 22 January, New Style. Your lesson gives the New Style date. Both are the same day, and knowing that will stop you getting into a muddle when the dates for 1917 look strange.
Worked example — model it step by step, thinking aloud: Explain why the Russo-Japanese War was such an important cause of the 1905 Revolution. (1) Point: the war mattered because it destroyed what was left of people's respect for the Tsar. (2) Evidence from your lesson: Russia lost the war of 1904 to 1905 to a country Russians thought was weak, and the defeat was a national embarrassment. (3) Explain: an autocrat's only real claim is that he is a strong, God-chosen ruler, so a humiliating defeat attacked the one thing holding his authority up. (4) Link forward: that loss of respect is why a peaceful petition in January 1905 could turn into an empire-wide revolt. Answer: The defeat humiliated Russia and the blame fell on the Tsar personally, which stripped away the respect autocracy depended on, so the next grievance tipped the country into revolt..
Tip: Trigger and cause are different. The war and the land problems were causes; Bloody Sunday was the trigger that set them alight.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short-term cause and the trigger: Japan, then Bloody Sunday. Say it in your own words, then check understanding with a quick question: ask a pupil from the pre-teach group first, since they met these words and ideas before the lesson. Pupils try to recall before you re-explain.
The short-term cause was the Russo-Japanese War of 1904 to 1905. Russia lost. Russians had believed their empire was a great military power and that Japan was weak, so defeat was a national embarrassment, and the blame landed on the Tsar personally. Humiliation abroad turned into fury at home.
The trigger came on 22 January 1905, New Style. A priest, Father Gapon, led a peaceful march of workers and their families to the Tsar's Winter Palace to hand over a petition. They were not armed and they were not calling for revolution. Troops opened fire on them, and your lesson says over 100 people were killed. The day is remembered as Bloody Sunday.
A note on the date. Russia still used the old Julian calendar, which was thirteen days behind the calendar we use. In Russia this was 9 January, Old Style; in Britain it was 22 January, New Style. Your lesson gives the New Style date. Both are the same day, and knowing that will stop you getting into a muddle when the dates for 1917 look strange.
Worked example — model it step by step, thinking aloud: Explain why the Russo-Japanese War was such an important cause of the 1905 Revolution. (1) Point: the war mattered because it destroyed what was left of people's respect for the Tsar. (2) Evidence from your lesson: Russia lost the war of 1904 to 1905 to a country Russians thought was weak, and the defeat was a national embarrassment. (3) Explain: an autocrat's only real claim is that he is a strong, God-chosen ruler, so a humiliating defeat attacked the one thing holding his authority up. (4) Link forward: that loss of respect is why a peaceful petition in January 1905 could turn into an empire-wide revolt. Answer: The defeat humiliated Russia and the blame fell on the Tsar personally, which stripped away the respect autocracy depended on, so the next grievance tipped the country into revolt..
Tip: Trigger and cause are different. The war and the land problems were causes; Bloody Sunday was the trigger that set them alight.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Events: the year the empire stopped working. Say it in your own words, then check understanding with a quick question: ask a pupil from the pre-teach group first, since they met these words and ideas before the lesson. Pupils try to recall before you re-explain.
Bloody Sunday set off a chain of events that ran all year. Your lesson's account says the reaction spread fastest in the industrial areas, and that by the end of January 1905 there were hundreds of thousands of workers on strike in every major city of the empire. Students joined in; at Moscow University alone over 3,000 of them held a rally, burned a portrait of the Tsar and hung red flags from the buildings. In February the Tsar's uncle, Grand Duke Sergei, was assassinated.
Different groups acted in different ways, and your lesson asks you to judge how dangerous each was. Peasants burned landowners' houses and took their food. Sailors on the battleship Potemkin mutinied against their officers over bad conditions. Workers in cities such as St Petersburg formed councils, called soviets, to organise their strikes, and in the autumn a general strike brought the country to a halt. The army and navy mattering most of all: once men in uniform refuse orders, an autocrat has nothing left.
The Tsar first tried a small concession. In mid-February he offered the Bulygin Rescript, which promised an assembly that could advise but not decide, some religious tolerance and a cut in the peasants' redemption payments. It was not enough, and the revolution grew.
Tip: Learn one example for each group: peasants burning estates, sailors on the Potemkin, workers forming soviets, a general strike. Specific examples lift a narrative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October Manifesto: change, or no change?. Say it in your own words, then check understanding with a quick question: ask a pupil from the pre-teach group first, since they met these words and ideas before the lesson. Pupils try to recall before you re-explain.
In October 1905 Nicholas asked his minister Witte to draft a way out. The October Manifesto was published on 30 October 1905, New Style, which was 17 October in Russia's own Old Style calendar. It granted freedom of speech, religion, assembly and organisation, and it promised an elected national assembly, the Duma, which could approve or reject new laws.
Your lesson then asks the hard question: did anything really change? Put the evidence in two columns. On the change side: the Tsar had to share power with a Duma, censorship was loosened, freedom of speech was extended, and a written promise of rights existed for the first time. On the no-change side: the Duma could be ignored, it was filled with rich men and nobles, no power was shared with the workers or the peasants, and the Tsar remained supreme leader with a harsh new prime minister, Stolypin.
What happened next settles the argument for most historians. About six months after the Manifesto the Tsar issued the Fundamental Laws, which let him dissolve the Duma whenever he liked and stopped it introducing reforms without his approval. He closed the Duma when it displeased him, and after the second one the elections were rigged so that the third and fourth Dumas agreed with him. The liberals were fairly satisfied in 1905; the Bolsheviks and Mensheviks were not, because the Manifesto gave nothing to the workers and peasants they claimed to speak for.
Tip: For a change-and-continuity question, give one point from each column and then judge. The strongest judgement uses what happened after the promise, not just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1905 Revolution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of the 1905 Revolution in the order your lesson gives them.
Support — work through the steps with the group: (1) Your lesson uses four headings: causes, trigger, reaction, result. Match each item to one heading. (2) The cause came before the trigger, so the war comes first. (3) The reaction is what ordinary people did after the trigger. (4) Two items are left: a promise and a crackdown. Which did the Tsar do first, while he was still frightened?
Parallel worked example for Support (model it, do not give the task answer): Put these stages of a school fire drill in order: the bell sounds; classes line up on the field; the register is called; a member of staff presses the alarm. Nothing happens until the alarm is pressed.; Then the bell sounds.; Then classes leave and line up.; The register is called last, once everyone is outside.. Answer: a member of staff presses the alarm; the bell sounds; classes line up on the field; the register is called.
Core — reveal the hint only on request: Cause, trigger, reaction, result. The Tsar promises first and crushes afterwards, once he feels safe again.
Stretch — no help; when finished: Explain why the Tsar was able to crush the revolution after making his promises, and what that tells you about how much power he had really given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1905 Revolution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of the 1905 Revolution in the order your lesson gives them.
Support — work through the steps with the group: (1) Your lesson uses four headings: causes, trigger, reaction, result. Match each item to one heading. (2) The cause came before the trigger, so the war comes first. (3) The reaction is what ordinary people did after the trigger. (4) Two items are left: a promise and a crackdown. Which did the Tsar do first, while he was still frightened?
Parallel worked example for Support (model it, do not give the task answer): Put these stages of a school fire drill in order: the bell sounds; classes line up on the field; the register is called; a member of staff presses the alarm. Nothing happens until the alarm is pressed.; Then the bell sounds.; Then classes leave and line up.; The register is called last, once everyone is outside.. Answer: a member of staff presses the alarm; the bell sounds; classes line up on the field; the register is called.
Core — reveal the hint only on request: Cause, trigger, reaction, result. The Tsar promises first and crushes afterwards, once he feels safe again.
Stretch — no help; when finished: Explain why the Tsar was able to crush the revolution after making his promises, and what that tells you about how much power he had really given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wanted what in 1905?.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in 1905 to what it wanted or did.
Support — work through the steps with the group: (1) Two groups wanted political change above all. Which two? (2) Two groups wanted better daily conditions: one in the fields, one in the factories. (3) One group is dangerous to the Tsar not because of what it wanted but because of what it stopped doing. (4) Match that last group last, and read all five pairs back.
Parallel worked example for Support (model it, do not give the task answer): Match these groups in a strike at a modern factory to what they want: the workers; the managers; the customers. Options: the goods delivered on time; higher pay and safer machines; the line running again at the lowest cost. The workers are striking, so they want pay and safety.; The managers want production restarted cheaply.; The customers only care that their order arrives.. Answer: Workers: higher pay and safer machines. Managers: the line running again at the lowest cost. Customers: the goods delivered on time..
Core — reveal the hint only on request: Ask of each group: did it want political power, better conditions, or simply to stop being used? The answers are all different.
Stretch — no help; when finished: Your lesson asks you to score how much of a threat each group was to the government, from one to ten. Choose the group you would score highest and justify it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wanted what in 1905?.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in 1905 to what it wanted or did.
Support — work through the steps with the group: (1) Two groups wanted political change above all. Which two? (2) Two groups wanted better daily conditions: one in the fields, one in the factories. (3) One group is dangerous to the Tsar not because of what it wanted but because of what it stopped doing. (4) Match that last group last, and read all five pairs back.
Parallel worked example for Support (model it, do not give the task answer): Match these groups in a strike at a modern factory to what they want: the workers; the managers; the customers. Options: the goods delivered on time; higher pay and safer machines; the line running again at the lowest cost. The workers are striking, so they want pay and safety.; The managers want production restarted cheaply.; The customers only care that their order arrives.. Answer: Workers: higher pay and safer machines. Managers: the line running again at the lowest cost. Customers: the goods delivered on time..
Core — reveal the hint only on request: Ask of each group: did it want political power, better conditions, or simply to stop being used? The answers are all different.
Stretch — no help; when finished: Your lesson asks you to score how much of a threat each group was to the government, from one to ten. Choose the group you would score highest and justify it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wanted what in 1905?.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in 1905 to what it wanted or did.
Support — work through the steps with the group: (1) Two groups wanted political change above all. Which two? (2) Two groups wanted better daily conditions: one in the fields, one in the factories. (3) One group is dangerous to the Tsar not because of what it wanted but because of what it stopped doing. (4) Match that last group last, and read all five pairs back.
Parallel worked example for Support (model it, do not give the task answer): Match these groups in a strike at a modern factory to what they want: the workers; the managers; the customers. Options: the goods delivered on time; higher pay and safer machines; the line running again at the lowest cost. The workers are striking, so they want pay and safety.; The managers want production restarted cheaply.; The customers only care that their order arrives.. Answer: Workers: higher pay and safer machines. Managers: the line running again at the lowest cost. Customers: the goods delivered on time..
Core — reveal the hint only on request: Ask of each group: did it want political power, better conditions, or simply to stop being used? The answers are all different.
Stretch — no help; when finished: Your lesson asks you to score how much of a threat each group was to the government, from one to ten. Choose the group you would score highest and justify it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wanted what in 1905?.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in 1905 to what it wanted or did.
Support — work through the steps with the group: (1) Two groups wanted political change above all. Which two? (2) Two groups wanted better daily conditions: one in the fields, one in the factories. (3) One group is dangerous to the Tsar not because of what it wanted but because of what it stopped doing. (4) Match that last group last, and read all five pairs back.
Parallel worked example for Support (model it, do not give the task answer): Match these groups in a strike at a modern factory to what they want: the workers; the managers; the customers. Options: the goods delivered on time; higher pay and safer machines; the line running again at the lowest cost. The workers are striking, so they want pay and safety.; The managers want production restarted cheaply.; The customers only care that their order arrives.. Answer: Workers: higher pay and safer machines. Managers: the line running again at the lowest cost. Customers: the goods delivered on time..
Core — reveal the hint only on request: Ask of each group: did it want political power, better conditions, or simply to stop being used? The answers are all different.
Stretch — no help; when finished: Your lesson asks you to score how much of a threat each group was to the government, from one to ten. Choose the group you would score highest and justify it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wanted what in 1905?.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in 1905 to what it wanted or did.
Support — work through the steps with the group: (1) Two groups wanted political change above all. Which two? (2) Two groups wanted better daily conditions: one in the fields, one in the factories. (3) One group is dangerous to the Tsar not because of what it wanted but because of what it stopped doing. (4) Match that last group last, and read all five pairs back.
Parallel worked example for Support (model it, do not give the task answer): Match these groups in a strike at a modern factory to what they want: the workers; the managers; the customers. Options: the goods delivered on time; higher pay and safer machines; the line running again at the lowest cost. The workers are striking, so they want pay and safety.; The managers want production restarted cheaply.; The customers only care that their order arrives.. Answer: Workers: higher pay and safer machines. Managers: the line running again at the lowest cost. Customers: the goods delivered on time..
Core — reveal the hint only on request: Ask of each group: did it want political power, better conditions, or simply to stop being used? The answers are all different.
Stretch — no help; when finished: Your lesson asks you to score how much of a threat each group was to the government, from one to ten. Choose the group you would score highest and justify it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October Manifesto promised an elected Duma. Did this mean the Tsar had given up his power?
Answer: A   No: he kept the right to ignore or dissolve the Duma, so the power stayed with him. 1905 produced a parliament the Tsar could dismiss, rights he could withdraw and elections he could rig. That is why most historians treat 1905 as a warning that was ignored rather than a revolution that succeeded.
Source of this question: module 3 task ("Change or no change?")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1905 Revolution in order. Reveal the answer; pupils mark their own work in a different colour, then read the "why" together. Same destination for every lane, so one answer serves the whole class.
Answer: Russia begins to lose the war against Japan, and the country is humiliated  (B); Father Gapon leads a peaceful march to the Winter Palace and troops open fire  (C); Strikes, peasant riots and mutinies spread across the empire  (A); The Tsar publishes the October Manifesto, promising rights and a Duma  (E); The army is used to crush the remaining strikes and arrest revolutionaries  (D)
Why: Defeat by Japan was the cause; Bloody Sunday the trigger; strikes, riots and mutinies the reaction; the October Manifesto the result; and the army's crackdown is what the Tsar did once the danger had passed.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 wanted what in 1905?. Reveal the answer; pupils mark their own work in a different colour, then read the "why" together. Same destination for every lane, so one answer serves the whole class.
Answer: Peasants  →  C  Land of their own, and an end to paying the landowner; some burned estates; Middle-class Liberals  →  E  To keep the Tsar but reduce his power by creating a Duma; Socialist Revolutionaries  →  D  Radical change and power for peasants and workers, using violence; Urban workers  →  B  Better pay and conditions; they struck and formed soviets; Army and navy  →  A  Better treatment; some units mutinied and stopped obeying orders
Why: Peasants wanted land, Liberals wanted a parliament, Socialist Revolutionaries wanted radical change by force, workers wanted pay and conditions, and parts of the army and navy simply stopped obeying. The Tsar survived 1905 partly because these aims pulled in different directions.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No: he kept the right to ignore or dissolve the Duma, so the power stayed with him
Why: 1905 produced a parliament the Tsar could dismiss, rights he could withdraw and elections he could rig. That is why most historians treat 1905 as a warning that was ignored rather than a revolution that succeeded.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1905 Revolution</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2EDE9"/>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1905 Russian Revolution</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happened on Bloody Sunday, 22 January 1905, New Style?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Tsar published the October Manifesto promising a parliament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Sailors on the battleship Potemkin mutinied against their officers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Soldiers opened fire on a peaceful march of workers and families taking a petition to the Tsar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Russia's navy was defeated by Japan in a single afternoon</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Russian word for a parliament, promised in the October Manifesto, is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Duma  ·  manifesto  ·  soviet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the strongest evidence that the 1905 Revolution did NOT really change Russia?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Sailors on the battleship Potemkin mutinied against their officers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Within about six months the Tsar gave himself the power to dissolve the Duma whenever he liked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Workers in St Petersburg formed soviets to organise their strikes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October Manifesto promised freedom of speech and freedom of religion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977644"/>
          </a:xfrm>
          <a:prstGeom prst="roundRect">
            <a:avLst>
              <a:gd name="adj" fmla="val 5548"/>
            </a:avLst>
          </a:prstGeom>
          <a:solidFill>
            <a:srgbClr val="EDE1CA"/>
          </a:solidFill>
          <a:ln w="19050">
            <a:solidFill>
              <a:srgbClr val="B8862B"/>
            </a:solidFill>
            <a:prstDash val="solid"/>
          </a:ln>
        </p:spPr>
      </p:sp>
      <p:sp>
        <p:nvSpPr>
          <p:cNvPr id="12" name="answer"/>
          <p:cNvSpPr txBox="1"/>
          <p:nvPr/>
        </p:nvSpPr>
        <p:spPr>
          <a:xfrm>
            <a:off x="822960"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Soldiers opened fire on a peaceful march of workers and families taking a petition to the Tsar</a:t>
            </a:r>
            <a:endParaRPr lang="en-US" sz="2200" dirty="0"/>
          </a:p>
        </p:txBody>
      </p:sp>
      <p:sp>
        <p:nvSpPr>
          <p:cNvPr id="13" name="card-body"/>
          <p:cNvSpPr txBox="1"/>
          <p:nvPr/>
        </p:nvSpPr>
        <p:spPr>
          <a:xfrm>
            <a:off x="731520"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Father Gapon led a peaceful, unarmed march to the Winter Palace with a petition. Troops fired on the crowd and your…</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Duma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Russian word for a parliament, promised in the October Manifesto, is the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Duma is an elected parliament. The October Manifesto promised one that could approve or reject new laws.</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Within about six months the Tsar gave himself the power to dissolve the Duma whenever he liked</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promise only counts if it cannot be taken back. The Fundamental Laws let the Tsar dissolve the Duma at will…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serf</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peasant who was owned by a landowner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Serfdom had ended, but peasants still had to work the landowner's fields and pay him.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mutiny</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soldiers or sailors refuse to obey orders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mutiny on the battleship Potemkin showed the Tsar could not rely on his forces.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manifesto</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published plan for running the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October Manifesto was the Tsar's written promise of reform.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Duma</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Russian word for a parliament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Tsar agreed to a Duma, then made sure it had very little power.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reforms</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changes a government makes to try to improve things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reforms of 1905 looked generous on paper and felt thin in practice.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revolution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quick change of government or social order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Historians still argue whether 1905 was a real revolution.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1905 many groups in Russia wanted change.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Peasants were angry about land, rent and famine.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Middle-class Russians wanted a say in decisions.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Russia lost a war against Japan.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Losing to a country they thought weak was humiliating.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22 January 1905, New Style, workers marched to the Winter Palace.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carried a petition for the Tsar and brought their families.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Soldiers opened fire and killed over 100 people.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day is called Bloody Sunday.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Strikes, riots and mutinies spread across the empire.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October the Tsar published the October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Manifesto</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promised free speech and an elected parliament,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Duma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he used the army to crush what was left of the revolt.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Within months he took most of the promises back.</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Long-term causes: land, class and a weak Tsar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the causes into long-term (land, class, autocracy, revolutionary parties) and short-term (the lost war). Examiners reward that sorting.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reading divides the causes of 1905 into long-term problems and one short-term trigger.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second long-term cause was the middle classes. Richer, educated Russians were angry at how decisions were made.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Third, revolutionary parties were growing. The Liberals spoke for the middle classes and wanted to keep the Tsar but reduce his power by creating a Duma.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short-term cause and the trigger: Japan, then Bloody Sunday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Trigger and cause are different. The war and the land problems were causes; Bloody Sunday was the trigger that set them alight.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short-term cause was the Russo-Japanese War of 1904 to 1905.</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trigger came on 22 January 1905, New Style. A priest, Father Gapon, led a peaceful march of workers and their families to the Tsar's Winter Palace to hand over a petition.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note on the date. Russia still used the old Julian calendar, which was thirteen days behind the calendar we use.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The short-term cause and the trigger: Japan, then Bloody Sunday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why the Russo-Japanese War was such an important cause of the 1905 Revolution.</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the war mattered because it destroyed what was left of people's respect for the Tsar.</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from your lesson: Russia lost the war of 1904 to 1905 to a country Russians thought was weak, and the defeat was a national embarrassment.</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an autocrat's only real claim is that he is a strong, God-chosen ruler, so a humiliating defeat attacked the one thing holding his authority up.</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forward: that loss of respect is why a peaceful petition in January 1905 could turn into an empire-wide revolt.</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defeat humiliated Russia and the blame fell on the Tsar personally, which stripped away the respect autocracy depended on, so the next grievance tipped the country into revolt.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Events: the year the empire stopped working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one example for each group: peasants burning estates, sailors on the Potemkin, workers forming soviets, a general strike. Specific examples lift a narrative answer.</a:t>
            </a:r>
            <a:endParaRPr lang="en-US" sz="1800" dirty="0"/>
          </a:p>
        </p:txBody>
      </p:sp>
      <p:sp>
        <p:nvSpPr>
          <p:cNvPr id="11" name="bullet-card"/>
          <p:cNvSpPr/>
          <p:nvPr/>
        </p:nvSpPr>
        <p:spPr>
          <a:xfrm>
            <a:off x="548640" y="1389888"/>
            <a:ext cx="11094415" cy="856319"/>
          </a:xfrm>
          <a:prstGeom prst="roundRect">
            <a:avLst>
              <a:gd name="adj" fmla="val 8543"/>
            </a:avLst>
          </a:prstGeom>
          <a:solidFill>
            <a:srgbClr val="F4F1ED"/>
          </a:solidFill>
          <a:ln/>
        </p:spPr>
      </p:sp>
      <p:sp>
        <p:nvSpPr>
          <p:cNvPr id="12" name="bullet-hex"/>
          <p:cNvSpPr/>
          <p:nvPr/>
        </p:nvSpPr>
        <p:spPr>
          <a:xfrm>
            <a:off x="676656" y="1651755"/>
            <a:ext cx="384048" cy="332586"/>
          </a:xfrm>
          <a:prstGeom prst="hexagon">
            <a:avLst/>
          </a:prstGeom>
          <a:solidFill>
            <a:srgbClr val="7A4A1E"/>
          </a:solidFill>
          <a:ln/>
        </p:spPr>
      </p:sp>
      <p:sp>
        <p:nvSpPr>
          <p:cNvPr id="13" name="bullet"/>
          <p:cNvSpPr txBox="1"/>
          <p:nvPr/>
        </p:nvSpPr>
        <p:spPr>
          <a:xfrm>
            <a:off x="1143000" y="1389888"/>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Bloody Sunday set off a chain of events that ran all year.</a:t>
            </a:r>
            <a:endParaRPr lang="en-US" sz="2200" dirty="0"/>
          </a:p>
        </p:txBody>
      </p:sp>
      <p:sp>
        <p:nvSpPr>
          <p:cNvPr id="14" name="bullet-card"/>
          <p:cNvSpPr/>
          <p:nvPr/>
        </p:nvSpPr>
        <p:spPr>
          <a:xfrm>
            <a:off x="548640" y="2392511"/>
            <a:ext cx="11094415" cy="1098127"/>
          </a:xfrm>
          <a:prstGeom prst="roundRect">
            <a:avLst>
              <a:gd name="adj" fmla="val 6662"/>
            </a:avLst>
          </a:prstGeom>
          <a:solidFill>
            <a:srgbClr val="F4F1ED"/>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392511"/>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Different groups acted in different ways, and your lesson asks you to judge how dangerous each was.</a:t>
            </a:r>
            <a:endParaRPr lang="en-US" sz="2200" dirty="0"/>
          </a:p>
        </p:txBody>
      </p:sp>
      <p:sp>
        <p:nvSpPr>
          <p:cNvPr id="17" name="bullet-card"/>
          <p:cNvSpPr/>
          <p:nvPr/>
        </p:nvSpPr>
        <p:spPr>
          <a:xfrm>
            <a:off x="548640" y="3636941"/>
            <a:ext cx="11094415" cy="1438995"/>
          </a:xfrm>
          <a:prstGeom prst="roundRect">
            <a:avLst>
              <a:gd name="adj" fmla="val 5084"/>
            </a:avLst>
          </a:prstGeom>
          <a:solidFill>
            <a:srgbClr val="F4F1ED"/>
          </a:solidFill>
          <a:ln/>
        </p:spPr>
      </p:sp>
      <p:sp>
        <p:nvSpPr>
          <p:cNvPr id="18" name="bullet-hex"/>
          <p:cNvSpPr/>
          <p:nvPr/>
        </p:nvSpPr>
        <p:spPr>
          <a:xfrm>
            <a:off x="676656" y="4190146"/>
            <a:ext cx="384048" cy="332586"/>
          </a:xfrm>
          <a:prstGeom prst="hexagon">
            <a:avLst/>
          </a:prstGeom>
          <a:solidFill>
            <a:srgbClr val="7A4A1E"/>
          </a:solidFill>
          <a:ln/>
        </p:spPr>
      </p:sp>
      <p:sp>
        <p:nvSpPr>
          <p:cNvPr id="19" name="bullet"/>
          <p:cNvSpPr txBox="1"/>
          <p:nvPr/>
        </p:nvSpPr>
        <p:spPr>
          <a:xfrm>
            <a:off x="1143000" y="3636941"/>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Tsar first tried a small concession. In mid-February he offered the Bulygin Rescript, which promised an assembly that could advise but not decide, some religious tolerance and a cut in the peasants' redemption payments.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October Manifesto: change, or no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change-and-continuity question, give one point from each column and then judge. The strongest judgement uses what happened after the promise, not just the promise.</a:t>
            </a:r>
            <a:endParaRPr lang="en-US" sz="1800" dirty="0"/>
          </a:p>
        </p:txBody>
      </p:sp>
      <p:sp>
        <p:nvSpPr>
          <p:cNvPr id="11" name="bullet-card"/>
          <p:cNvSpPr/>
          <p:nvPr/>
        </p:nvSpPr>
        <p:spPr>
          <a:xfrm>
            <a:off x="548640" y="1389888"/>
            <a:ext cx="11094415" cy="936921"/>
          </a:xfrm>
          <a:prstGeom prst="roundRect">
            <a:avLst>
              <a:gd name="adj" fmla="val 7808"/>
            </a:avLst>
          </a:prstGeom>
          <a:solidFill>
            <a:srgbClr val="F4F1ED"/>
          </a:solidFill>
          <a:ln/>
        </p:spPr>
      </p:sp>
      <p:sp>
        <p:nvSpPr>
          <p:cNvPr id="12" name="bullet-hex"/>
          <p:cNvSpPr/>
          <p:nvPr/>
        </p:nvSpPr>
        <p:spPr>
          <a:xfrm>
            <a:off x="676656" y="1692056"/>
            <a:ext cx="384048" cy="332586"/>
          </a:xfrm>
          <a:prstGeom prst="hexagon">
            <a:avLst/>
          </a:prstGeom>
          <a:solidFill>
            <a:srgbClr val="7A4A1E"/>
          </a:solidFill>
          <a:ln/>
        </p:spPr>
      </p:sp>
      <p:sp>
        <p:nvSpPr>
          <p:cNvPr id="13" name="bullet"/>
          <p:cNvSpPr txBox="1"/>
          <p:nvPr/>
        </p:nvSpPr>
        <p:spPr>
          <a:xfrm>
            <a:off x="1143000" y="1389888"/>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October 1905 Nicholas asked his minister Witte to draft a way out.</a:t>
            </a:r>
            <a:endParaRPr lang="en-US" sz="2200" dirty="0"/>
          </a:p>
        </p:txBody>
      </p:sp>
      <p:sp>
        <p:nvSpPr>
          <p:cNvPr id="14" name="bullet-card"/>
          <p:cNvSpPr/>
          <p:nvPr/>
        </p:nvSpPr>
        <p:spPr>
          <a:xfrm>
            <a:off x="548640" y="2473113"/>
            <a:ext cx="11094415" cy="936921"/>
          </a:xfrm>
          <a:prstGeom prst="roundRect">
            <a:avLst>
              <a:gd name="adj" fmla="val 7808"/>
            </a:avLst>
          </a:prstGeom>
          <a:solidFill>
            <a:srgbClr val="F4F1ED"/>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473113"/>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then asks the hard question: did anything really change?</a:t>
            </a:r>
            <a:endParaRPr lang="en-US" sz="2200" dirty="0"/>
          </a:p>
        </p:txBody>
      </p:sp>
      <p:sp>
        <p:nvSpPr>
          <p:cNvPr id="17" name="bullet-card"/>
          <p:cNvSpPr/>
          <p:nvPr/>
        </p:nvSpPr>
        <p:spPr>
          <a:xfrm>
            <a:off x="548640" y="3556339"/>
            <a:ext cx="11094415" cy="1519597"/>
          </a:xfrm>
          <a:prstGeom prst="roundRect">
            <a:avLst>
              <a:gd name="adj" fmla="val 4814"/>
            </a:avLst>
          </a:prstGeom>
          <a:solidFill>
            <a:srgbClr val="F4F1ED"/>
          </a:solidFill>
          <a:ln/>
        </p:spPr>
      </p:sp>
      <p:sp>
        <p:nvSpPr>
          <p:cNvPr id="18" name="bullet-hex"/>
          <p:cNvSpPr/>
          <p:nvPr/>
        </p:nvSpPr>
        <p:spPr>
          <a:xfrm>
            <a:off x="676656" y="4149845"/>
            <a:ext cx="384048" cy="332586"/>
          </a:xfrm>
          <a:prstGeom prst="hexagon">
            <a:avLst/>
          </a:prstGeom>
          <a:solidFill>
            <a:srgbClr val="7A4A1E"/>
          </a:solidFill>
          <a:ln/>
        </p:spPr>
      </p:sp>
      <p:sp>
        <p:nvSpPr>
          <p:cNvPr id="19" name="bullet"/>
          <p:cNvSpPr txBox="1"/>
          <p:nvPr/>
        </p:nvSpPr>
        <p:spPr>
          <a:xfrm>
            <a:off x="1143000" y="3556339"/>
            <a:ext cx="10408615" cy="15195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What happened next settles the argument for most historians. About six months after the Manifesto the Tsar issued the Fundamental Laws, which let him dissolve the Duma whenever he liked and stopped it introducing reforms without his approval.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1905 Revolution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stages of the 1905 Revolution in the order your lesson gives them.</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Strikes, peasant riots and mutinies spread across the empire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Russia begins to lose the war against Japan, and the country is humiliated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Father Gapon leads a peaceful march to the Winter Palace and troops open fire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army is used to crush the remaining strikes and arrest revolutionaries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Tsar publishes the October Manifesto, promising rights and a Duma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1905 Revolution in order</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1905 Revolution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lesson uses four headings: causes, trigger, reaction, result. Match each item to one heading.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cause came before the trigger, so the war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reaction is what ordinary people did after the trigger.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items are left: a promise and a crackdown. Which did the Tsar do first, while he was still frightened?</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Cause, trigger, reaction, result. The Tsar promises first and crushes afterwards, once he feels safe again.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Tsar was able to crush the revolution after making his promises, and what that tells you about how much power he had really given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 wanted what in 1905?</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group in 1905 to what it wanted or did.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Who wanted what in 1905?</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group in 1905 to what it wanted or did.</a:t>
            </a:r>
            <a:endParaRPr lang="en-US" sz="2400" dirty="0"/>
          </a:p>
        </p:txBody>
      </p:sp>
      <p:sp>
        <p:nvSpPr>
          <p:cNvPr id="11" name="match-card"/>
          <p:cNvSpPr/>
          <p:nvPr/>
        </p:nvSpPr>
        <p:spPr>
          <a:xfrm>
            <a:off x="777240" y="2468331"/>
            <a:ext cx="3081437" cy="1103559"/>
          </a:xfrm>
          <a:prstGeom prst="roundRect">
            <a:avLst>
              <a:gd name="adj" fmla="val 6629"/>
            </a:avLst>
          </a:prstGeom>
          <a:solidFill>
            <a:srgbClr val="F4F1ED"/>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Peasants</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keep the Tsar but reduce his power by creating a Duma</a:t>
            </a:r>
            <a:endParaRPr lang="en-US" sz="2200" dirty="0"/>
          </a:p>
        </p:txBody>
      </p:sp>
      <p:sp>
        <p:nvSpPr>
          <p:cNvPr id="19" name="match-card"/>
          <p:cNvSpPr/>
          <p:nvPr/>
        </p:nvSpPr>
        <p:spPr>
          <a:xfrm>
            <a:off x="777240" y="3663330"/>
            <a:ext cx="3081437" cy="1103559"/>
          </a:xfrm>
          <a:prstGeom prst="roundRect">
            <a:avLst>
              <a:gd name="adj" fmla="val 6629"/>
            </a:avLst>
          </a:prstGeom>
          <a:solidFill>
            <a:srgbClr val="F4F1ED"/>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Middle-class Liberals</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Radical change and power for peasants and workers, using violence</a:t>
            </a:r>
            <a:endParaRPr lang="en-US" sz="2200" dirty="0"/>
          </a:p>
        </p:txBody>
      </p:sp>
      <p:sp>
        <p:nvSpPr>
          <p:cNvPr id="27" name="match-card"/>
          <p:cNvSpPr/>
          <p:nvPr/>
        </p:nvSpPr>
        <p:spPr>
          <a:xfrm>
            <a:off x="777240" y="4858329"/>
            <a:ext cx="3081437" cy="1103559"/>
          </a:xfrm>
          <a:prstGeom prst="roundRect">
            <a:avLst>
              <a:gd name="adj" fmla="val 6629"/>
            </a:avLst>
          </a:prstGeom>
          <a:solidFill>
            <a:srgbClr val="F4F1ED"/>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Socialist Revolutionaries</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Land of their own, and an end to paying the landowner; some burned estates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Who wanted what in 1905?</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group in 1905 to what it wanted or did.</a:t>
            </a:r>
            <a:endParaRPr lang="en-US" sz="2400" dirty="0"/>
          </a:p>
        </p:txBody>
      </p:sp>
      <p:sp>
        <p:nvSpPr>
          <p:cNvPr id="11" name="match-card"/>
          <p:cNvSpPr/>
          <p:nvPr/>
        </p:nvSpPr>
        <p:spPr>
          <a:xfrm>
            <a:off x="777240" y="2468331"/>
            <a:ext cx="3081437" cy="1165352"/>
          </a:xfrm>
          <a:prstGeom prst="roundRect">
            <a:avLst>
              <a:gd name="adj" fmla="val 6277"/>
            </a:avLst>
          </a:prstGeom>
          <a:solidFill>
            <a:srgbClr val="F4F1ED"/>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Urban workers</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Better treatment; some units mutinied and stopped obeying orders</a:t>
            </a:r>
            <a:endParaRPr lang="en-US" sz="2200" dirty="0"/>
          </a:p>
        </p:txBody>
      </p:sp>
      <p:sp>
        <p:nvSpPr>
          <p:cNvPr id="19" name="match-card"/>
          <p:cNvSpPr/>
          <p:nvPr/>
        </p:nvSpPr>
        <p:spPr>
          <a:xfrm>
            <a:off x="777240" y="3725123"/>
            <a:ext cx="3081437" cy="1165352"/>
          </a:xfrm>
          <a:prstGeom prst="roundRect">
            <a:avLst>
              <a:gd name="adj" fmla="val 6277"/>
            </a:avLst>
          </a:prstGeom>
          <a:solidFill>
            <a:srgbClr val="F4F1ED"/>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Army and navy</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Better pay and conditions; they struck and formed soviets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Who wanted what in 1905?</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group in 1905 to what it wanted or did.</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groups wanted political change above all. Which two?</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groups wanted better daily conditions: one in the fields, one in the factories.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One group is dangerous to the Tsar not because of what it wanted but because of what it stopped doing.</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Match that last group last, and read all five pairs back.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Who wanted what in 1905?</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group in 1905 to what it wanted or did.</a:t>
            </a:r>
            <a:endParaRPr lang="en-US" sz="2000" dirty="0"/>
          </a:p>
        </p:txBody>
      </p:sp>
      <p:sp>
        <p:nvSpPr>
          <p:cNvPr id="12" name="col-Core"/>
          <p:cNvSpPr/>
          <p:nvPr/>
        </p:nvSpPr>
        <p:spPr>
          <a:xfrm>
            <a:off x="548640" y="2578608"/>
            <a:ext cx="5410048" cy="3566160"/>
          </a:xfrm>
          <a:prstGeom prst="roundRect">
            <a:avLst>
              <a:gd name="adj" fmla="val 1538"/>
            </a:avLst>
          </a:prstGeom>
          <a:solidFill>
            <a:srgbClr val="E2D7C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Ask of each group: did it want political power, better conditions, or simply to stop being used? The answers are all different.</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7A4A1E"/>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Your lesson asks you to score how much of a threat each group was to the government, from one to ten. Choose the group you would score highest and justify it in two sentences.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The October Manifesto promised an elected Duma. Did this mean the Tsar had given up his power?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 he kept the right to ignore or dissolve the Duma, so the power stayed with him</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 the Duma was never actually set up, so the promise meant nothing at all</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Yes: from 1905 no decision in Russia could be made without the Duma's consent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Yes: the Duma was elected by all Russian men and women over the age of 21</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1905 Revolution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Russia begins to lose the war against Japan, and the country is humiliated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Father Gapon leads a peaceful march to the Winter Palace and troops open fire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Strikes, peasant riots and mutinies spread across the empire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Tsar publishes the October Manifesto, promising rights and a Duma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army is used to crush the remaining strikes and arrest revolutionaries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Defeat by Japan was the cause; Bloody Sunday the trigger; strikes, riots and mutinies the reaction; the October Manifesto the result; and the army's crackdown is what the Tsar did once the danger had passed.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 wanted what in 1905?</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Peasants  →  C  Land of their own, and an end to paying the landowner; some burned estates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Middle-class Liberals  →  E  To keep the Tsar but reduce his power by creating a Duma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Socialist Revolutionaries  →  D  Radical change and power for peasants and workers, using violence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Urban workers  →  B  Better pay and conditions; they struck and formed soviets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Army and navy  →  A  Better treatment; some units mutinied and stopped obeying orders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Peasants wanted land, Liberals wanted a parliament, Socialist Revolutionaries wanted radical change by force, workers wanted pay and conditions, and parts of the army and navy simply stopped obeying. The Tsar survived 1905 partly because these aims pulled in different directions.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October Manifesto promised an elected Duma. Did this mean the Tsar had given up his power?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No: he kept the right to ignore or dissolve the Duma, so the power stayed with him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1905 produced a parliament the Tsar could dismiss, rights he could withdraw and elections he could rig. That is why most historians treat 1905 as a warning that was ignored rather than a revolution that succeeded.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2: The 1905 Revolution</dc:title>
  <dc:subject>History · Year 9</dc:subject>
  <dc:creator>Dr Vitor Merissi de Carvalho</dc:creator>
  <cp:lastModifiedBy>Dr Vitor Merissi de Carvalho</cp:lastModifiedBy>
  <cp:revision>1</cp:revision>
  <dcterms:created xsi:type="dcterms:W3CDTF">2026-10-19T16:23:12Z</dcterms:created>
  <dcterms:modified xsi:type="dcterms:W3CDTF">2026-10-19T16:23:12Z</dcterms:modified>
</cp:coreProperties>
</file>