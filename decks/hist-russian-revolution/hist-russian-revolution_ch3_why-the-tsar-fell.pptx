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4624bb-23cb-1f4d-cb8d-078bc435aa4c}">
          <p14:sldIdLst>
            <p14:sldId id="256"/>
          </p14:sldIdLst>
        </p14:section>
        <p14:section name="Gate" id="{e1e19dbd-8258-f48f-18a7-f7db5339e0a4}">
          <p14:sldIdLst>
            <p14:sldId id="257"/>
            <p14:sldId id="258"/>
          </p14:sldIdLst>
        </p14:section>
        <p14:section name="Pre-teach" id="{ee67d5a9-bb54-f2d1-5f78-f61f922c0c16}">
          <p14:sldIdLst>
            <p14:sldId id="259"/>
            <p14:sldId id="260"/>
          </p14:sldIdLst>
        </p14:section>
        <p14:section name="Read-along" id="{dd48e04b-d12a-9265-0abb-8f0e0cdba710}">
          <p14:sldIdLst>
            <p14:sldId id="261"/>
            <p14:sldId id="262"/>
          </p14:sldIdLst>
        </p14:section>
        <p14:section name="Teach" id="{fecee5ad-e2c6-9ab5-da7a-51a8dfbcb42e}">
          <p14:sldIdLst>
            <p14:sldId id="263"/>
            <p14:sldId id="264"/>
            <p14:sldId id="265"/>
            <p14:sldId id="266"/>
            <p14:sldId id="267"/>
          </p14:sldIdLst>
        </p14:section>
        <p14:section name="Routes" id="{c0d86a85-17f9-8bcd-911e-67dfb585656a}">
          <p14:sldIdLst>
            <p14:sldId id="268"/>
            <p14:sldId id="269"/>
            <p14:sldId id="270"/>
            <p14:sldId id="271"/>
            <p14:sldId id="272"/>
            <p14:sldId id="273"/>
          </p14:sldIdLst>
        </p14:section>
        <p14:section name="Close" id="{2d980d1f-35ec-b525-2f68-cf70a7c4736e}">
          <p14:sldIdLst>
            <p14:sldId id="274"/>
          </p14:sldIdLst>
        </p14:section>
        <p14:section name="Answers" id="{98ecd312-8dbf-9a89-5ab1-2e1b5a5a250d}">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Why the Tsar fell: the causes of February 1917. The seven causes your lesson remembers with the ABC formula, how to sort them into long-term and short-term, and why the First World War pulled all of them together.
This deck covers the department's lesson: 3 (The February 1917 Revolution: What were the causes, events and consequences of the February Revolution?).
Read the big question aloud: "To what extent did the Russian Revolution bring about change?"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your lesson's ABC formula for the causes of the February Revolution, what does the B stand for?  →  B   Bread
2. The Tsar's secret police, used to spy on his opponents and remove them, were called the ___.  →  Okhrana
3. Why did taking personal command of the army in 1915 damage the Tsar so badly?  →  B   Every defeat after that became his own fault, and he also left the capital in the Tsarina's hands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Bread. B is for Bread: the food shortage that drove the strikes and demonstrations in Petrograd by February 1917.
2. Okhrana. The Okhrana were the secret police. They silenced criticism, which is one reason so few people defended the Tsar in 1917.
3. B   Every defeat after that became his own fault, and he also left the capital in the Tsarina's hands. Before 1915 the generals carried the blame for defeats. Afterwards Nicholas carried it himself, and his absence from Petrograd left an unpopular Tsarina running the country.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Okhrana: the Tsar's secret police, used to spy on and remove his opponents. Example: "The Okhrana silenced the Tsar's critics but never fixed the problems they complained about."
• inflation: a rise in prices, so the same wage buys less food. Example: "Inflation meant a factory wage that fed a family in 1914 bought almost nothing by 1917."
• Petrograd: the Russian capital, renamed from St Petersburg during the war. Example: "The revolution began in the bread queues and factories of Petrograd."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conscript: a man forced by law to join the army. Example: "Most of the Tsar's new soldiers were conscript peasants who did not want to be there."
• Rasputin: a healer trusted by the Tsarina, whose influence caused a public scandal. Example: "Rumours about Rasputin damaged what was left of respect for the royal family."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By 1917 Russia had been at war for over two years.
2. The First World War went badly from the start.
3. Soldiers were sent to the front without enough rifles, bullets or food.
4. Trains carried troops, not grain, so the cities ran short of bread.
5. Prices rose 400 per cent between 1914 and 1917.
6. In 1915 the Tsar made himself commander of the army.
7. After that, every defeat was his fault.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He left his wife, the Tsarina, in charge at home.
9. She trusted a healer called Rasputin, and that caused a scandal.
10. Rasputin was murdered in 1916, but the damage was done.
11. The Duma turned against the Tsar.
12. So did many of his own generals.
13. The Okhrana had removed his critics, not his problems.
14. By February 1917 the workers of Petrograd were starving.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ABC of the February Revolution. Say it in your own words, then check understanding with a quick question: ask a pupil from the pre-teach group first, since they met these words and ideas before the lesson. Pupils try to recall before you re-explain.
Your lesson gives seven causes of the February Revolution and a way of remembering them: Autocracy, Bread, Conspirators and Critics, Duma, Economy, First World War, Grigori Rasputin. That is the ABC formula, and it is worth learning as a list because the assessment rewards specific, named causes rather than a vague sense that people were fed up.
As you meet each cause, your lesson asks you to decide whether it is long-term or short-term. A long-term cause had been building for years or generations: autocracy, poverty, the Duma's weakness, the state of the economy. A short-term cause belongs to the last months before the revolution: the bread shortage in Petrograd, Rasputin's scandal, the latest run of defeats.
One warning before you start. Your lesson says clearly that the revolutionary parties, the Socialist Revolutionaries, the Mensheviks and the Bolsheviks, had spread their ideas widely by 1917 but were neither the leaders nor the instigators of the February Revolution. Nobody organised February. It began with bread queues and strikes, and the parties caught up with it afterwards.
Tip: Write the seven causes down the margin as A to G before you plan a causes paragraph. Then pick the three you can explain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Autocracy, the Duma and the critics. Say it in your own words, then check understanding with a quick question: ask a pupil from the pre-teach group first, since they met these words and ideas before the lesson. Pupils try to recall before you re-explain.
Autocracy is the oldest cause of all. Nicholas II still had complete control over the government and could appoint or sack any minister. For years, groups had tried to persuade or force him to share power, and his answer had been the Okhrana, the secret police, who spied on his opponents, arrested them and worse. That worked for a while. The cost was that by 1917 almost nobody felt any loyalty to him, so when the politicians and the generals turned against him, hardly anyone was prepared to stand in the way.
The Duma was supposed to be the safety valve created after 1905, but your lesson is blunt about it: it had few real powers and its members were elected by the wealthy. In 1914 most of its politicians still supported the Tsar. By 1917 they had become sharply critical, and they saw the crisis in Petrograd as their chance. Their plan was not to abolish the monarchy. They wanted Nicholas to abdicate so that his successor would agree to share power with them, as monarchs did in Germany and Britain.
Then there were the conspirators and critics: liberal aristocrats, middle-class politicians and radical socialists who wanted complete social change by force. They had been criticising the government for years and their ideas had spread. Remember that they fed the anger without directing it.
Tip: Autocracy, Duma and Critics are all about politics. Group them together in one sentence and you have a whole strand of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Bread and the economy. Say it in your own words, then check understanding with a quick question: ask a pupil from the pre-teach group first, since they met these words and ideas before the lesson. Pupils try to recall before you re-explain.
Most Russians were already poor before the war. Then the war took the peasants into the army and took the trains for the war effort, so the grain that fed the cities stopped arriving. By February 1917 the workers of Petrograd were, in your lesson's words, starving and desperate, and desperate people held strikes and demonstrations, such as the one at the Putilov factory.
Behind the bread shortage sat the wider economy. Russia had industrialised fast at the end of the nineteenth century, so by 1917 there were more factory workers than ever, living in poor urban conditions and willing to listen to the Bolsheviks and other radical groups. The war opened still more factories and crowded the cities further.
The figure to remember is inflation. Your lesson says prices rose 400 per cent between 1914 and 1917. That is the number that turns a political problem into a personal one: the same wage that fed a family in 1914 bought a fraction as much food three years later. It is also why bread, not voting rights, is the word on the banners in February.
Worked example — model it step by step, thinking aloud: Explain how the First World War caused the bread shortage in Petrograd by February 1917. (1) Start with the farms: peasants were conscripted into the army, so there were fewer people left to grow food. (2) Then the transport: the railways that had carried grain to the cities were needed to carry soldiers and supplies to the front. (3) Then the prices: with less food arriving, prices rose, and your lesson gives inflation of 400 per cent between 1914 and 1917. (4) Finish with the people: so city workers could neither find bread nor afford it, and they went on strike. Answer: Fewer farmers, fewer grain trains and 400 per cent inflation together emptied the shops and the wages, so Petrograd's workers struck for bread..
Tip: A good cause paragraph is a chain, not a list. Farms, then railways, then prices, then strikes: each link explained with the word so or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Bread and the economy. Say it in your own words, then check understanding with a quick question: ask a pupil from the pre-teach group first, since they met these words and ideas before the lesson. Pupils try to recall before you re-explain.
Most Russians were already poor before the war. Then the war took the peasants into the army and took the trains for the war effort, so the grain that fed the cities stopped arriving. By February 1917 the workers of Petrograd were, in your lesson's words, starving and desperate, and desperate people held strikes and demonstrations, such as the one at the Putilov factory.
Behind the bread shortage sat the wider economy. Russia had industrialised fast at the end of the nineteenth century, so by 1917 there were more factory workers than ever, living in poor urban conditions and willing to listen to the Bolsheviks and other radical groups. The war opened still more factories and crowded the cities further.
The figure to remember is inflation. Your lesson says prices rose 400 per cent between 1914 and 1917. That is the number that turns a political problem into a personal one: the same wage that fed a family in 1914 bought a fraction as much food three years later. It is also why bread, not voting rights, is the word on the banners in February.
Worked example — model it step by step, thinking aloud: Explain how the First World War caused the bread shortage in Petrograd by February 1917. (1) Start with the farms: peasants were conscripted into the army, so there were fewer people left to grow food. (2) Then the transport: the railways that had carried grain to the cities were needed to carry soldiers and supplies to the front. (3) Then the prices: with less food arriving, prices rose, and your lesson gives inflation of 400 per cent between 1914 and 1917. (4) Finish with the people: so city workers could neither find bread nor afford it, and they went on strike. Answer: Fewer farmers, fewer grain trains and 400 per cent inflation together emptied the shops and the wages, so Petrograd's workers struck for bread..
Tip: A good cause paragraph is a chain, not a list. Farms, then railways, then prices, then strikes: each link explained with the word so or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war and Rasputin: the last two causes. Say it in your own words, then check understanding with a quick question: ask a pupil from the pre-teach group first, since they met these words and ideas before the lesson. Pupils try to recall before you re-explain.
Your lesson calls the First World War probably the most important factor of all, and gives three reasons. Russia suffered defeat after defeat; the Tsar was popular at first but then blamed, especially after he made himself commander-in-chief of the armed forces in 1915; and the defeats killed the most loyal soldiers, the very men who had protected him from his critics. The casualty figures your lesson gives are hard to take in: over one million killed or wounded by the end of 1914, around 5.3 million by 1916, and about eight million by 1917. Each of those numbers is somebody's son or father.
Taking command in 1915 was the decision that mattered most, and your lesson's decision-making activity shows why. Before it, defeats belonged to his generals. After it, every defeat belonged to him. On top of that he left the capital, handing the running of the country to the Tsarina, who was unpopular, suspected because she was a German princess, and mistrusted for the ministers she appointed.
That is where Rasputin comes in. Rasputin was a healer the Tsarina believed could help her ill son, and she came to rely on his advice. Critics spread rumours about his relationship with her, and he was blamed for the weak ministers chosen during the war. To ordinary Russians he came to stand for everything wrong with the royal court. He was murdered in 1916, but by then the respect the Tsar needed had already gone.
Tip: If you only have room for two causes, choose the war and autocracy, then use Rasputin as the detail that shows how little respect was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the ABC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your lesson's causes to the right explanation.
Support — work through the steps with the group: (1) Three of the five causes are about politics and two are about everyday life or people. (2) Find the cause that is a person's name and match it first. (3) Find the cause that is about food and match that second. (4) You are left with three political causes: one is a parliament, one is a system of rule, one is a war.
Parallel worked example for Support (model it, do not give the task answer): Match these causes of the First Indian War of Independence in 1857 to their explanations: new rifle cartridges; the annexation of Indian states; the East India Company's taxes. Options: land and titles taken from Indian rulers; demands for money that angered peasants and landowners; a change that offended soldiers' religious beliefs. The cartridges were a military and religious grievance.; Annexation is about land and titles.; Taxes are about money.. Answer: Cartridges: offended soldiers' religious beliefs. Annexation: land and titles taken from Indian rulers. Taxes: demands for money that angered peasants and landowners..
Core — reveal the hint only on request: Sort the five into politics, food and people before you match any of them.
Stretch — no help; when finished: Your lesson asks you to rank the five most important causes. Choose your top two, say which is long-term and which is short-term, and justify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the ABC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your lesson's causes to the right explanation.
Support — work through the steps with the group: (1) Three of the five causes are about politics and two are about everyday life or people. (2) Find the cause that is a person's name and match it first. (3) Find the cause that is about food and match that second. (4) You are left with three political causes: one is a parliament, one is a system of rule, one is a war.
Parallel worked example for Support (model it, do not give the task answer): Match these causes of the First Indian War of Independence in 1857 to their explanations: new rifle cartridges; the annexation of Indian states; the East India Company's taxes. Options: land and titles taken from Indian rulers; demands for money that angered peasants and landowners; a change that offended soldiers' religious beliefs. The cartridges were a military and religious grievance.; Annexation is about land and titles.; Taxes are about money.. Answer: Cartridges: offended soldiers' religious beliefs. Annexation: land and titles taken from Indian rulers. Taxes: demands for money that angered peasants and landowners..
Core — reveal the hint only on request: Sort the five into politics, food and people before you match any of them.
Stretch — no help; when finished: Your lesson asks you to rank the five most important causes. Choose your top two, say which is long-term and which is short-term, and justify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the ABC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your lesson's causes to the right explanation.
Support — work through the steps with the group: (1) Three of the five causes are about politics and two are about everyday life or people. (2) Find the cause that is a person's name and match it first. (3) Find the cause that is about food and match that second. (4) You are left with three political causes: one is a parliament, one is a system of rule, one is a war.
Parallel worked example for Support (model it, do not give the task answer): Match these causes of the First Indian War of Independence in 1857 to their explanations: new rifle cartridges; the annexation of Indian states; the East India Company's taxes. Options: land and titles taken from Indian rulers; demands for money that angered peasants and landowners; a change that offended soldiers' religious beliefs. The cartridges were a military and religious grievance.; Annexation is about land and titles.; Taxes are about money.. Answer: Cartridges: offended soldiers' religious beliefs. Annexation: land and titles taken from Indian rulers. Taxes: demands for money that angered peasants and landowners..
Core — reveal the hint only on request: Sort the five into politics, food and people before you match any of them.
Stretch — no help; when finished: Your lesson asks you to rank the five most important causes. Choose your top two, say which is long-term and which is short-term, and justify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the ABC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your lesson's causes to the right explanation.
Support — work through the steps with the group: (1) Three of the five causes are about politics and two are about everyday life or people. (2) Find the cause that is a person's name and match it first. (3) Find the cause that is about food and match that second. (4) You are left with three political causes: one is a parliament, one is a system of rule, one is a war.
Parallel worked example for Support (model it, do not give the task answer): Match these causes of the First Indian War of Independence in 1857 to their explanations: new rifle cartridges; the annexation of Indian states; the East India Company's taxes. Options: land and titles taken from Indian rulers; demands for money that angered peasants and landowners; a change that offended soldiers' religious beliefs. The cartridges were a military and religious grievance.; Annexation is about land and titles.; Taxes are about money.. Answer: Cartridges: offended soldiers' religious beliefs. Annexation: land and titles taken from Indian rulers. Taxes: demands for money that angered peasants and landowners..
Core — reveal the hint only on request: Sort the five into politics, food and people before you match any of them.
Stretch — no help; when finished: Your lesson asks you to rank the five most important causes. Choose your top two, say which is long-term and which is short-term, and justify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Was the war the most important cause?.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says the First World War was probably the most important cause of the February Revolution. Explain the war's part in the revolution, then explain one other cause, and say which you think mattered more. Write one paragraph of five to seven sentences.
Support — work through the steps with the group: (1) Sentence 1: The First World War was probably the most important cause because... (2) Sentences 2 and 3: give one military effect (the 1915 command decision) and one economic effect (food and prices). (3) Sentence 4: However, another cause was... Explain it in one sentence. (4) Last sentence: In my judgement... mattered more because...
Parallel worked example for Support (model it, do not give the task answer): Explain why the Normans won at Hastings in 1066, giving one reason and one other factor, and judge between them. Reason one: Harold's army was exhausted after marching from Stamford Bridge.; Reason two: William's cavalry and feigned retreat broke the shield wall.; Judgement: the exhaustion mattered more, because a fresh army would have held the ridge all day.. Answer: Two factors, each explained, then a judgement with a reason..
Core — reveal the hint only on request: Two effects of the war, then one other cause, then a judgement. The best judgements explain why one cause made the other urgent.
Stretch — no help; when finished: Explain how you would answer someone who argued that the February Revolution would have happened sooner or later even without the First World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Was the war the most important cause?.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says the First World War was probably the most important cause of the February Revolution. Explain the war's part in the revolution, then explain one other cause, and say which you think mattered more. Write one paragraph of five to seven sentences.
Support — work through the steps with the group: (1) Sentence 1: The First World War was probably the most important cause because... (2) Sentences 2 and 3: give one military effect (the 1915 command decision) and one economic effect (food and prices). (3) Sentence 4: However, another cause was... Explain it in one sentence. (4) Last sentence: In my judgement... mattered more because...
Parallel worked example for Support (model it, do not give the task answer): Explain why the Normans won at Hastings in 1066, giving one reason and one other factor, and judge between them. Reason one: Harold's army was exhausted after marching from Stamford Bridge.; Reason two: William's cavalry and feigned retreat broke the shield wall.; Judgement: the exhaustion mattered more, because a fresh army would have held the ridge all day.. Answer: Two factors, each explained, then a judgement with a reason..
Core — reveal the hint only on request: Two effects of the war, then one other cause, then a judgement. The best judgements explain why one cause made the other urgent.
Stretch — no help; when finished: Explain how you would answer someone who argued that the February Revolution would have happened sooner or later even without the First World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many years passed between the 1905 Revolution and the February Revolution of 1917?
Answer: 12 years. 1917 − 1905 = 12 years. Every cause in the ABC list except the war was visible in 1905, which is why historians treat February 1917 as the same crisis returning to a ruler who had not dealt with it.
Source of this question: module 3 task ("Twelve years of warnings")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Sorting the ABC causes. Reveal the answer; pupils mark their own work in a different colour, then read the "why" together. Same destination for every lane, so one answer serves the whole class.
Answer: Autocracy  →  B  The Tsar held all the power and used the Okhrana against his critics, so few defended him in 1917; Bread  →  A  Food stopped reaching the cities, and by February 1917 Petrograd's workers were starving; Duma  →  C  A parliament with few powers, elected by the wealthy, which turned against the Tsar by 1917; First World War  →  D  Defeat after defeat, which the Tsar owned personally once he took command in 1915; Grigori Rasputin  →  E  A healer trusted by the Tsarina whose influence became a public scandal
Why: Autocracy, the Duma's weakness and the economy were long-term problems; bread shortages, the latest defeats and the Rasputin scandal were short-term. The war is the cause that made every long-term problem urgent at once.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Was the war the most important cause?. Reveal the answer; pupils mark their own work in a different colour, then read the "why" together. Same destination for every lane, so one answer serves the whole class.
Answer: I explain at least two ways the war weakened the Tsar, using a detail such as the 1915 command decision or a casualty figure.; I explain one other named cause from the ABC list.; I use a connective such as however, also or as a result to move between the two causes.; I include one figure or date correctly, such as 400 per cent inflation or 1915.; I finish with a judgement about which cause mattered more, and give a reason.
Why: The strongest answers do not just list the war and one other cause: they explain how the war turned long-standing grievances into an immediate crisis, which is why most historians give it first place without dismissing autocracy.
Model answer: The First World War was probably the most important cause of the February Revolution because it attacked the Tsar from several directions at once. Militarily, Russia suffered defeat after defeat, and once Nicholas made himself commander of the armed forces in 1915 every one of those defeats became his personal failure. Economically, the war took peasants off the land and trains away from carrying grain, so food ran short in the cities and prices rose 400 per cent between 1914 and 1917. However, autocracy was a cause that had been building for far longer, because the Tsar had spent years refusing to share power and using the Okhrana against anyone who asked him to. In my judgement the war mattered more, not because autocracy was unimportant, but because autocracy had survived for three hundred years and only the war turned long-standing anger into empty bread shops and mutinying soldiers. That is the difference between a cause that makes a revolution possible and a cause that makes it happen now.
Success criteria: I explain at least two ways the war weakened the Tsar, using a detail such as the 1915 command decision or a casualty figure.; I explain one other named cause from the ABC list.; I use a connective such as however, also or as a result to move between the two causes.; I include one figure or date correctly, such as 400 per cent inflation or 1915.; I finish with a judgement about which cause mattered more, and give a reason.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Was the war the most important cause?. Reveal the answer; pupils mark their own work in a different colour, then read the "why" together. Same destination for every lane, so one answer serves the whole class.
Answer: I explain at least two ways the war weakened the Tsar, using a detail such as the 1915 command decision or a casualty figure.; I explain one other named cause from the ABC list.; I use a connective such as however, also or as a result to move between the two causes.; I include one figure or date correctly, such as 400 per cent inflation or 1915.; I finish with a judgement about which cause mattered more, and give a reason.
Why: The strongest answers do not just list the war and one other cause: they explain how the war turned long-standing grievances into an immediate crisis, which is why most historians give it first place without dismissing autocracy.
Model answer: The First World War was probably the most important cause of the February Revolution because it attacked the Tsar from several directions at once. Militarily, Russia suffered defeat after defeat, and once Nicholas made himself commander of the armed forces in 1915 every one of those defeats became his personal failure. Economically, the war took peasants off the land and trains away from carrying grain, so food ran short in the cities and prices rose 400 per cent between 1914 and 1917. However, autocracy was a cause that had been building for far longer, because the Tsar had spent years refusing to share power and using the Okhrana against anyone who asked him to. In my judgement the war mattered more, not because autocracy was unimportant, but because autocracy had survived for three hundred years and only the war turned long-standing anger into empty bread shops and mutinying soldiers. That is the difference between a cause that makes a revolution possible and a cause that makes it happen now.
Success criteria: I explain at least two ways the war weakened the Tsar, using a detail such as the 1915 command decision or a casualty figure.; I explain one other named cause from the ABC list.; I use a connective such as however, also or as a result to move between the two causes.; I include one figure or date correctly, such as 400 per cent inflation or 1915.; I finish with a judgement about which cause mattered more, and give a reason.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12 years
Why: 1917 − 1905 = 12 years. Every cause in the ABC list except the war was visible in 1905, which is why historians treat February 1917 as the same crisis returning to a ruler who had not dealt with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Russian Revolution · AQA KS3 → 8145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Why the Tsar fell: the causes of February 1917</a:t>
            </a:r>
            <a:endParaRPr lang="en-US" sz="3600" dirty="0"/>
          </a:p>
        </p:txBody>
      </p:sp>
      <p:sp>
        <p:nvSpPr>
          <p:cNvPr id="11" name="lessons-card"/>
          <p:cNvSpPr/>
          <p:nvPr/>
        </p:nvSpPr>
        <p:spPr>
          <a:xfrm>
            <a:off x="548640" y="4003548"/>
            <a:ext cx="5287975" cy="980440"/>
          </a:xfrm>
          <a:prstGeom prst="roundRect">
            <a:avLst>
              <a:gd name="adj" fmla="val 7461"/>
            </a:avLst>
          </a:prstGeom>
          <a:solidFill>
            <a:srgbClr val="F2EDE9"/>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February 1917 Revolution</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did the Russian Revolution bring about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your lesson's ABC formula for the causes of the February Revolution, what does the B stand for?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Bribery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Bread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Battles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Bolsheviks</a:t>
            </a:r>
            <a:endParaRPr lang="en-US" sz="1800" dirty="0"/>
          </a:p>
        </p:txBody>
      </p:sp>
      <p:sp>
        <p:nvSpPr>
          <p:cNvPr id="12"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The Tsar's secret police, used to spy on his opponents and remove them, were called the ___.</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Okhrana  ·  Duma  ·  Putilov</a:t>
            </a:r>
            <a:endParaRPr lang="en-US" sz="2000" dirty="0"/>
          </a:p>
        </p:txBody>
      </p:sp>
      <p:sp>
        <p:nvSpPr>
          <p:cNvPr id="17"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did taking personal command of the army in 1915 damage the Tsar so badly?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was captured by the Germans and had to be bought back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defeat after that became his own fault, and he also left the capital in the Tsarina's hands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Duma used the opportunity to abolish the monarchy at once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meant he could no longer appoint or sack his own ministers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Bread</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 is for Bread: the food shortage that drove the strikes and demonstrations in Petrograd by February 1917.</a:t>
            </a:r>
            <a:endParaRPr lang="en-US" sz="1800" dirty="0"/>
          </a:p>
        </p:txBody>
      </p:sp>
      <p:sp>
        <p:nvSpPr>
          <p:cNvPr id="14"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Okhrana</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Okhrana were the secret police. They silenced criticism, which is one reason so few people defended the Tsar in 1917.</a:t>
            </a:r>
            <a:endParaRPr lang="en-US" sz="1800" dirty="0"/>
          </a:p>
        </p:txBody>
      </p:sp>
      <p:sp>
        <p:nvSpPr>
          <p:cNvPr id="21"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Every defeat after that became his own fault, and he also left the capital in the Tsarina's hands</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did taking personal command of the army in 1915 damage the Tsar so badly?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Before 1915 the generals carried the blame for defeats. Afterwards Nicholas carried it himself, and his absence from Petrograd left an unpopular Tsarina running the country.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Okhrana</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Tsar's secret police, used to spy on and remove his opponents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Okhrana silenced the Tsar's critics but never fixed the problems they complained about.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inflation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rise in prices, so the same wage buys less food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Inflation meant a factory wage that fed a family in 1914 bought almost nothing by 1917.</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Petrograd</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Russian capital, renamed from St Petersburg during the war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revolution began in the bread queues and factories of Petrograd.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conscript</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man forced by law to join the army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of the Tsar's new soldiers were conscript peasants who did not want to be there.</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Rasputin</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healer trusted by the Tsarina, whose influence caused a public scandal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Rumours about Rasputin damaged what was left of respect for the royal family.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1917 Russia had been at war for over two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First World War went badly from the start.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Soldiers were sent to the front without enough rifles, bullets or food.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Trains carried troops, not grain, so the cities ran short of bread.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Prices rose 400 per cent between 1914 and 1917.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1915 the Tsar made himself commander of the army.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that, every defeat was his fault.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left his wife, the Tsarina, in charge at home.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 trusted a healer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Rasputin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that caused a scandal.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Rasputin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was murdered in 1916, but the damage was done.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Duma turned against the Tsar.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did many of his own generals.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Okhrana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had removed his critics, not his problems.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February 1917 the workers of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Petrograd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starving.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ABC of the February Revolution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the seven causes down the margin as A to G before you plan a causes paragraph. Then pick the three you can explain best.</a:t>
            </a:r>
            <a:endParaRPr lang="en-US" sz="1800" dirty="0"/>
          </a:p>
        </p:txBody>
      </p:sp>
      <p:sp>
        <p:nvSpPr>
          <p:cNvPr id="11" name="bullet-card"/>
          <p:cNvSpPr/>
          <p:nvPr/>
        </p:nvSpPr>
        <p:spPr>
          <a:xfrm>
            <a:off x="548640" y="1389888"/>
            <a:ext cx="11094415" cy="1087797"/>
          </a:xfrm>
          <a:prstGeom prst="roundRect">
            <a:avLst>
              <a:gd name="adj" fmla="val 6725"/>
            </a:avLst>
          </a:prstGeom>
          <a:solidFill>
            <a:srgbClr val="F4F1ED"/>
          </a:solidFill>
          <a:ln/>
        </p:spPr>
      </p:sp>
      <p:sp>
        <p:nvSpPr>
          <p:cNvPr id="12" name="bullet-hex"/>
          <p:cNvSpPr/>
          <p:nvPr/>
        </p:nvSpPr>
        <p:spPr>
          <a:xfrm>
            <a:off x="676656" y="1767494"/>
            <a:ext cx="384048" cy="332586"/>
          </a:xfrm>
          <a:prstGeom prst="hexagon">
            <a:avLst/>
          </a:prstGeom>
          <a:solidFill>
            <a:srgbClr val="7A4A1E"/>
          </a:solidFill>
          <a:ln/>
        </p:spPr>
      </p:sp>
      <p:sp>
        <p:nvSpPr>
          <p:cNvPr id="13" name="bullet"/>
          <p:cNvSpPr txBox="1"/>
          <p:nvPr/>
        </p:nvSpPr>
        <p:spPr>
          <a:xfrm>
            <a:off x="1143000" y="1389888"/>
            <a:ext cx="10408615" cy="108779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lesson gives seven causes of the February Revolution and a way of remembering them: Autocracy, Bread, Conspirators and Critics, Duma, Economy, First World War, Grigori Rasputin.</a:t>
            </a:r>
            <a:endParaRPr lang="en-US" sz="2000" dirty="0"/>
          </a:p>
        </p:txBody>
      </p:sp>
      <p:sp>
        <p:nvSpPr>
          <p:cNvPr id="14" name="bullet-card"/>
          <p:cNvSpPr/>
          <p:nvPr/>
        </p:nvSpPr>
        <p:spPr>
          <a:xfrm>
            <a:off x="548640" y="2623989"/>
            <a:ext cx="11094415" cy="907965"/>
          </a:xfrm>
          <a:prstGeom prst="roundRect">
            <a:avLst>
              <a:gd name="adj" fmla="val 8057"/>
            </a:avLst>
          </a:prstGeom>
          <a:solidFill>
            <a:srgbClr val="F4F1ED"/>
          </a:solidFill>
          <a:ln/>
        </p:spPr>
      </p:sp>
      <p:sp>
        <p:nvSpPr>
          <p:cNvPr id="15" name="bullet-hex"/>
          <p:cNvSpPr/>
          <p:nvPr/>
        </p:nvSpPr>
        <p:spPr>
          <a:xfrm>
            <a:off x="676656" y="2911679"/>
            <a:ext cx="384048" cy="332586"/>
          </a:xfrm>
          <a:prstGeom prst="hexagon">
            <a:avLst/>
          </a:prstGeom>
          <a:solidFill>
            <a:srgbClr val="B8862B"/>
          </a:solidFill>
          <a:ln/>
        </p:spPr>
      </p:sp>
      <p:sp>
        <p:nvSpPr>
          <p:cNvPr id="16" name="bullet"/>
          <p:cNvSpPr txBox="1"/>
          <p:nvPr/>
        </p:nvSpPr>
        <p:spPr>
          <a:xfrm>
            <a:off x="1143000" y="2623989"/>
            <a:ext cx="10408615" cy="90796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 you meet each cause, your lesson asks you to decide whether it is long-term or short-term.</a:t>
            </a:r>
            <a:endParaRPr lang="en-US" sz="2000" dirty="0"/>
          </a:p>
        </p:txBody>
      </p:sp>
      <p:sp>
        <p:nvSpPr>
          <p:cNvPr id="17" name="bullet-card"/>
          <p:cNvSpPr/>
          <p:nvPr/>
        </p:nvSpPr>
        <p:spPr>
          <a:xfrm>
            <a:off x="548640" y="3678259"/>
            <a:ext cx="11094415" cy="1397677"/>
          </a:xfrm>
          <a:prstGeom prst="roundRect">
            <a:avLst>
              <a:gd name="adj" fmla="val 5234"/>
            </a:avLst>
          </a:prstGeom>
          <a:solidFill>
            <a:srgbClr val="F4F1ED"/>
          </a:solidFill>
          <a:ln/>
        </p:spPr>
      </p:sp>
      <p:sp>
        <p:nvSpPr>
          <p:cNvPr id="18" name="bullet-hex"/>
          <p:cNvSpPr/>
          <p:nvPr/>
        </p:nvSpPr>
        <p:spPr>
          <a:xfrm>
            <a:off x="676656" y="4210805"/>
            <a:ext cx="384048" cy="332586"/>
          </a:xfrm>
          <a:prstGeom prst="hexagon">
            <a:avLst/>
          </a:prstGeom>
          <a:solidFill>
            <a:srgbClr val="7A4A1E"/>
          </a:solidFill>
          <a:ln/>
        </p:spPr>
      </p:sp>
      <p:sp>
        <p:nvSpPr>
          <p:cNvPr id="19" name="bullet"/>
          <p:cNvSpPr txBox="1"/>
          <p:nvPr/>
        </p:nvSpPr>
        <p:spPr>
          <a:xfrm>
            <a:off x="1143000" y="3678259"/>
            <a:ext cx="10408615" cy="139767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One warning before you start. Your lesson says clearly that the revolutionary parties, the Socialist Revolutionaries, the Mensheviks and the Bolsheviks, had spread their ideas widely by 1917 but were neither the leaders nor the instigators of the February Revolution.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Autocracy, the Duma and the critics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Autocracy, Duma and Critics are all about politics. Group them together in one sentence and you have a whole strand of your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Autocracy is the oldest cause of all. Nicholas II still had complete control over the government and could appoint or sack any minister.</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Duma was supposed to be the safety valve created after 1905, but your lesson is blunt about it: it had few real powers and its members were elected by the wealthy.</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Then there were the conspirators and critics: liberal aristocrats, middle-class politicians and radical socialists who wanted complete social change by force.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Bread and the economy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good cause paragraph is a chain, not a list. Farms, then railways, then prices, then strikes: each link explained with the word so or because.</a:t>
            </a:r>
            <a:endParaRPr lang="en-US" sz="1800" dirty="0"/>
          </a:p>
        </p:txBody>
      </p:sp>
      <p:sp>
        <p:nvSpPr>
          <p:cNvPr id="11" name="bullet-card"/>
          <p:cNvSpPr/>
          <p:nvPr/>
        </p:nvSpPr>
        <p:spPr>
          <a:xfrm>
            <a:off x="548640" y="1389888"/>
            <a:ext cx="11094415" cy="1027853"/>
          </a:xfrm>
          <a:prstGeom prst="roundRect">
            <a:avLst>
              <a:gd name="adj" fmla="val 7117"/>
            </a:avLst>
          </a:prstGeom>
          <a:solidFill>
            <a:srgbClr val="F4F1ED"/>
          </a:solidFill>
          <a:ln/>
        </p:spPr>
      </p:sp>
      <p:sp>
        <p:nvSpPr>
          <p:cNvPr id="12" name="bullet-hex"/>
          <p:cNvSpPr/>
          <p:nvPr/>
        </p:nvSpPr>
        <p:spPr>
          <a:xfrm>
            <a:off x="676656" y="1737522"/>
            <a:ext cx="384048" cy="332586"/>
          </a:xfrm>
          <a:prstGeom prst="hexagon">
            <a:avLst/>
          </a:prstGeom>
          <a:solidFill>
            <a:srgbClr val="7A4A1E"/>
          </a:solidFill>
          <a:ln/>
        </p:spPr>
      </p:sp>
      <p:sp>
        <p:nvSpPr>
          <p:cNvPr id="13" name="bullet"/>
          <p:cNvSpPr txBox="1"/>
          <p:nvPr/>
        </p:nvSpPr>
        <p:spPr>
          <a:xfrm>
            <a:off x="1143000" y="1389888"/>
            <a:ext cx="10408615"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Most Russians were already poor before the war. Then the war took the peasants into the army and took the trains for the war effort, so the grain that fed the cities stopped arriving.</a:t>
            </a:r>
            <a:endParaRPr lang="en-US" sz="2000" dirty="0"/>
          </a:p>
        </p:txBody>
      </p:sp>
      <p:sp>
        <p:nvSpPr>
          <p:cNvPr id="14" name="bullet-card"/>
          <p:cNvSpPr/>
          <p:nvPr/>
        </p:nvSpPr>
        <p:spPr>
          <a:xfrm>
            <a:off x="548640" y="2564045"/>
            <a:ext cx="11094415" cy="1337733"/>
          </a:xfrm>
          <a:prstGeom prst="roundRect">
            <a:avLst>
              <a:gd name="adj" fmla="val 5468"/>
            </a:avLst>
          </a:prstGeom>
          <a:solidFill>
            <a:srgbClr val="F4F1ED"/>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564045"/>
            <a:ext cx="10408615" cy="133773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Behind the bread shortage sat the wider economy. Russia had industrialised fast at the end of the nineteenth century, so by 1917 there were more factory workers than ever, living in poor urban conditions and willing to listen to the Bolsheviks and other radical groups.</a:t>
            </a:r>
            <a:endParaRPr lang="en-US" sz="2000" dirty="0"/>
          </a:p>
        </p:txBody>
      </p:sp>
      <p:sp>
        <p:nvSpPr>
          <p:cNvPr id="17" name="bullet-card"/>
          <p:cNvSpPr/>
          <p:nvPr/>
        </p:nvSpPr>
        <p:spPr>
          <a:xfrm>
            <a:off x="548640" y="4048083"/>
            <a:ext cx="11094415" cy="1027853"/>
          </a:xfrm>
          <a:prstGeom prst="roundRect">
            <a:avLst>
              <a:gd name="adj" fmla="val 7117"/>
            </a:avLst>
          </a:prstGeom>
          <a:solidFill>
            <a:srgbClr val="F4F1ED"/>
          </a:solidFill>
          <a:ln/>
        </p:spPr>
      </p:sp>
      <p:sp>
        <p:nvSpPr>
          <p:cNvPr id="18" name="bullet-hex"/>
          <p:cNvSpPr/>
          <p:nvPr/>
        </p:nvSpPr>
        <p:spPr>
          <a:xfrm>
            <a:off x="676656" y="4395717"/>
            <a:ext cx="384048" cy="332586"/>
          </a:xfrm>
          <a:prstGeom prst="hexagon">
            <a:avLst/>
          </a:prstGeom>
          <a:solidFill>
            <a:srgbClr val="7A4A1E"/>
          </a:solidFill>
          <a:ln/>
        </p:spPr>
      </p:sp>
      <p:sp>
        <p:nvSpPr>
          <p:cNvPr id="19" name="bullet"/>
          <p:cNvSpPr txBox="1"/>
          <p:nvPr/>
        </p:nvSpPr>
        <p:spPr>
          <a:xfrm>
            <a:off x="1143000" y="4048083"/>
            <a:ext cx="10408615"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figure to remember is inflation. Your lesson says prices rose 400 per cent between 1914 and 1917.</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Bread and the economy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EDE9"/>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the First World War caused the bread shortage in Petrograd by February 1917.</a:t>
            </a:r>
            <a:endParaRPr lang="en-US" sz="2000" dirty="0"/>
          </a:p>
        </p:txBody>
      </p:sp>
      <p:sp>
        <p:nvSpPr>
          <p:cNvPr id="9" name="step-box"/>
          <p:cNvSpPr/>
          <p:nvPr/>
        </p:nvSpPr>
        <p:spPr>
          <a:xfrm>
            <a:off x="548640" y="2192528"/>
            <a:ext cx="11094415" cy="733552"/>
          </a:xfrm>
          <a:prstGeom prst="roundRect">
            <a:avLst>
              <a:gd name="adj" fmla="val 9972"/>
            </a:avLst>
          </a:prstGeom>
          <a:solidFill>
            <a:srgbClr val="FFFFFF"/>
          </a:solidFill>
          <a:ln w="15875">
            <a:solidFill>
              <a:srgbClr val="B69B83"/>
            </a:solidFill>
            <a:prstDash val="solid"/>
          </a:ln>
        </p:spPr>
      </p:sp>
      <p:sp>
        <p:nvSpPr>
          <p:cNvPr id="10" name="step-hex"/>
          <p:cNvSpPr/>
          <p:nvPr/>
        </p:nvSpPr>
        <p:spPr>
          <a:xfrm>
            <a:off x="685800" y="2361336"/>
            <a:ext cx="457200" cy="395935"/>
          </a:xfrm>
          <a:prstGeom prst="hexagon">
            <a:avLst/>
          </a:prstGeom>
          <a:solidFill>
            <a:srgbClr val="7A4A1E"/>
          </a:solidFill>
          <a:ln/>
        </p:spPr>
      </p:sp>
      <p:sp>
        <p:nvSpPr>
          <p:cNvPr id="11" name="step-hex-label"/>
          <p:cNvSpPr txBox="1"/>
          <p:nvPr/>
        </p:nvSpPr>
        <p:spPr>
          <a:xfrm>
            <a:off x="685800" y="23613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with the farms: peasants were conscripted into the army, so there were fewer people left to grow food.</a:t>
            </a:r>
            <a:endParaRPr lang="en-US" sz="1800" dirty="0"/>
          </a:p>
        </p:txBody>
      </p:sp>
      <p:sp>
        <p:nvSpPr>
          <p:cNvPr id="13" name="step-box"/>
          <p:cNvSpPr/>
          <p:nvPr/>
        </p:nvSpPr>
        <p:spPr>
          <a:xfrm>
            <a:off x="548640" y="299923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3168040"/>
            <a:ext cx="457200" cy="395935"/>
          </a:xfrm>
          <a:prstGeom prst="hexagon">
            <a:avLst/>
          </a:prstGeom>
          <a:solidFill>
            <a:srgbClr val="7A4A1E"/>
          </a:solidFill>
          <a:ln/>
        </p:spPr>
      </p:sp>
      <p:sp>
        <p:nvSpPr>
          <p:cNvPr id="15" name="step-hex-label"/>
          <p:cNvSpPr txBox="1"/>
          <p:nvPr/>
        </p:nvSpPr>
        <p:spPr>
          <a:xfrm>
            <a:off x="685800" y="316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99923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the transport: the railways that had carried grain to the cities were needed to carry soldiers and supplies to the front.</a:t>
            </a:r>
            <a:endParaRPr lang="en-US" sz="1800" dirty="0"/>
          </a:p>
        </p:txBody>
      </p:sp>
      <p:sp>
        <p:nvSpPr>
          <p:cNvPr id="17" name="step-box"/>
          <p:cNvSpPr/>
          <p:nvPr/>
        </p:nvSpPr>
        <p:spPr>
          <a:xfrm>
            <a:off x="548640" y="380593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974744"/>
            <a:ext cx="457200" cy="395935"/>
          </a:xfrm>
          <a:prstGeom prst="hexagon">
            <a:avLst/>
          </a:prstGeom>
          <a:solidFill>
            <a:srgbClr val="7A4A1E"/>
          </a:solidFill>
          <a:ln/>
        </p:spPr>
      </p:sp>
      <p:sp>
        <p:nvSpPr>
          <p:cNvPr id="19" name="step-hex-label"/>
          <p:cNvSpPr txBox="1"/>
          <p:nvPr/>
        </p:nvSpPr>
        <p:spPr>
          <a:xfrm>
            <a:off x="685800" y="39747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0593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the prices: with less food arriving, prices rose, and your lesson gives inflation of 400 per cent between 1914 and 1917.</a:t>
            </a:r>
            <a:endParaRPr lang="en-US" sz="1800" dirty="0"/>
          </a:p>
        </p:txBody>
      </p:sp>
      <p:sp>
        <p:nvSpPr>
          <p:cNvPr id="21" name="step-box"/>
          <p:cNvSpPr/>
          <p:nvPr/>
        </p:nvSpPr>
        <p:spPr>
          <a:xfrm>
            <a:off x="548640" y="4612640"/>
            <a:ext cx="11094415" cy="469392"/>
          </a:xfrm>
          <a:prstGeom prst="roundRect">
            <a:avLst>
              <a:gd name="adj" fmla="val 15584"/>
            </a:avLst>
          </a:prstGeom>
          <a:solidFill>
            <a:srgbClr val="FFFFFF"/>
          </a:solidFill>
          <a:ln w="15875">
            <a:solidFill>
              <a:srgbClr val="B69B83"/>
            </a:solidFill>
            <a:prstDash val="solid"/>
          </a:ln>
        </p:spPr>
      </p:sp>
      <p:sp>
        <p:nvSpPr>
          <p:cNvPr id="22" name="step-hex"/>
          <p:cNvSpPr/>
          <p:nvPr/>
        </p:nvSpPr>
        <p:spPr>
          <a:xfrm>
            <a:off x="685800" y="4649368"/>
            <a:ext cx="457200" cy="395935"/>
          </a:xfrm>
          <a:prstGeom prst="hexagon">
            <a:avLst/>
          </a:prstGeom>
          <a:solidFill>
            <a:srgbClr val="7A4A1E"/>
          </a:solidFill>
          <a:ln/>
        </p:spPr>
      </p:sp>
      <p:sp>
        <p:nvSpPr>
          <p:cNvPr id="23" name="step-hex-label"/>
          <p:cNvSpPr txBox="1"/>
          <p:nvPr/>
        </p:nvSpPr>
        <p:spPr>
          <a:xfrm>
            <a:off x="685800" y="46493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12640"/>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people: so city workers could neither find bread nor afford it, and they went on strike.</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Fewer farmers, fewer grain trains and 400 per cent inflation together emptied the shops and the wages, so Petrograd's workers struck for bread.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war and Rasputin: the last two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only have room for two causes, choose the war and autocracy, then use Rasputin as the detail that shows how little respect was left.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calls the First World War probably the most important factor of all, and gives three reasons.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Taking command in 1915 was the decision that mattered most, and your lesson's decision-making activity shows why.</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where Rasputin comes in. Rasputin was a healer the Tsarina believed could help her ill son, and she came to rely on his advice.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Sorting the ABC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of your lesson's causes to the right explanation.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(1 of 2): Sorting the ABC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of your lesson's causes to the right explanation.</a:t>
            </a:r>
            <a:endParaRPr lang="en-US" sz="2400" dirty="0"/>
          </a:p>
        </p:txBody>
      </p:sp>
      <p:sp>
        <p:nvSpPr>
          <p:cNvPr id="11" name="match-card"/>
          <p:cNvSpPr/>
          <p:nvPr/>
        </p:nvSpPr>
        <p:spPr>
          <a:xfrm>
            <a:off x="777240" y="2468331"/>
            <a:ext cx="3081437" cy="1103559"/>
          </a:xfrm>
          <a:prstGeom prst="roundRect">
            <a:avLst>
              <a:gd name="adj" fmla="val 6629"/>
            </a:avLst>
          </a:prstGeom>
          <a:solidFill>
            <a:srgbClr val="F4F1ED"/>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Autocracy</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Food stopped reaching the cities, and by February 1917 Petrograd's workers were starving</a:t>
            </a:r>
            <a:endParaRPr lang="en-US" sz="2200" dirty="0"/>
          </a:p>
        </p:txBody>
      </p:sp>
      <p:sp>
        <p:nvSpPr>
          <p:cNvPr id="19" name="match-card"/>
          <p:cNvSpPr/>
          <p:nvPr/>
        </p:nvSpPr>
        <p:spPr>
          <a:xfrm>
            <a:off x="777240" y="3663330"/>
            <a:ext cx="3081437" cy="1103559"/>
          </a:xfrm>
          <a:prstGeom prst="roundRect">
            <a:avLst>
              <a:gd name="adj" fmla="val 6629"/>
            </a:avLst>
          </a:prstGeom>
          <a:solidFill>
            <a:srgbClr val="F4F1ED"/>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Bread</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parliament with few powers, elected by the wealthy, which turned against the Tsar by 1917</a:t>
            </a:r>
            <a:endParaRPr lang="en-US" sz="2200" dirty="0"/>
          </a:p>
        </p:txBody>
      </p:sp>
      <p:sp>
        <p:nvSpPr>
          <p:cNvPr id="27" name="match-card"/>
          <p:cNvSpPr/>
          <p:nvPr/>
        </p:nvSpPr>
        <p:spPr>
          <a:xfrm>
            <a:off x="777240" y="4858329"/>
            <a:ext cx="3081437" cy="1103559"/>
          </a:xfrm>
          <a:prstGeom prst="roundRect">
            <a:avLst>
              <a:gd name="adj" fmla="val 6629"/>
            </a:avLst>
          </a:prstGeom>
          <a:solidFill>
            <a:srgbClr val="F4F1ED"/>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Duma</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Tsar held all the power and used the Okhrana against his critics, so few defended him in 1917</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(2 of 2): Sorting the ABC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of your lesson's causes to the right explanation.</a:t>
            </a:r>
            <a:endParaRPr lang="en-US" sz="2400" dirty="0"/>
          </a:p>
        </p:txBody>
      </p:sp>
      <p:sp>
        <p:nvSpPr>
          <p:cNvPr id="11" name="match-card"/>
          <p:cNvSpPr/>
          <p:nvPr/>
        </p:nvSpPr>
        <p:spPr>
          <a:xfrm>
            <a:off x="777240" y="2468331"/>
            <a:ext cx="3081437" cy="1165352"/>
          </a:xfrm>
          <a:prstGeom prst="roundRect">
            <a:avLst>
              <a:gd name="adj" fmla="val 6277"/>
            </a:avLst>
          </a:prstGeom>
          <a:solidFill>
            <a:srgbClr val="F4F1ED"/>
          </a:solidFill>
          <a:ln/>
        </p:spPr>
      </p:sp>
      <p:sp>
        <p:nvSpPr>
          <p:cNvPr id="12" name="match-hex"/>
          <p:cNvSpPr/>
          <p:nvPr/>
        </p:nvSpPr>
        <p:spPr>
          <a:xfrm>
            <a:off x="850392" y="2884715"/>
            <a:ext cx="384048" cy="332586"/>
          </a:xfrm>
          <a:prstGeom prst="hexagon">
            <a:avLst/>
          </a:prstGeom>
          <a:solidFill>
            <a:srgbClr val="7A4A1E"/>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First World War</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healer trusted by the Tsarina whose influence became a public scandal</a:t>
            </a:r>
            <a:endParaRPr lang="en-US" sz="2200" dirty="0"/>
          </a:p>
        </p:txBody>
      </p:sp>
      <p:sp>
        <p:nvSpPr>
          <p:cNvPr id="19" name="match-card"/>
          <p:cNvSpPr/>
          <p:nvPr/>
        </p:nvSpPr>
        <p:spPr>
          <a:xfrm>
            <a:off x="777240" y="3725123"/>
            <a:ext cx="3081437" cy="1165352"/>
          </a:xfrm>
          <a:prstGeom prst="roundRect">
            <a:avLst>
              <a:gd name="adj" fmla="val 6277"/>
            </a:avLst>
          </a:prstGeom>
          <a:solidFill>
            <a:srgbClr val="F4F1ED"/>
          </a:solidFill>
          <a:ln/>
        </p:spPr>
      </p:sp>
      <p:sp>
        <p:nvSpPr>
          <p:cNvPr id="20" name="match-hex"/>
          <p:cNvSpPr/>
          <p:nvPr/>
        </p:nvSpPr>
        <p:spPr>
          <a:xfrm>
            <a:off x="850392" y="4141507"/>
            <a:ext cx="384048" cy="332586"/>
          </a:xfrm>
          <a:prstGeom prst="hexagon">
            <a:avLst/>
          </a:prstGeom>
          <a:solidFill>
            <a:srgbClr val="7A4A1E"/>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Grigori Rasputin</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Defeat after defeat, which the Tsar owned personally once he took command in 1915</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Sorting the ABC causes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Sorting the ABC causes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of the five causes are about politics and two are about everyday life or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cause that is a person's name and match it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cause that is about food and match that second.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are left with three political causes: one is a parliament, one is a system of rule, one is a war.</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Sort the five into politics, food and people before you match any of them.</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lesson asks you to rank the five most important causes. Choose your top two, say which is long-term and which is short-term, and justify the order.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Was the war the most important cause?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Your lesson says the First World War was probably the most important cause of the February Revolution. Explain the war's part in the revolution, then explain one other cause, and say which you think mattered more.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Was the war the most important cause?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Was the war the most important cause?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First World War was probably the most important cause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give one military effect (the 1915 command decision) and one economic effect (food and prices).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However, another cause was... Explain it in one sentence.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In my judgement... mattered more because...</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effects of the war, then one other cause, then a judgement. The best judgements explain why one cause made the other urgent.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you would answer someone who argued that the February Revolution would have happened sooner or later even without the First World War.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many years passed between the 1905 Revolution and the February Revolution of 1917?</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Sorting the ABC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Autocracy  →  B  The Tsar held all the power and used the Okhrana against his critics, so few defended him in 1917</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Bread  →  A  Food stopped reaching the cities, and by February 1917 Petrograd's workers were starving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Duma  →  C  A parliament with few powers, elected by the wealthy, which turned against the Tsar by 1917</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First World War  →  D  Defeat after defeat, which the Tsar owned personally once he took command in 1915</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Grigori Rasputin  →  E  A healer trusted by the Tsarina whose influence became a public scandal</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Autocracy, the Duma's weakness and the economy were long-term problems; bread shortages, the latest defeats and the Rasputin scandal were short-term. The war is the cause that made every long-term problem urgent at once.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Answers: Was the war the most important cause?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945185"/>
          </a:xfrm>
          <a:prstGeom prst="roundRect">
            <a:avLst>
              <a:gd name="adj" fmla="val 9674"/>
            </a:avLst>
          </a:prstGeom>
          <a:solidFill>
            <a:srgbClr val="F4F1ED"/>
          </a:solidFill>
          <a:ln/>
        </p:spPr>
      </p:sp>
      <p:sp>
        <p:nvSpPr>
          <p:cNvPr id="9" name="tickbox"/>
          <p:cNvSpPr/>
          <p:nvPr/>
        </p:nvSpPr>
        <p:spPr>
          <a:xfrm>
            <a:off x="713232" y="2310536"/>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at least two ways the war weakened the Tsar, using a detail such as the 1915 command decision or a casualty figure.</a:t>
            </a:r>
            <a:endParaRPr lang="en-US" sz="2200" dirty="0"/>
          </a:p>
        </p:txBody>
      </p:sp>
      <p:sp>
        <p:nvSpPr>
          <p:cNvPr id="11" name="crit-box"/>
          <p:cNvSpPr/>
          <p:nvPr/>
        </p:nvSpPr>
        <p:spPr>
          <a:xfrm>
            <a:off x="548640" y="3020873"/>
            <a:ext cx="11094415" cy="604317"/>
          </a:xfrm>
          <a:prstGeom prst="roundRect">
            <a:avLst>
              <a:gd name="adj" fmla="val 15131"/>
            </a:avLst>
          </a:prstGeom>
          <a:solidFill>
            <a:srgbClr val="F4F1ED"/>
          </a:solidFill>
          <a:ln/>
        </p:spPr>
      </p:sp>
      <p:sp>
        <p:nvSpPr>
          <p:cNvPr id="12" name="tickbox"/>
          <p:cNvSpPr/>
          <p:nvPr/>
        </p:nvSpPr>
        <p:spPr>
          <a:xfrm>
            <a:off x="713232" y="3176727"/>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020873"/>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one other named cause from the ABC list.</a:t>
            </a:r>
            <a:endParaRPr lang="en-US" sz="2200" dirty="0"/>
          </a:p>
        </p:txBody>
      </p:sp>
      <p:sp>
        <p:nvSpPr>
          <p:cNvPr id="14" name="crit-box"/>
          <p:cNvSpPr/>
          <p:nvPr/>
        </p:nvSpPr>
        <p:spPr>
          <a:xfrm>
            <a:off x="548640" y="3716630"/>
            <a:ext cx="11094415" cy="945185"/>
          </a:xfrm>
          <a:prstGeom prst="roundRect">
            <a:avLst>
              <a:gd name="adj" fmla="val 9674"/>
            </a:avLst>
          </a:prstGeom>
          <a:solidFill>
            <a:srgbClr val="F4F1ED"/>
          </a:solidFill>
          <a:ln/>
        </p:spPr>
      </p:sp>
      <p:sp>
        <p:nvSpPr>
          <p:cNvPr id="15" name="tickbox"/>
          <p:cNvSpPr/>
          <p:nvPr/>
        </p:nvSpPr>
        <p:spPr>
          <a:xfrm>
            <a:off x="713232" y="4042918"/>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716630"/>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 connective such as however, also or as a result to move between the two causes.</a:t>
            </a:r>
            <a:endParaRPr lang="en-US" sz="2200" dirty="0"/>
          </a:p>
        </p:txBody>
      </p:sp>
      <p:sp>
        <p:nvSpPr>
          <p:cNvPr id="17" name="crit-box"/>
          <p:cNvSpPr/>
          <p:nvPr/>
        </p:nvSpPr>
        <p:spPr>
          <a:xfrm>
            <a:off x="548640" y="4753254"/>
            <a:ext cx="11094415" cy="604317"/>
          </a:xfrm>
          <a:prstGeom prst="roundRect">
            <a:avLst>
              <a:gd name="adj" fmla="val 15131"/>
            </a:avLst>
          </a:prstGeom>
          <a:solidFill>
            <a:srgbClr val="F4F1ED"/>
          </a:solidFill>
          <a:ln/>
        </p:spPr>
      </p:sp>
      <p:sp>
        <p:nvSpPr>
          <p:cNvPr id="18" name="tickbox"/>
          <p:cNvSpPr/>
          <p:nvPr/>
        </p:nvSpPr>
        <p:spPr>
          <a:xfrm>
            <a:off x="713232" y="4909109"/>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753254"/>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include one figure or date correctly, such as 400 per cent inflation or 1915.</a:t>
            </a:r>
            <a:endParaRPr lang="en-US" sz="2200" dirty="0"/>
          </a:p>
        </p:txBody>
      </p:sp>
      <p:sp>
        <p:nvSpPr>
          <p:cNvPr id="20" name="crit-box"/>
          <p:cNvSpPr/>
          <p:nvPr/>
        </p:nvSpPr>
        <p:spPr>
          <a:xfrm>
            <a:off x="548640" y="5449011"/>
            <a:ext cx="11094415" cy="604317"/>
          </a:xfrm>
          <a:prstGeom prst="roundRect">
            <a:avLst>
              <a:gd name="adj" fmla="val 15131"/>
            </a:avLst>
          </a:prstGeom>
          <a:solidFill>
            <a:srgbClr val="F4F1ED"/>
          </a:solidFill>
          <a:ln/>
        </p:spPr>
      </p:sp>
      <p:sp>
        <p:nvSpPr>
          <p:cNvPr id="21" name="tickbox"/>
          <p:cNvSpPr/>
          <p:nvPr/>
        </p:nvSpPr>
        <p:spPr>
          <a:xfrm>
            <a:off x="713232" y="5604866"/>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449011"/>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finish with a judgement about which cause mattered more, and give a reason.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Model answer: Was the war the most important cause?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First World War was probably the most important cause of the February Revolution because it attacked the Tsar from several directions at once. Militarily, Russia suffered defeat after defeat, and once Nicholas made himself commander of the armed forces in 1915 every one of those defeats became his personal failure. Economically, the war took peasants off the land and trains away from carrying grain, so food ran short in the cities and prices rose 400 per cent between 1914 and 1917. However, autocracy was a cause that had been building for far longer, because the Tsar had spent years refusing to share power and using the Okhrana against anyone who asked him to. In my judgement the war mattered more, not because autocracy was unimportant, but because autocracy had survived for three hundred years and only the war turned long-standing anger into empty bread shops and mutinying soldiers. That is the difference between a cause that makes a revolution possible and a cause that makes it happen 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years passed between the 1905 Revolution and the February Revolution of 1917?</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12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1917 − 1905 = 12 years. Every cause in the ABC list except the war was visible in 1905, which is why historians treat February 1917 as the same crisis returning to a ruler who had not dealt with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Russian Revolution · Chapter 3: Why the Tsar fell: the causes of February 1917</dc:title>
  <dc:subject>History · Year 9</dc:subject>
  <dc:creator>Dr Vitor Merissi de Carvalho</dc:creator>
  <cp:lastModifiedBy>Dr Vitor Merissi de Carvalho</cp:lastModifiedBy>
  <cp:revision>1</cp:revision>
  <dcterms:created xsi:type="dcterms:W3CDTF">2026-10-19T06:08:01Z</dcterms:created>
  <dcterms:modified xsi:type="dcterms:W3CDTF">2026-10-19T06:08:01Z</dcterms:modified>
</cp:coreProperties>
</file>