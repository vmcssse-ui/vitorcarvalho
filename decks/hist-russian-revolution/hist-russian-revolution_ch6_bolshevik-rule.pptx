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62eba58-2aaa-c63a-c245-af914a106f7e}">
          <p14:sldIdLst>
            <p14:sldId id="256"/>
          </p14:sldIdLst>
        </p14:section>
        <p14:section name="Gate" id="{93ef798b-9184-b541-37ef-e88947b6f0b7}">
          <p14:sldIdLst>
            <p14:sldId id="257"/>
            <p14:sldId id="258"/>
            <p14:sldId id="259"/>
          </p14:sldIdLst>
        </p14:section>
        <p14:section name="Pre-teach" id="{dfc2836d-0217-cf3f-58eb-32bad1323f58}">
          <p14:sldIdLst>
            <p14:sldId id="260"/>
            <p14:sldId id="261"/>
          </p14:sldIdLst>
        </p14:section>
        <p14:section name="Read-along" id="{bf650eec-9ce8-c6a0-ed82-8f3c10a38376}">
          <p14:sldIdLst>
            <p14:sldId id="262"/>
            <p14:sldId id="263"/>
          </p14:sldIdLst>
        </p14:section>
        <p14:section name="Teach" id="{ab8f0d14-8b0e-f5ec-09e0-23282c372038}">
          <p14:sldIdLst>
            <p14:sldId id="264"/>
            <p14:sldId id="265"/>
            <p14:sldId id="266"/>
            <p14:sldId id="267"/>
            <p14:sldId id="268"/>
            <p14:sldId id="269"/>
          </p14:sldIdLst>
        </p14:section>
        <p14:section name="Routes" id="{36a0bc5d-ae5b-1fda-0104-fe5c79b23ab3}">
          <p14:sldIdLst>
            <p14:sldId id="270"/>
            <p14:sldId id="271"/>
            <p14:sldId id="272"/>
            <p14:sldId id="273"/>
            <p14:sldId id="274"/>
            <p14:sldId id="275"/>
            <p14:sldId id="276"/>
          </p14:sldIdLst>
        </p14:section>
        <p14:section name="Close" id="{e959109c-b30b-5644-f504-45c7b2d4715f}">
          <p14:sldIdLst>
            <p14:sldId id="277"/>
          </p14:sldIdLst>
        </p14:section>
        <p14:section name="Answers" id="{61fcf88a-d886-f58d-8c2e-96cac229ba87}">
          <p14:sldIdLst>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Bolshevik rule, the Soviet Union, and writing a narrative account. What communism meant, what the Bolsheviks actually changed by 1922, what it cost, and how to turn all six chapters into the three-paragraph narrative your assessment asks for.
This deck covers the department's lessons: 5 (Bolshevik rule and the creation of the Soviet Union, 1917–1922: What changed in Russia under Bolshevik rule by 1922?); 6 (Revision: preparing the narrative question: Can you write a narrative account of the key events of the October 1917 Revolution?); 7 (End-of-topic assessment: Can you recall and use your knowledge of the Russian Revolutions under assessment conditions?).
Read the big question aloud: "To what extent did the Russian Revolution bring about change?"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How did Karl Marx describe communism?  →  A   A system in which property is owned by the whole community and wealth is shared fairly
2. In 1922 the old Russian Empire was reorganised into a new country called the ___ Union.  →  Soviet
3. Which change under Bolshevik rule shows most clearly that Russians did not become more free?  →  B   Only the Communist Party was allowed to exist, and only communist newspapers could be published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How did Karl Marx describe communism?  →  A   A system in which property is owned by the whole community and wealth is shared fairly
2. In 1922 the old Russian Empire was reorganised into a new country called the ___ Union.  →  Soviet
3. Which change under Bolshevik rule shows most clearly that Russians did not become more free?  →  B   Only the Communist Party was allowed to exist, and only communist newspapers could be published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A system in which property is owned by the whole community and wealth is shared fairly. Your lesson gives Marx's definition as a system of social organisation in which all property is owned by the community, with wealth shared out fairly by a workers' government.
2. Soviet. The Soviet Union was created in 1922, named after the soviets, the councils of workers and soldiers.
3. B   Only the Communist Party was allowed to exist, and only communist newspapers could be published. Banning every other party and every other newspaper removes the two things people need to change a government by argument: choice and information.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communism: the idea that property should be owned by the whole community. Example: "Under communism no single person was supposed to own a factory."
• Karl Marx: the thinker who developed the idea of communism. Example: "Karl Marx died in 1883, long before any country tried his ideas."
• comrade: the word Russians were told to use instead of titles and ranks. Example: "Calling everyone comrade was meant to show that nobody outranked anybody."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Soviet Union: the new country created out of the old Russian Empire in 1922. Example: "The Soviet Union was the world's first communist state."
• consequence: something that happens as a result of an event. Example: "A narrative account ends with the consequences of the events you have described."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The Bolsheviks were communists.
2. Communism came from the ideas of Karl Marx.
3. Marx said factory owners grew rich while their workers stayed poor.
4. He believed the workers would one day rise up and share everything out.
5. Marx died in 1883 without ever seeing it tried.
6. Lenin was a Marxist, and Russia became the first communist state.
7. Titles and ranks were dropped and everyone was called comrade.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Women were declared equal to men.
9. Workers were told to run their factories by committee.
10. Peasants were told to share out the land.
11. The state took control of the banks.
12. Only communist newspapers and only one political party were allowed.
13. In 1922 the new country was named the Soviet Union.
14. Your assessment asks how much really changed.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Karl Marx and the idea of communism. Say it in your own words, then check understanding with a quick question: ask a pupil from the pre-teach group first, since they met these words and ideas before the lesson. Pupils try to recall before you re-explain.
Communism is an idea before it is a government. Your lesson traces it to Karl Marx, who looked at industrial Europe and decided the system was unjust and could not last. His argument runs as a chain. A small number of capitalists own the factories and banks and make large profits. They pay low wages and spend nothing on conditions. Eventually the workers refuse to accept it, there is a revolution, and the workers seize the factories for themselves. A workers' government then shares out the wealth fairly, people co-operate and take what they need, and machines do most of the work.
Marx first set these ideas out in the Communist Manifesto of 1848 and died in 1883, so he never saw a country try them. People who believed in his ideas were called Marxists, and your lesson points out that one of them was Vladimir Lenin, who thought Russia was exactly the country Marx had described.
Your lesson asks you to spot problems in Marx's scenario, and that is a fair question to hold on to. Every step after the revolution depends on people behaving generously, and none of it says who decides what anybody needs. Keep the question in mind while you read the next section, because the gap between Marx's plan and Lenin's Russia is where most of the marks are.
Tip: When you write about communism, separate Marx's idea from Lenin's practice. Treating them as the same thing is the commonest mistake in this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the Bolsheviks actually changed. Say it in your own words, then check understanding with a quick question: ask a pupil from the pre-teach group first, since they met these words and ideas before the lesson. Pupils try to recall before you re-explain.
Your lesson gives a list of what happened in Russia under communist rule, and asks you to sort it into good ideas and bad ideas. Some of it answered real injustices. Titles and ranks were abolished and everyone was to be called comrade. Women were declared equal to men. Workers were told to take control of their factories and run them by committee. Peasants were told to share the land out between themselves. Houses were taken from the rich and shared among workers. For a country where 85 per cent of people had been peasants a generation earlier, that was an extraordinary reversal.
The rest of the list points the other way. The state took control of the banks. Every newspaper except the communist ones was banned. No political party except the Communist Party was allowed. The rich had their wealth confiscated and were labelled former people, forbidden to work and left selling their possessions to buy food.
Put the two halves together and you have the judgement this unit is built around. Russia in 1922 was more equal than Russia in 1913, and it was no freer. One group still held all the political power and could not be voted out; what had changed was which group it was. Your lesson's thermometer task asks why other countries in the West were frightened of all this. The answer is that it was the first time anywhere that workers had taken a great empire, and nobody knew where it would happen next.
Tip: A good answer on change holds two things at once: real equality in some ways, no freedom in others. Say both, then judge.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Consequences: peace, civil war and a new country. Say it in your own words, then check understanding with a quick question: ask a pupil from the pre-teach group first, since they met these words and ideas before the lesson. Pupils try to recall before you re-explain.
Your revision lesson lists four consequences of the October Revolution, and they belong in your third paragraph. First, peace with Germany: the Bolsheviks had promised to leave the war and they left it. Second, the Russian Civil War, as groups who rejected Bolshevik rule took up arms. Third, the New Economic Policy, which was Lenin's retreat from the strictest controls once the country was exhausted. Fourth, the creation of the Soviet Union in 1922, which turned the old Russian Empire into a new kind of state.
Notice how the first consequence produced the second. Leaving the war was popular with soldiers and peasants, but it confirmed for the Bolsheviks' enemies that the new government could not be lived with, and the result was years of fighting inside Russia.
Your lesson's final learning outcome asks you to understand the impact of the Bolshevik Revolution on the Russian Empire by 1922, and to evaluate how successful Lenin was as a leader. The fair way to do that is to judge him against his own stated aims rather than against ours: he promised peace, bread and land, and he promised a state run for the workers. Decide for yourself how many of those he delivered, and at what cost.
Tip: Peace, civil war, New Economic Policy, Soviet Union. Four consequences, in that order, is a complete third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the narrative account, and the assessment. Say it in your own words, then check understanding with a quick question: ask a pupil from the pre-teach group first, since they met these words and ideas before the lesson. Pupils try to recall before you re-explain.
Your assessment question is a narrative account of the key events of the October 1917 Revolution, and you may use the storming of the Winter Palace and the creation of the Soviet Union in your answer. Narrative means telling the story clearly from start to finish: cause, then events, then consequence, one paragraph each, three paragraphs in all.
Your lesson's success criteria tell you exactly what the marker wants. The material must be organised into a clear sequence. Each event must be linked to the next with a phrase such as this led to or as a result, and each link explained. Specific knowledge and evidence must be used, not general comments. The last point of each paragraph must link on to the next part of the narrative or back to the question.
The assessment itself has four parts: multiple-choice questions, a historical sequencing question, a section where you give specific evidence to support statements, and the extended narrative. You have 45 minutes. The sequencing section is where the calendar matters: if you remember that the February Revolution is dated in March and the October Revolution in November, you will not put your own events out of order.
Worked example — model it step by step, thinking aloud: Plan the three paragraphs of a narrative account on the October 1917 Revolution. (1) Paragraph 1, cause: the Provisional Government stayed in the war, failed on food and prices, and lost authority through dual power and Order Number One; the Bolsheviks promised bread, peace and land. (2) Paragraph 2, events: Lenin's return and his September letter; the Central Committee's decision in October; the Military Revolutionary Committee under Trotsky; the taking of the printing house, the stations, the exchange and the State Bank; the Winter Palace on 25 October, Old Style. (3) Paragraph 3, consequences: peace with Germany, the Russian Civil War, the New Economic Policy and the creation of the Soviet Union in 1922. (4) Then check the joins: each paragraph should end with a sentence that hands the story to the next one. Answer: Three paragraphs: causes ending with the Bolsheviks ready to act; events in dated order ending with the palace taken; consequences ending with the Soviet Union and a sentence answering the question..
Tip: Plan for two minutes before you write. Four events in order with explained links beats eight events in a 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the narrative account, and the assessment. Say it in your own words, then check understanding with a quick question: ask a pupil from the pre-teach group first, since they met these words and ideas before the lesson. Pupils try to recall before you re-explain.
Your assessment question is a narrative account of the key events of the October 1917 Revolution, and you may use the storming of the Winter Palace and the creation of the Soviet Union in your answer. Narrative means telling the story clearly from start to finish: cause, then events, then consequence, one paragraph each, three paragraphs in all.
Your lesson's success criteria tell you exactly what the marker wants. The material must be organised into a clear sequence. Each event must be linked to the next with a phrase such as this led to or as a result, and each link explained. Specific knowledge and evidence must be used, not general comments. The last point of each paragraph must link on to the next part of the narrative or back to the question.
The assessment itself has four parts: multiple-choice questions, a historical sequencing question, a section where you give specific evidence to support statements, and the extended narrative. You have 45 minutes. The sequencing section is where the calendar matters: if you remember that the February Revolution is dated in March and the October Revolution in November, you will not put your own events out of order.
Worked example — model it step by step, thinking aloud: Plan the three paragraphs of a narrative account on the October 1917 Revolution. (1) Paragraph 1, cause: the Provisional Government stayed in the war, failed on food and prices, and lost authority through dual power and Order Number One; the Bolsheviks promised bread, peace and land. (2) Paragraph 2, events: Lenin's return and his September letter; the Central Committee's decision in October; the Military Revolutionary Committee under Trotsky; the taking of the printing house, the stations, the exchange and the State Bank; the Winter Palace on 25 October, Old Style. (3) Paragraph 3, consequences: peace with Germany, the Russian Civil War, the New Economic Policy and the creation of the Soviet Union in 1922. (4) Then check the joins: each paragraph should end with a sentence that hands the story to the next one. Answer: Three paragraphs: causes ending with the Bolsheviks ready to act; events in dated order ending with the palace taken; consequences ending with the Soviet Union and a sentence answering the question..
Tip: Plan for two minutes before you write. Four events in order with explained links beats eight events in a 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the narrative account, and the assessment. Say it in your own words, then check understanding with a quick question: ask a pupil from the pre-teach group first, since they met these words and ideas before the lesson. Pupils try to recall before you re-explain.
Your assessment question is a narrative account of the key events of the October 1917 Revolution, and you may use the storming of the Winter Palace and the creation of the Soviet Union in your answer. Narrative means telling the story clearly from start to finish: cause, then events, then consequence, one paragraph each, three paragraphs in all.
Your lesson's success criteria tell you exactly what the marker wants. The material must be organised into a clear sequence. Each event must be linked to the next with a phrase such as this led to or as a result, and each link explained. Specific knowledge and evidence must be used, not general comments. The last point of each paragraph must link on to the next part of the narrative or back to the question.
The assessment itself has four parts: multiple-choice questions, a historical sequencing question, a section where you give specific evidence to support statements, and the extended narrative. You have 45 minutes. The sequencing section is where the calendar matters: if you remember that the February Revolution is dated in March and the October Revolution in November, you will not put your own events out of order.
Worked example — model it step by step, thinking aloud: Plan the three paragraphs of a narrative account on the October 1917 Revolution. (1) Paragraph 1, cause: the Provisional Government stayed in the war, failed on food and prices, and lost authority through dual power and Order Number One; the Bolsheviks promised bread, peace and land. (2) Paragraph 2, events: Lenin's return and his September letter; the Central Committee's decision in October; the Military Revolutionary Committee under Trotsky; the taking of the printing house, the stations, the exchange and the State Bank; the Winter Palace on 25 October, Old Style. (3) Paragraph 3, consequences: peace with Germany, the Russian Civil War, the New Economic Policy and the creation of the Soviet Union in 1922. (4) Then check the joins: each paragraph should end with a sentence that hands the story to the next one. Answer: Three paragraphs: causes ending with the Bolsheviks ready to act; events in dated order ending with the palace taken; consequences ending with the Soviet Union and a sentence answering the question..
Tip: Plan for two minutes before you write. Four events in order with explained links beats eight events in a 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What changed, and in what way.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Bolshevik change to what it did.
Support — work through the steps with the group: (1) Sort the five changes into two groups: those that gave something to ordinary people, and those that gave something to the state. (2) Three gave something to workers or peasants. Match those first. (3) One moved control to the state without giving it to anyone else. (4) The last one took something away. Match it last and say what was taken.
Parallel worked example for Support (model it, do not give the task answer): Match these changes in a workplace to what they did: a staff committee is given the rota; the owner takes over the accounts; only one union is permitted. Options: control of money moves upwards; staff gain control of their own time; argument for a different arrangement becomes impossible. The rota is about time, so that is the staff gaining control.; The accounts are money, so control moves upwards.; Permitting one union removes the means of arguing.. Answer: Staff committee: staff gain control of their own time. Owner takes the accounts: control of money moves upwards. One union: argument becomes impossible..
Core — reveal the hint only on request: Ask of each change: did it hand something to ordinary people, to the state, or take something away?
Stretch — no help; when finished: Choose the change you think mattered most to an ordinary Russian in 1922 and explain why, then say whether your answer would differ for a factory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What changed, and in what way.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Bolshevik change to what it did.
Support — work through the steps with the group: (1) Sort the five changes into two groups: those that gave something to ordinary people, and those that gave something to the state. (2) Three gave something to workers or peasants. Match those first. (3) One moved control to the state without giving it to anyone else. (4) The last one took something away. Match it last and say what was taken.
Parallel worked example for Support (model it, do not give the task answer): Match these changes in a workplace to what they did: a staff committee is given the rota; the owner takes over the accounts; only one union is permitted. Options: control of money moves upwards; staff gain control of their own time; argument for a different arrangement becomes impossible. The rota is about time, so that is the staff gaining control.; The accounts are money, so control moves upwards.; Permitting one union removes the means of arguing.. Answer: Staff committee: staff gain control of their own time. Owner takes the accounts: control of money moves upwards. One union: argument becomes impossible..
Core — reveal the hint only on request: Ask of each change: did it hand something to ordinary people, to the state, or take something away?
Stretch — no help; when finished: Choose the change you think mattered most to an ordinary Russian in 1922 and explain why, then say whether your answer would differ for a factory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What changed, and in what way.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Bolshevik change to what it did.
Support — work through the steps with the group: (1) Sort the five changes into two groups: those that gave something to ordinary people, and those that gave something to the state. (2) Three gave something to workers or peasants. Match those first. (3) One moved control to the state without giving it to anyone else. (4) The last one took something away. Match it last and say what was taken.
Parallel worked example for Support (model it, do not give the task answer): Match these changes in a workplace to what they did: a staff committee is given the rota; the owner takes over the accounts; only one union is permitted. Options: control of money moves upwards; staff gain control of their own time; argument for a different arrangement becomes impossible. The rota is about time, so that is the staff gaining control.; The accounts are money, so control moves upwards.; Permitting one union removes the means of arguing.. Answer: Staff committee: staff gain control of their own time. Owner takes the accounts: control of money moves upwards. One union: argument becomes impossible..
Core — reveal the hint only on request: Ask of each change: did it hand something to ordinary people, to the state, or take something away?
Stretch — no help; when finished: Choose the change you think mattered most to an ordinary Russian in 1922 and explain why, then say whether your answer would differ for a factory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What changed, and in what way.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Bolshevik change to what it did.
Support — work through the steps with the group: (1) Sort the five changes into two groups: those that gave something to ordinary people, and those that gave something to the state. (2) Three gave something to workers or peasants. Match those first. (3) One moved control to the state without giving it to anyone else. (4) The last one took something away. Match it last and say what was taken.
Parallel worked example for Support (model it, do not give the task answer): Match these changes in a workplace to what they did: a staff committee is given the rota; the owner takes over the accounts; only one union is permitted. Options: control of money moves upwards; staff gain control of their own time; argument for a different arrangement becomes impossible. The rota is about time, so that is the staff gaining control.; The accounts are money, so control moves upwards.; Permitting one union removes the means of arguing.. Answer: Staff committee: staff gain control of their own time. Owner takes the accounts: control of money moves upwards. One union: argument becomes impossible..
Core — reveal the hint only on request: Ask of each change: did it hand something to ordinary people, to the state, or take something away?
Stretch — no help; when finished: Choose the change you think mattered most to an ordinary Russian in 1922 and explain why, then say whether your answer would differ for a factory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 narrative account of October 1917.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Write a narrative account explaining the key events of the October 1917 Revolution. Write three paragraphs: causes, events, consequences. You may use the storming of the Winter Palace and the creation of the Soviet Union in your answer.
Support — work through the steps with the group: (1) Paragraph 1, causes: One cause of the October 1917 Revolution was... Then explain why it mattered and link forward. (2) Paragraph 2, events: give three or four events in order, each joined with this led to or as a result. Include one date and say which calendar. (3) Paragraph 3, consequences: peace with Germany, the Civil War, the New Economic Policy, the Soviet Union in 1922. (4) Read it back and check that each paragraph's last sentence points at the next one.
Parallel worked example for Support (model it, do not give the task answer): Write a two-paragraph narrative on the 1905 Revolution: one paragraph of causes, one of events. Causes: defeat by Japan in 1904 to 1905 and long-standing anger over land and autocracy.; Link: this led to a peaceful march in January 1905.; Events: Bloody Sunday, then strikes, riots and mutinies, then the October Manifesto.; Finish by pointing forward to what the Manifesto did and did not change.. Answer: Two paragraphs: causes ending with a link to the march, then events in order ending with the Manifesto..
Core — reveal the hint only on request: Three paragraphs, three or four points each, every point joined to the next. Causes, events, consequences, in that order.
Stretch — no help; when finished: Add one sentence to your final paragraph that answers the unit's big question: to what extent did the Russian Revolution bring about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 narrative account of October 1917.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Write a narrative account explaining the key events of the October 1917 Revolution. Write three paragraphs: causes, events, consequences. You may use the storming of the Winter Palace and the creation of the Soviet Union in your answer.
Support — work through the steps with the group: (1) Paragraph 1, causes: One cause of the October 1917 Revolution was... Then explain why it mattered and link forward. (2) Paragraph 2, events: give three or four events in order, each joined with this led to or as a result. Include one date and say which calendar. (3) Paragraph 3, consequences: peace with Germany, the Civil War, the New Economic Policy, the Soviet Union in 1922. (4) Read it back and check that each paragraph's last sentence points at the next one.
Parallel worked example for Support (model it, do not give the task answer): Write a two-paragraph narrative on the 1905 Revolution: one paragraph of causes, one of events. Causes: defeat by Japan in 1904 to 1905 and long-standing anger over land and autocracy.; Link: this led to a peaceful march in January 1905.; Events: Bloody Sunday, then strikes, riots and mutinies, then the October Manifesto.; Finish by pointing forward to what the Manifesto did and did not change.. Answer: Two paragraphs: causes ending with a link to the march, then events in order ending with the Manifesto..
Core — reveal the hint only on request: Three paragraphs, three or four points each, every point joined to the next. Causes, events, consequences, in that order.
Stretch — no help; when finished: Add one sentence to your final paragraph that answers the unit's big question: to what extent did the Russian Revolution bring about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 narrative account of October 1917.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Write a narrative account explaining the key events of the October 1917 Revolution. Write three paragraphs: causes, events, consequences. You may use the storming of the Winter Palace and the creation of the Soviet Union in your answer.
Support — work through the steps with the group: (1) Paragraph 1, causes: One cause of the October 1917 Revolution was... Then explain why it mattered and link forward. (2) Paragraph 2, events: give three or four events in order, each joined with this led to or as a result. Include one date and say which calendar. (3) Paragraph 3, consequences: peace with Germany, the Civil War, the New Economic Policy, the Soviet Union in 1922. (4) Read it back and check that each paragraph's last sentence points at the next one.
Parallel worked example for Support (model it, do not give the task answer): Write a two-paragraph narrative on the 1905 Revolution: one paragraph of causes, one of events. Causes: defeat by Japan in 1904 to 1905 and long-standing anger over land and autocracy.; Link: this led to a peaceful march in January 1905.; Events: Bloody Sunday, then strikes, riots and mutinies, then the October Manifesto.; Finish by pointing forward to what the Manifesto did and did not change.. Answer: Two paragraphs: causes ending with a link to the march, then events in order ending with the Manifesto..
Core — reveal the hint only on request: Three paragraphs, three or four points each, every point joined to the next. Causes, events, consequences, in that order.
Stretch — no help; when finished: Add one sentence to your final paragraph that answers the unit's big question: to what extent did the Russian Revolution bring about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How did Karl Marx describe communism?
Answer: D   A system in which property is owned by the whole community and wealth is shared fairly. Your lesson gives Marx's definition as a system of social organisation in which all property is owned by the community, with wealth shared out fairly by a workers' government.
Source of this question: gate item 1 re-asked (options rotated) — this chapter has no third quick-check module.
The ebook also holds task 3, "How much really changed?",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What changed, and in what way. Reveal the answer; pupils mark their own work in a different colour, then read the "why" together. Same destination for every lane, so one answer serves the whole class.
Answer: Everyone called comrade  →  E  Abolished titles and ranks, so nobody officially outranked anybody else; Factory committees  →  B  Put the running of workplaces in the hands of the workers themselves; Land shared out  →  A  Gave peasants the thing they had wanted since serfdom ended; Banks taken over  →  D  Moved control of money from private owners to the state; One party, one press  →  C  Removed any lawful way of arguing for a different government
Why: Three of these changes gave real power or property to workers and peasants; one moved control of money to the state; and the one-party, one-newspaper rule removed the means of ever arguing for anything different.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A narrative account of October 1917. Reveal the answer; pupils mark their own work in a different colour, then read the "why" together. Same destination for every lane, so one answer serves the whole class.
Answer: My first paragraph gives causes, my second gives events in order, and my third gives consequences.; I link each event to the next with a phrase such as this led to or as a result, and I explain the link.; I use specific knowledge: named people, named events, and at least one date with its calendar named.; Each paragraph ends by handing the story on to the next part or answering the question.; I use the storming of the Winter Palace and the creation of the Soviet Union somewhere in my answer.
Why: The marks sit in the structure, not the detail: causes, then events in order, then consequences, with every step joined and explained. The strongest answers finish by answering the question rather than simply stopping.
Model answer: One cause of the October 1917 Revolution was the Provisional Government's decision to stay in the First World War. This mattered because the war was why food had run short and why soldiers had mutinied in February, so when Kerensky's attack on the Germans failed in July 1917, soldiers and sailors protested in the streets and turned towards the only party promising peace. This led to the Kornilov affair in August, when Kerensky armed the Bolshevik Red Guards to stop a general seizing power, and they kept their weapons afterwards. The events themselves were planned rather than spontaneous. On 10 October, Old Style, Lenin persuaded the Bolshevik Central Committee to back an armed seizure of power, and Trotsky's Military Revolutionary Committee prepared it. As a result, on 24 October, Old Style, the Bolsheviks occupied the railway stations, the telephone exchange and the State Bank, and the following night the Red Guards surrounded and stormed the Winter Palace, where the Provisional Government surrendered. The consequences reached far beyond Petrograd. The Bolsheviks made peace with Germany, which was popular with soldiers and peasants but convinced their opponents that the new government could not be accepted, and this led to the Russian Civil War. Lenin later softened his economic controls through the New Economic Policy, and in 1922 the old empire was reorganised as the Soviet Union, the world's first communist state. The revolution therefore changed who held power and how property was owned, but it did not give Russians any lawful way to change their government.
Success criteria: My first paragraph gives causes, my second gives events in order, and my third gives consequences.; I link each event to the next with a phrase such as this led to or as a result, and I explain the link.; I use specific knowledge: named people, named events, and at least one date with its calendar named.; Each paragraph ends by handing the story on to the next part or answering the question.; I use the storming of the Winter Palace and the creation of the Soviet Union somewhere in my answer.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A narrative account of October 1917. Reveal the answer; pupils mark their own work in a different colour, then read the "why" together. Same destination for every lane, so one answer serves the whole class.
Answer: My first paragraph gives causes, my second gives events in order, and my third gives consequences.; I link each event to the next with a phrase such as this led to or as a result, and I explain the link.; I use specific knowledge: named people, named events, and at least one date with its calendar named.; Each paragraph ends by handing the story on to the next part or answering the question.; I use the storming of the Winter Palace and the creation of the Soviet Union somewhere in my answer.
Why: The marks sit in the structure, not the detail: causes, then events in order, then consequences, with every step joined and explained. The strongest answers finish by answering the question rather than simply stopping.
Model answer: One cause of the October 1917 Revolution was the Provisional Government's decision to stay in the First World War. This mattered because the war was why food had run short and why soldiers had mutinied in February, so when Kerensky's attack on the Germans failed in July 1917, soldiers and sailors protested in the streets and turned towards the only party promising peace. This led to the Kornilov affair in August, when Kerensky armed the Bolshevik Red Guards to stop a general seizing power, and they kept their weapons afterwards. The events themselves were planned rather than spontaneous. On 10 October, Old Style, Lenin persuaded the Bolshevik Central Committee to back an armed seizure of power, and Trotsky's Military Revolutionary Committee prepared it. As a result, on 24 October, Old Style, the Bolsheviks occupied the railway stations, the telephone exchange and the State Bank, and the following night the Red Guards surrounded and stormed the Winter Palace, where the Provisional Government surrendered. The consequences reached far beyond Petrograd. The Bolsheviks made peace with Germany, which was popular with soldiers and peasants but convinced their opponents that the new government could not be accepted, and this led to the Russian Civil War. Lenin later softened his economic controls through the New Economic Policy, and in 1922 the old empire was reorganised as the Soviet Union, the world's first communist state. The revolution therefore changed who held power and how property was owned, but it did not give Russians any lawful way to change their government.
Success criteria: My first paragraph gives causes, my second gives events in order, and my third gives consequences.; I link each event to the next with a phrase such as this led to or as a result, and I explain the link.; I use specific knowledge: named people, named events, and at least one date with its calendar named.; Each paragraph ends by handing the story on to the next part or answering the question.; I use the storming of the Winter Palace and the creation of the Soviet Union somewhere in my answer.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A system in which property is owned by the whole community and wealth is shared fairly
Why: Your lesson gives Marx's definition as a system of social organisation in which all property is owned by the community, with wealth shared out fairly by a workers' government.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Russian Revolution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Russian Revolution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Russian Revolution · AQA KS3 → 8145</a:t>
            </a:r>
            <a:endParaRPr lang="en-US" sz="1800" dirty="0"/>
          </a:p>
        </p:txBody>
      </p:sp>
      <p:sp>
        <p:nvSpPr>
          <p:cNvPr id="10" name="deck-title"/>
          <p:cNvSpPr txBox="1"/>
          <p:nvPr/>
        </p:nvSpPr>
        <p:spPr>
          <a:xfrm>
            <a:off x="548640" y="185724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Bolshevik rule, the Soviet Union, and writing a narrative account</a:t>
            </a:r>
            <a:endParaRPr lang="en-US" sz="2800" dirty="0"/>
          </a:p>
        </p:txBody>
      </p:sp>
      <p:sp>
        <p:nvSpPr>
          <p:cNvPr id="11" name="lessons-card"/>
          <p:cNvSpPr/>
          <p:nvPr/>
        </p:nvSpPr>
        <p:spPr>
          <a:xfrm>
            <a:off x="548640" y="3599688"/>
            <a:ext cx="5287975" cy="1986280"/>
          </a:xfrm>
          <a:prstGeom prst="roundRect">
            <a:avLst>
              <a:gd name="adj" fmla="val 3683"/>
            </a:avLst>
          </a:prstGeom>
          <a:solidFill>
            <a:srgbClr val="F2EDE9"/>
          </a:solidFill>
          <a:ln/>
        </p:spPr>
      </p:sp>
      <p:sp>
        <p:nvSpPr>
          <p:cNvPr id="12" name="lessons"/>
          <p:cNvSpPr txBox="1"/>
          <p:nvPr/>
        </p:nvSpPr>
        <p:spPr>
          <a:xfrm>
            <a:off x="685800" y="3691128"/>
            <a:ext cx="5013655" cy="18034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Bolshevik rule and the creation of the Soviet Union, 1917–1922</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Revision: preparing the narrative question</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End-of-topic assessment</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To what extent did the Russian Revolution bring about change?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How did Karl Marx describe communism?</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system in which property is owned by the whole community and wealth is shared fairly</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system in which the Church distributes food to the poor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system in which workers buy shares in the factory they work in</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system in which one strong leader owns the factories on everyone's behalf</a:t>
            </a:r>
            <a:endParaRPr lang="en-US" sz="2000" dirty="0"/>
          </a:p>
        </p:txBody>
      </p:sp>
      <p:sp>
        <p:nvSpPr>
          <p:cNvPr id="12" name="card"/>
          <p:cNvSpPr/>
          <p:nvPr/>
        </p:nvSpPr>
        <p:spPr>
          <a:xfrm>
            <a:off x="6233008" y="1389888"/>
            <a:ext cx="5410048" cy="4754880"/>
          </a:xfrm>
          <a:prstGeom prst="roundRect">
            <a:avLst>
              <a:gd name="adj" fmla="val 1154"/>
            </a:avLst>
          </a:prstGeom>
          <a:solidFill>
            <a:srgbClr val="F6F2EF"/>
          </a:solidFill>
          <a:ln w="12700">
            <a:solidFill>
              <a:srgbClr val="D0C0B0"/>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1922 the old Russian Empire was reorganised into a new country called the ___ Union.</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Soviet  ·  Romanov  ·  Provisional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change under Bolshevik rule shows most clearly that Russians did not become more free?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Women were declared equal to men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Only the Communist Party was allowed to exist, and only communist newspapers could be published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Houses were taken from the rich and shared among workers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Titles and ranks were abolished and everyone was called comrade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977644"/>
          </a:xfrm>
          <a:prstGeom prst="roundRect">
            <a:avLst>
              <a:gd name="adj" fmla="val 5548"/>
            </a:avLst>
          </a:prstGeom>
          <a:solidFill>
            <a:srgbClr val="EDE1CA"/>
          </a:solidFill>
          <a:ln w="19050">
            <a:solidFill>
              <a:srgbClr val="B8862B"/>
            </a:solidFill>
            <a:prstDash val="solid"/>
          </a:ln>
        </p:spPr>
      </p:sp>
      <p:sp>
        <p:nvSpPr>
          <p:cNvPr id="12" name="answer"/>
          <p:cNvSpPr txBox="1"/>
          <p:nvPr/>
        </p:nvSpPr>
        <p:spPr>
          <a:xfrm>
            <a:off x="822960" y="2428829"/>
            <a:ext cx="2966618" cy="1831340"/>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 system in which property is owned by the whole community and wealth is shared fairly</a:t>
            </a:r>
            <a:endParaRPr lang="en-US" sz="2200" dirty="0"/>
          </a:p>
        </p:txBody>
      </p:sp>
      <p:sp>
        <p:nvSpPr>
          <p:cNvPr id="13" name="card-body"/>
          <p:cNvSpPr txBox="1"/>
          <p:nvPr/>
        </p:nvSpPr>
        <p:spPr>
          <a:xfrm>
            <a:off x="731520" y="4516201"/>
            <a:ext cx="3149498" cy="1491407"/>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Your lesson gives Marx's definition as a system of social organisation in which all property is owned by the…</a:t>
            </a:r>
            <a:endParaRPr lang="en-US" sz="1800" dirty="0"/>
          </a:p>
        </p:txBody>
      </p:sp>
      <p:sp>
        <p:nvSpPr>
          <p:cNvPr id="14"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Soviet</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1922 the old Russian Empire was reorganised into a new country called the ___ Union.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Soviet Union was created in 1922, named after the soviets, the councils of workers and soldiers.</a:t>
            </a:r>
            <a:endParaRPr lang="en-US" sz="1800" dirty="0"/>
          </a:p>
        </p:txBody>
      </p:sp>
      <p:sp>
        <p:nvSpPr>
          <p:cNvPr id="21"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2318512"/>
          </a:xfrm>
          <a:prstGeom prst="roundRect">
            <a:avLst>
              <a:gd name="adj" fmla="val 4733"/>
            </a:avLst>
          </a:prstGeom>
          <a:solidFill>
            <a:srgbClr val="EDE1CA"/>
          </a:solidFill>
          <a:ln w="19050">
            <a:solidFill>
              <a:srgbClr val="B8862B"/>
            </a:solidFill>
            <a:prstDash val="solid"/>
          </a:ln>
        </p:spPr>
      </p:sp>
      <p:sp>
        <p:nvSpPr>
          <p:cNvPr id="26" name="answer"/>
          <p:cNvSpPr txBox="1"/>
          <p:nvPr/>
        </p:nvSpPr>
        <p:spPr>
          <a:xfrm>
            <a:off x="8402117" y="2428829"/>
            <a:ext cx="2966618" cy="217220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Only the Communist Party was allowed to exist, and only communist newspapers could be published</a:t>
            </a:r>
            <a:endParaRPr lang="en-US" sz="2200" dirty="0"/>
          </a:p>
        </p:txBody>
      </p:sp>
      <p:sp>
        <p:nvSpPr>
          <p:cNvPr id="27" name="card-body"/>
          <p:cNvSpPr txBox="1"/>
          <p:nvPr/>
        </p:nvSpPr>
        <p:spPr>
          <a:xfrm>
            <a:off x="8310677" y="4857069"/>
            <a:ext cx="3149498" cy="115053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Banning every other party and every other newspaper removes the two things…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communism</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idea that property should be owned by the whole community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Under communism no single person was supposed to own a factory.</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Karl Marx</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thinker who developed the idea of communism</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Karl Marx died in 1883, long before any country tried his ideas.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comrade</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word Russians were told to use instead of titles and ranks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Calling everyone comrade was meant to show that nobody outranked anybody.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Soviet Union</a:t>
            </a:r>
            <a:endParaRPr lang="en-US" sz="2600" dirty="0"/>
          </a:p>
        </p:txBody>
      </p:sp>
      <p:sp>
        <p:nvSpPr>
          <p:cNvPr id="11" name="word-rule"/>
          <p:cNvSpPr/>
          <p:nvPr/>
        </p:nvSpPr>
        <p:spPr>
          <a:xfrm>
            <a:off x="731520" y="2129028"/>
            <a:ext cx="5044288" cy="0"/>
          </a:xfrm>
          <a:prstGeom prst="line">
            <a:avLst/>
          </a:prstGeom>
          <a:ln w="12700">
            <a:solidFill>
              <a:srgbClr val="CAB7A5"/>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new country created out of the old Russian Empire in 1922</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Soviet Union was the world's first communist state.</a:t>
            </a:r>
            <a:endParaRPr lang="en-US" sz="2200" dirty="0"/>
          </a:p>
        </p:txBody>
      </p:sp>
      <p:sp>
        <p:nvSpPr>
          <p:cNvPr id="13" name="word-card"/>
          <p:cNvSpPr/>
          <p:nvPr/>
        </p:nvSpPr>
        <p:spPr>
          <a:xfrm>
            <a:off x="6233008" y="1389888"/>
            <a:ext cx="5410048" cy="4754880"/>
          </a:xfrm>
          <a:prstGeom prst="roundRect">
            <a:avLst>
              <a:gd name="adj" fmla="val 1154"/>
            </a:avLst>
          </a:prstGeom>
          <a:solidFill>
            <a:srgbClr val="F4F1ED"/>
          </a:solidFill>
          <a:ln w="12700">
            <a:solidFill>
              <a:srgbClr val="CAB7A5"/>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consequence</a:t>
            </a:r>
            <a:endParaRPr lang="en-US" sz="2600" dirty="0"/>
          </a:p>
        </p:txBody>
      </p:sp>
      <p:sp>
        <p:nvSpPr>
          <p:cNvPr id="17" name="word-rule"/>
          <p:cNvSpPr/>
          <p:nvPr/>
        </p:nvSpPr>
        <p:spPr>
          <a:xfrm>
            <a:off x="6415888" y="2129028"/>
            <a:ext cx="5044288" cy="0"/>
          </a:xfrm>
          <a:prstGeom prst="line">
            <a:avLst/>
          </a:prstGeom>
          <a:ln w="12700">
            <a:solidFill>
              <a:srgbClr val="CAB7A5"/>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something that happens as a result of an event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narrative account ends with the consequences of the events you have described.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Bolsheviks were communists.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Communism</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came from the ideas of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Karl Marx</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Marx said factory owners grew rich while their workers stayed poor.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believed the workers would one day rise up and share everything out.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Marx died in 1883 without ever seeing it tried.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Lenin was a Marxist, and Russia became the first communist state.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Titles and ranks were dropped and everyone was called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comrade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Women were declared equal to men.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Workers were told to run their factories by committee.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Peasants were told to share out the land.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state took control of the banks.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Only communist newspapers and only one political party were allowed.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1922 the new country was named the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Soviet Union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Your assessment asks how much really changed.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Karl Marx and the idea of communism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write about communism, separate Marx's idea from Lenin's practice. Treating them as the same thing is the commonest mistake in this topic.</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Communism is an idea before it is a government. Your lesson traces it to Karl Marx, who looked at industrial Europe and decided the system was unjust and could not last.</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Marx first set these ideas out in the Communist Manifesto of 1848 and died in 1883, so he never saw a country try them.</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Your lesson asks you to spot problems in Marx's scenario, and that is a fair question to hold on to.</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the Bolsheviks actually changed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good answer on change holds two things at once: real equality in some ways, no freedom in others. Say both, then judge.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 gives a list of what happened in Russia under communist rule, and asks you to sort it into good ideas and bad ideas.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rest of the list points the other way. The state took control of the banks.</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Put the two halves together and you have the judgement this unit is built around.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Consequences: peace, civil war and a new country</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Peace, civil war, New Economic Policy, Soviet Union. Four consequences, in that order, is a complete third paragraph.</a:t>
            </a:r>
            <a:endParaRPr lang="en-US" sz="1800" dirty="0"/>
          </a:p>
        </p:txBody>
      </p:sp>
      <p:sp>
        <p:nvSpPr>
          <p:cNvPr id="11" name="bullet-card"/>
          <p:cNvSpPr/>
          <p:nvPr/>
        </p:nvSpPr>
        <p:spPr>
          <a:xfrm>
            <a:off x="548640" y="1389888"/>
            <a:ext cx="11094415" cy="903901"/>
          </a:xfrm>
          <a:prstGeom prst="roundRect">
            <a:avLst>
              <a:gd name="adj" fmla="val 8093"/>
            </a:avLst>
          </a:prstGeom>
          <a:solidFill>
            <a:srgbClr val="F4F1ED"/>
          </a:solidFill>
          <a:ln/>
        </p:spPr>
      </p:sp>
      <p:sp>
        <p:nvSpPr>
          <p:cNvPr id="12" name="bullet-hex"/>
          <p:cNvSpPr/>
          <p:nvPr/>
        </p:nvSpPr>
        <p:spPr>
          <a:xfrm>
            <a:off x="676656" y="1675546"/>
            <a:ext cx="384048" cy="332586"/>
          </a:xfrm>
          <a:prstGeom prst="hexagon">
            <a:avLst/>
          </a:prstGeom>
          <a:solidFill>
            <a:srgbClr val="7A4A1E"/>
          </a:solidFill>
          <a:ln/>
        </p:spPr>
      </p:sp>
      <p:sp>
        <p:nvSpPr>
          <p:cNvPr id="13" name="bullet"/>
          <p:cNvSpPr txBox="1"/>
          <p:nvPr/>
        </p:nvSpPr>
        <p:spPr>
          <a:xfrm>
            <a:off x="1143000" y="1389888"/>
            <a:ext cx="10408615"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revision lesson lists four consequences of the October Revolution, and they belong in your third paragraph.</a:t>
            </a:r>
            <a:endParaRPr lang="en-US" sz="2200" dirty="0"/>
          </a:p>
        </p:txBody>
      </p:sp>
      <p:sp>
        <p:nvSpPr>
          <p:cNvPr id="14" name="bullet-card"/>
          <p:cNvSpPr/>
          <p:nvPr/>
        </p:nvSpPr>
        <p:spPr>
          <a:xfrm>
            <a:off x="548640" y="2440093"/>
            <a:ext cx="11094415" cy="1244769"/>
          </a:xfrm>
          <a:prstGeom prst="roundRect">
            <a:avLst>
              <a:gd name="adj" fmla="val 5877"/>
            </a:avLst>
          </a:prstGeom>
          <a:solidFill>
            <a:srgbClr val="F4F1ED"/>
          </a:solidFill>
          <a:ln/>
        </p:spPr>
      </p:sp>
      <p:sp>
        <p:nvSpPr>
          <p:cNvPr id="15" name="bullet-hex"/>
          <p:cNvSpPr/>
          <p:nvPr/>
        </p:nvSpPr>
        <p:spPr>
          <a:xfrm>
            <a:off x="676656" y="2896185"/>
            <a:ext cx="384048" cy="332586"/>
          </a:xfrm>
          <a:prstGeom prst="hexagon">
            <a:avLst/>
          </a:prstGeom>
          <a:solidFill>
            <a:srgbClr val="B8862B"/>
          </a:solidFill>
          <a:ln/>
        </p:spPr>
      </p:sp>
      <p:sp>
        <p:nvSpPr>
          <p:cNvPr id="16" name="bullet"/>
          <p:cNvSpPr txBox="1"/>
          <p:nvPr/>
        </p:nvSpPr>
        <p:spPr>
          <a:xfrm>
            <a:off x="1143000" y="2440093"/>
            <a:ext cx="10408615"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Notice how the first consequence produced the second. Leaving the war was popular with soldiers and peasants, but it confirmed for the Bolsheviks' enemies that the new government could not be lived with, and the result was years of fighting inside Russia.</a:t>
            </a:r>
            <a:endParaRPr lang="en-US" sz="2200" dirty="0"/>
          </a:p>
        </p:txBody>
      </p:sp>
      <p:sp>
        <p:nvSpPr>
          <p:cNvPr id="17" name="bullet-card"/>
          <p:cNvSpPr/>
          <p:nvPr/>
        </p:nvSpPr>
        <p:spPr>
          <a:xfrm>
            <a:off x="548640" y="3831167"/>
            <a:ext cx="11094415" cy="1244769"/>
          </a:xfrm>
          <a:prstGeom prst="roundRect">
            <a:avLst>
              <a:gd name="adj" fmla="val 5877"/>
            </a:avLst>
          </a:prstGeom>
          <a:solidFill>
            <a:srgbClr val="F4F1ED"/>
          </a:solidFill>
          <a:ln/>
        </p:spPr>
      </p:sp>
      <p:sp>
        <p:nvSpPr>
          <p:cNvPr id="18" name="bullet-hex"/>
          <p:cNvSpPr/>
          <p:nvPr/>
        </p:nvSpPr>
        <p:spPr>
          <a:xfrm>
            <a:off x="676656" y="4287259"/>
            <a:ext cx="384048" cy="332586"/>
          </a:xfrm>
          <a:prstGeom prst="hexagon">
            <a:avLst/>
          </a:prstGeom>
          <a:solidFill>
            <a:srgbClr val="7A4A1E"/>
          </a:solidFill>
          <a:ln/>
        </p:spPr>
      </p:sp>
      <p:sp>
        <p:nvSpPr>
          <p:cNvPr id="19" name="bullet"/>
          <p:cNvSpPr txBox="1"/>
          <p:nvPr/>
        </p:nvSpPr>
        <p:spPr>
          <a:xfrm>
            <a:off x="1143000" y="3831167"/>
            <a:ext cx="10408615"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lesson's final learning outcome asks you to understand the impact of the Bolshevik Revolution on the Russian Empire by 1922, and to evaluate how successful Lenin was as a leader.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Writing the narrative account, and the assessment</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Plan for two minutes before you write. Four events in order with explained links beats eight events in a heap.</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assessment question is a narrative account of the key events of the October 1917 Revolution, and you may use the storming of the Winter Palace and the creation of the Soviet Union in your answer.</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lesson's success criteria tell you exactly what the marker wants.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assessment itself has four parts: multiple-choice questions, a historical sequencing question, a section where you give specific evidence to support statements, and the extended narrative.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Writing the narrative account, and the assessment</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2EDE9"/>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Plan the three paragraphs of a narrative account on the October 1917 Revolution.</a:t>
            </a:r>
            <a:endParaRPr lang="en-US" sz="2200" dirty="0"/>
          </a:p>
        </p:txBody>
      </p:sp>
      <p:sp>
        <p:nvSpPr>
          <p:cNvPr id="9" name="step-box"/>
          <p:cNvSpPr/>
          <p:nvPr/>
        </p:nvSpPr>
        <p:spPr>
          <a:xfrm>
            <a:off x="548640" y="2314956"/>
            <a:ext cx="5341468" cy="2810764"/>
          </a:xfrm>
          <a:prstGeom prst="roundRect">
            <a:avLst>
              <a:gd name="adj" fmla="val 2603"/>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5067148" cy="2124964"/>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Paragraph 1, cause: the Provisional Government stayed in the war, failed on food and prices, and lost authority through dual power and Order Number One; the Bolsheviks promised bread, peace and land.</a:t>
            </a:r>
            <a:endParaRPr lang="en-US" sz="1800" dirty="0"/>
          </a:p>
        </p:txBody>
      </p:sp>
      <p:sp>
        <p:nvSpPr>
          <p:cNvPr id="13" name="arrow"/>
          <p:cNvSpPr/>
          <p:nvPr/>
        </p:nvSpPr>
        <p:spPr>
          <a:xfrm>
            <a:off x="5963260" y="3583178"/>
            <a:ext cx="274320" cy="274320"/>
          </a:xfrm>
          <a:prstGeom prst="rightArrow">
            <a:avLst/>
          </a:prstGeom>
          <a:solidFill>
            <a:srgbClr val="B8862B"/>
          </a:solidFill>
          <a:ln/>
        </p:spPr>
      </p:sp>
      <p:sp>
        <p:nvSpPr>
          <p:cNvPr id="14" name="step-box"/>
          <p:cNvSpPr/>
          <p:nvPr/>
        </p:nvSpPr>
        <p:spPr>
          <a:xfrm>
            <a:off x="6301588" y="2314956"/>
            <a:ext cx="5341468" cy="2810764"/>
          </a:xfrm>
          <a:prstGeom prst="roundRect">
            <a:avLst>
              <a:gd name="adj" fmla="val 2603"/>
            </a:avLst>
          </a:prstGeom>
          <a:solidFill>
            <a:srgbClr val="FFFFFF"/>
          </a:solidFill>
          <a:ln w="15875">
            <a:solidFill>
              <a:srgbClr val="B69B83"/>
            </a:solidFill>
            <a:prstDash val="solid"/>
          </a:ln>
        </p:spPr>
      </p:sp>
      <p:sp>
        <p:nvSpPr>
          <p:cNvPr id="15" name="step-hex"/>
          <p:cNvSpPr/>
          <p:nvPr/>
        </p:nvSpPr>
        <p:spPr>
          <a:xfrm>
            <a:off x="6438748" y="2424684"/>
            <a:ext cx="530352" cy="459285"/>
          </a:xfrm>
          <a:prstGeom prst="hexagon">
            <a:avLst/>
          </a:prstGeom>
          <a:solidFill>
            <a:srgbClr val="7A4A1E"/>
          </a:solidFill>
          <a:ln/>
        </p:spPr>
      </p:sp>
      <p:sp>
        <p:nvSpPr>
          <p:cNvPr id="16"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2909316"/>
            <a:ext cx="5067148" cy="2124964"/>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Paragraph 2, events: Lenin's return and his September letter; the Central Committee's decision in October; the Military Revolutionary Committee under Trotsky; the taking of the printing house, the stations, the exchange and the State Bank; the Winter Palace on 25 October, Old Style.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Writing the narrative account, and the assessment</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2EDE9"/>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Plan the three paragraphs of a narrative account on the October 1917 Revolution.</a:t>
            </a:r>
            <a:endParaRPr lang="en-US" sz="2200" dirty="0"/>
          </a:p>
        </p:txBody>
      </p:sp>
      <p:sp>
        <p:nvSpPr>
          <p:cNvPr id="9" name="step-box"/>
          <p:cNvSpPr/>
          <p:nvPr/>
        </p:nvSpPr>
        <p:spPr>
          <a:xfrm>
            <a:off x="548640" y="2314956"/>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Paragraph 3, consequences: peace with Germany, the Russian Civil War, the New Economic Policy and the creation of the Soviet Union in 1922.</a:t>
            </a:r>
            <a:endParaRPr lang="en-US" sz="1800" dirty="0"/>
          </a:p>
        </p:txBody>
      </p:sp>
      <p:sp>
        <p:nvSpPr>
          <p:cNvPr id="13" name="arrow"/>
          <p:cNvSpPr/>
          <p:nvPr/>
        </p:nvSpPr>
        <p:spPr>
          <a:xfrm>
            <a:off x="5963260" y="3025394"/>
            <a:ext cx="274320" cy="274320"/>
          </a:xfrm>
          <a:prstGeom prst="rightArrow">
            <a:avLst/>
          </a:prstGeom>
          <a:solidFill>
            <a:srgbClr val="B8862B"/>
          </a:solidFill>
          <a:ln/>
        </p:spPr>
      </p:sp>
      <p:sp>
        <p:nvSpPr>
          <p:cNvPr id="14" name="step-box"/>
          <p:cNvSpPr/>
          <p:nvPr/>
        </p:nvSpPr>
        <p:spPr>
          <a:xfrm>
            <a:off x="6301588" y="2314956"/>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424684"/>
            <a:ext cx="530352" cy="459285"/>
          </a:xfrm>
          <a:prstGeom prst="hexagon">
            <a:avLst/>
          </a:prstGeom>
          <a:solidFill>
            <a:srgbClr val="7A4A1E"/>
          </a:solidFill>
          <a:ln/>
        </p:spPr>
      </p:sp>
      <p:sp>
        <p:nvSpPr>
          <p:cNvPr id="16"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Then check the joins: each paragraph should end with a sentence that hands the story to the next one.</a:t>
            </a:r>
            <a:endParaRPr lang="en-US" sz="1800" dirty="0"/>
          </a:p>
        </p:txBody>
      </p:sp>
      <p:sp>
        <p:nvSpPr>
          <p:cNvPr id="18" name="worked-answer"/>
          <p:cNvSpPr/>
          <p:nvPr/>
        </p:nvSpPr>
        <p:spPr>
          <a:xfrm>
            <a:off x="1463040" y="5034788"/>
            <a:ext cx="9265615" cy="1109980"/>
          </a:xfrm>
          <a:prstGeom prst="roundRect">
            <a:avLst>
              <a:gd name="adj" fmla="val 16476"/>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Three paragraphs: causes ending with the Bolsheviks ready to act; events in dated order ending with the palace taken; consequences ending with the Soviet Union and a sentence answering the question.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What changed, and in what way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Bolshevik change to what it did.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The task (1 of 2): What changed, and in what way</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Bolshevik change to what it did.</a:t>
            </a:r>
            <a:endParaRPr lang="en-US" sz="2400" dirty="0"/>
          </a:p>
        </p:txBody>
      </p:sp>
      <p:sp>
        <p:nvSpPr>
          <p:cNvPr id="11" name="match-card"/>
          <p:cNvSpPr/>
          <p:nvPr/>
        </p:nvSpPr>
        <p:spPr>
          <a:xfrm>
            <a:off x="777240" y="2468331"/>
            <a:ext cx="3081437" cy="1103559"/>
          </a:xfrm>
          <a:prstGeom prst="roundRect">
            <a:avLst>
              <a:gd name="adj" fmla="val 6629"/>
            </a:avLst>
          </a:prstGeom>
          <a:solidFill>
            <a:srgbClr val="F4F1ED"/>
          </a:solidFill>
          <a:ln/>
        </p:spPr>
      </p:sp>
      <p:sp>
        <p:nvSpPr>
          <p:cNvPr id="12" name="match-hex"/>
          <p:cNvSpPr/>
          <p:nvPr/>
        </p:nvSpPr>
        <p:spPr>
          <a:xfrm>
            <a:off x="850392" y="2853818"/>
            <a:ext cx="384048" cy="332586"/>
          </a:xfrm>
          <a:prstGeom prst="hexagon">
            <a:avLst/>
          </a:prstGeom>
          <a:solidFill>
            <a:srgbClr val="7A4A1E"/>
          </a:solidFill>
          <a:ln/>
        </p:spPr>
      </p:sp>
      <p:sp>
        <p:nvSpPr>
          <p:cNvPr id="13" name="match-hex-label"/>
          <p:cNvSpPr txBox="1"/>
          <p:nvPr/>
        </p:nvSpPr>
        <p:spPr>
          <a:xfrm>
            <a:off x="850392"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Everyone called comrade</a:t>
            </a:r>
            <a:endParaRPr lang="en-US" sz="2200" dirty="0"/>
          </a:p>
        </p:txBody>
      </p:sp>
      <p:sp>
        <p:nvSpPr>
          <p:cNvPr id="15" name="match-card"/>
          <p:cNvSpPr/>
          <p:nvPr/>
        </p:nvSpPr>
        <p:spPr>
          <a:xfrm>
            <a:off x="4224437" y="2468331"/>
            <a:ext cx="7190019" cy="1103559"/>
          </a:xfrm>
          <a:prstGeom prst="roundRect">
            <a:avLst>
              <a:gd name="adj" fmla="val 6629"/>
            </a:avLst>
          </a:prstGeom>
          <a:solidFill>
            <a:srgbClr val="F6F0E6"/>
          </a:solidFill>
          <a:ln/>
        </p:spPr>
      </p:sp>
      <p:sp>
        <p:nvSpPr>
          <p:cNvPr id="16" name="match-hex"/>
          <p:cNvSpPr/>
          <p:nvPr/>
        </p:nvSpPr>
        <p:spPr>
          <a:xfrm>
            <a:off x="4297589" y="2853818"/>
            <a:ext cx="384048" cy="332586"/>
          </a:xfrm>
          <a:prstGeom prst="hexagon">
            <a:avLst/>
          </a:prstGeom>
          <a:solidFill>
            <a:srgbClr val="B8862B"/>
          </a:solidFill>
          <a:ln/>
        </p:spPr>
      </p:sp>
      <p:sp>
        <p:nvSpPr>
          <p:cNvPr id="17" name="match-hex-label"/>
          <p:cNvSpPr txBox="1"/>
          <p:nvPr/>
        </p:nvSpPr>
        <p:spPr>
          <a:xfrm>
            <a:off x="4297589"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Gave peasants the thing they had wanted since serfdom ended</a:t>
            </a:r>
            <a:endParaRPr lang="en-US" sz="2200" dirty="0"/>
          </a:p>
        </p:txBody>
      </p:sp>
      <p:sp>
        <p:nvSpPr>
          <p:cNvPr id="19" name="match-card"/>
          <p:cNvSpPr/>
          <p:nvPr/>
        </p:nvSpPr>
        <p:spPr>
          <a:xfrm>
            <a:off x="777240" y="3663330"/>
            <a:ext cx="3081437" cy="1103559"/>
          </a:xfrm>
          <a:prstGeom prst="roundRect">
            <a:avLst>
              <a:gd name="adj" fmla="val 6629"/>
            </a:avLst>
          </a:prstGeom>
          <a:solidFill>
            <a:srgbClr val="F4F1ED"/>
          </a:solidFill>
          <a:ln/>
        </p:spPr>
      </p:sp>
      <p:sp>
        <p:nvSpPr>
          <p:cNvPr id="20" name="match-hex"/>
          <p:cNvSpPr/>
          <p:nvPr/>
        </p:nvSpPr>
        <p:spPr>
          <a:xfrm>
            <a:off x="850392" y="4048817"/>
            <a:ext cx="384048" cy="332586"/>
          </a:xfrm>
          <a:prstGeom prst="hexagon">
            <a:avLst/>
          </a:prstGeom>
          <a:solidFill>
            <a:srgbClr val="7A4A1E"/>
          </a:solidFill>
          <a:ln/>
        </p:spPr>
      </p:sp>
      <p:sp>
        <p:nvSpPr>
          <p:cNvPr id="21"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663330"/>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Factory committees</a:t>
            </a:r>
            <a:endParaRPr lang="en-US" sz="2200" dirty="0"/>
          </a:p>
        </p:txBody>
      </p:sp>
      <p:sp>
        <p:nvSpPr>
          <p:cNvPr id="23" name="match-card"/>
          <p:cNvSpPr/>
          <p:nvPr/>
        </p:nvSpPr>
        <p:spPr>
          <a:xfrm>
            <a:off x="4224437" y="3663330"/>
            <a:ext cx="7190019" cy="1103559"/>
          </a:xfrm>
          <a:prstGeom prst="roundRect">
            <a:avLst>
              <a:gd name="adj" fmla="val 6629"/>
            </a:avLst>
          </a:prstGeom>
          <a:solidFill>
            <a:srgbClr val="F6F0E6"/>
          </a:solidFill>
          <a:ln/>
        </p:spPr>
      </p:sp>
      <p:sp>
        <p:nvSpPr>
          <p:cNvPr id="24" name="match-hex"/>
          <p:cNvSpPr/>
          <p:nvPr/>
        </p:nvSpPr>
        <p:spPr>
          <a:xfrm>
            <a:off x="4297589" y="4048817"/>
            <a:ext cx="384048" cy="332586"/>
          </a:xfrm>
          <a:prstGeom prst="hexagon">
            <a:avLst/>
          </a:prstGeom>
          <a:solidFill>
            <a:srgbClr val="B8862B"/>
          </a:solidFill>
          <a:ln/>
        </p:spPr>
      </p:sp>
      <p:sp>
        <p:nvSpPr>
          <p:cNvPr id="25"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663330"/>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Put the running of workplaces in the hands of the workers themselves</a:t>
            </a:r>
            <a:endParaRPr lang="en-US" sz="2200" dirty="0"/>
          </a:p>
        </p:txBody>
      </p:sp>
      <p:sp>
        <p:nvSpPr>
          <p:cNvPr id="27" name="match-card"/>
          <p:cNvSpPr/>
          <p:nvPr/>
        </p:nvSpPr>
        <p:spPr>
          <a:xfrm>
            <a:off x="777240" y="4858329"/>
            <a:ext cx="3081437" cy="1103559"/>
          </a:xfrm>
          <a:prstGeom prst="roundRect">
            <a:avLst>
              <a:gd name="adj" fmla="val 6629"/>
            </a:avLst>
          </a:prstGeom>
          <a:solidFill>
            <a:srgbClr val="F4F1ED"/>
          </a:solidFill>
          <a:ln/>
        </p:spPr>
      </p:sp>
      <p:sp>
        <p:nvSpPr>
          <p:cNvPr id="28" name="match-hex"/>
          <p:cNvSpPr/>
          <p:nvPr/>
        </p:nvSpPr>
        <p:spPr>
          <a:xfrm>
            <a:off x="850392" y="5243816"/>
            <a:ext cx="384048" cy="332586"/>
          </a:xfrm>
          <a:prstGeom prst="hexagon">
            <a:avLst/>
          </a:prstGeom>
          <a:solidFill>
            <a:srgbClr val="7A4A1E"/>
          </a:solidFill>
          <a:ln/>
        </p:spPr>
      </p:sp>
      <p:sp>
        <p:nvSpPr>
          <p:cNvPr id="29" name="match-hex-label"/>
          <p:cNvSpPr txBox="1"/>
          <p:nvPr/>
        </p:nvSpPr>
        <p:spPr>
          <a:xfrm>
            <a:off x="850392"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858329"/>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Land shared out</a:t>
            </a:r>
            <a:endParaRPr lang="en-US" sz="2200" dirty="0"/>
          </a:p>
        </p:txBody>
      </p:sp>
      <p:sp>
        <p:nvSpPr>
          <p:cNvPr id="31" name="match-card"/>
          <p:cNvSpPr/>
          <p:nvPr/>
        </p:nvSpPr>
        <p:spPr>
          <a:xfrm>
            <a:off x="4224437" y="4858329"/>
            <a:ext cx="7190019" cy="1103559"/>
          </a:xfrm>
          <a:prstGeom prst="roundRect">
            <a:avLst>
              <a:gd name="adj" fmla="val 6629"/>
            </a:avLst>
          </a:prstGeom>
          <a:solidFill>
            <a:srgbClr val="F6F0E6"/>
          </a:solidFill>
          <a:ln/>
        </p:spPr>
      </p:sp>
      <p:sp>
        <p:nvSpPr>
          <p:cNvPr id="32" name="match-hex"/>
          <p:cNvSpPr/>
          <p:nvPr/>
        </p:nvSpPr>
        <p:spPr>
          <a:xfrm>
            <a:off x="4297589" y="5243816"/>
            <a:ext cx="384048" cy="332586"/>
          </a:xfrm>
          <a:prstGeom prst="hexagon">
            <a:avLst/>
          </a:prstGeom>
          <a:solidFill>
            <a:srgbClr val="B8862B"/>
          </a:solidFill>
          <a:ln/>
        </p:spPr>
      </p:sp>
      <p:sp>
        <p:nvSpPr>
          <p:cNvPr id="33" name="match-hex-label"/>
          <p:cNvSpPr txBox="1"/>
          <p:nvPr/>
        </p:nvSpPr>
        <p:spPr>
          <a:xfrm>
            <a:off x="4297589"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858329"/>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Abolished titles and ranks, so nobody officially outranked anybody else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The task (2 of 2): What changed, and in what way</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Bolshevik change to what it did.</a:t>
            </a:r>
            <a:endParaRPr lang="en-US" sz="2400" dirty="0"/>
          </a:p>
        </p:txBody>
      </p:sp>
      <p:sp>
        <p:nvSpPr>
          <p:cNvPr id="11" name="match-card"/>
          <p:cNvSpPr/>
          <p:nvPr/>
        </p:nvSpPr>
        <p:spPr>
          <a:xfrm>
            <a:off x="777240" y="2468331"/>
            <a:ext cx="3081437" cy="1165352"/>
          </a:xfrm>
          <a:prstGeom prst="roundRect">
            <a:avLst>
              <a:gd name="adj" fmla="val 6277"/>
            </a:avLst>
          </a:prstGeom>
          <a:solidFill>
            <a:srgbClr val="F4F1ED"/>
          </a:solidFill>
          <a:ln/>
        </p:spPr>
      </p:sp>
      <p:sp>
        <p:nvSpPr>
          <p:cNvPr id="12" name="match-hex"/>
          <p:cNvSpPr/>
          <p:nvPr/>
        </p:nvSpPr>
        <p:spPr>
          <a:xfrm>
            <a:off x="850392" y="2884715"/>
            <a:ext cx="384048" cy="332586"/>
          </a:xfrm>
          <a:prstGeom prst="hexagon">
            <a:avLst/>
          </a:prstGeom>
          <a:solidFill>
            <a:srgbClr val="7A4A1E"/>
          </a:solidFill>
          <a:ln/>
        </p:spPr>
      </p:sp>
      <p:sp>
        <p:nvSpPr>
          <p:cNvPr id="13" name="match-hex-label"/>
          <p:cNvSpPr txBox="1"/>
          <p:nvPr/>
        </p:nvSpPr>
        <p:spPr>
          <a:xfrm>
            <a:off x="850392"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Banks taken over</a:t>
            </a:r>
            <a:endParaRPr lang="en-US" sz="2200" dirty="0"/>
          </a:p>
        </p:txBody>
      </p:sp>
      <p:sp>
        <p:nvSpPr>
          <p:cNvPr id="15" name="match-card"/>
          <p:cNvSpPr/>
          <p:nvPr/>
        </p:nvSpPr>
        <p:spPr>
          <a:xfrm>
            <a:off x="4224437" y="2468331"/>
            <a:ext cx="7190019" cy="1165352"/>
          </a:xfrm>
          <a:prstGeom prst="roundRect">
            <a:avLst>
              <a:gd name="adj" fmla="val 6277"/>
            </a:avLst>
          </a:prstGeom>
          <a:solidFill>
            <a:srgbClr val="F6F0E6"/>
          </a:solidFill>
          <a:ln/>
        </p:spPr>
      </p:sp>
      <p:sp>
        <p:nvSpPr>
          <p:cNvPr id="16" name="match-hex"/>
          <p:cNvSpPr/>
          <p:nvPr/>
        </p:nvSpPr>
        <p:spPr>
          <a:xfrm>
            <a:off x="4297589" y="2884715"/>
            <a:ext cx="384048" cy="332586"/>
          </a:xfrm>
          <a:prstGeom prst="hexagon">
            <a:avLst/>
          </a:prstGeom>
          <a:solidFill>
            <a:srgbClr val="B8862B"/>
          </a:solidFill>
          <a:ln/>
        </p:spPr>
      </p:sp>
      <p:sp>
        <p:nvSpPr>
          <p:cNvPr id="17" name="match-hex-label"/>
          <p:cNvSpPr txBox="1"/>
          <p:nvPr/>
        </p:nvSpPr>
        <p:spPr>
          <a:xfrm>
            <a:off x="4297589"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Removed any lawful way of arguing for a different government</a:t>
            </a:r>
            <a:endParaRPr lang="en-US" sz="2200" dirty="0"/>
          </a:p>
        </p:txBody>
      </p:sp>
      <p:sp>
        <p:nvSpPr>
          <p:cNvPr id="19" name="match-card"/>
          <p:cNvSpPr/>
          <p:nvPr/>
        </p:nvSpPr>
        <p:spPr>
          <a:xfrm>
            <a:off x="777240" y="3725123"/>
            <a:ext cx="3081437" cy="1165352"/>
          </a:xfrm>
          <a:prstGeom prst="roundRect">
            <a:avLst>
              <a:gd name="adj" fmla="val 6277"/>
            </a:avLst>
          </a:prstGeom>
          <a:solidFill>
            <a:srgbClr val="F4F1ED"/>
          </a:solidFill>
          <a:ln/>
        </p:spPr>
      </p:sp>
      <p:sp>
        <p:nvSpPr>
          <p:cNvPr id="20" name="match-hex"/>
          <p:cNvSpPr/>
          <p:nvPr/>
        </p:nvSpPr>
        <p:spPr>
          <a:xfrm>
            <a:off x="850392" y="4141507"/>
            <a:ext cx="384048" cy="332586"/>
          </a:xfrm>
          <a:prstGeom prst="hexagon">
            <a:avLst/>
          </a:prstGeom>
          <a:solidFill>
            <a:srgbClr val="7A4A1E"/>
          </a:solidFill>
          <a:ln/>
        </p:spPr>
      </p:sp>
      <p:sp>
        <p:nvSpPr>
          <p:cNvPr id="21" name="match-hex-label"/>
          <p:cNvSpPr txBox="1"/>
          <p:nvPr/>
        </p:nvSpPr>
        <p:spPr>
          <a:xfrm>
            <a:off x="850392"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25123"/>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One party, one press</a:t>
            </a:r>
            <a:endParaRPr lang="en-US" sz="2200" dirty="0"/>
          </a:p>
        </p:txBody>
      </p:sp>
      <p:sp>
        <p:nvSpPr>
          <p:cNvPr id="23" name="match-card"/>
          <p:cNvSpPr/>
          <p:nvPr/>
        </p:nvSpPr>
        <p:spPr>
          <a:xfrm>
            <a:off x="4224437" y="3725123"/>
            <a:ext cx="7190019" cy="1165352"/>
          </a:xfrm>
          <a:prstGeom prst="roundRect">
            <a:avLst>
              <a:gd name="adj" fmla="val 6277"/>
            </a:avLst>
          </a:prstGeom>
          <a:solidFill>
            <a:srgbClr val="F6F0E6"/>
          </a:solidFill>
          <a:ln/>
        </p:spPr>
      </p:sp>
      <p:sp>
        <p:nvSpPr>
          <p:cNvPr id="24" name="match-hex"/>
          <p:cNvSpPr/>
          <p:nvPr/>
        </p:nvSpPr>
        <p:spPr>
          <a:xfrm>
            <a:off x="4297589" y="4141507"/>
            <a:ext cx="384048" cy="332586"/>
          </a:xfrm>
          <a:prstGeom prst="hexagon">
            <a:avLst/>
          </a:prstGeom>
          <a:solidFill>
            <a:srgbClr val="B8862B"/>
          </a:solidFill>
          <a:ln/>
        </p:spPr>
      </p:sp>
      <p:sp>
        <p:nvSpPr>
          <p:cNvPr id="25" name="match-hex-label"/>
          <p:cNvSpPr txBox="1"/>
          <p:nvPr/>
        </p:nvSpPr>
        <p:spPr>
          <a:xfrm>
            <a:off x="4297589"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725123"/>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Moved control of money from private owners to the state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What changed, and in what way</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What changed, and in what way</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Sort the five changes into two groups: those that gave something to ordinary people, and those that gave something to the state.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Three gave something to workers or peasants. Match those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moved control to the state without giving it to anyone else.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last one took something away. Match it last and say what was taken.</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Ask of each change: did it hand something to ordinary people, to the state, or take something away?</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Choose the change you think mattered most to an ordinary Russian in 1922 and explain why, then say whether your answer would differ for a factory owner.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A narrative account of October 1917</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Write a narrative account explaining the key events of the October 1917 Revolution. Write three paragraphs: causes, events, consequences. You may use the storming of the Winter Palace and the creation of the Soviet Union in your answer.</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(1 of 2): A narrative account of October 1917</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549400"/>
          </a:xfrm>
          <a:prstGeom prst="roundRect">
            <a:avLst>
              <a:gd name="adj" fmla="val 5902"/>
            </a:avLst>
          </a:prstGeom>
          <a:solidFill>
            <a:srgbClr val="FFFFFF"/>
          </a:solidFill>
          <a:ln w="31750">
            <a:solidFill>
              <a:srgbClr val="B8862B"/>
            </a:solidFill>
            <a:prstDash val="solid"/>
          </a:ln>
        </p:spPr>
      </p:sp>
      <p:sp>
        <p:nvSpPr>
          <p:cNvPr id="8" name="task-hex"/>
          <p:cNvSpPr/>
          <p:nvPr/>
        </p:nvSpPr>
        <p:spPr>
          <a:xfrm>
            <a:off x="777240" y="1847840"/>
            <a:ext cx="731520" cy="633496"/>
          </a:xfrm>
          <a:prstGeom prst="hexagon">
            <a:avLst/>
          </a:prstGeom>
          <a:solidFill>
            <a:srgbClr val="B8862B"/>
          </a:solidFill>
          <a:ln/>
        </p:spPr>
      </p:sp>
      <p:sp>
        <p:nvSpPr>
          <p:cNvPr id="9" name="task-hex-label"/>
          <p:cNvSpPr txBox="1"/>
          <p:nvPr/>
        </p:nvSpPr>
        <p:spPr>
          <a:xfrm>
            <a:off x="777240" y="18478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8902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366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Write a narrative account explaining the key events of the October 1917 Revolution. Write three paragraphs: causes, events, consequences. You may use the storming of the Winter Palace and the creation of the Soviet Union in your answer.</a:t>
            </a:r>
            <a:endParaRPr lang="en-US" sz="2000" dirty="0"/>
          </a:p>
        </p:txBody>
      </p:sp>
      <p:sp>
        <p:nvSpPr>
          <p:cNvPr id="12" name="col-Support"/>
          <p:cNvSpPr/>
          <p:nvPr/>
        </p:nvSpPr>
        <p:spPr>
          <a:xfrm>
            <a:off x="548640" y="3213608"/>
            <a:ext cx="11094415" cy="2931160"/>
          </a:xfrm>
          <a:prstGeom prst="roundRect">
            <a:avLst>
              <a:gd name="adj" fmla="val 1872"/>
            </a:avLst>
          </a:prstGeom>
          <a:solidFill>
            <a:srgbClr val="F2EDE9"/>
          </a:solidFill>
          <a:ln/>
        </p:spPr>
      </p:sp>
      <p:sp>
        <p:nvSpPr>
          <p:cNvPr id="13" name="col-hex"/>
          <p:cNvSpPr/>
          <p:nvPr/>
        </p:nvSpPr>
        <p:spPr>
          <a:xfrm>
            <a:off x="658368" y="3286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286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25018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853688"/>
            <a:ext cx="10820095" cy="2181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Paragraph 1, causes: One cause of the October 1917 Revolution was... Then explain why it mattered and…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Paragraph 2, events: give three or four events in order, each joined with this led to or as a result. Include…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Paragraph 3, consequences: peace with Germany, the Civil War, the New Economic Policy, the Soviet…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it back and check that each paragraph's last sentence points at the next one.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(2 of 2): A narrative account of October 1917</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549400"/>
          </a:xfrm>
          <a:prstGeom prst="roundRect">
            <a:avLst>
              <a:gd name="adj" fmla="val 5902"/>
            </a:avLst>
          </a:prstGeom>
          <a:solidFill>
            <a:srgbClr val="FFFFFF"/>
          </a:solidFill>
          <a:ln w="31750">
            <a:solidFill>
              <a:srgbClr val="B8862B"/>
            </a:solidFill>
            <a:prstDash val="solid"/>
          </a:ln>
        </p:spPr>
      </p:sp>
      <p:sp>
        <p:nvSpPr>
          <p:cNvPr id="8" name="task-hex"/>
          <p:cNvSpPr/>
          <p:nvPr/>
        </p:nvSpPr>
        <p:spPr>
          <a:xfrm>
            <a:off x="777240" y="1847840"/>
            <a:ext cx="731520" cy="633496"/>
          </a:xfrm>
          <a:prstGeom prst="hexagon">
            <a:avLst/>
          </a:prstGeom>
          <a:solidFill>
            <a:srgbClr val="B8862B"/>
          </a:solidFill>
          <a:ln/>
        </p:spPr>
      </p:sp>
      <p:sp>
        <p:nvSpPr>
          <p:cNvPr id="9" name="task-hex-label"/>
          <p:cNvSpPr txBox="1"/>
          <p:nvPr/>
        </p:nvSpPr>
        <p:spPr>
          <a:xfrm>
            <a:off x="777240" y="18478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8902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366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Write a narrative account explaining the key events of the October 1917 Revolution. Write three paragraphs: causes, events, consequences. You may use the storming of the Winter Palace and the creation of the Soviet Union in your answer.</a:t>
            </a:r>
            <a:endParaRPr lang="en-US" sz="2000" dirty="0"/>
          </a:p>
        </p:txBody>
      </p:sp>
      <p:sp>
        <p:nvSpPr>
          <p:cNvPr id="12" name="col-Core"/>
          <p:cNvSpPr/>
          <p:nvPr/>
        </p:nvSpPr>
        <p:spPr>
          <a:xfrm>
            <a:off x="548640" y="3213608"/>
            <a:ext cx="5410048" cy="2931160"/>
          </a:xfrm>
          <a:prstGeom prst="roundRect">
            <a:avLst>
              <a:gd name="adj" fmla="val 1872"/>
            </a:avLst>
          </a:prstGeom>
          <a:solidFill>
            <a:srgbClr val="E2D7CE"/>
          </a:solidFill>
          <a:ln/>
        </p:spPr>
      </p:sp>
      <p:sp>
        <p:nvSpPr>
          <p:cNvPr id="13" name="col-hex"/>
          <p:cNvSpPr/>
          <p:nvPr/>
        </p:nvSpPr>
        <p:spPr>
          <a:xfrm>
            <a:off x="658368" y="3286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286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3250184"/>
            <a:ext cx="467852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853688"/>
            <a:ext cx="5135728" cy="2181352"/>
          </a:xfrm>
          <a:prstGeom prst="rect">
            <a:avLst/>
          </a:prstGeom>
          <a:noFill/>
          <a:ln/>
        </p:spPr>
        <p:txBody>
          <a:bodyPr wrap="square" lIns="63500" tIns="63500" rIns="63500" bIns="63500" rtlCol="0" anchor="t"/>
          <a:lstStyle/>
          <a:p>
            <a:pPr algn="l" indent="0" marL="0">
              <a:buNone/>
            </a:pPr>
            <a:r>
              <a:rPr lang="en-US" sz="2200" b="1" dirty="0">
                <a:solidFill>
                  <a:srgbClr val="623B18"/>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Three paragraphs, three or four points each, every point joined to the next. Causes, events, consequences, in that order.</a:t>
            </a:r>
            <a:endParaRPr lang="en-US" sz="2200" dirty="0"/>
          </a:p>
        </p:txBody>
      </p:sp>
      <p:sp>
        <p:nvSpPr>
          <p:cNvPr id="17" name="col-Stretch"/>
          <p:cNvSpPr/>
          <p:nvPr/>
        </p:nvSpPr>
        <p:spPr>
          <a:xfrm>
            <a:off x="6233008" y="3213608"/>
            <a:ext cx="5410048" cy="2931160"/>
          </a:xfrm>
          <a:prstGeom prst="roundRect">
            <a:avLst>
              <a:gd name="adj" fmla="val 1872"/>
            </a:avLst>
          </a:prstGeom>
          <a:solidFill>
            <a:srgbClr val="7A4A1E"/>
          </a:solidFill>
          <a:ln/>
        </p:spPr>
      </p:sp>
      <p:sp>
        <p:nvSpPr>
          <p:cNvPr id="18" name="col-hex"/>
          <p:cNvSpPr/>
          <p:nvPr/>
        </p:nvSpPr>
        <p:spPr>
          <a:xfrm>
            <a:off x="6342736" y="3286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3286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325018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853688"/>
            <a:ext cx="5135728" cy="218135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Add one sentence to your final paragraph that answers the unit's big question: to what extent did the Russian Revolution bring about change?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708148"/>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How did Karl Marx describe communism?</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system in which the Church distributes food to the poor</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system in which workers buy shares in the factory they work in</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system in which one strong leader owns the factories on everyone's behalf</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system in which property is owned by the whole community and wealth is shared fairly</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What changed, and in what way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Everyone called comrade  →  E  Abolished titles and ranks, so nobody officially outranked anybody else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Factory committees  →  B  Put the running of workplaces in the hands of the workers themselves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Land shared out  →  A  Gave peasants the thing they had wanted since serfdom ended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Banks taken over  →  D  Moved control of money from private owners to the state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One party, one press  →  C  Removed any lawful way of arguing for a different government</a:t>
            </a:r>
            <a:endParaRPr lang="en-US" sz="20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Three of these changes gave real power or property to workers and peasants; one moved control of money to the state; and the one-party, one-newspaper rule removed the means of ever arguing for anything different.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A narrative account of October 1917</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798576"/>
          </a:xfrm>
          <a:prstGeom prst="roundRect">
            <a:avLst>
              <a:gd name="adj" fmla="val 11450"/>
            </a:avLst>
          </a:prstGeom>
          <a:solidFill>
            <a:srgbClr val="F4F1ED"/>
          </a:solidFill>
          <a:ln/>
        </p:spPr>
      </p:sp>
      <p:sp>
        <p:nvSpPr>
          <p:cNvPr id="9" name="tickbox"/>
          <p:cNvSpPr/>
          <p:nvPr/>
        </p:nvSpPr>
        <p:spPr>
          <a:xfrm>
            <a:off x="713232" y="2237232"/>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79857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My first paragraph gives causes, my second gives events in order, and my third gives consequences.</a:t>
            </a:r>
            <a:endParaRPr lang="en-US" sz="2000" dirty="0"/>
          </a:p>
        </p:txBody>
      </p:sp>
      <p:sp>
        <p:nvSpPr>
          <p:cNvPr id="11" name="crit-box"/>
          <p:cNvSpPr/>
          <p:nvPr/>
        </p:nvSpPr>
        <p:spPr>
          <a:xfrm>
            <a:off x="548640" y="2874264"/>
            <a:ext cx="11094415" cy="798576"/>
          </a:xfrm>
          <a:prstGeom prst="roundRect">
            <a:avLst>
              <a:gd name="adj" fmla="val 11450"/>
            </a:avLst>
          </a:prstGeom>
          <a:solidFill>
            <a:srgbClr val="F4F1ED"/>
          </a:solidFill>
          <a:ln/>
        </p:spPr>
      </p:sp>
      <p:sp>
        <p:nvSpPr>
          <p:cNvPr id="12" name="tickbox"/>
          <p:cNvSpPr/>
          <p:nvPr/>
        </p:nvSpPr>
        <p:spPr>
          <a:xfrm>
            <a:off x="713232" y="3127248"/>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2874264"/>
            <a:ext cx="10317175" cy="79857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 link each event to the next with a phrase such as this led to or as a result, and I explain the link.</a:t>
            </a:r>
            <a:endParaRPr lang="en-US" sz="2000" dirty="0"/>
          </a:p>
        </p:txBody>
      </p:sp>
      <p:sp>
        <p:nvSpPr>
          <p:cNvPr id="14" name="crit-box"/>
          <p:cNvSpPr/>
          <p:nvPr/>
        </p:nvSpPr>
        <p:spPr>
          <a:xfrm>
            <a:off x="548640" y="3764280"/>
            <a:ext cx="11094415" cy="798576"/>
          </a:xfrm>
          <a:prstGeom prst="roundRect">
            <a:avLst>
              <a:gd name="adj" fmla="val 11450"/>
            </a:avLst>
          </a:prstGeom>
          <a:solidFill>
            <a:srgbClr val="F4F1ED"/>
          </a:solidFill>
          <a:ln/>
        </p:spPr>
      </p:sp>
      <p:sp>
        <p:nvSpPr>
          <p:cNvPr id="15" name="tickbox"/>
          <p:cNvSpPr/>
          <p:nvPr/>
        </p:nvSpPr>
        <p:spPr>
          <a:xfrm>
            <a:off x="713232" y="4017264"/>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764280"/>
            <a:ext cx="10317175" cy="79857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 use specific knowledge: named people, named events, and at least one date with its calendar named.</a:t>
            </a:r>
            <a:endParaRPr lang="en-US" sz="2000" dirty="0"/>
          </a:p>
        </p:txBody>
      </p:sp>
      <p:sp>
        <p:nvSpPr>
          <p:cNvPr id="17" name="crit-box"/>
          <p:cNvSpPr/>
          <p:nvPr/>
        </p:nvSpPr>
        <p:spPr>
          <a:xfrm>
            <a:off x="548640" y="4654296"/>
            <a:ext cx="11094415" cy="509016"/>
          </a:xfrm>
          <a:prstGeom prst="roundRect">
            <a:avLst>
              <a:gd name="adj" fmla="val 17964"/>
            </a:avLst>
          </a:prstGeom>
          <a:solidFill>
            <a:srgbClr val="F4F1ED"/>
          </a:solidFill>
          <a:ln/>
        </p:spPr>
      </p:sp>
      <p:sp>
        <p:nvSpPr>
          <p:cNvPr id="18" name="tickbox"/>
          <p:cNvSpPr/>
          <p:nvPr/>
        </p:nvSpPr>
        <p:spPr>
          <a:xfrm>
            <a:off x="713232" y="4762500"/>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654296"/>
            <a:ext cx="10317175" cy="50901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Each paragraph ends by handing the story on to the next part or answering the question.</a:t>
            </a:r>
            <a:endParaRPr lang="en-US" sz="2000" dirty="0"/>
          </a:p>
        </p:txBody>
      </p:sp>
      <p:sp>
        <p:nvSpPr>
          <p:cNvPr id="20" name="crit-box"/>
          <p:cNvSpPr/>
          <p:nvPr/>
        </p:nvSpPr>
        <p:spPr>
          <a:xfrm>
            <a:off x="548640" y="5254752"/>
            <a:ext cx="11094415" cy="798576"/>
          </a:xfrm>
          <a:prstGeom prst="roundRect">
            <a:avLst>
              <a:gd name="adj" fmla="val 11450"/>
            </a:avLst>
          </a:prstGeom>
          <a:solidFill>
            <a:srgbClr val="F4F1ED"/>
          </a:solidFill>
          <a:ln/>
        </p:spPr>
      </p:sp>
      <p:sp>
        <p:nvSpPr>
          <p:cNvPr id="21" name="tickbox"/>
          <p:cNvSpPr/>
          <p:nvPr/>
        </p:nvSpPr>
        <p:spPr>
          <a:xfrm>
            <a:off x="713232" y="5507736"/>
            <a:ext cx="292608" cy="292608"/>
          </a:xfrm>
          <a:prstGeom prst="rect">
            <a:avLst/>
          </a:prstGeom>
          <a:solidFill>
            <a:srgbClr val="FFFFFF"/>
          </a:solidFill>
          <a:ln w="19050">
            <a:solidFill>
              <a:srgbClr val="7A4A1E"/>
            </a:solidFill>
            <a:prstDash val="solid"/>
          </a:ln>
        </p:spPr>
      </p:sp>
      <p:sp>
        <p:nvSpPr>
          <p:cNvPr id="22" name="crit"/>
          <p:cNvSpPr txBox="1"/>
          <p:nvPr/>
        </p:nvSpPr>
        <p:spPr>
          <a:xfrm>
            <a:off x="1143000" y="5254752"/>
            <a:ext cx="10317175" cy="79857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 use the storming of the Winter Palace and the creation of the Soviet Union somewhere in my answer.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Model answer: A narrative account of October 1917</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One cause of the October 1917 Revolution was the Provisional Government's decision to stay in the First World War. This mattered because the war was why food had run short and why soldiers had mutinied in February, so when Kerensky's attack on the Germans failed in July 1917, soldiers and sailors protested in the streets and turned towards the only party promising peace. This led to the Kornilov affair in August, when Kerensky armed the Bolshevik Red Guards to stop a general seizing power, and they kept their weapons afterwards. The events themselves were planned rather than spontaneous. On 10 October, Old Style, Lenin persuaded the Bolshevik Central Committee to back an armed seizure of power, and Trotsky's Military Revolutionary Committee prepared it. As a result, on 24 October, Old Style, the Bolsheviks occupied the railway stations, the telephone exchange and the State Bank, and the following night the Red Guards surrounded and stormed the Winter Palace, where the Provisional Government surrendered. The consequences reached far beyond Petrograd. The Bolsheviks made peace with Germany, which was popular with soldiers and peasants but convinced their opponents that the new government could not be accepted, and this led to the Russian Civil War. Lenin later softened his economic controls through the New Economic Policy, and in 1922 the old empire was reorganised as the Soviet Union, the world's first communist state. The revolution therefore changed who held power and how property was owned, but it did not give Russians any lawful way to change their government.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How did Karl Marx describe communism?</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A system in which property is owned by the whole community and wealth is shared fairly</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gives Marx's definition as a system of social organisation in which all property is owned by the community, with wealth shared out fairly by a workers' government.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Russian Revolution · Chapter 6: Bolshevik rule, the Soviet Union, and writing a narrative account</dc:title>
  <dc:subject>History · Year 9</dc:subject>
  <dc:creator>Dr Vitor Merissi de Carvalho</dc:creator>
  <cp:lastModifiedBy>Dr Vitor Merissi de Carvalho</cp:lastModifiedBy>
  <cp:revision>1</cp:revision>
  <dcterms:created xsi:type="dcterms:W3CDTF">2026-10-19T06:08:01Z</dcterms:created>
  <dcterms:modified xsi:type="dcterms:W3CDTF">2026-10-19T06:08:01Z</dcterms:modified>
</cp:coreProperties>
</file>