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90a8e7-4264-a752-fba9-3475919f6b5b}">
          <p14:sldIdLst>
            <p14:sldId id="256"/>
          </p14:sldIdLst>
        </p14:section>
        <p14:section name="Gate" id="{7ffd3ecf-0e5e-a9c2-d7b6-36666a976d6f}">
          <p14:sldIdLst>
            <p14:sldId id="257"/>
            <p14:sldId id="258"/>
          </p14:sldIdLst>
        </p14:section>
        <p14:section name="Pre-teach" id="{9f930a37-8afc-a419-8fd7-be6e622ddd24}">
          <p14:sldIdLst>
            <p14:sldId id="259"/>
            <p14:sldId id="260"/>
          </p14:sldIdLst>
        </p14:section>
        <p14:section name="Read-along" id="{2865ca86-dbc0-7692-e640-806189e41545}">
          <p14:sldIdLst>
            <p14:sldId id="261"/>
            <p14:sldId id="262"/>
          </p14:sldIdLst>
        </p14:section>
        <p14:section name="Teach" id="{01b86f2e-22a6-9410-132c-b8af4f4df1c8}">
          <p14:sldIdLst>
            <p14:sldId id="263"/>
            <p14:sldId id="264"/>
            <p14:sldId id="265"/>
            <p14:sldId id="266"/>
            <p14:sldId id="267"/>
          </p14:sldIdLst>
        </p14:section>
        <p14:section name="Routes" id="{345a20fd-edeb-5a41-f4fc-2009320b177d}">
          <p14:sldIdLst>
            <p14:sldId id="268"/>
            <p14:sldId id="269"/>
            <p14:sldId id="270"/>
            <p14:sldId id="271"/>
          </p14:sldIdLst>
        </p14:section>
        <p14:section name="Close" id="{5d3468c8-0ff7-4f3f-e209-dd3ff69051d2}">
          <p14:sldIdLst>
            <p14:sldId id="272"/>
          </p14:sldIdLst>
        </p14:section>
        <p14:section name="Answers" id="{3d4c2654-60e4-1b06-7b76-c5bc00f08c0b}">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An increasingly urban world. How the share of people living in cities has grown since 1800, why cities in Asia and Africa are growing fastest, and what makes a city a millionaire city or a megacity.
This deck covers the department's lessons: 1 (The urban world: the global pattern of urban change: Why is a growing share of the world's population living in towns and cities, and where is urban growth fastest?); 2 (The emergence of megacities: What are millionaire cities and megacities, and how has their number and location changed since 1950?).
Read the big question aloud: "As the world's cities grow, who gains, who loses, and how can a city be made a better place for everyone who lives in 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statement defines urbanisation?  →  B   The increase in the proportion of people living in towns and cities
2. About 30% of the world's population lived in urban areas in 1950, and 54% in 2014. By how many percentage points did the urban share rise between those two years?  →  24 percentage points
3. A megacity is a city with a population of more than ___ people.  →  10 million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The increase in the proportion of people living in towns and cities. Urbanisation is about the share, the percentage, of a country's people who are urban. The physical expansion of a city is urban growth.
2. 24 percentage points. 54 − 30 = 24 percentage points. The share almost doubled in 64 years.
3. 10 million. Megacities have over 10 million people; the smaller threshold of 1 million makes a millionaire city.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urban: to do with towns and cities. Example: "London, Lagos and Shanghai are all urban areas."
• rural: to do with the countryside. Example: "Farms and small villages are rural areas."
• urbanisation: a growing share of people living in towns and cities. Example: "Urbanisation means a bigger percentage of people live in cities than before."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push factor: something that makes people want to leave a place. Example: "Drought and a lack of jobs are push factors in the countryside."
• pull factor: something that attracts people to a place. Example: "Jobs, schools and hospitals are pull factors in a city."
• megacity: a city with more than 10 million people. Example: "Shanghai is a megacity with over 24 million people."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More and more of the world's people live in towns and cities.
2. In 1800, only about 3% of people lived in urban areas.
3. By 2014 it was 54%, more than half.
4. By 2050 it is expected to reach 66%.
5. This change is called urbanisation.
6. Cities grow for two reasons.
7. People move in from the countryside, pushed by hardship and pulled by jobs.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And cities have more births than deaths, which is called natural increase.
9. The fastest growth today is in Asia and Africa.
10. Lagos in Nigeria gains about 85 people every hour.
11. A city with more than 1 million people is a millionaire city.
12. A city with more than 10 million people is a megacity.
13. In 1950 there were only three megacities.
14. By 2014 there were 28.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world that is moving to the city. Say it in your own words, then check understanding with a quick question: ask a pupil from the pre-teach group first, since they met these words and ideas before the lesson. Pupils try to recall before you re-explain.
An urban area is a town or a city; a rural area is the countryside. For most of history almost everyone lived in rural areas. In 1800, only about 3% of the world's population lived in towns and cities. By 1950 it was about 30%. In 2008 the United Nations estimated that, for the first time, half of the world's people were urban. In 2014 it was 54%, and by 2050 it is expected to reach 66%, two-thirds of everyone on Earth.
Two words sound alike here and you must keep them apart. Urbanisation is the increase in the proportion, the percentage, of people living in towns and cities. Urban growth is the expansion of a city: more people and more buildings. A country can have a high level of urbanisation but slow urban growth, which is what we see in HICs (higher income countries) such as the UK, where over 80% of people already live in urban areas and the cities are not growing fast. In LICs (lower income countries) and NEEs (newly emerging economies) the percentage is lower but the cities are growing very quickly in absolute numbers.
The pattern across the world is uneven. HICs have a higher percentage of their population in towns and cities than LICs. But almost all of today's rapid urban growth, counted in actual people, is in the poorer regions of the world, above all in Asia and Africa.
Tip: Urbanisation is a percentage going up; urban growth is a city getting bigger. If a question gives you a percentage, it is about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cities grow: migration and natural increase. Say it in your own words, then check understanding with a quick question: ask a pupil from the pre-teach group first, since they met these words and ideas before the lesson. Pupils try to recall before you re-explain.
Cities grow in two ways. The first is rural to urban migration: people leaving the countryside to live in the city. Geographers explain this with push and pull factors. Push factors are the things that make life in a rural area hard enough to leave: drought, poor harvests, few jobs, no secondary school, no doctor. Pull factors are the things that attract people to the city: paid work, schools and hospitals, electricity, entertainment and the hope of a better life. The people most likely to move are the young, especially young men, and their families often follow later.
The second way is natural increase. The birth rate is the number of babies born per thousand people per year; the death rate is the number of deaths per thousand people per year. Natural increase is the birth rate minus the death rate. Cities full of young migrants have many births and relatively few deaths, so the population grows even with no new arrivals. Life expectancy, the average number of years a person can expect to live, is often higher in cities too, because health care is closer.
Put the two together and a city can grow at astonishing speed. A striking example is Shenzhen, in the Pearl River Delta of south-east China, next to Hong Kong. In 1950 Shenzhen was a fishing village of 3,148 people. By 1995 it had 2.39 million; by 2000, 6.55 million; and the United Nations predicted it would pass 12 million by 2025. That growth is unusual, but it is not unique.
Worked example — model it step by step, thinking aloud: Shenzhen grew from 2.39 million people in 1995 to 6.55 million in 2000. By how many million did it grow in those five years? (1) Write down the later figure and the earlier figure: 6.55 million and 2.39 million. (2) Subtract the earlier from the later: 6.55 − 2.39. (3) 6.55 − 2.39 = 4.16. (4) Give the unit the question used: 4.16 million people. Answer: 4.16 million.
Tip: Natural increase is birth rate MINUS death rate. If deaths were higher than births it would be a natural decrease.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cities grow: migration and natural increase. Say it in your own words, then check understanding with a quick question: ask a pupil from the pre-teach group first, since they met these words and ideas before the lesson. Pupils try to recall before you re-explain.
Cities grow in two ways. The first is rural to urban migration: people leaving the countryside to live in the city. Geographers explain this with push and pull factors. Push factors are the things that make life in a rural area hard enough to leave: drought, poor harvests, few jobs, no secondary school, no doctor. Pull factors are the things that attract people to the city: paid work, schools and hospitals, electricity, entertainment and the hope of a better life. The people most likely to move are the young, especially young men, and their families often follow later.
The second way is natural increase. The birth rate is the number of babies born per thousand people per year; the death rate is the number of deaths per thousand people per year. Natural increase is the birth rate minus the death rate. Cities full of young migrants have many births and relatively few deaths, so the population grows even with no new arrivals. Life expectancy, the average number of years a person can expect to live, is often higher in cities too, because health care is closer.
Put the two together and a city can grow at astonishing speed. A striking example is Shenzhen, in the Pearl River Delta of south-east China, next to Hong Kong. In 1950 Shenzhen was a fishing village of 3,148 people. By 1995 it had 2.39 million; by 2000, 6.55 million; and the United Nations predicted it would pass 12 million by 2025. That growth is unusual, but it is not unique.
Worked example — model it step by step, thinking aloud: Shenzhen grew from 2.39 million people in 1995 to 6.55 million in 2000. By how many million did it grow in those five years? (1) Write down the later figure and the earlier figure: 6.55 million and 2.39 million. (2) Subtract the earlier from the later: 6.55 − 2.39. (3) 6.55 − 2.39 = 4.16. (4) Give the unit the question used: 4.16 million people. Answer: 4.16 million.
Tip: Natural increase is birth rate MINUS death rate. If deaths were higher than births it would be a natural decrease.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growth is fastest: people per hour. Say it in your own words, then check understanding with a quick question: ask a pupil from the pre-teach group first, since they met these words and ideas before the lesson. Pupils try to recall before you re-explain.
A vivid way to compare cities is to ask how many people each one gains every hour. One table of twenty cities puts Lagos in Nigeria at the top with 85 extra people every hour, then Delhi (79), Dhaka (74), Kinshasa (63), Shanghai (53) and Mumbai (51). London gains about 9 people an hour, New York and Rio de Janeiro about 10, and Berlin just 1. Tokyo is the odd one out at −1: it is losing a person an hour, so its population is slowly falling.
Sort the twenty cities by continent and the pattern jumps out: ten are in Asia, three each in Africa, Europe and South America, one in North America and none in Oceania. Istanbul sits in both Europe and Asia, so it can be counted either way. The fastest-growing cities in the world today are in Asia and Africa: places like Suzhou and Guangzhou in China, Surat and Bangalore in India, Luanda in Angola, Kinshasa and Lagos.
Tip: When you describe a pattern from a table, name the top and bottom, give a figure for each, and then say which part of the world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Millionaire cities and megacities. Say it in your own words, then check understanding with a quick question: ask a pupil from the pre-teach group first, since they met these words and ideas before the lesson. Pupils try to recall before you re-explain.
Urbanisation has produced more and bigger cities. A millionaire city has a population of more than 1 million. In 1850 there were only two in the world, London and Paris. By 1950 there were 83, and by 2015 there were about 500. Before 1950 most millionaire cities were in HICs, in the temperate latitudes north of the Equator; now they are found across the world.
A megacity is a city with more than 10 million people. In 1950 there were only three: London, New York and Tokyo. In 2014 there were 28: 16 in Asia, 4 in South America, 3 in Africa, 3 in Europe and 2 in North America. Projections put the number at 41 by 2030. In a 2014 list of the world's largest cities, Shanghai leads with 24.1 million, then Beijing and Karachi with 21.1 million each, Lagos with 16.1 million and Istanbul with 14.2 million; Shenzhen, the former fishing village, is there at 10.5 million. Notice that the pattern has shifted: most megacities are now in LICs and NEEs, not HICs.
Population figures like these are never exact. There are two good reasons: it is impossible to count a city's people one by one in real time, and the data may be out of date or copied wrongly. When you quote a city's population, give the year as well as the number.
Tip: Millionaire city: more than 1 million. Megacity: more than 10 million. A megacity is always a millionaire city, but not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Population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population key word to its meaning.
Support — work through the steps with the group: (1) Two of the meanings are rates: they say per thousand per year. Match births to birth rate and deaths to death rate. (2) Natural increase is worked out FROM the two rates: one minus the other. (3) The one left over is about how long a life lasts: that is life expectancy.
Parallel worked example for Support (model it, do not give the task answer): Match: infant mortality rate, migration. Choices: people moving from one place to live in another; the number of babies who die before their first birthday, per thousand born. Infant means baby, and mortality means death.; Migration is movement from one place to another.. Answer: Infant mortality rate: babies who die before their first birthday per thousand born. Migration: people moving from one place to live in another..
Core — reveal the hint only on request: Two are measured per thousand per year; one is a subtraction of those two; one is measured in years of life.
Stretch — no help; when finished: A city has a birth rate of 24 per thousand and a death rate of 7 per thousand. Work out its natural increase and explain why a city full of young migrants tends to have a high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Population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population key word to its meaning.
Support — work through the steps with the group: (1) Two of the meanings are rates: they say per thousand per year. Match births to birth rate and deaths to death rate. (2) Natural increase is worked out FROM the two rates: one minus the other. (3) The one left over is about how long a life lasts: that is life expectancy.
Parallel worked example for Support (model it, do not give the task answer): Match: infant mortality rate, migration. Choices: people moving from one place to live in another; the number of babies who die before their first birthday, per thousand born. Infant means baby, and mortality means death.; Migration is movement from one place to another.. Answer: Infant mortality rate: babies who die before their first birthday per thousand born. Migration: people moving from one place to live in another..
Core — reveal the hint only on request: Two are measured per thousand per year; one is a subtraction of those two; one is measured in years of life.
Stretch — no help; when finished: A city has a birth rate of 24 per thousand and a death rate of 7 per thousand. Work out its natural increase and explain why a city full of young migrants tends to have a high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People per hour.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Lagos gains about 85 people every hour. At that rate, how many extra people does Lagos gain in one full day of 24 hours?
Support — work through the steps with the group: (1) Find the rate: 85 people for every one hour. (2) Find how many hours: one day is 24 hours. (3) Multiply the rate by the number of hours: 85 × 24. (4) Check it is sensible: a bit more than 80 × 25 = 2000.
Parallel worked example for Support (model it, do not give the task answer): Delhi gains about 79 people every hour. How many extra people does Delhi gain in 10 hours? The rate is 79 people per hour.; There are 10 hours.; 79 × 10 = 790.. Answer: 790 people.
Core — reveal the hint only on request: The figure is per hour and the question asks about a day. How many hours are in a day?
Stretch — no help; when finished: Tokyo's figure is −1 person per hour. Work out its change over a day and explain what a negative figure tells you about the city. Then suggest why a rich city in an HIC might be losing people while Lagos gains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People per hour.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Lagos gains about 85 people every hour. At that rate, how many extra people does Lagos gain in one full day of 24 hours?
Support — work through the steps with the group: (1) Find the rate: 85 people for every one hour. (2) Find how many hours: one day is 24 hours. (3) Multiply the rate by the number of hours: 85 × 24. (4) Check it is sensible: a bit more than 80 × 25 = 2000.
Parallel worked example for Support (model it, do not give the task answer): Delhi gains about 79 people every hour. How many extra people does Delhi gain in 10 hours? The rate is 79 people per hour.; There are 10 hours.; 79 × 10 = 790.. Answer: 790 people.
Core — reveal the hint only on request: The figure is per hour and the question asks about a day. How many hours are in a day?
Stretch — no help; when finished: Tokyo's figure is −1 person per hour. Work out its change over a day and explain what a negative figure tells you about the city. Then suggest why a rich city in an HIC might be losing people while Lagos gains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these facts about the world's biggest cities in date order, earliest first.
Answer: In 1850 there are only two millionaire cities in the world: London and Paris  (B); In 1950 there are 83 millionaire cities and just three megacities: London, New York and Tokyo  (E); In 2014 there are 28 megacities, 16 of them in Asia  (D); In 2015 there are about 500 millionaire cities  (A); By 2030 the world is projected to have 41 megacities  (C). Millionaire cities went from 2 in 1850 to 83 in 1950 to about 500 in 2015. Megacities went from 3 in 1950 to 28 in 2014, with 41 projected for 2030. Most of the new ones are in LICs and NEEs, especially in Asia.
Source of this question: module 3 task ("The rise of the megacity")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Population key words. Reveal the answer; pupils mark their own work in a different colour, then read the "why" together. Same destination for every lane, so one answer serves the whole class.
Answer: Birth rate  →  C  The number of babies born per thousand people per year; Death rate  →  B  The number of deaths per thousand people per year; Natural increase  →  A  The birth rate minus the death rate; Life expectancy  →  D  The average number of years a person can expect to live in a given country
Why: Birth rate and death rate are both per thousand people per year. Natural increase is the gap between them, and it is one of the two reasons cities grow. Life expectancy is the average length of a life in a country.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People per hour. Reveal the answer; pupils mark their own work in a different colour, then read the "why" together. Same destination for every lane, so one answer serves the whole class.
Answer: 2040 people
Why: The table gives a rate per hour. A day has 24 hours, so the daily gain is 85 × 24 = 2040 people. Rates per hour, per day and per year are all ways of describing the same growth; always check which one you are given.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In 1850 there are only two millionaire cities in the world: London and Paris  (B); In 1950 there are 83 millionaire cities and just three megacities: London, New York and Tokyo  (E); In 2014 there are 28 megacities, 16 of them in Asia  (D); In 2015 there are about 500 millionaire cities  (A); By 2030 the world is projected to have 41 megacities  (C)
Why: Millionaire cities went from 2 in 1850 to 83 in 1950 to about 500 in 2015. Megacities went from 3 in 1950 to 28 in 2014, with 41 projected for 2030. Most of the new ones are in LICs and NEEs, especially in Asia.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Urban Issues and Challenges: Rio de Janeiro and Bristol · AQA 8035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An increasingly urban world</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ECF0ED"/>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urban world: the global pattern of urban change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emergence of megacities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As the world's cities grow, who gains, who loses, and how can a city be made a better place for everyone who lives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statement defines urbanisation?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movement of people out of cities to the countryside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increase in the proportion of people living in towns and cities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number of babies born per thousand people per year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expansion of a city as more buildings are put up</a:t>
            </a:r>
            <a:endParaRPr lang="en-US" sz="2200" dirty="0"/>
          </a:p>
        </p:txBody>
      </p:sp>
      <p:sp>
        <p:nvSpPr>
          <p:cNvPr id="12" name="card"/>
          <p:cNvSpPr/>
          <p:nvPr/>
        </p:nvSpPr>
        <p:spPr>
          <a:xfrm>
            <a:off x="6095848" y="1389888"/>
            <a:ext cx="2636444" cy="4754880"/>
          </a:xfrm>
          <a:prstGeom prst="roundRect">
            <a:avLst>
              <a:gd name="adj" fmla="val 2081"/>
            </a:avLst>
          </a:prstGeom>
          <a:solidFill>
            <a:srgbClr val="F2F5F2"/>
          </a:solidFill>
          <a:ln w="12700">
            <a:solidFill>
              <a:srgbClr val="BCCBC0"/>
            </a:solidFill>
            <a:prstDash val="solid"/>
          </a:ln>
        </p:spPr>
      </p:sp>
      <p:sp>
        <p:nvSpPr>
          <p:cNvPr id="13" name="card-hex"/>
          <p:cNvSpPr/>
          <p:nvPr/>
        </p:nvSpPr>
        <p:spPr>
          <a:xfrm>
            <a:off x="6278728" y="1572768"/>
            <a:ext cx="640080" cy="554309"/>
          </a:xfrm>
          <a:prstGeom prst="hexagon">
            <a:avLst/>
          </a:prstGeom>
          <a:solidFill>
            <a:srgbClr val="3F6B4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About 30% of the world's population lived in urban areas in 1950, and 54% in 2014. By how many percentage points did the urban share rise between those two years?</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percentage points</a:t>
            </a:r>
            <a:endParaRPr lang="en-US" sz="1800" dirty="0"/>
          </a:p>
        </p:txBody>
      </p:sp>
      <p:sp>
        <p:nvSpPr>
          <p:cNvPr id="17"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megacity is a city with a population of more than ___ people.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10 million  ·  1 million  ·  100 000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increase in the proportion of people living in towns and cities</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statement defines urbanisation?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Urbanisation is about the share, the percentage, of a country's people who are urban. The physical expansion of a city is urban growth.</a:t>
            </a:r>
            <a:endParaRPr lang="en-US" sz="2200" dirty="0"/>
          </a:p>
        </p:txBody>
      </p:sp>
      <p:sp>
        <p:nvSpPr>
          <p:cNvPr id="14" name="card"/>
          <p:cNvSpPr/>
          <p:nvPr/>
        </p:nvSpPr>
        <p:spPr>
          <a:xfrm>
            <a:off x="6095848" y="1389888"/>
            <a:ext cx="2636444" cy="4754880"/>
          </a:xfrm>
          <a:prstGeom prst="roundRect">
            <a:avLst>
              <a:gd name="adj" fmla="val 2081"/>
            </a:avLst>
          </a:prstGeom>
          <a:solidFill>
            <a:srgbClr val="F2F5F2"/>
          </a:solidFill>
          <a:ln w="12700">
            <a:solidFill>
              <a:srgbClr val="BCCBC0"/>
            </a:solidFill>
            <a:prstDash val="solid"/>
          </a:ln>
        </p:spPr>
      </p:sp>
      <p:sp>
        <p:nvSpPr>
          <p:cNvPr id="15" name="card-hex"/>
          <p:cNvSpPr/>
          <p:nvPr/>
        </p:nvSpPr>
        <p:spPr>
          <a:xfrm>
            <a:off x="6278728" y="1572768"/>
            <a:ext cx="640080" cy="554309"/>
          </a:xfrm>
          <a:prstGeom prst="hexagon">
            <a:avLst/>
          </a:prstGeom>
          <a:solidFill>
            <a:srgbClr val="3F6B4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6370168"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24 percentage points</a:t>
            </a:r>
            <a:endParaRPr lang="en-US" sz="2200" dirty="0"/>
          </a:p>
        </p:txBody>
      </p:sp>
      <p:sp>
        <p:nvSpPr>
          <p:cNvPr id="20" name="card-body"/>
          <p:cNvSpPr txBox="1"/>
          <p:nvPr/>
        </p:nvSpPr>
        <p:spPr>
          <a:xfrm>
            <a:off x="6278728"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54 − 30 = 24 percentage points. The share almost doubled in 64 years.</a:t>
            </a:r>
            <a:endParaRPr lang="en-US" sz="1800" dirty="0"/>
          </a:p>
        </p:txBody>
      </p:sp>
      <p:sp>
        <p:nvSpPr>
          <p:cNvPr id="21"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million</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megacity is a city with a population of more than ___ people.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Megacities have over 10 million people; the smaller threshold of 1 million makes a millionaire city.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urban</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do with towns and cities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London, Lagos and Shanghai are all urban areas.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rural</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do with the countryside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Farms and small villages are rural areas.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urbanisation</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growing share of people living in towns and cities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Urbanisation means a bigger percentage of people live in cities than before.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push factor</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makes people want to leave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Drought and a lack of jobs are push factors in the countryside.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pull factor</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attracts people to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Jobs, schools and hospitals are pull factors in a city.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megacity</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city with more than 10 million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Shanghai is a megacity with over 24 million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More and more of the world's people live in towns and cities.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1800, only about 3% of people lived in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urban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areas.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2014 it was 54%, more than half.</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2050 it is expected to reach 66%.</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change is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urbanisation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Cities grow for two reasons.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People move in from the countryside, pushed by hardship and pulled by jobs.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And cities have more births than deaths, which is called natural increase.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fastest growth today is in Asia and Africa.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Lagos in Nigeria gains about 85 people every hour.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city with more than 1 million people is a millionaire city.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city with more than 10 million people is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megacity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1950 there were only three megacities.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2014 there were 28.</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 world that is moving to the city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Urbanisation is a percentage going up; urban growth is a city getting bigger. If a question gives you a percentage, it is about urbanisation.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urban area is a town or a city; a rural area is the countryside.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words sound alike here and you must keep them apart.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pattern across the world is uneven. HICs have a higher percentage of their population in towns and cities than LICs.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Why cities grow: migration and natural increase</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Natural increase is birth rate MINUS death rate. If deaths were higher than births it would be a natural decrease.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Cities grow in two ways. The first is rural to urban migration: people leaving the countryside to live in the city.</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second way is natural increase. The birth rate is the number of babies born per thousand people per year; the death rate is the number of deaths per thousand people per year.</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Put the two together and a city can grow at astonishing speed.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Why cities grow: migration and natural increase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Shenzhen grew from 2.39 million people in 1995 to 6.55 million in 2000. By how many million did it grow in those five years?</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down the later figure and the earlier figure: 6.55 million and 2.39 million.</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from the later: 6.55 − 2.39.</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6.55 − 2.39 = 4.16.</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unit the question used: 4.16 million people.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4.16 million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growth is fastest: people per hour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describe a pattern from a table, name the top and bottom, give a figure for each, and then say which part of the world dominates.</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vivid way to compare cities is to ask how many people each one gains every hour.</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Sort the twenty cities by continent and the pattern jumps out: ten are in Asia, three each in Africa, Europe and South America, one in North America and none in Oceania.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Millionaire cities and megacities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Millionaire city: more than 1 million. Megacity: more than 10 million. A megacity is always a millionaire city, but not the other way round.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Urbanisation has produced more and bigger cities. A millionaire city has a population of more than 1 million.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megacity is a city with more than 10 million people.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Population figures like these are never exact. There are two good reasons: it is impossible to count a city's people one by one in real time, and the data may be out of date or copied wrongly.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Population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population key word to its meaning.</a:t>
            </a:r>
            <a:endParaRPr lang="en-US" sz="2400" dirty="0"/>
          </a:p>
        </p:txBody>
      </p:sp>
      <p:sp>
        <p:nvSpPr>
          <p:cNvPr id="11" name="match-card"/>
          <p:cNvSpPr/>
          <p:nvPr/>
        </p:nvSpPr>
        <p:spPr>
          <a:xfrm>
            <a:off x="777240" y="2468331"/>
            <a:ext cx="3081437" cy="634375"/>
          </a:xfrm>
          <a:prstGeom prst="roundRect">
            <a:avLst>
              <a:gd name="adj" fmla="val 11531"/>
            </a:avLst>
          </a:prstGeom>
          <a:solidFill>
            <a:srgbClr val="F0F3F1"/>
          </a:solidFill>
          <a:ln/>
        </p:spPr>
      </p:sp>
      <p:sp>
        <p:nvSpPr>
          <p:cNvPr id="12" name="match-hex"/>
          <p:cNvSpPr/>
          <p:nvPr/>
        </p:nvSpPr>
        <p:spPr>
          <a:xfrm>
            <a:off x="850392" y="2619226"/>
            <a:ext cx="384048" cy="332586"/>
          </a:xfrm>
          <a:prstGeom prst="hexagon">
            <a:avLst/>
          </a:prstGeom>
          <a:solidFill>
            <a:srgbClr val="3F6B4A"/>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Birth rate</a:t>
            </a:r>
            <a:endParaRPr lang="en-US" sz="2200" dirty="0"/>
          </a:p>
        </p:txBody>
      </p:sp>
      <p:sp>
        <p:nvSpPr>
          <p:cNvPr id="15" name="match-card"/>
          <p:cNvSpPr/>
          <p:nvPr/>
        </p:nvSpPr>
        <p:spPr>
          <a:xfrm>
            <a:off x="4224437" y="2468331"/>
            <a:ext cx="7190019" cy="634375"/>
          </a:xfrm>
          <a:prstGeom prst="roundRect">
            <a:avLst>
              <a:gd name="adj" fmla="val 11531"/>
            </a:avLst>
          </a:prstGeom>
          <a:solidFill>
            <a:srgbClr val="F6F0E6"/>
          </a:solidFill>
          <a:ln/>
        </p:spPr>
      </p:sp>
      <p:sp>
        <p:nvSpPr>
          <p:cNvPr id="16" name="match-hex"/>
          <p:cNvSpPr/>
          <p:nvPr/>
        </p:nvSpPr>
        <p:spPr>
          <a:xfrm>
            <a:off x="4297589" y="2619226"/>
            <a:ext cx="384048" cy="332586"/>
          </a:xfrm>
          <a:prstGeom prst="hexagon">
            <a:avLst/>
          </a:prstGeom>
          <a:solidFill>
            <a:srgbClr val="B8862B"/>
          </a:solidFill>
          <a:ln/>
        </p:spPr>
      </p:sp>
      <p:sp>
        <p:nvSpPr>
          <p:cNvPr id="17" name="match-hex-label"/>
          <p:cNvSpPr txBox="1"/>
          <p:nvPr/>
        </p:nvSpPr>
        <p:spPr>
          <a:xfrm>
            <a:off x="4297589"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birth rate minus the death rate</a:t>
            </a:r>
            <a:endParaRPr lang="en-US" sz="2200" dirty="0"/>
          </a:p>
        </p:txBody>
      </p:sp>
      <p:sp>
        <p:nvSpPr>
          <p:cNvPr id="19" name="match-card"/>
          <p:cNvSpPr/>
          <p:nvPr/>
        </p:nvSpPr>
        <p:spPr>
          <a:xfrm>
            <a:off x="777240" y="3194147"/>
            <a:ext cx="3081437" cy="634375"/>
          </a:xfrm>
          <a:prstGeom prst="roundRect">
            <a:avLst>
              <a:gd name="adj" fmla="val 11531"/>
            </a:avLst>
          </a:prstGeom>
          <a:solidFill>
            <a:srgbClr val="F0F3F1"/>
          </a:solidFill>
          <a:ln/>
        </p:spPr>
      </p:sp>
      <p:sp>
        <p:nvSpPr>
          <p:cNvPr id="20" name="match-hex"/>
          <p:cNvSpPr/>
          <p:nvPr/>
        </p:nvSpPr>
        <p:spPr>
          <a:xfrm>
            <a:off x="850392" y="3345041"/>
            <a:ext cx="384048" cy="332586"/>
          </a:xfrm>
          <a:prstGeom prst="hexagon">
            <a:avLst/>
          </a:prstGeom>
          <a:solidFill>
            <a:srgbClr val="3F6B4A"/>
          </a:solidFill>
          <a:ln/>
        </p:spPr>
      </p:sp>
      <p:sp>
        <p:nvSpPr>
          <p:cNvPr id="21" name="match-hex-label"/>
          <p:cNvSpPr txBox="1"/>
          <p:nvPr/>
        </p:nvSpPr>
        <p:spPr>
          <a:xfrm>
            <a:off x="850392"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Death rate</a:t>
            </a:r>
            <a:endParaRPr lang="en-US" sz="2200" dirty="0"/>
          </a:p>
        </p:txBody>
      </p:sp>
      <p:sp>
        <p:nvSpPr>
          <p:cNvPr id="23" name="match-card"/>
          <p:cNvSpPr/>
          <p:nvPr/>
        </p:nvSpPr>
        <p:spPr>
          <a:xfrm>
            <a:off x="4224437" y="3194147"/>
            <a:ext cx="7190019" cy="634375"/>
          </a:xfrm>
          <a:prstGeom prst="roundRect">
            <a:avLst>
              <a:gd name="adj" fmla="val 11531"/>
            </a:avLst>
          </a:prstGeom>
          <a:solidFill>
            <a:srgbClr val="F6F0E6"/>
          </a:solidFill>
          <a:ln/>
        </p:spPr>
      </p:sp>
      <p:sp>
        <p:nvSpPr>
          <p:cNvPr id="24" name="match-hex"/>
          <p:cNvSpPr/>
          <p:nvPr/>
        </p:nvSpPr>
        <p:spPr>
          <a:xfrm>
            <a:off x="4297589" y="3345041"/>
            <a:ext cx="384048" cy="332586"/>
          </a:xfrm>
          <a:prstGeom prst="hexagon">
            <a:avLst/>
          </a:prstGeom>
          <a:solidFill>
            <a:srgbClr val="B8862B"/>
          </a:solidFill>
          <a:ln/>
        </p:spPr>
      </p:sp>
      <p:sp>
        <p:nvSpPr>
          <p:cNvPr id="25" name="match-hex-label"/>
          <p:cNvSpPr txBox="1"/>
          <p:nvPr/>
        </p:nvSpPr>
        <p:spPr>
          <a:xfrm>
            <a:off x="4297589"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94147"/>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number of deaths per thousand people per year</a:t>
            </a:r>
            <a:endParaRPr lang="en-US" sz="2200" dirty="0"/>
          </a:p>
        </p:txBody>
      </p:sp>
      <p:sp>
        <p:nvSpPr>
          <p:cNvPr id="27" name="match-card"/>
          <p:cNvSpPr/>
          <p:nvPr/>
        </p:nvSpPr>
        <p:spPr>
          <a:xfrm>
            <a:off x="777240" y="3919962"/>
            <a:ext cx="3081437" cy="975243"/>
          </a:xfrm>
          <a:prstGeom prst="roundRect">
            <a:avLst>
              <a:gd name="adj" fmla="val 7501"/>
            </a:avLst>
          </a:prstGeom>
          <a:solidFill>
            <a:srgbClr val="F0F3F1"/>
          </a:solidFill>
          <a:ln/>
        </p:spPr>
      </p:sp>
      <p:sp>
        <p:nvSpPr>
          <p:cNvPr id="28" name="match-hex"/>
          <p:cNvSpPr/>
          <p:nvPr/>
        </p:nvSpPr>
        <p:spPr>
          <a:xfrm>
            <a:off x="850392" y="4241290"/>
            <a:ext cx="384048" cy="332586"/>
          </a:xfrm>
          <a:prstGeom prst="hexagon">
            <a:avLst/>
          </a:prstGeom>
          <a:solidFill>
            <a:srgbClr val="3F6B4A"/>
          </a:solidFill>
          <a:ln/>
        </p:spPr>
      </p:sp>
      <p:sp>
        <p:nvSpPr>
          <p:cNvPr id="29" name="match-hex-label"/>
          <p:cNvSpPr txBox="1"/>
          <p:nvPr/>
        </p:nvSpPr>
        <p:spPr>
          <a:xfrm>
            <a:off x="850392"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19962"/>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Natural increase</a:t>
            </a:r>
            <a:endParaRPr lang="en-US" sz="2200" dirty="0"/>
          </a:p>
        </p:txBody>
      </p:sp>
      <p:sp>
        <p:nvSpPr>
          <p:cNvPr id="31" name="match-card"/>
          <p:cNvSpPr/>
          <p:nvPr/>
        </p:nvSpPr>
        <p:spPr>
          <a:xfrm>
            <a:off x="4224437" y="3919962"/>
            <a:ext cx="7190019" cy="975243"/>
          </a:xfrm>
          <a:prstGeom prst="roundRect">
            <a:avLst>
              <a:gd name="adj" fmla="val 7501"/>
            </a:avLst>
          </a:prstGeom>
          <a:solidFill>
            <a:srgbClr val="F6F0E6"/>
          </a:solidFill>
          <a:ln/>
        </p:spPr>
      </p:sp>
      <p:sp>
        <p:nvSpPr>
          <p:cNvPr id="32" name="match-hex"/>
          <p:cNvSpPr/>
          <p:nvPr/>
        </p:nvSpPr>
        <p:spPr>
          <a:xfrm>
            <a:off x="4297589" y="4241290"/>
            <a:ext cx="384048" cy="332586"/>
          </a:xfrm>
          <a:prstGeom prst="hexagon">
            <a:avLst/>
          </a:prstGeom>
          <a:solidFill>
            <a:srgbClr val="B8862B"/>
          </a:solidFill>
          <a:ln/>
        </p:spPr>
      </p:sp>
      <p:sp>
        <p:nvSpPr>
          <p:cNvPr id="33" name="match-hex-label"/>
          <p:cNvSpPr txBox="1"/>
          <p:nvPr/>
        </p:nvSpPr>
        <p:spPr>
          <a:xfrm>
            <a:off x="4297589"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19962"/>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number of babies born per thousand people per year</a:t>
            </a:r>
            <a:endParaRPr lang="en-US" sz="2200" dirty="0"/>
          </a:p>
        </p:txBody>
      </p:sp>
      <p:sp>
        <p:nvSpPr>
          <p:cNvPr id="35" name="match-card"/>
          <p:cNvSpPr/>
          <p:nvPr/>
        </p:nvSpPr>
        <p:spPr>
          <a:xfrm>
            <a:off x="777240" y="4986645"/>
            <a:ext cx="3081437" cy="975243"/>
          </a:xfrm>
          <a:prstGeom prst="roundRect">
            <a:avLst>
              <a:gd name="adj" fmla="val 7501"/>
            </a:avLst>
          </a:prstGeom>
          <a:solidFill>
            <a:srgbClr val="F0F3F1"/>
          </a:solidFill>
          <a:ln/>
        </p:spPr>
      </p:sp>
      <p:sp>
        <p:nvSpPr>
          <p:cNvPr id="36" name="match-hex"/>
          <p:cNvSpPr/>
          <p:nvPr/>
        </p:nvSpPr>
        <p:spPr>
          <a:xfrm>
            <a:off x="850392" y="5307974"/>
            <a:ext cx="384048" cy="332586"/>
          </a:xfrm>
          <a:prstGeom prst="hexagon">
            <a:avLst/>
          </a:prstGeom>
          <a:solidFill>
            <a:srgbClr val="3F6B4A"/>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Life expectancy</a:t>
            </a:r>
            <a:endParaRPr lang="en-US" sz="2200" dirty="0"/>
          </a:p>
        </p:txBody>
      </p:sp>
      <p:sp>
        <p:nvSpPr>
          <p:cNvPr id="39" name="match-card"/>
          <p:cNvSpPr/>
          <p:nvPr/>
        </p:nvSpPr>
        <p:spPr>
          <a:xfrm>
            <a:off x="4224437" y="4986645"/>
            <a:ext cx="7190019" cy="975243"/>
          </a:xfrm>
          <a:prstGeom prst="roundRect">
            <a:avLst>
              <a:gd name="adj" fmla="val 7501"/>
            </a:avLst>
          </a:prstGeom>
          <a:solidFill>
            <a:srgbClr val="F6F0E6"/>
          </a:solidFill>
          <a:ln/>
        </p:spPr>
      </p:sp>
      <p:sp>
        <p:nvSpPr>
          <p:cNvPr id="40" name="match-hex"/>
          <p:cNvSpPr/>
          <p:nvPr/>
        </p:nvSpPr>
        <p:spPr>
          <a:xfrm>
            <a:off x="4297589" y="5307974"/>
            <a:ext cx="384048" cy="332586"/>
          </a:xfrm>
          <a:prstGeom prst="hexagon">
            <a:avLst/>
          </a:prstGeom>
          <a:solidFill>
            <a:srgbClr val="B8862B"/>
          </a:solidFill>
          <a:ln/>
        </p:spPr>
      </p:sp>
      <p:sp>
        <p:nvSpPr>
          <p:cNvPr id="41" name="match-hex-label"/>
          <p:cNvSpPr txBox="1"/>
          <p:nvPr/>
        </p:nvSpPr>
        <p:spPr>
          <a:xfrm>
            <a:off x="4297589"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986645"/>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average number of years a person can expect to live in a given country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Population key words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population key word to its meaning.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meanings are rates: they say per thousand per year. Match births to birth rate and deaths to death rate.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Natural increase is worked out FROM the two rates: one minus the other.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over is about how long a life lasts: that is life expectancy.</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are measured per thousand per year; one is a subtraction of those two; one is measured in years of life.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city has a birth rate of 24 per thousand and a death rate of 7 per thousand. Work out its natural increase and explain why a city full of young migrants tends to have a high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People per hour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Lagos gains about 85 people every hour. At that rate, how many extra people does Lagos gain in one full day of 24 hours?</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people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People per hour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Lagos gains about 85 people every hour. At that rate, how many extra people does Lagos gain in one full day of 24 hours?</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CF0ED"/>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rate: 85 people for every one hour.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how many hours: one day is 24 hours.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rate by the number of hours: 85 × 24.</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is sensible: a bit more than 80 × 25 = 2000.</a:t>
            </a:r>
            <a:endParaRPr lang="en-US" sz="1800" dirty="0"/>
          </a:p>
        </p:txBody>
      </p:sp>
      <p:sp>
        <p:nvSpPr>
          <p:cNvPr id="17" name="col-Core"/>
          <p:cNvSpPr/>
          <p:nvPr/>
        </p:nvSpPr>
        <p:spPr>
          <a:xfrm>
            <a:off x="4338218" y="2593848"/>
            <a:ext cx="3515258" cy="3550920"/>
          </a:xfrm>
          <a:prstGeom prst="roundRect">
            <a:avLst>
              <a:gd name="adj" fmla="val 1561"/>
            </a:avLst>
          </a:prstGeom>
          <a:solidFill>
            <a:srgbClr val="D5DED7"/>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figure is per hour and the question asks about a day. How many hours are in a day?</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3F6B4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Tokyo's figure is −1 person per hour. Work out its change over a day and explain what a negative figure tells you about the city. Then suggest why a rich city in an HIC might be losing people while Lagos gains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773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Put these facts about the world's biggest cities in date order, earliest first.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2015 there are about 500 millionaire cities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1850 there are only two millionaire cities in the world: London and Paris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By 2030 the world is projected to have 41 megacities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2014 there are 28 megacities, 16 of them in Asia</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1950 there are 83 millionaire cities and just three megacities: London, New York and Tokyo</a:t>
            </a:r>
            <a:endParaRPr lang="en-US" sz="2000" dirty="0"/>
          </a:p>
        </p:txBody>
      </p:sp>
      <p:sp>
        <p:nvSpPr>
          <p:cNvPr id="11" name="exit-answer-box"/>
          <p:cNvSpPr/>
          <p:nvPr/>
        </p:nvSpPr>
        <p:spPr>
          <a:xfrm>
            <a:off x="2286000" y="5184648"/>
            <a:ext cx="7619695" cy="685800"/>
          </a:xfrm>
          <a:prstGeom prst="roundRect">
            <a:avLst>
              <a:gd name="adj" fmla="val 13333"/>
            </a:avLst>
          </a:prstGeom>
          <a:solidFill>
            <a:srgbClr val="F2F5F2"/>
          </a:solidFill>
          <a:ln w="12700">
            <a:solidFill>
              <a:srgbClr val="9FB5A5"/>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Population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Birth rate  →  C  The number of babies born per thousand people per year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Death rate  →  B  The number of deaths per thousand people per year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Natural increase  →  A  The birth rate minus the death rate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Life expectancy  →  D  The average number of years a person can expect to live in a given country</a:t>
            </a:r>
            <a:endParaRPr lang="en-US" sz="22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Birth rate and death rate are both per thousand people per year. Natural increase is the gap between them, and it is one of the two reasons cities grow. Life expectancy is the average length of a life in a country.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People per hour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Lagos gains about 85 people every hour. At that rate, how many extra people does Lagos gain in one full day of 24 hours?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2040 people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table gives a rate per hour. A day has 24 hours, so the daily gain is 85 × 24 = 2040 people. Rates per hour, per day and per year are all ways of describing the same growth; always check which one you are given.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 1850 there are only two millionaire cities in the world: London and Paris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 1950 there are 83 millionaire cities and just three megacities: London, New York and Tokyo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 2014 there are 28 megacities, 16 of them in Asia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 2015 there are about 500 millionaire cities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By 2030 the world is projected to have 41 megacities  (C)</a:t>
            </a:r>
            <a:endParaRPr lang="en-US" sz="20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Millionaire cities went from 2 in 1850 to 83 in 1950 to about 500 in 2015. Megacities went from 3 in 1950 to 28 in 2014, with 41 projected for 2030. Most of the new ones are in LICs and NEEs, especially in Asia.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Issues and Challenges: Rio de Janeiro and Bristol · Chapter 1: An increasingly urban world</dc:title>
  <dc:subject>Geography · Year 9</dc:subject>
  <dc:creator>Dr Vitor Merissi de Carvalho</dc:creator>
  <cp:lastModifiedBy>Dr Vitor Merissi de Carvalho</cp:lastModifiedBy>
  <cp:revision>1</cp:revision>
  <dcterms:created xsi:type="dcterms:W3CDTF">2026-10-19T16:22:59Z</dcterms:created>
  <dcterms:modified xsi:type="dcterms:W3CDTF">2026-10-19T16:22:59Z</dcterms:modified>
</cp:coreProperties>
</file>