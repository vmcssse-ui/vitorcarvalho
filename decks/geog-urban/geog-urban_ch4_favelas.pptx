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55b629-dddf-1c12-c856-9210ed9d8d2c}">
          <p14:sldIdLst>
            <p14:sldId id="256"/>
          </p14:sldIdLst>
        </p14:section>
        <p14:section name="Gate" id="{0558ea6b-3f3e-eb4a-1f02-6193a6e496c5}">
          <p14:sldIdLst>
            <p14:sldId id="257"/>
            <p14:sldId id="258"/>
          </p14:sldIdLst>
        </p14:section>
        <p14:section name="Pre-teach" id="{5c3f1785-130b-da3e-19e4-ae7987babdea}">
          <p14:sldIdLst>
            <p14:sldId id="259"/>
            <p14:sldId id="260"/>
          </p14:sldIdLst>
        </p14:section>
        <p14:section name="Read-along" id="{53f8322a-4b5b-2ae5-6d31-645e18dfdfac}">
          <p14:sldIdLst>
            <p14:sldId id="261"/>
            <p14:sldId id="262"/>
          </p14:sldIdLst>
        </p14:section>
        <p14:section name="Teach" id="{cdb41d58-0a08-cb1a-ebb5-54777d3782c7}">
          <p14:sldIdLst>
            <p14:sldId id="263"/>
            <p14:sldId id="264"/>
            <p14:sldId id="265"/>
            <p14:sldId id="266"/>
            <p14:sldId id="267"/>
          </p14:sldIdLst>
        </p14:section>
        <p14:section name="Routes" id="{ed3efd24-4846-07f4-d2d4-c15825377a0c}">
          <p14:sldIdLst>
            <p14:sldId id="268"/>
            <p14:sldId id="269"/>
            <p14:sldId id="270"/>
            <p14:sldId id="271"/>
          </p14:sldIdLst>
        </p14:section>
        <p14:section name="Close" id="{2f4998e9-54f5-256a-0c23-59abfc9f262c}">
          <p14:sldIdLst>
            <p14:sldId id="272"/>
          </p14:sldIdLst>
        </p14:section>
        <p14:section name="Answers" id="{a18ad184-cfcc-94bc-4537-1c29d5201e2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Rio's favelas and the Favela Bairro project. What a favela is and why favelas grow, the challenges of living in one, how the Favela Bairro project has tried to improve them, and how to weigh up the argument that favelas should simply be demolished.
This deck covers the department's lessons: 8 (Rio's favelas: the challenges of squatter settlements: What is a favela, why do favelas grow, and what challenges do the people who live in them face?); 9 (Improving squatter settlements: the Favela Bairro project: How has the Favela Bairro project tried to improve Rio's favelas, and is demolishing favelas ever the answer?).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About what percentage of Rio's population lives in favelas?  →  25 %
2. Rio's largest favela is called ___.  →  Rocinha
3. Why do favelas grow?  →  A   Rural-urban migration brings people who cannot afford formal housing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25 %. About 25%, one person in four. The largest favela is Rocinha.
2. Rocinha. Rocinha is the largest favela in Rio and is well known for its tourist guides.
3. A   Rural-urban migration brings people who cannot afford formal housing. Migrants from Amazonia and the drought-hit north-east arrive with little money and build homes on land they do not own.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favela: the Brazilian name for a squatter settlement, a shanty town in or near a city. Example: "Rocinha is the largest favela in Rio."
• squatter settlement: homes built by people on land they do not own or rent. Example: "A squatter settlement grows without planning or permission."
• amenities: basic services such as running water, toilets and electricity. Example: "Many favela homes have few amenities."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rural-urban migration: people moving from the countryside to the city. Example: "Rural-urban migration from north-east Brazil has filled Rio's favelas."
• evaluate: give both sides and reach a judgement. Example: "To evaluate the statement, weigh the positives against the negatives."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 favela is a shanty town, or slum, in or near a city.
2. People build their homes from basic materials on land they do not own or rent.
3. About 25% of Rio's people live in favelas.
4. The largest favela in Rio is called Rocinha.
5. Favelas grow because of rural-urban migration.
6. People arrive from Amazonia and the drought-hit north-east with little money.
7. The government does not provide services in the favelas.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There is often no rubbish collection, no running water and no toilets.
9. Diseases like cholera and dysentery spread easily.
10. Many people have no formal job, and drug gangs bring crime.
11. The Favela Bairro project has tried to improve the favelas.
12. It has brought new local health centres and other services.
13. Some people say favelas should be demolished.
14. Others say they are people's homes and communities.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favela, and why do favelas grow?. Say it in your own words, then check understanding with a quick question: ask a pupil from the pre-teach group first, since they met these words and ideas before the lesson. Pupils try to recall before you re-explain.
A favela is a shanty town or slum area in or near a city; the general name for the same thing anywhere in the world is a squatter settlement. Families put up their own homes from whatever materials they can find, on land that is not theirs to own or rent. About 25% of Rio's population lives in favelas, and the largest of them is Rocinha. The lesson described a favela as a social challenge that creates environmental challenges, and the sections below show why.
Favelas grow because of rural-urban migration. People leave Amazonia and the drought-hit areas of north-east Brazil hoping for a better life in one of Brazil's big cities. They arrive with very little money and there is no cheap formal housing for them, so they build their own homes on whatever land is free, often steep hillsides or land close to the city's edge. The favelas have a long history too: one video the class watched named two factors behind their beginnings and growth: slavery and migration.
Tip: Favela is the Brazilian word; squatter settlement is the geographical term. Use both so the examiner knows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challenges of life in a favela. Say it in your own words, then check understanding with a quick question: ask a pupil from the pre-teach group first, since they met these words and ideas before the lesson. Pupils try to recall before you re-explain.
Favelas are not catered for by the government, so the services the rest of the city takes for granted are missing. The lesson grouped the challenges under five headings. Construction: homes are built from basic materials, often on steep, unstable slopes. Services: there is often no running water, no toilets and no rubbish collection. Health: with no clean water or sanitation, diseases like cholera and dysentery are common, and there is no hospital in the favela. Unemployment: many residents have no formal job, so they work in the informal sector. Crime: drug gangs operate in many favelas, and the police have struggled to control them.
The two halves of the picture the class discussed show the inequality clearly. On one side are the formal homes with electricity, water and nearby health care; on the other the favela, where each of those things is uncertain. When you explain the challenges, link them: no sanitation leads to disease; no formal jobs lead to informal work and sometimes to crime.
Worked example — model it step by step, thinking aloud: Explain one challenge facing people who live in Rio's favelas. (2 marks) (1) Name a challenge from the five headings: services, for example a lack of running water and toilets. (2) Explain the consequence: without clean water and sanitation, diseases such as cholera and dysentery spread. (3) One sentence to name it and one to explain the effect earns two marks. Answer: Many favela homes have no running water or toilets, because the government does not provide services in the favelas. This is a serious challenge because dirty water and poor sanitation allow diseases such as cholera and dysentery to spread..
Tip: Five headings for favela challenges: construction, services, health, unemployment, crime. Learn them as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challenges of life in a favela. Say it in your own words, then check understanding with a quick question: ask a pupil from the pre-teach group first, since they met these words and ideas before the lesson. Pupils try to recall before you re-explain.
Favelas are not catered for by the government, so the services the rest of the city takes for granted are missing. The lesson grouped the challenges under five headings. Construction: homes are built from basic materials, often on steep, unstable slopes. Services: there is often no running water, no toilets and no rubbish collection. Health: with no clean water or sanitation, diseases like cholera and dysentery are common, and there is no hospital in the favela. Unemployment: many residents have no formal job, so they work in the informal sector. Crime: drug gangs operate in many favelas, and the police have struggled to control them.
The two halves of the picture the class discussed show the inequality clearly. On one side are the formal homes with electricity, water and nearby health care; on the other the favela, where each of those things is uncertain. When you explain the challenges, link them: no sanitation leads to disease; no formal jobs lead to informal work and sometimes to crime.
Worked example — model it step by step, thinking aloud: Explain one challenge facing people who live in Rio's favelas. (2 marks) (1) Name a challenge from the five headings: services, for example a lack of running water and toilets. (2) Explain the consequence: without clean water and sanitation, diseases such as cholera and dysentery spread. (3) One sentence to name it and one to explain the effect earns two marks. Answer: Many favela homes have no running water or toilets, because the government does not provide services in the favelas. This is a serious challenge because dirty water and poor sanitation allow diseases such as cholera and dysentery to spread..
Tip: Five headings for favela challenges: construction, services, health, unemployment, crime. Learn them as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Improving the favelas: the Favela Bairro project. Say it in your own words, then check understanding with a quick question: ask a pupil from the pre-teach group first, since they met these words and ideas before the lesson. Pupils try to recall before you re-explain.
Rather than clearing the favelas, the city has tried to improve them. The case study you studied is the Favela Bairro project, an urban planning strategy aimed at improving the quality of life of the urban poor. Among its successes are new local health centres in the favelas, bringing health care to people who could not reach the city's hospitals. The project has also worked to upgrade services and the environment of the favelas so that they become proper neighbourhoods, which is what bairro means.
Your class task was to record at least four successes and four problems of the project from the textbook, and you will need those notes. The exam question for this topic is an evaluation: has the project improved the quality of life for the urban poor? To evaluate is to weigh both sides of an issue and then give a judgement in your conclusion, so you need the project's advantages and its disadvantages, and then a clear decision about whether it has, overall, been a success or a failure.
Alongside Favela Bairro, pacifying police units have been sent into some favelas to reduce crime, which the lesson treated as an economic challenge because it drives away investment and jobs.
Tip: For a nine-mark evaluate question: introduction, a paragraph for each side, then a conclusion that actually decides. No conclusion, no top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Should favelas be demolished?. Say it in your own words, then check understanding with a quick question: ask a pupil from the pre-teach group first, since they met these words and ideas before the lesson. Pupils try to recall before you re-explain.
Some people argue that favelas are no good to anyone and should be knocked down. The class examined this claim from both sides. The negatives are the challenges above: lack of services, health problems and crime. High crime causes the police serious problems, and clearing a favela can look like the easiest way to deal with it. Some favelas were bulldozed to make way for stadiums for the Olympic Games.
But favelas also have positives. They are people's homes, often built and improved by the families themselves over many years. They have a strong sense of community. Some, such as Rocinha, now attract tourism, with residents working as guides. People who live in favelas see them as home, and when favelas are demolished the residents are moved away from their work, their neighbours and their schools, so they are unhappy about it. An honest evaluation sets the two sides against each other and then decides: is getting rid of favelas really the best thing for everyone?
Tip: An evaluation must represent the people who live there. Ask who gains and who loses from demolition,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Favela facts.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name or number to what it tells you about Rio's favelas.
Support — work through the steps with the group: (1) Start with the number: a percentage must describe a share of people. (2) Two of the names are things done TO the favelas: a project and a police unit. One improves services; one tackles crime. (3) One name is a place: it must be the largest favela. (4) The one left describes people moving: that is why the favelas grew.
Parallel worked example for Support (model it, do not give the task answer): Match: Sepetiba, 2015. Choices: the year of Brazil's deep recession; the site of the largest steelworks in South America. A year must be the recession.; A place name must be the steelworks.. Answer: Sepetiba: the steelworks. 2015: the recession..
Core — reveal the hint only on request: A place, a percentage, a project, a police unit and a movement of people. Each matches exactly one fact.
Stretch — no help; when finished: Explain how rural-urban migration, the informal sector and the growth of favelas are linked in a chain, starting with a drought in north-east Brazil.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Favela facts.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name or number to what it tells you about Rio's favelas.
Support — work through the steps with the group: (1) Start with the number: a percentage must describe a share of people. (2) Two of the names are things done TO the favelas: a project and a police unit. One improves services; one tackles crime. (3) One name is a place: it must be the largest favela. (4) The one left describes people moving: that is why the favelas grew.
Parallel worked example for Support (model it, do not give the task answer): Match: Sepetiba, 2015. Choices: the year of Brazil's deep recession; the site of the largest steelworks in South America. A year must be the recession.; A place name must be the steelworks.. Answer: Sepetiba: the steelworks. 2015: the recession..
Core — reveal the hint only on request: A place, a percentage, a project, a police unit and a movement of people. Each matches exactly one fact.
Stretch — no help; when finished: Explain how rural-urban migration, the informal sector and the growth of favelas are linked in a chain, starting with a drought in north-east Brazil.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a favela grows.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growth of a favela in the correct order.
Support — work through the steps with the group: (1) Start in the countryside: what pushes people out? (2) Then the journey: arriving in Rio poor. (3) Then the housing problem: nothing affordable, so build your own. (4) Then the missing services, and finally the problems those cause while the favela keeps growing.
Parallel worked example for Support (model it, do not give the task answer): Order the chain: factories pollute the river; more people and industry arrive in the city; the water becomes anoxic and fish die. Start with the cause: people and industry arrive.; Then the pollution, then its effect.. Answer: More people and industry arrive; factories pollute the river; the water becomes anoxic and fish die..
Core — reveal the hint only on request: Push, move, build, go without, suffer. Cause always comes before effect.
Stretch — no help; when finished: Explain how the Favela Bairro project tries to break this chain at the services stage, and why that is more sustainable than demolition.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a favela grows.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growth of a favela in the correct order.
Support — work through the steps with the group: (1) Start in the countryside: what pushes people out? (2) Then the journey: arriving in Rio poor. (3) Then the housing problem: nothing affordable, so build your own. (4) Then the missing services, and finally the problems those cause while the favela keeps growing.
Parallel worked example for Support (model it, do not give the task answer): Order the chain: factories pollute the river; more people and industry arrive in the city; the water becomes anoxic and fish die. Start with the cause: people and industry arrive.; Then the pollution, then its effect.. Answer: More people and industry arrive; factories pollute the river; the water becomes anoxic and fish die..
Core — reveal the hint only on request: Push, move, build, go without, suffer. Cause always comes before effect.
Stretch — no help; when finished: Explain how the Favela Bairro project tries to break this chain at the services stage, and why that is more sustainable than demolition.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About what percentage of Rio's population lives in favelas?
Answer: 25 %. About 25%, one person in four. The largest favela is Rocinha.
Source of this question: gate item 1 re-asked (options rotated) — this chapter has no third quick-check module.
The ebook also holds task 3, "Weighing up demolition",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Favela facts. Reveal the answer; pupils mark their own work in a different colour, then read the "why" together. Same destination for every lane, so one answer serves the whole class.
Answer: Rocinha  →  B  The largest favela in Rio; 25%  →  A  The share of Rio's population that lives in favelas; Favela Bairro  →  E  The project to improve the favelas, with new local health centres; Pacifying police units  →  C  Sent into favelas to reduce crime; Rural-urban migration  →  D  The main reason favelas have grown
Why: Rocinha is the largest favela; about 25% of Rio's people live in favelas; Favela Bairro is the improvement project, with new local health centres among its successes; pacifying police units target crime; and rural-urban migration is why the favelas grew.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a favela grows. Reveal the answer; pupils mark their own work in a different colour, then read the "why" together. Same destination for every lane, so one answer serves the whole class.
Answer: Drought and a lack of work in Amazonia and north-east Brazil push people to leave  (C); They migrate to Rio hoping for a better life, with very little money  (B); There is no formal housing they can afford, so they build homes from basic materials on land they do not own  (E); The government does not provide services, so there is no running water, no toilets and no rubbish collection  (A); Disease, informal work and crime follow, and the favela keeps growing as more migrants arrive  (D)
Why: Push factors in the countryside drive migration; migrants arrive poor; with no affordable formal housing they build their own homes on land they do not own; the government does not provide services; and the lack of water, sanitation and jobs leads to disease, informal work and crime.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25 %
Why: About 25%, one person in four. The largest favela is Rocinha.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Rio's favelas and the Favela Bairro project</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ECF0ED"/>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Rio's favelas: the challenges of squatter settlements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Improving squatter settlements: the Favela Bairro project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what percentage of Rio's population lives in favelas?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Rio's largest favela is called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Rocinha  ·  Sepetiba  ·  Bairro</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do favelas grow?</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Rural-urban migration brings people who cannot afford formal housing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Wealthy families move there for the sea views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government builds them to house workers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Tourists come to stay 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25 %</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About what percentage of Rio's population lives in favelas?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About 25%, one person in four. The largest favela is Rocinha.</a:t>
            </a:r>
            <a:endParaRPr lang="en-US" sz="22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Rocinha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Rio's largest favela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Rocinha is the largest favela in Rio and is well known for its tourist guides.</a:t>
            </a:r>
            <a:endParaRPr lang="en-US" sz="22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Rural-urban migration brings people who cannot afford formal housing</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Migrants from Amazonia and the drought-hit north-east arrive with little money and build homes on land they do not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favela</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Brazilian name for a squatter settlement, a shanty town in or near a 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Rocinha is the largest favela in Rio.</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squatter settlement</a:t>
            </a:r>
            <a:endParaRPr lang="en-US" sz="2600" dirty="0"/>
          </a:p>
        </p:txBody>
      </p:sp>
      <p:sp>
        <p:nvSpPr>
          <p:cNvPr id="17" name="word-rule"/>
          <p:cNvSpPr/>
          <p:nvPr/>
        </p:nvSpPr>
        <p:spPr>
          <a:xfrm>
            <a:off x="4521098" y="2558288"/>
            <a:ext cx="3149498" cy="0"/>
          </a:xfrm>
          <a:prstGeom prst="line">
            <a:avLst/>
          </a:prstGeom>
          <a:ln w="12700">
            <a:solidFill>
              <a:srgbClr val="B2C4B7"/>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homes built by people on land they do not own or rent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squatter settlement grows without planning or permission.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amenities</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basic services such as running water, toilets and electricity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favela homes have few amenities.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rural-urban migration</a:t>
            </a:r>
            <a:endParaRPr lang="en-US" sz="2600" dirty="0"/>
          </a:p>
        </p:txBody>
      </p:sp>
      <p:sp>
        <p:nvSpPr>
          <p:cNvPr id="11" name="word-rule"/>
          <p:cNvSpPr/>
          <p:nvPr/>
        </p:nvSpPr>
        <p:spPr>
          <a:xfrm>
            <a:off x="731520" y="2129028"/>
            <a:ext cx="5044288" cy="0"/>
          </a:xfrm>
          <a:prstGeom prst="line">
            <a:avLst/>
          </a:prstGeom>
          <a:ln w="12700">
            <a:solidFill>
              <a:srgbClr val="B2C4B7"/>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moving from the countryside to the 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Rural-urban migration from north-east Brazil has filled Rio's favelas.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0F3F1"/>
          </a:solidFill>
          <a:ln w="12700">
            <a:solidFill>
              <a:srgbClr val="B2C4B7"/>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evaluate</a:t>
            </a:r>
            <a:endParaRPr lang="en-US" sz="2600" dirty="0"/>
          </a:p>
        </p:txBody>
      </p:sp>
      <p:sp>
        <p:nvSpPr>
          <p:cNvPr id="17" name="word-rule"/>
          <p:cNvSpPr/>
          <p:nvPr/>
        </p:nvSpPr>
        <p:spPr>
          <a:xfrm>
            <a:off x="6415888" y="2129028"/>
            <a:ext cx="5044288" cy="0"/>
          </a:xfrm>
          <a:prstGeom prst="line">
            <a:avLst/>
          </a:prstGeom>
          <a:ln w="12700">
            <a:solidFill>
              <a:srgbClr val="B2C4B7"/>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give both sides and reach a judgement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 evaluate the statement, weigh the positives against the negatives.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shanty town, or slum, in or near a 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build their homes from basic materials on land they do not own or 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25% of Rio's people live in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largest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Rio is called Rocinha.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grow because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rural-urban migration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arrive from Amazonia and the drought-hit north-east with little money.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government does not provide services in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is often no rubbish collection, no running water and no toilets.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Diseases like cholera and dysentery spread easily.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have no formal job, and drug gangs bring crime.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Bairro project has tried to improve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has brought new local health centres and other services.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people say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favelas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should be demolished.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Others say they are people's homes and communities.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favela, and why do favelas grow?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Favela is the Brazilian word; squatter settlement is the geographical term. Use both so the examiner knows you know.</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favela is a shanty town or slum area in or near a city; the general name for the same thing anywhere in the world is a squatter settlement.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Favelas grow because of rural-urban migration. People leave Amazonia and the drought-hit areas of north-east Brazil hoping for a better life in one of Brazil's big cities.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challenges of life in a favela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Five headings for favela challenges: construction, services, health, unemployment, crime. Learn them as a list.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Favelas are not catered for by the government, so the services the rest of the city takes for granted are missing.</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two halves of the picture the class discussed show the inequality clearly.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The challenges of life in a favela</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CF0ED"/>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challenge facing people who live in Rio's favelas. (2 marks)</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a challenge from the five headings: services, for example a lack of running water and toilets.</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consequence: without clean water and sanitation, diseases such as cholera and dysentery spread.</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sentence to name it and one to explain the effect earns two marks.</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Many favela homes have no running water or toilets, because the government does not provide services in the favelas. This is a serious challenge because dirty water and poor sanitation allow diseases such as cholera and dysentery to spread.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Improving the favelas: the Favela Bairro project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nine-mark evaluate question: introduction, a paragraph for each side, then a conclusion that actually decides. No conclusion, no top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Rather than clearing the favelas, the city has tried to improve them.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class task was to record at least four successes and four problems of the project from the textbook, and you will need those notes.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Alongside Favela Bairro, pacifying police units have been sent into some favelas to reduce crime, which the lesson treated as an economic challenge because it drives away investment and jobs.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Should favelas be demolished?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evaluation must represent the people who live there. Ask who gains and who loses from demolition, and say so.</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people argue that favelas are no good to anyone and should be knocked down.</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But favelas also have positives. They are people's homes, often built and improved by the families themselves over many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Favela facts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name or number to what it tells you about Rio's favelas.</a:t>
            </a:r>
            <a:endParaRPr lang="en-US" sz="2200" dirty="0"/>
          </a:p>
        </p:txBody>
      </p:sp>
      <p:sp>
        <p:nvSpPr>
          <p:cNvPr id="11" name="match-card"/>
          <p:cNvSpPr/>
          <p:nvPr/>
        </p:nvSpPr>
        <p:spPr>
          <a:xfrm>
            <a:off x="777240" y="2468331"/>
            <a:ext cx="3081437" cy="567647"/>
          </a:xfrm>
          <a:prstGeom prst="roundRect">
            <a:avLst>
              <a:gd name="adj" fmla="val 12887"/>
            </a:avLst>
          </a:prstGeom>
          <a:solidFill>
            <a:srgbClr val="F0F3F1"/>
          </a:solidFill>
          <a:ln/>
        </p:spPr>
      </p:sp>
      <p:sp>
        <p:nvSpPr>
          <p:cNvPr id="12" name="match-hex"/>
          <p:cNvSpPr/>
          <p:nvPr/>
        </p:nvSpPr>
        <p:spPr>
          <a:xfrm>
            <a:off x="850392" y="2585862"/>
            <a:ext cx="384048" cy="332586"/>
          </a:xfrm>
          <a:prstGeom prst="hexagon">
            <a:avLst/>
          </a:prstGeom>
          <a:solidFill>
            <a:srgbClr val="3F6B4A"/>
          </a:solidFill>
          <a:ln/>
        </p:spPr>
      </p:sp>
      <p:sp>
        <p:nvSpPr>
          <p:cNvPr id="13" name="match-hex-label"/>
          <p:cNvSpPr txBox="1"/>
          <p:nvPr/>
        </p:nvSpPr>
        <p:spPr>
          <a:xfrm>
            <a:off x="850392"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Rocinha</a:t>
            </a:r>
            <a:endParaRPr lang="en-US" sz="2000" dirty="0"/>
          </a:p>
        </p:txBody>
      </p:sp>
      <p:sp>
        <p:nvSpPr>
          <p:cNvPr id="15" name="match-card"/>
          <p:cNvSpPr/>
          <p:nvPr/>
        </p:nvSpPr>
        <p:spPr>
          <a:xfrm>
            <a:off x="4224437" y="2468331"/>
            <a:ext cx="7190019" cy="567647"/>
          </a:xfrm>
          <a:prstGeom prst="roundRect">
            <a:avLst>
              <a:gd name="adj" fmla="val 12887"/>
            </a:avLst>
          </a:prstGeom>
          <a:solidFill>
            <a:srgbClr val="F6F0E6"/>
          </a:solidFill>
          <a:ln/>
        </p:spPr>
      </p:sp>
      <p:sp>
        <p:nvSpPr>
          <p:cNvPr id="16" name="match-hex"/>
          <p:cNvSpPr/>
          <p:nvPr/>
        </p:nvSpPr>
        <p:spPr>
          <a:xfrm>
            <a:off x="4297589" y="2585862"/>
            <a:ext cx="384048" cy="332586"/>
          </a:xfrm>
          <a:prstGeom prst="hexagon">
            <a:avLst/>
          </a:prstGeom>
          <a:solidFill>
            <a:srgbClr val="B8862B"/>
          </a:solidFill>
          <a:ln/>
        </p:spPr>
      </p:sp>
      <p:sp>
        <p:nvSpPr>
          <p:cNvPr id="17" name="match-hex-label"/>
          <p:cNvSpPr txBox="1"/>
          <p:nvPr/>
        </p:nvSpPr>
        <p:spPr>
          <a:xfrm>
            <a:off x="4297589"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share of Rio's population that lives in favelas</a:t>
            </a:r>
            <a:endParaRPr lang="en-US" sz="2000" dirty="0"/>
          </a:p>
        </p:txBody>
      </p:sp>
      <p:sp>
        <p:nvSpPr>
          <p:cNvPr id="19" name="match-card"/>
          <p:cNvSpPr/>
          <p:nvPr/>
        </p:nvSpPr>
        <p:spPr>
          <a:xfrm>
            <a:off x="777240" y="3127419"/>
            <a:ext cx="3081437" cy="567647"/>
          </a:xfrm>
          <a:prstGeom prst="roundRect">
            <a:avLst>
              <a:gd name="adj" fmla="val 12887"/>
            </a:avLst>
          </a:prstGeom>
          <a:solidFill>
            <a:srgbClr val="F0F3F1"/>
          </a:solidFill>
          <a:ln/>
        </p:spPr>
      </p:sp>
      <p:sp>
        <p:nvSpPr>
          <p:cNvPr id="20" name="match-hex"/>
          <p:cNvSpPr/>
          <p:nvPr/>
        </p:nvSpPr>
        <p:spPr>
          <a:xfrm>
            <a:off x="850392" y="3244950"/>
            <a:ext cx="384048" cy="332586"/>
          </a:xfrm>
          <a:prstGeom prst="hexagon">
            <a:avLst/>
          </a:prstGeom>
          <a:solidFill>
            <a:srgbClr val="3F6B4A"/>
          </a:solidFill>
          <a:ln/>
        </p:spPr>
      </p:sp>
      <p:sp>
        <p:nvSpPr>
          <p:cNvPr id="21" name="match-hex-label"/>
          <p:cNvSpPr txBox="1"/>
          <p:nvPr/>
        </p:nvSpPr>
        <p:spPr>
          <a:xfrm>
            <a:off x="850392"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27419"/>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25%</a:t>
            </a:r>
            <a:endParaRPr lang="en-US" sz="2000" dirty="0"/>
          </a:p>
        </p:txBody>
      </p:sp>
      <p:sp>
        <p:nvSpPr>
          <p:cNvPr id="23" name="match-card"/>
          <p:cNvSpPr/>
          <p:nvPr/>
        </p:nvSpPr>
        <p:spPr>
          <a:xfrm>
            <a:off x="4224437" y="3127419"/>
            <a:ext cx="7190019" cy="567647"/>
          </a:xfrm>
          <a:prstGeom prst="roundRect">
            <a:avLst>
              <a:gd name="adj" fmla="val 12887"/>
            </a:avLst>
          </a:prstGeom>
          <a:solidFill>
            <a:srgbClr val="F6F0E6"/>
          </a:solidFill>
          <a:ln/>
        </p:spPr>
      </p:sp>
      <p:sp>
        <p:nvSpPr>
          <p:cNvPr id="24" name="match-hex"/>
          <p:cNvSpPr/>
          <p:nvPr/>
        </p:nvSpPr>
        <p:spPr>
          <a:xfrm>
            <a:off x="4297589" y="3244950"/>
            <a:ext cx="384048" cy="332586"/>
          </a:xfrm>
          <a:prstGeom prst="hexagon">
            <a:avLst/>
          </a:prstGeom>
          <a:solidFill>
            <a:srgbClr val="B8862B"/>
          </a:solidFill>
          <a:ln/>
        </p:spPr>
      </p:sp>
      <p:sp>
        <p:nvSpPr>
          <p:cNvPr id="25" name="match-hex-label"/>
          <p:cNvSpPr txBox="1"/>
          <p:nvPr/>
        </p:nvSpPr>
        <p:spPr>
          <a:xfrm>
            <a:off x="4297589"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27419"/>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largest favela in Rio</a:t>
            </a:r>
            <a:endParaRPr lang="en-US" sz="2000" dirty="0"/>
          </a:p>
        </p:txBody>
      </p:sp>
      <p:sp>
        <p:nvSpPr>
          <p:cNvPr id="27" name="match-card"/>
          <p:cNvSpPr/>
          <p:nvPr/>
        </p:nvSpPr>
        <p:spPr>
          <a:xfrm>
            <a:off x="777240" y="3786506"/>
            <a:ext cx="3081437" cy="567647"/>
          </a:xfrm>
          <a:prstGeom prst="roundRect">
            <a:avLst>
              <a:gd name="adj" fmla="val 12887"/>
            </a:avLst>
          </a:prstGeom>
          <a:solidFill>
            <a:srgbClr val="F0F3F1"/>
          </a:solidFill>
          <a:ln/>
        </p:spPr>
      </p:sp>
      <p:sp>
        <p:nvSpPr>
          <p:cNvPr id="28" name="match-hex"/>
          <p:cNvSpPr/>
          <p:nvPr/>
        </p:nvSpPr>
        <p:spPr>
          <a:xfrm>
            <a:off x="850392" y="3904037"/>
            <a:ext cx="384048" cy="332586"/>
          </a:xfrm>
          <a:prstGeom prst="hexagon">
            <a:avLst/>
          </a:prstGeom>
          <a:solidFill>
            <a:srgbClr val="3F6B4A"/>
          </a:solidFill>
          <a:ln/>
        </p:spPr>
      </p:sp>
      <p:sp>
        <p:nvSpPr>
          <p:cNvPr id="29" name="match-hex-label"/>
          <p:cNvSpPr txBox="1"/>
          <p:nvPr/>
        </p:nvSpPr>
        <p:spPr>
          <a:xfrm>
            <a:off x="850392"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86506"/>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Favela Bairro</a:t>
            </a:r>
            <a:endParaRPr lang="en-US" sz="2000" dirty="0"/>
          </a:p>
        </p:txBody>
      </p:sp>
      <p:sp>
        <p:nvSpPr>
          <p:cNvPr id="31" name="match-card"/>
          <p:cNvSpPr/>
          <p:nvPr/>
        </p:nvSpPr>
        <p:spPr>
          <a:xfrm>
            <a:off x="4224437" y="3786506"/>
            <a:ext cx="7190019" cy="567647"/>
          </a:xfrm>
          <a:prstGeom prst="roundRect">
            <a:avLst>
              <a:gd name="adj" fmla="val 12887"/>
            </a:avLst>
          </a:prstGeom>
          <a:solidFill>
            <a:srgbClr val="F6F0E6"/>
          </a:solidFill>
          <a:ln/>
        </p:spPr>
      </p:sp>
      <p:sp>
        <p:nvSpPr>
          <p:cNvPr id="32" name="match-hex"/>
          <p:cNvSpPr/>
          <p:nvPr/>
        </p:nvSpPr>
        <p:spPr>
          <a:xfrm>
            <a:off x="4297589" y="3904037"/>
            <a:ext cx="384048" cy="332586"/>
          </a:xfrm>
          <a:prstGeom prst="hexagon">
            <a:avLst/>
          </a:prstGeom>
          <a:solidFill>
            <a:srgbClr val="B8862B"/>
          </a:solidFill>
          <a:ln/>
        </p:spPr>
      </p:sp>
      <p:sp>
        <p:nvSpPr>
          <p:cNvPr id="33" name="match-hex-label"/>
          <p:cNvSpPr txBox="1"/>
          <p:nvPr/>
        </p:nvSpPr>
        <p:spPr>
          <a:xfrm>
            <a:off x="4297589"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786506"/>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Sent into favelas to reduce crime</a:t>
            </a:r>
            <a:endParaRPr lang="en-US" sz="2000" dirty="0"/>
          </a:p>
        </p:txBody>
      </p:sp>
      <p:sp>
        <p:nvSpPr>
          <p:cNvPr id="35" name="match-card"/>
          <p:cNvSpPr/>
          <p:nvPr/>
        </p:nvSpPr>
        <p:spPr>
          <a:xfrm>
            <a:off x="777240" y="4445593"/>
            <a:ext cx="3081437" cy="567647"/>
          </a:xfrm>
          <a:prstGeom prst="roundRect">
            <a:avLst>
              <a:gd name="adj" fmla="val 12887"/>
            </a:avLst>
          </a:prstGeom>
          <a:solidFill>
            <a:srgbClr val="F0F3F1"/>
          </a:solidFill>
          <a:ln/>
        </p:spPr>
      </p:sp>
      <p:sp>
        <p:nvSpPr>
          <p:cNvPr id="36" name="match-hex"/>
          <p:cNvSpPr/>
          <p:nvPr/>
        </p:nvSpPr>
        <p:spPr>
          <a:xfrm>
            <a:off x="850392" y="4563124"/>
            <a:ext cx="384048" cy="332586"/>
          </a:xfrm>
          <a:prstGeom prst="hexagon">
            <a:avLst/>
          </a:prstGeom>
          <a:solidFill>
            <a:srgbClr val="3F6B4A"/>
          </a:solidFill>
          <a:ln/>
        </p:spPr>
      </p:sp>
      <p:sp>
        <p:nvSpPr>
          <p:cNvPr id="37" name="match-hex-label"/>
          <p:cNvSpPr txBox="1"/>
          <p:nvPr/>
        </p:nvSpPr>
        <p:spPr>
          <a:xfrm>
            <a:off x="850392" y="45631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45593"/>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Pacifying police units</a:t>
            </a:r>
            <a:endParaRPr lang="en-US" sz="2000" dirty="0"/>
          </a:p>
        </p:txBody>
      </p:sp>
      <p:sp>
        <p:nvSpPr>
          <p:cNvPr id="39" name="match-card"/>
          <p:cNvSpPr/>
          <p:nvPr/>
        </p:nvSpPr>
        <p:spPr>
          <a:xfrm>
            <a:off x="4224437" y="4445593"/>
            <a:ext cx="7190019" cy="567647"/>
          </a:xfrm>
          <a:prstGeom prst="roundRect">
            <a:avLst>
              <a:gd name="adj" fmla="val 12887"/>
            </a:avLst>
          </a:prstGeom>
          <a:solidFill>
            <a:srgbClr val="F6F0E6"/>
          </a:solidFill>
          <a:ln/>
        </p:spPr>
      </p:sp>
      <p:sp>
        <p:nvSpPr>
          <p:cNvPr id="40" name="match-hex"/>
          <p:cNvSpPr/>
          <p:nvPr/>
        </p:nvSpPr>
        <p:spPr>
          <a:xfrm>
            <a:off x="4297589" y="4563124"/>
            <a:ext cx="384048" cy="332586"/>
          </a:xfrm>
          <a:prstGeom prst="hexagon">
            <a:avLst/>
          </a:prstGeom>
          <a:solidFill>
            <a:srgbClr val="B8862B"/>
          </a:solidFill>
          <a:ln/>
        </p:spPr>
      </p:sp>
      <p:sp>
        <p:nvSpPr>
          <p:cNvPr id="41" name="match-hex-label"/>
          <p:cNvSpPr txBox="1"/>
          <p:nvPr/>
        </p:nvSpPr>
        <p:spPr>
          <a:xfrm>
            <a:off x="4297589" y="45631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445593"/>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main reason favelas have grown</a:t>
            </a:r>
            <a:endParaRPr lang="en-US" sz="2000" dirty="0"/>
          </a:p>
        </p:txBody>
      </p:sp>
      <p:sp>
        <p:nvSpPr>
          <p:cNvPr id="43" name="match-card"/>
          <p:cNvSpPr/>
          <p:nvPr/>
        </p:nvSpPr>
        <p:spPr>
          <a:xfrm>
            <a:off x="777240" y="5104681"/>
            <a:ext cx="3081437" cy="857207"/>
          </a:xfrm>
          <a:prstGeom prst="roundRect">
            <a:avLst>
              <a:gd name="adj" fmla="val 8534"/>
            </a:avLst>
          </a:prstGeom>
          <a:solidFill>
            <a:srgbClr val="F0F3F1"/>
          </a:solidFill>
          <a:ln/>
        </p:spPr>
      </p:sp>
      <p:sp>
        <p:nvSpPr>
          <p:cNvPr id="44" name="match-hex"/>
          <p:cNvSpPr/>
          <p:nvPr/>
        </p:nvSpPr>
        <p:spPr>
          <a:xfrm>
            <a:off x="850392" y="5366992"/>
            <a:ext cx="384048" cy="332586"/>
          </a:xfrm>
          <a:prstGeom prst="hexagon">
            <a:avLst/>
          </a:prstGeom>
          <a:solidFill>
            <a:srgbClr val="3F6B4A"/>
          </a:solidFill>
          <a:ln/>
        </p:spPr>
      </p:sp>
      <p:sp>
        <p:nvSpPr>
          <p:cNvPr id="45" name="match-hex-label"/>
          <p:cNvSpPr txBox="1"/>
          <p:nvPr/>
        </p:nvSpPr>
        <p:spPr>
          <a:xfrm>
            <a:off x="850392" y="53669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04681"/>
            <a:ext cx="2487077"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Rural-urban migration</a:t>
            </a:r>
            <a:endParaRPr lang="en-US" sz="2000" dirty="0"/>
          </a:p>
        </p:txBody>
      </p:sp>
      <p:sp>
        <p:nvSpPr>
          <p:cNvPr id="47" name="match-card"/>
          <p:cNvSpPr/>
          <p:nvPr/>
        </p:nvSpPr>
        <p:spPr>
          <a:xfrm>
            <a:off x="4224437" y="5104681"/>
            <a:ext cx="7190019" cy="857207"/>
          </a:xfrm>
          <a:prstGeom prst="roundRect">
            <a:avLst>
              <a:gd name="adj" fmla="val 8534"/>
            </a:avLst>
          </a:prstGeom>
          <a:solidFill>
            <a:srgbClr val="F6F0E6"/>
          </a:solidFill>
          <a:ln/>
        </p:spPr>
      </p:sp>
      <p:sp>
        <p:nvSpPr>
          <p:cNvPr id="48" name="match-hex"/>
          <p:cNvSpPr/>
          <p:nvPr/>
        </p:nvSpPr>
        <p:spPr>
          <a:xfrm>
            <a:off x="4297589" y="5366992"/>
            <a:ext cx="384048" cy="332586"/>
          </a:xfrm>
          <a:prstGeom prst="hexagon">
            <a:avLst/>
          </a:prstGeom>
          <a:solidFill>
            <a:srgbClr val="B8862B"/>
          </a:solidFill>
          <a:ln/>
        </p:spPr>
      </p:sp>
      <p:sp>
        <p:nvSpPr>
          <p:cNvPr id="49" name="match-hex-label"/>
          <p:cNvSpPr txBox="1"/>
          <p:nvPr/>
        </p:nvSpPr>
        <p:spPr>
          <a:xfrm>
            <a:off x="4297589" y="53669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04681"/>
            <a:ext cx="6595659"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project to improve the favelas, with new local health centres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Favela facts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Favela facts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number: a percentage must describe a share of people.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names are things done TO the favelas: a project and a police unit. One improves services; one tackles crime.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name is a place: it must be the largest favela.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describes people moving: that is why the favelas grew.</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place, a percentage, a project, a police unit and a movement of people. Each matches exactly one fact.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rural-urban migration, the informal sector and the growth of favelas are linked in a chain, starting with a drought in north-east Brazil.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 favela grows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stages in the growth of a favela in the correct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government does not provide services, so there is no running water, no toilets and no rubbish collection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They migrate to Rio hoping for a better life, with very little money</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Drought and a lack of work in Amazonia and north-east Brazil push people to leave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Disease, informal work and crime follow, and the favela keeps growing as more migrants arrive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There is no formal housing they can afford, so they build homes from basic materials on land they do not 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How a favela grows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in the growth of a favela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in the countryside: what pushes people out?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journey: arriving in Rio poor.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housing problem: nothing affordable, so build your own.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missing services, and finally the problems those cause while the favela keeps growing.</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Push, move, build, go without, suffer. Cause always comes before effect.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Favela Bairro project tries to break this chain at the services stage, and why that is more sustainable than demolition.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About what percentage of Rio's population lives in favelas?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Favela facts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Rocinha  →  B  The largest favela in Rio</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25%  →  A  The share of Rio's population that lives in favelas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Favela Bairro  →  E  The project to improve the favelas, with new local health centres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Pacifying police units  →  C  Sent into favelas to reduce crime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Rural-urban migration  →  D  The main reason favelas have grown</a:t>
            </a:r>
            <a:endParaRPr lang="en-US" sz="22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Rocinha is the largest favela; about 25% of Rio's people live in favelas; Favela Bairro is the improvement project, with new local health centres among its successes; pacifying police units target crime; and rural-urban migration is why the favelas grew.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 favela grows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Drought and a lack of work in Amazonia and north-east Brazil push people to leave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They migrate to Rio hoping for a better life, with very little money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There is no formal housing they can afford, so they build homes from basic materials on land they do not own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government does not provide services, so there is no running water, no toilets and no rubbish collection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Disease, informal work and crime follow, and the favela keeps growing as more migrants arrive  (D)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Push factors in the countryside drive migration; migrants arrive poor; with no affordable formal housing they build their own homes on land they do not own; the government does not provide services; and the lack of water, sanitation and jobs leads to disease, informal work and crime.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what percentage of Rio's population lives in favelas?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About 25%, one person in four. The largest favela is Rocinha.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4: Rio's favelas and the Favela Bairro project</dc:title>
  <dc:subject>Geography · Year 9</dc:subject>
  <dc:creator>Dr Vitor Merissi de Carvalho</dc:creator>
  <cp:lastModifiedBy>Dr Vitor Merissi de Carvalho</cp:lastModifiedBy>
  <cp:revision>1</cp:revision>
  <dcterms:created xsi:type="dcterms:W3CDTF">2026-10-19T16:22:59Z</dcterms:created>
  <dcterms:modified xsi:type="dcterms:W3CDTF">2026-10-19T16:22:59Z</dcterms:modified>
</cp:coreProperties>
</file>