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deb6f3-46f4-35f0-f022-fca7e6c8b205}">
          <p14:sldIdLst>
            <p14:sldId id="256"/>
          </p14:sldIdLst>
        </p14:section>
        <p14:section name="Gate" id="{2779c55e-02ec-b07e-d25f-ccb914a39d1c}">
          <p14:sldIdLst>
            <p14:sldId id="257"/>
            <p14:sldId id="258"/>
            <p14:sldId id="259"/>
          </p14:sldIdLst>
        </p14:section>
        <p14:section name="Pre-teach" id="{23ddd38d-553a-d44f-2b98-03b7748d1efb}">
          <p14:sldIdLst>
            <p14:sldId id="260"/>
            <p14:sldId id="261"/>
          </p14:sldIdLst>
        </p14:section>
        <p14:section name="Read-along" id="{b751deea-0f4c-79b3-680f-2db7e1967b1c}">
          <p14:sldIdLst>
            <p14:sldId id="262"/>
            <p14:sldId id="263"/>
          </p14:sldIdLst>
        </p14:section>
        <p14:section name="Teach" id="{1df19e3d-91eb-defd-e158-d563f4c678e5}">
          <p14:sldIdLst>
            <p14:sldId id="264"/>
            <p14:sldId id="265"/>
            <p14:sldId id="266"/>
            <p14:sldId id="267"/>
            <p14:sldId id="268"/>
          </p14:sldIdLst>
        </p14:section>
        <p14:section name="Routes" id="{f57696a6-580d-325e-b035-eb48094a0909}">
          <p14:sldIdLst>
            <p14:sldId id="269"/>
            <p14:sldId id="270"/>
            <p14:sldId id="271"/>
            <p14:sldId id="272"/>
            <p14:sldId id="273"/>
            <p14:sldId id="274"/>
            <p14:sldId id="275"/>
          </p14:sldIdLst>
        </p14:section>
        <p14:section name="Close" id="{6bc5be4c-057a-a29a-6d18-3e75ef4b625a}">
          <p14:sldIdLst>
            <p14:sldId id="276"/>
          </p14:sldIdLst>
        </p14:section>
        <p14:section name="Answers" id="{a2759541-c6f1-672a-c157-404cee556c90}">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Bristol's challenges: dereliction, sprawl, inequality and new homes. The environmental challenges urban change has left Bristol, how the city is cleaning its waste and air, the gap between Filwood and Stoke Bishop, where new homes should go, and the regeneration of the Temple Quarter.
This deck covers the department's lessons: 14 (Environmental challenges in Bristol: Why does Bristol have derelict inner-city areas and urban sprawl, and what is being done about them?); 15 (Creating a clean environment in Bristol: How is Bristol reducing its waste and cleaning its air?); 16 (Social inequality in Bristol: How are social variations measured, and how do Filwood and Stoke Bishop compare?); 17 (New housing in Bristol: What is the green belt for, and should Bristol's new homes go on greenfield or brownfield sites?); 18 (The Temple Quarter regeneration (1): What are the pros and cons of regenerating run-down areas, and why did the Temple Quarter need it?); 19 (The Temple Quarter regeneration (2): What has the Temple Quarter regeneration built, and how can its success be measured?).
Read the big question aloud: "As the world's cities grow, who gains, who loses, and how can a city be made a better place for everyone who lives in 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unplanned growth of a city outwards into the surrounding countryside is called urban ___.  →  sprawl
2. Which pair of Bristol areas did the lesson use to show social inequality, and which is the deprived one?  →  A   Filwood (deprived) and Stoke Bishop (affluent)
3. Which of these is a BROWNFIELD site?  →  A   A former dockyard in the city centre awaiting reuse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unplanned growth of a city outwards into the surrounding countryside is called urban ___.  →  sprawl
2. Which pair of Bristol areas did the lesson use to show social inequality, and which is the deprived one?  →  A   Filwood (deprived) and Stoke Bishop (affluent)
3. Which of these is a BROWNFIELD site?  →  A   A former dockyard in the city centre awaiting reuse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sprawl. Urban sprawl is one of Bristol's two environmental challenges, with dereliction.
2. A   Filwood (deprived) and Stoke Bishop (affluent). Filwood has high levels of social deprivation; Stoke Bishop is very affluent.
3. A   A former dockyard in the city centre awaiting reuse. Brownfield land has been used and abandoned and now awaits reuse; it is usually in the urban area.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dereliction: abandoned buildings and wasteland. Example: "Old factories left empty are an example of dereliction."
• urban sprawl: the unplanned spread of a city into the countryside. Example: "New housing estates on the edge of Bristol add to urban sprawl."
• social deprivation: when people lack the basic things most others have, such as decent housing, education and health. Example: "Filwood has high levels of social deprivation."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affluent: wealthy. Example: "Stoke Bishop is a very affluent area."
• regeneration: improving a run-down area by improving its housing and environment. Example: "The Temple Quarter regeneration has changed the area around the station."
• landfill: a site where rubbish is buried in the ground. Example: "Bristol wants to send less waste to landfill."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Urban change has brought Bristol challenges as well as opportunities.
2. When industries closed, they left derelict buildings and wasteland in the inner city.
3. A growing population needs new homes, and new estates have spread the city outwards.
4. This unplanned spread into the countryside is called urban sprawl.
5. Bristol is cleaning its environment too.
6. It sends less waste to landfill and recycles more.
7. It cuts air pollution with lower speed limits, walking, cycling, electric vehicles and public transport.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Bristol also has social inequality.
9. Filwood has high levels of social deprivation, while Stoke Bishop is very affluent.
10. The green belt around Bristol and Bath stops the two cities merging.
11. Most new homes in Bristol are built on brownfield sites, land that was used before.
12. Some are built on greenfield sites, such as Harry Stoke, which has never been built on.
13. The Temple Quarter, by Temple Meads station, is Bristol's biggest regeneration project.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Dereliction, urban sprawl and a cleaner city. Say it in your own words, then check understanding with a quick question: ask a pupil from the pre-teach group first, since they met these words and ideas before the lesson. Pupils try to recall before you re-explain.
Changes in Bristol's economy and industry have created two environmental challenges: derelict industrial buildings and urban sprawl. Dereliction means abandoned buildings and wasteland. When the port closed and old industries declined, warehouses and factories in the inner city were left empty. Urban sprawl is the unplanned growth of urban areas into the surrounding rural areas. Bristol's growing population, and the demolition of older slum areas, increased the demand for new homes, and new housing developments have extended the city outwards. One answer has been to build on brownfield sites instead, and Bristol has been successful in using them for new housing to reduce sprawl.
Bristol is also tackling waste and air pollution. The waste problem is being tackled by reducing the amount of waste generated and sent to landfill, and increasing the amount recycled. Recycling rates have been raised by setting higher targets, educating residents, improving collection services and recycling facilities, and technological improvements. Some waste is handled by resource recovery, also called energy recovery: burning part or all of the waste to generate heat or electricity instead of burying it.
Air pollution, mainly nitrogen dioxide from vehicles, is being reduced by lowering speed limits and encouraging walking, cycling, the use of electric vehicles and public transport. Together these measures let you describe how Bristol is creating a clean environment: less to landfill, more recycling, and fewer emissions from traffic.
Tip: Urban sprawl has effects on people (longer journeys, loss of countryside for recreation) and on the environment (loss of habitat and farmland, more car travel). Give both in a six-mark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Social inequality: Filwood and Stoke Bishop. Say it in your own words, then check understanding with a quick question: ask a pupil from the pre-teach group first, since they met these words and ideas before the lesson. Pupils try to recall before you re-explain.
There are great social variations and inequalities between different areas of Bristol. Social variations are measured by factors such as housing, education and health. The class table compared two areas under eight headings: housing, education, health care, life expectancy, crime, security, employment and access to shopping facilities.
Some areas of Bristol, such as Filwood, have high levels of social deprivation: people lack the decent housing, education, health and jobs that most others have. Others, such as Stoke Bishop, are very affluent, which means wealthy. The lesson's extension task asked why the number and types of crime differ between the two areas; unemployment, income and the quality of housing all play a part. Social inequality matters for the nine-mark question because it shows that the opportunities created by urban change are not available to everyone: growth has brought benefits to suburbs like Stoke Bishop while inner areas like Filwood remain deprived.
Tip: Filwood = deprived; Stoke Bishop = affluent. Measure the gap with the factors: housing, education, health, life expectancy, 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New housing: the green belt, greenfield and brownfield. Say it in your own words, then check understanding with a quick question: ask a pupil from the pre-teach group first, since they met these words and ideas before the lesson. Pupils try to recall before you re-explain.
Where should Bristol's new homes go? Around the edge of the city is the green belt, an area of countryside with strict planning controls to stop houses being built. The Bristol and Bath green belt was set up to prevent the two cities merging and to prevent development on the rural-urban fringe, the zone of transition between the built-up area and the countryside where land uses compete. Even so, Bristol's role as a regional centre has led to the growth of commuter settlements, places where many residents travel into the city to work, to the north and south of the city on the green belt.
A greenfield site is a plot of land, often rural or on the edge of a city, that has never been built on before. A national housing shortage has led to greenfield sites being used for new housing, for example at Harry Stoke and Bradley Stoke, but there is considerable opposition. Greenfield sites are cheaper, need no time or money to clear, and can be planned as a whole; but they need new infrastructure such as roads and services, they take open space and countryside, they contribute to urban sprawl and they can lead to piecemeal development.
A brownfield site is land that has been used, abandoned and now awaits reuse, usually in an urban area: former office buildings, factories, dockyards, pubs, coach depots and listed buildings. Most new homes in Bristol are built on brownfield sites, partly because of the demand for student accommodation; the new flats on Bristol Harbourside are an example. Brownfield sites improve contaminated land and derelict buildings, let people live and work in the city centre and make use of historic buildings; but they may take a lot of time and money to make clear and safe, and old listed buildings may not suit modern use.
Worked example — model it step by step, thinking aloud: Give one advantage and one disadvantage of building new homes on a brownfield site. (2 marks) (1) Advantage: pick one from the lesson's list, for example it improves contaminated land and derelict buildings. (2) Disadvantage: pick one, for example it may take a lot of time and money to make the site clear and safe. (3) State each in a full sentence; one mark for each. Answer: An advantage is that building on a brownfield site improves contaminated land and derelict buildings, giving them a new use. A disadvantage is that the site may take a lot of time and money to make clear and safe before building can start..
Tip: Greenfield: never built on, cheap to start, adds to sprawl. Brownfield: used before, in the city, costly to clear. The advantages of one are the disadvantages of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New housing: the green belt, greenfield and brownfield. Say it in your own words, then check understanding with a quick question: ask a pupil from the pre-teach group first, since they met these words and ideas before the lesson. Pupils try to recall before you re-explain.
Where should Bristol's new homes go? Around the edge of the city is the green belt, an area of countryside with strict planning controls to stop houses being built. The Bristol and Bath green belt was set up to prevent the two cities merging and to prevent development on the rural-urban fringe, the zone of transition between the built-up area and the countryside where land uses compete. Even so, Bristol's role as a regional centre has led to the growth of commuter settlements, places where many residents travel into the city to work, to the north and south of the city on the green belt.
A greenfield site is a plot of land, often rural or on the edge of a city, that has never been built on before. A national housing shortage has led to greenfield sites being used for new housing, for example at Harry Stoke and Bradley Stoke, but there is considerable opposition. Greenfield sites are cheaper, need no time or money to clear, and can be planned as a whole; but they need new infrastructure such as roads and services, they take open space and countryside, they contribute to urban sprawl and they can lead to piecemeal development.
A brownfield site is land that has been used, abandoned and now awaits reuse, usually in an urban area: former office buildings, factories, dockyards, pubs, coach depots and listed buildings. Most new homes in Bristol are built on brownfield sites, partly because of the demand for student accommodation; the new flats on Bristol Harbourside are an example. Brownfield sites improve contaminated land and derelict buildings, let people live and work in the city centre and make use of historic buildings; but they may take a lot of time and money to make clear and safe, and old listed buildings may not suit modern use.
Worked example — model it step by step, thinking aloud: Give one advantage and one disadvantage of building new homes on a brownfield site. (2 marks) (1) Advantage: pick one from the lesson's list, for example it improves contaminated land and derelict buildings. (2) Disadvantage: pick one, for example it may take a lot of time and money to make the site clear and safe. (3) State each in a full sentence; one mark for each. Answer: An advantage is that building on a brownfield site improves contaminated land and derelict buildings, giving them a new use. A disadvantage is that the site may take a lot of time and money to make clear and safe before building can start..
Tip: Greenfield: never built on, cheap to start, adds to sprawl. Brownfield: used before, in the city, costly to clear. The advantages of one are the disadvantages of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Regeneration and the Temple Quarter. Say it in your own words, then check understanding with a quick question: ask a pupil from the pre-teach group first, since they met these words and ideas before the lesson. Pupils try to recall before you re-explain.
Regeneration means improving run-down areas by improving the housing and the environment. It has advantages and disadvantages. On the plus side, multiple land uses can be created from existing buildings; derelict, abandoned or waste land is given a new use; old and shabby urban environments are improved; sprawl is reduced because the site is already developed land; and car use may fall as new buildings go up inside the city. On the minus side, sites are more expensive to build on because the land may need clearing, and the land may have been contaminated by previous industrial use, so it needs professional clean-up.
Bristol's Temple Quarter needed regeneration for three linked reasons. It was a brownfield site, land previously used for industry, which had grown up around the river, the harbour and the railway station. It is the area most visitors see first when they arrive in Bristol by road or rail. And so it gave a bad image of the city: for people arriving at Bristol's main railway station, Temple Meads, the derelict Temple Quarter was their first impression. The station itself is a historic building linked to the engineer Isambard Kingdom Brunel, and historic buildings shape what a regeneration can do.
The second Temple Quarter lesson asked you to find examples of a new building and of an old building re-used, to assess the importance of the Bristol arena and Temple Meads station to the project, and to suggest how the success of a regeneration can be measured: new jobs, new homes, visitors, the state of the buildings, and what local people think. Regeneration has winners, such as developers, builders, landowners, investors and the government, and it can have losers, such as local people priced out or moved on; a good evaluation names both.
Tip: Three reasons the Temple Quarter needed regeneration: brownfield land; the first area visitors see; a bad first impression at Temple Meads.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Housing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from the new housing lesson to its meaning.
Support — work through the steps with the group: (1) Two terms contain field: one has never been built on (green), one has been used before (brown). (2) Green belt is not a field but a whole ring of protected countryside around the city. (3) Fringe means edge: the zone where town meets country. (4) Commuters are people who travel to work, so a commuter settlement is where they live.
Parallel worked example for Support (model it, do not give the task answer): Match: dereliction, regeneration. Choices: improving a run-down area by improving housing and the environment; abandoned buildings and wasteland. Derelict means abandoned.; Regenerate means make new again.. Answer: Dereliction: abandoned buildings and wasteland. Regeneration: improving a run-down area..
Core — reveal the hint only on request: Never built on; built on before; protected ring; the edge zone; where commuters live.
Stretch — no help; when finished: Explain why the growth of commuter settlements on the green belt is a sign that the green belt is both working and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Housing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from the new housing lesson to its meaning.
Support — work through the steps with the group: (1) Two terms contain field: one has never been built on (green), one has been used before (brown). (2) Green belt is not a field but a whole ring of protected countryside around the city. (3) Fringe means edge: the zone where town meets country. (4) Commuters are people who travel to work, so a commuter settlement is where they live.
Parallel worked example for Support (model it, do not give the task answer): Match: dereliction, regeneration. Choices: improving a run-down area by improving housing and the environment; abandoned buildings and wasteland. Derelict means abandoned.; Regenerate means make new again.. Answer: Dereliction: abandoned buildings and wasteland. Regeneration: improving a run-down area..
Core — reveal the hint only on request: Never built on; built on before; protected ring; the edge zone; where commuters live.
Stretch — no help; when finished: Explain why the growth of commuter settlements on the green belt is a sign that the green belt is both working and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Housing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from the new housing lesson to its meaning.
Support — work through the steps with the group: (1) Two terms contain field: one has never been built on (green), one has been used before (brown). (2) Green belt is not a field but a whole ring of protected countryside around the city. (3) Fringe means edge: the zone where town meets country. (4) Commuters are people who travel to work, so a commuter settlement is where they live.
Parallel worked example for Support (model it, do not give the task answer): Match: dereliction, regeneration. Choices: improving a run-down area by improving housing and the environment; abandoned buildings and wasteland. Derelict means abandoned.; Regenerate means make new again.. Answer: Dereliction: abandoned buildings and wasteland. Regeneration: improving a run-down area..
Core — reveal the hint only on request: Never built on; built on before; protected ring; the edge zone; where commuters live.
Stretch — no help; when finished: Explain why the growth of commuter settlements on the green belt is a sign that the green belt is both working and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Housing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from the new housing lesson to its meaning.
Support — work through the steps with the group: (1) Two terms contain field: one has never been built on (green), one has been used before (brown). (2) Green belt is not a field but a whole ring of protected countryside around the city. (3) Fringe means edge: the zone where town meets country. (4) Commuters are people who travel to work, so a commuter settlement is where they live.
Parallel worked example for Support (model it, do not give the task answer): Match: dereliction, regeneration. Choices: improving a run-down area by improving housing and the environment; abandoned buildings and wasteland. Derelict means abandoned.; Regenerate means make new again.. Answer: Dereliction: abandoned buildings and wasteland. Regeneration: improving a run-down area..
Core — reveal the hint only on request: Never built on; built on before; protected ring; the edge zone; where commuters live.
Stretch — no help; when finished: Explain why the growth of commuter settlements on the green belt is a sign that the green belt is both working and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Greenfield or brownfield?.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Bristol needs more homes for students. Which option best explains why the city has chosen to build most of them on brownfield sites rather than greenfield sites?
Support — work through the steps with the group: (1) Recall where each kind of site is: brownfield inside the city, greenfield on the edge. (2) Recall the brownfield advantages: reuses derelict land, lets people live and work centrally, uses historic buildings. (3) Recall the greenfield advantages: cheaper, nothing to clear, planned as a whole. Any option giving these to brownfield is wrong. (4) Pick the option that links brownfield's advantages to reducing sprawl.
Parallel worked example for Support (model it, do not give the task answer): A developer chooses a greenfield site at Harry Stoke. Which of these is a genuine advantage of that choice: the land is cheaper and needs no clearing, or the development reuses derelict buildings? Reusing derelict buildings is a brownfield advantage.; Cheap, uncleared land is the greenfield advantage.. Answer: The land is cheaper and needs no clearing..
Core — reveal the hint only on request: Which option gives brownfield its OWN advantages, not greenfield's? And which links to Bristol's aim of reducing sprawl?
Stretch — no help; when finished: Attempt to justify the use of greenfield sites for new housing at Harry Stoke and Bradley Stoke, then explain why there is considerable opposition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Greenfield or brownfield?.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Bristol needs more homes for students. Which option best explains why the city has chosen to build most of them on brownfield sites rather than greenfield sites?
Support — work through the steps with the group: (1) Recall where each kind of site is: brownfield inside the city, greenfield on the edge. (2) Recall the brownfield advantages: reuses derelict land, lets people live and work centrally, uses historic buildings. (3) Recall the greenfield advantages: cheaper, nothing to clear, planned as a whole. Any option giving these to brownfield is wrong. (4) Pick the option that links brownfield's advantages to reducing sprawl.
Parallel worked example for Support (model it, do not give the task answer): A developer chooses a greenfield site at Harry Stoke. Which of these is a genuine advantage of that choice: the land is cheaper and needs no clearing, or the development reuses derelict buildings? Reusing derelict buildings is a brownfield advantage.; Cheap, uncleared land is the greenfield advantage.. Answer: The land is cheaper and needs no clearing..
Core — reveal the hint only on request: Which option gives brownfield its OWN advantages, not greenfield's? And which links to Bristol's aim of reducing sprawl?
Stretch — no help; when finished: Attempt to justify the use of greenfield sites for new housing at Harry Stoke and Bradley Stoke, then explain why there is considerable opposition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Greenfield or brownfield?.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Bristol needs more homes for students. Which option best explains why the city has chosen to build most of them on brownfield sites rather than greenfield sites?
Support — work through the steps with the group: (1) Recall where each kind of site is: brownfield inside the city, greenfield on the edge. (2) Recall the brownfield advantages: reuses derelict land, lets people live and work centrally, uses historic buildings. (3) Recall the greenfield advantages: cheaper, nothing to clear, planned as a whole. Any option giving these to brownfield is wrong. (4) Pick the option that links brownfield's advantages to reducing sprawl.
Parallel worked example for Support (model it, do not give the task answer): A developer chooses a greenfield site at Harry Stoke. Which of these is a genuine advantage of that choice: the land is cheaper and needs no clearing, or the development reuses derelict buildings? Reusing derelict buildings is a brownfield advantage.; Cheap, uncleared land is the greenfield advantage.. Answer: The land is cheaper and needs no clearing..
Core — reveal the hint only on request: Which option gives brownfield its OWN advantages, not greenfield's? And which links to Bristol's aim of reducing sprawl?
Stretch — no help; when finished: Attempt to justify the use of greenfield sites for new housing at Harry Stoke and Bradley Stoke, then explain why there is considerable opposition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unplanned growth of a city outwards into the surrounding countryside is called urban ___.
Answer: The unplanned growth of a city outwards into the surrounding countryside is called urban sprawl.. Urban sprawl is one of Bristol's two environmental challenges, with dereliction.
Source of this question: gate item 1 re-asked (options rotated) — this chapter has no third quick-check module.
The ebook also holds task 3, "Who wins and who loses from regeneration?",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Housing key words. Reveal the answer; pupils mark their own work in a different colour, then read the "why" together. Same destination for every lane, so one answer serves the whole class.
Answer: Green belt  →  C  The area of countryside around the edge of a city with strict planning controls to stop houses being built; Rural-urban fringe  →  B  A zone of transition between a built-up area and the countryside, where there is often competition for land use; Brownfield site  →  E  Land that has been used, abandoned and now awaits reuse, often found in urban areas; Greenfield site  →  A  A plot of land, often rural or on the edge of an urban area, that has not been built on before; Commuter settlement  →  D  A town or village where many residents travel into a nearby city to work
Why: Green belt is the protected ring of countryside; the rural-urban fringe is the edge zone where town meets country; a greenfield site has never been built on; a brownfield site has been used and abandoned; a commuter settlement is where people live who travel into the city to work.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Greenfield or brownfield?. Reveal the answer; pupils mark their own work in a different colour, then read the "why" together. Same destination for every lane, so one answer serves the whole class.
Answer: D   Brownfield sites let people live and work in the city centre and reuse derelict land, so they reduce urban sprawl
Why: Brownfield sites are inside the city, so building there reuses derelict land, lets people live and work centrally and takes no countryside: that is how Bristol has reduced sprawl. The downside is the time and cost of making old sites clear and safe.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unplanned growth of a city outwards into the surrounding countryside is called urban sprawl.
Why: Urban sprawl is one of Bristol's two environmental challenges, with dereliction.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Urban Issues and Challenges: Rio de Janeiro and Bristol · AQA 8035</a:t>
            </a:r>
            <a:endParaRPr lang="en-US" sz="1800" dirty="0"/>
          </a:p>
        </p:txBody>
      </p:sp>
      <p:sp>
        <p:nvSpPr>
          <p:cNvPr id="10" name="deck-title"/>
          <p:cNvSpPr txBox="1"/>
          <p:nvPr/>
        </p:nvSpPr>
        <p:spPr>
          <a:xfrm>
            <a:off x="548640" y="1598676"/>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Bristol's challenges: dereliction, sprawl, inequality and new homes</a:t>
            </a:r>
            <a:endParaRPr lang="en-US" sz="2800" dirty="0"/>
          </a:p>
        </p:txBody>
      </p:sp>
      <p:sp>
        <p:nvSpPr>
          <p:cNvPr id="11" name="lessons-card"/>
          <p:cNvSpPr/>
          <p:nvPr/>
        </p:nvSpPr>
        <p:spPr>
          <a:xfrm>
            <a:off x="548640" y="3341116"/>
            <a:ext cx="5287975" cy="2503424"/>
          </a:xfrm>
          <a:prstGeom prst="roundRect">
            <a:avLst>
              <a:gd name="adj" fmla="val 2922"/>
            </a:avLst>
          </a:prstGeom>
          <a:solidFill>
            <a:srgbClr val="ECF0ED"/>
          </a:solidFill>
          <a:ln/>
        </p:spPr>
      </p:sp>
      <p:sp>
        <p:nvSpPr>
          <p:cNvPr id="12" name="lessons"/>
          <p:cNvSpPr txBox="1"/>
          <p:nvPr/>
        </p:nvSpPr>
        <p:spPr>
          <a:xfrm>
            <a:off x="685800" y="3432556"/>
            <a:ext cx="5013655" cy="2320544"/>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Environmental challenges in Bristol</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Creating a clean environment in Bristol</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Social inequality in Bristol</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New housing in Bristol</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The Temple Quarter regeneration (1)</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The Temple Quarter regeneration (2)</a:t>
            </a:r>
            <a:endParaRPr lang="en-US" sz="18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As the world's cities grow, who gains, who loses, and how can a city be made a better place for everyone who lives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unplanned growth of a city outwards into the surrounding countryside is called urban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sprawl  ·  greening  ·  regeneration</a:t>
            </a:r>
            <a:endParaRPr lang="en-US" sz="2400" dirty="0"/>
          </a:p>
        </p:txBody>
      </p:sp>
      <p:sp>
        <p:nvSpPr>
          <p:cNvPr id="12" name="card"/>
          <p:cNvSpPr/>
          <p:nvPr/>
        </p:nvSpPr>
        <p:spPr>
          <a:xfrm>
            <a:off x="6233008" y="1389888"/>
            <a:ext cx="5410048" cy="4754880"/>
          </a:xfrm>
          <a:prstGeom prst="roundRect">
            <a:avLst>
              <a:gd name="adj" fmla="val 1154"/>
            </a:avLst>
          </a:prstGeom>
          <a:solidFill>
            <a:srgbClr val="F2F5F2"/>
          </a:solidFill>
          <a:ln w="12700">
            <a:solidFill>
              <a:srgbClr val="BCCBC0"/>
            </a:solidFill>
            <a:prstDash val="solid"/>
          </a:ln>
        </p:spPr>
      </p:sp>
      <p:sp>
        <p:nvSpPr>
          <p:cNvPr id="13" name="card-hex"/>
          <p:cNvSpPr/>
          <p:nvPr/>
        </p:nvSpPr>
        <p:spPr>
          <a:xfrm>
            <a:off x="6415888" y="1572768"/>
            <a:ext cx="640080" cy="554309"/>
          </a:xfrm>
          <a:prstGeom prst="hexagon">
            <a:avLst/>
          </a:prstGeom>
          <a:solidFill>
            <a:srgbClr val="3F6B4A"/>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pair of Bristol areas did the lesson use to show social inequality, and which is the deprived one?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Filwood (deprived) and Stoke Bishop (affluent)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Harry Stoke (deprived) and Harbourside (affluent)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Stoke Bishop (deprived) and Filwood (affluent)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Temple Quarter (deprived) and Bradley Stoke (affluent)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BROWNFIELD site?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former dockyard in the city centre awaiting reuse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commuter settlement north of Bristol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field on the edge of the city that has never been built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Countryside protected by the green belt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sprawl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unplanned growth of a city outwards into the surrounding countryside is called urban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Urban sprawl is one of Bristol's two environmental challenges, with dereliction.</a:t>
            </a:r>
            <a:endParaRPr lang="en-US" sz="20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DE1CA"/>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Filwood (deprived) and Stoke Bishop (affluent)</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Filwood has high levels of social deprivation; Stoke Bishop is very affluent.</a:t>
            </a:r>
            <a:endParaRPr lang="en-US" sz="18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former dockyard in the city centre awaiting reuse</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BROWNFIELD site?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Brownfield land has been used and abandoned and now awaits reuse; it is usually in the urban area.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dereliction</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abandoned buildings and wasteland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Old factories left empty are an example of dereliction.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urban sprawl</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unplanned spread of a city into the countryside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New housing estates on the edge of Bristol add to urban sprawl.</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social deprivation</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people lack the basic things most others have, such as decent housing, education and health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Filwood has high levels of social deprivation.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affluent</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wealthy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Stoke Bishop is a very affluent area.</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regeneration</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improving a run-down area by improving its housing and environment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Temple Quarter regeneration has changed the area around the station.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landfill</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site where rubbish is buried in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Bristol wants to send less waste to landfill.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Urban change has brought Bristol challenges as well as opportunities.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When industries closed, they left derelict buildings and wasteland in the inner city.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growing population needs new homes, and new estates have spread the city outwards.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This unplanned spread into the countryside is called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urban sprawl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Bristol is cleaning its environment too.</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sends less waste to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landfill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recycles more.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cuts air pollution with lower speed limits, walking, cycling, electric vehicles and public transport.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Bristol also has social inequality.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Filwood has high levels of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social deprivation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while Stoke Bishop is very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affluent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green belt around Bristol and Bath stops the two cities merging.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Most new homes in Bristol are built on brownfield sites, land that was used before.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are built on greenfield sites, such as Harry Stoke, which has never been built 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Temple Quarter, by Temple Meads station, is Bristol's biggest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regeneration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project.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Dereliction, urban sprawl and a cleaner city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Urban sprawl has effects on people (longer journeys, loss of countryside for recreation) and on the environment (loss of habitat and farmland, more car travel). Give both in a six-mark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Changes in Bristol's economy and industry have created two environmental challenges: derelict industrial buildings and urban sprawl.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Bristol is also tackling waste and air pollution. The waste problem is being tackled by reducing the amount of waste generated and sent to landfill, and increasing the amount recycled.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Air pollution, mainly nitrogen dioxide from vehicles, is being reduced by lowering speed limits and encouraging walking, cycling, the use of electric vehicles and public transport.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Social inequality: Filwood and Stoke Bishop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Filwood = deprived; Stoke Bishop = affluent. Measure the gap with the factors: housing, education, health, life expectancy, employment.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great social variations and inequalities between different areas of Bristol.</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areas of Bristol, such as Filwood, have high levels of social deprivation: people lack the decent housing, education, health and jobs that most others have.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New housing: the green belt, greenfield and brownfield</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Greenfield: never built on, cheap to start, adds to sprawl. Brownfield: used before, in the city, costly to clear. The advantages of one are the disadvantages of the other.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Where should Bristol's new homes go? Around the edge of the city is the green belt, an area of countryside with strict planning controls to stop houses being built.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greenfield site is a plot of land, often rural or on the edge of a city, that has never been built on before.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brownfield site is land that has been used, abandoned and now awaits reuse, usually in an urban area: former office buildings, factories, dockyards, pubs, coach depots and listed buildings.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New housing: the green belt, greenfield and brownfield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Give one advantage and one disadvantage of building new homes on a brownfield site. (2 marks)</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Advantage: pick one from the lesson's list, for example it improves contaminated land and derelict buildings.</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Disadvantage: pick one, for example it may take a lot of time and money to make the site clear and safe.</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State each in a full sentence; one mark for each.</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An advantage is that building on a brownfield site improves contaminated land and derelict buildings, giving them a new use. A disadvantage is that the site may take a lot of time and money to make clear and safe before building can start.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Regeneration and the Temple Quarter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reasons the Temple Quarter needed regeneration: brownfield land; the first area visitors see; a bad first impression at Temple Meads.</a:t>
            </a:r>
            <a:endParaRPr lang="en-US" sz="1800" dirty="0"/>
          </a:p>
        </p:txBody>
      </p:sp>
      <p:sp>
        <p:nvSpPr>
          <p:cNvPr id="11" name="bullet-card"/>
          <p:cNvSpPr/>
          <p:nvPr/>
        </p:nvSpPr>
        <p:spPr>
          <a:xfrm>
            <a:off x="548640" y="1389888"/>
            <a:ext cx="11094415" cy="821267"/>
          </a:xfrm>
          <a:prstGeom prst="roundRect">
            <a:avLst>
              <a:gd name="adj" fmla="val 8907"/>
            </a:avLst>
          </a:prstGeom>
          <a:solidFill>
            <a:srgbClr val="F0F3F1"/>
          </a:solidFill>
          <a:ln/>
        </p:spPr>
      </p:sp>
      <p:sp>
        <p:nvSpPr>
          <p:cNvPr id="12" name="bullet-hex"/>
          <p:cNvSpPr/>
          <p:nvPr/>
        </p:nvSpPr>
        <p:spPr>
          <a:xfrm>
            <a:off x="676656" y="1634229"/>
            <a:ext cx="384048" cy="332586"/>
          </a:xfrm>
          <a:prstGeom prst="hexagon">
            <a:avLst/>
          </a:prstGeom>
          <a:solidFill>
            <a:srgbClr val="3F6B4A"/>
          </a:solidFill>
          <a:ln/>
        </p:spPr>
      </p:sp>
      <p:sp>
        <p:nvSpPr>
          <p:cNvPr id="13" name="bullet"/>
          <p:cNvSpPr txBox="1"/>
          <p:nvPr/>
        </p:nvSpPr>
        <p:spPr>
          <a:xfrm>
            <a:off x="1143000" y="1389888"/>
            <a:ext cx="10408615"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Regeneration means improving run-down areas by improving the housing and the environment.</a:t>
            </a:r>
            <a:endParaRPr lang="en-US" sz="2000" dirty="0"/>
          </a:p>
        </p:txBody>
      </p:sp>
      <p:sp>
        <p:nvSpPr>
          <p:cNvPr id="14" name="bullet-card"/>
          <p:cNvSpPr/>
          <p:nvPr/>
        </p:nvSpPr>
        <p:spPr>
          <a:xfrm>
            <a:off x="548640" y="2357459"/>
            <a:ext cx="11094415" cy="1131147"/>
          </a:xfrm>
          <a:prstGeom prst="roundRect">
            <a:avLst>
              <a:gd name="adj" fmla="val 6467"/>
            </a:avLst>
          </a:prstGeom>
          <a:solidFill>
            <a:srgbClr val="F0F3F1"/>
          </a:solidFill>
          <a:ln/>
        </p:spPr>
      </p:sp>
      <p:sp>
        <p:nvSpPr>
          <p:cNvPr id="15" name="bullet-hex"/>
          <p:cNvSpPr/>
          <p:nvPr/>
        </p:nvSpPr>
        <p:spPr>
          <a:xfrm>
            <a:off x="676656" y="2756739"/>
            <a:ext cx="384048" cy="332586"/>
          </a:xfrm>
          <a:prstGeom prst="hexagon">
            <a:avLst/>
          </a:prstGeom>
          <a:solidFill>
            <a:srgbClr val="B8862B"/>
          </a:solidFill>
          <a:ln/>
        </p:spPr>
      </p:sp>
      <p:sp>
        <p:nvSpPr>
          <p:cNvPr id="16" name="bullet"/>
          <p:cNvSpPr txBox="1"/>
          <p:nvPr/>
        </p:nvSpPr>
        <p:spPr>
          <a:xfrm>
            <a:off x="1143000" y="2357459"/>
            <a:ext cx="10408615"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Bristol's Temple Quarter needed regeneration for three linked reasons. It was a brownfield site, land previously used for industry, which had grown up around the river, the harbour and the railway station.</a:t>
            </a:r>
            <a:endParaRPr lang="en-US" sz="2000" dirty="0"/>
          </a:p>
        </p:txBody>
      </p:sp>
      <p:sp>
        <p:nvSpPr>
          <p:cNvPr id="17" name="bullet-card"/>
          <p:cNvSpPr/>
          <p:nvPr/>
        </p:nvSpPr>
        <p:spPr>
          <a:xfrm>
            <a:off x="548640" y="3634909"/>
            <a:ext cx="11094415" cy="1441027"/>
          </a:xfrm>
          <a:prstGeom prst="roundRect">
            <a:avLst>
              <a:gd name="adj" fmla="val 5076"/>
            </a:avLst>
          </a:prstGeom>
          <a:solidFill>
            <a:srgbClr val="F0F3F1"/>
          </a:solidFill>
          <a:ln/>
        </p:spPr>
      </p:sp>
      <p:sp>
        <p:nvSpPr>
          <p:cNvPr id="18" name="bullet-hex"/>
          <p:cNvSpPr/>
          <p:nvPr/>
        </p:nvSpPr>
        <p:spPr>
          <a:xfrm>
            <a:off x="676656" y="4189130"/>
            <a:ext cx="384048" cy="332586"/>
          </a:xfrm>
          <a:prstGeom prst="hexagon">
            <a:avLst/>
          </a:prstGeom>
          <a:solidFill>
            <a:srgbClr val="3F6B4A"/>
          </a:solidFill>
          <a:ln/>
        </p:spPr>
      </p:sp>
      <p:sp>
        <p:nvSpPr>
          <p:cNvPr id="19" name="bullet"/>
          <p:cNvSpPr txBox="1"/>
          <p:nvPr/>
        </p:nvSpPr>
        <p:spPr>
          <a:xfrm>
            <a:off x="1143000" y="3634909"/>
            <a:ext cx="10408615"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second Temple Quarter lesson asked you to find examples of a new building and of an old building re-used, to assess the importance of the Bristol arena and Temple Meads station to the project, and to suggest how the success of a regeneration can be measured: new jobs, new homes, visitors, the state of the buildings, and what local people think.</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Housing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key word from the new housing lesson to its meaning.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(1 of 2): Housing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key word from the new housing lesson to its meaning.</a:t>
            </a:r>
            <a:endParaRPr lang="en-US" sz="2200" dirty="0"/>
          </a:p>
        </p:txBody>
      </p:sp>
      <p:sp>
        <p:nvSpPr>
          <p:cNvPr id="11" name="match-card"/>
          <p:cNvSpPr/>
          <p:nvPr/>
        </p:nvSpPr>
        <p:spPr>
          <a:xfrm>
            <a:off x="777240" y="2468331"/>
            <a:ext cx="3081437" cy="989936"/>
          </a:xfrm>
          <a:prstGeom prst="roundRect">
            <a:avLst>
              <a:gd name="adj" fmla="val 7390"/>
            </a:avLst>
          </a:prstGeom>
          <a:solidFill>
            <a:srgbClr val="F0F3F1"/>
          </a:solidFill>
          <a:ln/>
        </p:spPr>
      </p:sp>
      <p:sp>
        <p:nvSpPr>
          <p:cNvPr id="12" name="match-hex"/>
          <p:cNvSpPr/>
          <p:nvPr/>
        </p:nvSpPr>
        <p:spPr>
          <a:xfrm>
            <a:off x="850392" y="2797007"/>
            <a:ext cx="384048" cy="332586"/>
          </a:xfrm>
          <a:prstGeom prst="hexagon">
            <a:avLst/>
          </a:prstGeom>
          <a:solidFill>
            <a:srgbClr val="3F6B4A"/>
          </a:solidFill>
          <a:ln/>
        </p:spPr>
      </p:sp>
      <p:sp>
        <p:nvSpPr>
          <p:cNvPr id="13" name="match-hex-label"/>
          <p:cNvSpPr txBox="1"/>
          <p:nvPr/>
        </p:nvSpPr>
        <p:spPr>
          <a:xfrm>
            <a:off x="850392" y="27970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Green belt</a:t>
            </a:r>
            <a:endParaRPr lang="en-US" sz="2200" dirty="0"/>
          </a:p>
        </p:txBody>
      </p:sp>
      <p:sp>
        <p:nvSpPr>
          <p:cNvPr id="15" name="match-card"/>
          <p:cNvSpPr/>
          <p:nvPr/>
        </p:nvSpPr>
        <p:spPr>
          <a:xfrm>
            <a:off x="4224437" y="2468331"/>
            <a:ext cx="7190019" cy="989936"/>
          </a:xfrm>
          <a:prstGeom prst="roundRect">
            <a:avLst>
              <a:gd name="adj" fmla="val 7390"/>
            </a:avLst>
          </a:prstGeom>
          <a:solidFill>
            <a:srgbClr val="F6F0E6"/>
          </a:solidFill>
          <a:ln/>
        </p:spPr>
      </p:sp>
      <p:sp>
        <p:nvSpPr>
          <p:cNvPr id="16" name="match-hex"/>
          <p:cNvSpPr/>
          <p:nvPr/>
        </p:nvSpPr>
        <p:spPr>
          <a:xfrm>
            <a:off x="4297589" y="2797007"/>
            <a:ext cx="384048" cy="332586"/>
          </a:xfrm>
          <a:prstGeom prst="hexagon">
            <a:avLst/>
          </a:prstGeom>
          <a:solidFill>
            <a:srgbClr val="B8862B"/>
          </a:solidFill>
          <a:ln/>
        </p:spPr>
      </p:sp>
      <p:sp>
        <p:nvSpPr>
          <p:cNvPr id="17" name="match-hex-label"/>
          <p:cNvSpPr txBox="1"/>
          <p:nvPr/>
        </p:nvSpPr>
        <p:spPr>
          <a:xfrm>
            <a:off x="4297589" y="27970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Land that has been used, abandoned and now awaits reuse, often found in urban areas</a:t>
            </a:r>
            <a:endParaRPr lang="en-US" sz="2200" dirty="0"/>
          </a:p>
        </p:txBody>
      </p:sp>
      <p:sp>
        <p:nvSpPr>
          <p:cNvPr id="19" name="match-card"/>
          <p:cNvSpPr/>
          <p:nvPr/>
        </p:nvSpPr>
        <p:spPr>
          <a:xfrm>
            <a:off x="777240" y="3549708"/>
            <a:ext cx="3081437" cy="989936"/>
          </a:xfrm>
          <a:prstGeom prst="roundRect">
            <a:avLst>
              <a:gd name="adj" fmla="val 7390"/>
            </a:avLst>
          </a:prstGeom>
          <a:solidFill>
            <a:srgbClr val="F0F3F1"/>
          </a:solidFill>
          <a:ln/>
        </p:spPr>
      </p:sp>
      <p:sp>
        <p:nvSpPr>
          <p:cNvPr id="20" name="match-hex"/>
          <p:cNvSpPr/>
          <p:nvPr/>
        </p:nvSpPr>
        <p:spPr>
          <a:xfrm>
            <a:off x="850392" y="3878383"/>
            <a:ext cx="384048" cy="332586"/>
          </a:xfrm>
          <a:prstGeom prst="hexagon">
            <a:avLst/>
          </a:prstGeom>
          <a:solidFill>
            <a:srgbClr val="3F6B4A"/>
          </a:solidFill>
          <a:ln/>
        </p:spPr>
      </p:sp>
      <p:sp>
        <p:nvSpPr>
          <p:cNvPr id="21" name="match-hex-label"/>
          <p:cNvSpPr txBox="1"/>
          <p:nvPr/>
        </p:nvSpPr>
        <p:spPr>
          <a:xfrm>
            <a:off x="850392"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49708"/>
            <a:ext cx="2487077"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Rural-urban fringe</a:t>
            </a:r>
            <a:endParaRPr lang="en-US" sz="2200" dirty="0"/>
          </a:p>
        </p:txBody>
      </p:sp>
      <p:sp>
        <p:nvSpPr>
          <p:cNvPr id="23" name="match-card"/>
          <p:cNvSpPr/>
          <p:nvPr/>
        </p:nvSpPr>
        <p:spPr>
          <a:xfrm>
            <a:off x="4224437" y="3549708"/>
            <a:ext cx="7190019" cy="989936"/>
          </a:xfrm>
          <a:prstGeom prst="roundRect">
            <a:avLst>
              <a:gd name="adj" fmla="val 7390"/>
            </a:avLst>
          </a:prstGeom>
          <a:solidFill>
            <a:srgbClr val="F6F0E6"/>
          </a:solidFill>
          <a:ln/>
        </p:spPr>
      </p:sp>
      <p:sp>
        <p:nvSpPr>
          <p:cNvPr id="24" name="match-hex"/>
          <p:cNvSpPr/>
          <p:nvPr/>
        </p:nvSpPr>
        <p:spPr>
          <a:xfrm>
            <a:off x="4297589" y="3878383"/>
            <a:ext cx="384048" cy="332586"/>
          </a:xfrm>
          <a:prstGeom prst="hexagon">
            <a:avLst/>
          </a:prstGeom>
          <a:solidFill>
            <a:srgbClr val="B8862B"/>
          </a:solidFill>
          <a:ln/>
        </p:spPr>
      </p:sp>
      <p:sp>
        <p:nvSpPr>
          <p:cNvPr id="25" name="match-hex-label"/>
          <p:cNvSpPr txBox="1"/>
          <p:nvPr/>
        </p:nvSpPr>
        <p:spPr>
          <a:xfrm>
            <a:off x="4297589"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49708"/>
            <a:ext cx="6595659" cy="9899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area of countryside around the edge of a city with strict planning controls to stop houses being built</a:t>
            </a:r>
            <a:endParaRPr lang="en-US" sz="2200" dirty="0"/>
          </a:p>
        </p:txBody>
      </p:sp>
      <p:sp>
        <p:nvSpPr>
          <p:cNvPr id="27" name="match-card"/>
          <p:cNvSpPr/>
          <p:nvPr/>
        </p:nvSpPr>
        <p:spPr>
          <a:xfrm>
            <a:off x="777240" y="4631084"/>
            <a:ext cx="3081437" cy="1330804"/>
          </a:xfrm>
          <a:prstGeom prst="roundRect">
            <a:avLst>
              <a:gd name="adj" fmla="val 5497"/>
            </a:avLst>
          </a:prstGeom>
          <a:solidFill>
            <a:srgbClr val="F0F3F1"/>
          </a:solidFill>
          <a:ln/>
        </p:spPr>
      </p:sp>
      <p:sp>
        <p:nvSpPr>
          <p:cNvPr id="28" name="match-hex"/>
          <p:cNvSpPr/>
          <p:nvPr/>
        </p:nvSpPr>
        <p:spPr>
          <a:xfrm>
            <a:off x="850392" y="5130193"/>
            <a:ext cx="384048" cy="332586"/>
          </a:xfrm>
          <a:prstGeom prst="hexagon">
            <a:avLst/>
          </a:prstGeom>
          <a:solidFill>
            <a:srgbClr val="3F6B4A"/>
          </a:solidFill>
          <a:ln/>
        </p:spPr>
      </p:sp>
      <p:sp>
        <p:nvSpPr>
          <p:cNvPr id="29" name="match-hex-label"/>
          <p:cNvSpPr txBox="1"/>
          <p:nvPr/>
        </p:nvSpPr>
        <p:spPr>
          <a:xfrm>
            <a:off x="850392" y="513019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631084"/>
            <a:ext cx="2487077" cy="13308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Brownfield site</a:t>
            </a:r>
            <a:endParaRPr lang="en-US" sz="2200" dirty="0"/>
          </a:p>
        </p:txBody>
      </p:sp>
      <p:sp>
        <p:nvSpPr>
          <p:cNvPr id="31" name="match-card"/>
          <p:cNvSpPr/>
          <p:nvPr/>
        </p:nvSpPr>
        <p:spPr>
          <a:xfrm>
            <a:off x="4224437" y="4631084"/>
            <a:ext cx="7190019" cy="1330804"/>
          </a:xfrm>
          <a:prstGeom prst="roundRect">
            <a:avLst>
              <a:gd name="adj" fmla="val 5497"/>
            </a:avLst>
          </a:prstGeom>
          <a:solidFill>
            <a:srgbClr val="F6F0E6"/>
          </a:solidFill>
          <a:ln/>
        </p:spPr>
      </p:sp>
      <p:sp>
        <p:nvSpPr>
          <p:cNvPr id="32" name="match-hex"/>
          <p:cNvSpPr/>
          <p:nvPr/>
        </p:nvSpPr>
        <p:spPr>
          <a:xfrm>
            <a:off x="4297589" y="5130193"/>
            <a:ext cx="384048" cy="332586"/>
          </a:xfrm>
          <a:prstGeom prst="hexagon">
            <a:avLst/>
          </a:prstGeom>
          <a:solidFill>
            <a:srgbClr val="B8862B"/>
          </a:solidFill>
          <a:ln/>
        </p:spPr>
      </p:sp>
      <p:sp>
        <p:nvSpPr>
          <p:cNvPr id="33" name="match-hex-label"/>
          <p:cNvSpPr txBox="1"/>
          <p:nvPr/>
        </p:nvSpPr>
        <p:spPr>
          <a:xfrm>
            <a:off x="4297589" y="513019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631084"/>
            <a:ext cx="6595659" cy="13308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zone of transition between a built-up area and the countryside, where there is often competition for land 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(2 of 2): Housing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key word from the new housing lesson to its meaning.</a:t>
            </a:r>
            <a:endParaRPr lang="en-US" sz="2200" dirty="0"/>
          </a:p>
        </p:txBody>
      </p:sp>
      <p:sp>
        <p:nvSpPr>
          <p:cNvPr id="11" name="match-card"/>
          <p:cNvSpPr/>
          <p:nvPr/>
        </p:nvSpPr>
        <p:spPr>
          <a:xfrm>
            <a:off x="777240" y="2468331"/>
            <a:ext cx="3081437" cy="1165352"/>
          </a:xfrm>
          <a:prstGeom prst="roundRect">
            <a:avLst>
              <a:gd name="adj" fmla="val 6277"/>
            </a:avLst>
          </a:prstGeom>
          <a:solidFill>
            <a:srgbClr val="F0F3F1"/>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Greenfield site</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town or village where many residents travel into a nearby city to work</a:t>
            </a:r>
            <a:endParaRPr lang="en-US" sz="2200" dirty="0"/>
          </a:p>
        </p:txBody>
      </p:sp>
      <p:sp>
        <p:nvSpPr>
          <p:cNvPr id="19" name="match-card"/>
          <p:cNvSpPr/>
          <p:nvPr/>
        </p:nvSpPr>
        <p:spPr>
          <a:xfrm>
            <a:off x="777240" y="3725123"/>
            <a:ext cx="3081437" cy="1165352"/>
          </a:xfrm>
          <a:prstGeom prst="roundRect">
            <a:avLst>
              <a:gd name="adj" fmla="val 6277"/>
            </a:avLst>
          </a:prstGeom>
          <a:solidFill>
            <a:srgbClr val="F0F3F1"/>
          </a:solidFill>
          <a:ln/>
        </p:spPr>
      </p:sp>
      <p:sp>
        <p:nvSpPr>
          <p:cNvPr id="20" name="match-hex"/>
          <p:cNvSpPr/>
          <p:nvPr/>
        </p:nvSpPr>
        <p:spPr>
          <a:xfrm>
            <a:off x="850392" y="4141507"/>
            <a:ext cx="384048" cy="332586"/>
          </a:xfrm>
          <a:prstGeom prst="hexagon">
            <a:avLst/>
          </a:prstGeom>
          <a:solidFill>
            <a:srgbClr val="3F6B4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Commuter settlement</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plot of land, often rural or on the edge of an urban area, that has not been built on before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Housing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Housing key words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terms contain field: one has never been built on (green), one has been used before (brown).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Green belt is not a field but a whole ring of protected countryside around the city.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Fringe means edge: the zone where town meets country.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Commuters are people who travel to work, so a commuter settlement is where they live.</a:t>
            </a:r>
            <a:endParaRPr lang="en-US" sz="18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Never built on; built on before; protected ring; the edge zone; where commuters live.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growth of commuter settlements on the green belt is a sign that the green belt is both working and under pressure.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Greenfield or brownfield?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Bristol needs more homes for students. Which option best explains why the city has chosen to build most of them on brownfield sites rather than greenfield sites?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Brownfield sites are in the countryside, so students get more open space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Brownfield sites are protected by the green belt, so building there is always allowed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Brownfield sites are cheaper and need no time or money to clear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Brownfield sites let people live and work in the city centre and reuse derelict land, so they reduce urban sprawl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(1 of 2): Greenfield or brownfield?</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Bristol needs more homes for students. Which option best explains why the city has chosen to build most of them on brownfield sites rather than greenfield sites?</a:t>
            </a:r>
            <a:endParaRPr lang="en-US" sz="2000" dirty="0"/>
          </a:p>
        </p:txBody>
      </p:sp>
      <p:sp>
        <p:nvSpPr>
          <p:cNvPr id="12" name="col-Support"/>
          <p:cNvSpPr/>
          <p:nvPr/>
        </p:nvSpPr>
        <p:spPr>
          <a:xfrm>
            <a:off x="548640" y="2903728"/>
            <a:ext cx="11094415" cy="3241040"/>
          </a:xfrm>
          <a:prstGeom prst="roundRect">
            <a:avLst>
              <a:gd name="adj" fmla="val 1693"/>
            </a:avLst>
          </a:prstGeom>
          <a:solidFill>
            <a:srgbClr val="ECF0ED"/>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10820095" cy="249123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Recall where each kind of site is: brownfield inside the city, greenfield on the edge.</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Recall the brownfield advantages: reuses derelict land, lets people live and work centrally, uses historic buildings.</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Recall the greenfield advantages: cheaper, nothing to clear, planned as a whole. Any option giving these to brownfield is wrong.</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Pick the option that links brownfield's advantages to reducing sprawl.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(2 of 2): Greenfield or brownfield?</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Bristol needs more homes for students. Which option best explains why the city has chosen to build most of them on brownfield sites rather than greenfield sites?</a:t>
            </a:r>
            <a:endParaRPr lang="en-US" sz="2000" dirty="0"/>
          </a:p>
        </p:txBody>
      </p:sp>
      <p:sp>
        <p:nvSpPr>
          <p:cNvPr id="12" name="col-Core"/>
          <p:cNvSpPr/>
          <p:nvPr/>
        </p:nvSpPr>
        <p:spPr>
          <a:xfrm>
            <a:off x="548640" y="2903728"/>
            <a:ext cx="5410048" cy="3241040"/>
          </a:xfrm>
          <a:prstGeom prst="roundRect">
            <a:avLst>
              <a:gd name="adj" fmla="val 1693"/>
            </a:avLst>
          </a:prstGeom>
          <a:solidFill>
            <a:srgbClr val="D5DED7"/>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32563B"/>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Which option gives brownfield its OWN advantages, not greenfield's? And which links to Bristol's aim of reducing sprawl?</a:t>
            </a:r>
            <a:endParaRPr lang="en-US" sz="2200" dirty="0"/>
          </a:p>
        </p:txBody>
      </p:sp>
      <p:sp>
        <p:nvSpPr>
          <p:cNvPr id="17" name="col-Stretch"/>
          <p:cNvSpPr/>
          <p:nvPr/>
        </p:nvSpPr>
        <p:spPr>
          <a:xfrm>
            <a:off x="6233008" y="2903728"/>
            <a:ext cx="5410048" cy="3241040"/>
          </a:xfrm>
          <a:prstGeom prst="roundRect">
            <a:avLst>
              <a:gd name="adj" fmla="val 1693"/>
            </a:avLst>
          </a:prstGeom>
          <a:solidFill>
            <a:srgbClr val="3F6B4A"/>
          </a:solidFill>
          <a:ln/>
        </p:spPr>
      </p:sp>
      <p:sp>
        <p:nvSpPr>
          <p:cNvPr id="18" name="col-hex"/>
          <p:cNvSpPr/>
          <p:nvPr/>
        </p:nvSpPr>
        <p:spPr>
          <a:xfrm>
            <a:off x="634273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Attempt to justify the use of greenfield sites for new housing at Harry Stoke and Bradley Stoke, then explain why there is considerable opposition to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unplanned growth of a city outwards into the surrounding countryside is called urban ___.</a:t>
            </a:r>
            <a:endParaRPr lang="en-US" sz="24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sprawl   ·   greening   ·   regeneration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Housing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Green belt  →  C  The area of countryside around the edge of a city with strict planning controls to stop houses being built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Rural-urban fringe  →  B  A zone of transition between a built-up area and the countryside, where there is often competition for land use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Brownfield site  →  E  Land that has been used, abandoned and now awaits reuse, often found in urban areas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Greenfield site  →  A  A plot of land, often rural or on the edge of an urban area, that has not been built on before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Commuter settlement  →  D  A town or village where many residents travel into a nearby city to work</a:t>
            </a:r>
            <a:endParaRPr lang="en-US" sz="1800" dirty="0"/>
          </a:p>
        </p:txBody>
      </p:sp>
      <p:sp>
        <p:nvSpPr>
          <p:cNvPr id="10" name="why-panel"/>
          <p:cNvSpPr/>
          <p:nvPr/>
        </p:nvSpPr>
        <p:spPr>
          <a:xfrm>
            <a:off x="7955280" y="1389888"/>
            <a:ext cx="3687775" cy="4754880"/>
          </a:xfrm>
          <a:prstGeom prst="roundRect">
            <a:avLst>
              <a:gd name="adj" fmla="val 1240"/>
            </a:avLst>
          </a:prstGeom>
          <a:solidFill>
            <a:srgbClr val="ECF0ED"/>
          </a:solidFill>
          <a:ln/>
        </p:spPr>
      </p:sp>
      <p:sp>
        <p:nvSpPr>
          <p:cNvPr id="11" name="why-hex"/>
          <p:cNvSpPr/>
          <p:nvPr/>
        </p:nvSpPr>
        <p:spPr>
          <a:xfrm>
            <a:off x="8138160" y="1572768"/>
            <a:ext cx="685800" cy="593903"/>
          </a:xfrm>
          <a:prstGeom prst="hexagon">
            <a:avLst/>
          </a:prstGeom>
          <a:solidFill>
            <a:srgbClr val="3F6B4A"/>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Green belt is the protected ring of countryside; the rural-urban fringe is the edge zone where town meets country; a greenfield site has never been built on; a brownfield site has been used and abandoned; a commuter settlement is where people live who travel into the city to work.</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Greenfield or brownfield?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Bristol needs more homes for students. Which option best explains why the city has chosen to build most of them on brownfield sites rather than greenfield sites?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Brownfield sites let people live and work in the city centre and reuse derelict land, so they reduce urban sprawl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Brownfield sites are inside the city, so building there reuses derelict land, lets people live and work centrally and takes no countryside: that is how Bristol has reduced sprawl. The downside is the time and cost of making old sites clear and safe.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unplanned growth of a city outwards into the surrounding countryside is called urban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The unplanned growth of a city outwards into the surrounding countryside is called urban sprawl.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Urban sprawl is one of Bristol's two environmental challenges, with dereliction.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Issues and Challenges: Rio de Janeiro and Bristol · Chapter 6: Bristol's challenges: dereliction, sprawl, inequality and new homes</dc:title>
  <dc:subject>Geography · Year 9</dc:subject>
  <dc:creator>Dr Vitor Merissi de Carvalho</dc:creator>
  <cp:lastModifiedBy>Dr Vitor Merissi de Carvalho</cp:lastModifiedBy>
  <cp:revision>1</cp:revision>
  <dcterms:created xsi:type="dcterms:W3CDTF">2026-10-19T06:07:48Z</dcterms:created>
  <dcterms:modified xsi:type="dcterms:W3CDTF">2026-10-19T06:07:48Z</dcterms:modified>
</cp:coreProperties>
</file>