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b0c52b2-f41e-5de5-b5fd-cca38921231d}">
          <p14:sldIdLst>
            <p14:sldId id="256"/>
          </p14:sldIdLst>
        </p14:section>
        <p14:section name="Gate" id="{5cdea80b-be80-eda8-063e-795c13ebb7fd}">
          <p14:sldIdLst>
            <p14:sldId id="257"/>
            <p14:sldId id="258"/>
          </p14:sldIdLst>
        </p14:section>
        <p14:section name="Pre-teach" id="{0030c421-40d1-1d70-57f9-ec3c5834bd25}">
          <p14:sldIdLst>
            <p14:sldId id="259"/>
            <p14:sldId id="260"/>
          </p14:sldIdLst>
        </p14:section>
        <p14:section name="Read-along" id="{0e1f0ac4-8be3-4452-17bf-c6ab0fb7cb2f}">
          <p14:sldIdLst>
            <p14:sldId id="261"/>
            <p14:sldId id="262"/>
          </p14:sldIdLst>
        </p14:section>
        <p14:section name="Teach" id="{36335e6e-457e-dedb-52b8-a6ec4a51e21a}">
          <p14:sldIdLst>
            <p14:sldId id="263"/>
            <p14:sldId id="264"/>
            <p14:sldId id="265"/>
            <p14:sldId id="266"/>
            <p14:sldId id="267"/>
          </p14:sldIdLst>
        </p14:section>
        <p14:section name="Routes" id="{c502d99e-a93e-0b57-b0f4-4ec8229c00c0}">
          <p14:sldIdLst>
            <p14:sldId id="268"/>
            <p14:sldId id="269"/>
            <p14:sldId id="270"/>
            <p14:sldId id="271"/>
          </p14:sldIdLst>
        </p14:section>
        <p14:section name="Close" id="{b0389e1b-6275-fbf2-591e-e71c2c3a045c}">
          <p14:sldIdLst>
            <p14:sldId id="272"/>
          </p14:sldIdLst>
        </p14:section>
        <p14:section name="Answers" id="{13b71fbe-c963-8ba4-b6e1-879af9755273}">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Urban change in the UK: where people live, and Bristol's opportunities. How the UK's population has grown and where it lives, why the big cities grew where they did, and how urban change in Bristol has created social, economic and environmental opportunities.
This deck covers the department's lessons: 10 (Urban change in the UK: where do people live in the UK?: How has the UK's population changed, where do people live, and why did the major cities grow where they did?); 11 (Bristol: how can urban change create social opportunities?: How has urban change in Bristol created social opportunities in culture, sport and shopping?); 12 (Bristol: how can urban change create economic opportunities?: Why did Bristol's port decline, and what attracted high-tech industries to the city?); 13 (Environmental opportunities in Bristol: How is Bristol improving its environment through energy, an integrated transport system and urban greening?).
Read the big question aloud: "As the world's cities grow, who gains, who loses, and how can a city be made a better place for everyone who lives in 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UK's population was 41 million in 1900 and 64 million in 2015. By how many million did it grow?  →  23 million
2. Which three high-tech industries did the lesson name as creating economic opportunities in Bristol?  →  D   Silicon design, Aardman Animations and aerospace
3. Bristol's plan to link different forms of transport, such as buses, trains and cycle routes, is called an ___ transport system.  →  integrated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23 million. 64 − 41 = 23 million more people in 115 years.
2. D   Silicon design, Aardman Animations and aerospace. Silicon design businesses, Aardman Animations and the aerospace industry are the three high-tech industries that have created jobs for a growing number of people.
3. integrated. Integrated means joined up: the different forms of transport work together, so people need the car less.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distribution: the way something is spread over an area. Example: "The distribution of UK cities is uneven."
• population density: the number of people living in each square kilometre. Example: "London has a very high population density."
• sparsely populated: with few people. Example: "Northern Scotland is sparsely populated."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densely populated: with many people. Example: "The south-east of England is densely populated."
• counter-urbanisation: people moving out of cities to the countryside. Example: "Retired people often take part in counter-urbanisation."
• high-tech industry: businesses that use advanced technology, such as computer chip design. Example: "Bristol has attracted high-tech industry."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UK's population grew from 41 million in 1900 to 64 million in 2015.
2. People are not spread evenly across the country.
3. 82% of people live in urban areas.
4. London and the south-east are densely populated.
5. Much of Scotland and Wales is sparsely populated.
6. Many big cities grew in the industrial revolution, near coal and iron ore.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Capital cities like London and Edinburgh grew as centres of government.
8. Ports like Liverpool and Bristol grew through trade.
9. Bristol is the UK case study for this unit.
10. Urban change there has created social opportunities in culture, sport and shopping.
11. It has created economic opportunities in high-tech industries.
12. And it has created environmental opportunities: cleaner energy, better transport and more green space.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do people live in the UK?. Say it in your own words, then check understanding with a quick question: ask a pupil from the pre-teach group first, since they met these words and ideas before the lesson. Pupils try to recall before you re-explain.
The UK's population has grown quickly, from 41 million in 1900 to 64 million in 2015, but it is not spread evenly. Distribution means the way something is spread over an area, and population density is the measurement that captures it: the number of people in an area, found by dividing the number of people by the area and given as people per square kilometre. Places with many people per square kilometre are densely populated; places with few are sparsely populated.
In the UK, 82% of people live in urban areas. London and the south-east are densely populated because of their pull factors: financial, business and cultural attractions, and jobs. Much of Scotland and Wales is sparsely populated; the lesson gives harsh climatic conditions as the reason, and the upland relief of these areas is part of the same story. The highest densities are found in the major cities, and as you move north through the UK population density generally falls, with a dense corridor between Edinburgh and Glasgow as the main exception.
The distribution will keep changing. Job opportunities attract migrants from other parts of the world to settle in the larger cities, adding an average of 243,000 people a year between 2009 and 2014. At the same time, some people move the other way, from urban to rural areas, for retirement or because city life is too expensive; this is counter-urbanisation.
Worked example — model it step by step, thinking aloud: A town has a population of 50,000 people and covers an area of 25 square kilometres. Calculate its population density. (1) Population density = number of people ÷ area. (2) 50,000 ÷ 25 = 2000. (3) Give the unit: people per square kilometre. (4) Check it is sensible: a town of 2000 people per km² is fairly dense, which fits a town. Answer: 2000 people per square kilometre.
Tip: Describe a distribution with compass directions and place names: dense in the south-east and the big cities, sparse in northern Scotland and mid Wales.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do people live in the UK?. Say it in your own words, then check understanding with a quick question: ask a pupil from the pre-teach group first, since they met these words and ideas before the lesson. Pupils try to recall before you re-explain.
The UK's population has grown quickly, from 41 million in 1900 to 64 million in 2015, but it is not spread evenly. Distribution means the way something is spread over an area, and population density is the measurement that captures it: the number of people in an area, found by dividing the number of people by the area and given as people per square kilometre. Places with many people per square kilometre are densely populated; places with few are sparsely populated.
In the UK, 82% of people live in urban areas. London and the south-east are densely populated because of their pull factors: financial, business and cultural attractions, and jobs. Much of Scotland and Wales is sparsely populated; the lesson gives harsh climatic conditions as the reason, and the upland relief of these areas is part of the same story. The highest densities are found in the major cities, and as you move north through the UK population density generally falls, with a dense corridor between Edinburgh and Glasgow as the main exception.
The distribution will keep changing. Job opportunities attract migrants from other parts of the world to settle in the larger cities, adding an average of 243,000 people a year between 2009 and 2014. At the same time, some people move the other way, from urban to rural areas, for retirement or because city life is too expensive; this is counter-urbanisation.
Worked example — model it step by step, thinking aloud: A town has a population of 50,000 people and covers an area of 25 square kilometres. Calculate its population density. (1) Population density = number of people ÷ area. (2) 50,000 ÷ 25 = 2000. (3) Give the unit: people per square kilometre. (4) Check it is sensible: a town of 2000 people per km² is fairly dense, which fits a town. Answer: 2000 people per square kilometre.
Tip: Describe a distribution with compass directions and place names: dense in the south-east and the big cities, sparse in northern Scotland and mid Wales.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major cities grew where they did. Say it in your own words, then check understanding with a quick question: ask a pupil from the pre-teach group first, since they met these words and ideas before the lesson. Pupils try to recall before you re-explain.
The twenty largest UK cities are mostly in England, with a cluster in the Midlands and the north. London is by far the biggest, with 7.2 million people in the city itself in the list the class used, followed by Birmingham with 992,000 and Leeds with 720,000; Bristol is tenth with 380,000. The population of a city depends on where you draw the line: the Greater London built-up area in the 2011 Census had 9,787,426 people, far more than the city figure. That is why two lists of UK cities can look so different.
The distribution of the cities is largely due to the industrial revolution of the eighteenth century onwards. Industries grew where there were raw materials like coal and iron ore, and people moved to live near the work: Glasgow, Newcastle, Manchester, Leeds and Cardiff all grew this way. London, Belfast, Cardiff and Edinburgh grew as capital cities, because government and administration are based in them; London in particular is a global city and a financial centre. Birmingham grew because of its central position and the industrial inventions linked to it. Trade through the ports of London, Liverpool and Bristol made those cities grow too.
Tip: Four reasons for a city's growth: raw materials (coal and iron ore), capital functions, a central position, and a port. Give one named city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Bristol: social and economic opportunities. Say it in your own words, then check understanding with a quick question: ask a pupil from the pre-teach group first, since they met these words and ideas before the lesson. Pupils try to recall before you re-explain.
Bristol is the UK city you study. Urban change there has created social opportunities in culture, with a diverse cultural mix, and in leisure and recreation, both sport and shopping. New venues, teams and shopping areas give people more to do and more reasons to visit, which raises quality of life.
The economic story starts with decline. Bristol was a traditional port town, importing tobacco from the West Indies and sherry from Bordeaux, and most jobs were in the primary and secondary sectors, building and loading ships. When the city-centre port was eventually closed to commercial use it left a huge void: unemployment and empty warehouses. Urban change has since filled that void with high-tech industries: silicon design businesses, Aardman Animations and aerospace. These industries have created jobs for a growing number of people.
Why did high-tech firms choose Bristol? A government grant of £100 million paid for super-fast broadband, giving the city the quickest download speeds in the country. Two excellent local universities producing an educated, skilled workforce, with facilities that let companies carry out advanced research. A large mix of companies able to work together on research and development. Good transport links, and a clean, unpolluted environment. One big employer, the Defence Procurement Agency, set up on a greenfield site in Bristol in 1996 with over 10,000 employees, supplying the army, air force and navy with everything from boots to aircraft. More workers needed more homes, so a private housing development, the largest in Europe, was built for around 21,000 people, and the city sprawled outwards.
Tip: The Bristol economic story has a shape: port decline, then high-tech growth. Name all three high-tech industries and at least two reasons they came.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Bristol: environmental opportunities. Say it in your own words, then check understanding with a quick question: ask a pupil from the pre-teach group first, since they met these words and ideas before the lesson. Pupils try to recall before you re-explain.
Urban change can improve the environment as well. Bristol made a plan to improve transport, energy efficiency and the use of renewable energy by 2020, along with other environmental initiatives. The lesson picked out three. First, improved energy efficiency and renewable energy development, so the city uses less energy and more of it comes from clean sources. Second, an integrated transport system, linking different forms of transport, such as buses, trains and cycle routes, so that people can leave the car at home. Third, urban greening: a policy behind many schemes to improve the city's parks, trees and gardens.
These three are the environmental opportunities you should name in a nine-mark answer about Bristol, alongside the social and economic ones. Together they let you argue that urban change has created social, economic and environmental opportunities, before you turn to the challenges in chapter 6.
Tip: Three environmental opportunities in Bristol: energy efficiency and renewables, the integrated transport system, urban greening. Learn them as a trio.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did each city grow?.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group of UK cities to the main reason for its growth.
Support — work through the steps with the group: (1) Capital cities are the easiest: which cities are the capitals of the UK's nations? (2) Coal and iron ore were in the north and in South Wales: which group is the northern industrial cities? (3) Which two cities are famous for their docks and trade? (4) The one city on its own sits in the middle of England.
Parallel worked example for Support (model it, do not give the task answer): Match: Cardiff, Hull. Choices: a port on the east coast; the capital of Wales (it also had coal nearby). Cardiff is the capital of Wales.; Hull is a port on the east coast.. Answer: Cardiff: the capital of Wales. Hull: a port on the east coast..
Core — reveal the hint only on request: Four reasons: raw materials, capital functions, trade by sea, a central position. Match the group that fits each.
Stretch — no help; when finished: Cardiff appears in two of the lesson's groups: an industrial city near coal and a capital city. Explain why a city can grow for more than one reason, and suggest which reason matters most for Cardiff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did each city grow?.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group of UK cities to the main reason for its growth.
Support — work through the steps with the group: (1) Capital cities are the easiest: which cities are the capitals of the UK's nations? (2) Coal and iron ore were in the north and in South Wales: which group is the northern industrial cities? (3) Which two cities are famous for their docks and trade? (4) The one city on its own sits in the middle of England.
Parallel worked example for Support (model it, do not give the task answer): Match: Cardiff, Hull. Choices: a port on the east coast; the capital of Wales (it also had coal nearby). Cardiff is the capital of Wales.; Hull is a port on the east coast.. Answer: Cardiff: the capital of Wales. Hull: a port on the east coast..
Core — reveal the hint only on request: Four reasons: raw materials, capital functions, trade by sea, a central position. Match the group that fits each.
Stretch — no help; when finished: Cardiff appears in two of the lesson's groups: an industrial city near coal and a capital city. Explain why a city can grow for more than one reason, and suggest which reason matters most for Cardiff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Migration and the UK's cities.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Migrants from other parts of the world have added an average of 243,000 people a year to the UK's larger cities. At that rate, how many people would be added over four years?
Support — work through the steps with the group: (1) The rate is 243,000 people for every ONE year. (2) The question asks for four years. (3) Multiply: 243,000 × 4. (4) Check: 250,000 × 4 would be a million, so the answer should be a little under a million.
Parallel worked example for Support (model it, do not give the task answer): If a city gained 20,000 people a year from migration, how many would it gain in three years? Rate 20,000 per year.; Three years.; 20,000 × 3 = 60,000.. Answer: 60,000 people.
Core — reveal the hint only on request: A yearly figure over several years means multiply. Four years, so times four.
Stretch — no help; when finished: Explain why migration into the larger cities and counter-urbanisation out of them could happen at the same time, and what each does to the population density of a city like London.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Migration and the UK's cities.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Migrants from other parts of the world have added an average of 243,000 people a year to the UK's larger cities. At that rate, how many people would be added over four years?
Support — work through the steps with the group: (1) The rate is 243,000 people for every ONE year. (2) The question asks for four years. (3) Multiply: 243,000 × 4. (4) Check: 250,000 × 4 would be a million, so the answer should be a little under a million.
Parallel worked example for Support (model it, do not give the task answer): If a city gained 20,000 people a year from migration, how many would it gain in three years? Rate 20,000 per year.; Three years.; 20,000 × 3 = 60,000.. Answer: 60,000 people.
Core — reveal the hint only on request: A yearly figure over several years means multiply. Four years, so times four.
Stretch — no help; when finished: Explain why migration into the larger cities and counter-urbanisation out of them could happen at the same time, and what each does to the population density of a city like London.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UK's population was 41 million in 1900 and 64 million in 2015. By how many million did it grow?
Answer: 23 million. 64 − 41 = 23 million more people in 115 years.
Source of this question: gate item 1 re-asked (options rotated) — this chapter has no third quick-check module.
The ebook also holds task 3, "Bristol's opportunities, sorted",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Why did each city grow?. Reveal the answer; pupils mark their own work in a different colour, then read the "why" together. Same destination for every lane, so one answer serves the whole class.
Answer: Glasgow, Newcastle, Manchester and Leeds  →  A  Industries grew near raw materials such as coal and iron ore; London, Belfast and Edinburgh  →  C  Capital cities with political and administrative functions; Liverpool and Bristol  →  B  Ports that grew through trade; Birmingham  →  D  A central position and the industrial inventions linked to it
Why: Glasgow, Newcastle, Manchester and Leeds grew near coal and iron ore; London, Belfast and Edinburgh (and Cardiff) are capitals with political and administrative functions; Liverpool and Bristol (and London) grew as trading ports; Birmingham grew because of its central position and its industrial inventions.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Migration and the UK's cities. Reveal the answer; pupils mark their own work in a different colour, then read the "why" together. Same destination for every lane, so one answer serves the whole class.
Answer: 972 000 people
Why: 243,000 a year for four years is 243,000 × 4 = 972,000. A rate per year is multiplied by the number of years. Migration is one of the factors that will keep changing where the UK's people live.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23 million
Why: 64 − 41 = 23 million more people in 115 years.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469361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Urban Issues and Challenges: Rio de Janeiro and Bristol · AQA 8035</a:t>
            </a:r>
            <a:endParaRPr lang="en-US" sz="1800" dirty="0"/>
          </a:p>
        </p:txBody>
      </p:sp>
      <p:sp>
        <p:nvSpPr>
          <p:cNvPr id="10" name="deck-title"/>
          <p:cNvSpPr txBox="1"/>
          <p:nvPr/>
        </p:nvSpPr>
        <p:spPr>
          <a:xfrm>
            <a:off x="548640" y="1776222"/>
            <a:ext cx="647669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Urban change in the UK: where people live, and Bristol's opportunities</a:t>
            </a:r>
            <a:endParaRPr lang="en-US" sz="2800" dirty="0"/>
          </a:p>
        </p:txBody>
      </p:sp>
      <p:sp>
        <p:nvSpPr>
          <p:cNvPr id="11" name="lessons-card"/>
          <p:cNvSpPr/>
          <p:nvPr/>
        </p:nvSpPr>
        <p:spPr>
          <a:xfrm>
            <a:off x="548640" y="3518662"/>
            <a:ext cx="6476695" cy="2148332"/>
          </a:xfrm>
          <a:prstGeom prst="roundRect">
            <a:avLst>
              <a:gd name="adj" fmla="val 3405"/>
            </a:avLst>
          </a:prstGeom>
          <a:solidFill>
            <a:srgbClr val="ECF0ED"/>
          </a:solidFill>
          <a:ln/>
        </p:spPr>
      </p:sp>
      <p:sp>
        <p:nvSpPr>
          <p:cNvPr id="12" name="lessons"/>
          <p:cNvSpPr txBox="1"/>
          <p:nvPr/>
        </p:nvSpPr>
        <p:spPr>
          <a:xfrm>
            <a:off x="685800" y="3610102"/>
            <a:ext cx="6202375" cy="1965452"/>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Urban change in the UK: where do people live in the UK?</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Bristol: how can urban change create social opportunities?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Bristol: how can urban change create economic opportunities?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Environmental opportunities in Bristol</a:t>
            </a:r>
            <a:endParaRPr lang="en-US" sz="1800" dirty="0"/>
          </a:p>
        </p:txBody>
      </p:sp>
      <p:sp>
        <p:nvSpPr>
          <p:cNvPr id="13" name="plate-frame"/>
          <p:cNvSpPr/>
          <p:nvPr/>
        </p:nvSpPr>
        <p:spPr>
          <a:xfrm>
            <a:off x="7436815" y="411480"/>
            <a:ext cx="4206240" cy="2462022"/>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7546543" y="521208"/>
            <a:ext cx="3986784" cy="2242566"/>
          </a:xfrm>
          <a:prstGeom prst="rect">
            <a:avLst/>
          </a:prstGeom>
        </p:spPr>
      </p:pic>
      <p:sp>
        <p:nvSpPr>
          <p:cNvPr id="15" name="plate-inner"/>
          <p:cNvSpPr/>
          <p:nvPr/>
        </p:nvSpPr>
        <p:spPr>
          <a:xfrm>
            <a:off x="7546543" y="521208"/>
            <a:ext cx="3986784" cy="2242566"/>
          </a:xfrm>
          <a:prstGeom prst="rect">
            <a:avLst/>
          </a:prstGeom>
          <a:ln w="9525">
            <a:solidFill>
              <a:srgbClr val="B8862B"/>
            </a:solidFill>
            <a:prstDash val="solid"/>
          </a:ln>
        </p:spPr>
      </p:sp>
      <p:sp>
        <p:nvSpPr>
          <p:cNvPr id="16" name="stud0"/>
          <p:cNvSpPr/>
          <p:nvPr/>
        </p:nvSpPr>
        <p:spPr>
          <a:xfrm>
            <a:off x="732708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7327087" y="2778478"/>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2778478"/>
            <a:ext cx="219456" cy="190049"/>
          </a:xfrm>
          <a:prstGeom prst="hexagon">
            <a:avLst/>
          </a:prstGeom>
          <a:solidFill>
            <a:srgbClr val="B8862B"/>
          </a:solidFill>
          <a:ln w="12700">
            <a:solidFill>
              <a:srgbClr val="FFFFFF"/>
            </a:solidFill>
            <a:prstDash val="solid"/>
          </a:ln>
        </p:spPr>
      </p:sp>
      <p:sp>
        <p:nvSpPr>
          <p:cNvPr id="20" name="bq-card"/>
          <p:cNvSpPr/>
          <p:nvPr/>
        </p:nvSpPr>
        <p:spPr>
          <a:xfrm>
            <a:off x="7436815" y="3147822"/>
            <a:ext cx="4206240" cy="2722626"/>
          </a:xfrm>
          <a:prstGeom prst="roundRect">
            <a:avLst>
              <a:gd name="adj" fmla="val 2687"/>
            </a:avLst>
          </a:prstGeom>
          <a:solidFill>
            <a:srgbClr val="ECF0ED"/>
          </a:solidFill>
          <a:ln w="12700">
            <a:solidFill>
              <a:srgbClr val="B2C4B7"/>
            </a:solidFill>
            <a:prstDash val="solid"/>
          </a:ln>
        </p:spPr>
      </p:sp>
      <p:sp>
        <p:nvSpPr>
          <p:cNvPr id="21" name="bq-hex"/>
          <p:cNvSpPr/>
          <p:nvPr/>
        </p:nvSpPr>
        <p:spPr>
          <a:xfrm>
            <a:off x="7601407" y="3330702"/>
            <a:ext cx="621792" cy="538472"/>
          </a:xfrm>
          <a:prstGeom prst="hexagon">
            <a:avLst/>
          </a:prstGeom>
          <a:solidFill>
            <a:srgbClr val="B8862B"/>
          </a:solidFill>
          <a:ln/>
        </p:spPr>
      </p:sp>
      <p:sp>
        <p:nvSpPr>
          <p:cNvPr id="22" name="bq-hex-label"/>
          <p:cNvSpPr txBox="1"/>
          <p:nvPr/>
        </p:nvSpPr>
        <p:spPr>
          <a:xfrm>
            <a:off x="7601407" y="3330702"/>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8332927" y="3239262"/>
            <a:ext cx="3200400" cy="2539746"/>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As the world's cities grow, who gains, who loses, and how can a city be made a better place for everyone who lives in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UK's population was 41 million in 1900 and 64 million in 2015. By how many million did it grow?</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million</a:t>
            </a:r>
            <a:endParaRPr lang="en-US" sz="2200" dirty="0"/>
          </a:p>
        </p:txBody>
      </p:sp>
      <p:sp>
        <p:nvSpPr>
          <p:cNvPr id="12" name="card"/>
          <p:cNvSpPr/>
          <p:nvPr/>
        </p:nvSpPr>
        <p:spPr>
          <a:xfrm>
            <a:off x="3459404" y="1389888"/>
            <a:ext cx="5272888" cy="4754880"/>
          </a:xfrm>
          <a:prstGeom prst="roundRect">
            <a:avLst>
              <a:gd name="adj" fmla="val 1154"/>
            </a:avLst>
          </a:prstGeom>
          <a:solidFill>
            <a:srgbClr val="F2F5F2"/>
          </a:solidFill>
          <a:ln w="12700">
            <a:solidFill>
              <a:srgbClr val="BCCBC0"/>
            </a:solidFill>
            <a:prstDash val="solid"/>
          </a:ln>
        </p:spPr>
      </p:sp>
      <p:sp>
        <p:nvSpPr>
          <p:cNvPr id="13" name="card-hex"/>
          <p:cNvSpPr/>
          <p:nvPr/>
        </p:nvSpPr>
        <p:spPr>
          <a:xfrm>
            <a:off x="3642284" y="1572768"/>
            <a:ext cx="640080" cy="554309"/>
          </a:xfrm>
          <a:prstGeom prst="hexagon">
            <a:avLst/>
          </a:prstGeom>
          <a:solidFill>
            <a:srgbClr val="3F6B4A"/>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three high-tech industries did the lesson name as creating economic opportunities in Bristol?</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Farming, fishing and forestry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Coal mining, steel and textiles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Shipbuilding, tobacco and sherry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Silicon design, Aardman Animations and aerospace</a:t>
            </a:r>
            <a:endParaRPr lang="en-US" sz="2400" dirty="0"/>
          </a:p>
        </p:txBody>
      </p:sp>
      <p:sp>
        <p:nvSpPr>
          <p:cNvPr id="17"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18" name="card-hex"/>
          <p:cNvSpPr/>
          <p:nvPr/>
        </p:nvSpPr>
        <p:spPr>
          <a:xfrm>
            <a:off x="9189491" y="1572768"/>
            <a:ext cx="640080" cy="554309"/>
          </a:xfrm>
          <a:prstGeom prst="hexagon">
            <a:avLst/>
          </a:prstGeom>
          <a:solidFill>
            <a:srgbClr val="3F6B4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Bristol's plan to link different forms of transport, such as buses, trains and cycle routes, is called an ___ transport system.</a:t>
            </a:r>
            <a:endParaRPr lang="en-US" sz="2000" dirty="0"/>
          </a:p>
          <a:p>
            <a:pPr algn="l" indent="0" marL="0">
              <a:buNone/>
            </a:pPr>
            <a:r>
              <a:rPr lang="en-US" sz="2000" b="1" dirty="0">
                <a:solidFill>
                  <a:srgbClr val="3F6B4A"/>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integrated  ·  informal  ·  industrial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23 million</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UK's population was 41 million in 1900 and 64 million in 2015. By how many million did it grow?</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64 − 41 = 23 million more people in 115 years.</a:t>
            </a:r>
            <a:endParaRPr lang="en-US" sz="1800" dirty="0"/>
          </a:p>
        </p:txBody>
      </p:sp>
      <p:sp>
        <p:nvSpPr>
          <p:cNvPr id="14" name="card"/>
          <p:cNvSpPr/>
          <p:nvPr/>
        </p:nvSpPr>
        <p:spPr>
          <a:xfrm>
            <a:off x="3459404" y="1389888"/>
            <a:ext cx="5272888" cy="4754880"/>
          </a:xfrm>
          <a:prstGeom prst="roundRect">
            <a:avLst>
              <a:gd name="adj" fmla="val 1154"/>
            </a:avLst>
          </a:prstGeom>
          <a:solidFill>
            <a:srgbClr val="F2F5F2"/>
          </a:solidFill>
          <a:ln w="12700">
            <a:solidFill>
              <a:srgbClr val="BCCBC0"/>
            </a:solidFill>
            <a:prstDash val="solid"/>
          </a:ln>
        </p:spPr>
      </p:sp>
      <p:sp>
        <p:nvSpPr>
          <p:cNvPr id="15" name="card-hex"/>
          <p:cNvSpPr/>
          <p:nvPr/>
        </p:nvSpPr>
        <p:spPr>
          <a:xfrm>
            <a:off x="3642284" y="1572768"/>
            <a:ext cx="640080" cy="554309"/>
          </a:xfrm>
          <a:prstGeom prst="hexagon">
            <a:avLst/>
          </a:prstGeom>
          <a:solidFill>
            <a:srgbClr val="3F6B4A"/>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955040"/>
          </a:xfrm>
          <a:prstGeom prst="roundRect">
            <a:avLst>
              <a:gd name="adj" fmla="val 11489"/>
            </a:avLst>
          </a:prstGeom>
          <a:solidFill>
            <a:srgbClr val="EDE1CA"/>
          </a:solidFill>
          <a:ln w="19050">
            <a:solidFill>
              <a:srgbClr val="B8862B"/>
            </a:solidFill>
            <a:prstDash val="solid"/>
          </a:ln>
        </p:spPr>
      </p:sp>
      <p:sp>
        <p:nvSpPr>
          <p:cNvPr id="19" name="answer"/>
          <p:cNvSpPr txBox="1"/>
          <p:nvPr/>
        </p:nvSpPr>
        <p:spPr>
          <a:xfrm>
            <a:off x="3733724"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Silicon design, Aardman Animations and aerospace</a:t>
            </a:r>
            <a:endParaRPr lang="en-US" sz="2200" dirty="0"/>
          </a:p>
        </p:txBody>
      </p:sp>
      <p:sp>
        <p:nvSpPr>
          <p:cNvPr id="20" name="card-body"/>
          <p:cNvSpPr txBox="1"/>
          <p:nvPr/>
        </p:nvSpPr>
        <p:spPr>
          <a:xfrm>
            <a:off x="3642284"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three high-tech industries did the lesson name as creating economic opportunities in Bristol?</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Silicon design businesses, Aardman Animations and the aerospace industry are the three high-tech industries that have created jobs for a growing number of people.</a:t>
            </a:r>
            <a:endParaRPr lang="en-US" sz="1800" dirty="0"/>
          </a:p>
        </p:txBody>
      </p:sp>
      <p:sp>
        <p:nvSpPr>
          <p:cNvPr id="21"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22" name="card-hex"/>
          <p:cNvSpPr/>
          <p:nvPr/>
        </p:nvSpPr>
        <p:spPr>
          <a:xfrm>
            <a:off x="9189491" y="1572768"/>
            <a:ext cx="640080" cy="554309"/>
          </a:xfrm>
          <a:prstGeom prst="hexagon">
            <a:avLst/>
          </a:prstGeom>
          <a:solidFill>
            <a:srgbClr val="3F6B4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integrated</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Integrated means joined up: the different forms of transport work together, so people need the car less.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distribution</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way something is spread over an area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distribution of UK cities is uneven.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population density</a:t>
            </a:r>
            <a:endParaRPr lang="en-US" sz="2600" dirty="0"/>
          </a:p>
        </p:txBody>
      </p:sp>
      <p:sp>
        <p:nvSpPr>
          <p:cNvPr id="17" name="word-rule"/>
          <p:cNvSpPr/>
          <p:nvPr/>
        </p:nvSpPr>
        <p:spPr>
          <a:xfrm>
            <a:off x="4521098" y="2558288"/>
            <a:ext cx="3149498" cy="0"/>
          </a:xfrm>
          <a:prstGeom prst="line">
            <a:avLst/>
          </a:prstGeom>
          <a:ln w="12700">
            <a:solidFill>
              <a:srgbClr val="B2C4B7"/>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number of people living in each square kilometre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London has a very high population density.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sparsely populated</a:t>
            </a:r>
            <a:endParaRPr lang="en-US" sz="2600" dirty="0"/>
          </a:p>
        </p:txBody>
      </p:sp>
      <p:sp>
        <p:nvSpPr>
          <p:cNvPr id="23" name="word-rule"/>
          <p:cNvSpPr/>
          <p:nvPr/>
        </p:nvSpPr>
        <p:spPr>
          <a:xfrm>
            <a:off x="8310677" y="2558288"/>
            <a:ext cx="3149498" cy="0"/>
          </a:xfrm>
          <a:prstGeom prst="line">
            <a:avLst/>
          </a:prstGeom>
          <a:ln w="12700">
            <a:solidFill>
              <a:srgbClr val="B2C4B7"/>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with few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Northern Scotland is sparsely populated.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densely populated</a:t>
            </a:r>
            <a:endParaRPr lang="en-US" sz="2600" dirty="0"/>
          </a:p>
        </p:txBody>
      </p:sp>
      <p:sp>
        <p:nvSpPr>
          <p:cNvPr id="11" name="word-rule"/>
          <p:cNvSpPr/>
          <p:nvPr/>
        </p:nvSpPr>
        <p:spPr>
          <a:xfrm>
            <a:off x="731520" y="2558288"/>
            <a:ext cx="3149498" cy="0"/>
          </a:xfrm>
          <a:prstGeom prst="line">
            <a:avLst/>
          </a:prstGeom>
          <a:ln w="12700">
            <a:solidFill>
              <a:srgbClr val="B2C4B7"/>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with many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south-east of England is densely populated.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counter-urbanisation</a:t>
            </a:r>
            <a:endParaRPr lang="en-US" sz="2600" dirty="0"/>
          </a:p>
        </p:txBody>
      </p:sp>
      <p:sp>
        <p:nvSpPr>
          <p:cNvPr id="17" name="word-rule"/>
          <p:cNvSpPr/>
          <p:nvPr/>
        </p:nvSpPr>
        <p:spPr>
          <a:xfrm>
            <a:off x="4521098" y="2558288"/>
            <a:ext cx="3149498" cy="0"/>
          </a:xfrm>
          <a:prstGeom prst="line">
            <a:avLst/>
          </a:prstGeom>
          <a:ln w="12700">
            <a:solidFill>
              <a:srgbClr val="B2C4B7"/>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people moving out of cities to the countryside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Retired people often take part in counter-urbanisation.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high-tech industry</a:t>
            </a:r>
            <a:endParaRPr lang="en-US" sz="2600" dirty="0"/>
          </a:p>
        </p:txBody>
      </p:sp>
      <p:sp>
        <p:nvSpPr>
          <p:cNvPr id="23" name="word-rule"/>
          <p:cNvSpPr/>
          <p:nvPr/>
        </p:nvSpPr>
        <p:spPr>
          <a:xfrm>
            <a:off x="8310677" y="2558288"/>
            <a:ext cx="3149498" cy="0"/>
          </a:xfrm>
          <a:prstGeom prst="line">
            <a:avLst/>
          </a:prstGeom>
          <a:ln w="12700">
            <a:solidFill>
              <a:srgbClr val="B2C4B7"/>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businesses that use advanced technology, such as computer chip design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Bristol has attracted high-tech industry.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UK's population grew from 41 million in 1900 to 64 million in 2015.</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are not spread evenly across the country.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82% of people live in urban areas.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London and the south-east are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densely populated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Much of Scotland and Wales is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sparsely populated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big cities grew in the industrial revolution, near coal and iron ore.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Capital cities like London and Edinburgh grew as centres of government.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Ports like Liverpool and Bristol grew through trade.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Bristol is the UK case study for this unit.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Urban change there has created social opportunities in culture, sport and shopping.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has created economic opportunities in high-tech industries.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And it has created environmental opportunities: cleaner energy, better transport and more green space.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do people live in the UK?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a distribution with compass directions and place names: dense in the south-east and the big cities, sparse in northern Scotland and mid Wales.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UK's population has grown quickly, from 41 million in 1900 to 64 million in 2015, but it is not spread evenly.</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the UK, 82% of people live in urban areas.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distribution will keep changing. Job opportunities attract migrants from other parts of the world to settle in the larger cities, adding an average of 243,000 people a year between 2009 and 2014.</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Where do people live in the UK?</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town has a population of 50,000 people and covers an area of 25 square kilometres. Calculate its population density.</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Population density = number of people ÷ area.</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50,000 ÷ 25 = 2000.</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the unit: people per square kilometre.</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it is sensible: a town of 2000 people per km² is fairly dense, which fits a town.</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2000 people per square kilometre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Why the major cities grew where they did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reasons for a city's growth: raw materials (coal and iron ore), capital functions, a central position, and a port. Give one named city for each.</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twenty largest UK cities are mostly in England, with a cluster in the Midlands and the north.</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distribution of the cities is largely due to the industrial revolution of the eighteenth century onwards.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Bristol: social and economic opportunities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Bristol economic story has a shape: port decline, then high-tech growth. Name all three high-tech industries and at least two reasons they came.</a:t>
            </a:r>
            <a:endParaRPr lang="en-US" sz="1800" dirty="0"/>
          </a:p>
        </p:txBody>
      </p:sp>
      <p:sp>
        <p:nvSpPr>
          <p:cNvPr id="11" name="bullet-card"/>
          <p:cNvSpPr/>
          <p:nvPr/>
        </p:nvSpPr>
        <p:spPr>
          <a:xfrm>
            <a:off x="548640" y="1389888"/>
            <a:ext cx="11094415" cy="1244769"/>
          </a:xfrm>
          <a:prstGeom prst="roundRect">
            <a:avLst>
              <a:gd name="adj" fmla="val 5877"/>
            </a:avLst>
          </a:prstGeom>
          <a:solidFill>
            <a:srgbClr val="F0F3F1"/>
          </a:solidFill>
          <a:ln/>
        </p:spPr>
      </p:sp>
      <p:sp>
        <p:nvSpPr>
          <p:cNvPr id="12" name="bullet-hex"/>
          <p:cNvSpPr/>
          <p:nvPr/>
        </p:nvSpPr>
        <p:spPr>
          <a:xfrm>
            <a:off x="676656" y="1845980"/>
            <a:ext cx="384048" cy="332586"/>
          </a:xfrm>
          <a:prstGeom prst="hexagon">
            <a:avLst/>
          </a:prstGeom>
          <a:solidFill>
            <a:srgbClr val="3F6B4A"/>
          </a:solidFill>
          <a:ln/>
        </p:spPr>
      </p:sp>
      <p:sp>
        <p:nvSpPr>
          <p:cNvPr id="13" name="bullet"/>
          <p:cNvSpPr txBox="1"/>
          <p:nvPr/>
        </p:nvSpPr>
        <p:spPr>
          <a:xfrm>
            <a:off x="1143000" y="1389888"/>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Bristol is the UK city you study. Urban change there has created social opportunities in culture, with a diverse cultural mix, and in leisure and recreation, both sport and shopping.</a:t>
            </a:r>
            <a:endParaRPr lang="en-US" sz="2200" dirty="0"/>
          </a:p>
        </p:txBody>
      </p:sp>
      <p:sp>
        <p:nvSpPr>
          <p:cNvPr id="14" name="bullet-card"/>
          <p:cNvSpPr/>
          <p:nvPr/>
        </p:nvSpPr>
        <p:spPr>
          <a:xfrm>
            <a:off x="548640" y="2780961"/>
            <a:ext cx="11094415" cy="1244769"/>
          </a:xfrm>
          <a:prstGeom prst="roundRect">
            <a:avLst>
              <a:gd name="adj" fmla="val 5877"/>
            </a:avLst>
          </a:prstGeom>
          <a:solidFill>
            <a:srgbClr val="F0F3F1"/>
          </a:solidFill>
          <a:ln/>
        </p:spPr>
      </p:sp>
      <p:sp>
        <p:nvSpPr>
          <p:cNvPr id="15" name="bullet-hex"/>
          <p:cNvSpPr/>
          <p:nvPr/>
        </p:nvSpPr>
        <p:spPr>
          <a:xfrm>
            <a:off x="676656" y="3237053"/>
            <a:ext cx="384048" cy="332586"/>
          </a:xfrm>
          <a:prstGeom prst="hexagon">
            <a:avLst/>
          </a:prstGeom>
          <a:solidFill>
            <a:srgbClr val="B8862B"/>
          </a:solidFill>
          <a:ln/>
        </p:spPr>
      </p:sp>
      <p:sp>
        <p:nvSpPr>
          <p:cNvPr id="16" name="bullet"/>
          <p:cNvSpPr txBox="1"/>
          <p:nvPr/>
        </p:nvSpPr>
        <p:spPr>
          <a:xfrm>
            <a:off x="1143000" y="2780961"/>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economic story starts with decline. Bristol was a traditional port town, importing tobacco from the West Indies and sherry from Bordeaux, and most jobs were in the primary and secondary sectors, building and loading ships.</a:t>
            </a:r>
            <a:endParaRPr lang="en-US" sz="2200" dirty="0"/>
          </a:p>
        </p:txBody>
      </p:sp>
      <p:sp>
        <p:nvSpPr>
          <p:cNvPr id="17" name="bullet-card"/>
          <p:cNvSpPr/>
          <p:nvPr/>
        </p:nvSpPr>
        <p:spPr>
          <a:xfrm>
            <a:off x="548640" y="4172035"/>
            <a:ext cx="11094415" cy="903901"/>
          </a:xfrm>
          <a:prstGeom prst="roundRect">
            <a:avLst>
              <a:gd name="adj" fmla="val 8093"/>
            </a:avLst>
          </a:prstGeom>
          <a:solidFill>
            <a:srgbClr val="F0F3F1"/>
          </a:solidFill>
          <a:ln/>
        </p:spPr>
      </p:sp>
      <p:sp>
        <p:nvSpPr>
          <p:cNvPr id="18" name="bullet-hex"/>
          <p:cNvSpPr/>
          <p:nvPr/>
        </p:nvSpPr>
        <p:spPr>
          <a:xfrm>
            <a:off x="676656" y="4457693"/>
            <a:ext cx="384048" cy="332586"/>
          </a:xfrm>
          <a:prstGeom prst="hexagon">
            <a:avLst/>
          </a:prstGeom>
          <a:solidFill>
            <a:srgbClr val="3F6B4A"/>
          </a:solidFill>
          <a:ln/>
        </p:spPr>
      </p:sp>
      <p:sp>
        <p:nvSpPr>
          <p:cNvPr id="19" name="bullet"/>
          <p:cNvSpPr txBox="1"/>
          <p:nvPr/>
        </p:nvSpPr>
        <p:spPr>
          <a:xfrm>
            <a:off x="1143000" y="4172035"/>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Why did high-tech firms choose Bristol? A government grant of £100 million paid for super-fast broadband, giving the city the quickest download speeds in the country.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Bristol: environmental opportunities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environmental opportunities in Bristol: energy efficiency and renewables, the integrated transport system, urban greening. Learn them as a trio.</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Urban change can improve the environment as well. Bristol made a plan to improve transport, energy efficiency and the use of renewable energy by 2020, along with other environmental initiatives.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These three are the environmental opportunities you should name in a nine-mark answer about Bristol, alongside the social and economic ones.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Why did each city grow?</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group of UK cities to the main reason for its growth.</a:t>
            </a:r>
            <a:endParaRPr lang="en-US" sz="2200" dirty="0"/>
          </a:p>
        </p:txBody>
      </p:sp>
      <p:sp>
        <p:nvSpPr>
          <p:cNvPr id="11" name="match-card"/>
          <p:cNvSpPr/>
          <p:nvPr/>
        </p:nvSpPr>
        <p:spPr>
          <a:xfrm>
            <a:off x="777240" y="2468331"/>
            <a:ext cx="4213930" cy="877199"/>
          </a:xfrm>
          <a:prstGeom prst="roundRect">
            <a:avLst>
              <a:gd name="adj" fmla="val 8339"/>
            </a:avLst>
          </a:prstGeom>
          <a:solidFill>
            <a:srgbClr val="F0F3F1"/>
          </a:solidFill>
          <a:ln/>
        </p:spPr>
      </p:sp>
      <p:sp>
        <p:nvSpPr>
          <p:cNvPr id="12" name="match-hex"/>
          <p:cNvSpPr/>
          <p:nvPr/>
        </p:nvSpPr>
        <p:spPr>
          <a:xfrm>
            <a:off x="850392" y="2740638"/>
            <a:ext cx="384048" cy="332586"/>
          </a:xfrm>
          <a:prstGeom prst="hexagon">
            <a:avLst/>
          </a:prstGeom>
          <a:solidFill>
            <a:srgbClr val="3F6B4A"/>
          </a:solidFill>
          <a:ln/>
        </p:spPr>
      </p:sp>
      <p:sp>
        <p:nvSpPr>
          <p:cNvPr id="13" name="match-hex-label"/>
          <p:cNvSpPr txBox="1"/>
          <p:nvPr/>
        </p:nvSpPr>
        <p:spPr>
          <a:xfrm>
            <a:off x="850392"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3619570"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Glasgow, Newcastle, Manchester and Leeds</a:t>
            </a:r>
            <a:endParaRPr lang="en-US" sz="2000" dirty="0"/>
          </a:p>
        </p:txBody>
      </p:sp>
      <p:sp>
        <p:nvSpPr>
          <p:cNvPr id="15" name="match-card"/>
          <p:cNvSpPr/>
          <p:nvPr/>
        </p:nvSpPr>
        <p:spPr>
          <a:xfrm>
            <a:off x="5356930" y="2468331"/>
            <a:ext cx="6057525" cy="877199"/>
          </a:xfrm>
          <a:prstGeom prst="roundRect">
            <a:avLst>
              <a:gd name="adj" fmla="val 8339"/>
            </a:avLst>
          </a:prstGeom>
          <a:solidFill>
            <a:srgbClr val="F6F0E6"/>
          </a:solidFill>
          <a:ln/>
        </p:spPr>
      </p:sp>
      <p:sp>
        <p:nvSpPr>
          <p:cNvPr id="16" name="match-hex"/>
          <p:cNvSpPr/>
          <p:nvPr/>
        </p:nvSpPr>
        <p:spPr>
          <a:xfrm>
            <a:off x="5430082" y="2740638"/>
            <a:ext cx="384048" cy="332586"/>
          </a:xfrm>
          <a:prstGeom prst="hexagon">
            <a:avLst/>
          </a:prstGeom>
          <a:solidFill>
            <a:srgbClr val="B8862B"/>
          </a:solidFill>
          <a:ln/>
        </p:spPr>
      </p:sp>
      <p:sp>
        <p:nvSpPr>
          <p:cNvPr id="17" name="match-hex-label"/>
          <p:cNvSpPr txBox="1"/>
          <p:nvPr/>
        </p:nvSpPr>
        <p:spPr>
          <a:xfrm>
            <a:off x="5430082"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878138" y="2468331"/>
            <a:ext cx="5463165"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Industries grew near raw materials such as coal and iron ore</a:t>
            </a:r>
            <a:endParaRPr lang="en-US" sz="2000" dirty="0"/>
          </a:p>
        </p:txBody>
      </p:sp>
      <p:sp>
        <p:nvSpPr>
          <p:cNvPr id="19" name="match-card"/>
          <p:cNvSpPr/>
          <p:nvPr/>
        </p:nvSpPr>
        <p:spPr>
          <a:xfrm>
            <a:off x="777240" y="3436971"/>
            <a:ext cx="4213930" cy="587639"/>
          </a:xfrm>
          <a:prstGeom prst="roundRect">
            <a:avLst>
              <a:gd name="adj" fmla="val 12448"/>
            </a:avLst>
          </a:prstGeom>
          <a:solidFill>
            <a:srgbClr val="F0F3F1"/>
          </a:solidFill>
          <a:ln/>
        </p:spPr>
      </p:sp>
      <p:sp>
        <p:nvSpPr>
          <p:cNvPr id="20" name="match-hex"/>
          <p:cNvSpPr/>
          <p:nvPr/>
        </p:nvSpPr>
        <p:spPr>
          <a:xfrm>
            <a:off x="850392" y="3564497"/>
            <a:ext cx="384048" cy="332586"/>
          </a:xfrm>
          <a:prstGeom prst="hexagon">
            <a:avLst/>
          </a:prstGeom>
          <a:solidFill>
            <a:srgbClr val="3F6B4A"/>
          </a:solidFill>
          <a:ln/>
        </p:spPr>
      </p:sp>
      <p:sp>
        <p:nvSpPr>
          <p:cNvPr id="21" name="match-hex-label"/>
          <p:cNvSpPr txBox="1"/>
          <p:nvPr/>
        </p:nvSpPr>
        <p:spPr>
          <a:xfrm>
            <a:off x="850392" y="35644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36971"/>
            <a:ext cx="3619570"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London, Belfast and Edinburgh</a:t>
            </a:r>
            <a:endParaRPr lang="en-US" sz="2000" dirty="0"/>
          </a:p>
        </p:txBody>
      </p:sp>
      <p:sp>
        <p:nvSpPr>
          <p:cNvPr id="23" name="match-card"/>
          <p:cNvSpPr/>
          <p:nvPr/>
        </p:nvSpPr>
        <p:spPr>
          <a:xfrm>
            <a:off x="5356930" y="3436971"/>
            <a:ext cx="6057525" cy="587639"/>
          </a:xfrm>
          <a:prstGeom prst="roundRect">
            <a:avLst>
              <a:gd name="adj" fmla="val 12448"/>
            </a:avLst>
          </a:prstGeom>
          <a:solidFill>
            <a:srgbClr val="F6F0E6"/>
          </a:solidFill>
          <a:ln/>
        </p:spPr>
      </p:sp>
      <p:sp>
        <p:nvSpPr>
          <p:cNvPr id="24" name="match-hex"/>
          <p:cNvSpPr/>
          <p:nvPr/>
        </p:nvSpPr>
        <p:spPr>
          <a:xfrm>
            <a:off x="5430082" y="3564497"/>
            <a:ext cx="384048" cy="332586"/>
          </a:xfrm>
          <a:prstGeom prst="hexagon">
            <a:avLst/>
          </a:prstGeom>
          <a:solidFill>
            <a:srgbClr val="B8862B"/>
          </a:solidFill>
          <a:ln/>
        </p:spPr>
      </p:sp>
      <p:sp>
        <p:nvSpPr>
          <p:cNvPr id="25" name="match-hex-label"/>
          <p:cNvSpPr txBox="1"/>
          <p:nvPr/>
        </p:nvSpPr>
        <p:spPr>
          <a:xfrm>
            <a:off x="5430082" y="35644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878138" y="3436971"/>
            <a:ext cx="5463165"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Ports that grew through trade</a:t>
            </a:r>
            <a:endParaRPr lang="en-US" sz="2000" dirty="0"/>
          </a:p>
        </p:txBody>
      </p:sp>
      <p:sp>
        <p:nvSpPr>
          <p:cNvPr id="27" name="match-card"/>
          <p:cNvSpPr/>
          <p:nvPr/>
        </p:nvSpPr>
        <p:spPr>
          <a:xfrm>
            <a:off x="777240" y="4116050"/>
            <a:ext cx="4213930" cy="877199"/>
          </a:xfrm>
          <a:prstGeom prst="roundRect">
            <a:avLst>
              <a:gd name="adj" fmla="val 8339"/>
            </a:avLst>
          </a:prstGeom>
          <a:solidFill>
            <a:srgbClr val="F0F3F1"/>
          </a:solidFill>
          <a:ln/>
        </p:spPr>
      </p:sp>
      <p:sp>
        <p:nvSpPr>
          <p:cNvPr id="28" name="match-hex"/>
          <p:cNvSpPr/>
          <p:nvPr/>
        </p:nvSpPr>
        <p:spPr>
          <a:xfrm>
            <a:off x="850392" y="4388356"/>
            <a:ext cx="384048" cy="332586"/>
          </a:xfrm>
          <a:prstGeom prst="hexagon">
            <a:avLst/>
          </a:prstGeom>
          <a:solidFill>
            <a:srgbClr val="3F6B4A"/>
          </a:solidFill>
          <a:ln/>
        </p:spPr>
      </p:sp>
      <p:sp>
        <p:nvSpPr>
          <p:cNvPr id="29" name="match-hex-label"/>
          <p:cNvSpPr txBox="1"/>
          <p:nvPr/>
        </p:nvSpPr>
        <p:spPr>
          <a:xfrm>
            <a:off x="850392"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116050"/>
            <a:ext cx="3619570"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Liverpool and Bristol</a:t>
            </a:r>
            <a:endParaRPr lang="en-US" sz="2000" dirty="0"/>
          </a:p>
        </p:txBody>
      </p:sp>
      <p:sp>
        <p:nvSpPr>
          <p:cNvPr id="31" name="match-card"/>
          <p:cNvSpPr/>
          <p:nvPr/>
        </p:nvSpPr>
        <p:spPr>
          <a:xfrm>
            <a:off x="5356930" y="4116050"/>
            <a:ext cx="6057525" cy="877199"/>
          </a:xfrm>
          <a:prstGeom prst="roundRect">
            <a:avLst>
              <a:gd name="adj" fmla="val 8339"/>
            </a:avLst>
          </a:prstGeom>
          <a:solidFill>
            <a:srgbClr val="F6F0E6"/>
          </a:solidFill>
          <a:ln/>
        </p:spPr>
      </p:sp>
      <p:sp>
        <p:nvSpPr>
          <p:cNvPr id="32" name="match-hex"/>
          <p:cNvSpPr/>
          <p:nvPr/>
        </p:nvSpPr>
        <p:spPr>
          <a:xfrm>
            <a:off x="5430082" y="4388356"/>
            <a:ext cx="384048" cy="332586"/>
          </a:xfrm>
          <a:prstGeom prst="hexagon">
            <a:avLst/>
          </a:prstGeom>
          <a:solidFill>
            <a:srgbClr val="B8862B"/>
          </a:solidFill>
          <a:ln/>
        </p:spPr>
      </p:sp>
      <p:sp>
        <p:nvSpPr>
          <p:cNvPr id="33" name="match-hex-label"/>
          <p:cNvSpPr txBox="1"/>
          <p:nvPr/>
        </p:nvSpPr>
        <p:spPr>
          <a:xfrm>
            <a:off x="5430082"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878138" y="4116050"/>
            <a:ext cx="5463165"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Capital cities with political and administrative functions</a:t>
            </a:r>
            <a:endParaRPr lang="en-US" sz="2000" dirty="0"/>
          </a:p>
        </p:txBody>
      </p:sp>
      <p:sp>
        <p:nvSpPr>
          <p:cNvPr id="35" name="match-card"/>
          <p:cNvSpPr/>
          <p:nvPr/>
        </p:nvSpPr>
        <p:spPr>
          <a:xfrm>
            <a:off x="777240" y="5084689"/>
            <a:ext cx="4213930" cy="877199"/>
          </a:xfrm>
          <a:prstGeom prst="roundRect">
            <a:avLst>
              <a:gd name="adj" fmla="val 8339"/>
            </a:avLst>
          </a:prstGeom>
          <a:solidFill>
            <a:srgbClr val="F0F3F1"/>
          </a:solidFill>
          <a:ln/>
        </p:spPr>
      </p:sp>
      <p:sp>
        <p:nvSpPr>
          <p:cNvPr id="36" name="match-hex"/>
          <p:cNvSpPr/>
          <p:nvPr/>
        </p:nvSpPr>
        <p:spPr>
          <a:xfrm>
            <a:off x="850392" y="5356996"/>
            <a:ext cx="384048" cy="332586"/>
          </a:xfrm>
          <a:prstGeom prst="hexagon">
            <a:avLst/>
          </a:prstGeom>
          <a:solidFill>
            <a:srgbClr val="3F6B4A"/>
          </a:solidFill>
          <a:ln/>
        </p:spPr>
      </p:sp>
      <p:sp>
        <p:nvSpPr>
          <p:cNvPr id="37" name="match-hex-label"/>
          <p:cNvSpPr txBox="1"/>
          <p:nvPr/>
        </p:nvSpPr>
        <p:spPr>
          <a:xfrm>
            <a:off x="850392"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84689"/>
            <a:ext cx="3619570"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Birmingham</a:t>
            </a:r>
            <a:endParaRPr lang="en-US" sz="2000" dirty="0"/>
          </a:p>
        </p:txBody>
      </p:sp>
      <p:sp>
        <p:nvSpPr>
          <p:cNvPr id="39" name="match-card"/>
          <p:cNvSpPr/>
          <p:nvPr/>
        </p:nvSpPr>
        <p:spPr>
          <a:xfrm>
            <a:off x="5356930" y="5084689"/>
            <a:ext cx="6057525" cy="877199"/>
          </a:xfrm>
          <a:prstGeom prst="roundRect">
            <a:avLst>
              <a:gd name="adj" fmla="val 8339"/>
            </a:avLst>
          </a:prstGeom>
          <a:solidFill>
            <a:srgbClr val="F6F0E6"/>
          </a:solidFill>
          <a:ln/>
        </p:spPr>
      </p:sp>
      <p:sp>
        <p:nvSpPr>
          <p:cNvPr id="40" name="match-hex"/>
          <p:cNvSpPr/>
          <p:nvPr/>
        </p:nvSpPr>
        <p:spPr>
          <a:xfrm>
            <a:off x="5430082" y="5356996"/>
            <a:ext cx="384048" cy="332586"/>
          </a:xfrm>
          <a:prstGeom prst="hexagon">
            <a:avLst/>
          </a:prstGeom>
          <a:solidFill>
            <a:srgbClr val="B8862B"/>
          </a:solidFill>
          <a:ln/>
        </p:spPr>
      </p:sp>
      <p:sp>
        <p:nvSpPr>
          <p:cNvPr id="41" name="match-hex-label"/>
          <p:cNvSpPr txBox="1"/>
          <p:nvPr/>
        </p:nvSpPr>
        <p:spPr>
          <a:xfrm>
            <a:off x="5430082"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878138" y="5084689"/>
            <a:ext cx="5463165"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central position and the industrial inventions linked to it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Why did each city grow?</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Why did each city grow?</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Capital cities are the easiest: which cities are the capitals of the UK's nations?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Coal and iron ore were in the north and in South Wales: which group is the northern industrial cities?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two cities are famous for their docks and trade?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city on its own sits in the middle of England.</a:t>
            </a:r>
            <a:endParaRPr lang="en-US" sz="1800" dirty="0"/>
          </a:p>
        </p:txBody>
      </p:sp>
      <p:sp>
        <p:nvSpPr>
          <p:cNvPr id="17" name="col-Core"/>
          <p:cNvSpPr/>
          <p:nvPr/>
        </p:nvSpPr>
        <p:spPr>
          <a:xfrm>
            <a:off x="5490762" y="2395728"/>
            <a:ext cx="2938987" cy="3749040"/>
          </a:xfrm>
          <a:prstGeom prst="roundRect">
            <a:avLst>
              <a:gd name="adj" fmla="val 1867"/>
            </a:avLst>
          </a:prstGeom>
          <a:solidFill>
            <a:srgbClr val="D5DE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Four reasons: raw materials, capital functions, trade by sea, a central position. Match the group that fits each.</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Cardiff appears in two of the lesson's groups: an industrial city near coal and a capital city. Explain why a city can grow for more than one reason, and suggest which reason matters most for Cardiff today.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Migration and the UK's cities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Migrants from other parts of the world have added an average of 243,000 people a year to the UK's larger cities. At that rate, how many people would be added over four years?</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people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Migration and the UK's cities</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Migration and the UK's cities</a:t>
            </a:r>
            <a:endParaRPr lang="en-US" sz="2000" dirty="0"/>
          </a:p>
        </p:txBody>
      </p:sp>
      <p:sp>
        <p:nvSpPr>
          <p:cNvPr id="12" name="col-Support"/>
          <p:cNvSpPr/>
          <p:nvPr/>
        </p:nvSpPr>
        <p:spPr>
          <a:xfrm>
            <a:off x="548640" y="2395728"/>
            <a:ext cx="3515258" cy="3749040"/>
          </a:xfrm>
          <a:prstGeom prst="roundRect">
            <a:avLst>
              <a:gd name="adj" fmla="val 1561"/>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rate is 243,000 people for every ONE year.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question asks for four years.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243,000 × 4.</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250,000 × 4 would be a million, so the answer should be a little under a million.</a:t>
            </a:r>
            <a:endParaRPr lang="en-US" sz="1800" dirty="0"/>
          </a:p>
        </p:txBody>
      </p:sp>
      <p:sp>
        <p:nvSpPr>
          <p:cNvPr id="17" name="col-Core"/>
          <p:cNvSpPr/>
          <p:nvPr/>
        </p:nvSpPr>
        <p:spPr>
          <a:xfrm>
            <a:off x="4338218" y="2395728"/>
            <a:ext cx="3515258" cy="3749040"/>
          </a:xfrm>
          <a:prstGeom prst="roundRect">
            <a:avLst>
              <a:gd name="adj" fmla="val 1561"/>
            </a:avLst>
          </a:prstGeom>
          <a:solidFill>
            <a:srgbClr val="D5DED7"/>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yearly figure over several years means multiply. Four years, so times four.</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3F6B4A"/>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migration into the larger cities and counter-urbanisation out of them could happen at the same time, and what each does to the population density of a city like London.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The UK's population was 41 million in 1900 and 64 million in 2015. By how many million did it grow?</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(million):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Why did each city grow?</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Glasgow, Newcastle, Manchester and Leeds  →  A  Industries grew near raw materials such as coal and iron ore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London, Belfast and Edinburgh  →  C  Capital cities with political and administrative functions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Liverpool and Bristol  →  B  Ports that grew through trade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Birmingham  →  D  A central position and the industrial inventions linked to it</a:t>
            </a:r>
            <a:endParaRPr lang="en-US" sz="22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Glasgow, Newcastle, Manchester and Leeds grew near coal and iron ore; London, Belfast and Edinburgh (and Cardiff) are capitals with political and administrative functions; Liverpool and Bristol (and London) grew as trading ports; Birmingham grew because of its central position and its industrial inventions.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Migration and the UK's cities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Migrants from other parts of the world have added an average of 243,000 people a year to the UK's larger cities. At that rate, how many people would be added over four years?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972 000 people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243,000 a year for four years is 243,000 × 4 = 972,000. A rate per year is multiplied by the number of years. Migration is one of the factors that will keep changing where the UK's people live.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UK's population was 41 million in 1900 and 64 million in 2015. By how many million did it grow?</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23 million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64 − 41 = 23 million more people in 115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Issues and Challenges: Rio de Janeiro and Bristol · Chapter 5: Urban change in the UK: where people live, and Bristol's opportunities</dc:title>
  <dc:subject>Geography · Year 9</dc:subject>
  <dc:creator>Dr Vitor Merissi de Carvalho</dc:creator>
  <cp:lastModifiedBy>Dr Vitor Merissi de Carvalho</cp:lastModifiedBy>
  <cp:revision>1</cp:revision>
  <dcterms:created xsi:type="dcterms:W3CDTF">2026-10-19T16:22:59Z</dcterms:created>
  <dcterms:modified xsi:type="dcterms:W3CDTF">2026-10-19T16:22:59Z</dcterms:modified>
</cp:coreProperties>
</file>