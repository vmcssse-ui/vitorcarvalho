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3c2217b-a0d2-fcf7-1b36-137507f142ea}">
          <p14:sldIdLst>
            <p14:sldId id="256"/>
          </p14:sldIdLst>
        </p14:section>
        <p14:section name="Gate" id="{e50e23c1-c0f1-a362-30aa-f703da08f9a8}">
          <p14:sldIdLst>
            <p14:sldId id="257"/>
            <p14:sldId id="258"/>
          </p14:sldIdLst>
        </p14:section>
        <p14:section name="Pre-teach" id="{71bfca86-4a2e-93af-003e-87226698a1a3}">
          <p14:sldIdLst>
            <p14:sldId id="259"/>
            <p14:sldId id="260"/>
          </p14:sldIdLst>
        </p14:section>
        <p14:section name="Read-along" id="{48d80f61-be48-3ff6-2e06-2a32e181b47e}">
          <p14:sldIdLst>
            <p14:sldId id="261"/>
            <p14:sldId id="262"/>
          </p14:sldIdLst>
        </p14:section>
        <p14:section name="Teach" id="{fa2bfcca-f5db-304f-9b30-ab5d90f108b1}">
          <p14:sldIdLst>
            <p14:sldId id="263"/>
            <p14:sldId id="264"/>
            <p14:sldId id="265"/>
            <p14:sldId id="266"/>
            <p14:sldId id="267"/>
          </p14:sldIdLst>
        </p14:section>
        <p14:section name="Routes" id="{4f048e48-8f85-6c06-961d-86d2c11d7ae4}">
          <p14:sldIdLst>
            <p14:sldId id="268"/>
            <p14:sldId id="269"/>
            <p14:sldId id="270"/>
            <p14:sldId id="271"/>
          </p14:sldIdLst>
        </p14:section>
        <p14:section name="Close" id="{8d55d1cd-1125-3bee-5032-b0a6d3908e66}">
          <p14:sldIdLst>
            <p14:sldId id="272"/>
          </p14:sldIdLst>
        </p14:section>
        <p14:section name="Answers" id="{80953bf6-2b2f-1a5f-8081-3e6805584664}">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Rio de Janeiro: a growing city full of opportunities. Where Rio de Janeiro is and why it has grown, the social and economic opportunities the city offers, and how to build a six-mark answer with PEEL.
This deck covers the department's lessons: 3 (Introducing Rio de Janeiro: Where is Rio de Janeiro, and how and why has the city grown?); 4 (Rio's social and economic opportunities: How does a growing city like Rio offer social and economic opportunities to its people?).
Read the big question aloud: "As the world's cities grow, who gains, who loses, and how can a city be made a better place for everyone who lives in 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Where is Rio de Janeiro?  →  C   On the south-east coast of Brazil, by the Atlantic Ocean
2. The largest steelworks in South America is at ___, in Rio de Janeiro.  →  Sepetiba
3. Which of these is a SOCIAL opportunity that Rio offers?  →  C   Easier access to health care, with six hospitals in the city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On the south-east coast of Brazil, by the Atlantic Ocean. Rio is on Brazil's south-eastern coast, next to the Atlantic Ocean and just north of the Tropic of Capricorn.
2. Sepetiba. The Sepetiba steelworks is Rio's flagship economic opportunity, providing jobs from manufacturing to cleaning.
3. C   Easier access to health care, with six hospitals in the city. A social opportunity improves quality of life: health care, education, water and energy. Jobs and wages are economic opportunities.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NEE: a newly emerging economy: a country getting richer fast, like Brazil. Example: "Brazil is an NEE, so Rio is a case study of a city in an NEE."
• social opportunity: a chance to improve quality of life. Example: "A new school or hospital is a social opportunity."
• economic opportunity: a chance to earn money through a job. Example: "A new factory brings economic opportunities."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steelworks: a factory where steel is made. Example: "The steelworks at Sepetiba employs thousands of people."
• PEEL: Point, Evidence, Explanation, Link: a way to build a paragraph. Example: "Use PEEL so that every paragraph makes a point and backs it up."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Rio de Janeiro is a city in Brazil, in South America.
2. It sits on the south-east coast of Brazil, next to the Atlantic Ocean.
3. It lies just north of the Tropic of Capricorn.
4. Brazil is a newly emerging economy, or NEE.
5. Rio has grown because people moved there from the countryside.
6. Many came from Amazonia and from the drought-hit north-east of Brazil.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They hoped for a better life in the city.
8. Rio offers social opportunities: health care, education, water and energy.
9. Rio has six hospitals, so health care is easier to reach than in rural areas.
10. Rio also offers economic opportunities: jobs.
11. The largest steelworks in South America is at Sepetiba, in Rio.
12. It gives work in manufacturing, construction, sales and cleaning.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is Rio, and why has it grown?. Say it in your own words, then check understanding with a quick question: ask a pupil from the pre-teach group first, since they met these words and ideas before the lesson. Pupils try to recall before you re-explain.
When an exam asks you to describe the location of a city, work from large to small. Rio de Janeiro is in South America. It is on the south-eastern coast of Brazil, next to the Atlantic Ocean, and it lies just north of the Tropic of Capricorn. Use compass directions and the names of the ocean, the country and the continent, and you have a full-mark description.
Brazil is an NEE, a newly emerging economy: a country that is industrialising quickly and getting richer, but where many people are still poor. Rio has grown for the two reasons you met in chapter 1. The first is rural to urban migration: people leave Amazonia and the drought-hit areas of north-east Brazil hoping for a better life in one of Brazil's big cities. Drought and a lack of work are push factors; jobs and services in Rio are pull factors. The second is natural increase, because a city of young migrants has far more births than deaths.
Tip: Describe the location in three steps: continent, country and coast, then a line of latitude or a nearby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Social opportunities: a better quality of life. Say it in your own words, then check understanding with a quick question: ask a pupil from the pre-teach group first, since they met these words and ideas before the lesson. Pupils try to recall before you re-explain.
A social opportunity is a chance to improve your quality of life. Rio offers four big ones compared with the Brazilian countryside: health care, education, water supply and energy supply. Health care is the clearest example. Rio has six hospitals, and it is far easier to reach a doctor in the city than in a rural village many hours away. Schools and colleges are also closer and more plentiful, so children have the chance of an education that may not exist at home.
Water and energy count as social opportunities too. In the city there is a piped water supply and an electricity network, even if they do not yet reach everyone. For a family arriving from a village with no electricity and a distant well, these are real improvements in daily life. Keep the four headings in your head: health care, education, water supply, energy supply. They come back as challenges in chapter 3.
Tip: Social = quality of life. If you can picture it making someone healthier, better educated or more comfortable at home, it is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Economic opportunities: the chance to earn. Say it in your own words, then check understanding with a quick question: ask a pupil from the pre-teach group first, since they met these words and ideas before the lesson. Pupils try to recall before you re-explain.
An economic opportunity is a chance to make money through a job. Rio's biggest single example is the steelworks at Sepetiba, the largest in South America. A plant like that does not only employ steelworkers: it creates jobs in manufacturing, construction, management, organising, sales and cleaning, and it keeps shops, transport and suppliers busy around it. The city also has formal jobs in offices, ports, tourism and services that simply do not exist in a rural area.
This is why people move. A job in the formal sector, with regular pay, is the strongest pull factor a city has. You will see in chapter 3 that not everyone who arrives finds one, and that many end up in the informal sector instead. But the chance is there, and that is what an opportunity means.
Worked example — model it step by step, thinking aloud: Using Rio de Janeiro, explain one economic opportunity that a growing city offers. (2 marks) (1) Point: name the opportunity. Rio's growth has brought large employers such as the Sepetiba steelworks, the largest in South America. (2) Explain: say why that is an opportunity. It creates jobs in manufacturing, construction and sales, so migrants can earn a regular wage they could not earn in a rural area. (3) Two linked sentences, one naming and one explaining, earn both marks. Answer: Rio offers jobs at large employers such as the Sepetiba steelworks, the largest in South America. This is an economic opportunity because it provides thousands of paid jobs, from manufacturing to sales and cleaning, so people can earn a regular income that was not available in the countryside..
Tip: Economic = money and jobs. Social = quality of life. Many things are both: a hospital gives patients care (social) and nurses a wage (economic).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Economic opportunities: the chance to earn. Say it in your own words, then check understanding with a quick question: ask a pupil from the pre-teach group first, since they met these words and ideas before the lesson. Pupils try to recall before you re-explain.
An economic opportunity is a chance to make money through a job. Rio's biggest single example is the steelworks at Sepetiba, the largest in South America. A plant like that does not only employ steelworkers: it creates jobs in manufacturing, construction, management, organising, sales and cleaning, and it keeps shops, transport and suppliers busy around it. The city also has formal jobs in offices, ports, tourism and services that simply do not exist in a rural area.
This is why people move. A job in the formal sector, with regular pay, is the strongest pull factor a city has. You will see in chapter 3 that not everyone who arrives finds one, and that many end up in the informal sector instead. But the chance is there, and that is what an opportunity means.
Worked example — model it step by step, thinking aloud: Using Rio de Janeiro, explain one economic opportunity that a growing city offers. (2 marks) (1) Point: name the opportunity. Rio's growth has brought large employers such as the Sepetiba steelworks, the largest in South America. (2) Explain: say why that is an opportunity. It creates jobs in manufacturing, construction and sales, so migrants can earn a regular wage they could not earn in a rural area. (3) Two linked sentences, one naming and one explaining, earn both marks. Answer: Rio offers jobs at large employers such as the Sepetiba steelworks, the largest in South America. This is an economic opportunity because it provides thousands of paid jobs, from manufacturing to sales and cleaning, so people can earn a regular income that was not available in the countryside..
Tip: Economic = money and jobs. Social = quality of life. Many things are both: a hospital gives patients care (social) and nurses a wage (economic).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Building a six-mark answer with PEEL. Say it in your own words, then check understanding with a quick question: ask a pupil from the pre-teach group first, since they met these words and ideas before the lesson. Pupils try to recall before you re-explain.
Six-mark questions in this unit ask you to explain, using a case study. The method taught in class is PEEL. Point: make a clear statement that answers the question. Evidence: give a specific fact from Rio, with a number or a name. Explanation: say why that evidence answers the question. Link: tie the paragraph back to the question, or on to the next point.
A strong answer opens by naming the case study and the country, says it is an NEE, and then gives at least three social and three economic opportunities, each with evidence. Specific evidence is what lifts an answer: six hospitals is better than lots of hospitals; the Sepetiba steelworks is better than factories. A six-mark explain question does not need a conclusion; a nine-mark evaluate question does.
Tip: Balance matters. If the question says social and economic, give both; an answer with only one side cannot reach the top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Social or economic?.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family moves from a village in north-east Brazil to Rio. The father finds work in construction at Sepetiba, and the children start at a secondary school for the first time. Which statement is correct?
Support — work through the steps with the group: (1) Ask of each thing: does it earn money? If yes, it is economic. (2) Ask: does it improve quality of life (health, education, water, energy)? If yes, it is social. (3) A job earns money, so it is economic. (4) A school improves quality of life, so it is social.
Parallel worked example for Support (model it, do not give the task answer): A migrant to Rio gets piped water at home and finds work at the port. Which is social and which is economic? Piped water improves daily life: social.; Work at the port earns money: economic.. Answer: Piped water is a social opportunity; work at the port is an economic opportunity..
Core — reveal the hint only on request: Economic means money and jobs. Social means quality of life. Decide for the job first, then the school.
Stretch — no help; when finished: Explain why the two kinds of opportunity are linked: how might the father's wage lead to more social opportunities for the family, and how might the children's education lead to economic opportunities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Social or economic?.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family moves from a village in north-east Brazil to Rio. The father finds work in construction at Sepetiba, and the children start at a secondary school for the first time. Which statement is correct?
Support — work through the steps with the group: (1) Ask of each thing: does it earn money? If yes, it is economic. (2) Ask: does it improve quality of life (health, education, water, energy)? If yes, it is social. (3) A job earns money, so it is economic. (4) A school improves quality of life, so it is social.
Parallel worked example for Support (model it, do not give the task answer): A migrant to Rio gets piped water at home and finds work at the port. Which is social and which is economic? Piped water improves daily life: social.; Work at the port earns money: economic.. Answer: Piped water is a social opportunity; work at the port is an economic opportunity..
Core — reveal the hint only on request: Economic means money and jobs. Social means quality of life. Decide for the job first, then the school.
Stretch — no help; when finished: Explain why the two kinds of opportunity are linked: how might the father's wage lead to more social opportunities for the family, and how might the children's education lead to economic opportunities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a PEEL paragraph.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parts of a PEEL paragraph in the order you should write them.
Support — work through the steps with the group: (1) PEEL spells the order: P, E, E, L. (2) P is Point: the sentence that answers the question in general terms. (3) The first E is Evidence: a specific fact with a name or number. The second E is Explanation: why that fact answers the question. (4) L is Link: the sentence that ties back to the question.
Parallel worked example for Support (model it, do not give the task answer): Order these for a PEEL paragraph about Shenzhen: Explanation (jobs in new factories pulled in migrants); Link (so Shenzhen shows how urban growth happens); Point (Shenzhen grew incredibly fast); Evidence (3,148 people in 1950, 6.55 million in 2000). Point first: Shenzhen grew incredibly fast.; Then Evidence, then Explanation, then Link.. Answer: Point, Evidence (3,148 to 6.55 million), Explanation (factory jobs pulled in migrants), Link..
Core — reveal the hint only on request: The letters of PEEL give you the order. The general statement comes first; the specific fact comes second.
Stretch — no help; when finished: Write a second PEEL paragraph of your own about a social opportunity in Rio, using the six hospitals as your evidence, and then write a one-sentence conclusion that answers the question how far Rio offers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a PEEL paragraph.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parts of a PEEL paragraph in the order you should write them.
Support — work through the steps with the group: (1) PEEL spells the order: P, E, E, L. (2) P is Point: the sentence that answers the question in general terms. (3) The first E is Evidence: a specific fact with a name or number. The second E is Explanation: why that fact answers the question. (4) L is Link: the sentence that ties back to the question.
Parallel worked example for Support (model it, do not give the task answer): Order these for a PEEL paragraph about Shenzhen: Explanation (jobs in new factories pulled in migrants); Link (so Shenzhen shows how urban growth happens); Point (Shenzhen grew incredibly fast); Evidence (3,148 people in 1950, 6.55 million in 2000). Point first: Shenzhen grew incredibly fast.; Then Evidence, then Explanation, then Link.. Answer: Point, Evidence (3,148 to 6.55 million), Explanation (factory jobs pulled in migrants), Link..
Core — reveal the hint only on request: The letters of PEEL give you the order. The general statement comes first; the specific fact comes second.
Stretch — no help; when finished: Write a second PEEL paragraph of your own about a social opportunity in Rio, using the six hospitals as your evidence, and then write a one-sentence conclusion that answers the question how far Rio offers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Where is Rio de Janeiro?
Answer: B   On the south-east coast of Brazil, by the Atlantic Ocean. Rio is on Brazil's south-eastern coast, next to the Atlantic Ocean and just north of the Tropic of Capricorn.
Source of this question: gate item 1 re-asked (options rotated) — this chapter has no third quick-check module.
The ebook also holds task 3, "The six-mark answer",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Social or economic?. Reveal the answer; pupils mark their own work in a different colour, then read the "why" together. Same destination for every lane, so one answer serves the whole class.
Answer: D   The job is an economic opportunity and the school is a social opportunity
Why: Economic opportunities are chances to earn money through a job: the construction work. Social opportunities are chances to improve quality of life: health care, education, water and energy, so the school. Keep the two apart in your answers.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Build a PEEL paragraph. Reveal the answer; pupils mark their own work in a different colour, then read the "why" together. Same destination for every lane, so one answer serves the whole class.
Answer: Point: Rio's growth has created economic opportunities for people  (A); Evidence: the Sepetiba steelworks, the largest in South America, employs thousands  (D); Explanation: these jobs give migrants a regular wage they could not earn in rural north-east Brazil  (C); Link: so the growth of the city has improved people's chances of making a living  (B)
Why: Point, Evidence, Explanation, Link. The point answers the question; the evidence proves it with a specific fact; the explanation shows why the evidence matters; the link brings the paragraph back to the question.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On the south-east coast of Brazil, by the Atlantic Ocean
Why: Rio is on Brazil's south-eastern coast, next to the Atlantic Ocean and just north of the Tropic of Capricorn.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Urban Issues and Challenges: Rio de Janeiro and Bristol · AQA 8035</a:t>
            </a:r>
            <a:endParaRPr lang="en-US" sz="1800" dirty="0"/>
          </a:p>
        </p:txBody>
      </p:sp>
      <p:sp>
        <p:nvSpPr>
          <p:cNvPr id="10" name="deck-title"/>
          <p:cNvSpPr txBox="1"/>
          <p:nvPr/>
        </p:nvSpPr>
        <p:spPr>
          <a:xfrm>
            <a:off x="548640" y="235127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Rio de Janeiro: a growing city full of opportunities</a:t>
            </a:r>
            <a:endParaRPr lang="en-US" sz="3200" dirty="0"/>
          </a:p>
        </p:txBody>
      </p:sp>
      <p:sp>
        <p:nvSpPr>
          <p:cNvPr id="11" name="lessons-card"/>
          <p:cNvSpPr/>
          <p:nvPr/>
        </p:nvSpPr>
        <p:spPr>
          <a:xfrm>
            <a:off x="548640" y="3763518"/>
            <a:ext cx="5287975" cy="1328420"/>
          </a:xfrm>
          <a:prstGeom prst="roundRect">
            <a:avLst>
              <a:gd name="adj" fmla="val 5507"/>
            </a:avLst>
          </a:prstGeom>
          <a:solidFill>
            <a:srgbClr val="ECF0ED"/>
          </a:solidFill>
          <a:ln/>
        </p:spPr>
      </p:sp>
      <p:sp>
        <p:nvSpPr>
          <p:cNvPr id="12" name="lessons"/>
          <p:cNvSpPr txBox="1"/>
          <p:nvPr/>
        </p:nvSpPr>
        <p:spPr>
          <a:xfrm>
            <a:off x="685800" y="38549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Introducing Rio de Janeiro</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Rio's social and economic opportunities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As the world's cities grow, who gains, who loses, and how can a city be made a better place for everyone who lives in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Where is Rio de Janeiro?</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the centre of Brazil, far from the sea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 the north coast of Brazil, by the Amazon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 the south-east coast of Brazil, by the Atlantic Ocean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 the west coast of South America, by the Pacific Ocean</a:t>
            </a:r>
            <a:endParaRPr lang="en-US" sz="18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largest steelworks in South America is at ___, in Rio de Janeiro.</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Sepetiba  ·  Rocinha  ·  Amazonia</a:t>
            </a:r>
            <a:endParaRPr lang="en-US" sz="24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SOCIAL opportunity that Rio offers?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in sales and cleaning for a large company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Jobs at the Sepetiba steelworks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Easier access to health care, with six hospitals in the city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Higher wages than in the countryside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On the south-east coast of Brazil, by the Atlantic Ocean</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Where is Rio de Janeiro?</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Rio is on Brazil's south-eastern coast, next to the Atlantic Ocean and just north of the Tropic of Capricorn.</a:t>
            </a:r>
            <a:endParaRPr lang="en-US" sz="20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Sepetiba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largest steelworks in South America is at ___, in Rio de Janeiro.</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Sepetiba steelworks is Rio's flagship economic opportunity, providing jobs from manufacturing to cleaning.</a:t>
            </a:r>
            <a:endParaRPr lang="en-US" sz="20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Easier access to health care, with six hospitals in the city</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social opportunity improves quality of life: health care, education, water and energy. Jobs and wages are economic opportunities.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NEE</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newly emerging economy: a country getting richer fast, like Brazil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Brazil is an NEE, so Rio is a case study of a city in an NEE.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social opportunity</a:t>
            </a:r>
            <a:endParaRPr lang="en-US" sz="2600" dirty="0"/>
          </a:p>
        </p:txBody>
      </p:sp>
      <p:sp>
        <p:nvSpPr>
          <p:cNvPr id="17" name="word-rule"/>
          <p:cNvSpPr/>
          <p:nvPr/>
        </p:nvSpPr>
        <p:spPr>
          <a:xfrm>
            <a:off x="4521098" y="2558288"/>
            <a:ext cx="3149498" cy="0"/>
          </a:xfrm>
          <a:prstGeom prst="line">
            <a:avLst/>
          </a:prstGeom>
          <a:ln w="12700">
            <a:solidFill>
              <a:srgbClr val="B2C4B7"/>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chance to improve quality of life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new school or hospital is a social opportunity.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economic opportunity</a:t>
            </a:r>
            <a:endParaRPr lang="en-US" sz="2600" dirty="0"/>
          </a:p>
        </p:txBody>
      </p:sp>
      <p:sp>
        <p:nvSpPr>
          <p:cNvPr id="23" name="word-rule"/>
          <p:cNvSpPr/>
          <p:nvPr/>
        </p:nvSpPr>
        <p:spPr>
          <a:xfrm>
            <a:off x="8310677" y="2558288"/>
            <a:ext cx="3149498" cy="0"/>
          </a:xfrm>
          <a:prstGeom prst="line">
            <a:avLst/>
          </a:prstGeom>
          <a:ln w="12700">
            <a:solidFill>
              <a:srgbClr val="B2C4B7"/>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chance to earn money through a job</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new factory brings economic opportunities.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steelworks</a:t>
            </a:r>
            <a:endParaRPr lang="en-US" sz="2600" dirty="0"/>
          </a:p>
        </p:txBody>
      </p:sp>
      <p:sp>
        <p:nvSpPr>
          <p:cNvPr id="11" name="word-rule"/>
          <p:cNvSpPr/>
          <p:nvPr/>
        </p:nvSpPr>
        <p:spPr>
          <a:xfrm>
            <a:off x="731520" y="2129028"/>
            <a:ext cx="5044288" cy="0"/>
          </a:xfrm>
          <a:prstGeom prst="line">
            <a:avLst/>
          </a:prstGeom>
          <a:ln w="12700">
            <a:solidFill>
              <a:srgbClr val="B2C4B7"/>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factory where steel is made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steelworks at Sepetiba employs thousands of people.</a:t>
            </a:r>
            <a:endParaRPr lang="en-US" sz="2200" dirty="0"/>
          </a:p>
        </p:txBody>
      </p:sp>
      <p:sp>
        <p:nvSpPr>
          <p:cNvPr id="13" name="word-card"/>
          <p:cNvSpPr/>
          <p:nvPr/>
        </p:nvSpPr>
        <p:spPr>
          <a:xfrm>
            <a:off x="6233008" y="1389888"/>
            <a:ext cx="5410048" cy="4754880"/>
          </a:xfrm>
          <a:prstGeom prst="roundRect">
            <a:avLst>
              <a:gd name="adj" fmla="val 1154"/>
            </a:avLst>
          </a:prstGeom>
          <a:solidFill>
            <a:srgbClr val="F0F3F1"/>
          </a:solidFill>
          <a:ln w="12700">
            <a:solidFill>
              <a:srgbClr val="B2C4B7"/>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PEEL</a:t>
            </a:r>
            <a:endParaRPr lang="en-US" sz="2600" dirty="0"/>
          </a:p>
        </p:txBody>
      </p:sp>
      <p:sp>
        <p:nvSpPr>
          <p:cNvPr id="17" name="word-rule"/>
          <p:cNvSpPr/>
          <p:nvPr/>
        </p:nvSpPr>
        <p:spPr>
          <a:xfrm>
            <a:off x="6415888" y="2129028"/>
            <a:ext cx="5044288" cy="0"/>
          </a:xfrm>
          <a:prstGeom prst="line">
            <a:avLst/>
          </a:prstGeom>
          <a:ln w="12700">
            <a:solidFill>
              <a:srgbClr val="B2C4B7"/>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Point, Evidence, Explanation, Link: a way to build a paragraph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Use PEEL so that every paragraph makes a point and backs it up.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Rio de Janeiro is a city in Brazil, in South America.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sits on the south-east coast of Brazil, next to the Atlantic Ocean.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lies just north of the Tropic of Capricorn.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Brazil is a newly emerging economy, or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NEE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Rio has grown because people moved there from the countryside.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came from Amazonia and from the drought-hit north-east of Brazil.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hoped for a better life in the city.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Rio offers social opportunities: health care, education, water and energy.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Rio has six hospitals, so health care is easier to reach than in rural areas.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Rio also offers economic opportunities: jobs.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largest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steelworks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South America is at Sepetiba, in Rio.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gives work in manufacturing, construction, sales and cleaning.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is Rio, and why has it grown?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the location in three steps: continent, country and coast, then a line of latitude or a nearby ocean.</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an exam asks you to describe the location of a city, work from large to small.</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Brazil is an NEE, a newly emerging economy: a country that is industrialising quickly and getting richer, but where many people are still poor.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Social opportunities: a better quality of life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Social = quality of life. If you can picture it making someone healthier, better educated or more comfortable at home, it is social.</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social opportunity is a chance to improve your quality of life.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Water and energy count as social opportunities too. In the city there is a piped water supply and an electricity network, even if they do not yet reach everyone.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Economic opportunities: the chance to earn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Economic = money and jobs. Social = quality of life. Many things are both: a hospital gives patients care (social) and nurses a wage (economic).</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economic opportunity is a chance to make money through a job.</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why people move. A job in the formal sector, with regular pay, is the strongest pull factor a city has.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Economic opportunities: the chance to earn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CF0ED"/>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Using Rio de Janeiro, explain one economic opportunity that a growing city offers. (2 marks)</a:t>
            </a:r>
            <a:endParaRPr lang="en-US" sz="2000" dirty="0"/>
          </a:p>
        </p:txBody>
      </p:sp>
      <p:sp>
        <p:nvSpPr>
          <p:cNvPr id="9" name="step-box"/>
          <p:cNvSpPr/>
          <p:nvPr/>
        </p:nvSpPr>
        <p:spPr>
          <a:xfrm>
            <a:off x="548640" y="2192528"/>
            <a:ext cx="11094415" cy="865505"/>
          </a:xfrm>
          <a:prstGeom prst="roundRect">
            <a:avLst>
              <a:gd name="adj" fmla="val 8452"/>
            </a:avLst>
          </a:prstGeom>
          <a:solidFill>
            <a:srgbClr val="FFFFFF"/>
          </a:solidFill>
          <a:ln w="15875">
            <a:solidFill>
              <a:srgbClr val="95AE9B"/>
            </a:solidFill>
            <a:prstDash val="solid"/>
          </a:ln>
        </p:spPr>
      </p:sp>
      <p:sp>
        <p:nvSpPr>
          <p:cNvPr id="10" name="step-hex"/>
          <p:cNvSpPr/>
          <p:nvPr/>
        </p:nvSpPr>
        <p:spPr>
          <a:xfrm>
            <a:off x="685800" y="2427313"/>
            <a:ext cx="457200" cy="395935"/>
          </a:xfrm>
          <a:prstGeom prst="hexagon">
            <a:avLst/>
          </a:prstGeom>
          <a:solidFill>
            <a:srgbClr val="3F6B4A"/>
          </a:solidFill>
          <a:ln/>
        </p:spPr>
      </p:sp>
      <p:sp>
        <p:nvSpPr>
          <p:cNvPr id="11" name="step-hex-label"/>
          <p:cNvSpPr txBox="1"/>
          <p:nvPr/>
        </p:nvSpPr>
        <p:spPr>
          <a:xfrm>
            <a:off x="685800" y="242731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86550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name the opportunity. Rio's growth has brought large employers such as the Sepetiba steelworks, the largest in South America.</a:t>
            </a:r>
            <a:endParaRPr lang="en-US" sz="1800" dirty="0"/>
          </a:p>
        </p:txBody>
      </p:sp>
      <p:sp>
        <p:nvSpPr>
          <p:cNvPr id="13" name="step-box"/>
          <p:cNvSpPr/>
          <p:nvPr/>
        </p:nvSpPr>
        <p:spPr>
          <a:xfrm>
            <a:off x="548640" y="3131185"/>
            <a:ext cx="11094415" cy="865505"/>
          </a:xfrm>
          <a:prstGeom prst="roundRect">
            <a:avLst>
              <a:gd name="adj" fmla="val 8452"/>
            </a:avLst>
          </a:prstGeom>
          <a:solidFill>
            <a:srgbClr val="FFFFFF"/>
          </a:solidFill>
          <a:ln w="15875">
            <a:solidFill>
              <a:srgbClr val="95AE9B"/>
            </a:solidFill>
            <a:prstDash val="solid"/>
          </a:ln>
        </p:spPr>
      </p:sp>
      <p:sp>
        <p:nvSpPr>
          <p:cNvPr id="14" name="step-hex"/>
          <p:cNvSpPr/>
          <p:nvPr/>
        </p:nvSpPr>
        <p:spPr>
          <a:xfrm>
            <a:off x="685800" y="3365970"/>
            <a:ext cx="457200" cy="395935"/>
          </a:xfrm>
          <a:prstGeom prst="hexagon">
            <a:avLst/>
          </a:prstGeom>
          <a:solidFill>
            <a:srgbClr val="3F6B4A"/>
          </a:solidFill>
          <a:ln/>
        </p:spPr>
      </p:sp>
      <p:sp>
        <p:nvSpPr>
          <p:cNvPr id="15" name="step-hex-label"/>
          <p:cNvSpPr txBox="1"/>
          <p:nvPr/>
        </p:nvSpPr>
        <p:spPr>
          <a:xfrm>
            <a:off x="685800" y="33659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31185"/>
            <a:ext cx="10180015" cy="86550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say why that is an opportunity. It creates jobs in manufacturing, construction and sales, so migrants can earn a regular wage they could not earn in a rural area.</a:t>
            </a:r>
            <a:endParaRPr lang="en-US" sz="1800" dirty="0"/>
          </a:p>
        </p:txBody>
      </p:sp>
      <p:sp>
        <p:nvSpPr>
          <p:cNvPr id="17" name="step-box"/>
          <p:cNvSpPr/>
          <p:nvPr/>
        </p:nvSpPr>
        <p:spPr>
          <a:xfrm>
            <a:off x="548640" y="4069842"/>
            <a:ext cx="11094415" cy="601345"/>
          </a:xfrm>
          <a:prstGeom prst="roundRect">
            <a:avLst>
              <a:gd name="adj" fmla="val 12165"/>
            </a:avLst>
          </a:prstGeom>
          <a:solidFill>
            <a:srgbClr val="FFFFFF"/>
          </a:solidFill>
          <a:ln w="15875">
            <a:solidFill>
              <a:srgbClr val="95AE9B"/>
            </a:solidFill>
            <a:prstDash val="solid"/>
          </a:ln>
        </p:spPr>
      </p:sp>
      <p:sp>
        <p:nvSpPr>
          <p:cNvPr id="18" name="step-hex"/>
          <p:cNvSpPr/>
          <p:nvPr/>
        </p:nvSpPr>
        <p:spPr>
          <a:xfrm>
            <a:off x="685800" y="4172547"/>
            <a:ext cx="457200" cy="395935"/>
          </a:xfrm>
          <a:prstGeom prst="hexagon">
            <a:avLst/>
          </a:prstGeom>
          <a:solidFill>
            <a:srgbClr val="3F6B4A"/>
          </a:solidFill>
          <a:ln/>
        </p:spPr>
      </p:sp>
      <p:sp>
        <p:nvSpPr>
          <p:cNvPr id="19" name="step-hex-label"/>
          <p:cNvSpPr txBox="1"/>
          <p:nvPr/>
        </p:nvSpPr>
        <p:spPr>
          <a:xfrm>
            <a:off x="685800" y="417254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069842"/>
            <a:ext cx="10180015" cy="60134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linked sentences, one naming and one explaining, earn both marks.</a:t>
            </a:r>
            <a:endParaRPr lang="en-US" sz="1800" dirty="0"/>
          </a:p>
        </p:txBody>
      </p:sp>
      <p:sp>
        <p:nvSpPr>
          <p:cNvPr id="21" name="worked-answer"/>
          <p:cNvSpPr/>
          <p:nvPr/>
        </p:nvSpPr>
        <p:spPr>
          <a:xfrm>
            <a:off x="548640" y="4854067"/>
            <a:ext cx="11094415" cy="1109980"/>
          </a:xfrm>
          <a:prstGeom prst="roundRect">
            <a:avLst>
              <a:gd name="adj" fmla="val 12357"/>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Rio offers jobs at large employers such as the Sepetiba steelworks, the largest in South America. This is an economic opportunity because it provides thousands of paid jobs, from manufacturing to sales and cleaning, so people can earn a regular income that was not available in the countryside.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Building a six-mark answer with PEEL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Balance matters. If the question says social and economic, give both; an answer with only one side cannot reach the top marks.</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Six-mark questions in this unit ask you to explain, using a case study.</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strong answer opens by naming the case study and the country, says it is an NEE, and then gives at least three social and three economic opportunities, each with evidence.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Social or economic?</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family moves from a village in north-east Brazil to Rio. The father finds work in construction at Sepetiba, and the children start at a secondary school for the first time. Which statement is correct?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Both the job and the school are economic opportunities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Both the job and the school are social opportunities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job is a social opportunity and the school is an economic opportunity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job is an economic opportunity and the school is a social opportunity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Social or economic?</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Social or economic?</a:t>
            </a:r>
            <a:endParaRPr lang="en-US" sz="2000" dirty="0"/>
          </a:p>
        </p:txBody>
      </p:sp>
      <p:sp>
        <p:nvSpPr>
          <p:cNvPr id="12" name="col-Support"/>
          <p:cNvSpPr/>
          <p:nvPr/>
        </p:nvSpPr>
        <p:spPr>
          <a:xfrm>
            <a:off x="548640" y="2395728"/>
            <a:ext cx="3515258" cy="3749040"/>
          </a:xfrm>
          <a:prstGeom prst="roundRect">
            <a:avLst>
              <a:gd name="adj" fmla="val 1561"/>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thing: does it earn money? If yes, it is economic.</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does it improve quality of life (health, education, water, energy)? If yes, it is social.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job earns money, so it is economic.</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school improves quality of life, so it is social.</a:t>
            </a:r>
            <a:endParaRPr lang="en-US" sz="1800" dirty="0"/>
          </a:p>
        </p:txBody>
      </p:sp>
      <p:sp>
        <p:nvSpPr>
          <p:cNvPr id="17" name="col-Core"/>
          <p:cNvSpPr/>
          <p:nvPr/>
        </p:nvSpPr>
        <p:spPr>
          <a:xfrm>
            <a:off x="4338218" y="2395728"/>
            <a:ext cx="3515258" cy="3749040"/>
          </a:xfrm>
          <a:prstGeom prst="roundRect">
            <a:avLst>
              <a:gd name="adj" fmla="val 1561"/>
            </a:avLst>
          </a:prstGeom>
          <a:solidFill>
            <a:srgbClr val="D5DED7"/>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Economic means money and jobs. Social means quality of life. Decide for the job first, then the school.</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two kinds of opportunity are linked: how might the father's wage lead to more social opportunities for the family, and how might the children's education lead to economic opportunities later?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Build a PEEL paragraph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four parts of a PEEL paragraph in the order you should write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Point: Rio's growth has created economic opportunities for people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Link: so the growth of the city has improved people's chances of making a living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Explanation: these jobs give migrants a regular wage they could not earn in rural north-east Brazil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Evidence: the Sepetiba steelworks, the largest in South America, employs thousands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Build a PEEL paragraph</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Build a PEEL paragraph</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PEEL spells the order: P, E, E, 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 is Point: the sentence that answers the question in general terms.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first E is Evidence: a specific fact with a name or number. The second E is Explanation: why that fact answers the question.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 is Link: the sentence that ties back to the question.</a:t>
            </a:r>
            <a:endParaRPr lang="en-US" sz="1800" dirty="0"/>
          </a:p>
        </p:txBody>
      </p:sp>
      <p:sp>
        <p:nvSpPr>
          <p:cNvPr id="17" name="col-Core"/>
          <p:cNvSpPr/>
          <p:nvPr/>
        </p:nvSpPr>
        <p:spPr>
          <a:xfrm>
            <a:off x="5490762" y="2395728"/>
            <a:ext cx="2938987" cy="3749040"/>
          </a:xfrm>
          <a:prstGeom prst="roundRect">
            <a:avLst>
              <a:gd name="adj" fmla="val 1867"/>
            </a:avLst>
          </a:prstGeom>
          <a:solidFill>
            <a:srgbClr val="D5DE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letters of PEEL give you the order. The general statement comes first; the specific fact comes second.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a second PEEL paragraph of your own about a social opportunity in Rio, using the six hospitals as your evidence, and then write a one-sentence conclusion that answers the question how far Rio offers opportunities.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Where is Rio de Janeiro?</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 the north coast of Brazil, by the Amazon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 the south-east coast of Brazil, by the Atlantic Ocean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 the west coast of South America, by the Pacific Ocean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the centre of Brazil, far from the sea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Social or economic?</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family moves from a village in north-east Brazil to Rio. The father finds work in construction at Sepetiba, and the children start at a secondary school for the first time. Which statement is correct?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 job is an economic opportunity and the school is a social opportunity</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Economic opportunities are chances to earn money through a job: the construction work. Social opportunities are chances to improve quality of life: health care, education, water and energy, so the school. Keep the two apart in your answers.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Build a PEEL paragraph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Point: Rio's growth has created economic opportunities for people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Evidence: the Sepetiba steelworks, the largest in South America, employs thousands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Explanation: these jobs give migrants a regular wage they could not earn in rural north-east Brazil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Link: so the growth of the city has improved people's chances of making a living  (B)</a:t>
            </a:r>
            <a:endParaRPr lang="en-US" sz="22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Point, Evidence, Explanation, Link. The point answers the question; the evidence proves it with a specific fact; the explanation shows why the evidence matters; the link brings the paragraph back to the question.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Where is Rio de Janeiro?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On the south-east coast of Brazil, by the Atlantic Ocean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Rio is on Brazil's south-eastern coast, next to the Atlantic Ocean and just north of the Tropic of Capricorn.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Issues and Challenges: Rio de Janeiro and Bristol · Chapter 2: Rio de Janeiro: a growing city full of opportunities</dc:title>
  <dc:subject>Geography · Year 9</dc:subject>
  <dc:creator>Dr Vitor Merissi de Carvalho</dc:creator>
  <cp:lastModifiedBy>Dr Vitor Merissi de Carvalho</cp:lastModifiedBy>
  <cp:revision>1</cp:revision>
  <dcterms:created xsi:type="dcterms:W3CDTF">2026-10-19T16:22:59Z</dcterms:created>
  <dcterms:modified xsi:type="dcterms:W3CDTF">2026-10-19T16:22:59Z</dcterms:modified>
</cp:coreProperties>
</file>