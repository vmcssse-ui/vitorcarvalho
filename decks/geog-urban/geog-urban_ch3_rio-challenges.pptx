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bbc2dd4-7d55-324d-ab13-4fdac271c841}">
          <p14:sldIdLst>
            <p14:sldId id="256"/>
          </p14:sldIdLst>
        </p14:section>
        <p14:section name="Gate" id="{2f10e197-6135-f518-6c03-5f9048e25eec}">
          <p14:sldIdLst>
            <p14:sldId id="257"/>
            <p14:sldId id="258"/>
          </p14:sldIdLst>
        </p14:section>
        <p14:section name="Pre-teach" id="{7632c44d-6c8b-f8d3-6657-35d6ad3dbd6f}">
          <p14:sldIdLst>
            <p14:sldId id="259"/>
            <p14:sldId id="260"/>
          </p14:sldIdLst>
        </p14:section>
        <p14:section name="Read-along" id="{0c2fd9c3-a397-6b05-305e-3c023e857b0f}">
          <p14:sldIdLst>
            <p14:sldId id="261"/>
            <p14:sldId id="262"/>
          </p14:sldIdLst>
        </p14:section>
        <p14:section name="Teach" id="{b52d29ea-e570-70c4-f0b0-c3bf285d44f0}">
          <p14:sldIdLst>
            <p14:sldId id="263"/>
            <p14:sldId id="264"/>
            <p14:sldId id="265"/>
            <p14:sldId id="266"/>
          </p14:sldIdLst>
        </p14:section>
        <p14:section name="Routes" id="{de5c79ab-722b-7a20-ff3c-0f16dd650b52}">
          <p14:sldIdLst>
            <p14:sldId id="267"/>
            <p14:sldId id="268"/>
            <p14:sldId id="269"/>
            <p14:sldId id="270"/>
          </p14:sldIdLst>
        </p14:section>
        <p14:section name="Close" id="{3656fd83-3107-18bb-a68e-fd973466ab7c}">
          <p14:sldIdLst>
            <p14:sldId id="271"/>
          </p14:sldIdLst>
        </p14:section>
        <p14:section name="Answers" id="{8b775ef5-8e57-d6d4-96ac-eea3d174999e}">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Rio's challenges: social, economic and environmental. Why Rio struggles to provide health care, schools, water and energy for everyone, why so many of its people work in the informal sector, and how rapid growth has polluted the city's air, water and land.
This deck covers the department's lessons: 5 (Social challenges and solutions in Rio de Janeiro: What problems does Rio face in health care, education, water supply and energy supply, and what has been done about them?); 6 (Economic challenges faced in Rio de Janeiro: Why are unemployment, the informal sector and crime such big challenges in Rio, and how is the city responding?); 7 (Environmental challenges in Rio de Janeiro: How do rapid urbanisation and industrialisation lead to air, water and waste pollution in Rio?).
Read the big question aloud: "As the world's cities grow, who gains, who loses, and how can a city be made a better place for everyone who lives in it?"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of these is one of the FOUR social challenges Rio faces?  →  C   Water supply
2. Brazil's economy was hit by a deep recession. In which year?  →  2015
3. Work that is neither taxed nor monitored by the government, such as selling food on the street, is part of the ___ sector.  →  informal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Water supply. The four social challenges are health care, education, water supply and energy supply. Unemployment and lack of growth are economic; air pollution is environmental.
2. 2015. The recession hit Brazil in 2015. The lesson's quiz used 2005 as the false alternative.
3. informal. The informal sector is untaxed and unmonitored, with poor and irregular cash-in-hand pay.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informal sector: work that is not taxed or checked by the government. Example: "A street vendor selling food works in the informal sector."
• formal sector: jobs with a contract, regular pay and tax. Example: "A teacher or a bank worker has a job in the formal sector."
• recession: a time when a country's economy shrinks and jobs are lost. Example: "Brazil was hit by a deep recession in 2015."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hydropower: electricity made from the force of flowing river water. Example: "A drought means less water in the rivers, so less hydropower."
• anoxic: without oxygen. Example: "Anoxic water cannot support fish."
• industrialisation: the growth of factories and industry. Example: "Industrialisation brings jobs but also pollution."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A fast-growing city struggles to keep up with its people.
2. Rio has four social challenges: health care, education, water supply and energy supply.
3. Not everyone can reach a hospital or a school.
4. Droughts and a fast-growing population mean there is not enough water.
5. Much of Rio's electricity comes from hydropower, which needs river water.
6. Less water in the rivers means less electricity.
7. Rio also has economic challenges.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Brazil's economy was hit by a deep recession in 2015.
9. In the favelas, more than 20% of people are unemployed.
10. Many people work in the informal sector, where pay is poor and irregular.
11. Street crime and drug gangs are a serious problem.
12. Rapid growth and industry have polluted Rio's air, water and land.
13. Some of its water has become anoxic: it has lost its oxygen, so fish die.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Social challenges: four services under strain. Say it in your own words, then check understanding with a quick question: ask a pupil from the pre-teach group first, since they met these words and ideas before the lesson. Pupils try to recall before you re-explain.
The same four headings that were opportunities in chapter 2 are also Rio's social challenges: health care, education, water supply and energy supply. The problem is scale. A city that gains people every hour cannot build hospitals, schools, pipes and power lines fast enough, and the newest, poorest neighbourhoods are the last to be served. Health care is hard to reach for people living far from the six hospitals; many children, especially in the poorest areas, do not finish school.
Water and energy are linked, and the chain is worth learning. Rio's population is growing fast and dense, so it uses an unsustainable amount of water. Droughts, made worse by climate change, cut the supply further. Much of Rio's electricity comes from hydropower, which depends on river water. When droughts and heavy use by industry and homes leave less water in the rivers, less hydropower is generated, and there is less electricity for people. So a water shortage becomes an energy shortage as well.
The city has worked on solutions for each of the four, such as new local health centres. In an answer, describe the challenge, name the solution and say how far it helped; that is the three-column structure the lesson used.
Tip: When a question says social challenges, run through the four: health care, education, water supply, energy supply. Pick two and explain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Economic challenges: the informal sector. Say it in your own words, then check understanding with a quick question: ask a pupil from the pre-teach group first, since they met these words and ideas before the lesson. Pupils try to recall before you re-explain.
Rio's economy was hit hard by Brazil's deep recession in 2015. People have protested about high taxes, poor education and inadequate health care. In the favelas, unemployment is over 20%. The lesson sorted the economic challenges under three headings: lack of economic growth, unemployment and crime.
Many people who cannot find a formal job work in the informal sector. The informal sector is the part of the economy that is neither taxed nor monitored by any form of government: people simply trying to make money by any means they can. Typical informal jobs are street vendors selling food, drivers, labourers, handicraft workers, sewing and maids. The pay is poor and the work is irregular; workers are usually paid cash in hand and pay no tax, so the government gets no money from them to spend on services. Compare the formal sector: jobs with contracts, regular wages and tax, such as the jobs at the steelworks, in offices or at the port.
Crime is a big issue in Rio. There are many gangs trafficking drugs in the favelas, and street crime affects everyone. One response has been pacifying police units, which aim to reduce crime in the favelas. Another is education: with a better education, young people have more career options and can adapt to change, which helps to reduce youth unemployment.
Worked example — model it step by step, thinking aloud: In 1975 about 25% of Africa's population and 66% of Europe's population lived in urban areas. What was the difference between the two percentages? (1) Pick out the two figures: Africa 25%, Europe 66%. (2) Difference means subtract the smaller from the larger: 66 − 25. (3) 66 − 25 = 41. (4) Answer in percentage points: 41. Answer: 41 percentage points.
Tip: Informal sector: no tax, no contract, irregular pay. Formal sector: contract, regular pay, tax paid. Say which you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Economic challenges: the informal sector. Say it in your own words, then check understanding with a quick question: ask a pupil from the pre-teach group first, since they met these words and ideas before the lesson. Pupils try to recall before you re-explain.
Rio's economy was hit hard by Brazil's deep recession in 2015. People have protested about high taxes, poor education and inadequate health care. In the favelas, unemployment is over 20%. The lesson sorted the economic challenges under three headings: lack of economic growth, unemployment and crime.
Many people who cannot find a formal job work in the informal sector. The informal sector is the part of the economy that is neither taxed nor monitored by any form of government: people simply trying to make money by any means they can. Typical informal jobs are street vendors selling food, drivers, labourers, handicraft workers, sewing and maids. The pay is poor and the work is irregular; workers are usually paid cash in hand and pay no tax, so the government gets no money from them to spend on services. Compare the formal sector: jobs with contracts, regular wages and tax, such as the jobs at the steelworks, in offices or at the port.
Crime is a big issue in Rio. There are many gangs trafficking drugs in the favelas, and street crime affects everyone. One response has been pacifying police units, which aim to reduce crime in the favelas. Another is education: with a better education, young people have more career options and can adapt to change, which helps to reduce youth unemployment.
Worked example — model it step by step, thinking aloud: In 1975 about 25% of Africa's population and 66% of Europe's population lived in urban areas. What was the difference between the two percentages? (1) Pick out the two figures: Africa 25%, Europe 66%. (2) Difference means subtract the smaller from the larger: 66 − 25. (3) 66 − 25 = 41. (4) Answer in percentage points: 41. Answer: 41 percentage points.
Tip: Informal sector: no tax, no contract, irregular pay. Formal sector: contract, regular pay, tax paid. Say which you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Environmental challenges: air, water and waste. Say it in your own words, then check understanding with a quick question: ask a pupil from the pre-teach group first, since they met these words and ideas before the lesson. Pupils try to recall before you re-explain.
Rapid urbanisation and industrialisation in poorer parts of the world lead to pollution, and Rio shows all three kinds the lesson named: air pollution, water pollution and waste pollution. More people means more cars and buses, more factories, more sewage and more rubbish, and the services to deal with them have not grown as fast as the city.
Water pollution is the most striking. Sewage from homes that are not connected to the drains, and waste from industry, flow into the rivers and the bay. The water can become anoxic: depleted of dissolved oxygen, so that fish and other water life die. Waste pollution comes from rubbish that is never collected, especially in the favelas, which the city does not serve. Air pollution comes from traffic and industry.
When you explain pollution in Rio, build the chain: more people and more industry, more waste of a certain kind, not enough treatment or collection, then the effect on the environment and on people's health.
Tip: Anoxic = no oxygen. It is the result of pollution, not a kind of pollution: sewage causes the water to lose its oxygen.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challenges.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challenge in Rio to the category the lesson put it in.
Support — work through the steps with the group: (1) Social challenges are about the four services: health care, education, water, energy. (2) Economic challenges are about money and jobs: lack of growth, unemployment, crime. (3) Environmental challenges are about the air, water and land: the three kinds of pollution. (4) A hospital is a service; unemployment is jobs; oxygen-free water is the environment.
Parallel worked example for Support (model it, do not give the task answer): Sort: rubbish left uncollected in the streets; children with no secondary school nearby. Social or environmental? Uncollected rubbish is waste pollution: environmental.; No school is an education challenge: social.. Answer: Rubbish: environmental. No school nearby: social..
Core — reveal the hint only on request: Services, money or the natural environment? Each challenge belongs to exactly one of the three.
Stretch — no help; when finished: Explain why a favela is described as a social challenge that creates environmental challenges, and give one example of how an economic challenge in Rio can lead to a social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Sort the challenges.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challenge in Rio to the category the lesson put it in.
Support — work through the steps with the group: (1) Social challenges are about the four services: health care, education, water, energy. (2) Economic challenges are about money and jobs: lack of growth, unemployment, crime. (3) Environmental challenges are about the air, water and land: the three kinds of pollution. (4) A hospital is a service; unemployment is jobs; oxygen-free water is the environment.
Parallel worked example for Support (model it, do not give the task answer): Sort: rubbish left uncollected in the streets; children with no secondary school nearby. Social or environmental? Uncollected rubbish is waste pollution: environmental.; No school is an education challenge: social.. Answer: Rubbish: environmental. No school nearby: social..
Core — reveal the hint only on request: Services, money or the natural environment? Each challenge belongs to exactly one of the three.
Stretch — no help; when finished: Explain why a favela is described as a social challenge that creates environmental challenges, and give one example of how an economic challenge in Rio can lead to a social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drought to blackout.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Rio's energy problem in the correct order.
Support — work through the steps with the group: (1) Start with the cause in the natural world: drought and heavy use mean less water. (2) Ask what Rio makes its electricity from: hydropower, which needs flowing river water. (3) Less water in, less electricity out. (4) End with the effect on people: less electricity for a population that is growing.
Parallel worked example for Support (model it, do not give the task answer): Order the chain for water shortage: fast-growing population uses an unsustainable amount of water; there is not enough water for everyone; droughts cut the supply further. Begin with the demand: a growing population using too much water.; Add the supply problem: drought.; End with the result: not enough for everyone.. Answer: Growing population uses too much water; droughts cut the supply; not enough water for everyone..
Core — reveal the hint only on request: Water, then the machines that turn water into power, then the power, then the people.
Stretch — no help; when finished: Suggest two ways Rio could break this chain, one on the water side and one on the energy side, and explain which would be more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From drought to blackout.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Put the stages of Rio's energy problem in the correct order.
Support — work through the steps with the group: (1) Start with the cause in the natural world: drought and heavy use mean less water. (2) Ask what Rio makes its electricity from: hydropower, which needs flowing river water. (3) Less water in, less electricity out. (4) End with the effect on people: less electricity for a population that is growing.
Parallel worked example for Support (model it, do not give the task answer): Order the chain for water shortage: fast-growing population uses an unsustainable amount of water; there is not enough water for everyone; droughts cut the supply further. Begin with the demand: a growing population using too much water.; Add the supply problem: drought.; End with the result: not enough for everyone.. Answer: Growing population uses too much water; droughts cut the supply; not enough water for everyone..
Core — reveal the hint only on request: Water, then the machines that turn water into power, then the power, then the people.
Stretch — no help; when finished: Suggest two ways Rio could break this chain, one on the water side and one on the energy side, and explain which would be more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1950 about 16% of Asia's population lived in urban areas. By 2000 it was 36%. By how many percentage points did Asia's urban population share rise between 1950 and 2000?
Answer: 20 percentage points. Reading two values from a graph and finding the difference is a standard maths skill in this paper. 36 − 16 = 20 percentage points. Always subtract the earlier value from the later one and say percentage points when you compare two percentages.
Source of this question: module 3 task ("Reading the urbanisation graph")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Sort the challenges. Reveal the answer; pupils mark their own work in a different colour, then read the "why" together. Same destination for every lane, so one answer serves the whole class.
Answer: Not enough hospitals for the people who need them  →  C  Social; Unemployment of over 20% in the favelas  →  B  Economic; Anoxic water in the rivers and bay  →  A  Environmental
Why: Social challenges are the four services: health care, education, water and energy. Economic challenges are lack of growth, unemployment and crime. Environmental challenges are air, water and waste pollution. Many real problems cross the lines, but the exam expects you to sort them.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From drought to blackout. Reveal the answer; pupils mark their own work in a different colour, then read the "why" together. Same destination for every lane, so one answer serves the whole class.
Answer: Droughts linked to climate change, and heavy water use by a fast-growing population and industry, reduce the amount of water in the rivers  (B); Less water flows through the hydropower stations that make much of Rio's electricity  (D); Less electricity is generated by hydropower  (C); There is less electricity for Rio's people, and the fast-growing, dense population needs more than ever  (A)
Why: Much of Rio's electricity is hydropower, so it depends on river water. Drought and heavy use leave less water in the rivers, so less hydropower is made and there is less electricity for a growing population. That is why the lesson treated water supply and energy supply together.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20 percentage points
Why: Reading two values from a graph and finding the difference is a standard maths skill in this paper. 36 − 16 = 20 percentage points. Always subtract the earlier value from the later one and say percentage points when you compare two percentages.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Urban Issues and Challenges: Rio de Janeiro and Bristol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Urban Issues and Challenges: Rio de Janeiro and Bristol · AQA 8035</a:t>
            </a:r>
            <a:endParaRPr lang="en-US" sz="1800" dirty="0"/>
          </a:p>
        </p:txBody>
      </p:sp>
      <p:sp>
        <p:nvSpPr>
          <p:cNvPr id="10" name="deck-title"/>
          <p:cNvSpPr txBox="1"/>
          <p:nvPr/>
        </p:nvSpPr>
        <p:spPr>
          <a:xfrm>
            <a:off x="548640" y="193344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Rio's challenges: social, economic and environmental</a:t>
            </a:r>
            <a:endParaRPr lang="en-US" sz="2800" dirty="0"/>
          </a:p>
        </p:txBody>
      </p:sp>
      <p:sp>
        <p:nvSpPr>
          <p:cNvPr id="11" name="lessons-card"/>
          <p:cNvSpPr/>
          <p:nvPr/>
        </p:nvSpPr>
        <p:spPr>
          <a:xfrm>
            <a:off x="548640" y="3213608"/>
            <a:ext cx="5287975" cy="2296160"/>
          </a:xfrm>
          <a:prstGeom prst="roundRect">
            <a:avLst>
              <a:gd name="adj" fmla="val 3186"/>
            </a:avLst>
          </a:prstGeom>
          <a:solidFill>
            <a:srgbClr val="ECF0ED"/>
          </a:solidFill>
          <a:ln/>
        </p:spPr>
      </p:sp>
      <p:sp>
        <p:nvSpPr>
          <p:cNvPr id="12" name="lessons"/>
          <p:cNvSpPr txBox="1"/>
          <p:nvPr/>
        </p:nvSpPr>
        <p:spPr>
          <a:xfrm>
            <a:off x="685800" y="330504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Social challenges and solutions in Rio de Janeiro</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Economic challenges faced in Rio de Janeiro</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Environmental challenges in Rio de Janeiro</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As the world's cities grow, who gains, who loses, and how can a city be made a better place for everyone who lives in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one of the FOUR social challenges Rio faces?</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Lack of economic growth</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Unemployment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Water supply</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Air pollution</a:t>
            </a:r>
            <a:endParaRPr lang="en-US" sz="24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Brazil's economy was hit by a deep recession. In which year?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Work that is neither taxed nor monitored by the government, such as selling food on the street, is part of the ___ sector.</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informal  ·  formal  ·  primary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DE1CA"/>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Water supply</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Which of these is one of the FOUR social challenges Rio faces?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four social challenges are health care, education, water supply and energy supply. Unemployment and lack of growth are economic; air pollution is environmental.</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2015</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Brazil's economy was hit by a deep recession. In which year?</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recession hit Brazil in 2015. The lesson's quiz used 2005 as the false alternative.</a:t>
            </a:r>
            <a:endParaRPr lang="en-US" sz="22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informal</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Work that is neither taxed nor monitored by the government, such as selling food on the street, is part of the ___ sector.</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informal sector is untaxed and unmonitored, with poor and irregular cash-in-hand pay.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informal sector</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work that is not taxed or checked by the government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street vendor selling food works in the informal sector.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formal sector</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jobs with a contract, regular pay and tax</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teacher or a bank worker has a job in the formal sector.</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recession</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time when a country's economy shrinks and jobs are lost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Brazil was hit by a deep recession in 2015.</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hydropower</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electricity made from the force of flowing river water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drought means less water in the rivers, so less hydropower.</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anoxic</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without oxygen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Anoxic water cannot support fish.</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industrialisation</a:t>
            </a:r>
            <a:endParaRPr lang="en-US" sz="2600" dirty="0"/>
          </a:p>
        </p:txBody>
      </p:sp>
      <p:sp>
        <p:nvSpPr>
          <p:cNvPr id="23" name="word-rule"/>
          <p:cNvSpPr/>
          <p:nvPr/>
        </p:nvSpPr>
        <p:spPr>
          <a:xfrm>
            <a:off x="8310677" y="2558288"/>
            <a:ext cx="3149498" cy="0"/>
          </a:xfrm>
          <a:prstGeom prst="line">
            <a:avLst/>
          </a:prstGeom>
          <a:ln w="12700">
            <a:solidFill>
              <a:srgbClr val="B2C4B7"/>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growth of factories and industry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Industrialisation brings jobs but also pollution.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fast-growing city struggles to keep up with its people.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has four social challenges: health care, education, water supply and energy supply.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Not everyone can reach a hospital or a school.</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Droughts and a fast-growing population mean there is not enough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Much of Rio's electricity comes from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hydropower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which needs river water.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Less water in the rivers means less electricity.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Rio also has economic challenges.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Brazil's economy was hit by a deep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recession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2015.</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favelas, more than 20% of people are unemployed.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Many people work in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informal sector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where pay is poor and irregular.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Street crime and drug gangs are a serious problem.</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Rapid growth and industry have polluted Rio's air, water and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Some of its water has become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anoxic</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it has lost its oxygen, so fish die.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Social challenges: four services under strain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a question says social challenges, run through the four: health care, education, water supply, energy supply. Pick two and explain each.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same four headings that were opportunities in chapter 2 are also Rio's social challenges: health care, education, water supply and energy supply.</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Water and energy are linked, and the chain is worth learning.</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city has worked on solutions for each of the four, such as new local health centres.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Economic challenges: the informal sector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Informal sector: no tax, no contract, irregular pay. Formal sector: contract, regular pay, tax paid. Say which you mean.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Rio's economy was hit hard by Brazil's deep recession in 2015.</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Many people who cannot find a formal job work in the informal sector.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Crime is a big issue in Rio. There are many gangs trafficking drugs in the favelas, and street crime affects everyone.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Worked example: Economic challenges: the informal sector</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In 1975 about 25% of Africa's population and 66% of Europe's population lived in urban areas. What was the difference between the two percentages?</a:t>
            </a:r>
            <a:endParaRPr lang="en-US" sz="2200" dirty="0"/>
          </a:p>
        </p:txBody>
      </p:sp>
      <p:sp>
        <p:nvSpPr>
          <p:cNvPr id="9" name="step-box"/>
          <p:cNvSpPr/>
          <p:nvPr/>
        </p:nvSpPr>
        <p:spPr>
          <a:xfrm>
            <a:off x="548640" y="2655824"/>
            <a:ext cx="2464994" cy="1974088"/>
          </a:xfrm>
          <a:prstGeom prst="roundRect">
            <a:avLst>
              <a:gd name="adj" fmla="val 3706"/>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Pick out the two figures: Africa 25%, Europe 66%.</a:t>
            </a:r>
            <a:endParaRPr lang="en-US" sz="1800" dirty="0"/>
          </a:p>
        </p:txBody>
      </p:sp>
      <p:sp>
        <p:nvSpPr>
          <p:cNvPr id="13" name="arrow"/>
          <p:cNvSpPr/>
          <p:nvPr/>
        </p:nvSpPr>
        <p:spPr>
          <a:xfrm>
            <a:off x="3086786" y="3505708"/>
            <a:ext cx="274320" cy="274320"/>
          </a:xfrm>
          <a:prstGeom prst="rightArrow">
            <a:avLst/>
          </a:prstGeom>
          <a:solidFill>
            <a:srgbClr val="B8862B"/>
          </a:solidFill>
          <a:ln/>
        </p:spPr>
      </p:sp>
      <p:sp>
        <p:nvSpPr>
          <p:cNvPr id="14" name="step-box"/>
          <p:cNvSpPr/>
          <p:nvPr/>
        </p:nvSpPr>
        <p:spPr>
          <a:xfrm>
            <a:off x="3425114" y="2655824"/>
            <a:ext cx="2464994" cy="1974088"/>
          </a:xfrm>
          <a:prstGeom prst="roundRect">
            <a:avLst>
              <a:gd name="adj" fmla="val 3706"/>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Difference means subtract the smaller from the larger: 66 − 25.</a:t>
            </a:r>
            <a:endParaRPr lang="en-US" sz="1800" dirty="0"/>
          </a:p>
        </p:txBody>
      </p:sp>
      <p:sp>
        <p:nvSpPr>
          <p:cNvPr id="18" name="arrow"/>
          <p:cNvSpPr/>
          <p:nvPr/>
        </p:nvSpPr>
        <p:spPr>
          <a:xfrm>
            <a:off x="5963260" y="3505708"/>
            <a:ext cx="274320" cy="274320"/>
          </a:xfrm>
          <a:prstGeom prst="rightArrow">
            <a:avLst/>
          </a:prstGeom>
          <a:solidFill>
            <a:srgbClr val="B8862B"/>
          </a:solidFill>
          <a:ln/>
        </p:spPr>
      </p:sp>
      <p:sp>
        <p:nvSpPr>
          <p:cNvPr id="19" name="step-box"/>
          <p:cNvSpPr/>
          <p:nvPr/>
        </p:nvSpPr>
        <p:spPr>
          <a:xfrm>
            <a:off x="6301588" y="2655824"/>
            <a:ext cx="2464994" cy="1974088"/>
          </a:xfrm>
          <a:prstGeom prst="roundRect">
            <a:avLst>
              <a:gd name="adj" fmla="val 3706"/>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66 − 25 = 41.</a:t>
            </a:r>
            <a:endParaRPr lang="en-US" sz="1800" dirty="0"/>
          </a:p>
        </p:txBody>
      </p:sp>
      <p:sp>
        <p:nvSpPr>
          <p:cNvPr id="23" name="arrow"/>
          <p:cNvSpPr/>
          <p:nvPr/>
        </p:nvSpPr>
        <p:spPr>
          <a:xfrm>
            <a:off x="8839733" y="3505708"/>
            <a:ext cx="274320" cy="274320"/>
          </a:xfrm>
          <a:prstGeom prst="rightArrow">
            <a:avLst/>
          </a:prstGeom>
          <a:solidFill>
            <a:srgbClr val="B8862B"/>
          </a:solidFill>
          <a:ln/>
        </p:spPr>
      </p:sp>
      <p:sp>
        <p:nvSpPr>
          <p:cNvPr id="24" name="step-box"/>
          <p:cNvSpPr/>
          <p:nvPr/>
        </p:nvSpPr>
        <p:spPr>
          <a:xfrm>
            <a:off x="9178061" y="2655824"/>
            <a:ext cx="2464994" cy="1974088"/>
          </a:xfrm>
          <a:prstGeom prst="roundRect">
            <a:avLst>
              <a:gd name="adj" fmla="val 3706"/>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Answer in percentage points: 41.</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41 percentage points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Environmental challenges: air, water and waste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Anoxic = no oxygen. It is the result of pollution, not a kind of pollution: sewage causes the water to lose its oxygen.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Rapid urbanisation and industrialisation in poorer parts of the world lead to pollution, and Rio shows all three kinds the lesson named: air pollution, water pollution and waste pollution.</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Water pollution is the most striking. Sewage from homes that are not connected to the drains, and waste from industry, flow into the rivers and the bay.</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When you explain pollution in Rio, build the chain: more people and more industry, more waste of a certain kind, not enough treatment or collection, then the effect on the environment and on people's health.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Sort the challenges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challenge in Rio to the category the lesson put it in.</a:t>
            </a:r>
            <a:endParaRPr lang="en-US" sz="2400" dirty="0"/>
          </a:p>
        </p:txBody>
      </p:sp>
      <p:sp>
        <p:nvSpPr>
          <p:cNvPr id="11" name="match-card"/>
          <p:cNvSpPr/>
          <p:nvPr/>
        </p:nvSpPr>
        <p:spPr>
          <a:xfrm>
            <a:off x="777240" y="2468331"/>
            <a:ext cx="5135728" cy="1165352"/>
          </a:xfrm>
          <a:prstGeom prst="roundRect">
            <a:avLst>
              <a:gd name="adj" fmla="val 6277"/>
            </a:avLst>
          </a:prstGeom>
          <a:solidFill>
            <a:srgbClr val="F0F3F1"/>
          </a:solidFill>
          <a:ln/>
        </p:spPr>
      </p:sp>
      <p:sp>
        <p:nvSpPr>
          <p:cNvPr id="12" name="match-hex"/>
          <p:cNvSpPr/>
          <p:nvPr/>
        </p:nvSpPr>
        <p:spPr>
          <a:xfrm>
            <a:off x="850392" y="2884715"/>
            <a:ext cx="384048" cy="332586"/>
          </a:xfrm>
          <a:prstGeom prst="hexagon">
            <a:avLst/>
          </a:prstGeom>
          <a:solidFill>
            <a:srgbClr val="3F6B4A"/>
          </a:solidFill>
          <a:ln/>
        </p:spPr>
      </p:sp>
      <p:sp>
        <p:nvSpPr>
          <p:cNvPr id="13" name="match-hex-label"/>
          <p:cNvSpPr txBox="1"/>
          <p:nvPr/>
        </p:nvSpPr>
        <p:spPr>
          <a:xfrm>
            <a:off x="850392"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Not enough hospitals for the people who need them</a:t>
            </a:r>
            <a:endParaRPr lang="en-US" sz="2200" dirty="0"/>
          </a:p>
        </p:txBody>
      </p:sp>
      <p:sp>
        <p:nvSpPr>
          <p:cNvPr id="15" name="match-card"/>
          <p:cNvSpPr/>
          <p:nvPr/>
        </p:nvSpPr>
        <p:spPr>
          <a:xfrm>
            <a:off x="6278728" y="2468331"/>
            <a:ext cx="5135728" cy="1165352"/>
          </a:xfrm>
          <a:prstGeom prst="roundRect">
            <a:avLst>
              <a:gd name="adj" fmla="val 6277"/>
            </a:avLst>
          </a:prstGeom>
          <a:solidFill>
            <a:srgbClr val="F6F0E6"/>
          </a:solidFill>
          <a:ln/>
        </p:spPr>
      </p:sp>
      <p:sp>
        <p:nvSpPr>
          <p:cNvPr id="16" name="match-hex"/>
          <p:cNvSpPr/>
          <p:nvPr/>
        </p:nvSpPr>
        <p:spPr>
          <a:xfrm>
            <a:off x="6351880" y="2884715"/>
            <a:ext cx="384048" cy="332586"/>
          </a:xfrm>
          <a:prstGeom prst="hexagon">
            <a:avLst/>
          </a:prstGeom>
          <a:solidFill>
            <a:srgbClr val="B8862B"/>
          </a:solidFill>
          <a:ln/>
        </p:spPr>
      </p:sp>
      <p:sp>
        <p:nvSpPr>
          <p:cNvPr id="17" name="match-hex-label"/>
          <p:cNvSpPr txBox="1"/>
          <p:nvPr/>
        </p:nvSpPr>
        <p:spPr>
          <a:xfrm>
            <a:off x="6351880" y="288471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Environmental</a:t>
            </a:r>
            <a:endParaRPr lang="en-US" sz="2200" dirty="0"/>
          </a:p>
        </p:txBody>
      </p:sp>
      <p:sp>
        <p:nvSpPr>
          <p:cNvPr id="19" name="match-card"/>
          <p:cNvSpPr/>
          <p:nvPr/>
        </p:nvSpPr>
        <p:spPr>
          <a:xfrm>
            <a:off x="777240" y="3725123"/>
            <a:ext cx="5135728" cy="1165352"/>
          </a:xfrm>
          <a:prstGeom prst="roundRect">
            <a:avLst>
              <a:gd name="adj" fmla="val 6277"/>
            </a:avLst>
          </a:prstGeom>
          <a:solidFill>
            <a:srgbClr val="F0F3F1"/>
          </a:solidFill>
          <a:ln/>
        </p:spPr>
      </p:sp>
      <p:sp>
        <p:nvSpPr>
          <p:cNvPr id="20" name="match-hex"/>
          <p:cNvSpPr/>
          <p:nvPr/>
        </p:nvSpPr>
        <p:spPr>
          <a:xfrm>
            <a:off x="850392" y="4141507"/>
            <a:ext cx="384048" cy="332586"/>
          </a:xfrm>
          <a:prstGeom prst="hexagon">
            <a:avLst/>
          </a:prstGeom>
          <a:solidFill>
            <a:srgbClr val="3F6B4A"/>
          </a:solidFill>
          <a:ln/>
        </p:spPr>
      </p:sp>
      <p:sp>
        <p:nvSpPr>
          <p:cNvPr id="21" name="match-hex-label"/>
          <p:cNvSpPr txBox="1"/>
          <p:nvPr/>
        </p:nvSpPr>
        <p:spPr>
          <a:xfrm>
            <a:off x="850392"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725123"/>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Unemployment of over 20% in the favelas</a:t>
            </a:r>
            <a:endParaRPr lang="en-US" sz="2200" dirty="0"/>
          </a:p>
        </p:txBody>
      </p:sp>
      <p:sp>
        <p:nvSpPr>
          <p:cNvPr id="23" name="match-card"/>
          <p:cNvSpPr/>
          <p:nvPr/>
        </p:nvSpPr>
        <p:spPr>
          <a:xfrm>
            <a:off x="6278728" y="3725123"/>
            <a:ext cx="5135728" cy="1165352"/>
          </a:xfrm>
          <a:prstGeom prst="roundRect">
            <a:avLst>
              <a:gd name="adj" fmla="val 6277"/>
            </a:avLst>
          </a:prstGeom>
          <a:solidFill>
            <a:srgbClr val="F6F0E6"/>
          </a:solidFill>
          <a:ln/>
        </p:spPr>
      </p:sp>
      <p:sp>
        <p:nvSpPr>
          <p:cNvPr id="24" name="match-hex"/>
          <p:cNvSpPr/>
          <p:nvPr/>
        </p:nvSpPr>
        <p:spPr>
          <a:xfrm>
            <a:off x="6351880" y="4141507"/>
            <a:ext cx="384048" cy="332586"/>
          </a:xfrm>
          <a:prstGeom prst="hexagon">
            <a:avLst/>
          </a:prstGeom>
          <a:solidFill>
            <a:srgbClr val="B8862B"/>
          </a:solidFill>
          <a:ln/>
        </p:spPr>
      </p:sp>
      <p:sp>
        <p:nvSpPr>
          <p:cNvPr id="25" name="match-hex-label"/>
          <p:cNvSpPr txBox="1"/>
          <p:nvPr/>
        </p:nvSpPr>
        <p:spPr>
          <a:xfrm>
            <a:off x="6351880" y="414150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725123"/>
            <a:ext cx="4541368" cy="116535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Economic</a:t>
            </a:r>
            <a:endParaRPr lang="en-US" sz="2200" dirty="0"/>
          </a:p>
        </p:txBody>
      </p:sp>
      <p:sp>
        <p:nvSpPr>
          <p:cNvPr id="27" name="match-card"/>
          <p:cNvSpPr/>
          <p:nvPr/>
        </p:nvSpPr>
        <p:spPr>
          <a:xfrm>
            <a:off x="777240" y="4981915"/>
            <a:ext cx="5135728" cy="824484"/>
          </a:xfrm>
          <a:prstGeom prst="roundRect">
            <a:avLst>
              <a:gd name="adj" fmla="val 8872"/>
            </a:avLst>
          </a:prstGeom>
          <a:solidFill>
            <a:srgbClr val="F0F3F1"/>
          </a:solidFill>
          <a:ln/>
        </p:spPr>
      </p:sp>
      <p:sp>
        <p:nvSpPr>
          <p:cNvPr id="28" name="match-hex"/>
          <p:cNvSpPr/>
          <p:nvPr/>
        </p:nvSpPr>
        <p:spPr>
          <a:xfrm>
            <a:off x="850392" y="5227865"/>
            <a:ext cx="384048" cy="332586"/>
          </a:xfrm>
          <a:prstGeom prst="hexagon">
            <a:avLst/>
          </a:prstGeom>
          <a:solidFill>
            <a:srgbClr val="3F6B4A"/>
          </a:solidFill>
          <a:ln/>
        </p:spPr>
      </p:sp>
      <p:sp>
        <p:nvSpPr>
          <p:cNvPr id="29" name="match-hex-label"/>
          <p:cNvSpPr txBox="1"/>
          <p:nvPr/>
        </p:nvSpPr>
        <p:spPr>
          <a:xfrm>
            <a:off x="850392" y="52278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981915"/>
            <a:ext cx="4541368"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Anoxic water in the rivers and bay</a:t>
            </a:r>
            <a:endParaRPr lang="en-US" sz="2200" dirty="0"/>
          </a:p>
        </p:txBody>
      </p:sp>
      <p:sp>
        <p:nvSpPr>
          <p:cNvPr id="31" name="match-card"/>
          <p:cNvSpPr/>
          <p:nvPr/>
        </p:nvSpPr>
        <p:spPr>
          <a:xfrm>
            <a:off x="6278728" y="4981915"/>
            <a:ext cx="5135728" cy="824484"/>
          </a:xfrm>
          <a:prstGeom prst="roundRect">
            <a:avLst>
              <a:gd name="adj" fmla="val 8872"/>
            </a:avLst>
          </a:prstGeom>
          <a:solidFill>
            <a:srgbClr val="F6F0E6"/>
          </a:solidFill>
          <a:ln/>
        </p:spPr>
      </p:sp>
      <p:sp>
        <p:nvSpPr>
          <p:cNvPr id="32" name="match-hex"/>
          <p:cNvSpPr/>
          <p:nvPr/>
        </p:nvSpPr>
        <p:spPr>
          <a:xfrm>
            <a:off x="6351880" y="5227865"/>
            <a:ext cx="384048" cy="332586"/>
          </a:xfrm>
          <a:prstGeom prst="hexagon">
            <a:avLst/>
          </a:prstGeom>
          <a:solidFill>
            <a:srgbClr val="B8862B"/>
          </a:solidFill>
          <a:ln/>
        </p:spPr>
      </p:sp>
      <p:sp>
        <p:nvSpPr>
          <p:cNvPr id="33" name="match-hex-label"/>
          <p:cNvSpPr txBox="1"/>
          <p:nvPr/>
        </p:nvSpPr>
        <p:spPr>
          <a:xfrm>
            <a:off x="6351880" y="5227865"/>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981915"/>
            <a:ext cx="4541368" cy="82448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Social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Sort the challenges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Sort the challenges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Social challenges are about the four services: health care, education, water, energy.</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Economic challenges are about money and jobs: lack of growth, unemployment, crime.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Environmental challenges are about the air, water and land: the three kinds of pollution.</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hospital is a service; unemployment is jobs; oxygen-free water is the environment.</a:t>
            </a:r>
            <a:endParaRPr lang="en-US" sz="1800" dirty="0"/>
          </a:p>
        </p:txBody>
      </p:sp>
      <p:sp>
        <p:nvSpPr>
          <p:cNvPr id="17" name="col-Core"/>
          <p:cNvSpPr/>
          <p:nvPr/>
        </p:nvSpPr>
        <p:spPr>
          <a:xfrm>
            <a:off x="6425403" y="2395728"/>
            <a:ext cx="2471666" cy="3749040"/>
          </a:xfrm>
          <a:prstGeom prst="roundRect">
            <a:avLst>
              <a:gd name="adj" fmla="val 2220"/>
            </a:avLst>
          </a:prstGeom>
          <a:solidFill>
            <a:srgbClr val="D5DE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Services, money or the natural environment? Each challenge belongs to exactly one of the three.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favela is described as a social challenge that creates environmental challenges, and give one example of how an economic challenge in Rio can lead to a social one.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From drought to blackout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Put the stages of Rio's energy problem in the correct order.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There is less electricity for Rio's people, and the fast-growing, dense population needs more than ever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Droughts linked to climate change, and heavy water use by a fast-growing population and industry, reduce the amount of water in the rivers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Less electricity is generated by hydropower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Less water flows through the hydropower stations that make much of Rio's electricity</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From drought to blackout</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Put the stages of Rio's energy problem in the correct order.</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CF0ED"/>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cause in the natural world: drought and heavy use mean less water.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Ask what Rio makes its electricity from: hydropower, which needs flowing river water.</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Less water in, less electricity out.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End with the effect on people: less electricity for a population that is growing.</a:t>
            </a:r>
            <a:endParaRPr lang="en-US" sz="1800" dirty="0"/>
          </a:p>
        </p:txBody>
      </p:sp>
      <p:sp>
        <p:nvSpPr>
          <p:cNvPr id="17" name="col-Core"/>
          <p:cNvSpPr/>
          <p:nvPr/>
        </p:nvSpPr>
        <p:spPr>
          <a:xfrm>
            <a:off x="5490762" y="2578608"/>
            <a:ext cx="2938987" cy="3566160"/>
          </a:xfrm>
          <a:prstGeom prst="roundRect">
            <a:avLst>
              <a:gd name="adj" fmla="val 1867"/>
            </a:avLst>
          </a:prstGeom>
          <a:solidFill>
            <a:srgbClr val="D5DED7"/>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Water, then the machines that turn water into power, then the power, then the people.</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Suggest two ways Rio could break this chain, one on the water side and one on the energy side, and explain which would be more sustainable.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61442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1950 about 16% of Asia's population lived in urban areas. By 2000 it was 36%. By how many percentage points did Asia's urban population share rise between 1950 and 2000?</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(percentage points):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Sort the challenges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Not enough hospitals for the people who need them  →  C  Social</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Unemployment of over 20% in the favelas  →  B  Economic</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Anoxic water in the rivers and bay  →  A  Environmental</a:t>
            </a:r>
            <a:endParaRPr lang="en-US" sz="24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Social challenges are the four services: health care, education, water and energy. Economic challenges are lack of growth, unemployment and crime. Environmental challenges are air, water and waste pollution. Many real problems cross the lines, but the exam expects you to sort them.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From drought to blackout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Droughts linked to climate change, and heavy water use by a fast-growing population and industry, reduce the amount of water in the rivers  (B)</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Less water flows through the hydropower stations that make much of Rio's electricity  (D)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Less electricity is generated by hydropower  (C)</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There is less electricity for Rio's people, and the fast-growing, dense population needs more than ever  (A)</a:t>
            </a:r>
            <a:endParaRPr lang="en-US" sz="20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Much of Rio's electricity is hydropower, so it depends on river water. Drought and heavy use leave less water in the rivers, so less hydropower is made and there is less electricity for a growing population. That is why the lesson treated water supply and energy supply together.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1950 about 16% of Asia's population lived in urban areas. By 2000 it was 36%. By how many percentage points did Asia's urban population share rise between 1950 and 2000?</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20 percentage points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Reading two values from a graph and finding the difference is a standard maths skill in this paper. 36 − 16 = 20 percentage points. Always subtract the earlier value from the later one and say percentage points when you compare two percentages.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Urban Issues and Challenges: Rio de Janeiro and Bristol · Chapter 3: Rio's challenges: social, economic and environmental</dc:title>
  <dc:subject>Geography · Year 9</dc:subject>
  <dc:creator>Dr Vitor Merissi de Carvalho</dc:creator>
  <cp:lastModifiedBy>Dr Vitor Merissi de Carvalho</cp:lastModifiedBy>
  <cp:revision>1</cp:revision>
  <dcterms:created xsi:type="dcterms:W3CDTF">2026-10-19T06:07:47Z</dcterms:created>
  <dcterms:modified xsi:type="dcterms:W3CDTF">2026-10-19T06:07:47Z</dcterms:modified>
</cp:coreProperties>
</file>