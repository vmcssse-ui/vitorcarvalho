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4892650-23d3-49a5-1894-8f4301a3777c}">
          <p14:sldIdLst>
            <p14:sldId id="256"/>
          </p14:sldIdLst>
        </p14:section>
        <p14:section name="Gate" id="{5a99f6dc-1c07-ec81-87b9-f7b78127ca6b}">
          <p14:sldIdLst>
            <p14:sldId id="257"/>
            <p14:sldId id="258"/>
          </p14:sldIdLst>
        </p14:section>
        <p14:section name="Pre-teach" id="{a1333892-d49c-9ab7-4e02-d9f20b030338}">
          <p14:sldIdLst>
            <p14:sldId id="259"/>
            <p14:sldId id="260"/>
          </p14:sldIdLst>
        </p14:section>
        <p14:section name="Read-along" id="{b23530aa-2a06-39fa-12e1-206f6c709b94}">
          <p14:sldIdLst>
            <p14:sldId id="261"/>
            <p14:sldId id="262"/>
          </p14:sldIdLst>
        </p14:section>
        <p14:section name="Teach" id="{da2ab841-de79-af37-4198-e14da1939649}">
          <p14:sldIdLst>
            <p14:sldId id="263"/>
            <p14:sldId id="264"/>
            <p14:sldId id="265"/>
            <p14:sldId id="266"/>
            <p14:sldId id="267"/>
          </p14:sldIdLst>
        </p14:section>
        <p14:section name="Routes" id="{0b2543c5-f2b7-0b1e-3910-2fd378ffb5b6}">
          <p14:sldIdLst>
            <p14:sldId id="268"/>
            <p14:sldId id="269"/>
            <p14:sldId id="270"/>
            <p14:sldId id="271"/>
          </p14:sldIdLst>
        </p14:section>
        <p14:section name="Close" id="{a47bbbb4-de2d-a6f3-4948-6d038f25c2d1}">
          <p14:sldIdLst>
            <p14:sldId id="272"/>
          </p14:sldIdLst>
        </p14:section>
        <p14:section name="Answers" id="{fe1f6ac0-8637-d2cd-12cb-c6a9ef034b69}">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Fracking: should the UK extract its shale gas?. How hydraulic fracturing gets gas out of shale rock, the arguments for and against doing it in the UK, and how to describe where the fracking licences are on a map.
This deck covers the department's lesson: 6 (Fracking: extracting shale gas in the UK: How is shale gas extracted by fracking, and should the UK allow it?).
Read the big question aloud: "Can the world supply enough food, water and energy for everyone without using up the planet, and how should the UK manage its own supply?"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is pumped down the well at high pressure to fracture the shale?  →  A   A mixture of water, sand and chemicals
2. In which year were small tremors reported near Blackpool, linked to fracking?  →  2011
3. Burning shale gas releases about ___ as much carbon dioxide as burning coal.  →  half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A mixture of water, sand and chemicals. Water, sand and chemicals are injected at high pressure; the pressure cracks the shale, the sand props the cracks open, and the gas flows out to the well head.
2. 2011. The lesson's card: in 2011 small tremors near Blackpool were reported, the main evidence that fracking can cause earthquakes.
3. half. Gas is cleaner than coal: it releases about half as much carbon dioxide for the same energy. That is a key argument FOR fracking, though gas is still a fossil fuel.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fracking: pumping water, sand and chemicals into rock at high pressure to crack it and release gas. Example: "Fracking cracks the shale so the gas can escape up the well."
• shale: a rock formed from layers of mud, which can hold gas and oil trapped inside it. Example: "There is a great deal of shale under northern England."
• borehole: a deep hole drilled into the ground. Example: "Each fracking borehole needs millions of gallons of water."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fossil fuel: coal, oil or gas, which release carbon dioxide when burnt. Example: "Shale gas is still a fossil fuel."
• tremor: a small earthquake. Example: "Small tremors were felt near Blackpool in 2011."
• licence: official permission to do something in a particular place. Example: "Companies need a licence before they can explore for shale gas."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Fracking is a way of getting gas out of shale rock deep underground.
2. A well is drilled down into the shale.
3. Water, sand and chemicals are pumped down the well at very high pressure.
4. The pressure cracks the shale, and the gas trapped inside escapes.
5. The gas flows back up the well to the surface.
6. The UK has huge shale gas reserves, worth an estimated £1.5 trillion.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Supporters say shale gas is cheaper, creates jobs and gives the UK more energy security.
8. Burning gas releases half as much carbon dioxide as burning coal.
9. Opponents say fracking can cause small earthquakes and poison drinking water.
10. Each borehole needs around four million gallons of water.
11. Shale gas is still a fossil fuel, so it adds to climate change.
12. Fracking is banned in France and Bulgaria, and public opposition has stopped it in the UK.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is fracking?. Say it in your own words, then check understanding with a quick question: ask a pupil from the pre-teach group first, since they met these words and ideas before the lesson. Pupils try to recall before you re-explain.
Fracking is short for hydraulic fracturing. It is a way of recovering gas, and sometimes oil, from shale rock. Shale is a rock made of compressed layers of mud, and the gas is held in tiny spaces inside it, so it cannot simply be pumped out like gas from a conventional field. Instead, engineers drill a well deep into the earth until it reaches the shale, often turning the drill to run sideways along the rock layer.
Then a mixture of water, sand and chemicals is pumped down the well at very high pressure. The pressure fractures the shale, opening fissures, and the sand grains prop the cracks open. The gas trapped inside is released and flows back up the well to the wellhead at the surface, where it is collected and piped away. The whole operation happens far below the water table, but the well has to pass through it on the way down, which is where many of the worries begin.
Shale gas is a fossil fuel like any other natural gas. What makes it different is where it sits and how it has to be extracted. The UK is thought to have enormous shale reserves, put at some £1.5 trillion in value, and the government has argued that using them could give the UK greater energy security, growth and jobs.
Tip: Four steps, in order: drill the well; pump down water, sand and chemicals at high pressure; the shale fractures; gas flows back up. Practise saying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case for fracking. Say it in your own words, then check understanding with a quick question: ask a pupil from the pre-teach group first, since they met these words and ideas before the lesson. Pupils try to recall before you re-explain.
Supporters start with the size of the prize. The UK's shale gas reserves are very large, valued at about £1.5 trillion, and the government believes using them could bring greater energy security, growth and jobs. If fracking is successful the economic benefit could be massive, with gas sold to other countries as well as used at home, and more supply should mean cheaper energy for households and industry.
There are local winners too. Landowners who sell or rent their land to fracking companies make a profit, and the companies bring work to the areas where they drill. Supporters also make an environmental argument: gas is cleaner than coal, releasing about half as much carbon dioxide when it is burnt, so replacing coal-fired power with gas would cut emissions while the country builds its renewable capacity.
Tip: Sort every argument into economic, social or environmental. Supporters have strong economic points, one social point (landowners) and one environmental point (cleaner than coal).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case against fracking. Say it in your own words, then check understanding with a quick question: ask a pupil from the pre-teach group first, since they met these words and ideas before the lesson. Pupils try to recall before you re-explain.
Opponents answer the environmental point first. Shale gas is one more high-carbon fossil fuel: cleaner than coal or not, burning it still adds to climate change, and money spent on fracking could be money taken from the greener, renewable sources we need instead. Each borehole swallows a great deal of water, around four million gallons, all of which has to be brought to the site, and the chemicals in the fracking fluid raise fears of poisoned drinking water supplies if they leak into the water table.
Then there is the ground itself. Fracking can set off earthquakes: small tremors were reported near Blackpool in 2011, during test drilling. Add the high financial costs of extraction, the fall in local house prices near a site, and the fact that it is an issue people feel strongly about. Fracking is banned in France and Bulgaria, and in the UK public opposition has so far stopped it being used.
A balanced answer classifies these impacts. Earthquakes, water use, water pollution and climate change are environmental; extraction costs, house prices and money diverted from renewables are economic; public opposition and the effect on local communities are social. Many points fit more than one heading, and saying so shows understanding.
Worked example — model it step by step, thinking aloud: Classify this argument as environmental, economic or social, and explain your choice: money spent on fracking could be money not spent on developing greener, renewable energy. (1) Ask what kind of thing is at stake: money, people or the natural world? (2) The argument is about where investment goes, so it is economic. (3) It also has an environmental consequence: less renewable energy means more carbon in the long run. (4) Classify it as economic, and note the environmental link in your explanation. Answer: Economic, because it is about where money is invested; it has an environmental consequence too, since less investment in renewables means slower progress on climate change..
Tip: Give the examiner at least two arguments on each side before you reach a decision. A one-sided answer caps your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case against fracking. Say it in your own words, then check understanding with a quick question: ask a pupil from the pre-teach group first, since they met these words and ideas before the lesson. Pupils try to recall before you re-explain.
Opponents answer the environmental point first. Shale gas is one more high-carbon fossil fuel: cleaner than coal or not, burning it still adds to climate change, and money spent on fracking could be money taken from the greener, renewable sources we need instead. Each borehole swallows a great deal of water, around four million gallons, all of which has to be brought to the site, and the chemicals in the fracking fluid raise fears of poisoned drinking water supplies if they leak into the water table.
Then there is the ground itself. Fracking can set off earthquakes: small tremors were reported near Blackpool in 2011, during test drilling. Add the high financial costs of extraction, the fall in local house prices near a site, and the fact that it is an issue people feel strongly about. Fracking is banned in France and Bulgaria, and in the UK public opposition has so far stopped it being used.
A balanced answer classifies these impacts. Earthquakes, water use, water pollution and climate change are environmental; extraction costs, house prices and money diverted from renewables are economic; public opposition and the effect on local communities are social. Many points fit more than one heading, and saying so shows understanding.
Worked example — model it step by step, thinking aloud: Classify this argument as environmental, economic or social, and explain your choice: money spent on fracking could be money not spent on developing greener, renewable energy. (1) Ask what kind of thing is at stake: money, people or the natural world? (2) The argument is about where investment goes, so it is economic. (3) It also has an environmental consequence: less renewable energy means more carbon in the long run. (4) Classify it as economic, and note the environmental link in your explanation. Answer: Economic, because it is about where money is invested; it has an environmental consequence too, since less investment in renewables means slower progress on climate change..
Tip: Give the examiner at least two arguments on each side before you reach a decision. A one-sided answer caps your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Describing a distribution: where are the fracking licences?. Say it in your own words, then check understanding with a quick question: ask a pupil from the pre-teach group first, since they met these words and ideas before the lesson. Pupils try to recall before you re-explain.
Two exam-style tasks in this lesson used maps. The command word in both was describe, which means saying what the map shows, where, without explaining why. Distribution means the way something is spread out. A good description names where the largest areas are, where the smallest are, and whether there is a general pattern, using compass points and place names from the map.
The UK map showed areas with existing licences for fracking and areas under consideration. The licensed areas are spread widely across England rather than bunched in one place. The largest blocks lie in eastern England, in the band of country between Kingston-upon-Hull and Nottingham, with other big areas to the south of London, in South Wales and in north-west England. Smaller patches are dotted around the country: in south-east Kent, around Bristol, and towards the Scottish border. A two-mark answer gives the basic pattern and then develops it with named places like these.
The four-mark version asked about the global distribution of shale reserves, using a map with figures in trillion cubic feet. The sentence frame is the same: say whether the distribution is even or uneven; name the continent or country with the largest reserves and give its figure; name the one with the smallest and give its figure; then sum up the overall pattern. Numbers from the key are what earn the development marks.
Tip: Describe a distribution in three moves: general pattern, largest areas with names, smaller areas with names. No because.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How fracking works.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of fracking in the correct order.
Support — work through the steps with the group: (1) Nothing can happen until there is a hole. What has to be drilled first? (2) Then something goes DOWN the well. What is pumped down, and how hard? (3) The pumping has an effect on the rock. What happens to the shale? (4) Finally something comes UP the well. What is it?
Parallel worked example for Support (model it, do not give the task answer): Put these stages of conventional gas extraction in order: gas is piped to homes; a well is drilled into a gas field; gas rises up the well under its own pressure. Drill first.; Gas rises.; Gas is piped away last.. Answer: A well is drilled into a gas field; gas rises up the well under its own pressure; gas is piped to homes..
Core — reveal the hint only on request: Drill, pump, crack, flow. Down first, then up.
Stretch — no help; when finished: Explain why the sand in the fracking fluid matters, and why the well passing through the water table worries opponents.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How fracking works.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of fracking in the correct order.
Support — work through the steps with the group: (1) Nothing can happen until there is a hole. What has to be drilled first? (2) Then something goes DOWN the well. What is pumped down, and how hard? (3) The pumping has an effect on the rock. What happens to the shale? (4) Finally something comes UP the well. What is it?
Parallel worked example for Support (model it, do not give the task answer): Put these stages of conventional gas extraction in order: gas is piped to homes; a well is drilled into a gas field; gas rises up the well under its own pressure. Drill first.; Gas rises.; Gas is piped away last.. Answer: A well is drilled into a gas field; gas rises up the well under its own pressure; gas is piped to homes..
Core — reveal the hint only on request: Drill, pump, crack, flow. Down first, then up.
Stretch — no help; when finished: Explain why the sand in the fracking fluid matters, and why the well passing through the water table worries opponents.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much water?.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Each fracking borehole requires around four million gallons of water, which has to be transported to the site. How many million gallons would 5 boreholes need?
Support — work through the steps with the group: (1) Write down the amount for one borehole: 4 million gallons. (2) Count the boreholes: 5. (3) Same amount, five times: multiply 4 by 5. (4) Keep the units: the answer is in million gallons.
Parallel worked example for Support (model it, do not give the task answer): If each borehole needs around four million gallons, how many million gallons do 3 boreholes need? 4 million per borehole.; 3 boreholes: 4 × 3 = 12.. Answer: 12 million gallons.
Core — reveal the hint only on request: One borehole is 4 million gallons. Multiply by the number of boreholes.
Stretch — no help; when finished: Explain why the water has to be transported to the site, and why that makes water use an economic as well as an environmental argument against fracking.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much water?.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Each fracking borehole requires around four million gallons of water, which has to be transported to the site. How many million gallons would 5 boreholes need?
Support — work through the steps with the group: (1) Write down the amount for one borehole: 4 million gallons. (2) Count the boreholes: 5. (3) Same amount, five times: multiply 4 by 5. (4) Keep the units: the answer is in million gallons.
Parallel worked example for Support (model it, do not give the task answer): If each borehole needs around four million gallons, how many million gallons do 3 boreholes need? 4 million per borehole.; 3 boreholes: 4 × 3 = 12.. Answer: 12 million gallons.
Core — reveal the hint only on request: One borehole is 4 million gallons. Multiply by the number of boreholes.
Stretch — no help; when finished: Explain why the water has to be transported to the site, and why that makes water use an economic as well as an environmental argument against fracking.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is pumped down the well at high pressure to fracture the shale?
Answer: D   A mixture of water, sand and chemicals. Water, sand and chemicals are injected at high pressure; the pressure cracks the shale, the sand props the cracks open, and the gas flows out to the well head.
Source of this question: gate item 1 re-asked (options rotated) — this chapter has no third quick-check module.
The ebook also holds task 3, "Should the UK allow fracking?",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How fracking works. Reveal the answer; pupils mark their own work in a different colour, then read the "why" together. Same destination for every lane, so one answer serves the whole class.
Answer: A well is drilled down into the earth to reach the shale rock  (A); A mixture of water, sand and chemicals is pumped down the well at high pressure  (C); The shale cracks (fractures), releasing the gas trapped inside it  (D); The gas flows back up the well to the surface  (B)
Why: Drill the well into the shale; pump water, sand and chemicals down at high pressure; the shale fractures and releases its gas; the gas flows back up the well to the surface.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How much water?. Reveal the answer; pupils mark their own work in a different colour, then read the "why" together. Same destination for every lane, so one answer serves the whole class.
Answer: 20 million gallons
Why: Every borehole needs the same four million gallons, so five boreholes need 4 × 5 = 20 million gallons.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A mixture of water, sand and chemicals
Why: Water, sand and chemicals are injected at high pressure; the pressure cracks the shale, the sand props the cracks open, and the gas flows out to the well head.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CE4DE"/>
          </a:solidFill>
          <a:ln w="12700">
            <a:solidFill>
              <a:srgbClr val="DCE4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9 · The Challenge of Resource Management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CE4DE"/>
          </a:solidFill>
          <a:ln w="12700">
            <a:solidFill>
              <a:srgbClr val="DCE4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9 · The Challenge of Resource Management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9E1D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Challenge of Resource Management · AQA 8035</a:t>
            </a:r>
            <a:endParaRPr lang="en-US" sz="1800" dirty="0"/>
          </a:p>
        </p:txBody>
      </p:sp>
      <p:sp>
        <p:nvSpPr>
          <p:cNvPr id="10" name="deck-title"/>
          <p:cNvSpPr txBox="1"/>
          <p:nvPr/>
        </p:nvSpPr>
        <p:spPr>
          <a:xfrm>
            <a:off x="548640" y="2459228"/>
            <a:ext cx="5287975" cy="1315720"/>
          </a:xfrm>
          <a:prstGeom prst="rect">
            <a:avLst/>
          </a:prstGeom>
          <a:noFill/>
          <a:ln/>
        </p:spPr>
        <p:txBody>
          <a:bodyPr wrap="square" lIns="63500" tIns="63500" rIns="63500" bIns="63500" rtlCol="0" anchor="t"/>
          <a:lstStyle/>
          <a:p>
            <a:pPr algn="l" indent="0" marL="0">
              <a:buNone/>
            </a:pPr>
            <a:r>
              <a:rPr lang="en-US" sz="3600" b="1" dirty="0">
                <a:solidFill>
                  <a:srgbClr val="1E2229"/>
                </a:solidFill>
                <a:latin typeface="Cambria" pitchFamily="34" charset="0"/>
                <a:ea typeface="Cambria" pitchFamily="34" charset="-122"/>
                <a:cs typeface="Cambria" pitchFamily="34" charset="-120"/>
              </a:rPr>
              <a:t>Fracking: should the UK extract its shale gas?</a:t>
            </a:r>
            <a:endParaRPr lang="en-US" sz="3600" dirty="0"/>
          </a:p>
        </p:txBody>
      </p:sp>
      <p:sp>
        <p:nvSpPr>
          <p:cNvPr id="11" name="lessons-card"/>
          <p:cNvSpPr/>
          <p:nvPr/>
        </p:nvSpPr>
        <p:spPr>
          <a:xfrm>
            <a:off x="548640" y="4003548"/>
            <a:ext cx="5287975" cy="980440"/>
          </a:xfrm>
          <a:prstGeom prst="roundRect">
            <a:avLst>
              <a:gd name="adj" fmla="val 7461"/>
            </a:avLst>
          </a:prstGeom>
          <a:solidFill>
            <a:srgbClr val="ECF0ED"/>
          </a:solidFill>
          <a:ln/>
        </p:spPr>
      </p:sp>
      <p:sp>
        <p:nvSpPr>
          <p:cNvPr id="12" name="lessons"/>
          <p:cNvSpPr txBox="1"/>
          <p:nvPr/>
        </p:nvSpPr>
        <p:spPr>
          <a:xfrm>
            <a:off x="685800" y="409498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Fracking: extracting shale gas in the UK</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CF0ED"/>
          </a:solidFill>
          <a:ln w="12700">
            <a:solidFill>
              <a:srgbClr val="B2C4B7"/>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Can the world supply enough food, water and energy for everyone without using up the planet, and how should the UK manage its own supply?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2F5F2"/>
          </a:solidFill>
          <a:ln w="12700">
            <a:solidFill>
              <a:srgbClr val="BCCBC0"/>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What is pumped down the well at high pressure to fracture the shale?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mixture of water, sand and chemicals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Compressed natural gas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Liquid oil from a nearby well</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Hot steam from a power station</a:t>
            </a:r>
            <a:endParaRPr lang="en-US" sz="1800" dirty="0"/>
          </a:p>
        </p:txBody>
      </p:sp>
      <p:sp>
        <p:nvSpPr>
          <p:cNvPr id="12" name="card"/>
          <p:cNvSpPr/>
          <p:nvPr/>
        </p:nvSpPr>
        <p:spPr>
          <a:xfrm>
            <a:off x="4338218" y="1389888"/>
            <a:ext cx="3515258" cy="4754880"/>
          </a:xfrm>
          <a:prstGeom prst="roundRect">
            <a:avLst>
              <a:gd name="adj" fmla="val 1561"/>
            </a:avLst>
          </a:prstGeom>
          <a:solidFill>
            <a:srgbClr val="F2F5F2"/>
          </a:solidFill>
          <a:ln w="12700">
            <a:solidFill>
              <a:srgbClr val="BCCBC0"/>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which year were small tremors reported near Blackpool, linked to fracking?</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17" name="card"/>
          <p:cNvSpPr/>
          <p:nvPr/>
        </p:nvSpPr>
        <p:spPr>
          <a:xfrm>
            <a:off x="8127797" y="1389888"/>
            <a:ext cx="3515258" cy="4754880"/>
          </a:xfrm>
          <a:prstGeom prst="roundRect">
            <a:avLst>
              <a:gd name="adj" fmla="val 1561"/>
            </a:avLst>
          </a:prstGeom>
          <a:solidFill>
            <a:srgbClr val="F2F5F2"/>
          </a:solidFill>
          <a:ln w="12700">
            <a:solidFill>
              <a:srgbClr val="BCCBC0"/>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Burning shale gas releases about ___ as much carbon dioxide as burning coal.</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half  ·  twice  ·  a tenth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2F5F2"/>
          </a:solidFill>
          <a:ln w="12700">
            <a:solidFill>
              <a:srgbClr val="BCCBC0"/>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955040"/>
          </a:xfrm>
          <a:prstGeom prst="roundRect">
            <a:avLst>
              <a:gd name="adj" fmla="val 11489"/>
            </a:avLst>
          </a:prstGeom>
          <a:solidFill>
            <a:srgbClr val="EDE1CA"/>
          </a:solidFill>
          <a:ln w="19050">
            <a:solidFill>
              <a:srgbClr val="B8862B"/>
            </a:solidFill>
            <a:prstDash val="solid"/>
          </a:ln>
        </p:spPr>
      </p:sp>
      <p:sp>
        <p:nvSpPr>
          <p:cNvPr id="12" name="answer"/>
          <p:cNvSpPr txBox="1"/>
          <p:nvPr/>
        </p:nvSpPr>
        <p:spPr>
          <a:xfrm>
            <a:off x="822960"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A mixture of water, sand and chemicals</a:t>
            </a:r>
            <a:endParaRPr lang="en-US" sz="2200" dirty="0"/>
          </a:p>
        </p:txBody>
      </p:sp>
      <p:sp>
        <p:nvSpPr>
          <p:cNvPr id="13" name="card-body"/>
          <p:cNvSpPr txBox="1"/>
          <p:nvPr/>
        </p:nvSpPr>
        <p:spPr>
          <a:xfrm>
            <a:off x="731520" y="3493597"/>
            <a:ext cx="3149498" cy="2514011"/>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Water, sand and chemicals are injected at high pressure; the pressure cracks the shale, the sand props the cracks open, and the gas flows out to the well head.</a:t>
            </a:r>
            <a:endParaRPr lang="en-US" sz="1800" dirty="0"/>
          </a:p>
        </p:txBody>
      </p:sp>
      <p:sp>
        <p:nvSpPr>
          <p:cNvPr id="14" name="card"/>
          <p:cNvSpPr/>
          <p:nvPr/>
        </p:nvSpPr>
        <p:spPr>
          <a:xfrm>
            <a:off x="4338218" y="1389888"/>
            <a:ext cx="3515258" cy="4754880"/>
          </a:xfrm>
          <a:prstGeom prst="roundRect">
            <a:avLst>
              <a:gd name="adj" fmla="val 1561"/>
            </a:avLst>
          </a:prstGeom>
          <a:solidFill>
            <a:srgbClr val="F2F5F2"/>
          </a:solidFill>
          <a:ln w="12700">
            <a:solidFill>
              <a:srgbClr val="BCCBC0"/>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2011</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In which year were small tremors reported near Blackpool, linked to fracking?</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lesson's card: in 2011 small tremors near Blackpool were reported, the main evidence that fracking can cause earthquakes.</a:t>
            </a:r>
            <a:endParaRPr lang="en-US" sz="1800" dirty="0"/>
          </a:p>
        </p:txBody>
      </p:sp>
      <p:sp>
        <p:nvSpPr>
          <p:cNvPr id="21" name="card"/>
          <p:cNvSpPr/>
          <p:nvPr/>
        </p:nvSpPr>
        <p:spPr>
          <a:xfrm>
            <a:off x="8127797" y="1389888"/>
            <a:ext cx="3515258" cy="4754880"/>
          </a:xfrm>
          <a:prstGeom prst="roundRect">
            <a:avLst>
              <a:gd name="adj" fmla="val 1561"/>
            </a:avLst>
          </a:prstGeom>
          <a:solidFill>
            <a:srgbClr val="F2F5F2"/>
          </a:solidFill>
          <a:ln w="12700">
            <a:solidFill>
              <a:srgbClr val="BCCBC0"/>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DE1CA"/>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half</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Burning shale gas releases about ___ as much carbon dioxide as burning coal.</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Gas is cleaner than coal: it releases about half as much carbon dioxide for the same energy. That is a key argument FOR fracking, though gas is still a fossil fuel.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0F3F1"/>
          </a:solidFill>
          <a:ln w="12700">
            <a:solidFill>
              <a:srgbClr val="B2C4B7"/>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fracking</a:t>
            </a:r>
            <a:endParaRPr lang="en-US" sz="2600" dirty="0"/>
          </a:p>
        </p:txBody>
      </p:sp>
      <p:sp>
        <p:nvSpPr>
          <p:cNvPr id="11" name="word-rule"/>
          <p:cNvSpPr/>
          <p:nvPr/>
        </p:nvSpPr>
        <p:spPr>
          <a:xfrm>
            <a:off x="731520" y="2129028"/>
            <a:ext cx="3149498" cy="0"/>
          </a:xfrm>
          <a:prstGeom prst="line">
            <a:avLst/>
          </a:prstGeom>
          <a:ln w="12700">
            <a:solidFill>
              <a:srgbClr val="B2C4B7"/>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pumping water, sand and chemicals into rock at high pressure to crack it and release gas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Fracking cracks the shale so the gas can escape up the well.</a:t>
            </a:r>
            <a:endParaRPr lang="en-US" sz="2200" dirty="0"/>
          </a:p>
        </p:txBody>
      </p:sp>
      <p:sp>
        <p:nvSpPr>
          <p:cNvPr id="13" name="word-card"/>
          <p:cNvSpPr/>
          <p:nvPr/>
        </p:nvSpPr>
        <p:spPr>
          <a:xfrm>
            <a:off x="4338218" y="1389888"/>
            <a:ext cx="3515258" cy="4754880"/>
          </a:xfrm>
          <a:prstGeom prst="roundRect">
            <a:avLst>
              <a:gd name="adj" fmla="val 1561"/>
            </a:avLst>
          </a:prstGeom>
          <a:solidFill>
            <a:srgbClr val="F0F3F1"/>
          </a:solidFill>
          <a:ln w="12700">
            <a:solidFill>
              <a:srgbClr val="B2C4B7"/>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shale</a:t>
            </a:r>
            <a:endParaRPr lang="en-US" sz="2600" dirty="0"/>
          </a:p>
        </p:txBody>
      </p:sp>
      <p:sp>
        <p:nvSpPr>
          <p:cNvPr id="17" name="word-rule"/>
          <p:cNvSpPr/>
          <p:nvPr/>
        </p:nvSpPr>
        <p:spPr>
          <a:xfrm>
            <a:off x="4521098" y="2129028"/>
            <a:ext cx="3149498" cy="0"/>
          </a:xfrm>
          <a:prstGeom prst="line">
            <a:avLst/>
          </a:prstGeom>
          <a:ln w="12700">
            <a:solidFill>
              <a:srgbClr val="B2C4B7"/>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rock formed from layers of mud, which can hold gas and oil trapped inside it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There is a great deal of shale under northern England.</a:t>
            </a:r>
            <a:endParaRPr lang="en-US" sz="2200" dirty="0"/>
          </a:p>
        </p:txBody>
      </p:sp>
      <p:sp>
        <p:nvSpPr>
          <p:cNvPr id="19" name="word-card"/>
          <p:cNvSpPr/>
          <p:nvPr/>
        </p:nvSpPr>
        <p:spPr>
          <a:xfrm>
            <a:off x="8127797" y="1389888"/>
            <a:ext cx="3515258" cy="4754880"/>
          </a:xfrm>
          <a:prstGeom prst="roundRect">
            <a:avLst>
              <a:gd name="adj" fmla="val 1561"/>
            </a:avLst>
          </a:prstGeom>
          <a:solidFill>
            <a:srgbClr val="F0F3F1"/>
          </a:solidFill>
          <a:ln w="12700">
            <a:solidFill>
              <a:srgbClr val="B2C4B7"/>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borehole</a:t>
            </a:r>
            <a:endParaRPr lang="en-US" sz="2600" dirty="0"/>
          </a:p>
        </p:txBody>
      </p:sp>
      <p:sp>
        <p:nvSpPr>
          <p:cNvPr id="23" name="word-rule"/>
          <p:cNvSpPr/>
          <p:nvPr/>
        </p:nvSpPr>
        <p:spPr>
          <a:xfrm>
            <a:off x="8310677" y="2129028"/>
            <a:ext cx="3149498" cy="0"/>
          </a:xfrm>
          <a:prstGeom prst="line">
            <a:avLst/>
          </a:prstGeom>
          <a:ln w="12700">
            <a:solidFill>
              <a:srgbClr val="B2C4B7"/>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deep hole drilled into the ground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Each fracking borehole needs millions of gallons of water.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0F3F1"/>
          </a:solidFill>
          <a:ln w="12700">
            <a:solidFill>
              <a:srgbClr val="B2C4B7"/>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fossil fuel</a:t>
            </a:r>
            <a:endParaRPr lang="en-US" sz="2600" dirty="0"/>
          </a:p>
        </p:txBody>
      </p:sp>
      <p:sp>
        <p:nvSpPr>
          <p:cNvPr id="11" name="word-rule"/>
          <p:cNvSpPr/>
          <p:nvPr/>
        </p:nvSpPr>
        <p:spPr>
          <a:xfrm>
            <a:off x="731520" y="2129028"/>
            <a:ext cx="3149498" cy="0"/>
          </a:xfrm>
          <a:prstGeom prst="line">
            <a:avLst/>
          </a:prstGeom>
          <a:ln w="12700">
            <a:solidFill>
              <a:srgbClr val="B2C4B7"/>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coal, oil or gas, which release carbon dioxide when burnt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Shale gas is still a fossil fuel.</a:t>
            </a:r>
            <a:endParaRPr lang="en-US" sz="2200" dirty="0"/>
          </a:p>
        </p:txBody>
      </p:sp>
      <p:sp>
        <p:nvSpPr>
          <p:cNvPr id="13" name="word-card"/>
          <p:cNvSpPr/>
          <p:nvPr/>
        </p:nvSpPr>
        <p:spPr>
          <a:xfrm>
            <a:off x="4338218" y="1389888"/>
            <a:ext cx="3515258" cy="4754880"/>
          </a:xfrm>
          <a:prstGeom prst="roundRect">
            <a:avLst>
              <a:gd name="adj" fmla="val 1561"/>
            </a:avLst>
          </a:prstGeom>
          <a:solidFill>
            <a:srgbClr val="F0F3F1"/>
          </a:solidFill>
          <a:ln w="12700">
            <a:solidFill>
              <a:srgbClr val="B2C4B7"/>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tremor</a:t>
            </a:r>
            <a:endParaRPr lang="en-US" sz="2600" dirty="0"/>
          </a:p>
        </p:txBody>
      </p:sp>
      <p:sp>
        <p:nvSpPr>
          <p:cNvPr id="17" name="word-rule"/>
          <p:cNvSpPr/>
          <p:nvPr/>
        </p:nvSpPr>
        <p:spPr>
          <a:xfrm>
            <a:off x="4521098" y="2129028"/>
            <a:ext cx="3149498" cy="0"/>
          </a:xfrm>
          <a:prstGeom prst="line">
            <a:avLst/>
          </a:prstGeom>
          <a:ln w="12700">
            <a:solidFill>
              <a:srgbClr val="B2C4B7"/>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small earthquake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Small tremors were felt near Blackpool in 2011.</a:t>
            </a:r>
            <a:endParaRPr lang="en-US" sz="2200" dirty="0"/>
          </a:p>
        </p:txBody>
      </p:sp>
      <p:sp>
        <p:nvSpPr>
          <p:cNvPr id="19" name="word-card"/>
          <p:cNvSpPr/>
          <p:nvPr/>
        </p:nvSpPr>
        <p:spPr>
          <a:xfrm>
            <a:off x="8127797" y="1389888"/>
            <a:ext cx="3515258" cy="4754880"/>
          </a:xfrm>
          <a:prstGeom prst="roundRect">
            <a:avLst>
              <a:gd name="adj" fmla="val 1561"/>
            </a:avLst>
          </a:prstGeom>
          <a:solidFill>
            <a:srgbClr val="F0F3F1"/>
          </a:solidFill>
          <a:ln w="12700">
            <a:solidFill>
              <a:srgbClr val="B2C4B7"/>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licence</a:t>
            </a:r>
            <a:endParaRPr lang="en-US" sz="2600" dirty="0"/>
          </a:p>
        </p:txBody>
      </p:sp>
      <p:sp>
        <p:nvSpPr>
          <p:cNvPr id="23" name="word-rule"/>
          <p:cNvSpPr/>
          <p:nvPr/>
        </p:nvSpPr>
        <p:spPr>
          <a:xfrm>
            <a:off x="8310677" y="2129028"/>
            <a:ext cx="3149498" cy="0"/>
          </a:xfrm>
          <a:prstGeom prst="line">
            <a:avLst/>
          </a:prstGeom>
          <a:ln w="12700">
            <a:solidFill>
              <a:srgbClr val="B2C4B7"/>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official permission to do something in a particular place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Companies need a licence before they can explore for shale gas.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2F5F2"/>
          </a:solidFill>
          <a:ln w="12700">
            <a:solidFill>
              <a:srgbClr val="C5D3C9"/>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Fracking</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a way of getting gas out of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shale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rock deep underground.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well is drilled down into the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shale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Water, sand and chemicals are pumped down the well at very high pressure.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pressure cracks the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shale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and the gas trapped inside escapes.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gas flows back up the well to the surface.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UK has huge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shale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gas reserves, worth an estimated £1.5 trillion.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2F5F2"/>
          </a:solidFill>
          <a:ln w="12700">
            <a:solidFill>
              <a:srgbClr val="C5D3C9"/>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Supporters say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shale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gas is cheaper, creates jobs and gives the UK more energy security.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Burning gas releases half as much carbon dioxide as burning coal.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Opponents say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fracking</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can cause small earthquakes and poison drinking water.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Each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borehole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needs around four million gallons of water.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Shale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gas is still a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fossil fuel</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so it adds to climate change.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Fracking</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banned in France and Bulgaria, and public opposition has stopped it in the UK.</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What is fracking?</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Four steps, in order: drill the well; pump down water, sand and chemicals at high pressure; the shale fractures; gas flows back up. Practise saying them.</a:t>
            </a:r>
            <a:endParaRPr lang="en-US" sz="1800" dirty="0"/>
          </a:p>
        </p:txBody>
      </p:sp>
      <p:sp>
        <p:nvSpPr>
          <p:cNvPr id="11" name="point-card"/>
          <p:cNvSpPr/>
          <p:nvPr/>
        </p:nvSpPr>
        <p:spPr>
          <a:xfrm>
            <a:off x="548640" y="1389888"/>
            <a:ext cx="3515258" cy="3686048"/>
          </a:xfrm>
          <a:prstGeom prst="roundRect">
            <a:avLst>
              <a:gd name="adj" fmla="val 1561"/>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Fracking is short for hydraulic fracturing. It is a way of recovering gas, and sometimes oil, from shale rock.</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Then a mixture of water, sand and chemicals is pumped down the well at very high pressure.</a:t>
            </a:r>
            <a:endParaRPr lang="en-US" sz="2400" dirty="0"/>
          </a:p>
        </p:txBody>
      </p:sp>
      <p:sp>
        <p:nvSpPr>
          <p:cNvPr id="19" name="point-card"/>
          <p:cNvSpPr/>
          <p:nvPr/>
        </p:nvSpPr>
        <p:spPr>
          <a:xfrm>
            <a:off x="8127797" y="1389888"/>
            <a:ext cx="3515258" cy="3686048"/>
          </a:xfrm>
          <a:prstGeom prst="roundRect">
            <a:avLst>
              <a:gd name="adj" fmla="val 1561"/>
            </a:avLst>
          </a:prstGeom>
          <a:solidFill>
            <a:srgbClr val="ECF0ED"/>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Shale gas is a fossil fuel like any other natural gas.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case for fracking</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Sort every argument into economic, social or environmental. Supporters have strong economic points, one social point (landowners) and one environmental point (cleaner than coal).</a:t>
            </a:r>
            <a:endParaRPr lang="en-US" sz="1800" dirty="0"/>
          </a:p>
        </p:txBody>
      </p:sp>
      <p:sp>
        <p:nvSpPr>
          <p:cNvPr id="11" name="point-card"/>
          <p:cNvSpPr/>
          <p:nvPr/>
        </p:nvSpPr>
        <p:spPr>
          <a:xfrm>
            <a:off x="548640" y="1389888"/>
            <a:ext cx="5410048" cy="3686048"/>
          </a:xfrm>
          <a:prstGeom prst="roundRect">
            <a:avLst>
              <a:gd name="adj" fmla="val 1488"/>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Supporters start with the size of the prize. The UK's shale gas reserves are very large, valued at about £1.5 trillion, and the government believes using them could bring greater energy security, growth and jobs.</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6F0E6"/>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There are local winners too. Landowners who sell or rent their land to fracking companies make a profit, and the companies bring work to the areas where they drill.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case against fracking</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Give the examiner at least two arguments on each side before you reach a decision. A one-sided answer caps your mark.</a:t>
            </a:r>
            <a:endParaRPr lang="en-US" sz="1800" dirty="0"/>
          </a:p>
        </p:txBody>
      </p:sp>
      <p:sp>
        <p:nvSpPr>
          <p:cNvPr id="11" name="bullet-card"/>
          <p:cNvSpPr/>
          <p:nvPr/>
        </p:nvSpPr>
        <p:spPr>
          <a:xfrm>
            <a:off x="548640" y="1389888"/>
            <a:ext cx="11094415" cy="1234440"/>
          </a:xfrm>
          <a:prstGeom prst="roundRect">
            <a:avLst>
              <a:gd name="adj" fmla="val 5926"/>
            </a:avLst>
          </a:prstGeom>
          <a:solidFill>
            <a:srgbClr val="F0F3F1"/>
          </a:solidFill>
          <a:ln/>
        </p:spPr>
      </p:sp>
      <p:sp>
        <p:nvSpPr>
          <p:cNvPr id="12" name="bullet-hex"/>
          <p:cNvSpPr/>
          <p:nvPr/>
        </p:nvSpPr>
        <p:spPr>
          <a:xfrm>
            <a:off x="676656" y="1840815"/>
            <a:ext cx="384048" cy="332586"/>
          </a:xfrm>
          <a:prstGeom prst="hexagon">
            <a:avLst/>
          </a:prstGeom>
          <a:solidFill>
            <a:srgbClr val="3F6B4A"/>
          </a:solidFill>
          <a:ln/>
        </p:spPr>
      </p:sp>
      <p:sp>
        <p:nvSpPr>
          <p:cNvPr id="13" name="bullet"/>
          <p:cNvSpPr txBox="1"/>
          <p:nvPr/>
        </p:nvSpPr>
        <p:spPr>
          <a:xfrm>
            <a:off x="1143000" y="1389888"/>
            <a:ext cx="10408615" cy="123444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Opponents answer the environmental point first. Shale gas is one more high-carbon fossil fuel: cleaner than coal or not, burning it still adds to climate change, and money spent on fracking could be money taken from the greener, renewable sources we need instead.</a:t>
            </a:r>
            <a:endParaRPr lang="en-US" sz="2000" dirty="0"/>
          </a:p>
        </p:txBody>
      </p:sp>
      <p:sp>
        <p:nvSpPr>
          <p:cNvPr id="14" name="bullet-card"/>
          <p:cNvSpPr/>
          <p:nvPr/>
        </p:nvSpPr>
        <p:spPr>
          <a:xfrm>
            <a:off x="548640" y="2770632"/>
            <a:ext cx="11094415" cy="924560"/>
          </a:xfrm>
          <a:prstGeom prst="roundRect">
            <a:avLst>
              <a:gd name="adj" fmla="val 7912"/>
            </a:avLst>
          </a:prstGeom>
          <a:solidFill>
            <a:srgbClr val="F0F3F1"/>
          </a:solidFill>
          <a:ln/>
        </p:spPr>
      </p:sp>
      <p:sp>
        <p:nvSpPr>
          <p:cNvPr id="15" name="bullet-hex"/>
          <p:cNvSpPr/>
          <p:nvPr/>
        </p:nvSpPr>
        <p:spPr>
          <a:xfrm>
            <a:off x="676656" y="3066619"/>
            <a:ext cx="384048" cy="332586"/>
          </a:xfrm>
          <a:prstGeom prst="hexagon">
            <a:avLst/>
          </a:prstGeom>
          <a:solidFill>
            <a:srgbClr val="B8862B"/>
          </a:solidFill>
          <a:ln/>
        </p:spPr>
      </p:sp>
      <p:sp>
        <p:nvSpPr>
          <p:cNvPr id="16" name="bullet"/>
          <p:cNvSpPr txBox="1"/>
          <p:nvPr/>
        </p:nvSpPr>
        <p:spPr>
          <a:xfrm>
            <a:off x="1143000" y="2770632"/>
            <a:ext cx="10408615" cy="92456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Then there is the ground itself. Fracking can set off earthquakes: small tremors were reported near Blackpool in 2011, during test drilling.</a:t>
            </a:r>
            <a:endParaRPr lang="en-US" sz="2000" dirty="0"/>
          </a:p>
        </p:txBody>
      </p:sp>
      <p:sp>
        <p:nvSpPr>
          <p:cNvPr id="17" name="bullet-card"/>
          <p:cNvSpPr/>
          <p:nvPr/>
        </p:nvSpPr>
        <p:spPr>
          <a:xfrm>
            <a:off x="548640" y="3841496"/>
            <a:ext cx="11094415" cy="1234440"/>
          </a:xfrm>
          <a:prstGeom prst="roundRect">
            <a:avLst>
              <a:gd name="adj" fmla="val 5926"/>
            </a:avLst>
          </a:prstGeom>
          <a:solidFill>
            <a:srgbClr val="F0F3F1"/>
          </a:solidFill>
          <a:ln/>
        </p:spPr>
      </p:sp>
      <p:sp>
        <p:nvSpPr>
          <p:cNvPr id="18" name="bullet-hex"/>
          <p:cNvSpPr/>
          <p:nvPr/>
        </p:nvSpPr>
        <p:spPr>
          <a:xfrm>
            <a:off x="676656" y="4292423"/>
            <a:ext cx="384048" cy="332586"/>
          </a:xfrm>
          <a:prstGeom prst="hexagon">
            <a:avLst/>
          </a:prstGeom>
          <a:solidFill>
            <a:srgbClr val="3F6B4A"/>
          </a:solidFill>
          <a:ln/>
        </p:spPr>
      </p:sp>
      <p:sp>
        <p:nvSpPr>
          <p:cNvPr id="19" name="bullet"/>
          <p:cNvSpPr txBox="1"/>
          <p:nvPr/>
        </p:nvSpPr>
        <p:spPr>
          <a:xfrm>
            <a:off x="1143000" y="3841496"/>
            <a:ext cx="10408615" cy="123444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balanced answer classifies these impacts. Earthquakes, water use, water pollution and climate change are environmental; extraction costs, house prices and money diverted from renewables are economic; public opposition and the effect on local communities are social.</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The case against fracking</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29640"/>
          </a:xfrm>
          <a:prstGeom prst="roundRect">
            <a:avLst>
              <a:gd name="adj" fmla="val 9836"/>
            </a:avLst>
          </a:prstGeom>
          <a:solidFill>
            <a:srgbClr val="ECF0ED"/>
          </a:solidFill>
          <a:ln/>
        </p:spPr>
      </p:sp>
      <p:sp>
        <p:nvSpPr>
          <p:cNvPr id="8" name="worked-q"/>
          <p:cNvSpPr txBox="1"/>
          <p:nvPr/>
        </p:nvSpPr>
        <p:spPr>
          <a:xfrm>
            <a:off x="731520" y="1481328"/>
            <a:ext cx="10728655" cy="74676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Classify this argument as environmental, economic or social, and explain your choice: money spent on fracking could be money not spent on developing greener, renewable energy.</a:t>
            </a:r>
            <a:endParaRPr lang="en-US" sz="2000" dirty="0"/>
          </a:p>
        </p:txBody>
      </p:sp>
      <p:sp>
        <p:nvSpPr>
          <p:cNvPr id="9" name="step-box"/>
          <p:cNvSpPr/>
          <p:nvPr/>
        </p:nvSpPr>
        <p:spPr>
          <a:xfrm>
            <a:off x="548640" y="2502408"/>
            <a:ext cx="11094415" cy="565912"/>
          </a:xfrm>
          <a:prstGeom prst="roundRect">
            <a:avLst>
              <a:gd name="adj" fmla="val 12926"/>
            </a:avLst>
          </a:prstGeom>
          <a:solidFill>
            <a:srgbClr val="FFFFFF"/>
          </a:solidFill>
          <a:ln w="15875">
            <a:solidFill>
              <a:srgbClr val="95AE9B"/>
            </a:solidFill>
            <a:prstDash val="solid"/>
          </a:ln>
        </p:spPr>
      </p:sp>
      <p:sp>
        <p:nvSpPr>
          <p:cNvPr id="10" name="step-hex"/>
          <p:cNvSpPr/>
          <p:nvPr/>
        </p:nvSpPr>
        <p:spPr>
          <a:xfrm>
            <a:off x="685800" y="2587396"/>
            <a:ext cx="457200" cy="395935"/>
          </a:xfrm>
          <a:prstGeom prst="hexagon">
            <a:avLst/>
          </a:prstGeom>
          <a:solidFill>
            <a:srgbClr val="3F6B4A"/>
          </a:solidFill>
          <a:ln/>
        </p:spPr>
      </p:sp>
      <p:sp>
        <p:nvSpPr>
          <p:cNvPr id="11" name="step-hex-label"/>
          <p:cNvSpPr txBox="1"/>
          <p:nvPr/>
        </p:nvSpPr>
        <p:spPr>
          <a:xfrm>
            <a:off x="685800" y="2587396"/>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502408"/>
            <a:ext cx="10180015" cy="5659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Ask what kind of thing is at stake: money, people or the natural world?</a:t>
            </a:r>
            <a:endParaRPr lang="en-US" sz="1800" dirty="0"/>
          </a:p>
        </p:txBody>
      </p:sp>
      <p:sp>
        <p:nvSpPr>
          <p:cNvPr id="13" name="step-box"/>
          <p:cNvSpPr/>
          <p:nvPr/>
        </p:nvSpPr>
        <p:spPr>
          <a:xfrm>
            <a:off x="548640" y="3141472"/>
            <a:ext cx="11094415" cy="565912"/>
          </a:xfrm>
          <a:prstGeom prst="roundRect">
            <a:avLst>
              <a:gd name="adj" fmla="val 12926"/>
            </a:avLst>
          </a:prstGeom>
          <a:solidFill>
            <a:srgbClr val="FFFFFF"/>
          </a:solidFill>
          <a:ln w="15875">
            <a:solidFill>
              <a:srgbClr val="95AE9B"/>
            </a:solidFill>
            <a:prstDash val="solid"/>
          </a:ln>
        </p:spPr>
      </p:sp>
      <p:sp>
        <p:nvSpPr>
          <p:cNvPr id="14" name="step-hex"/>
          <p:cNvSpPr/>
          <p:nvPr/>
        </p:nvSpPr>
        <p:spPr>
          <a:xfrm>
            <a:off x="685800" y="3226460"/>
            <a:ext cx="457200" cy="395935"/>
          </a:xfrm>
          <a:prstGeom prst="hexagon">
            <a:avLst/>
          </a:prstGeom>
          <a:solidFill>
            <a:srgbClr val="3F6B4A"/>
          </a:solidFill>
          <a:ln/>
        </p:spPr>
      </p:sp>
      <p:sp>
        <p:nvSpPr>
          <p:cNvPr id="15" name="step-hex-label"/>
          <p:cNvSpPr txBox="1"/>
          <p:nvPr/>
        </p:nvSpPr>
        <p:spPr>
          <a:xfrm>
            <a:off x="685800" y="322646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141472"/>
            <a:ext cx="10180015" cy="5659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argument is about where investment goes, so it is economic.</a:t>
            </a:r>
            <a:endParaRPr lang="en-US" sz="1800" dirty="0"/>
          </a:p>
        </p:txBody>
      </p:sp>
      <p:sp>
        <p:nvSpPr>
          <p:cNvPr id="17" name="step-box"/>
          <p:cNvSpPr/>
          <p:nvPr/>
        </p:nvSpPr>
        <p:spPr>
          <a:xfrm>
            <a:off x="548640" y="3780536"/>
            <a:ext cx="11094415" cy="565912"/>
          </a:xfrm>
          <a:prstGeom prst="roundRect">
            <a:avLst>
              <a:gd name="adj" fmla="val 12926"/>
            </a:avLst>
          </a:prstGeom>
          <a:solidFill>
            <a:srgbClr val="FFFFFF"/>
          </a:solidFill>
          <a:ln w="15875">
            <a:solidFill>
              <a:srgbClr val="95AE9B"/>
            </a:solidFill>
            <a:prstDash val="solid"/>
          </a:ln>
        </p:spPr>
      </p:sp>
      <p:sp>
        <p:nvSpPr>
          <p:cNvPr id="18" name="step-hex"/>
          <p:cNvSpPr/>
          <p:nvPr/>
        </p:nvSpPr>
        <p:spPr>
          <a:xfrm>
            <a:off x="685800" y="3865524"/>
            <a:ext cx="457200" cy="395935"/>
          </a:xfrm>
          <a:prstGeom prst="hexagon">
            <a:avLst/>
          </a:prstGeom>
          <a:solidFill>
            <a:srgbClr val="3F6B4A"/>
          </a:solidFill>
          <a:ln/>
        </p:spPr>
      </p:sp>
      <p:sp>
        <p:nvSpPr>
          <p:cNvPr id="19" name="step-hex-label"/>
          <p:cNvSpPr txBox="1"/>
          <p:nvPr/>
        </p:nvSpPr>
        <p:spPr>
          <a:xfrm>
            <a:off x="685800" y="386552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780536"/>
            <a:ext cx="10180015" cy="5659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It also has an environmental consequence: less renewable energy means more carbon in the long run.</a:t>
            </a:r>
            <a:endParaRPr lang="en-US" sz="1800" dirty="0"/>
          </a:p>
        </p:txBody>
      </p:sp>
      <p:sp>
        <p:nvSpPr>
          <p:cNvPr id="21" name="step-box"/>
          <p:cNvSpPr/>
          <p:nvPr/>
        </p:nvSpPr>
        <p:spPr>
          <a:xfrm>
            <a:off x="548640" y="4419600"/>
            <a:ext cx="11094415" cy="565912"/>
          </a:xfrm>
          <a:prstGeom prst="roundRect">
            <a:avLst>
              <a:gd name="adj" fmla="val 12926"/>
            </a:avLst>
          </a:prstGeom>
          <a:solidFill>
            <a:srgbClr val="FFFFFF"/>
          </a:solidFill>
          <a:ln w="15875">
            <a:solidFill>
              <a:srgbClr val="95AE9B"/>
            </a:solidFill>
            <a:prstDash val="solid"/>
          </a:ln>
        </p:spPr>
      </p:sp>
      <p:sp>
        <p:nvSpPr>
          <p:cNvPr id="22" name="step-hex"/>
          <p:cNvSpPr/>
          <p:nvPr/>
        </p:nvSpPr>
        <p:spPr>
          <a:xfrm>
            <a:off x="685800" y="4504588"/>
            <a:ext cx="457200" cy="395935"/>
          </a:xfrm>
          <a:prstGeom prst="hexagon">
            <a:avLst/>
          </a:prstGeom>
          <a:solidFill>
            <a:srgbClr val="3F6B4A"/>
          </a:solidFill>
          <a:ln/>
        </p:spPr>
      </p:sp>
      <p:sp>
        <p:nvSpPr>
          <p:cNvPr id="23" name="step-hex-label"/>
          <p:cNvSpPr txBox="1"/>
          <p:nvPr/>
        </p:nvSpPr>
        <p:spPr>
          <a:xfrm>
            <a:off x="685800" y="450458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419600"/>
            <a:ext cx="10180015" cy="5659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Classify it as economic, and note the environmental link in your explanation.</a:t>
            </a:r>
            <a:endParaRPr lang="en-US" sz="1800" dirty="0"/>
          </a:p>
        </p:txBody>
      </p:sp>
      <p:sp>
        <p:nvSpPr>
          <p:cNvPr id="25" name="worked-answer"/>
          <p:cNvSpPr/>
          <p:nvPr/>
        </p:nvSpPr>
        <p:spPr>
          <a:xfrm>
            <a:off x="548640" y="5168392"/>
            <a:ext cx="11094415" cy="831088"/>
          </a:xfrm>
          <a:prstGeom prst="roundRect">
            <a:avLst>
              <a:gd name="adj" fmla="val 16504"/>
            </a:avLst>
          </a:prstGeom>
          <a:solidFill>
            <a:srgbClr val="EDE1CA"/>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Economic, because it is about where money is invested; it has an environmental consequence too, since less investment in renewables means slower progress on climate change.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Describing a distribution: where are the fracking licences?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Describe a distribution in three moves: general pattern, largest areas with names, smaller areas with names. No because.</a:t>
            </a:r>
            <a:endParaRPr lang="en-US" sz="1800" dirty="0"/>
          </a:p>
        </p:txBody>
      </p:sp>
      <p:sp>
        <p:nvSpPr>
          <p:cNvPr id="11" name="point-card"/>
          <p:cNvSpPr/>
          <p:nvPr/>
        </p:nvSpPr>
        <p:spPr>
          <a:xfrm>
            <a:off x="548640" y="1389888"/>
            <a:ext cx="3515258" cy="3686048"/>
          </a:xfrm>
          <a:prstGeom prst="roundRect">
            <a:avLst>
              <a:gd name="adj" fmla="val 1561"/>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Two exam-style tasks in this lesson used maps. The command word in both was describe, which means saying what the map shows, where, without explaining why.</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UK map showed areas with existing licences for fracking and areas under consideration.</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CF0ED"/>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four-mark version asked about the global distribution of shale reserves, using a map with figures in trillion cubic feet.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How fracking works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stages of fracking in the correct order.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well is drilled down into the earth to reach the shale rock</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gas flows back up the well to the surface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mixture of water, sand and chemicals is pumped down the well at high pressure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shale cracks (fractures), releasing the gas trapped inside it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How fracking works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stages of fracking in the correct order.</a:t>
            </a:r>
            <a:endParaRPr lang="en-US" sz="2000" dirty="0"/>
          </a:p>
        </p:txBody>
      </p:sp>
      <p:sp>
        <p:nvSpPr>
          <p:cNvPr id="12" name="col-Support"/>
          <p:cNvSpPr/>
          <p:nvPr/>
        </p:nvSpPr>
        <p:spPr>
          <a:xfrm>
            <a:off x="548640" y="2578608"/>
            <a:ext cx="4667802" cy="3566160"/>
          </a:xfrm>
          <a:prstGeom prst="roundRect">
            <a:avLst>
              <a:gd name="adj" fmla="val 1538"/>
            </a:avLst>
          </a:prstGeom>
          <a:solidFill>
            <a:srgbClr val="ECF0ED"/>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Nothing can happen until there is a hole. What has to be drilled first?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Then something goes DOWN the well. What is pumped down, and how hard?</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pumping has an effect on the rock. What happens to the shale?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Finally something comes UP the well. What is it?</a:t>
            </a:r>
            <a:endParaRPr lang="en-US" sz="1800" dirty="0"/>
          </a:p>
        </p:txBody>
      </p:sp>
      <p:sp>
        <p:nvSpPr>
          <p:cNvPr id="17" name="col-Core"/>
          <p:cNvSpPr/>
          <p:nvPr/>
        </p:nvSpPr>
        <p:spPr>
          <a:xfrm>
            <a:off x="5490762" y="2578608"/>
            <a:ext cx="2938987" cy="3566160"/>
          </a:xfrm>
          <a:prstGeom prst="roundRect">
            <a:avLst>
              <a:gd name="adj" fmla="val 1867"/>
            </a:avLst>
          </a:prstGeom>
          <a:solidFill>
            <a:srgbClr val="D5DED7"/>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Drill, pump, crack, flow. Down first, then up.</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3F6B4A"/>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sand in the fracking fluid matters, and why the well passing through the water table worries opponents.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How much water?</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Each fracking borehole requires around four million gallons of water, which has to be transported to the site. How many million gallons would 5 boreholes need?</a:t>
            </a:r>
            <a:endParaRPr lang="en-US" sz="2600" dirty="0"/>
          </a:p>
          <a:p>
            <a:pPr algn="ctr" indent="0" marL="0">
              <a:buNone/>
            </a:pPr>
            <a:r>
              <a:rPr lang="en-US" sz="2400" b="1" dirty="0">
                <a:solidFill>
                  <a:srgbClr val="3F6B4A"/>
                </a:solidFill>
                <a:latin typeface="Calibri" pitchFamily="34" charset="0"/>
                <a:ea typeface="Calibri" pitchFamily="34" charset="-122"/>
                <a:cs typeface="Calibri" pitchFamily="34" charset="-120"/>
              </a:rPr>
              <a:t>Answer:  </a:t>
            </a:r>
            <a:pPr algn="ctr" indent="0" marL="0">
              <a:buNone/>
            </a:pPr>
            <a:r>
              <a:rPr lang="en-US" sz="2400" dirty="0">
                <a:solidFill>
                  <a:srgbClr val="1E2229"/>
                </a:solidFill>
                <a:latin typeface="Calibri" pitchFamily="34" charset="0"/>
                <a:ea typeface="Calibri" pitchFamily="34" charset="-122"/>
                <a:cs typeface="Calibri" pitchFamily="34" charset="-120"/>
              </a:rPr>
              <a:t>__________ million gallons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How much water?</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39520"/>
          </a:xfrm>
          <a:prstGeom prst="roundRect">
            <a:avLst>
              <a:gd name="adj" fmla="val 7377"/>
            </a:avLst>
          </a:prstGeom>
          <a:solidFill>
            <a:srgbClr val="FFFFFF"/>
          </a:solidFill>
          <a:ln w="31750">
            <a:solidFill>
              <a:srgbClr val="B8862B"/>
            </a:solidFill>
            <a:prstDash val="solid"/>
          </a:ln>
        </p:spPr>
      </p:sp>
      <p:sp>
        <p:nvSpPr>
          <p:cNvPr id="8" name="task-hex"/>
          <p:cNvSpPr/>
          <p:nvPr/>
        </p:nvSpPr>
        <p:spPr>
          <a:xfrm>
            <a:off x="777240" y="1692900"/>
            <a:ext cx="731520" cy="633496"/>
          </a:xfrm>
          <a:prstGeom prst="hexagon">
            <a:avLst/>
          </a:prstGeom>
          <a:solidFill>
            <a:srgbClr val="B8862B"/>
          </a:solidFill>
          <a:ln/>
        </p:spPr>
      </p:sp>
      <p:sp>
        <p:nvSpPr>
          <p:cNvPr id="9" name="task-hex-label"/>
          <p:cNvSpPr txBox="1"/>
          <p:nvPr/>
        </p:nvSpPr>
        <p:spPr>
          <a:xfrm>
            <a:off x="777240" y="1692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35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05664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Each fracking borehole requires around four million gallons of water, which has to be transported to the site. How many million gallons would 5 boreholes need?</a:t>
            </a:r>
            <a:endParaRPr lang="en-US" sz="2000" dirty="0"/>
          </a:p>
        </p:txBody>
      </p:sp>
      <p:sp>
        <p:nvSpPr>
          <p:cNvPr id="12" name="col-Support"/>
          <p:cNvSpPr/>
          <p:nvPr/>
        </p:nvSpPr>
        <p:spPr>
          <a:xfrm>
            <a:off x="548640" y="2903728"/>
            <a:ext cx="3515258" cy="3241040"/>
          </a:xfrm>
          <a:prstGeom prst="roundRect">
            <a:avLst>
              <a:gd name="adj" fmla="val 1693"/>
            </a:avLst>
          </a:prstGeom>
          <a:solidFill>
            <a:srgbClr val="ECF0ED"/>
          </a:solidFill>
          <a:ln/>
        </p:spPr>
      </p:sp>
      <p:sp>
        <p:nvSpPr>
          <p:cNvPr id="13" name="col-hex"/>
          <p:cNvSpPr/>
          <p:nvPr/>
        </p:nvSpPr>
        <p:spPr>
          <a:xfrm>
            <a:off x="658368" y="2976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40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43808"/>
            <a:ext cx="3240938" cy="2491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down the amount for one borehole: 4 million gallons.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Count the boreholes: 5.</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Same amount, five times: multiply 4 by 5.</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Keep the units: the answer is in million gallons.</a:t>
            </a:r>
            <a:endParaRPr lang="en-US" sz="1800" dirty="0"/>
          </a:p>
        </p:txBody>
      </p:sp>
      <p:sp>
        <p:nvSpPr>
          <p:cNvPr id="17" name="col-Core"/>
          <p:cNvSpPr/>
          <p:nvPr/>
        </p:nvSpPr>
        <p:spPr>
          <a:xfrm>
            <a:off x="4338218" y="2903728"/>
            <a:ext cx="3515258" cy="3241040"/>
          </a:xfrm>
          <a:prstGeom prst="roundRect">
            <a:avLst>
              <a:gd name="adj" fmla="val 1693"/>
            </a:avLst>
          </a:prstGeom>
          <a:solidFill>
            <a:srgbClr val="D5DED7"/>
          </a:solidFill>
          <a:ln/>
        </p:spPr>
      </p:sp>
      <p:sp>
        <p:nvSpPr>
          <p:cNvPr id="18" name="col-hex"/>
          <p:cNvSpPr/>
          <p:nvPr/>
        </p:nvSpPr>
        <p:spPr>
          <a:xfrm>
            <a:off x="4447946" y="2976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940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543808"/>
            <a:ext cx="3240938" cy="2491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One borehole is 4 million gallons. Multiply by the number of boreholes.</a:t>
            </a:r>
            <a:endParaRPr lang="en-US" sz="1800" dirty="0"/>
          </a:p>
        </p:txBody>
      </p:sp>
      <p:sp>
        <p:nvSpPr>
          <p:cNvPr id="22" name="col-Stretch"/>
          <p:cNvSpPr/>
          <p:nvPr/>
        </p:nvSpPr>
        <p:spPr>
          <a:xfrm>
            <a:off x="8127797" y="2903728"/>
            <a:ext cx="3515258" cy="3241040"/>
          </a:xfrm>
          <a:prstGeom prst="roundRect">
            <a:avLst>
              <a:gd name="adj" fmla="val 1693"/>
            </a:avLst>
          </a:prstGeom>
          <a:solidFill>
            <a:srgbClr val="3F6B4A"/>
          </a:solidFill>
          <a:ln/>
        </p:spPr>
      </p:sp>
      <p:sp>
        <p:nvSpPr>
          <p:cNvPr id="23" name="col-hex"/>
          <p:cNvSpPr/>
          <p:nvPr/>
        </p:nvSpPr>
        <p:spPr>
          <a:xfrm>
            <a:off x="8237525" y="2976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940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543808"/>
            <a:ext cx="3240938" cy="2491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water has to be transported to the site, and why that makes water use an economic as well as an environmental argument against fracking.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is pumped down the well at high pressure to fracture the shale?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Compressed natural gas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Liquid oil from a nearby well</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Hot steam from a power station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mixture of water, sand and chemicals</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2F5F2"/>
          </a:solidFill>
          <a:ln w="12700">
            <a:solidFill>
              <a:srgbClr val="9FB5A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How fracking works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A well is drilled down into the earth to reach the shale rock  (A)</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A mixture of water, sand and chemicals is pumped down the well at high pressure  (C)</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The shale cracks (fractures), releasing the gas trapped inside it  (D)</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The gas flows back up the well to the surface  (B)</a:t>
            </a:r>
            <a:endParaRPr lang="en-US" sz="24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Drill the well into the shale; pump water, sand and chemicals down at high pressure; the shale fractures and releases its gas; the gas flows back up the well to the surface.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How much water?</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Each fracking borehole requires around four million gallons of water, which has to be transported to the site. How many million gallons would 5 boreholes need?</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20 million gallons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Every borehole needs the same four million gallons, so five boreholes need 4 × 5 = 20 million gallons.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is pumped down the well at high pressure to fracture the shale?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A mixture of water, sand and chemicals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Water, sand and chemicals are injected at high pressure; the pressure cracks the shale, the sand props the cracks open, and the gas flows out to the well head.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CF0ED"/>
      </a:lt2>
      <a:accent1>
        <a:srgbClr val="3F6B4A"/>
      </a:accent1>
      <a:accent2>
        <a:srgbClr val="B8862B"/>
      </a:accent2>
      <a:accent3>
        <a:srgbClr val="8CA692"/>
      </a:accent3>
      <a:accent4>
        <a:srgbClr val="815E1E"/>
      </a:accent4>
      <a:accent5>
        <a:srgbClr val="4A505C"/>
      </a:accent5>
      <a:accent6>
        <a:srgbClr val="DCC395"/>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Challenge of Resource Management · Chapter 4: Fracking: should the UK extract its shale gas?</dc:title>
  <dc:subject>Geography · Year 9</dc:subject>
  <dc:creator>Dr Vitor Merissi de Carvalho</dc:creator>
  <cp:lastModifiedBy>Dr Vitor Merissi de Carvalho</cp:lastModifiedBy>
  <cp:revision>1</cp:revision>
  <dcterms:created xsi:type="dcterms:W3CDTF">2026-10-19T16:22:55Z</dcterms:created>
  <dcterms:modified xsi:type="dcterms:W3CDTF">2026-10-19T16:22:55Z</dcterms:modified>
</cp:coreProperties>
</file>