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fef8891-84e0-64a9-58b9-0749ee1ad38a}">
          <p14:sldIdLst>
            <p14:sldId id="256"/>
          </p14:sldIdLst>
        </p14:section>
        <p14:section name="Gate" id="{fa02a3e3-32f3-e01c-e983-4de1a3da50ca}">
          <p14:sldIdLst>
            <p14:sldId id="257"/>
            <p14:sldId id="258"/>
          </p14:sldIdLst>
        </p14:section>
        <p14:section name="Pre-teach" id="{56310957-61da-9bdb-433d-220207f8ee3e}">
          <p14:sldIdLst>
            <p14:sldId id="259"/>
            <p14:sldId id="260"/>
          </p14:sldIdLst>
        </p14:section>
        <p14:section name="Read-along" id="{c3cffc6e-9b5b-dfad-124e-1976bd906d28}">
          <p14:sldIdLst>
            <p14:sldId id="261"/>
            <p14:sldId id="262"/>
          </p14:sldIdLst>
        </p14:section>
        <p14:section name="Teach" id="{5d645f00-e563-0f9b-8348-d386a39d6ba8}">
          <p14:sldIdLst>
            <p14:sldId id="263"/>
            <p14:sldId id="264"/>
            <p14:sldId id="265"/>
            <p14:sldId id="266"/>
            <p14:sldId id="267"/>
          </p14:sldIdLst>
        </p14:section>
        <p14:section name="Routes" id="{3fb0bced-3dc7-7a83-2fc3-33da032e5f90}">
          <p14:sldIdLst>
            <p14:sldId id="268"/>
            <p14:sldId id="269"/>
            <p14:sldId id="270"/>
            <p14:sldId id="271"/>
          </p14:sldIdLst>
        </p14:section>
        <p14:section name="Close" id="{8172aa4f-a678-10ca-6e42-f05602c9605f}">
          <p14:sldIdLst>
            <p14:sldId id="272"/>
          </p14:sldIdLst>
        </p14:section>
        <p14:section name="Answers" id="{ccb273d3-31ba-b1f9-cf86-2d4cee760f47}">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6: Food and water in the UK. Why the UK imports so much of its food and what that costs in food miles and carbon, then the water story: why rainy England still has areas of water stress, and where they are.
This deck covers the department's lessons: 3 (The changing demand for food in the UK: imports, food miles and carbon footprint: Why does the UK import so much of its food, and what do food miles and carbon footprints have to do with it?); 4 (Water deficit and surplus in England: Where in England is there too little water and too much, and why?).
Read the big question aloud: "Can the world supply enough food, water and energy for everyone without using up the planet, and how should the UK manage its own supply?"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About what percentage of its food does the UK import each year?  →  40 %
2. Which of these is a reason the lesson gave for the UK importing so much food?  →  B   Demand for seasonal produce all year round
3. Areas of water ___ have more water than they need.  →  surplus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40 %. The lesson's headline figure: the UK imports about 40 % of its food per year.
2. B   Demand for seasonal produce all year round. Shoppers want strawberries in December, so food is imported from countries where it is in season. The other reasons were climate, choice and exotic foods, cheaper production abroad and expensive UK food.
3. surplus. Surplus means extra. Areas of surplus, like the north and west of the UK, have more water than the people living there need.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import: to buy goods from another country and bring them in. Example: "The UK has to import bananas because they will not grow here."
• food miles: the distance food travels from where it is grown to the person who eats it. Example: "Lamb from New Zealand has very high food miles."
• carbon footprint: the total greenhouse gases produced by a person's activities. Example: "Flying food across the world adds to its carbon footprint."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agribusiness: large-scale farming run as a business to produce as much food as possible. Example: "Agribusiness uses big machines and large fields to grow food cheaply."
• water stress: when there is not enough water of good quality to meet demand. Example: "Much of south-east England suffers from water stress."
• water transfer: moving water from an area with too much to an area with too little. Example: "Water transfer could carry water from the wet north-west to the dry south-east."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The UK imports about 40 % of the food it eats.
2. Our climate cannot grow some foods, and people want seasonal food all year round.
3. People also want more choice and more exotic foods.
4. Food grown abroad is often cheaper than food grown in the UK.
5. Imported food travels a long way, so it has high food miles.
6. Transporting it burns fuel, which adds to our carbon footprint.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England gets a lot of rain, but it also has a lot of people.
8. In England and Wales there are only 1334 cubic metres of water per person each year.
9. In southern England there are only 266 cubic metres per person.
10. The average person in the UK uses 150 litres of water every day.
11. The north and west have heavy rain and fewer people, so they have a water surplus.
12. The south and east have less rain and many more people, so they have a water deficit.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does the UK import so much food?. Say it in your own words, then check understanding with a quick question: ask a pupil from the pre-teach group first, since they met these words and ideas before the lesson. Pupils try to recall before you re-explain.
Open your fridge and read the labels. Prawns, bananas, blueberries, mangoes, rice: a great deal of what the UK eats was grown or caught somewhere else. The UK imports about 40 % of its food each year, and the lesson gave five linked reasons. The UK climate cannot grow some foods at all, and cannot grow others for most of the year. Shoppers demand seasonal produce all year round, so strawberries arrive in December from countries where it is summer. Shoppers also demand greater choice and more exotic foods than British farms can offer. Many foods are produced more cheaply abroad, where land, labour or sunshine is cheaper, and UK-produced food can be expensive by comparison.
Where does it come from? The lesson's table of UK food imports by region shows that 55 % comes from the European Union's fifteen older member states (the EU15) and 8 % from the rest of Europe, so Europe supplies 63 % of the total. Latin America and the Caribbean send 27 %, Asia and Oceania 5 %, North America 3 %, and the Middle East and North Africa and sub-Saharan Africa 1 % each. Our food, in other words, mostly comes from near neighbours, with one big exception on the far side of the Atlantic.
The UK also tries to grow more of its own. Agribusiness means farming run strictly as a commercial business: large, intensive, mechanised farms set up to produce as much food as they can. Organic farming takes the opposite approach, producing food without chemicals such as fertilisers and pesticides. Both are UK responses to the food challenge, and a question may ask you to weigh them against each other.
Tip: Five reasons for importing: climate, seasonal demand, choice and exotic foods, cheaper abroad, expensive at home. Link each one to WHY we need or choose to import, as the lesson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Food miles and carbon footprint. Say it in your own words, then check understanding with a quick question: ask a pupil from the pre-teach group first, since they met these words and ideas before the lesson. Pupils try to recall before you re-explain.
Food miles are the distances travelled by food imported into the UK, from where it is produced to where it is eaten. The lesson's examples show how far apart those two places can be: tomatoes from Spain travel about 1,000 food miles; beans from Canada about 3,600; garlic from Argentina about 7,400; and lamb from New Zealand about 18,500 food miles, nearly half way round the world. Geographers show these journeys on a flow line map: lines join the origin and the destination of goods or people, and the width of each line is proportional to the amount moved. A good flow line map has a title, a key, a compass direction and clearly drawn flows.
Food miles matter because moving food burns fuel. A carbon footprint is the total amount of greenhouse gases produced, directly and indirectly, to support a person's activities, usually expressed in tonnes of carbon dioxide. Every lorry, ship and aeroplane that carries food adds to the footprint of the person who eats it, so high food miles usually mean a higher carbon footprint. That is the link the end-of-unit revision list asks you to explain.
This is also why locally produced food is argued over. Buying from local growers cuts food miles and supports local farms, but local food can cost more, may only be available in season, and a heated British greenhouse can produce more carbon than a sunny field abroad. Weigh both sides when a question asks about local food.
Worked example — model it step by step, thinking aloud: Lamb from New Zealand travels about 18,500 food miles and tomatoes from Spain about 1,000. How many times further does the lamb travel? (1) The question asks how many TIMES further, so divide, do not subtract. (2) Divide the longer distance by the shorter: 18,500 ÷ 1,000. (3) 18,500 ÷ 1,000 = 18.5. (4) Answer in a sentence: the lamb travels about 18.5 times further than the tomatoes. Answer: About 18.5 times further.
Tip: Times further means divide; how much further means subtract. Read the question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Food miles and carbon footprint. Say it in your own words, then check understanding with a quick question: ask a pupil from the pre-teach group first, since they met these words and ideas before the lesson. Pupils try to recall before you re-explain.
Food miles are the distances travelled by food imported into the UK, from where it is produced to where it is eaten. The lesson's examples show how far apart those two places can be: tomatoes from Spain travel about 1,000 food miles; beans from Canada about 3,600; garlic from Argentina about 7,400; and lamb from New Zealand about 18,500 food miles, nearly half way round the world. Geographers show these journeys on a flow line map: lines join the origin and the destination of goods or people, and the width of each line is proportional to the amount moved. A good flow line map has a title, a key, a compass direction and clearly drawn flows.
Food miles matter because moving food burns fuel. A carbon footprint is the total amount of greenhouse gases produced, directly and indirectly, to support a person's activities, usually expressed in tonnes of carbon dioxide. Every lorry, ship and aeroplane that carries food adds to the footprint of the person who eats it, so high food miles usually mean a higher carbon footprint. That is the link the end-of-unit revision list asks you to explain.
This is also why locally produced food is argued over. Buying from local growers cuts food miles and supports local farms, but local food can cost more, may only be available in season, and a heated British greenhouse can produce more carbon than a sunny field abroad. Weigh both sides when a question asks about local food.
Worked example — model it step by step, thinking aloud: Lamb from New Zealand travels about 18,500 food miles and tomatoes from Spain about 1,000. How many times further does the lamb travel? (1) The question asks how many TIMES further, so divide, do not subtract. (2) Divide the longer distance by the shorter: 18,500 ÷ 1,000. (3) 18,500 ÷ 1,000 = 18.5. (4) Answer in a sentence: the lamb travels about 18.5 times further than the tomatoes. Answer: About 18.5 times further.
Tip: Times further means divide; how much further means subtract. Read the question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water story in England. Say it in your own words, then check understanding with a quick question: ask a pupil from the pre-teach group first, since they met these words and ideas before the lesson. Pupils try to recall before you re-explain.
It can seem as though it never stops raining in the UK, so it is a surprise to learn that England is short of water. In England and Wales there are only 1334 cubic metres of water available per person per year, about half the amount that hotter countries such as Spain have. In southern England, where most people live, the figure is only 266 cubic metres per person. Rain is not the whole story: what matters is how much water there is for each person who needs it.
Demand has risen sharply. The amount of water used per house in England and Wales has risen by 70 % over the last 30 years. One reason is appliances: only 66 % of households owned a washing machine in 1972, but by 2010 the figure was 94 %. Most of the water goes on washing and on flushing the toilet; the rest on drinking, cooking, the car and the garden. The average person in the UK currently uses 150 litres of water every day; the lesson's comparison figure for someone in Africa is 47 litres a day, less than a third as much.
Tip: Two numbers for England and Wales: 1334 cubic metres of water per person per year, and 150 litres used per person per day. Know which is supply and which is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Water surplus and deficit: north and west against south and east. Say it in your own words, then check understanding with a quick question: ask a pupil from the pre-teach group first, since they met these words and ideas before the lesson. Pupils try to recall before you re-explain.
Water stress happens when the amount of water available is not enough to meet demand, or is of poor quality. Differences in the distribution of rainfall and of population lead to areas of deficit and surplus. Areas of water deficit do not have enough rainfall or water for the people who live there; areas of water surplus have more water than they need. A choropleth map of water stress, with counties shaded by level, shows the pattern clearly.
The north and west of the UK have a water surplus. They receive heavy rainfall; their mountains and rivers make good sites for dams and reservoirs; they have natural lakes; and less of the population lives there, even though there are some relatively large cities and industries. The south and east have a water deficit. They receive less rain; higher summer temperatures mean more evaporation and transpiration; more of the population lives there at higher densities, in a greater number of larger cities such as London and Reading; and agriculture makes greater demands on water to irrigate crops.
The county table from the lesson matches this. Serious water stress is found across the south and east: London, Kent, Essex, Surrey, Sussex, Hampshire, Berkshire, Oxfordshire, Buckinghamshire, Bedfordshire, Hertfordshire and Cambridgeshire. Low water stress is found in the north and west: Cumbria, Lancashire, Northumberland, Durham, Yorkshire, Cheshire, Devon, Dorset, Wiltshire, and Avon and Somerset. Humberside is listed as low as well, and it is worth naming as an anomaly, because it sits on the east coast. A band of moderate stress runs through the Midlands and East Anglia, and Cornwall and the Greater Manchester and Merseyside area are moderate too. One answer to the imbalance is water transfer: matching supply with demand by moving water from an area with a surplus to an area with a deficit.
Tip: Explain water stress with a chain: less rain + hotter summers + more people + big cities + irrigated farms = demand greater than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Reading the imports table.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UK's food imports table shows 55 % coming from the EU15 countries and 8 % from the rest of Europe. What percentage of the UK's food imports comes from Europe as a whole?
Support — work through the steps with the group: (1) Find the two rows that are both part of Europe: EU15 and rest of Europe. (2) Both are parts of the same whole, so add them. (3) 55 + 8. (4) Check: Europe should be the biggest supplier, so the answer should be more than half.
Parallel worked example for Support (model it, do not give the task answer): The same table shows 3 % from North America and 27 % from Latin America and the Caribbean. What percentage comes from the Americas as a whole? Both rows are parts of the Americas.; Add them: 27 + 3 = 30 %.. Answer: 30 %.
Core — reveal the hint only on request: Europe as a whole means every row that is in Europe. There are two.
Stretch — no help; when finished: The seven regions in the table add up to 100 %. Check this, then explain why food from Latin America (27 %) adds much more to the UK's carbon footprint than the same amount of food from the EU15.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Reading the imports table.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The UK's food imports table shows 55 % coming from the EU15 countries and 8 % from the rest of Europe. What percentage of the UK's food imports comes from Europe as a whole?
Support — work through the steps with the group: (1) Find the two rows that are both part of Europe: EU15 and rest of Europe. (2) Both are parts of the same whole, so add them. (3) 55 + 8. (4) Check: Europe should be the biggest supplier, so the answer should be more than half.
Parallel worked example for Support (model it, do not give the task answer): The same table shows 3 % from North America and 27 % from Latin America and the Caribbean. What percentage comes from the Americas as a whole? Both rows are parts of the Americas.; Add them: 27 + 3 = 30 %.. Answer: 30 %.
Core — reveal the hint only on request: Europe as a whole means every row that is in Europe. There are two.
Stretch — no help; when finished: The seven regions in the table add up to 100 %. Check this, then explain why food from Latin America (27 %) adds much more to the UK's carbon footprint than the same amount of food from the EU15.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Water 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water key word to its meaning.
Support — work through the steps with the group: (1) Surplus means extra; deficit means short. Which meaning says supply is bigger, and which says demand is bigger? (2) Transfer means move. Which meaning is about moving water? (3) Quality is about how good something is, so look for the meaning about what is IN the water. (4) Stress is the broadest word: shortage OR poor quality.
Parallel worked example for Support (model it, do not give the task answer): Match: reservoir, irrigation. Choices: watering crops with water brought from a river or store; an artificial lake built to store water behind a dam. A reservoir stores water.; Irrigation waters crops.. Answer: Reservoir: an artificial lake built to store water behind a dam. Irrigation: watering crops with water brought from a river or store..
Core — reveal the hint only on request: Surplus and deficit are opposites; stress covers both shortage and poor quality; transfer is the solution.
Stretch — no help; when finished: Explain why a region could have a water surplus and still suffer water stress. Use the word quality in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Water 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water key word to its meaning.
Support — work through the steps with the group: (1) Surplus means extra; deficit means short. Which meaning says supply is bigger, and which says demand is bigger? (2) Transfer means move. Which meaning is about moving water? (3) Quality is about how good something is, so look for the meaning about what is IN the water. (4) Stress is the broadest word: shortage OR poor quality.
Parallel worked example for Support (model it, do not give the task answer): Match: reservoir, irrigation. Choices: watering crops with water brought from a river or store; an artificial lake built to store water behind a dam. A reservoir stores water.; Irrigation waters crops.. Answer: Reservoir: an artificial lake built to store water behind a dam. Irrigation: watering crops with water brought from a river or store..
Core — reveal the hint only on request: Surplus and deficit are opposites; stress covers both shortage and poor quality; transfer is the solution.
Stretch — no help; when finished: Explain why a region could have a water surplus and still suffer water stress. Use the word quality in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statement describes the north and west of the UK?
Answer: D   Heavy rainfall, and mountains and rivers that make good sites for dams and reservoirs. The north and west have a water surplus because heavy rainfall and mountainous land with rivers supply plenty of water, natural lakes store it, and fewer people live there to demand it. The other three statements describe the south and east and its deficit.
Source of this question: module 3 task ("North and west, or south and east?")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Reading the imports table. Reveal the answer; pupils mark their own work in a different colour, then read the "why" together. Same destination for every lane, so one answer serves the whole class.
Answer: 63 %
Why: The EU15 (55 %) and the rest of Europe (8 %) are both parts of Europe, so Europe as a whole supplies 63 % of the UK's imported food.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Water words. Reveal the answer; pupils mark their own work in a different colour, then read the "why" together. Same destination for every lane, so one answer serves the whole class.
Answer: Water stress  →  E  When demand for water is greater than the amount available in a period, or poor quality restricts its use; Water surplus  →  C  When the supply of water is greater than the demand for it; Water deficit  →  A  When the demand for water is greater than the supply; Water quality  →  B  Measured by the chemical, physical and biological content of the water; Water transfer  →  D  Moving water from an area with a surplus to an area with a deficit
Why: Surplus and deficit are the two sides of supply against demand; water stress adds the problem of quality; water quality is what the water contains; water transfer moves water from surplus to deficit.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Heavy rainfall, and mountains and rivers that make good sites for dams and reservoirs
Why: The north and west have a water surplus because heavy rainfall and mountainous land with rivers supply plenty of water, natural lakes store it, and fewer people live there to demand it. The other three statements describe the south and east and its deficit.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Challenge of Resource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Challenge of Resource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E1D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2/6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Challenge of Resource Management · AQA 8035</a:t>
            </a:r>
            <a:endParaRPr lang="en-US" sz="1800" dirty="0"/>
          </a:p>
        </p:txBody>
      </p:sp>
      <p:sp>
        <p:nvSpPr>
          <p:cNvPr id="10" name="deck-title"/>
          <p:cNvSpPr txBox="1"/>
          <p:nvPr/>
        </p:nvSpPr>
        <p:spPr>
          <a:xfrm>
            <a:off x="548640" y="206425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Food and water in the UK</a:t>
            </a:r>
            <a:endParaRPr lang="en-US" sz="4000" dirty="0"/>
          </a:p>
        </p:txBody>
      </p:sp>
      <p:sp>
        <p:nvSpPr>
          <p:cNvPr id="11" name="lessons-card"/>
          <p:cNvSpPr/>
          <p:nvPr/>
        </p:nvSpPr>
        <p:spPr>
          <a:xfrm>
            <a:off x="548640" y="3740658"/>
            <a:ext cx="5287975" cy="1638300"/>
          </a:xfrm>
          <a:prstGeom prst="roundRect">
            <a:avLst>
              <a:gd name="adj" fmla="val 4465"/>
            </a:avLst>
          </a:prstGeom>
          <a:solidFill>
            <a:srgbClr val="ECF0ED"/>
          </a:solidFill>
          <a:ln/>
        </p:spPr>
      </p:sp>
      <p:sp>
        <p:nvSpPr>
          <p:cNvPr id="12" name="lessons"/>
          <p:cNvSpPr txBox="1"/>
          <p:nvPr/>
        </p:nvSpPr>
        <p:spPr>
          <a:xfrm>
            <a:off x="685800" y="3832098"/>
            <a:ext cx="5013655" cy="145542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changing demand for food in the UK: imports, food miles and carbon footprint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Water deficit and surplus in England</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CF0ED"/>
          </a:solidFill>
          <a:ln w="12700">
            <a:solidFill>
              <a:srgbClr val="B2C4B7"/>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Can the world supply enough food, water and energy for everyone without using up the planet, and how should the UK manage its own supply?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About what percentage of its food does the UK import each year?</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a:t>
            </a:r>
            <a:endParaRPr lang="en-US" sz="2400" dirty="0"/>
          </a:p>
        </p:txBody>
      </p:sp>
      <p:sp>
        <p:nvSpPr>
          <p:cNvPr id="12" name="card"/>
          <p:cNvSpPr/>
          <p:nvPr/>
        </p:nvSpPr>
        <p:spPr>
          <a:xfrm>
            <a:off x="3459404" y="1389888"/>
            <a:ext cx="5272888" cy="4754880"/>
          </a:xfrm>
          <a:prstGeom prst="roundRect">
            <a:avLst>
              <a:gd name="adj" fmla="val 1154"/>
            </a:avLst>
          </a:prstGeom>
          <a:solidFill>
            <a:srgbClr val="F2F5F2"/>
          </a:solidFill>
          <a:ln w="12700">
            <a:solidFill>
              <a:srgbClr val="BCCBC0"/>
            </a:solidFill>
            <a:prstDash val="solid"/>
          </a:ln>
        </p:spPr>
      </p:sp>
      <p:sp>
        <p:nvSpPr>
          <p:cNvPr id="13" name="card-hex"/>
          <p:cNvSpPr/>
          <p:nvPr/>
        </p:nvSpPr>
        <p:spPr>
          <a:xfrm>
            <a:off x="3642284" y="1572768"/>
            <a:ext cx="640080" cy="554309"/>
          </a:xfrm>
          <a:prstGeom prst="hexagon">
            <a:avLst/>
          </a:prstGeom>
          <a:solidFill>
            <a:srgbClr val="3F6B4A"/>
          </a:solidFill>
          <a:ln/>
        </p:spPr>
      </p:sp>
      <p:sp>
        <p:nvSpPr>
          <p:cNvPr id="14"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3642284"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Which of these is a reason the lesson gave for the UK importing so much food?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 UK has no farmland of its own</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Demand for seasonal produce all year round</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British farms are not allowed to grow fruit</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Imported food always has lower food miles</a:t>
            </a:r>
            <a:endParaRPr lang="en-US" sz="2000" dirty="0"/>
          </a:p>
        </p:txBody>
      </p:sp>
      <p:sp>
        <p:nvSpPr>
          <p:cNvPr id="17" name="card"/>
          <p:cNvSpPr/>
          <p:nvPr/>
        </p:nvSpPr>
        <p:spPr>
          <a:xfrm>
            <a:off x="9006611" y="1389888"/>
            <a:ext cx="2636444" cy="4754880"/>
          </a:xfrm>
          <a:prstGeom prst="roundRect">
            <a:avLst>
              <a:gd name="adj" fmla="val 2081"/>
            </a:avLst>
          </a:prstGeom>
          <a:solidFill>
            <a:srgbClr val="F2F5F2"/>
          </a:solidFill>
          <a:ln w="12700">
            <a:solidFill>
              <a:srgbClr val="BCCBC0"/>
            </a:solidFill>
            <a:prstDash val="solid"/>
          </a:ln>
        </p:spPr>
      </p:sp>
      <p:sp>
        <p:nvSpPr>
          <p:cNvPr id="18" name="card-hex"/>
          <p:cNvSpPr/>
          <p:nvPr/>
        </p:nvSpPr>
        <p:spPr>
          <a:xfrm>
            <a:off x="9189491" y="1572768"/>
            <a:ext cx="640080" cy="554309"/>
          </a:xfrm>
          <a:prstGeom prst="hexagon">
            <a:avLst/>
          </a:prstGeom>
          <a:solidFill>
            <a:srgbClr val="3F6B4A"/>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Areas of water ___ have more water than they need.</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surplus  ·  deficit  ·  stress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2636444" cy="4754880"/>
          </a:xfrm>
          <a:prstGeom prst="roundRect">
            <a:avLst>
              <a:gd name="adj" fmla="val 208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2270684"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40 %</a:t>
            </a:r>
            <a:endParaRPr lang="en-US" sz="2200" dirty="0"/>
          </a:p>
        </p:txBody>
      </p:sp>
      <p:sp>
        <p:nvSpPr>
          <p:cNvPr id="13" name="card-body"/>
          <p:cNvSpPr txBox="1"/>
          <p:nvPr/>
        </p:nvSpPr>
        <p:spPr>
          <a:xfrm>
            <a:off x="731520"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About what percentage of its food does the UK import each year?</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lesson's headline figure: the UK imports about 40 % of its food per year.</a:t>
            </a:r>
            <a:endParaRPr lang="en-US" sz="1800" dirty="0"/>
          </a:p>
        </p:txBody>
      </p:sp>
      <p:sp>
        <p:nvSpPr>
          <p:cNvPr id="14" name="card"/>
          <p:cNvSpPr/>
          <p:nvPr/>
        </p:nvSpPr>
        <p:spPr>
          <a:xfrm>
            <a:off x="3459404" y="1389888"/>
            <a:ext cx="5272888" cy="4754880"/>
          </a:xfrm>
          <a:prstGeom prst="roundRect">
            <a:avLst>
              <a:gd name="adj" fmla="val 1154"/>
            </a:avLst>
          </a:prstGeom>
          <a:solidFill>
            <a:srgbClr val="F2F5F2"/>
          </a:solidFill>
          <a:ln w="12700">
            <a:solidFill>
              <a:srgbClr val="BCCBC0"/>
            </a:solidFill>
            <a:prstDash val="solid"/>
          </a:ln>
        </p:spPr>
      </p:sp>
      <p:sp>
        <p:nvSpPr>
          <p:cNvPr id="15" name="card-hex"/>
          <p:cNvSpPr/>
          <p:nvPr/>
        </p:nvSpPr>
        <p:spPr>
          <a:xfrm>
            <a:off x="3642284" y="1572768"/>
            <a:ext cx="640080" cy="554309"/>
          </a:xfrm>
          <a:prstGeom prst="hexagon">
            <a:avLst/>
          </a:prstGeom>
          <a:solidFill>
            <a:srgbClr val="3F6B4A"/>
          </a:solidFill>
          <a:ln/>
        </p:spPr>
      </p:sp>
      <p:sp>
        <p:nvSpPr>
          <p:cNvPr id="16" name="card-hex-label"/>
          <p:cNvSpPr txBox="1"/>
          <p:nvPr/>
        </p:nvSpPr>
        <p:spPr>
          <a:xfrm>
            <a:off x="3642284"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4373804"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3642284" y="2355677"/>
            <a:ext cx="4907128" cy="955040"/>
          </a:xfrm>
          <a:prstGeom prst="roundRect">
            <a:avLst>
              <a:gd name="adj" fmla="val 11489"/>
            </a:avLst>
          </a:prstGeom>
          <a:solidFill>
            <a:srgbClr val="EDE1CA"/>
          </a:solidFill>
          <a:ln w="19050">
            <a:solidFill>
              <a:srgbClr val="B8862B"/>
            </a:solidFill>
            <a:prstDash val="solid"/>
          </a:ln>
        </p:spPr>
      </p:sp>
      <p:sp>
        <p:nvSpPr>
          <p:cNvPr id="19" name="answer"/>
          <p:cNvSpPr txBox="1"/>
          <p:nvPr/>
        </p:nvSpPr>
        <p:spPr>
          <a:xfrm>
            <a:off x="3733724"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Demand for seasonal produce all year round</a:t>
            </a:r>
            <a:endParaRPr lang="en-US" sz="2200" dirty="0"/>
          </a:p>
        </p:txBody>
      </p:sp>
      <p:sp>
        <p:nvSpPr>
          <p:cNvPr id="20" name="card-body"/>
          <p:cNvSpPr txBox="1"/>
          <p:nvPr/>
        </p:nvSpPr>
        <p:spPr>
          <a:xfrm>
            <a:off x="3642284"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is a reason the lesson gave for the UK importing so much food?</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Shoppers want strawberries in December, so food is imported from countries where it is in season. The other reasons were climate, choice and exotic foods, cheaper production abroad and expensive UK food.</a:t>
            </a:r>
            <a:endParaRPr lang="en-US" sz="2000" dirty="0"/>
          </a:p>
        </p:txBody>
      </p:sp>
      <p:sp>
        <p:nvSpPr>
          <p:cNvPr id="21" name="card"/>
          <p:cNvSpPr/>
          <p:nvPr/>
        </p:nvSpPr>
        <p:spPr>
          <a:xfrm>
            <a:off x="9006611" y="1389888"/>
            <a:ext cx="2636444" cy="4754880"/>
          </a:xfrm>
          <a:prstGeom prst="roundRect">
            <a:avLst>
              <a:gd name="adj" fmla="val 2081"/>
            </a:avLst>
          </a:prstGeom>
          <a:solidFill>
            <a:srgbClr val="F2F5F2"/>
          </a:solidFill>
          <a:ln w="12700">
            <a:solidFill>
              <a:srgbClr val="BCCBC0"/>
            </a:solidFill>
            <a:prstDash val="solid"/>
          </a:ln>
        </p:spPr>
      </p:sp>
      <p:sp>
        <p:nvSpPr>
          <p:cNvPr id="22" name="card-hex"/>
          <p:cNvSpPr/>
          <p:nvPr/>
        </p:nvSpPr>
        <p:spPr>
          <a:xfrm>
            <a:off x="9189491" y="1572768"/>
            <a:ext cx="640080" cy="554309"/>
          </a:xfrm>
          <a:prstGeom prst="hexagon">
            <a:avLst/>
          </a:prstGeom>
          <a:solidFill>
            <a:srgbClr val="3F6B4A"/>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9280931"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surplus</a:t>
            </a:r>
            <a:endParaRPr lang="en-US" sz="2200" dirty="0"/>
          </a:p>
        </p:txBody>
      </p:sp>
      <p:sp>
        <p:nvSpPr>
          <p:cNvPr id="27" name="card-body"/>
          <p:cNvSpPr txBox="1"/>
          <p:nvPr/>
        </p:nvSpPr>
        <p:spPr>
          <a:xfrm>
            <a:off x="9189491"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Areas of water ___ have more water than they need.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Surplus means extra. Areas of surplus, like the north and west of the UK, have more water than the people living there need.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import</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to buy goods from another country and bring them in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UK has to import bananas because they will not grow here.</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food miles</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distance food travels from where it is grown to the person who eats it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Lamb from New Zealand has very high food miles.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carbon footprint</a:t>
            </a:r>
            <a:endParaRPr lang="en-US" sz="2600" dirty="0"/>
          </a:p>
        </p:txBody>
      </p:sp>
      <p:sp>
        <p:nvSpPr>
          <p:cNvPr id="23" name="word-rule"/>
          <p:cNvSpPr/>
          <p:nvPr/>
        </p:nvSpPr>
        <p:spPr>
          <a:xfrm>
            <a:off x="8310677" y="2558288"/>
            <a:ext cx="3149498" cy="0"/>
          </a:xfrm>
          <a:prstGeom prst="line">
            <a:avLst/>
          </a:prstGeom>
          <a:ln w="12700">
            <a:solidFill>
              <a:srgbClr val="B2C4B7"/>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total greenhouse gases produced by a person's activities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Flying food across the world adds to its carbon footprint.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agribusiness</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large-scale farming run as a business to produce as much food as possible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Agribusiness uses big machines and large fields to grow food cheaply.</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water stress</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when there is not enough water of good quality to meet demand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Much of south-east England suffers from water stress.</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water transfer</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moving water from an area with too much to an area with too little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Water transfer could carry water from the wet north-west to the dry south-east.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UK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imports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about 40 % of the food it eats.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Our climate cannot grow some foods, and people want seasonal food all year round.</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People also want more choice and more exotic foods.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Food grown abroad is often cheaper than food grown in the UK.</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Imported food travels a long way, so it has high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food miles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Transporting it burns fuel, which adds to our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carbon footprint</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England gets a lot of rain, but it also has a lot of people.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England and Wales there are only 1334 cubic metres of water per person each year.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southern England there are only 266 cubic metres per person.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average person in the UK uses 150 litres of water every day.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north and west have heavy rain and fewer people, so they have a water surplus.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south and east have less rain and many more people, so they have a water deficit.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Why does the UK import so much food?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Five reasons for importing: climate, seasonal demand, choice and exotic foods, cheaper abroad, expensive at home. Link each one to WHY we need or choose to import, as the lesson asked.</a:t>
            </a:r>
            <a:endParaRPr lang="en-US" sz="1800" dirty="0"/>
          </a:p>
        </p:txBody>
      </p:sp>
      <p:sp>
        <p:nvSpPr>
          <p:cNvPr id="11" name="bullet-card"/>
          <p:cNvSpPr/>
          <p:nvPr/>
        </p:nvSpPr>
        <p:spPr>
          <a:xfrm>
            <a:off x="548640" y="1389888"/>
            <a:ext cx="11094415" cy="1098127"/>
          </a:xfrm>
          <a:prstGeom prst="roundRect">
            <a:avLst>
              <a:gd name="adj" fmla="val 6662"/>
            </a:avLst>
          </a:prstGeom>
          <a:solidFill>
            <a:srgbClr val="F0F3F1"/>
          </a:solidFill>
          <a:ln/>
        </p:spPr>
      </p:sp>
      <p:sp>
        <p:nvSpPr>
          <p:cNvPr id="12" name="bullet-hex"/>
          <p:cNvSpPr/>
          <p:nvPr/>
        </p:nvSpPr>
        <p:spPr>
          <a:xfrm>
            <a:off x="676656" y="1772659"/>
            <a:ext cx="384048" cy="332586"/>
          </a:xfrm>
          <a:prstGeom prst="hexagon">
            <a:avLst/>
          </a:prstGeom>
          <a:solidFill>
            <a:srgbClr val="3F6B4A"/>
          </a:solidFill>
          <a:ln/>
        </p:spPr>
      </p:sp>
      <p:sp>
        <p:nvSpPr>
          <p:cNvPr id="13" name="bullet"/>
          <p:cNvSpPr txBox="1"/>
          <p:nvPr/>
        </p:nvSpPr>
        <p:spPr>
          <a:xfrm>
            <a:off x="1143000" y="1389888"/>
            <a:ext cx="10408615" cy="109812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Open your fridge and read the labels. Prawns, bananas, blueberries, mangoes, rice: a great deal of what the UK eats was grown or caught somewhere else.</a:t>
            </a:r>
            <a:endParaRPr lang="en-US" sz="2200" dirty="0"/>
          </a:p>
        </p:txBody>
      </p:sp>
      <p:sp>
        <p:nvSpPr>
          <p:cNvPr id="14" name="bullet-card"/>
          <p:cNvSpPr/>
          <p:nvPr/>
        </p:nvSpPr>
        <p:spPr>
          <a:xfrm>
            <a:off x="548640" y="2634319"/>
            <a:ext cx="11094415" cy="1438995"/>
          </a:xfrm>
          <a:prstGeom prst="roundRect">
            <a:avLst>
              <a:gd name="adj" fmla="val 5084"/>
            </a:avLst>
          </a:prstGeom>
          <a:solidFill>
            <a:srgbClr val="F0F3F1"/>
          </a:solidFill>
          <a:ln/>
        </p:spPr>
      </p:sp>
      <p:sp>
        <p:nvSpPr>
          <p:cNvPr id="15" name="bullet-hex"/>
          <p:cNvSpPr/>
          <p:nvPr/>
        </p:nvSpPr>
        <p:spPr>
          <a:xfrm>
            <a:off x="676656" y="3187523"/>
            <a:ext cx="384048" cy="332586"/>
          </a:xfrm>
          <a:prstGeom prst="hexagon">
            <a:avLst/>
          </a:prstGeom>
          <a:solidFill>
            <a:srgbClr val="B8862B"/>
          </a:solidFill>
          <a:ln/>
        </p:spPr>
      </p:sp>
      <p:sp>
        <p:nvSpPr>
          <p:cNvPr id="16" name="bullet"/>
          <p:cNvSpPr txBox="1"/>
          <p:nvPr/>
        </p:nvSpPr>
        <p:spPr>
          <a:xfrm>
            <a:off x="1143000" y="2634319"/>
            <a:ext cx="10408615" cy="143899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Where does it come from? The lesson's table of UK food imports by region shows that 55 % comes from the European Union's fifteen older member states (the EU15) and 8 % from the rest of Europe, so Europe supplies 63 % of the total.</a:t>
            </a:r>
            <a:endParaRPr lang="en-US" sz="2200" dirty="0"/>
          </a:p>
        </p:txBody>
      </p:sp>
      <p:sp>
        <p:nvSpPr>
          <p:cNvPr id="17" name="bullet-card"/>
          <p:cNvSpPr/>
          <p:nvPr/>
        </p:nvSpPr>
        <p:spPr>
          <a:xfrm>
            <a:off x="548640" y="4219617"/>
            <a:ext cx="11094415" cy="856319"/>
          </a:xfrm>
          <a:prstGeom prst="roundRect">
            <a:avLst>
              <a:gd name="adj" fmla="val 8543"/>
            </a:avLst>
          </a:prstGeom>
          <a:solidFill>
            <a:srgbClr val="F0F3F1"/>
          </a:solidFill>
          <a:ln/>
        </p:spPr>
      </p:sp>
      <p:sp>
        <p:nvSpPr>
          <p:cNvPr id="18" name="bullet-hex"/>
          <p:cNvSpPr/>
          <p:nvPr/>
        </p:nvSpPr>
        <p:spPr>
          <a:xfrm>
            <a:off x="676656" y="4481484"/>
            <a:ext cx="384048" cy="332586"/>
          </a:xfrm>
          <a:prstGeom prst="hexagon">
            <a:avLst/>
          </a:prstGeom>
          <a:solidFill>
            <a:srgbClr val="3F6B4A"/>
          </a:solidFill>
          <a:ln/>
        </p:spPr>
      </p:sp>
      <p:sp>
        <p:nvSpPr>
          <p:cNvPr id="19" name="bullet"/>
          <p:cNvSpPr txBox="1"/>
          <p:nvPr/>
        </p:nvSpPr>
        <p:spPr>
          <a:xfrm>
            <a:off x="1143000" y="4219617"/>
            <a:ext cx="10408615" cy="85631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UK also tries to grow more of its own.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Food miles and carbon footprint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4EDDF"/>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Times further means divide; how much further means subtract. Read the question twice.</a:t>
            </a:r>
            <a:endParaRPr lang="en-US" sz="1800" dirty="0"/>
          </a:p>
        </p:txBody>
      </p:sp>
      <p:sp>
        <p:nvSpPr>
          <p:cNvPr id="11" name="point-card"/>
          <p:cNvSpPr/>
          <p:nvPr/>
        </p:nvSpPr>
        <p:spPr>
          <a:xfrm>
            <a:off x="548640" y="1389888"/>
            <a:ext cx="3515258" cy="3964940"/>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Food miles are the distances travelled by food imported into the UK, from where it is produced to where it is eaten.</a:t>
            </a:r>
            <a:endParaRPr lang="en-US" sz="1800" dirty="0"/>
          </a:p>
        </p:txBody>
      </p:sp>
      <p:sp>
        <p:nvSpPr>
          <p:cNvPr id="15" name="point-card"/>
          <p:cNvSpPr/>
          <p:nvPr/>
        </p:nvSpPr>
        <p:spPr>
          <a:xfrm>
            <a:off x="4338218" y="1389888"/>
            <a:ext cx="3515258" cy="3964940"/>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Food miles matter because moving food burns fuel. A carbon footprint is the total amount of greenhouse gases produced, directly and indirectly, to support a person's activities, usually expressed in tonnes of carbon dioxide.</a:t>
            </a:r>
            <a:endParaRPr lang="en-US" sz="1800" dirty="0"/>
          </a:p>
        </p:txBody>
      </p:sp>
      <p:sp>
        <p:nvSpPr>
          <p:cNvPr id="19" name="point-card"/>
          <p:cNvSpPr/>
          <p:nvPr/>
        </p:nvSpPr>
        <p:spPr>
          <a:xfrm>
            <a:off x="8127797" y="1389888"/>
            <a:ext cx="3515258" cy="3964940"/>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This is also why locally produced food is argued over.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Worked example: Food miles and carbon footprint</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CF0ED"/>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Lamb from New Zealand travels about 18,500 food miles and tomatoes from Spain about 1,000. How many times further does the lamb travel?</a:t>
            </a:r>
            <a:endParaRPr lang="en-US" sz="2200" dirty="0"/>
          </a:p>
        </p:txBody>
      </p:sp>
      <p:sp>
        <p:nvSpPr>
          <p:cNvPr id="9" name="step-box"/>
          <p:cNvSpPr/>
          <p:nvPr/>
        </p:nvSpPr>
        <p:spPr>
          <a:xfrm>
            <a:off x="548640" y="2655824"/>
            <a:ext cx="2464994" cy="2252980"/>
          </a:xfrm>
          <a:prstGeom prst="roundRect">
            <a:avLst>
              <a:gd name="adj" fmla="val 3247"/>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question asks how many TIMES further, so divide, do not subtract.</a:t>
            </a:r>
            <a:endParaRPr lang="en-US" sz="1800" dirty="0"/>
          </a:p>
        </p:txBody>
      </p:sp>
      <p:sp>
        <p:nvSpPr>
          <p:cNvPr id="13" name="arrow"/>
          <p:cNvSpPr/>
          <p:nvPr/>
        </p:nvSpPr>
        <p:spPr>
          <a:xfrm>
            <a:off x="3086786" y="3645154"/>
            <a:ext cx="274320" cy="274320"/>
          </a:xfrm>
          <a:prstGeom prst="rightArrow">
            <a:avLst/>
          </a:prstGeom>
          <a:solidFill>
            <a:srgbClr val="B8862B"/>
          </a:solidFill>
          <a:ln/>
        </p:spPr>
      </p:sp>
      <p:sp>
        <p:nvSpPr>
          <p:cNvPr id="14" name="step-box"/>
          <p:cNvSpPr/>
          <p:nvPr/>
        </p:nvSpPr>
        <p:spPr>
          <a:xfrm>
            <a:off x="3425114" y="2655824"/>
            <a:ext cx="2464994" cy="2252980"/>
          </a:xfrm>
          <a:prstGeom prst="roundRect">
            <a:avLst>
              <a:gd name="adj" fmla="val 3247"/>
            </a:avLst>
          </a:prstGeom>
          <a:solidFill>
            <a:srgbClr val="FFFFFF"/>
          </a:solidFill>
          <a:ln w="15875">
            <a:solidFill>
              <a:srgbClr val="95AE9B"/>
            </a:solidFill>
            <a:prstDash val="solid"/>
          </a:ln>
        </p:spPr>
      </p:sp>
      <p:sp>
        <p:nvSpPr>
          <p:cNvPr id="15" name="step-hex"/>
          <p:cNvSpPr/>
          <p:nvPr/>
        </p:nvSpPr>
        <p:spPr>
          <a:xfrm>
            <a:off x="3562274" y="2765552"/>
            <a:ext cx="530352" cy="459285"/>
          </a:xfrm>
          <a:prstGeom prst="hexagon">
            <a:avLst/>
          </a:prstGeom>
          <a:solidFill>
            <a:srgbClr val="3F6B4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Divide the longer distance by the shorter: 18,500 ÷ 1,000.</a:t>
            </a:r>
            <a:endParaRPr lang="en-US" sz="1800" dirty="0"/>
          </a:p>
        </p:txBody>
      </p:sp>
      <p:sp>
        <p:nvSpPr>
          <p:cNvPr id="18" name="arrow"/>
          <p:cNvSpPr/>
          <p:nvPr/>
        </p:nvSpPr>
        <p:spPr>
          <a:xfrm>
            <a:off x="5963260" y="3645154"/>
            <a:ext cx="274320" cy="274320"/>
          </a:xfrm>
          <a:prstGeom prst="rightArrow">
            <a:avLst/>
          </a:prstGeom>
          <a:solidFill>
            <a:srgbClr val="B8862B"/>
          </a:solidFill>
          <a:ln/>
        </p:spPr>
      </p:sp>
      <p:sp>
        <p:nvSpPr>
          <p:cNvPr id="19" name="step-box"/>
          <p:cNvSpPr/>
          <p:nvPr/>
        </p:nvSpPr>
        <p:spPr>
          <a:xfrm>
            <a:off x="6301588" y="2655824"/>
            <a:ext cx="2464994" cy="2252980"/>
          </a:xfrm>
          <a:prstGeom prst="roundRect">
            <a:avLst>
              <a:gd name="adj" fmla="val 3247"/>
            </a:avLst>
          </a:prstGeom>
          <a:solidFill>
            <a:srgbClr val="FFFFFF"/>
          </a:solidFill>
          <a:ln w="15875">
            <a:solidFill>
              <a:srgbClr val="95AE9B"/>
            </a:solidFill>
            <a:prstDash val="solid"/>
          </a:ln>
        </p:spPr>
      </p:sp>
      <p:sp>
        <p:nvSpPr>
          <p:cNvPr id="20" name="step-hex"/>
          <p:cNvSpPr/>
          <p:nvPr/>
        </p:nvSpPr>
        <p:spPr>
          <a:xfrm>
            <a:off x="6438748" y="2765552"/>
            <a:ext cx="530352" cy="459285"/>
          </a:xfrm>
          <a:prstGeom prst="hexagon">
            <a:avLst/>
          </a:prstGeom>
          <a:solidFill>
            <a:srgbClr val="3F6B4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18,500 ÷ 1,000 = 18.5.</a:t>
            </a:r>
            <a:endParaRPr lang="en-US" sz="1800" dirty="0"/>
          </a:p>
        </p:txBody>
      </p:sp>
      <p:sp>
        <p:nvSpPr>
          <p:cNvPr id="23" name="arrow"/>
          <p:cNvSpPr/>
          <p:nvPr/>
        </p:nvSpPr>
        <p:spPr>
          <a:xfrm>
            <a:off x="8839733" y="3645154"/>
            <a:ext cx="274320" cy="274320"/>
          </a:xfrm>
          <a:prstGeom prst="rightArrow">
            <a:avLst/>
          </a:prstGeom>
          <a:solidFill>
            <a:srgbClr val="B8862B"/>
          </a:solidFill>
          <a:ln/>
        </p:spPr>
      </p:sp>
      <p:sp>
        <p:nvSpPr>
          <p:cNvPr id="24" name="step-box"/>
          <p:cNvSpPr/>
          <p:nvPr/>
        </p:nvSpPr>
        <p:spPr>
          <a:xfrm>
            <a:off x="9178061" y="2655824"/>
            <a:ext cx="2464994" cy="2252980"/>
          </a:xfrm>
          <a:prstGeom prst="roundRect">
            <a:avLst>
              <a:gd name="adj" fmla="val 3247"/>
            </a:avLst>
          </a:prstGeom>
          <a:solidFill>
            <a:srgbClr val="FFFFFF"/>
          </a:solidFill>
          <a:ln w="15875">
            <a:solidFill>
              <a:srgbClr val="95AE9B"/>
            </a:solidFill>
            <a:prstDash val="solid"/>
          </a:ln>
        </p:spPr>
      </p:sp>
      <p:sp>
        <p:nvSpPr>
          <p:cNvPr id="25" name="step-hex"/>
          <p:cNvSpPr/>
          <p:nvPr/>
        </p:nvSpPr>
        <p:spPr>
          <a:xfrm>
            <a:off x="9315221" y="2765552"/>
            <a:ext cx="530352" cy="459285"/>
          </a:xfrm>
          <a:prstGeom prst="hexagon">
            <a:avLst/>
          </a:prstGeom>
          <a:solidFill>
            <a:srgbClr val="3F6B4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Answer in a sentence: the lamb travels about 18.5 times further than the tomatoes.</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About 18.5 times further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water story in England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Two numbers for England and Wales: 1334 cubic metres of water per person per year, and 150 litres used per person per day. Know which is supply and which is use.</a:t>
            </a:r>
            <a:endParaRPr lang="en-US" sz="1800" dirty="0"/>
          </a:p>
        </p:txBody>
      </p:sp>
      <p:sp>
        <p:nvSpPr>
          <p:cNvPr id="11" name="point-card"/>
          <p:cNvSpPr/>
          <p:nvPr/>
        </p:nvSpPr>
        <p:spPr>
          <a:xfrm>
            <a:off x="548640" y="1389888"/>
            <a:ext cx="5410048" cy="3686048"/>
          </a:xfrm>
          <a:prstGeom prst="roundRect">
            <a:avLst>
              <a:gd name="adj" fmla="val 1488"/>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It can seem as though it never stops raining in the UK, so it is a surprise to learn that England is short of water.</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Demand has risen sharply. The amount of water used per house in England and Wales has risen by 70 % over the last 30 years.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Water surplus and deficit: north and west against south and east</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Explain water stress with a chain: less rain + hotter summers + more people + big cities + irrigated farms = demand greater than supply.</a:t>
            </a:r>
            <a:endParaRPr lang="en-US" sz="1800" dirty="0"/>
          </a:p>
        </p:txBody>
      </p:sp>
      <p:sp>
        <p:nvSpPr>
          <p:cNvPr id="11" name="bullet-card"/>
          <p:cNvSpPr/>
          <p:nvPr/>
        </p:nvSpPr>
        <p:spPr>
          <a:xfrm>
            <a:off x="548640" y="1389888"/>
            <a:ext cx="11094415" cy="1098127"/>
          </a:xfrm>
          <a:prstGeom prst="roundRect">
            <a:avLst>
              <a:gd name="adj" fmla="val 6662"/>
            </a:avLst>
          </a:prstGeom>
          <a:solidFill>
            <a:srgbClr val="F0F3F1"/>
          </a:solidFill>
          <a:ln/>
        </p:spPr>
      </p:sp>
      <p:sp>
        <p:nvSpPr>
          <p:cNvPr id="12" name="bullet-hex"/>
          <p:cNvSpPr/>
          <p:nvPr/>
        </p:nvSpPr>
        <p:spPr>
          <a:xfrm>
            <a:off x="676656" y="1772659"/>
            <a:ext cx="384048" cy="332586"/>
          </a:xfrm>
          <a:prstGeom prst="hexagon">
            <a:avLst/>
          </a:prstGeom>
          <a:solidFill>
            <a:srgbClr val="3F6B4A"/>
          </a:solidFill>
          <a:ln/>
        </p:spPr>
      </p:sp>
      <p:sp>
        <p:nvSpPr>
          <p:cNvPr id="13" name="bullet"/>
          <p:cNvSpPr txBox="1"/>
          <p:nvPr/>
        </p:nvSpPr>
        <p:spPr>
          <a:xfrm>
            <a:off x="1143000" y="1389888"/>
            <a:ext cx="10408615" cy="109812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Water stress happens when the amount of water available is not enough to meet demand, or is of poor quality.</a:t>
            </a:r>
            <a:endParaRPr lang="en-US" sz="2200" dirty="0"/>
          </a:p>
        </p:txBody>
      </p:sp>
      <p:sp>
        <p:nvSpPr>
          <p:cNvPr id="14" name="bullet-card"/>
          <p:cNvSpPr/>
          <p:nvPr/>
        </p:nvSpPr>
        <p:spPr>
          <a:xfrm>
            <a:off x="548640" y="2634319"/>
            <a:ext cx="11094415" cy="856319"/>
          </a:xfrm>
          <a:prstGeom prst="roundRect">
            <a:avLst>
              <a:gd name="adj" fmla="val 8543"/>
            </a:avLst>
          </a:prstGeom>
          <a:solidFill>
            <a:srgbClr val="F0F3F1"/>
          </a:solidFill>
          <a:ln/>
        </p:spPr>
      </p:sp>
      <p:sp>
        <p:nvSpPr>
          <p:cNvPr id="15" name="bullet-hex"/>
          <p:cNvSpPr/>
          <p:nvPr/>
        </p:nvSpPr>
        <p:spPr>
          <a:xfrm>
            <a:off x="676656" y="2896185"/>
            <a:ext cx="384048" cy="332586"/>
          </a:xfrm>
          <a:prstGeom prst="hexagon">
            <a:avLst/>
          </a:prstGeom>
          <a:solidFill>
            <a:srgbClr val="B8862B"/>
          </a:solidFill>
          <a:ln/>
        </p:spPr>
      </p:sp>
      <p:sp>
        <p:nvSpPr>
          <p:cNvPr id="16" name="bullet"/>
          <p:cNvSpPr txBox="1"/>
          <p:nvPr/>
        </p:nvSpPr>
        <p:spPr>
          <a:xfrm>
            <a:off x="1143000" y="2634319"/>
            <a:ext cx="10408615" cy="85631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north and west of the UK have a water surplus.</a:t>
            </a:r>
            <a:endParaRPr lang="en-US" sz="2200" dirty="0"/>
          </a:p>
        </p:txBody>
      </p:sp>
      <p:sp>
        <p:nvSpPr>
          <p:cNvPr id="17" name="bullet-card"/>
          <p:cNvSpPr/>
          <p:nvPr/>
        </p:nvSpPr>
        <p:spPr>
          <a:xfrm>
            <a:off x="548640" y="3636941"/>
            <a:ext cx="11094415" cy="1438995"/>
          </a:xfrm>
          <a:prstGeom prst="roundRect">
            <a:avLst>
              <a:gd name="adj" fmla="val 5084"/>
            </a:avLst>
          </a:prstGeom>
          <a:solidFill>
            <a:srgbClr val="F0F3F1"/>
          </a:solidFill>
          <a:ln/>
        </p:spPr>
      </p:sp>
      <p:sp>
        <p:nvSpPr>
          <p:cNvPr id="18" name="bullet-hex"/>
          <p:cNvSpPr/>
          <p:nvPr/>
        </p:nvSpPr>
        <p:spPr>
          <a:xfrm>
            <a:off x="676656" y="4190146"/>
            <a:ext cx="384048" cy="332586"/>
          </a:xfrm>
          <a:prstGeom prst="hexagon">
            <a:avLst/>
          </a:prstGeom>
          <a:solidFill>
            <a:srgbClr val="3F6B4A"/>
          </a:solidFill>
          <a:ln/>
        </p:spPr>
      </p:sp>
      <p:sp>
        <p:nvSpPr>
          <p:cNvPr id="19" name="bullet"/>
          <p:cNvSpPr txBox="1"/>
          <p:nvPr/>
        </p:nvSpPr>
        <p:spPr>
          <a:xfrm>
            <a:off x="1143000" y="3636941"/>
            <a:ext cx="10408615" cy="143899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county table from the lesson matches this. Serious water stress is found across the south and east: London, Kent, Essex, Surrey, Sussex, Hampshire, Berkshire, Oxfordshire, Buckinghamshire, Bedfordshire, Hertfordshire and Cambridgeshire.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Reading the imports table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The UK's food imports table shows 55 % coming from the EU15 countries and 8 % from the rest of Europe. What percentage of the UK's food imports comes from Europe as a whole?</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Reading the imports table</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Reading the imports table</a:t>
            </a:r>
            <a:endParaRPr lang="en-US" sz="2000" dirty="0"/>
          </a:p>
        </p:txBody>
      </p:sp>
      <p:sp>
        <p:nvSpPr>
          <p:cNvPr id="12" name="col-Support"/>
          <p:cNvSpPr/>
          <p:nvPr/>
        </p:nvSpPr>
        <p:spPr>
          <a:xfrm>
            <a:off x="548640" y="2395728"/>
            <a:ext cx="3515258" cy="3749040"/>
          </a:xfrm>
          <a:prstGeom prst="roundRect">
            <a:avLst>
              <a:gd name="adj" fmla="val 1561"/>
            </a:avLst>
          </a:prstGeom>
          <a:solidFill>
            <a:srgbClr val="ECF0ED"/>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3240938"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two rows that are both part of Europe: EU15 and rest of Europe.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Both are parts of the same whole, so add them.</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55 + 8.</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Europe should be the biggest supplier, so the answer should be more than half.</a:t>
            </a:r>
            <a:endParaRPr lang="en-US" sz="1800" dirty="0"/>
          </a:p>
        </p:txBody>
      </p:sp>
      <p:sp>
        <p:nvSpPr>
          <p:cNvPr id="17" name="col-Core"/>
          <p:cNvSpPr/>
          <p:nvPr/>
        </p:nvSpPr>
        <p:spPr>
          <a:xfrm>
            <a:off x="4338218" y="2395728"/>
            <a:ext cx="3515258" cy="3749040"/>
          </a:xfrm>
          <a:prstGeom prst="roundRect">
            <a:avLst>
              <a:gd name="adj" fmla="val 1561"/>
            </a:avLst>
          </a:prstGeom>
          <a:solidFill>
            <a:srgbClr val="D5DED7"/>
          </a:solidFill>
          <a:ln/>
        </p:spPr>
      </p:sp>
      <p:sp>
        <p:nvSpPr>
          <p:cNvPr id="18" name="col-hex"/>
          <p:cNvSpPr/>
          <p:nvPr/>
        </p:nvSpPr>
        <p:spPr>
          <a:xfrm>
            <a:off x="4447946"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Europe as a whole means every row that is in Europe. There are two.</a:t>
            </a:r>
            <a:endParaRPr lang="en-US" sz="1800" dirty="0"/>
          </a:p>
        </p:txBody>
      </p:sp>
      <p:sp>
        <p:nvSpPr>
          <p:cNvPr id="22" name="col-Stretch"/>
          <p:cNvSpPr/>
          <p:nvPr/>
        </p:nvSpPr>
        <p:spPr>
          <a:xfrm>
            <a:off x="8127797" y="2395728"/>
            <a:ext cx="3515258" cy="3749040"/>
          </a:xfrm>
          <a:prstGeom prst="roundRect">
            <a:avLst>
              <a:gd name="adj" fmla="val 1561"/>
            </a:avLst>
          </a:prstGeom>
          <a:solidFill>
            <a:srgbClr val="3F6B4A"/>
          </a:solidFill>
          <a:ln/>
        </p:spPr>
      </p:sp>
      <p:sp>
        <p:nvSpPr>
          <p:cNvPr id="23" name="col-hex"/>
          <p:cNvSpPr/>
          <p:nvPr/>
        </p:nvSpPr>
        <p:spPr>
          <a:xfrm>
            <a:off x="8237525"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seven regions in the table add up to 100 %. Check this, then explain why food from Latin America (27 %) adds much more to the UK's carbon footprint than the same amount of food from the EU15.</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Water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water key word to its meaning.</a:t>
            </a:r>
            <a:endParaRPr lang="en-US" sz="2400" dirty="0"/>
          </a:p>
        </p:txBody>
      </p:sp>
      <p:sp>
        <p:nvSpPr>
          <p:cNvPr id="11" name="match-card"/>
          <p:cNvSpPr/>
          <p:nvPr/>
        </p:nvSpPr>
        <p:spPr>
          <a:xfrm>
            <a:off x="777240" y="2468331"/>
            <a:ext cx="3081437" cy="534526"/>
          </a:xfrm>
          <a:prstGeom prst="roundRect">
            <a:avLst>
              <a:gd name="adj" fmla="val 13685"/>
            </a:avLst>
          </a:prstGeom>
          <a:solidFill>
            <a:srgbClr val="F0F3F1"/>
          </a:solidFill>
          <a:ln/>
        </p:spPr>
      </p:sp>
      <p:sp>
        <p:nvSpPr>
          <p:cNvPr id="12" name="match-hex"/>
          <p:cNvSpPr/>
          <p:nvPr/>
        </p:nvSpPr>
        <p:spPr>
          <a:xfrm>
            <a:off x="850392" y="2569301"/>
            <a:ext cx="384048" cy="332586"/>
          </a:xfrm>
          <a:prstGeom prst="hexagon">
            <a:avLst/>
          </a:prstGeom>
          <a:solidFill>
            <a:srgbClr val="3F6B4A"/>
          </a:solidFill>
          <a:ln/>
        </p:spPr>
      </p:sp>
      <p:sp>
        <p:nvSpPr>
          <p:cNvPr id="13" name="match-hex-label"/>
          <p:cNvSpPr txBox="1"/>
          <p:nvPr/>
        </p:nvSpPr>
        <p:spPr>
          <a:xfrm>
            <a:off x="850392" y="256930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Water stress</a:t>
            </a:r>
            <a:endParaRPr lang="en-US" sz="1800" dirty="0"/>
          </a:p>
        </p:txBody>
      </p:sp>
      <p:sp>
        <p:nvSpPr>
          <p:cNvPr id="15" name="match-card"/>
          <p:cNvSpPr/>
          <p:nvPr/>
        </p:nvSpPr>
        <p:spPr>
          <a:xfrm>
            <a:off x="4224437" y="2468331"/>
            <a:ext cx="7190019" cy="534526"/>
          </a:xfrm>
          <a:prstGeom prst="roundRect">
            <a:avLst>
              <a:gd name="adj" fmla="val 13685"/>
            </a:avLst>
          </a:prstGeom>
          <a:solidFill>
            <a:srgbClr val="F6F0E6"/>
          </a:solidFill>
          <a:ln/>
        </p:spPr>
      </p:sp>
      <p:sp>
        <p:nvSpPr>
          <p:cNvPr id="16" name="match-hex"/>
          <p:cNvSpPr/>
          <p:nvPr/>
        </p:nvSpPr>
        <p:spPr>
          <a:xfrm>
            <a:off x="4297589" y="2569301"/>
            <a:ext cx="384048" cy="332586"/>
          </a:xfrm>
          <a:prstGeom prst="hexagon">
            <a:avLst/>
          </a:prstGeom>
          <a:solidFill>
            <a:srgbClr val="B8862B"/>
          </a:solidFill>
          <a:ln/>
        </p:spPr>
      </p:sp>
      <p:sp>
        <p:nvSpPr>
          <p:cNvPr id="17" name="match-hex-label"/>
          <p:cNvSpPr txBox="1"/>
          <p:nvPr/>
        </p:nvSpPr>
        <p:spPr>
          <a:xfrm>
            <a:off x="4297589" y="256930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When the demand for water is greater than the supply</a:t>
            </a:r>
            <a:endParaRPr lang="en-US" sz="1800" dirty="0"/>
          </a:p>
        </p:txBody>
      </p:sp>
      <p:sp>
        <p:nvSpPr>
          <p:cNvPr id="19" name="match-card"/>
          <p:cNvSpPr/>
          <p:nvPr/>
        </p:nvSpPr>
        <p:spPr>
          <a:xfrm>
            <a:off x="777240" y="3094297"/>
            <a:ext cx="3081437" cy="762110"/>
          </a:xfrm>
          <a:prstGeom prst="roundRect">
            <a:avLst>
              <a:gd name="adj" fmla="val 9599"/>
            </a:avLst>
          </a:prstGeom>
          <a:solidFill>
            <a:srgbClr val="F0F3F1"/>
          </a:solidFill>
          <a:ln/>
        </p:spPr>
      </p:sp>
      <p:sp>
        <p:nvSpPr>
          <p:cNvPr id="20" name="match-hex"/>
          <p:cNvSpPr/>
          <p:nvPr/>
        </p:nvSpPr>
        <p:spPr>
          <a:xfrm>
            <a:off x="850392" y="3309059"/>
            <a:ext cx="384048" cy="332586"/>
          </a:xfrm>
          <a:prstGeom prst="hexagon">
            <a:avLst/>
          </a:prstGeom>
          <a:solidFill>
            <a:srgbClr val="3F6B4A"/>
          </a:solidFill>
          <a:ln/>
        </p:spPr>
      </p:sp>
      <p:sp>
        <p:nvSpPr>
          <p:cNvPr id="21" name="match-hex-label"/>
          <p:cNvSpPr txBox="1"/>
          <p:nvPr/>
        </p:nvSpPr>
        <p:spPr>
          <a:xfrm>
            <a:off x="850392" y="330905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094297"/>
            <a:ext cx="2487077" cy="76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Water surplus</a:t>
            </a:r>
            <a:endParaRPr lang="en-US" sz="1800" dirty="0"/>
          </a:p>
        </p:txBody>
      </p:sp>
      <p:sp>
        <p:nvSpPr>
          <p:cNvPr id="23" name="match-card"/>
          <p:cNvSpPr/>
          <p:nvPr/>
        </p:nvSpPr>
        <p:spPr>
          <a:xfrm>
            <a:off x="4224437" y="3094297"/>
            <a:ext cx="7190019" cy="762110"/>
          </a:xfrm>
          <a:prstGeom prst="roundRect">
            <a:avLst>
              <a:gd name="adj" fmla="val 9599"/>
            </a:avLst>
          </a:prstGeom>
          <a:solidFill>
            <a:srgbClr val="F6F0E6"/>
          </a:solidFill>
          <a:ln/>
        </p:spPr>
      </p:sp>
      <p:sp>
        <p:nvSpPr>
          <p:cNvPr id="24" name="match-hex"/>
          <p:cNvSpPr/>
          <p:nvPr/>
        </p:nvSpPr>
        <p:spPr>
          <a:xfrm>
            <a:off x="4297589" y="3309059"/>
            <a:ext cx="384048" cy="332586"/>
          </a:xfrm>
          <a:prstGeom prst="hexagon">
            <a:avLst/>
          </a:prstGeom>
          <a:solidFill>
            <a:srgbClr val="B8862B"/>
          </a:solidFill>
          <a:ln/>
        </p:spPr>
      </p:sp>
      <p:sp>
        <p:nvSpPr>
          <p:cNvPr id="25" name="match-hex-label"/>
          <p:cNvSpPr txBox="1"/>
          <p:nvPr/>
        </p:nvSpPr>
        <p:spPr>
          <a:xfrm>
            <a:off x="4297589" y="330905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094297"/>
            <a:ext cx="6595659" cy="76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Measured by the chemical, physical and biological content of the water</a:t>
            </a:r>
            <a:endParaRPr lang="en-US" sz="1800" dirty="0"/>
          </a:p>
        </p:txBody>
      </p:sp>
      <p:sp>
        <p:nvSpPr>
          <p:cNvPr id="27" name="match-card"/>
          <p:cNvSpPr/>
          <p:nvPr/>
        </p:nvSpPr>
        <p:spPr>
          <a:xfrm>
            <a:off x="777240" y="3947847"/>
            <a:ext cx="3081437" cy="534526"/>
          </a:xfrm>
          <a:prstGeom prst="roundRect">
            <a:avLst>
              <a:gd name="adj" fmla="val 13685"/>
            </a:avLst>
          </a:prstGeom>
          <a:solidFill>
            <a:srgbClr val="F0F3F1"/>
          </a:solidFill>
          <a:ln/>
        </p:spPr>
      </p:sp>
      <p:sp>
        <p:nvSpPr>
          <p:cNvPr id="28" name="match-hex"/>
          <p:cNvSpPr/>
          <p:nvPr/>
        </p:nvSpPr>
        <p:spPr>
          <a:xfrm>
            <a:off x="850392" y="4048817"/>
            <a:ext cx="384048" cy="332586"/>
          </a:xfrm>
          <a:prstGeom prst="hexagon">
            <a:avLst/>
          </a:prstGeom>
          <a:solidFill>
            <a:srgbClr val="3F6B4A"/>
          </a:solidFill>
          <a:ln/>
        </p:spPr>
      </p:sp>
      <p:sp>
        <p:nvSpPr>
          <p:cNvPr id="29"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47847"/>
            <a:ext cx="2487077"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Water deficit</a:t>
            </a:r>
            <a:endParaRPr lang="en-US" sz="1800" dirty="0"/>
          </a:p>
        </p:txBody>
      </p:sp>
      <p:sp>
        <p:nvSpPr>
          <p:cNvPr id="31" name="match-card"/>
          <p:cNvSpPr/>
          <p:nvPr/>
        </p:nvSpPr>
        <p:spPr>
          <a:xfrm>
            <a:off x="4224437" y="3947847"/>
            <a:ext cx="7190019" cy="534526"/>
          </a:xfrm>
          <a:prstGeom prst="roundRect">
            <a:avLst>
              <a:gd name="adj" fmla="val 13685"/>
            </a:avLst>
          </a:prstGeom>
          <a:solidFill>
            <a:srgbClr val="F6F0E6"/>
          </a:solidFill>
          <a:ln/>
        </p:spPr>
      </p:sp>
      <p:sp>
        <p:nvSpPr>
          <p:cNvPr id="32" name="match-hex"/>
          <p:cNvSpPr/>
          <p:nvPr/>
        </p:nvSpPr>
        <p:spPr>
          <a:xfrm>
            <a:off x="4297589" y="4048817"/>
            <a:ext cx="384048" cy="332586"/>
          </a:xfrm>
          <a:prstGeom prst="hexagon">
            <a:avLst/>
          </a:prstGeom>
          <a:solidFill>
            <a:srgbClr val="B8862B"/>
          </a:solidFill>
          <a:ln/>
        </p:spPr>
      </p:sp>
      <p:sp>
        <p:nvSpPr>
          <p:cNvPr id="33"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947847"/>
            <a:ext cx="6595659"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When the supply of water is greater than the demand for it</a:t>
            </a:r>
            <a:endParaRPr lang="en-US" sz="1800" dirty="0"/>
          </a:p>
        </p:txBody>
      </p:sp>
      <p:sp>
        <p:nvSpPr>
          <p:cNvPr id="35" name="match-card"/>
          <p:cNvSpPr/>
          <p:nvPr/>
        </p:nvSpPr>
        <p:spPr>
          <a:xfrm>
            <a:off x="777240" y="4573813"/>
            <a:ext cx="3081437" cy="534526"/>
          </a:xfrm>
          <a:prstGeom prst="roundRect">
            <a:avLst>
              <a:gd name="adj" fmla="val 13685"/>
            </a:avLst>
          </a:prstGeom>
          <a:solidFill>
            <a:srgbClr val="F0F3F1"/>
          </a:solidFill>
          <a:ln/>
        </p:spPr>
      </p:sp>
      <p:sp>
        <p:nvSpPr>
          <p:cNvPr id="36" name="match-hex"/>
          <p:cNvSpPr/>
          <p:nvPr/>
        </p:nvSpPr>
        <p:spPr>
          <a:xfrm>
            <a:off x="850392" y="4674783"/>
            <a:ext cx="384048" cy="332586"/>
          </a:xfrm>
          <a:prstGeom prst="hexagon">
            <a:avLst/>
          </a:prstGeom>
          <a:solidFill>
            <a:srgbClr val="3F6B4A"/>
          </a:solidFill>
          <a:ln/>
        </p:spPr>
      </p:sp>
      <p:sp>
        <p:nvSpPr>
          <p:cNvPr id="37" name="match-hex-label"/>
          <p:cNvSpPr txBox="1"/>
          <p:nvPr/>
        </p:nvSpPr>
        <p:spPr>
          <a:xfrm>
            <a:off x="850392" y="467478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573813"/>
            <a:ext cx="2487077"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Water quality</a:t>
            </a:r>
            <a:endParaRPr lang="en-US" sz="1800" dirty="0"/>
          </a:p>
        </p:txBody>
      </p:sp>
      <p:sp>
        <p:nvSpPr>
          <p:cNvPr id="39" name="match-card"/>
          <p:cNvSpPr/>
          <p:nvPr/>
        </p:nvSpPr>
        <p:spPr>
          <a:xfrm>
            <a:off x="4224437" y="4573813"/>
            <a:ext cx="7190019" cy="534526"/>
          </a:xfrm>
          <a:prstGeom prst="roundRect">
            <a:avLst>
              <a:gd name="adj" fmla="val 13685"/>
            </a:avLst>
          </a:prstGeom>
          <a:solidFill>
            <a:srgbClr val="F6F0E6"/>
          </a:solidFill>
          <a:ln/>
        </p:spPr>
      </p:sp>
      <p:sp>
        <p:nvSpPr>
          <p:cNvPr id="40" name="match-hex"/>
          <p:cNvSpPr/>
          <p:nvPr/>
        </p:nvSpPr>
        <p:spPr>
          <a:xfrm>
            <a:off x="4297589" y="4674783"/>
            <a:ext cx="384048" cy="332586"/>
          </a:xfrm>
          <a:prstGeom prst="hexagon">
            <a:avLst/>
          </a:prstGeom>
          <a:solidFill>
            <a:srgbClr val="B8862B"/>
          </a:solidFill>
          <a:ln/>
        </p:spPr>
      </p:sp>
      <p:sp>
        <p:nvSpPr>
          <p:cNvPr id="41" name="match-hex-label"/>
          <p:cNvSpPr txBox="1"/>
          <p:nvPr/>
        </p:nvSpPr>
        <p:spPr>
          <a:xfrm>
            <a:off x="4297589" y="467478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573813"/>
            <a:ext cx="6595659" cy="534526"/>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Moving water from an area with a surplus to an area with a deficit</a:t>
            </a:r>
            <a:endParaRPr lang="en-US" sz="1800" dirty="0"/>
          </a:p>
        </p:txBody>
      </p:sp>
      <p:sp>
        <p:nvSpPr>
          <p:cNvPr id="43" name="match-card"/>
          <p:cNvSpPr/>
          <p:nvPr/>
        </p:nvSpPr>
        <p:spPr>
          <a:xfrm>
            <a:off x="777240" y="5199778"/>
            <a:ext cx="3081437" cy="762110"/>
          </a:xfrm>
          <a:prstGeom prst="roundRect">
            <a:avLst>
              <a:gd name="adj" fmla="val 9599"/>
            </a:avLst>
          </a:prstGeom>
          <a:solidFill>
            <a:srgbClr val="F0F3F1"/>
          </a:solidFill>
          <a:ln/>
        </p:spPr>
      </p:sp>
      <p:sp>
        <p:nvSpPr>
          <p:cNvPr id="44" name="match-hex"/>
          <p:cNvSpPr/>
          <p:nvPr/>
        </p:nvSpPr>
        <p:spPr>
          <a:xfrm>
            <a:off x="850392" y="5414540"/>
            <a:ext cx="384048" cy="332586"/>
          </a:xfrm>
          <a:prstGeom prst="hexagon">
            <a:avLst/>
          </a:prstGeom>
          <a:solidFill>
            <a:srgbClr val="3F6B4A"/>
          </a:solidFill>
          <a:ln/>
        </p:spPr>
      </p:sp>
      <p:sp>
        <p:nvSpPr>
          <p:cNvPr id="45" name="match-hex-label"/>
          <p:cNvSpPr txBox="1"/>
          <p:nvPr/>
        </p:nvSpPr>
        <p:spPr>
          <a:xfrm>
            <a:off x="850392" y="541454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199778"/>
            <a:ext cx="2487077" cy="76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Water transfer</a:t>
            </a:r>
            <a:endParaRPr lang="en-US" sz="1800" dirty="0"/>
          </a:p>
        </p:txBody>
      </p:sp>
      <p:sp>
        <p:nvSpPr>
          <p:cNvPr id="47" name="match-card"/>
          <p:cNvSpPr/>
          <p:nvPr/>
        </p:nvSpPr>
        <p:spPr>
          <a:xfrm>
            <a:off x="4224437" y="5199778"/>
            <a:ext cx="7190019" cy="762110"/>
          </a:xfrm>
          <a:prstGeom prst="roundRect">
            <a:avLst>
              <a:gd name="adj" fmla="val 9599"/>
            </a:avLst>
          </a:prstGeom>
          <a:solidFill>
            <a:srgbClr val="F6F0E6"/>
          </a:solidFill>
          <a:ln/>
        </p:spPr>
      </p:sp>
      <p:sp>
        <p:nvSpPr>
          <p:cNvPr id="48" name="match-hex"/>
          <p:cNvSpPr/>
          <p:nvPr/>
        </p:nvSpPr>
        <p:spPr>
          <a:xfrm>
            <a:off x="4297589" y="5414540"/>
            <a:ext cx="384048" cy="332586"/>
          </a:xfrm>
          <a:prstGeom prst="hexagon">
            <a:avLst/>
          </a:prstGeom>
          <a:solidFill>
            <a:srgbClr val="B8862B"/>
          </a:solidFill>
          <a:ln/>
        </p:spPr>
      </p:sp>
      <p:sp>
        <p:nvSpPr>
          <p:cNvPr id="49" name="match-hex-label"/>
          <p:cNvSpPr txBox="1"/>
          <p:nvPr/>
        </p:nvSpPr>
        <p:spPr>
          <a:xfrm>
            <a:off x="4297589" y="541454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199778"/>
            <a:ext cx="6595659" cy="762110"/>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When demand for water is greater than the amount available in a period, or poor quality restricts its use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Water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Water words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CF0ED"/>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Surplus means extra; deficit means short. Which meaning says supply is bigger, and which says demand is bigger?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Transfer means move. Which meaning is about moving water?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Quality is about how good something is, so look for the meaning about what is IN the water.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Stress is the broadest word: shortage OR poor quality.</a:t>
            </a:r>
            <a:endParaRPr lang="en-US" sz="1800" dirty="0"/>
          </a:p>
        </p:txBody>
      </p:sp>
      <p:sp>
        <p:nvSpPr>
          <p:cNvPr id="17" name="col-Core"/>
          <p:cNvSpPr/>
          <p:nvPr/>
        </p:nvSpPr>
        <p:spPr>
          <a:xfrm>
            <a:off x="6425403" y="2395728"/>
            <a:ext cx="2471666" cy="3749040"/>
          </a:xfrm>
          <a:prstGeom prst="roundRect">
            <a:avLst>
              <a:gd name="adj" fmla="val 2220"/>
            </a:avLst>
          </a:prstGeom>
          <a:solidFill>
            <a:srgbClr val="D5DED7"/>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Surplus and deficit are opposites; stress covers both shortage and poor quality; transfer is the solution.</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region could have a water surplus and still suffer water stress. Use the word quality in your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3018028"/>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Which statement describes the north and west of the UK?</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Greater demand from agriculture to water crops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Less rain and higher summer temperatures, so more evaporation and transpiration</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More of the population living at higher densities, in larger cities such as London and Reading</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Heavy rainfall, and mountains and rivers that make good sites for dams and reservoirs</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2F5F2"/>
          </a:solidFill>
          <a:ln w="12700">
            <a:solidFill>
              <a:srgbClr val="9FB5A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Reading the imports table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The UK's food imports table shows 55 % coming from the EU15 countries and 8 % from the rest of Europe. What percentage of the UK's food imports comes from Europe as a whole?</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63 %</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EU15 (55 %) and the rest of Europe (8 %) are both parts of Europe, so Europe as a whole supplies 63 % of the UK's imported food.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Water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Water stress  →  E  When demand for water is greater than the amount available in a period, or poor quality restricts its use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Water surplus  →  C  When the supply of water is greater than the demand for it</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Water deficit  →  A  When the demand for water is greater than the supply</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Water quality  →  B  Measured by the chemical, physical and biological content of the water</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Water transfer  →  D  Moving water from an area with a surplus to an area with a deficit</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Surplus and deficit are the two sides of supply against demand; water stress adds the problem of quality; water quality is what the water contains; water transfer moves water from surplus to deficit.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statement describes the north and west of the UK?</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Heavy rainfall, and mountains and rivers that make good sites for dams and reservoirs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north and west have a water surplus because heavy rainfall and mountainous land with rivers supply plenty of water, natural lakes store it, and fewer people live there to demand it. The other three statements describe the south and east and its deficit.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CF0ED"/>
      </a:lt2>
      <a:accent1>
        <a:srgbClr val="3F6B4A"/>
      </a:accent1>
      <a:accent2>
        <a:srgbClr val="B8862B"/>
      </a:accent2>
      <a:accent3>
        <a:srgbClr val="8CA692"/>
      </a:accent3>
      <a:accent4>
        <a:srgbClr val="815E1E"/>
      </a:accent4>
      <a:accent5>
        <a:srgbClr val="4A505C"/>
      </a:accent5>
      <a:accent6>
        <a:srgbClr val="DCC395"/>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Challenge of Resource Management · Chapter 2: Food and water in the UK</dc:title>
  <dc:subject>Geography · Year 9</dc:subject>
  <dc:creator>Dr Vitor Merissi de Carvalho</dc:creator>
  <cp:lastModifiedBy>Dr Vitor Merissi de Carvalho</cp:lastModifiedBy>
  <cp:revision>1</cp:revision>
  <dcterms:created xsi:type="dcterms:W3CDTF">2026-10-19T06:07:43Z</dcterms:created>
  <dcterms:modified xsi:type="dcterms:W3CDTF">2026-10-19T06:07:43Z</dcterms:modified>
</cp:coreProperties>
</file>