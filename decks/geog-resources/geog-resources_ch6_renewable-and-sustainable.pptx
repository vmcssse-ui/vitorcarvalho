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75d0462-e2d3-7d86-59d7-486d9576e482}">
          <p14:sldIdLst>
            <p14:sldId id="256"/>
          </p14:sldIdLst>
        </p14:section>
        <p14:section name="Gate" id="{b597cda1-3a81-30bf-1630-e7875a447816}">
          <p14:sldIdLst>
            <p14:sldId id="257"/>
            <p14:sldId id="258"/>
          </p14:sldIdLst>
        </p14:section>
        <p14:section name="Pre-teach" id="{688b6857-0e0d-059a-d467-19875761116a}">
          <p14:sldIdLst>
            <p14:sldId id="259"/>
            <p14:sldId id="260"/>
          </p14:sldIdLst>
        </p14:section>
        <p14:section name="Read-along" id="{1f5c1182-eaeb-2f27-7ec8-be8a19b7a423}">
          <p14:sldIdLst>
            <p14:sldId id="261"/>
            <p14:sldId id="262"/>
          </p14:sldIdLst>
        </p14:section>
        <p14:section name="Teach" id="{0f8c318e-25c1-ead6-a778-f7f698fac8c6}">
          <p14:sldIdLst>
            <p14:sldId id="263"/>
            <p14:sldId id="264"/>
            <p14:sldId id="265"/>
            <p14:sldId id="266"/>
            <p14:sldId id="267"/>
            <p14:sldId id="268"/>
            <p14:sldId id="269"/>
          </p14:sldIdLst>
        </p14:section>
        <p14:section name="Routes" id="{c11b7ccf-dfc3-87cb-1e78-b995aacd1c67}">
          <p14:sldIdLst>
            <p14:sldId id="270"/>
            <p14:sldId id="271"/>
            <p14:sldId id="272"/>
            <p14:sldId id="273"/>
            <p14:sldId id="274"/>
            <p14:sldId id="275"/>
          </p14:sldIdLst>
        </p14:section>
        <p14:section name="Close" id="{7c089023-0d36-3763-1a34-7485d127429f}">
          <p14:sldIdLst>
            <p14:sldId id="276"/>
          </p14:sldIdLst>
        </p14:section>
        <p14:section name="Answers" id="{aad5fe22-933d-c965-67d6-a89cbd4adc29}">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Renewable energy and a sustainable future. The seven types of renewable energy and how each one works, how to write up a renewable energy case study, how to cut energy use at home and in your town, and what makes energy sustainable.
This deck covers the department's lessons: 10 (Types of renewable energy and a renewable energy case study: What are the seven types of renewable energy, and how can a renewable energy scheme help a community develop sustainably?); 11 (How to reduce our energy use: energy conservation and sustainable energy: How can individuals, communities and governments cut energy use and carbon footprints, and what makes energy sustainable?).
Read the big question aloud: "Can the world supply enough food, water and energy for everyone without using up the planet, and how should the UK manage its own supply?"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type of renewable energy sends water down into the ground, so that heat deep in the Earth's crust boils it into steam?  →  C   Geothermal
2. To convert a percentage into degrees for a pie chart, what number do you multiply the percentage by?  →  3.6
3. Sustainable energy provides energy today without preventing ___ generations from meeting their energy needs.  →  future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Geothermal. Geo means Earth and thermal means heat. Geothermal power uses the heat of the Earth's crust to make steam that drives a turbine.
2. 3.6. A circle has 360 degrees and the whole is 100 %, so 1 % = 360 ÷ 100 = 3.6 degrees.
3. future. Sustainability is about the future: meeting today's needs without using up or damaging what people will need later.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renewable: a source of energy that will not run out. Example: "Wind and solar power are renewable."
• turbine: a machine with blades that spin to generate electricity. Example: "Wind, water, steam and waves can all turn a turbine."
• biomass: wood, plants or animal waste burnt for energy or made into biofuel. Example: "Some power stations burn biomass instead of coal."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geothermal: using heat from deep inside the Earth. Example: "Geothermal power stations turn underground heat into electricity."
• sustainable: meeting today's needs without stopping future generations from meeting theirs. Example: "Sustainable energy does not run out or wreck the climate."
• energy conservation: using less energy by wasting less. Example: "Insulating a loft is a simple form of energy conservation."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Renewable energy comes from sources that will not run out.
2. The lesson named seven types: biomass, wind, tidal, solar, geothermal, wave and hydro-electric power.
3. Most of them work by turning a turbine to generate electricity.
4. Wind turns the blades of a wind turbine on land or out at sea.
5. Falling water from a dam turns the turbines of a hydro-electric power station.
6. Solar panels use energy from the sun to heat water or make electricity.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good case study explains how a renewable scheme helps a community develop sustainably.
8. We can also use less energy.
9. Modern boilers, insulation and walking to the shops all cut our carbon footprint.
10. Towns can build cycle lanes, recycle and buy food from local growers.
11. Governments can tax carbon and invest in renewable energy.
12. Sustainable energy provides energy today without preventing future generations from meeting their needs.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Seven types of renewable energy. Say it in your own words, then check understanding with a quick question: ask a pupil from the pre-teach group first, since they met these words and ideas before the lesson. Pupils try to recall before you re-explain.
Renewable energy is energy from a source that cannot be exhausted. The lesson's matching task gave seven types, and most of them share one idea: something moves a turbine, and the turbine generates electricity. Wind power uses turbines that take the energy of the wind, either on land or out at sea. Wave power uses the waves made by wind blowing across water to drive turbines. Tidal power uses the currents or changes in water level caused by the tides to turn turbines. Hydro-electric power (HEP) uses the energy of falling water: a dam holds back a reservoir, the water is let down through tunnels, and the force of it falling spins the turbines.
Two types use heat. Solar power uses energy from the sun, either to heat water directly or to generate electricity using photovoltaic cells. Geothermal power sends water down into the ground, where heat deep in the Earth's crust boils it into steam; the steam then drives a turbine. The seventh type is biomass: wood, plants or animal waste burnt for power or used to produce biofuels. Biomass is renewable because new plants can be grown, but burning it still releases carbon dioxide, so it is the most argued-over of the seven.
Which type suits a place depends on its geography. A windy coast, a sunny desert, a mountainous region with fast rivers, a volcanic island with hot rocks, or a farming area with crop waste each points to a different source. When a question asks which renewable would be best for an area, read the landscape first.
Tip: Seven types: biomass, wind, tidal, solar, geothermal, wave, hydro. Five of them spin a turbine; solar and biomass are the odd ones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up a renewable energy case study. Say it in your own words, then check understanding with a quick question: ask a pupil from the pre-teach group first, since they met these words and ideas before the lesson. Pupils try to recall before you re-explain.
The department's case study of a local sustainable energy scheme is the Chambamontera micro-hydro scheme, which you were asked to read about in the textbook (pages 298 to 299) for homework; use your notes alongside this page, because the facts of the scheme are not repeated here. Whatever the scheme, the research grid from the lesson tells you what to find out: its location (a map and a brief description); when it started and what its main aim was; its short-term advantages and disadvantages for the environment, the economy and society; its long-term advantages and disadvantages under the same three headings; and whether you think it is a viable option for the future.
The nine-mark question asks you to take one renewable energy case study and show how it can help a place develop sustainably. Plan it with PEEL. Point: introduce what a renewable energy source is and why energy for development needs to be sustainable. Evidence: where your case study is, why the community needed a new energy source, and what was built. Explanation: how the scheme has benefited the community, socially, economically and environmentally. Link: tie the benefits back to the question by showing why they add up to sustainability, meeting needs now without harming the future.
The nine marks are awarded in three bands, and knowing what separates them tells you where to put your effort. The lowest band (1 to 3 marks) is for an answer that only lists points, with nothing joined up. The middle band (4 to 6 marks) is for an answer whose sentences are linked and partly developed, but which leaves the reader to work out for themselves how the scheme is sustainable. The top band (7 to 9 marks) needs two things together: real detail about your own named scheme, and a closing paragraph that states the link to sustainable development outright rather than hinting at it. Named places, dates and figures are what move an answer up a band.
Worked example — model it step by step, thinking aloud: Plan a PEEL answer to this: take one renewable energy case study and explain how it can help a place develop sustainably. (1) Point: define renewable energy and sustainable development in two sentences. (2) Evidence: name the scheme and its location; say why the community needed it; say what renewable technology was built. (3) Explanation: give one social benefit, one economic benefit and one environmental benefit, each with a detail from your notes. (4) Link: explain why those benefits meet needs now without harming future generations, which is what sustainable development means. (5) Check against the bands: detail about your own named scheme plus a stated link to sustainability puts you in the top band. Answer: Four paragraphs: a definition, the named scheme with location and purpose, three developed benefits (social, economic, environmental) with details, and a conclusion that links the benefits explicitly to sustainable development..
Tip: The top band needs two things: real detail about your own named scheme AND a last paragraph that states the link to sustainable development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up a renewable energy case study. Say it in your own words, then check understanding with a quick question: ask a pupil from the pre-teach group first, since they met these words and ideas before the lesson. Pupils try to recall before you re-explain.
The department's case study of a local sustainable energy scheme is the Chambamontera micro-hydro scheme, which you were asked to read about in the textbook (pages 298 to 299) for homework; use your notes alongside this page, because the facts of the scheme are not repeated here. Whatever the scheme, the research grid from the lesson tells you what to find out: its location (a map and a brief description); when it started and what its main aim was; its short-term advantages and disadvantages for the environment, the economy and society; its long-term advantages and disadvantages under the same three headings; and whether you think it is a viable option for the future.
The nine-mark question asks you to take one renewable energy case study and show how it can help a place develop sustainably. Plan it with PEEL. Point: introduce what a renewable energy source is and why energy for development needs to be sustainable. Evidence: where your case study is, why the community needed a new energy source, and what was built. Explanation: how the scheme has benefited the community, socially, economically and environmentally. Link: tie the benefits back to the question by showing why they add up to sustainability, meeting needs now without harming the future.
The nine marks are awarded in three bands, and knowing what separates them tells you where to put your effort. The lowest band (1 to 3 marks) is for an answer that only lists points, with nothing joined up. The middle band (4 to 6 marks) is for an answer whose sentences are linked and partly developed, but which leaves the reader to work out for themselves how the scheme is sustainable. The top band (7 to 9 marks) needs two things together: real detail about your own named scheme, and a closing paragraph that states the link to sustainable development outright rather than hinting at it. Named places, dates and figures are what move an answer up a band.
Worked example — model it step by step, thinking aloud: Plan a PEEL answer to this: take one renewable energy case study and explain how it can help a place develop sustainably. (1) Point: define renewable energy and sustainable development in two sentences. (2) Evidence: name the scheme and its location; say why the community needed it; say what renewable technology was built. (3) Explanation: give one social benefit, one economic benefit and one environmental benefit, each with a detail from your notes. (4) Link: explain why those benefits meet needs now without harming future generations, which is what sustainable development means. (5) Check against the bands: detail about your own named scheme plus a stated link to sustainability puts you in the top band. Answer: Four paragraphs: a definition, the named scheme with location and purpose, three developed benefits (social, economic, environmental) with details, and a conclusion that links the benefits explicitly to sustainable development..
Tip: The top band needs two things: real detail about your own named scheme AND a last paragraph that states the link to sustainable development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up a renewable energy case study. Say it in your own words, then check understanding with a quick question: ask a pupil from the pre-teach group first, since they met these words and ideas before the lesson. Pupils try to recall before you re-explain.
The department's case study of a local sustainable energy scheme is the Chambamontera micro-hydro scheme, which you were asked to read about in the textbook (pages 298 to 299) for homework; use your notes alongside this page, because the facts of the scheme are not repeated here. Whatever the scheme, the research grid from the lesson tells you what to find out: its location (a map and a brief description); when it started and what its main aim was; its short-term advantages and disadvantages for the environment, the economy and society; its long-term advantages and disadvantages under the same three headings; and whether you think it is a viable option for the future.
The nine-mark question asks you to take one renewable energy case study and show how it can help a place develop sustainably. Plan it with PEEL. Point: introduce what a renewable energy source is and why energy for development needs to be sustainable. Evidence: where your case study is, why the community needed a new energy source, and what was built. Explanation: how the scheme has benefited the community, socially, economically and environmentally. Link: tie the benefits back to the question by showing why they add up to sustainability, meeting needs now without harming the future.
The nine marks are awarded in three bands, and knowing what separates them tells you where to put your effort. The lowest band (1 to 3 marks) is for an answer that only lists points, with nothing joined up. The middle band (4 to 6 marks) is for an answer whose sentences are linked and partly developed, but which leaves the reader to work out for themselves how the scheme is sustainable. The top band (7 to 9 marks) needs two things together: real detail about your own named scheme, and a closing paragraph that states the link to sustainable development outright rather than hinting at it. Named places, dates and figures are what move an answer up a band.
Worked example — model it step by step, thinking aloud: Plan a PEEL answer to this: take one renewable energy case study and explain how it can help a place develop sustainably. (1) Point: define renewable energy and sustainable development in two sentences. (2) Evidence: name the scheme and its location; say why the community needed it; say what renewable technology was built. (3) Explanation: give one social benefit, one economic benefit and one environmental benefit, each with a detail from your notes. (4) Link: explain why those benefits meet needs now without harming future generations, which is what sustainable development means. (5) Check against the bands: detail about your own named scheme plus a stated link to sustainability puts you in the top band. Answer: Four paragraphs: a definition, the named scheme with location and purpose, three developed benefits (social, economic, environmental) with details, and a conclusion that links the benefits explicitly to sustainable development..
Tip: The top band needs two things: real detail about your own named scheme AND a last paragraph that states the link to sustainable development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Cutting energy use at home. Say it in your own words, then check understanding with a quick question: ask a pupil from the pre-teach group first, since they met these words and ideas before the lesson. Pupils try to recall before you re-explain.
The cheapest energy is the energy you do not use. Energy conservation means cutting the amount of energy wasted, and the lesson asked you to annotate a house with ways to do it: a modern boiler is more efficient than an older model, so it uses less energy for the same heat; insulation in the loft and walls keeps heat in; double glazing stops it escaping through windows; low-energy bulbs and appliances use less electricity; turning the thermostat down a degree and wearing more layers when cold use less fuel; drying clothes outside rather than in a tumble dryer saves power. Every one of these cuts your carbon footprint.
A carbon footprint adds up the greenhouse gases, carbon dioxide and methane among them, that one person's activities put into the air. Part of it is direct emissions, from fuel burnt as you use it, such as a flight or the heating; the rest is indirect emissions, released in making the things you buy, such as food and clothes. The lesson's data for the UK's individual average carbon footprint split it into recreation 18 %, heating 14 %, food 13 %, household 13 %, hygiene 12 %, clothing 9 %, commuting 7 %, air travel 6 %, education 4 %, phones 1 % and other 3 %. Most of these are indirect: the things we buy and do, not the fuel we burn ourselves.
To draw this as a pie chart you convert each percentage into degrees. A full circle is 360 degrees and the whole is 100 %, so each 1 % is 3.6 degrees: multiply the percentage by 3.6.
Worked example — model it step by step, thinking aloud: Heating is 14 % of the UK's individual average carbon footprint. How many degrees is the heating slice on a pie chart? (1) Each 1 % of a pie chart is 3.6 degrees, because 360 ÷ 100 = 3.6. (2) Multiply the percentage by 3.6: 14 × 3.6. (3) 14 × 3.6 = 50.4 degrees. (4) Check: 14 % is a bit more than an eighth of the circle, and an eighth is 45 degrees, so 50.4 is sensible. Answer: 50.4 degrees.
Tip: Percentages to degrees: multiply by 3.6. Check your slices add up to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Cutting energy use at home. Say it in your own words, then check understanding with a quick question: ask a pupil from the pre-teach group first, since they met these words and ideas before the lesson. Pupils try to recall before you re-explain.
The cheapest energy is the energy you do not use. Energy conservation means cutting the amount of energy wasted, and the lesson asked you to annotate a house with ways to do it: a modern boiler is more efficient than an older model, so it uses less energy for the same heat; insulation in the loft and walls keeps heat in; double glazing stops it escaping through windows; low-energy bulbs and appliances use less electricity; turning the thermostat down a degree and wearing more layers when cold use less fuel; drying clothes outside rather than in a tumble dryer saves power. Every one of these cuts your carbon footprint.
A carbon footprint adds up the greenhouse gases, carbon dioxide and methane among them, that one person's activities put into the air. Part of it is direct emissions, from fuel burnt as you use it, such as a flight or the heating; the rest is indirect emissions, released in making the things you buy, such as food and clothes. The lesson's data for the UK's individual average carbon footprint split it into recreation 18 %, heating 14 %, food 13 %, household 13 %, hygiene 12 %, clothing 9 %, commuting 7 %, air travel 6 %, education 4 %, phones 1 % and other 3 %. Most of these are indirect: the things we buy and do, not the fuel we burn ourselves.
To draw this as a pie chart you convert each percentage into degrees. A full circle is 360 degrees and the whole is 100 %, so each 1 % is 3.6 degrees: multiply the percentage by 3.6.
Worked example — model it step by step, thinking aloud: Heating is 14 % of the UK's individual average carbon footprint. How many degrees is the heating slice on a pie chart? (1) Each 1 % of a pie chart is 3.6 degrees, because 360 ÷ 100 = 3.6. (2) Multiply the percentage by 3.6: 14 × 3.6. (3) 14 × 3.6 = 50.4 degrees. (4) Check: 14 % is a bit more than an eighth of the circle, and an eighth is 45 degrees, so 50.4 is sensible. Answer: 50.4 degrees.
Tip: Percentages to degrees: multiply by 3.6. Check your slices add up to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Local to global: transition towns and sustainable energy. Say it in your own words, then check understanding with a quick question: ask a pupil from the pre-teach group first, since they met these words and ideas before the lesson. Pupils try to recall before you re-explain.
Individual actions add up, but communities can do more. A transition town is a community that sets out to reduce its carbon footprint together, and the lesson asked you to find strategies under four headings. Transport: cycle lanes, park and ride schemes, car sharing and electric or hybrid cars. Waste: recycling clothes and plastics, community recycling schemes and compost bins. Housing: insulation and efficient heating across whole estates. Food: buying from local growers and businesses, community allotments and garden-share schemes that cut food miles.
The energy conservation grid sorted strategies by scale. Individual: wear more layers, dry clothes outside, walk to local shops, use a compost bin, car share to work. Local: councils building cycle lanes, park and ride, community recycling and allotments. Global: international agreements such as the Paris Agreement of 2015, governments investing in renewable energy to reduce reliance on fossil fuels, power stations fitted with carbon capture and storage (CCS) technology, and a carbon tax that raises the price of fossil fuels, with more tax on the fuels that produce more emissions, like coal.
All of this serves one definition. Sustainable energy provides energy today without preventing future generations from meeting their energy needs. The lesson's last slide gave you the slogan that sums the unit up: think global, act local. The challenge of resource management is global, but the choices that meet it begin with a town, a school and a house.
Tip: Three scales, one example each: individual (walk to the shops), local (cycle lanes), global (Paris Agreement 2015). Then the definition of sustainable energy,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renewable to how it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renewable energy to how it generates power.
Support — work through the steps with the group: (1) Start with the names that describe themselves: solar is the sun, wind is moving air. (2) Tidal is about the tides, so look for currents and changing water levels. (3) Hydro means water, so look for a dam and falling water. (4) The one that burns something is biomass.
Parallel worked example for Support (model it, do not give the task answer): Match: geothermal, wave. Choices: wind blowing across water makes waves that drive turbines; water pumped underground is turned to steam by the heat of the Earth's crust. Geo and thermal: Earth heat.; Wave: waves made by wind.. Answer: Geothermal: water pumped underground is turned to steam by the heat of the Earth's crust. Wave: wind blowing across water makes waves that drive turbines..
Core — reveal the hint only on request: Sun, air, tides, dam, burning. Each description contains one of those ideas.
Stretch — no help; when finished: Explain why biomass is counted as renewable even though burning it releases carbon dioxide, and why some geographers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renewable to how it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renewable energy to how it generates power.
Support — work through the steps with the group: (1) Start with the names that describe themselves: solar is the sun, wind is moving air. (2) Tidal is about the tides, so look for currents and changing water levels. (3) Hydro means water, so look for a dam and falling water. (4) The one that burns something is biomass.
Parallel worked example for Support (model it, do not give the task answer): Match: geothermal, wave. Choices: wind blowing across water makes waves that drive turbines; water pumped underground is turned to steam by the heat of the Earth's crust. Geo and thermal: Earth heat.; Wave: waves made by wind.. Answer: Geothermal: water pumped underground is turned to steam by the heat of the Earth's crust. Wave: wind blowing across water makes waves that drive turbines..
Core — reveal the hint only on request: Sun, air, tides, dam, burning. Each description contains one of those ideas.
Stretch — no help; when finished: Explain why biomass is counted as renewable even though burning it releases carbon dioxide, and why some geographers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renewable to how it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renewable energy to how it generates power.
Support — work through the steps with the group: (1) Start with the names that describe themselves: solar is the sun, wind is moving air. (2) Tidal is about the tides, so look for currents and changing water levels. (3) Hydro means water, so look for a dam and falling water. (4) The one that burns something is biomass.
Parallel worked example for Support (model it, do not give the task answer): Match: geothermal, wave. Choices: wind blowing across water makes waves that drive turbines; water pumped underground is turned to steam by the heat of the Earth's crust. Geo and thermal: Earth heat.; Wave: waves made by wind.. Answer: Geothermal: water pumped underground is turned to steam by the heat of the Earth's crust. Wave: wind blowing across water makes waves that drive turbines..
Core — reveal the hint only on request: Sun, air, tides, dam, burning. Each description contains one of those ideas.
Stretch — no help; when finished: Explain why biomass is counted as renewable even though burning it releases carbon dioxide, and why some geographers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renewable to how it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renewable energy to how it generates power.
Support — work through the steps with the group: (1) Start with the names that describe themselves: solar is the sun, wind is moving air. (2) Tidal is about the tides, so look for currents and changing water levels. (3) Hydro means water, so look for a dam and falling water. (4) The one that burns something is biomass.
Parallel worked example for Support (model it, do not give the task answer): Match: geothermal, wave. Choices: wind blowing across water makes waves that drive turbines; water pumped underground is turned to steam by the heat of the Earth's crust. Geo and thermal: Earth heat.; Wave: waves made by wind.. Answer: Geothermal: water pumped underground is turned to steam by the heat of the Earth's crust. Wave: wind blowing across water makes waves that drive turbines..
Core — reveal the hint only on request: Sun, air, tides, dam, burning. Each description contains one of those ideas.
Stretch — no help; when finished: Explain why biomass is counted as renewable even though burning it releases carbon dioxide, and why some geographers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hydro-electric power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generating hydro-electric power in the correct order.
Support — work through the steps with the group: (1) Hydro-electric power uses falling water. Before water can fall, it has to be stored up high. What stores it? (2) Next the water is let go. Where does it go? (3) Falling water pushes on something and makes it spin. (4) The spinning thing is what makes the electricity.
Parallel worked example for Support (model it, do not give the task answer): Put these stages of wind power in order: the turbine generates electricity; the wind blows across the blades; the blades spin a shaft. Wind first.; Blades spin.; Electricity last.. Answer: The wind blows across the blades; the blades spin a shaft; the turbine generates electricity..
Core — reveal the hint only on request: Trap, fall, turn, generate.
Stretch — no help; when finished: Explain why a micro-hydro scheme suits a remote mountain community better than a large dam, using the words sustainable and local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hydro-electric power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generating hydro-electric power in the correct order.
Support — work through the steps with the group: (1) Hydro-electric power uses falling water. Before water can fall, it has to be stored up high. What stores it? (2) Next the water is let go. Where does it go? (3) Falling water pushes on something and makes it spin. (4) The spinning thing is what makes the electricity.
Parallel worked example for Support (model it, do not give the task answer): Put these stages of wind power in order: the turbine generates electricity; the wind blows across the blades; the blades spin a shaft. Wind first.; Blades spin.; Electricity last.. Answer: The wind blows across the blades; the blades spin a shaft; the turbine generates electricity..
Core — reveal the hint only on request: Trap, fall, turn, generate.
Stretch — no help; when finished: Explain why a micro-hydro scheme suits a remote mountain community better than a large dam, using the words sustainable and local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On the UK's individual average carbon footprint, heating is 14 % and household is 13 %. How many degrees would the two slices take up together on a pie chart?
Answer: 97.2 degrees. 14 % + 13 % = 27 %, and 27 × 3.6 = 97.2 degrees, a little more than a quarter of the circle.
Source of this question: module 3 task ("Degrees on the carbon footprint pie")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renewable to how it works. Reveal the answer; pupils mark their own work in a different colour, then read the "why" together. Same destination for every lane, so one answer serves the whole class.
Answer: Biomass  →  A  Wood, plants or animal waste burnt for power or used to produce biofuels; Wind  →  B  Turbines use the energy of moving air to generate electricity, on land or out at sea; Tidal  →  D  Currents or changes in water level caused by the tides turn turbines; Solar  →  E  Energy from the sun heats water or generates electricity in photovoltaic cells; Hydro-electric power  →  C  A dam holds water back; it falls through tunnels and the force of it spins turbines
Why: Biomass burns organic material; wind and tidal power turn turbines with moving air and water; solar uses the sun's energy directly; hydro-electric power uses the pressure of water falling from a dam.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hydro-electric power works. Reveal the answer; pupils mark their own work in a different colour, then read the "why" together. Same destination for every lane, so one answer serves the whole class.
Answer: Water is held back behind a dam  (A); The water is let down through tunnels  (B); The force of the falling water spins the turbines  (D); The turbines generate electricity  (C)
Why: Water is stored behind a dam; it is let down through tunnels; the force of the falling water spins the turbines; the turbines generate electricity.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97.2 degrees
Why: 14 % + 13 % = 27 %, and 27 × 3.6 = 97.2 degrees, a little more than a quarter of the circle.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Resource Management · AQA 8035</a:t>
            </a:r>
            <a:endParaRPr lang="en-US" sz="1800" dirty="0"/>
          </a:p>
        </p:txBody>
      </p:sp>
      <p:sp>
        <p:nvSpPr>
          <p:cNvPr id="10" name="deck-title"/>
          <p:cNvSpPr txBox="1"/>
          <p:nvPr/>
        </p:nvSpPr>
        <p:spPr>
          <a:xfrm>
            <a:off x="548640" y="197535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Renewable energy and a sustainable future</a:t>
            </a:r>
            <a:endParaRPr lang="en-US" sz="3600" dirty="0"/>
          </a:p>
        </p:txBody>
      </p:sp>
      <p:sp>
        <p:nvSpPr>
          <p:cNvPr id="11" name="lessons-card"/>
          <p:cNvSpPr/>
          <p:nvPr/>
        </p:nvSpPr>
        <p:spPr>
          <a:xfrm>
            <a:off x="548640" y="3519678"/>
            <a:ext cx="5287975" cy="1948180"/>
          </a:xfrm>
          <a:prstGeom prst="roundRect">
            <a:avLst>
              <a:gd name="adj" fmla="val 3755"/>
            </a:avLst>
          </a:prstGeom>
          <a:solidFill>
            <a:srgbClr val="ECF0ED"/>
          </a:solidFill>
          <a:ln/>
        </p:spPr>
      </p:sp>
      <p:sp>
        <p:nvSpPr>
          <p:cNvPr id="12" name="lessons"/>
          <p:cNvSpPr txBox="1"/>
          <p:nvPr/>
        </p:nvSpPr>
        <p:spPr>
          <a:xfrm>
            <a:off x="685800" y="361111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Types of renewable energy and a renewable energy case study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to reduce our energy use: energy conservation and sustainable energy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Can the world supply enough food, water and energy for everyone without using up the planet, and how should the UK manage its own supply?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type of renewable energy sends water down into the ground, so that heat deep in the Earth's crust boils it into steam?</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Wave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Tidal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Geothermal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Biomass</a:t>
            </a:r>
            <a:endParaRPr lang="en-US" sz="20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To convert a percentage into degrees for a pie chart, what number do you multiply the percentage by?</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Sustainable energy provides energy today without preventing ___ generations from meeting their energy needs.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future  ·  past  ·  wealthy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Geothermal</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Geo means Earth and thermal means heat. Geothermal power uses the heat of the Earth's crust to make steam that drives a turbine.</a:t>
            </a:r>
            <a:endParaRPr lang="en-US" sz="18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3.6</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To convert a percentage into degrees for a pie chart, what number do you multiply the percentage by?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circle has 360 degrees and the whole is 100 %, so 1 % = 360 ÷ 100 = 3.6 degrees.</a:t>
            </a:r>
            <a:endParaRPr lang="en-US" sz="20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future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Sustainable energy provides energy today without preventing ___ generations from meeting their energy needs.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Sustainability is about the future: meeting today's needs without using up or damaging what people will need later.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renewable</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source of energy that will not run 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Wind and solar power are renewable.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turbine</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machine with blades that spin to generate electricity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Wind, water, steam and waves can all turn a turbine.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biomass</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wood, plants or animal waste burnt for energy or made into biofuel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Some power stations burn biomass instead of coal.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geothermal</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using heat from deep inside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Geothermal power stations turn underground heat into electricity.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sustainable</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meeting today's needs without stopping future generations from meeting theirs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Sustainable energy does not run out or wreck the climate.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energy conservation</a:t>
            </a:r>
            <a:endParaRPr lang="en-US" sz="2600" dirty="0"/>
          </a:p>
        </p:txBody>
      </p:sp>
      <p:sp>
        <p:nvSpPr>
          <p:cNvPr id="23" name="word-rule"/>
          <p:cNvSpPr/>
          <p:nvPr/>
        </p:nvSpPr>
        <p:spPr>
          <a:xfrm>
            <a:off x="8310677" y="2558288"/>
            <a:ext cx="3149498" cy="0"/>
          </a:xfrm>
          <a:prstGeom prst="line">
            <a:avLst/>
          </a:prstGeom>
          <a:ln w="12700">
            <a:solidFill>
              <a:srgbClr val="B2C4B7"/>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using less energy by wasting less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Insulating a loft is a simple form of energy conservation.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Renewable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energy comes from sources that will not run out.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lesson named seven types: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biomass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wind, tidal, solar,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geothermal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wave and hydro-electric power.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of them work by turning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turbine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generate electricity.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Wind turns the blades of a wind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turbine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on land or out at sea.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Falling water from a dam turns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turbines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a hydro-electric power station.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Solar panels use energy from the sun to heat water or make electricity.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good case study explains how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renewable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scheme helps a community develop sustainably.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can also use less energy.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Modern boilers, insulation and walking to the shops all cut our carbon footprint.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Towns can build cycle lanes, recycle and buy food from local growers.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Governments can tax carbon and invest in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renewable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energy.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Sustainable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energy provides energy today without preventing future generations from meeting their needs.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Seven types of renewable energy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Seven types: biomass, wind, tidal, solar, geothermal, wave, hydro. Five of them spin a turbine; solar and biomass are the odd ones out.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Renewable energy is energy from a source that cannot be exhausted.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Two types use heat. Solar power uses energy from the sun, either to heat water directly or to generate electricity using photovoltaic cells.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Which type suits a place depends on its geography. A windy coast, a sunny desert, a mountainous region with fast rivers, a volcanic island with hot rocks, or a farming area with crop waste each points to a different source.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Writing up a renewable energy case study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top band needs two things: real detail about your own named scheme AND a last paragraph that states the link to sustainable development outright.</a:t>
            </a:r>
            <a:endParaRPr lang="en-US" sz="1800" dirty="0"/>
          </a:p>
        </p:txBody>
      </p:sp>
      <p:sp>
        <p:nvSpPr>
          <p:cNvPr id="11" name="bullet-card"/>
          <p:cNvSpPr/>
          <p:nvPr/>
        </p:nvSpPr>
        <p:spPr>
          <a:xfrm>
            <a:off x="548640" y="1389888"/>
            <a:ext cx="11094415" cy="1585637"/>
          </a:xfrm>
          <a:prstGeom prst="roundRect">
            <a:avLst>
              <a:gd name="adj" fmla="val 4613"/>
            </a:avLst>
          </a:prstGeom>
          <a:solidFill>
            <a:srgbClr val="F0F3F1"/>
          </a:solidFill>
          <a:ln/>
        </p:spPr>
      </p:sp>
      <p:sp>
        <p:nvSpPr>
          <p:cNvPr id="12" name="bullet-hex"/>
          <p:cNvSpPr/>
          <p:nvPr/>
        </p:nvSpPr>
        <p:spPr>
          <a:xfrm>
            <a:off x="676656" y="2016414"/>
            <a:ext cx="384048" cy="332586"/>
          </a:xfrm>
          <a:prstGeom prst="hexagon">
            <a:avLst/>
          </a:prstGeom>
          <a:solidFill>
            <a:srgbClr val="3F6B4A"/>
          </a:solidFill>
          <a:ln/>
        </p:spPr>
      </p:sp>
      <p:sp>
        <p:nvSpPr>
          <p:cNvPr id="13" name="bullet"/>
          <p:cNvSpPr txBox="1"/>
          <p:nvPr/>
        </p:nvSpPr>
        <p:spPr>
          <a:xfrm>
            <a:off x="1143000" y="1389888"/>
            <a:ext cx="10408615"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department's case study of a local sustainable energy scheme is the Chambamontera micro-hydro scheme, which you were asked to read about in the textbook (pages 298 to 299) for homework; use your notes alongside this page, because the facts of the scheme are not repeated here.</a:t>
            </a:r>
            <a:endParaRPr lang="en-US" sz="2200" dirty="0"/>
          </a:p>
        </p:txBody>
      </p:sp>
      <p:sp>
        <p:nvSpPr>
          <p:cNvPr id="14" name="bullet-card"/>
          <p:cNvSpPr/>
          <p:nvPr/>
        </p:nvSpPr>
        <p:spPr>
          <a:xfrm>
            <a:off x="548640" y="3121829"/>
            <a:ext cx="11094415" cy="903901"/>
          </a:xfrm>
          <a:prstGeom prst="roundRect">
            <a:avLst>
              <a:gd name="adj" fmla="val 8093"/>
            </a:avLst>
          </a:prstGeom>
          <a:solidFill>
            <a:srgbClr val="F0F3F1"/>
          </a:solidFill>
          <a:ln/>
        </p:spPr>
      </p:sp>
      <p:sp>
        <p:nvSpPr>
          <p:cNvPr id="15" name="bullet-hex"/>
          <p:cNvSpPr/>
          <p:nvPr/>
        </p:nvSpPr>
        <p:spPr>
          <a:xfrm>
            <a:off x="676656" y="3407487"/>
            <a:ext cx="384048" cy="332586"/>
          </a:xfrm>
          <a:prstGeom prst="hexagon">
            <a:avLst/>
          </a:prstGeom>
          <a:solidFill>
            <a:srgbClr val="B8862B"/>
          </a:solidFill>
          <a:ln/>
        </p:spPr>
      </p:sp>
      <p:sp>
        <p:nvSpPr>
          <p:cNvPr id="16" name="bullet"/>
          <p:cNvSpPr txBox="1"/>
          <p:nvPr/>
        </p:nvSpPr>
        <p:spPr>
          <a:xfrm>
            <a:off x="1143000" y="3121829"/>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nine-mark question asks you to take one renewable energy case study and show how it can help a place develop sustainably.</a:t>
            </a:r>
            <a:endParaRPr lang="en-US" sz="2200" dirty="0"/>
          </a:p>
        </p:txBody>
      </p:sp>
      <p:sp>
        <p:nvSpPr>
          <p:cNvPr id="17" name="bullet-card"/>
          <p:cNvSpPr/>
          <p:nvPr/>
        </p:nvSpPr>
        <p:spPr>
          <a:xfrm>
            <a:off x="548640" y="4172035"/>
            <a:ext cx="11094415" cy="903901"/>
          </a:xfrm>
          <a:prstGeom prst="roundRect">
            <a:avLst>
              <a:gd name="adj" fmla="val 8093"/>
            </a:avLst>
          </a:prstGeom>
          <a:solidFill>
            <a:srgbClr val="F0F3F1"/>
          </a:solidFill>
          <a:ln/>
        </p:spPr>
      </p:sp>
      <p:sp>
        <p:nvSpPr>
          <p:cNvPr id="18" name="bullet-hex"/>
          <p:cNvSpPr/>
          <p:nvPr/>
        </p:nvSpPr>
        <p:spPr>
          <a:xfrm>
            <a:off x="676656" y="4457693"/>
            <a:ext cx="384048" cy="332586"/>
          </a:xfrm>
          <a:prstGeom prst="hexagon">
            <a:avLst/>
          </a:prstGeom>
          <a:solidFill>
            <a:srgbClr val="3F6B4A"/>
          </a:solidFill>
          <a:ln/>
        </p:spPr>
      </p:sp>
      <p:sp>
        <p:nvSpPr>
          <p:cNvPr id="19" name="bullet"/>
          <p:cNvSpPr txBox="1"/>
          <p:nvPr/>
        </p:nvSpPr>
        <p:spPr>
          <a:xfrm>
            <a:off x="1143000" y="4172035"/>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nine marks are awarded in three bands, and knowing what separates them tells you where to put your effort.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(1 of 2): Writing up a renewable energy case study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 PEEL answer to this: take one renewable energy case study and explain how it can help a place develop sustainably.</a:t>
            </a:r>
            <a:endParaRPr lang="en-US" sz="2200" dirty="0"/>
          </a:p>
        </p:txBody>
      </p:sp>
      <p:sp>
        <p:nvSpPr>
          <p:cNvPr id="9" name="step-box"/>
          <p:cNvSpPr/>
          <p:nvPr/>
        </p:nvSpPr>
        <p:spPr>
          <a:xfrm>
            <a:off x="548640" y="2655824"/>
            <a:ext cx="3423818"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define renewable energy and sustainable development in two sentences.</a:t>
            </a:r>
            <a:endParaRPr lang="en-US" sz="1800" dirty="0"/>
          </a:p>
        </p:txBody>
      </p:sp>
      <p:sp>
        <p:nvSpPr>
          <p:cNvPr id="13" name="arrow"/>
          <p:cNvSpPr/>
          <p:nvPr/>
        </p:nvSpPr>
        <p:spPr>
          <a:xfrm>
            <a:off x="4045610" y="3645154"/>
            <a:ext cx="274320" cy="274320"/>
          </a:xfrm>
          <a:prstGeom prst="rightArrow">
            <a:avLst/>
          </a:prstGeom>
          <a:solidFill>
            <a:srgbClr val="B8862B"/>
          </a:solidFill>
          <a:ln/>
        </p:spPr>
      </p:sp>
      <p:sp>
        <p:nvSpPr>
          <p:cNvPr id="14" name="step-box"/>
          <p:cNvSpPr/>
          <p:nvPr/>
        </p:nvSpPr>
        <p:spPr>
          <a:xfrm>
            <a:off x="4383938" y="2655824"/>
            <a:ext cx="3423818"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name the scheme and its location; say why the community needed it; say what renewable technology was built.</a:t>
            </a:r>
            <a:endParaRPr lang="en-US" sz="1800" dirty="0"/>
          </a:p>
        </p:txBody>
      </p:sp>
      <p:sp>
        <p:nvSpPr>
          <p:cNvPr id="18" name="arrow"/>
          <p:cNvSpPr/>
          <p:nvPr/>
        </p:nvSpPr>
        <p:spPr>
          <a:xfrm>
            <a:off x="7880909" y="3645154"/>
            <a:ext cx="274320" cy="274320"/>
          </a:xfrm>
          <a:prstGeom prst="rightArrow">
            <a:avLst/>
          </a:prstGeom>
          <a:solidFill>
            <a:srgbClr val="B8862B"/>
          </a:solidFill>
          <a:ln/>
        </p:spPr>
      </p:sp>
      <p:sp>
        <p:nvSpPr>
          <p:cNvPr id="19" name="step-box"/>
          <p:cNvSpPr/>
          <p:nvPr/>
        </p:nvSpPr>
        <p:spPr>
          <a:xfrm>
            <a:off x="8219237" y="2655824"/>
            <a:ext cx="3423818"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Explanation: give one social benefit, one economic benefit and one environmental benefit, each with a detail from your notes.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(2 of 2): Writing up a renewable energy case study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 PEEL answer to this: take one renewable energy case study and explain how it can help a place develop sustainably.</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explain why those benefits meet needs now without harming future generations, which is what sustainable development means.</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against the bands: detail about your own named scheme plus a stated link to sustainability puts you in the top band.</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Four paragraphs: a definition, the named scheme with location and purpose, three developed benefits (social, economic, environmental) with details, and a conclusion that links the benefits explicitly to sustainable development.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Cutting energy use at home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Percentages to degrees: multiply by 3.6. Check your slices add up to 360.</a:t>
            </a:r>
            <a:endParaRPr lang="en-US" sz="1800" dirty="0"/>
          </a:p>
        </p:txBody>
      </p:sp>
      <p:sp>
        <p:nvSpPr>
          <p:cNvPr id="11" name="point-card"/>
          <p:cNvSpPr/>
          <p:nvPr/>
        </p:nvSpPr>
        <p:spPr>
          <a:xfrm>
            <a:off x="548640" y="1389888"/>
            <a:ext cx="3515258" cy="3964940"/>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cheapest energy is the energy you do not use.</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carbon footprint adds up the greenhouse gases, carbon dioxide and methane among them, that one person's activities put into the air.</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draw this as a pie chart you convert each percentage into degrees.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Cutting energy use at home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Heating is 14 % of the UK's individual average carbon footprint. How many degrees is the heating slice on a pie chart?</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1 % of a pie chart is 3.6 degrees, because 360 ÷ 100 = 3.6.</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Multiply the percentage by 3.6: 14 × 3.6.</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14 × 3.6 = 50.4 degrees.</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14 % is a bit more than an eighth of the circle, and an eighth is 45 degrees, so 50.4 is sensible.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50.4 degrees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Local to global: transition towns and sustainable energy</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scales, one example each: individual (walk to the shops), local (cycle lanes), global (Paris Agreement 2015). Then the definition of sustainable energy, word for word.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Individual actions add up, but communities can do more. A transition town is a community that sets out to reduce its carbon footprint together, and the lesson asked you to find strategies under four headings.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energy conservation grid sorted strategies by scale. Individual: wear more layers, dry clothes outside, walk to local shops, use a compost bin, car share to work.</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All of this serves one definition. Sustainable energy provides energy today without preventing future generations from meeting their energy needs.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Match the renewable to how it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type of renewable energy to how it generates power.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The task (1 of 2): Match the renewable to how it works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type of renewable energy to how it generates power.</a:t>
            </a:r>
            <a:endParaRPr lang="en-US" sz="2200" dirty="0"/>
          </a:p>
        </p:txBody>
      </p:sp>
      <p:sp>
        <p:nvSpPr>
          <p:cNvPr id="11" name="match-card"/>
          <p:cNvSpPr/>
          <p:nvPr/>
        </p:nvSpPr>
        <p:spPr>
          <a:xfrm>
            <a:off x="777240" y="2468331"/>
            <a:ext cx="3081437" cy="1103559"/>
          </a:xfrm>
          <a:prstGeom prst="roundRect">
            <a:avLst>
              <a:gd name="adj" fmla="val 6629"/>
            </a:avLst>
          </a:prstGeom>
          <a:solidFill>
            <a:srgbClr val="F0F3F1"/>
          </a:solidFill>
          <a:ln/>
        </p:spPr>
      </p:sp>
      <p:sp>
        <p:nvSpPr>
          <p:cNvPr id="12" name="match-hex"/>
          <p:cNvSpPr/>
          <p:nvPr/>
        </p:nvSpPr>
        <p:spPr>
          <a:xfrm>
            <a:off x="850392" y="2853818"/>
            <a:ext cx="384048" cy="332586"/>
          </a:xfrm>
          <a:prstGeom prst="hexagon">
            <a:avLst/>
          </a:prstGeom>
          <a:solidFill>
            <a:srgbClr val="3F6B4A"/>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Biomass</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Turbines use the energy of moving air to generate electricity, on land or out at sea</a:t>
            </a:r>
            <a:endParaRPr lang="en-US" sz="2200" dirty="0"/>
          </a:p>
        </p:txBody>
      </p:sp>
      <p:sp>
        <p:nvSpPr>
          <p:cNvPr id="19" name="match-card"/>
          <p:cNvSpPr/>
          <p:nvPr/>
        </p:nvSpPr>
        <p:spPr>
          <a:xfrm>
            <a:off x="777240" y="3663330"/>
            <a:ext cx="3081437" cy="1103559"/>
          </a:xfrm>
          <a:prstGeom prst="roundRect">
            <a:avLst>
              <a:gd name="adj" fmla="val 6629"/>
            </a:avLst>
          </a:prstGeom>
          <a:solidFill>
            <a:srgbClr val="F0F3F1"/>
          </a:solidFill>
          <a:ln/>
        </p:spPr>
      </p:sp>
      <p:sp>
        <p:nvSpPr>
          <p:cNvPr id="20" name="match-hex"/>
          <p:cNvSpPr/>
          <p:nvPr/>
        </p:nvSpPr>
        <p:spPr>
          <a:xfrm>
            <a:off x="850392" y="4048817"/>
            <a:ext cx="384048" cy="332586"/>
          </a:xfrm>
          <a:prstGeom prst="hexagon">
            <a:avLst/>
          </a:prstGeom>
          <a:solidFill>
            <a:srgbClr val="3F6B4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Wind</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Currents or changes in water level caused by the tides turn turbines</a:t>
            </a:r>
            <a:endParaRPr lang="en-US" sz="2200" dirty="0"/>
          </a:p>
        </p:txBody>
      </p:sp>
      <p:sp>
        <p:nvSpPr>
          <p:cNvPr id="27" name="match-card"/>
          <p:cNvSpPr/>
          <p:nvPr/>
        </p:nvSpPr>
        <p:spPr>
          <a:xfrm>
            <a:off x="777240" y="4858329"/>
            <a:ext cx="3081437" cy="1103559"/>
          </a:xfrm>
          <a:prstGeom prst="roundRect">
            <a:avLst>
              <a:gd name="adj" fmla="val 6629"/>
            </a:avLst>
          </a:prstGeom>
          <a:solidFill>
            <a:srgbClr val="F0F3F1"/>
          </a:solidFill>
          <a:ln/>
        </p:spPr>
      </p:sp>
      <p:sp>
        <p:nvSpPr>
          <p:cNvPr id="28" name="match-hex"/>
          <p:cNvSpPr/>
          <p:nvPr/>
        </p:nvSpPr>
        <p:spPr>
          <a:xfrm>
            <a:off x="850392" y="5243816"/>
            <a:ext cx="384048" cy="332586"/>
          </a:xfrm>
          <a:prstGeom prst="hexagon">
            <a:avLst/>
          </a:prstGeom>
          <a:solidFill>
            <a:srgbClr val="3F6B4A"/>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Tidal</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Wood, plants or animal waste burnt for power or used to produce biofuels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The task (2 of 2): Match the renewable to how it works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type of renewable energy to how it generates power.</a:t>
            </a:r>
            <a:endParaRPr lang="en-US" sz="2200" dirty="0"/>
          </a:p>
        </p:txBody>
      </p:sp>
      <p:sp>
        <p:nvSpPr>
          <p:cNvPr id="11" name="match-card"/>
          <p:cNvSpPr/>
          <p:nvPr/>
        </p:nvSpPr>
        <p:spPr>
          <a:xfrm>
            <a:off x="777240" y="2468331"/>
            <a:ext cx="3081437" cy="1165352"/>
          </a:xfrm>
          <a:prstGeom prst="roundRect">
            <a:avLst>
              <a:gd name="adj" fmla="val 6277"/>
            </a:avLst>
          </a:prstGeom>
          <a:solidFill>
            <a:srgbClr val="F0F3F1"/>
          </a:solidFill>
          <a:ln/>
        </p:spPr>
      </p:sp>
      <p:sp>
        <p:nvSpPr>
          <p:cNvPr id="12" name="match-hex"/>
          <p:cNvSpPr/>
          <p:nvPr/>
        </p:nvSpPr>
        <p:spPr>
          <a:xfrm>
            <a:off x="850392" y="2884715"/>
            <a:ext cx="384048" cy="332586"/>
          </a:xfrm>
          <a:prstGeom prst="hexagon">
            <a:avLst/>
          </a:prstGeom>
          <a:solidFill>
            <a:srgbClr val="3F6B4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Solar</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dam holds water back; it falls through tunnels and the force of it spins turbines</a:t>
            </a:r>
            <a:endParaRPr lang="en-US" sz="2200" dirty="0"/>
          </a:p>
        </p:txBody>
      </p:sp>
      <p:sp>
        <p:nvSpPr>
          <p:cNvPr id="19" name="match-card"/>
          <p:cNvSpPr/>
          <p:nvPr/>
        </p:nvSpPr>
        <p:spPr>
          <a:xfrm>
            <a:off x="777240" y="3725123"/>
            <a:ext cx="3081437" cy="1165352"/>
          </a:xfrm>
          <a:prstGeom prst="roundRect">
            <a:avLst>
              <a:gd name="adj" fmla="val 6277"/>
            </a:avLst>
          </a:prstGeom>
          <a:solidFill>
            <a:srgbClr val="F0F3F1"/>
          </a:solidFill>
          <a:ln/>
        </p:spPr>
      </p:sp>
      <p:sp>
        <p:nvSpPr>
          <p:cNvPr id="20" name="match-hex"/>
          <p:cNvSpPr/>
          <p:nvPr/>
        </p:nvSpPr>
        <p:spPr>
          <a:xfrm>
            <a:off x="850392" y="4141507"/>
            <a:ext cx="384048" cy="332586"/>
          </a:xfrm>
          <a:prstGeom prst="hexagon">
            <a:avLst/>
          </a:prstGeom>
          <a:solidFill>
            <a:srgbClr val="3F6B4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Hydro-electric power</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Energy from the sun heats water or generates electricity in photovoltaic cells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Match the renewable to how it works</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type of renewable energy to how it generates power.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names that describe themselves: solar is the sun, wind is moving air.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Tidal is about the tides, so look for currents and changing water levels.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Hydro means water, so look for a dam and falling water.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that burns something is biomass.</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Sun, air, tides, dam, burning. Each description contains one of those ideas.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biomass is counted as renewable even though burning it releases carbon dioxide, and why some geographers disagree.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hydro-electric power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generating hydro-electric power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is held back behind a dam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water is let down through tunnels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turbines generate electricity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force of the falling water spins the turbines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How hydro-electric power works</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How hydro-electric power works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Hydro-electric power uses falling water. Before water can fall, it has to be stored up high. What stores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the water is let go. Where does it go?</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Falling water pushes on something and makes it spin.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spinning thing is what makes the electricity.</a:t>
            </a:r>
            <a:endParaRPr lang="en-US" sz="1800" dirty="0"/>
          </a:p>
        </p:txBody>
      </p:sp>
      <p:sp>
        <p:nvSpPr>
          <p:cNvPr id="17" name="col-Core"/>
          <p:cNvSpPr/>
          <p:nvPr/>
        </p:nvSpPr>
        <p:spPr>
          <a:xfrm>
            <a:off x="5490762" y="2395728"/>
            <a:ext cx="2938987" cy="3749040"/>
          </a:xfrm>
          <a:prstGeom prst="roundRect">
            <a:avLst>
              <a:gd name="adj" fmla="val 1867"/>
            </a:avLst>
          </a:prstGeom>
          <a:solidFill>
            <a:srgbClr val="D5DE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Trap, fall, turn, generate.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micro-hydro scheme suits a remote mountain community better than a large dam, using the words sustainable and local in your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On the UK's individual average carbon footprint, heating is 14 % and household is 13 %. How many degrees would the two slices take up together on a pie chart?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(degrees):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Match the renewable to how it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Biomass  →  A  Wood, plants or animal waste burnt for power or used to produce biofuels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Wind  →  B  Turbines use the energy of moving air to generate electricity, on land or out at sea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Tidal  →  D  Currents or changes in water level caused by the tides turn turbines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Solar  →  E  Energy from the sun heats water or generates electricity in photovoltaic cells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Hydro-electric power  →  C  A dam holds water back; it falls through tunnels and the force of it spins turbines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Biomass burns organic material; wind and tidal power turn turbines with moving air and water; solar uses the sun's energy directly; hydro-electric power uses the pressure of water falling from a dam.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hydro-electric power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Water is held back behind a dam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water is let down through tunnels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force of the falling water spins the turbines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turbines generate electricity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Water is stored behind a dam; it is let down through tunnels; the force of the falling water spins the turbines; the turbines generate electricity.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the UK's individual average carbon footprint, heating is 14 % and household is 13 %. How many degrees would the two slices take up together on a pie chart?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97.2 degrees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14 % + 13 % = 27 %, and 27 × 3.6 = 97.2 degrees, a little more than a quarter of the circle.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Resource Management · Chapter 6: Renewable energy and a sustainable future</dc:title>
  <dc:subject>Geography · Year 9</dc:subject>
  <dc:creator>Dr Vitor Merissi de Carvalho</dc:creator>
  <cp:lastModifiedBy>Dr Vitor Merissi de Carvalho</cp:lastModifiedBy>
  <cp:revision>1</cp:revision>
  <dcterms:created xsi:type="dcterms:W3CDTF">2026-10-19T16:22:55Z</dcterms:created>
  <dcterms:modified xsi:type="dcterms:W3CDTF">2026-10-19T16:22:55Z</dcterms:modified>
</cp:coreProperties>
</file>