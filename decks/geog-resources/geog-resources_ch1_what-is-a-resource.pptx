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57400cc9-f8f8-3cb5-86c0-34ed8beb0d04}">
          <p14:sldIdLst>
            <p14:sldId id="256"/>
          </p14:sldIdLst>
        </p14:section>
        <p14:section name="Gate" id="{7e3ee88a-c169-88a5-adbf-6e6ef780cb2d}">
          <p14:sldIdLst>
            <p14:sldId id="257"/>
            <p14:sldId id="258"/>
          </p14:sldIdLst>
        </p14:section>
        <p14:section name="Pre-teach" id="{1a578297-5de8-73ce-2926-c9bf1beda180}">
          <p14:sldIdLst>
            <p14:sldId id="259"/>
            <p14:sldId id="260"/>
          </p14:sldIdLst>
        </p14:section>
        <p14:section name="Read-along" id="{12d6c6e6-6cd6-690a-3bb2-34094f9c08a3}">
          <p14:sldIdLst>
            <p14:sldId id="261"/>
            <p14:sldId id="262"/>
          </p14:sldIdLst>
        </p14:section>
        <p14:section name="Teach" id="{c8cd871b-b8ab-29ee-6aca-5575bfe9380a}">
          <p14:sldIdLst>
            <p14:sldId id="263"/>
            <p14:sldId id="264"/>
            <p14:sldId id="265"/>
            <p14:sldId id="266"/>
            <p14:sldId id="267"/>
          </p14:sldIdLst>
        </p14:section>
        <p14:section name="Routes" id="{7fca7743-0010-1f86-3ae7-0f1913bd31cd}">
          <p14:sldIdLst>
            <p14:sldId id="268"/>
            <p14:sldId id="269"/>
            <p14:sldId id="270"/>
            <p14:sldId id="271"/>
          </p14:sldIdLst>
        </p14:section>
        <p14:section name="Close" id="{396f3418-a5a5-c04a-430c-0357ac491b4d}">
          <p14:sldIdLst>
            <p14:sldId id="272"/>
          </p14:sldIdLst>
        </p14:section>
        <p14:section name="Answers" id="{135443b5-c953-800a-0ea6-ca2d54b5ef3d}">
          <p14:sldIdLst>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 of 6: Food, water and energy: the resources every country needs. What a resource is, why food, water and energy are the three that matter most, and how world maps show that they are shared out very unevenly.
This deck covers the department's lessons: 1 (The global distribution of resources: what is a resource? Food and water: What is a resource, why do food, water and energy matter most, and why are so many people short of food and water?); 2 (Energy and the global pattern of food, water and energy: Why do countries need energy, and how do world maps show the inequality in food, water and energy between high-income and low-income countries?).
Read the big question aloud: "Can the world supply enough food, water and energy for everyone without using up the planet, and how should the UK manage its own supply?"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Which three resources did the lesson call the most important for a country to develop?  →  C   Food, water and energy
2. The World Health Organisation suggests a person needs between 2000 and how many calories a day?  →  2400 calories
3. A person whose diet is poorly balanced and lacks minerals and vitamins suffers from ___.  →  malnutrition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C   Food, water and energy. A resource is a stock or supply of something with a value or purpose; food, water and energy are the three that every country needs adequate supplies of in order to develop.
2. 2400 calories. The WHO figure in the lesson is 2000 to 2400 calories a day. People who get less than this are described as malnourished.
3. malnutrition. Malnutrition is about the quality of the diet: a poor balance of nutrients. Malnourishment is about quantity: too few calories.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resource: a stock or supply of something that has a value or a purpose. Example: "Water is a resource because every person and every farm needs it."
• malnourished: not getting enough food to stay healthy. Example: "A malnourished child does not get enough calories each day."
• malnutrition: a poorly balanced diet that lacks minerals and vitamins. Example: "Malnutrition can make people ill even when they eat enough calories."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consumption: the amount of something that people use. Example: "Energy consumption is highest in the richest countries."
• development: the progress of a country in economic growth, technology and human welfare. Example: "Good supplies of food, water and energy help a country's development."
• inequality: when things are not shared out equally. Example: "There is great inequality in who has enough water to drink."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1–6 of 12:
1. A resource is a stock or supply of something that has a value or a purpose.
2. The three most important resources are food, water and energy.
3. A country needs good supplies of all three to develop.
4. The World Health Organisation says each person needs 2000 to 2400 calories a day.
5. Over one billion people get less than this and are malnourished.
6. Another two billion people have malnutrition, a diet lacking minerals and vitamins.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7–12 of 12:
7. Water is needed for drinking, for growing crops and for making energy.
8. Rainfall and climate vary, so many poor countries, especially in Africa, are short of water.
9. Energy powers factories, machines and transport.
10. As the world develops, the demand for energy keeps rising.
11. Maps show that food, water and energy are shared out very unevenly.
12. High-income countries have the most; low-income countries have the least.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What is a resource?. Say it in your own words, then check understanding with a quick question: ask a pupil from the pre-teach group first, since they met these words and ideas before the lesson. Pupils try to recall before you re-explain.
Ask a class to name five natural resources and you will hear gold, oil, wood, fish and coal before anyone says bread or tap water. Yet a resource is simply a stock or supply of something that has a value or a purpose, and the three that matter most to every country are food, water and energy. Without adequate supplies of these three, a country cannot develop: its people cannot stay healthy, its farms cannot grow crops and its factories cannot run.
Because resources can run out, they have to be looked after. Resource management means the control and monitoring of resources so that they do not become exhausted. Some resources are renewable: they cannot be used up, like wind, solar and tidal energy. Others, like coal, oil and gas, are finite, so every tonne burnt is a tonne gone.
Development means how far a country has come in economic growth, in its use of technology and in the welfare of its people. Resources and development are tied together. A country with reliable food, clean water and affordable energy can build schools, hospitals and industries; a country without them spends its effort just getting by.
Tip: Learn the definition word for word: a resource is a stock or supply of something that has a value or a purpose. Examiners give the mark for the idea of a supply with a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Food: calories and nutrients. Say it in your own words, then check understanding with a quick question: ask a pupil from the pre-teach group first, since they met these words and ideas before the lesson. Pupils try to recall before you re-explain.
The World Health Organisation suggests that a person needs between 2000 and 2400 calories a day. More than a billion people get less than that, and are described as malnourished: they simply do not take in enough food to sustain a healthy life. Another two billion live with malnutrition, which is a different problem. Malnutrition is a poorly balanced diet lacking in minerals and vitamins, so a person can be eating plenty of calories and still lack the nutrients their body needs.
Both problems damage health. Too few calories leaves people weak and children unable to grow properly. A poor balance of nutrients can bring on illnesses and diseases of many kinds, and obesity too, because cheap filling food is often the food that lacks vitamins. When you are asked to explain the difference between the two terms, make the contrast clear: one is about the amount of food, the other is about its quality.
Tip: Malnourishment is about quantity (too few calories). Malnutrition is about quality (the wrong balance of nutrients). Keep the two apart in your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Water and energy. Say it in your own words, then check understanding with a quick question: ask a pupil from the pre-teach group first, since they met these words and ideas before the lesson. Pupils try to recall before you re-explain.
People and animals must have water to drink, and so must crops, which means the food supply depends on it. Water is also an important source of power for making energy, as you will see when you meet hydro-electric power later in the unit. As the global population grows, more people face a shortage of water. The imbalance comes mainly from differences in climate and rainfall: some parts of the world get far more rain than others. Many of the world's poorest countries are short of water, and a great many of those are in Africa.
Economic development runs on energy. It drives factories and machinery, fuels transport, and lights and heats homes, offices and schools. Countries once relied on whatever energy lay inside their own borders. That is no longer the case: countries buy and sell energy to each other, so a country short of oil can import it, and a country with more gas than it needs can sell the surplus. As the world develops, the demand for energy keeps increasing.
Put the three together and you see why this unit is called a challenge. The world has to feed, water and power a growing population from supplies that are limited, unevenly spread and, in the case of fossil fuels, running down.
Tip: Water has three jobs in this unit: drinking, growing food and making energy. Name all three when a question asks why water is important.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Describing the global pattern. Say it in your own words, then check understanding with a quick question: ask a pupil from the pre-teach group first, since they met these words and ideas before the lesson. Pupils try to recall before you re-explain.
In class you shaded three world maps: the countries that are most and least malnourished, the countries where water is most and least scarce, and the countries with the highest and lowest energy consumption. The same pattern appears on all three. High-income countries (HICs) have the least malnourishment, the least water scarcity and the highest energy consumption. Low-income countries (LICs) have the most malnourishment, the most water scarcity and the lowest energy consumption. The distribution of each resource is uneven.
A six-mark describe question wants more than one sentence. The lesson gave you a structure: General, Specific, Anomaly. Start with the general pattern (most malnourished countries are low-income countries). Then give specific examples from the map, naming a continent and a country. Finish with an anomaly, an exception to the pattern, because spotting one shows you have looked closely rather than guessed. Comparing two places (a high-income example against a low-income one) lifts an answer into the top band.
The lesson's maths skill asked you to work out a percentage increase from a graph of global energy consumption. The method is the same whatever the numbers: find the increase, divide it by the original value, and multiply by 100.
Worked example — model it step by step, thinking aloud: A graph shows that a region's energy consumption rose from 5000 units in 1970 to 9000 units in 2012. Calculate the percentage increase. (1) Find the increase: 9000 − 5000 = 4000 units. (2) Divide the increase by the ORIGINAL value, the 1970 figure: 4000 ÷ 5000 = 0.8. (3) Multiply by 100 to turn it into a percentage: 0.8 × 100 = 80 %. (4) Check it makes sense: 9000 is nearly double 5000, so an increase of a bit less than 100 % is right. Answer: 80 % increase.
Tip: Percentage increase is always measured against the ORIGINAL (earlier) value, never the new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Describing the global pattern. Say it in your own words, then check understanding with a quick question: ask a pupil from the pre-teach group first, since they met these words and ideas before the lesson. Pupils try to recall before you re-explain.
In class you shaded three world maps: the countries that are most and least malnourished, the countries where water is most and least scarce, and the countries with the highest and lowest energy consumption. The same pattern appears on all three. High-income countries (HICs) have the least malnourishment, the least water scarcity and the highest energy consumption. Low-income countries (LICs) have the most malnourishment, the most water scarcity and the lowest energy consumption. The distribution of each resource is uneven.
A six-mark describe question wants more than one sentence. The lesson gave you a structure: General, Specific, Anomaly. Start with the general pattern (most malnourished countries are low-income countries). Then give specific examples from the map, naming a continent and a country. Finish with an anomaly, an exception to the pattern, because spotting one shows you have looked closely rather than guessed. Comparing two places (a high-income example against a low-income one) lifts an answer into the top band.
The lesson's maths skill asked you to work out a percentage increase from a graph of global energy consumption. The method is the same whatever the numbers: find the increase, divide it by the original value, and multiply by 100.
Worked example — model it step by step, thinking aloud: A graph shows that a region's energy consumption rose from 5000 units in 1970 to 9000 units in 2012. Calculate the percentage increase. (1) Find the increase: 9000 − 5000 = 4000 units. (2) Divide the increase by the ORIGINAL value, the 1970 figure: 4000 ÷ 5000 = 0.8. (3) Multiply by 100 to turn it into a percentage: 0.8 × 100 = 80 %. (4) Check it makes sense: 9000 is nearly double 5000, so an increase of a bit less than 100 % is right. Answer: 80 % increase.
Tip: Percentage increase is always measured against the ORIGINAL (earlier) value, never the new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The first four key words.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key word to its meaning.
Support — work through the steps with the group: (1) Start with the word you know best. A resource is a supply of something useful. (2) Management means looking after something. Which meaning is about looking after resources? (3) Renewable means it can be renewed, so it never runs out. Which meaning says that? (4) The meaning left over is about a whole country making progress.
Parallel worked example for Support (model it, do not give the task answer): Match: finite resource, consumption. Choices: the amount of a resource that people use; a resource that will run out one day, such as coal. Finite means limited, so it is the one that runs out.; Consumption comes from consume, to use up.. Answer: Finite resource: a resource that will run out one day, such as coal. Consumption: the amount of a resource that people use..
Core — reveal the hint only on request: Two of the meanings are about resources themselves, one is about looking after them, and one is about a country.
Stretch — no help; when finished: Explain, in two sentences, why good resource management is more urgent for finite resources than for renewable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The first four key words.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key word to its meaning.
Support — work through the steps with the group: (1) Start with the word you know best. A resource is a supply of something useful. (2) Management means looking after something. Which meaning is about looking after resources? (3) Renewable means it can be renewed, so it never runs out. Which meaning says that? (4) The meaning left over is about a whole country making progress.
Parallel worked example for Support (model it, do not give the task answer): Match: finite resource, consumption. Choices: the amount of a resource that people use; a resource that will run out one day, such as coal. Finite means limited, so it is the one that runs out.; Consumption comes from consume, to use up.. Answer: Finite resource: a resource that will run out one day, such as coal. Consumption: the amount of a resource that people use..
Core — reveal the hint only on request: Two of the meanings are about resources themselves, one is about looking after them, and one is about a country.
Stretch — no help; when finished: Explain, in two sentences, why good resource management is more urgent for finite resources than for renewable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Working out a percentage increase.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graph of global energy consumption shows 5000 units in 1970 and 9000 units in 2012. What is the percentage increase from 1970 to 2012?
Support — work through the steps with the group: (1) Subtract to find the increase: new value − old value. (2) Divide the increase by the OLD (1970) value. (3) Multiply by 100 to make it a percentage. (4) Sanity check: if the new value is nearly double, the increase should be nearly 100 %.
Parallel worked example for Support (model it, do not give the task answer): Water use per house rose from 200 litres a day to 250 litres a day. What is the percentage increase? Increase: 250 − 200 = 50 litres.; Divide by the original: 50 ÷ 200 = 0.25.; Multiply by 100: 25 %.. Answer: 25 % increase.
Core — reveal the hint only on request: Increase ÷ original × 100. The original is the earlier year.
Stretch — no help; when finished: The lesson's own figure for water use per house was a 70 % rise over 30 years. If a house used 100 litres a day 30 years ago, how much does it use now? Then explain why the real figures in a graph need the same method.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Working out a percentage increase.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graph of global energy consumption shows 5000 units in 1970 and 9000 units in 2012. What is the percentage increase from 1970 to 2012?
Support — work through the steps with the group: (1) Subtract to find the increase: new value − old value. (2) Divide the increase by the OLD (1970) value. (3) Multiply by 100 to make it a percentage. (4) Sanity check: if the new value is nearly double, the increase should be nearly 100 %.
Parallel worked example for Support (model it, do not give the task answer): Water use per house rose from 200 litres a day to 250 litres a day. What is the percentage increase? Increase: 250 − 200 = 50 litres.; Divide by the original: 50 ÷ 200 = 0.25.; Multiply by 100: 25 %.. Answer: 25 % increase.
Core — reveal the hint only on request: Increase ÷ original × 100. The original is the earlier year.
Stretch — no help; when finished: The lesson's own figure for water use per house was a 70 % rise over 30 years. If a house used 100 litres a day 30 years ago, how much does it use now? Then explain why the real figures in a graph need the same method.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Which three resources did the lesson call the most important for a country to develop?
Answer: B   Food, water and energy. A resource is a stock or supply of something with a value or purpose; food, water and energy are the three that every country needs adequate supplies of in order to develop.
Source of this question: gate item 1 re-asked (options rotated) — this chapter has no third quick-check module.
The ebook also holds task 3, "Describing global inequality",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The first four key words. Reveal the answer; pupils mark their own work in a different colour, then read the "why" together. Same destination for every lane, so one answer serves the whole class.
Answer: Resource  →  B  A stock or supply of something that has a value or a purpose; Resource management  →  D  Controlling and monitoring resources so that they do not become exhausted; Renewable energy  →  C  A source of energy that cannot be exhausted, such as wind, solar or tidal power; Development  →  A  The progress of a country in economic growth, the use of technology and human welfare
Why: A resource is a stock or supply with a value or purpose; resource management keeps resources from being exhausted; renewable energy such as wind, solar and tidal cannot be used up; development is a country's progress in economic growth, technology and human welfare.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Working out a percentage increase. Reveal the answer; pupils mark their own work in a different colour, then read the "why" together. Same destination for every lane, so one answer serves the whole class.
Answer: 80 %
Why: Percentage increase compares the change with where you started. 4000 extra units on an original 5000 is 0.8 of the original, which is 80 %.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B   Food, water and energy
Why: A resource is a stock or supply of something with a value or purpose; food, water and energy are the three that every country needs adequate supplies of in order to develop.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DCE4DE"/>
          </a:solidFill>
          <a:ln w="12700">
            <a:solidFill>
              <a:srgbClr val="DCE4DE"/>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9 · The Challenge of Resource Management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8F7F4"/>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DCE4DE"/>
          </a:solidFill>
          <a:ln w="12700">
            <a:solidFill>
              <a:srgbClr val="DCE4DE"/>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9 · The Challenge of Resource Management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3F6B4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9E1DB"/>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3F6B4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1</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3F6B4A"/>
                </a:solidFill>
                <a:latin typeface="Calibri" pitchFamily="34" charset="0"/>
                <a:ea typeface="Calibri" pitchFamily="34" charset="-122"/>
                <a:cs typeface="Calibri" pitchFamily="34" charset="-120"/>
              </a:rPr>
              <a:t>Geography · Year 9</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1/6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The Challenge of Resource Management · AQA 8035</a:t>
            </a:r>
            <a:endParaRPr lang="en-US" sz="1800" dirty="0"/>
          </a:p>
        </p:txBody>
      </p:sp>
      <p:sp>
        <p:nvSpPr>
          <p:cNvPr id="10" name="deck-title"/>
          <p:cNvSpPr txBox="1"/>
          <p:nvPr/>
        </p:nvSpPr>
        <p:spPr>
          <a:xfrm>
            <a:off x="548640" y="2107438"/>
            <a:ext cx="5287975" cy="1051560"/>
          </a:xfrm>
          <a:prstGeom prst="rect">
            <a:avLst/>
          </a:prstGeom>
          <a:noFill/>
          <a:ln/>
        </p:spPr>
        <p:txBody>
          <a:bodyPr wrap="square" lIns="63500" tIns="63500" rIns="63500" bIns="63500" rtlCol="0" anchor="t"/>
          <a:lstStyle/>
          <a:p>
            <a:pPr algn="l" indent="0" marL="0">
              <a:buNone/>
            </a:pPr>
            <a:r>
              <a:rPr lang="en-US" sz="2800" b="1" dirty="0">
                <a:solidFill>
                  <a:srgbClr val="1E2229"/>
                </a:solidFill>
                <a:latin typeface="Cambria" pitchFamily="34" charset="0"/>
                <a:ea typeface="Cambria" pitchFamily="34" charset="-122"/>
                <a:cs typeface="Cambria" pitchFamily="34" charset="-120"/>
              </a:rPr>
              <a:t>Food, water and energy: the resources every country needs</a:t>
            </a:r>
            <a:endParaRPr lang="en-US" sz="2800" dirty="0"/>
          </a:p>
        </p:txBody>
      </p:sp>
      <p:sp>
        <p:nvSpPr>
          <p:cNvPr id="11" name="lessons-card"/>
          <p:cNvSpPr/>
          <p:nvPr/>
        </p:nvSpPr>
        <p:spPr>
          <a:xfrm>
            <a:off x="548640" y="3387598"/>
            <a:ext cx="5287975" cy="1948180"/>
          </a:xfrm>
          <a:prstGeom prst="roundRect">
            <a:avLst>
              <a:gd name="adj" fmla="val 3755"/>
            </a:avLst>
          </a:prstGeom>
          <a:solidFill>
            <a:srgbClr val="ECF0ED"/>
          </a:solidFill>
          <a:ln/>
        </p:spPr>
      </p:sp>
      <p:sp>
        <p:nvSpPr>
          <p:cNvPr id="12" name="lessons"/>
          <p:cNvSpPr txBox="1"/>
          <p:nvPr/>
        </p:nvSpPr>
        <p:spPr>
          <a:xfrm>
            <a:off x="685800" y="3479038"/>
            <a:ext cx="5013655" cy="176530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3F6B4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The global distribution of resources: what is a resource? Food and water</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2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Energy and the global pattern of food, water and energy</a:t>
            </a:r>
            <a:endParaRPr lang="en-US" sz="2000" dirty="0"/>
          </a:p>
        </p:txBody>
      </p:sp>
      <p:sp>
        <p:nvSpPr>
          <p:cNvPr id="13" name="plate-frame"/>
          <p:cNvSpPr/>
          <p:nvPr/>
        </p:nvSpPr>
        <p:spPr>
          <a:xfrm>
            <a:off x="6248095" y="411480"/>
            <a:ext cx="5394960" cy="3130677"/>
          </a:xfrm>
          <a:prstGeom prst="rect">
            <a:avLst/>
          </a:prstGeom>
          <a:solidFill>
            <a:srgbClr val="F2E9D9"/>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Geography, Year 9">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CF0ED"/>
          </a:solidFill>
          <a:ln w="12700">
            <a:solidFill>
              <a:srgbClr val="B2C4B7"/>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3F6B4A"/>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Can the world supply enough food, water and energy for everyone without using up the planet, and how should the UK manage its own supply?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2F5F2"/>
          </a:solidFill>
          <a:ln w="12700">
            <a:solidFill>
              <a:srgbClr val="BCCBC0"/>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1E2229"/>
                </a:solidFill>
                <a:latin typeface="Calibri" pitchFamily="34" charset="0"/>
                <a:ea typeface="Calibri" pitchFamily="34" charset="-122"/>
                <a:cs typeface="Calibri" pitchFamily="34" charset="-120"/>
              </a:rPr>
              <a:t>Which three resources did the lesson call the most important for a country to develop?</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Land, sunshine and coal</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Gold, oil and diamonds</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Food, water and energy</a:t>
            </a:r>
            <a:endParaRPr lang="en-US" sz="20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Wood, iron and fish</a:t>
            </a:r>
            <a:endParaRPr lang="en-US" sz="2000" dirty="0"/>
          </a:p>
        </p:txBody>
      </p:sp>
      <p:sp>
        <p:nvSpPr>
          <p:cNvPr id="12" name="card"/>
          <p:cNvSpPr/>
          <p:nvPr/>
        </p:nvSpPr>
        <p:spPr>
          <a:xfrm>
            <a:off x="4338218" y="1389888"/>
            <a:ext cx="3515258" cy="4754880"/>
          </a:xfrm>
          <a:prstGeom prst="roundRect">
            <a:avLst>
              <a:gd name="adj" fmla="val 1561"/>
            </a:avLst>
          </a:prstGeom>
          <a:solidFill>
            <a:srgbClr val="F2F5F2"/>
          </a:solidFill>
          <a:ln w="12700">
            <a:solidFill>
              <a:srgbClr val="BCCBC0"/>
            </a:solidFill>
            <a:prstDash val="solid"/>
          </a:ln>
        </p:spPr>
      </p:sp>
      <p:sp>
        <p:nvSpPr>
          <p:cNvPr id="13" name="card-hex"/>
          <p:cNvSpPr/>
          <p:nvPr/>
        </p:nvSpPr>
        <p:spPr>
          <a:xfrm>
            <a:off x="4521098" y="1572768"/>
            <a:ext cx="640080" cy="554309"/>
          </a:xfrm>
          <a:prstGeom prst="hexagon">
            <a:avLst/>
          </a:prstGeom>
          <a:solidFill>
            <a:srgbClr val="3F6B4A"/>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Work it out</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The World Health Organisation suggests a person needs between 2000 and how many calories a day?</a:t>
            </a:r>
            <a:endParaRPr lang="en-US" sz="2400" dirty="0"/>
          </a:p>
          <a:p>
            <a:pPr algn="l" indent="0" marL="0">
              <a:buNone/>
            </a:pPr>
            <a:r>
              <a:rPr lang="en-US" sz="2400" b="1" dirty="0">
                <a:solidFill>
                  <a:srgbClr val="3F6B4A"/>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 calories</a:t>
            </a:r>
            <a:endParaRPr lang="en-US" sz="2400" dirty="0"/>
          </a:p>
        </p:txBody>
      </p:sp>
      <p:sp>
        <p:nvSpPr>
          <p:cNvPr id="17" name="card"/>
          <p:cNvSpPr/>
          <p:nvPr/>
        </p:nvSpPr>
        <p:spPr>
          <a:xfrm>
            <a:off x="8127797" y="1389888"/>
            <a:ext cx="3515258" cy="4754880"/>
          </a:xfrm>
          <a:prstGeom prst="roundRect">
            <a:avLst>
              <a:gd name="adj" fmla="val 1561"/>
            </a:avLst>
          </a:prstGeom>
          <a:solidFill>
            <a:srgbClr val="F2F5F2"/>
          </a:solidFill>
          <a:ln w="12700">
            <a:solidFill>
              <a:srgbClr val="BCCBC0"/>
            </a:solidFill>
            <a:prstDash val="solid"/>
          </a:ln>
        </p:spPr>
      </p:sp>
      <p:sp>
        <p:nvSpPr>
          <p:cNvPr id="18" name="card-hex"/>
          <p:cNvSpPr/>
          <p:nvPr/>
        </p:nvSpPr>
        <p:spPr>
          <a:xfrm>
            <a:off x="8310677" y="1572768"/>
            <a:ext cx="640080" cy="554309"/>
          </a:xfrm>
          <a:prstGeom prst="hexagon">
            <a:avLst/>
          </a:prstGeom>
          <a:solidFill>
            <a:srgbClr val="3F6B4A"/>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Fill the gap</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A person whose diet is poorly balanced and lacks minerals and vitamins suffers from ___.</a:t>
            </a:r>
            <a:endParaRPr lang="en-US" sz="2200" dirty="0"/>
          </a:p>
          <a:p>
            <a:pPr algn="l" indent="0" marL="0">
              <a:buNone/>
            </a:pPr>
            <a:r>
              <a:rPr lang="en-US" sz="2200" b="1" dirty="0">
                <a:solidFill>
                  <a:srgbClr val="3F6B4A"/>
                </a:solidFill>
                <a:latin typeface="Calibri" pitchFamily="34" charset="0"/>
                <a:ea typeface="Calibri" pitchFamily="34" charset="-122"/>
                <a:cs typeface="Calibri" pitchFamily="34" charset="-120"/>
              </a:rPr>
              <a:t>Word bank:  </a:t>
            </a:r>
            <a:pPr algn="l" indent="0" marL="0">
              <a:buNone/>
            </a:pPr>
            <a:r>
              <a:rPr lang="en-US" sz="2200" dirty="0">
                <a:solidFill>
                  <a:srgbClr val="1E2229"/>
                </a:solidFill>
                <a:latin typeface="Calibri" pitchFamily="34" charset="0"/>
                <a:ea typeface="Calibri" pitchFamily="34" charset="-122"/>
                <a:cs typeface="Calibri" pitchFamily="34" charset="-120"/>
              </a:rPr>
              <a:t>malnutrition  ·  malnourishment  ·  development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2F5F2"/>
          </a:solidFill>
          <a:ln w="12700">
            <a:solidFill>
              <a:srgbClr val="BCCBC0"/>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955040"/>
          </a:xfrm>
          <a:prstGeom prst="roundRect">
            <a:avLst>
              <a:gd name="adj" fmla="val 11489"/>
            </a:avLst>
          </a:prstGeom>
          <a:solidFill>
            <a:srgbClr val="EDE1CA"/>
          </a:solidFill>
          <a:ln w="19050">
            <a:solidFill>
              <a:srgbClr val="B8862B"/>
            </a:solidFill>
            <a:prstDash val="solid"/>
          </a:ln>
        </p:spPr>
      </p:sp>
      <p:sp>
        <p:nvSpPr>
          <p:cNvPr id="12" name="answer"/>
          <p:cNvSpPr txBox="1"/>
          <p:nvPr/>
        </p:nvSpPr>
        <p:spPr>
          <a:xfrm>
            <a:off x="822960" y="2428829"/>
            <a:ext cx="2966618"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   Food, water and energy</a:t>
            </a:r>
            <a:endParaRPr lang="en-US" sz="2200" dirty="0"/>
          </a:p>
        </p:txBody>
      </p:sp>
      <p:sp>
        <p:nvSpPr>
          <p:cNvPr id="13" name="card-body"/>
          <p:cNvSpPr txBox="1"/>
          <p:nvPr/>
        </p:nvSpPr>
        <p:spPr>
          <a:xfrm>
            <a:off x="731520" y="3493597"/>
            <a:ext cx="3149498" cy="2514011"/>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A resource is a stock or supply of something with a value or purpose; food, water and energy are the three that every country needs adequate supplies of in order to develop.</a:t>
            </a:r>
            <a:endParaRPr lang="en-US" sz="1800" dirty="0"/>
          </a:p>
        </p:txBody>
      </p:sp>
      <p:sp>
        <p:nvSpPr>
          <p:cNvPr id="14" name="card"/>
          <p:cNvSpPr/>
          <p:nvPr/>
        </p:nvSpPr>
        <p:spPr>
          <a:xfrm>
            <a:off x="4338218" y="1389888"/>
            <a:ext cx="3515258" cy="4754880"/>
          </a:xfrm>
          <a:prstGeom prst="roundRect">
            <a:avLst>
              <a:gd name="adj" fmla="val 1561"/>
            </a:avLst>
          </a:prstGeom>
          <a:solidFill>
            <a:srgbClr val="F2F5F2"/>
          </a:solidFill>
          <a:ln w="12700">
            <a:solidFill>
              <a:srgbClr val="BCCBC0"/>
            </a:solidFill>
            <a:prstDash val="solid"/>
          </a:ln>
        </p:spPr>
      </p:sp>
      <p:sp>
        <p:nvSpPr>
          <p:cNvPr id="15" name="card-hex"/>
          <p:cNvSpPr/>
          <p:nvPr/>
        </p:nvSpPr>
        <p:spPr>
          <a:xfrm>
            <a:off x="4521098" y="1572768"/>
            <a:ext cx="640080" cy="554309"/>
          </a:xfrm>
          <a:prstGeom prst="hexagon">
            <a:avLst/>
          </a:prstGeom>
          <a:solidFill>
            <a:srgbClr val="3F6B4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DE1CA"/>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2400 calories</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The World Health Organisation suggests a person needs between 2000 and how many calories a day?</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The WHO figure in the lesson is 2000 to 2400 calories a day. People who get less than this are described as malnourished.</a:t>
            </a:r>
            <a:endParaRPr lang="en-US" sz="1800" dirty="0"/>
          </a:p>
        </p:txBody>
      </p:sp>
      <p:sp>
        <p:nvSpPr>
          <p:cNvPr id="21" name="card"/>
          <p:cNvSpPr/>
          <p:nvPr/>
        </p:nvSpPr>
        <p:spPr>
          <a:xfrm>
            <a:off x="8127797" y="1389888"/>
            <a:ext cx="3515258" cy="4754880"/>
          </a:xfrm>
          <a:prstGeom prst="roundRect">
            <a:avLst>
              <a:gd name="adj" fmla="val 1561"/>
            </a:avLst>
          </a:prstGeom>
          <a:solidFill>
            <a:srgbClr val="F2F5F2"/>
          </a:solidFill>
          <a:ln w="12700">
            <a:solidFill>
              <a:srgbClr val="BCCBC0"/>
            </a:solidFill>
            <a:prstDash val="solid"/>
          </a:ln>
        </p:spPr>
      </p:sp>
      <p:sp>
        <p:nvSpPr>
          <p:cNvPr id="22" name="card-hex"/>
          <p:cNvSpPr/>
          <p:nvPr/>
        </p:nvSpPr>
        <p:spPr>
          <a:xfrm>
            <a:off x="8310677" y="1572768"/>
            <a:ext cx="640080" cy="554309"/>
          </a:xfrm>
          <a:prstGeom prst="hexagon">
            <a:avLst/>
          </a:prstGeom>
          <a:solidFill>
            <a:srgbClr val="3F6B4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DE1CA"/>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malnutrition</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A person whose diet is poorly balanced and lacks minerals and vitamins suffers from ___.</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Malnutrition is about the quality of the diet: a poor balance of nutrients. Malnourishment is about quantity: too few calories.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0F3F1"/>
          </a:solidFill>
          <a:ln w="12700">
            <a:solidFill>
              <a:srgbClr val="B2C4B7"/>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resource</a:t>
            </a:r>
            <a:endParaRPr lang="en-US" sz="2600" dirty="0"/>
          </a:p>
        </p:txBody>
      </p:sp>
      <p:sp>
        <p:nvSpPr>
          <p:cNvPr id="11" name="word-rule"/>
          <p:cNvSpPr/>
          <p:nvPr/>
        </p:nvSpPr>
        <p:spPr>
          <a:xfrm>
            <a:off x="731520" y="2129028"/>
            <a:ext cx="3149498" cy="0"/>
          </a:xfrm>
          <a:prstGeom prst="line">
            <a:avLst/>
          </a:prstGeom>
          <a:ln w="12700">
            <a:solidFill>
              <a:srgbClr val="B2C4B7"/>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stock or supply of something that has a value or a purpose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Water is a resource because every person and every farm needs it.</a:t>
            </a:r>
            <a:endParaRPr lang="en-US" sz="2200" dirty="0"/>
          </a:p>
        </p:txBody>
      </p:sp>
      <p:sp>
        <p:nvSpPr>
          <p:cNvPr id="13" name="word-card"/>
          <p:cNvSpPr/>
          <p:nvPr/>
        </p:nvSpPr>
        <p:spPr>
          <a:xfrm>
            <a:off x="4338218" y="1389888"/>
            <a:ext cx="3515258" cy="4754880"/>
          </a:xfrm>
          <a:prstGeom prst="roundRect">
            <a:avLst>
              <a:gd name="adj" fmla="val 1561"/>
            </a:avLst>
          </a:prstGeom>
          <a:solidFill>
            <a:srgbClr val="F0F3F1"/>
          </a:solidFill>
          <a:ln w="12700">
            <a:solidFill>
              <a:srgbClr val="B2C4B7"/>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malnourished</a:t>
            </a:r>
            <a:endParaRPr lang="en-US" sz="2600" dirty="0"/>
          </a:p>
        </p:txBody>
      </p:sp>
      <p:sp>
        <p:nvSpPr>
          <p:cNvPr id="17" name="word-rule"/>
          <p:cNvSpPr/>
          <p:nvPr/>
        </p:nvSpPr>
        <p:spPr>
          <a:xfrm>
            <a:off x="4521098" y="2129028"/>
            <a:ext cx="3149498" cy="0"/>
          </a:xfrm>
          <a:prstGeom prst="line">
            <a:avLst/>
          </a:prstGeom>
          <a:ln w="12700">
            <a:solidFill>
              <a:srgbClr val="B2C4B7"/>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not getting enough food to stay healthy</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malnourished child does not get enough calories each day.</a:t>
            </a:r>
            <a:endParaRPr lang="en-US" sz="2200" dirty="0"/>
          </a:p>
        </p:txBody>
      </p:sp>
      <p:sp>
        <p:nvSpPr>
          <p:cNvPr id="19" name="word-card"/>
          <p:cNvSpPr/>
          <p:nvPr/>
        </p:nvSpPr>
        <p:spPr>
          <a:xfrm>
            <a:off x="8127797" y="1389888"/>
            <a:ext cx="3515258" cy="4754880"/>
          </a:xfrm>
          <a:prstGeom prst="roundRect">
            <a:avLst>
              <a:gd name="adj" fmla="val 1561"/>
            </a:avLst>
          </a:prstGeom>
          <a:solidFill>
            <a:srgbClr val="F0F3F1"/>
          </a:solidFill>
          <a:ln w="12700">
            <a:solidFill>
              <a:srgbClr val="B2C4B7"/>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malnutrition</a:t>
            </a:r>
            <a:endParaRPr lang="en-US" sz="2600" dirty="0"/>
          </a:p>
        </p:txBody>
      </p:sp>
      <p:sp>
        <p:nvSpPr>
          <p:cNvPr id="23" name="word-rule"/>
          <p:cNvSpPr/>
          <p:nvPr/>
        </p:nvSpPr>
        <p:spPr>
          <a:xfrm>
            <a:off x="8310677" y="2129028"/>
            <a:ext cx="3149498" cy="0"/>
          </a:xfrm>
          <a:prstGeom prst="line">
            <a:avLst/>
          </a:prstGeom>
          <a:ln w="12700">
            <a:solidFill>
              <a:srgbClr val="B2C4B7"/>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poorly balanced diet that lacks minerals and vitamins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Malnutrition can make people ill even when they eat enough calories.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0F3F1"/>
          </a:solidFill>
          <a:ln w="12700">
            <a:solidFill>
              <a:srgbClr val="B2C4B7"/>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consumption</a:t>
            </a:r>
            <a:endParaRPr lang="en-US" sz="2600" dirty="0"/>
          </a:p>
        </p:txBody>
      </p:sp>
      <p:sp>
        <p:nvSpPr>
          <p:cNvPr id="11" name="word-rule"/>
          <p:cNvSpPr/>
          <p:nvPr/>
        </p:nvSpPr>
        <p:spPr>
          <a:xfrm>
            <a:off x="731520" y="2129028"/>
            <a:ext cx="3149498" cy="0"/>
          </a:xfrm>
          <a:prstGeom prst="line">
            <a:avLst/>
          </a:prstGeom>
          <a:ln w="12700">
            <a:solidFill>
              <a:srgbClr val="B2C4B7"/>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amount of something that people use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Energy consumption is highest in the richest countries.</a:t>
            </a:r>
            <a:endParaRPr lang="en-US" sz="2200" dirty="0"/>
          </a:p>
        </p:txBody>
      </p:sp>
      <p:sp>
        <p:nvSpPr>
          <p:cNvPr id="13" name="word-card"/>
          <p:cNvSpPr/>
          <p:nvPr/>
        </p:nvSpPr>
        <p:spPr>
          <a:xfrm>
            <a:off x="4338218" y="1389888"/>
            <a:ext cx="3515258" cy="4754880"/>
          </a:xfrm>
          <a:prstGeom prst="roundRect">
            <a:avLst>
              <a:gd name="adj" fmla="val 1561"/>
            </a:avLst>
          </a:prstGeom>
          <a:solidFill>
            <a:srgbClr val="F0F3F1"/>
          </a:solidFill>
          <a:ln w="12700">
            <a:solidFill>
              <a:srgbClr val="B2C4B7"/>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development</a:t>
            </a:r>
            <a:endParaRPr lang="en-US" sz="2600" dirty="0"/>
          </a:p>
        </p:txBody>
      </p:sp>
      <p:sp>
        <p:nvSpPr>
          <p:cNvPr id="17" name="word-rule"/>
          <p:cNvSpPr/>
          <p:nvPr/>
        </p:nvSpPr>
        <p:spPr>
          <a:xfrm>
            <a:off x="4521098" y="2129028"/>
            <a:ext cx="3149498" cy="0"/>
          </a:xfrm>
          <a:prstGeom prst="line">
            <a:avLst/>
          </a:prstGeom>
          <a:ln w="12700">
            <a:solidFill>
              <a:srgbClr val="B2C4B7"/>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progress of a country in economic growth, technology and human welfare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Good supplies of food, water and energy help a country's development.</a:t>
            </a:r>
            <a:endParaRPr lang="en-US" sz="2200" dirty="0"/>
          </a:p>
        </p:txBody>
      </p:sp>
      <p:sp>
        <p:nvSpPr>
          <p:cNvPr id="19" name="word-card"/>
          <p:cNvSpPr/>
          <p:nvPr/>
        </p:nvSpPr>
        <p:spPr>
          <a:xfrm>
            <a:off x="8127797" y="1389888"/>
            <a:ext cx="3515258" cy="4754880"/>
          </a:xfrm>
          <a:prstGeom prst="roundRect">
            <a:avLst>
              <a:gd name="adj" fmla="val 1561"/>
            </a:avLst>
          </a:prstGeom>
          <a:solidFill>
            <a:srgbClr val="F0F3F1"/>
          </a:solidFill>
          <a:ln w="12700">
            <a:solidFill>
              <a:srgbClr val="B2C4B7"/>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inequality</a:t>
            </a:r>
            <a:endParaRPr lang="en-US" sz="2600" dirty="0"/>
          </a:p>
        </p:txBody>
      </p:sp>
      <p:sp>
        <p:nvSpPr>
          <p:cNvPr id="23" name="word-rule"/>
          <p:cNvSpPr/>
          <p:nvPr/>
        </p:nvSpPr>
        <p:spPr>
          <a:xfrm>
            <a:off x="8310677" y="2129028"/>
            <a:ext cx="3149498" cy="0"/>
          </a:xfrm>
          <a:prstGeom prst="line">
            <a:avLst/>
          </a:prstGeom>
          <a:ln w="12700">
            <a:solidFill>
              <a:srgbClr val="B2C4B7"/>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when things are not shared out equally</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There is great inequality in who has enough water to drink.</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2F5F2"/>
          </a:solidFill>
          <a:ln w="12700">
            <a:solidFill>
              <a:srgbClr val="C5D3C9"/>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a:t>
            </a:r>
            <a:pPr algn="l" indent="0" marL="0">
              <a:spcAft>
                <a:spcPts val="600"/>
              </a:spcAft>
              <a:buNone/>
            </a:pPr>
            <a:r>
              <a:rPr lang="en-US" sz="2200" b="1" dirty="0">
                <a:solidFill>
                  <a:srgbClr val="3F6B4A"/>
                </a:solidFill>
                <a:latin typeface="Calibri" pitchFamily="34" charset="0"/>
                <a:ea typeface="Calibri" pitchFamily="34" charset="-122"/>
                <a:cs typeface="Calibri" pitchFamily="34" charset="-120"/>
              </a:rPr>
              <a:t>resource</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 is a stock or supply of something that has a value or a purpose.</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three most important </a:t>
            </a:r>
            <a:pPr algn="l" indent="0" marL="0">
              <a:spcAft>
                <a:spcPts val="600"/>
              </a:spcAft>
              <a:buNone/>
            </a:pPr>
            <a:r>
              <a:rPr lang="en-US" sz="2200" b="1" dirty="0">
                <a:solidFill>
                  <a:srgbClr val="3F6B4A"/>
                </a:solidFill>
                <a:latin typeface="Calibri" pitchFamily="34" charset="0"/>
                <a:ea typeface="Calibri" pitchFamily="34" charset="-122"/>
                <a:cs typeface="Calibri" pitchFamily="34" charset="-120"/>
              </a:rPr>
              <a:t>resources</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 are food, water and energy.</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country needs good supplies of all three to develop.</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World Health Organisation says each person needs 2000 to 2400 calories a day.</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Over one billion people get less than this and are </a:t>
            </a:r>
            <a:pPr algn="l" indent="0" marL="0">
              <a:spcAft>
                <a:spcPts val="600"/>
              </a:spcAft>
              <a:buNone/>
            </a:pPr>
            <a:r>
              <a:rPr lang="en-US" sz="2200" b="1" dirty="0">
                <a:solidFill>
                  <a:srgbClr val="3F6B4A"/>
                </a:solidFill>
                <a:latin typeface="Calibri" pitchFamily="34" charset="0"/>
                <a:ea typeface="Calibri" pitchFamily="34" charset="-122"/>
                <a:cs typeface="Calibri" pitchFamily="34" charset="-120"/>
              </a:rPr>
              <a:t>malnourished</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Another two billion people have </a:t>
            </a:r>
            <a:pPr algn="l" indent="0" marL="0">
              <a:spcAft>
                <a:spcPts val="600"/>
              </a:spcAft>
              <a:buNone/>
            </a:pPr>
            <a:r>
              <a:rPr lang="en-US" sz="2200" b="1" dirty="0">
                <a:solidFill>
                  <a:srgbClr val="3F6B4A"/>
                </a:solidFill>
                <a:latin typeface="Calibri" pitchFamily="34" charset="0"/>
                <a:ea typeface="Calibri" pitchFamily="34" charset="-122"/>
                <a:cs typeface="Calibri" pitchFamily="34" charset="-120"/>
              </a:rPr>
              <a:t>malnutrition</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 a diet lacking minerals and vitamins.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2F5F2"/>
          </a:solidFill>
          <a:ln w="12700">
            <a:solidFill>
              <a:srgbClr val="C5D3C9"/>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Water is needed for drinking, for growing crops and for making energy.</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Rainfall and climate vary, so many poor countries, especially in Africa, are short of water.</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Energy powers factories, machines and transport.</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As the world develops, the demand for energy keeps rising.</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Maps show that food, water and energy are shared out very unevenly.</a:t>
            </a:r>
            <a:endParaRPr lang="en-US" sz="22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High-income countries have the most; low-income countries have the least.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What is a resource?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Learn the definition word for word: a resource is a stock or supply of something that has a value or a purpose. Examiners give the mark for the idea of a supply with a use.</a:t>
            </a:r>
            <a:endParaRPr lang="en-US" sz="1800" dirty="0"/>
          </a:p>
        </p:txBody>
      </p:sp>
      <p:sp>
        <p:nvSpPr>
          <p:cNvPr id="11" name="point-card"/>
          <p:cNvSpPr/>
          <p:nvPr/>
        </p:nvSpPr>
        <p:spPr>
          <a:xfrm>
            <a:off x="548640" y="1389888"/>
            <a:ext cx="3515258" cy="3686048"/>
          </a:xfrm>
          <a:prstGeom prst="roundRect">
            <a:avLst>
              <a:gd name="adj" fmla="val 1561"/>
            </a:avLst>
          </a:prstGeom>
          <a:solidFill>
            <a:srgbClr val="ECF0ED"/>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Ask a class to name five natural resources and you will hear gold, oil, wood, fish and coal before anyone says bread or tap water.</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Because resources can run out, they have to be looked after.</a:t>
            </a:r>
            <a:endParaRPr lang="en-US" sz="2400" dirty="0"/>
          </a:p>
        </p:txBody>
      </p:sp>
      <p:sp>
        <p:nvSpPr>
          <p:cNvPr id="19" name="point-card"/>
          <p:cNvSpPr/>
          <p:nvPr/>
        </p:nvSpPr>
        <p:spPr>
          <a:xfrm>
            <a:off x="8127797" y="1389888"/>
            <a:ext cx="3515258" cy="3686048"/>
          </a:xfrm>
          <a:prstGeom prst="roundRect">
            <a:avLst>
              <a:gd name="adj" fmla="val 1561"/>
            </a:avLst>
          </a:prstGeom>
          <a:solidFill>
            <a:srgbClr val="ECF0ED"/>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Development means how far a country has come in economic growth, in its use of technology and in the welfare of its people.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Food: calories and nutrients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Malnourishment is about quantity (too few calories). Malnutrition is about quality (the wrong balance of nutrients). Keep the two apart in your answers.</a:t>
            </a:r>
            <a:endParaRPr lang="en-US" sz="1800" dirty="0"/>
          </a:p>
        </p:txBody>
      </p:sp>
      <p:sp>
        <p:nvSpPr>
          <p:cNvPr id="11" name="point-card"/>
          <p:cNvSpPr/>
          <p:nvPr/>
        </p:nvSpPr>
        <p:spPr>
          <a:xfrm>
            <a:off x="548640" y="1389888"/>
            <a:ext cx="5410048" cy="3686048"/>
          </a:xfrm>
          <a:prstGeom prst="roundRect">
            <a:avLst>
              <a:gd name="adj" fmla="val 1488"/>
            </a:avLst>
          </a:prstGeom>
          <a:solidFill>
            <a:srgbClr val="ECF0ED"/>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World Health Organisation suggests that a person needs between 2000 and 2400 calories a day.</a:t>
            </a:r>
            <a:endParaRPr lang="en-US" sz="2400" dirty="0"/>
          </a:p>
        </p:txBody>
      </p:sp>
      <p:sp>
        <p:nvSpPr>
          <p:cNvPr id="15" name="point-card"/>
          <p:cNvSpPr/>
          <p:nvPr/>
        </p:nvSpPr>
        <p:spPr>
          <a:xfrm>
            <a:off x="6233008" y="1389888"/>
            <a:ext cx="5410048" cy="3686048"/>
          </a:xfrm>
          <a:prstGeom prst="roundRect">
            <a:avLst>
              <a:gd name="adj" fmla="val 1488"/>
            </a:avLst>
          </a:prstGeom>
          <a:solidFill>
            <a:srgbClr val="F6F0E6"/>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Both problems damage health. Too few calories leaves people weak and children unable to grow properly.</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Water and energy</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Water has three jobs in this unit: drinking, growing food and making energy. Name all three when a question asks why water is important.</a:t>
            </a:r>
            <a:endParaRPr lang="en-US" sz="1800" dirty="0"/>
          </a:p>
        </p:txBody>
      </p:sp>
      <p:sp>
        <p:nvSpPr>
          <p:cNvPr id="11" name="point-card"/>
          <p:cNvSpPr/>
          <p:nvPr/>
        </p:nvSpPr>
        <p:spPr>
          <a:xfrm>
            <a:off x="548640" y="1389888"/>
            <a:ext cx="3515258" cy="3686048"/>
          </a:xfrm>
          <a:prstGeom prst="roundRect">
            <a:avLst>
              <a:gd name="adj" fmla="val 1561"/>
            </a:avLst>
          </a:prstGeom>
          <a:solidFill>
            <a:srgbClr val="ECF0ED"/>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People and animals must have water to drink, and so must crops, which means the food supply depends on it.</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Economic development runs on energy. It drives factories and machinery, fuels transport, and lights and heats homes, offices and schools.</a:t>
            </a:r>
            <a:endParaRPr lang="en-US" sz="2200" dirty="0"/>
          </a:p>
        </p:txBody>
      </p:sp>
      <p:sp>
        <p:nvSpPr>
          <p:cNvPr id="19" name="point-card"/>
          <p:cNvSpPr/>
          <p:nvPr/>
        </p:nvSpPr>
        <p:spPr>
          <a:xfrm>
            <a:off x="8127797" y="1389888"/>
            <a:ext cx="3515258" cy="3686048"/>
          </a:xfrm>
          <a:prstGeom prst="roundRect">
            <a:avLst>
              <a:gd name="adj" fmla="val 1561"/>
            </a:avLst>
          </a:prstGeom>
          <a:solidFill>
            <a:srgbClr val="ECF0ED"/>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Put the three together and you see why this unit is called a challenge.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Describing the global pattern</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4EDDF"/>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Percentage increase is always measured against the ORIGINAL (earlier) value, never the new one.</a:t>
            </a:r>
            <a:endParaRPr lang="en-US" sz="1800" dirty="0"/>
          </a:p>
        </p:txBody>
      </p:sp>
      <p:sp>
        <p:nvSpPr>
          <p:cNvPr id="11" name="point-card"/>
          <p:cNvSpPr/>
          <p:nvPr/>
        </p:nvSpPr>
        <p:spPr>
          <a:xfrm>
            <a:off x="548640" y="1389888"/>
            <a:ext cx="3515258" cy="3964940"/>
          </a:xfrm>
          <a:prstGeom prst="roundRect">
            <a:avLst>
              <a:gd name="adj" fmla="val 1561"/>
            </a:avLst>
          </a:prstGeom>
          <a:solidFill>
            <a:srgbClr val="ECF0ED"/>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In class you shaded three world maps: the countries that are most and least malnourished, the countries where water is most and least scarce, and the countries with the highest and lowest energy consumption.</a:t>
            </a:r>
            <a:endParaRPr lang="en-US" sz="1800" dirty="0"/>
          </a:p>
        </p:txBody>
      </p:sp>
      <p:sp>
        <p:nvSpPr>
          <p:cNvPr id="15" name="point-card"/>
          <p:cNvSpPr/>
          <p:nvPr/>
        </p:nvSpPr>
        <p:spPr>
          <a:xfrm>
            <a:off x="4338218" y="1389888"/>
            <a:ext cx="3515258" cy="3964940"/>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A six-mark describe question wants more than one sentence. The lesson gave you a structure: General, Specific, Anomaly.</a:t>
            </a:r>
            <a:endParaRPr lang="en-US" sz="1800" dirty="0"/>
          </a:p>
        </p:txBody>
      </p:sp>
      <p:sp>
        <p:nvSpPr>
          <p:cNvPr id="19" name="point-card"/>
          <p:cNvSpPr/>
          <p:nvPr/>
        </p:nvSpPr>
        <p:spPr>
          <a:xfrm>
            <a:off x="8127797" y="1389888"/>
            <a:ext cx="3515258" cy="3964940"/>
          </a:xfrm>
          <a:prstGeom prst="roundRect">
            <a:avLst>
              <a:gd name="adj" fmla="val 1561"/>
            </a:avLst>
          </a:prstGeom>
          <a:solidFill>
            <a:srgbClr val="ECF0ED"/>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lesson's maths skill asked you to work out a percentage increase from a graph of global energy consumption.</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3F6B4A"/>
                </a:solidFill>
                <a:latin typeface="Cambria" pitchFamily="34" charset="0"/>
                <a:ea typeface="Cambria" pitchFamily="34" charset="-122"/>
                <a:cs typeface="Cambria" pitchFamily="34" charset="-120"/>
              </a:rPr>
              <a:t>Worked example: Describing the global pattern</a:t>
            </a:r>
            <a:endParaRPr lang="en-US" sz="30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ECF0ED"/>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graph shows that a region's energy consumption rose from 5000 units in 1970 to 9000 units in 2012. Calculate the percentage increase.</a:t>
            </a:r>
            <a:endParaRPr lang="en-US" sz="2200" dirty="0"/>
          </a:p>
        </p:txBody>
      </p:sp>
      <p:sp>
        <p:nvSpPr>
          <p:cNvPr id="9" name="step-box"/>
          <p:cNvSpPr/>
          <p:nvPr/>
        </p:nvSpPr>
        <p:spPr>
          <a:xfrm>
            <a:off x="548640" y="2655824"/>
            <a:ext cx="2464994" cy="2252980"/>
          </a:xfrm>
          <a:prstGeom prst="roundRect">
            <a:avLst>
              <a:gd name="adj" fmla="val 3247"/>
            </a:avLst>
          </a:prstGeom>
          <a:solidFill>
            <a:srgbClr val="FFFFFF"/>
          </a:solidFill>
          <a:ln w="15875">
            <a:solidFill>
              <a:srgbClr val="95AE9B"/>
            </a:solidFill>
            <a:prstDash val="solid"/>
          </a:ln>
        </p:spPr>
      </p:sp>
      <p:sp>
        <p:nvSpPr>
          <p:cNvPr id="10" name="step-hex"/>
          <p:cNvSpPr/>
          <p:nvPr/>
        </p:nvSpPr>
        <p:spPr>
          <a:xfrm>
            <a:off x="685800" y="2765552"/>
            <a:ext cx="530352" cy="459285"/>
          </a:xfrm>
          <a:prstGeom prst="hexagon">
            <a:avLst/>
          </a:prstGeom>
          <a:solidFill>
            <a:srgbClr val="3F6B4A"/>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250184"/>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Find the increase: 9000 − 5000 = 4000 units.</a:t>
            </a:r>
            <a:endParaRPr lang="en-US" sz="1800" dirty="0"/>
          </a:p>
        </p:txBody>
      </p:sp>
      <p:sp>
        <p:nvSpPr>
          <p:cNvPr id="13" name="arrow"/>
          <p:cNvSpPr/>
          <p:nvPr/>
        </p:nvSpPr>
        <p:spPr>
          <a:xfrm>
            <a:off x="3086786" y="3645154"/>
            <a:ext cx="274320" cy="274320"/>
          </a:xfrm>
          <a:prstGeom prst="rightArrow">
            <a:avLst/>
          </a:prstGeom>
          <a:solidFill>
            <a:srgbClr val="B8862B"/>
          </a:solidFill>
          <a:ln/>
        </p:spPr>
      </p:sp>
      <p:sp>
        <p:nvSpPr>
          <p:cNvPr id="14" name="step-box"/>
          <p:cNvSpPr/>
          <p:nvPr/>
        </p:nvSpPr>
        <p:spPr>
          <a:xfrm>
            <a:off x="3425114" y="2655824"/>
            <a:ext cx="2464994" cy="2252980"/>
          </a:xfrm>
          <a:prstGeom prst="roundRect">
            <a:avLst>
              <a:gd name="adj" fmla="val 3247"/>
            </a:avLst>
          </a:prstGeom>
          <a:solidFill>
            <a:srgbClr val="FFFFFF"/>
          </a:solidFill>
          <a:ln w="15875">
            <a:solidFill>
              <a:srgbClr val="95AE9B"/>
            </a:solidFill>
            <a:prstDash val="solid"/>
          </a:ln>
        </p:spPr>
      </p:sp>
      <p:sp>
        <p:nvSpPr>
          <p:cNvPr id="15" name="step-hex"/>
          <p:cNvSpPr/>
          <p:nvPr/>
        </p:nvSpPr>
        <p:spPr>
          <a:xfrm>
            <a:off x="3562274" y="2765552"/>
            <a:ext cx="530352" cy="459285"/>
          </a:xfrm>
          <a:prstGeom prst="hexagon">
            <a:avLst/>
          </a:prstGeom>
          <a:solidFill>
            <a:srgbClr val="3F6B4A"/>
          </a:solidFill>
          <a:ln/>
        </p:spPr>
      </p:sp>
      <p:sp>
        <p:nvSpPr>
          <p:cNvPr id="16" name="step-hex-label"/>
          <p:cNvSpPr txBox="1"/>
          <p:nvPr/>
        </p:nvSpPr>
        <p:spPr>
          <a:xfrm>
            <a:off x="3562274"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3562274" y="3250184"/>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Divide the increase by the ORIGINAL value, the 1970 figure: 4000 ÷ 5000 = 0.8.</a:t>
            </a:r>
            <a:endParaRPr lang="en-US" sz="1800" dirty="0"/>
          </a:p>
        </p:txBody>
      </p:sp>
      <p:sp>
        <p:nvSpPr>
          <p:cNvPr id="18" name="arrow"/>
          <p:cNvSpPr/>
          <p:nvPr/>
        </p:nvSpPr>
        <p:spPr>
          <a:xfrm>
            <a:off x="5963260" y="3645154"/>
            <a:ext cx="274320" cy="274320"/>
          </a:xfrm>
          <a:prstGeom prst="rightArrow">
            <a:avLst/>
          </a:prstGeom>
          <a:solidFill>
            <a:srgbClr val="B8862B"/>
          </a:solidFill>
          <a:ln/>
        </p:spPr>
      </p:sp>
      <p:sp>
        <p:nvSpPr>
          <p:cNvPr id="19" name="step-box"/>
          <p:cNvSpPr/>
          <p:nvPr/>
        </p:nvSpPr>
        <p:spPr>
          <a:xfrm>
            <a:off x="6301588" y="2655824"/>
            <a:ext cx="2464994" cy="2252980"/>
          </a:xfrm>
          <a:prstGeom prst="roundRect">
            <a:avLst>
              <a:gd name="adj" fmla="val 3247"/>
            </a:avLst>
          </a:prstGeom>
          <a:solidFill>
            <a:srgbClr val="FFFFFF"/>
          </a:solidFill>
          <a:ln w="15875">
            <a:solidFill>
              <a:srgbClr val="95AE9B"/>
            </a:solidFill>
            <a:prstDash val="solid"/>
          </a:ln>
        </p:spPr>
      </p:sp>
      <p:sp>
        <p:nvSpPr>
          <p:cNvPr id="20" name="step-hex"/>
          <p:cNvSpPr/>
          <p:nvPr/>
        </p:nvSpPr>
        <p:spPr>
          <a:xfrm>
            <a:off x="6438748" y="2765552"/>
            <a:ext cx="530352" cy="459285"/>
          </a:xfrm>
          <a:prstGeom prst="hexagon">
            <a:avLst/>
          </a:prstGeom>
          <a:solidFill>
            <a:srgbClr val="3F6B4A"/>
          </a:solidFill>
          <a:ln/>
        </p:spPr>
      </p:sp>
      <p:sp>
        <p:nvSpPr>
          <p:cNvPr id="21" name="step-hex-label"/>
          <p:cNvSpPr txBox="1"/>
          <p:nvPr/>
        </p:nvSpPr>
        <p:spPr>
          <a:xfrm>
            <a:off x="643874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step"/>
          <p:cNvSpPr txBox="1"/>
          <p:nvPr/>
        </p:nvSpPr>
        <p:spPr>
          <a:xfrm>
            <a:off x="6438748" y="3250184"/>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Multiply by 100 to turn it into a percentage: 0.8 × 100 = 80 %.</a:t>
            </a:r>
            <a:endParaRPr lang="en-US" sz="1800" dirty="0"/>
          </a:p>
        </p:txBody>
      </p:sp>
      <p:sp>
        <p:nvSpPr>
          <p:cNvPr id="23" name="arrow"/>
          <p:cNvSpPr/>
          <p:nvPr/>
        </p:nvSpPr>
        <p:spPr>
          <a:xfrm>
            <a:off x="8839733" y="3645154"/>
            <a:ext cx="274320" cy="274320"/>
          </a:xfrm>
          <a:prstGeom prst="rightArrow">
            <a:avLst/>
          </a:prstGeom>
          <a:solidFill>
            <a:srgbClr val="B8862B"/>
          </a:solidFill>
          <a:ln/>
        </p:spPr>
      </p:sp>
      <p:sp>
        <p:nvSpPr>
          <p:cNvPr id="24" name="step-box"/>
          <p:cNvSpPr/>
          <p:nvPr/>
        </p:nvSpPr>
        <p:spPr>
          <a:xfrm>
            <a:off x="9178061" y="2655824"/>
            <a:ext cx="2464994" cy="2252980"/>
          </a:xfrm>
          <a:prstGeom prst="roundRect">
            <a:avLst>
              <a:gd name="adj" fmla="val 3247"/>
            </a:avLst>
          </a:prstGeom>
          <a:solidFill>
            <a:srgbClr val="FFFFFF"/>
          </a:solidFill>
          <a:ln w="15875">
            <a:solidFill>
              <a:srgbClr val="95AE9B"/>
            </a:solidFill>
            <a:prstDash val="solid"/>
          </a:ln>
        </p:spPr>
      </p:sp>
      <p:sp>
        <p:nvSpPr>
          <p:cNvPr id="25" name="step-hex"/>
          <p:cNvSpPr/>
          <p:nvPr/>
        </p:nvSpPr>
        <p:spPr>
          <a:xfrm>
            <a:off x="9315221" y="2765552"/>
            <a:ext cx="530352" cy="459285"/>
          </a:xfrm>
          <a:prstGeom prst="hexagon">
            <a:avLst/>
          </a:prstGeom>
          <a:solidFill>
            <a:srgbClr val="3F6B4A"/>
          </a:solidFill>
          <a:ln/>
        </p:spPr>
      </p:sp>
      <p:sp>
        <p:nvSpPr>
          <p:cNvPr id="26" name="step-hex-label"/>
          <p:cNvSpPr txBox="1"/>
          <p:nvPr/>
        </p:nvSpPr>
        <p:spPr>
          <a:xfrm>
            <a:off x="9315221"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7" name="step"/>
          <p:cNvSpPr txBox="1"/>
          <p:nvPr/>
        </p:nvSpPr>
        <p:spPr>
          <a:xfrm>
            <a:off x="9315221" y="3250184"/>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Check it makes sense: 9000 is nearly double 5000, so an increase of a bit less than 100 % is right.</a:t>
            </a:r>
            <a:endParaRPr lang="en-US" sz="1800" dirty="0"/>
          </a:p>
        </p:txBody>
      </p:sp>
      <p:sp>
        <p:nvSpPr>
          <p:cNvPr id="28" name="worked-answer"/>
          <p:cNvSpPr/>
          <p:nvPr/>
        </p:nvSpPr>
        <p:spPr>
          <a:xfrm>
            <a:off x="1463040" y="5592572"/>
            <a:ext cx="9265615" cy="552196"/>
          </a:xfrm>
          <a:prstGeom prst="roundRect">
            <a:avLst>
              <a:gd name="adj" fmla="val 33119"/>
            </a:avLst>
          </a:prstGeom>
          <a:solidFill>
            <a:srgbClr val="EDE1CA"/>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80 % increase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The first four key words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key word to its meaning.</a:t>
            </a:r>
            <a:endParaRPr lang="en-US" sz="2400" dirty="0"/>
          </a:p>
        </p:txBody>
      </p:sp>
      <p:sp>
        <p:nvSpPr>
          <p:cNvPr id="11" name="match-card"/>
          <p:cNvSpPr/>
          <p:nvPr/>
        </p:nvSpPr>
        <p:spPr>
          <a:xfrm>
            <a:off x="777240" y="2468331"/>
            <a:ext cx="3081437" cy="804809"/>
          </a:xfrm>
          <a:prstGeom prst="roundRect">
            <a:avLst>
              <a:gd name="adj" fmla="val 9089"/>
            </a:avLst>
          </a:prstGeom>
          <a:solidFill>
            <a:srgbClr val="F0F3F1"/>
          </a:solidFill>
          <a:ln/>
        </p:spPr>
      </p:sp>
      <p:sp>
        <p:nvSpPr>
          <p:cNvPr id="12" name="match-hex"/>
          <p:cNvSpPr/>
          <p:nvPr/>
        </p:nvSpPr>
        <p:spPr>
          <a:xfrm>
            <a:off x="850392" y="2704443"/>
            <a:ext cx="384048" cy="332586"/>
          </a:xfrm>
          <a:prstGeom prst="hexagon">
            <a:avLst/>
          </a:prstGeom>
          <a:solidFill>
            <a:srgbClr val="3F6B4A"/>
          </a:solidFill>
          <a:ln/>
        </p:spPr>
      </p:sp>
      <p:sp>
        <p:nvSpPr>
          <p:cNvPr id="13" name="match-hex-label"/>
          <p:cNvSpPr txBox="1"/>
          <p:nvPr/>
        </p:nvSpPr>
        <p:spPr>
          <a:xfrm>
            <a:off x="850392" y="270444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2487077"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Resource</a:t>
            </a:r>
            <a:endParaRPr lang="en-US" sz="2000" dirty="0"/>
          </a:p>
        </p:txBody>
      </p:sp>
      <p:sp>
        <p:nvSpPr>
          <p:cNvPr id="15" name="match-card"/>
          <p:cNvSpPr/>
          <p:nvPr/>
        </p:nvSpPr>
        <p:spPr>
          <a:xfrm>
            <a:off x="4224437" y="2468331"/>
            <a:ext cx="7190019" cy="804809"/>
          </a:xfrm>
          <a:prstGeom prst="roundRect">
            <a:avLst>
              <a:gd name="adj" fmla="val 9089"/>
            </a:avLst>
          </a:prstGeom>
          <a:solidFill>
            <a:srgbClr val="F6F0E6"/>
          </a:solidFill>
          <a:ln/>
        </p:spPr>
      </p:sp>
      <p:sp>
        <p:nvSpPr>
          <p:cNvPr id="16" name="match-hex"/>
          <p:cNvSpPr/>
          <p:nvPr/>
        </p:nvSpPr>
        <p:spPr>
          <a:xfrm>
            <a:off x="4297589" y="2704443"/>
            <a:ext cx="384048" cy="332586"/>
          </a:xfrm>
          <a:prstGeom prst="hexagon">
            <a:avLst/>
          </a:prstGeom>
          <a:solidFill>
            <a:srgbClr val="B8862B"/>
          </a:solidFill>
          <a:ln/>
        </p:spPr>
      </p:sp>
      <p:sp>
        <p:nvSpPr>
          <p:cNvPr id="17" name="match-hex-label"/>
          <p:cNvSpPr txBox="1"/>
          <p:nvPr/>
        </p:nvSpPr>
        <p:spPr>
          <a:xfrm>
            <a:off x="4297589" y="270444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468331"/>
            <a:ext cx="6595659"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The progress of a country in economic growth, the use of technology and human welfare</a:t>
            </a:r>
            <a:endParaRPr lang="en-US" sz="2000" dirty="0"/>
          </a:p>
        </p:txBody>
      </p:sp>
      <p:sp>
        <p:nvSpPr>
          <p:cNvPr id="19" name="match-card"/>
          <p:cNvSpPr/>
          <p:nvPr/>
        </p:nvSpPr>
        <p:spPr>
          <a:xfrm>
            <a:off x="777240" y="3364581"/>
            <a:ext cx="3081437" cy="804809"/>
          </a:xfrm>
          <a:prstGeom prst="roundRect">
            <a:avLst>
              <a:gd name="adj" fmla="val 9089"/>
            </a:avLst>
          </a:prstGeom>
          <a:solidFill>
            <a:srgbClr val="F0F3F1"/>
          </a:solidFill>
          <a:ln/>
        </p:spPr>
      </p:sp>
      <p:sp>
        <p:nvSpPr>
          <p:cNvPr id="20" name="match-hex"/>
          <p:cNvSpPr/>
          <p:nvPr/>
        </p:nvSpPr>
        <p:spPr>
          <a:xfrm>
            <a:off x="850392" y="3600692"/>
            <a:ext cx="384048" cy="332586"/>
          </a:xfrm>
          <a:prstGeom prst="hexagon">
            <a:avLst/>
          </a:prstGeom>
          <a:solidFill>
            <a:srgbClr val="3F6B4A"/>
          </a:solidFill>
          <a:ln/>
        </p:spPr>
      </p:sp>
      <p:sp>
        <p:nvSpPr>
          <p:cNvPr id="21" name="match-hex-label"/>
          <p:cNvSpPr txBox="1"/>
          <p:nvPr/>
        </p:nvSpPr>
        <p:spPr>
          <a:xfrm>
            <a:off x="850392" y="360069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364581"/>
            <a:ext cx="2487077"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Resource management</a:t>
            </a:r>
            <a:endParaRPr lang="en-US" sz="2000" dirty="0"/>
          </a:p>
        </p:txBody>
      </p:sp>
      <p:sp>
        <p:nvSpPr>
          <p:cNvPr id="23" name="match-card"/>
          <p:cNvSpPr/>
          <p:nvPr/>
        </p:nvSpPr>
        <p:spPr>
          <a:xfrm>
            <a:off x="4224437" y="3364581"/>
            <a:ext cx="7190019" cy="804809"/>
          </a:xfrm>
          <a:prstGeom prst="roundRect">
            <a:avLst>
              <a:gd name="adj" fmla="val 9089"/>
            </a:avLst>
          </a:prstGeom>
          <a:solidFill>
            <a:srgbClr val="F6F0E6"/>
          </a:solidFill>
          <a:ln/>
        </p:spPr>
      </p:sp>
      <p:sp>
        <p:nvSpPr>
          <p:cNvPr id="24" name="match-hex"/>
          <p:cNvSpPr/>
          <p:nvPr/>
        </p:nvSpPr>
        <p:spPr>
          <a:xfrm>
            <a:off x="4297589" y="3600692"/>
            <a:ext cx="384048" cy="332586"/>
          </a:xfrm>
          <a:prstGeom prst="hexagon">
            <a:avLst/>
          </a:prstGeom>
          <a:solidFill>
            <a:srgbClr val="B8862B"/>
          </a:solidFill>
          <a:ln/>
        </p:spPr>
      </p:sp>
      <p:sp>
        <p:nvSpPr>
          <p:cNvPr id="25" name="match-hex-label"/>
          <p:cNvSpPr txBox="1"/>
          <p:nvPr/>
        </p:nvSpPr>
        <p:spPr>
          <a:xfrm>
            <a:off x="4297589" y="360069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364581"/>
            <a:ext cx="6595659"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 stock or supply of something that has a value or a purpose</a:t>
            </a:r>
            <a:endParaRPr lang="en-US" sz="2000" dirty="0"/>
          </a:p>
        </p:txBody>
      </p:sp>
      <p:sp>
        <p:nvSpPr>
          <p:cNvPr id="27" name="match-card"/>
          <p:cNvSpPr/>
          <p:nvPr/>
        </p:nvSpPr>
        <p:spPr>
          <a:xfrm>
            <a:off x="777240" y="4260830"/>
            <a:ext cx="3081437" cy="804809"/>
          </a:xfrm>
          <a:prstGeom prst="roundRect">
            <a:avLst>
              <a:gd name="adj" fmla="val 9089"/>
            </a:avLst>
          </a:prstGeom>
          <a:solidFill>
            <a:srgbClr val="F0F3F1"/>
          </a:solidFill>
          <a:ln/>
        </p:spPr>
      </p:sp>
      <p:sp>
        <p:nvSpPr>
          <p:cNvPr id="28" name="match-hex"/>
          <p:cNvSpPr/>
          <p:nvPr/>
        </p:nvSpPr>
        <p:spPr>
          <a:xfrm>
            <a:off x="850392" y="4496941"/>
            <a:ext cx="384048" cy="332586"/>
          </a:xfrm>
          <a:prstGeom prst="hexagon">
            <a:avLst/>
          </a:prstGeom>
          <a:solidFill>
            <a:srgbClr val="3F6B4A"/>
          </a:solidFill>
          <a:ln/>
        </p:spPr>
      </p:sp>
      <p:sp>
        <p:nvSpPr>
          <p:cNvPr id="29" name="match-hex-label"/>
          <p:cNvSpPr txBox="1"/>
          <p:nvPr/>
        </p:nvSpPr>
        <p:spPr>
          <a:xfrm>
            <a:off x="850392" y="449694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260830"/>
            <a:ext cx="2487077"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Renewable energy</a:t>
            </a:r>
            <a:endParaRPr lang="en-US" sz="2000" dirty="0"/>
          </a:p>
        </p:txBody>
      </p:sp>
      <p:sp>
        <p:nvSpPr>
          <p:cNvPr id="31" name="match-card"/>
          <p:cNvSpPr/>
          <p:nvPr/>
        </p:nvSpPr>
        <p:spPr>
          <a:xfrm>
            <a:off x="4224437" y="4260830"/>
            <a:ext cx="7190019" cy="804809"/>
          </a:xfrm>
          <a:prstGeom prst="roundRect">
            <a:avLst>
              <a:gd name="adj" fmla="val 9089"/>
            </a:avLst>
          </a:prstGeom>
          <a:solidFill>
            <a:srgbClr val="F6F0E6"/>
          </a:solidFill>
          <a:ln/>
        </p:spPr>
      </p:sp>
      <p:sp>
        <p:nvSpPr>
          <p:cNvPr id="32" name="match-hex"/>
          <p:cNvSpPr/>
          <p:nvPr/>
        </p:nvSpPr>
        <p:spPr>
          <a:xfrm>
            <a:off x="4297589" y="4496941"/>
            <a:ext cx="384048" cy="332586"/>
          </a:xfrm>
          <a:prstGeom prst="hexagon">
            <a:avLst/>
          </a:prstGeom>
          <a:solidFill>
            <a:srgbClr val="B8862B"/>
          </a:solidFill>
          <a:ln/>
        </p:spPr>
      </p:sp>
      <p:sp>
        <p:nvSpPr>
          <p:cNvPr id="33" name="match-hex-label"/>
          <p:cNvSpPr txBox="1"/>
          <p:nvPr/>
        </p:nvSpPr>
        <p:spPr>
          <a:xfrm>
            <a:off x="4297589" y="449694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4745645" y="4260830"/>
            <a:ext cx="6595659"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 source of energy that cannot be exhausted, such as wind, solar or tidal power</a:t>
            </a:r>
            <a:endParaRPr lang="en-US" sz="2000" dirty="0"/>
          </a:p>
        </p:txBody>
      </p:sp>
      <p:sp>
        <p:nvSpPr>
          <p:cNvPr id="35" name="match-card"/>
          <p:cNvSpPr/>
          <p:nvPr/>
        </p:nvSpPr>
        <p:spPr>
          <a:xfrm>
            <a:off x="777240" y="5157079"/>
            <a:ext cx="3081437" cy="804809"/>
          </a:xfrm>
          <a:prstGeom prst="roundRect">
            <a:avLst>
              <a:gd name="adj" fmla="val 9089"/>
            </a:avLst>
          </a:prstGeom>
          <a:solidFill>
            <a:srgbClr val="F0F3F1"/>
          </a:solidFill>
          <a:ln/>
        </p:spPr>
      </p:sp>
      <p:sp>
        <p:nvSpPr>
          <p:cNvPr id="36" name="match-hex"/>
          <p:cNvSpPr/>
          <p:nvPr/>
        </p:nvSpPr>
        <p:spPr>
          <a:xfrm>
            <a:off x="850392" y="5393191"/>
            <a:ext cx="384048" cy="332586"/>
          </a:xfrm>
          <a:prstGeom prst="hexagon">
            <a:avLst/>
          </a:prstGeom>
          <a:solidFill>
            <a:srgbClr val="3F6B4A"/>
          </a:solidFill>
          <a:ln/>
        </p:spPr>
      </p:sp>
      <p:sp>
        <p:nvSpPr>
          <p:cNvPr id="37" name="match-hex-label"/>
          <p:cNvSpPr txBox="1"/>
          <p:nvPr/>
        </p:nvSpPr>
        <p:spPr>
          <a:xfrm>
            <a:off x="850392" y="539319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5157079"/>
            <a:ext cx="2487077"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Development</a:t>
            </a:r>
            <a:endParaRPr lang="en-US" sz="2000" dirty="0"/>
          </a:p>
        </p:txBody>
      </p:sp>
      <p:sp>
        <p:nvSpPr>
          <p:cNvPr id="39" name="match-card"/>
          <p:cNvSpPr/>
          <p:nvPr/>
        </p:nvSpPr>
        <p:spPr>
          <a:xfrm>
            <a:off x="4224437" y="5157079"/>
            <a:ext cx="7190019" cy="804809"/>
          </a:xfrm>
          <a:prstGeom prst="roundRect">
            <a:avLst>
              <a:gd name="adj" fmla="val 9089"/>
            </a:avLst>
          </a:prstGeom>
          <a:solidFill>
            <a:srgbClr val="F6F0E6"/>
          </a:solidFill>
          <a:ln/>
        </p:spPr>
      </p:sp>
      <p:sp>
        <p:nvSpPr>
          <p:cNvPr id="40" name="match-hex"/>
          <p:cNvSpPr/>
          <p:nvPr/>
        </p:nvSpPr>
        <p:spPr>
          <a:xfrm>
            <a:off x="4297589" y="5393191"/>
            <a:ext cx="384048" cy="332586"/>
          </a:xfrm>
          <a:prstGeom prst="hexagon">
            <a:avLst/>
          </a:prstGeom>
          <a:solidFill>
            <a:srgbClr val="B8862B"/>
          </a:solidFill>
          <a:ln/>
        </p:spPr>
      </p:sp>
      <p:sp>
        <p:nvSpPr>
          <p:cNvPr id="41" name="match-hex-label"/>
          <p:cNvSpPr txBox="1"/>
          <p:nvPr/>
        </p:nvSpPr>
        <p:spPr>
          <a:xfrm>
            <a:off x="4297589" y="539319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4745645" y="5157079"/>
            <a:ext cx="6595659"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Controlling and monitoring resources so that they do not become exhausted</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3F6B4A"/>
                </a:solidFill>
                <a:latin typeface="Cambria" pitchFamily="34" charset="0"/>
                <a:ea typeface="Cambria" pitchFamily="34" charset="-122"/>
                <a:cs typeface="Cambria" pitchFamily="34" charset="-120"/>
              </a:rPr>
              <a:t>Same task, three ways in: The first four key words</a:t>
            </a:r>
            <a:endParaRPr lang="en-US" sz="30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The first four key words</a:t>
            </a:r>
            <a:endParaRPr lang="en-US" sz="2000" dirty="0"/>
          </a:p>
        </p:txBody>
      </p:sp>
      <p:sp>
        <p:nvSpPr>
          <p:cNvPr id="12" name="col-Support"/>
          <p:cNvSpPr/>
          <p:nvPr/>
        </p:nvSpPr>
        <p:spPr>
          <a:xfrm>
            <a:off x="548640" y="2395728"/>
            <a:ext cx="4667802" cy="3749040"/>
          </a:xfrm>
          <a:prstGeom prst="roundRect">
            <a:avLst>
              <a:gd name="adj" fmla="val 1463"/>
            </a:avLst>
          </a:prstGeom>
          <a:solidFill>
            <a:srgbClr val="ECF0ED"/>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Start with the word you know best. A resource is a supply of something useful.</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Management means looking after something. Which meaning is about looking after resources?</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Renewable means it can be renewed, so it never runs out. Which meaning says that?</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meaning left over is about a whole country making progress.</a:t>
            </a:r>
            <a:endParaRPr lang="en-US" sz="1800" dirty="0"/>
          </a:p>
        </p:txBody>
      </p:sp>
      <p:sp>
        <p:nvSpPr>
          <p:cNvPr id="17" name="col-Core"/>
          <p:cNvSpPr/>
          <p:nvPr/>
        </p:nvSpPr>
        <p:spPr>
          <a:xfrm>
            <a:off x="5490762" y="2395728"/>
            <a:ext cx="2938987" cy="3749040"/>
          </a:xfrm>
          <a:prstGeom prst="roundRect">
            <a:avLst>
              <a:gd name="adj" fmla="val 1867"/>
            </a:avLst>
          </a:prstGeom>
          <a:solidFill>
            <a:srgbClr val="D5DED7"/>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Two of the meanings are about resources themselves, one is about looking after them, and one is about a country.</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3F6B4A"/>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in two sentences, why good resource management is more urgent for finite resources than for renewable ones.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Working out a percentage increase</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A graph of global energy consumption shows 5000 units in 1970 and 9000 units in 2012. What is the percentage increase from 1970 to 2012?</a:t>
            </a:r>
            <a:endParaRPr lang="en-US" sz="2600" dirty="0"/>
          </a:p>
          <a:p>
            <a:pPr algn="ctr" indent="0" marL="0">
              <a:buNone/>
            </a:pPr>
            <a:r>
              <a:rPr lang="en-US" sz="2400" b="1" dirty="0">
                <a:solidFill>
                  <a:srgbClr val="3F6B4A"/>
                </a:solidFill>
                <a:latin typeface="Calibri" pitchFamily="34" charset="0"/>
                <a:ea typeface="Calibri" pitchFamily="34" charset="-122"/>
                <a:cs typeface="Calibri" pitchFamily="34" charset="-120"/>
              </a:rPr>
              <a:t>Answer:  </a:t>
            </a:r>
            <a:pPr algn="ctr" indent="0" marL="0">
              <a:buNone/>
            </a:pPr>
            <a:r>
              <a:rPr lang="en-US" sz="2400" dirty="0">
                <a:solidFill>
                  <a:srgbClr val="1E2229"/>
                </a:solidFill>
                <a:latin typeface="Calibri" pitchFamily="34" charset="0"/>
                <a:ea typeface="Calibri" pitchFamily="34" charset="-122"/>
                <a:cs typeface="Calibri" pitchFamily="34" charset="-120"/>
              </a:rPr>
              <a:t>__________ %</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3F6B4A"/>
                </a:solidFill>
                <a:latin typeface="Cambria" pitchFamily="34" charset="0"/>
                <a:ea typeface="Cambria" pitchFamily="34" charset="-122"/>
                <a:cs typeface="Cambria" pitchFamily="34" charset="-120"/>
              </a:rPr>
              <a:t>Same task, three ways in: Working out a percentage increase</a:t>
            </a:r>
            <a:endParaRPr lang="en-US" sz="24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Working out a percentage increase</a:t>
            </a:r>
            <a:endParaRPr lang="en-US" sz="2000" dirty="0"/>
          </a:p>
        </p:txBody>
      </p:sp>
      <p:sp>
        <p:nvSpPr>
          <p:cNvPr id="12" name="col-Support"/>
          <p:cNvSpPr/>
          <p:nvPr/>
        </p:nvSpPr>
        <p:spPr>
          <a:xfrm>
            <a:off x="548640" y="2395728"/>
            <a:ext cx="3515258" cy="3749040"/>
          </a:xfrm>
          <a:prstGeom prst="roundRect">
            <a:avLst>
              <a:gd name="adj" fmla="val 1561"/>
            </a:avLst>
          </a:prstGeom>
          <a:solidFill>
            <a:srgbClr val="ECF0ED"/>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2783738"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3240938"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Subtract to find the increase: new value − old value.</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Divide the increase by the OLD (1970) value.</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Multiply by 100 to make it a percentage.</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Sanity check: if the new value is nearly double, the increase should be nearly 100 %.</a:t>
            </a:r>
            <a:endParaRPr lang="en-US" sz="1800" dirty="0"/>
          </a:p>
        </p:txBody>
      </p:sp>
      <p:sp>
        <p:nvSpPr>
          <p:cNvPr id="17" name="col-Core"/>
          <p:cNvSpPr/>
          <p:nvPr/>
        </p:nvSpPr>
        <p:spPr>
          <a:xfrm>
            <a:off x="4338218" y="2395728"/>
            <a:ext cx="3515258" cy="3749040"/>
          </a:xfrm>
          <a:prstGeom prst="roundRect">
            <a:avLst>
              <a:gd name="adj" fmla="val 1561"/>
            </a:avLst>
          </a:prstGeom>
          <a:solidFill>
            <a:srgbClr val="D5DED7"/>
          </a:solidFill>
          <a:ln/>
        </p:spPr>
      </p:sp>
      <p:sp>
        <p:nvSpPr>
          <p:cNvPr id="18" name="col-hex"/>
          <p:cNvSpPr/>
          <p:nvPr/>
        </p:nvSpPr>
        <p:spPr>
          <a:xfrm>
            <a:off x="4447946"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432304"/>
            <a:ext cx="2783738"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035808"/>
            <a:ext cx="3240938" cy="299923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Increase ÷ original × 100. The original is the earlier year.</a:t>
            </a:r>
            <a:endParaRPr lang="en-US" sz="1800" dirty="0"/>
          </a:p>
        </p:txBody>
      </p:sp>
      <p:sp>
        <p:nvSpPr>
          <p:cNvPr id="22" name="col-Stretch"/>
          <p:cNvSpPr/>
          <p:nvPr/>
        </p:nvSpPr>
        <p:spPr>
          <a:xfrm>
            <a:off x="8127797" y="2395728"/>
            <a:ext cx="3515258" cy="3749040"/>
          </a:xfrm>
          <a:prstGeom prst="roundRect">
            <a:avLst>
              <a:gd name="adj" fmla="val 1561"/>
            </a:avLst>
          </a:prstGeom>
          <a:solidFill>
            <a:srgbClr val="3F6B4A"/>
          </a:solidFill>
          <a:ln/>
        </p:spPr>
      </p:sp>
      <p:sp>
        <p:nvSpPr>
          <p:cNvPr id="23" name="col-hex"/>
          <p:cNvSpPr/>
          <p:nvPr/>
        </p:nvSpPr>
        <p:spPr>
          <a:xfrm>
            <a:off x="8237525"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432304"/>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035808"/>
            <a:ext cx="3240938"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The lesson's own figure for water use per house was a 70 % rise over 30 years. If a house used 100 litres a day 30 years ago, how much does it use now? Then explain why the real figures in a graph need the same method.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3F6B4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3F6B4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615184"/>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Which three resources did the lesson call the most important for a country to develop?</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Gold, oil and diamonds</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Food, water and energy</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Wood, iron and fish</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Land, sunshine and coal</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2F5F2"/>
          </a:solidFill>
          <a:ln w="12700">
            <a:solidFill>
              <a:srgbClr val="9FB5A5"/>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The first four key words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Resource  →  B  A stock or supply of something that has a value or a purpose</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Resource management  →  D  Controlling and monitoring resources so that they do not become exhausted</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Renewable energy  →  C  A source of energy that cannot be exhausted, such as wind, solar or tidal power</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Development  →  A  The progress of a country in economic growth, the use of technology and human welfare</a:t>
            </a:r>
            <a:endParaRPr lang="en-US" sz="1800" dirty="0"/>
          </a:p>
        </p:txBody>
      </p:sp>
      <p:sp>
        <p:nvSpPr>
          <p:cNvPr id="10" name="why-panel"/>
          <p:cNvSpPr/>
          <p:nvPr/>
        </p:nvSpPr>
        <p:spPr>
          <a:xfrm>
            <a:off x="7223760" y="1389888"/>
            <a:ext cx="4419295" cy="4754880"/>
          </a:xfrm>
          <a:prstGeom prst="roundRect">
            <a:avLst>
              <a:gd name="adj" fmla="val 1035"/>
            </a:avLst>
          </a:prstGeom>
          <a:solidFill>
            <a:srgbClr val="ECF0ED"/>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A resource is a stock or supply with a value or purpose; resource management keeps resources from being exhausted; renewable energy such as wind, solar and tidal cannot be used up; development is a country's progress in economic growth, technology and human welfare.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Working out a percentage increase</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graph of global energy consumption shows 5000 units in 1970 and 9000 units in 2012. What is the percentage increase from 1970 to 2012?</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80 %</a:t>
            </a:r>
            <a:endParaRPr lang="en-US" sz="1800" dirty="0"/>
          </a:p>
        </p:txBody>
      </p:sp>
      <p:sp>
        <p:nvSpPr>
          <p:cNvPr id="10" name="why-panel"/>
          <p:cNvSpPr/>
          <p:nvPr/>
        </p:nvSpPr>
        <p:spPr>
          <a:xfrm>
            <a:off x="7223760" y="1389888"/>
            <a:ext cx="4419295" cy="4754880"/>
          </a:xfrm>
          <a:prstGeom prst="roundRect">
            <a:avLst>
              <a:gd name="adj" fmla="val 1035"/>
            </a:avLst>
          </a:prstGeom>
          <a:solidFill>
            <a:srgbClr val="ECF0ED"/>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Percentage increase compares the change with where you started. 4000 extra units on an original 5000 is 0.8 of the original, which is 80 %.</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Which three resources did the lesson call the most important for a country to develop?</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B   Food, water and energy</a:t>
            </a:r>
            <a:endParaRPr lang="en-US" sz="1800" dirty="0"/>
          </a:p>
        </p:txBody>
      </p:sp>
      <p:sp>
        <p:nvSpPr>
          <p:cNvPr id="10" name="why-panel"/>
          <p:cNvSpPr/>
          <p:nvPr/>
        </p:nvSpPr>
        <p:spPr>
          <a:xfrm>
            <a:off x="7223760" y="1389888"/>
            <a:ext cx="4419295" cy="4754880"/>
          </a:xfrm>
          <a:prstGeom prst="roundRect">
            <a:avLst>
              <a:gd name="adj" fmla="val 1035"/>
            </a:avLst>
          </a:prstGeom>
          <a:solidFill>
            <a:srgbClr val="ECF0ED"/>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resource is a stock or supply of something with a value or purpose; food, water and energy are the three that every country needs adequate supplies of in order to develop.</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Ad Astra geography">
  <a:themeElements>
    <a:clrScheme name="Ad Astra geography">
      <a:dk1>
        <a:srgbClr val="1E2229"/>
      </a:dk1>
      <a:lt1>
        <a:srgbClr val="FFFFFF"/>
      </a:lt1>
      <a:dk2>
        <a:srgbClr val="32563B"/>
      </a:dk2>
      <a:lt2>
        <a:srgbClr val="ECF0ED"/>
      </a:lt2>
      <a:accent1>
        <a:srgbClr val="3F6B4A"/>
      </a:accent1>
      <a:accent2>
        <a:srgbClr val="B8862B"/>
      </a:accent2>
      <a:accent3>
        <a:srgbClr val="8CA692"/>
      </a:accent3>
      <a:accent4>
        <a:srgbClr val="815E1E"/>
      </a:accent4>
      <a:accent5>
        <a:srgbClr val="4A505C"/>
      </a:accent5>
      <a:accent6>
        <a:srgbClr val="DCC395"/>
      </a:accent6>
      <a:hlink>
        <a:srgbClr val="3F6B4A"/>
      </a:hlink>
      <a:folHlink>
        <a:srgbClr val="2C4B34"/>
      </a:folHlink>
    </a:clrScheme>
    <a:fontScheme name="Ad Astra geograph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Challenge of Resource Management · Chapter 1: Food, water and energy: the resources every country needs</dc:title>
  <dc:subject>Geography · Year 9</dc:subject>
  <dc:creator>Dr Vitor Merissi de Carvalho</dc:creator>
  <cp:lastModifiedBy>Dr Vitor Merissi de Carvalho</cp:lastModifiedBy>
  <cp:revision>1</cp:revision>
  <dcterms:created xsi:type="dcterms:W3CDTF">2026-10-19T16:22:54Z</dcterms:created>
  <dcterms:modified xsi:type="dcterms:W3CDTF">2026-10-19T16:22:54Z</dcterms:modified>
</cp:coreProperties>
</file>