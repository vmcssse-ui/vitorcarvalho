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fb027cf-38e4-4cc8-7627-a19ee5d541d0}">
          <p14:sldIdLst>
            <p14:sldId id="256"/>
          </p14:sldIdLst>
        </p14:section>
        <p14:section name="Gate" id="{7739a264-5bf2-bc5a-f6c4-7ca6adda9eac}">
          <p14:sldIdLst>
            <p14:sldId id="257"/>
            <p14:sldId id="258"/>
          </p14:sldIdLst>
        </p14:section>
        <p14:section name="Pre-teach" id="{a953e25b-243d-1934-15f0-183ed320bf66}">
          <p14:sldIdLst>
            <p14:sldId id="259"/>
            <p14:sldId id="260"/>
          </p14:sldIdLst>
        </p14:section>
        <p14:section name="Read-along" id="{efd29ad6-4218-72ee-2da4-c28673dcb233}">
          <p14:sldIdLst>
            <p14:sldId id="261"/>
            <p14:sldId id="262"/>
          </p14:sldIdLst>
        </p14:section>
        <p14:section name="Teach" id="{500b7ca8-7f41-96c3-7d40-3ba235783383}">
          <p14:sldIdLst>
            <p14:sldId id="263"/>
            <p14:sldId id="264"/>
            <p14:sldId id="265"/>
            <p14:sldId id="266"/>
            <p14:sldId id="267"/>
            <p14:sldId id="268"/>
          </p14:sldIdLst>
        </p14:section>
        <p14:section name="Routes" id="{6ab1a2d8-07e7-81b1-dc43-66d44c8f6821}">
          <p14:sldIdLst>
            <p14:sldId id="269"/>
            <p14:sldId id="270"/>
            <p14:sldId id="271"/>
            <p14:sldId id="272"/>
          </p14:sldIdLst>
        </p14:section>
        <p14:section name="Close" id="{6751a9e6-85eb-4842-c8e3-e7c913764505}">
          <p14:sldIdLst>
            <p14:sldId id="273"/>
          </p14:sldIdLst>
        </p14:section>
        <p14:section name="Answers" id="{33ff573c-53fb-598f-f126-bc1751e57913}">
          <p14:sldIdLst>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3 of 6: Energy security and the world's unequal energy. What energy security, surplus and insecurity mean, how the UK's energy mix is changing, how three kinds of map show who produces and consumes the world's energy, and why some countries cannot rely on their supply.
This deck covers the department's lessons: 5 (Energy security and the UK's changing energy mix: What do energy security, surplus and insecurity mean, and how has the UK's energy mix changed?); 7 (Global energy production and consumption; the causes of energy insecurity: How do choropleth maps, proportional circles and pictograms show global energy inequality, and why do some countries suffer energy insecurity?).
Read the big question aloud: "Can the world supply enough food, water and energy for everyone without using up the planet, and how should the UK manage its own supply?"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Energy ___ means having a reliable, uninterrupted and affordable supply of energy.  →  security
2. On a proportional circle map, what does the size of each circle show?  →  D   The amount being measured at that place, such as oil produced per day
3. On the pictogram each barrel symbol stands for 1,000,000 barrels of oil per day. A row shows 6 whole barrels. How many barrels of oil per day is that?  →  6 000 000 barrels per day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security. The lesson's definition: energy security is a reliable, uninterrupted and affordable supply.
2. D   The amount being measured at that place, such as oil produced per day. Proportional means in proportion: the bigger the amount, the bigger the circle. On the oil map the biggest circles sat over the biggest producers.
3. 6 000 000 barrels per day. 6 symbols × 1,000,000 barrels each = 6,000,000 barrels of oil per day.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energy security: having a reliable, uninterrupted and affordable supply of energy. Example: "A country with its own gas fields has more energy security."
• energy mix: the range of energy sources a country uses and the share of each. Example: "The UK's energy mix includes gas, nuclear, wind and solar."
• choropleth map: a map that shades areas darker where the value is higher. Example: "The choropleth map shaded the highest energy users dark red."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proportional circle: a circle on a map whose size shows the amount at that place. Example: "The biggest proportional circle sat over the biggest oil producer."
• pictogram: a chart that uses repeated picture symbols, each standing for a fixed amount. Example: "On the pictogram, each barrel stood for a million barrels of oil a day."
• fossil fuel: coal, oil or gas, formed from ancient plants and animals, that releases carbon dioxide when burnt. Example: "Oil is a fossil fuel that will one day run out."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Energy security means having a reliable, uninterrupted and affordable supply of energy.
2. A country has an energy surplus when its supply is greater than its demand.
3. It has energy insecurity when demand is greater than what it can produce.
4. A country's energy mix is the range of sources it uses, like gas, coal, nuclear and wind.
5. The UK's mix has changed over time, and a pie chart shows each source's share.
6. World energy consumption is unevenly distributed.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A choropleth map shades the biggest consumers darkest.
8. A proportional circle map draws bigger circles for bigger oil producers.
9. A pictogram uses barrel symbols, each standing for one million barrels of oil a day.
10. In 2008 the top five oil consumers were the United States, China, Japan, India and Russia.
11. Energy insecurity has economic, physical, political and technological causes.
12. Global energy consumption keeps increasing as the world develops.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Security, surplus and insecurity. Say it in your own words, then check understanding with a quick question: ask a pupil from the pre-teach group first, since they met these words and ideas before the lesson. Pupils try to recall before you re-explain.
Three key words run through the rest of this unit. Energy security means having a reliable, uninterrupted and affordable supply of energy: the lights come on, the factories run and nobody is priced out of heating their home. A country has an energy surplus when its supply exceeds its demand, so it can store or sell the extra. It suffers energy insecurity when demand exceeds what it can produce, so it has to import energy, pay whatever the price is, and hope the supply is not cut off.
Why is global energy consumption increasing? Three things are happening at once. The world's population is growing, so there are more people to heat, feed and move. Countries are developing, so more people own cars, fridges, phones and air conditioning, and more factories are built. And technology spreads: a device that only the richest owned thirty years ago is now in billions of homes. Supply has to keep up, and the factors that affect it (reserves of fossil fuels, the weather for renewables, the price of fuel, politics and technology) do not always cooperate.
Tip: Security, surplus, insecurity: all three are about the balance between supply and demand. Say which is bigger in your definition.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UK's changing energy mix. Say it in your own words, then check understanding with a quick question: ask a pupil from the pre-teach group first, since they met these words and ideas before the lesson. Pupils try to recall before you re-explain.
A country's energy mix is the range of sources it uses and the share each contributes. The lesson asked you to describe three pie charts of the UK's energy mix in three different years and then compare them. The skill is the same for any set of pie charts. Describe each chart on its own first: name the biggest slice, the smallest slice and any slices that are roughly equal. Then compare across the charts: which slices have grown, which have shrunk, and which new slices have appeared. Finish with a sentence that sums up the overall change.
The pattern your Year 7 work prepared you for is a mix still dominated by fossil fuels but with a growing share of renewable energy. The UK's own supplies of coal, oil and gas have declined, so the country imports more and has turned to wind, solar and other renewables. Use the actual figures from your three pie charts when you write about them; the numbers are what turn a description into evidence.
Worked example — model it step by step, thinking aloud: How do you structure a paragraph that compares three pie charts of a country's energy mix? (1) Chart by chart: for each year, name the largest source and its share, then the smallest. (2) Across the charts: pick one source and track it, saying whether its share rose or fell and by how much. (3) Repeat for a second source that moved the other way. (4) Sum up in one sentence: the mix has moved from X towards Y. (5) Stretch: suggest a reason for the change, such as cheaper renewables or declining reserves. Answer: Describe each chart (largest and smallest slice), compare a rising source and a falling source across the years with figures, then summarise the overall shift in one sentence..
Tip: Compare means say how they are alike and how they differ. Use words like whereas, increased from, fell to, and quote the figures.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UK's changing energy mix. Say it in your own words, then check understanding with a quick question: ask a pupil from the pre-teach group first, since they met these words and ideas before the lesson. Pupils try to recall before you re-explain.
A country's energy mix is the range of sources it uses and the share each contributes. The lesson asked you to describe three pie charts of the UK's energy mix in three different years and then compare them. The skill is the same for any set of pie charts. Describe each chart on its own first: name the biggest slice, the smallest slice and any slices that are roughly equal. Then compare across the charts: which slices have grown, which have shrunk, and which new slices have appeared. Finish with a sentence that sums up the overall change.
The pattern your Year 7 work prepared you for is a mix still dominated by fossil fuels but with a growing share of renewable energy. The UK's own supplies of coal, oil and gas have declined, so the country imports more and has turned to wind, solar and other renewables. Use the actual figures from your three pie charts when you write about them; the numbers are what turn a description into evidence.
Worked example — model it step by step, thinking aloud: How do you structure a paragraph that compares three pie charts of a country's energy mix? (1) Chart by chart: for each year, name the largest source and its share, then the smallest. (2) Across the charts: pick one source and track it, saying whether its share rose or fell and by how much. (3) Repeat for a second source that moved the other way. (4) Sum up in one sentence: the mix has moved from X towards Y. (5) Stretch: suggest a reason for the change, such as cheaper renewables or declining reserves. Answer: Describe each chart (largest and smallest slice), compare a rising source and a falling source across the years with figures, then summarise the overall shift in one sentence..
Tip: Compare means say how they are alike and how they differ. Use words like whereas, increased from, fell to, and quote the figures.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Three maps of the world's energy. Say it in your own words, then check understanding with a quick question: ask a pupil from the pre-teach group first, since they met these words and ideas before the lesson. Pupils try to recall before you re-explain.
World energy consumption is unevenly distributed, and the lesson used three kinds of map or graph to show it. A choropleth map shades each country according to a category, with darker shading for higher values; the energy consumption map shaded the highest consumers darkest. It is useful because the pattern jumps out at a glance, but it can be misleading: a whole country gets one colour even if its regions differ, and a large country looks important simply because it covers more of the map.
A proportional circle map draws a circle over each place, sized in proportion to the amount being measured. The lesson's map of the major oil producers in 2009 used five size classes measured in thousands of barrels per day: less than 500; 500 to 1,500; 1,500 to 4,000; 4,000 to 8,000; and more than 8,000. Circles show exact places and amounts, but they can overlap and hide each other, and the eye is poor at judging how much bigger one circle is than another.
A pictogram uses a repeated picture symbol, each standing for a fixed amount. The lesson's pictogram compared oil consumption and oil production in 2008 for the top five oil-consuming countries, the United States, China, Japan, India and Russia, with each barrel symbol standing for 1,000,000 barrels of oil per day. Pictograms are easy to read and compare, but half a symbol is hard to judge, and they show totals for a country rather than how much each person uses.
Worked example — model it step by step, thinking aloud: On the pictogram each barrel symbol stands for 1,000,000 barrels of oil per day. A country's row shows eight and a half barrels. How much oil does it consume per day? (1) Count the symbols, including the part symbol: 8.5. (2) Multiply by the value of one symbol: 8.5 × 1,000,000. (3) 8.5 × 1,000,000 = 8,500,000 barrels per day. (4) Write the units: barrels of oil per day. Answer: 8,500,000 barrels of oil per day.
Tip: Every map question needs the key. Say what the shading, the circle size or the symbol stands for before you describe the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Three maps of the world's energy. Say it in your own words, then check understanding with a quick question: ask a pupil from the pre-teach group first, since they met these words and ideas before the lesson. Pupils try to recall before you re-explain.
World energy consumption is unevenly distributed, and the lesson used three kinds of map or graph to show it. A choropleth map shades each country according to a category, with darker shading for higher values; the energy consumption map shaded the highest consumers darkest. It is useful because the pattern jumps out at a glance, but it can be misleading: a whole country gets one colour even if its regions differ, and a large country looks important simply because it covers more of the map.
A proportional circle map draws a circle over each place, sized in proportion to the amount being measured. The lesson's map of the major oil producers in 2009 used five size classes measured in thousands of barrels per day: less than 500; 500 to 1,500; 1,500 to 4,000; 4,000 to 8,000; and more than 8,000. Circles show exact places and amounts, but they can overlap and hide each other, and the eye is poor at judging how much bigger one circle is than another.
A pictogram uses a repeated picture symbol, each standing for a fixed amount. The lesson's pictogram compared oil consumption and oil production in 2008 for the top five oil-consuming countries, the United States, China, Japan, India and Russia, with each barrel symbol standing for 1,000,000 barrels of oil per day. Pictograms are easy to read and compare, but half a symbol is hard to judge, and they show totals for a country rather than how much each person uses.
Worked example — model it step by step, thinking aloud: On the pictogram each barrel symbol stands for 1,000,000 barrels of oil per day. A country's row shows eight and a half barrels. How much oil does it consume per day? (1) Count the symbols, including the part symbol: 8.5. (2) Multiply by the value of one symbol: 8.5 × 1,000,000. (3) 8.5 × 1,000,000 = 8,500,000 barrels per day. (4) Write the units: barrels of oil per day. Answer: 8,500,000 barrels of oil per day.
Tip: Every map question needs the key. Say what the shading, the circle size or the symbol stands for before you describe the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Why do some countries suffer energy insecurity?. Say it in your own words, then check understanding with a quick question: ask a pupil from the pre-teach group first, since they met these words and ideas before the lesson. Pupils try to recall before you re-explain.
The lesson sorted the causes of energy insecurity under four headings. Physical causes are about what nature gave a country: it may have no coal, oil or gas of its own, little sunshine or wind, or no rivers suitable for hydro-electric power; a natural disaster can also wreck power stations and pipelines. Economic causes are about money: a poor country may not be able to afford to import fuel or to build power stations, and when the world price of oil rises it is the poorest buyers who go without.
Political causes are about people and governments: war, unstable government or a dispute with a neighbouring country can cut off a pipeline or stop imports, and a country that depends on one supplier is at that supplier's mercy. Technological causes are about know-how: a country may have fuel beneath its soil but lack the technology to extract it, or the engineers and grid to distribute electricity once it is made. Most insecure countries suffer from several causes at once.
A four-mark describe or explain question on this topic wants two causes, each developed. Name the cause, say which heading it belongs under, and explain how it leaves the country short of reliable, affordable energy.
Tip: PEPT: Physical, Economic, Political, Technological. Two developed causes earn four marks; a list of four undeveloped ones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Which energy word?.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country produces more energy than its homes and industries use. Which term describes its situation?
Support — work through the steps with the group: (1) Ask: is supply bigger than demand, or smaller? (2) Here the country produces MORE than it uses, so supply is bigger. (3) Supply bigger than demand is a surplus; demand bigger than supply is insecurity. (4) Energy mix is about the TYPES of energy, not the amount, so rule it out.
Parallel worked example for Support (model it, do not give the task answer): A country has to import most of its fuel and its power cuts out when prices rise. Which term fits: energy surplus or energy insecurity? Demand is greater than what it can produce.; That is insecurity.. Answer: Energy insecurity: demand exceeds its own production, so the supply is unreliable and unaffordable..
Core — reveal the hint only on request: Surplus = supply greater than demand. Insecurity = demand greater than production.
Stretch — no help; when finished: Explain why a country with an energy surplus from a single source, such as oil, might still worry about its long-term energy security.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Which energy word?.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country produces more energy than its homes and industries use. Which term describes its situation?
Support — work through the steps with the group: (1) Ask: is supply bigger than demand, or smaller? (2) Here the country produces MORE than it uses, so supply is bigger. (3) Supply bigger than demand is a surplus; demand bigger than supply is insecurity. (4) Energy mix is about the TYPES of energy, not the amount, so rule it out.
Parallel worked example for Support (model it, do not give the task answer): A country has to import most of its fuel and its power cuts out when prices rise. Which term fits: energy surplus or energy insecurity? Demand is greater than what it can produce.; That is insecurity.. Answer: Energy insecurity: demand exceeds its own production, so the supply is unreliable and unaffordable..
Core — reveal the hint only on request: Surplus = supply greater than demand. Insecurity = demand greater than production.
Stretch — no help; when finished: Explain why a country with an energy surplus from a single source, such as oil, might still worry about its long-term energy security.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Three ways to map the world's energy.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type of map or chart to how it shows the data.
Support — work through the steps with the group: (1) Picto means picture: which description mentions picture symbols? (2) Proportional means in proportion: which description is about size matching amount? (3) The one left is the shaded map. Choropleth maps always use shading.
Parallel worked example for Support (model it, do not give the task answer): Match: flow line map, line graph. Choices: a line that rises and falls to show change over time; lines joining origin and destination, with width showing the amount moved. Flow lines join places and their width shows the flow.; A line graph shows change over time.. Answer: Flow line map: lines joining origin and destination with width showing amount. Line graph: a line showing change over time..
Core — reveal the hint only on request: Shading, circle size, repeated symbols: one each.
Stretch — no help; when finished: For each of the three, give one way it can be misleading, and say which you would choose to show energy consumption PER PERSON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Three ways to map the world's energy.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type of map or chart to how it shows the data.
Support — work through the steps with the group: (1) Picto means picture: which description mentions picture symbols? (2) Proportional means in proportion: which description is about size matching amount? (3) The one left is the shaded map. Choropleth maps always use shading.
Parallel worked example for Support (model it, do not give the task answer): Match: flow line map, line graph. Choices: a line that rises and falls to show change over time; lines joining origin and destination, with width showing the amount moved. Flow lines join places and their width shows the flow.; A line graph shows change over time.. Answer: Flow line map: lines joining origin and destination with width showing amount. Line graph: a line showing change over time..
Core — reveal the hint only on request: Shading, circle size, repeated symbols: one each.
Stretch — no help; when finished: For each of the three, give one way it can be misleading, and say which you would choose to show energy consumption PER PERSON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Energy ___ means having a reliable, uninterrupted and affordable supply of energy.
Answer: Energy security means having a reliable, uninterrupted and affordable supply of energy.. The lesson's definition: energy security is a reliable, uninterrupted and affordable supply.
Source of this question: gate item 1 re-asked (options rotated) — this chapter has no third quick-check module.
The ebook also holds task 3, "Two causes of energy insecurity",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Which energy word?. Reveal the answer; pupils mark their own work in a different colour, then read the "why" together. Same destination for every lane, so one answer serves the whole class.
Answer: C   Energy surplus
Why: Supply exceeds demand, which is the definition of an energy surplus. Insecurity and deficit both mean shortage, and the energy mix describes the types of energy used, not the balance.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Three ways to map the world's energy. Reveal the answer; pupils mark their own work in a different colour, then read the "why" together. Same destination for every lane, so one answer serves the whole class.
Answer: Choropleth map  →  C  Each country is shaded, with darker colours for higher values; Proportional circle map  →  B  A circle is drawn at each place, sized in proportion to the amount; Pictogram  →  A  Repeated picture symbols, each standing for a fixed amount such as 1,000,000 barrels a day
Why: Choropleth maps shade areas by category; proportional circle maps size a circle to the amount; pictograms repeat a symbol worth a fixed amount. Each shows the same uneven pattern in a different way.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Energy security means having a reliable, uninterrupted and affordable supply of energy.
Why: The lesson's definition: energy security is a reliable, uninterrupted and affordable supply.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DCE4DE"/>
          </a:solidFill>
          <a:ln w="12700">
            <a:solidFill>
              <a:srgbClr val="DCE4D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9 · The Challenge of Resource Management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8F7F4"/>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DCE4DE"/>
          </a:solidFill>
          <a:ln w="12700">
            <a:solidFill>
              <a:srgbClr val="DCE4D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9 · The Challenge of Resource Management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9E1DB"/>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3</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9</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3/6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Challenge of Resource Management · AQA 8035</a:t>
            </a:r>
            <a:endParaRPr lang="en-US" sz="1800" dirty="0"/>
          </a:p>
        </p:txBody>
      </p:sp>
      <p:sp>
        <p:nvSpPr>
          <p:cNvPr id="10" name="deck-title"/>
          <p:cNvSpPr txBox="1"/>
          <p:nvPr/>
        </p:nvSpPr>
        <p:spPr>
          <a:xfrm>
            <a:off x="548640" y="1975358"/>
            <a:ext cx="5287975" cy="1315720"/>
          </a:xfrm>
          <a:prstGeom prst="rect">
            <a:avLst/>
          </a:prstGeom>
          <a:noFill/>
          <a:ln/>
        </p:spPr>
        <p:txBody>
          <a:bodyPr wrap="square" lIns="63500" tIns="63500" rIns="63500" bIns="63500" rtlCol="0" anchor="t"/>
          <a:lstStyle/>
          <a:p>
            <a:pPr algn="l" indent="0" marL="0">
              <a:buNone/>
            </a:pPr>
            <a:r>
              <a:rPr lang="en-US" sz="3600" b="1" dirty="0">
                <a:solidFill>
                  <a:srgbClr val="1E2229"/>
                </a:solidFill>
                <a:latin typeface="Cambria" pitchFamily="34" charset="0"/>
                <a:ea typeface="Cambria" pitchFamily="34" charset="-122"/>
                <a:cs typeface="Cambria" pitchFamily="34" charset="-120"/>
              </a:rPr>
              <a:t>Energy security and the world's unequal energy</a:t>
            </a:r>
            <a:endParaRPr lang="en-US" sz="3600" dirty="0"/>
          </a:p>
        </p:txBody>
      </p:sp>
      <p:sp>
        <p:nvSpPr>
          <p:cNvPr id="11" name="lessons-card"/>
          <p:cNvSpPr/>
          <p:nvPr/>
        </p:nvSpPr>
        <p:spPr>
          <a:xfrm>
            <a:off x="548640" y="3519678"/>
            <a:ext cx="5287975" cy="1948180"/>
          </a:xfrm>
          <a:prstGeom prst="roundRect">
            <a:avLst>
              <a:gd name="adj" fmla="val 3755"/>
            </a:avLst>
          </a:prstGeom>
          <a:solidFill>
            <a:srgbClr val="ECF0ED"/>
          </a:solidFill>
          <a:ln/>
        </p:spPr>
      </p:sp>
      <p:sp>
        <p:nvSpPr>
          <p:cNvPr id="12" name="lessons"/>
          <p:cNvSpPr txBox="1"/>
          <p:nvPr/>
        </p:nvSpPr>
        <p:spPr>
          <a:xfrm>
            <a:off x="685800" y="3611118"/>
            <a:ext cx="5013655" cy="176530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5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Energy security and the UK's changing energy mix</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7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Global energy production and consumption; the causes of energy insecurity</a:t>
            </a:r>
            <a:endParaRPr lang="en-US" sz="2000" dirty="0"/>
          </a:p>
        </p:txBody>
      </p:sp>
      <p:sp>
        <p:nvSpPr>
          <p:cNvPr id="13" name="plate-frame"/>
          <p:cNvSpPr/>
          <p:nvPr/>
        </p:nvSpPr>
        <p:spPr>
          <a:xfrm>
            <a:off x="6248095" y="411480"/>
            <a:ext cx="5394960" cy="3130677"/>
          </a:xfrm>
          <a:prstGeom prst="rect">
            <a:avLst/>
          </a:prstGeom>
          <a:solidFill>
            <a:srgbClr val="F2E9D9"/>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9">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CF0ED"/>
          </a:solidFill>
          <a:ln w="12700">
            <a:solidFill>
              <a:srgbClr val="B2C4B7"/>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Can the world supply enough food, water and energy for everyone without using up the planet, and how should the UK manage its own supply?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2636444" cy="4754880"/>
          </a:xfrm>
          <a:prstGeom prst="roundRect">
            <a:avLst>
              <a:gd name="adj" fmla="val 2081"/>
            </a:avLst>
          </a:prstGeom>
          <a:solidFill>
            <a:srgbClr val="F2F5F2"/>
          </a:solidFill>
          <a:ln w="12700">
            <a:solidFill>
              <a:srgbClr val="BCCBC0"/>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11" name="card-body"/>
          <p:cNvSpPr txBox="1"/>
          <p:nvPr/>
        </p:nvSpPr>
        <p:spPr>
          <a:xfrm>
            <a:off x="731520"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Energy ___ means having a reliable, uninterrupted and affordable supply of energy.</a:t>
            </a:r>
            <a:endParaRPr lang="en-US" sz="2200" dirty="0"/>
          </a:p>
          <a:p>
            <a:pPr algn="l" indent="0" marL="0">
              <a:buNone/>
            </a:pPr>
            <a:r>
              <a:rPr lang="en-US" sz="2200" b="1" dirty="0">
                <a:solidFill>
                  <a:srgbClr val="3F6B4A"/>
                </a:solidFill>
                <a:latin typeface="Calibri" pitchFamily="34" charset="0"/>
                <a:ea typeface="Calibri" pitchFamily="34" charset="-122"/>
                <a:cs typeface="Calibri" pitchFamily="34" charset="-120"/>
              </a:rPr>
              <a:t>Word bank:  </a:t>
            </a:r>
            <a:pPr algn="l" indent="0" marL="0">
              <a:buNone/>
            </a:pPr>
            <a:r>
              <a:rPr lang="en-US" sz="2200" dirty="0">
                <a:solidFill>
                  <a:srgbClr val="1E2229"/>
                </a:solidFill>
                <a:latin typeface="Calibri" pitchFamily="34" charset="0"/>
                <a:ea typeface="Calibri" pitchFamily="34" charset="-122"/>
                <a:cs typeface="Calibri" pitchFamily="34" charset="-120"/>
              </a:rPr>
              <a:t>security  ·  surplus  ·  insecurity</a:t>
            </a:r>
            <a:endParaRPr lang="en-US" sz="2200" dirty="0"/>
          </a:p>
        </p:txBody>
      </p:sp>
      <p:sp>
        <p:nvSpPr>
          <p:cNvPr id="12" name="card"/>
          <p:cNvSpPr/>
          <p:nvPr/>
        </p:nvSpPr>
        <p:spPr>
          <a:xfrm>
            <a:off x="3459404" y="1389888"/>
            <a:ext cx="5272888" cy="4754880"/>
          </a:xfrm>
          <a:prstGeom prst="roundRect">
            <a:avLst>
              <a:gd name="adj" fmla="val 1154"/>
            </a:avLst>
          </a:prstGeom>
          <a:solidFill>
            <a:srgbClr val="F2F5F2"/>
          </a:solidFill>
          <a:ln w="12700">
            <a:solidFill>
              <a:srgbClr val="BCCBC0"/>
            </a:solidFill>
            <a:prstDash val="solid"/>
          </a:ln>
        </p:spPr>
      </p:sp>
      <p:sp>
        <p:nvSpPr>
          <p:cNvPr id="13" name="card-hex"/>
          <p:cNvSpPr/>
          <p:nvPr/>
        </p:nvSpPr>
        <p:spPr>
          <a:xfrm>
            <a:off x="3642284" y="1572768"/>
            <a:ext cx="640080" cy="554309"/>
          </a:xfrm>
          <a:prstGeom prst="hexagon">
            <a:avLst/>
          </a:prstGeom>
          <a:solidFill>
            <a:srgbClr val="3F6B4A"/>
          </a:solidFill>
          <a:ln/>
        </p:spPr>
      </p:sp>
      <p:sp>
        <p:nvSpPr>
          <p:cNvPr id="14" name="card-hex-label"/>
          <p:cNvSpPr txBox="1"/>
          <p:nvPr/>
        </p:nvSpPr>
        <p:spPr>
          <a:xfrm>
            <a:off x="3642284"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4373804"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3642284" y="2355677"/>
            <a:ext cx="490712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On a proportional circle map, what does the size of each circle show?</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land area of the country</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How many years of data the map covers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How far the place is from the equator</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amount being measured at that place, such as oil produced per day</a:t>
            </a:r>
            <a:endParaRPr lang="en-US" sz="2200" dirty="0"/>
          </a:p>
        </p:txBody>
      </p:sp>
      <p:sp>
        <p:nvSpPr>
          <p:cNvPr id="17" name="card"/>
          <p:cNvSpPr/>
          <p:nvPr/>
        </p:nvSpPr>
        <p:spPr>
          <a:xfrm>
            <a:off x="9006611" y="1389888"/>
            <a:ext cx="2636444" cy="4754880"/>
          </a:xfrm>
          <a:prstGeom prst="roundRect">
            <a:avLst>
              <a:gd name="adj" fmla="val 2081"/>
            </a:avLst>
          </a:prstGeom>
          <a:solidFill>
            <a:srgbClr val="F2F5F2"/>
          </a:solidFill>
          <a:ln w="12700">
            <a:solidFill>
              <a:srgbClr val="BCCBC0"/>
            </a:solidFill>
            <a:prstDash val="solid"/>
          </a:ln>
        </p:spPr>
      </p:sp>
      <p:sp>
        <p:nvSpPr>
          <p:cNvPr id="18" name="card-hex"/>
          <p:cNvSpPr/>
          <p:nvPr/>
        </p:nvSpPr>
        <p:spPr>
          <a:xfrm>
            <a:off x="9189491" y="1572768"/>
            <a:ext cx="640080" cy="554309"/>
          </a:xfrm>
          <a:prstGeom prst="hexagon">
            <a:avLst/>
          </a:prstGeom>
          <a:solidFill>
            <a:srgbClr val="3F6B4A"/>
          </a:solidFill>
          <a:ln/>
        </p:spPr>
      </p:sp>
      <p:sp>
        <p:nvSpPr>
          <p:cNvPr id="19" name="card-hex-label"/>
          <p:cNvSpPr txBox="1"/>
          <p:nvPr/>
        </p:nvSpPr>
        <p:spPr>
          <a:xfrm>
            <a:off x="9189491"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921011"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Work it out</a:t>
            </a:r>
            <a:endParaRPr lang="en-US" sz="1800" dirty="0"/>
          </a:p>
        </p:txBody>
      </p:sp>
      <p:sp>
        <p:nvSpPr>
          <p:cNvPr id="21" name="card-body"/>
          <p:cNvSpPr txBox="1"/>
          <p:nvPr/>
        </p:nvSpPr>
        <p:spPr>
          <a:xfrm>
            <a:off x="9189491"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On the pictogram each barrel symbol stands for 1,000,000 barrels of oil per day. A row shows 6 whole barrels. How many barrels of oil per day is that?</a:t>
            </a:r>
            <a:endParaRPr lang="en-US" sz="1800" dirty="0"/>
          </a:p>
          <a:p>
            <a:pPr algn="l" indent="0" marL="0">
              <a:buNone/>
            </a:pPr>
            <a:r>
              <a:rPr lang="en-US" sz="1800" b="1" dirty="0">
                <a:solidFill>
                  <a:srgbClr val="3F6B4A"/>
                </a:solidFill>
                <a:latin typeface="Calibri" pitchFamily="34" charset="0"/>
                <a:ea typeface="Calibri" pitchFamily="34" charset="-122"/>
                <a:cs typeface="Calibri" pitchFamily="34" charset="-120"/>
              </a:rPr>
              <a:t>Answer:  </a:t>
            </a:r>
            <a:pPr algn="l" indent="0" marL="0">
              <a:buNone/>
            </a:pPr>
            <a:r>
              <a:rPr lang="en-US" sz="1800" dirty="0">
                <a:solidFill>
                  <a:srgbClr val="1E2229"/>
                </a:solidFill>
                <a:latin typeface="Calibri" pitchFamily="34" charset="0"/>
                <a:ea typeface="Calibri" pitchFamily="34" charset="-122"/>
                <a:cs typeface="Calibri" pitchFamily="34" charset="-120"/>
              </a:rPr>
              <a:t>________ barrels per day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2636444" cy="4754880"/>
          </a:xfrm>
          <a:prstGeom prst="roundRect">
            <a:avLst>
              <a:gd name="adj" fmla="val 2081"/>
            </a:avLst>
          </a:prstGeom>
          <a:solidFill>
            <a:srgbClr val="F2F5F2"/>
          </a:solidFill>
          <a:ln w="12700">
            <a:solidFill>
              <a:srgbClr val="BCCBC0"/>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2270684" cy="614172"/>
          </a:xfrm>
          <a:prstGeom prst="roundRect">
            <a:avLst>
              <a:gd name="adj" fmla="val 17866"/>
            </a:avLst>
          </a:prstGeom>
          <a:solidFill>
            <a:srgbClr val="EDE1CA"/>
          </a:solidFill>
          <a:ln w="19050">
            <a:solidFill>
              <a:srgbClr val="B8862B"/>
            </a:solidFill>
            <a:prstDash val="solid"/>
          </a:ln>
        </p:spPr>
      </p:sp>
      <p:sp>
        <p:nvSpPr>
          <p:cNvPr id="12" name="answer"/>
          <p:cNvSpPr txBox="1"/>
          <p:nvPr/>
        </p:nvSpPr>
        <p:spPr>
          <a:xfrm>
            <a:off x="822960"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security</a:t>
            </a:r>
            <a:endParaRPr lang="en-US" sz="2200" dirty="0"/>
          </a:p>
        </p:txBody>
      </p:sp>
      <p:sp>
        <p:nvSpPr>
          <p:cNvPr id="13" name="card-body"/>
          <p:cNvSpPr txBox="1"/>
          <p:nvPr/>
        </p:nvSpPr>
        <p:spPr>
          <a:xfrm>
            <a:off x="731520" y="3152729"/>
            <a:ext cx="2270684"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The lesson's definition: energy security is a reliable, uninterrupted and affordable supply.</a:t>
            </a:r>
            <a:endParaRPr lang="en-US" sz="1800" dirty="0"/>
          </a:p>
        </p:txBody>
      </p:sp>
      <p:sp>
        <p:nvSpPr>
          <p:cNvPr id="14" name="card"/>
          <p:cNvSpPr/>
          <p:nvPr/>
        </p:nvSpPr>
        <p:spPr>
          <a:xfrm>
            <a:off x="3459404" y="1389888"/>
            <a:ext cx="5272888" cy="4754880"/>
          </a:xfrm>
          <a:prstGeom prst="roundRect">
            <a:avLst>
              <a:gd name="adj" fmla="val 1154"/>
            </a:avLst>
          </a:prstGeom>
          <a:solidFill>
            <a:srgbClr val="F2F5F2"/>
          </a:solidFill>
          <a:ln w="12700">
            <a:solidFill>
              <a:srgbClr val="BCCBC0"/>
            </a:solidFill>
            <a:prstDash val="solid"/>
          </a:ln>
        </p:spPr>
      </p:sp>
      <p:sp>
        <p:nvSpPr>
          <p:cNvPr id="15" name="card-hex"/>
          <p:cNvSpPr/>
          <p:nvPr/>
        </p:nvSpPr>
        <p:spPr>
          <a:xfrm>
            <a:off x="3642284" y="1572768"/>
            <a:ext cx="640080" cy="554309"/>
          </a:xfrm>
          <a:prstGeom prst="hexagon">
            <a:avLst/>
          </a:prstGeom>
          <a:solidFill>
            <a:srgbClr val="3F6B4A"/>
          </a:solidFill>
          <a:ln/>
        </p:spPr>
      </p:sp>
      <p:sp>
        <p:nvSpPr>
          <p:cNvPr id="16" name="card-hex-label"/>
          <p:cNvSpPr txBox="1"/>
          <p:nvPr/>
        </p:nvSpPr>
        <p:spPr>
          <a:xfrm>
            <a:off x="3642284"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4373804"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3642284" y="2355677"/>
            <a:ext cx="4907128" cy="955040"/>
          </a:xfrm>
          <a:prstGeom prst="roundRect">
            <a:avLst>
              <a:gd name="adj" fmla="val 11489"/>
            </a:avLst>
          </a:prstGeom>
          <a:solidFill>
            <a:srgbClr val="EDE1CA"/>
          </a:solidFill>
          <a:ln w="19050">
            <a:solidFill>
              <a:srgbClr val="B8862B"/>
            </a:solidFill>
            <a:prstDash val="solid"/>
          </a:ln>
        </p:spPr>
      </p:sp>
      <p:sp>
        <p:nvSpPr>
          <p:cNvPr id="19" name="answer"/>
          <p:cNvSpPr txBox="1"/>
          <p:nvPr/>
        </p:nvSpPr>
        <p:spPr>
          <a:xfrm>
            <a:off x="3733724" y="2428829"/>
            <a:ext cx="472424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The amount being measured at that place, such as oil produced per day</a:t>
            </a:r>
            <a:endParaRPr lang="en-US" sz="2200" dirty="0"/>
          </a:p>
        </p:txBody>
      </p:sp>
      <p:sp>
        <p:nvSpPr>
          <p:cNvPr id="20" name="card-body"/>
          <p:cNvSpPr txBox="1"/>
          <p:nvPr/>
        </p:nvSpPr>
        <p:spPr>
          <a:xfrm>
            <a:off x="3642284" y="3493597"/>
            <a:ext cx="4907128" cy="2514011"/>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On a proportional circle map, what does the size of each circle show?</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Proportional means in proportion: the bigger the amount, the bigger the circle. On the oil map the biggest circles sat over the biggest producers.</a:t>
            </a:r>
            <a:endParaRPr lang="en-US" sz="2200" dirty="0"/>
          </a:p>
        </p:txBody>
      </p:sp>
      <p:sp>
        <p:nvSpPr>
          <p:cNvPr id="21" name="card"/>
          <p:cNvSpPr/>
          <p:nvPr/>
        </p:nvSpPr>
        <p:spPr>
          <a:xfrm>
            <a:off x="9006611" y="1389888"/>
            <a:ext cx="2636444" cy="4754880"/>
          </a:xfrm>
          <a:prstGeom prst="roundRect">
            <a:avLst>
              <a:gd name="adj" fmla="val 2081"/>
            </a:avLst>
          </a:prstGeom>
          <a:solidFill>
            <a:srgbClr val="F2F5F2"/>
          </a:solidFill>
          <a:ln w="12700">
            <a:solidFill>
              <a:srgbClr val="BCCBC0"/>
            </a:solidFill>
            <a:prstDash val="solid"/>
          </a:ln>
        </p:spPr>
      </p:sp>
      <p:sp>
        <p:nvSpPr>
          <p:cNvPr id="22" name="card-hex"/>
          <p:cNvSpPr/>
          <p:nvPr/>
        </p:nvSpPr>
        <p:spPr>
          <a:xfrm>
            <a:off x="9189491" y="1572768"/>
            <a:ext cx="640080" cy="554309"/>
          </a:xfrm>
          <a:prstGeom prst="hexagon">
            <a:avLst/>
          </a:prstGeom>
          <a:solidFill>
            <a:srgbClr val="3F6B4A"/>
          </a:solidFill>
          <a:ln/>
        </p:spPr>
      </p:sp>
      <p:sp>
        <p:nvSpPr>
          <p:cNvPr id="23" name="card-hex-label"/>
          <p:cNvSpPr txBox="1"/>
          <p:nvPr/>
        </p:nvSpPr>
        <p:spPr>
          <a:xfrm>
            <a:off x="9189491"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921011"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9189491" y="2355677"/>
            <a:ext cx="2270684" cy="955040"/>
          </a:xfrm>
          <a:prstGeom prst="roundRect">
            <a:avLst>
              <a:gd name="adj" fmla="val 11489"/>
            </a:avLst>
          </a:prstGeom>
          <a:solidFill>
            <a:srgbClr val="EDE1CA"/>
          </a:solidFill>
          <a:ln w="19050">
            <a:solidFill>
              <a:srgbClr val="B8862B"/>
            </a:solidFill>
            <a:prstDash val="solid"/>
          </a:ln>
        </p:spPr>
      </p:sp>
      <p:sp>
        <p:nvSpPr>
          <p:cNvPr id="26" name="answer"/>
          <p:cNvSpPr txBox="1"/>
          <p:nvPr/>
        </p:nvSpPr>
        <p:spPr>
          <a:xfrm>
            <a:off x="9280931" y="2428829"/>
            <a:ext cx="2087804"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6 000 000 barrels per day</a:t>
            </a:r>
            <a:endParaRPr lang="en-US" sz="2200" dirty="0"/>
          </a:p>
        </p:txBody>
      </p:sp>
      <p:sp>
        <p:nvSpPr>
          <p:cNvPr id="27" name="card-body"/>
          <p:cNvSpPr txBox="1"/>
          <p:nvPr/>
        </p:nvSpPr>
        <p:spPr>
          <a:xfrm>
            <a:off x="9189491" y="3493597"/>
            <a:ext cx="2270684" cy="2514011"/>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6 symbols × 1,000,000 barrels each = 6,000,000 barrels of oil per day.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0F3F1"/>
          </a:solidFill>
          <a:ln w="12700">
            <a:solidFill>
              <a:srgbClr val="B2C4B7"/>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energy security</a:t>
            </a:r>
            <a:endParaRPr lang="en-US" sz="2600" dirty="0"/>
          </a:p>
        </p:txBody>
      </p:sp>
      <p:sp>
        <p:nvSpPr>
          <p:cNvPr id="11" name="word-rule"/>
          <p:cNvSpPr/>
          <p:nvPr/>
        </p:nvSpPr>
        <p:spPr>
          <a:xfrm>
            <a:off x="731520" y="2129028"/>
            <a:ext cx="3149498" cy="0"/>
          </a:xfrm>
          <a:prstGeom prst="line">
            <a:avLst/>
          </a:prstGeom>
          <a:ln w="12700">
            <a:solidFill>
              <a:srgbClr val="B2C4B7"/>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having a reliable, uninterrupted and affordable supply of energy</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country with its own gas fields has more energy security.</a:t>
            </a:r>
            <a:endParaRPr lang="en-US" sz="2200" dirty="0"/>
          </a:p>
        </p:txBody>
      </p:sp>
      <p:sp>
        <p:nvSpPr>
          <p:cNvPr id="13" name="word-card"/>
          <p:cNvSpPr/>
          <p:nvPr/>
        </p:nvSpPr>
        <p:spPr>
          <a:xfrm>
            <a:off x="4338218" y="1389888"/>
            <a:ext cx="3515258" cy="4754880"/>
          </a:xfrm>
          <a:prstGeom prst="roundRect">
            <a:avLst>
              <a:gd name="adj" fmla="val 1561"/>
            </a:avLst>
          </a:prstGeom>
          <a:solidFill>
            <a:srgbClr val="F0F3F1"/>
          </a:solidFill>
          <a:ln w="12700">
            <a:solidFill>
              <a:srgbClr val="B2C4B7"/>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energy mix</a:t>
            </a:r>
            <a:endParaRPr lang="en-US" sz="2600" dirty="0"/>
          </a:p>
        </p:txBody>
      </p:sp>
      <p:sp>
        <p:nvSpPr>
          <p:cNvPr id="17" name="word-rule"/>
          <p:cNvSpPr/>
          <p:nvPr/>
        </p:nvSpPr>
        <p:spPr>
          <a:xfrm>
            <a:off x="4521098" y="2129028"/>
            <a:ext cx="3149498" cy="0"/>
          </a:xfrm>
          <a:prstGeom prst="line">
            <a:avLst/>
          </a:prstGeom>
          <a:ln w="12700">
            <a:solidFill>
              <a:srgbClr val="B2C4B7"/>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range of energy sources a country uses and the share of each</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UK's energy mix includes gas, nuclear, wind and solar.</a:t>
            </a:r>
            <a:endParaRPr lang="en-US" sz="2200" dirty="0"/>
          </a:p>
        </p:txBody>
      </p:sp>
      <p:sp>
        <p:nvSpPr>
          <p:cNvPr id="19" name="word-card"/>
          <p:cNvSpPr/>
          <p:nvPr/>
        </p:nvSpPr>
        <p:spPr>
          <a:xfrm>
            <a:off x="8127797" y="1389888"/>
            <a:ext cx="3515258" cy="4754880"/>
          </a:xfrm>
          <a:prstGeom prst="roundRect">
            <a:avLst>
              <a:gd name="adj" fmla="val 1561"/>
            </a:avLst>
          </a:prstGeom>
          <a:solidFill>
            <a:srgbClr val="F0F3F1"/>
          </a:solidFill>
          <a:ln w="12700">
            <a:solidFill>
              <a:srgbClr val="B2C4B7"/>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choropleth map</a:t>
            </a:r>
            <a:endParaRPr lang="en-US" sz="2600" dirty="0"/>
          </a:p>
        </p:txBody>
      </p:sp>
      <p:sp>
        <p:nvSpPr>
          <p:cNvPr id="23" name="word-rule"/>
          <p:cNvSpPr/>
          <p:nvPr/>
        </p:nvSpPr>
        <p:spPr>
          <a:xfrm>
            <a:off x="8310677" y="2129028"/>
            <a:ext cx="3149498" cy="0"/>
          </a:xfrm>
          <a:prstGeom prst="line">
            <a:avLst/>
          </a:prstGeom>
          <a:ln w="12700">
            <a:solidFill>
              <a:srgbClr val="B2C4B7"/>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map that shades areas darker where the value is higher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choropleth map shaded the highest energy users dark red.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0F3F1"/>
          </a:solidFill>
          <a:ln w="12700">
            <a:solidFill>
              <a:srgbClr val="B2C4B7"/>
            </a:solidFill>
            <a:prstDash val="solid"/>
          </a:ln>
        </p:spPr>
      </p:sp>
      <p:sp>
        <p:nvSpPr>
          <p:cNvPr id="8" name="word-hex"/>
          <p:cNvSpPr/>
          <p:nvPr/>
        </p:nvSpPr>
        <p:spPr>
          <a:xfrm>
            <a:off x="685800" y="1802044"/>
            <a:ext cx="502920" cy="435529"/>
          </a:xfrm>
          <a:prstGeom prst="hexagon">
            <a:avLst/>
          </a:prstGeom>
          <a:solidFill>
            <a:srgbClr val="B8862B"/>
          </a:solidFill>
          <a:ln/>
        </p:spPr>
      </p:sp>
      <p:sp>
        <p:nvSpPr>
          <p:cNvPr id="9" name="word-hex-label"/>
          <p:cNvSpPr txBox="1"/>
          <p:nvPr/>
        </p:nvSpPr>
        <p:spPr>
          <a:xfrm>
            <a:off x="685800"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proportional circle</a:t>
            </a:r>
            <a:endParaRPr lang="en-US" sz="2600" dirty="0"/>
          </a:p>
        </p:txBody>
      </p:sp>
      <p:sp>
        <p:nvSpPr>
          <p:cNvPr id="11" name="word-rule"/>
          <p:cNvSpPr/>
          <p:nvPr/>
        </p:nvSpPr>
        <p:spPr>
          <a:xfrm>
            <a:off x="731520" y="2558288"/>
            <a:ext cx="3149498" cy="0"/>
          </a:xfrm>
          <a:prstGeom prst="line">
            <a:avLst/>
          </a:prstGeom>
          <a:ln w="12700">
            <a:solidFill>
              <a:srgbClr val="B2C4B7"/>
            </a:solidFill>
            <a:prstDash val="solid"/>
          </a:ln>
        </p:spPr>
      </p:sp>
      <p:sp>
        <p:nvSpPr>
          <p:cNvPr id="12" name="word-body"/>
          <p:cNvSpPr txBox="1"/>
          <p:nvPr/>
        </p:nvSpPr>
        <p:spPr>
          <a:xfrm>
            <a:off x="731520"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circle on a map whose size shows the amount at that place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biggest proportional circle sat over the biggest oil producer.</a:t>
            </a:r>
            <a:endParaRPr lang="en-US" sz="2200" dirty="0"/>
          </a:p>
        </p:txBody>
      </p:sp>
      <p:sp>
        <p:nvSpPr>
          <p:cNvPr id="13" name="word-card"/>
          <p:cNvSpPr/>
          <p:nvPr/>
        </p:nvSpPr>
        <p:spPr>
          <a:xfrm>
            <a:off x="4338218" y="1389888"/>
            <a:ext cx="3515258" cy="4754880"/>
          </a:xfrm>
          <a:prstGeom prst="roundRect">
            <a:avLst>
              <a:gd name="adj" fmla="val 1561"/>
            </a:avLst>
          </a:prstGeom>
          <a:solidFill>
            <a:srgbClr val="F0F3F1"/>
          </a:solidFill>
          <a:ln w="12700">
            <a:solidFill>
              <a:srgbClr val="B2C4B7"/>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pictogram</a:t>
            </a:r>
            <a:endParaRPr lang="en-US" sz="2600" dirty="0"/>
          </a:p>
        </p:txBody>
      </p:sp>
      <p:sp>
        <p:nvSpPr>
          <p:cNvPr id="17" name="word-rule"/>
          <p:cNvSpPr/>
          <p:nvPr/>
        </p:nvSpPr>
        <p:spPr>
          <a:xfrm>
            <a:off x="4521098" y="2129028"/>
            <a:ext cx="3149498" cy="0"/>
          </a:xfrm>
          <a:prstGeom prst="line">
            <a:avLst/>
          </a:prstGeom>
          <a:ln w="12700">
            <a:solidFill>
              <a:srgbClr val="B2C4B7"/>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chart that uses repeated picture symbols, each standing for a fixed amount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On the pictogram, each barrel stood for a million barrels of oil a day.</a:t>
            </a:r>
            <a:endParaRPr lang="en-US" sz="2200" dirty="0"/>
          </a:p>
        </p:txBody>
      </p:sp>
      <p:sp>
        <p:nvSpPr>
          <p:cNvPr id="19" name="word-card"/>
          <p:cNvSpPr/>
          <p:nvPr/>
        </p:nvSpPr>
        <p:spPr>
          <a:xfrm>
            <a:off x="8127797" y="1389888"/>
            <a:ext cx="3515258" cy="4754880"/>
          </a:xfrm>
          <a:prstGeom prst="roundRect">
            <a:avLst>
              <a:gd name="adj" fmla="val 1561"/>
            </a:avLst>
          </a:prstGeom>
          <a:solidFill>
            <a:srgbClr val="F0F3F1"/>
          </a:solidFill>
          <a:ln w="12700">
            <a:solidFill>
              <a:srgbClr val="B2C4B7"/>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fossil fuel</a:t>
            </a:r>
            <a:endParaRPr lang="en-US" sz="2600" dirty="0"/>
          </a:p>
        </p:txBody>
      </p:sp>
      <p:sp>
        <p:nvSpPr>
          <p:cNvPr id="23" name="word-rule"/>
          <p:cNvSpPr/>
          <p:nvPr/>
        </p:nvSpPr>
        <p:spPr>
          <a:xfrm>
            <a:off x="8310677" y="2129028"/>
            <a:ext cx="3149498" cy="0"/>
          </a:xfrm>
          <a:prstGeom prst="line">
            <a:avLst/>
          </a:prstGeom>
          <a:ln w="12700">
            <a:solidFill>
              <a:srgbClr val="B2C4B7"/>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coal, oil or gas, formed from ancient plants and animals, that releases carbon dioxide when burnt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Oil is a fossil fuel that will one day run out.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2F5F2"/>
          </a:solidFill>
          <a:ln w="12700">
            <a:solidFill>
              <a:srgbClr val="C5D3C9"/>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200" b="1" dirty="0">
                <a:solidFill>
                  <a:srgbClr val="3F6B4A"/>
                </a:solidFill>
                <a:latin typeface="Calibri" pitchFamily="34" charset="0"/>
                <a:ea typeface="Calibri" pitchFamily="34" charset="-122"/>
                <a:cs typeface="Calibri" pitchFamily="34" charset="-120"/>
              </a:rPr>
              <a:t>Energy security</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means having a reliable, uninterrupted and affordable supply of energy.</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country has an energy surplus when its supply is greater than its demand.</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It has energy insecurity when demand is greater than what it can produce.</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country's </a:t>
            </a:r>
            <a:pPr algn="l" indent="0" marL="0">
              <a:spcAft>
                <a:spcPts val="600"/>
              </a:spcAft>
              <a:buNone/>
            </a:pPr>
            <a:r>
              <a:rPr lang="en-US" sz="2200" b="1" dirty="0">
                <a:solidFill>
                  <a:srgbClr val="3F6B4A"/>
                </a:solidFill>
                <a:latin typeface="Calibri" pitchFamily="34" charset="0"/>
                <a:ea typeface="Calibri" pitchFamily="34" charset="-122"/>
                <a:cs typeface="Calibri" pitchFamily="34" charset="-120"/>
              </a:rPr>
              <a:t>energy mix</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is the range of sources it uses, like gas, coal, nuclear and wind.</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UK's mix has changed over time, and a pie chart shows each source's share.</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World energy consumption is unevenly distributed.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2F5F2"/>
          </a:solidFill>
          <a:ln w="12700">
            <a:solidFill>
              <a:srgbClr val="C5D3C9"/>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200" b="1" dirty="0">
                <a:solidFill>
                  <a:srgbClr val="3F6B4A"/>
                </a:solidFill>
                <a:latin typeface="Calibri" pitchFamily="34" charset="0"/>
                <a:ea typeface="Calibri" pitchFamily="34" charset="-122"/>
                <a:cs typeface="Calibri" pitchFamily="34" charset="-120"/>
              </a:rPr>
              <a:t>choropleth map</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shades the biggest consumers darkest.</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200" b="1" dirty="0">
                <a:solidFill>
                  <a:srgbClr val="3F6B4A"/>
                </a:solidFill>
                <a:latin typeface="Calibri" pitchFamily="34" charset="0"/>
                <a:ea typeface="Calibri" pitchFamily="34" charset="-122"/>
                <a:cs typeface="Calibri" pitchFamily="34" charset="-120"/>
              </a:rPr>
              <a:t>proportional circle</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map draws bigger circles for bigger oil producers.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200" b="1" dirty="0">
                <a:solidFill>
                  <a:srgbClr val="3F6B4A"/>
                </a:solidFill>
                <a:latin typeface="Calibri" pitchFamily="34" charset="0"/>
                <a:ea typeface="Calibri" pitchFamily="34" charset="-122"/>
                <a:cs typeface="Calibri" pitchFamily="34" charset="-120"/>
              </a:rPr>
              <a:t>pictogram</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uses barrel symbols, each standing for one million barrels of oil a day.</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In 2008 the top five oil consumers were the United States, China, Japan, India and Russia.</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Energy insecurity has economic, physical, political and technological causes.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Global energy consumption keeps increasing as the world develops.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Security, surplus and insecurity</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Security, surplus, insecurity: all three are about the balance between supply and demand. Say which is bigger in your definition.</a:t>
            </a:r>
            <a:endParaRPr lang="en-US" sz="1800" dirty="0"/>
          </a:p>
        </p:txBody>
      </p:sp>
      <p:sp>
        <p:nvSpPr>
          <p:cNvPr id="11" name="point-card"/>
          <p:cNvSpPr/>
          <p:nvPr/>
        </p:nvSpPr>
        <p:spPr>
          <a:xfrm>
            <a:off x="548640" y="1389888"/>
            <a:ext cx="5410048" cy="3686048"/>
          </a:xfrm>
          <a:prstGeom prst="roundRect">
            <a:avLst>
              <a:gd name="adj" fmla="val 1488"/>
            </a:avLst>
          </a:prstGeom>
          <a:solidFill>
            <a:srgbClr val="ECF0ED"/>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Three key words run through the rest of this unit.</a:t>
            </a:r>
            <a:endParaRPr lang="en-US" sz="2400" dirty="0"/>
          </a:p>
        </p:txBody>
      </p:sp>
      <p:sp>
        <p:nvSpPr>
          <p:cNvPr id="15" name="point-card"/>
          <p:cNvSpPr/>
          <p:nvPr/>
        </p:nvSpPr>
        <p:spPr>
          <a:xfrm>
            <a:off x="6233008" y="1389888"/>
            <a:ext cx="5410048" cy="3686048"/>
          </a:xfrm>
          <a:prstGeom prst="roundRect">
            <a:avLst>
              <a:gd name="adj" fmla="val 1488"/>
            </a:avLst>
          </a:prstGeom>
          <a:solidFill>
            <a:srgbClr val="F6F0E6"/>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Why is global energy consumption increasing? Three things are happening at once.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UK's changing energy mix</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Compare means say how they are alike and how they differ. Use words like whereas, increased from, fell to, and quote the figures.</a:t>
            </a:r>
            <a:endParaRPr lang="en-US" sz="1800" dirty="0"/>
          </a:p>
        </p:txBody>
      </p:sp>
      <p:sp>
        <p:nvSpPr>
          <p:cNvPr id="11" name="point-card"/>
          <p:cNvSpPr/>
          <p:nvPr/>
        </p:nvSpPr>
        <p:spPr>
          <a:xfrm>
            <a:off x="548640" y="1389888"/>
            <a:ext cx="5410048" cy="3686048"/>
          </a:xfrm>
          <a:prstGeom prst="roundRect">
            <a:avLst>
              <a:gd name="adj" fmla="val 1488"/>
            </a:avLst>
          </a:prstGeom>
          <a:solidFill>
            <a:srgbClr val="ECF0ED"/>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country's energy mix is the range of sources it uses and the share each contributes.</a:t>
            </a:r>
            <a:endParaRPr lang="en-US" sz="2400" dirty="0"/>
          </a:p>
        </p:txBody>
      </p:sp>
      <p:sp>
        <p:nvSpPr>
          <p:cNvPr id="15" name="point-card"/>
          <p:cNvSpPr/>
          <p:nvPr/>
        </p:nvSpPr>
        <p:spPr>
          <a:xfrm>
            <a:off x="6233008" y="1389888"/>
            <a:ext cx="5410048" cy="3686048"/>
          </a:xfrm>
          <a:prstGeom prst="roundRect">
            <a:avLst>
              <a:gd name="adj" fmla="val 1488"/>
            </a:avLst>
          </a:prstGeom>
          <a:solidFill>
            <a:srgbClr val="F6F0E6"/>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pattern your Year 7 work prepared you for is a mix still dominated by fossil fuels but with a growing share of renewable energy.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Worked example: The UK's changing energy mix</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19760"/>
          </a:xfrm>
          <a:prstGeom prst="roundRect">
            <a:avLst>
              <a:gd name="adj" fmla="val 14754"/>
            </a:avLst>
          </a:prstGeom>
          <a:solidFill>
            <a:srgbClr val="ECF0ED"/>
          </a:solidFill>
          <a:ln/>
        </p:spPr>
      </p:sp>
      <p:sp>
        <p:nvSpPr>
          <p:cNvPr id="8" name="worked-q"/>
          <p:cNvSpPr txBox="1"/>
          <p:nvPr/>
        </p:nvSpPr>
        <p:spPr>
          <a:xfrm>
            <a:off x="731520" y="1481328"/>
            <a:ext cx="10728655" cy="43688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How do you structure a paragraph that compares three pie charts of a country's energy mix?</a:t>
            </a:r>
            <a:endParaRPr lang="en-US" sz="2000" dirty="0"/>
          </a:p>
        </p:txBody>
      </p:sp>
      <p:sp>
        <p:nvSpPr>
          <p:cNvPr id="9" name="step-box"/>
          <p:cNvSpPr/>
          <p:nvPr/>
        </p:nvSpPr>
        <p:spPr>
          <a:xfrm>
            <a:off x="548640" y="2192528"/>
            <a:ext cx="11094415" cy="511048"/>
          </a:xfrm>
          <a:prstGeom prst="roundRect">
            <a:avLst>
              <a:gd name="adj" fmla="val 14314"/>
            </a:avLst>
          </a:prstGeom>
          <a:solidFill>
            <a:srgbClr val="FFFFFF"/>
          </a:solidFill>
          <a:ln w="15875">
            <a:solidFill>
              <a:srgbClr val="95AE9B"/>
            </a:solidFill>
            <a:prstDash val="solid"/>
          </a:ln>
        </p:spPr>
      </p:sp>
      <p:sp>
        <p:nvSpPr>
          <p:cNvPr id="10" name="step-hex"/>
          <p:cNvSpPr/>
          <p:nvPr/>
        </p:nvSpPr>
        <p:spPr>
          <a:xfrm>
            <a:off x="685800" y="2250084"/>
            <a:ext cx="457200" cy="395935"/>
          </a:xfrm>
          <a:prstGeom prst="hexagon">
            <a:avLst/>
          </a:prstGeom>
          <a:solidFill>
            <a:srgbClr val="3F6B4A"/>
          </a:solidFill>
          <a:ln/>
        </p:spPr>
      </p:sp>
      <p:sp>
        <p:nvSpPr>
          <p:cNvPr id="11" name="step-hex-label"/>
          <p:cNvSpPr txBox="1"/>
          <p:nvPr/>
        </p:nvSpPr>
        <p:spPr>
          <a:xfrm>
            <a:off x="685800" y="225008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192528"/>
            <a:ext cx="10180015" cy="51104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Chart by chart: for each year, name the largest source and its share, then the smallest.</a:t>
            </a:r>
            <a:endParaRPr lang="en-US" sz="1800" dirty="0"/>
          </a:p>
        </p:txBody>
      </p:sp>
      <p:sp>
        <p:nvSpPr>
          <p:cNvPr id="13" name="step-box"/>
          <p:cNvSpPr/>
          <p:nvPr/>
        </p:nvSpPr>
        <p:spPr>
          <a:xfrm>
            <a:off x="548640" y="2776728"/>
            <a:ext cx="11094415" cy="511048"/>
          </a:xfrm>
          <a:prstGeom prst="roundRect">
            <a:avLst>
              <a:gd name="adj" fmla="val 14314"/>
            </a:avLst>
          </a:prstGeom>
          <a:solidFill>
            <a:srgbClr val="FFFFFF"/>
          </a:solidFill>
          <a:ln w="15875">
            <a:solidFill>
              <a:srgbClr val="95AE9B"/>
            </a:solidFill>
            <a:prstDash val="solid"/>
          </a:ln>
        </p:spPr>
      </p:sp>
      <p:sp>
        <p:nvSpPr>
          <p:cNvPr id="14" name="step-hex"/>
          <p:cNvSpPr/>
          <p:nvPr/>
        </p:nvSpPr>
        <p:spPr>
          <a:xfrm>
            <a:off x="685800" y="2834284"/>
            <a:ext cx="457200" cy="395935"/>
          </a:xfrm>
          <a:prstGeom prst="hexagon">
            <a:avLst/>
          </a:prstGeom>
          <a:solidFill>
            <a:srgbClr val="3F6B4A"/>
          </a:solidFill>
          <a:ln/>
        </p:spPr>
      </p:sp>
      <p:sp>
        <p:nvSpPr>
          <p:cNvPr id="15" name="step-hex-label"/>
          <p:cNvSpPr txBox="1"/>
          <p:nvPr/>
        </p:nvSpPr>
        <p:spPr>
          <a:xfrm>
            <a:off x="685800" y="283428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2776728"/>
            <a:ext cx="10180015" cy="51104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Across the charts: pick one source and track it, saying whether its share rose or fell and by how much.</a:t>
            </a:r>
            <a:endParaRPr lang="en-US" sz="1800" dirty="0"/>
          </a:p>
        </p:txBody>
      </p:sp>
      <p:sp>
        <p:nvSpPr>
          <p:cNvPr id="17" name="step-box"/>
          <p:cNvSpPr/>
          <p:nvPr/>
        </p:nvSpPr>
        <p:spPr>
          <a:xfrm>
            <a:off x="548640" y="3360928"/>
            <a:ext cx="11094415" cy="511048"/>
          </a:xfrm>
          <a:prstGeom prst="roundRect">
            <a:avLst>
              <a:gd name="adj" fmla="val 14314"/>
            </a:avLst>
          </a:prstGeom>
          <a:solidFill>
            <a:srgbClr val="FFFFFF"/>
          </a:solidFill>
          <a:ln w="15875">
            <a:solidFill>
              <a:srgbClr val="95AE9B"/>
            </a:solidFill>
            <a:prstDash val="solid"/>
          </a:ln>
        </p:spPr>
      </p:sp>
      <p:sp>
        <p:nvSpPr>
          <p:cNvPr id="18" name="step-hex"/>
          <p:cNvSpPr/>
          <p:nvPr/>
        </p:nvSpPr>
        <p:spPr>
          <a:xfrm>
            <a:off x="685800" y="3418484"/>
            <a:ext cx="457200" cy="395935"/>
          </a:xfrm>
          <a:prstGeom prst="hexagon">
            <a:avLst/>
          </a:prstGeom>
          <a:solidFill>
            <a:srgbClr val="3F6B4A"/>
          </a:solidFill>
          <a:ln/>
        </p:spPr>
      </p:sp>
      <p:sp>
        <p:nvSpPr>
          <p:cNvPr id="19" name="step-hex-label"/>
          <p:cNvSpPr txBox="1"/>
          <p:nvPr/>
        </p:nvSpPr>
        <p:spPr>
          <a:xfrm>
            <a:off x="685800" y="341848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360928"/>
            <a:ext cx="10180015" cy="51104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Repeat for a second source that moved the other way.</a:t>
            </a:r>
            <a:endParaRPr lang="en-US" sz="1800" dirty="0"/>
          </a:p>
        </p:txBody>
      </p:sp>
      <p:sp>
        <p:nvSpPr>
          <p:cNvPr id="21" name="step-box"/>
          <p:cNvSpPr/>
          <p:nvPr/>
        </p:nvSpPr>
        <p:spPr>
          <a:xfrm>
            <a:off x="548640" y="3945128"/>
            <a:ext cx="11094415" cy="511048"/>
          </a:xfrm>
          <a:prstGeom prst="roundRect">
            <a:avLst>
              <a:gd name="adj" fmla="val 14314"/>
            </a:avLst>
          </a:prstGeom>
          <a:solidFill>
            <a:srgbClr val="FFFFFF"/>
          </a:solidFill>
          <a:ln w="15875">
            <a:solidFill>
              <a:srgbClr val="95AE9B"/>
            </a:solidFill>
            <a:prstDash val="solid"/>
          </a:ln>
        </p:spPr>
      </p:sp>
      <p:sp>
        <p:nvSpPr>
          <p:cNvPr id="22" name="step-hex"/>
          <p:cNvSpPr/>
          <p:nvPr/>
        </p:nvSpPr>
        <p:spPr>
          <a:xfrm>
            <a:off x="685800" y="4002684"/>
            <a:ext cx="457200" cy="395935"/>
          </a:xfrm>
          <a:prstGeom prst="hexagon">
            <a:avLst/>
          </a:prstGeom>
          <a:solidFill>
            <a:srgbClr val="3F6B4A"/>
          </a:solidFill>
          <a:ln/>
        </p:spPr>
      </p:sp>
      <p:sp>
        <p:nvSpPr>
          <p:cNvPr id="23" name="step-hex-label"/>
          <p:cNvSpPr txBox="1"/>
          <p:nvPr/>
        </p:nvSpPr>
        <p:spPr>
          <a:xfrm>
            <a:off x="685800" y="400268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3945128"/>
            <a:ext cx="10180015" cy="51104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Sum up in one sentence: the mix has moved from X towards Y.</a:t>
            </a:r>
            <a:endParaRPr lang="en-US" sz="1800" dirty="0"/>
          </a:p>
        </p:txBody>
      </p:sp>
      <p:sp>
        <p:nvSpPr>
          <p:cNvPr id="25" name="step-box"/>
          <p:cNvSpPr/>
          <p:nvPr/>
        </p:nvSpPr>
        <p:spPr>
          <a:xfrm>
            <a:off x="548640" y="4529328"/>
            <a:ext cx="11094415" cy="511048"/>
          </a:xfrm>
          <a:prstGeom prst="roundRect">
            <a:avLst>
              <a:gd name="adj" fmla="val 14314"/>
            </a:avLst>
          </a:prstGeom>
          <a:solidFill>
            <a:srgbClr val="FFFFFF"/>
          </a:solidFill>
          <a:ln w="15875">
            <a:solidFill>
              <a:srgbClr val="95AE9B"/>
            </a:solidFill>
            <a:prstDash val="solid"/>
          </a:ln>
        </p:spPr>
      </p:sp>
      <p:sp>
        <p:nvSpPr>
          <p:cNvPr id="26" name="step-hex"/>
          <p:cNvSpPr/>
          <p:nvPr/>
        </p:nvSpPr>
        <p:spPr>
          <a:xfrm>
            <a:off x="685800" y="4586884"/>
            <a:ext cx="457200" cy="395935"/>
          </a:xfrm>
          <a:prstGeom prst="hexagon">
            <a:avLst/>
          </a:prstGeom>
          <a:solidFill>
            <a:srgbClr val="3F6B4A"/>
          </a:solidFill>
          <a:ln/>
        </p:spPr>
      </p:sp>
      <p:sp>
        <p:nvSpPr>
          <p:cNvPr id="27" name="step-hex-label"/>
          <p:cNvSpPr txBox="1"/>
          <p:nvPr/>
        </p:nvSpPr>
        <p:spPr>
          <a:xfrm>
            <a:off x="685800" y="458688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8" name="step"/>
          <p:cNvSpPr txBox="1"/>
          <p:nvPr/>
        </p:nvSpPr>
        <p:spPr>
          <a:xfrm>
            <a:off x="1280160" y="4529328"/>
            <a:ext cx="10180015" cy="51104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Stretch: suggest a reason for the change, such as cheaper renewables or declining reserves.</a:t>
            </a:r>
            <a:endParaRPr lang="en-US" sz="1800" dirty="0"/>
          </a:p>
        </p:txBody>
      </p:sp>
      <p:sp>
        <p:nvSpPr>
          <p:cNvPr id="29" name="worked-answer"/>
          <p:cNvSpPr/>
          <p:nvPr/>
        </p:nvSpPr>
        <p:spPr>
          <a:xfrm>
            <a:off x="548640" y="5223256"/>
            <a:ext cx="11094415" cy="831088"/>
          </a:xfrm>
          <a:prstGeom prst="roundRect">
            <a:avLst>
              <a:gd name="adj" fmla="val 16504"/>
            </a:avLst>
          </a:prstGeom>
          <a:solidFill>
            <a:srgbClr val="EDE1CA"/>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Describe each chart (largest and smallest slice), compare a rising source and a falling source across the years with figures, then summarise the overall shift in one sentence.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Three maps of the world's energy</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Every map question needs the key. Say what the shading, the circle size or the symbol stands for before you describe the pattern.</a:t>
            </a:r>
            <a:endParaRPr lang="en-US" sz="1800" dirty="0"/>
          </a:p>
        </p:txBody>
      </p:sp>
      <p:sp>
        <p:nvSpPr>
          <p:cNvPr id="11" name="point-card"/>
          <p:cNvSpPr/>
          <p:nvPr/>
        </p:nvSpPr>
        <p:spPr>
          <a:xfrm>
            <a:off x="548640" y="1389888"/>
            <a:ext cx="3515258" cy="3686048"/>
          </a:xfrm>
          <a:prstGeom prst="roundRect">
            <a:avLst>
              <a:gd name="adj" fmla="val 1561"/>
            </a:avLst>
          </a:prstGeom>
          <a:solidFill>
            <a:srgbClr val="ECF0ED"/>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World energy consumption is unevenly distributed, and the lesson used three kinds of map or graph to show it.</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proportional circle map draws a circle over each place, sized in proportion to the amount being measured.</a:t>
            </a:r>
            <a:endParaRPr lang="en-US" sz="2400" dirty="0"/>
          </a:p>
        </p:txBody>
      </p:sp>
      <p:sp>
        <p:nvSpPr>
          <p:cNvPr id="19" name="point-card"/>
          <p:cNvSpPr/>
          <p:nvPr/>
        </p:nvSpPr>
        <p:spPr>
          <a:xfrm>
            <a:off x="8127797" y="1389888"/>
            <a:ext cx="3515258" cy="3686048"/>
          </a:xfrm>
          <a:prstGeom prst="roundRect">
            <a:avLst>
              <a:gd name="adj" fmla="val 1561"/>
            </a:avLst>
          </a:prstGeom>
          <a:solidFill>
            <a:srgbClr val="ECF0ED"/>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pictogram uses a repeated picture symbol, each standing for a fixed amount.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3F6B4A"/>
                </a:solidFill>
                <a:latin typeface="Cambria" pitchFamily="34" charset="0"/>
                <a:ea typeface="Cambria" pitchFamily="34" charset="-122"/>
                <a:cs typeface="Cambria" pitchFamily="34" charset="-120"/>
              </a:rPr>
              <a:t>Worked example: Three maps of the world's energy</a:t>
            </a:r>
            <a:endParaRPr lang="en-US" sz="28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ECF0ED"/>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On the pictogram each barrel symbol stands for 1,000,000 barrels of oil per day. A country's row shows eight and a half barrels. How much oil does it consume per day?</a:t>
            </a:r>
            <a:endParaRPr lang="en-US" sz="2200" dirty="0"/>
          </a:p>
        </p:txBody>
      </p:sp>
      <p:sp>
        <p:nvSpPr>
          <p:cNvPr id="9" name="step-box"/>
          <p:cNvSpPr/>
          <p:nvPr/>
        </p:nvSpPr>
        <p:spPr>
          <a:xfrm>
            <a:off x="548640" y="2655824"/>
            <a:ext cx="2464994" cy="1695196"/>
          </a:xfrm>
          <a:prstGeom prst="roundRect">
            <a:avLst>
              <a:gd name="adj" fmla="val 4315"/>
            </a:avLst>
          </a:prstGeom>
          <a:solidFill>
            <a:srgbClr val="FFFFFF"/>
          </a:solidFill>
          <a:ln w="15875">
            <a:solidFill>
              <a:srgbClr val="95AE9B"/>
            </a:solidFill>
            <a:prstDash val="solid"/>
          </a:ln>
        </p:spPr>
      </p:sp>
      <p:sp>
        <p:nvSpPr>
          <p:cNvPr id="10" name="step-hex"/>
          <p:cNvSpPr/>
          <p:nvPr/>
        </p:nvSpPr>
        <p:spPr>
          <a:xfrm>
            <a:off x="685800" y="2765552"/>
            <a:ext cx="530352" cy="459285"/>
          </a:xfrm>
          <a:prstGeom prst="hexagon">
            <a:avLst/>
          </a:prstGeom>
          <a:solidFill>
            <a:srgbClr val="3F6B4A"/>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2190674"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Count the symbols, including the part symbol: 8.5.</a:t>
            </a:r>
            <a:endParaRPr lang="en-US" sz="1800" dirty="0"/>
          </a:p>
        </p:txBody>
      </p:sp>
      <p:sp>
        <p:nvSpPr>
          <p:cNvPr id="13" name="arrow"/>
          <p:cNvSpPr/>
          <p:nvPr/>
        </p:nvSpPr>
        <p:spPr>
          <a:xfrm>
            <a:off x="3086786" y="3366262"/>
            <a:ext cx="274320" cy="274320"/>
          </a:xfrm>
          <a:prstGeom prst="rightArrow">
            <a:avLst/>
          </a:prstGeom>
          <a:solidFill>
            <a:srgbClr val="B8862B"/>
          </a:solidFill>
          <a:ln/>
        </p:spPr>
      </p:sp>
      <p:sp>
        <p:nvSpPr>
          <p:cNvPr id="14" name="step-box"/>
          <p:cNvSpPr/>
          <p:nvPr/>
        </p:nvSpPr>
        <p:spPr>
          <a:xfrm>
            <a:off x="3425114" y="2655824"/>
            <a:ext cx="2464994" cy="1695196"/>
          </a:xfrm>
          <a:prstGeom prst="roundRect">
            <a:avLst>
              <a:gd name="adj" fmla="val 4315"/>
            </a:avLst>
          </a:prstGeom>
          <a:solidFill>
            <a:srgbClr val="FFFFFF"/>
          </a:solidFill>
          <a:ln w="15875">
            <a:solidFill>
              <a:srgbClr val="95AE9B"/>
            </a:solidFill>
            <a:prstDash val="solid"/>
          </a:ln>
        </p:spPr>
      </p:sp>
      <p:sp>
        <p:nvSpPr>
          <p:cNvPr id="15" name="step-hex"/>
          <p:cNvSpPr/>
          <p:nvPr/>
        </p:nvSpPr>
        <p:spPr>
          <a:xfrm>
            <a:off x="3562274" y="2765552"/>
            <a:ext cx="530352" cy="459285"/>
          </a:xfrm>
          <a:prstGeom prst="hexagon">
            <a:avLst/>
          </a:prstGeom>
          <a:solidFill>
            <a:srgbClr val="3F6B4A"/>
          </a:solidFill>
          <a:ln/>
        </p:spPr>
      </p:sp>
      <p:sp>
        <p:nvSpPr>
          <p:cNvPr id="16" name="step-hex-label"/>
          <p:cNvSpPr txBox="1"/>
          <p:nvPr/>
        </p:nvSpPr>
        <p:spPr>
          <a:xfrm>
            <a:off x="3562274"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3562274" y="3250184"/>
            <a:ext cx="2190674"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Multiply by the value of one symbol: 8.5 × 1,000,000.</a:t>
            </a:r>
            <a:endParaRPr lang="en-US" sz="1800" dirty="0"/>
          </a:p>
        </p:txBody>
      </p:sp>
      <p:sp>
        <p:nvSpPr>
          <p:cNvPr id="18" name="arrow"/>
          <p:cNvSpPr/>
          <p:nvPr/>
        </p:nvSpPr>
        <p:spPr>
          <a:xfrm>
            <a:off x="5963260" y="3366262"/>
            <a:ext cx="274320" cy="274320"/>
          </a:xfrm>
          <a:prstGeom prst="rightArrow">
            <a:avLst/>
          </a:prstGeom>
          <a:solidFill>
            <a:srgbClr val="B8862B"/>
          </a:solidFill>
          <a:ln/>
        </p:spPr>
      </p:sp>
      <p:sp>
        <p:nvSpPr>
          <p:cNvPr id="19" name="step-box"/>
          <p:cNvSpPr/>
          <p:nvPr/>
        </p:nvSpPr>
        <p:spPr>
          <a:xfrm>
            <a:off x="6301588" y="2655824"/>
            <a:ext cx="2464994" cy="1695196"/>
          </a:xfrm>
          <a:prstGeom prst="roundRect">
            <a:avLst>
              <a:gd name="adj" fmla="val 4315"/>
            </a:avLst>
          </a:prstGeom>
          <a:solidFill>
            <a:srgbClr val="FFFFFF"/>
          </a:solidFill>
          <a:ln w="15875">
            <a:solidFill>
              <a:srgbClr val="95AE9B"/>
            </a:solidFill>
            <a:prstDash val="solid"/>
          </a:ln>
        </p:spPr>
      </p:sp>
      <p:sp>
        <p:nvSpPr>
          <p:cNvPr id="20" name="step-hex"/>
          <p:cNvSpPr/>
          <p:nvPr/>
        </p:nvSpPr>
        <p:spPr>
          <a:xfrm>
            <a:off x="6438748" y="2765552"/>
            <a:ext cx="530352" cy="459285"/>
          </a:xfrm>
          <a:prstGeom prst="hexagon">
            <a:avLst/>
          </a:prstGeom>
          <a:solidFill>
            <a:srgbClr val="3F6B4A"/>
          </a:solidFill>
          <a:ln/>
        </p:spPr>
      </p:sp>
      <p:sp>
        <p:nvSpPr>
          <p:cNvPr id="21"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6438748" y="3250184"/>
            <a:ext cx="2190674"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8.5 × 1,000,000 = 8,500,000 barrels per day.</a:t>
            </a:r>
            <a:endParaRPr lang="en-US" sz="1800" dirty="0"/>
          </a:p>
        </p:txBody>
      </p:sp>
      <p:sp>
        <p:nvSpPr>
          <p:cNvPr id="23" name="arrow"/>
          <p:cNvSpPr/>
          <p:nvPr/>
        </p:nvSpPr>
        <p:spPr>
          <a:xfrm>
            <a:off x="8839733" y="3366262"/>
            <a:ext cx="274320" cy="274320"/>
          </a:xfrm>
          <a:prstGeom prst="rightArrow">
            <a:avLst/>
          </a:prstGeom>
          <a:solidFill>
            <a:srgbClr val="B8862B"/>
          </a:solidFill>
          <a:ln/>
        </p:spPr>
      </p:sp>
      <p:sp>
        <p:nvSpPr>
          <p:cNvPr id="24" name="step-box"/>
          <p:cNvSpPr/>
          <p:nvPr/>
        </p:nvSpPr>
        <p:spPr>
          <a:xfrm>
            <a:off x="9178061" y="2655824"/>
            <a:ext cx="2464994" cy="1695196"/>
          </a:xfrm>
          <a:prstGeom prst="roundRect">
            <a:avLst>
              <a:gd name="adj" fmla="val 4315"/>
            </a:avLst>
          </a:prstGeom>
          <a:solidFill>
            <a:srgbClr val="FFFFFF"/>
          </a:solidFill>
          <a:ln w="15875">
            <a:solidFill>
              <a:srgbClr val="95AE9B"/>
            </a:solidFill>
            <a:prstDash val="solid"/>
          </a:ln>
        </p:spPr>
      </p:sp>
      <p:sp>
        <p:nvSpPr>
          <p:cNvPr id="25" name="step-hex"/>
          <p:cNvSpPr/>
          <p:nvPr/>
        </p:nvSpPr>
        <p:spPr>
          <a:xfrm>
            <a:off x="9315221" y="2765552"/>
            <a:ext cx="530352" cy="459285"/>
          </a:xfrm>
          <a:prstGeom prst="hexagon">
            <a:avLst/>
          </a:prstGeom>
          <a:solidFill>
            <a:srgbClr val="3F6B4A"/>
          </a:solidFill>
          <a:ln/>
        </p:spPr>
      </p:sp>
      <p:sp>
        <p:nvSpPr>
          <p:cNvPr id="26" name="step-hex-label"/>
          <p:cNvSpPr txBox="1"/>
          <p:nvPr/>
        </p:nvSpPr>
        <p:spPr>
          <a:xfrm>
            <a:off x="9315221"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7" name="step"/>
          <p:cNvSpPr txBox="1"/>
          <p:nvPr/>
        </p:nvSpPr>
        <p:spPr>
          <a:xfrm>
            <a:off x="9315221" y="3250184"/>
            <a:ext cx="2190674"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Write the units: barrels of oil per day.</a:t>
            </a:r>
            <a:endParaRPr lang="en-US" sz="1800" dirty="0"/>
          </a:p>
        </p:txBody>
      </p:sp>
      <p:sp>
        <p:nvSpPr>
          <p:cNvPr id="28" name="worked-answer"/>
          <p:cNvSpPr/>
          <p:nvPr/>
        </p:nvSpPr>
        <p:spPr>
          <a:xfrm>
            <a:off x="1463040" y="5592572"/>
            <a:ext cx="9265615" cy="552196"/>
          </a:xfrm>
          <a:prstGeom prst="roundRect">
            <a:avLst>
              <a:gd name="adj" fmla="val 33119"/>
            </a:avLst>
          </a:prstGeom>
          <a:solidFill>
            <a:srgbClr val="EDE1CA"/>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8,500,000 barrels of oil per day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Why do some countries suffer energy insecurity?</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PEPT: Physical, Economic, Political, Technological. Two developed causes earn four marks; a list of four undeveloped ones does not.</a:t>
            </a:r>
            <a:endParaRPr lang="en-US" sz="1800" dirty="0"/>
          </a:p>
        </p:txBody>
      </p:sp>
      <p:sp>
        <p:nvSpPr>
          <p:cNvPr id="11" name="point-card"/>
          <p:cNvSpPr/>
          <p:nvPr/>
        </p:nvSpPr>
        <p:spPr>
          <a:xfrm>
            <a:off x="548640" y="1389888"/>
            <a:ext cx="3515258" cy="3686048"/>
          </a:xfrm>
          <a:prstGeom prst="roundRect">
            <a:avLst>
              <a:gd name="adj" fmla="val 1561"/>
            </a:avLst>
          </a:prstGeom>
          <a:solidFill>
            <a:srgbClr val="ECF0ED"/>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lesson sorted the causes of energy insecurity under four headings.</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Political causes are about people and governments: war, unstable government or a dispute with a neighbouring country can cut off a pipeline or stop imports, and a country that depends on one supplier is at that supplier's mercy.</a:t>
            </a:r>
            <a:endParaRPr lang="en-US" sz="1800" dirty="0"/>
          </a:p>
        </p:txBody>
      </p:sp>
      <p:sp>
        <p:nvSpPr>
          <p:cNvPr id="19" name="point-card"/>
          <p:cNvSpPr/>
          <p:nvPr/>
        </p:nvSpPr>
        <p:spPr>
          <a:xfrm>
            <a:off x="8127797" y="1389888"/>
            <a:ext cx="3515258" cy="3686048"/>
          </a:xfrm>
          <a:prstGeom prst="roundRect">
            <a:avLst>
              <a:gd name="adj" fmla="val 1561"/>
            </a:avLst>
          </a:prstGeom>
          <a:solidFill>
            <a:srgbClr val="ECF0ED"/>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 four-mark describe or explain question on this topic wants two causes, each developed.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Which energy word?</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A country produces more energy than its homes and industries use. Which term describes its situation?</a:t>
            </a:r>
            <a:endParaRPr lang="en-US" sz="2600" dirty="0"/>
          </a:p>
          <a:p>
            <a:pPr algn="ctr" indent="0" marL="0">
              <a:buNone/>
            </a:pPr>
            <a:r>
              <a:rPr lang="en-US" sz="2400" b="1" dirty="0">
                <a:solidFill>
                  <a:srgbClr val="B8862B"/>
                </a:solidFill>
                <a:latin typeface="Calibri" pitchFamily="34" charset="0"/>
                <a:ea typeface="Calibri" pitchFamily="34" charset="-122"/>
                <a:cs typeface="Calibri" pitchFamily="34" charset="-120"/>
              </a:rPr>
              <a:t>A  </a:t>
            </a:r>
            <a:pPr algn="ctr" indent="0" marL="0">
              <a:buNone/>
            </a:pPr>
            <a:r>
              <a:rPr lang="en-US" sz="2400" dirty="0">
                <a:solidFill>
                  <a:srgbClr val="1E2229"/>
                </a:solidFill>
                <a:latin typeface="Calibri" pitchFamily="34" charset="0"/>
                <a:ea typeface="Calibri" pitchFamily="34" charset="-122"/>
                <a:cs typeface="Calibri" pitchFamily="34" charset="-120"/>
              </a:rPr>
              <a:t>Energy deficit      </a:t>
            </a:r>
            <a:pPr algn="ctr" indent="0" marL="0">
              <a:buNone/>
            </a:pPr>
            <a:r>
              <a:rPr lang="en-US" sz="2400" b="1" dirty="0">
                <a:solidFill>
                  <a:srgbClr val="B8862B"/>
                </a:solidFill>
                <a:latin typeface="Calibri" pitchFamily="34" charset="0"/>
                <a:ea typeface="Calibri" pitchFamily="34" charset="-122"/>
                <a:cs typeface="Calibri" pitchFamily="34" charset="-120"/>
              </a:rPr>
              <a:t>B  </a:t>
            </a:r>
            <a:pPr algn="ctr" indent="0" marL="0">
              <a:buNone/>
            </a:pPr>
            <a:r>
              <a:rPr lang="en-US" sz="2400" dirty="0">
                <a:solidFill>
                  <a:srgbClr val="1E2229"/>
                </a:solidFill>
                <a:latin typeface="Calibri" pitchFamily="34" charset="0"/>
                <a:ea typeface="Calibri" pitchFamily="34" charset="-122"/>
                <a:cs typeface="Calibri" pitchFamily="34" charset="-120"/>
              </a:rPr>
              <a:t>Energy insecurity      </a:t>
            </a:r>
            <a:pPr algn="ctr" indent="0" marL="0">
              <a:buNone/>
            </a:pPr>
            <a:r>
              <a:rPr lang="en-US" sz="2400" b="1" dirty="0">
                <a:solidFill>
                  <a:srgbClr val="B8862B"/>
                </a:solidFill>
                <a:latin typeface="Calibri" pitchFamily="34" charset="0"/>
                <a:ea typeface="Calibri" pitchFamily="34" charset="-122"/>
                <a:cs typeface="Calibri" pitchFamily="34" charset="-120"/>
              </a:rPr>
              <a:t>C  </a:t>
            </a:r>
            <a:pPr algn="ctr" indent="0" marL="0">
              <a:buNone/>
            </a:pPr>
            <a:r>
              <a:rPr lang="en-US" sz="2400" dirty="0">
                <a:solidFill>
                  <a:srgbClr val="1E2229"/>
                </a:solidFill>
                <a:latin typeface="Calibri" pitchFamily="34" charset="0"/>
                <a:ea typeface="Calibri" pitchFamily="34" charset="-122"/>
                <a:cs typeface="Calibri" pitchFamily="34" charset="-120"/>
              </a:rPr>
              <a:t>Energy surplus      </a:t>
            </a:r>
            <a:pPr algn="ctr" indent="0" marL="0">
              <a:buNone/>
            </a:pPr>
            <a:r>
              <a:rPr lang="en-US" sz="2400" b="1" dirty="0">
                <a:solidFill>
                  <a:srgbClr val="B8862B"/>
                </a:solidFill>
                <a:latin typeface="Calibri" pitchFamily="34" charset="0"/>
                <a:ea typeface="Calibri" pitchFamily="34" charset="-122"/>
                <a:cs typeface="Calibri" pitchFamily="34" charset="-120"/>
              </a:rPr>
              <a:t>D  </a:t>
            </a:r>
            <a:pPr algn="ctr" indent="0" marL="0">
              <a:buNone/>
            </a:pPr>
            <a:r>
              <a:rPr lang="en-US" sz="2400" dirty="0">
                <a:solidFill>
                  <a:srgbClr val="1E2229"/>
                </a:solidFill>
                <a:latin typeface="Calibri" pitchFamily="34" charset="0"/>
                <a:ea typeface="Calibri" pitchFamily="34" charset="-122"/>
                <a:cs typeface="Calibri" pitchFamily="34" charset="-120"/>
              </a:rPr>
              <a:t>Energy mix</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Same task, three ways in: Which energy word?</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country produces more energy than its homes and industries use. Which term describes its situation?</a:t>
            </a:r>
            <a:endParaRPr lang="en-US" sz="2000" dirty="0"/>
          </a:p>
        </p:txBody>
      </p:sp>
      <p:sp>
        <p:nvSpPr>
          <p:cNvPr id="12" name="col-Support"/>
          <p:cNvSpPr/>
          <p:nvPr/>
        </p:nvSpPr>
        <p:spPr>
          <a:xfrm>
            <a:off x="548640" y="2593848"/>
            <a:ext cx="4667802" cy="3550920"/>
          </a:xfrm>
          <a:prstGeom prst="roundRect">
            <a:avLst>
              <a:gd name="adj" fmla="val 1545"/>
            </a:avLst>
          </a:prstGeom>
          <a:solidFill>
            <a:srgbClr val="ECF0ED"/>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4393482"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is supply bigger than demand, or smaller?</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Here the country produces MORE than it uses, so supply is bigger.</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Supply bigger than demand is a surplus; demand bigger than supply is insecurity.</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Energy mix is about the TYPES of energy, not the amount, so rule it out.</a:t>
            </a:r>
            <a:endParaRPr lang="en-US" sz="1800" dirty="0"/>
          </a:p>
        </p:txBody>
      </p:sp>
      <p:sp>
        <p:nvSpPr>
          <p:cNvPr id="17" name="col-Core"/>
          <p:cNvSpPr/>
          <p:nvPr/>
        </p:nvSpPr>
        <p:spPr>
          <a:xfrm>
            <a:off x="5490762" y="2593848"/>
            <a:ext cx="2938987" cy="3550920"/>
          </a:xfrm>
          <a:prstGeom prst="roundRect">
            <a:avLst>
              <a:gd name="adj" fmla="val 1867"/>
            </a:avLst>
          </a:prstGeom>
          <a:solidFill>
            <a:srgbClr val="D5DED7"/>
          </a:solidFill>
          <a:ln/>
        </p:spPr>
      </p:sp>
      <p:sp>
        <p:nvSpPr>
          <p:cNvPr id="18" name="col-hex"/>
          <p:cNvSpPr/>
          <p:nvPr/>
        </p:nvSpPr>
        <p:spPr>
          <a:xfrm>
            <a:off x="5600490"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Surplus = supply greater than demand. Insecurity = demand greater than production.</a:t>
            </a:r>
            <a:endParaRPr lang="en-US" sz="1800" dirty="0"/>
          </a:p>
        </p:txBody>
      </p:sp>
      <p:sp>
        <p:nvSpPr>
          <p:cNvPr id="22" name="col-Stretch"/>
          <p:cNvSpPr/>
          <p:nvPr/>
        </p:nvSpPr>
        <p:spPr>
          <a:xfrm>
            <a:off x="8704069" y="2593848"/>
            <a:ext cx="2938987" cy="3550920"/>
          </a:xfrm>
          <a:prstGeom prst="roundRect">
            <a:avLst>
              <a:gd name="adj" fmla="val 1867"/>
            </a:avLst>
          </a:prstGeom>
          <a:solidFill>
            <a:srgbClr val="3F6B4A"/>
          </a:solidFill>
          <a:ln/>
        </p:spPr>
      </p:sp>
      <p:sp>
        <p:nvSpPr>
          <p:cNvPr id="23" name="col-hex"/>
          <p:cNvSpPr/>
          <p:nvPr/>
        </p:nvSpPr>
        <p:spPr>
          <a:xfrm>
            <a:off x="8813797"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a country with an energy surplus from a single source, such as oil, might still worry about its long-term energy security.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The task: Three ways to map the world's energy</a:t>
            </a:r>
            <a:endParaRPr lang="en-US" sz="30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type of map or chart to how it shows the data.</a:t>
            </a:r>
            <a:endParaRPr lang="en-US" sz="2400" dirty="0"/>
          </a:p>
        </p:txBody>
      </p:sp>
      <p:sp>
        <p:nvSpPr>
          <p:cNvPr id="11" name="match-card"/>
          <p:cNvSpPr/>
          <p:nvPr/>
        </p:nvSpPr>
        <p:spPr>
          <a:xfrm>
            <a:off x="777240" y="2468331"/>
            <a:ext cx="3081437" cy="1103559"/>
          </a:xfrm>
          <a:prstGeom prst="roundRect">
            <a:avLst>
              <a:gd name="adj" fmla="val 6629"/>
            </a:avLst>
          </a:prstGeom>
          <a:solidFill>
            <a:srgbClr val="F0F3F1"/>
          </a:solidFill>
          <a:ln/>
        </p:spPr>
      </p:sp>
      <p:sp>
        <p:nvSpPr>
          <p:cNvPr id="12" name="match-hex"/>
          <p:cNvSpPr/>
          <p:nvPr/>
        </p:nvSpPr>
        <p:spPr>
          <a:xfrm>
            <a:off x="850392" y="2853818"/>
            <a:ext cx="384048" cy="332586"/>
          </a:xfrm>
          <a:prstGeom prst="hexagon">
            <a:avLst/>
          </a:prstGeom>
          <a:solidFill>
            <a:srgbClr val="3F6B4A"/>
          </a:solidFill>
          <a:ln/>
        </p:spPr>
      </p:sp>
      <p:sp>
        <p:nvSpPr>
          <p:cNvPr id="13" name="match-hex-label"/>
          <p:cNvSpPr txBox="1"/>
          <p:nvPr/>
        </p:nvSpPr>
        <p:spPr>
          <a:xfrm>
            <a:off x="850392" y="28538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Choropleth map</a:t>
            </a:r>
            <a:endParaRPr lang="en-US" sz="2200" dirty="0"/>
          </a:p>
        </p:txBody>
      </p:sp>
      <p:sp>
        <p:nvSpPr>
          <p:cNvPr id="15" name="match-card"/>
          <p:cNvSpPr/>
          <p:nvPr/>
        </p:nvSpPr>
        <p:spPr>
          <a:xfrm>
            <a:off x="4224437" y="2468331"/>
            <a:ext cx="7190019" cy="1103559"/>
          </a:xfrm>
          <a:prstGeom prst="roundRect">
            <a:avLst>
              <a:gd name="adj" fmla="val 6629"/>
            </a:avLst>
          </a:prstGeom>
          <a:solidFill>
            <a:srgbClr val="F6F0E6"/>
          </a:solidFill>
          <a:ln/>
        </p:spPr>
      </p:sp>
      <p:sp>
        <p:nvSpPr>
          <p:cNvPr id="16" name="match-hex"/>
          <p:cNvSpPr/>
          <p:nvPr/>
        </p:nvSpPr>
        <p:spPr>
          <a:xfrm>
            <a:off x="4297589" y="2853818"/>
            <a:ext cx="384048" cy="332586"/>
          </a:xfrm>
          <a:prstGeom prst="hexagon">
            <a:avLst/>
          </a:prstGeom>
          <a:solidFill>
            <a:srgbClr val="B8862B"/>
          </a:solidFill>
          <a:ln/>
        </p:spPr>
      </p:sp>
      <p:sp>
        <p:nvSpPr>
          <p:cNvPr id="17" name="match-hex-label"/>
          <p:cNvSpPr txBox="1"/>
          <p:nvPr/>
        </p:nvSpPr>
        <p:spPr>
          <a:xfrm>
            <a:off x="4297589" y="28538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Repeated picture symbols, each standing for a fixed amount such as 1,000,000 barrels a day</a:t>
            </a:r>
            <a:endParaRPr lang="en-US" sz="2200" dirty="0"/>
          </a:p>
        </p:txBody>
      </p:sp>
      <p:sp>
        <p:nvSpPr>
          <p:cNvPr id="19" name="match-card"/>
          <p:cNvSpPr/>
          <p:nvPr/>
        </p:nvSpPr>
        <p:spPr>
          <a:xfrm>
            <a:off x="777240" y="3663330"/>
            <a:ext cx="3081437" cy="1103559"/>
          </a:xfrm>
          <a:prstGeom prst="roundRect">
            <a:avLst>
              <a:gd name="adj" fmla="val 6629"/>
            </a:avLst>
          </a:prstGeom>
          <a:solidFill>
            <a:srgbClr val="F0F3F1"/>
          </a:solidFill>
          <a:ln/>
        </p:spPr>
      </p:sp>
      <p:sp>
        <p:nvSpPr>
          <p:cNvPr id="20" name="match-hex"/>
          <p:cNvSpPr/>
          <p:nvPr/>
        </p:nvSpPr>
        <p:spPr>
          <a:xfrm>
            <a:off x="850392" y="4048817"/>
            <a:ext cx="384048" cy="332586"/>
          </a:xfrm>
          <a:prstGeom prst="hexagon">
            <a:avLst/>
          </a:prstGeom>
          <a:solidFill>
            <a:srgbClr val="3F6B4A"/>
          </a:solidFill>
          <a:ln/>
        </p:spPr>
      </p:sp>
      <p:sp>
        <p:nvSpPr>
          <p:cNvPr id="21" name="match-hex-label"/>
          <p:cNvSpPr txBox="1"/>
          <p:nvPr/>
        </p:nvSpPr>
        <p:spPr>
          <a:xfrm>
            <a:off x="850392" y="404881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663330"/>
            <a:ext cx="2487077"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Proportional circle map</a:t>
            </a:r>
            <a:endParaRPr lang="en-US" sz="2200" dirty="0"/>
          </a:p>
        </p:txBody>
      </p:sp>
      <p:sp>
        <p:nvSpPr>
          <p:cNvPr id="23" name="match-card"/>
          <p:cNvSpPr/>
          <p:nvPr/>
        </p:nvSpPr>
        <p:spPr>
          <a:xfrm>
            <a:off x="4224437" y="3663330"/>
            <a:ext cx="7190019" cy="1103559"/>
          </a:xfrm>
          <a:prstGeom prst="roundRect">
            <a:avLst>
              <a:gd name="adj" fmla="val 6629"/>
            </a:avLst>
          </a:prstGeom>
          <a:solidFill>
            <a:srgbClr val="F6F0E6"/>
          </a:solidFill>
          <a:ln/>
        </p:spPr>
      </p:sp>
      <p:sp>
        <p:nvSpPr>
          <p:cNvPr id="24" name="match-hex"/>
          <p:cNvSpPr/>
          <p:nvPr/>
        </p:nvSpPr>
        <p:spPr>
          <a:xfrm>
            <a:off x="4297589" y="4048817"/>
            <a:ext cx="384048" cy="332586"/>
          </a:xfrm>
          <a:prstGeom prst="hexagon">
            <a:avLst/>
          </a:prstGeom>
          <a:solidFill>
            <a:srgbClr val="B8862B"/>
          </a:solidFill>
          <a:ln/>
        </p:spPr>
      </p:sp>
      <p:sp>
        <p:nvSpPr>
          <p:cNvPr id="25" name="match-hex-label"/>
          <p:cNvSpPr txBox="1"/>
          <p:nvPr/>
        </p:nvSpPr>
        <p:spPr>
          <a:xfrm>
            <a:off x="4297589" y="404881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663330"/>
            <a:ext cx="6595659"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circle is drawn at each place, sized in proportion to the amount</a:t>
            </a:r>
            <a:endParaRPr lang="en-US" sz="2200" dirty="0"/>
          </a:p>
        </p:txBody>
      </p:sp>
      <p:sp>
        <p:nvSpPr>
          <p:cNvPr id="27" name="match-card"/>
          <p:cNvSpPr/>
          <p:nvPr/>
        </p:nvSpPr>
        <p:spPr>
          <a:xfrm>
            <a:off x="777240" y="4858329"/>
            <a:ext cx="3081437" cy="1103559"/>
          </a:xfrm>
          <a:prstGeom prst="roundRect">
            <a:avLst>
              <a:gd name="adj" fmla="val 6629"/>
            </a:avLst>
          </a:prstGeom>
          <a:solidFill>
            <a:srgbClr val="F0F3F1"/>
          </a:solidFill>
          <a:ln/>
        </p:spPr>
      </p:sp>
      <p:sp>
        <p:nvSpPr>
          <p:cNvPr id="28" name="match-hex"/>
          <p:cNvSpPr/>
          <p:nvPr/>
        </p:nvSpPr>
        <p:spPr>
          <a:xfrm>
            <a:off x="850392" y="5243816"/>
            <a:ext cx="384048" cy="332586"/>
          </a:xfrm>
          <a:prstGeom prst="hexagon">
            <a:avLst/>
          </a:prstGeom>
          <a:solidFill>
            <a:srgbClr val="3F6B4A"/>
          </a:solidFill>
          <a:ln/>
        </p:spPr>
      </p:sp>
      <p:sp>
        <p:nvSpPr>
          <p:cNvPr id="29" name="match-hex-label"/>
          <p:cNvSpPr txBox="1"/>
          <p:nvPr/>
        </p:nvSpPr>
        <p:spPr>
          <a:xfrm>
            <a:off x="850392" y="52438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858329"/>
            <a:ext cx="2487077"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Pictogram</a:t>
            </a:r>
            <a:endParaRPr lang="en-US" sz="2200" dirty="0"/>
          </a:p>
        </p:txBody>
      </p:sp>
      <p:sp>
        <p:nvSpPr>
          <p:cNvPr id="31" name="match-card"/>
          <p:cNvSpPr/>
          <p:nvPr/>
        </p:nvSpPr>
        <p:spPr>
          <a:xfrm>
            <a:off x="4224437" y="4858329"/>
            <a:ext cx="7190019" cy="1103559"/>
          </a:xfrm>
          <a:prstGeom prst="roundRect">
            <a:avLst>
              <a:gd name="adj" fmla="val 6629"/>
            </a:avLst>
          </a:prstGeom>
          <a:solidFill>
            <a:srgbClr val="F6F0E6"/>
          </a:solidFill>
          <a:ln/>
        </p:spPr>
      </p:sp>
      <p:sp>
        <p:nvSpPr>
          <p:cNvPr id="32" name="match-hex"/>
          <p:cNvSpPr/>
          <p:nvPr/>
        </p:nvSpPr>
        <p:spPr>
          <a:xfrm>
            <a:off x="4297589" y="5243816"/>
            <a:ext cx="384048" cy="332586"/>
          </a:xfrm>
          <a:prstGeom prst="hexagon">
            <a:avLst/>
          </a:prstGeom>
          <a:solidFill>
            <a:srgbClr val="B8862B"/>
          </a:solidFill>
          <a:ln/>
        </p:spPr>
      </p:sp>
      <p:sp>
        <p:nvSpPr>
          <p:cNvPr id="33" name="match-hex-label"/>
          <p:cNvSpPr txBox="1"/>
          <p:nvPr/>
        </p:nvSpPr>
        <p:spPr>
          <a:xfrm>
            <a:off x="4297589" y="52438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4858329"/>
            <a:ext cx="6595659"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Each country is shaded, with darker colours for higher values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3F6B4A"/>
                </a:solidFill>
                <a:latin typeface="Cambria" pitchFamily="34" charset="0"/>
                <a:ea typeface="Cambria" pitchFamily="34" charset="-122"/>
                <a:cs typeface="Cambria" pitchFamily="34" charset="-120"/>
              </a:rPr>
              <a:t>Same task, three ways in: Three ways to map the world's energy</a:t>
            </a:r>
            <a:endParaRPr lang="en-US" sz="24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type of map or chart to how it shows the data.</a:t>
            </a:r>
            <a:endParaRPr lang="en-US" sz="2000" dirty="0"/>
          </a:p>
        </p:txBody>
      </p:sp>
      <p:sp>
        <p:nvSpPr>
          <p:cNvPr id="12" name="col-Support"/>
          <p:cNvSpPr/>
          <p:nvPr/>
        </p:nvSpPr>
        <p:spPr>
          <a:xfrm>
            <a:off x="548640" y="2578608"/>
            <a:ext cx="3515258" cy="3566160"/>
          </a:xfrm>
          <a:prstGeom prst="roundRect">
            <a:avLst>
              <a:gd name="adj" fmla="val 1561"/>
            </a:avLst>
          </a:prstGeom>
          <a:solidFill>
            <a:srgbClr val="ECF0ED"/>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3240938"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Picto means picture: which description mentions picture symbols?</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Proportional means in proportion: which description is about size matching amount?</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one left is the shaded map. Choropleth maps always use shading.</a:t>
            </a:r>
            <a:endParaRPr lang="en-US" sz="1800" dirty="0"/>
          </a:p>
        </p:txBody>
      </p:sp>
      <p:sp>
        <p:nvSpPr>
          <p:cNvPr id="17" name="col-Core"/>
          <p:cNvSpPr/>
          <p:nvPr/>
        </p:nvSpPr>
        <p:spPr>
          <a:xfrm>
            <a:off x="4338218" y="2578608"/>
            <a:ext cx="3515258" cy="3566160"/>
          </a:xfrm>
          <a:prstGeom prst="roundRect">
            <a:avLst>
              <a:gd name="adj" fmla="val 1561"/>
            </a:avLst>
          </a:prstGeom>
          <a:solidFill>
            <a:srgbClr val="D5DED7"/>
          </a:solidFill>
          <a:ln/>
        </p:spPr>
      </p:sp>
      <p:sp>
        <p:nvSpPr>
          <p:cNvPr id="18" name="col-hex"/>
          <p:cNvSpPr/>
          <p:nvPr/>
        </p:nvSpPr>
        <p:spPr>
          <a:xfrm>
            <a:off x="4447946"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18688"/>
            <a:ext cx="3240938" cy="281635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Shading, circle size, repeated symbols: one each.</a:t>
            </a:r>
            <a:endParaRPr lang="en-US" sz="1800" dirty="0"/>
          </a:p>
        </p:txBody>
      </p:sp>
      <p:sp>
        <p:nvSpPr>
          <p:cNvPr id="22" name="col-Stretch"/>
          <p:cNvSpPr/>
          <p:nvPr/>
        </p:nvSpPr>
        <p:spPr>
          <a:xfrm>
            <a:off x="8127797" y="2578608"/>
            <a:ext cx="3515258" cy="3566160"/>
          </a:xfrm>
          <a:prstGeom prst="roundRect">
            <a:avLst>
              <a:gd name="adj" fmla="val 1561"/>
            </a:avLst>
          </a:prstGeom>
          <a:solidFill>
            <a:srgbClr val="3F6B4A"/>
          </a:solidFill>
          <a:ln/>
        </p:spPr>
      </p:sp>
      <p:sp>
        <p:nvSpPr>
          <p:cNvPr id="23" name="col-hex"/>
          <p:cNvSpPr/>
          <p:nvPr/>
        </p:nvSpPr>
        <p:spPr>
          <a:xfrm>
            <a:off x="8237525"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18688"/>
            <a:ext cx="3240938"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For each of the three, give one way it can be misleading, and say which you would choose to show energy consumption PER PERSON and why.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1363980"/>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Energy ___ means having a reliable, uninterrupted and affordable supply of energy.</a:t>
            </a:r>
            <a:endParaRPr lang="en-US" sz="2400" dirty="0"/>
          </a:p>
          <a:p>
            <a:pPr algn="l" indent="0" marL="0">
              <a:buNone/>
            </a:pPr>
            <a:r>
              <a:rPr lang="en-US" sz="2200" b="1" dirty="0">
                <a:solidFill>
                  <a:srgbClr val="3F6B4A"/>
                </a:solidFill>
                <a:latin typeface="Calibri" pitchFamily="34" charset="0"/>
                <a:ea typeface="Calibri" pitchFamily="34" charset="-122"/>
                <a:cs typeface="Calibri" pitchFamily="34" charset="-120"/>
              </a:rPr>
              <a:t>Word bank:  </a:t>
            </a:r>
            <a:pPr algn="l" indent="0" marL="0">
              <a:buNone/>
            </a:pPr>
            <a:r>
              <a:rPr lang="en-US" sz="2200" dirty="0">
                <a:solidFill>
                  <a:srgbClr val="1E2229"/>
                </a:solidFill>
                <a:latin typeface="Calibri" pitchFamily="34" charset="0"/>
                <a:ea typeface="Calibri" pitchFamily="34" charset="-122"/>
                <a:cs typeface="Calibri" pitchFamily="34" charset="-120"/>
              </a:rPr>
              <a:t>security   ·   surplus   ·   insecurity</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2F5F2"/>
          </a:solidFill>
          <a:ln w="12700">
            <a:solidFill>
              <a:srgbClr val="9FB5A5"/>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Which energy word?</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country produces more energy than its homes and industries use. Which term describes its situation?</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C   Energy surplus</a:t>
            </a:r>
            <a:endParaRPr lang="en-US" sz="1800" dirty="0"/>
          </a:p>
        </p:txBody>
      </p:sp>
      <p:sp>
        <p:nvSpPr>
          <p:cNvPr id="10" name="why-panel"/>
          <p:cNvSpPr/>
          <p:nvPr/>
        </p:nvSpPr>
        <p:spPr>
          <a:xfrm>
            <a:off x="7223760" y="1389888"/>
            <a:ext cx="4419295" cy="4754880"/>
          </a:xfrm>
          <a:prstGeom prst="roundRect">
            <a:avLst>
              <a:gd name="adj" fmla="val 1035"/>
            </a:avLst>
          </a:prstGeom>
          <a:solidFill>
            <a:srgbClr val="ECF0ED"/>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Supply exceeds demand, which is the definition of an energy surplus. Insecurity and deficit both mean shortage, and the energy mix describes the types of energy used, not the balance.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Answers: Three ways to map the world's energy</a:t>
            </a:r>
            <a:endParaRPr lang="en-US" sz="30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Choropleth map  →  C  Each country is shaded, with darker colours for higher values</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Proportional circle map  →  B  A circle is drawn at each place, sized in proportion to the amount</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Pictogram  →  A  Repeated picture symbols, each standing for a fixed amount such as 1,000,000 barrels a day</a:t>
            </a:r>
            <a:endParaRPr lang="en-US" sz="2400" dirty="0"/>
          </a:p>
        </p:txBody>
      </p:sp>
      <p:sp>
        <p:nvSpPr>
          <p:cNvPr id="10" name="why-panel"/>
          <p:cNvSpPr/>
          <p:nvPr/>
        </p:nvSpPr>
        <p:spPr>
          <a:xfrm>
            <a:off x="7223760" y="1389888"/>
            <a:ext cx="4419295" cy="4754880"/>
          </a:xfrm>
          <a:prstGeom prst="roundRect">
            <a:avLst>
              <a:gd name="adj" fmla="val 1035"/>
            </a:avLst>
          </a:prstGeom>
          <a:solidFill>
            <a:srgbClr val="ECF0ED"/>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Choropleth maps shade areas by category; proportional circle maps size a circle to the amount; pictograms repeat a symbol worth a fixed amount. Each shows the same uneven pattern in a different way.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Energy ___ means having a reliable, uninterrupted and affordable supply of energy.</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Energy security means having a reliable, uninterrupted and affordable supply of energy.</a:t>
            </a:r>
            <a:endParaRPr lang="en-US" sz="1800" dirty="0"/>
          </a:p>
        </p:txBody>
      </p:sp>
      <p:sp>
        <p:nvSpPr>
          <p:cNvPr id="10" name="why-panel"/>
          <p:cNvSpPr/>
          <p:nvPr/>
        </p:nvSpPr>
        <p:spPr>
          <a:xfrm>
            <a:off x="7223760" y="1389888"/>
            <a:ext cx="4419295" cy="4754880"/>
          </a:xfrm>
          <a:prstGeom prst="roundRect">
            <a:avLst>
              <a:gd name="adj" fmla="val 1035"/>
            </a:avLst>
          </a:prstGeom>
          <a:solidFill>
            <a:srgbClr val="ECF0ED"/>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lesson's definition: energy security is a reliable, uninterrupted and affordable supply.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ECF0ED"/>
      </a:lt2>
      <a:accent1>
        <a:srgbClr val="3F6B4A"/>
      </a:accent1>
      <a:accent2>
        <a:srgbClr val="B8862B"/>
      </a:accent2>
      <a:accent3>
        <a:srgbClr val="8CA692"/>
      </a:accent3>
      <a:accent4>
        <a:srgbClr val="815E1E"/>
      </a:accent4>
      <a:accent5>
        <a:srgbClr val="4A505C"/>
      </a:accent5>
      <a:accent6>
        <a:srgbClr val="DCC395"/>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Challenge of Resource Management · Chapter 3: Energy security and the world's unequal energy</dc:title>
  <dc:subject>Geography · Year 9</dc:subject>
  <dc:creator>Dr Vitor Merissi de Carvalho</dc:creator>
  <cp:lastModifiedBy>Dr Vitor Merissi de Carvalho</cp:lastModifiedBy>
  <cp:revision>1</cp:revision>
  <dcterms:created xsi:type="dcterms:W3CDTF">2026-10-19T16:22:55Z</dcterms:created>
  <dcterms:modified xsi:type="dcterms:W3CDTF">2026-10-19T16:22:55Z</dcterms:modified>
</cp:coreProperties>
</file>