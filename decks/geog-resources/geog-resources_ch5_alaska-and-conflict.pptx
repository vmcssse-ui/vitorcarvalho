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386a697-7e3a-ab42-bb36-abdc9cf203e8}">
          <p14:sldIdLst>
            <p14:sldId id="256"/>
          </p14:sldIdLst>
        </p14:section>
        <p14:section name="Gate" id="{eb26a72c-50a8-cb8a-0743-b7cd682930a8}">
          <p14:sldIdLst>
            <p14:sldId id="257"/>
            <p14:sldId id="258"/>
          </p14:sldIdLst>
        </p14:section>
        <p14:section name="Pre-teach" id="{23ceda27-5041-07bb-a449-35d90ac18537}">
          <p14:sldIdLst>
            <p14:sldId id="259"/>
            <p14:sldId id="260"/>
          </p14:sldIdLst>
        </p14:section>
        <p14:section name="Read-along" id="{e693a106-e20c-443e-a591-44ed3d14a250}">
          <p14:sldIdLst>
            <p14:sldId id="261"/>
            <p14:sldId id="262"/>
          </p14:sldIdLst>
        </p14:section>
        <p14:section name="Teach" id="{ce69dfc7-6390-305e-65c3-9e194b108d89}">
          <p14:sldIdLst>
            <p14:sldId id="263"/>
            <p14:sldId id="264"/>
            <p14:sldId id="265"/>
            <p14:sldId id="266"/>
            <p14:sldId id="267"/>
            <p14:sldId id="268"/>
          </p14:sldIdLst>
        </p14:section>
        <p14:section name="Routes" id="{85543a21-7333-6b1e-3dd0-5f19206dd534}">
          <p14:sldIdLst>
            <p14:sldId id="269"/>
            <p14:sldId id="270"/>
            <p14:sldId id="271"/>
            <p14:sldId id="272"/>
          </p14:sldIdLst>
        </p14:section>
        <p14:section name="Close" id="{fa0dac34-5742-8261-b288-6794b18d44b9}">
          <p14:sldIdLst>
            <p14:sldId id="273"/>
          </p14:sldIdLst>
        </p14:section>
        <p14:section name="Answers" id="{fee062de-7733-7655-b185-6afbcf4963fe}">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Oil in the Arctic, and the conflicts resources cause. Why the tundra of Alaska is so fragile, the arguments for and against drilling for oil in the Arctic National Wildlife Refuge, and why resources so often lead to conflict.
This deck covers the department's lessons: 8 (Oil drilling in Alaska: the Arctic National Wildlife Refuge: Should oil be drilled in the Arctic National Wildlife Refuge, and what does the tundra have to lose?); 9 (Resources and conflict: How and why can resources cause conflict?).
Read the big question aloud: "Can the world supply enough food, water and energy for everyone without using up the planet, and how should the UK manage its own supply?"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million gallons of oil did the tanker Exxon Valdez release into the environment in 1989?  →  11 million gallons
2. What is permafrost?  →  D   A layer of frozen soil and dead plants beneath the surface that stays frozen all year
3. Conflict means a serious disagreement or a prolonged ___ between people who oppose each other.  →  struggle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11 million gallons. The Exxon Valdez struck a reef in Prince William Sound in 1989 and released 11 million gallons of oil; the beaches are still polluted today.
2. D   A layer of frozen soil and dead plants beneath the surface that stays frozen all year. Permafrost is permanently frozen ground: soil and dead plant material that can extend 450 metres down. Heat and pressure from buildings and roads make it melt.
3. struggle. The lesson gave several meanings for conflict: coming into disagreement, opposing someone, fighting, controversy, and a struggle that drags 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tundra: a cold, treeless landscape where the ground is frozen for most of the year. Example: "The Arctic tundra has a very short summer."
• permafrost: a layer of soil and dead plants that stays frozen all year. Example: "Buildings can melt the permafrost beneath them."
• refuge: a protected area where wildlife is kept safe. Example: "The Arctic National Wildlife Refuge is home to caribou and Native Alaskan villages."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caribou: the North American reindeer, which migrates across the tundra. Example: "Caribou stay away from areas with roads and buildings."
• oil spill: oil escaping from a tanker, pipeline or well into the environment. Example: "The Exxon Valdez oil spill of 1989 still pollutes Alaskan beaches."
• conflict: a serious disagreement or prolonged struggle. Example: "Fresh water and oil are resources that often cause conflict."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Alaska is the largest state of the USA, in the far north-west of North America.
2. Much of it is tundra: cold, treeless land with frozen soil called permafrost.
3. The Arctic National Wildlife Refuge protects caribou, birds and the villages of Native Alaskans.
4. There is a great deal of oil beneath Alaska.
5. In 2017, 1.2 billion barrels were discovered, the biggest onshore find in the USA for thirty years.
6. The oil industry supports a third of all jobs in Alaska.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Oil money pays for schools, roads and hospitals in remote places.
8. But drilling is risky in the cold.
9. In 1989 the tanker Exxon Valdez spilled 11 million gallons of oil, and the beaches are still polluted.
10. Roads and buildings melt the permafrost, and caribou stay away from developed areas.
11. Burning the oil adds to climate change.
12. Resources like oil, water and land can cause conflict between people who want them.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tundra of Alaska. Say it in your own words, then check understanding with a quick question: ask a pupil from the pre-teach group first, since they met these words and ideas before the lesson. Pupils try to recall before you re-explain.
Alaska is a land of caribou running through Denali National Park, of Mount Denali (also called Mount McKinley), the highest point in North America, of remote tribes, oil pipelines and a state capital, Juneau. Much of the far north is tundra. In the Arctic tundra the average temperature is between −12 and −6 degrees Celsius, and the summer growing season lasts just 50 to 60 days, during which the sun shines for 24 hours a day. Precipitation is very low, but so is evaporation, and because the water cannot drain through the permafrost the ground becomes boggy in summer.
Permafrost is a layer of frozen soil and dead plants that can extend 450 metres below the surface. In the southern parts of the Arctic the top layer thaws each summer, creating wet, soggy ground. Tundra plants hug the ground, out of the wind, and keep their roots shallow so that they can draw water from the thin soil lying on top of the permafrost. Because the growing season is so short, a tundra plant that is killed can take years to be replaced. The moisture breeds millions of mosquitoes and other insects, which feed the millions of migrating birds that nest in the Arctic each summer.
The Arctic National Wildlife Refuge, in the north-east of Alaska, protects this environment. Its location map shows coastal areas, major rivers and mountain landscapes, and the refuge is home to several Alaska Native villages. Developing anything here is hard: cold temperatures, a remote landscape, difficult ground for transport, and wildlife and natural beauty that are easily disturbed. Vehicles are only allowed to cross the tundra when the snow is 6 inches deep and the ground is frozen to 30 cm.
Tip: Fragile is the word. Slow-growing plants, permafrost that melts under heat and pressure, and animals that avoid development: damage here lasts for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case for drilling. Say it in your own words, then check understanding with a quick question: ask a pupil from the pre-teach group first, since they met these words and ideas before the lesson. Pupils try to recall before you re-explain.
Oil is Alaska's economy. In 2017, 1.2 billion barrels of oil were discovered in Alaska, the biggest onshore discovery in the USA in three decades. The oil industry supports a third of all Alaska jobs, around 110 000 in the state, and accounts for 38 % of all wages; each direct oil and gas job is reckoned to create twenty more. The state derives 90 % of its revenue from oil and gas, which is how Alaska manages to have no state sales tax and no income tax: oil money pays for state troopers, roads, schools, airports, health facilities and high-speed internet in remote rural areas. The mayor of Point Hope has pointed out that oil and gas taxes gave his community warm homes, light and power that did not exist when he was growing up.
That economy is under strain. Use of the Trans-Alaska Pipeline System has fallen by 39 % over the past 10 years as the older oil fields at Prudhoe Bay run down, and the state has faced a $3 billion budget deficit. OPEC supplies about a third of the world's oil, and its overproduction pushed prices down so far that Alaska lost $2.7 billion of oil profits in 2016. New drilling, supporters argue, would bring jobs, restore revenue and loosen America's reliance on oil bought abroad. Most Alaskans are in favour of offshore drilling in the Arctic, and some Alaska Native groups back it for the jobs and income it could bring their communities.
Supporters also say the industry has learned to work with the tundra. The Trans-Alaska pipeline is raised off the ground, which avoids melting the permafrost and lets caribou migrate beneath it, and one oil company has suggested that spilled oil would become more viscous in the cold Arctic water and so would not spread as far.
Tip: The strongest arguments for drilling are economic: jobs, wages, state revenue, no income tax. Quote the figures from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case against drilling. Say it in your own words, then check understanding with a quick question: ask a pupil from the pre-teach group first, since they met these words and ideas before the lesson. Pupils try to recall before you re-explain.
Opponents point first to the climate. Burning oil, like burning any fossil fuel, releases the greenhouse gases that drive climate change, so every new field makes the problem worse. Then there is the risk of a spill. In 1989 the oil tanker Exxon Valdez ran onto a reef in Prince William Sound, Alaska, and let 11 million gallons of oil into the sea. Oil from it is still on the beaches and in the shore ecosystem today, and a pod of orcas that lost 15 of its 22 members in the disaster has not produced a calf since. In Arctic conditions a clean-up would be even harder: the chemical dispersants used on spills may not work in cold temperatures, and spilled oil can become trapped within the ice and remain there until spring. In the Arctic Ocean, drilling itself is made difficult by hurricane-force winds, 30 ft waves, sub-zero temperatures and winter darkness.
On land, the damage is quieter but lasting. Buildings and roads press down on the ground and warm it, and the permafrost beneath them melts. Caribou keep away from the developed parts of their habitat, which can leave them over-grazing the vegetation further off. Native Alaskans are worried that the noise of oil exploration will push bowhead whales further out to sea, so that whaling becomes dangerous for the hunters who follow them. A representative of the Gwich'in people has said that hunting for food, for clothing and for tools is part of who they are as Natives, and not something they can risk losing.
The decision has swung with politics. One US president banned drilling for oil in the Arctic National Wildlife Refuge; the next reversed that decision in 2017, arguing that it would create many thousands of jobs and great wealth. The class debate took the roles of the oil company, residents of Prudhoe Bay and Juneau, a Native Alaskan tribe, a wildlife expert, public-service workers in remote Alaska and the state government, and that cast list is a reminder that a resource decision has many stakeholders with different stakes.
Worked example — model it step by step, thinking aloud: Sort these three cards into natural, economic and social impacts: caribou keep away from developed areas; the oil industry accounts for 38 % of all wages in Alaska; the noise of exploration may push bowhead whales out to sea, making whaling dangerous for hunters. (1) Caribou avoiding developed land is about wildlife and habitat: natural (environmental). (2) Wages are about money and jobs: economic. (3) The whale card mentions an animal, but the impact described is on the hunters and their safety and way of life: social. (4) Notice that the third card could also be filed as natural; say so, and explain which impact the card emphasises. Answer: Caribou: natural. Wages: economic. Whaling: social (with a natural link), because the card is about the danger to hunters and their way of life..
Tip: Natural, economic, social, political: label every point. The political point is the ban and its reversal.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case against drilling. Say it in your own words, then check understanding with a quick question: ask a pupil from the pre-teach group first, since they met these words and ideas before the lesson. Pupils try to recall before you re-explain.
Opponents point first to the climate. Burning oil, like burning any fossil fuel, releases the greenhouse gases that drive climate change, so every new field makes the problem worse. Then there is the risk of a spill. In 1989 the oil tanker Exxon Valdez ran onto a reef in Prince William Sound, Alaska, and let 11 million gallons of oil into the sea. Oil from it is still on the beaches and in the shore ecosystem today, and a pod of orcas that lost 15 of its 22 members in the disaster has not produced a calf since. In Arctic conditions a clean-up would be even harder: the chemical dispersants used on spills may not work in cold temperatures, and spilled oil can become trapped within the ice and remain there until spring. In the Arctic Ocean, drilling itself is made difficult by hurricane-force winds, 30 ft waves, sub-zero temperatures and winter darkness.
On land, the damage is quieter but lasting. Buildings and roads press down on the ground and warm it, and the permafrost beneath them melts. Caribou keep away from the developed parts of their habitat, which can leave them over-grazing the vegetation further off. Native Alaskans are worried that the noise of oil exploration will push bowhead whales further out to sea, so that whaling becomes dangerous for the hunters who follow them. A representative of the Gwich'in people has said that hunting for food, for clothing and for tools is part of who they are as Natives, and not something they can risk losing.
The decision has swung with politics. One US president banned drilling for oil in the Arctic National Wildlife Refuge; the next reversed that decision in 2017, arguing that it would create many thousands of jobs and great wealth. The class debate took the roles of the oil company, residents of Prudhoe Bay and Juneau, a Native Alaskan tribe, a wildlife expert, public-service workers in remote Alaska and the state government, and that cast list is a reminder that a resource decision has many stakeholders with different stakes.
Worked example — model it step by step, thinking aloud: Sort these three cards into natural, economic and social impacts: caribou keep away from developed areas; the oil industry accounts for 38 % of all wages in Alaska; the noise of exploration may push bowhead whales out to sea, making whaling dangerous for hunters. (1) Caribou avoiding developed land is about wildlife and habitat: natural (environmental). (2) Wages are about money and jobs: economic. (3) The whale card mentions an animal, but the impact described is on the hunters and their safety and way of life: social. (4) Notice that the third card could also be filed as natural; say so, and explain which impact the card emphasises. Answer: Caribou: natural. Wages: economic. Whaling: social (with a natural link), because the card is about the danger to hunters and their way of life..
Tip: Natural, economic, social, political: label every point. The political point is the ban and its reversal.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case against drilling. Say it in your own words, then check understanding with a quick question: ask a pupil from the pre-teach group first, since they met these words and ideas before the lesson. Pupils try to recall before you re-explain.
Opponents point first to the climate. Burning oil, like burning any fossil fuel, releases the greenhouse gases that drive climate change, so every new field makes the problem worse. Then there is the risk of a spill. In 1989 the oil tanker Exxon Valdez ran onto a reef in Prince William Sound, Alaska, and let 11 million gallons of oil into the sea. Oil from it is still on the beaches and in the shore ecosystem today, and a pod of orcas that lost 15 of its 22 members in the disaster has not produced a calf since. In Arctic conditions a clean-up would be even harder: the chemical dispersants used on spills may not work in cold temperatures, and spilled oil can become trapped within the ice and remain there until spring. In the Arctic Ocean, drilling itself is made difficult by hurricane-force winds, 30 ft waves, sub-zero temperatures and winter darkness.
On land, the damage is quieter but lasting. Buildings and roads press down on the ground and warm it, and the permafrost beneath them melts. Caribou keep away from the developed parts of their habitat, which can leave them over-grazing the vegetation further off. Native Alaskans are worried that the noise of oil exploration will push bowhead whales further out to sea, so that whaling becomes dangerous for the hunters who follow them. A representative of the Gwich'in people has said that hunting for food, for clothing and for tools is part of who they are as Natives, and not something they can risk losing.
The decision has swung with politics. One US president banned drilling for oil in the Arctic National Wildlife Refuge; the next reversed that decision in 2017, arguing that it would create many thousands of jobs and great wealth. The class debate took the roles of the oil company, residents of Prudhoe Bay and Juneau, a Native Alaskan tribe, a wildlife expert, public-service workers in remote Alaska and the state government, and that cast list is a reminder that a resource decision has many stakeholders with different stakes.
Worked example — model it step by step, thinking aloud: Sort these three cards into natural, economic and social impacts: caribou keep away from developed areas; the oil industry accounts for 38 % of all wages in Alaska; the noise of exploration may push bowhead whales out to sea, making whaling dangerous for hunters. (1) Caribou avoiding developed land is about wildlife and habitat: natural (environmental). (2) Wages are about money and jobs: economic. (3) The whale card mentions an animal, but the impact described is on the hunters and their safety and way of life: social. (4) Notice that the third card could also be filed as natural; say so, and explain which impact the card emphasises. Answer: Caribou: natural. Wages: economic. Whaling: social (with a natural link), because the card is about the danger to hunters and their way of life..
Tip: Natural, economic, social, political: label every point. The political point is the ban and its reversal.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Resources and conflict. Say it in your own words, then check understanding with a quick question: ask a pupil from the pre-teach group first, since they met these words and ideas before the lesson. Pupils try to recall before you re-explain.
The lesson opened with three company logos and asked what word linked them. The answer was conflict: a serious disagreement, a struggle between people who oppose each other, which can turn into a fight and can last for years. Resources cause conflict because they are valuable, limited and unevenly spread. Where one group owns a resource and another needs it, or two groups claim the same territory, disagreement follows.
Not every resource is equally likely to cause conflict. The class ranked nine: fresh water, oil, uranium, diamonds, gold, coal, food, land and sunshine. Resources that are essential and scarce, like fresh water and land, and resources that are enormously valuable, like oil and diamonds, sit near the top. Sunshine sits at the bottom: nobody can own it or run out of it. The reasoning behind your ranking matters more than the order itself, and a good explanation uses the lesson's words: ownership, territory, exploitation, culture, government, international and struggle.
Alaska shows how a single resource can set groups against each other without a shot being fired: the state government and the oil company against wildlife experts; some Native groups against others; people who want jobs now against people who want the tundra protected for the future. Conflict over resources is not only about war. It is about who decides, who gains and who bears the cost.
Tip: Conflict needs two sides who want the same thing. Name both sides and say what each wants when you explain a resource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the Alaska cards.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card about oil drilling in Alaska to the kind of impact it describes.
Support — work through the steps with the group: (1) Natural means the environment: land, water, plants, animals, climate. Which card is about the ground itself? (2) Economic means money, jobs, taxes, prices. Which card counts jobs? (3) Social means people, communities and their way of life. Which card is about villages and identity? (4) Political means governments, laws and decisions. Which card is about presidents?
Parallel worked example for Support (model it, do not give the task answer): Sort these two fracking cards: fracking is banned in France and Bulgaria; fracking can devalue local house prices. A ban is a government decision: political.; House prices are money: economic.. Answer: Ban in France and Bulgaria: political. House prices: economic..
Core — reveal the hint only on request: Ground, jobs, villages, presidents: environment, economy, society, politics.
Stretch — no help; when finished: Pick one card that fits two headings at once and explain both links. Then say which heading an examiner would most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Sorting the Alaska cards.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card about oil drilling in Alaska to the kind of impact it describes.
Support — work through the steps with the group: (1) Natural means the environment: land, water, plants, animals, climate. Which card is about the ground itself? (2) Economic means money, jobs, taxes, prices. Which card counts jobs? (3) Social means people, communities and their way of life. Which card is about villages and identity? (4) Political means governments, laws and decisions. Which card is about presidents?
Parallel worked example for Support (model it, do not give the task answer): Sort these two fracking cards: fracking is banned in France and Bulgaria; fracking can devalue local house prices. A ban is a government decision: political.; House prices are money: economic.. Answer: Ban in France and Bulgaria: political. House prices: economic..
Core — reveal the hint only on request: Ground, jobs, villages, presidents: environment, economy, society, politics.
Stretch — no help; when finished: Pick one card that fits two headings at once and explain both links. Then say which heading an examiner would most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the unemployment card.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December 2016 the unemployment rate in Alaska was 6.7 %, which the card says was 2 percentage points higher than the USA average. What was the USA average unemployment rate?
Support — work through the steps with the group: (1) Write down Alaska's rate: 6.7 %. (2) Alaska is HIGHER than the USA by 2 points, so the USA must be LOWER. (3) Lower means subtract: 6.7 − 2. (4) Check: is 4.7 less than 6.7? Yes, so the direction is right.
Parallel worked example for Support (model it, do not give the task answer): A town's unemployment rate is 5.5 %, which is 1.5 percentage points higher than the national average. What is the national average? The town is higher, so the nation is lower.; 5.5 − 1.5 = 4.0 %.. Answer: 4.0 %.
Core — reveal the hint only on request: Higher than means the other figure is smaller. Subtract.
Stretch — no help; when finished: Explain how the state government and a wildlife expert might each use this unemployment figure in the debate, and why the same number can support opposite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Reading the unemployment card.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December 2016 the unemployment rate in Alaska was 6.7 %, which the card says was 2 percentage points higher than the USA average. What was the USA average unemployment rate?
Support — work through the steps with the group: (1) Write down Alaska's rate: 6.7 %. (2) Alaska is HIGHER than the USA by 2 points, so the USA must be LOWER. (3) Lower means subtract: 6.7 − 2. (4) Check: is 4.7 less than 6.7? Yes, so the direction is right.
Parallel worked example for Support (model it, do not give the task answer): A town's unemployment rate is 5.5 %, which is 1.5 percentage points higher than the national average. What is the national average? The town is higher, so the nation is lower.; 5.5 − 1.5 = 4.0 %.. Answer: 4.0 %.
Core — reveal the hint only on request: Higher than means the other figure is smaller. Subtract.
Stretch — no help; when finished: Explain how the state government and a wildlife expert might each use this unemployment figure in the debate, and why the same number can support opposite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many million gallons of oil did the tanker Exxon Valdez release into the environment in 1989?
Answer: 11 million gallons. The Exxon Valdez struck a reef in Prince William Sound in 1989 and released 11 million gallons of oil; the beaches are still polluted today.
Source of this question: gate item 1 re-asked (options rotated) — this chapter has no third quick-check module.
The ebook also holds task 3, "Should drilling be allowed in the refuge?",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Sorting the Alaska cards. Reveal the answer; pupils mark their own work in a different colour, then read the "why" together. Same destination for every lane, so one answer serves the whole class.
Answer: Natural (environmental)  →  C  Heat and pressure from buildings and roads make the permafrost beneath them melt; Economic  →  B  The oil industry supports a third of all Alaska jobs, around 110 000 in the state; Social  →  D  The refuge is home to several Alaska Native villages whose hunting is part of their identity; Political  →  A  One president banned drilling in the refuge and the next reversed the ban in 2017
Why: Melting permafrost is damage to the natural environment; jobs are economic; the villages and their way of life are social; a presidential ban and its reversal are political. Most strong answers use all four.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Reading the unemployment card. Reveal the answer; pupils mark their own work in a different colour, then read the "why" together. Same destination for every lane, so one answer serves the whole class.
Answer: 4.7 %
Why: Alaska's 6.7 % was 2 points above the national figure, so the national figure was 6.7 − 2 = 4.7 %.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11 million gallons
Why: The Exxon Valdez struck a reef in Prince William Sound in 1989 and released 11 million gallons of oil; the beaches are still polluted today.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Resource Management · AQA 8035</a:t>
            </a:r>
            <a:endParaRPr lang="en-US" sz="1800" dirty="0"/>
          </a:p>
        </p:txBody>
      </p:sp>
      <p:sp>
        <p:nvSpPr>
          <p:cNvPr id="10" name="deck-title"/>
          <p:cNvSpPr txBox="1"/>
          <p:nvPr/>
        </p:nvSpPr>
        <p:spPr>
          <a:xfrm>
            <a:off x="548640" y="219633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Oil in the Arctic, and the conflicts resources cause</a:t>
            </a:r>
            <a:endParaRPr lang="en-US" sz="3200" dirty="0"/>
          </a:p>
        </p:txBody>
      </p:sp>
      <p:sp>
        <p:nvSpPr>
          <p:cNvPr id="11" name="lessons-card"/>
          <p:cNvSpPr/>
          <p:nvPr/>
        </p:nvSpPr>
        <p:spPr>
          <a:xfrm>
            <a:off x="548640" y="3608578"/>
            <a:ext cx="5287975" cy="1638300"/>
          </a:xfrm>
          <a:prstGeom prst="roundRect">
            <a:avLst>
              <a:gd name="adj" fmla="val 4465"/>
            </a:avLst>
          </a:prstGeom>
          <a:solidFill>
            <a:srgbClr val="ECF0ED"/>
          </a:solidFill>
          <a:ln/>
        </p:spPr>
      </p:sp>
      <p:sp>
        <p:nvSpPr>
          <p:cNvPr id="12" name="lessons"/>
          <p:cNvSpPr txBox="1"/>
          <p:nvPr/>
        </p:nvSpPr>
        <p:spPr>
          <a:xfrm>
            <a:off x="685800" y="370001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Oil drilling in Alaska: the Arctic National Wildlife Refuge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Resources and conflict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Can the world supply enough food, water and energy for everyone without using up the planet, and how should the UK manage its own supply?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How many million gallons of oil did the tanker Exxon Valdez release into the environment in 1989?</a:t>
            </a:r>
            <a:endParaRPr lang="en-US" sz="2000" dirty="0"/>
          </a:p>
          <a:p>
            <a:pPr algn="l" indent="0" marL="0">
              <a:buNone/>
            </a:pPr>
            <a:r>
              <a:rPr lang="en-US" sz="2000" b="1" dirty="0">
                <a:solidFill>
                  <a:srgbClr val="3F6B4A"/>
                </a:solidFill>
                <a:latin typeface="Calibri" pitchFamily="34" charset="0"/>
                <a:ea typeface="Calibri" pitchFamily="34" charset="-122"/>
                <a:cs typeface="Calibri" pitchFamily="34" charset="-120"/>
              </a:rPr>
              <a:t>Answer:  </a:t>
            </a:r>
            <a:pPr algn="l" indent="0" marL="0">
              <a:buNone/>
            </a:pPr>
            <a:r>
              <a:rPr lang="en-US" sz="2000" dirty="0">
                <a:solidFill>
                  <a:srgbClr val="1E2229"/>
                </a:solidFill>
                <a:latin typeface="Calibri" pitchFamily="34" charset="0"/>
                <a:ea typeface="Calibri" pitchFamily="34" charset="-122"/>
                <a:cs typeface="Calibri" pitchFamily="34" charset="-120"/>
              </a:rPr>
              <a:t>________ million gallons</a:t>
            </a:r>
            <a:endParaRPr lang="en-US" sz="2000" dirty="0"/>
          </a:p>
        </p:txBody>
      </p:sp>
      <p:sp>
        <p:nvSpPr>
          <p:cNvPr id="12"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3" name="card-hex"/>
          <p:cNvSpPr/>
          <p:nvPr/>
        </p:nvSpPr>
        <p:spPr>
          <a:xfrm>
            <a:off x="3642284" y="1572768"/>
            <a:ext cx="640080" cy="554309"/>
          </a:xfrm>
          <a:prstGeom prst="hexagon">
            <a:avLst/>
          </a:prstGeom>
          <a:solidFill>
            <a:srgbClr val="3F6B4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is permafrost?</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Snow that falls in the Arctic summer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 thick sea ice covering the Arctic Ocean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glacier that flows slowly down a mountain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layer of frozen soil and dead plants beneath the surface that stays frozen all year</a:t>
            </a:r>
            <a:endParaRPr lang="en-US" sz="2200" dirty="0"/>
          </a:p>
        </p:txBody>
      </p:sp>
      <p:sp>
        <p:nvSpPr>
          <p:cNvPr id="17"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Conflict means a serious disagreement or a prolonged ___ between people who oppose each other.</a:t>
            </a:r>
            <a:endParaRPr lang="en-US" sz="1800" dirty="0"/>
          </a:p>
          <a:p>
            <a:pPr algn="l" indent="0" marL="0">
              <a:buNone/>
            </a:pPr>
            <a:r>
              <a:rPr lang="en-US" sz="1800" b="1" dirty="0">
                <a:solidFill>
                  <a:srgbClr val="3F6B4A"/>
                </a:solidFill>
                <a:latin typeface="Calibri" pitchFamily="34" charset="0"/>
                <a:ea typeface="Calibri" pitchFamily="34" charset="-122"/>
                <a:cs typeface="Calibri" pitchFamily="34" charset="-120"/>
              </a:rPr>
              <a:t>Word bank:  </a:t>
            </a:r>
            <a:pPr algn="l" indent="0" marL="0">
              <a:buNone/>
            </a:pPr>
            <a:r>
              <a:rPr lang="en-US" sz="1800" dirty="0">
                <a:solidFill>
                  <a:srgbClr val="1E2229"/>
                </a:solidFill>
                <a:latin typeface="Calibri" pitchFamily="34" charset="0"/>
                <a:ea typeface="Calibri" pitchFamily="34" charset="-122"/>
                <a:cs typeface="Calibri" pitchFamily="34" charset="-120"/>
              </a:rPr>
              <a:t>struggle  ·  agreement  ·  celebration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11 million gallons</a:t>
            </a:r>
            <a:endParaRPr lang="en-US" sz="2200" dirty="0"/>
          </a:p>
        </p:txBody>
      </p:sp>
      <p:sp>
        <p:nvSpPr>
          <p:cNvPr id="13" name="card-body"/>
          <p:cNvSpPr txBox="1"/>
          <p:nvPr/>
        </p:nvSpPr>
        <p:spPr>
          <a:xfrm>
            <a:off x="731520"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Exxon Valdez struck a reef in Prince William Sound in 1989 and released 11 million gallons of oil; the beaches are still polluted today.</a:t>
            </a:r>
            <a:endParaRPr lang="en-US" sz="1800" dirty="0"/>
          </a:p>
        </p:txBody>
      </p:sp>
      <p:sp>
        <p:nvSpPr>
          <p:cNvPr id="14"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5" name="card-hex"/>
          <p:cNvSpPr/>
          <p:nvPr/>
        </p:nvSpPr>
        <p:spPr>
          <a:xfrm>
            <a:off x="3642284" y="1572768"/>
            <a:ext cx="640080" cy="554309"/>
          </a:xfrm>
          <a:prstGeom prst="hexagon">
            <a:avLst/>
          </a:prstGeom>
          <a:solidFill>
            <a:srgbClr val="3F6B4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1295908"/>
          </a:xfrm>
          <a:prstGeom prst="roundRect">
            <a:avLst>
              <a:gd name="adj" fmla="val 8467"/>
            </a:avLst>
          </a:prstGeom>
          <a:solidFill>
            <a:srgbClr val="EDE1CA"/>
          </a:solidFill>
          <a:ln w="19050">
            <a:solidFill>
              <a:srgbClr val="B8862B"/>
            </a:solidFill>
            <a:prstDash val="solid"/>
          </a:ln>
        </p:spPr>
      </p:sp>
      <p:sp>
        <p:nvSpPr>
          <p:cNvPr id="19" name="answer"/>
          <p:cNvSpPr txBox="1"/>
          <p:nvPr/>
        </p:nvSpPr>
        <p:spPr>
          <a:xfrm>
            <a:off x="3733724"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layer of frozen soil and dead plants beneath the surface that stays frozen all year</a:t>
            </a:r>
            <a:endParaRPr lang="en-US" sz="2200" dirty="0"/>
          </a:p>
        </p:txBody>
      </p:sp>
      <p:sp>
        <p:nvSpPr>
          <p:cNvPr id="20" name="card-body"/>
          <p:cNvSpPr txBox="1"/>
          <p:nvPr/>
        </p:nvSpPr>
        <p:spPr>
          <a:xfrm>
            <a:off x="3642284"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permafrost?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Permafrost is permanently frozen ground: soil and dead plant material that can extend 450 metres down. Heat and pressure from buildings and roads make it melt.</a:t>
            </a:r>
            <a:endParaRPr lang="en-US" sz="2000" dirty="0"/>
          </a:p>
        </p:txBody>
      </p:sp>
      <p:sp>
        <p:nvSpPr>
          <p:cNvPr id="21"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struggle</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lesson gave several meanings for conflict: coming into disagreement, opposing someone, fighting, controversy, and a struggle that drags 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tundra</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cold, treeless landscape where the ground is frozen for most of the year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Arctic tundra has a very short summer.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permafrost</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layer of soil and dead plants that stays frozen all year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Buildings can melt the permafrost beneath them.</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refuge</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protected area where wildlife is kept safe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Arctic National Wildlife Refuge is home to caribou and Native Alaskan villages.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caribou</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North American reindeer, which migrates across the tundra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Caribou stay away from areas with roads and buildings.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oil spill</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oil escaping from a tanker, pipeline or well into the environment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Exxon Valdez oil spill of 1989 still pollutes Alaskan beaches.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conflict</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serious disagreement or prolonged struggle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Fresh water and oil are resources that often cause conflict.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Alaska is the largest state of the USA, in the far north-west of North America.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Much of it is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tundra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cold, treeless land with frozen soil called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permafrost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Arctic National Wildlife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Refuge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protects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caribou</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birds and the villages of Native Alaskans.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is a great deal of oil beneath Alaska.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2017, 1.2 billion barrels were discovered, the biggest onshore find in the USA for thirty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oil industry supports a third of all jobs in Alaska.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Oil money pays for schools, roads and hospitals in remote places.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drilling is risky in the cold.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1989 the tanker Exxon Valdez spilled 11 million gallons of oil, and the beaches are still polluted.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Roads and buildings melt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permafrost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caribou</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stay away from developed areas.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Burning the oil adds to climate change.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Resources like oil, water and land can cause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conflict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between people who want them.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tundra of Alaska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Fragile is the word. Slow-growing plants, permafrost that melts under heat and pressure, and animals that avoid development: damage here lasts for decades.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Alaska is a land of caribou running through Denali National Park, of Mount Denali (also called Mount McKinley), the highest point in North America, of remote tribes, oil pipelines and a state capital, Juneau.</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Permafrost is a layer of frozen soil and dead plants that can extend 450 metres below the surface.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Arctic National Wildlife Refuge, in the north-east of Alaska, protects this environment.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case for drilling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strongest arguments for drilling are economic: jobs, wages, state revenue, no income tax. Quote the figures from the cards.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Oil is Alaska's economy. In 2017, 1.2 billion barrels of oil were discovered in Alaska, the biggest onshore discovery in the USA in three decades.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That economy is under strain. Use of the Trans-Alaska Pipeline System has fallen by 39 % over the past 10 years as the older oil fields at Prudhoe Bay run down, and the state has faced a $3 billion budget deficit.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Supporters also say the industry has learned to work with the tundra.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case against drilling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Natural, economic, social, political: label every point. The political point is the ban and its reversal.</a:t>
            </a:r>
            <a:endParaRPr lang="en-US" sz="1800" dirty="0"/>
          </a:p>
        </p:txBody>
      </p:sp>
      <p:sp>
        <p:nvSpPr>
          <p:cNvPr id="11" name="point-card"/>
          <p:cNvSpPr/>
          <p:nvPr/>
        </p:nvSpPr>
        <p:spPr>
          <a:xfrm>
            <a:off x="548640" y="1389888"/>
            <a:ext cx="3515258" cy="3964940"/>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Opponents point first to the climate. Burning oil, like burning any fossil fuel, releases the greenhouse gases that drive climate change, so every new field makes the problem worse.</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 land, the damage is quieter but lasting. Buildings and roads press down on the ground and warm it, and the permafrost beneath them melts.</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decision has swung with politics. One US president banned drilling for oil in the Arctic National Wildlife Refuge; the next reversed that decision in 2017, arguing that it would create many thousands of jobs and great wealth.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(1 of 2): The case against drilling</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673352"/>
          </a:xfrm>
          <a:prstGeom prst="roundRect">
            <a:avLst>
              <a:gd name="adj" fmla="val 5464"/>
            </a:avLst>
          </a:prstGeom>
          <a:solidFill>
            <a:srgbClr val="ECF0ED"/>
          </a:solidFill>
          <a:ln/>
        </p:spPr>
      </p:sp>
      <p:sp>
        <p:nvSpPr>
          <p:cNvPr id="8" name="worked-q"/>
          <p:cNvSpPr txBox="1"/>
          <p:nvPr/>
        </p:nvSpPr>
        <p:spPr>
          <a:xfrm>
            <a:off x="731520" y="1481328"/>
            <a:ext cx="10728655"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Sort these three cards into natural, economic and social impacts: caribou keep away from developed areas; the oil industry accounts for 38 % of all wages in Alaska; the noise of exploration may push bowhead whales out to sea, making whaling dangerous for hunters.</a:t>
            </a:r>
            <a:endParaRPr lang="en-US" sz="2200" dirty="0"/>
          </a:p>
        </p:txBody>
      </p:sp>
      <p:sp>
        <p:nvSpPr>
          <p:cNvPr id="9" name="step-box"/>
          <p:cNvSpPr/>
          <p:nvPr/>
        </p:nvSpPr>
        <p:spPr>
          <a:xfrm>
            <a:off x="548640" y="3337560"/>
            <a:ext cx="5341468" cy="1463040"/>
          </a:xfrm>
          <a:prstGeom prst="roundRect">
            <a:avLst>
              <a:gd name="adj" fmla="val 5000"/>
            </a:avLst>
          </a:prstGeom>
          <a:solidFill>
            <a:srgbClr val="FFFFFF"/>
          </a:solidFill>
          <a:ln w="15875">
            <a:solidFill>
              <a:srgbClr val="95AE9B"/>
            </a:solidFill>
            <a:prstDash val="solid"/>
          </a:ln>
        </p:spPr>
      </p:sp>
      <p:sp>
        <p:nvSpPr>
          <p:cNvPr id="10" name="step-hex"/>
          <p:cNvSpPr/>
          <p:nvPr/>
        </p:nvSpPr>
        <p:spPr>
          <a:xfrm>
            <a:off x="685800" y="3447288"/>
            <a:ext cx="530352" cy="459285"/>
          </a:xfrm>
          <a:prstGeom prst="hexagon">
            <a:avLst/>
          </a:prstGeom>
          <a:solidFill>
            <a:srgbClr val="3F6B4A"/>
          </a:solidFill>
          <a:ln/>
        </p:spPr>
      </p:sp>
      <p:sp>
        <p:nvSpPr>
          <p:cNvPr id="11" name="step-hex-label"/>
          <p:cNvSpPr txBox="1"/>
          <p:nvPr/>
        </p:nvSpPr>
        <p:spPr>
          <a:xfrm>
            <a:off x="685800"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931920"/>
            <a:ext cx="506714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Caribou avoiding developed land is about wildlife and habitat: natural (environmental).</a:t>
            </a:r>
            <a:endParaRPr lang="en-US" sz="1800" dirty="0"/>
          </a:p>
        </p:txBody>
      </p:sp>
      <p:sp>
        <p:nvSpPr>
          <p:cNvPr id="13" name="arrow"/>
          <p:cNvSpPr/>
          <p:nvPr/>
        </p:nvSpPr>
        <p:spPr>
          <a:xfrm>
            <a:off x="5963260" y="3931920"/>
            <a:ext cx="274320" cy="274320"/>
          </a:xfrm>
          <a:prstGeom prst="rightArrow">
            <a:avLst/>
          </a:prstGeom>
          <a:solidFill>
            <a:srgbClr val="B8862B"/>
          </a:solidFill>
          <a:ln/>
        </p:spPr>
      </p:sp>
      <p:sp>
        <p:nvSpPr>
          <p:cNvPr id="14" name="step-box"/>
          <p:cNvSpPr/>
          <p:nvPr/>
        </p:nvSpPr>
        <p:spPr>
          <a:xfrm>
            <a:off x="6301588" y="3337560"/>
            <a:ext cx="5341468" cy="1463040"/>
          </a:xfrm>
          <a:prstGeom prst="roundRect">
            <a:avLst>
              <a:gd name="adj" fmla="val 5000"/>
            </a:avLst>
          </a:prstGeom>
          <a:solidFill>
            <a:srgbClr val="FFFFFF"/>
          </a:solidFill>
          <a:ln w="15875">
            <a:solidFill>
              <a:srgbClr val="95AE9B"/>
            </a:solidFill>
            <a:prstDash val="solid"/>
          </a:ln>
        </p:spPr>
      </p:sp>
      <p:sp>
        <p:nvSpPr>
          <p:cNvPr id="15" name="step-hex"/>
          <p:cNvSpPr/>
          <p:nvPr/>
        </p:nvSpPr>
        <p:spPr>
          <a:xfrm>
            <a:off x="6438748" y="3447288"/>
            <a:ext cx="530352" cy="459285"/>
          </a:xfrm>
          <a:prstGeom prst="hexagon">
            <a:avLst/>
          </a:prstGeom>
          <a:solidFill>
            <a:srgbClr val="3F6B4A"/>
          </a:solidFill>
          <a:ln/>
        </p:spPr>
      </p:sp>
      <p:sp>
        <p:nvSpPr>
          <p:cNvPr id="16" name="step-hex-label"/>
          <p:cNvSpPr txBox="1"/>
          <p:nvPr/>
        </p:nvSpPr>
        <p:spPr>
          <a:xfrm>
            <a:off x="6438748"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931920"/>
            <a:ext cx="5067148" cy="77724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Wages are about money and jobs: economic.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(2 of 2): The case against drilling</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673352"/>
          </a:xfrm>
          <a:prstGeom prst="roundRect">
            <a:avLst>
              <a:gd name="adj" fmla="val 5464"/>
            </a:avLst>
          </a:prstGeom>
          <a:solidFill>
            <a:srgbClr val="ECF0ED"/>
          </a:solidFill>
          <a:ln/>
        </p:spPr>
      </p:sp>
      <p:sp>
        <p:nvSpPr>
          <p:cNvPr id="8" name="worked-q"/>
          <p:cNvSpPr txBox="1"/>
          <p:nvPr/>
        </p:nvSpPr>
        <p:spPr>
          <a:xfrm>
            <a:off x="731520" y="1481328"/>
            <a:ext cx="10728655"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Sort these three cards into natural, economic and social impacts: caribou keep away from developed areas; the oil industry accounts for 38 % of all wages in Alaska; the noise of exploration may push bowhead whales out to sea, making whaling dangerous for hunters.</a:t>
            </a:r>
            <a:endParaRPr lang="en-US" sz="2200" dirty="0"/>
          </a:p>
        </p:txBody>
      </p:sp>
      <p:sp>
        <p:nvSpPr>
          <p:cNvPr id="9" name="step-box"/>
          <p:cNvSpPr/>
          <p:nvPr/>
        </p:nvSpPr>
        <p:spPr>
          <a:xfrm>
            <a:off x="548640" y="3337560"/>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3447288"/>
            <a:ext cx="530352" cy="459285"/>
          </a:xfrm>
          <a:prstGeom prst="hexagon">
            <a:avLst/>
          </a:prstGeom>
          <a:solidFill>
            <a:srgbClr val="3F6B4A"/>
          </a:solidFill>
          <a:ln/>
        </p:spPr>
      </p:sp>
      <p:sp>
        <p:nvSpPr>
          <p:cNvPr id="11" name="step-hex-label"/>
          <p:cNvSpPr txBox="1"/>
          <p:nvPr/>
        </p:nvSpPr>
        <p:spPr>
          <a:xfrm>
            <a:off x="685800"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931920"/>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whale card mentions an animal, but the impact described is on the hunters and their safety and way of life: social.</a:t>
            </a:r>
            <a:endParaRPr lang="en-US" sz="1800" dirty="0"/>
          </a:p>
        </p:txBody>
      </p:sp>
      <p:sp>
        <p:nvSpPr>
          <p:cNvPr id="13" name="arrow"/>
          <p:cNvSpPr/>
          <p:nvPr/>
        </p:nvSpPr>
        <p:spPr>
          <a:xfrm>
            <a:off x="5963260" y="4047998"/>
            <a:ext cx="274320" cy="274320"/>
          </a:xfrm>
          <a:prstGeom prst="rightArrow">
            <a:avLst/>
          </a:prstGeom>
          <a:solidFill>
            <a:srgbClr val="B8862B"/>
          </a:solidFill>
          <a:ln/>
        </p:spPr>
      </p:sp>
      <p:sp>
        <p:nvSpPr>
          <p:cNvPr id="14" name="step-box"/>
          <p:cNvSpPr/>
          <p:nvPr/>
        </p:nvSpPr>
        <p:spPr>
          <a:xfrm>
            <a:off x="6301588" y="3337560"/>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3447288"/>
            <a:ext cx="530352" cy="459285"/>
          </a:xfrm>
          <a:prstGeom prst="hexagon">
            <a:avLst/>
          </a:prstGeom>
          <a:solidFill>
            <a:srgbClr val="3F6B4A"/>
          </a:solidFill>
          <a:ln/>
        </p:spPr>
      </p:sp>
      <p:sp>
        <p:nvSpPr>
          <p:cNvPr id="16" name="step-hex-label"/>
          <p:cNvSpPr txBox="1"/>
          <p:nvPr/>
        </p:nvSpPr>
        <p:spPr>
          <a:xfrm>
            <a:off x="6438748" y="3447288"/>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931920"/>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that the third card could also be filed as natural; say so, and explain which impact the card emphasises.</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Caribou: natural. Wages: economic. Whaling: social (with a natural link), because the card is about the danger to hunters and their way of life.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Resources and conflict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Conflict needs two sides who want the same thing. Name both sides and say what each wants when you explain a resource conflict.</a:t>
            </a:r>
            <a:endParaRPr lang="en-US" sz="1800" dirty="0"/>
          </a:p>
        </p:txBody>
      </p:sp>
      <p:sp>
        <p:nvSpPr>
          <p:cNvPr id="11" name="bullet-card"/>
          <p:cNvSpPr/>
          <p:nvPr/>
        </p:nvSpPr>
        <p:spPr>
          <a:xfrm>
            <a:off x="548640" y="1389888"/>
            <a:ext cx="11094415" cy="742696"/>
          </a:xfrm>
          <a:prstGeom prst="roundRect">
            <a:avLst>
              <a:gd name="adj" fmla="val 9850"/>
            </a:avLst>
          </a:prstGeom>
          <a:solidFill>
            <a:srgbClr val="F0F3F1"/>
          </a:solidFill>
          <a:ln/>
        </p:spPr>
      </p:sp>
      <p:sp>
        <p:nvSpPr>
          <p:cNvPr id="12" name="bullet-hex"/>
          <p:cNvSpPr/>
          <p:nvPr/>
        </p:nvSpPr>
        <p:spPr>
          <a:xfrm>
            <a:off x="676656" y="1594943"/>
            <a:ext cx="384048" cy="332586"/>
          </a:xfrm>
          <a:prstGeom prst="hexagon">
            <a:avLst/>
          </a:prstGeom>
          <a:solidFill>
            <a:srgbClr val="3F6B4A"/>
          </a:solidFill>
          <a:ln/>
        </p:spPr>
      </p:sp>
      <p:sp>
        <p:nvSpPr>
          <p:cNvPr id="13" name="bullet"/>
          <p:cNvSpPr txBox="1"/>
          <p:nvPr/>
        </p:nvSpPr>
        <p:spPr>
          <a:xfrm>
            <a:off x="1143000" y="1389888"/>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lesson opened with three company logos and asked what word linked them.</a:t>
            </a:r>
            <a:endParaRPr lang="en-US" sz="2200" dirty="0"/>
          </a:p>
        </p:txBody>
      </p:sp>
      <p:sp>
        <p:nvSpPr>
          <p:cNvPr id="14" name="bullet-card"/>
          <p:cNvSpPr/>
          <p:nvPr/>
        </p:nvSpPr>
        <p:spPr>
          <a:xfrm>
            <a:off x="548640" y="2278888"/>
            <a:ext cx="11094415" cy="984504"/>
          </a:xfrm>
          <a:prstGeom prst="roundRect">
            <a:avLst>
              <a:gd name="adj" fmla="val 7430"/>
            </a:avLst>
          </a:prstGeom>
          <a:solidFill>
            <a:srgbClr val="F0F3F1"/>
          </a:solidFill>
          <a:ln/>
        </p:spPr>
      </p:sp>
      <p:sp>
        <p:nvSpPr>
          <p:cNvPr id="15" name="bullet-hex"/>
          <p:cNvSpPr/>
          <p:nvPr/>
        </p:nvSpPr>
        <p:spPr>
          <a:xfrm>
            <a:off x="676656" y="2604847"/>
            <a:ext cx="384048" cy="332586"/>
          </a:xfrm>
          <a:prstGeom prst="hexagon">
            <a:avLst/>
          </a:prstGeom>
          <a:solidFill>
            <a:srgbClr val="B8862B"/>
          </a:solidFill>
          <a:ln/>
        </p:spPr>
      </p:sp>
      <p:sp>
        <p:nvSpPr>
          <p:cNvPr id="16" name="bullet"/>
          <p:cNvSpPr txBox="1"/>
          <p:nvPr/>
        </p:nvSpPr>
        <p:spPr>
          <a:xfrm>
            <a:off x="1143000" y="2278888"/>
            <a:ext cx="10408615" cy="9845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Not every resource is equally likely to cause conflict. The class ranked nine: fresh water, oil, uranium, diamonds, gold, coal, food, land and sunshine.</a:t>
            </a:r>
            <a:endParaRPr lang="en-US" sz="2200" dirty="0"/>
          </a:p>
        </p:txBody>
      </p:sp>
      <p:sp>
        <p:nvSpPr>
          <p:cNvPr id="17" name="bullet-card"/>
          <p:cNvSpPr/>
          <p:nvPr/>
        </p:nvSpPr>
        <p:spPr>
          <a:xfrm>
            <a:off x="548640" y="3409696"/>
            <a:ext cx="11094415" cy="1666240"/>
          </a:xfrm>
          <a:prstGeom prst="roundRect">
            <a:avLst>
              <a:gd name="adj" fmla="val 4390"/>
            </a:avLst>
          </a:prstGeom>
          <a:solidFill>
            <a:srgbClr val="F0F3F1"/>
          </a:solidFill>
          <a:ln/>
        </p:spPr>
      </p:sp>
      <p:sp>
        <p:nvSpPr>
          <p:cNvPr id="18" name="bullet-hex"/>
          <p:cNvSpPr/>
          <p:nvPr/>
        </p:nvSpPr>
        <p:spPr>
          <a:xfrm>
            <a:off x="676656" y="4076523"/>
            <a:ext cx="384048" cy="332586"/>
          </a:xfrm>
          <a:prstGeom prst="hexagon">
            <a:avLst/>
          </a:prstGeom>
          <a:solidFill>
            <a:srgbClr val="3F6B4A"/>
          </a:solidFill>
          <a:ln/>
        </p:spPr>
      </p:sp>
      <p:sp>
        <p:nvSpPr>
          <p:cNvPr id="19" name="bullet"/>
          <p:cNvSpPr txBox="1"/>
          <p:nvPr/>
        </p:nvSpPr>
        <p:spPr>
          <a:xfrm>
            <a:off x="1143000" y="3409696"/>
            <a:ext cx="10408615" cy="16662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Alaska shows how a single resource can set groups against each other without a shot being fired: the state government and the oil company against wildlife experts; some Native groups against others; people who want jobs now against people who want the tundra protected for the future.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Sorting the Alaska cards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card about oil drilling in Alaska to the kind of impact it describes.</a:t>
            </a:r>
            <a:endParaRPr lang="en-US" sz="2400" dirty="0"/>
          </a:p>
        </p:txBody>
      </p:sp>
      <p:sp>
        <p:nvSpPr>
          <p:cNvPr id="11" name="match-card"/>
          <p:cNvSpPr/>
          <p:nvPr/>
        </p:nvSpPr>
        <p:spPr>
          <a:xfrm>
            <a:off x="777240" y="2672080"/>
            <a:ext cx="3081437" cy="753872"/>
          </a:xfrm>
          <a:prstGeom prst="roundRect">
            <a:avLst>
              <a:gd name="adj" fmla="val 9704"/>
            </a:avLst>
          </a:prstGeom>
          <a:solidFill>
            <a:srgbClr val="F0F3F1"/>
          </a:solidFill>
          <a:ln/>
        </p:spPr>
      </p:sp>
      <p:sp>
        <p:nvSpPr>
          <p:cNvPr id="12" name="match-hex"/>
          <p:cNvSpPr/>
          <p:nvPr/>
        </p:nvSpPr>
        <p:spPr>
          <a:xfrm>
            <a:off x="850392" y="2882723"/>
            <a:ext cx="384048" cy="332586"/>
          </a:xfrm>
          <a:prstGeom prst="hexagon">
            <a:avLst/>
          </a:prstGeom>
          <a:solidFill>
            <a:srgbClr val="3F6B4A"/>
          </a:solidFill>
          <a:ln/>
        </p:spPr>
      </p:sp>
      <p:sp>
        <p:nvSpPr>
          <p:cNvPr id="13" name="match-hex-label"/>
          <p:cNvSpPr txBox="1"/>
          <p:nvPr/>
        </p:nvSpPr>
        <p:spPr>
          <a:xfrm>
            <a:off x="850392"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487077"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Natural (environmental)</a:t>
            </a:r>
            <a:endParaRPr lang="en-US" sz="1800" dirty="0"/>
          </a:p>
        </p:txBody>
      </p:sp>
      <p:sp>
        <p:nvSpPr>
          <p:cNvPr id="15" name="match-card"/>
          <p:cNvSpPr/>
          <p:nvPr/>
        </p:nvSpPr>
        <p:spPr>
          <a:xfrm>
            <a:off x="4224437" y="2672080"/>
            <a:ext cx="7190019" cy="753872"/>
          </a:xfrm>
          <a:prstGeom prst="roundRect">
            <a:avLst>
              <a:gd name="adj" fmla="val 9704"/>
            </a:avLst>
          </a:prstGeom>
          <a:solidFill>
            <a:srgbClr val="F6F0E6"/>
          </a:solidFill>
          <a:ln/>
        </p:spPr>
      </p:sp>
      <p:sp>
        <p:nvSpPr>
          <p:cNvPr id="16" name="match-hex"/>
          <p:cNvSpPr/>
          <p:nvPr/>
        </p:nvSpPr>
        <p:spPr>
          <a:xfrm>
            <a:off x="4297589" y="2882723"/>
            <a:ext cx="384048" cy="332586"/>
          </a:xfrm>
          <a:prstGeom prst="hexagon">
            <a:avLst/>
          </a:prstGeom>
          <a:solidFill>
            <a:srgbClr val="B8862B"/>
          </a:solidFill>
          <a:ln/>
        </p:spPr>
      </p:sp>
      <p:sp>
        <p:nvSpPr>
          <p:cNvPr id="17" name="match-hex-label"/>
          <p:cNvSpPr txBox="1"/>
          <p:nvPr/>
        </p:nvSpPr>
        <p:spPr>
          <a:xfrm>
            <a:off x="4297589"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672080"/>
            <a:ext cx="6595659"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president banned drilling in the refuge and the next reversed the ban in 2017</a:t>
            </a:r>
            <a:endParaRPr lang="en-US" sz="1800" dirty="0"/>
          </a:p>
        </p:txBody>
      </p:sp>
      <p:sp>
        <p:nvSpPr>
          <p:cNvPr id="19" name="match-card"/>
          <p:cNvSpPr/>
          <p:nvPr/>
        </p:nvSpPr>
        <p:spPr>
          <a:xfrm>
            <a:off x="777240" y="3517392"/>
            <a:ext cx="3081437" cy="753872"/>
          </a:xfrm>
          <a:prstGeom prst="roundRect">
            <a:avLst>
              <a:gd name="adj" fmla="val 9704"/>
            </a:avLst>
          </a:prstGeom>
          <a:solidFill>
            <a:srgbClr val="F0F3F1"/>
          </a:solidFill>
          <a:ln/>
        </p:spPr>
      </p:sp>
      <p:sp>
        <p:nvSpPr>
          <p:cNvPr id="20" name="match-hex"/>
          <p:cNvSpPr/>
          <p:nvPr/>
        </p:nvSpPr>
        <p:spPr>
          <a:xfrm>
            <a:off x="850392" y="3728035"/>
            <a:ext cx="384048" cy="332586"/>
          </a:xfrm>
          <a:prstGeom prst="hexagon">
            <a:avLst/>
          </a:prstGeom>
          <a:solidFill>
            <a:srgbClr val="3F6B4A"/>
          </a:solidFill>
          <a:ln/>
        </p:spPr>
      </p:sp>
      <p:sp>
        <p:nvSpPr>
          <p:cNvPr id="21" name="match-hex-label"/>
          <p:cNvSpPr txBox="1"/>
          <p:nvPr/>
        </p:nvSpPr>
        <p:spPr>
          <a:xfrm>
            <a:off x="850392"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17392"/>
            <a:ext cx="2487077"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Economic</a:t>
            </a:r>
            <a:endParaRPr lang="en-US" sz="1800" dirty="0"/>
          </a:p>
        </p:txBody>
      </p:sp>
      <p:sp>
        <p:nvSpPr>
          <p:cNvPr id="23" name="match-card"/>
          <p:cNvSpPr/>
          <p:nvPr/>
        </p:nvSpPr>
        <p:spPr>
          <a:xfrm>
            <a:off x="4224437" y="3517392"/>
            <a:ext cx="7190019" cy="753872"/>
          </a:xfrm>
          <a:prstGeom prst="roundRect">
            <a:avLst>
              <a:gd name="adj" fmla="val 9704"/>
            </a:avLst>
          </a:prstGeom>
          <a:solidFill>
            <a:srgbClr val="F6F0E6"/>
          </a:solidFill>
          <a:ln/>
        </p:spPr>
      </p:sp>
      <p:sp>
        <p:nvSpPr>
          <p:cNvPr id="24" name="match-hex"/>
          <p:cNvSpPr/>
          <p:nvPr/>
        </p:nvSpPr>
        <p:spPr>
          <a:xfrm>
            <a:off x="4297589" y="3728035"/>
            <a:ext cx="384048" cy="332586"/>
          </a:xfrm>
          <a:prstGeom prst="hexagon">
            <a:avLst/>
          </a:prstGeom>
          <a:solidFill>
            <a:srgbClr val="B8862B"/>
          </a:solidFill>
          <a:ln/>
        </p:spPr>
      </p:sp>
      <p:sp>
        <p:nvSpPr>
          <p:cNvPr id="25" name="match-hex-label"/>
          <p:cNvSpPr txBox="1"/>
          <p:nvPr/>
        </p:nvSpPr>
        <p:spPr>
          <a:xfrm>
            <a:off x="4297589"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17392"/>
            <a:ext cx="6595659"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oil industry supports a third of all Alaska jobs, around 110 000 in the state</a:t>
            </a:r>
            <a:endParaRPr lang="en-US" sz="1800" dirty="0"/>
          </a:p>
        </p:txBody>
      </p:sp>
      <p:sp>
        <p:nvSpPr>
          <p:cNvPr id="27" name="match-card"/>
          <p:cNvSpPr/>
          <p:nvPr/>
        </p:nvSpPr>
        <p:spPr>
          <a:xfrm>
            <a:off x="777240" y="4362704"/>
            <a:ext cx="3081437" cy="753872"/>
          </a:xfrm>
          <a:prstGeom prst="roundRect">
            <a:avLst>
              <a:gd name="adj" fmla="val 9704"/>
            </a:avLst>
          </a:prstGeom>
          <a:solidFill>
            <a:srgbClr val="F0F3F1"/>
          </a:solidFill>
          <a:ln/>
        </p:spPr>
      </p:sp>
      <p:sp>
        <p:nvSpPr>
          <p:cNvPr id="28" name="match-hex"/>
          <p:cNvSpPr/>
          <p:nvPr/>
        </p:nvSpPr>
        <p:spPr>
          <a:xfrm>
            <a:off x="850392" y="4573347"/>
            <a:ext cx="384048" cy="332586"/>
          </a:xfrm>
          <a:prstGeom prst="hexagon">
            <a:avLst/>
          </a:prstGeom>
          <a:solidFill>
            <a:srgbClr val="3F6B4A"/>
          </a:solidFill>
          <a:ln/>
        </p:spPr>
      </p:sp>
      <p:sp>
        <p:nvSpPr>
          <p:cNvPr id="29" name="match-hex-label"/>
          <p:cNvSpPr txBox="1"/>
          <p:nvPr/>
        </p:nvSpPr>
        <p:spPr>
          <a:xfrm>
            <a:off x="850392"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362704"/>
            <a:ext cx="2487077"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Social</a:t>
            </a:r>
            <a:endParaRPr lang="en-US" sz="1800" dirty="0"/>
          </a:p>
        </p:txBody>
      </p:sp>
      <p:sp>
        <p:nvSpPr>
          <p:cNvPr id="31" name="match-card"/>
          <p:cNvSpPr/>
          <p:nvPr/>
        </p:nvSpPr>
        <p:spPr>
          <a:xfrm>
            <a:off x="4224437" y="4362704"/>
            <a:ext cx="7190019" cy="753872"/>
          </a:xfrm>
          <a:prstGeom prst="roundRect">
            <a:avLst>
              <a:gd name="adj" fmla="val 9704"/>
            </a:avLst>
          </a:prstGeom>
          <a:solidFill>
            <a:srgbClr val="F6F0E6"/>
          </a:solidFill>
          <a:ln/>
        </p:spPr>
      </p:sp>
      <p:sp>
        <p:nvSpPr>
          <p:cNvPr id="32" name="match-hex"/>
          <p:cNvSpPr/>
          <p:nvPr/>
        </p:nvSpPr>
        <p:spPr>
          <a:xfrm>
            <a:off x="4297589" y="4573347"/>
            <a:ext cx="384048" cy="332586"/>
          </a:xfrm>
          <a:prstGeom prst="hexagon">
            <a:avLst/>
          </a:prstGeom>
          <a:solidFill>
            <a:srgbClr val="B8862B"/>
          </a:solidFill>
          <a:ln/>
        </p:spPr>
      </p:sp>
      <p:sp>
        <p:nvSpPr>
          <p:cNvPr id="33" name="match-hex-label"/>
          <p:cNvSpPr txBox="1"/>
          <p:nvPr/>
        </p:nvSpPr>
        <p:spPr>
          <a:xfrm>
            <a:off x="4297589"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362704"/>
            <a:ext cx="6595659"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Heat and pressure from buildings and roads make the permafrost beneath them melt</a:t>
            </a:r>
            <a:endParaRPr lang="en-US" sz="1800" dirty="0"/>
          </a:p>
        </p:txBody>
      </p:sp>
      <p:sp>
        <p:nvSpPr>
          <p:cNvPr id="35" name="match-card"/>
          <p:cNvSpPr/>
          <p:nvPr/>
        </p:nvSpPr>
        <p:spPr>
          <a:xfrm>
            <a:off x="777240" y="5208016"/>
            <a:ext cx="3081437" cy="753872"/>
          </a:xfrm>
          <a:prstGeom prst="roundRect">
            <a:avLst>
              <a:gd name="adj" fmla="val 9704"/>
            </a:avLst>
          </a:prstGeom>
          <a:solidFill>
            <a:srgbClr val="F0F3F1"/>
          </a:solidFill>
          <a:ln/>
        </p:spPr>
      </p:sp>
      <p:sp>
        <p:nvSpPr>
          <p:cNvPr id="36" name="match-hex"/>
          <p:cNvSpPr/>
          <p:nvPr/>
        </p:nvSpPr>
        <p:spPr>
          <a:xfrm>
            <a:off x="850392" y="5418659"/>
            <a:ext cx="384048" cy="332586"/>
          </a:xfrm>
          <a:prstGeom prst="hexagon">
            <a:avLst/>
          </a:prstGeom>
          <a:solidFill>
            <a:srgbClr val="3F6B4A"/>
          </a:solidFill>
          <a:ln/>
        </p:spPr>
      </p:sp>
      <p:sp>
        <p:nvSpPr>
          <p:cNvPr id="37" name="match-hex-label"/>
          <p:cNvSpPr txBox="1"/>
          <p:nvPr/>
        </p:nvSpPr>
        <p:spPr>
          <a:xfrm>
            <a:off x="850392"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08016"/>
            <a:ext cx="2487077"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Political</a:t>
            </a:r>
            <a:endParaRPr lang="en-US" sz="1800" dirty="0"/>
          </a:p>
        </p:txBody>
      </p:sp>
      <p:sp>
        <p:nvSpPr>
          <p:cNvPr id="39" name="match-card"/>
          <p:cNvSpPr/>
          <p:nvPr/>
        </p:nvSpPr>
        <p:spPr>
          <a:xfrm>
            <a:off x="4224437" y="5208016"/>
            <a:ext cx="7190019" cy="753872"/>
          </a:xfrm>
          <a:prstGeom prst="roundRect">
            <a:avLst>
              <a:gd name="adj" fmla="val 9704"/>
            </a:avLst>
          </a:prstGeom>
          <a:solidFill>
            <a:srgbClr val="F6F0E6"/>
          </a:solidFill>
          <a:ln/>
        </p:spPr>
      </p:sp>
      <p:sp>
        <p:nvSpPr>
          <p:cNvPr id="40" name="match-hex"/>
          <p:cNvSpPr/>
          <p:nvPr/>
        </p:nvSpPr>
        <p:spPr>
          <a:xfrm>
            <a:off x="4297589" y="5418659"/>
            <a:ext cx="384048" cy="332586"/>
          </a:xfrm>
          <a:prstGeom prst="hexagon">
            <a:avLst/>
          </a:prstGeom>
          <a:solidFill>
            <a:srgbClr val="B8862B"/>
          </a:solidFill>
          <a:ln/>
        </p:spPr>
      </p:sp>
      <p:sp>
        <p:nvSpPr>
          <p:cNvPr id="41" name="match-hex-label"/>
          <p:cNvSpPr txBox="1"/>
          <p:nvPr/>
        </p:nvSpPr>
        <p:spPr>
          <a:xfrm>
            <a:off x="4297589"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208016"/>
            <a:ext cx="6595659"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refuge is home to several Alaska Native villages whose hunting is part of their identity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Sorting the Alaska cards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Sorting the Alaska cards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Natural means the environment: land, water, plants, animals, climate. Which card is about the ground itself?</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Economic means money, jobs, taxes, prices. Which card counts jobs?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Social means people, communities and their way of life. Which card is about villages and identity?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Political means governments, laws and decisions. Which card is about presidents?</a:t>
            </a:r>
            <a:endParaRPr lang="en-US" sz="1800" dirty="0"/>
          </a:p>
        </p:txBody>
      </p:sp>
      <p:sp>
        <p:nvSpPr>
          <p:cNvPr id="17" name="col-Core"/>
          <p:cNvSpPr/>
          <p:nvPr/>
        </p:nvSpPr>
        <p:spPr>
          <a:xfrm>
            <a:off x="6425403" y="2395728"/>
            <a:ext cx="2471666" cy="3749040"/>
          </a:xfrm>
          <a:prstGeom prst="roundRect">
            <a:avLst>
              <a:gd name="adj" fmla="val 2220"/>
            </a:avLst>
          </a:prstGeom>
          <a:solidFill>
            <a:srgbClr val="D5DED7"/>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Ground, jobs, villages, presidents: environment, economy, society, politics.</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Pick one card that fits two headings at once and explain both links. Then say which heading an examiner would most expect.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Reading the unemployment card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In December 2016 the unemployment rate in Alaska was 6.7 %, which the card says was 2 percentage points higher than the USA average. What was the USA average unemployment rate?</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Reading the unemployment card</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In December 2016 the unemployment rate in Alaska was 6.7 %, which the card says was 2 percentage points higher than the USA average. What was the USA average unemployment rate?</a:t>
            </a:r>
            <a:endParaRPr lang="en-US" sz="2000" dirty="0"/>
          </a:p>
        </p:txBody>
      </p:sp>
      <p:sp>
        <p:nvSpPr>
          <p:cNvPr id="12" name="col-Support"/>
          <p:cNvSpPr/>
          <p:nvPr/>
        </p:nvSpPr>
        <p:spPr>
          <a:xfrm>
            <a:off x="548640" y="2903728"/>
            <a:ext cx="4667802" cy="3241040"/>
          </a:xfrm>
          <a:prstGeom prst="roundRect">
            <a:avLst>
              <a:gd name="adj" fmla="val 1693"/>
            </a:avLst>
          </a:prstGeom>
          <a:solidFill>
            <a:srgbClr val="ECF0ED"/>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4393482"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Alaska's rate: 6.7 %.</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Alaska is HIGHER than the USA by 2 points, so the USA must be LOWER.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Lower means subtract: 6.7 − 2.</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is 4.7 less than 6.7? Yes, so the direction is right.</a:t>
            </a:r>
            <a:endParaRPr lang="en-US" sz="1800" dirty="0"/>
          </a:p>
        </p:txBody>
      </p:sp>
      <p:sp>
        <p:nvSpPr>
          <p:cNvPr id="17" name="col-Core"/>
          <p:cNvSpPr/>
          <p:nvPr/>
        </p:nvSpPr>
        <p:spPr>
          <a:xfrm>
            <a:off x="5490762" y="2903728"/>
            <a:ext cx="2938987" cy="3241040"/>
          </a:xfrm>
          <a:prstGeom prst="roundRect">
            <a:avLst>
              <a:gd name="adj" fmla="val 1867"/>
            </a:avLst>
          </a:prstGeom>
          <a:solidFill>
            <a:srgbClr val="D5DED7"/>
          </a:solidFill>
          <a:ln/>
        </p:spPr>
      </p:sp>
      <p:sp>
        <p:nvSpPr>
          <p:cNvPr id="18" name="col-hex"/>
          <p:cNvSpPr/>
          <p:nvPr/>
        </p:nvSpPr>
        <p:spPr>
          <a:xfrm>
            <a:off x="5600490"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Higher than means the other figure is smaller. Subtract.</a:t>
            </a:r>
            <a:endParaRPr lang="en-US" sz="1800" dirty="0"/>
          </a:p>
        </p:txBody>
      </p:sp>
      <p:sp>
        <p:nvSpPr>
          <p:cNvPr id="22" name="col-Stretch"/>
          <p:cNvSpPr/>
          <p:nvPr/>
        </p:nvSpPr>
        <p:spPr>
          <a:xfrm>
            <a:off x="8704069" y="2903728"/>
            <a:ext cx="2938987" cy="3241040"/>
          </a:xfrm>
          <a:prstGeom prst="roundRect">
            <a:avLst>
              <a:gd name="adj" fmla="val 1867"/>
            </a:avLst>
          </a:prstGeom>
          <a:solidFill>
            <a:srgbClr val="3F6B4A"/>
          </a:solidFill>
          <a:ln/>
        </p:spPr>
      </p:sp>
      <p:sp>
        <p:nvSpPr>
          <p:cNvPr id="23" name="col-hex"/>
          <p:cNvSpPr/>
          <p:nvPr/>
        </p:nvSpPr>
        <p:spPr>
          <a:xfrm>
            <a:off x="8813797"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40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43808"/>
            <a:ext cx="2664667"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state government and a wildlife expert might each use this unemployment figure in the debate, and why the same number can support opposite conclusions.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many million gallons of oil did the tanker Exxon Valdez release into the environment in 1989?</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(million gallons):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Sorting the Alaska cards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Natural (environmental)  →  C  Heat and pressure from buildings and roads make the permafrost beneath them melt</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Economic  →  B  The oil industry supports a third of all Alaska jobs, around 110 000 in the state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Social  →  D  The refuge is home to several Alaska Native villages whose hunting is part of their identity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Political  →  A  One president banned drilling in the refuge and the next reversed the ban in 2017</a:t>
            </a:r>
            <a:endParaRPr lang="en-US" sz="20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Melting permafrost is damage to the natural environment; jobs are economic; the villages and their way of life are social; a presidential ban and its reversal are political. Most strong answers use all four.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Reading the unemployment card</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December 2016 the unemployment rate in Alaska was 6.7 %, which the card says was 2 percentage points higher than the USA average. What was the USA average unemployment rate?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4.7 %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Alaska's 6.7 % was 2 points above the national figure, so the national figure was 6.7 − 2 = 4.7 %.</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many million gallons of oil did the tanker Exxon Valdez release into the environment in 1989?</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11 million gallons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Exxon Valdez struck a reef in Prince William Sound in 1989 and released 11 million gallons of oil; the beaches are still polluted today.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Resource Management · Chapter 5: Oil in the Arctic, and the conflicts resources cause</dc:title>
  <dc:subject>Geography · Year 9</dc:subject>
  <dc:creator>Dr Vitor Merissi de Carvalho</dc:creator>
  <cp:lastModifiedBy>Dr Vitor Merissi de Carvalho</cp:lastModifiedBy>
  <cp:revision>1</cp:revision>
  <dcterms:created xsi:type="dcterms:W3CDTF">2026-10-19T16:22:55Z</dcterms:created>
  <dcterms:modified xsi:type="dcterms:W3CDTF">2026-10-19T16:22:55Z</dcterms:modified>
</cp:coreProperties>
</file>