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6d9143a-ae17-21c4-e3bb-04686ac62af4}">
          <p14:sldIdLst>
            <p14:sldId id="256"/>
          </p14:sldIdLst>
        </p14:section>
        <p14:section name="Gate" id="{fd7c423d-4419-953a-eabb-8e278f1f3144}">
          <p14:sldIdLst>
            <p14:sldId id="257"/>
            <p14:sldId id="258"/>
          </p14:sldIdLst>
        </p14:section>
        <p14:section name="Pre-teach" id="{884ace59-b5fd-6001-6b7c-be418c718063}">
          <p14:sldIdLst>
            <p14:sldId id="259"/>
            <p14:sldId id="260"/>
          </p14:sldIdLst>
        </p14:section>
        <p14:section name="Read-along" id="{9655e348-ccd5-dbf7-d6b3-2b8fd89cecd9}">
          <p14:sldIdLst>
            <p14:sldId id="261"/>
            <p14:sldId id="262"/>
          </p14:sldIdLst>
        </p14:section>
        <p14:section name="Teach" id="{747f52f5-7661-5f8f-c298-4ddd97941cbf}">
          <p14:sldIdLst>
            <p14:sldId id="263"/>
            <p14:sldId id="264"/>
            <p14:sldId id="265"/>
            <p14:sldId id="266"/>
            <p14:sldId id="267"/>
            <p14:sldId id="268"/>
            <p14:sldId id="269"/>
          </p14:sldIdLst>
        </p14:section>
        <p14:section name="Routes" id="{90d3cfd5-de91-ceb5-30a5-6b7d06d5f550}">
          <p14:sldIdLst>
            <p14:sldId id="270"/>
            <p14:sldId id="271"/>
            <p14:sldId id="272"/>
          </p14:sldIdLst>
        </p14:section>
        <p14:section name="Close" id="{4bbad835-1419-7eb2-a999-377001261ea5}">
          <p14:sldIdLst>
            <p14:sldId id="273"/>
          </p14:sldIdLst>
        </p14:section>
        <p14:section name="Answers" id="{83384f8d-c756-51a6-0feb-25755e896ea5}">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Scale, contours and compass directions. What scale means and the three ways of writing it, the scales Ordnance Survey uses, how brown contour lines show the height and shape of the land, and how to give a direction with a four- or eight-point compass.
This deck covers the department's lesson: 7 (Map scale and compass directions: What is scale, how do stated, linear and ratio scales work, and how do we give compass directions?).
Read the big question aloud: "What makes a place, how do we find and describe it on a map, and how does my local place connect to the rest of the world?"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On a 1:25 000 Ordnance Survey map, how many metres on the ground does 1 cm on the map represent?  →  250 m
2. The brown lines on an OS map that show the height of the land are called ___ lines.  →  contour
3. On an OS map, what do contour lines that are very close together tell you about the land?  →  D   The slope is steep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250 m. 1:25 000 means 1 cm on the map is 25 000 cm on the ground. 25 000 cm ÷ 100 = 250 m.
2. contour. Contour lines are the brown lines joining places of the same height. They are close together where the slope is steep.
3. D   The slope is steep. Close contour lines mean the land rises a lot in a short distance, so the slope is steep. Lines far apart mean gentle or flat land.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scale: the link between a distance on the map and the real distance on the ground. Example: "The scale tells you how far it really is."
• stated scale: a scale written in words, such as 1 cm = 500 m. Example: "The stated scale says one centimetre is half a kilometre."
• linear scale: a scale drawn as a bar you can measure against. Example: "Hold your ruler against the linear scale."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ratio scale: a scale written as two numbers, such as 1:50 000. Example: "A ratio scale of 1:50 000 means 1 cm is 50 000 cm."
• contour line: a brown line on a map joining places of the same height. Example: "Contour lines close together mean a steep slope."
• compass rose: the diagram showing north, east, south and west. Example: "Draw the compass rose in your book."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 map is much smaller than the real land.
2. Scale is the link between a distance on the map and the real distance.
3. Scale lets us draw something that would never fit on paper.
4. There are three ways to show scale.
5. A stated scale uses words: 1 cm = 500 m.
6. A linear scale is a bar you can measure with a ruler.
7. A ratio scale uses two numbers: 1:50 000.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Ordnance Survey maps often use 1:50 000, 1:25 000 and 1:10 000.
9. Brown lines on an OS map are called contour lines.
10. They show the height of the land.
11. Close together means steep; far apart means gentle or flat.
12. A compass rose shows north, east, south and west.
13. Never Eat Shredded Wheat helps you remember the order.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is scale?. Say it in your own words, then check understanding with a quick question: ask a pupil from the pre-teach group first, since they met these words and ideas before the lesson. Pupils try to recall before you re-explain.
Scale tells you how a distance you measure on the map stands for a distance on the ground. Because of it, a whole town, a whole country, even the whole world can be drawn small enough to fit on paper. Every proper map tells you its scale, usually in the corner, and you must read it before you measure anything.
There are three ways to show the same scale. A stated scale says it in words and numbers: 1 cm = 2 m means one centimetre on the map is two metres on the ground. A linear scale is a bar drawn on the map and marked off, for example 0, 2, 4 m; you lay your ruler or a strip of paper against it. A ratio scale gives the same information as two numbers: 1:200 means one unit on the map is 200 of the same units on the ground, so 1 cm is 200 cm, which is 2 m. In class you completed a table turning each scale into the other two: 1 cm = 50 m is the same as 1:5 000, and 1 cm = 100 m is the same as 1:10 000.
Worked example — model it step by step, thinking aloud: A plan has a stated scale of 1 cm = 50 m. Write it as a ratio scale. (1) A ratio scale must use the same unit on both sides, so change 50 m into centimetres. (2) 1 m = 100 cm, so 50 m = 50 × 100 = 5 000 cm. (3) So 1 cm on the map is 5 000 cm on the ground: the ratio scale is 1:5 000. (4) Check against the deck's table: 1 cm = 50 m sits in the same row as 1:5 000. Answer: 1:5 000.
Tip: A ratio scale has no units, so both numbers must be in the same unit. Turn metres into centimetres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is scale?. Say it in your own words, then check understanding with a quick question: ask a pupil from the pre-teach group first, since they met these words and ideas before the lesson. Pupils try to recall before you re-explain.
Scale tells you how a distance you measure on the map stands for a distance on the ground. Because of it, a whole town, a whole country, even the whole world can be drawn small enough to fit on paper. Every proper map tells you its scale, usually in the corner, and you must read it before you measure anything.
There are three ways to show the same scale. A stated scale says it in words and numbers: 1 cm = 2 m means one centimetre on the map is two metres on the ground. A linear scale is a bar drawn on the map and marked off, for example 0, 2, 4 m; you lay your ruler or a strip of paper against it. A ratio scale gives the same information as two numbers: 1:200 means one unit on the map is 200 of the same units on the ground, so 1 cm is 200 cm, which is 2 m. In class you completed a table turning each scale into the other two: 1 cm = 50 m is the same as 1:5 000, and 1 cm = 100 m is the same as 1:10 000.
Worked example — model it step by step, thinking aloud: A plan has a stated scale of 1 cm = 50 m. Write it as a ratio scale. (1) A ratio scale must use the same unit on both sides, so change 50 m into centimetres. (2) 1 m = 100 cm, so 50 m = 50 × 100 = 5 000 cm. (3) So 1 cm on the map is 5 000 cm on the ground: the ratio scale is 1:5 000. (4) Check against the deck's table: 1 cm = 50 m sits in the same row as 1:5 000. Answer: 1:5 000.
Tip: A ratio scale has no units, so both numbers must be in the same unit. Turn metres into centimetres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scales Ordnance Survey uses. Say it in your own words, then check understanding with a quick question: ask a pupil from the pre-teach group first, since they met these words and ideas before the lesson. Pupils try to recall before you re-explain.
Ordnance Survey often uses three ratio scales: 1:50 000, 1:25 000 and 1:10 000. To turn each into a simple stated scale, remember that 1 cm on the map is that many centimetres on the ground, then change to metres by dividing by 100. On a 1:50 000 map, 1 cm = 50 000 cm = 500 m. On a 1:25 000 map, 1 cm = 25 000 cm = 250 m. On a 1:10 000 map, 1 cm = 10 000 cm = 100 m. The bigger the second number, the more land each centimetre covers and the less detail the map can show.
Once you know the stated scale you can measure real distances. Measure the map distance in centimetres with a ruler, then multiply by the stated scale. On a 1:25 000 map, 4 cm is 4 × 250 m = 1 000 m, which is 1 km. That is the scale of the map in your homework, where 4 cm on the map was 1 km on the ground. On a 1:50 000 map the same 4 cm would be 4 × 500 m = 2 000 m, or 2 km.
Worked example — model it step by step, thinking aloud: On a 1:50 000 OS map, a footpath measures 6 cm. How long is the real footpath, in kilometres? (1) Stated scale first: 1:50 000 means 1 cm = 50 000 cm = 500 m. (2) Multiply: 6 × 500 m = 3 000 m. (3) Change to kilometres: 3 000 m = 3 km. (4) Check: on a 1:50 000 map, 2 cm is 1 km, so 6 cm is 3 km. Answer: 3 km.
Tip: On a 1:50 000 map, 2 cm is 1 km. On a 1:25 000 map, 4 cm is 1 km. Learn those two and you can check any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scales Ordnance Survey uses. Say it in your own words, then check understanding with a quick question: ask a pupil from the pre-teach group first, since they met these words and ideas before the lesson. Pupils try to recall before you re-explain.
Ordnance Survey often uses three ratio scales: 1:50 000, 1:25 000 and 1:10 000. To turn each into a simple stated scale, remember that 1 cm on the map is that many centimetres on the ground, then change to metres by dividing by 100. On a 1:50 000 map, 1 cm = 50 000 cm = 500 m. On a 1:25 000 map, 1 cm = 25 000 cm = 250 m. On a 1:10 000 map, 1 cm = 10 000 cm = 100 m. The bigger the second number, the more land each centimetre covers and the less detail the map can show.
Once you know the stated scale you can measure real distances. Measure the map distance in centimetres with a ruler, then multiply by the stated scale. On a 1:25 000 map, 4 cm is 4 × 250 m = 1 000 m, which is 1 km. That is the scale of the map in your homework, where 4 cm on the map was 1 km on the ground. On a 1:50 000 map the same 4 cm would be 4 × 500 m = 2 000 m, or 2 km.
Worked example — model it step by step, thinking aloud: On a 1:50 000 OS map, a footpath measures 6 cm. How long is the real footpath, in kilometres? (1) Stated scale first: 1:50 000 means 1 cm = 50 000 cm = 500 m. (2) Multiply: 6 × 500 m = 3 000 m. (3) Change to kilometres: 3 000 m = 3 km. (4) Check: on a 1:50 000 map, 2 cm is 1 km, so 6 cm is 3 km. Answer: 3 km.
Tip: On a 1:50 000 map, 2 cm is 1 km. On a 1:25 000 map, 4 cm is 1 km. Learn those two and you can check any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Contour lines: height and shape. Say it in your own words, then check understanding with a quick question: ask a pupil from the pre-teach group first, since they met these words and ideas before the lesson. Pupils try to recall before you re-explain.
Look at an OS map of hills and you will see thin brown lines curving across it. The brown lines on an OS map are called contour lines, and they are used to show height. A contour line joins places that are the same height above sea level; the height is printed on some of the lines. The deck's hill has contour lines marked at 10 metre intervals, so each line is 10 m higher than the one below it.
Contour lines also show the shape of the land. Seen from above, lines that are close together mean the slope is steep, because the land rises 10 m in a short distance. Lines that are far apart mean the slope is gentle or flat. A ring of contours with no lines inside is a hill top. In class you matched drawings of hills to their contour patterns: a pointed hill gives small tight rings, a long ridge gives long thin loops, and a flat-topped hill has a wide empty space inside the top ring.
The 1925 map of Helvellyn in the Lake District was full of contour lines packed closely together, because the mountains there are steep. That is also why the deck says the map would look almost the same today: steep rock changes very slowly.
Worked example — model it step by step, thinking aloud: A hill is drawn with contour lines at 10 m intervals. The lowest line is labelled 50 m and there are four more lines inside it. What height is the highest contour line? (1) Each line is 10 m higher than the one before. (2) Four more lines means four steps of 10 m: 4 × 10 = 40 m. (3) Add to the lowest line: 50 + 40 = 90 m. (4) Check by counting: 60, 70, 80, 90. Four lines, the last one is 90 m. Answer: 90 m.
Tip: Count the lines, multiply by the interval, add to the starting height. Close lines are steep; wide gaps are gentle.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Contour lines: height and shape. Say it in your own words, then check understanding with a quick question: ask a pupil from the pre-teach group first, since they met these words and ideas before the lesson. Pupils try to recall before you re-explain.
Look at an OS map of hills and you will see thin brown lines curving across it. The brown lines on an OS map are called contour lines, and they are used to show height. A contour line joins places that are the same height above sea level; the height is printed on some of the lines. The deck's hill has contour lines marked at 10 metre intervals, so each line is 10 m higher than the one below it.
Contour lines also show the shape of the land. Seen from above, lines that are close together mean the slope is steep, because the land rises 10 m in a short distance. Lines that are far apart mean the slope is gentle or flat. A ring of contours with no lines inside is a hill top. In class you matched drawings of hills to their contour patterns: a pointed hill gives small tight rings, a long ridge gives long thin loops, and a flat-topped hill has a wide empty space inside the top ring.
The 1925 map of Helvellyn in the Lake District was full of contour lines packed closely together, because the mountains there are steep. That is also why the deck says the map would look almost the same today: steep rock changes very slowly.
Worked example — model it step by step, thinking aloud: A hill is drawn with contour lines at 10 m intervals. The lowest line is labelled 50 m and there are four more lines inside it. What height is the highest contour line? (1) Each line is 10 m higher than the one before. (2) Four more lines means four steps of 10 m: 4 × 10 = 40 m. (3) Add to the lowest line: 50 + 40 = 90 m. (4) Check by counting: 60, 70, 80, 90. Four lines, the last one is 90 m. Answer: 90 m.
Tip: Count the lines, multiply by the interval, add to the starting height. Close lines are steep; wide gaps are gentle.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Compass directions. Say it in your own words, then check understanding with a quick question: ask a pupil from the pre-teach group first, since they met these words and ideas before the lesson. Pupils try to recall before you re-explain.
A compass rose is the diagram on a map that shows direction. The four main points, going clockwise from the top, are north, east, south and west. The deck's way to remember the order is Never Eat Shredded Wheat. On almost every map, including all OS maps, north is at the top, so east is on the right, south at the bottom and west on the left.
A four-point compass rose is often not precise enough, so geographers use eight points. Between north and east is north-east; between south and east is south-east; between south and west is south-west; and between north and west is north-west. The first word is always north or south, the second always east or west. In class you placed a cow and an owl on your compass rose and completed sentences like the cow is in the north-east, and the cow is north-east of the owl.
Direction questions on a map always ask where one thing is from another. Put your finger on the from thing (the owl, the rocket, the house), face north, and say which way you move to reach the other thing. Combine this with grid references and you can describe any place on the map: the church is in square 1324, north-east of the station.
Tip: Never Eat Shredded Wheat: N, E, S, W clockwise. The in-between points always say north or south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far is it really?.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On a 1:50 000 OS map, the distance between two villages measures 4 cm. How far apart are they on the ground, in kilometres?
Support — work through the steps with the group: (1) Turn the ratio into a stated scale: 1:50 000 means 1 cm = 50 000 cm = 500 m. (2) Multiply the map distance by 500 m: 4 × 500 m. (3) You get 2 000 m. (4) Change to kilometres: 1 000 m = 1 km, so 2 000 m = 2 km.
Parallel worked example for Support (model it, do not give the task answer): On a 1:25 000 OS map, a path measures 8 cm. How long is it in kilometres? 1:25 000 means 1 cm = 250 m.; 8 × 250 m = 2 000 m.; 2 000 m = 2 km.. Answer: 2 km.
Core — reveal the hint only on request: 1 cm = 500 m on this map. Multiply by 4, then change metres to kilometres.
Stretch — no help; when finished: The same two villages are shown on a 1:25 000 map. How many centimetres apart would they be, and why is that map more detailed?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way is it?.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On a map with north at the top, the cow is above and to the right of the owl. Which compass direction is the cow from the owl?
Support — work through the steps with the group: (1) Put your finger on the owl, because the question asks where the cow is FROM the owl. (2) Above means north; below means south. (3) Right means east; left means west. (4) Above and right is north and east together: north-east. North or south always comes first.
Parallel worked example for Support (model it, do not give the task answer): On a map with north at the top, the lion is below and to the left of the flag. Which direction is the lion from the flag? Below is south.; Left is west.; South and west together: south-west.. Answer: South-west.
Core — reveal the hint only on request: Up is north, right is east. Join them, north first.
Stretch — no help; when finished: Explain why saying the owl is south-west of the cow is the same fact, and write the rule for turning a direction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way is it?.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On a map with north at the top, the cow is above and to the right of the owl. Which compass direction is the cow from the owl?
Support — work through the steps with the group: (1) Put your finger on the owl, because the question asks where the cow is FROM the owl. (2) Above means north; below means south. (3) Right means east; left means west. (4) Above and right is north and east together: north-east. North or south always comes first.
Parallel worked example for Support (model it, do not give the task answer): On a map with north at the top, the lion is below and to the left of the flag. Which direction is the lion from the flag? Below is south.; Left is west.; South and west together: south-west.. Answer: South-west.
Core — reveal the hint only on request: Up is north, right is east. Join them, north first.
Stretch — no help; when finished: Explain why saying the owl is south-west of the cow is the same fact, and write the rule for turning a direction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On a 1:25 000 Ordnance Survey map, how many metres on the ground does 1 cm on the map represent?
Answer: 250 m. 1:25 000 means 1 cm on the map is 25 000 cm on the ground. 25 000 cm ÷ 100 = 250 m.
Source of this question: gate item 1 re-asked (options rotated) — this chapter has no third quick-check module.
The ebook also holds task 3, "Three kinds of scale",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How far is it really?. Reveal the answer; pupils mark their own work in a different colour, then read the "why" together. Same destination for every lane, so one answer serves the whole class.
Answer: 2 km
Why: 1:50 000 means 1 cm on the map is 50 000 cm, or 500 m, on the ground. 4 cm is 4 × 500 = 2 000 m, which is 2 km.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Which way is it?. Reveal the answer; pupils mark their own work in a different colour, then read the "why" together. Same destination for every lane, so one answer serves the whole class.
Answer: C   North-east
Why: On a map with north at the top, above is north and right is east. Above and to the right is north-east, and the north or south word always comes first.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250 m
Why: 1:25 000 means 1 cm on the map is 25 000 cm on the ground. 25 000 cm ÷ 100 = 250 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My Local Place and the World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My Local Place and the World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E6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My Local Place and the World · AQA KS3 → 8035</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Scale, contours and compass directions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2F5F2"/>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Map scale and compass directions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F5F2"/>
          </a:solidFill>
          <a:ln w="12700">
            <a:solidFill>
              <a:srgbClr val="B8C8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makes a place, how do we find and describe it on a map, and how does my local place connect to the rest of the world?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On a 1:25 000 Ordnance Survey map, how many metres on the ground does 1 cm on the map represent?</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m</a:t>
            </a:r>
            <a:endParaRPr lang="en-US" sz="2400" dirty="0"/>
          </a:p>
        </p:txBody>
      </p:sp>
      <p:sp>
        <p:nvSpPr>
          <p:cNvPr id="12"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brown lines on an OS map that show the height of the land are called ___ lines.</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contour  ·  grid  ·  latitude</a:t>
            </a:r>
            <a:endParaRPr lang="en-US" sz="2400" dirty="0"/>
          </a:p>
        </p:txBody>
      </p:sp>
      <p:sp>
        <p:nvSpPr>
          <p:cNvPr id="17"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On an OS map, what do contour lines that are very close together tell you about the land?</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land is below sea level</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slope is gentle or flat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There is a river</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slope is steep</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250 m</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On a 1:25 000 Ordnance Survey map, how many metres on the ground does 1 cm on the map represent?</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1:25 000 means 1 cm on the map is 25 000 cm on the ground. 25 000 cm ÷ 100 = 250 m.</a:t>
            </a:r>
            <a:endParaRPr lang="en-US" sz="1800" dirty="0"/>
          </a:p>
        </p:txBody>
      </p:sp>
      <p:sp>
        <p:nvSpPr>
          <p:cNvPr id="14"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contour</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The brown lines on an OS map that show the height of the land are called ___ lines.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Contour lines are the brown lines joining places of the same height. They are close together where the slope is steep.</a:t>
            </a:r>
            <a:endParaRPr lang="en-US" sz="1800" dirty="0"/>
          </a:p>
        </p:txBody>
      </p:sp>
      <p:sp>
        <p:nvSpPr>
          <p:cNvPr id="21"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The slope is steep</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On an OS map, what do contour lines that are very close together tell you about the land?</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Close contour lines mean the land rises a lot in a short distance, so the slope is steep. Lines far apart mean gentle or flat land.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8F6"/>
          </a:solidFill>
          <a:ln w="12700">
            <a:solidFill>
              <a:srgbClr val="B8C8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scale</a:t>
            </a:r>
            <a:endParaRPr lang="en-US" sz="2600" dirty="0"/>
          </a:p>
        </p:txBody>
      </p:sp>
      <p:sp>
        <p:nvSpPr>
          <p:cNvPr id="11" name="word-rule"/>
          <p:cNvSpPr/>
          <p:nvPr/>
        </p:nvSpPr>
        <p:spPr>
          <a:xfrm>
            <a:off x="731520" y="2129028"/>
            <a:ext cx="3149498" cy="0"/>
          </a:xfrm>
          <a:prstGeom prst="line">
            <a:avLst/>
          </a:prstGeom>
          <a:ln w="12700">
            <a:solidFill>
              <a:srgbClr val="B8C8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link between a distance on the map and the real distance on the ground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scale tells you how far it really is.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8F6"/>
          </a:solidFill>
          <a:ln w="12700">
            <a:solidFill>
              <a:srgbClr val="B8C8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stated scale</a:t>
            </a:r>
            <a:endParaRPr lang="en-US" sz="2600" dirty="0"/>
          </a:p>
        </p:txBody>
      </p:sp>
      <p:sp>
        <p:nvSpPr>
          <p:cNvPr id="17" name="word-rule"/>
          <p:cNvSpPr/>
          <p:nvPr/>
        </p:nvSpPr>
        <p:spPr>
          <a:xfrm>
            <a:off x="4521098" y="2129028"/>
            <a:ext cx="3149498" cy="0"/>
          </a:xfrm>
          <a:prstGeom prst="line">
            <a:avLst/>
          </a:prstGeom>
          <a:ln w="12700">
            <a:solidFill>
              <a:srgbClr val="B8C8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scale written in words, such as 1 cm = 500 m</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stated scale says one centimetre is half a kilometre.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8F6"/>
          </a:solidFill>
          <a:ln w="12700">
            <a:solidFill>
              <a:srgbClr val="B8C8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linear scale</a:t>
            </a:r>
            <a:endParaRPr lang="en-US" sz="2600" dirty="0"/>
          </a:p>
        </p:txBody>
      </p:sp>
      <p:sp>
        <p:nvSpPr>
          <p:cNvPr id="23" name="word-rule"/>
          <p:cNvSpPr/>
          <p:nvPr/>
        </p:nvSpPr>
        <p:spPr>
          <a:xfrm>
            <a:off x="8310677" y="2129028"/>
            <a:ext cx="3149498" cy="0"/>
          </a:xfrm>
          <a:prstGeom prst="line">
            <a:avLst/>
          </a:prstGeom>
          <a:ln w="12700">
            <a:solidFill>
              <a:srgbClr val="B8C8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scale drawn as a bar you can measure against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Hold your ruler against the linear scale.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8F6"/>
          </a:solidFill>
          <a:ln w="12700">
            <a:solidFill>
              <a:srgbClr val="B8C8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ratio scale</a:t>
            </a:r>
            <a:endParaRPr lang="en-US" sz="2600" dirty="0"/>
          </a:p>
        </p:txBody>
      </p:sp>
      <p:sp>
        <p:nvSpPr>
          <p:cNvPr id="11" name="word-rule"/>
          <p:cNvSpPr/>
          <p:nvPr/>
        </p:nvSpPr>
        <p:spPr>
          <a:xfrm>
            <a:off x="731520" y="2129028"/>
            <a:ext cx="3149498" cy="0"/>
          </a:xfrm>
          <a:prstGeom prst="line">
            <a:avLst/>
          </a:prstGeom>
          <a:ln w="12700">
            <a:solidFill>
              <a:srgbClr val="B8C8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scale written as two numbers, such as 1:50 000</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ratio scale of 1:50 000 means 1 cm is 50 000 cm.</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8F6"/>
          </a:solidFill>
          <a:ln w="12700">
            <a:solidFill>
              <a:srgbClr val="B8C8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contour line</a:t>
            </a:r>
            <a:endParaRPr lang="en-US" sz="2600" dirty="0"/>
          </a:p>
        </p:txBody>
      </p:sp>
      <p:sp>
        <p:nvSpPr>
          <p:cNvPr id="17" name="word-rule"/>
          <p:cNvSpPr/>
          <p:nvPr/>
        </p:nvSpPr>
        <p:spPr>
          <a:xfrm>
            <a:off x="4521098" y="2129028"/>
            <a:ext cx="3149498" cy="0"/>
          </a:xfrm>
          <a:prstGeom prst="line">
            <a:avLst/>
          </a:prstGeom>
          <a:ln w="12700">
            <a:solidFill>
              <a:srgbClr val="B8C8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brown line on a map joining places of the same height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Contour lines close together mean a steep slope.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8F6"/>
          </a:solidFill>
          <a:ln w="12700">
            <a:solidFill>
              <a:srgbClr val="B8C8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compass rose</a:t>
            </a:r>
            <a:endParaRPr lang="en-US" sz="2600" dirty="0"/>
          </a:p>
        </p:txBody>
      </p:sp>
      <p:sp>
        <p:nvSpPr>
          <p:cNvPr id="23" name="word-rule"/>
          <p:cNvSpPr/>
          <p:nvPr/>
        </p:nvSpPr>
        <p:spPr>
          <a:xfrm>
            <a:off x="8310677" y="2129028"/>
            <a:ext cx="3149498" cy="0"/>
          </a:xfrm>
          <a:prstGeom prst="line">
            <a:avLst/>
          </a:prstGeom>
          <a:ln w="12700">
            <a:solidFill>
              <a:srgbClr val="B8C8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diagram showing north, east, south and west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Draw the compass rose in your book.</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map is much smaller than the real land.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Scale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the link between a distance on the map and the real distance.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Scale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lets us draw something that would never fit on paper.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There are three ways to show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scale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stated scale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uses words: 1 cm = 500 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linear scale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a bar you can measure with a ruler.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ratio scale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uses two numbers: 1:50 000.</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Ordnance Survey maps often use 1:50 000, 1:25 000 and 1:10 000.</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Brown lines on an OS map are called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contour lines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show the height of the land.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Close together means steep; far apart means gentle or flat.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compass rose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shows north, east, south and west.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Never Eat Shredded Wheat helps you remember the order.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What is scale?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ratio scale has no units, so both numbers must be in the same unit. Turn metres into centimetres first.</a:t>
            </a:r>
            <a:endParaRPr lang="en-US" sz="1800" dirty="0"/>
          </a:p>
        </p:txBody>
      </p:sp>
      <p:sp>
        <p:nvSpPr>
          <p:cNvPr id="11" name="point-card"/>
          <p:cNvSpPr/>
          <p:nvPr/>
        </p:nvSpPr>
        <p:spPr>
          <a:xfrm>
            <a:off x="548640" y="1389888"/>
            <a:ext cx="5410048" cy="3686048"/>
          </a:xfrm>
          <a:prstGeom prst="roundRect">
            <a:avLst>
              <a:gd name="adj" fmla="val 1488"/>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Scale tells you how a distance you measure on the map stands for a distance on the ground.</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9F4EC"/>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There are three ways to show the same scale. A stated scale says it in words and numbers: 1 cm = 2 m means one centimetre on the map is two metres on the ground.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What is scale?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2F5F2"/>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plan has a stated scale of 1 cm = 50 m. Write it as a ratio scale.</a:t>
            </a:r>
            <a:endParaRPr lang="en-US" sz="2200" dirty="0"/>
          </a:p>
        </p:txBody>
      </p:sp>
      <p:sp>
        <p:nvSpPr>
          <p:cNvPr id="9" name="step-box"/>
          <p:cNvSpPr/>
          <p:nvPr/>
        </p:nvSpPr>
        <p:spPr>
          <a:xfrm>
            <a:off x="548640" y="2314956"/>
            <a:ext cx="2464994" cy="2252980"/>
          </a:xfrm>
          <a:prstGeom prst="roundRect">
            <a:avLst>
              <a:gd name="adj" fmla="val 3247"/>
            </a:avLst>
          </a:prstGeom>
          <a:solidFill>
            <a:srgbClr val="FFFFFF"/>
          </a:solidFill>
          <a:ln w="15875">
            <a:solidFill>
              <a:srgbClr val="95AE9B"/>
            </a:solidFill>
            <a:prstDash val="solid"/>
          </a:ln>
        </p:spPr>
      </p:sp>
      <p:sp>
        <p:nvSpPr>
          <p:cNvPr id="10" name="step-hex"/>
          <p:cNvSpPr/>
          <p:nvPr/>
        </p:nvSpPr>
        <p:spPr>
          <a:xfrm>
            <a:off x="685800" y="2424684"/>
            <a:ext cx="530352" cy="459285"/>
          </a:xfrm>
          <a:prstGeom prst="hexagon">
            <a:avLst/>
          </a:prstGeom>
          <a:solidFill>
            <a:srgbClr val="3F6B4A"/>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ratio scale must use the same unit on both sides, so change 50 m into centimetres.</a:t>
            </a:r>
            <a:endParaRPr lang="en-US" sz="1800" dirty="0"/>
          </a:p>
        </p:txBody>
      </p:sp>
      <p:sp>
        <p:nvSpPr>
          <p:cNvPr id="13" name="arrow"/>
          <p:cNvSpPr/>
          <p:nvPr/>
        </p:nvSpPr>
        <p:spPr>
          <a:xfrm>
            <a:off x="3086786" y="3304286"/>
            <a:ext cx="274320" cy="274320"/>
          </a:xfrm>
          <a:prstGeom prst="rightArrow">
            <a:avLst/>
          </a:prstGeom>
          <a:solidFill>
            <a:srgbClr val="B8862B"/>
          </a:solidFill>
          <a:ln/>
        </p:spPr>
      </p:sp>
      <p:sp>
        <p:nvSpPr>
          <p:cNvPr id="14" name="step-box"/>
          <p:cNvSpPr/>
          <p:nvPr/>
        </p:nvSpPr>
        <p:spPr>
          <a:xfrm>
            <a:off x="3425114" y="2314956"/>
            <a:ext cx="2464994" cy="2252980"/>
          </a:xfrm>
          <a:prstGeom prst="roundRect">
            <a:avLst>
              <a:gd name="adj" fmla="val 3247"/>
            </a:avLst>
          </a:prstGeom>
          <a:solidFill>
            <a:srgbClr val="FFFFFF"/>
          </a:solidFill>
          <a:ln w="15875">
            <a:solidFill>
              <a:srgbClr val="95AE9B"/>
            </a:solidFill>
            <a:prstDash val="solid"/>
          </a:ln>
        </p:spPr>
      </p:sp>
      <p:sp>
        <p:nvSpPr>
          <p:cNvPr id="15" name="step-hex"/>
          <p:cNvSpPr/>
          <p:nvPr/>
        </p:nvSpPr>
        <p:spPr>
          <a:xfrm>
            <a:off x="3562274" y="2424684"/>
            <a:ext cx="530352" cy="459285"/>
          </a:xfrm>
          <a:prstGeom prst="hexagon">
            <a:avLst/>
          </a:prstGeom>
          <a:solidFill>
            <a:srgbClr val="3F6B4A"/>
          </a:solidFill>
          <a:ln/>
        </p:spPr>
      </p:sp>
      <p:sp>
        <p:nvSpPr>
          <p:cNvPr id="16" name="step-hex-label"/>
          <p:cNvSpPr txBox="1"/>
          <p:nvPr/>
        </p:nvSpPr>
        <p:spPr>
          <a:xfrm>
            <a:off x="3562274"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2909316"/>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1 m = 100 cm, so 50 m = 50 × 100 = 5 000 cm.</a:t>
            </a:r>
            <a:endParaRPr lang="en-US" sz="1800" dirty="0"/>
          </a:p>
        </p:txBody>
      </p:sp>
      <p:sp>
        <p:nvSpPr>
          <p:cNvPr id="18" name="arrow"/>
          <p:cNvSpPr/>
          <p:nvPr/>
        </p:nvSpPr>
        <p:spPr>
          <a:xfrm>
            <a:off x="5963260" y="3304286"/>
            <a:ext cx="274320" cy="274320"/>
          </a:xfrm>
          <a:prstGeom prst="rightArrow">
            <a:avLst/>
          </a:prstGeom>
          <a:solidFill>
            <a:srgbClr val="B8862B"/>
          </a:solidFill>
          <a:ln/>
        </p:spPr>
      </p:sp>
      <p:sp>
        <p:nvSpPr>
          <p:cNvPr id="19" name="step-box"/>
          <p:cNvSpPr/>
          <p:nvPr/>
        </p:nvSpPr>
        <p:spPr>
          <a:xfrm>
            <a:off x="6301588" y="2314956"/>
            <a:ext cx="2464994" cy="2252980"/>
          </a:xfrm>
          <a:prstGeom prst="roundRect">
            <a:avLst>
              <a:gd name="adj" fmla="val 3247"/>
            </a:avLst>
          </a:prstGeom>
          <a:solidFill>
            <a:srgbClr val="FFFFFF"/>
          </a:solidFill>
          <a:ln w="15875">
            <a:solidFill>
              <a:srgbClr val="95AE9B"/>
            </a:solidFill>
            <a:prstDash val="solid"/>
          </a:ln>
        </p:spPr>
      </p:sp>
      <p:sp>
        <p:nvSpPr>
          <p:cNvPr id="20" name="step-hex"/>
          <p:cNvSpPr/>
          <p:nvPr/>
        </p:nvSpPr>
        <p:spPr>
          <a:xfrm>
            <a:off x="6438748" y="2424684"/>
            <a:ext cx="530352" cy="459285"/>
          </a:xfrm>
          <a:prstGeom prst="hexagon">
            <a:avLst/>
          </a:prstGeom>
          <a:solidFill>
            <a:srgbClr val="3F6B4A"/>
          </a:solidFill>
          <a:ln/>
        </p:spPr>
      </p:sp>
      <p:sp>
        <p:nvSpPr>
          <p:cNvPr id="21"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2909316"/>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So 1 cm on the map is 5 000 cm on the ground: the ratio scale is 1:5 000.</a:t>
            </a:r>
            <a:endParaRPr lang="en-US" sz="1800" dirty="0"/>
          </a:p>
        </p:txBody>
      </p:sp>
      <p:sp>
        <p:nvSpPr>
          <p:cNvPr id="23" name="arrow"/>
          <p:cNvSpPr/>
          <p:nvPr/>
        </p:nvSpPr>
        <p:spPr>
          <a:xfrm>
            <a:off x="8839733" y="3304286"/>
            <a:ext cx="274320" cy="274320"/>
          </a:xfrm>
          <a:prstGeom prst="rightArrow">
            <a:avLst/>
          </a:prstGeom>
          <a:solidFill>
            <a:srgbClr val="B8862B"/>
          </a:solidFill>
          <a:ln/>
        </p:spPr>
      </p:sp>
      <p:sp>
        <p:nvSpPr>
          <p:cNvPr id="24" name="step-box"/>
          <p:cNvSpPr/>
          <p:nvPr/>
        </p:nvSpPr>
        <p:spPr>
          <a:xfrm>
            <a:off x="9178061" y="2314956"/>
            <a:ext cx="2464994" cy="2252980"/>
          </a:xfrm>
          <a:prstGeom prst="roundRect">
            <a:avLst>
              <a:gd name="adj" fmla="val 3247"/>
            </a:avLst>
          </a:prstGeom>
          <a:solidFill>
            <a:srgbClr val="FFFFFF"/>
          </a:solidFill>
          <a:ln w="15875">
            <a:solidFill>
              <a:srgbClr val="95AE9B"/>
            </a:solidFill>
            <a:prstDash val="solid"/>
          </a:ln>
        </p:spPr>
      </p:sp>
      <p:sp>
        <p:nvSpPr>
          <p:cNvPr id="25" name="step-hex"/>
          <p:cNvSpPr/>
          <p:nvPr/>
        </p:nvSpPr>
        <p:spPr>
          <a:xfrm>
            <a:off x="9315221" y="2424684"/>
            <a:ext cx="530352" cy="459285"/>
          </a:xfrm>
          <a:prstGeom prst="hexagon">
            <a:avLst/>
          </a:prstGeom>
          <a:solidFill>
            <a:srgbClr val="3F6B4A"/>
          </a:solidFill>
          <a:ln/>
        </p:spPr>
      </p:sp>
      <p:sp>
        <p:nvSpPr>
          <p:cNvPr id="26" name="step-hex-label"/>
          <p:cNvSpPr txBox="1"/>
          <p:nvPr/>
        </p:nvSpPr>
        <p:spPr>
          <a:xfrm>
            <a:off x="9315221"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2909316"/>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Check against the deck's table: 1 cm = 50 m sits in the same row as 1:5 000.</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1:5 000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scales Ordnance Survey uses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On a 1:50 000 map, 2 cm is 1 km. On a 1:25 000 map, 4 cm is 1 km. Learn those two and you can check any answer.</a:t>
            </a:r>
            <a:endParaRPr lang="en-US" sz="1800" dirty="0"/>
          </a:p>
        </p:txBody>
      </p:sp>
      <p:sp>
        <p:nvSpPr>
          <p:cNvPr id="11" name="point-card"/>
          <p:cNvSpPr/>
          <p:nvPr/>
        </p:nvSpPr>
        <p:spPr>
          <a:xfrm>
            <a:off x="548640" y="1389888"/>
            <a:ext cx="5410048" cy="3686048"/>
          </a:xfrm>
          <a:prstGeom prst="roundRect">
            <a:avLst>
              <a:gd name="adj" fmla="val 1488"/>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Ordnance Survey often uses three ratio scales: 1:50 000, 1:25 000 and 1:10 000.</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9F4EC"/>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Once you know the stated scale you can measure real distances.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Worked example: The scales Ordnance Survey uses</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F5F2"/>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On a 1:50 000 OS map, a footpath measures 6 cm. How long is the real footpath, in kilometres?</a:t>
            </a:r>
            <a:endParaRPr lang="en-US" sz="2200" dirty="0"/>
          </a:p>
        </p:txBody>
      </p:sp>
      <p:sp>
        <p:nvSpPr>
          <p:cNvPr id="9" name="step-box"/>
          <p:cNvSpPr/>
          <p:nvPr/>
        </p:nvSpPr>
        <p:spPr>
          <a:xfrm>
            <a:off x="548640" y="2655824"/>
            <a:ext cx="2464994" cy="1974088"/>
          </a:xfrm>
          <a:prstGeom prst="roundRect">
            <a:avLst>
              <a:gd name="adj" fmla="val 3706"/>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Stated scale first: 1:50 000 means 1 cm = 50 000 cm = 500 m.</a:t>
            </a:r>
            <a:endParaRPr lang="en-US" sz="1800" dirty="0"/>
          </a:p>
        </p:txBody>
      </p:sp>
      <p:sp>
        <p:nvSpPr>
          <p:cNvPr id="13" name="arrow"/>
          <p:cNvSpPr/>
          <p:nvPr/>
        </p:nvSpPr>
        <p:spPr>
          <a:xfrm>
            <a:off x="3086786" y="3505708"/>
            <a:ext cx="274320" cy="274320"/>
          </a:xfrm>
          <a:prstGeom prst="rightArrow">
            <a:avLst/>
          </a:prstGeom>
          <a:solidFill>
            <a:srgbClr val="B8862B"/>
          </a:solidFill>
          <a:ln/>
        </p:spPr>
      </p:sp>
      <p:sp>
        <p:nvSpPr>
          <p:cNvPr id="14" name="step-box"/>
          <p:cNvSpPr/>
          <p:nvPr/>
        </p:nvSpPr>
        <p:spPr>
          <a:xfrm>
            <a:off x="3425114" y="2655824"/>
            <a:ext cx="2464994" cy="1974088"/>
          </a:xfrm>
          <a:prstGeom prst="roundRect">
            <a:avLst>
              <a:gd name="adj" fmla="val 3706"/>
            </a:avLst>
          </a:prstGeom>
          <a:solidFill>
            <a:srgbClr val="FFFFFF"/>
          </a:solidFill>
          <a:ln w="15875">
            <a:solidFill>
              <a:srgbClr val="95AE9B"/>
            </a:solidFill>
            <a:prstDash val="solid"/>
          </a:ln>
        </p:spPr>
      </p:sp>
      <p:sp>
        <p:nvSpPr>
          <p:cNvPr id="15" name="step-hex"/>
          <p:cNvSpPr/>
          <p:nvPr/>
        </p:nvSpPr>
        <p:spPr>
          <a:xfrm>
            <a:off x="3562274" y="2765552"/>
            <a:ext cx="530352" cy="459285"/>
          </a:xfrm>
          <a:prstGeom prst="hexagon">
            <a:avLst/>
          </a:prstGeom>
          <a:solidFill>
            <a:srgbClr val="3F6B4A"/>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Multiply: 6 × 500 m = 3 000 m.</a:t>
            </a:r>
            <a:endParaRPr lang="en-US" sz="1800" dirty="0"/>
          </a:p>
        </p:txBody>
      </p:sp>
      <p:sp>
        <p:nvSpPr>
          <p:cNvPr id="18" name="arrow"/>
          <p:cNvSpPr/>
          <p:nvPr/>
        </p:nvSpPr>
        <p:spPr>
          <a:xfrm>
            <a:off x="5963260" y="3505708"/>
            <a:ext cx="274320" cy="274320"/>
          </a:xfrm>
          <a:prstGeom prst="rightArrow">
            <a:avLst/>
          </a:prstGeom>
          <a:solidFill>
            <a:srgbClr val="B8862B"/>
          </a:solidFill>
          <a:ln/>
        </p:spPr>
      </p:sp>
      <p:sp>
        <p:nvSpPr>
          <p:cNvPr id="19" name="step-box"/>
          <p:cNvSpPr/>
          <p:nvPr/>
        </p:nvSpPr>
        <p:spPr>
          <a:xfrm>
            <a:off x="6301588" y="2655824"/>
            <a:ext cx="2464994" cy="1974088"/>
          </a:xfrm>
          <a:prstGeom prst="roundRect">
            <a:avLst>
              <a:gd name="adj" fmla="val 3706"/>
            </a:avLst>
          </a:prstGeom>
          <a:solidFill>
            <a:srgbClr val="FFFFFF"/>
          </a:solidFill>
          <a:ln w="15875">
            <a:solidFill>
              <a:srgbClr val="95AE9B"/>
            </a:solidFill>
            <a:prstDash val="solid"/>
          </a:ln>
        </p:spPr>
      </p:sp>
      <p:sp>
        <p:nvSpPr>
          <p:cNvPr id="20" name="step-hex"/>
          <p:cNvSpPr/>
          <p:nvPr/>
        </p:nvSpPr>
        <p:spPr>
          <a:xfrm>
            <a:off x="6438748" y="2765552"/>
            <a:ext cx="530352" cy="459285"/>
          </a:xfrm>
          <a:prstGeom prst="hexagon">
            <a:avLst/>
          </a:prstGeom>
          <a:solidFill>
            <a:srgbClr val="3F6B4A"/>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Change to kilometres: 3 000 m = 3 km.</a:t>
            </a:r>
            <a:endParaRPr lang="en-US" sz="1800" dirty="0"/>
          </a:p>
        </p:txBody>
      </p:sp>
      <p:sp>
        <p:nvSpPr>
          <p:cNvPr id="23" name="arrow"/>
          <p:cNvSpPr/>
          <p:nvPr/>
        </p:nvSpPr>
        <p:spPr>
          <a:xfrm>
            <a:off x="8839733" y="3505708"/>
            <a:ext cx="274320" cy="274320"/>
          </a:xfrm>
          <a:prstGeom prst="rightArrow">
            <a:avLst/>
          </a:prstGeom>
          <a:solidFill>
            <a:srgbClr val="B8862B"/>
          </a:solidFill>
          <a:ln/>
        </p:spPr>
      </p:sp>
      <p:sp>
        <p:nvSpPr>
          <p:cNvPr id="24" name="step-box"/>
          <p:cNvSpPr/>
          <p:nvPr/>
        </p:nvSpPr>
        <p:spPr>
          <a:xfrm>
            <a:off x="9178061" y="2655824"/>
            <a:ext cx="2464994" cy="1974088"/>
          </a:xfrm>
          <a:prstGeom prst="roundRect">
            <a:avLst>
              <a:gd name="adj" fmla="val 3706"/>
            </a:avLst>
          </a:prstGeom>
          <a:solidFill>
            <a:srgbClr val="FFFFFF"/>
          </a:solidFill>
          <a:ln w="15875">
            <a:solidFill>
              <a:srgbClr val="95AE9B"/>
            </a:solidFill>
            <a:prstDash val="solid"/>
          </a:ln>
        </p:spPr>
      </p:sp>
      <p:sp>
        <p:nvSpPr>
          <p:cNvPr id="25" name="step-hex"/>
          <p:cNvSpPr/>
          <p:nvPr/>
        </p:nvSpPr>
        <p:spPr>
          <a:xfrm>
            <a:off x="9315221" y="2765552"/>
            <a:ext cx="530352" cy="459285"/>
          </a:xfrm>
          <a:prstGeom prst="hexagon">
            <a:avLst/>
          </a:prstGeom>
          <a:solidFill>
            <a:srgbClr val="3F6B4A"/>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Check: on a 1:50 000 map, 2 cm is 1 km, so 6 cm is 3 km.</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3 km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Contour lines: height and shape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Count the lines, multiply by the interval, add to the starting height. Close lines are steep; wide gaps are gentle.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Look at an OS map of hills and you will see thin brown lines curving across it.</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Contour lines also show the shape of the land. Seen from above, lines that are close together mean the slope is steep, because the land rises 10 m in a short distance.</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1925 map of Helvellyn in the Lake District was full of contour lines packed closely together, because the mountains there are steep.</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Worked example: Contour lines: height and shape</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F5F2"/>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hill is drawn with contour lines at 10 m intervals. The lowest line is labelled 50 m and there are four more lines inside it. What height is the highest contour line?</a:t>
            </a:r>
            <a:endParaRPr lang="en-US" sz="2200" dirty="0"/>
          </a:p>
        </p:txBody>
      </p:sp>
      <p:sp>
        <p:nvSpPr>
          <p:cNvPr id="9" name="step-box"/>
          <p:cNvSpPr/>
          <p:nvPr/>
        </p:nvSpPr>
        <p:spPr>
          <a:xfrm>
            <a:off x="548640" y="2655824"/>
            <a:ext cx="2464994" cy="1974088"/>
          </a:xfrm>
          <a:prstGeom prst="roundRect">
            <a:avLst>
              <a:gd name="adj" fmla="val 3706"/>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Each line is 10 m higher than the one before.</a:t>
            </a:r>
            <a:endParaRPr lang="en-US" sz="1800" dirty="0"/>
          </a:p>
        </p:txBody>
      </p:sp>
      <p:sp>
        <p:nvSpPr>
          <p:cNvPr id="13" name="arrow"/>
          <p:cNvSpPr/>
          <p:nvPr/>
        </p:nvSpPr>
        <p:spPr>
          <a:xfrm>
            <a:off x="3086786" y="3505708"/>
            <a:ext cx="274320" cy="274320"/>
          </a:xfrm>
          <a:prstGeom prst="rightArrow">
            <a:avLst/>
          </a:prstGeom>
          <a:solidFill>
            <a:srgbClr val="B8862B"/>
          </a:solidFill>
          <a:ln/>
        </p:spPr>
      </p:sp>
      <p:sp>
        <p:nvSpPr>
          <p:cNvPr id="14" name="step-box"/>
          <p:cNvSpPr/>
          <p:nvPr/>
        </p:nvSpPr>
        <p:spPr>
          <a:xfrm>
            <a:off x="3425114" y="2655824"/>
            <a:ext cx="2464994" cy="1974088"/>
          </a:xfrm>
          <a:prstGeom prst="roundRect">
            <a:avLst>
              <a:gd name="adj" fmla="val 3706"/>
            </a:avLst>
          </a:prstGeom>
          <a:solidFill>
            <a:srgbClr val="FFFFFF"/>
          </a:solidFill>
          <a:ln w="15875">
            <a:solidFill>
              <a:srgbClr val="95AE9B"/>
            </a:solidFill>
            <a:prstDash val="solid"/>
          </a:ln>
        </p:spPr>
      </p:sp>
      <p:sp>
        <p:nvSpPr>
          <p:cNvPr id="15" name="step-hex"/>
          <p:cNvSpPr/>
          <p:nvPr/>
        </p:nvSpPr>
        <p:spPr>
          <a:xfrm>
            <a:off x="3562274" y="2765552"/>
            <a:ext cx="530352" cy="459285"/>
          </a:xfrm>
          <a:prstGeom prst="hexagon">
            <a:avLst/>
          </a:prstGeom>
          <a:solidFill>
            <a:srgbClr val="3F6B4A"/>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Four more lines means four steps of 10 m: 4 × 10 = 40 m.</a:t>
            </a:r>
            <a:endParaRPr lang="en-US" sz="1800" dirty="0"/>
          </a:p>
        </p:txBody>
      </p:sp>
      <p:sp>
        <p:nvSpPr>
          <p:cNvPr id="18" name="arrow"/>
          <p:cNvSpPr/>
          <p:nvPr/>
        </p:nvSpPr>
        <p:spPr>
          <a:xfrm>
            <a:off x="5963260" y="3505708"/>
            <a:ext cx="274320" cy="274320"/>
          </a:xfrm>
          <a:prstGeom prst="rightArrow">
            <a:avLst/>
          </a:prstGeom>
          <a:solidFill>
            <a:srgbClr val="B8862B"/>
          </a:solidFill>
          <a:ln/>
        </p:spPr>
      </p:sp>
      <p:sp>
        <p:nvSpPr>
          <p:cNvPr id="19" name="step-box"/>
          <p:cNvSpPr/>
          <p:nvPr/>
        </p:nvSpPr>
        <p:spPr>
          <a:xfrm>
            <a:off x="6301588" y="2655824"/>
            <a:ext cx="2464994" cy="1974088"/>
          </a:xfrm>
          <a:prstGeom prst="roundRect">
            <a:avLst>
              <a:gd name="adj" fmla="val 3706"/>
            </a:avLst>
          </a:prstGeom>
          <a:solidFill>
            <a:srgbClr val="FFFFFF"/>
          </a:solidFill>
          <a:ln w="15875">
            <a:solidFill>
              <a:srgbClr val="95AE9B"/>
            </a:solidFill>
            <a:prstDash val="solid"/>
          </a:ln>
        </p:spPr>
      </p:sp>
      <p:sp>
        <p:nvSpPr>
          <p:cNvPr id="20" name="step-hex"/>
          <p:cNvSpPr/>
          <p:nvPr/>
        </p:nvSpPr>
        <p:spPr>
          <a:xfrm>
            <a:off x="6438748" y="2765552"/>
            <a:ext cx="530352" cy="459285"/>
          </a:xfrm>
          <a:prstGeom prst="hexagon">
            <a:avLst/>
          </a:prstGeom>
          <a:solidFill>
            <a:srgbClr val="3F6B4A"/>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Add to the lowest line: 50 + 40 = 90 m.</a:t>
            </a:r>
            <a:endParaRPr lang="en-US" sz="1800" dirty="0"/>
          </a:p>
        </p:txBody>
      </p:sp>
      <p:sp>
        <p:nvSpPr>
          <p:cNvPr id="23" name="arrow"/>
          <p:cNvSpPr/>
          <p:nvPr/>
        </p:nvSpPr>
        <p:spPr>
          <a:xfrm>
            <a:off x="8839733" y="3505708"/>
            <a:ext cx="274320" cy="274320"/>
          </a:xfrm>
          <a:prstGeom prst="rightArrow">
            <a:avLst/>
          </a:prstGeom>
          <a:solidFill>
            <a:srgbClr val="B8862B"/>
          </a:solidFill>
          <a:ln/>
        </p:spPr>
      </p:sp>
      <p:sp>
        <p:nvSpPr>
          <p:cNvPr id="24" name="step-box"/>
          <p:cNvSpPr/>
          <p:nvPr/>
        </p:nvSpPr>
        <p:spPr>
          <a:xfrm>
            <a:off x="9178061" y="2655824"/>
            <a:ext cx="2464994" cy="1974088"/>
          </a:xfrm>
          <a:prstGeom prst="roundRect">
            <a:avLst>
              <a:gd name="adj" fmla="val 3706"/>
            </a:avLst>
          </a:prstGeom>
          <a:solidFill>
            <a:srgbClr val="FFFFFF"/>
          </a:solidFill>
          <a:ln w="15875">
            <a:solidFill>
              <a:srgbClr val="95AE9B"/>
            </a:solidFill>
            <a:prstDash val="solid"/>
          </a:ln>
        </p:spPr>
      </p:sp>
      <p:sp>
        <p:nvSpPr>
          <p:cNvPr id="25" name="step-hex"/>
          <p:cNvSpPr/>
          <p:nvPr/>
        </p:nvSpPr>
        <p:spPr>
          <a:xfrm>
            <a:off x="9315221" y="2765552"/>
            <a:ext cx="530352" cy="459285"/>
          </a:xfrm>
          <a:prstGeom prst="hexagon">
            <a:avLst/>
          </a:prstGeom>
          <a:solidFill>
            <a:srgbClr val="3F6B4A"/>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Check by counting: 60, 70, 80, 90. Four lines, the last one is 90 m.</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90 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Compass directions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Never Eat Shredded Wheat: N, E, S, W clockwise. The in-between points always say north or south first.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compass rose is the diagram on a map that shows direction.</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four-point compass rose is often not precise enough, so geographers use eight points.</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Direction questions on a map always ask where one thing is from another.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How far is it really?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On a 1:50 000 OS map, the distance between two villages measures 4 cm. How far apart are they on the ground, in kilometres?</a:t>
            </a:r>
            <a:endParaRPr lang="en-US" sz="2000" dirty="0"/>
          </a:p>
          <a:p>
            <a:pPr algn="ctr" indent="0" marL="0">
              <a:buNone/>
            </a:pPr>
            <a:r>
              <a:rPr lang="en-US" sz="1800" b="1" dirty="0">
                <a:solidFill>
                  <a:srgbClr val="3F6B4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km</a:t>
            </a:r>
            <a:endParaRPr lang="en-US" sz="2000" dirty="0"/>
          </a:p>
        </p:txBody>
      </p:sp>
      <p:sp>
        <p:nvSpPr>
          <p:cNvPr id="12" name="col-Support"/>
          <p:cNvSpPr/>
          <p:nvPr/>
        </p:nvSpPr>
        <p:spPr>
          <a:xfrm>
            <a:off x="548640" y="2948940"/>
            <a:ext cx="4667802" cy="3195828"/>
          </a:xfrm>
          <a:prstGeom prst="roundRect">
            <a:avLst>
              <a:gd name="adj" fmla="val 1717"/>
            </a:avLst>
          </a:prstGeom>
          <a:solidFill>
            <a:srgbClr val="F2F5F2"/>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Turn the ratio into a stated scale: 1:50 000 means 1 cm = 50 000 cm = 500 m.</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Multiply the map distance by 500 m: 4 × 500 m.</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You get 2 000 m.</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Change to kilometres: 1 000 m = 1 km, so 2 000 m = 2 km.</a:t>
            </a:r>
            <a:endParaRPr lang="en-US" sz="1800" dirty="0"/>
          </a:p>
        </p:txBody>
      </p:sp>
      <p:sp>
        <p:nvSpPr>
          <p:cNvPr id="17" name="col-Core"/>
          <p:cNvSpPr/>
          <p:nvPr/>
        </p:nvSpPr>
        <p:spPr>
          <a:xfrm>
            <a:off x="5490762" y="2948940"/>
            <a:ext cx="2938987" cy="3195828"/>
          </a:xfrm>
          <a:prstGeom prst="roundRect">
            <a:avLst>
              <a:gd name="adj" fmla="val 1867"/>
            </a:avLst>
          </a:prstGeom>
          <a:solidFill>
            <a:srgbClr val="DBE3DD"/>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1 cm = 500 m on this map. Multiply by 4, then change metres to kilometres.</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3F6B4A"/>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same two villages are shown on a 1:25 000 map. How many centimetres apart would they be, and why is that map more detailed?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Which way is it?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On a map with north at the top, the cow is above and to the right of the owl. Which compass direction is the cow from the owl?</a:t>
            </a:r>
            <a:endParaRPr lang="en-US" sz="2600" dirty="0"/>
          </a:p>
          <a:p>
            <a:pPr algn="ctr" indent="0" marL="0">
              <a:buNone/>
            </a:pPr>
            <a:r>
              <a:rPr lang="en-US" sz="2400" b="1" dirty="0">
                <a:solidFill>
                  <a:srgbClr val="B8862B"/>
                </a:solidFill>
                <a:latin typeface="Calibri" pitchFamily="34" charset="0"/>
                <a:ea typeface="Calibri" pitchFamily="34" charset="-122"/>
                <a:cs typeface="Calibri" pitchFamily="34" charset="-120"/>
              </a:rPr>
              <a:t>A  </a:t>
            </a:r>
            <a:pPr algn="ctr" indent="0" marL="0">
              <a:buNone/>
            </a:pPr>
            <a:r>
              <a:rPr lang="en-US" sz="2400" dirty="0">
                <a:solidFill>
                  <a:srgbClr val="1E2229"/>
                </a:solidFill>
                <a:latin typeface="Calibri" pitchFamily="34" charset="0"/>
                <a:ea typeface="Calibri" pitchFamily="34" charset="-122"/>
                <a:cs typeface="Calibri" pitchFamily="34" charset="-120"/>
              </a:rPr>
              <a:t>South-west      </a:t>
            </a:r>
            <a:pPr algn="ctr" indent="0" marL="0">
              <a:buNone/>
            </a:pPr>
            <a:r>
              <a:rPr lang="en-US" sz="2400" b="1" dirty="0">
                <a:solidFill>
                  <a:srgbClr val="B8862B"/>
                </a:solidFill>
                <a:latin typeface="Calibri" pitchFamily="34" charset="0"/>
                <a:ea typeface="Calibri" pitchFamily="34" charset="-122"/>
                <a:cs typeface="Calibri" pitchFamily="34" charset="-120"/>
              </a:rPr>
              <a:t>B  </a:t>
            </a:r>
            <a:pPr algn="ctr" indent="0" marL="0">
              <a:buNone/>
            </a:pPr>
            <a:r>
              <a:rPr lang="en-US" sz="2400" dirty="0">
                <a:solidFill>
                  <a:srgbClr val="1E2229"/>
                </a:solidFill>
                <a:latin typeface="Calibri" pitchFamily="34" charset="0"/>
                <a:ea typeface="Calibri" pitchFamily="34" charset="-122"/>
                <a:cs typeface="Calibri" pitchFamily="34" charset="-120"/>
              </a:rPr>
              <a:t>South-east      </a:t>
            </a:r>
            <a:pPr algn="ctr" indent="0" marL="0">
              <a:buNone/>
            </a:pPr>
            <a:r>
              <a:rPr lang="en-US" sz="2400" b="1" dirty="0">
                <a:solidFill>
                  <a:srgbClr val="B8862B"/>
                </a:solidFill>
                <a:latin typeface="Calibri" pitchFamily="34" charset="0"/>
                <a:ea typeface="Calibri" pitchFamily="34" charset="-122"/>
                <a:cs typeface="Calibri" pitchFamily="34" charset="-120"/>
              </a:rPr>
              <a:t>C  </a:t>
            </a:r>
            <a:pPr algn="ctr" indent="0" marL="0">
              <a:buNone/>
            </a:pPr>
            <a:r>
              <a:rPr lang="en-US" sz="2400" dirty="0">
                <a:solidFill>
                  <a:srgbClr val="1E2229"/>
                </a:solidFill>
                <a:latin typeface="Calibri" pitchFamily="34" charset="0"/>
                <a:ea typeface="Calibri" pitchFamily="34" charset="-122"/>
                <a:cs typeface="Calibri" pitchFamily="34" charset="-120"/>
              </a:rPr>
              <a:t>North-east      </a:t>
            </a:r>
            <a:pPr algn="ctr" indent="0" marL="0">
              <a:buNone/>
            </a:pPr>
            <a:r>
              <a:rPr lang="en-US" sz="2400" b="1" dirty="0">
                <a:solidFill>
                  <a:srgbClr val="B8862B"/>
                </a:solidFill>
                <a:latin typeface="Calibri" pitchFamily="34" charset="0"/>
                <a:ea typeface="Calibri" pitchFamily="34" charset="-122"/>
                <a:cs typeface="Calibri" pitchFamily="34" charset="-120"/>
              </a:rPr>
              <a:t>D  </a:t>
            </a:r>
            <a:pPr algn="ctr" indent="0" marL="0">
              <a:buNone/>
            </a:pPr>
            <a:r>
              <a:rPr lang="en-US" sz="2400" dirty="0">
                <a:solidFill>
                  <a:srgbClr val="1E2229"/>
                </a:solidFill>
                <a:latin typeface="Calibri" pitchFamily="34" charset="0"/>
                <a:ea typeface="Calibri" pitchFamily="34" charset="-122"/>
                <a:cs typeface="Calibri" pitchFamily="34" charset="-120"/>
              </a:rPr>
              <a:t>North-west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Which way is it?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On a map with north at the top, the cow is above and to the right of the owl. Which compass direction is the cow from the owl?</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2F5F2"/>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Put your finger on the owl, because the question asks where the cow is FROM the owl.</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Above means north; below means south.</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Right means east; left means west.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Above and right is north and east together: north-east. North or south always comes first.</a:t>
            </a:r>
            <a:endParaRPr lang="en-US" sz="1800" dirty="0"/>
          </a:p>
        </p:txBody>
      </p:sp>
      <p:sp>
        <p:nvSpPr>
          <p:cNvPr id="17" name="col-Core"/>
          <p:cNvSpPr/>
          <p:nvPr/>
        </p:nvSpPr>
        <p:spPr>
          <a:xfrm>
            <a:off x="5490762" y="2593848"/>
            <a:ext cx="2938987" cy="3550920"/>
          </a:xfrm>
          <a:prstGeom prst="roundRect">
            <a:avLst>
              <a:gd name="adj" fmla="val 1867"/>
            </a:avLst>
          </a:prstGeom>
          <a:solidFill>
            <a:srgbClr val="DBE3DD"/>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Up is north, right is east. Join them, north first.</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3F6B4A"/>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saying the owl is south-west of the cow is the same fact, and write the rule for turning a direction round.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87071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On a 1:25 000 Ordnance Survey map, how many metres on the ground does 1 cm on the map represent?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9F8"/>
          </a:solidFill>
          <a:ln w="12700">
            <a:solidFill>
              <a:srgbClr val="A5B9AA"/>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 (m):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How far is it really?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On a 1:50 000 OS map, the distance between two villages measures 4 cm. How far apart are they on the ground, in kilometres?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 km</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1:50 000 means 1 cm on the map is 50 000 cm, or 500 m, on the ground. 4 cm is 4 × 500 = 2 000 m, which is 2 km.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Which way is it?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On a map with north at the top, the cow is above and to the right of the owl. Which compass direction is the cow from the owl?</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North-east</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 a map with north at the top, above is north and right is east. Above and to the right is north-east, and the north or south word always comes first.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On a 1:25 000 Ordnance Survey map, how many metres on the ground does 1 cm on the map represent?</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250 m</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1:25 000 means 1 cm on the map is 25 000 cm on the ground. 25 000 cm ÷ 100 = 250 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F2F5F2"/>
      </a:lt2>
      <a:accent1>
        <a:srgbClr val="3F6B4A"/>
      </a:accent1>
      <a:accent2>
        <a:srgbClr val="B8862B"/>
      </a:accent2>
      <a:accent3>
        <a:srgbClr val="8CA692"/>
      </a:accent3>
      <a:accent4>
        <a:srgbClr val="815E1E"/>
      </a:accent4>
      <a:accent5>
        <a:srgbClr val="4A505C"/>
      </a:accent5>
      <a:accent6>
        <a:srgbClr val="DEC69B"/>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My Local Place and the World · Chapter 4: Scale, contours and compass directions</dc:title>
  <dc:subject>Geography · Year 7</dc:subject>
  <dc:creator>Dr Vitor Merissi de Carvalho</dc:creator>
  <cp:lastModifiedBy>Dr Vitor Merissi de Carvalho</cp:lastModifiedBy>
  <cp:revision>1</cp:revision>
  <dcterms:created xsi:type="dcterms:W3CDTF">2026-10-19T16:22:54Z</dcterms:created>
  <dcterms:modified xsi:type="dcterms:W3CDTF">2026-10-19T16:22:54Z</dcterms:modified>
</cp:coreProperties>
</file>