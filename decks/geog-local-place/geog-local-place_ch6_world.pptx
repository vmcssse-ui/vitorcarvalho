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2242fe0-a2f0-0205-eb42-98a47b99d60b}">
          <p14:sldIdLst>
            <p14:sldId id="256"/>
          </p14:sldIdLst>
        </p14:section>
        <p14:section name="Gate" id="{f9658d9c-7bda-44a3-82d7-ec4c9475537f}">
          <p14:sldIdLst>
            <p14:sldId id="257"/>
            <p14:sldId id="258"/>
          </p14:sldIdLst>
        </p14:section>
        <p14:section name="Pre-teach" id="{574302dc-e8f8-078c-a31a-a8cd1f9aec48}">
          <p14:sldIdLst>
            <p14:sldId id="259"/>
            <p14:sldId id="260"/>
          </p14:sldIdLst>
        </p14:section>
        <p14:section name="Read-along" id="{27598f62-4251-5683-9d80-7a7a23f62634}">
          <p14:sldIdLst>
            <p14:sldId id="261"/>
            <p14:sldId id="262"/>
          </p14:sldIdLst>
        </p14:section>
        <p14:section name="Teach" id="{bdcc5c3f-47b8-3ada-fea5-75ac8829cf78}">
          <p14:sldIdLst>
            <p14:sldId id="263"/>
            <p14:sldId id="264"/>
            <p14:sldId id="265"/>
            <p14:sldId id="266"/>
            <p14:sldId id="267"/>
          </p14:sldIdLst>
        </p14:section>
        <p14:section name="Routes" id="{23cfc2ef-8d78-fe48-91aa-23201c7854e9}">
          <p14:sldIdLst>
            <p14:sldId id="268"/>
            <p14:sldId id="269"/>
            <p14:sldId id="270"/>
            <p14:sldId id="271"/>
            <p14:sldId id="272"/>
          </p14:sldIdLst>
        </p14:section>
        <p14:section name="Close" id="{b844e1b8-139b-53ef-66a2-92990a8c1546}">
          <p14:sldIdLst>
            <p14:sldId id="273"/>
          </p14:sldIdLst>
        </p14:section>
        <p14:section name="Answers" id="{03338dff-4d20-3fef-5fc7-824122663894}">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The UK in the world: latitude, longitude and a changing London. How the imaginary lines of latitude and longitude give every place on Earth an exact address, how to use them to find a country, how London has grown since 1677, and three ways of seeing what London means to different people.
This deck covers the department's lessons: 9 (Map skills: latitude and longitude: What are lines of latitude and longitude, and how are they used to give an exact location?); 10 (How has London changed over time?: How has London grown over time, and what does London mean to different people?).
Read the big question aloud: "What makes a place, how do we find and describe it on a map, and how does my local place connect to the rest of the world?"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is the name of the line of 0 degrees latitude?  →  C   The equator
2. Lines of longitude are measured east or west of the ___ Meridian, which passes through London.  →  Greenwich
3. A travel website shows photographs of London's landmarks to persuade tourists to visit. Which of the deck's three spaces is this?  →  C   Secondspace: the imagined environment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The equator. The equator is 0 degrees latitude. Other lines of latitude are measured north or south of it.
2. Greenwich. The line of 0 degrees longitude is the Greenwich Meridian, also called the Prime Meridian, which passes through Greenwich in London.
3. C   Secondspace: the imagined environment. How a city is sold, marketed and imagined is Secondspace. The real buildings are Firstspace; actually living there is Thirdspace.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latitude: imaginary lines drawn parallel around the globe. Example: "Lines of latitude tell you how far north or south you are."
• longitude: imaginary lines running from the North Pole to the South Pole. Example: "Lines of longitude tell you how far east or west you are."
• equator: the line of 0 degrees latitude around the middle of the Earth. Example: "Countries near the equator are hot all year."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Greenwich Meridian: the line of 0 degrees longitude, through Greenwich in London. Example: "Time zones are measured from the Greenwich Meridian."
• degrees: the units used to measure latitude and longitude. Example: "The UK is about 50 degrees north of the equator."
• perceive: to see or imagine something in a particular way. Example: "Tourists perceive London as exciting."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Lines of latitude and longitude are imaginary lines on maps and globes.
2. They divide the world up so you can give an exact location.
3. Lines of latitude run around the Earth, like flat rings.
4. The equator is 0 degrees latitude.
5. Other lines of latitude are north or south of the equator.
6. Lines of longitude run over the top, from pole to pole.
7. The Greenwich Meridian is 0 degrees longitude.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Other lines of longitude are east or west of it.
9. Both are measured in degrees.
10. London has changed over time too.
11. Maps from 1677, 1720, 1730 and 1843 show it growing bigger.
12. London also means different things to different people.
13. There is the real built city, the imagined city, and the city people live in.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Lines around and lines over. Say it in your own words, then check understanding with a quick question: ask a pupil from the pre-teach group first, since they met these words and ideas before the lesson. Pupils try to recall before you re-explain.
Grid references find a place on one map. To find a place anywhere on Earth, geographers use a grid that covers the whole globe: lines of latitude and longitude. They are imaginary lines, drawn on maps and globes, that divide the world up so you can give an exact location. They measure the angular position of a place in degrees, written with a small circle: 50°.
Lines which are drawn parallel around the globe are called lines of latitude. The line of 0 degrees latitude is called the equator, halfway between the poles. Other lines of latitude are north or south of the equator, so latitude tells you how far north or south you are. The deck's song calls them flat-itude, because the lines are flat rings around the Earth.
Lines which connect the North and South Poles are called lines of longitude. The line of 0 degrees longitude is called the Greenwich Meridian, because it passes through Greenwich in London. Other lines of longitude are west or east of the Greenwich Meridian, so longitude tells you how far east or west you are. Latitude goes around; longitude goes over the top. On the globe sheet in class you labelled four things: a line of latitude, a line of longitude, the Prime Meridian (another name for the Greenwich Meridian) and the equator.
Tip: Latitude: flat rings, north or south of the equator. Longitude: long lines pole to pole, east or west of Greenwich.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Finding the treasure. Say it in your own words, then check understanding with a quick question: ask a pupil from the pre-teach group first, since they met these words and ideas before the lesson. Pupils try to recall before you re-explain.
A location is written as latitude first, then longitude, each with its direction letter. The treasure map task gave six coordinates and asked which country each one points to. 50°N 0°W is the United Kingdom, because the Greenwich Meridian runs through London and the UK lies around 50 to 60 degrees north. 40°N 100°W is the United States of America, in the middle of the country. 30°S 150°E is Australia, on its east coast. 10°S 60°W is Brazil, in the Amazon. 20°N 80°E is India. 30°S 25°E is South Africa.
To find a coordinate, read the latitude first: find the line marked with that number of degrees north or south of the equator, and run your finger along it. Then read the longitude: find the line that many degrees east or west of Greenwich, and run your finger up or down it. Where your two fingers meet is the place. N or S always goes with latitude; E or W always goes with longitude.
Worked example — model it step by step, thinking aloud: Which country is at 40°N 100°W, and how do you find it? (1) Latitude first: 40°N. Find the line 40 degrees north of the equator and follow it round the globe. (2) Longitude second: 100°W. Find the line 100 degrees west of the Greenwich Meridian, which is in the Americas. (3) Where the two lines cross is in the middle of North America. (4) That is the United States of America, matching the deck's treasure map answer. Answer: The United States of America..
Tip: Latitude then longitude, like along the corridor and up the stairs: but this time the up-and-down number comes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Finding the treasure. Say it in your own words, then check understanding with a quick question: ask a pupil from the pre-teach group first, since they met these words and ideas before the lesson. Pupils try to recall before you re-explain.
A location is written as latitude first, then longitude, each with its direction letter. The treasure map task gave six coordinates and asked which country each one points to. 50°N 0°W is the United Kingdom, because the Greenwich Meridian runs through London and the UK lies around 50 to 60 degrees north. 40°N 100°W is the United States of America, in the middle of the country. 30°S 150°E is Australia, on its east coast. 10°S 60°W is Brazil, in the Amazon. 20°N 80°E is India. 30°S 25°E is South Africa.
To find a coordinate, read the latitude first: find the line marked with that number of degrees north or south of the equator, and run your finger along it. Then read the longitude: find the line that many degrees east or west of Greenwich, and run your finger up or down it. Where your two fingers meet is the place. N or S always goes with latitude; E or W always goes with longitude.
Worked example — model it step by step, thinking aloud: Which country is at 40°N 100°W, and how do you find it? (1) Latitude first: 40°N. Find the line 40 degrees north of the equator and follow it round the globe. (2) Longitude second: 100°W. Find the line 100 degrees west of the Greenwich Meridian, which is in the Americas. (3) Where the two lines cross is in the middle of North America. (4) That is the United States of America, matching the deck's treasure map answer. Answer: The United States of America..
Tip: Latitude then longitude, like along the corridor and up the stairs: but this time the up-and-down number comes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has London changed over time?. Say it in your own words, then check understanding with a quick question: ask a pupil from the pre-teach group first, since they met these words and ideas before the lesson. Pupils try to recall before you re-explain.
London is in the south-east of England, on the River Thames. In class you placed a post-it note for London on the UK map. It is easy to put the note too far north or too far west, so find the Thames first and work from there. Finding the biggest city correctly is the first step in describing anywhere else.
The deck asked you to guess the year of four maps of London: 1677, 1720, 1730 and 1843. You date a map the way you dated the two maps of Bristol in chapter 3: by how much of it has been built on. The earliest of the four shows the smallest built-up area, with fields where much of today's London now stands. Each later map shows more streets and a larger built-up area, so the four can be put in order even with the dates covered up. From 1677 to 1843 is 166 years, and in that time the city grew many times over.
Worked example — model it step by step, thinking aloud: How many years passed between the deck's oldest London map (1677) and its newest (1843)? (1) Subtract the earlier year from the later one: 1843 − 1677. (2) 1843 − 1600 = 243; 243 − 77 = 166. (3) 166 years passed. (4) Check: 1677 + 166 = 1843. Answer: 166 years.
Tip: When maps have dates, work out the gap between them. Growth in a short gap means fast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Different Londons: three ways of seeing a place. Say it in your own words, then check understanding with a quick question: ask a pupil from the pre-teach group first, since they met these words and ideas before the lesson. Pupils try to recall before you re-explain.
What does London mean to you? The answer depends on who you are. The deck gives three ways of seeing a place. The first is the physical built environment: the real streets, buildings, parks and railways. This can be mapped and measured. The deck calls it Firstspace. The second is the imagined environment: how a place is perceived, sold and marketed, in posters, films, websites and the pictures in people's heads. The deck calls it Secondspace. The third is the reality of living in a place: the lived experience, shaped by what people expected and by their own circumstances. The deck calls it Thirdspace.
Think about the people in the deck's task. A Japanese student researching London for a project on cities knows the imagined London of websites and photographs: Secondspace. A homeless person who has lived on the streets for two years knows the lived London of cold pavements and doorways: Thirdspace. A primary school pupil visiting the Science Museum, a shop worker in Covent Garden, a driver on the Central Line, a pensioner in Camden, a commuter from Hitchin, a wealthy visitor from Canada: each one experiences a different London, and each one's London is real to them.
This matters for geographers because a place is not just its map. The same street can be exciting for a tourist, exhausting for a shop worker and frightening for someone with nowhere to sleep. When you describe a place, say whose view you are describing.
Tip: Firstspace is the city you can measure; Secondspace is the city people imagine; Thirdspace is the city people actually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Treasure map coordinates.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set of coordinates from the treasure map to the country it points to.
Support — work through the steps with the group: (1) Read the latitude first. N means north of the equator; S means south. (2) Read the longitude second. W means west of Greenwich (towards the Americas); E means east (towards Asia and Australia). (3) 0°W is on the Greenwich Meridian itself, so that coordinate must be in the UK. (4) Two coordinates are in the south (S): one far east (Australia) and one west (Brazil). Two are north and far from Greenwich: one west (USA) and one east (India).
Parallel worked example for Support (model it, do not give the task answer): Which of these is more likely to be in Africa: 30°S 25°E or 40°N 100°W? Africa is south of Europe and only a little east of Greenwich.; 30°S 25°E fits: south of the equator, slightly east. That is South Africa.; 40°N 100°W is far to the west, in North America.. Answer: 30°S 25°E is South Africa; 40°N 100°W is in North America..
Core — reveal the hint only on request: 0°W must be on the Greenwich line. S means southern hemisphere. Large W means the Americas; large E means Asia or Australia.
Stretch — no help; when finished: Write the approximate coordinates of Hayes, to the nearest 10 degrees, and explain how you worked out each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Treasure map coordinates.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set of coordinates from the treasure map to the country it points to.
Support — work through the steps with the group: (1) Read the latitude first. N means north of the equator; S means south. (2) Read the longitude second. W means west of Greenwich (towards the Americas); E means east (towards Asia and Australia). (3) 0°W is on the Greenwich Meridian itself, so that coordinate must be in the UK. (4) Two coordinates are in the south (S): one far east (Australia) and one west (Brazil). Two are north and far from Greenwich: one west (USA) and one east (India).
Parallel worked example for Support (model it, do not give the task answer): Which of these is more likely to be in Africa: 30°S 25°E or 40°N 100°W? Africa is south of Europe and only a little east of Greenwich.; 30°S 25°E fits: south of the equator, slightly east. That is South Africa.; 40°N 100°W is far to the west, in North America.. Answer: 30°S 25°E is South Africa; 40°N 100°W is in North America..
Core — reveal the hint only on request: 0°W must be on the Greenwich line. S means southern hemisphere. Large W means the Americas; large E means Asia or Australia.
Stretch — no help; when finished: Write the approximate coordinates of Hayes, to the nearest 10 degrees, and explain how you worked out each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Treasure map coordinates.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set of coordinates from the treasure map to the country it points to.
Support — work through the steps with the group: (1) Read the latitude first. N means north of the equator; S means south. (2) Read the longitude second. W means west of Greenwich (towards the Americas); E means east (towards Asia and Australia). (3) 0°W is on the Greenwich Meridian itself, so that coordinate must be in the UK. (4) Two coordinates are in the south (S): one far east (Australia) and one west (Brazil). Two are north and far from Greenwich: one west (USA) and one east (India).
Parallel worked example for Support (model it, do not give the task answer): Which of these is more likely to be in Africa: 30°S 25°E or 40°N 100°W? Africa is south of Europe and only a little east of Greenwich.; 30°S 25°E fits: south of the equator, slightly east. That is South Africa.; 40°N 100°W is far to the west, in North America.. Answer: 30°S 25°E is South Africa; 40°N 100°W is in North America..
Core — reveal the hint only on request: 0°W must be on the Greenwich line. S means southern hemisphere. Large W means the Americas; large E means Asia or Australia.
Stretch — no help; when finished: Write the approximate coordinates of Hayes, to the nearest 10 degrees, and explain how you worked out each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London's maps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deck's four maps of London in order from oldest to newest.
Support — work through the steps with the group: (1) Find the smallest year number: 1677. That is the oldest. (2) 1720 comes before 1730, because 20 is less than 30. (3) 1843 is the largest year number, so it is the newest. (4) Check: the built-up area should get bigger as you go along the sequence.
Parallel worked example for Support (model it, do not give the task answer): Put these maps of Bristol in order, oldest first: 1946, 1866. 1866 is the smaller year, so it is older.; 1946 comes after it.. Answer: 1866, then 1946..
Core — reveal the hint only on request: Smallest year first. The two maps ten years apart sit in the middle.
Stretch — no help; when finished: Explain two reasons why London grew so much between 1730 and 1843, using what you know about industry, railways and the Thames.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London's maps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deck's four maps of London in order from oldest to newest.
Support — work through the steps with the group: (1) Find the smallest year number: 1677. That is the oldest. (2) 1720 comes before 1730, because 20 is less than 30. (3) 1843 is the largest year number, so it is the newest. (4) Check: the built-up area should get bigger as you go along the sequence.
Parallel worked example for Support (model it, do not give the task answer): Put these maps of Bristol in order, oldest first: 1946, 1866. 1866 is the smaller year, so it is older.; 1946 comes after it.. Answer: 1866, then 1946..
Core — reveal the hint only on request: Smallest year first. The two maps ten years apart sit in the middle.
Stretch — no help; when finished: Explain two reasons why London grew so much between 1730 and 1843, using what you know about industry, railways and the Thames.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is the name of the line of 0 degrees latitude?
Answer: B   The equator. The equator is 0 degrees latitude. Other lines of latitude are measured north or south of it.
Source of this question: gate item 1 re-asked (options rotated) — this chapter has no third quick-check module.
The ebook also holds task 3, "What does London mean to different people?",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Treasure map coordinates. Reveal the answer; pupils mark their own work in a different colour, then read the "why" together. Same destination for every lane, so one answer serves the whole class.
Answer: 50°N 0°W  →  D  United Kingdom; 40°N 100°W  →  B  United States of America; 30°S 150°E  →  A  Australia; 10°S 60°W  →  E  Brazil; 20°N 80°E  →  C  India
Why: Latitude gives north or south of the equator; longitude gives east or west of Greenwich. 0°W puts the UK on the Greenwich line; 100°W is the Americas (USA); 60°W south of the equator is Brazil; 150°E in the south is Australia; 80°E in the north is India.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London's maps in order. Reveal the answer; pupils mark their own work in a different colour, then read the "why" together. Same destination for every lane, so one answer serves the whole class.
Answer: The 1677 map: the earliest of the four, with the smallest built-up area  (C); The 1720 map: a larger built-up area than the earliest map  (D); The 1730 map: ten years later again, with more streets  (B); The 1843 map: the largest built-up area of the four  (A)
Why: The maps run 1677, 1720, 1730, 1843. Each later map shows a larger built-up area, so the size of the city confirms the date order.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The equator
Why: The equator is 0 degrees latitude. Other lines of latitude are measured north or south of 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My Local Place and the World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My Local Place and the World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E6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My Local Place and the World · AQA KS3 → 8035</a:t>
            </a:r>
            <a:endParaRPr lang="en-US" sz="1800" dirty="0"/>
          </a:p>
        </p:txBody>
      </p:sp>
      <p:sp>
        <p:nvSpPr>
          <p:cNvPr id="10" name="deck-title"/>
          <p:cNvSpPr txBox="1"/>
          <p:nvPr/>
        </p:nvSpPr>
        <p:spPr>
          <a:xfrm>
            <a:off x="548640" y="218617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The UK in the world: latitude, longitude and a changing London</a:t>
            </a:r>
            <a:endParaRPr lang="en-US" sz="2800" dirty="0"/>
          </a:p>
        </p:txBody>
      </p:sp>
      <p:sp>
        <p:nvSpPr>
          <p:cNvPr id="11" name="lessons-card"/>
          <p:cNvSpPr/>
          <p:nvPr/>
        </p:nvSpPr>
        <p:spPr>
          <a:xfrm>
            <a:off x="548640" y="3928618"/>
            <a:ext cx="5287975" cy="1328420"/>
          </a:xfrm>
          <a:prstGeom prst="roundRect">
            <a:avLst>
              <a:gd name="adj" fmla="val 5507"/>
            </a:avLst>
          </a:prstGeom>
          <a:solidFill>
            <a:srgbClr val="F2F5F2"/>
          </a:solidFill>
          <a:ln/>
        </p:spPr>
      </p:sp>
      <p:sp>
        <p:nvSpPr>
          <p:cNvPr id="12" name="lessons"/>
          <p:cNvSpPr txBox="1"/>
          <p:nvPr/>
        </p:nvSpPr>
        <p:spPr>
          <a:xfrm>
            <a:off x="685800" y="402005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9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Map skills: latitude and longitude</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10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How has London changed over time?</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F5F2"/>
          </a:solidFill>
          <a:ln w="12700">
            <a:solidFill>
              <a:srgbClr val="B8C8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makes a place, how do we find and describe it on a map, and how does my local place connect to the rest of the world?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is the name of the line of 0 degrees latitude?</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North Pole</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Tropic of Cancer</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equator</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Greenwich Meridian</a:t>
            </a:r>
            <a:endParaRPr lang="en-US" sz="2400" dirty="0"/>
          </a:p>
        </p:txBody>
      </p:sp>
      <p:sp>
        <p:nvSpPr>
          <p:cNvPr id="12"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Lines of longitude are measured east or west of the ___ Meridian, which passes through London.</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Greenwich  ·  Equator  ·  London</a:t>
            </a:r>
            <a:endParaRPr lang="en-US" sz="2400" dirty="0"/>
          </a:p>
        </p:txBody>
      </p:sp>
      <p:sp>
        <p:nvSpPr>
          <p:cNvPr id="17"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A travel website shows photographs of London's landmarks to persuade tourists to visit. Which of the deck's three spaces is this?</a:t>
            </a:r>
            <a:endParaRPr lang="en-US" sz="18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Firstspace: the physical built environment</a:t>
            </a:r>
            <a:endParaRPr lang="en-US" sz="18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Thirdspace: the lived experience</a:t>
            </a:r>
            <a:endParaRPr lang="en-US" sz="18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Secondspace: the imagined environment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The equator</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is the name of the line of 0 degrees latitude?</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equator is 0 degrees latitude. Other lines of latitude are measured north or south of it.</a:t>
            </a:r>
            <a:endParaRPr lang="en-US" sz="2200" dirty="0"/>
          </a:p>
        </p:txBody>
      </p:sp>
      <p:sp>
        <p:nvSpPr>
          <p:cNvPr id="14"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Greenwich</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Lines of longitude are measured east or west of the ___ Meridian, which passes through London.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line of 0 degrees longitude is the Greenwich Meridian, also called the Prime Meridian, which passes through Greenwich in London.</a:t>
            </a:r>
            <a:endParaRPr lang="en-US" sz="1800" dirty="0"/>
          </a:p>
        </p:txBody>
      </p:sp>
      <p:sp>
        <p:nvSpPr>
          <p:cNvPr id="21"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955040"/>
          </a:xfrm>
          <a:prstGeom prst="roundRect">
            <a:avLst>
              <a:gd name="adj" fmla="val 11489"/>
            </a:avLst>
          </a:prstGeom>
          <a:solidFill>
            <a:srgbClr val="EFE4D0"/>
          </a:solidFill>
          <a:ln w="19050">
            <a:solidFill>
              <a:srgbClr val="B8862B"/>
            </a:solidFill>
            <a:prstDash val="solid"/>
          </a:ln>
        </p:spPr>
      </p:sp>
      <p:sp>
        <p:nvSpPr>
          <p:cNvPr id="26" name="answer"/>
          <p:cNvSpPr txBox="1"/>
          <p:nvPr/>
        </p:nvSpPr>
        <p:spPr>
          <a:xfrm>
            <a:off x="8402117"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Secondspace: the imagined environment</a:t>
            </a:r>
            <a:endParaRPr lang="en-US" sz="2200" dirty="0"/>
          </a:p>
        </p:txBody>
      </p:sp>
      <p:sp>
        <p:nvSpPr>
          <p:cNvPr id="27" name="card-body"/>
          <p:cNvSpPr txBox="1"/>
          <p:nvPr/>
        </p:nvSpPr>
        <p:spPr>
          <a:xfrm>
            <a:off x="8310677" y="3493597"/>
            <a:ext cx="3149498" cy="2514011"/>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How a city is sold, marketed and imagined is Secondspace. The real buildings are Firstspace; actually living there is Thirdspace.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latitude</a:t>
            </a:r>
            <a:endParaRPr lang="en-US" sz="2600" dirty="0"/>
          </a:p>
        </p:txBody>
      </p:sp>
      <p:sp>
        <p:nvSpPr>
          <p:cNvPr id="11" name="word-rule"/>
          <p:cNvSpPr/>
          <p:nvPr/>
        </p:nvSpPr>
        <p:spPr>
          <a:xfrm>
            <a:off x="731520" y="2129028"/>
            <a:ext cx="3149498" cy="0"/>
          </a:xfrm>
          <a:prstGeom prst="line">
            <a:avLst/>
          </a:prstGeom>
          <a:ln w="12700">
            <a:solidFill>
              <a:srgbClr val="B8C8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imaginary lines drawn parallel around the globe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Lines of latitude tell you how far north or south you are.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longitude</a:t>
            </a:r>
            <a:endParaRPr lang="en-US" sz="2600" dirty="0"/>
          </a:p>
        </p:txBody>
      </p:sp>
      <p:sp>
        <p:nvSpPr>
          <p:cNvPr id="17" name="word-rule"/>
          <p:cNvSpPr/>
          <p:nvPr/>
        </p:nvSpPr>
        <p:spPr>
          <a:xfrm>
            <a:off x="4521098" y="2129028"/>
            <a:ext cx="3149498" cy="0"/>
          </a:xfrm>
          <a:prstGeom prst="line">
            <a:avLst/>
          </a:prstGeom>
          <a:ln w="12700">
            <a:solidFill>
              <a:srgbClr val="B8C8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imaginary lines running from the North Pole to the South Pole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Lines of longitude tell you how far east or west you are.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equator</a:t>
            </a:r>
            <a:endParaRPr lang="en-US" sz="2600" dirty="0"/>
          </a:p>
        </p:txBody>
      </p:sp>
      <p:sp>
        <p:nvSpPr>
          <p:cNvPr id="23" name="word-rule"/>
          <p:cNvSpPr/>
          <p:nvPr/>
        </p:nvSpPr>
        <p:spPr>
          <a:xfrm>
            <a:off x="8310677" y="2129028"/>
            <a:ext cx="3149498" cy="0"/>
          </a:xfrm>
          <a:prstGeom prst="line">
            <a:avLst/>
          </a:prstGeom>
          <a:ln w="12700">
            <a:solidFill>
              <a:srgbClr val="B8C8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line of 0 degrees latitude around the middle of the Earth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Countries near the equator are hot all year.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Greenwich Meridian</a:t>
            </a:r>
            <a:endParaRPr lang="en-US" sz="2600" dirty="0"/>
          </a:p>
        </p:txBody>
      </p:sp>
      <p:sp>
        <p:nvSpPr>
          <p:cNvPr id="11" name="word-rule"/>
          <p:cNvSpPr/>
          <p:nvPr/>
        </p:nvSpPr>
        <p:spPr>
          <a:xfrm>
            <a:off x="731520" y="2558288"/>
            <a:ext cx="3149498" cy="0"/>
          </a:xfrm>
          <a:prstGeom prst="line">
            <a:avLst/>
          </a:prstGeom>
          <a:ln w="12700">
            <a:solidFill>
              <a:srgbClr val="B8C8BC"/>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line of 0 degrees longitude, through Greenwich in London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Time zones are measured from the Greenwich Meridian.</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degrees</a:t>
            </a:r>
            <a:endParaRPr lang="en-US" sz="2600" dirty="0"/>
          </a:p>
        </p:txBody>
      </p:sp>
      <p:sp>
        <p:nvSpPr>
          <p:cNvPr id="17" name="word-rule"/>
          <p:cNvSpPr/>
          <p:nvPr/>
        </p:nvSpPr>
        <p:spPr>
          <a:xfrm>
            <a:off x="4521098" y="2129028"/>
            <a:ext cx="3149498" cy="0"/>
          </a:xfrm>
          <a:prstGeom prst="line">
            <a:avLst/>
          </a:prstGeom>
          <a:ln w="12700">
            <a:solidFill>
              <a:srgbClr val="B8C8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units used to measure latitude and longitude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UK is about 50 degrees north of the equator.</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perceive</a:t>
            </a:r>
            <a:endParaRPr lang="en-US" sz="2600" dirty="0"/>
          </a:p>
        </p:txBody>
      </p:sp>
      <p:sp>
        <p:nvSpPr>
          <p:cNvPr id="23" name="word-rule"/>
          <p:cNvSpPr/>
          <p:nvPr/>
        </p:nvSpPr>
        <p:spPr>
          <a:xfrm>
            <a:off x="8310677" y="2129028"/>
            <a:ext cx="3149498" cy="0"/>
          </a:xfrm>
          <a:prstGeom prst="line">
            <a:avLst/>
          </a:prstGeom>
          <a:ln w="12700">
            <a:solidFill>
              <a:srgbClr val="B8C8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see or imagine something in a particular way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Tourists perceive London as exciting.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Lines of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latitude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and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longitude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are imaginary lines on maps and globes.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divide the world up so you can give an exact location.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Lines of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latitude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run around the Earth, like flat rings.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equator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0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degrees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latitude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Other lines of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latitude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are north or south of the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equator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Lines of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longitude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run over the top, from pole to pole.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Greenwich Meridian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0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degrees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longitude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Other lines of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longitude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are east or west of it.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Both are measured in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degrees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London has changed over time too.</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Maps from 1677, 1720, 1730 and 1843 show it growing bigger.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London also means different things to different people.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There is the real built city, the imagined city, and the city people live in.</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Lines around and lines over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Latitude: flat rings, north or south of the equator. Longitude: long lines pole to pole, east or west of Greenwich.</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Grid references find a place on one map. To find a place anywhere on Earth, geographers use a grid that covers the whole globe: lines of latitude and longitude.</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Lines which are drawn parallel around the globe are called lines of latitude.</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Lines which connect the North and South Poles are called lines of longitude.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Finding the treasure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Latitude then longitude, like along the corridor and up the stairs: but this time the up-and-down number comes first.</a:t>
            </a:r>
            <a:endParaRPr lang="en-US" sz="1800" dirty="0"/>
          </a:p>
        </p:txBody>
      </p:sp>
      <p:sp>
        <p:nvSpPr>
          <p:cNvPr id="11" name="point-card"/>
          <p:cNvSpPr/>
          <p:nvPr/>
        </p:nvSpPr>
        <p:spPr>
          <a:xfrm>
            <a:off x="548640" y="1389888"/>
            <a:ext cx="5410048" cy="3686048"/>
          </a:xfrm>
          <a:prstGeom prst="roundRect">
            <a:avLst>
              <a:gd name="adj" fmla="val 1488"/>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location is written as latitude first, then longitude, each with its direction letter.</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9F4EC"/>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To find a coordinate, read the latitude first: find the line marked with that number of degrees north or south of the equator, and run your finger along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Finding the treasure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2F5F2"/>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Which country is at 40°N 100°W, and how do you find it?</a:t>
            </a:r>
            <a:endParaRPr lang="en-US" sz="2200" dirty="0"/>
          </a:p>
        </p:txBody>
      </p:sp>
      <p:sp>
        <p:nvSpPr>
          <p:cNvPr id="9" name="step-box"/>
          <p:cNvSpPr/>
          <p:nvPr/>
        </p:nvSpPr>
        <p:spPr>
          <a:xfrm>
            <a:off x="548640" y="2314956"/>
            <a:ext cx="2464994" cy="2531872"/>
          </a:xfrm>
          <a:prstGeom prst="roundRect">
            <a:avLst>
              <a:gd name="adj" fmla="val 2968"/>
            </a:avLst>
          </a:prstGeom>
          <a:solidFill>
            <a:srgbClr val="FFFFFF"/>
          </a:solidFill>
          <a:ln w="15875">
            <a:solidFill>
              <a:srgbClr val="95AE9B"/>
            </a:solidFill>
            <a:prstDash val="solid"/>
          </a:ln>
        </p:spPr>
      </p:sp>
      <p:sp>
        <p:nvSpPr>
          <p:cNvPr id="10" name="step-hex"/>
          <p:cNvSpPr/>
          <p:nvPr/>
        </p:nvSpPr>
        <p:spPr>
          <a:xfrm>
            <a:off x="685800" y="2424684"/>
            <a:ext cx="530352" cy="459285"/>
          </a:xfrm>
          <a:prstGeom prst="hexagon">
            <a:avLst/>
          </a:prstGeom>
          <a:solidFill>
            <a:srgbClr val="3F6B4A"/>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2190674"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Latitude first: 40°N. Find the line 40 degrees north of the equator and follow it round the globe.</a:t>
            </a:r>
            <a:endParaRPr lang="en-US" sz="1800" dirty="0"/>
          </a:p>
        </p:txBody>
      </p:sp>
      <p:sp>
        <p:nvSpPr>
          <p:cNvPr id="13" name="arrow"/>
          <p:cNvSpPr/>
          <p:nvPr/>
        </p:nvSpPr>
        <p:spPr>
          <a:xfrm>
            <a:off x="3086786" y="3443732"/>
            <a:ext cx="274320" cy="274320"/>
          </a:xfrm>
          <a:prstGeom prst="rightArrow">
            <a:avLst/>
          </a:prstGeom>
          <a:solidFill>
            <a:srgbClr val="B8862B"/>
          </a:solidFill>
          <a:ln/>
        </p:spPr>
      </p:sp>
      <p:sp>
        <p:nvSpPr>
          <p:cNvPr id="14" name="step-box"/>
          <p:cNvSpPr/>
          <p:nvPr/>
        </p:nvSpPr>
        <p:spPr>
          <a:xfrm>
            <a:off x="3425114" y="2314956"/>
            <a:ext cx="2464994" cy="2531872"/>
          </a:xfrm>
          <a:prstGeom prst="roundRect">
            <a:avLst>
              <a:gd name="adj" fmla="val 2968"/>
            </a:avLst>
          </a:prstGeom>
          <a:solidFill>
            <a:srgbClr val="FFFFFF"/>
          </a:solidFill>
          <a:ln w="15875">
            <a:solidFill>
              <a:srgbClr val="95AE9B"/>
            </a:solidFill>
            <a:prstDash val="solid"/>
          </a:ln>
        </p:spPr>
      </p:sp>
      <p:sp>
        <p:nvSpPr>
          <p:cNvPr id="15" name="step-hex"/>
          <p:cNvSpPr/>
          <p:nvPr/>
        </p:nvSpPr>
        <p:spPr>
          <a:xfrm>
            <a:off x="3562274" y="2424684"/>
            <a:ext cx="530352" cy="459285"/>
          </a:xfrm>
          <a:prstGeom prst="hexagon">
            <a:avLst/>
          </a:prstGeom>
          <a:solidFill>
            <a:srgbClr val="3F6B4A"/>
          </a:solidFill>
          <a:ln/>
        </p:spPr>
      </p:sp>
      <p:sp>
        <p:nvSpPr>
          <p:cNvPr id="16" name="step-hex-label"/>
          <p:cNvSpPr txBox="1"/>
          <p:nvPr/>
        </p:nvSpPr>
        <p:spPr>
          <a:xfrm>
            <a:off x="3562274"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2909316"/>
            <a:ext cx="2190674"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Longitude second: 100°W. Find the line 100 degrees west of the Greenwich Meridian, which is in the Americas.</a:t>
            </a:r>
            <a:endParaRPr lang="en-US" sz="1800" dirty="0"/>
          </a:p>
        </p:txBody>
      </p:sp>
      <p:sp>
        <p:nvSpPr>
          <p:cNvPr id="18" name="arrow"/>
          <p:cNvSpPr/>
          <p:nvPr/>
        </p:nvSpPr>
        <p:spPr>
          <a:xfrm>
            <a:off x="5963260" y="3443732"/>
            <a:ext cx="274320" cy="274320"/>
          </a:xfrm>
          <a:prstGeom prst="rightArrow">
            <a:avLst/>
          </a:prstGeom>
          <a:solidFill>
            <a:srgbClr val="B8862B"/>
          </a:solidFill>
          <a:ln/>
        </p:spPr>
      </p:sp>
      <p:sp>
        <p:nvSpPr>
          <p:cNvPr id="19" name="step-box"/>
          <p:cNvSpPr/>
          <p:nvPr/>
        </p:nvSpPr>
        <p:spPr>
          <a:xfrm>
            <a:off x="6301588" y="2314956"/>
            <a:ext cx="2464994" cy="2531872"/>
          </a:xfrm>
          <a:prstGeom prst="roundRect">
            <a:avLst>
              <a:gd name="adj" fmla="val 2968"/>
            </a:avLst>
          </a:prstGeom>
          <a:solidFill>
            <a:srgbClr val="FFFFFF"/>
          </a:solidFill>
          <a:ln w="15875">
            <a:solidFill>
              <a:srgbClr val="95AE9B"/>
            </a:solidFill>
            <a:prstDash val="solid"/>
          </a:ln>
        </p:spPr>
      </p:sp>
      <p:sp>
        <p:nvSpPr>
          <p:cNvPr id="20" name="step-hex"/>
          <p:cNvSpPr/>
          <p:nvPr/>
        </p:nvSpPr>
        <p:spPr>
          <a:xfrm>
            <a:off x="6438748" y="2424684"/>
            <a:ext cx="530352" cy="459285"/>
          </a:xfrm>
          <a:prstGeom prst="hexagon">
            <a:avLst/>
          </a:prstGeom>
          <a:solidFill>
            <a:srgbClr val="3F6B4A"/>
          </a:solidFill>
          <a:ln/>
        </p:spPr>
      </p:sp>
      <p:sp>
        <p:nvSpPr>
          <p:cNvPr id="21"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2909316"/>
            <a:ext cx="2190674"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Where the two lines cross is in the middle of North America.</a:t>
            </a:r>
            <a:endParaRPr lang="en-US" sz="1800" dirty="0"/>
          </a:p>
        </p:txBody>
      </p:sp>
      <p:sp>
        <p:nvSpPr>
          <p:cNvPr id="23" name="arrow"/>
          <p:cNvSpPr/>
          <p:nvPr/>
        </p:nvSpPr>
        <p:spPr>
          <a:xfrm>
            <a:off x="8839733" y="3443732"/>
            <a:ext cx="274320" cy="274320"/>
          </a:xfrm>
          <a:prstGeom prst="rightArrow">
            <a:avLst/>
          </a:prstGeom>
          <a:solidFill>
            <a:srgbClr val="B8862B"/>
          </a:solidFill>
          <a:ln/>
        </p:spPr>
      </p:sp>
      <p:sp>
        <p:nvSpPr>
          <p:cNvPr id="24" name="step-box"/>
          <p:cNvSpPr/>
          <p:nvPr/>
        </p:nvSpPr>
        <p:spPr>
          <a:xfrm>
            <a:off x="9178061" y="2314956"/>
            <a:ext cx="2464994" cy="2531872"/>
          </a:xfrm>
          <a:prstGeom prst="roundRect">
            <a:avLst>
              <a:gd name="adj" fmla="val 2968"/>
            </a:avLst>
          </a:prstGeom>
          <a:solidFill>
            <a:srgbClr val="FFFFFF"/>
          </a:solidFill>
          <a:ln w="15875">
            <a:solidFill>
              <a:srgbClr val="95AE9B"/>
            </a:solidFill>
            <a:prstDash val="solid"/>
          </a:ln>
        </p:spPr>
      </p:sp>
      <p:sp>
        <p:nvSpPr>
          <p:cNvPr id="25" name="step-hex"/>
          <p:cNvSpPr/>
          <p:nvPr/>
        </p:nvSpPr>
        <p:spPr>
          <a:xfrm>
            <a:off x="9315221" y="2424684"/>
            <a:ext cx="530352" cy="459285"/>
          </a:xfrm>
          <a:prstGeom prst="hexagon">
            <a:avLst/>
          </a:prstGeom>
          <a:solidFill>
            <a:srgbClr val="3F6B4A"/>
          </a:solidFill>
          <a:ln/>
        </p:spPr>
      </p:sp>
      <p:sp>
        <p:nvSpPr>
          <p:cNvPr id="26" name="step-hex-label"/>
          <p:cNvSpPr txBox="1"/>
          <p:nvPr/>
        </p:nvSpPr>
        <p:spPr>
          <a:xfrm>
            <a:off x="9315221"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2909316"/>
            <a:ext cx="2190674" cy="1846072"/>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That is the United States of America, matching the deck's treasure map answer.</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The United States of America.</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How has London changed over time?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maps have dates, work out the gap between them. Growth in a short gap means fast change.</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A5B9AA"/>
            </a:solidFill>
            <a:prstDash val="solid"/>
          </a:ln>
        </p:spPr>
      </p:sp>
      <p:sp>
        <p:nvSpPr>
          <p:cNvPr id="12" name="worked-tab"/>
          <p:cNvSpPr/>
          <p:nvPr/>
        </p:nvSpPr>
        <p:spPr>
          <a:xfrm>
            <a:off x="6126480" y="1499616"/>
            <a:ext cx="2377440" cy="457200"/>
          </a:xfrm>
          <a:prstGeom prst="roundRect">
            <a:avLst>
              <a:gd name="adj" fmla="val 40000"/>
            </a:avLst>
          </a:prstGeom>
          <a:solidFill>
            <a:srgbClr val="3F6B4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How many years passed between the deck's oldest London map (1677) and its newest (1843)?</a:t>
            </a:r>
            <a:endParaRPr lang="en-US" sz="1800" dirty="0"/>
          </a:p>
        </p:txBody>
      </p:sp>
      <p:sp>
        <p:nvSpPr>
          <p:cNvPr id="14" name="step-box"/>
          <p:cNvSpPr/>
          <p:nvPr/>
        </p:nvSpPr>
        <p:spPr>
          <a:xfrm>
            <a:off x="6126480" y="2888488"/>
            <a:ext cx="5379415" cy="736981"/>
          </a:xfrm>
          <a:prstGeom prst="roundRect">
            <a:avLst>
              <a:gd name="adj" fmla="val 12407"/>
            </a:avLst>
          </a:prstGeom>
          <a:solidFill>
            <a:srgbClr val="F2F5F2"/>
          </a:solidFill>
          <a:ln/>
        </p:spPr>
      </p:sp>
      <p:sp>
        <p:nvSpPr>
          <p:cNvPr id="15" name="step-hex"/>
          <p:cNvSpPr/>
          <p:nvPr/>
        </p:nvSpPr>
        <p:spPr>
          <a:xfrm>
            <a:off x="6217920" y="3074848"/>
            <a:ext cx="420624" cy="364260"/>
          </a:xfrm>
          <a:prstGeom prst="hexagon">
            <a:avLst/>
          </a:prstGeom>
          <a:solidFill>
            <a:srgbClr val="3F6B4A"/>
          </a:solidFill>
          <a:ln/>
        </p:spPr>
      </p:sp>
      <p:sp>
        <p:nvSpPr>
          <p:cNvPr id="16" name="step-hex-label"/>
          <p:cNvSpPr txBox="1"/>
          <p:nvPr/>
        </p:nvSpPr>
        <p:spPr>
          <a:xfrm>
            <a:off x="6217920" y="307484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73698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Subtract the earlier year from the later one: 1843 − 1677.</a:t>
            </a:r>
            <a:endParaRPr lang="en-US" sz="1800" dirty="0"/>
          </a:p>
        </p:txBody>
      </p:sp>
      <p:sp>
        <p:nvSpPr>
          <p:cNvPr id="18" name="step-box"/>
          <p:cNvSpPr/>
          <p:nvPr/>
        </p:nvSpPr>
        <p:spPr>
          <a:xfrm>
            <a:off x="6126480" y="3716909"/>
            <a:ext cx="5379415" cy="509397"/>
          </a:xfrm>
          <a:prstGeom prst="roundRect">
            <a:avLst>
              <a:gd name="adj" fmla="val 17951"/>
            </a:avLst>
          </a:prstGeom>
          <a:solidFill>
            <a:srgbClr val="F2F5F2"/>
          </a:solidFill>
          <a:ln/>
        </p:spPr>
      </p:sp>
      <p:sp>
        <p:nvSpPr>
          <p:cNvPr id="19" name="step-hex"/>
          <p:cNvSpPr/>
          <p:nvPr/>
        </p:nvSpPr>
        <p:spPr>
          <a:xfrm>
            <a:off x="6217920" y="3789477"/>
            <a:ext cx="420624" cy="364260"/>
          </a:xfrm>
          <a:prstGeom prst="hexagon">
            <a:avLst/>
          </a:prstGeom>
          <a:solidFill>
            <a:srgbClr val="3F6B4A"/>
          </a:solidFill>
          <a:ln/>
        </p:spPr>
      </p:sp>
      <p:sp>
        <p:nvSpPr>
          <p:cNvPr id="20" name="step-hex-label"/>
          <p:cNvSpPr txBox="1"/>
          <p:nvPr/>
        </p:nvSpPr>
        <p:spPr>
          <a:xfrm>
            <a:off x="6217920" y="3789477"/>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16909"/>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1843 − 1600 = 243; 243 − 77 = 166.</a:t>
            </a:r>
            <a:endParaRPr lang="en-US" sz="1800" dirty="0"/>
          </a:p>
        </p:txBody>
      </p:sp>
      <p:sp>
        <p:nvSpPr>
          <p:cNvPr id="22" name="step-box"/>
          <p:cNvSpPr/>
          <p:nvPr/>
        </p:nvSpPr>
        <p:spPr>
          <a:xfrm>
            <a:off x="6126480" y="4317746"/>
            <a:ext cx="5379415" cy="509397"/>
          </a:xfrm>
          <a:prstGeom prst="roundRect">
            <a:avLst>
              <a:gd name="adj" fmla="val 17951"/>
            </a:avLst>
          </a:prstGeom>
          <a:solidFill>
            <a:srgbClr val="F2F5F2"/>
          </a:solidFill>
          <a:ln/>
        </p:spPr>
      </p:sp>
      <p:sp>
        <p:nvSpPr>
          <p:cNvPr id="23" name="step-hex"/>
          <p:cNvSpPr/>
          <p:nvPr/>
        </p:nvSpPr>
        <p:spPr>
          <a:xfrm>
            <a:off x="6217920" y="4390314"/>
            <a:ext cx="420624" cy="364260"/>
          </a:xfrm>
          <a:prstGeom prst="hexagon">
            <a:avLst/>
          </a:prstGeom>
          <a:solidFill>
            <a:srgbClr val="3F6B4A"/>
          </a:solidFill>
          <a:ln/>
        </p:spPr>
      </p:sp>
      <p:sp>
        <p:nvSpPr>
          <p:cNvPr id="24" name="step-hex-label"/>
          <p:cNvSpPr txBox="1"/>
          <p:nvPr/>
        </p:nvSpPr>
        <p:spPr>
          <a:xfrm>
            <a:off x="6217920" y="43903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317746"/>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166 years passed.</a:t>
            </a:r>
            <a:endParaRPr lang="en-US" sz="1800" dirty="0"/>
          </a:p>
        </p:txBody>
      </p:sp>
      <p:sp>
        <p:nvSpPr>
          <p:cNvPr id="26" name="step-box"/>
          <p:cNvSpPr/>
          <p:nvPr/>
        </p:nvSpPr>
        <p:spPr>
          <a:xfrm>
            <a:off x="6126480" y="4918583"/>
            <a:ext cx="5379415" cy="509397"/>
          </a:xfrm>
          <a:prstGeom prst="roundRect">
            <a:avLst>
              <a:gd name="adj" fmla="val 17951"/>
            </a:avLst>
          </a:prstGeom>
          <a:solidFill>
            <a:srgbClr val="F2F5F2"/>
          </a:solidFill>
          <a:ln/>
        </p:spPr>
      </p:sp>
      <p:sp>
        <p:nvSpPr>
          <p:cNvPr id="27" name="step-hex"/>
          <p:cNvSpPr/>
          <p:nvPr/>
        </p:nvSpPr>
        <p:spPr>
          <a:xfrm>
            <a:off x="6217920" y="4991151"/>
            <a:ext cx="420624" cy="364260"/>
          </a:xfrm>
          <a:prstGeom prst="hexagon">
            <a:avLst/>
          </a:prstGeom>
          <a:solidFill>
            <a:srgbClr val="3F6B4A"/>
          </a:solidFill>
          <a:ln/>
        </p:spPr>
      </p:sp>
      <p:sp>
        <p:nvSpPr>
          <p:cNvPr id="28" name="step-hex-label"/>
          <p:cNvSpPr txBox="1"/>
          <p:nvPr/>
        </p:nvSpPr>
        <p:spPr>
          <a:xfrm>
            <a:off x="6217920" y="4991151"/>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918583"/>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1677 + 166 = 1843.</a:t>
            </a:r>
            <a:endParaRPr lang="en-US" sz="1800" dirty="0"/>
          </a:p>
        </p:txBody>
      </p:sp>
      <p:sp>
        <p:nvSpPr>
          <p:cNvPr id="30" name="worked-answer"/>
          <p:cNvSpPr/>
          <p:nvPr/>
        </p:nvSpPr>
        <p:spPr>
          <a:xfrm>
            <a:off x="6126480" y="556514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166 years</a:t>
            </a:r>
            <a:endParaRPr lang="en-US" sz="1800" dirty="0"/>
          </a:p>
        </p:txBody>
      </p:sp>
      <p:sp>
        <p:nvSpPr>
          <p:cNvPr id="31" name="bullet-card"/>
          <p:cNvSpPr/>
          <p:nvPr/>
        </p:nvSpPr>
        <p:spPr>
          <a:xfrm>
            <a:off x="548640" y="1389888"/>
            <a:ext cx="5074920" cy="1357376"/>
          </a:xfrm>
          <a:prstGeom prst="roundRect">
            <a:avLst>
              <a:gd name="adj" fmla="val 5389"/>
            </a:avLst>
          </a:prstGeom>
          <a:solidFill>
            <a:srgbClr val="F5F8F6"/>
          </a:solidFill>
          <a:ln/>
        </p:spPr>
      </p:sp>
      <p:sp>
        <p:nvSpPr>
          <p:cNvPr id="32" name="bullet-hex"/>
          <p:cNvSpPr/>
          <p:nvPr/>
        </p:nvSpPr>
        <p:spPr>
          <a:xfrm>
            <a:off x="676656" y="1902283"/>
            <a:ext cx="384048" cy="332586"/>
          </a:xfrm>
          <a:prstGeom prst="hexagon">
            <a:avLst/>
          </a:prstGeom>
          <a:solidFill>
            <a:srgbClr val="3F6B4A"/>
          </a:solidFill>
          <a:ln/>
        </p:spPr>
      </p:sp>
      <p:sp>
        <p:nvSpPr>
          <p:cNvPr id="33" name="bullet"/>
          <p:cNvSpPr txBox="1"/>
          <p:nvPr/>
        </p:nvSpPr>
        <p:spPr>
          <a:xfrm>
            <a:off x="1143000" y="1389888"/>
            <a:ext cx="4389120" cy="135737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London is in the south-east of England, on the River Thames.</a:t>
            </a:r>
            <a:endParaRPr lang="en-US" sz="2200" dirty="0"/>
          </a:p>
        </p:txBody>
      </p:sp>
      <p:sp>
        <p:nvSpPr>
          <p:cNvPr id="34" name="bullet-card"/>
          <p:cNvSpPr/>
          <p:nvPr/>
        </p:nvSpPr>
        <p:spPr>
          <a:xfrm>
            <a:off x="548640" y="2893568"/>
            <a:ext cx="5074920" cy="1698244"/>
          </a:xfrm>
          <a:prstGeom prst="roundRect">
            <a:avLst>
              <a:gd name="adj" fmla="val 4308"/>
            </a:avLst>
          </a:prstGeom>
          <a:solidFill>
            <a:srgbClr val="F5F8F6"/>
          </a:solidFill>
          <a:ln/>
        </p:spPr>
      </p:sp>
      <p:sp>
        <p:nvSpPr>
          <p:cNvPr id="35" name="bullet-hex"/>
          <p:cNvSpPr/>
          <p:nvPr/>
        </p:nvSpPr>
        <p:spPr>
          <a:xfrm>
            <a:off x="676656" y="3576397"/>
            <a:ext cx="384048" cy="332586"/>
          </a:xfrm>
          <a:prstGeom prst="hexagon">
            <a:avLst/>
          </a:prstGeom>
          <a:solidFill>
            <a:srgbClr val="B8862B"/>
          </a:solidFill>
          <a:ln/>
        </p:spPr>
      </p:sp>
      <p:sp>
        <p:nvSpPr>
          <p:cNvPr id="36" name="bullet"/>
          <p:cNvSpPr txBox="1"/>
          <p:nvPr/>
        </p:nvSpPr>
        <p:spPr>
          <a:xfrm>
            <a:off x="1143000" y="2893568"/>
            <a:ext cx="4389120" cy="169824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deck asked you to guess the year of four maps of London: 1677, 1720, 1730 and 1843.</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Different Londons: three ways of seeing a place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Firstspace is the city you can measure; Secondspace is the city people imagine; Thirdspace is the city people actually live.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What does London mean to you? The answer depends on who you are.</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Think about the people in the deck's task. A Japanese student researching London for a project on cities knows the imagined London of websites and photographs: Secondspace.</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This matters for geographers because a place is not just its map.</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Treasure map coordinates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set of coordinates from the treasure map to the country it points to.</a:t>
            </a:r>
            <a:endParaRPr lang="en-US" sz="2400" dirty="0"/>
          </a:p>
        </p:txBody>
      </p:sp>
      <p:sp>
        <p:nvSpPr>
          <p:cNvPr id="11" name="match-card"/>
          <p:cNvSpPr/>
          <p:nvPr/>
        </p:nvSpPr>
        <p:spPr>
          <a:xfrm>
            <a:off x="777240" y="2672080"/>
            <a:ext cx="3697724" cy="584810"/>
          </a:xfrm>
          <a:prstGeom prst="roundRect">
            <a:avLst>
              <a:gd name="adj" fmla="val 12509"/>
            </a:avLst>
          </a:prstGeom>
          <a:solidFill>
            <a:srgbClr val="F5F8F6"/>
          </a:solidFill>
          <a:ln/>
        </p:spPr>
      </p:sp>
      <p:sp>
        <p:nvSpPr>
          <p:cNvPr id="12" name="match-hex"/>
          <p:cNvSpPr/>
          <p:nvPr/>
        </p:nvSpPr>
        <p:spPr>
          <a:xfrm>
            <a:off x="850392" y="2798192"/>
            <a:ext cx="384048" cy="332586"/>
          </a:xfrm>
          <a:prstGeom prst="hexagon">
            <a:avLst/>
          </a:prstGeom>
          <a:solidFill>
            <a:srgbClr val="3F6B4A"/>
          </a:solidFill>
          <a:ln/>
        </p:spPr>
      </p:sp>
      <p:sp>
        <p:nvSpPr>
          <p:cNvPr id="13" name="match-hex-label"/>
          <p:cNvSpPr txBox="1"/>
          <p:nvPr/>
        </p:nvSpPr>
        <p:spPr>
          <a:xfrm>
            <a:off x="850392" y="27981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3103364" cy="58481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50°N 0°W</a:t>
            </a:r>
            <a:endParaRPr lang="en-US" sz="2200" dirty="0"/>
          </a:p>
        </p:txBody>
      </p:sp>
      <p:sp>
        <p:nvSpPr>
          <p:cNvPr id="15" name="match-card"/>
          <p:cNvSpPr/>
          <p:nvPr/>
        </p:nvSpPr>
        <p:spPr>
          <a:xfrm>
            <a:off x="4840724" y="2672080"/>
            <a:ext cx="6573731" cy="584810"/>
          </a:xfrm>
          <a:prstGeom prst="roundRect">
            <a:avLst>
              <a:gd name="adj" fmla="val 12509"/>
            </a:avLst>
          </a:prstGeom>
          <a:solidFill>
            <a:srgbClr val="F9F4EC"/>
          </a:solidFill>
          <a:ln/>
        </p:spPr>
      </p:sp>
      <p:sp>
        <p:nvSpPr>
          <p:cNvPr id="16" name="match-hex"/>
          <p:cNvSpPr/>
          <p:nvPr/>
        </p:nvSpPr>
        <p:spPr>
          <a:xfrm>
            <a:off x="4913876" y="2798192"/>
            <a:ext cx="384048" cy="332586"/>
          </a:xfrm>
          <a:prstGeom prst="hexagon">
            <a:avLst/>
          </a:prstGeom>
          <a:solidFill>
            <a:srgbClr val="B8862B"/>
          </a:solidFill>
          <a:ln/>
        </p:spPr>
      </p:sp>
      <p:sp>
        <p:nvSpPr>
          <p:cNvPr id="17" name="match-hex-label"/>
          <p:cNvSpPr txBox="1"/>
          <p:nvPr/>
        </p:nvSpPr>
        <p:spPr>
          <a:xfrm>
            <a:off x="4913876" y="27981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5361932" y="2672080"/>
            <a:ext cx="5979371" cy="58481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Australia</a:t>
            </a:r>
            <a:endParaRPr lang="en-US" sz="2200" dirty="0"/>
          </a:p>
        </p:txBody>
      </p:sp>
      <p:sp>
        <p:nvSpPr>
          <p:cNvPr id="19" name="match-card"/>
          <p:cNvSpPr/>
          <p:nvPr/>
        </p:nvSpPr>
        <p:spPr>
          <a:xfrm>
            <a:off x="777240" y="3348330"/>
            <a:ext cx="3697724" cy="584810"/>
          </a:xfrm>
          <a:prstGeom prst="roundRect">
            <a:avLst>
              <a:gd name="adj" fmla="val 12509"/>
            </a:avLst>
          </a:prstGeom>
          <a:solidFill>
            <a:srgbClr val="F5F8F6"/>
          </a:solidFill>
          <a:ln/>
        </p:spPr>
      </p:sp>
      <p:sp>
        <p:nvSpPr>
          <p:cNvPr id="20" name="match-hex"/>
          <p:cNvSpPr/>
          <p:nvPr/>
        </p:nvSpPr>
        <p:spPr>
          <a:xfrm>
            <a:off x="850392" y="3474442"/>
            <a:ext cx="384048" cy="332586"/>
          </a:xfrm>
          <a:prstGeom prst="hexagon">
            <a:avLst/>
          </a:prstGeom>
          <a:solidFill>
            <a:srgbClr val="3F6B4A"/>
          </a:solidFill>
          <a:ln/>
        </p:spPr>
      </p:sp>
      <p:sp>
        <p:nvSpPr>
          <p:cNvPr id="21" name="match-hex-label"/>
          <p:cNvSpPr txBox="1"/>
          <p:nvPr/>
        </p:nvSpPr>
        <p:spPr>
          <a:xfrm>
            <a:off x="850392" y="347444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48330"/>
            <a:ext cx="3103364" cy="58481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40°N 100°W</a:t>
            </a:r>
            <a:endParaRPr lang="en-US" sz="2200" dirty="0"/>
          </a:p>
        </p:txBody>
      </p:sp>
      <p:sp>
        <p:nvSpPr>
          <p:cNvPr id="23" name="match-card"/>
          <p:cNvSpPr/>
          <p:nvPr/>
        </p:nvSpPr>
        <p:spPr>
          <a:xfrm>
            <a:off x="4840724" y="3348330"/>
            <a:ext cx="6573731" cy="584810"/>
          </a:xfrm>
          <a:prstGeom prst="roundRect">
            <a:avLst>
              <a:gd name="adj" fmla="val 12509"/>
            </a:avLst>
          </a:prstGeom>
          <a:solidFill>
            <a:srgbClr val="F9F4EC"/>
          </a:solidFill>
          <a:ln/>
        </p:spPr>
      </p:sp>
      <p:sp>
        <p:nvSpPr>
          <p:cNvPr id="24" name="match-hex"/>
          <p:cNvSpPr/>
          <p:nvPr/>
        </p:nvSpPr>
        <p:spPr>
          <a:xfrm>
            <a:off x="4913876" y="3474442"/>
            <a:ext cx="384048" cy="332586"/>
          </a:xfrm>
          <a:prstGeom prst="hexagon">
            <a:avLst/>
          </a:prstGeom>
          <a:solidFill>
            <a:srgbClr val="B8862B"/>
          </a:solidFill>
          <a:ln/>
        </p:spPr>
      </p:sp>
      <p:sp>
        <p:nvSpPr>
          <p:cNvPr id="25" name="match-hex-label"/>
          <p:cNvSpPr txBox="1"/>
          <p:nvPr/>
        </p:nvSpPr>
        <p:spPr>
          <a:xfrm>
            <a:off x="4913876" y="347444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5361932" y="3348330"/>
            <a:ext cx="5979371" cy="58481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United States of America</a:t>
            </a:r>
            <a:endParaRPr lang="en-US" sz="2200" dirty="0"/>
          </a:p>
        </p:txBody>
      </p:sp>
      <p:sp>
        <p:nvSpPr>
          <p:cNvPr id="27" name="match-card"/>
          <p:cNvSpPr/>
          <p:nvPr/>
        </p:nvSpPr>
        <p:spPr>
          <a:xfrm>
            <a:off x="777240" y="4024579"/>
            <a:ext cx="3697724" cy="584810"/>
          </a:xfrm>
          <a:prstGeom prst="roundRect">
            <a:avLst>
              <a:gd name="adj" fmla="val 12509"/>
            </a:avLst>
          </a:prstGeom>
          <a:solidFill>
            <a:srgbClr val="F5F8F6"/>
          </a:solidFill>
          <a:ln/>
        </p:spPr>
      </p:sp>
      <p:sp>
        <p:nvSpPr>
          <p:cNvPr id="28" name="match-hex"/>
          <p:cNvSpPr/>
          <p:nvPr/>
        </p:nvSpPr>
        <p:spPr>
          <a:xfrm>
            <a:off x="850392" y="4150691"/>
            <a:ext cx="384048" cy="332586"/>
          </a:xfrm>
          <a:prstGeom prst="hexagon">
            <a:avLst/>
          </a:prstGeom>
          <a:solidFill>
            <a:srgbClr val="3F6B4A"/>
          </a:solidFill>
          <a:ln/>
        </p:spPr>
      </p:sp>
      <p:sp>
        <p:nvSpPr>
          <p:cNvPr id="29" name="match-hex-label"/>
          <p:cNvSpPr txBox="1"/>
          <p:nvPr/>
        </p:nvSpPr>
        <p:spPr>
          <a:xfrm>
            <a:off x="850392" y="41506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024579"/>
            <a:ext cx="3103364" cy="58481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30°S 150°E</a:t>
            </a:r>
            <a:endParaRPr lang="en-US" sz="2200" dirty="0"/>
          </a:p>
        </p:txBody>
      </p:sp>
      <p:sp>
        <p:nvSpPr>
          <p:cNvPr id="31" name="match-card"/>
          <p:cNvSpPr/>
          <p:nvPr/>
        </p:nvSpPr>
        <p:spPr>
          <a:xfrm>
            <a:off x="4840724" y="4024579"/>
            <a:ext cx="6573731" cy="584810"/>
          </a:xfrm>
          <a:prstGeom prst="roundRect">
            <a:avLst>
              <a:gd name="adj" fmla="val 12509"/>
            </a:avLst>
          </a:prstGeom>
          <a:solidFill>
            <a:srgbClr val="F9F4EC"/>
          </a:solidFill>
          <a:ln/>
        </p:spPr>
      </p:sp>
      <p:sp>
        <p:nvSpPr>
          <p:cNvPr id="32" name="match-hex"/>
          <p:cNvSpPr/>
          <p:nvPr/>
        </p:nvSpPr>
        <p:spPr>
          <a:xfrm>
            <a:off x="4913876" y="4150691"/>
            <a:ext cx="384048" cy="332586"/>
          </a:xfrm>
          <a:prstGeom prst="hexagon">
            <a:avLst/>
          </a:prstGeom>
          <a:solidFill>
            <a:srgbClr val="B8862B"/>
          </a:solidFill>
          <a:ln/>
        </p:spPr>
      </p:sp>
      <p:sp>
        <p:nvSpPr>
          <p:cNvPr id="33" name="match-hex-label"/>
          <p:cNvSpPr txBox="1"/>
          <p:nvPr/>
        </p:nvSpPr>
        <p:spPr>
          <a:xfrm>
            <a:off x="4913876" y="41506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5361932" y="4024579"/>
            <a:ext cx="5979371" cy="58481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India</a:t>
            </a:r>
            <a:endParaRPr lang="en-US" sz="2200" dirty="0"/>
          </a:p>
        </p:txBody>
      </p:sp>
      <p:sp>
        <p:nvSpPr>
          <p:cNvPr id="35" name="match-card"/>
          <p:cNvSpPr/>
          <p:nvPr/>
        </p:nvSpPr>
        <p:spPr>
          <a:xfrm>
            <a:off x="777240" y="4700829"/>
            <a:ext cx="3697724" cy="584810"/>
          </a:xfrm>
          <a:prstGeom prst="roundRect">
            <a:avLst>
              <a:gd name="adj" fmla="val 12509"/>
            </a:avLst>
          </a:prstGeom>
          <a:solidFill>
            <a:srgbClr val="F5F8F6"/>
          </a:solidFill>
          <a:ln/>
        </p:spPr>
      </p:sp>
      <p:sp>
        <p:nvSpPr>
          <p:cNvPr id="36" name="match-hex"/>
          <p:cNvSpPr/>
          <p:nvPr/>
        </p:nvSpPr>
        <p:spPr>
          <a:xfrm>
            <a:off x="850392" y="4826941"/>
            <a:ext cx="384048" cy="332586"/>
          </a:xfrm>
          <a:prstGeom prst="hexagon">
            <a:avLst/>
          </a:prstGeom>
          <a:solidFill>
            <a:srgbClr val="3F6B4A"/>
          </a:solidFill>
          <a:ln/>
        </p:spPr>
      </p:sp>
      <p:sp>
        <p:nvSpPr>
          <p:cNvPr id="37" name="match-hex-label"/>
          <p:cNvSpPr txBox="1"/>
          <p:nvPr/>
        </p:nvSpPr>
        <p:spPr>
          <a:xfrm>
            <a:off x="850392" y="482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700829"/>
            <a:ext cx="3103364" cy="58481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10°S 60°W</a:t>
            </a:r>
            <a:endParaRPr lang="en-US" sz="2200" dirty="0"/>
          </a:p>
        </p:txBody>
      </p:sp>
      <p:sp>
        <p:nvSpPr>
          <p:cNvPr id="39" name="match-card"/>
          <p:cNvSpPr/>
          <p:nvPr/>
        </p:nvSpPr>
        <p:spPr>
          <a:xfrm>
            <a:off x="4840724" y="4700829"/>
            <a:ext cx="6573731" cy="584810"/>
          </a:xfrm>
          <a:prstGeom prst="roundRect">
            <a:avLst>
              <a:gd name="adj" fmla="val 12509"/>
            </a:avLst>
          </a:prstGeom>
          <a:solidFill>
            <a:srgbClr val="F9F4EC"/>
          </a:solidFill>
          <a:ln/>
        </p:spPr>
      </p:sp>
      <p:sp>
        <p:nvSpPr>
          <p:cNvPr id="40" name="match-hex"/>
          <p:cNvSpPr/>
          <p:nvPr/>
        </p:nvSpPr>
        <p:spPr>
          <a:xfrm>
            <a:off x="4913876" y="4826941"/>
            <a:ext cx="384048" cy="332586"/>
          </a:xfrm>
          <a:prstGeom prst="hexagon">
            <a:avLst/>
          </a:prstGeom>
          <a:solidFill>
            <a:srgbClr val="B8862B"/>
          </a:solidFill>
          <a:ln/>
        </p:spPr>
      </p:sp>
      <p:sp>
        <p:nvSpPr>
          <p:cNvPr id="41" name="match-hex-label"/>
          <p:cNvSpPr txBox="1"/>
          <p:nvPr/>
        </p:nvSpPr>
        <p:spPr>
          <a:xfrm>
            <a:off x="4913876" y="482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5361932" y="4700829"/>
            <a:ext cx="5979371" cy="58481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United Kingdom</a:t>
            </a:r>
            <a:endParaRPr lang="en-US" sz="2200" dirty="0"/>
          </a:p>
        </p:txBody>
      </p:sp>
      <p:sp>
        <p:nvSpPr>
          <p:cNvPr id="43" name="match-card"/>
          <p:cNvSpPr/>
          <p:nvPr/>
        </p:nvSpPr>
        <p:spPr>
          <a:xfrm>
            <a:off x="777240" y="5377078"/>
            <a:ext cx="3697724" cy="584810"/>
          </a:xfrm>
          <a:prstGeom prst="roundRect">
            <a:avLst>
              <a:gd name="adj" fmla="val 12509"/>
            </a:avLst>
          </a:prstGeom>
          <a:solidFill>
            <a:srgbClr val="F5F8F6"/>
          </a:solidFill>
          <a:ln/>
        </p:spPr>
      </p:sp>
      <p:sp>
        <p:nvSpPr>
          <p:cNvPr id="44" name="match-hex"/>
          <p:cNvSpPr/>
          <p:nvPr/>
        </p:nvSpPr>
        <p:spPr>
          <a:xfrm>
            <a:off x="850392" y="5503190"/>
            <a:ext cx="384048" cy="332586"/>
          </a:xfrm>
          <a:prstGeom prst="hexagon">
            <a:avLst/>
          </a:prstGeom>
          <a:solidFill>
            <a:srgbClr val="3F6B4A"/>
          </a:solidFill>
          <a:ln/>
        </p:spPr>
      </p:sp>
      <p:sp>
        <p:nvSpPr>
          <p:cNvPr id="45" name="match-hex-label"/>
          <p:cNvSpPr txBox="1"/>
          <p:nvPr/>
        </p:nvSpPr>
        <p:spPr>
          <a:xfrm>
            <a:off x="850392" y="550319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377078"/>
            <a:ext cx="3103364" cy="58481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20°N 80°E</a:t>
            </a:r>
            <a:endParaRPr lang="en-US" sz="2200" dirty="0"/>
          </a:p>
        </p:txBody>
      </p:sp>
      <p:sp>
        <p:nvSpPr>
          <p:cNvPr id="47" name="match-card"/>
          <p:cNvSpPr/>
          <p:nvPr/>
        </p:nvSpPr>
        <p:spPr>
          <a:xfrm>
            <a:off x="4840724" y="5377078"/>
            <a:ext cx="6573731" cy="584810"/>
          </a:xfrm>
          <a:prstGeom prst="roundRect">
            <a:avLst>
              <a:gd name="adj" fmla="val 12509"/>
            </a:avLst>
          </a:prstGeom>
          <a:solidFill>
            <a:srgbClr val="F9F4EC"/>
          </a:solidFill>
          <a:ln/>
        </p:spPr>
      </p:sp>
      <p:sp>
        <p:nvSpPr>
          <p:cNvPr id="48" name="match-hex"/>
          <p:cNvSpPr/>
          <p:nvPr/>
        </p:nvSpPr>
        <p:spPr>
          <a:xfrm>
            <a:off x="4913876" y="5503190"/>
            <a:ext cx="384048" cy="332586"/>
          </a:xfrm>
          <a:prstGeom prst="hexagon">
            <a:avLst/>
          </a:prstGeom>
          <a:solidFill>
            <a:srgbClr val="B8862B"/>
          </a:solidFill>
          <a:ln/>
        </p:spPr>
      </p:sp>
      <p:sp>
        <p:nvSpPr>
          <p:cNvPr id="49" name="match-hex-label"/>
          <p:cNvSpPr txBox="1"/>
          <p:nvPr/>
        </p:nvSpPr>
        <p:spPr>
          <a:xfrm>
            <a:off x="4913876" y="550319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5361932" y="5377078"/>
            <a:ext cx="5979371" cy="58481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Brazil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(1 of 2): Treasure map coordinates</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set of coordinates from the treasure map to the country it points to.</a:t>
            </a:r>
            <a:endParaRPr lang="en-US" sz="2000" dirty="0"/>
          </a:p>
        </p:txBody>
      </p:sp>
      <p:sp>
        <p:nvSpPr>
          <p:cNvPr id="12" name="col-Support"/>
          <p:cNvSpPr/>
          <p:nvPr/>
        </p:nvSpPr>
        <p:spPr>
          <a:xfrm>
            <a:off x="548640" y="2593848"/>
            <a:ext cx="11094415" cy="3550920"/>
          </a:xfrm>
          <a:prstGeom prst="roundRect">
            <a:avLst>
              <a:gd name="adj" fmla="val 1545"/>
            </a:avLst>
          </a:prstGeom>
          <a:solidFill>
            <a:srgbClr val="F2F5F2"/>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10820095" cy="2801112"/>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Read the latitude first. N means north of the equator; S means south.</a:t>
            </a:r>
            <a:endParaRPr lang="en-US" sz="2200" dirty="0"/>
          </a:p>
          <a:p>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Read the longitude second. W means west of Greenwich (towards the Americas); E means east (towards Asia and Australia).</a:t>
            </a:r>
            <a:endParaRPr lang="en-US" sz="2200" dirty="0"/>
          </a:p>
          <a:p>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0°W is on the Greenwich Meridian itself, so that coordinate must be in the UK.</a:t>
            </a:r>
            <a:endParaRPr lang="en-US" sz="2200" dirty="0"/>
          </a:p>
          <a:p>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Two coordinates are in the south (S): one far east (Australia) and one west (Brazil). Two are north and far from Greenwich: one west (USA) and one east (India).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(2 of 2): Treasure map coordinates</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set of coordinates from the treasure map to the country it points to.</a:t>
            </a:r>
            <a:endParaRPr lang="en-US" sz="2000" dirty="0"/>
          </a:p>
        </p:txBody>
      </p:sp>
      <p:sp>
        <p:nvSpPr>
          <p:cNvPr id="12" name="col-Core"/>
          <p:cNvSpPr/>
          <p:nvPr/>
        </p:nvSpPr>
        <p:spPr>
          <a:xfrm>
            <a:off x="548640" y="2593848"/>
            <a:ext cx="5410048" cy="3550920"/>
          </a:xfrm>
          <a:prstGeom prst="roundRect">
            <a:avLst>
              <a:gd name="adj" fmla="val 1545"/>
            </a:avLst>
          </a:prstGeom>
          <a:solidFill>
            <a:srgbClr val="DBE3DD"/>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2630424"/>
            <a:ext cx="467852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233928"/>
            <a:ext cx="5135728" cy="2801112"/>
          </a:xfrm>
          <a:prstGeom prst="rect">
            <a:avLst/>
          </a:prstGeom>
          <a:noFill/>
          <a:ln/>
        </p:spPr>
        <p:txBody>
          <a:bodyPr wrap="square" lIns="63500" tIns="63500" rIns="63500" bIns="63500" rtlCol="0" anchor="t"/>
          <a:lstStyle/>
          <a:p>
            <a:pPr algn="l" indent="0" marL="0">
              <a:buNone/>
            </a:pPr>
            <a:r>
              <a:rPr lang="en-US" sz="2200" b="1" dirty="0">
                <a:solidFill>
                  <a:srgbClr val="32563B"/>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0°W must be on the Greenwich line. S means southern hemisphere. Large W means the Americas; large E means Asia or Australia.</a:t>
            </a:r>
            <a:endParaRPr lang="en-US" sz="2200" dirty="0"/>
          </a:p>
        </p:txBody>
      </p:sp>
      <p:sp>
        <p:nvSpPr>
          <p:cNvPr id="17" name="col-Stretch"/>
          <p:cNvSpPr/>
          <p:nvPr/>
        </p:nvSpPr>
        <p:spPr>
          <a:xfrm>
            <a:off x="6233008" y="2593848"/>
            <a:ext cx="5410048" cy="3550920"/>
          </a:xfrm>
          <a:prstGeom prst="roundRect">
            <a:avLst>
              <a:gd name="adj" fmla="val 1545"/>
            </a:avLst>
          </a:prstGeom>
          <a:solidFill>
            <a:srgbClr val="3F6B4A"/>
          </a:solidFill>
          <a:ln/>
        </p:spPr>
      </p:sp>
      <p:sp>
        <p:nvSpPr>
          <p:cNvPr id="18" name="col-hex"/>
          <p:cNvSpPr/>
          <p:nvPr/>
        </p:nvSpPr>
        <p:spPr>
          <a:xfrm>
            <a:off x="634273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263042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233928"/>
            <a:ext cx="5135728" cy="280111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Write the approximate coordinates of Hayes, to the nearest 10 degrees, and explain how you worked out each half.</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London's maps in order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deck's four maps of London in order from oldest to newest.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1843 map: the largest built-up area of the four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1730 map: ten years later again, with more streets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1677 map: the earliest of the four, with the smallest built-up area</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1720 map: a larger built-up area than the earliest map</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London's maps in order</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deck's four maps of London in order from oldest to newest.</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2F5F2"/>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smallest year number: 1677. That is the oldest.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1720 comes before 1730, because 20 is less than 30.</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1843 is the largest year number, so it is the newest.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the built-up area should get bigger as you go along the sequence.</a:t>
            </a:r>
            <a:endParaRPr lang="en-US" sz="1800" dirty="0"/>
          </a:p>
        </p:txBody>
      </p:sp>
      <p:sp>
        <p:nvSpPr>
          <p:cNvPr id="17" name="col-Core"/>
          <p:cNvSpPr/>
          <p:nvPr/>
        </p:nvSpPr>
        <p:spPr>
          <a:xfrm>
            <a:off x="5490762" y="2578608"/>
            <a:ext cx="2938987" cy="3566160"/>
          </a:xfrm>
          <a:prstGeom prst="roundRect">
            <a:avLst>
              <a:gd name="adj" fmla="val 1867"/>
            </a:avLst>
          </a:prstGeom>
          <a:solidFill>
            <a:srgbClr val="DBE3DD"/>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Smallest year first. The two maps ten years apart sit in the middle.</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two reasons why London grew so much between 1730 and 1843, using what you know about industry, railways and the Thames.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is the name of the line of 0 degrees latitude?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Tropic of Cancer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equator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Greenwich Meridian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North Pole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9F8"/>
          </a:solidFill>
          <a:ln w="12700">
            <a:solidFill>
              <a:srgbClr val="A5B9AA"/>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Treasure map coordinates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50°N 0°W  →  D  United Kingdom</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40°N 100°W  →  B  United States of America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30°S 150°E  →  A  Australia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10°S 60°W  →  E  Brazil</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20°N 80°E  →  C  India</a:t>
            </a:r>
            <a:endParaRPr lang="en-US" sz="24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Latitude gives north or south of the equator; longitude gives east or west of Greenwich. 0°W puts the UK on the Greenwich line; 100°W is the Americas (USA); 60°W south of the equator is Brazil; 150°E in the south is Australia; 80°E in the north is India.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London's maps in order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1677 map: the earliest of the four, with the smallest built-up area  (C)</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1720 map: a larger built-up area than the earliest map  (D)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1730 map: ten years later again, with more streets  (B)</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1843 map: the largest built-up area of the four  (A)</a:t>
            </a:r>
            <a:endParaRPr lang="en-US" sz="24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maps run 1677, 1720, 1730, 1843. Each later map shows a larger built-up area, so the size of the city confirms the date order.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is the name of the line of 0 degrees latitude?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The equator</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equator is 0 degrees latitude. Other lines of latitude are measured north or south of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F2F5F2"/>
      </a:lt2>
      <a:accent1>
        <a:srgbClr val="3F6B4A"/>
      </a:accent1>
      <a:accent2>
        <a:srgbClr val="B8862B"/>
      </a:accent2>
      <a:accent3>
        <a:srgbClr val="8CA692"/>
      </a:accent3>
      <a:accent4>
        <a:srgbClr val="815E1E"/>
      </a:accent4>
      <a:accent5>
        <a:srgbClr val="4A505C"/>
      </a:accent5>
      <a:accent6>
        <a:srgbClr val="DEC69B"/>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 Local Place and the World · Chapter 6: The UK in the world: latitude, longitude and a changing London</dc:title>
  <dc:subject>Geography · Year 7</dc:subject>
  <dc:creator>Dr Vitor Merissi de Carvalho</dc:creator>
  <cp:lastModifiedBy>Dr Vitor Merissi de Carvalho</cp:lastModifiedBy>
  <cp:revision>1</cp:revision>
  <dcterms:created xsi:type="dcterms:W3CDTF">2026-10-19T16:22:54Z</dcterms:created>
  <dcterms:modified xsi:type="dcterms:W3CDTF">2026-10-19T16:22:54Z</dcterms:modified>
</cp:coreProperties>
</file>