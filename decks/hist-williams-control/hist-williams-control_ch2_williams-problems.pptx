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f0887de-fc6c-667d-a3c3-5324c4732cda}">
          <p14:sldIdLst>
            <p14:sldId id="256"/>
          </p14:sldIdLst>
        </p14:section>
        <p14:section name="Gate" id="{6a7d1a9a-6606-0e6d-2ecc-6f75b01919ca}">
          <p14:sldIdLst>
            <p14:sldId id="257"/>
            <p14:sldId id="258"/>
          </p14:sldIdLst>
        </p14:section>
        <p14:section name="Pre-teach" id="{80770002-1783-1f09-42ab-2a9892a792d1}">
          <p14:sldIdLst>
            <p14:sldId id="259"/>
            <p14:sldId id="260"/>
          </p14:sldIdLst>
        </p14:section>
        <p14:section name="Read-along" id="{5995ccea-2afd-0a51-ecb1-eea30e6dfa54}">
          <p14:sldIdLst>
            <p14:sldId id="261"/>
            <p14:sldId id="262"/>
          </p14:sldIdLst>
        </p14:section>
        <p14:section name="Teach" id="{5a51530e-05c7-c094-5d73-4e76563f9cca}">
          <p14:sldIdLst>
            <p14:sldId id="263"/>
            <p14:sldId id="264"/>
            <p14:sldId id="265"/>
            <p14:sldId id="266"/>
            <p14:sldId id="267"/>
          </p14:sldIdLst>
        </p14:section>
        <p14:section name="Routes" id="{80091d1c-d814-0dad-81f1-f6bddbbc07d8}">
          <p14:sldIdLst>
            <p14:sldId id="268"/>
            <p14:sldId id="269"/>
            <p14:sldId id="270"/>
            <p14:sldId id="271"/>
          </p14:sldIdLst>
        </p14:section>
        <p14:section name="Close" id="{02bdd39b-72c5-e452-3fcc-c04c31ac4873}">
          <p14:sldIdLst>
            <p14:sldId id="272"/>
          </p14:sldIdLst>
        </p14:section>
        <p14:section name="Answers" id="{c200a2b6-2ac2-6777-5ac5-8be8b85f72fa}">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William's problems after Hastings. Why winning a battle did not make William king, the six problems he faced in October 1066, how he dealt with London and Dover, and how he came to be crowned by Christmas.
This deck covers the department's lesson: 2 (What problems did William face after winning the Battle of Hastings?: What problems did William face after Hastings, and how did he start to solve them?).
Read the big question aloud: "How did William conquer and control England after 1066?"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which year was William crowned King of England?  →  1066
2. What did it mean to lay waste the land around London?  →  B   To burn down and destroy the farms and villages around the city
3. Controlling Dover gave the Normans a safe route back to ___.  →  France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1066. William was crowned on Christmas Day 1066, about ten weeks after the Battle of Hastings on 14 October 1066.
2. B   To burn down and destroy the farms and villages around the city. Laying waste meant burning and destroying, so that London could see the cost of refusing William.
3. France. Dover is on the coast nearest to France. Holding it meant the Normans could always get home to Normandy.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submit: to give in and accept someone as your ruler. Example: "The English earls submitted to William after he laid waste the land around London."
• lay waste: to burn down and destroy an area. Example: "William's army laid waste the land around London."
• surrender: to give up fighting and hand over to the enemy. Example: "The soldiers in Dover surrendered unconditionally, without making any demands."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fortifications: defences such as walls, towers and ditches. Example: "William strengthened the fortifications at Dover."
• short-term problem: a problem that must be solved straight away. Example: "Harold's soldiers in London were a short-term problem."
• long-term problem: a problem that will take years to solve. Example: "Collecting taxes from a country he did not know was a long-term problem."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On 14 October 1066 William defeated and killed King Harold at Hastings.
2. Harold's brothers Gyrth and Leofwine died there too.
3. William expected the English to offer him the crown.
4. They did not.
5. He faced six problems.
6. Vikings from Norway might invade the north again, helped by English rebels.
7. London, the capital, still held some of Harold's soldiers.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Dover had a strong fort full of English soldiers who could cut off his way back to France.
9. He needed taxes, but he knew nothing about England or its people.
10. Many English lords did not accept him, and his own men wanted rewards.
11. His soldiers would be attacked once the fighting stopped.
12. William laid waste the land around London until the earls submitted.
13. Dover surrendered, and he strengthened its defences.
14. On Christmas Day 1066 he was crowned King William I.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morning after Hastings. Say it in your own words, then check understanding with a quick question: ask a pupil from the pre-teach group first, since they met these words and ideas before the lesson. Pupils try to recall before you re-explain.
On 14 October 1066 King Harold's English army and the Norman army of William, Duke of Normandy, fought each other from first light until almost dark. By the end of it Harold was dead and William had won. Harold's brothers Gyrth and Leofwine, two important Anglo-Saxon earls, were killed as well. In one day the Godwinson family, the most powerful in England, had lost three of its leaders.
William expected England to submit to him and offer him the crown. It did not happen. The surviving Anglo-Saxon earls did not come to William and accept him as their new king. He had won a battle, but he had not won the country.
This is the point your topic picks up from. Winning at Hastings gave William a chance; the next ten weeks decided whether he could use it.
Tip: Battle of Hastings, 14 October 1066; coronation, Christmas Day 1066. Two dates, one autumn. Learn them as a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Six problems, short and long. Say it in your own words, then check understanding with a quick question: ask a pupil from the pre-teach group first, since they met these words and ideas before the lesson. Pupils try to recall before you re-explain.
Your worksheet lists six problems. The first three were short-term, meaning they had to be solved at once. There was still a serious threat of invasion in the north from Norway, backed by an English rebellion. London, the capital, had to be controlled quickly, and some of Harold's troops were still there. And Dover had a strong fort full of English soldiers who could cut off the Normans' escape route to France if things went wrong.
The other three were long-term, meaning they would take years. Taxes needed collecting, but William knew nothing about England: where people lived or how much they had. Many English lords did not accept him as king, so he needed a way to keep every region under control while rewarding his loyal men. And once the country was conquered, there would be places where his soldiers came under attack and needed protection.
Keep this list. The rest of the topic is the story of how William solved each problem: by making peace, by terror, by sharing out land and by building castles.
Worked example — model it step by step, thinking aloud: Is the threat of a Norwegian invasion in the north a short-term or a long-term problem? Explain why. (1) Ask: does this have to be dealt with now, or over years? (2) An invasion could come at any moment, and an English rebellion is ready to help it. (3) So it must be faced straight away: it is short-term. (4) Write it with because: This was a short-term problem because an invasion could arrive at any time and William had to be ready for it at once. Answer: Short-term, because an invasion could come at any moment and had to be faced straight away..
Tip: Short-term: must be solved now. Long-term: will take years. Your worksheet marks them S and 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Six problems, short and long. Say it in your own words, then check understanding with a quick question: ask a pupil from the pre-teach group first, since they met these words and ideas before the lesson. Pupils try to recall before you re-explain.
Your worksheet lists six problems. The first three were short-term, meaning they had to be solved at once. There was still a serious threat of invasion in the north from Norway, backed by an English rebellion. London, the capital, had to be controlled quickly, and some of Harold's troops were still there. And Dover had a strong fort full of English soldiers who could cut off the Normans' escape route to France if things went wrong.
The other three were long-term, meaning they would take years. Taxes needed collecting, but William knew nothing about England: where people lived or how much they had. Many English lords did not accept him as king, so he needed a way to keep every region under control while rewarding his loyal men. And once the country was conquered, there would be places where his soldiers came under attack and needed protection.
Keep this list. The rest of the topic is the story of how William solved each problem: by making peace, by terror, by sharing out land and by building castles.
Worked example — model it step by step, thinking aloud: Is the threat of a Norwegian invasion in the north a short-term or a long-term problem? Explain why. (1) Ask: does this have to be dealt with now, or over years? (2) An invasion could come at any moment, and an English rebellion is ready to help it. (3) So it must be faced straight away: it is short-term. (4) Write it with because: This was a short-term problem because an invasion could arrive at any time and William had to be ready for it at once. Answer: Short-term, because an invasion could come at any moment and had to be faced straight away..
Tip: Short-term: must be solved now. Long-term: will take years. Your worksheet marks them S and 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Solving London and Dover. Say it in your own words, then check understanding with a quick question: ask a pupil from the pre-teach group first, since they met these words and ideas before the lesson. Pupils try to recall before you re-explain.
William dealt with London by force. His army laid waste the land around the city: it burned and destroyed farms and villages so that the people inside could see what refusing him would cost. The English earls who had not offered him the crown now submitted, which means they accepted William as their new king. London was the most powerful and richest part of the country, so by controlling London William had secured his place on the throne.
Dover was solved in a different way. The English soldiers there surrendered unconditionally, giving up without making any demands. William then strengthened the fortifications, the defences such as walls and towers. Dover mattered because of its position on the coast nearest to France: controlling it meant there was always a safe route back to Normandy for the Normans.
With London and Dover in his hands, William controlled the South of England. But think about how he had done it. Forcing the earls and London to submit by laying waste the land might make them obey; it would not make them loyal. That is the problem the next chapter is about.
Tip: The deck's extension question asks why forcing people to submit could create more problems. Answer: obedience from fear can turn into rebellion when the army moves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King by Christmas. Say it in your own words, then check understanding with a quick question: ask a pupil from the pre-teach group first, since they met these words and ideas before the lesson. Pupils try to recall before you re-explain.
With the Anglo-Saxon army in retreat after the death of its king, William pushed on towards London with his army. After meeting some resistance, he reached London by December 1066. On 25 December, Christmas Day, 1066, he was crowned William I, King of England.
So by the end of 1066 William was king. Yet look again at the problem list. He controlled the South, but the earls of the North had submitted in words only. He still knew nothing about the country he was supposed to tax. His few thousand Normans were surrounded by English people who had not chosen him.
Your plenary asked whether William would conquer the rest of England through peace or terror. His actions after Hastings give clues both ways: he laid waste the land around London, but he also made peace with the earls who had opposed him. Keep the question in mind through the next chapters.
Tip: When a question says by the end of 1066, it wants both halves: what William had achieved (crowned king) and what was still unsolved (the North, taxes, loyalty).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Hastings to the crown.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of autumn 1066 in the order they happened.
Support — work through the steps with the group: (1) The battle has to come first: everything else follows from Harold's death. (2) William could not be crowned until the earls accepted him, so the coronation is last. (3) Did the earls submit before or after William laid waste the land? Think about what made them give in. (4) Check the dates: 14 October comes before 25 December.
Parallel worked example for Support (model it, do not give the task answer): Put a school day in order: lunch; register; afternoon lessons; home time. Register is first; nothing starts before it.; Lunch comes in the middle of the day.; Afternoon lessons follow lunch.; Home time is last.. Answer: register; lunch; afternoon lessons; home time.
Core — reveal the hint only on request: Two events carry dates. Fit the two undated ones between them: cause before effect.
Stretch — no help; when finished: Explain why William could not simply have marched to Westminster on 15 October and had himself crowned.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Hastings to the crown.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of autumn 1066 in the order they happened.
Support — work through the steps with the group: (1) The battle has to come first: everything else follows from Harold's death. (2) William could not be crowned until the earls accepted him, so the coronation is last. (3) Did the earls submit before or after William laid waste the land? Think about what made them give in. (4) Check the dates: 14 October comes before 25 December.
Parallel worked example for Support (model it, do not give the task answer): Put a school day in order: lunch; register; afternoon lessons; home time. Register is first; nothing starts before it.; Lunch comes in the middle of the day.; Afternoon lessons follow lunch.; Home time is last.. Answer: register; lunch; afternoon lessons; home time.
Core — reveal the hint only on request: Two events carry dates. Fit the two undated ones between them: cause before effect.
Stretch — no help; when finished: Explain why William could not simply have marched to Westminster on 15 October and had himself crowned.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Short-term or long-term?.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William needs to collect taxes, but he knows nothing about England, where people live or how much they have. Is this a short-term or a long-term problem?
Support — work through the steps with the group: (1) Ask: could this be solved in a few weeks? (2) If the problem covers the whole country, it will take years. (3) If the problem is one place or one army, it is short-term. (4) Choose the option that says long-term and gives the right reason.
Parallel worked example for Support (model it, do not give the task answer): Is some of Harold's troops are still in London a short-term or a long-term problem? It is one place and one group of soldiers.; It can and must be dealt with at once.; So it is short-term.. Answer: Short-term: one place, must be solved now..
Core — reveal the hint only on request: Whole country and years go together. One place and weeks go together.
Stretch — no help; when finished: Explain why a king who solves only the short-term problems could still lose his throne within a few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Short-term or long-term?.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William needs to collect taxes, but he knows nothing about England, where people live or how much they have. Is this a short-term or a long-term problem?
Support — work through the steps with the group: (1) Ask: could this be solved in a few weeks? (2) If the problem covers the whole country, it will take years. (3) If the problem is one place or one army, it is short-term. (4) Choose the option that says long-term and gives the right reason.
Parallel worked example for Support (model it, do not give the task answer): Is some of Harold's troops are still in London a short-term or a long-term problem? It is one place and one group of soldiers.; It can and must be dealt with at once.; So it is short-term.. Answer: Short-term: one place, must be solved now..
Core — reveal the hint only on request: Whole country and years go together. One place and weeks go together.
Stretch — no help; when finished: Explain why a king who solves only the short-term problems could still lose his throne within a few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which year was William crowned King of England?
Answer: 1066. William was crowned on Christmas Day 1066, about ten weeks after the Battle of Hastings on 14 October 1066.
Source of this question: gate item 1 re-asked (options rotated) — this chapter has no third quick-check module.
The ebook also holds task 3, "Was laying waste a good solution?",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From Hastings to the crown. Reveal the answer; pupils mark their own work in a different colour, then read the "why" together. Same destination for every lane, so one answer serves the whole class.
Answer: William defeats and kills King Harold at the Battle of Hastings (14 October 1066)  (C); William's army lays waste the land around London  (A); The English earls submit and accept William as their new king  (D); William is crowned King William I on Christmas Day 1066  (B)
Why: Harold died at Hastings on 14 October; William then laid waste the land around London; the earls submitted; and only then, on Christmas Day, could he be crowned.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Short-term or long-term?. Reveal the answer; pupils mark their own work in a different colour, then read the "why" together. Same destination for every lane, so one answer serves the whole class.
Answer: B   Long-term: it will take years to find out about the whole country
Why: Problems about one place or one army are short-term; problems about the whole country, such as taxes, loyalty and protecting soldiers everywhere, are long-term because they take years to solve.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1066
Why: William was crowned on Christmas Day 1066, about ten weeks after the Battle of Hastings on 14 October 1066.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William's Control of England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William's Control of England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William's Control of England · AQA KS3 → 8145</a:t>
            </a:r>
            <a:endParaRPr lang="en-US" sz="1800" dirty="0"/>
          </a:p>
        </p:txBody>
      </p:sp>
      <p:sp>
        <p:nvSpPr>
          <p:cNvPr id="10" name="deck-title"/>
          <p:cNvSpPr txBox="1"/>
          <p:nvPr/>
        </p:nvSpPr>
        <p:spPr>
          <a:xfrm>
            <a:off x="548640" y="223824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William's problems after Hastings</a:t>
            </a:r>
            <a:endParaRPr lang="en-US" sz="4000" dirty="0"/>
          </a:p>
        </p:txBody>
      </p:sp>
      <p:sp>
        <p:nvSpPr>
          <p:cNvPr id="11" name="lessons-card"/>
          <p:cNvSpPr/>
          <p:nvPr/>
        </p:nvSpPr>
        <p:spPr>
          <a:xfrm>
            <a:off x="548640" y="3914648"/>
            <a:ext cx="5287975" cy="1290320"/>
          </a:xfrm>
          <a:prstGeom prst="roundRect">
            <a:avLst>
              <a:gd name="adj" fmla="val 5669"/>
            </a:avLst>
          </a:prstGeom>
          <a:solidFill>
            <a:srgbClr val="F6F2EF"/>
          </a:solidFill>
          <a:ln/>
        </p:spPr>
      </p:sp>
      <p:sp>
        <p:nvSpPr>
          <p:cNvPr id="12" name="lessons"/>
          <p:cNvSpPr txBox="1"/>
          <p:nvPr/>
        </p:nvSpPr>
        <p:spPr>
          <a:xfrm>
            <a:off x="685800" y="400608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What problems did William face after winning the Battle of Hastings?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did William conquer and control England after 1066?</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year was William crowned King of England?</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2" name="card"/>
          <p:cNvSpPr/>
          <p:nvPr/>
        </p:nvSpPr>
        <p:spPr>
          <a:xfrm>
            <a:off x="3459404" y="1389888"/>
            <a:ext cx="5272888" cy="4754880"/>
          </a:xfrm>
          <a:prstGeom prst="roundRect">
            <a:avLst>
              <a:gd name="adj" fmla="val 1154"/>
            </a:avLst>
          </a:prstGeom>
          <a:solidFill>
            <a:srgbClr val="FAF8F6"/>
          </a:solidFill>
          <a:ln w="12700">
            <a:solidFill>
              <a:srgbClr val="D4C5B7"/>
            </a:solidFill>
            <a:prstDash val="solid"/>
          </a:ln>
        </p:spPr>
      </p:sp>
      <p:sp>
        <p:nvSpPr>
          <p:cNvPr id="13" name="card-hex"/>
          <p:cNvSpPr/>
          <p:nvPr/>
        </p:nvSpPr>
        <p:spPr>
          <a:xfrm>
            <a:off x="3642284" y="1572768"/>
            <a:ext cx="640080" cy="554309"/>
          </a:xfrm>
          <a:prstGeom prst="hexagon">
            <a:avLst/>
          </a:prstGeom>
          <a:solidFill>
            <a:srgbClr val="7A4A1E"/>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3642284"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did it mean to lay waste the land around London?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To collect taxes from the people living there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To burn down and destroy the farms and villages around the city</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To make peace with the people living there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To build castles around the city</a:t>
            </a:r>
            <a:endParaRPr lang="en-US" sz="2200" dirty="0"/>
          </a:p>
        </p:txBody>
      </p:sp>
      <p:sp>
        <p:nvSpPr>
          <p:cNvPr id="17" name="card"/>
          <p:cNvSpPr/>
          <p:nvPr/>
        </p:nvSpPr>
        <p:spPr>
          <a:xfrm>
            <a:off x="9006611" y="1389888"/>
            <a:ext cx="2636444" cy="4754880"/>
          </a:xfrm>
          <a:prstGeom prst="roundRect">
            <a:avLst>
              <a:gd name="adj" fmla="val 2081"/>
            </a:avLst>
          </a:prstGeom>
          <a:solidFill>
            <a:srgbClr val="FAF8F6"/>
          </a:solidFill>
          <a:ln w="12700">
            <a:solidFill>
              <a:srgbClr val="D4C5B7"/>
            </a:solidFill>
            <a:prstDash val="solid"/>
          </a:ln>
        </p:spPr>
      </p:sp>
      <p:sp>
        <p:nvSpPr>
          <p:cNvPr id="18" name="card-hex"/>
          <p:cNvSpPr/>
          <p:nvPr/>
        </p:nvSpPr>
        <p:spPr>
          <a:xfrm>
            <a:off x="9189491" y="1572768"/>
            <a:ext cx="640080" cy="554309"/>
          </a:xfrm>
          <a:prstGeom prst="hexagon">
            <a:avLst/>
          </a:prstGeom>
          <a:solidFill>
            <a:srgbClr val="7A4A1E"/>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Controlling Dover gave the Normans a safe route back to ___.</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France  ·  Norway  ·  Scotland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1066</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which year was William crowned King of England?</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William was crowned on Christmas Day 1066, about ten weeks after the Battle of Hastings on 14 October 1066.</a:t>
            </a:r>
            <a:endParaRPr lang="en-US" sz="1800" dirty="0"/>
          </a:p>
        </p:txBody>
      </p:sp>
      <p:sp>
        <p:nvSpPr>
          <p:cNvPr id="14" name="card"/>
          <p:cNvSpPr/>
          <p:nvPr/>
        </p:nvSpPr>
        <p:spPr>
          <a:xfrm>
            <a:off x="3459404" y="1389888"/>
            <a:ext cx="5272888" cy="4754880"/>
          </a:xfrm>
          <a:prstGeom prst="roundRect">
            <a:avLst>
              <a:gd name="adj" fmla="val 1154"/>
            </a:avLst>
          </a:prstGeom>
          <a:solidFill>
            <a:srgbClr val="FAF8F6"/>
          </a:solidFill>
          <a:ln w="12700">
            <a:solidFill>
              <a:srgbClr val="D4C5B7"/>
            </a:solidFill>
            <a:prstDash val="solid"/>
          </a:ln>
        </p:spPr>
      </p:sp>
      <p:sp>
        <p:nvSpPr>
          <p:cNvPr id="15" name="card-hex"/>
          <p:cNvSpPr/>
          <p:nvPr/>
        </p:nvSpPr>
        <p:spPr>
          <a:xfrm>
            <a:off x="3642284" y="1572768"/>
            <a:ext cx="640080" cy="554309"/>
          </a:xfrm>
          <a:prstGeom prst="hexagon">
            <a:avLst/>
          </a:prstGeom>
          <a:solidFill>
            <a:srgbClr val="7A4A1E"/>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4907128" cy="955040"/>
          </a:xfrm>
          <a:prstGeom prst="roundRect">
            <a:avLst>
              <a:gd name="adj" fmla="val 11489"/>
            </a:avLst>
          </a:prstGeom>
          <a:solidFill>
            <a:srgbClr val="EFE4D0"/>
          </a:solidFill>
          <a:ln w="19050">
            <a:solidFill>
              <a:srgbClr val="B8862B"/>
            </a:solidFill>
            <a:prstDash val="solid"/>
          </a:ln>
        </p:spPr>
      </p:sp>
      <p:sp>
        <p:nvSpPr>
          <p:cNvPr id="19" name="answer"/>
          <p:cNvSpPr txBox="1"/>
          <p:nvPr/>
        </p:nvSpPr>
        <p:spPr>
          <a:xfrm>
            <a:off x="3733724"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To burn down and destroy the farms and villages around the city</a:t>
            </a:r>
            <a:endParaRPr lang="en-US" sz="2200" dirty="0"/>
          </a:p>
        </p:txBody>
      </p:sp>
      <p:sp>
        <p:nvSpPr>
          <p:cNvPr id="20" name="card-body"/>
          <p:cNvSpPr txBox="1"/>
          <p:nvPr/>
        </p:nvSpPr>
        <p:spPr>
          <a:xfrm>
            <a:off x="3642284"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did it mean to lay waste the land around London?</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Laying waste meant burning and destroying, so that London could see the cost of refusing William.</a:t>
            </a:r>
            <a:endParaRPr lang="en-US" sz="2200" dirty="0"/>
          </a:p>
        </p:txBody>
      </p:sp>
      <p:sp>
        <p:nvSpPr>
          <p:cNvPr id="21" name="card"/>
          <p:cNvSpPr/>
          <p:nvPr/>
        </p:nvSpPr>
        <p:spPr>
          <a:xfrm>
            <a:off x="9006611" y="1389888"/>
            <a:ext cx="2636444" cy="4754880"/>
          </a:xfrm>
          <a:prstGeom prst="roundRect">
            <a:avLst>
              <a:gd name="adj" fmla="val 2081"/>
            </a:avLst>
          </a:prstGeom>
          <a:solidFill>
            <a:srgbClr val="FAF8F6"/>
          </a:solidFill>
          <a:ln w="12700">
            <a:solidFill>
              <a:srgbClr val="D4C5B7"/>
            </a:solidFill>
            <a:prstDash val="solid"/>
          </a:ln>
        </p:spPr>
      </p:sp>
      <p:sp>
        <p:nvSpPr>
          <p:cNvPr id="22" name="card-hex"/>
          <p:cNvSpPr/>
          <p:nvPr/>
        </p:nvSpPr>
        <p:spPr>
          <a:xfrm>
            <a:off x="9189491" y="1572768"/>
            <a:ext cx="640080" cy="554309"/>
          </a:xfrm>
          <a:prstGeom prst="hexagon">
            <a:avLst/>
          </a:prstGeom>
          <a:solidFill>
            <a:srgbClr val="7A4A1E"/>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France</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Dover is on the coast nearest to France. Holding it meant the Normans could always get home to Normandy.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submit</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give in and accept someone as your ruler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English earls submitted to William after he laid waste the land around London.</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lay waste</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burn down and destroy an area</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William's army laid waste the land around London.</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surrender</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give up fighting and hand over to the enemy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soldiers in Dover surrendered unconditionally, without making any demands.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fortifications</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defences such as walls, towers and ditches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William strengthened the fortifications at Dover.</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short-term problem</a:t>
            </a:r>
            <a:endParaRPr lang="en-US" sz="2600" dirty="0"/>
          </a:p>
        </p:txBody>
      </p:sp>
      <p:sp>
        <p:nvSpPr>
          <p:cNvPr id="17" name="word-rule"/>
          <p:cNvSpPr/>
          <p:nvPr/>
        </p:nvSpPr>
        <p:spPr>
          <a:xfrm>
            <a:off x="4521098" y="2558288"/>
            <a:ext cx="3149498" cy="0"/>
          </a:xfrm>
          <a:prstGeom prst="line">
            <a:avLst/>
          </a:prstGeom>
          <a:ln w="12700">
            <a:solidFill>
              <a:srgbClr val="CEBCAC"/>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problem that must be solved straight away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Harold's soldiers in London were a short-term problem.</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long-term problem</a:t>
            </a:r>
            <a:endParaRPr lang="en-US" sz="2600" dirty="0"/>
          </a:p>
        </p:txBody>
      </p:sp>
      <p:sp>
        <p:nvSpPr>
          <p:cNvPr id="23" name="word-rule"/>
          <p:cNvSpPr/>
          <p:nvPr/>
        </p:nvSpPr>
        <p:spPr>
          <a:xfrm>
            <a:off x="8310677" y="2558288"/>
            <a:ext cx="3149498" cy="0"/>
          </a:xfrm>
          <a:prstGeom prst="line">
            <a:avLst/>
          </a:prstGeom>
          <a:ln w="12700">
            <a:solidFill>
              <a:srgbClr val="CEBCAC"/>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problem that will take years to solve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Collecting taxes from a country he did not know was a long-term problem.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On 14 October 1066 William defeated and killed King Harold at Hastings.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Harold's brothers Gyrth and Leofwine died there too.</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William expected the English to offer him the crown.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They did not.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faced six problems.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Vikings from Norway might invade the north again, helped by English rebels.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London, the capital, still held some of Harold's soldiers.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Dover had a strong fort full of English soldiers who could cut off his way back to France.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needed taxes, but he knew nothing about England or its people.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Many English lords did not accept him, and his own men wanted rewards.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His soldiers would be attacked once the fighting stopped.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William laid waste the land around London until the earls submitted.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Dover surrendered, and he strengthened its defences.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On Christmas Day 1066 he was crowned King William I.</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morning after Hastings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Battle of Hastings, 14 October 1066; coronation, Christmas Day 1066. Two dates, one autumn. Learn them as a pair.</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On 14 October 1066 King Harold's English army and the Norman army of William, Duke of Normandy, fought each other from first light until almost dark.</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William expected England to submit to him and offer him the crown.</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This is the point your topic picks up from. Winning at Hastings gave William a chance; the next ten weeks decided whether he could use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Six problems, short and long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Short-term: must be solved now. Long-term: will take years. Your worksheet marks them S and L.</a:t>
            </a:r>
            <a:endParaRPr lang="en-US" sz="1800" dirty="0"/>
          </a:p>
        </p:txBody>
      </p:sp>
      <p:sp>
        <p:nvSpPr>
          <p:cNvPr id="11" name="point-card"/>
          <p:cNvSpPr/>
          <p:nvPr/>
        </p:nvSpPr>
        <p:spPr>
          <a:xfrm>
            <a:off x="548640" y="1389888"/>
            <a:ext cx="3515258" cy="3964940"/>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worksheet lists six problems. The first three were short-term, meaning they had to be solved at once.</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other three were long-term, meaning they would take years.</a:t>
            </a:r>
            <a:endParaRPr lang="en-US" sz="2200" dirty="0"/>
          </a:p>
        </p:txBody>
      </p:sp>
      <p:sp>
        <p:nvSpPr>
          <p:cNvPr id="19" name="point-card"/>
          <p:cNvSpPr/>
          <p:nvPr/>
        </p:nvSpPr>
        <p:spPr>
          <a:xfrm>
            <a:off x="8127797" y="1389888"/>
            <a:ext cx="3515258" cy="3964940"/>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Keep this list. The rest of the topic is the story of how William solved each problem: by making peace, by terror, by sharing out land and by building castles.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Worked example: Six problems, short and long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F6F2EF"/>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Is the threat of a Norwegian invasion in the north a short-term or a long-term problem? Explain why.</a:t>
            </a:r>
            <a:endParaRPr lang="en-US" sz="2000" dirty="0"/>
          </a:p>
        </p:txBody>
      </p:sp>
      <p:sp>
        <p:nvSpPr>
          <p:cNvPr id="9" name="step-box"/>
          <p:cNvSpPr/>
          <p:nvPr/>
        </p:nvSpPr>
        <p:spPr>
          <a:xfrm>
            <a:off x="548640" y="2502408"/>
            <a:ext cx="11094415" cy="568858"/>
          </a:xfrm>
          <a:prstGeom prst="roundRect">
            <a:avLst>
              <a:gd name="adj" fmla="val 12859"/>
            </a:avLst>
          </a:prstGeom>
          <a:solidFill>
            <a:srgbClr val="FFFFFF"/>
          </a:solidFill>
          <a:ln w="15875">
            <a:solidFill>
              <a:srgbClr val="B69B83"/>
            </a:solidFill>
            <a:prstDash val="solid"/>
          </a:ln>
        </p:spPr>
      </p:sp>
      <p:sp>
        <p:nvSpPr>
          <p:cNvPr id="10" name="step-hex"/>
          <p:cNvSpPr/>
          <p:nvPr/>
        </p:nvSpPr>
        <p:spPr>
          <a:xfrm>
            <a:off x="685800" y="2588870"/>
            <a:ext cx="457200" cy="395935"/>
          </a:xfrm>
          <a:prstGeom prst="hexagon">
            <a:avLst/>
          </a:prstGeom>
          <a:solidFill>
            <a:srgbClr val="7A4A1E"/>
          </a:solidFill>
          <a:ln/>
        </p:spPr>
      </p:sp>
      <p:sp>
        <p:nvSpPr>
          <p:cNvPr id="11" name="step-hex-label"/>
          <p:cNvSpPr txBox="1"/>
          <p:nvPr/>
        </p:nvSpPr>
        <p:spPr>
          <a:xfrm>
            <a:off x="685800" y="258887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Ask: does this have to be dealt with now, or over years?</a:t>
            </a:r>
            <a:endParaRPr lang="en-US" sz="1800" dirty="0"/>
          </a:p>
        </p:txBody>
      </p:sp>
      <p:sp>
        <p:nvSpPr>
          <p:cNvPr id="13" name="step-box"/>
          <p:cNvSpPr/>
          <p:nvPr/>
        </p:nvSpPr>
        <p:spPr>
          <a:xfrm>
            <a:off x="548640" y="3144418"/>
            <a:ext cx="11094415" cy="568858"/>
          </a:xfrm>
          <a:prstGeom prst="roundRect">
            <a:avLst>
              <a:gd name="adj" fmla="val 12859"/>
            </a:avLst>
          </a:prstGeom>
          <a:solidFill>
            <a:srgbClr val="FFFFFF"/>
          </a:solidFill>
          <a:ln w="15875">
            <a:solidFill>
              <a:srgbClr val="B69B83"/>
            </a:solidFill>
            <a:prstDash val="solid"/>
          </a:ln>
        </p:spPr>
      </p:sp>
      <p:sp>
        <p:nvSpPr>
          <p:cNvPr id="14" name="step-hex"/>
          <p:cNvSpPr/>
          <p:nvPr/>
        </p:nvSpPr>
        <p:spPr>
          <a:xfrm>
            <a:off x="685800" y="3230880"/>
            <a:ext cx="457200" cy="395935"/>
          </a:xfrm>
          <a:prstGeom prst="hexagon">
            <a:avLst/>
          </a:prstGeom>
          <a:solidFill>
            <a:srgbClr val="7A4A1E"/>
          </a:solidFill>
          <a:ln/>
        </p:spPr>
      </p:sp>
      <p:sp>
        <p:nvSpPr>
          <p:cNvPr id="15" name="step-hex-label"/>
          <p:cNvSpPr txBox="1"/>
          <p:nvPr/>
        </p:nvSpPr>
        <p:spPr>
          <a:xfrm>
            <a:off x="685800" y="32308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4441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An invasion could come at any moment, and an English rebellion is ready to help it.</a:t>
            </a:r>
            <a:endParaRPr lang="en-US" sz="1800" dirty="0"/>
          </a:p>
        </p:txBody>
      </p:sp>
      <p:sp>
        <p:nvSpPr>
          <p:cNvPr id="17" name="step-box"/>
          <p:cNvSpPr/>
          <p:nvPr/>
        </p:nvSpPr>
        <p:spPr>
          <a:xfrm>
            <a:off x="548640" y="3786429"/>
            <a:ext cx="11094415" cy="568858"/>
          </a:xfrm>
          <a:prstGeom prst="roundRect">
            <a:avLst>
              <a:gd name="adj" fmla="val 12859"/>
            </a:avLst>
          </a:prstGeom>
          <a:solidFill>
            <a:srgbClr val="FFFFFF"/>
          </a:solidFill>
          <a:ln w="15875">
            <a:solidFill>
              <a:srgbClr val="B69B83"/>
            </a:solidFill>
            <a:prstDash val="solid"/>
          </a:ln>
        </p:spPr>
      </p:sp>
      <p:sp>
        <p:nvSpPr>
          <p:cNvPr id="18" name="step-hex"/>
          <p:cNvSpPr/>
          <p:nvPr/>
        </p:nvSpPr>
        <p:spPr>
          <a:xfrm>
            <a:off x="685800" y="3872890"/>
            <a:ext cx="457200" cy="395935"/>
          </a:xfrm>
          <a:prstGeom prst="hexagon">
            <a:avLst/>
          </a:prstGeom>
          <a:solidFill>
            <a:srgbClr val="7A4A1E"/>
          </a:solidFill>
          <a:ln/>
        </p:spPr>
      </p:sp>
      <p:sp>
        <p:nvSpPr>
          <p:cNvPr id="19" name="step-hex-label"/>
          <p:cNvSpPr txBox="1"/>
          <p:nvPr/>
        </p:nvSpPr>
        <p:spPr>
          <a:xfrm>
            <a:off x="685800" y="387289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786429"/>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 it must be faced straight away: it is short-term.</a:t>
            </a:r>
            <a:endParaRPr lang="en-US" sz="1800" dirty="0"/>
          </a:p>
        </p:txBody>
      </p:sp>
      <p:sp>
        <p:nvSpPr>
          <p:cNvPr id="21" name="step-box"/>
          <p:cNvSpPr/>
          <p:nvPr/>
        </p:nvSpPr>
        <p:spPr>
          <a:xfrm>
            <a:off x="548640" y="4428439"/>
            <a:ext cx="11094415" cy="833018"/>
          </a:xfrm>
          <a:prstGeom prst="roundRect">
            <a:avLst>
              <a:gd name="adj" fmla="val 8782"/>
            </a:avLst>
          </a:prstGeom>
          <a:solidFill>
            <a:srgbClr val="FFFFFF"/>
          </a:solidFill>
          <a:ln w="15875">
            <a:solidFill>
              <a:srgbClr val="B69B83"/>
            </a:solidFill>
            <a:prstDash val="solid"/>
          </a:ln>
        </p:spPr>
      </p:sp>
      <p:sp>
        <p:nvSpPr>
          <p:cNvPr id="22" name="step-hex"/>
          <p:cNvSpPr/>
          <p:nvPr/>
        </p:nvSpPr>
        <p:spPr>
          <a:xfrm>
            <a:off x="685800" y="4646981"/>
            <a:ext cx="457200" cy="395935"/>
          </a:xfrm>
          <a:prstGeom prst="hexagon">
            <a:avLst/>
          </a:prstGeom>
          <a:solidFill>
            <a:srgbClr val="7A4A1E"/>
          </a:solidFill>
          <a:ln/>
        </p:spPr>
      </p:sp>
      <p:sp>
        <p:nvSpPr>
          <p:cNvPr id="23" name="step-hex-label"/>
          <p:cNvSpPr txBox="1"/>
          <p:nvPr/>
        </p:nvSpPr>
        <p:spPr>
          <a:xfrm>
            <a:off x="685800" y="4646981"/>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428439"/>
            <a:ext cx="10180015" cy="8330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it with because: This was a short-term problem because an invasion could arrive at any time and William had to be ready for it at once.</a:t>
            </a:r>
            <a:endParaRPr lang="en-US" sz="1800" dirty="0"/>
          </a:p>
        </p:txBody>
      </p:sp>
      <p:sp>
        <p:nvSpPr>
          <p:cNvPr id="25" name="worked-answer"/>
          <p:cNvSpPr/>
          <p:nvPr/>
        </p:nvSpPr>
        <p:spPr>
          <a:xfrm>
            <a:off x="548640" y="5444338"/>
            <a:ext cx="11094415" cy="552196"/>
          </a:xfrm>
          <a:prstGeom prst="roundRect">
            <a:avLst>
              <a:gd name="adj" fmla="val 2483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Short-term, because an invasion could come at any moment and had to be faced straight away.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Solving London and Dover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deck's extension question asks why forcing people to submit could create more problems. Answer: obedience from fear can turn into rebellion when the army moves 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William dealt with London by force. His army laid waste the land around the city: it burned and destroyed farms and villages so that the people inside could see what refusing him would cost.</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Dover was solved in a different way. The English soldiers there surrendered unconditionally, giving up without making any demands.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With London and Dover in his hands, William controlled the South of England.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King by Christmas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a question says by the end of 1066, it wants both halves: what William had achieved (crowned king) and what was still unsolved (the North, taxes, loyalty).</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With the Anglo-Saxon army in retreat after the death of its king, William pushed on towards London with his army.</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 by the end of 1066 William was king. Yet look again at the problem list.</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plenary asked whether William would conquer the rest of England through peace or terror.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From Hastings to the crown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events of autumn 1066 in the order they happened.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William's army lays waste the land around London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William is crowned King William I on Christmas Day 1066</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William defeats and kills King Harold at the Battle of Hastings (14 October 1066)</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English earls submit and accept William as their new king</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From Hastings to the crown</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From Hastings to the crown</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battle has to come first: everything else follows from Harold's death.</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William could not be crowned until the earls accepted him, so the coronation is last.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Did the earls submit before or after William laid waste the land? Think about what made them give in.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dates: 14 October comes before 25 December.</a:t>
            </a:r>
            <a:endParaRPr lang="en-US" sz="1800" dirty="0"/>
          </a:p>
        </p:txBody>
      </p:sp>
      <p:sp>
        <p:nvSpPr>
          <p:cNvPr id="17" name="col-Core"/>
          <p:cNvSpPr/>
          <p:nvPr/>
        </p:nvSpPr>
        <p:spPr>
          <a:xfrm>
            <a:off x="6425403" y="2395728"/>
            <a:ext cx="2471666" cy="3749040"/>
          </a:xfrm>
          <a:prstGeom prst="roundRect">
            <a:avLst>
              <a:gd name="adj" fmla="val 2220"/>
            </a:avLst>
          </a:prstGeom>
          <a:solidFill>
            <a:srgbClr val="E6DDD4"/>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events carry dates. Fit the two undated ones between them: cause before effect.</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William could not simply have marched to Westminster on 15 October and had himself crowned.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Short-term or long-term?</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William needs to collect taxes, but he knows nothing about England, where people live or how much they have. Is this a short-term or a long-term problem?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Short-term: it must be solved in the next few weeks or he will lose the crown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Long-term: it will take years to find out about the whole country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Short-term: it will solve itself as soon as he is crowned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Neither: a king does not need to know about his country to tax it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Short-term or long-term?</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William needs to collect taxes, but he knows nothing about England, where people live or how much they have. Is this a short-term or a long-term problem?</a:t>
            </a:r>
            <a:endParaRPr lang="en-US" sz="2000" dirty="0"/>
          </a:p>
        </p:txBody>
      </p:sp>
      <p:sp>
        <p:nvSpPr>
          <p:cNvPr id="12" name="col-Support"/>
          <p:cNvSpPr/>
          <p:nvPr/>
        </p:nvSpPr>
        <p:spPr>
          <a:xfrm>
            <a:off x="548640" y="2903728"/>
            <a:ext cx="4667802" cy="3241040"/>
          </a:xfrm>
          <a:prstGeom prst="roundRect">
            <a:avLst>
              <a:gd name="adj" fmla="val 1693"/>
            </a:avLst>
          </a:prstGeom>
          <a:solidFill>
            <a:srgbClr val="F6F2EF"/>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40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43808"/>
            <a:ext cx="4393482" cy="2491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could this be solved in a few weeks?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the problem covers the whole country, it will take years.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the problem is one place or one army, it is short-term.</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Choose the option that says long-term and gives the right reason.</a:t>
            </a:r>
            <a:endParaRPr lang="en-US" sz="1800" dirty="0"/>
          </a:p>
        </p:txBody>
      </p:sp>
      <p:sp>
        <p:nvSpPr>
          <p:cNvPr id="17" name="col-Core"/>
          <p:cNvSpPr/>
          <p:nvPr/>
        </p:nvSpPr>
        <p:spPr>
          <a:xfrm>
            <a:off x="5490762" y="2903728"/>
            <a:ext cx="2938987" cy="3241040"/>
          </a:xfrm>
          <a:prstGeom prst="roundRect">
            <a:avLst>
              <a:gd name="adj" fmla="val 1867"/>
            </a:avLst>
          </a:prstGeom>
          <a:solidFill>
            <a:srgbClr val="E6DDD4"/>
          </a:solidFill>
          <a:ln/>
        </p:spPr>
      </p:sp>
      <p:sp>
        <p:nvSpPr>
          <p:cNvPr id="18" name="col-hex"/>
          <p:cNvSpPr/>
          <p:nvPr/>
        </p:nvSpPr>
        <p:spPr>
          <a:xfrm>
            <a:off x="5600490" y="2976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40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43808"/>
            <a:ext cx="2664667" cy="2491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Whole country and years go together. One place and weeks go together.</a:t>
            </a:r>
            <a:endParaRPr lang="en-US" sz="1800" dirty="0"/>
          </a:p>
        </p:txBody>
      </p:sp>
      <p:sp>
        <p:nvSpPr>
          <p:cNvPr id="22" name="col-Stretch"/>
          <p:cNvSpPr/>
          <p:nvPr/>
        </p:nvSpPr>
        <p:spPr>
          <a:xfrm>
            <a:off x="8704069" y="2903728"/>
            <a:ext cx="2938987" cy="3241040"/>
          </a:xfrm>
          <a:prstGeom prst="roundRect">
            <a:avLst>
              <a:gd name="adj" fmla="val 1867"/>
            </a:avLst>
          </a:prstGeom>
          <a:solidFill>
            <a:srgbClr val="7A4A1E"/>
          </a:solidFill>
          <a:ln/>
        </p:spPr>
      </p:sp>
      <p:sp>
        <p:nvSpPr>
          <p:cNvPr id="23" name="col-hex"/>
          <p:cNvSpPr/>
          <p:nvPr/>
        </p:nvSpPr>
        <p:spPr>
          <a:xfrm>
            <a:off x="8813797" y="2976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40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43808"/>
            <a:ext cx="2664667" cy="2491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king who solves only the short-term problems could still lose his throne within a few years.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49885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which year was William crowned King of England?</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From Hastings to the crown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William defeats and kills King Harold at the Battle of Hastings (14 October 1066)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William's army lays waste the land around London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English earls submit and accept William as their new king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William is crowned King William I on Christmas Day 1066  (B)</a:t>
            </a:r>
            <a:endParaRPr lang="en-US" sz="24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Harold died at Hastings on 14 October; William then laid waste the land around London; the earls submitted; and only then, on Christmas Day, could he be crowned.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Short-term or long-term?</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William needs to collect taxes, but he knows nothing about England, where people live or how much they have. Is this a short-term or a long-term problem?</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Long-term: it will take years to find out about the whole country</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Problems about one place or one army are short-term; problems about the whole country, such as taxes, loyalty and protecting soldiers everywhere, are long-term because they take years to solve.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which year was William crowned King of England?</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1066</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William was crowned on Christmas Day 1066, about ten weeks after the Battle of Hastings on 14 October 1066.</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William's Control of England · Chapter 2: William's problems after Hastings</dc:title>
  <dc:subject>History · Year 7</dc:subject>
  <dc:creator>Dr Vitor Merissi de Carvalho</dc:creator>
  <cp:lastModifiedBy>Dr Vitor Merissi de Carvalho</cp:lastModifiedBy>
  <cp:revision>1</cp:revision>
  <dcterms:created xsi:type="dcterms:W3CDTF">2026-10-19T16:23:19Z</dcterms:created>
  <dcterms:modified xsi:type="dcterms:W3CDTF">2026-10-19T16:23:19Z</dcterms:modified>
</cp:coreProperties>
</file>