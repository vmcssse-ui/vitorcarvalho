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4c7781f-5878-6a99-0ede-9f0a2ca1dbe6}">
          <p14:sldIdLst>
            <p14:sldId id="256"/>
          </p14:sldIdLst>
        </p14:section>
        <p14:section name="Gate" id="{09ebb1d6-23ee-4ac4-a3db-22c09fb7850a}">
          <p14:sldIdLst>
            <p14:sldId id="257"/>
            <p14:sldId id="258"/>
          </p14:sldIdLst>
        </p14:section>
        <p14:section name="Pre-teach" id="{7a8b8ccd-ed9e-7e55-24c7-33c4bb588b66}">
          <p14:sldIdLst>
            <p14:sldId id="259"/>
            <p14:sldId id="260"/>
          </p14:sldIdLst>
        </p14:section>
        <p14:section name="Read-along" id="{8f598bdf-c28d-d8c5-dfd5-9e814e9d6a65}">
          <p14:sldIdLst>
            <p14:sldId id="261"/>
            <p14:sldId id="262"/>
          </p14:sldIdLst>
        </p14:section>
        <p14:section name="Teach" id="{6fc0160e-1546-41e8-db51-94dc3ba1c95e}">
          <p14:sldIdLst>
            <p14:sldId id="263"/>
            <p14:sldId id="264"/>
            <p14:sldId id="265"/>
            <p14:sldId id="266"/>
            <p14:sldId id="267"/>
          </p14:sldIdLst>
        </p14:section>
        <p14:section name="Routes" id="{515b8f8e-619c-32df-48e3-afe65bf83885}">
          <p14:sldIdLst>
            <p14:sldId id="268"/>
            <p14:sldId id="269"/>
            <p14:sldId id="270"/>
            <p14:sldId id="271"/>
          </p14:sldIdLst>
        </p14:section>
        <p14:section name="Close" id="{83df3fc0-9621-d5bc-6402-97ef51a74b5b}">
          <p14:sldIdLst>
            <p14:sldId id="272"/>
          </p14:sldIdLst>
        </p14:section>
        <p14:section name="Answers" id="{97812f9b-a770-e496-89b8-a81d2cd9dee1}">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Why did the Normans build so many castles?. How a few thousand Normans used castles to hold a country of nearly two million, the parts of a motte and bailey castle, why wood came before stone, and what the map of castles tells us about William's control.
This deck covers the department's lesson: 5 (Why did the Normans build so many castles?: Why did William build castles, what were their key features, and how did they help him keep control?).
Read the big question aloud: "How did William conquer and control England after 1066?"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William reigned from 1066 to 1087. How many years is that?  →  21 years
2. The mound of earth that a Norman castle stood on was called the ___.  →  motte
3. Why were the first Norman castles built of wood?  →  B   Wood was plentiful in England's forests, so castles could be built quickly and easily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21 years. 1087 − 1066 = 21 years, the figure your lesson uses when it says a castle every two weeks.
2. motte. The motte was the mound, about 15 metres high; the keep stood on top of it and the bailey lay below.
3. B   Wood was plentiful in England's forests, so castles could be built quickly and easily. Speed mattered: a wooden castle could go up fast in a town that had just rebelled, and England's forests supplied the timber.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motte: the mound of earth a castle stood on. Example: "The motte was about 15 metres high."
• bailey: the fenced yard where the Normans lived and worked. Example: "The bailey held stables and a blacksmith's forge."
• keep: the strong building on top of the motte. Example: "The baron lived safely in the keep."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palisade: a wooden fence around the bailey. Example: "A palisade wall protected the bailey."
• moat: a ditch around a castle, sometimes filled with water. Example: "The moat made the castle harder to attack."
• outnumbered: having far fewer people than the other side. Example: "The Normans were heavily outnumbered by the English."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Only about 8,000 to 10,000 Normans settled in England with William.
2. The English population was about 1.5 to 2 million.
3. The Normans were heavily outnumbered.
4. So wherever William's army went, it built castles.
5. These were motte and bailey castles.
6. The motte was a mound of earth about 15 metres high.
7. On top stood the keep, where the baron lived.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The bailey below was where the Normans lived and worked.
9. A wooden palisade fence and a moat protected it.
10. The first castles were wooden, so they were quick to build but could burn.
11. Later they were rebuilt in stone.
12. Castles were built where people had rebelled, and by key roads, rivers and ports.
13. They were a symbol of Norman strength.
14. In 21 years William's Normans built over 500 castles, about one every two weeks.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Outnumbered: why castles were needed. Say it in your own words, then check understanding with a quick question: ask a pupil from the pre-teach group first, since they met these words and ideas before the lesson. Pupils try to recall before you re-explain.
Once William was crowned, he set about enforcing his control over the whole country. But he was hugely outnumbered. Only around 8,000 to 10,000 Normans settled in England with him, while the population of England in 1066 was around 1.5 to 2 million. Chapter 1 told you that Anglo-Saxon England had almost no castles. The Normans changed that.
Wherever William's army went, it built castles, and barons were put in charge of them to make sure the Normans controlled key roads, ports, rivers and towns. Castles were normally built in areas that had rebelled or resisted. If a town rose up, the Normans built a castle to watch over it. The castle was a symbol of Norman strength and a visual reminder that rebellion was futile, meaning pointless.
Castles worked both ways. They enforced William's rule on the people, and they protected the Norman soldiers from the unhappy English around them. Your lesson reduces it to two figures and one idea: 10,000 Norman soldiers, 500,000 Anglo-Saxon people, and castles to hold the difference.
Tip: Two jobs for every castle: control the English outside, protect the Normans inside. Say both in any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parts of a motte and bailey castle. Say it in your own words, then check understanding with a quick question: ask a pupil from the pre-teach group first, since they met these words and ideas before the lesson. Pupils try to recall before you re-explain.
The Normans built a motte, a simple mound or hill about 15 metres high. On top of the motte stood the keep, a building in which the baron could live safely. Below was the bailey, a cleared space with a good view of the surrounding area, where the Normans lived and worked; it held buildings such as a blacksmith's forge and stables.
The keep and the bailey were joined by a bridge. The bailey was surrounded by a wooden palisade wall, like a tall fence, for defence. Around the whole castle ran a moat, a ditch sometimes filled with water to make attack harder. Some castles had a drawbridge that could be lifted to stop invaders getting in.
Your lesson's challenge asks which part mattered most. There is no single right answer, but you must give a reason: the motte for height and view, the keep for safety, the palisade and moat for keeping attackers out.
Tip: Seven parts to label: motte, keep, bailey, bridge, palisade wall, moat, drawbridge. Motte is the mound; keep is the building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Wood first, then stone. Say it in your own words, then check understanding with a quick question: ask a pupil from the pre-teach group first, since they met these words and ideas before the lesson. Pupils try to recall before you re-explain.
At the start of William's reign, castles were built of wood. Wood was in good supply from England's forests, so a wooden castle could be built very quickly and easily, which mattered when a town had just rebelled. The disadvantage was obvious: a wooden castle would burn if set on fire.
Later the timber castles gave way to stone ones, far stronger, and a number of those are standing to this day. Stone took longer and cost more, but it did not burn and it lasted for centuries.
The scale was enormous. In the 21 years of William's reign, from 1066 to 1087, the Normans built over 500 castles. That works out at roughly one castle every two weeks, for twenty-one years, without a break.
Worked example — model it step by step, thinking aloud: Check the lesson's claim that the Normans built a castle about every two weeks. (1) William reigned for 21 years: 1087 − 1066 = 21. (2) There are 52 weeks in a year, so 21 × 52 = 1,092 weeks. (3) Over 500 castles in 1,092 weeks: 1,092 ÷ 500 ≈ 2.2 weeks per castle. (4) So one castle roughly every two weeks is a fair summary of the figures. Answer: About 2.2 weeks per castle, so the claim of one every two weeks is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Wood first, then stone. Say it in your own words, then check understanding with a quick question: ask a pupil from the pre-teach group first, since they met these words and ideas before the lesson. Pupils try to recall before you re-explain.
At the start of William's reign, castles were built of wood. Wood was in good supply from England's forests, so a wooden castle could be built very quickly and easily, which mattered when a town had just rebelled. The disadvantage was obvious: a wooden castle would burn if set on fire.
Later the timber castles gave way to stone ones, far stronger, and a number of those are standing to this day. Stone took longer and cost more, but it did not burn and it lasted for centuries.
The scale was enormous. In the 21 years of William's reign, from 1066 to 1087, the Normans built over 500 castles. That works out at roughly one castle every two weeks, for twenty-one years, without a break.
Worked example — model it step by step, thinking aloud: Check the lesson's claim that the Normans built a castle about every two weeks. (1) William reigned for 21 years: 1087 − 1066 = 21. (2) There are 52 weeks in a year, so 21 × 52 = 1,092 weeks. (3) Over 500 castles in 1,092 weeks: 1,092 ÷ 500 ≈ 2.2 weeks per castle. (4) So one castle roughly every two weeks is a fair summary of the figures. Answer: About 2.2 weeks per castle, so the claim of one every two weeks is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the map of castles tells us. Say it in your own words, then check understanding with a quick question: ask a pupil from the pre-teach group first, since they met these words and ideas before the lesson. Pupils try to recall before you re-explain.
Your lesson shows a map with a dot for every castle built under William. Look at where the dots cluster. Castles are thickest where there was trouble: along the Welsh border, across the North that had rebelled, and around key towns, rivers and ports. The map is a map of William's problems as much as of his power.
Some dots lie beyond England, towards Wales and Scotland. That tells you something about William's ambitions: castles were not only for holding what he had, but for pushing further.
So, was William in complete control? The castles say yes and no at the same time. Over 500 of them meant he could hold the country. Needing over 500 of them meant the people never stopped being a problem to control. Keep both halves of that answer for your assessment.
Tip: When a question gives you a map, say where the dots cluster, then say what that tells you. Description first, inference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Label the castle.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part of a motte and bailey castle to its description.
Support — work through the steps with the group: (1) Start with the two that are not buildings: the motte is earth, the moat is a ditch. (2) The keep is the one building that sits on top of the motte. (3) The bailey is the big yard: stables and blacksmith belong there. (4) What is left is the fence: the palisade.
Parallel worked example for Support (model it, do not give the task answer): Match the parts of a school site: playground, hall, fence. Descriptions: where everyone gathers indoors; the open space for break; the boundary that keeps the site enclosed. The hall is where everyone gathers indoors.; The playground is the open space.; The fence is the boundary.. Answer: Hall: gathers indoors. Playground: open space. Fence: boundary..
Core — reveal the hint only on request: Earth, building, yard, fence, ditch. Each description is one of those five.
Stretch — no help; when finished: Which part do you think mattered most to the baron inside, and which to the English outside? Explain the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Label the castle.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part of a motte and bailey castle to its description.
Support — work through the steps with the group: (1) Start with the two that are not buildings: the motte is earth, the moat is a ditch. (2) The keep is the one building that sits on top of the motte. (3) The bailey is the big yard: stables and blacksmith belong there. (4) What is left is the fence: the palisade.
Parallel worked example for Support (model it, do not give the task answer): Match the parts of a school site: playground, hall, fence. Descriptions: where everyone gathers indoors; the open space for break; the boundary that keeps the site enclosed. The hall is where everyone gathers indoors.; The playground is the open space.; The fence is the boundary.. Answer: Hall: gathers indoors. Playground: open space. Fence: boundary..
Core — reveal the hint only on request: Earth, building, yard, fence, ditch. Each description is one of those five.
Stretch — no help; when finished: Which part do you think mattered most to the baron inside, and which to the English outside? Explain the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many English to each Norman?.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Your lesson says castles let 10,000 Norman soldiers control 500,000 Anglo-Saxon people. How many Anglo-Saxons was that for each Norman soldier?
Support — work through the steps with the group: (1) Write the two numbers down: 500,000 people and 10,000 soldiers. (2) People per soldier means people ÷ soldiers. (3) Cancel the zeros: 500,000 ÷ 10,000 is the same as 50 ÷ 1. (4) Check it makes sense: 50 people for each soldier is a lot, which is the point of the castles.
Parallel worked example for Support (model it, do not give the task answer): A school has 1,200 pupils and 60 teachers. How many pupils is that for each teacher? Pupils per teacher means pupils ÷ teachers.; 1,200 ÷ 60 = 20.; Twenty pupils for each teacher.. Answer: 20.
Core — reveal the hint only on request: Divide the people by the soldiers. Cancel matching zeros first.
Stretch — no help; when finished: The population of England was about 1.5 to 2 million, not 500,000. Explain why the lesson's figure of 500,000 might be smaller than the whole population, and what difference it makes to your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many English to each Norman?.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Your lesson says castles let 10,000 Norman soldiers control 500,000 Anglo-Saxon people. How many Anglo-Saxons was that for each Norman soldier?
Support — work through the steps with the group: (1) Write the two numbers down: 500,000 people and 10,000 soldiers. (2) People per soldier means people ÷ soldiers. (3) Cancel the zeros: 500,000 ÷ 10,000 is the same as 50 ÷ 1. (4) Check it makes sense: 50 people for each soldier is a lot, which is the point of the castles.
Parallel worked example for Support (model it, do not give the task answer): A school has 1,200 pupils and 60 teachers. How many pupils is that for each teacher? Pupils per teacher means pupils ÷ teachers.; 1,200 ÷ 60 = 20.; Twenty pupils for each teacher.. Answer: 20.
Core — reveal the hint only on request: Divide the people by the soldiers. Cancel matching zeros first.
Stretch — no help; when finished: The population of England was about 1.5 to 2 million, not 500,000. Explain why the lesson's figure of 500,000 might be smaller than the whole population, and what difference it makes to your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William reigned from 1066 to 1087. How many years is that?
Answer: 21 years. 1087 − 1066 = 21 years, the figure your lesson uses when it says a castle every two weeks.
Source of this question: gate item 1 re-asked (options rotated) — this chapter has no third quick-check module.
The ebook also holds task 3, "Why castles mattered",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Label the castle. Reveal the answer; pupils mark their own work in a different colour, then read the "why" together. Same destination for every lane, so one answer serves the whole class.
Answer: Motte  →  C  A mound or hill of earth about 15 metres high; Keep  →  A  The building on top of the mound where the baron lived; Bailey  →  D  The main Norman living and working area, with stables and a blacksmith; Palisade wall  →  B  A wooden fence around the bailey; Moat  →  E  A ditch around the castle, sometimes filled with water for defence
Why: Motte: the mound. Keep: the baron's building on top. Bailey: the living and working yard. Palisade: the fence around the bailey. Moat: the ditch around everything.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How many English to each Norman?. Reveal the answer; pupils mark their own work in a different colour, then read the "why" together. Same destination for every lane, so one answer serves the whole class.
Answer: 50 people per soldier
Why: 500,000 ÷ 10,000 = 50. The castle, not the soldier, did most of the work: height, walls and a moat meant a small garrison could see and hold a large area.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21 years
Why: 1087 − 1066 = 21 years, the figure your lesson uses when it says a castle every two weeks.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William's Control of England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William's Control of England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8E0D9"/>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William's Control of England · AQA KS3 → 8145</a:t>
            </a:r>
            <a:endParaRPr lang="en-US" sz="1800" dirty="0"/>
          </a:p>
        </p:txBody>
      </p:sp>
      <p:sp>
        <p:nvSpPr>
          <p:cNvPr id="10" name="deck-title"/>
          <p:cNvSpPr txBox="1"/>
          <p:nvPr/>
        </p:nvSpPr>
        <p:spPr>
          <a:xfrm>
            <a:off x="548640" y="2304288"/>
            <a:ext cx="5287975" cy="1315720"/>
          </a:xfrm>
          <a:prstGeom prst="rect">
            <a:avLst/>
          </a:prstGeom>
          <a:noFill/>
          <a:ln/>
        </p:spPr>
        <p:txBody>
          <a:bodyPr wrap="square" lIns="63500" tIns="63500" rIns="63500" bIns="63500" rtlCol="0" anchor="t"/>
          <a:lstStyle/>
          <a:p>
            <a:pPr algn="l" indent="0" marL="0">
              <a:buNone/>
            </a:pPr>
            <a:r>
              <a:rPr lang="en-US" sz="3600" b="1" dirty="0">
                <a:solidFill>
                  <a:srgbClr val="1E2229"/>
                </a:solidFill>
                <a:latin typeface="Cambria" pitchFamily="34" charset="0"/>
                <a:ea typeface="Cambria" pitchFamily="34" charset="-122"/>
                <a:cs typeface="Cambria" pitchFamily="34" charset="-120"/>
              </a:rPr>
              <a:t>Why did the Normans build so many castles?</a:t>
            </a:r>
            <a:endParaRPr lang="en-US" sz="3600" dirty="0"/>
          </a:p>
        </p:txBody>
      </p:sp>
      <p:sp>
        <p:nvSpPr>
          <p:cNvPr id="11" name="lessons-card"/>
          <p:cNvSpPr/>
          <p:nvPr/>
        </p:nvSpPr>
        <p:spPr>
          <a:xfrm>
            <a:off x="548640" y="3848608"/>
            <a:ext cx="5287975" cy="1290320"/>
          </a:xfrm>
          <a:prstGeom prst="roundRect">
            <a:avLst>
              <a:gd name="adj" fmla="val 5669"/>
            </a:avLst>
          </a:prstGeom>
          <a:solidFill>
            <a:srgbClr val="F6F2EF"/>
          </a:solidFill>
          <a:ln/>
        </p:spPr>
      </p:sp>
      <p:sp>
        <p:nvSpPr>
          <p:cNvPr id="12" name="lessons"/>
          <p:cNvSpPr txBox="1"/>
          <p:nvPr/>
        </p:nvSpPr>
        <p:spPr>
          <a:xfrm>
            <a:off x="685800" y="3940048"/>
            <a:ext cx="5013655" cy="11074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Why did the Normans build so many castles?</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6F2EF"/>
          </a:solidFill>
          <a:ln w="12700">
            <a:solidFill>
              <a:srgbClr val="CEBCA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How did William conquer and control England after 1066?</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William reigned from 1066 to 1087. How many years is that?</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years</a:t>
            </a:r>
            <a:endParaRPr lang="en-US" sz="2400" dirty="0"/>
          </a:p>
        </p:txBody>
      </p:sp>
      <p:sp>
        <p:nvSpPr>
          <p:cNvPr id="12" name="card"/>
          <p:cNvSpPr/>
          <p:nvPr/>
        </p:nvSpPr>
        <p:spPr>
          <a:xfrm>
            <a:off x="3459404" y="1389888"/>
            <a:ext cx="2636444" cy="4754880"/>
          </a:xfrm>
          <a:prstGeom prst="roundRect">
            <a:avLst>
              <a:gd name="adj" fmla="val 2081"/>
            </a:avLst>
          </a:prstGeom>
          <a:solidFill>
            <a:srgbClr val="FAF8F6"/>
          </a:solidFill>
          <a:ln w="12700">
            <a:solidFill>
              <a:srgbClr val="D4C5B7"/>
            </a:solidFill>
            <a:prstDash val="solid"/>
          </a:ln>
        </p:spPr>
      </p:sp>
      <p:sp>
        <p:nvSpPr>
          <p:cNvPr id="13" name="card-hex"/>
          <p:cNvSpPr/>
          <p:nvPr/>
        </p:nvSpPr>
        <p:spPr>
          <a:xfrm>
            <a:off x="3642284" y="1572768"/>
            <a:ext cx="640080" cy="554309"/>
          </a:xfrm>
          <a:prstGeom prst="hexagon">
            <a:avLst/>
          </a:prstGeom>
          <a:solidFill>
            <a:srgbClr val="7A4A1E"/>
          </a:solidFill>
          <a:ln/>
        </p:spPr>
      </p:sp>
      <p:sp>
        <p:nvSpPr>
          <p:cNvPr id="14"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3642284"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mound of earth that a Norman castle stood on was called the ___.</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motte  ·  bailey  ·  keep</a:t>
            </a:r>
            <a:endParaRPr lang="en-US" sz="2400" dirty="0"/>
          </a:p>
        </p:txBody>
      </p:sp>
      <p:sp>
        <p:nvSpPr>
          <p:cNvPr id="17" name="card"/>
          <p:cNvSpPr/>
          <p:nvPr/>
        </p:nvSpPr>
        <p:spPr>
          <a:xfrm>
            <a:off x="6370168" y="1389888"/>
            <a:ext cx="5272888" cy="4754880"/>
          </a:xfrm>
          <a:prstGeom prst="roundRect">
            <a:avLst>
              <a:gd name="adj" fmla="val 1154"/>
            </a:avLst>
          </a:prstGeom>
          <a:solidFill>
            <a:srgbClr val="FAF8F6"/>
          </a:solidFill>
          <a:ln w="12700">
            <a:solidFill>
              <a:srgbClr val="D4C5B7"/>
            </a:solidFill>
            <a:prstDash val="solid"/>
          </a:ln>
        </p:spPr>
      </p:sp>
      <p:sp>
        <p:nvSpPr>
          <p:cNvPr id="18" name="card-hex"/>
          <p:cNvSpPr/>
          <p:nvPr/>
        </p:nvSpPr>
        <p:spPr>
          <a:xfrm>
            <a:off x="6553048" y="1572768"/>
            <a:ext cx="640080" cy="554309"/>
          </a:xfrm>
          <a:prstGeom prst="hexagon">
            <a:avLst/>
          </a:prstGeom>
          <a:solidFill>
            <a:srgbClr val="7A4A1E"/>
          </a:solidFill>
          <a:ln/>
        </p:spPr>
      </p:sp>
      <p:sp>
        <p:nvSpPr>
          <p:cNvPr id="19"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6553048"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Why were the first Norman castles built of wood?</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Wood was stronger than stone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Wood was plentiful in England's forests, so castles could be built quickly and easily</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Stone had not yet been discovered in England</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English refused to let the Normans use stone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2270684"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21 years</a:t>
            </a:r>
            <a:endParaRPr lang="en-US" sz="2200" dirty="0"/>
          </a:p>
        </p:txBody>
      </p:sp>
      <p:sp>
        <p:nvSpPr>
          <p:cNvPr id="13" name="card-body"/>
          <p:cNvSpPr txBox="1"/>
          <p:nvPr/>
        </p:nvSpPr>
        <p:spPr>
          <a:xfrm>
            <a:off x="731520"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William reigned from 1066 to 1087. How many years is that?</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1087 − 1066 = 21 years, the figure your lesson uses when it says a castle every two weeks.</a:t>
            </a:r>
            <a:endParaRPr lang="en-US" sz="1800" dirty="0"/>
          </a:p>
        </p:txBody>
      </p:sp>
      <p:sp>
        <p:nvSpPr>
          <p:cNvPr id="14" name="card"/>
          <p:cNvSpPr/>
          <p:nvPr/>
        </p:nvSpPr>
        <p:spPr>
          <a:xfrm>
            <a:off x="3459404" y="1389888"/>
            <a:ext cx="2636444" cy="4754880"/>
          </a:xfrm>
          <a:prstGeom prst="roundRect">
            <a:avLst>
              <a:gd name="adj" fmla="val 2081"/>
            </a:avLst>
          </a:prstGeom>
          <a:solidFill>
            <a:srgbClr val="FAF8F6"/>
          </a:solidFill>
          <a:ln w="12700">
            <a:solidFill>
              <a:srgbClr val="D4C5B7"/>
            </a:solidFill>
            <a:prstDash val="solid"/>
          </a:ln>
        </p:spPr>
      </p:sp>
      <p:sp>
        <p:nvSpPr>
          <p:cNvPr id="15" name="card-hex"/>
          <p:cNvSpPr/>
          <p:nvPr/>
        </p:nvSpPr>
        <p:spPr>
          <a:xfrm>
            <a:off x="3642284" y="1572768"/>
            <a:ext cx="640080" cy="554309"/>
          </a:xfrm>
          <a:prstGeom prst="hexagon">
            <a:avLst/>
          </a:prstGeom>
          <a:solidFill>
            <a:srgbClr val="7A4A1E"/>
          </a:solidFill>
          <a:ln/>
        </p:spPr>
      </p:sp>
      <p:sp>
        <p:nvSpPr>
          <p:cNvPr id="16"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3642284" y="2355677"/>
            <a:ext cx="2270684"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3733724"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motte</a:t>
            </a:r>
            <a:endParaRPr lang="en-US" sz="2200" dirty="0"/>
          </a:p>
        </p:txBody>
      </p:sp>
      <p:sp>
        <p:nvSpPr>
          <p:cNvPr id="20" name="card-body"/>
          <p:cNvSpPr txBox="1"/>
          <p:nvPr/>
        </p:nvSpPr>
        <p:spPr>
          <a:xfrm>
            <a:off x="3642284"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The mound of earth that a Norman castle stood on was called the ___.</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motte was the mound, about 15 metres high; the keep stood on top of it and the bailey lay below.</a:t>
            </a:r>
            <a:endParaRPr lang="en-US" sz="1800" dirty="0"/>
          </a:p>
        </p:txBody>
      </p:sp>
      <p:sp>
        <p:nvSpPr>
          <p:cNvPr id="21" name="card"/>
          <p:cNvSpPr/>
          <p:nvPr/>
        </p:nvSpPr>
        <p:spPr>
          <a:xfrm>
            <a:off x="6370168" y="1389888"/>
            <a:ext cx="5272888" cy="4754880"/>
          </a:xfrm>
          <a:prstGeom prst="roundRect">
            <a:avLst>
              <a:gd name="adj" fmla="val 1154"/>
            </a:avLst>
          </a:prstGeom>
          <a:solidFill>
            <a:srgbClr val="FAF8F6"/>
          </a:solidFill>
          <a:ln w="12700">
            <a:solidFill>
              <a:srgbClr val="D4C5B7"/>
            </a:solidFill>
            <a:prstDash val="solid"/>
          </a:ln>
        </p:spPr>
      </p:sp>
      <p:sp>
        <p:nvSpPr>
          <p:cNvPr id="22" name="card-hex"/>
          <p:cNvSpPr/>
          <p:nvPr/>
        </p:nvSpPr>
        <p:spPr>
          <a:xfrm>
            <a:off x="6553048" y="1572768"/>
            <a:ext cx="640080" cy="554309"/>
          </a:xfrm>
          <a:prstGeom prst="hexagon">
            <a:avLst/>
          </a:prstGeom>
          <a:solidFill>
            <a:srgbClr val="7A4A1E"/>
          </a:solidFill>
          <a:ln/>
        </p:spPr>
      </p:sp>
      <p:sp>
        <p:nvSpPr>
          <p:cNvPr id="23"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6553048" y="2355677"/>
            <a:ext cx="4907128" cy="1295908"/>
          </a:xfrm>
          <a:prstGeom prst="roundRect">
            <a:avLst>
              <a:gd name="adj" fmla="val 8467"/>
            </a:avLst>
          </a:prstGeom>
          <a:solidFill>
            <a:srgbClr val="EFE4D0"/>
          </a:solidFill>
          <a:ln w="19050">
            <a:solidFill>
              <a:srgbClr val="B8862B"/>
            </a:solidFill>
            <a:prstDash val="solid"/>
          </a:ln>
        </p:spPr>
      </p:sp>
      <p:sp>
        <p:nvSpPr>
          <p:cNvPr id="26" name="answer"/>
          <p:cNvSpPr txBox="1"/>
          <p:nvPr/>
        </p:nvSpPr>
        <p:spPr>
          <a:xfrm>
            <a:off x="6644488" y="2428829"/>
            <a:ext cx="472424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Wood was plentiful in England's forests, so castles could be built quickly and easily</a:t>
            </a:r>
            <a:endParaRPr lang="en-US" sz="2200" dirty="0"/>
          </a:p>
        </p:txBody>
      </p:sp>
      <p:sp>
        <p:nvSpPr>
          <p:cNvPr id="27" name="card-body"/>
          <p:cNvSpPr txBox="1"/>
          <p:nvPr/>
        </p:nvSpPr>
        <p:spPr>
          <a:xfrm>
            <a:off x="6553048" y="3834465"/>
            <a:ext cx="4907128" cy="2173143"/>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Why were the first Norman castles built of wood?</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Speed mattered: a wooden castle could go up fast in a town that had just rebelled, and England's forests supplied the timber.</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8F6F4"/>
          </a:solidFill>
          <a:ln w="12700">
            <a:solidFill>
              <a:srgbClr val="CEBCA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motte</a:t>
            </a:r>
            <a:endParaRPr lang="en-US" sz="2600" dirty="0"/>
          </a:p>
        </p:txBody>
      </p:sp>
      <p:sp>
        <p:nvSpPr>
          <p:cNvPr id="11" name="word-rule"/>
          <p:cNvSpPr/>
          <p:nvPr/>
        </p:nvSpPr>
        <p:spPr>
          <a:xfrm>
            <a:off x="731520" y="2129028"/>
            <a:ext cx="3149498" cy="0"/>
          </a:xfrm>
          <a:prstGeom prst="line">
            <a:avLst/>
          </a:prstGeom>
          <a:ln w="12700">
            <a:solidFill>
              <a:srgbClr val="CEBCA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mound of earth a castle stood on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motte was about 15 metres high.</a:t>
            </a:r>
            <a:endParaRPr lang="en-US" sz="2200" dirty="0"/>
          </a:p>
        </p:txBody>
      </p:sp>
      <p:sp>
        <p:nvSpPr>
          <p:cNvPr id="13" name="word-card"/>
          <p:cNvSpPr/>
          <p:nvPr/>
        </p:nvSpPr>
        <p:spPr>
          <a:xfrm>
            <a:off x="4338218" y="1389888"/>
            <a:ext cx="3515258" cy="4754880"/>
          </a:xfrm>
          <a:prstGeom prst="roundRect">
            <a:avLst>
              <a:gd name="adj" fmla="val 1561"/>
            </a:avLst>
          </a:prstGeom>
          <a:solidFill>
            <a:srgbClr val="F8F6F4"/>
          </a:solidFill>
          <a:ln w="12700">
            <a:solidFill>
              <a:srgbClr val="CEBCA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bailey</a:t>
            </a:r>
            <a:endParaRPr lang="en-US" sz="2600" dirty="0"/>
          </a:p>
        </p:txBody>
      </p:sp>
      <p:sp>
        <p:nvSpPr>
          <p:cNvPr id="17" name="word-rule"/>
          <p:cNvSpPr/>
          <p:nvPr/>
        </p:nvSpPr>
        <p:spPr>
          <a:xfrm>
            <a:off x="4521098" y="2129028"/>
            <a:ext cx="3149498" cy="0"/>
          </a:xfrm>
          <a:prstGeom prst="line">
            <a:avLst/>
          </a:prstGeom>
          <a:ln w="12700">
            <a:solidFill>
              <a:srgbClr val="CEBCA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fenced yard where the Normans lived and worked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bailey held stables and a blacksmith's forge.</a:t>
            </a:r>
            <a:endParaRPr lang="en-US" sz="2200" dirty="0"/>
          </a:p>
        </p:txBody>
      </p:sp>
      <p:sp>
        <p:nvSpPr>
          <p:cNvPr id="19" name="word-card"/>
          <p:cNvSpPr/>
          <p:nvPr/>
        </p:nvSpPr>
        <p:spPr>
          <a:xfrm>
            <a:off x="8127797" y="1389888"/>
            <a:ext cx="3515258" cy="4754880"/>
          </a:xfrm>
          <a:prstGeom prst="roundRect">
            <a:avLst>
              <a:gd name="adj" fmla="val 1561"/>
            </a:avLst>
          </a:prstGeom>
          <a:solidFill>
            <a:srgbClr val="F8F6F4"/>
          </a:solidFill>
          <a:ln w="12700">
            <a:solidFill>
              <a:srgbClr val="CEBCA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keep</a:t>
            </a:r>
            <a:endParaRPr lang="en-US" sz="2600" dirty="0"/>
          </a:p>
        </p:txBody>
      </p:sp>
      <p:sp>
        <p:nvSpPr>
          <p:cNvPr id="23" name="word-rule"/>
          <p:cNvSpPr/>
          <p:nvPr/>
        </p:nvSpPr>
        <p:spPr>
          <a:xfrm>
            <a:off x="8310677" y="2129028"/>
            <a:ext cx="3149498" cy="0"/>
          </a:xfrm>
          <a:prstGeom prst="line">
            <a:avLst/>
          </a:prstGeom>
          <a:ln w="12700">
            <a:solidFill>
              <a:srgbClr val="CEBCA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strong building on top of the motte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baron lived safely in the keep.</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8F6F4"/>
          </a:solidFill>
          <a:ln w="12700">
            <a:solidFill>
              <a:srgbClr val="CEBCA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palisade</a:t>
            </a:r>
            <a:endParaRPr lang="en-US" sz="2600" dirty="0"/>
          </a:p>
        </p:txBody>
      </p:sp>
      <p:sp>
        <p:nvSpPr>
          <p:cNvPr id="11" name="word-rule"/>
          <p:cNvSpPr/>
          <p:nvPr/>
        </p:nvSpPr>
        <p:spPr>
          <a:xfrm>
            <a:off x="731520" y="2129028"/>
            <a:ext cx="3149498" cy="0"/>
          </a:xfrm>
          <a:prstGeom prst="line">
            <a:avLst/>
          </a:prstGeom>
          <a:ln w="12700">
            <a:solidFill>
              <a:srgbClr val="CEBCA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wooden fence around the bailey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palisade wall protected the bailey.</a:t>
            </a:r>
            <a:endParaRPr lang="en-US" sz="2200" dirty="0"/>
          </a:p>
        </p:txBody>
      </p:sp>
      <p:sp>
        <p:nvSpPr>
          <p:cNvPr id="13" name="word-card"/>
          <p:cNvSpPr/>
          <p:nvPr/>
        </p:nvSpPr>
        <p:spPr>
          <a:xfrm>
            <a:off x="4338218" y="1389888"/>
            <a:ext cx="3515258" cy="4754880"/>
          </a:xfrm>
          <a:prstGeom prst="roundRect">
            <a:avLst>
              <a:gd name="adj" fmla="val 1561"/>
            </a:avLst>
          </a:prstGeom>
          <a:solidFill>
            <a:srgbClr val="F8F6F4"/>
          </a:solidFill>
          <a:ln w="12700">
            <a:solidFill>
              <a:srgbClr val="CEBCA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moat</a:t>
            </a:r>
            <a:endParaRPr lang="en-US" sz="2600" dirty="0"/>
          </a:p>
        </p:txBody>
      </p:sp>
      <p:sp>
        <p:nvSpPr>
          <p:cNvPr id="17" name="word-rule"/>
          <p:cNvSpPr/>
          <p:nvPr/>
        </p:nvSpPr>
        <p:spPr>
          <a:xfrm>
            <a:off x="4521098" y="2129028"/>
            <a:ext cx="3149498" cy="0"/>
          </a:xfrm>
          <a:prstGeom prst="line">
            <a:avLst/>
          </a:prstGeom>
          <a:ln w="12700">
            <a:solidFill>
              <a:srgbClr val="CEBCA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ditch around a castle, sometimes filled with water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moat made the castle harder to attack.</a:t>
            </a:r>
            <a:endParaRPr lang="en-US" sz="2200" dirty="0"/>
          </a:p>
        </p:txBody>
      </p:sp>
      <p:sp>
        <p:nvSpPr>
          <p:cNvPr id="19" name="word-card"/>
          <p:cNvSpPr/>
          <p:nvPr/>
        </p:nvSpPr>
        <p:spPr>
          <a:xfrm>
            <a:off x="8127797" y="1389888"/>
            <a:ext cx="3515258" cy="4754880"/>
          </a:xfrm>
          <a:prstGeom prst="roundRect">
            <a:avLst>
              <a:gd name="adj" fmla="val 1561"/>
            </a:avLst>
          </a:prstGeom>
          <a:solidFill>
            <a:srgbClr val="F8F6F4"/>
          </a:solidFill>
          <a:ln w="12700">
            <a:solidFill>
              <a:srgbClr val="CEBCA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outnumbered</a:t>
            </a:r>
            <a:endParaRPr lang="en-US" sz="2600" dirty="0"/>
          </a:p>
        </p:txBody>
      </p:sp>
      <p:sp>
        <p:nvSpPr>
          <p:cNvPr id="23" name="word-rule"/>
          <p:cNvSpPr/>
          <p:nvPr/>
        </p:nvSpPr>
        <p:spPr>
          <a:xfrm>
            <a:off x="8310677" y="2129028"/>
            <a:ext cx="3149498" cy="0"/>
          </a:xfrm>
          <a:prstGeom prst="line">
            <a:avLst/>
          </a:prstGeom>
          <a:ln w="12700">
            <a:solidFill>
              <a:srgbClr val="CEBCA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having far fewer people than the other side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Normans were heavily outnumbered by the English.</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Only about 8,000 to 10,000 Normans settled in England with William.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English population was about 1.5 to 2 million.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Normans were heavily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outnumbered</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 wherever William's army went, it built castles.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These were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motte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and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bailey</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castles.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motte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was a mound of earth about 15 metres high.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On top stood 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keep</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where the baron lived.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bailey</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below was where the Normans lived and worked.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wooden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palisade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fence and a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moat</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protected it.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first castles were wooden, so they were quick to build but could burn.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Later they were rebuilt in stone.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Castles were built where people had rebelled, and by key roads, rivers and ports.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They were a symbol of Norman strength.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21 years William's Normans built over 500 castles, about one every two weeks.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Outnumbered: why castles were needed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Two jobs for every castle: control the English outside, protect the Normans inside. Say both in any explanation.</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Once William was crowned, he set about enforcing his control over the whole country.</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Wherever William's army went, it built castles, and barons were put in charge of them to make sure the Normans controlled key roads, ports, rivers and towns.</a:t>
            </a:r>
            <a:endParaRPr lang="en-US" sz="20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Castles worked both ways. They enforced William's rule on the people, and they protected the Norman soldiers from the unhappy English around them.</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parts of a motte and bailey castle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Seven parts to label: motte, keep, bailey, bridge, palisade wall, moat, drawbridge. Motte is the mound; keep is the building on it.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Normans built a motte, a simple mound or hill about 15 metres high.</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keep and the bailey were joined by a bridge.</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Your lesson's challenge asks which part mattered most. There is no single right answer, but you must give a reason: the motte for height and view, the keep for safety, the palisade and moat for keeping attackers out.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Wood first, then stone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F6F2EF"/>
          </a:solidFill>
          <a:ln/>
        </p:spPr>
      </p:sp>
      <p:sp>
        <p:nvSpPr>
          <p:cNvPr id="8" name="point-hex"/>
          <p:cNvSpPr/>
          <p:nvPr/>
        </p:nvSpPr>
        <p:spPr>
          <a:xfrm>
            <a:off x="731520" y="1572768"/>
            <a:ext cx="685800" cy="593903"/>
          </a:xfrm>
          <a:prstGeom prst="hexagon">
            <a:avLst/>
          </a:prstGeom>
          <a:solidFill>
            <a:srgbClr val="7A4A1E"/>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At the start of William's reign, castles were built of wood.</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9F4EC"/>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Later the timber castles gave way to stone ones, far stronger, and a number of those are standing to this day.</a:t>
            </a:r>
            <a:endParaRPr lang="en-US" sz="2400" dirty="0"/>
          </a:p>
        </p:txBody>
      </p:sp>
      <p:sp>
        <p:nvSpPr>
          <p:cNvPr id="15" name="point-card"/>
          <p:cNvSpPr/>
          <p:nvPr/>
        </p:nvSpPr>
        <p:spPr>
          <a:xfrm>
            <a:off x="8127797" y="1389888"/>
            <a:ext cx="3515258" cy="4754880"/>
          </a:xfrm>
          <a:prstGeom prst="roundRect">
            <a:avLst>
              <a:gd name="adj" fmla="val 1561"/>
            </a:avLst>
          </a:prstGeom>
          <a:solidFill>
            <a:srgbClr val="F6F2EF"/>
          </a:solidFill>
          <a:ln/>
        </p:spPr>
      </p:sp>
      <p:sp>
        <p:nvSpPr>
          <p:cNvPr id="16" name="point-hex"/>
          <p:cNvSpPr/>
          <p:nvPr/>
        </p:nvSpPr>
        <p:spPr>
          <a:xfrm>
            <a:off x="8310677" y="1572768"/>
            <a:ext cx="685800" cy="593903"/>
          </a:xfrm>
          <a:prstGeom prst="hexagon">
            <a:avLst/>
          </a:prstGeom>
          <a:solidFill>
            <a:srgbClr val="7A4A1E"/>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scale was enormous. In the 21 years of William's reign, from 1066 to 1087, the Normans built over 500 castles.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Worked example: Wood first, then stone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F6F2EF"/>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Check the lesson's claim that the Normans built a castle about every two weeks.</a:t>
            </a:r>
            <a:endParaRPr lang="en-US" sz="2200" dirty="0"/>
          </a:p>
        </p:txBody>
      </p:sp>
      <p:sp>
        <p:nvSpPr>
          <p:cNvPr id="9" name="step-box"/>
          <p:cNvSpPr/>
          <p:nvPr/>
        </p:nvSpPr>
        <p:spPr>
          <a:xfrm>
            <a:off x="548640" y="2314956"/>
            <a:ext cx="2464994" cy="1974088"/>
          </a:xfrm>
          <a:prstGeom prst="roundRect">
            <a:avLst>
              <a:gd name="adj" fmla="val 3706"/>
            </a:avLst>
          </a:prstGeom>
          <a:solidFill>
            <a:srgbClr val="FFFFFF"/>
          </a:solidFill>
          <a:ln w="15875">
            <a:solidFill>
              <a:srgbClr val="B69B83"/>
            </a:solidFill>
            <a:prstDash val="solid"/>
          </a:ln>
        </p:spPr>
      </p:sp>
      <p:sp>
        <p:nvSpPr>
          <p:cNvPr id="10" name="step-hex"/>
          <p:cNvSpPr/>
          <p:nvPr/>
        </p:nvSpPr>
        <p:spPr>
          <a:xfrm>
            <a:off x="685800" y="2424684"/>
            <a:ext cx="530352" cy="459285"/>
          </a:xfrm>
          <a:prstGeom prst="hexagon">
            <a:avLst/>
          </a:prstGeom>
          <a:solidFill>
            <a:srgbClr val="7A4A1E"/>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2909316"/>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William reigned for 21 years: 1087 − 1066 = 21.</a:t>
            </a:r>
            <a:endParaRPr lang="en-US" sz="1800" dirty="0"/>
          </a:p>
        </p:txBody>
      </p:sp>
      <p:sp>
        <p:nvSpPr>
          <p:cNvPr id="13" name="arrow"/>
          <p:cNvSpPr/>
          <p:nvPr/>
        </p:nvSpPr>
        <p:spPr>
          <a:xfrm>
            <a:off x="3086786" y="3164840"/>
            <a:ext cx="274320" cy="274320"/>
          </a:xfrm>
          <a:prstGeom prst="rightArrow">
            <a:avLst/>
          </a:prstGeom>
          <a:solidFill>
            <a:srgbClr val="B8862B"/>
          </a:solidFill>
          <a:ln/>
        </p:spPr>
      </p:sp>
      <p:sp>
        <p:nvSpPr>
          <p:cNvPr id="14" name="step-box"/>
          <p:cNvSpPr/>
          <p:nvPr/>
        </p:nvSpPr>
        <p:spPr>
          <a:xfrm>
            <a:off x="3425114" y="2314956"/>
            <a:ext cx="2464994" cy="1974088"/>
          </a:xfrm>
          <a:prstGeom prst="roundRect">
            <a:avLst>
              <a:gd name="adj" fmla="val 3706"/>
            </a:avLst>
          </a:prstGeom>
          <a:solidFill>
            <a:srgbClr val="FFFFFF"/>
          </a:solidFill>
          <a:ln w="15875">
            <a:solidFill>
              <a:srgbClr val="B69B83"/>
            </a:solidFill>
            <a:prstDash val="solid"/>
          </a:ln>
        </p:spPr>
      </p:sp>
      <p:sp>
        <p:nvSpPr>
          <p:cNvPr id="15" name="step-hex"/>
          <p:cNvSpPr/>
          <p:nvPr/>
        </p:nvSpPr>
        <p:spPr>
          <a:xfrm>
            <a:off x="3562274" y="2424684"/>
            <a:ext cx="530352" cy="459285"/>
          </a:xfrm>
          <a:prstGeom prst="hexagon">
            <a:avLst/>
          </a:prstGeom>
          <a:solidFill>
            <a:srgbClr val="7A4A1E"/>
          </a:solidFill>
          <a:ln/>
        </p:spPr>
      </p:sp>
      <p:sp>
        <p:nvSpPr>
          <p:cNvPr id="16" name="step-hex-label"/>
          <p:cNvSpPr txBox="1"/>
          <p:nvPr/>
        </p:nvSpPr>
        <p:spPr>
          <a:xfrm>
            <a:off x="3562274"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2909316"/>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There are 52 weeks in a year, so 21 × 52 = 1,092 weeks.</a:t>
            </a:r>
            <a:endParaRPr lang="en-US" sz="1800" dirty="0"/>
          </a:p>
        </p:txBody>
      </p:sp>
      <p:sp>
        <p:nvSpPr>
          <p:cNvPr id="18" name="arrow"/>
          <p:cNvSpPr/>
          <p:nvPr/>
        </p:nvSpPr>
        <p:spPr>
          <a:xfrm>
            <a:off x="5963260" y="3164840"/>
            <a:ext cx="274320" cy="274320"/>
          </a:xfrm>
          <a:prstGeom prst="rightArrow">
            <a:avLst/>
          </a:prstGeom>
          <a:solidFill>
            <a:srgbClr val="B8862B"/>
          </a:solidFill>
          <a:ln/>
        </p:spPr>
      </p:sp>
      <p:sp>
        <p:nvSpPr>
          <p:cNvPr id="19" name="step-box"/>
          <p:cNvSpPr/>
          <p:nvPr/>
        </p:nvSpPr>
        <p:spPr>
          <a:xfrm>
            <a:off x="6301588" y="2314956"/>
            <a:ext cx="2464994" cy="1974088"/>
          </a:xfrm>
          <a:prstGeom prst="roundRect">
            <a:avLst>
              <a:gd name="adj" fmla="val 3706"/>
            </a:avLst>
          </a:prstGeom>
          <a:solidFill>
            <a:srgbClr val="FFFFFF"/>
          </a:solidFill>
          <a:ln w="15875">
            <a:solidFill>
              <a:srgbClr val="B69B83"/>
            </a:solidFill>
            <a:prstDash val="solid"/>
          </a:ln>
        </p:spPr>
      </p:sp>
      <p:sp>
        <p:nvSpPr>
          <p:cNvPr id="20" name="step-hex"/>
          <p:cNvSpPr/>
          <p:nvPr/>
        </p:nvSpPr>
        <p:spPr>
          <a:xfrm>
            <a:off x="6438748" y="2424684"/>
            <a:ext cx="530352" cy="459285"/>
          </a:xfrm>
          <a:prstGeom prst="hexagon">
            <a:avLst/>
          </a:prstGeom>
          <a:solidFill>
            <a:srgbClr val="7A4A1E"/>
          </a:solidFill>
          <a:ln/>
        </p:spPr>
      </p:sp>
      <p:sp>
        <p:nvSpPr>
          <p:cNvPr id="21" name="step-hex-label"/>
          <p:cNvSpPr txBox="1"/>
          <p:nvPr/>
        </p:nvSpPr>
        <p:spPr>
          <a:xfrm>
            <a:off x="643874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2909316"/>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Over 500 castles in 1,092 weeks: 1,092 ÷ 500 ≈ 2.2 weeks per castle.</a:t>
            </a:r>
            <a:endParaRPr lang="en-US" sz="1800" dirty="0"/>
          </a:p>
        </p:txBody>
      </p:sp>
      <p:sp>
        <p:nvSpPr>
          <p:cNvPr id="23" name="arrow"/>
          <p:cNvSpPr/>
          <p:nvPr/>
        </p:nvSpPr>
        <p:spPr>
          <a:xfrm>
            <a:off x="8839733" y="3164840"/>
            <a:ext cx="274320" cy="274320"/>
          </a:xfrm>
          <a:prstGeom prst="rightArrow">
            <a:avLst/>
          </a:prstGeom>
          <a:solidFill>
            <a:srgbClr val="B8862B"/>
          </a:solidFill>
          <a:ln/>
        </p:spPr>
      </p:sp>
      <p:sp>
        <p:nvSpPr>
          <p:cNvPr id="24" name="step-box"/>
          <p:cNvSpPr/>
          <p:nvPr/>
        </p:nvSpPr>
        <p:spPr>
          <a:xfrm>
            <a:off x="9178061" y="2314956"/>
            <a:ext cx="2464994" cy="1974088"/>
          </a:xfrm>
          <a:prstGeom prst="roundRect">
            <a:avLst>
              <a:gd name="adj" fmla="val 3706"/>
            </a:avLst>
          </a:prstGeom>
          <a:solidFill>
            <a:srgbClr val="FFFFFF"/>
          </a:solidFill>
          <a:ln w="15875">
            <a:solidFill>
              <a:srgbClr val="B69B83"/>
            </a:solidFill>
            <a:prstDash val="solid"/>
          </a:ln>
        </p:spPr>
      </p:sp>
      <p:sp>
        <p:nvSpPr>
          <p:cNvPr id="25" name="step-hex"/>
          <p:cNvSpPr/>
          <p:nvPr/>
        </p:nvSpPr>
        <p:spPr>
          <a:xfrm>
            <a:off x="9315221" y="2424684"/>
            <a:ext cx="530352" cy="459285"/>
          </a:xfrm>
          <a:prstGeom prst="hexagon">
            <a:avLst/>
          </a:prstGeom>
          <a:solidFill>
            <a:srgbClr val="7A4A1E"/>
          </a:solidFill>
          <a:ln/>
        </p:spPr>
      </p:sp>
      <p:sp>
        <p:nvSpPr>
          <p:cNvPr id="26" name="step-hex-label"/>
          <p:cNvSpPr txBox="1"/>
          <p:nvPr/>
        </p:nvSpPr>
        <p:spPr>
          <a:xfrm>
            <a:off x="9315221"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2909316"/>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So one castle roughly every two weeks is a fair summary of the figures.</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About 2.2 weeks per castle, so the claim of one every two weeks is fair.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What the map of castles tells us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a question gives you a map, say where the dots cluster, then say what that tells you. Description first, inference second.</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Your lesson shows a map with a dot for every castle built under William.</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Some dots lie beyond England, towards Wales and Scotland. That tells you something about William's ambitions: castles were not only for holding what he had, but for pushing further.</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So, was William in complete control? The castles say yes and no at the same time.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Label the castle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part of a motte and bailey castle to its description.</a:t>
            </a:r>
            <a:endParaRPr lang="en-US" sz="2400" dirty="0"/>
          </a:p>
        </p:txBody>
      </p:sp>
      <p:sp>
        <p:nvSpPr>
          <p:cNvPr id="11" name="match-card"/>
          <p:cNvSpPr/>
          <p:nvPr/>
        </p:nvSpPr>
        <p:spPr>
          <a:xfrm>
            <a:off x="777240" y="2468331"/>
            <a:ext cx="3081437" cy="509735"/>
          </a:xfrm>
          <a:prstGeom prst="roundRect">
            <a:avLst>
              <a:gd name="adj" fmla="val 14351"/>
            </a:avLst>
          </a:prstGeom>
          <a:solidFill>
            <a:srgbClr val="F8F6F4"/>
          </a:solidFill>
          <a:ln/>
        </p:spPr>
      </p:sp>
      <p:sp>
        <p:nvSpPr>
          <p:cNvPr id="12" name="match-hex"/>
          <p:cNvSpPr/>
          <p:nvPr/>
        </p:nvSpPr>
        <p:spPr>
          <a:xfrm>
            <a:off x="850392" y="2556906"/>
            <a:ext cx="384048" cy="332586"/>
          </a:xfrm>
          <a:prstGeom prst="hexagon">
            <a:avLst/>
          </a:prstGeom>
          <a:solidFill>
            <a:srgbClr val="7A4A1E"/>
          </a:solidFill>
          <a:ln/>
        </p:spPr>
      </p:sp>
      <p:sp>
        <p:nvSpPr>
          <p:cNvPr id="13" name="match-hex-label"/>
          <p:cNvSpPr txBox="1"/>
          <p:nvPr/>
        </p:nvSpPr>
        <p:spPr>
          <a:xfrm>
            <a:off x="850392" y="255690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Motte</a:t>
            </a:r>
            <a:endParaRPr lang="en-US" sz="2000" dirty="0"/>
          </a:p>
        </p:txBody>
      </p:sp>
      <p:sp>
        <p:nvSpPr>
          <p:cNvPr id="15" name="match-card"/>
          <p:cNvSpPr/>
          <p:nvPr/>
        </p:nvSpPr>
        <p:spPr>
          <a:xfrm>
            <a:off x="4224437" y="2468331"/>
            <a:ext cx="7190019" cy="509735"/>
          </a:xfrm>
          <a:prstGeom prst="roundRect">
            <a:avLst>
              <a:gd name="adj" fmla="val 14351"/>
            </a:avLst>
          </a:prstGeom>
          <a:solidFill>
            <a:srgbClr val="F9F4EC"/>
          </a:solidFill>
          <a:ln/>
        </p:spPr>
      </p:sp>
      <p:sp>
        <p:nvSpPr>
          <p:cNvPr id="16" name="match-hex"/>
          <p:cNvSpPr/>
          <p:nvPr/>
        </p:nvSpPr>
        <p:spPr>
          <a:xfrm>
            <a:off x="4297589" y="2556906"/>
            <a:ext cx="384048" cy="332586"/>
          </a:xfrm>
          <a:prstGeom prst="hexagon">
            <a:avLst/>
          </a:prstGeom>
          <a:solidFill>
            <a:srgbClr val="B8862B"/>
          </a:solidFill>
          <a:ln/>
        </p:spPr>
      </p:sp>
      <p:sp>
        <p:nvSpPr>
          <p:cNvPr id="17" name="match-hex-label"/>
          <p:cNvSpPr txBox="1"/>
          <p:nvPr/>
        </p:nvSpPr>
        <p:spPr>
          <a:xfrm>
            <a:off x="4297589" y="255690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building on top of the mound where the baron lived</a:t>
            </a:r>
            <a:endParaRPr lang="en-US" sz="2000" dirty="0"/>
          </a:p>
        </p:txBody>
      </p:sp>
      <p:sp>
        <p:nvSpPr>
          <p:cNvPr id="19" name="match-card"/>
          <p:cNvSpPr/>
          <p:nvPr/>
        </p:nvSpPr>
        <p:spPr>
          <a:xfrm>
            <a:off x="777240" y="3069507"/>
            <a:ext cx="3081437" cy="509735"/>
          </a:xfrm>
          <a:prstGeom prst="roundRect">
            <a:avLst>
              <a:gd name="adj" fmla="val 14351"/>
            </a:avLst>
          </a:prstGeom>
          <a:solidFill>
            <a:srgbClr val="F8F6F4"/>
          </a:solidFill>
          <a:ln/>
        </p:spPr>
      </p:sp>
      <p:sp>
        <p:nvSpPr>
          <p:cNvPr id="20" name="match-hex"/>
          <p:cNvSpPr/>
          <p:nvPr/>
        </p:nvSpPr>
        <p:spPr>
          <a:xfrm>
            <a:off x="850392" y="3158082"/>
            <a:ext cx="384048" cy="332586"/>
          </a:xfrm>
          <a:prstGeom prst="hexagon">
            <a:avLst/>
          </a:prstGeom>
          <a:solidFill>
            <a:srgbClr val="7A4A1E"/>
          </a:solidFill>
          <a:ln/>
        </p:spPr>
      </p:sp>
      <p:sp>
        <p:nvSpPr>
          <p:cNvPr id="21" name="match-hex-label"/>
          <p:cNvSpPr txBox="1"/>
          <p:nvPr/>
        </p:nvSpPr>
        <p:spPr>
          <a:xfrm>
            <a:off x="850392" y="315808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069507"/>
            <a:ext cx="2487077"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Keep</a:t>
            </a:r>
            <a:endParaRPr lang="en-US" sz="2000" dirty="0"/>
          </a:p>
        </p:txBody>
      </p:sp>
      <p:sp>
        <p:nvSpPr>
          <p:cNvPr id="23" name="match-card"/>
          <p:cNvSpPr/>
          <p:nvPr/>
        </p:nvSpPr>
        <p:spPr>
          <a:xfrm>
            <a:off x="4224437" y="3069507"/>
            <a:ext cx="7190019" cy="509735"/>
          </a:xfrm>
          <a:prstGeom prst="roundRect">
            <a:avLst>
              <a:gd name="adj" fmla="val 14351"/>
            </a:avLst>
          </a:prstGeom>
          <a:solidFill>
            <a:srgbClr val="F9F4EC"/>
          </a:solidFill>
          <a:ln/>
        </p:spPr>
      </p:sp>
      <p:sp>
        <p:nvSpPr>
          <p:cNvPr id="24" name="match-hex"/>
          <p:cNvSpPr/>
          <p:nvPr/>
        </p:nvSpPr>
        <p:spPr>
          <a:xfrm>
            <a:off x="4297589" y="3158082"/>
            <a:ext cx="384048" cy="332586"/>
          </a:xfrm>
          <a:prstGeom prst="hexagon">
            <a:avLst/>
          </a:prstGeom>
          <a:solidFill>
            <a:srgbClr val="B8862B"/>
          </a:solidFill>
          <a:ln/>
        </p:spPr>
      </p:sp>
      <p:sp>
        <p:nvSpPr>
          <p:cNvPr id="25" name="match-hex-label"/>
          <p:cNvSpPr txBox="1"/>
          <p:nvPr/>
        </p:nvSpPr>
        <p:spPr>
          <a:xfrm>
            <a:off x="4297589" y="315808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069507"/>
            <a:ext cx="6595659"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wooden fence around the bailey</a:t>
            </a:r>
            <a:endParaRPr lang="en-US" sz="2000" dirty="0"/>
          </a:p>
        </p:txBody>
      </p:sp>
      <p:sp>
        <p:nvSpPr>
          <p:cNvPr id="27" name="match-card"/>
          <p:cNvSpPr/>
          <p:nvPr/>
        </p:nvSpPr>
        <p:spPr>
          <a:xfrm>
            <a:off x="777240" y="3670682"/>
            <a:ext cx="3081437" cy="509735"/>
          </a:xfrm>
          <a:prstGeom prst="roundRect">
            <a:avLst>
              <a:gd name="adj" fmla="val 14351"/>
            </a:avLst>
          </a:prstGeom>
          <a:solidFill>
            <a:srgbClr val="F8F6F4"/>
          </a:solidFill>
          <a:ln/>
        </p:spPr>
      </p:sp>
      <p:sp>
        <p:nvSpPr>
          <p:cNvPr id="28" name="match-hex"/>
          <p:cNvSpPr/>
          <p:nvPr/>
        </p:nvSpPr>
        <p:spPr>
          <a:xfrm>
            <a:off x="850392" y="3759257"/>
            <a:ext cx="384048" cy="332586"/>
          </a:xfrm>
          <a:prstGeom prst="hexagon">
            <a:avLst/>
          </a:prstGeom>
          <a:solidFill>
            <a:srgbClr val="7A4A1E"/>
          </a:solidFill>
          <a:ln/>
        </p:spPr>
      </p:sp>
      <p:sp>
        <p:nvSpPr>
          <p:cNvPr id="29" name="match-hex-label"/>
          <p:cNvSpPr txBox="1"/>
          <p:nvPr/>
        </p:nvSpPr>
        <p:spPr>
          <a:xfrm>
            <a:off x="850392" y="375925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3670682"/>
            <a:ext cx="2487077"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Bailey</a:t>
            </a:r>
            <a:endParaRPr lang="en-US" sz="2000" dirty="0"/>
          </a:p>
        </p:txBody>
      </p:sp>
      <p:sp>
        <p:nvSpPr>
          <p:cNvPr id="31" name="match-card"/>
          <p:cNvSpPr/>
          <p:nvPr/>
        </p:nvSpPr>
        <p:spPr>
          <a:xfrm>
            <a:off x="4224437" y="3670682"/>
            <a:ext cx="7190019" cy="509735"/>
          </a:xfrm>
          <a:prstGeom prst="roundRect">
            <a:avLst>
              <a:gd name="adj" fmla="val 14351"/>
            </a:avLst>
          </a:prstGeom>
          <a:solidFill>
            <a:srgbClr val="F9F4EC"/>
          </a:solidFill>
          <a:ln/>
        </p:spPr>
      </p:sp>
      <p:sp>
        <p:nvSpPr>
          <p:cNvPr id="32" name="match-hex"/>
          <p:cNvSpPr/>
          <p:nvPr/>
        </p:nvSpPr>
        <p:spPr>
          <a:xfrm>
            <a:off x="4297589" y="3759257"/>
            <a:ext cx="384048" cy="332586"/>
          </a:xfrm>
          <a:prstGeom prst="hexagon">
            <a:avLst/>
          </a:prstGeom>
          <a:solidFill>
            <a:srgbClr val="B8862B"/>
          </a:solidFill>
          <a:ln/>
        </p:spPr>
      </p:sp>
      <p:sp>
        <p:nvSpPr>
          <p:cNvPr id="33" name="match-hex-label"/>
          <p:cNvSpPr txBox="1"/>
          <p:nvPr/>
        </p:nvSpPr>
        <p:spPr>
          <a:xfrm>
            <a:off x="4297589" y="375925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3670682"/>
            <a:ext cx="6595659"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mound or hill of earth about 15 metres high</a:t>
            </a:r>
            <a:endParaRPr lang="en-US" sz="2000" dirty="0"/>
          </a:p>
        </p:txBody>
      </p:sp>
      <p:sp>
        <p:nvSpPr>
          <p:cNvPr id="35" name="match-card"/>
          <p:cNvSpPr/>
          <p:nvPr/>
        </p:nvSpPr>
        <p:spPr>
          <a:xfrm>
            <a:off x="777240" y="4271857"/>
            <a:ext cx="3081437" cy="799295"/>
          </a:xfrm>
          <a:prstGeom prst="roundRect">
            <a:avLst>
              <a:gd name="adj" fmla="val 9152"/>
            </a:avLst>
          </a:prstGeom>
          <a:solidFill>
            <a:srgbClr val="F8F6F4"/>
          </a:solidFill>
          <a:ln/>
        </p:spPr>
      </p:sp>
      <p:sp>
        <p:nvSpPr>
          <p:cNvPr id="36" name="match-hex"/>
          <p:cNvSpPr/>
          <p:nvPr/>
        </p:nvSpPr>
        <p:spPr>
          <a:xfrm>
            <a:off x="850392" y="4505212"/>
            <a:ext cx="384048" cy="332586"/>
          </a:xfrm>
          <a:prstGeom prst="hexagon">
            <a:avLst/>
          </a:prstGeom>
          <a:solidFill>
            <a:srgbClr val="7A4A1E"/>
          </a:solidFill>
          <a:ln/>
        </p:spPr>
      </p:sp>
      <p:sp>
        <p:nvSpPr>
          <p:cNvPr id="37" name="match-hex-label"/>
          <p:cNvSpPr txBox="1"/>
          <p:nvPr/>
        </p:nvSpPr>
        <p:spPr>
          <a:xfrm>
            <a:off x="850392" y="450521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271857"/>
            <a:ext cx="2487077" cy="79929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Palisade wall</a:t>
            </a:r>
            <a:endParaRPr lang="en-US" sz="2000" dirty="0"/>
          </a:p>
        </p:txBody>
      </p:sp>
      <p:sp>
        <p:nvSpPr>
          <p:cNvPr id="39" name="match-card"/>
          <p:cNvSpPr/>
          <p:nvPr/>
        </p:nvSpPr>
        <p:spPr>
          <a:xfrm>
            <a:off x="4224437" y="4271857"/>
            <a:ext cx="7190019" cy="799295"/>
          </a:xfrm>
          <a:prstGeom prst="roundRect">
            <a:avLst>
              <a:gd name="adj" fmla="val 9152"/>
            </a:avLst>
          </a:prstGeom>
          <a:solidFill>
            <a:srgbClr val="F9F4EC"/>
          </a:solidFill>
          <a:ln/>
        </p:spPr>
      </p:sp>
      <p:sp>
        <p:nvSpPr>
          <p:cNvPr id="40" name="match-hex"/>
          <p:cNvSpPr/>
          <p:nvPr/>
        </p:nvSpPr>
        <p:spPr>
          <a:xfrm>
            <a:off x="4297589" y="4505212"/>
            <a:ext cx="384048" cy="332586"/>
          </a:xfrm>
          <a:prstGeom prst="hexagon">
            <a:avLst/>
          </a:prstGeom>
          <a:solidFill>
            <a:srgbClr val="B8862B"/>
          </a:solidFill>
          <a:ln/>
        </p:spPr>
      </p:sp>
      <p:sp>
        <p:nvSpPr>
          <p:cNvPr id="41" name="match-hex-label"/>
          <p:cNvSpPr txBox="1"/>
          <p:nvPr/>
        </p:nvSpPr>
        <p:spPr>
          <a:xfrm>
            <a:off x="4297589" y="450521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4271857"/>
            <a:ext cx="6595659" cy="79929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main Norman living and working area, with stables and a blacksmith</a:t>
            </a:r>
            <a:endParaRPr lang="en-US" sz="2000" dirty="0"/>
          </a:p>
        </p:txBody>
      </p:sp>
      <p:sp>
        <p:nvSpPr>
          <p:cNvPr id="43" name="match-card"/>
          <p:cNvSpPr/>
          <p:nvPr/>
        </p:nvSpPr>
        <p:spPr>
          <a:xfrm>
            <a:off x="777240" y="5162593"/>
            <a:ext cx="3081437" cy="799295"/>
          </a:xfrm>
          <a:prstGeom prst="roundRect">
            <a:avLst>
              <a:gd name="adj" fmla="val 9152"/>
            </a:avLst>
          </a:prstGeom>
          <a:solidFill>
            <a:srgbClr val="F8F6F4"/>
          </a:solidFill>
          <a:ln/>
        </p:spPr>
      </p:sp>
      <p:sp>
        <p:nvSpPr>
          <p:cNvPr id="44" name="match-hex"/>
          <p:cNvSpPr/>
          <p:nvPr/>
        </p:nvSpPr>
        <p:spPr>
          <a:xfrm>
            <a:off x="850392" y="5395948"/>
            <a:ext cx="384048" cy="332586"/>
          </a:xfrm>
          <a:prstGeom prst="hexagon">
            <a:avLst/>
          </a:prstGeom>
          <a:solidFill>
            <a:srgbClr val="7A4A1E"/>
          </a:solidFill>
          <a:ln/>
        </p:spPr>
      </p:sp>
      <p:sp>
        <p:nvSpPr>
          <p:cNvPr id="45" name="match-hex-label"/>
          <p:cNvSpPr txBox="1"/>
          <p:nvPr/>
        </p:nvSpPr>
        <p:spPr>
          <a:xfrm>
            <a:off x="850392" y="539594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6" name="match-text"/>
          <p:cNvSpPr txBox="1"/>
          <p:nvPr/>
        </p:nvSpPr>
        <p:spPr>
          <a:xfrm>
            <a:off x="1298448" y="5162593"/>
            <a:ext cx="2487077" cy="79929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Moat</a:t>
            </a:r>
            <a:endParaRPr lang="en-US" sz="2000" dirty="0"/>
          </a:p>
        </p:txBody>
      </p:sp>
      <p:sp>
        <p:nvSpPr>
          <p:cNvPr id="47" name="match-card"/>
          <p:cNvSpPr/>
          <p:nvPr/>
        </p:nvSpPr>
        <p:spPr>
          <a:xfrm>
            <a:off x="4224437" y="5162593"/>
            <a:ext cx="7190019" cy="799295"/>
          </a:xfrm>
          <a:prstGeom prst="roundRect">
            <a:avLst>
              <a:gd name="adj" fmla="val 9152"/>
            </a:avLst>
          </a:prstGeom>
          <a:solidFill>
            <a:srgbClr val="F9F4EC"/>
          </a:solidFill>
          <a:ln/>
        </p:spPr>
      </p:sp>
      <p:sp>
        <p:nvSpPr>
          <p:cNvPr id="48" name="match-hex"/>
          <p:cNvSpPr/>
          <p:nvPr/>
        </p:nvSpPr>
        <p:spPr>
          <a:xfrm>
            <a:off x="4297589" y="5395948"/>
            <a:ext cx="384048" cy="332586"/>
          </a:xfrm>
          <a:prstGeom prst="hexagon">
            <a:avLst/>
          </a:prstGeom>
          <a:solidFill>
            <a:srgbClr val="B8862B"/>
          </a:solidFill>
          <a:ln/>
        </p:spPr>
      </p:sp>
      <p:sp>
        <p:nvSpPr>
          <p:cNvPr id="49" name="match-hex-label"/>
          <p:cNvSpPr txBox="1"/>
          <p:nvPr/>
        </p:nvSpPr>
        <p:spPr>
          <a:xfrm>
            <a:off x="4297589" y="539594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a:t>
            </a:r>
            <a:endParaRPr lang="en-US" sz="1800" dirty="0"/>
          </a:p>
        </p:txBody>
      </p:sp>
      <p:sp>
        <p:nvSpPr>
          <p:cNvPr id="50" name="match-text"/>
          <p:cNvSpPr txBox="1"/>
          <p:nvPr/>
        </p:nvSpPr>
        <p:spPr>
          <a:xfrm>
            <a:off x="4745645" y="5162593"/>
            <a:ext cx="6595659" cy="79929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ditch around the castle, sometimes filled with water for defence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Same task, three ways in: Label the castle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part of a motte and bailey castle to its description.</a:t>
            </a:r>
            <a:endParaRPr lang="en-US" sz="2000" dirty="0"/>
          </a:p>
        </p:txBody>
      </p:sp>
      <p:sp>
        <p:nvSpPr>
          <p:cNvPr id="12" name="col-Support"/>
          <p:cNvSpPr/>
          <p:nvPr/>
        </p:nvSpPr>
        <p:spPr>
          <a:xfrm>
            <a:off x="548640" y="2578608"/>
            <a:ext cx="4667802" cy="3566160"/>
          </a:xfrm>
          <a:prstGeom prst="roundRect">
            <a:avLst>
              <a:gd name="adj" fmla="val 1538"/>
            </a:avLst>
          </a:prstGeom>
          <a:solidFill>
            <a:srgbClr val="F6F2EF"/>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the two that are not buildings: the motte is earth, the moat is a ditch.</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keep is the one building that sits on top of the motte.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bailey is the big yard: stables and blacksmith belong there.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What is left is the fence: the palisade.</a:t>
            </a:r>
            <a:endParaRPr lang="en-US" sz="1800" dirty="0"/>
          </a:p>
        </p:txBody>
      </p:sp>
      <p:sp>
        <p:nvSpPr>
          <p:cNvPr id="17" name="col-Core"/>
          <p:cNvSpPr/>
          <p:nvPr/>
        </p:nvSpPr>
        <p:spPr>
          <a:xfrm>
            <a:off x="5490762" y="2578608"/>
            <a:ext cx="2938987" cy="3566160"/>
          </a:xfrm>
          <a:prstGeom prst="roundRect">
            <a:avLst>
              <a:gd name="adj" fmla="val 1867"/>
            </a:avLst>
          </a:prstGeom>
          <a:solidFill>
            <a:srgbClr val="E6DDD4"/>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Earth, building, yard, fence, ditch. Each description is one of those five.</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7A4A1E"/>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Which part do you think mattered most to the baron inside, and which to the English outside? Explain the difference.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How many English to each Norman?</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Your lesson says castles let 10,000 Norman soldiers control 500,000 Anglo-Saxon people. How many Anglo-Saxons was that for each Norman soldier?</a:t>
            </a:r>
            <a:endParaRPr lang="en-US" sz="2600" dirty="0"/>
          </a:p>
          <a:p>
            <a:pPr algn="ctr" indent="0" marL="0">
              <a:buNone/>
            </a:pPr>
            <a:r>
              <a:rPr lang="en-US" sz="2400" b="1" dirty="0">
                <a:solidFill>
                  <a:srgbClr val="7A4A1E"/>
                </a:solidFill>
                <a:latin typeface="Calibri" pitchFamily="34" charset="0"/>
                <a:ea typeface="Calibri" pitchFamily="34" charset="-122"/>
                <a:cs typeface="Calibri" pitchFamily="34" charset="-120"/>
              </a:rPr>
              <a:t>Answer:  </a:t>
            </a:r>
            <a:pPr algn="ctr" indent="0" marL="0">
              <a:buNone/>
            </a:pPr>
            <a:r>
              <a:rPr lang="en-US" sz="2400" dirty="0">
                <a:solidFill>
                  <a:srgbClr val="1E2229"/>
                </a:solidFill>
                <a:latin typeface="Calibri" pitchFamily="34" charset="0"/>
                <a:ea typeface="Calibri" pitchFamily="34" charset="-122"/>
                <a:cs typeface="Calibri" pitchFamily="34" charset="-120"/>
              </a:rPr>
              <a:t>__________ people per soldier</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How many English to each Norman?</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How many English to each Norman?</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6F2EF"/>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the two numbers down: 500,000 people and 10,000 soldiers.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People per soldier means people ÷ soldiers.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Cancel the zeros: 500,000 ÷ 10,000 is the same as 50 ÷ 1.</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it makes sense: 50 people for each soldier is a lot, which is the point of the castles.</a:t>
            </a:r>
            <a:endParaRPr lang="en-US" sz="1800" dirty="0"/>
          </a:p>
        </p:txBody>
      </p:sp>
      <p:sp>
        <p:nvSpPr>
          <p:cNvPr id="17" name="col-Core"/>
          <p:cNvSpPr/>
          <p:nvPr/>
        </p:nvSpPr>
        <p:spPr>
          <a:xfrm>
            <a:off x="5490762" y="2395728"/>
            <a:ext cx="2938987" cy="3749040"/>
          </a:xfrm>
          <a:prstGeom prst="roundRect">
            <a:avLst>
              <a:gd name="adj" fmla="val 1867"/>
            </a:avLst>
          </a:prstGeom>
          <a:solidFill>
            <a:srgbClr val="E6DDD4"/>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Divide the people by the soldiers. Cancel matching zeros first.</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The population of England was about 1.5 to 2 million, not 500,000. Explain why the lesson's figure of 500,000 might be smaller than the whole population, and what difference it makes to your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870712"/>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William reigned from 1066 to 1087. How many years is that?</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AF8F6"/>
          </a:solidFill>
          <a:ln w="12700">
            <a:solidFill>
              <a:srgbClr val="C0AA95"/>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 (years):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Label the castle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Motte  →  C  A mound or hill of earth about 15 metres high</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Keep  →  A  The building on top of the mound where the baron lived</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Bailey  →  D  The main Norman living and working area, with stables and a blacksmith</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Palisade wall  →  B  A wooden fence around the bailey</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Moat  →  E  A ditch around the castle, sometimes filled with water for defence</a:t>
            </a:r>
            <a:endParaRPr lang="en-US" sz="20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Motte: the mound. Keep: the baron's building on top. Bailey: the living and working yard. Palisade: the fence around the bailey. Moat: the ditch around everything.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How many English to each Norman?</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Your lesson says castles let 10,000 Norman soldiers control 500,000 Anglo-Saxon people. How many Anglo-Saxons was that for each Norman soldier?</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50 people per soldier</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500,000 ÷ 10,000 = 50. The castle, not the soldier, did most of the work: height, walls and a moat meant a small garrison could see and hold a large area.</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William reigned from 1066 to 1087. How many years is that?</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21 years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1087 − 1066 = 21 years, the figure your lesson uses when it says a castle every two weeks.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6F2EF"/>
      </a:lt2>
      <a:accent1>
        <a:srgbClr val="7A4A1E"/>
      </a:accent1>
      <a:accent2>
        <a:srgbClr val="B8862B"/>
      </a:accent2>
      <a:accent3>
        <a:srgbClr val="AF9278"/>
      </a:accent3>
      <a:accent4>
        <a:srgbClr val="815E1E"/>
      </a:accent4>
      <a:accent5>
        <a:srgbClr val="4A505C"/>
      </a:accent5>
      <a:accent6>
        <a:srgbClr val="DEC69B"/>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William's Control of England · Chapter 6: Why did the Normans build so many castles?</dc:title>
  <dc:subject>History · Year 7</dc:subject>
  <dc:creator>Dr Vitor Merissi de Carvalho</dc:creator>
  <cp:lastModifiedBy>Dr Vitor Merissi de Carvalho</cp:lastModifiedBy>
  <cp:revision>1</cp:revision>
  <dcterms:created xsi:type="dcterms:W3CDTF">2026-10-19T16:23:19Z</dcterms:created>
  <dcterms:modified xsi:type="dcterms:W3CDTF">2026-10-19T16:23:19Z</dcterms:modified>
</cp:coreProperties>
</file>