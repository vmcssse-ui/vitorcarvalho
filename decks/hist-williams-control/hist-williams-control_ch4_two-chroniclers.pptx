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b3c5b5-3e65-ce04-3bd2-405c2dc9d5b9}">
          <p14:sldIdLst>
            <p14:sldId id="256"/>
          </p14:sldIdLst>
        </p14:section>
        <p14:section name="Gate" id="{d7558710-1134-e182-d040-7d43deced019}">
          <p14:sldIdLst>
            <p14:sldId id="257"/>
            <p14:sldId id="258"/>
          </p14:sldIdLst>
        </p14:section>
        <p14:section name="Pre-teach" id="{7250b7b7-577d-36a3-b559-1bbd51626968}">
          <p14:sldIdLst>
            <p14:sldId id="259"/>
            <p14:sldId id="260"/>
          </p14:sldIdLst>
        </p14:section>
        <p14:section name="Read-along" id="{4e85c017-76ba-cea9-eb33-c574f9dd1a75}">
          <p14:sldIdLst>
            <p14:sldId id="261"/>
            <p14:sldId id="262"/>
          </p14:sldIdLst>
        </p14:section>
        <p14:section name="Teach" id="{6e0bf64b-240b-ab7d-1160-1d6f851118fa}">
          <p14:sldIdLst>
            <p14:sldId id="263"/>
            <p14:sldId id="264"/>
            <p14:sldId id="265"/>
            <p14:sldId id="266"/>
            <p14:sldId id="267"/>
            <p14:sldId id="268"/>
          </p14:sldIdLst>
        </p14:section>
        <p14:section name="Routes" id="{7e0f28b1-a424-2b28-635c-e8458d44686c}">
          <p14:sldIdLst>
            <p14:sldId id="269"/>
            <p14:sldId id="270"/>
            <p14:sldId id="271"/>
            <p14:sldId id="272"/>
          </p14:sldIdLst>
        </p14:section>
        <p14:section name="Close" id="{45003b50-9f1b-b729-33c2-c148cc5e0a67}">
          <p14:sldIdLst>
            <p14:sldId id="273"/>
          </p14:sldIdLst>
        </p14:section>
        <p14:section name="Answers" id="{90c087bf-8e82-9943-7d76-b0e3cb33e2cf}">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Two writers, one event: interpretations of the Harrying. What a Norman supporter and a later monk each wrote about the Harrying of the North, why they disagree, and how to write about an interpretation using the five success criteria.
This deck covers the department's lesson: 3 (Terror: how did William put down challenges to his rule, 1066–70?: How did William deal with the rebellions of 1067–69, and what do two chroniclers say about the Harrying of the North?).
Read the big question aloud: "How did William conquer and control England after 1066?"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writer supported King William and explained the Harrying as necessary?  →  C   William of Poitiers
2. How many people did Orderic Vitalis believe died of hunger after the Harrying?  →  D   More than one hundred thousand
3. Orderic says the whole region north of the River ___ was laid waste.  →  Humber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William of Poitiers. William of Poitiers was a Norman supporter of the king who wrote that the Harrying secured peace and control.
2. D   More than one hundred thousand. Orderic wrote that more than one hundred thousand people perished from hunger, adding I believe to show it was his estimate.
3. Humber. The Humber is the river that marks the southern edge of the North of England; Orderic says everything north of it was laid waste.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chronicler: a writer who recorded events at the time or soon after. Example: "Orderic Vitalis was a chronicler who wrote about the Harrying."
• interpretation: one writer's view of what happened and why. Example: "The two writers give different interpretations of the Harrying."
• evidence: words or facts you use to back up a point. Example: "Give evidence from the interpretation by quoting a short phrase."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opinion: what someone thinks about something. Example: "The first step is to state the writer's opinion."
• treachery: betraying your ruler or breaking a promise of loyalty. Example: "William of Poitiers called the northern rebellions treachery."
• own knowledge: facts you already know that are not in the source. Example: "Use your own knowledge of the rebellions of 1067 to 1069."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Two writers described the Harrying of the North.
2. William of Poitiers was a Norman who supported the king.
3. He wrote that the Northumbrians had often rebelled and joined with the Danes.
4. He said William laid waste the land to stop it sheltering his enemies.
5. For him, the Harrying brought peace and control.
6. Orderic Vitalis wrote about fifty years later.
7. He said crops, herds, tools and food were burned to ashes.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He wrote of a cruel hunger that hit the innocent and the guilty alike.
9. He believed more than one hundred thousand people died.
10. He could not praise what William did.
11. Two writers, one event, two different views.
12. Historians call these different views interpretations.
13. Your job is to say what each writer thinks, give evidence, and then decide.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were the two writers?. Say it in your own words, then check understanding with a quick question: ask a pupil from the pre-teach group first, since they met these words and ideas before the lesson. Pupils try to recall before you re-explain.
William of Poitiers was a Norman who supported King William and wrote in the 1070s, within a few years of the Harrying. He wrote to praise the king, and he explains the Harrying as something William had to do. Orderic Vitalis was a monk who wrote in the 1120s, about fifty years after the events. He had grown up in England, and he writes with sorrow about what happened to ordinary people.
Your lesson calls both men historians and calls their writing interpretations, because each gives his own view of what happened and why. Both also lived close to the time, so historians today treat them as sources as well: evidence from the period, written by people with their own reasons for writing.
That double nature is the point. When you read either passage, ask two questions at once: what does this writer think happened and why? And who was he, and why might he see it that way?
Tip: Poitiers: Norman, writing for William, 1070s. Orderic: monk, writing later, 1120s. Learn the pair and you can explain the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William of Poitiers said. Say it in your own words, then check understanding with a quick question: ask a pupil from the pre-teach group first, since they met these words and ideas before the lesson. Pupils try to recall before you re-explain.
Poitiers begins with the rebels. The Northumbrians, he says, had often rebelled and had joined themselves with the Danes. In his view the king therefore decided to put an end to their treachery, their betrayal of their rightful ruler. He writes that William “laid waste the land so that it might no longer give shelter or food to his enemies”.
Then comes his judgement: by this means, he says, peace was secured for the future and the land was brought under control. For Poitiers the Harrying had a clear military purpose and a good result. He does not mention famine or the deaths of ordinary people at all.
Notice what the writer's position does to the writing. A Norman writing in William's lifetime, for a Norman audience, chooses to describe the rebels' treachery and the peace that followed. That is not lying; it is selecting. Spotting what a writer leaves out is part of reading an interpretation.
Tip: To quote evidence, pick a short phrase of no more than a line and put it in quotation marks. Then say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Orderic Vitalis said. Say it in your own words, then check understanding with a quick question: ask a pupil from the pre-teach group first, since they met these words and ideas before the lesson. Pupils try to recall before you re-explain.
Orderic describes the destruction itself. The king, he says, stopped at nothing to punish his enemies. He “ordered that crops and herds, tools and food of every kind should be burned to ashes”, and he says that everything north of the River Humber was left in ruins.
Then he turns to the people. He writes of a “cruel hunger which afflicted the innocent and the guilty alike”, and says that more than one hundred thousand people died of it, in his belief. His last words are a judgement: he cannot commend, meaning praise, this act.
Orderic does not say the rebels were innocent, and he does not deny that William had enemies in the North. His point is about proportion: the punishment fell on everyone, guilty or not, and the suffering was too great to approve of. That is a different interpretation from Poitiers, built from the same event.
Quotation: "More than one hundred thousand people perished, I believe, from hunger. I cannot commend this act." (Orderic Vitalis, writing in the 1120s, as printed in your lesson). Read it aloud; ask what it shows.
Tip: Orderic says I believe about his number. He is telling you it is an estimate, not a count. Say so when you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to write about an interpretation: five steps. Say it in your own words, then check understanding with a quick question: ask a pupil from the pre-teach group first, since they met these words and ideas before the lesson. Pupils try to recall before you re-explain.
Your lesson gives five success criteria. SC1: state the writer's opinion. SC2: give evidence from the interpretation, a short quotation. SC3: say whether you agree or disagree. SC4: give examples from your own knowledge. SC5: explain why William did this, or whether he had to.
The order matters. Opinion first, so the reader knows what you are discussing; evidence second, so they can see you read the passage; your view third; your own facts fourth, because your view needs support; and the explanation last, because it ties the writer's view and your knowledge together.
Own knowledge for this topic means the events of chapter 3: the rebellions of 1067 and 1068, Robert de Comines killed at Durham in January 1069, the Danes arriving later in 1069, and William's shortage of soldiers. Use at least one of these.
Worked example — model it step by step, thinking aloud: Apply the five steps to William of Poitiers, in a sentence each, without copying the class example. (1) SC1 opinion: Poitiers thinks the Harrying was a necessary answer to repeated treachery. (2) SC2 evidence: he writes that William “laid waste the land so that it might no longer give shelter or food to his enemies”, which shows he saw it as a military plan, not revenge. (3) SC3 view: I partly agree, because the aim he describes is real, but he leaves out the famine. (4) SC4 own knowledge: the North had risen in 1069 after Robert de Comines was killed at Durham, and the Danes had come to help. (5) SC5 explain: William could not keep an army in the North all the time, so he destroyed what a future rebellion would need; whether that was right is where Orderic disagrees. Answer: Five sentences, one per success criterion, ending with the explanation and a nod to the opposite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to write about an interpretation: five steps. Say it in your own words, then check understanding with a quick question: ask a pupil from the pre-teach group first, since they met these words and ideas before the lesson. Pupils try to recall before you re-explain.
Your lesson gives five success criteria. SC1: state the writer's opinion. SC2: give evidence from the interpretation, a short quotation. SC3: say whether you agree or disagree. SC4: give examples from your own knowledge. SC5: explain why William did this, or whether he had to.
The order matters. Opinion first, so the reader knows what you are discussing; evidence second, so they can see you read the passage; your view third; your own facts fourth, because your view needs support; and the explanation last, because it ties the writer's view and your knowledge together.
Own knowledge for this topic means the events of chapter 3: the rebellions of 1067 and 1068, Robert de Comines killed at Durham in January 1069, the Danes arriving later in 1069, and William's shortage of soldiers. Use at least one of these.
Worked example — model it step by step, thinking aloud: Apply the five steps to William of Poitiers, in a sentence each, without copying the class example. (1) SC1 opinion: Poitiers thinks the Harrying was a necessary answer to repeated treachery. (2) SC2 evidence: he writes that William “laid waste the land so that it might no longer give shelter or food to his enemies”, which shows he saw it as a military plan, not revenge. (3) SC3 view: I partly agree, because the aim he describes is real, but he leaves out the famine. (4) SC4 own knowledge: the North had risen in 1069 after Robert de Comines was killed at Durham, and the Danes had come to help. (5) SC5 explain: William could not keep an army in the North all the time, so he destroyed what a future rebellion would need; whether that was right is where Orderic disagrees. Answer: Five sentences, one per success criterion, ending with the explanation and a nod to the opposite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to write about an interpretation: five steps. Say it in your own words, then check understanding with a quick question: ask a pupil from the pre-teach group first, since they met these words and ideas before the lesson. Pupils try to recall before you re-explain.
Your lesson gives five success criteria. SC1: state the writer's opinion. SC2: give evidence from the interpretation, a short quotation. SC3: say whether you agree or disagree. SC4: give examples from your own knowledge. SC5: explain why William did this, or whether he had to.
The order matters. Opinion first, so the reader knows what you are discussing; evidence second, so they can see you read the passage; your view third; your own facts fourth, because your view needs support; and the explanation last, because it ties the writer's view and your knowledge together.
Own knowledge for this topic means the events of chapter 3: the rebellions of 1067 and 1068, Robert de Comines killed at Durham in January 1069, the Danes arriving later in 1069, and William's shortage of soldiers. Use at least one of these.
Worked example — model it step by step, thinking aloud: Apply the five steps to William of Poitiers, in a sentence each, without copying the class example. (1) SC1 opinion: Poitiers thinks the Harrying was a necessary answer to repeated treachery. (2) SC2 evidence: he writes that William “laid waste the land so that it might no longer give shelter or food to his enemies”, which shows he saw it as a military plan, not revenge. (3) SC3 view: I partly agree, because the aim he describes is real, but he leaves out the famine. (4) SC4 own knowledge: the North had risen in 1069 after Robert de Comines was killed at Durham, and the Danes had come to help. (5) SC5 explain: William could not keep an army in the North all the time, so he destroyed what a future rebellion would need; whether that was right is where Orderic disagrees. Answer: Five sentences, one per success criterion, ending with the explanation and a nod to the opposite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Whose words, and what they show.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phrase to the writer and what it shows.
Support — work through the steps with the group: (1) Poitiers defends William, so his phrases are about enemies, purpose and peace. (2) Orderic is sorrowful, so his phrases are about destruction and suffering. (3) Sort the four phrases into defending and sorrowful first. (4) Then match each to what it shows: purpose, result, scale, who suffered.
Parallel worked example for Support (model it, do not give the task answer): Two match reports on the same game. Match the phrase to the writer: a brave defensive display (the winning team's programme); ninety minutes of time-wasting (the losing team's fan site). The winners' writer chooses flattering words.; The losers' writer chooses critical words for the same tactics.. Answer: Brave defensive display: the winners' programme. Time-wasting: the losers' fan site..
Core — reveal the hint only on request: Enemies and peace belong to the Norman supporter. Ashes and the innocent belong to the monk.
Stretch — no help; when finished: Both writers use the words laid waste. Explain how the same two words can carry approval in one passage and horror in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Whose words, and what they show.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phrase to the writer and what it shows.
Support — work through the steps with the group: (1) Poitiers defends William, so his phrases are about enemies, purpose and peace. (2) Orderic is sorrowful, so his phrases are about destruction and suffering. (3) Sort the four phrases into defending and sorrowful first. (4) Then match each to what it shows: purpose, result, scale, who suffered.
Parallel worked example for Support (model it, do not give the task answer): Two match reports on the same game. Match the phrase to the writer: a brave defensive display (the winning team's programme); ninety minutes of time-wasting (the losing team's fan site). The winners' writer chooses flattering words.; The losers' writer chooses critical words for the same tactics.. Answer: Brave defensive display: the winners' programme. Time-wasting: the losers' fan site..
Core — reveal the hint only on request: Enemies and peace belong to the Norman supporter. Ashes and the innocent belong to the monk.
Stretch — no help; when finished: Both writers use the words laid waste. Explain how the same two words can carry approval in one passage and horror in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Analyse Orderic: the five steps.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Using Orderic Vitalis and your own knowledge, explain his interpretation of the Harrying of the North and say how far you agree with it. Follow the five success criteria.
Support — work through the steps with the group: (1) SC1: Orderic Vitalis believes that the Harrying was… (2) SC2: He writes that “…”, which shows that… (3) SC3: I agree / disagree with Orderic because… (4) SC4: From my own knowledge, I know that in 1069… (5) SC5: William did this because… However / Therefore…
Parallel worked example for Support (model it, do not give the task answer): Apply the five steps to a school report that says a pupil talks too much in lessons. Opinion: the teacher thinks the pupil disrupts lessons.; Evidence: quote the phrase talks too much.; View: I partly agree.; Own knowledge: the pupil was quiet in science all term.; Explain: the teacher only sees one subject, so the report is true for that room but not for every room.. Answer: Five sentences: opinion, quote, view, own knowledge, explanation..
Core — reveal the hint only on request: One sentence per success criterion, in order. Your quotation should be short and inside quotation marks.
Stretch — no help; when finished: Add a sixth sentence that uses William of Poitiers to show the other side, then say which writer you find more convincing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Analyse Orderic: the five steps.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Using Orderic Vitalis and your own knowledge, explain his interpretation of the Harrying of the North and say how far you agree with it. Follow the five success criteria.
Support — work through the steps with the group: (1) SC1: Orderic Vitalis believes that the Harrying was… (2) SC2: He writes that “…”, which shows that… (3) SC3: I agree / disagree with Orderic because… (4) SC4: From my own knowledge, I know that in 1069… (5) SC5: William did this because… However / Therefore…
Parallel worked example for Support (model it, do not give the task answer): Apply the five steps to a school report that says a pupil talks too much in lessons. Opinion: the teacher thinks the pupil disrupts lessons.; Evidence: quote the phrase talks too much.; View: I partly agree.; Own knowledge: the pupil was quiet in science all term.; Explain: the teacher only sees one subject, so the report is true for that room but not for every room.. Answer: Five sentences: opinion, quote, view, own knowledge, explanation..
Core — reveal the hint only on request: One sentence per success criterion, in order. Your quotation should be short and inside quotation marks.
Stretch — no help; when finished: Add a sixth sentence that uses William of Poitiers to show the other side, then say which writer you find more convincing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do William of Poitiers and Orderic Vitalis give such different interpretations of the same event?
Answer: C   Poitiers was a Norman writing to support William in his lifetime; Orderic was a monk writing later who cared about the suffering of ordinary people. Both men saw the same facts. Poitiers, a Norman supporter, chose the rebels' treachery and the peace that followed; Orderic, a monk writing later, chose the destruction and the hunger of the innocent. Position and purpose shaped the interpretation.
Source of this question: module 3 task ("Why do they disagree?")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Whose words, and what they show. Reveal the answer; pupils mark their own work in a different colour, then read the "why" together. Same destination for every lane, so one answer serves the whole class.
Answer: “laid waste the land so that it might no longer give shelter or food to his enemies”  →  D  Poitiers: the destruction had a military purpose; “peace was secured for the future”  →  C  Poitiers: the Harrying had a good result; “burned to ashes”  →  B  Orderic: the scale of the destruction; “the innocent and the guilty alike”  →  A  Orderic: ordinary people suffered whether or not they had rebelled
Why: Poitiers' phrases give the Harrying a purpose (denying shelter and food to enemies) and a result (peace). Orderic's phrases give its scale (burned to ashes) and its victims (the innocent and the guilty alike).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Analyse Orderic: the five steps. Reveal the answer; pupils mark their own work in a different colour, then read the "why" together. Same destination for every lane, so one answer serves the whole class.
Answer: SC1: I state Orderic's opinion of the Harrying in my first sentence.; SC2: I quote one short phrase from Orderic as evidence and say what it shows.; SC3: I say whether I agree or disagree with him, and how far.; SC4: I give at least one fact from my own knowledge (the rebellions, Durham, the Danes, William's shortage of soldiers).; SC5: I explain why William did this, and whether I think he had to.
Why: The five criteria build an argument in order: what the writer thinks, the words that prove it, your view, the facts that support your view, and finally the explanation of William's choice. A strong answer keeps to one sentence per step.
Model answer: Orderic Vitalis believes the Harrying of the North was cruel and that William went far beyond what was needed. He writes that the hunger afflicted “the innocent and the guilty alike”, which shows that ordinary people who had never rebelled starved along with the rebels. I agree with Orderic for the most part, because a punishment that kills people who had done nothing wrong cannot be fully justified. From my own knowledge, I know the North had rebelled in 1069 after Robert de Comines was killed at Durham, and that the Danes had arrived to help, so William faced a real danger. He laid waste the North because he did not have enough soldiers to hold it all the time, but Orderic shows that the cost of that choice fell on everyone, and I think a smaller punishment could have ended the rebellion without a famine.
Success criteria: SC1: I state Orderic's opinion of the Harrying in my first sentence.; SC2: I quote one short phrase from Orderic as evidence and say what it shows.; SC3: I say whether I agree or disagree with him, and how far.; SC4: I give at least one fact from my own knowledge (the rebellions, Durham, the Danes, William's shortage of soldiers).; SC5: I explain why William did this, and whether I think he had to.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Analyse Orderic: the five steps. Reveal the answer; pupils mark their own work in a different colour, then read the "why" together. Same destination for every lane, so one answer serves the whole class.
Answer: SC1: I state Orderic's opinion of the Harrying in my first sentence.; SC2: I quote one short phrase from Orderic as evidence and say what it shows.; SC3: I say whether I agree or disagree with him, and how far.; SC4: I give at least one fact from my own knowledge (the rebellions, Durham, the Danes, William's shortage of soldiers).; SC5: I explain why William did this, and whether I think he had to.
Why: The five criteria build an argument in order: what the writer thinks, the words that prove it, your view, the facts that support your view, and finally the explanation of William's choice. A strong answer keeps to one sentence per step.
Model answer: Orderic Vitalis believes the Harrying of the North was cruel and that William went far beyond what was needed. He writes that the hunger afflicted “the innocent and the guilty alike”, which shows that ordinary people who had never rebelled starved along with the rebels. I agree with Orderic for the most part, because a punishment that kills people who had done nothing wrong cannot be fully justified. From my own knowledge, I know the North had rebelled in 1069 after Robert de Comines was killed at Durham, and that the Danes had arrived to help, so William faced a real danger. He laid waste the North because he did not have enough soldiers to hold it all the time, but Orderic shows that the cost of that choice fell on everyone, and I think a smaller punishment could have ended the rebellion without a famine.
Success criteria: SC1: I state Orderic's opinion of the Harrying in my first sentence.; SC2: I quote one short phrase from Orderic as evidence and say what it shows.; SC3: I say whether I agree or disagree with him, and how far.; SC4: I give at least one fact from my own knowledge (the rebellions, Durham, the Danes, William's shortage of soldiers).; SC5: I explain why William did this, and whether I think he had to.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Poitiers was a Norman writing to support William in his lifetime; Orderic was a monk writing later who cared about the suffering of ordinary people
Why: Both men saw the same facts. Poitiers, a Norman supporter, chose the rebels' treachery and the peace that followed; Orderic, a monk writing later, chose the destruction and the hunger of the innocent. Position and purpose shaped the interpretation.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William's Control of England · AQA KS3 → 8145</a:t>
            </a:r>
            <a:endParaRPr lang="en-US" sz="1800" dirty="0"/>
          </a:p>
        </p:txBody>
      </p:sp>
      <p:sp>
        <p:nvSpPr>
          <p:cNvPr id="10" name="deck-title"/>
          <p:cNvSpPr txBox="1"/>
          <p:nvPr/>
        </p:nvSpPr>
        <p:spPr>
          <a:xfrm>
            <a:off x="548640" y="220522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Two writers, one event: interpretations of the Harrying</a:t>
            </a:r>
            <a:endParaRPr lang="en-US" sz="2800" dirty="0"/>
          </a:p>
        </p:txBody>
      </p:sp>
      <p:sp>
        <p:nvSpPr>
          <p:cNvPr id="11" name="lessons-card"/>
          <p:cNvSpPr/>
          <p:nvPr/>
        </p:nvSpPr>
        <p:spPr>
          <a:xfrm>
            <a:off x="548640" y="3947668"/>
            <a:ext cx="5287975" cy="1290320"/>
          </a:xfrm>
          <a:prstGeom prst="roundRect">
            <a:avLst>
              <a:gd name="adj" fmla="val 5669"/>
            </a:avLst>
          </a:prstGeom>
          <a:solidFill>
            <a:srgbClr val="F6F2EF"/>
          </a:solidFill>
          <a:ln/>
        </p:spPr>
      </p:sp>
      <p:sp>
        <p:nvSpPr>
          <p:cNvPr id="12" name="lessons"/>
          <p:cNvSpPr txBox="1"/>
          <p:nvPr/>
        </p:nvSpPr>
        <p:spPr>
          <a:xfrm>
            <a:off x="685800" y="40391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Terror: how did William put down challenges to his rule, 1066–70?</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William conquer and control England after 1066?</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writer supported King William and explained the Harrying as necessary?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Harold Godwinson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Orderic Vitalis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William of Poitiers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Robert de Comines</a:t>
            </a:r>
            <a:endParaRPr lang="en-US" sz="22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How many people did Orderic Vitalis believe died of hunger after the Harrying?</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About ten thousand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About five hundred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 gives no number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More than one hundred thousand</a:t>
            </a:r>
            <a:endParaRPr lang="en-US" sz="22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Orderic says the whole region north of the River ___ was laid waste.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Humber  ·  Thames  ·  Severn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William of Poitiers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writer supported King William and explained the Harrying as necessary?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William of Poitiers was a Norman supporter of the king who wrote that the Harrying secured peace and control.</a:t>
            </a:r>
            <a:endParaRPr lang="en-US" sz="20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FE4D0"/>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More than one hundred thousand</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How many people did Orderic Vitalis believe died of hunger after the Harrying?</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Orderic wrote that more than one hundred thousand people perished from hunger, adding I believe to show it was his estimate.</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Humber</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Orderic says the whole region north of the River ___ was laid waste.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Humber is the river that marks the southern edge of the North of England; Orderic says everything north of it was laid waste.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chronicler</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writer who recorded events at the time or soon after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Orderic Vitalis was a chronicler who wrote about the Harrying.</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interpretation</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writer's view of what happened and why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two writers give different interpretations of the Harrying.</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evidence</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words or facts you use to back up a point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Give evidence from the interpretation by quoting a short phrase.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opinion</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someone thinks about something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first step is to state the writer's opinion.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treachery</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betraying your ruler or breaking a promise of loyalty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William of Poitiers called the northern rebellions treachery.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own knowledge</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facts you already know that are not in the source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Use your own knowledge of the rebellions of 1067 to 1069.</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Two writers described the Harrying of the North.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William of Poitiers was a Norman who supported the king.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wrote that the Northumbrians had often rebelled and joined with the Danes.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said William laid waste the land to stop it sheltering his enemies.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For him, the Harrying brought peace and control.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Orderic Vitalis wrote about fifty years later.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said crops, herds, tools and food were burned to ashes.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wrote of a cruel hunger that hit the innocent and the guilty alike.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believed more than one hundred thousand people died.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could not praise what William did.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Two writers, one event, two different views.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Historians call these different views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interpretations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Your job is to say what each writer thinks, give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evidence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then decide.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were the two writers?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Poitiers: Norman, writing for William, 1070s. Orderic: monk, writing later, 1120s. Learn the pair and you can explain the disagreement.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William of Poitiers was a Norman who supported King William and wrote in the 1070s, within a few years of the Harrying.</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calls both men historians and calls their writing interpretations, because each gives his own view of what happened and why.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double nature is the point. When you read either passage, ask two questions at once: what does this writer think happened and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William of Poitiers said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 quote evidence, pick a short phrase of no more than a line and put it in quotation marks. Then say what it shows.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Poitiers begins with the rebels. The Northumbrians, he says, had often rebelled and had joined themselves with the Danes.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Then comes his judgement: by this means, he says, peace was secured for the future and the land was brought under control.</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Notice what the writer's position does to the writing. A Norman writing in William's lifetime, for a Norman audience, chooses to describe the rebels' treachery and the peace that followed.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Orderic Vitalis said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Orderic says I believe about his number. He is telling you it is an estimate, not a count. Say so when you use it.</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6F2EF"/>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More than one hundred thousand people perished, I believe, from hunger. I cannot commend this act.</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Orderic Vitalis, writing in the 1120s, as printed in your lesson</a:t>
            </a:r>
            <a:endParaRPr lang="en-US" sz="2600" dirty="0"/>
          </a:p>
        </p:txBody>
      </p:sp>
      <p:sp>
        <p:nvSpPr>
          <p:cNvPr id="14" name="bullet-card"/>
          <p:cNvSpPr/>
          <p:nvPr/>
        </p:nvSpPr>
        <p:spPr>
          <a:xfrm>
            <a:off x="548640" y="1389888"/>
            <a:ext cx="5074920" cy="1320546"/>
          </a:xfrm>
          <a:prstGeom prst="roundRect">
            <a:avLst>
              <a:gd name="adj" fmla="val 5540"/>
            </a:avLst>
          </a:prstGeom>
          <a:solidFill>
            <a:srgbClr val="F8F6F4"/>
          </a:solidFill>
          <a:ln/>
        </p:spPr>
      </p:sp>
      <p:sp>
        <p:nvSpPr>
          <p:cNvPr id="15" name="bullet-hex"/>
          <p:cNvSpPr/>
          <p:nvPr/>
        </p:nvSpPr>
        <p:spPr>
          <a:xfrm>
            <a:off x="676656" y="1883868"/>
            <a:ext cx="384048" cy="332586"/>
          </a:xfrm>
          <a:prstGeom prst="hexagon">
            <a:avLst/>
          </a:prstGeom>
          <a:solidFill>
            <a:srgbClr val="7A4A1E"/>
          </a:solidFill>
          <a:ln/>
        </p:spPr>
      </p:sp>
      <p:sp>
        <p:nvSpPr>
          <p:cNvPr id="16" name="bullet"/>
          <p:cNvSpPr txBox="1"/>
          <p:nvPr/>
        </p:nvSpPr>
        <p:spPr>
          <a:xfrm>
            <a:off x="1143000" y="1389888"/>
            <a:ext cx="4389120" cy="13205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Orderic describes the destruction itself. The king, he says, stopped at nothing to punish his enemies.</a:t>
            </a:r>
            <a:endParaRPr lang="en-US" sz="2000" dirty="0"/>
          </a:p>
        </p:txBody>
      </p:sp>
      <p:sp>
        <p:nvSpPr>
          <p:cNvPr id="17" name="bullet-card"/>
          <p:cNvSpPr/>
          <p:nvPr/>
        </p:nvSpPr>
        <p:spPr>
          <a:xfrm>
            <a:off x="548640" y="2856738"/>
            <a:ext cx="5074920" cy="1940306"/>
          </a:xfrm>
          <a:prstGeom prst="roundRect">
            <a:avLst>
              <a:gd name="adj" fmla="val 3770"/>
            </a:avLst>
          </a:prstGeom>
          <a:solidFill>
            <a:srgbClr val="F8F6F4"/>
          </a:solidFill>
          <a:ln/>
        </p:spPr>
      </p:sp>
      <p:sp>
        <p:nvSpPr>
          <p:cNvPr id="18" name="bullet-hex"/>
          <p:cNvSpPr/>
          <p:nvPr/>
        </p:nvSpPr>
        <p:spPr>
          <a:xfrm>
            <a:off x="676656" y="3660598"/>
            <a:ext cx="384048" cy="332586"/>
          </a:xfrm>
          <a:prstGeom prst="hexagon">
            <a:avLst/>
          </a:prstGeom>
          <a:solidFill>
            <a:srgbClr val="B8862B"/>
          </a:solidFill>
          <a:ln/>
        </p:spPr>
      </p:sp>
      <p:sp>
        <p:nvSpPr>
          <p:cNvPr id="19" name="bullet"/>
          <p:cNvSpPr txBox="1"/>
          <p:nvPr/>
        </p:nvSpPr>
        <p:spPr>
          <a:xfrm>
            <a:off x="1143000" y="2856738"/>
            <a:ext cx="4389120" cy="194030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Then he turns to the people. He writes of a “cruel hunger which afflicted the innocent and the guilty alike”, and says that more than one hundred thousand people died of it, in his belief.</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How to write about an interpretation: five steps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6F2EF"/>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gives five success criteria. SC1: state the writer's opinion.</a:t>
            </a:r>
            <a:endParaRPr lang="en-US" sz="18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order matters. Opinion first, so the reader knows what you are discussing; evidence second, so they can see you read the passage; your view third; your own facts fourth, because your view needs support; and the explanation last, because it ties the writer's view and your knowledge together.</a:t>
            </a:r>
            <a:endParaRPr lang="en-US" sz="1800" dirty="0"/>
          </a:p>
        </p:txBody>
      </p:sp>
      <p:sp>
        <p:nvSpPr>
          <p:cNvPr id="15" name="point-card"/>
          <p:cNvSpPr/>
          <p:nvPr/>
        </p:nvSpPr>
        <p:spPr>
          <a:xfrm>
            <a:off x="8127797" y="1389888"/>
            <a:ext cx="3515258" cy="4754880"/>
          </a:xfrm>
          <a:prstGeom prst="roundRect">
            <a:avLst>
              <a:gd name="adj" fmla="val 1561"/>
            </a:avLst>
          </a:prstGeom>
          <a:solidFill>
            <a:srgbClr val="F6F2EF"/>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Own knowledge for this topic means the events of chapter 3: the rebellions of 1067 and 1068, Robert de Comines killed at Durham in January 1069, the Danes arriving later in 1069, and William's shortage of soldiers.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How to write about an interpretation: five steps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6F2EF"/>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Apply the five steps to William of Poitiers, in a sentence each, without copying the class example.</a:t>
            </a:r>
            <a:endParaRPr lang="en-US" sz="2200" dirty="0"/>
          </a:p>
        </p:txBody>
      </p:sp>
      <p:sp>
        <p:nvSpPr>
          <p:cNvPr id="9" name="step-box"/>
          <p:cNvSpPr/>
          <p:nvPr/>
        </p:nvSpPr>
        <p:spPr>
          <a:xfrm>
            <a:off x="548640" y="2655824"/>
            <a:ext cx="3423818" cy="2810764"/>
          </a:xfrm>
          <a:prstGeom prst="roundRect">
            <a:avLst>
              <a:gd name="adj" fmla="val 2603"/>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2124964"/>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SC1 opinion: Poitiers thinks the Harrying was a necessary answer to repeated treachery.</a:t>
            </a:r>
            <a:endParaRPr lang="en-US" sz="1800" dirty="0"/>
          </a:p>
        </p:txBody>
      </p:sp>
      <p:sp>
        <p:nvSpPr>
          <p:cNvPr id="13" name="arrow"/>
          <p:cNvSpPr/>
          <p:nvPr/>
        </p:nvSpPr>
        <p:spPr>
          <a:xfrm>
            <a:off x="4045610" y="3924046"/>
            <a:ext cx="274320" cy="274320"/>
          </a:xfrm>
          <a:prstGeom prst="rightArrow">
            <a:avLst/>
          </a:prstGeom>
          <a:solidFill>
            <a:srgbClr val="B8862B"/>
          </a:solidFill>
          <a:ln/>
        </p:spPr>
      </p:sp>
      <p:sp>
        <p:nvSpPr>
          <p:cNvPr id="14" name="step-box"/>
          <p:cNvSpPr/>
          <p:nvPr/>
        </p:nvSpPr>
        <p:spPr>
          <a:xfrm>
            <a:off x="4383938" y="2655824"/>
            <a:ext cx="3423818" cy="2810764"/>
          </a:xfrm>
          <a:prstGeom prst="roundRect">
            <a:avLst>
              <a:gd name="adj" fmla="val 2603"/>
            </a:avLst>
          </a:prstGeom>
          <a:solidFill>
            <a:srgbClr val="FFFFFF"/>
          </a:solidFill>
          <a:ln w="15875">
            <a:solidFill>
              <a:srgbClr val="B69B83"/>
            </a:solidFill>
            <a:prstDash val="solid"/>
          </a:ln>
        </p:spPr>
      </p:sp>
      <p:sp>
        <p:nvSpPr>
          <p:cNvPr id="15" name="step-hex"/>
          <p:cNvSpPr/>
          <p:nvPr/>
        </p:nvSpPr>
        <p:spPr>
          <a:xfrm>
            <a:off x="4521098" y="2765552"/>
            <a:ext cx="530352" cy="459285"/>
          </a:xfrm>
          <a:prstGeom prst="hexagon">
            <a:avLst/>
          </a:prstGeom>
          <a:solidFill>
            <a:srgbClr val="7A4A1E"/>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2124964"/>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SC2 evidence: he writes that William “laid waste the land so that it might no longer give shelter or food to his enemies”, which shows he saw it as a military plan, not revenge.</a:t>
            </a:r>
            <a:endParaRPr lang="en-US" sz="1800" dirty="0"/>
          </a:p>
        </p:txBody>
      </p:sp>
      <p:sp>
        <p:nvSpPr>
          <p:cNvPr id="18" name="arrow"/>
          <p:cNvSpPr/>
          <p:nvPr/>
        </p:nvSpPr>
        <p:spPr>
          <a:xfrm>
            <a:off x="7880909" y="3924046"/>
            <a:ext cx="274320" cy="274320"/>
          </a:xfrm>
          <a:prstGeom prst="rightArrow">
            <a:avLst/>
          </a:prstGeom>
          <a:solidFill>
            <a:srgbClr val="B8862B"/>
          </a:solidFill>
          <a:ln/>
        </p:spPr>
      </p:sp>
      <p:sp>
        <p:nvSpPr>
          <p:cNvPr id="19" name="step-box"/>
          <p:cNvSpPr/>
          <p:nvPr/>
        </p:nvSpPr>
        <p:spPr>
          <a:xfrm>
            <a:off x="8219237" y="2655824"/>
            <a:ext cx="3423818" cy="2810764"/>
          </a:xfrm>
          <a:prstGeom prst="roundRect">
            <a:avLst>
              <a:gd name="adj" fmla="val 2603"/>
            </a:avLst>
          </a:prstGeom>
          <a:solidFill>
            <a:srgbClr val="FFFFFF"/>
          </a:solidFill>
          <a:ln w="15875">
            <a:solidFill>
              <a:srgbClr val="B69B83"/>
            </a:solidFill>
            <a:prstDash val="solid"/>
          </a:ln>
        </p:spPr>
      </p:sp>
      <p:sp>
        <p:nvSpPr>
          <p:cNvPr id="20" name="step-hex"/>
          <p:cNvSpPr/>
          <p:nvPr/>
        </p:nvSpPr>
        <p:spPr>
          <a:xfrm>
            <a:off x="8356397" y="2765552"/>
            <a:ext cx="530352" cy="459285"/>
          </a:xfrm>
          <a:prstGeom prst="hexagon">
            <a:avLst/>
          </a:prstGeom>
          <a:solidFill>
            <a:srgbClr val="7A4A1E"/>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2124964"/>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SC3 view: I partly agree, because the aim he describes is real, but he leaves out the famine.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How to write about an interpretation: five steps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6F2EF"/>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Apply the five steps to William of Poitiers, in a sentence each, without copying the class example.</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SC4 own knowledge: the North had risen in 1069 after Robert de Comines was killed at Durham, and the Danes had come to help.</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SC5 explain: William could not keep an army in the North all the time, so he destroyed what a future rebellion would need; whether that was right is where Orderic disagrees.</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Five sentences, one per success criterion, ending with the explanation and a nod to the opposite view.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Whose words, and what they show</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phrase to the writer and what it shows.</a:t>
            </a:r>
            <a:endParaRPr lang="en-US" sz="2400" dirty="0"/>
          </a:p>
        </p:txBody>
      </p:sp>
      <p:sp>
        <p:nvSpPr>
          <p:cNvPr id="11" name="match-card"/>
          <p:cNvSpPr/>
          <p:nvPr/>
        </p:nvSpPr>
        <p:spPr>
          <a:xfrm>
            <a:off x="777240" y="2468331"/>
            <a:ext cx="5135728" cy="1181999"/>
          </a:xfrm>
          <a:prstGeom prst="roundRect">
            <a:avLst>
              <a:gd name="adj" fmla="val 6189"/>
            </a:avLst>
          </a:prstGeom>
          <a:solidFill>
            <a:srgbClr val="F8F6F4"/>
          </a:solidFill>
          <a:ln/>
        </p:spPr>
      </p:sp>
      <p:sp>
        <p:nvSpPr>
          <p:cNvPr id="12" name="match-hex"/>
          <p:cNvSpPr/>
          <p:nvPr/>
        </p:nvSpPr>
        <p:spPr>
          <a:xfrm>
            <a:off x="850392" y="2893038"/>
            <a:ext cx="384048" cy="332586"/>
          </a:xfrm>
          <a:prstGeom prst="hexagon">
            <a:avLst/>
          </a:prstGeom>
          <a:solidFill>
            <a:srgbClr val="7A4A1E"/>
          </a:solidFill>
          <a:ln/>
        </p:spPr>
      </p:sp>
      <p:sp>
        <p:nvSpPr>
          <p:cNvPr id="13" name="match-hex-label"/>
          <p:cNvSpPr txBox="1"/>
          <p:nvPr/>
        </p:nvSpPr>
        <p:spPr>
          <a:xfrm>
            <a:off x="850392" y="28930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1819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“laid waste the land so that it might no longer give shelter or food to his enemies”</a:t>
            </a:r>
            <a:endParaRPr lang="en-US" sz="2000" dirty="0"/>
          </a:p>
        </p:txBody>
      </p:sp>
      <p:sp>
        <p:nvSpPr>
          <p:cNvPr id="15" name="match-card"/>
          <p:cNvSpPr/>
          <p:nvPr/>
        </p:nvSpPr>
        <p:spPr>
          <a:xfrm>
            <a:off x="6278728" y="2468331"/>
            <a:ext cx="5135728" cy="1181999"/>
          </a:xfrm>
          <a:prstGeom prst="roundRect">
            <a:avLst>
              <a:gd name="adj" fmla="val 6189"/>
            </a:avLst>
          </a:prstGeom>
          <a:solidFill>
            <a:srgbClr val="F9F4EC"/>
          </a:solidFill>
          <a:ln/>
        </p:spPr>
      </p:sp>
      <p:sp>
        <p:nvSpPr>
          <p:cNvPr id="16" name="match-hex"/>
          <p:cNvSpPr/>
          <p:nvPr/>
        </p:nvSpPr>
        <p:spPr>
          <a:xfrm>
            <a:off x="6351880" y="2893038"/>
            <a:ext cx="384048" cy="332586"/>
          </a:xfrm>
          <a:prstGeom prst="hexagon">
            <a:avLst/>
          </a:prstGeom>
          <a:solidFill>
            <a:srgbClr val="B8862B"/>
          </a:solidFill>
          <a:ln/>
        </p:spPr>
      </p:sp>
      <p:sp>
        <p:nvSpPr>
          <p:cNvPr id="17" name="match-hex-label"/>
          <p:cNvSpPr txBox="1"/>
          <p:nvPr/>
        </p:nvSpPr>
        <p:spPr>
          <a:xfrm>
            <a:off x="6351880" y="28930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1819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Orderic: ordinary people suffered whether or not they had rebelled</a:t>
            </a:r>
            <a:endParaRPr lang="en-US" sz="2000" dirty="0"/>
          </a:p>
        </p:txBody>
      </p:sp>
      <p:sp>
        <p:nvSpPr>
          <p:cNvPr id="19" name="match-card"/>
          <p:cNvSpPr/>
          <p:nvPr/>
        </p:nvSpPr>
        <p:spPr>
          <a:xfrm>
            <a:off x="777240" y="3741771"/>
            <a:ext cx="5135728" cy="582559"/>
          </a:xfrm>
          <a:prstGeom prst="roundRect">
            <a:avLst>
              <a:gd name="adj" fmla="val 12557"/>
            </a:avLst>
          </a:prstGeom>
          <a:solidFill>
            <a:srgbClr val="F8F6F4"/>
          </a:solidFill>
          <a:ln/>
        </p:spPr>
      </p:sp>
      <p:sp>
        <p:nvSpPr>
          <p:cNvPr id="20" name="match-hex"/>
          <p:cNvSpPr/>
          <p:nvPr/>
        </p:nvSpPr>
        <p:spPr>
          <a:xfrm>
            <a:off x="850392" y="3866757"/>
            <a:ext cx="384048" cy="332586"/>
          </a:xfrm>
          <a:prstGeom prst="hexagon">
            <a:avLst/>
          </a:prstGeom>
          <a:solidFill>
            <a:srgbClr val="7A4A1E"/>
          </a:solidFill>
          <a:ln/>
        </p:spPr>
      </p:sp>
      <p:sp>
        <p:nvSpPr>
          <p:cNvPr id="21" name="match-hex-label"/>
          <p:cNvSpPr txBox="1"/>
          <p:nvPr/>
        </p:nvSpPr>
        <p:spPr>
          <a:xfrm>
            <a:off x="850392" y="38667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41771"/>
            <a:ext cx="4541368" cy="582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“peace was secured for the future”</a:t>
            </a:r>
            <a:endParaRPr lang="en-US" sz="2000" dirty="0"/>
          </a:p>
        </p:txBody>
      </p:sp>
      <p:sp>
        <p:nvSpPr>
          <p:cNvPr id="23" name="match-card"/>
          <p:cNvSpPr/>
          <p:nvPr/>
        </p:nvSpPr>
        <p:spPr>
          <a:xfrm>
            <a:off x="6278728" y="3741771"/>
            <a:ext cx="5135728" cy="582559"/>
          </a:xfrm>
          <a:prstGeom prst="roundRect">
            <a:avLst>
              <a:gd name="adj" fmla="val 12557"/>
            </a:avLst>
          </a:prstGeom>
          <a:solidFill>
            <a:srgbClr val="F9F4EC"/>
          </a:solidFill>
          <a:ln/>
        </p:spPr>
      </p:sp>
      <p:sp>
        <p:nvSpPr>
          <p:cNvPr id="24" name="match-hex"/>
          <p:cNvSpPr/>
          <p:nvPr/>
        </p:nvSpPr>
        <p:spPr>
          <a:xfrm>
            <a:off x="6351880" y="3866757"/>
            <a:ext cx="384048" cy="332586"/>
          </a:xfrm>
          <a:prstGeom prst="hexagon">
            <a:avLst/>
          </a:prstGeom>
          <a:solidFill>
            <a:srgbClr val="B8862B"/>
          </a:solidFill>
          <a:ln/>
        </p:spPr>
      </p:sp>
      <p:sp>
        <p:nvSpPr>
          <p:cNvPr id="25" name="match-hex-label"/>
          <p:cNvSpPr txBox="1"/>
          <p:nvPr/>
        </p:nvSpPr>
        <p:spPr>
          <a:xfrm>
            <a:off x="6351880" y="38667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741771"/>
            <a:ext cx="4541368" cy="582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Orderic: the scale of the destruction</a:t>
            </a:r>
            <a:endParaRPr lang="en-US" sz="2000" dirty="0"/>
          </a:p>
        </p:txBody>
      </p:sp>
      <p:sp>
        <p:nvSpPr>
          <p:cNvPr id="27" name="match-card"/>
          <p:cNvSpPr/>
          <p:nvPr/>
        </p:nvSpPr>
        <p:spPr>
          <a:xfrm>
            <a:off x="777240" y="4415770"/>
            <a:ext cx="5135728" cy="582559"/>
          </a:xfrm>
          <a:prstGeom prst="roundRect">
            <a:avLst>
              <a:gd name="adj" fmla="val 12557"/>
            </a:avLst>
          </a:prstGeom>
          <a:solidFill>
            <a:srgbClr val="F8F6F4"/>
          </a:solidFill>
          <a:ln/>
        </p:spPr>
      </p:sp>
      <p:sp>
        <p:nvSpPr>
          <p:cNvPr id="28" name="match-hex"/>
          <p:cNvSpPr/>
          <p:nvPr/>
        </p:nvSpPr>
        <p:spPr>
          <a:xfrm>
            <a:off x="850392" y="4540756"/>
            <a:ext cx="384048" cy="332586"/>
          </a:xfrm>
          <a:prstGeom prst="hexagon">
            <a:avLst/>
          </a:prstGeom>
          <a:solidFill>
            <a:srgbClr val="7A4A1E"/>
          </a:solidFill>
          <a:ln/>
        </p:spPr>
      </p:sp>
      <p:sp>
        <p:nvSpPr>
          <p:cNvPr id="29" name="match-hex-label"/>
          <p:cNvSpPr txBox="1"/>
          <p:nvPr/>
        </p:nvSpPr>
        <p:spPr>
          <a:xfrm>
            <a:off x="850392" y="45407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15770"/>
            <a:ext cx="4541368" cy="582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“burned to ashes”</a:t>
            </a:r>
            <a:endParaRPr lang="en-US" sz="2000" dirty="0"/>
          </a:p>
        </p:txBody>
      </p:sp>
      <p:sp>
        <p:nvSpPr>
          <p:cNvPr id="31" name="match-card"/>
          <p:cNvSpPr/>
          <p:nvPr/>
        </p:nvSpPr>
        <p:spPr>
          <a:xfrm>
            <a:off x="6278728" y="4415770"/>
            <a:ext cx="5135728" cy="582559"/>
          </a:xfrm>
          <a:prstGeom prst="roundRect">
            <a:avLst>
              <a:gd name="adj" fmla="val 12557"/>
            </a:avLst>
          </a:prstGeom>
          <a:solidFill>
            <a:srgbClr val="F9F4EC"/>
          </a:solidFill>
          <a:ln/>
        </p:spPr>
      </p:sp>
      <p:sp>
        <p:nvSpPr>
          <p:cNvPr id="32" name="match-hex"/>
          <p:cNvSpPr/>
          <p:nvPr/>
        </p:nvSpPr>
        <p:spPr>
          <a:xfrm>
            <a:off x="6351880" y="4540756"/>
            <a:ext cx="384048" cy="332586"/>
          </a:xfrm>
          <a:prstGeom prst="hexagon">
            <a:avLst/>
          </a:prstGeom>
          <a:solidFill>
            <a:srgbClr val="B8862B"/>
          </a:solidFill>
          <a:ln/>
        </p:spPr>
      </p:sp>
      <p:sp>
        <p:nvSpPr>
          <p:cNvPr id="33" name="match-hex-label"/>
          <p:cNvSpPr txBox="1"/>
          <p:nvPr/>
        </p:nvSpPr>
        <p:spPr>
          <a:xfrm>
            <a:off x="6351880" y="45407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415770"/>
            <a:ext cx="4541368" cy="582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Poitiers: the Harrying had a good result</a:t>
            </a:r>
            <a:endParaRPr lang="en-US" sz="2000" dirty="0"/>
          </a:p>
        </p:txBody>
      </p:sp>
      <p:sp>
        <p:nvSpPr>
          <p:cNvPr id="35" name="match-card"/>
          <p:cNvSpPr/>
          <p:nvPr/>
        </p:nvSpPr>
        <p:spPr>
          <a:xfrm>
            <a:off x="777240" y="5089769"/>
            <a:ext cx="5135728" cy="872119"/>
          </a:xfrm>
          <a:prstGeom prst="roundRect">
            <a:avLst>
              <a:gd name="adj" fmla="val 8388"/>
            </a:avLst>
          </a:prstGeom>
          <a:solidFill>
            <a:srgbClr val="F8F6F4"/>
          </a:solidFill>
          <a:ln/>
        </p:spPr>
      </p:sp>
      <p:sp>
        <p:nvSpPr>
          <p:cNvPr id="36" name="match-hex"/>
          <p:cNvSpPr/>
          <p:nvPr/>
        </p:nvSpPr>
        <p:spPr>
          <a:xfrm>
            <a:off x="850392" y="5359536"/>
            <a:ext cx="384048" cy="332586"/>
          </a:xfrm>
          <a:prstGeom prst="hexagon">
            <a:avLst/>
          </a:prstGeom>
          <a:solidFill>
            <a:srgbClr val="7A4A1E"/>
          </a:solidFill>
          <a:ln/>
        </p:spPr>
      </p:sp>
      <p:sp>
        <p:nvSpPr>
          <p:cNvPr id="37" name="match-hex-label"/>
          <p:cNvSpPr txBox="1"/>
          <p:nvPr/>
        </p:nvSpPr>
        <p:spPr>
          <a:xfrm>
            <a:off x="850392" y="535953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89769"/>
            <a:ext cx="4541368" cy="87211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innocent and the guilty alike”</a:t>
            </a:r>
            <a:endParaRPr lang="en-US" sz="2000" dirty="0"/>
          </a:p>
        </p:txBody>
      </p:sp>
      <p:sp>
        <p:nvSpPr>
          <p:cNvPr id="39" name="match-card"/>
          <p:cNvSpPr/>
          <p:nvPr/>
        </p:nvSpPr>
        <p:spPr>
          <a:xfrm>
            <a:off x="6278728" y="5089769"/>
            <a:ext cx="5135728" cy="872119"/>
          </a:xfrm>
          <a:prstGeom prst="roundRect">
            <a:avLst>
              <a:gd name="adj" fmla="val 8388"/>
            </a:avLst>
          </a:prstGeom>
          <a:solidFill>
            <a:srgbClr val="F9F4EC"/>
          </a:solidFill>
          <a:ln/>
        </p:spPr>
      </p:sp>
      <p:sp>
        <p:nvSpPr>
          <p:cNvPr id="40" name="match-hex"/>
          <p:cNvSpPr/>
          <p:nvPr/>
        </p:nvSpPr>
        <p:spPr>
          <a:xfrm>
            <a:off x="6351880" y="5359536"/>
            <a:ext cx="384048" cy="332586"/>
          </a:xfrm>
          <a:prstGeom prst="hexagon">
            <a:avLst/>
          </a:prstGeom>
          <a:solidFill>
            <a:srgbClr val="B8862B"/>
          </a:solidFill>
          <a:ln/>
        </p:spPr>
      </p:sp>
      <p:sp>
        <p:nvSpPr>
          <p:cNvPr id="41" name="match-hex-label"/>
          <p:cNvSpPr txBox="1"/>
          <p:nvPr/>
        </p:nvSpPr>
        <p:spPr>
          <a:xfrm>
            <a:off x="6351880" y="535953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089769"/>
            <a:ext cx="4541368" cy="87211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Poitiers: the destruction had a military purpose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Whose words, and what they show</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phrase to the writer and what it shows.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6F2EF"/>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Poitiers defends William, so his phrases are about enemies, purpose and peace.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Orderic is sorrowful, so his phrases are about destruction and suffering.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the four phrases into defending and sorrowful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match each to what it shows: purpose, result, scale, who suffered.</a:t>
            </a:r>
            <a:endParaRPr lang="en-US" sz="1800" dirty="0"/>
          </a:p>
        </p:txBody>
      </p:sp>
      <p:sp>
        <p:nvSpPr>
          <p:cNvPr id="17" name="col-Core"/>
          <p:cNvSpPr/>
          <p:nvPr/>
        </p:nvSpPr>
        <p:spPr>
          <a:xfrm>
            <a:off x="5490762" y="2578608"/>
            <a:ext cx="2938987" cy="3566160"/>
          </a:xfrm>
          <a:prstGeom prst="roundRect">
            <a:avLst>
              <a:gd name="adj" fmla="val 1867"/>
            </a:avLst>
          </a:prstGeom>
          <a:solidFill>
            <a:srgbClr val="E6DDD4"/>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Enemies and peace belong to the Norman supporter. Ashes and the innocent belong to the monk.</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Both writers use the words laid waste. Explain how the same two words can carry approval in one passage and horror in the 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Analyse Orderic: the five steps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Using Orderic Vitalis and your own knowledge, explain his interpretation of the Harrying of the North and say how far you agree with it. Follow the five success criteria.</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Analyse Orderic: the five steps</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Analyse Orderic: the five steps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SC1: Orderic Vitalis believes that the Harrying was…</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SC2: He writes that “…”, which shows that…</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SC3: I agree / disagree with Orderic because…</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SC4: From my own knowledge, I know that in 1069…</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SC5: William did this because… However / Therefore…</a:t>
            </a:r>
            <a:endParaRPr lang="en-US" sz="20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623B18"/>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One sentence per success criterion, in order. Your quotation should be short and inside quotation marks.</a:t>
            </a:r>
            <a:endParaRPr lang="en-US" sz="20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Add a sixth sentence that uses William of Poitiers to show the other side, then say which writer you find more convincing and why.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4901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Why do William of Poitiers and Orderic Vitalis give such different interpretations of the same event?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One of them was lying about what happened</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were describing two different events in two different years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Poitiers was a Norman writing to support William in his lifetime; Orderic was a monk writing later who cared about the suffering of ordinary people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Orderic had never heard of the rebellions in the North</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Whose words, and what they show</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“laid waste the land so that it might no longer give shelter or food to his enemies”  →  D  Poitiers: the destruction had a military purpose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“peace was secured for the future”  →  C  Poitiers: the Harrying had a good result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“burned to ashes”  →  B  Orderic: the scale of the destruction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innocent and the guilty alike”  →  A  Orderic: ordinary people suffered whether or not they had rebelled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Poitiers' phrases give the Harrying a purpose (denying shelter and food to enemies) and a result (peace). Orderic's phrases give its scale (burned to ashes) and its victims (the innocent and the guilty alike).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Analyse Orderic: the five steps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72490"/>
          </a:xfrm>
          <a:prstGeom prst="roundRect">
            <a:avLst>
              <a:gd name="adj" fmla="val 13597"/>
            </a:avLst>
          </a:prstGeom>
          <a:solidFill>
            <a:srgbClr val="F8F6F4"/>
          </a:solidFill>
          <a:ln/>
        </p:spPr>
      </p:sp>
      <p:sp>
        <p:nvSpPr>
          <p:cNvPr id="9" name="tickbox"/>
          <p:cNvSpPr/>
          <p:nvPr/>
        </p:nvSpPr>
        <p:spPr>
          <a:xfrm>
            <a:off x="713232" y="2174189"/>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SC1: I state Orderic's opinion of the Harrying in my first sentence.</a:t>
            </a:r>
            <a:endParaRPr lang="en-US" sz="2200" dirty="0"/>
          </a:p>
        </p:txBody>
      </p:sp>
      <p:sp>
        <p:nvSpPr>
          <p:cNvPr id="11" name="crit-box"/>
          <p:cNvSpPr/>
          <p:nvPr/>
        </p:nvSpPr>
        <p:spPr>
          <a:xfrm>
            <a:off x="548640" y="2748178"/>
            <a:ext cx="11094415" cy="672490"/>
          </a:xfrm>
          <a:prstGeom prst="roundRect">
            <a:avLst>
              <a:gd name="adj" fmla="val 13597"/>
            </a:avLst>
          </a:prstGeom>
          <a:solidFill>
            <a:srgbClr val="F8F6F4"/>
          </a:solidFill>
          <a:ln/>
        </p:spPr>
      </p:sp>
      <p:sp>
        <p:nvSpPr>
          <p:cNvPr id="12" name="tickbox"/>
          <p:cNvSpPr/>
          <p:nvPr/>
        </p:nvSpPr>
        <p:spPr>
          <a:xfrm>
            <a:off x="713232" y="2938120"/>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74817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SC2: I quote one short phrase from Orderic as evidence and say what it shows.</a:t>
            </a:r>
            <a:endParaRPr lang="en-US" sz="2200" dirty="0"/>
          </a:p>
        </p:txBody>
      </p:sp>
      <p:sp>
        <p:nvSpPr>
          <p:cNvPr id="14" name="crit-box"/>
          <p:cNvSpPr/>
          <p:nvPr/>
        </p:nvSpPr>
        <p:spPr>
          <a:xfrm>
            <a:off x="548640" y="3512109"/>
            <a:ext cx="11094415" cy="672490"/>
          </a:xfrm>
          <a:prstGeom prst="roundRect">
            <a:avLst>
              <a:gd name="adj" fmla="val 13597"/>
            </a:avLst>
          </a:prstGeom>
          <a:solidFill>
            <a:srgbClr val="F8F6F4"/>
          </a:solidFill>
          <a:ln/>
        </p:spPr>
      </p:sp>
      <p:sp>
        <p:nvSpPr>
          <p:cNvPr id="15" name="tickbox"/>
          <p:cNvSpPr/>
          <p:nvPr/>
        </p:nvSpPr>
        <p:spPr>
          <a:xfrm>
            <a:off x="713232" y="3702050"/>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512109"/>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SC3: I say whether I agree or disagree with him, and how far.</a:t>
            </a:r>
            <a:endParaRPr lang="en-US" sz="2200" dirty="0"/>
          </a:p>
        </p:txBody>
      </p:sp>
      <p:sp>
        <p:nvSpPr>
          <p:cNvPr id="17" name="crit-box"/>
          <p:cNvSpPr/>
          <p:nvPr/>
        </p:nvSpPr>
        <p:spPr>
          <a:xfrm>
            <a:off x="548640" y="4276039"/>
            <a:ext cx="11094415" cy="1013358"/>
          </a:xfrm>
          <a:prstGeom prst="roundRect">
            <a:avLst>
              <a:gd name="adj" fmla="val 9023"/>
            </a:avLst>
          </a:prstGeom>
          <a:solidFill>
            <a:srgbClr val="F8F6F4"/>
          </a:solidFill>
          <a:ln/>
        </p:spPr>
      </p:sp>
      <p:sp>
        <p:nvSpPr>
          <p:cNvPr id="18" name="tickbox"/>
          <p:cNvSpPr/>
          <p:nvPr/>
        </p:nvSpPr>
        <p:spPr>
          <a:xfrm>
            <a:off x="713232" y="4636414"/>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276039"/>
            <a:ext cx="10317175" cy="10133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SC4: I give at least one fact from my own knowledge (the rebellions, Durham, the Danes, William's shortage of soldiers).</a:t>
            </a:r>
            <a:endParaRPr lang="en-US" sz="2200" dirty="0"/>
          </a:p>
        </p:txBody>
      </p:sp>
      <p:sp>
        <p:nvSpPr>
          <p:cNvPr id="20" name="crit-box"/>
          <p:cNvSpPr/>
          <p:nvPr/>
        </p:nvSpPr>
        <p:spPr>
          <a:xfrm>
            <a:off x="548640" y="5380838"/>
            <a:ext cx="11094415" cy="672490"/>
          </a:xfrm>
          <a:prstGeom prst="roundRect">
            <a:avLst>
              <a:gd name="adj" fmla="val 13597"/>
            </a:avLst>
          </a:prstGeom>
          <a:solidFill>
            <a:srgbClr val="F8F6F4"/>
          </a:solidFill>
          <a:ln/>
        </p:spPr>
      </p:sp>
      <p:sp>
        <p:nvSpPr>
          <p:cNvPr id="21" name="tickbox"/>
          <p:cNvSpPr/>
          <p:nvPr/>
        </p:nvSpPr>
        <p:spPr>
          <a:xfrm>
            <a:off x="713232" y="5570779"/>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38083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SC5: I explain why William did this, and whether I think he had to.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Analyse Orderic: the five steps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9F4EC"/>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Orderic Vitalis believes the Harrying of the North was cruel and that William went far beyond what was needed. He writes that the hunger afflicted “the innocent and the guilty alike”, which shows that ordinary people who had never rebelled starved along with the rebels. I agree with Orderic for the most part, because a punishment that kills people who had done nothing wrong cannot be fully justified. From my own knowledge, I know the North had rebelled in 1069 after Robert de Comines was killed at Durham, and that the Danes had arrived to help, so William faced a real danger. He laid waste the North because he did not have enough soldiers to hold it all the time, but Orderic shows that the cost of that choice fell on everyone, and I think a smaller punishment could have ended the rebellion without a famine.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buNone/>
            </a:pPr>
            <a:r>
              <a:rPr lang="en-US" sz="3200" b="1" dirty="0">
                <a:solidFill>
                  <a:srgbClr val="1E2229"/>
                </a:solidFill>
                <a:latin typeface="Cambria" pitchFamily="34" charset="0"/>
                <a:ea typeface="Cambria" pitchFamily="34" charset="-122"/>
                <a:cs typeface="Cambria" pitchFamily="34" charset="-120"/>
              </a:rPr>
              <a:t>C   Poitiers was a Norman writing to support William in his lifetime; Orderic was a monk writing later who cared about the suffering of ordinary people</a:t>
            </a:r>
            <a:endParaRPr lang="en-US" sz="32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Both men saw the same facts. Poitiers, a Norman supporter, chose the rebels' treachery and the peace that followed; Orderic, a monk writing later, chose the destruction and the hunger of the innocent. Position and purpose shaped the interpretation.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William's Control of England · Chapter 4: Two writers, one event: interpretations of the Harrying</dc:title>
  <dc:subject>History · Year 7</dc:subject>
  <dc:creator>Dr Vitor Merissi de Carvalho</dc:creator>
  <cp:lastModifiedBy>Dr Vitor Merissi de Carvalho</cp:lastModifiedBy>
  <cp:revision>1</cp:revision>
  <dcterms:created xsi:type="dcterms:W3CDTF">2026-10-19T16:23:19Z</dcterms:created>
  <dcterms:modified xsi:type="dcterms:W3CDTF">2026-10-19T16:23:19Z</dcterms:modified>
</cp:coreProperties>
</file>