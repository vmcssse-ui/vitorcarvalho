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ef9b309d-021c-1aaf-a293-9c3d4a32e306}">
          <p14:sldIdLst>
            <p14:sldId id="256"/>
          </p14:sldIdLst>
        </p14:section>
        <p14:section name="Gate" id="{e3182369-fd9a-90be-8d00-f618d92f7aff}">
          <p14:sldIdLst>
            <p14:sldId id="257"/>
            <p14:sldId id="258"/>
          </p14:sldIdLst>
        </p14:section>
        <p14:section name="Pre-teach" id="{ad7e161a-171d-1227-c98f-aca64fc66654}">
          <p14:sldIdLst>
            <p14:sldId id="259"/>
            <p14:sldId id="260"/>
          </p14:sldIdLst>
        </p14:section>
        <p14:section name="Read-along" id="{deaecdd3-578c-e2e0-b490-186b1fc23b03}">
          <p14:sldIdLst>
            <p14:sldId id="261"/>
            <p14:sldId id="262"/>
          </p14:sldIdLst>
        </p14:section>
        <p14:section name="Teach" id="{7f04dfbb-471e-7520-76c1-ce20964cdcf7}">
          <p14:sldIdLst>
            <p14:sldId id="263"/>
            <p14:sldId id="264"/>
            <p14:sldId id="265"/>
            <p14:sldId id="266"/>
            <p14:sldId id="267"/>
          </p14:sldIdLst>
        </p14:section>
        <p14:section name="Routes" id="{9e41dafe-af69-8747-bc1d-4ecaf35112cd}">
          <p14:sldIdLst>
            <p14:sldId id="268"/>
            <p14:sldId id="269"/>
            <p14:sldId id="270"/>
            <p14:sldId id="271"/>
          </p14:sldIdLst>
        </p14:section>
        <p14:section name="Close" id="{d3a7ffec-39cc-ba3d-dfe4-2b1bebe79d86}">
          <p14:sldIdLst>
            <p14:sldId id="272"/>
          </p14:sldIdLst>
        </p14:section>
        <p14:section name="Answers" id="{4263e8c7-57e0-e59c-4ba4-03aa61ea373d}">
          <p14:sldIdLst>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1 of 6: England before 1066. Who the Anglo-Saxons were, who really held power in Edward the Confessor's England, how society was arranged from king to enslaved person, and how people lived.
This deck covers the department's lesson: 1 (What was England like before 1066?: Who were the Anglo-Saxons, who held power in their England, and how did their society work?).
Read the big question aloud: "How did William conquer and control England after 1066?"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What was the Witan?  →  C   The council of nobles that chose the king and helped him rule
2. About 85 in every 100 Anglo-Saxons were ___ farmers who rented small farms.  →  peasant
3. Which family was the most powerful in England in the years before 1066?  →  C   The Godwinsons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C   The council of nobles that chose the king and helped him rule. The Witan was the council of nobles. It chose Edward the Confessor and helped him rule.
2. peasant. The great majority of Anglo-Saxons, about 85 per cent, were peasants who farmed rented land.
3. C   The Godwinsons. The Godwinsons held four great earldoms and were almost as rich as the king.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Anglo-Saxons: the people who ruled England before the Normans came. Example: "The Anglo-Saxons had ruled England for hundreds of years before 1066."
• Witan: the council of nobles that chose the king and helped him rule. Example: "The Witan chose Edward the Confessor to be king."
• earl: a very powerful lord who ruled a huge area called an earldom. Example: "Harold Godwinson was the most powerful earl in England."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thegn: a local lord who owned land and fought for the king. Example: "A thegn lived in a manor house and owned land called hides."
• hierarchy: a way of ranking people from most to least powerful. Example: "The Anglo-Saxon hierarchy had the king at the top and enslaved people at the bottom."
• fyrd: the part-time army of ordinary men that a lord could call out. Example: "The fyrd was not a professional army."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13:
1. Before the Normans came, England was ruled by the Anglo-Saxons.
2. Their ancestors had arrived from across the North Sea after the Romans left in 410.
3. By 1066 the king was Edward the Confessor.
4. He had been king since 1042.
5. He was religious and not a warrior, and he had no children.
6. The most powerful family in England was the Godwinsons.
7. Harold Godwinson was the greatest earl, and some thought him stronger than the king.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8–13 of 13:
8. Below the king came the earls, who ruled huge areas called earldoms.
9. Below them came the thegns, local lords who owned land.
10. Most people, about 85 in every 100, were peasant farmers.
11. About one in ten were enslaved people, who could be bought and sold.
12. Houses were made of wood, with thatched roofs and a fire in the middle.
13. England had very few castles, so it was not well defended.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Who were the Anglo-Saxons?. Say it in your own words, then check understanding with a quick question: ask a pupil from the pre-teach group first, since they met these words and ideas before the lesson. Pupils try to recall before you re-explain.
The Anglo-Saxons were not one people but several groups: the Angles, the Saxons and the Jutes. They came to England from across the North Sea, from the lands we now call Germany, Denmark and the Netherlands. After the Romans left Britain in 410, these groups began to invade and settle.
At first they settled in separate groups in different parts of England, and these grew into small kingdoms. By 1066 those kingdoms had long since joined into one England with one king. The Anglo-Saxons were Christians, and nearly everyone worked on the land as a farmer.
In your last topic you studied how William won the Battle of Hastings. This topic picks up from that moment. To understand what William had to control, you first need to know what he had conquered: a rich, well-organised country with its own way of doing things.
Tip: Anglo-Saxon is the name for the people and their time. England before 1066 is Anglo-Saxon England; after 1066 we call it Norman England.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Who held power? The king, the Witan and the Godwinsons. Say it in your own words, then check understanding with a quick question: ask a pupil from the pre-teach group first, since they met these words and ideas before the lesson. Pupils try to recall before you re-explain.
In 1066 the king was Edward the Confessor. He had been king since 1042 and was related to the old Anglo-Saxon king Ethelred the Unready. Edward was seen as a very religious man, not a warrior king. He had been chosen by the Witan, a council of nobles which helped the king to rule. Some historians have seen Edward as a weak king, and say the real power in England lay with one family: the Godwinsons.
The Godwinsons held huge amounts of land, which made them almost as rich as the king and gave them a large force of thegns to fight for them. Harold Godwinson ruled Wessex and was the most powerful earl in England; many people thought him more powerful than the king himself. His brother Gyrth ruled East Anglia and his brother Leofwine ruled Kent.
A fourth brother, Tostig, had been Earl of Northumbria since 1055, but he was not popular. The people of the North were of Viking descent and distrusted him as a southerner. He taxed them heavily, ruled very strictly and failed to avenge raids from Scotland. In the end they rebelled against him and King Edward was forced to banish him.
Worked example — model it step by step, thinking aloud: Explain how it could be argued that the Godwinsons were more powerful than the king. (1) Make your point: It could be argued that the Godwinsons were more powerful than King Edward. (2) Give evidence from the information sheet: they held huge amounts of land, which made them almost as rich as the king. (3) Add a second piece of evidence: land gave them a large force of thegns to fight for them, and Harold, Gyrth, Leofwine and Tostig held four of the great earldoms between them. (4) Explain the link: because Edward was religious rather than a warrior, the family with the land and the soldiers held the real power. Answer: Point, evidence, explain: the Godwinsons held the land, the money and the fighting men, while Edward was not a warrior, so the real power lay with them..
Tip: Point, Evidence, Explain. One sentence each is enough for a Year 7 paragraph; the explain sentence should use the word because.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Who held power? The king, the Witan and the Godwinsons. Say it in your own words, then check understanding with a quick question: ask a pupil from the pre-teach group first, since they met these words and ideas before the lesson. Pupils try to recall before you re-explain.
In 1066 the king was Edward the Confessor. He had been king since 1042 and was related to the old Anglo-Saxon king Ethelred the Unready. Edward was seen as a very religious man, not a warrior king. He had been chosen by the Witan, a council of nobles which helped the king to rule. Some historians have seen Edward as a weak king, and say the real power in England lay with one family: the Godwinsons.
The Godwinsons held huge amounts of land, which made them almost as rich as the king and gave them a large force of thegns to fight for them. Harold Godwinson ruled Wessex and was the most powerful earl in England; many people thought him more powerful than the king himself. His brother Gyrth ruled East Anglia and his brother Leofwine ruled Kent.
A fourth brother, Tostig, had been Earl of Northumbria since 1055, but he was not popular. The people of the North were of Viking descent and distrusted him as a southerner. He taxed them heavily, ruled very strictly and failed to avenge raids from Scotland. In the end they rebelled against him and King Edward was forced to banish him.
Worked example — model it step by step, thinking aloud: Explain how it could be argued that the Godwinsons were more powerful than the king. (1) Make your point: It could be argued that the Godwinsons were more powerful than King Edward. (2) Give evidence from the information sheet: they held huge amounts of land, which made them almost as rich as the king. (3) Add a second piece of evidence: land gave them a large force of thegns to fight for them, and Harold, Gyrth, Leofwine and Tostig held four of the great earldoms between them. (4) Explain the link: because Edward was religious rather than a warrior, the family with the land and the soldiers held the real power. Answer: Point, evidence, explain: the Godwinsons held the land, the money and the fighting men, while Edward was not a warrior, so the real power lay with them..
Tip: Point, Evidence, Explain. One sentence each is enough for a Year 7 paragraph; the explain sentence should use the word because.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How society worked: the hierarchy. Say it in your own words, then check understanding with a quick question: ask a pupil from the pre-teach group first, since they met these words and ideas before the lesson. Pupils try to recall before you re-explain.
Anglo-Saxon society had a clear hierarchy, a ranking that showed how important and powerful each group was. At the top was the king. Below him came the earls, the second most important people in England, who owned vast areas of land called earldoms. Below the earls came the thegns, local lords who owned land measured in hides and lived in manor houses. By 1066 there were about 4,000 to 5,000 thegns.
Most people were nowhere near the top. About 85 in every 100 were peasant farmers who rented small farms. Roughly one in ten were enslaved people. Your lesson sheet calls them slaves; we say enslaved people, because they were people first. They could be bought and sold and were treated more like property than like people.
The hierarchy was not fixed for life. A peasant who gained five hides of land could become a thegn, and a thegn could be promoted to earl. But the king could also demote people, so everyone's position depended in the end on him.
Tip: Learn the five levels in order from the top: king, earls, thegns, peasants, enslaved people. Draw them as a pyramid: the higher the level, the fewer the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Everyday life and defence. Say it in your own words, then check understanding with a quick question: ask a pupil from the pre-teach group first, since they met these words and ideas before the lesson. Pupils try to recall before you re-explain.
Most houses were built of oak planks with wattle and daub (woven sticks covered in mud) filling the walls, and a roof of straw or reed thatch. In the middle of the room was an open hearth, a fire with a cooking pot over it. Raised platforms kept sleepers off the cold earth floor. Houses were cold, dark and smoky, with few windows if any, and a pen for animals outside.
Much of southern England was forest, with clearings for farms and villages. The North was wild, heavily forested and had fewer people. About 90 in every 100 people lived in villages, and London was already the biggest and most important settlement. This is a difference from today, when most people live in towns and cities, but London being the largest settlement is a similarity.
England was not well defended. Castles were very rare. Most towns were protected only by an open ditch and an earth bank; a fortified town like this was called a burh. If Vikings attacked, a local lord could call out the fyrd, a part-time army of ordinary men, but this was not a professional force. Remember this when you reach the castles chapter: William found a country with almost no castles in it.
Tip: Similarity and difference questions want one of each, clearly labelled. Say which is which.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The Anglo-Saxon pyramid.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level of Anglo-Saxon society to its description.
Support — work through the steps with the group: (1) Start at the top and the bottom: the king was chosen by the Witan, and enslaved people could be bought and sold. (2) Earldoms belong to earls: the word is inside the word. (3) Thegns are the local lords with hides and manor houses. (4) Whoever is left, the biggest group of all, must be the peasants.
Parallel worked example for Support (model it, do not give the task answer): Match the school hierarchy from your lesson starter: headteacher, teachers, students. Descriptions: runs the school; teach the lessons; the largest group with the least power. The headteacher runs the school.; Teachers teach the lessons.; Students are the largest group with the least power.. Answer: Headteacher: runs the school. Teachers: teach the lessons. Students: largest group with the least power..
Core — reveal the hint only on request: Two levels have a number in their description. The bigger number is the bigger group, and bigger groups sit lower in the pyramid.
Stretch — no help; when finished: The deck's extension asks if anything in the hierarchy surprised you. Explain one thing it tells us about the Anglo-Saxons, for example that people could move up or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The Anglo-Saxon pyramid.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level of Anglo-Saxon society to its description.
Support — work through the steps with the group: (1) Start at the top and the bottom: the king was chosen by the Witan, and enslaved people could be bought and sold. (2) Earldoms belong to earls: the word is inside the word. (3) Thegns are the local lords with hides and manor houses. (4) Whoever is left, the biggest group of all, must be the peasants.
Parallel worked example for Support (model it, do not give the task answer): Match the school hierarchy from your lesson starter: headteacher, teachers, students. Descriptions: runs the school; teach the lessons; the largest group with the least power. The headteacher runs the school.; Teachers teach the lessons.; Students are the largest group with the least power.. Answer: Headteacher: runs the school. Teachers: teach the lessons. Students: largest group with the least power..
Core — reveal the hint only on request: Two levels have a number in their description. The bigger number is the bigger group, and bigger groups sit lower in the pyramid.
Stretch — no help; when finished: The deck's extension asks if anything in the hierarchy surprised you. Explain one thing it tells us about the Anglo-Saxons, for example that people could move up or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Who had the most power?.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Who had the most power in Anglo-Saxon England in 1066: the king, the Godwinsons, the earls or the people? Write an introduction sentence and one PEE paragraph.
Support — work through the steps with the group: (1) Sentence 1: Anglo-Saxon England in 1066 was ruled by… The country was divided into… (2) Sentence 2: In my opinion [the king / the Godwinsons / the earls / the people] had the most power. (3) Sentence 3: One reason this group was the most powerful was… (pick one fact: land, money, thegns, the Witan). (4) Sentence 4: This made them powerful because…
Parallel worked example for Support (model it, do not give the task answer): Who has the most power in a football club: the owner, the manager or the players? Write a PEE paragraph. Point: the owner has the most power.; Evidence: the owner can hire and fire the manager.; Explain: because everyone else's job depends on the owner's decision.. Answer: The owner has the most power. The owner can hire and fire the manager. This makes the owner powerful because everyone else's job depends on that decision..
Core — reveal the hint only on request: Pick one group and stick to it. Land, money and soldiers are the three kinds of power in this chapter.
Stretch — no help; when finished: Add a second paragraph that argues the opposite case, then a final sentence saying which argument is stronger and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Who had the most power?.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Who had the most power in Anglo-Saxon England in 1066: the king, the Godwinsons, the earls or the people? Write an introduction sentence and one PEE paragraph.
Support — work through the steps with the group: (1) Sentence 1: Anglo-Saxon England in 1066 was ruled by… The country was divided into… (2) Sentence 2: In my opinion [the king / the Godwinsons / the earls / the people] had the most power. (3) Sentence 3: One reason this group was the most powerful was… (pick one fact: land, money, thegns, the Witan). (4) Sentence 4: This made them powerful because…
Parallel worked example for Support (model it, do not give the task answer): Who has the most power in a football club: the owner, the manager or the players? Write a PEE paragraph. Point: the owner has the most power.; Evidence: the owner can hire and fire the manager.; Explain: because everyone else's job depends on the owner's decision.. Answer: The owner has the most power. The owner can hire and fire the manager. This makes the owner powerful because everyone else's job depends on that decision..
Core — reveal the hint only on request: Pick one group and stick to it. Land, money and soldiers are the three kinds of power in this chapter.
Stretch — no help; when finished: Add a second paragraph that argues the opposite case, then a final sentence saying which argument is stronger and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Why did the people of Northumbria rebel against Earl Tostig?
Answer: B   He was a southerner who taxed them heavily, ruled strictly and failed to stop Scottish raids. Northumbria had a Viking past and did not trust a southern earl. Tostig made it worse with heavy taxes, strict rule and his failure to avenge Scottish raids, so the people rose against him and Edward banished him.
Source of this question: module 3 task ("Why Tostig lost Northumbria") from the manifest.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The Anglo-Saxon pyramid. Reveal the answer; pupils mark their own work in a different colour, then read the "why" together. Same destination for every lane, so one answer serves the whole class.
Answer: King  →  D  Chosen by the Witan; could promote or demote anyone below him; Earls  →  E  Second most important people; ruled huge areas called earldoms; Thegns  →  C  Local lords who owned hides of land and lived in manor houses; Peasants  →  A  About 85 in every 100 people; rented small farms; Enslaved people  →  B  About one in ten people; could be bought and sold like property
Why: The king was at the top and chosen by the Witan; earls ruled earldoms; thegns owned hides; peasants were the largest group; enslaved people were treated as property at the bottom.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Who had the most power?. Reveal the answer; pupils mark their own work in a different colour, then read the "why" together. Same destination for every lane, so one answer serves the whole class.
Answer: My introduction says who ruled England in 1066 and how the country was divided.; I give my opinion clearly: in my opinion, X had the most power.; I give one reason with evidence from the chapter (land, money, soldiers, the Witan).; I explain why that made them powerful, using the word because.
Why: A strong answer names the ruler and the earldoms, gives a clear opinion, supports it with one fact from the chapter, and explains the link with because.
Model answer: Anglo-Saxon England in 1066 was ruled by King Edward the Confessor, and the country was divided into earldoms ruled by earls. In my opinion the Godwinsons had the most power. One reason the Godwinsons were the most powerful was that they held four of the great earldoms and owned almost as much land as the king. This made them powerful because land brought money and a large force of thegns to fight for them, while Edward was a religious man rather than a warrior and relied on the Witan and the earls to rule.
Success criteria: My introduction says who ruled England in 1066 and how the country was divided.; I give my opinion clearly: in my opinion, X had the most power.; I give one reason with evidence from the chapter (land, money, soldiers, the Witan).; I explain why that made them powerful, using the word because.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B   He was a southerner who taxed them heavily, ruled strictly and failed to stop Scottish raids
Why: Northumbria had a Viking past and did not trust a southern earl. Tostig made it worse with heavy taxes, strict rule and his failure to avenge Scottish raids, so the people rose against him and Edward banished him.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F6F2EF"/>
          </a:solidFill>
          <a:ln w="12700">
            <a:solidFill>
              <a:srgbClr val="F6F2EF"/>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7 · William's Control of England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BF7EE"/>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F6F2EF"/>
          </a:solidFill>
          <a:ln w="12700">
            <a:solidFill>
              <a:srgbClr val="F6F2EF"/>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7 · William's Control of England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7A4A1E"/>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E8E0D9"/>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7A4A1E"/>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1</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7A4A1E"/>
                </a:solidFill>
                <a:latin typeface="Calibri" pitchFamily="34" charset="0"/>
                <a:ea typeface="Calibri" pitchFamily="34" charset="-122"/>
                <a:cs typeface="Calibri" pitchFamily="34" charset="-120"/>
              </a:rPr>
              <a:t>History · Year 7</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1/6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William's Control of England · AQA KS3 → 8145</a:t>
            </a:r>
            <a:endParaRPr lang="en-US" sz="1800" dirty="0"/>
          </a:p>
        </p:txBody>
      </p:sp>
      <p:sp>
        <p:nvSpPr>
          <p:cNvPr id="10" name="deck-title"/>
          <p:cNvSpPr txBox="1"/>
          <p:nvPr/>
        </p:nvSpPr>
        <p:spPr>
          <a:xfrm>
            <a:off x="548640" y="2723388"/>
            <a:ext cx="5287975" cy="787400"/>
          </a:xfrm>
          <a:prstGeom prst="rect">
            <a:avLst/>
          </a:prstGeom>
          <a:noFill/>
          <a:ln/>
        </p:spPr>
        <p:txBody>
          <a:bodyPr wrap="square" lIns="63500" tIns="63500" rIns="63500" bIns="63500" rtlCol="0" anchor="t"/>
          <a:lstStyle/>
          <a:p>
            <a:pPr algn="l" indent="0" marL="0">
              <a:buNone/>
            </a:pPr>
            <a:r>
              <a:rPr lang="en-US" sz="4000" b="1" dirty="0">
                <a:solidFill>
                  <a:srgbClr val="1E2229"/>
                </a:solidFill>
                <a:latin typeface="Cambria" pitchFamily="34" charset="0"/>
                <a:ea typeface="Cambria" pitchFamily="34" charset="-122"/>
                <a:cs typeface="Cambria" pitchFamily="34" charset="-120"/>
              </a:rPr>
              <a:t>England before 1066</a:t>
            </a:r>
            <a:endParaRPr lang="en-US" sz="4000" dirty="0"/>
          </a:p>
        </p:txBody>
      </p:sp>
      <p:sp>
        <p:nvSpPr>
          <p:cNvPr id="11" name="lessons-card"/>
          <p:cNvSpPr/>
          <p:nvPr/>
        </p:nvSpPr>
        <p:spPr>
          <a:xfrm>
            <a:off x="548640" y="3739388"/>
            <a:ext cx="5287975" cy="980440"/>
          </a:xfrm>
          <a:prstGeom prst="roundRect">
            <a:avLst>
              <a:gd name="adj" fmla="val 7461"/>
            </a:avLst>
          </a:prstGeom>
          <a:solidFill>
            <a:srgbClr val="F6F2EF"/>
          </a:solidFill>
          <a:ln/>
        </p:spPr>
      </p:sp>
      <p:sp>
        <p:nvSpPr>
          <p:cNvPr id="12" name="lessons"/>
          <p:cNvSpPr txBox="1"/>
          <p:nvPr/>
        </p:nvSpPr>
        <p:spPr>
          <a:xfrm>
            <a:off x="685800" y="3830828"/>
            <a:ext cx="5013655" cy="79756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7A4A1E"/>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1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What was England like before 1066?</a:t>
            </a:r>
            <a:endParaRPr lang="en-US" sz="2000" dirty="0"/>
          </a:p>
        </p:txBody>
      </p:sp>
      <p:sp>
        <p:nvSpPr>
          <p:cNvPr id="13" name="plate-frame"/>
          <p:cNvSpPr/>
          <p:nvPr/>
        </p:nvSpPr>
        <p:spPr>
          <a:xfrm>
            <a:off x="6248095" y="411480"/>
            <a:ext cx="5394960" cy="3130677"/>
          </a:xfrm>
          <a:prstGeom prst="rect">
            <a:avLst/>
          </a:prstGeom>
          <a:solidFill>
            <a:srgbClr val="F4EDDF"/>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History, Year 7">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F6F2EF"/>
          </a:solidFill>
          <a:ln w="12700">
            <a:solidFill>
              <a:srgbClr val="CEBCAC"/>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7A4A1E"/>
                </a:solidFill>
                <a:latin typeface="Calibri" pitchFamily="34" charset="0"/>
                <a:ea typeface="Calibri" pitchFamily="34" charset="-122"/>
                <a:cs typeface="Calibri" pitchFamily="34" charset="-120"/>
              </a:rPr>
              <a:t>Big question</a:t>
            </a:r>
            <a:endParaRPr lang="en-US" sz="1800" dirty="0"/>
          </a:p>
          <a:p>
            <a:pPr algn="l" indent="0" marL="0">
              <a:buNone/>
            </a:pPr>
            <a:r>
              <a:rPr lang="en-US" sz="2400" i="1" dirty="0">
                <a:solidFill>
                  <a:srgbClr val="1E2229"/>
                </a:solidFill>
                <a:latin typeface="Cambria" pitchFamily="34" charset="0"/>
                <a:ea typeface="Cambria" pitchFamily="34" charset="-122"/>
                <a:cs typeface="Cambria" pitchFamily="34" charset="-120"/>
              </a:rPr>
              <a:t>How did William conquer and control England after 1066?</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AF8F6"/>
          </a:solidFill>
          <a:ln w="12700">
            <a:solidFill>
              <a:srgbClr val="D4C5B7"/>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1E2229"/>
                </a:solidFill>
                <a:latin typeface="Calibri" pitchFamily="34" charset="0"/>
                <a:ea typeface="Calibri" pitchFamily="34" charset="-122"/>
                <a:cs typeface="Calibri" pitchFamily="34" charset="-120"/>
              </a:rPr>
              <a:t>What was the Witan?</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name for an earl's territory</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land owned by a thegn</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council of nobles that chose the king and helped him rule</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part-time army of ordinary men</a:t>
            </a:r>
            <a:endParaRPr lang="en-US" sz="1800" dirty="0"/>
          </a:p>
        </p:txBody>
      </p:sp>
      <p:sp>
        <p:nvSpPr>
          <p:cNvPr id="12" name="card"/>
          <p:cNvSpPr/>
          <p:nvPr/>
        </p:nvSpPr>
        <p:spPr>
          <a:xfrm>
            <a:off x="4338218" y="1389888"/>
            <a:ext cx="3515258" cy="4754880"/>
          </a:xfrm>
          <a:prstGeom prst="roundRect">
            <a:avLst>
              <a:gd name="adj" fmla="val 1561"/>
            </a:avLst>
          </a:prstGeom>
          <a:solidFill>
            <a:srgbClr val="FAF8F6"/>
          </a:solidFill>
          <a:ln w="12700">
            <a:solidFill>
              <a:srgbClr val="D4C5B7"/>
            </a:solidFill>
            <a:prstDash val="solid"/>
          </a:ln>
        </p:spPr>
      </p:sp>
      <p:sp>
        <p:nvSpPr>
          <p:cNvPr id="13" name="card-hex"/>
          <p:cNvSpPr/>
          <p:nvPr/>
        </p:nvSpPr>
        <p:spPr>
          <a:xfrm>
            <a:off x="4521098" y="1572768"/>
            <a:ext cx="640080" cy="554309"/>
          </a:xfrm>
          <a:prstGeom prst="hexagon">
            <a:avLst/>
          </a:prstGeom>
          <a:solidFill>
            <a:srgbClr val="7A4A1E"/>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Fill the gap</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About 85 in every 100 Anglo-Saxons were ___ farmers who rented small farms.</a:t>
            </a:r>
            <a:endParaRPr lang="en-US" sz="2400" dirty="0"/>
          </a:p>
          <a:p>
            <a:pPr algn="l" indent="0" marL="0">
              <a:buNone/>
            </a:pPr>
            <a:r>
              <a:rPr lang="en-US" sz="2400" b="1" dirty="0">
                <a:solidFill>
                  <a:srgbClr val="7A4A1E"/>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peasant  ·  thegn  ·  earl</a:t>
            </a:r>
            <a:endParaRPr lang="en-US" sz="2400" dirty="0"/>
          </a:p>
        </p:txBody>
      </p:sp>
      <p:sp>
        <p:nvSpPr>
          <p:cNvPr id="17" name="card"/>
          <p:cNvSpPr/>
          <p:nvPr/>
        </p:nvSpPr>
        <p:spPr>
          <a:xfrm>
            <a:off x="8127797" y="1389888"/>
            <a:ext cx="3515258" cy="4754880"/>
          </a:xfrm>
          <a:prstGeom prst="roundRect">
            <a:avLst>
              <a:gd name="adj" fmla="val 1561"/>
            </a:avLst>
          </a:prstGeom>
          <a:solidFill>
            <a:srgbClr val="FAF8F6"/>
          </a:solidFill>
          <a:ln w="12700">
            <a:solidFill>
              <a:srgbClr val="D4C5B7"/>
            </a:solidFill>
            <a:prstDash val="solid"/>
          </a:ln>
        </p:spPr>
      </p:sp>
      <p:sp>
        <p:nvSpPr>
          <p:cNvPr id="18" name="card-hex"/>
          <p:cNvSpPr/>
          <p:nvPr/>
        </p:nvSpPr>
        <p:spPr>
          <a:xfrm>
            <a:off x="8310677" y="1572768"/>
            <a:ext cx="640080" cy="554309"/>
          </a:xfrm>
          <a:prstGeom prst="hexagon">
            <a:avLst/>
          </a:prstGeom>
          <a:solidFill>
            <a:srgbClr val="7A4A1E"/>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Choose one</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Which family was the most powerful in England in the years before 1066?</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Vikings</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Witan</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Godwinsons</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Normans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AF8F6"/>
          </a:solidFill>
          <a:ln w="12700">
            <a:solidFill>
              <a:srgbClr val="D4C5B7"/>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1295908"/>
          </a:xfrm>
          <a:prstGeom prst="roundRect">
            <a:avLst>
              <a:gd name="adj" fmla="val 8467"/>
            </a:avLst>
          </a:prstGeom>
          <a:solidFill>
            <a:srgbClr val="EFE4D0"/>
          </a:solidFill>
          <a:ln w="19050">
            <a:solidFill>
              <a:srgbClr val="B8862B"/>
            </a:solidFill>
            <a:prstDash val="solid"/>
          </a:ln>
        </p:spPr>
      </p:sp>
      <p:sp>
        <p:nvSpPr>
          <p:cNvPr id="12" name="answer"/>
          <p:cNvSpPr txBox="1"/>
          <p:nvPr/>
        </p:nvSpPr>
        <p:spPr>
          <a:xfrm>
            <a:off x="822960" y="2428829"/>
            <a:ext cx="2966618" cy="1149604"/>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C   The council of nobles that chose the king and helped him rule</a:t>
            </a:r>
            <a:endParaRPr lang="en-US" sz="2200" dirty="0"/>
          </a:p>
        </p:txBody>
      </p:sp>
      <p:sp>
        <p:nvSpPr>
          <p:cNvPr id="13" name="card-body"/>
          <p:cNvSpPr txBox="1"/>
          <p:nvPr/>
        </p:nvSpPr>
        <p:spPr>
          <a:xfrm>
            <a:off x="731520" y="3834465"/>
            <a:ext cx="3149498" cy="2173143"/>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What was the Witan?</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The Witan was the council of nobles. It chose Edward the Confessor and helped him rule.</a:t>
            </a:r>
            <a:endParaRPr lang="en-US" sz="2200" dirty="0"/>
          </a:p>
        </p:txBody>
      </p:sp>
      <p:sp>
        <p:nvSpPr>
          <p:cNvPr id="14" name="card"/>
          <p:cNvSpPr/>
          <p:nvPr/>
        </p:nvSpPr>
        <p:spPr>
          <a:xfrm>
            <a:off x="4338218" y="1389888"/>
            <a:ext cx="3515258" cy="4754880"/>
          </a:xfrm>
          <a:prstGeom prst="roundRect">
            <a:avLst>
              <a:gd name="adj" fmla="val 1561"/>
            </a:avLst>
          </a:prstGeom>
          <a:solidFill>
            <a:srgbClr val="FAF8F6"/>
          </a:solidFill>
          <a:ln w="12700">
            <a:solidFill>
              <a:srgbClr val="D4C5B7"/>
            </a:solidFill>
            <a:prstDash val="solid"/>
          </a:ln>
        </p:spPr>
      </p:sp>
      <p:sp>
        <p:nvSpPr>
          <p:cNvPr id="15" name="card-hex"/>
          <p:cNvSpPr/>
          <p:nvPr/>
        </p:nvSpPr>
        <p:spPr>
          <a:xfrm>
            <a:off x="4521098" y="1572768"/>
            <a:ext cx="640080" cy="554309"/>
          </a:xfrm>
          <a:prstGeom prst="hexagon">
            <a:avLst/>
          </a:prstGeom>
          <a:solidFill>
            <a:srgbClr val="7A4A1E"/>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FE4D0"/>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peasant</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About 85 in every 100 Anglo-Saxons were ___ farmers who rented small farms.</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The great majority of Anglo-Saxons, about 85 per cent, were peasants who farmed rented land.</a:t>
            </a:r>
            <a:endParaRPr lang="en-US" sz="2000" dirty="0"/>
          </a:p>
        </p:txBody>
      </p:sp>
      <p:sp>
        <p:nvSpPr>
          <p:cNvPr id="21" name="card"/>
          <p:cNvSpPr/>
          <p:nvPr/>
        </p:nvSpPr>
        <p:spPr>
          <a:xfrm>
            <a:off x="8127797" y="1389888"/>
            <a:ext cx="3515258" cy="4754880"/>
          </a:xfrm>
          <a:prstGeom prst="roundRect">
            <a:avLst>
              <a:gd name="adj" fmla="val 1561"/>
            </a:avLst>
          </a:prstGeom>
          <a:solidFill>
            <a:srgbClr val="FAF8F6"/>
          </a:solidFill>
          <a:ln w="12700">
            <a:solidFill>
              <a:srgbClr val="D4C5B7"/>
            </a:solidFill>
            <a:prstDash val="solid"/>
          </a:ln>
        </p:spPr>
      </p:sp>
      <p:sp>
        <p:nvSpPr>
          <p:cNvPr id="22" name="card-hex"/>
          <p:cNvSpPr/>
          <p:nvPr/>
        </p:nvSpPr>
        <p:spPr>
          <a:xfrm>
            <a:off x="8310677" y="1572768"/>
            <a:ext cx="640080" cy="554309"/>
          </a:xfrm>
          <a:prstGeom prst="hexagon">
            <a:avLst/>
          </a:prstGeom>
          <a:solidFill>
            <a:srgbClr val="7A4A1E"/>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614172"/>
          </a:xfrm>
          <a:prstGeom prst="roundRect">
            <a:avLst>
              <a:gd name="adj" fmla="val 17866"/>
            </a:avLst>
          </a:prstGeom>
          <a:solidFill>
            <a:srgbClr val="EFE4D0"/>
          </a:solidFill>
          <a:ln w="19050">
            <a:solidFill>
              <a:srgbClr val="B8862B"/>
            </a:solidFill>
            <a:prstDash val="solid"/>
          </a:ln>
        </p:spPr>
      </p:sp>
      <p:sp>
        <p:nvSpPr>
          <p:cNvPr id="26" name="answer"/>
          <p:cNvSpPr txBox="1"/>
          <p:nvPr/>
        </p:nvSpPr>
        <p:spPr>
          <a:xfrm>
            <a:off x="8402117"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C   The Godwinsons</a:t>
            </a:r>
            <a:endParaRPr lang="en-US" sz="2200" dirty="0"/>
          </a:p>
        </p:txBody>
      </p:sp>
      <p:sp>
        <p:nvSpPr>
          <p:cNvPr id="27" name="card-body"/>
          <p:cNvSpPr txBox="1"/>
          <p:nvPr/>
        </p:nvSpPr>
        <p:spPr>
          <a:xfrm>
            <a:off x="8310677"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Which family was the most powerful in England in the years before 1066?</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The Godwinsons held four great earldoms and were almost as rich as the king.</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8F6F4"/>
          </a:solidFill>
          <a:ln w="12700">
            <a:solidFill>
              <a:srgbClr val="CEBCAC"/>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Anglo-Saxons</a:t>
            </a:r>
            <a:endParaRPr lang="en-US" sz="2600" dirty="0"/>
          </a:p>
        </p:txBody>
      </p:sp>
      <p:sp>
        <p:nvSpPr>
          <p:cNvPr id="11" name="word-rule"/>
          <p:cNvSpPr/>
          <p:nvPr/>
        </p:nvSpPr>
        <p:spPr>
          <a:xfrm>
            <a:off x="731520" y="2129028"/>
            <a:ext cx="3149498" cy="0"/>
          </a:xfrm>
          <a:prstGeom prst="line">
            <a:avLst/>
          </a:prstGeom>
          <a:ln w="12700">
            <a:solidFill>
              <a:srgbClr val="CEBCAC"/>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people who ruled England before the Normans came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Anglo-Saxons had ruled England for hundreds of years before 1066.</a:t>
            </a:r>
            <a:endParaRPr lang="en-US" sz="2200" dirty="0"/>
          </a:p>
        </p:txBody>
      </p:sp>
      <p:sp>
        <p:nvSpPr>
          <p:cNvPr id="13" name="word-card"/>
          <p:cNvSpPr/>
          <p:nvPr/>
        </p:nvSpPr>
        <p:spPr>
          <a:xfrm>
            <a:off x="4338218" y="1389888"/>
            <a:ext cx="3515258" cy="4754880"/>
          </a:xfrm>
          <a:prstGeom prst="roundRect">
            <a:avLst>
              <a:gd name="adj" fmla="val 1561"/>
            </a:avLst>
          </a:prstGeom>
          <a:solidFill>
            <a:srgbClr val="F8F6F4"/>
          </a:solidFill>
          <a:ln w="12700">
            <a:solidFill>
              <a:srgbClr val="CEBCAC"/>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Witan</a:t>
            </a:r>
            <a:endParaRPr lang="en-US" sz="2600" dirty="0"/>
          </a:p>
        </p:txBody>
      </p:sp>
      <p:sp>
        <p:nvSpPr>
          <p:cNvPr id="17" name="word-rule"/>
          <p:cNvSpPr/>
          <p:nvPr/>
        </p:nvSpPr>
        <p:spPr>
          <a:xfrm>
            <a:off x="4521098" y="2129028"/>
            <a:ext cx="3149498" cy="0"/>
          </a:xfrm>
          <a:prstGeom prst="line">
            <a:avLst/>
          </a:prstGeom>
          <a:ln w="12700">
            <a:solidFill>
              <a:srgbClr val="CEBCAC"/>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council of nobles that chose the king and helped him rule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Witan chose Edward the Confessor to be king.</a:t>
            </a:r>
            <a:endParaRPr lang="en-US" sz="2200" dirty="0"/>
          </a:p>
        </p:txBody>
      </p:sp>
      <p:sp>
        <p:nvSpPr>
          <p:cNvPr id="19" name="word-card"/>
          <p:cNvSpPr/>
          <p:nvPr/>
        </p:nvSpPr>
        <p:spPr>
          <a:xfrm>
            <a:off x="8127797" y="1389888"/>
            <a:ext cx="3515258" cy="4754880"/>
          </a:xfrm>
          <a:prstGeom prst="roundRect">
            <a:avLst>
              <a:gd name="adj" fmla="val 1561"/>
            </a:avLst>
          </a:prstGeom>
          <a:solidFill>
            <a:srgbClr val="F8F6F4"/>
          </a:solidFill>
          <a:ln w="12700">
            <a:solidFill>
              <a:srgbClr val="CEBCAC"/>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earl</a:t>
            </a:r>
            <a:endParaRPr lang="en-US" sz="2600" dirty="0"/>
          </a:p>
        </p:txBody>
      </p:sp>
      <p:sp>
        <p:nvSpPr>
          <p:cNvPr id="23" name="word-rule"/>
          <p:cNvSpPr/>
          <p:nvPr/>
        </p:nvSpPr>
        <p:spPr>
          <a:xfrm>
            <a:off x="8310677" y="2129028"/>
            <a:ext cx="3149498" cy="0"/>
          </a:xfrm>
          <a:prstGeom prst="line">
            <a:avLst/>
          </a:prstGeom>
          <a:ln w="12700">
            <a:solidFill>
              <a:srgbClr val="CEBCAC"/>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very powerful lord who ruled a huge area called an earldom</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Harold Godwinson was the most powerful earl in England.</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8F6F4"/>
          </a:solidFill>
          <a:ln w="12700">
            <a:solidFill>
              <a:srgbClr val="CEBCAC"/>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thegn</a:t>
            </a:r>
            <a:endParaRPr lang="en-US" sz="2600" dirty="0"/>
          </a:p>
        </p:txBody>
      </p:sp>
      <p:sp>
        <p:nvSpPr>
          <p:cNvPr id="11" name="word-rule"/>
          <p:cNvSpPr/>
          <p:nvPr/>
        </p:nvSpPr>
        <p:spPr>
          <a:xfrm>
            <a:off x="731520" y="2129028"/>
            <a:ext cx="3149498" cy="0"/>
          </a:xfrm>
          <a:prstGeom prst="line">
            <a:avLst/>
          </a:prstGeom>
          <a:ln w="12700">
            <a:solidFill>
              <a:srgbClr val="CEBCAC"/>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local lord who owned land and fought for the king</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 thegn lived in a manor house and owned land called hides.</a:t>
            </a:r>
            <a:endParaRPr lang="en-US" sz="2200" dirty="0"/>
          </a:p>
        </p:txBody>
      </p:sp>
      <p:sp>
        <p:nvSpPr>
          <p:cNvPr id="13" name="word-card"/>
          <p:cNvSpPr/>
          <p:nvPr/>
        </p:nvSpPr>
        <p:spPr>
          <a:xfrm>
            <a:off x="4338218" y="1389888"/>
            <a:ext cx="3515258" cy="4754880"/>
          </a:xfrm>
          <a:prstGeom prst="roundRect">
            <a:avLst>
              <a:gd name="adj" fmla="val 1561"/>
            </a:avLst>
          </a:prstGeom>
          <a:solidFill>
            <a:srgbClr val="F8F6F4"/>
          </a:solidFill>
          <a:ln w="12700">
            <a:solidFill>
              <a:srgbClr val="CEBCAC"/>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hierarchy</a:t>
            </a:r>
            <a:endParaRPr lang="en-US" sz="2600" dirty="0"/>
          </a:p>
        </p:txBody>
      </p:sp>
      <p:sp>
        <p:nvSpPr>
          <p:cNvPr id="17" name="word-rule"/>
          <p:cNvSpPr/>
          <p:nvPr/>
        </p:nvSpPr>
        <p:spPr>
          <a:xfrm>
            <a:off x="4521098" y="2129028"/>
            <a:ext cx="3149498" cy="0"/>
          </a:xfrm>
          <a:prstGeom prst="line">
            <a:avLst/>
          </a:prstGeom>
          <a:ln w="12700">
            <a:solidFill>
              <a:srgbClr val="CEBCAC"/>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way of ranking people from most to least powerful</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Anglo-Saxon hierarchy had the king at the top and enslaved people at the bottom.</a:t>
            </a:r>
            <a:endParaRPr lang="en-US" sz="2200" dirty="0"/>
          </a:p>
        </p:txBody>
      </p:sp>
      <p:sp>
        <p:nvSpPr>
          <p:cNvPr id="19" name="word-card"/>
          <p:cNvSpPr/>
          <p:nvPr/>
        </p:nvSpPr>
        <p:spPr>
          <a:xfrm>
            <a:off x="8127797" y="1389888"/>
            <a:ext cx="3515258" cy="4754880"/>
          </a:xfrm>
          <a:prstGeom prst="roundRect">
            <a:avLst>
              <a:gd name="adj" fmla="val 1561"/>
            </a:avLst>
          </a:prstGeom>
          <a:solidFill>
            <a:srgbClr val="F8F6F4"/>
          </a:solidFill>
          <a:ln w="12700">
            <a:solidFill>
              <a:srgbClr val="CEBCAC"/>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fyrd</a:t>
            </a:r>
            <a:endParaRPr lang="en-US" sz="2600" dirty="0"/>
          </a:p>
        </p:txBody>
      </p:sp>
      <p:sp>
        <p:nvSpPr>
          <p:cNvPr id="23" name="word-rule"/>
          <p:cNvSpPr/>
          <p:nvPr/>
        </p:nvSpPr>
        <p:spPr>
          <a:xfrm>
            <a:off x="8310677" y="2129028"/>
            <a:ext cx="3149498" cy="0"/>
          </a:xfrm>
          <a:prstGeom prst="line">
            <a:avLst/>
          </a:prstGeom>
          <a:ln w="12700">
            <a:solidFill>
              <a:srgbClr val="CEBCAC"/>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part-time army of ordinary men that a lord could call out</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fyrd was not a professional army.</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AF8F6"/>
          </a:solidFill>
          <a:ln w="12700">
            <a:solidFill>
              <a:srgbClr val="DBCEC2"/>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Before the Normans came, England was ruled by the </a:t>
            </a:r>
            <a:pPr algn="l" indent="0" marL="0">
              <a:spcAft>
                <a:spcPts val="600"/>
              </a:spcAft>
              <a:buNone/>
            </a:pPr>
            <a:r>
              <a:rPr lang="en-US" sz="2400" b="1" dirty="0">
                <a:solidFill>
                  <a:srgbClr val="7A4A1E"/>
                </a:solidFill>
                <a:latin typeface="Calibri" pitchFamily="34" charset="0"/>
                <a:ea typeface="Calibri" pitchFamily="34" charset="-122"/>
                <a:cs typeface="Calibri" pitchFamily="34" charset="-120"/>
              </a:rPr>
              <a:t>Anglo-Saxons</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Their ancestors had arrived from across the North Sea after the Romans left in 410.</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By 1066 the king was Edward the Confessor.</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He had been king since 1042.</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He was religious and not a warrior, and he had no children.</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most powerful family in England was the Godwinsons.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Harold Godwinson was the greatest </a:t>
            </a:r>
            <a:pPr algn="l" indent="0" marL="0">
              <a:spcAft>
                <a:spcPts val="600"/>
              </a:spcAft>
              <a:buNone/>
            </a:pPr>
            <a:r>
              <a:rPr lang="en-US" sz="2400" b="1" dirty="0">
                <a:solidFill>
                  <a:srgbClr val="7A4A1E"/>
                </a:solidFill>
                <a:latin typeface="Calibri" pitchFamily="34" charset="0"/>
                <a:ea typeface="Calibri" pitchFamily="34" charset="-122"/>
                <a:cs typeface="Calibri" pitchFamily="34" charset="-120"/>
              </a:rPr>
              <a:t>earl</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and some thought him stronger than the king.</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AF8F6"/>
          </a:solidFill>
          <a:ln w="12700">
            <a:solidFill>
              <a:srgbClr val="DBCEC2"/>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Below the king came the </a:t>
            </a:r>
            <a:pPr algn="l" indent="0" marL="0">
              <a:spcAft>
                <a:spcPts val="600"/>
              </a:spcAft>
              <a:buNone/>
            </a:pPr>
            <a:r>
              <a:rPr lang="en-US" sz="2400" b="1" dirty="0">
                <a:solidFill>
                  <a:srgbClr val="7A4A1E"/>
                </a:solidFill>
                <a:latin typeface="Calibri" pitchFamily="34" charset="0"/>
                <a:ea typeface="Calibri" pitchFamily="34" charset="-122"/>
                <a:cs typeface="Calibri" pitchFamily="34" charset="-120"/>
              </a:rPr>
              <a:t>earls</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who ruled huge areas called earldoms.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Below them came the </a:t>
            </a:r>
            <a:pPr algn="l" indent="0" marL="0">
              <a:spcAft>
                <a:spcPts val="600"/>
              </a:spcAft>
              <a:buNone/>
            </a:pPr>
            <a:r>
              <a:rPr lang="en-US" sz="2400" b="1" dirty="0">
                <a:solidFill>
                  <a:srgbClr val="7A4A1E"/>
                </a:solidFill>
                <a:latin typeface="Calibri" pitchFamily="34" charset="0"/>
                <a:ea typeface="Calibri" pitchFamily="34" charset="-122"/>
                <a:cs typeface="Calibri" pitchFamily="34" charset="-120"/>
              </a:rPr>
              <a:t>thegns</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local lords who owned land.</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Most people, about 85 in every 100, were peasant farmers.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About one in ten were enslaved people, who could be bought and sold.</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Houses were made of wood, with thatched roofs and a fire in the middle.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England had very few castles, so it was not well defended.</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Who were the Anglo-Saxons?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6F0E6"/>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Anglo-Saxon is the name for the people and their time. England before 1066 is Anglo-Saxon England; after 1066 we call it Norman England.</a:t>
            </a:r>
            <a:endParaRPr lang="en-US" sz="1800" dirty="0"/>
          </a:p>
        </p:txBody>
      </p:sp>
      <p:sp>
        <p:nvSpPr>
          <p:cNvPr id="11" name="point-card"/>
          <p:cNvSpPr/>
          <p:nvPr/>
        </p:nvSpPr>
        <p:spPr>
          <a:xfrm>
            <a:off x="548640" y="1389888"/>
            <a:ext cx="3515258" cy="3686048"/>
          </a:xfrm>
          <a:prstGeom prst="roundRect">
            <a:avLst>
              <a:gd name="adj" fmla="val 1561"/>
            </a:avLst>
          </a:prstGeom>
          <a:solidFill>
            <a:srgbClr val="F6F2EF"/>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Anglo-Saxons were not one people but several groups: the Angles, the Saxons and the Jutes.</a:t>
            </a:r>
            <a:endParaRPr lang="en-US" sz="2400" dirty="0"/>
          </a:p>
        </p:txBody>
      </p:sp>
      <p:sp>
        <p:nvSpPr>
          <p:cNvPr id="15" name="point-card"/>
          <p:cNvSpPr/>
          <p:nvPr/>
        </p:nvSpPr>
        <p:spPr>
          <a:xfrm>
            <a:off x="4338218" y="1389888"/>
            <a:ext cx="3515258" cy="3686048"/>
          </a:xfrm>
          <a:prstGeom prst="roundRect">
            <a:avLst>
              <a:gd name="adj" fmla="val 1561"/>
            </a:avLst>
          </a:prstGeom>
          <a:solidFill>
            <a:srgbClr val="F9F4EC"/>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At first they settled in separate groups in different parts of England, and these grew into small kingdoms.</a:t>
            </a:r>
            <a:endParaRPr lang="en-US" sz="2400" dirty="0"/>
          </a:p>
        </p:txBody>
      </p:sp>
      <p:sp>
        <p:nvSpPr>
          <p:cNvPr id="19" name="point-card"/>
          <p:cNvSpPr/>
          <p:nvPr/>
        </p:nvSpPr>
        <p:spPr>
          <a:xfrm>
            <a:off x="8127797" y="1389888"/>
            <a:ext cx="3515258" cy="3686048"/>
          </a:xfrm>
          <a:prstGeom prst="roundRect">
            <a:avLst>
              <a:gd name="adj" fmla="val 1561"/>
            </a:avLst>
          </a:prstGeom>
          <a:solidFill>
            <a:srgbClr val="F6F2EF"/>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In your last topic you studied how William won the Battle of Hastings.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7A4A1E"/>
                </a:solidFill>
                <a:latin typeface="Cambria" pitchFamily="34" charset="0"/>
                <a:ea typeface="Cambria" pitchFamily="34" charset="-122"/>
                <a:cs typeface="Cambria" pitchFamily="34" charset="-120"/>
              </a:rPr>
              <a:t>Who held power? The king, the Witan and the Godwinsons</a:t>
            </a:r>
            <a:endParaRPr lang="en-US" sz="24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6F0E6"/>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Point, Evidence, Explain. One sentence each is enough for a Year 7 paragraph; the explain sentence should use the word because.</a:t>
            </a:r>
            <a:endParaRPr lang="en-US" sz="1800" dirty="0"/>
          </a:p>
        </p:txBody>
      </p:sp>
      <p:sp>
        <p:nvSpPr>
          <p:cNvPr id="11" name="point-card"/>
          <p:cNvSpPr/>
          <p:nvPr/>
        </p:nvSpPr>
        <p:spPr>
          <a:xfrm>
            <a:off x="548640" y="1389888"/>
            <a:ext cx="3515258" cy="3686048"/>
          </a:xfrm>
          <a:prstGeom prst="roundRect">
            <a:avLst>
              <a:gd name="adj" fmla="val 1561"/>
            </a:avLst>
          </a:prstGeom>
          <a:solidFill>
            <a:srgbClr val="F6F2EF"/>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In 1066 the king was Edward the Confessor. He had been king since 1042 and was related to the old Anglo-Saxon king Ethelred the Unready.</a:t>
            </a:r>
            <a:endParaRPr lang="en-US" sz="2200" dirty="0"/>
          </a:p>
        </p:txBody>
      </p:sp>
      <p:sp>
        <p:nvSpPr>
          <p:cNvPr id="15" name="point-card"/>
          <p:cNvSpPr/>
          <p:nvPr/>
        </p:nvSpPr>
        <p:spPr>
          <a:xfrm>
            <a:off x="4338218" y="1389888"/>
            <a:ext cx="3515258" cy="3686048"/>
          </a:xfrm>
          <a:prstGeom prst="roundRect">
            <a:avLst>
              <a:gd name="adj" fmla="val 1561"/>
            </a:avLst>
          </a:prstGeom>
          <a:solidFill>
            <a:srgbClr val="F9F4EC"/>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The Godwinsons held huge amounts of land, which made them almost as rich as the king and gave them a large force of thegns to fight for them.</a:t>
            </a:r>
            <a:endParaRPr lang="en-US" sz="2200" dirty="0"/>
          </a:p>
        </p:txBody>
      </p:sp>
      <p:sp>
        <p:nvSpPr>
          <p:cNvPr id="19" name="point-card"/>
          <p:cNvSpPr/>
          <p:nvPr/>
        </p:nvSpPr>
        <p:spPr>
          <a:xfrm>
            <a:off x="8127797" y="1389888"/>
            <a:ext cx="3515258" cy="3686048"/>
          </a:xfrm>
          <a:prstGeom prst="roundRect">
            <a:avLst>
              <a:gd name="adj" fmla="val 1561"/>
            </a:avLst>
          </a:prstGeom>
          <a:solidFill>
            <a:srgbClr val="F6F2EF"/>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A fourth brother, Tostig, had been Earl of Northumbria since 1055, but he was not popular.</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7A4A1E"/>
                </a:solidFill>
                <a:latin typeface="Cambria" pitchFamily="34" charset="0"/>
                <a:ea typeface="Cambria" pitchFamily="34" charset="-122"/>
                <a:cs typeface="Cambria" pitchFamily="34" charset="-120"/>
              </a:rPr>
              <a:t>Worked example: Who held power? The king, the Witan and the Godwinsons</a:t>
            </a:r>
            <a:endParaRPr lang="en-US" sz="24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619760"/>
          </a:xfrm>
          <a:prstGeom prst="roundRect">
            <a:avLst>
              <a:gd name="adj" fmla="val 14754"/>
            </a:avLst>
          </a:prstGeom>
          <a:solidFill>
            <a:srgbClr val="F6F2EF"/>
          </a:solidFill>
          <a:ln/>
        </p:spPr>
      </p:sp>
      <p:sp>
        <p:nvSpPr>
          <p:cNvPr id="8" name="worked-q"/>
          <p:cNvSpPr txBox="1"/>
          <p:nvPr/>
        </p:nvSpPr>
        <p:spPr>
          <a:xfrm>
            <a:off x="731520" y="1481328"/>
            <a:ext cx="10728655" cy="436880"/>
          </a:xfrm>
          <a:prstGeom prst="rect">
            <a:avLst/>
          </a:prstGeom>
          <a:noFill/>
          <a:ln/>
        </p:spPr>
        <p:txBody>
          <a:bodyPr wrap="square" lIns="63500" tIns="63500" rIns="63500" bIns="63500" rtlCol="0" anchor="ctr"/>
          <a:lstStyle/>
          <a:p>
            <a:pPr algn="l" indent="0" marL="0">
              <a:buNone/>
            </a:pPr>
            <a:r>
              <a:rPr lang="en-US" sz="2000" b="1" dirty="0">
                <a:solidFill>
                  <a:srgbClr val="1E2229"/>
                </a:solidFill>
                <a:latin typeface="Calibri" pitchFamily="34" charset="0"/>
                <a:ea typeface="Calibri" pitchFamily="34" charset="-122"/>
                <a:cs typeface="Calibri" pitchFamily="34" charset="-120"/>
              </a:rPr>
              <a:t>Explain how it could be argued that the Godwinsons were more powerful than the king.</a:t>
            </a:r>
            <a:endParaRPr lang="en-US" sz="2000" dirty="0"/>
          </a:p>
        </p:txBody>
      </p:sp>
      <p:sp>
        <p:nvSpPr>
          <p:cNvPr id="9" name="step-box"/>
          <p:cNvSpPr/>
          <p:nvPr/>
        </p:nvSpPr>
        <p:spPr>
          <a:xfrm>
            <a:off x="548640" y="2192528"/>
            <a:ext cx="11094415" cy="469392"/>
          </a:xfrm>
          <a:prstGeom prst="roundRect">
            <a:avLst>
              <a:gd name="adj" fmla="val 15584"/>
            </a:avLst>
          </a:prstGeom>
          <a:solidFill>
            <a:srgbClr val="FFFFFF"/>
          </a:solidFill>
          <a:ln w="15875">
            <a:solidFill>
              <a:srgbClr val="B69B83"/>
            </a:solidFill>
            <a:prstDash val="solid"/>
          </a:ln>
        </p:spPr>
      </p:sp>
      <p:sp>
        <p:nvSpPr>
          <p:cNvPr id="10" name="step-hex"/>
          <p:cNvSpPr/>
          <p:nvPr/>
        </p:nvSpPr>
        <p:spPr>
          <a:xfrm>
            <a:off x="685800" y="2229256"/>
            <a:ext cx="457200" cy="395935"/>
          </a:xfrm>
          <a:prstGeom prst="hexagon">
            <a:avLst/>
          </a:prstGeom>
          <a:solidFill>
            <a:srgbClr val="7A4A1E"/>
          </a:solidFill>
          <a:ln/>
        </p:spPr>
      </p:sp>
      <p:sp>
        <p:nvSpPr>
          <p:cNvPr id="11" name="step-hex-label"/>
          <p:cNvSpPr txBox="1"/>
          <p:nvPr/>
        </p:nvSpPr>
        <p:spPr>
          <a:xfrm>
            <a:off x="685800" y="2229256"/>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2" name="step"/>
          <p:cNvSpPr txBox="1"/>
          <p:nvPr/>
        </p:nvSpPr>
        <p:spPr>
          <a:xfrm>
            <a:off x="1280160" y="2192528"/>
            <a:ext cx="10180015" cy="46939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Make your point: It could be argued that the Godwinsons were more powerful than King Edward.</a:t>
            </a:r>
            <a:endParaRPr lang="en-US" sz="1800" dirty="0"/>
          </a:p>
        </p:txBody>
      </p:sp>
      <p:sp>
        <p:nvSpPr>
          <p:cNvPr id="13" name="step-box"/>
          <p:cNvSpPr/>
          <p:nvPr/>
        </p:nvSpPr>
        <p:spPr>
          <a:xfrm>
            <a:off x="548640" y="2735072"/>
            <a:ext cx="11094415" cy="733552"/>
          </a:xfrm>
          <a:prstGeom prst="roundRect">
            <a:avLst>
              <a:gd name="adj" fmla="val 9972"/>
            </a:avLst>
          </a:prstGeom>
          <a:solidFill>
            <a:srgbClr val="FFFFFF"/>
          </a:solidFill>
          <a:ln w="15875">
            <a:solidFill>
              <a:srgbClr val="B69B83"/>
            </a:solidFill>
            <a:prstDash val="solid"/>
          </a:ln>
        </p:spPr>
      </p:sp>
      <p:sp>
        <p:nvSpPr>
          <p:cNvPr id="14" name="step-hex"/>
          <p:cNvSpPr/>
          <p:nvPr/>
        </p:nvSpPr>
        <p:spPr>
          <a:xfrm>
            <a:off x="685800" y="2903880"/>
            <a:ext cx="457200" cy="395935"/>
          </a:xfrm>
          <a:prstGeom prst="hexagon">
            <a:avLst/>
          </a:prstGeom>
          <a:solidFill>
            <a:srgbClr val="7A4A1E"/>
          </a:solidFill>
          <a:ln/>
        </p:spPr>
      </p:sp>
      <p:sp>
        <p:nvSpPr>
          <p:cNvPr id="15" name="step-hex-label"/>
          <p:cNvSpPr txBox="1"/>
          <p:nvPr/>
        </p:nvSpPr>
        <p:spPr>
          <a:xfrm>
            <a:off x="685800" y="2903880"/>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step"/>
          <p:cNvSpPr txBox="1"/>
          <p:nvPr/>
        </p:nvSpPr>
        <p:spPr>
          <a:xfrm>
            <a:off x="1280160" y="2735072"/>
            <a:ext cx="10180015" cy="73355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Give evidence from the information sheet: they held huge amounts of land, which made them almost as rich as the king.</a:t>
            </a:r>
            <a:endParaRPr lang="en-US" sz="1800" dirty="0"/>
          </a:p>
        </p:txBody>
      </p:sp>
      <p:sp>
        <p:nvSpPr>
          <p:cNvPr id="17" name="step-box"/>
          <p:cNvSpPr/>
          <p:nvPr/>
        </p:nvSpPr>
        <p:spPr>
          <a:xfrm>
            <a:off x="548640" y="3541776"/>
            <a:ext cx="11094415" cy="733552"/>
          </a:xfrm>
          <a:prstGeom prst="roundRect">
            <a:avLst>
              <a:gd name="adj" fmla="val 9972"/>
            </a:avLst>
          </a:prstGeom>
          <a:solidFill>
            <a:srgbClr val="FFFFFF"/>
          </a:solidFill>
          <a:ln w="15875">
            <a:solidFill>
              <a:srgbClr val="B69B83"/>
            </a:solidFill>
            <a:prstDash val="solid"/>
          </a:ln>
        </p:spPr>
      </p:sp>
      <p:sp>
        <p:nvSpPr>
          <p:cNvPr id="18" name="step-hex"/>
          <p:cNvSpPr/>
          <p:nvPr/>
        </p:nvSpPr>
        <p:spPr>
          <a:xfrm>
            <a:off x="685800" y="3710584"/>
            <a:ext cx="457200" cy="395935"/>
          </a:xfrm>
          <a:prstGeom prst="hexagon">
            <a:avLst/>
          </a:prstGeom>
          <a:solidFill>
            <a:srgbClr val="7A4A1E"/>
          </a:solidFill>
          <a:ln/>
        </p:spPr>
      </p:sp>
      <p:sp>
        <p:nvSpPr>
          <p:cNvPr id="19" name="step-hex-label"/>
          <p:cNvSpPr txBox="1"/>
          <p:nvPr/>
        </p:nvSpPr>
        <p:spPr>
          <a:xfrm>
            <a:off x="685800" y="3710584"/>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0" name="step"/>
          <p:cNvSpPr txBox="1"/>
          <p:nvPr/>
        </p:nvSpPr>
        <p:spPr>
          <a:xfrm>
            <a:off x="1280160" y="3541776"/>
            <a:ext cx="10180015" cy="73355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Add a second piece of evidence: land gave them a large force of thegns to fight for them, and Harold, Gyrth, Leofwine and Tostig held four of the great earldoms between them.</a:t>
            </a:r>
            <a:endParaRPr lang="en-US" sz="1800" dirty="0"/>
          </a:p>
        </p:txBody>
      </p:sp>
      <p:sp>
        <p:nvSpPr>
          <p:cNvPr id="21" name="step-box"/>
          <p:cNvSpPr/>
          <p:nvPr/>
        </p:nvSpPr>
        <p:spPr>
          <a:xfrm>
            <a:off x="548640" y="4348480"/>
            <a:ext cx="11094415" cy="733552"/>
          </a:xfrm>
          <a:prstGeom prst="roundRect">
            <a:avLst>
              <a:gd name="adj" fmla="val 9972"/>
            </a:avLst>
          </a:prstGeom>
          <a:solidFill>
            <a:srgbClr val="FFFFFF"/>
          </a:solidFill>
          <a:ln w="15875">
            <a:solidFill>
              <a:srgbClr val="B69B83"/>
            </a:solidFill>
            <a:prstDash val="solid"/>
          </a:ln>
        </p:spPr>
      </p:sp>
      <p:sp>
        <p:nvSpPr>
          <p:cNvPr id="22" name="step-hex"/>
          <p:cNvSpPr/>
          <p:nvPr/>
        </p:nvSpPr>
        <p:spPr>
          <a:xfrm>
            <a:off x="685800" y="4517288"/>
            <a:ext cx="457200" cy="395935"/>
          </a:xfrm>
          <a:prstGeom prst="hexagon">
            <a:avLst/>
          </a:prstGeom>
          <a:solidFill>
            <a:srgbClr val="7A4A1E"/>
          </a:solidFill>
          <a:ln/>
        </p:spPr>
      </p:sp>
      <p:sp>
        <p:nvSpPr>
          <p:cNvPr id="23" name="step-hex-label"/>
          <p:cNvSpPr txBox="1"/>
          <p:nvPr/>
        </p:nvSpPr>
        <p:spPr>
          <a:xfrm>
            <a:off x="685800" y="4517288"/>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4" name="step"/>
          <p:cNvSpPr txBox="1"/>
          <p:nvPr/>
        </p:nvSpPr>
        <p:spPr>
          <a:xfrm>
            <a:off x="1280160" y="4348480"/>
            <a:ext cx="10180015" cy="73355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Explain the link: because Edward was religious rather than a warrior, the family with the land and the soldiers held the real power.</a:t>
            </a:r>
            <a:endParaRPr lang="en-US" sz="1800" dirty="0"/>
          </a:p>
        </p:txBody>
      </p:sp>
      <p:sp>
        <p:nvSpPr>
          <p:cNvPr id="25" name="worked-answer"/>
          <p:cNvSpPr/>
          <p:nvPr/>
        </p:nvSpPr>
        <p:spPr>
          <a:xfrm>
            <a:off x="548640" y="5264912"/>
            <a:ext cx="11094415" cy="831088"/>
          </a:xfrm>
          <a:prstGeom prst="roundRect">
            <a:avLst>
              <a:gd name="adj" fmla="val 16504"/>
            </a:avLst>
          </a:prstGeom>
          <a:solidFill>
            <a:srgbClr val="EFE4D0"/>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Point, evidence, explain: the Godwinsons held the land, the money and the fighting men, while Edward was not a warrior, so the real power lay with them.</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How society worked: the hierarchy</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6F0E6"/>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Learn the five levels in order from the top: king, earls, thegns, peasants, enslaved people. Draw them as a pyramid: the higher the level, the fewer the people.</a:t>
            </a:r>
            <a:endParaRPr lang="en-US" sz="1800" dirty="0"/>
          </a:p>
        </p:txBody>
      </p:sp>
      <p:sp>
        <p:nvSpPr>
          <p:cNvPr id="11" name="point-card"/>
          <p:cNvSpPr/>
          <p:nvPr/>
        </p:nvSpPr>
        <p:spPr>
          <a:xfrm>
            <a:off x="548640" y="1389888"/>
            <a:ext cx="3515258" cy="3686048"/>
          </a:xfrm>
          <a:prstGeom prst="roundRect">
            <a:avLst>
              <a:gd name="adj" fmla="val 1561"/>
            </a:avLst>
          </a:prstGeom>
          <a:solidFill>
            <a:srgbClr val="F6F2EF"/>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Anglo-Saxon society had a clear hierarchy, a ranking that showed how important and powerful each group was.</a:t>
            </a:r>
            <a:endParaRPr lang="en-US" sz="2200" dirty="0"/>
          </a:p>
        </p:txBody>
      </p:sp>
      <p:sp>
        <p:nvSpPr>
          <p:cNvPr id="15" name="point-card"/>
          <p:cNvSpPr/>
          <p:nvPr/>
        </p:nvSpPr>
        <p:spPr>
          <a:xfrm>
            <a:off x="4338218" y="1389888"/>
            <a:ext cx="3515258" cy="3686048"/>
          </a:xfrm>
          <a:prstGeom prst="roundRect">
            <a:avLst>
              <a:gd name="adj" fmla="val 1561"/>
            </a:avLst>
          </a:prstGeom>
          <a:solidFill>
            <a:srgbClr val="F9F4EC"/>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Most people were nowhere near the top. About 85 in every 100 were peasant farmers who rented small farms.</a:t>
            </a:r>
            <a:endParaRPr lang="en-US" sz="2200" dirty="0"/>
          </a:p>
        </p:txBody>
      </p:sp>
      <p:sp>
        <p:nvSpPr>
          <p:cNvPr id="19" name="point-card"/>
          <p:cNvSpPr/>
          <p:nvPr/>
        </p:nvSpPr>
        <p:spPr>
          <a:xfrm>
            <a:off x="8127797" y="1389888"/>
            <a:ext cx="3515258" cy="3686048"/>
          </a:xfrm>
          <a:prstGeom prst="roundRect">
            <a:avLst>
              <a:gd name="adj" fmla="val 1561"/>
            </a:avLst>
          </a:prstGeom>
          <a:solidFill>
            <a:srgbClr val="F6F2EF"/>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The hierarchy was not fixed for life. A peasant who gained five hides of land could become a thegn, and a thegn could be promoted to earl.</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Everyday life and defence</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6F0E6"/>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Similarity and difference questions want one of each, clearly labelled. Say which is which.</a:t>
            </a:r>
            <a:endParaRPr lang="en-US" sz="1800" dirty="0"/>
          </a:p>
        </p:txBody>
      </p:sp>
      <p:sp>
        <p:nvSpPr>
          <p:cNvPr id="11" name="point-card"/>
          <p:cNvSpPr/>
          <p:nvPr/>
        </p:nvSpPr>
        <p:spPr>
          <a:xfrm>
            <a:off x="548640" y="1389888"/>
            <a:ext cx="3515258" cy="3964940"/>
          </a:xfrm>
          <a:prstGeom prst="roundRect">
            <a:avLst>
              <a:gd name="adj" fmla="val 1561"/>
            </a:avLst>
          </a:prstGeom>
          <a:solidFill>
            <a:srgbClr val="F6F2EF"/>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Most houses were built of oak planks with wattle and daub (woven sticks covered in mud) filling the walls, and a roof of straw or reed thatch.</a:t>
            </a:r>
            <a:endParaRPr lang="en-US" sz="2400" dirty="0"/>
          </a:p>
        </p:txBody>
      </p:sp>
      <p:sp>
        <p:nvSpPr>
          <p:cNvPr id="15" name="point-card"/>
          <p:cNvSpPr/>
          <p:nvPr/>
        </p:nvSpPr>
        <p:spPr>
          <a:xfrm>
            <a:off x="4338218" y="1389888"/>
            <a:ext cx="3515258" cy="3964940"/>
          </a:xfrm>
          <a:prstGeom prst="roundRect">
            <a:avLst>
              <a:gd name="adj" fmla="val 1561"/>
            </a:avLst>
          </a:prstGeom>
          <a:solidFill>
            <a:srgbClr val="F9F4EC"/>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Much of southern England was forest, with clearings for farms and villages.</a:t>
            </a:r>
            <a:endParaRPr lang="en-US" sz="2400" dirty="0"/>
          </a:p>
        </p:txBody>
      </p:sp>
      <p:sp>
        <p:nvSpPr>
          <p:cNvPr id="19" name="point-card"/>
          <p:cNvSpPr/>
          <p:nvPr/>
        </p:nvSpPr>
        <p:spPr>
          <a:xfrm>
            <a:off x="8127797" y="1389888"/>
            <a:ext cx="3515258" cy="3964940"/>
          </a:xfrm>
          <a:prstGeom prst="roundRect">
            <a:avLst>
              <a:gd name="adj" fmla="val 1561"/>
            </a:avLst>
          </a:prstGeom>
          <a:solidFill>
            <a:srgbClr val="F6F2EF"/>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England was not well defended. Castles were very rare.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task: The Anglo-Saxon pyramid</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618488"/>
            <a:ext cx="8534095" cy="498856"/>
          </a:xfrm>
          <a:prstGeom prst="rect">
            <a:avLst/>
          </a:prstGeom>
          <a:noFill/>
          <a:ln/>
        </p:spPr>
        <p:txBody>
          <a:bodyPr wrap="square" lIns="63500" tIns="63500" rIns="63500" bIns="63500" rtlCol="0" anchor="t"/>
          <a:lstStyle/>
          <a:p>
            <a:pPr algn="ctr" indent="0" marL="0">
              <a:buNone/>
            </a:pPr>
            <a:r>
              <a:rPr lang="en-US" sz="2400" b="1" dirty="0">
                <a:solidFill>
                  <a:srgbClr val="1E2229"/>
                </a:solidFill>
                <a:latin typeface="Calibri" pitchFamily="34" charset="0"/>
                <a:ea typeface="Calibri" pitchFamily="34" charset="-122"/>
                <a:cs typeface="Calibri" pitchFamily="34" charset="-120"/>
              </a:rPr>
              <a:t>Match each level of Anglo-Saxon society to its description.</a:t>
            </a:r>
            <a:endParaRPr lang="en-US" sz="2400" dirty="0"/>
          </a:p>
        </p:txBody>
      </p:sp>
      <p:sp>
        <p:nvSpPr>
          <p:cNvPr id="11" name="match-card"/>
          <p:cNvSpPr/>
          <p:nvPr/>
        </p:nvSpPr>
        <p:spPr>
          <a:xfrm>
            <a:off x="777240" y="2468331"/>
            <a:ext cx="3081437" cy="580043"/>
          </a:xfrm>
          <a:prstGeom prst="roundRect">
            <a:avLst>
              <a:gd name="adj" fmla="val 12611"/>
            </a:avLst>
          </a:prstGeom>
          <a:solidFill>
            <a:srgbClr val="F8F6F4"/>
          </a:solidFill>
          <a:ln/>
        </p:spPr>
      </p:sp>
      <p:sp>
        <p:nvSpPr>
          <p:cNvPr id="12" name="match-hex"/>
          <p:cNvSpPr/>
          <p:nvPr/>
        </p:nvSpPr>
        <p:spPr>
          <a:xfrm>
            <a:off x="850392" y="2592060"/>
            <a:ext cx="384048" cy="332586"/>
          </a:xfrm>
          <a:prstGeom prst="hexagon">
            <a:avLst/>
          </a:prstGeom>
          <a:solidFill>
            <a:srgbClr val="7A4A1E"/>
          </a:solidFill>
          <a:ln/>
        </p:spPr>
      </p:sp>
      <p:sp>
        <p:nvSpPr>
          <p:cNvPr id="13" name="match-hex-label"/>
          <p:cNvSpPr txBox="1"/>
          <p:nvPr/>
        </p:nvSpPr>
        <p:spPr>
          <a:xfrm>
            <a:off x="850392" y="2592060"/>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468331"/>
            <a:ext cx="2487077" cy="580043"/>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King</a:t>
            </a:r>
            <a:endParaRPr lang="en-US" sz="1800" dirty="0"/>
          </a:p>
        </p:txBody>
      </p:sp>
      <p:sp>
        <p:nvSpPr>
          <p:cNvPr id="15" name="match-card"/>
          <p:cNvSpPr/>
          <p:nvPr/>
        </p:nvSpPr>
        <p:spPr>
          <a:xfrm>
            <a:off x="4224437" y="2468331"/>
            <a:ext cx="7190019" cy="580043"/>
          </a:xfrm>
          <a:prstGeom prst="roundRect">
            <a:avLst>
              <a:gd name="adj" fmla="val 12611"/>
            </a:avLst>
          </a:prstGeom>
          <a:solidFill>
            <a:srgbClr val="F9F4EC"/>
          </a:solidFill>
          <a:ln/>
        </p:spPr>
      </p:sp>
      <p:sp>
        <p:nvSpPr>
          <p:cNvPr id="16" name="match-hex"/>
          <p:cNvSpPr/>
          <p:nvPr/>
        </p:nvSpPr>
        <p:spPr>
          <a:xfrm>
            <a:off x="4297589" y="2592060"/>
            <a:ext cx="384048" cy="332586"/>
          </a:xfrm>
          <a:prstGeom prst="hexagon">
            <a:avLst/>
          </a:prstGeom>
          <a:solidFill>
            <a:srgbClr val="B8862B"/>
          </a:solidFill>
          <a:ln/>
        </p:spPr>
      </p:sp>
      <p:sp>
        <p:nvSpPr>
          <p:cNvPr id="17" name="match-hex-label"/>
          <p:cNvSpPr txBox="1"/>
          <p:nvPr/>
        </p:nvSpPr>
        <p:spPr>
          <a:xfrm>
            <a:off x="4297589" y="2592060"/>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4745645" y="2468331"/>
            <a:ext cx="6595659" cy="580043"/>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About 85 in every 100 people; rented small farms</a:t>
            </a:r>
            <a:endParaRPr lang="en-US" sz="1800" dirty="0"/>
          </a:p>
        </p:txBody>
      </p:sp>
      <p:sp>
        <p:nvSpPr>
          <p:cNvPr id="19" name="match-card"/>
          <p:cNvSpPr/>
          <p:nvPr/>
        </p:nvSpPr>
        <p:spPr>
          <a:xfrm>
            <a:off x="777240" y="3139814"/>
            <a:ext cx="3081437" cy="580043"/>
          </a:xfrm>
          <a:prstGeom prst="roundRect">
            <a:avLst>
              <a:gd name="adj" fmla="val 12611"/>
            </a:avLst>
          </a:prstGeom>
          <a:solidFill>
            <a:srgbClr val="F8F6F4"/>
          </a:solidFill>
          <a:ln/>
        </p:spPr>
      </p:sp>
      <p:sp>
        <p:nvSpPr>
          <p:cNvPr id="20" name="match-hex"/>
          <p:cNvSpPr/>
          <p:nvPr/>
        </p:nvSpPr>
        <p:spPr>
          <a:xfrm>
            <a:off x="850392" y="3263542"/>
            <a:ext cx="384048" cy="332586"/>
          </a:xfrm>
          <a:prstGeom prst="hexagon">
            <a:avLst/>
          </a:prstGeom>
          <a:solidFill>
            <a:srgbClr val="7A4A1E"/>
          </a:solidFill>
          <a:ln/>
        </p:spPr>
      </p:sp>
      <p:sp>
        <p:nvSpPr>
          <p:cNvPr id="21" name="match-hex-label"/>
          <p:cNvSpPr txBox="1"/>
          <p:nvPr/>
        </p:nvSpPr>
        <p:spPr>
          <a:xfrm>
            <a:off x="850392" y="3263542"/>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139814"/>
            <a:ext cx="2487077" cy="580043"/>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Earls</a:t>
            </a:r>
            <a:endParaRPr lang="en-US" sz="1800" dirty="0"/>
          </a:p>
        </p:txBody>
      </p:sp>
      <p:sp>
        <p:nvSpPr>
          <p:cNvPr id="23" name="match-card"/>
          <p:cNvSpPr/>
          <p:nvPr/>
        </p:nvSpPr>
        <p:spPr>
          <a:xfrm>
            <a:off x="4224437" y="3139814"/>
            <a:ext cx="7190019" cy="580043"/>
          </a:xfrm>
          <a:prstGeom prst="roundRect">
            <a:avLst>
              <a:gd name="adj" fmla="val 12611"/>
            </a:avLst>
          </a:prstGeom>
          <a:solidFill>
            <a:srgbClr val="F9F4EC"/>
          </a:solidFill>
          <a:ln/>
        </p:spPr>
      </p:sp>
      <p:sp>
        <p:nvSpPr>
          <p:cNvPr id="24" name="match-hex"/>
          <p:cNvSpPr/>
          <p:nvPr/>
        </p:nvSpPr>
        <p:spPr>
          <a:xfrm>
            <a:off x="4297589" y="3263542"/>
            <a:ext cx="384048" cy="332586"/>
          </a:xfrm>
          <a:prstGeom prst="hexagon">
            <a:avLst/>
          </a:prstGeom>
          <a:solidFill>
            <a:srgbClr val="B8862B"/>
          </a:solidFill>
          <a:ln/>
        </p:spPr>
      </p:sp>
      <p:sp>
        <p:nvSpPr>
          <p:cNvPr id="25" name="match-hex-label"/>
          <p:cNvSpPr txBox="1"/>
          <p:nvPr/>
        </p:nvSpPr>
        <p:spPr>
          <a:xfrm>
            <a:off x="4297589" y="3263542"/>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4745645" y="3139814"/>
            <a:ext cx="6595659" cy="580043"/>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About one in ten people; could be bought and sold like property</a:t>
            </a:r>
            <a:endParaRPr lang="en-US" sz="1800" dirty="0"/>
          </a:p>
        </p:txBody>
      </p:sp>
      <p:sp>
        <p:nvSpPr>
          <p:cNvPr id="27" name="match-card"/>
          <p:cNvSpPr/>
          <p:nvPr/>
        </p:nvSpPr>
        <p:spPr>
          <a:xfrm>
            <a:off x="777240" y="3811296"/>
            <a:ext cx="3081437" cy="580043"/>
          </a:xfrm>
          <a:prstGeom prst="roundRect">
            <a:avLst>
              <a:gd name="adj" fmla="val 12611"/>
            </a:avLst>
          </a:prstGeom>
          <a:solidFill>
            <a:srgbClr val="F8F6F4"/>
          </a:solidFill>
          <a:ln/>
        </p:spPr>
      </p:sp>
      <p:sp>
        <p:nvSpPr>
          <p:cNvPr id="28" name="match-hex"/>
          <p:cNvSpPr/>
          <p:nvPr/>
        </p:nvSpPr>
        <p:spPr>
          <a:xfrm>
            <a:off x="850392" y="3935025"/>
            <a:ext cx="384048" cy="332586"/>
          </a:xfrm>
          <a:prstGeom prst="hexagon">
            <a:avLst/>
          </a:prstGeom>
          <a:solidFill>
            <a:srgbClr val="7A4A1E"/>
          </a:solidFill>
          <a:ln/>
        </p:spPr>
      </p:sp>
      <p:sp>
        <p:nvSpPr>
          <p:cNvPr id="29" name="match-hex-label"/>
          <p:cNvSpPr txBox="1"/>
          <p:nvPr/>
        </p:nvSpPr>
        <p:spPr>
          <a:xfrm>
            <a:off x="850392" y="3935025"/>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0" name="match-text"/>
          <p:cNvSpPr txBox="1"/>
          <p:nvPr/>
        </p:nvSpPr>
        <p:spPr>
          <a:xfrm>
            <a:off x="1298448" y="3811296"/>
            <a:ext cx="2487077" cy="580043"/>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Thegns</a:t>
            </a:r>
            <a:endParaRPr lang="en-US" sz="1800" dirty="0"/>
          </a:p>
        </p:txBody>
      </p:sp>
      <p:sp>
        <p:nvSpPr>
          <p:cNvPr id="31" name="match-card"/>
          <p:cNvSpPr/>
          <p:nvPr/>
        </p:nvSpPr>
        <p:spPr>
          <a:xfrm>
            <a:off x="4224437" y="3811296"/>
            <a:ext cx="7190019" cy="580043"/>
          </a:xfrm>
          <a:prstGeom prst="roundRect">
            <a:avLst>
              <a:gd name="adj" fmla="val 12611"/>
            </a:avLst>
          </a:prstGeom>
          <a:solidFill>
            <a:srgbClr val="F9F4EC"/>
          </a:solidFill>
          <a:ln/>
        </p:spPr>
      </p:sp>
      <p:sp>
        <p:nvSpPr>
          <p:cNvPr id="32" name="match-hex"/>
          <p:cNvSpPr/>
          <p:nvPr/>
        </p:nvSpPr>
        <p:spPr>
          <a:xfrm>
            <a:off x="4297589" y="3935025"/>
            <a:ext cx="384048" cy="332586"/>
          </a:xfrm>
          <a:prstGeom prst="hexagon">
            <a:avLst/>
          </a:prstGeom>
          <a:solidFill>
            <a:srgbClr val="B8862B"/>
          </a:solidFill>
          <a:ln/>
        </p:spPr>
      </p:sp>
      <p:sp>
        <p:nvSpPr>
          <p:cNvPr id="33" name="match-hex-label"/>
          <p:cNvSpPr txBox="1"/>
          <p:nvPr/>
        </p:nvSpPr>
        <p:spPr>
          <a:xfrm>
            <a:off x="4297589" y="3935025"/>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34" name="match-text"/>
          <p:cNvSpPr txBox="1"/>
          <p:nvPr/>
        </p:nvSpPr>
        <p:spPr>
          <a:xfrm>
            <a:off x="4745645" y="3811296"/>
            <a:ext cx="6595659" cy="580043"/>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Local lords who owned hides of land and lived in manor houses</a:t>
            </a:r>
            <a:endParaRPr lang="en-US" sz="1800" dirty="0"/>
          </a:p>
        </p:txBody>
      </p:sp>
      <p:sp>
        <p:nvSpPr>
          <p:cNvPr id="35" name="match-card"/>
          <p:cNvSpPr/>
          <p:nvPr/>
        </p:nvSpPr>
        <p:spPr>
          <a:xfrm>
            <a:off x="777240" y="4482779"/>
            <a:ext cx="3081437" cy="807627"/>
          </a:xfrm>
          <a:prstGeom prst="roundRect">
            <a:avLst>
              <a:gd name="adj" fmla="val 9058"/>
            </a:avLst>
          </a:prstGeom>
          <a:solidFill>
            <a:srgbClr val="F8F6F4"/>
          </a:solidFill>
          <a:ln/>
        </p:spPr>
      </p:sp>
      <p:sp>
        <p:nvSpPr>
          <p:cNvPr id="36" name="match-hex"/>
          <p:cNvSpPr/>
          <p:nvPr/>
        </p:nvSpPr>
        <p:spPr>
          <a:xfrm>
            <a:off x="850392" y="4720299"/>
            <a:ext cx="384048" cy="332586"/>
          </a:xfrm>
          <a:prstGeom prst="hexagon">
            <a:avLst/>
          </a:prstGeom>
          <a:solidFill>
            <a:srgbClr val="7A4A1E"/>
          </a:solidFill>
          <a:ln/>
        </p:spPr>
      </p:sp>
      <p:sp>
        <p:nvSpPr>
          <p:cNvPr id="37" name="match-hex-label"/>
          <p:cNvSpPr txBox="1"/>
          <p:nvPr/>
        </p:nvSpPr>
        <p:spPr>
          <a:xfrm>
            <a:off x="850392" y="4720299"/>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38" name="match-text"/>
          <p:cNvSpPr txBox="1"/>
          <p:nvPr/>
        </p:nvSpPr>
        <p:spPr>
          <a:xfrm>
            <a:off x="1298448" y="4482779"/>
            <a:ext cx="2487077" cy="807627"/>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Peasants</a:t>
            </a:r>
            <a:endParaRPr lang="en-US" sz="1800" dirty="0"/>
          </a:p>
        </p:txBody>
      </p:sp>
      <p:sp>
        <p:nvSpPr>
          <p:cNvPr id="39" name="match-card"/>
          <p:cNvSpPr/>
          <p:nvPr/>
        </p:nvSpPr>
        <p:spPr>
          <a:xfrm>
            <a:off x="4224437" y="4482779"/>
            <a:ext cx="7190019" cy="807627"/>
          </a:xfrm>
          <a:prstGeom prst="roundRect">
            <a:avLst>
              <a:gd name="adj" fmla="val 9058"/>
            </a:avLst>
          </a:prstGeom>
          <a:solidFill>
            <a:srgbClr val="F9F4EC"/>
          </a:solidFill>
          <a:ln/>
        </p:spPr>
      </p:sp>
      <p:sp>
        <p:nvSpPr>
          <p:cNvPr id="40" name="match-hex"/>
          <p:cNvSpPr/>
          <p:nvPr/>
        </p:nvSpPr>
        <p:spPr>
          <a:xfrm>
            <a:off x="4297589" y="4720299"/>
            <a:ext cx="384048" cy="332586"/>
          </a:xfrm>
          <a:prstGeom prst="hexagon">
            <a:avLst/>
          </a:prstGeom>
          <a:solidFill>
            <a:srgbClr val="B8862B"/>
          </a:solidFill>
          <a:ln/>
        </p:spPr>
      </p:sp>
      <p:sp>
        <p:nvSpPr>
          <p:cNvPr id="41" name="match-hex-label"/>
          <p:cNvSpPr txBox="1"/>
          <p:nvPr/>
        </p:nvSpPr>
        <p:spPr>
          <a:xfrm>
            <a:off x="4297589" y="4720299"/>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42" name="match-text"/>
          <p:cNvSpPr txBox="1"/>
          <p:nvPr/>
        </p:nvSpPr>
        <p:spPr>
          <a:xfrm>
            <a:off x="4745645" y="4482779"/>
            <a:ext cx="6595659" cy="807627"/>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Chosen by the Witan; could promote or demote anyone below him</a:t>
            </a:r>
            <a:endParaRPr lang="en-US" sz="1800" dirty="0"/>
          </a:p>
        </p:txBody>
      </p:sp>
      <p:sp>
        <p:nvSpPr>
          <p:cNvPr id="43" name="match-card"/>
          <p:cNvSpPr/>
          <p:nvPr/>
        </p:nvSpPr>
        <p:spPr>
          <a:xfrm>
            <a:off x="777240" y="5381845"/>
            <a:ext cx="3081437" cy="580043"/>
          </a:xfrm>
          <a:prstGeom prst="roundRect">
            <a:avLst>
              <a:gd name="adj" fmla="val 12611"/>
            </a:avLst>
          </a:prstGeom>
          <a:solidFill>
            <a:srgbClr val="F8F6F4"/>
          </a:solidFill>
          <a:ln/>
        </p:spPr>
      </p:sp>
      <p:sp>
        <p:nvSpPr>
          <p:cNvPr id="44" name="match-hex"/>
          <p:cNvSpPr/>
          <p:nvPr/>
        </p:nvSpPr>
        <p:spPr>
          <a:xfrm>
            <a:off x="850392" y="5505574"/>
            <a:ext cx="384048" cy="332586"/>
          </a:xfrm>
          <a:prstGeom prst="hexagon">
            <a:avLst/>
          </a:prstGeom>
          <a:solidFill>
            <a:srgbClr val="7A4A1E"/>
          </a:solidFill>
          <a:ln/>
        </p:spPr>
      </p:sp>
      <p:sp>
        <p:nvSpPr>
          <p:cNvPr id="45" name="match-hex-label"/>
          <p:cNvSpPr txBox="1"/>
          <p:nvPr/>
        </p:nvSpPr>
        <p:spPr>
          <a:xfrm>
            <a:off x="850392" y="5505574"/>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46" name="match-text"/>
          <p:cNvSpPr txBox="1"/>
          <p:nvPr/>
        </p:nvSpPr>
        <p:spPr>
          <a:xfrm>
            <a:off x="1298448" y="5381845"/>
            <a:ext cx="2487077" cy="580043"/>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Enslaved people</a:t>
            </a:r>
            <a:endParaRPr lang="en-US" sz="1800" dirty="0"/>
          </a:p>
        </p:txBody>
      </p:sp>
      <p:sp>
        <p:nvSpPr>
          <p:cNvPr id="47" name="match-card"/>
          <p:cNvSpPr/>
          <p:nvPr/>
        </p:nvSpPr>
        <p:spPr>
          <a:xfrm>
            <a:off x="4224437" y="5381845"/>
            <a:ext cx="7190019" cy="580043"/>
          </a:xfrm>
          <a:prstGeom prst="roundRect">
            <a:avLst>
              <a:gd name="adj" fmla="val 12611"/>
            </a:avLst>
          </a:prstGeom>
          <a:solidFill>
            <a:srgbClr val="F9F4EC"/>
          </a:solidFill>
          <a:ln/>
        </p:spPr>
      </p:sp>
      <p:sp>
        <p:nvSpPr>
          <p:cNvPr id="48" name="match-hex"/>
          <p:cNvSpPr/>
          <p:nvPr/>
        </p:nvSpPr>
        <p:spPr>
          <a:xfrm>
            <a:off x="4297589" y="5505574"/>
            <a:ext cx="384048" cy="332586"/>
          </a:xfrm>
          <a:prstGeom prst="hexagon">
            <a:avLst/>
          </a:prstGeom>
          <a:solidFill>
            <a:srgbClr val="B8862B"/>
          </a:solidFill>
          <a:ln/>
        </p:spPr>
      </p:sp>
      <p:sp>
        <p:nvSpPr>
          <p:cNvPr id="49" name="match-hex-label"/>
          <p:cNvSpPr txBox="1"/>
          <p:nvPr/>
        </p:nvSpPr>
        <p:spPr>
          <a:xfrm>
            <a:off x="4297589" y="5505574"/>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E</a:t>
            </a:r>
            <a:endParaRPr lang="en-US" sz="1800" dirty="0"/>
          </a:p>
        </p:txBody>
      </p:sp>
      <p:sp>
        <p:nvSpPr>
          <p:cNvPr id="50" name="match-text"/>
          <p:cNvSpPr txBox="1"/>
          <p:nvPr/>
        </p:nvSpPr>
        <p:spPr>
          <a:xfrm>
            <a:off x="4745645" y="5381845"/>
            <a:ext cx="6595659" cy="580043"/>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Second most important people; ruled huge areas called earldoms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7A4A1E"/>
                </a:solidFill>
                <a:latin typeface="Cambria" pitchFamily="34" charset="0"/>
                <a:ea typeface="Cambria" pitchFamily="34" charset="-122"/>
                <a:cs typeface="Cambria" pitchFamily="34" charset="-120"/>
              </a:rPr>
              <a:t>Same task, three ways in: The Anglo-Saxon pyramid</a:t>
            </a:r>
            <a:endParaRPr lang="en-US" sz="28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1 (on the last slide): The Anglo-Saxon pyramid</a:t>
            </a:r>
            <a:endParaRPr lang="en-US" sz="2000" dirty="0"/>
          </a:p>
        </p:txBody>
      </p:sp>
      <p:sp>
        <p:nvSpPr>
          <p:cNvPr id="12" name="col-Support"/>
          <p:cNvSpPr/>
          <p:nvPr/>
        </p:nvSpPr>
        <p:spPr>
          <a:xfrm>
            <a:off x="548640" y="2395728"/>
            <a:ext cx="4667802" cy="3749040"/>
          </a:xfrm>
          <a:prstGeom prst="roundRect">
            <a:avLst>
              <a:gd name="adj" fmla="val 1463"/>
            </a:avLst>
          </a:prstGeom>
          <a:solidFill>
            <a:srgbClr val="F6F2EF"/>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3936282"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4393482"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Start at the top and the bottom: the king was chosen by the Witan, and enslaved people could be bought and sold.</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Earldoms belong to earls: the word is inside the word.</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Thegns are the local lords with hides and manor houses.</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Whoever is left, the biggest group of all, must be the peasants.</a:t>
            </a:r>
            <a:endParaRPr lang="en-US" sz="1800" dirty="0"/>
          </a:p>
        </p:txBody>
      </p:sp>
      <p:sp>
        <p:nvSpPr>
          <p:cNvPr id="17" name="col-Core"/>
          <p:cNvSpPr/>
          <p:nvPr/>
        </p:nvSpPr>
        <p:spPr>
          <a:xfrm>
            <a:off x="5490762" y="2395728"/>
            <a:ext cx="2938987" cy="3749040"/>
          </a:xfrm>
          <a:prstGeom prst="roundRect">
            <a:avLst>
              <a:gd name="adj" fmla="val 1867"/>
            </a:avLst>
          </a:prstGeom>
          <a:solidFill>
            <a:srgbClr val="E6DDD4"/>
          </a:solidFill>
          <a:ln/>
        </p:spPr>
      </p:sp>
      <p:sp>
        <p:nvSpPr>
          <p:cNvPr id="18" name="col-hex"/>
          <p:cNvSpPr/>
          <p:nvPr/>
        </p:nvSpPr>
        <p:spPr>
          <a:xfrm>
            <a:off x="5600490"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623B18"/>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Two levels have a number in their description. The bigger number is the bigger group, and bigger groups sit lower in the pyramid.</a:t>
            </a:r>
            <a:endParaRPr lang="en-US" sz="1800" dirty="0"/>
          </a:p>
        </p:txBody>
      </p:sp>
      <p:sp>
        <p:nvSpPr>
          <p:cNvPr id="22" name="col-Stretch"/>
          <p:cNvSpPr/>
          <p:nvPr/>
        </p:nvSpPr>
        <p:spPr>
          <a:xfrm>
            <a:off x="8704069" y="2395728"/>
            <a:ext cx="2938987" cy="3749040"/>
          </a:xfrm>
          <a:prstGeom prst="roundRect">
            <a:avLst>
              <a:gd name="adj" fmla="val 1867"/>
            </a:avLst>
          </a:prstGeom>
          <a:solidFill>
            <a:srgbClr val="7A4A1E"/>
          </a:solidFill>
          <a:ln/>
        </p:spPr>
      </p:sp>
      <p:sp>
        <p:nvSpPr>
          <p:cNvPr id="23" name="col-hex"/>
          <p:cNvSpPr/>
          <p:nvPr/>
        </p:nvSpPr>
        <p:spPr>
          <a:xfrm>
            <a:off x="881379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The deck's extension asks if anything in the hierarchy surprised you. Explain one thing it tells us about the Anglo-Saxons, for example that people could move up or down.</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task: Who had the most power?</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Who had the most power in Anglo-Saxon England in 1066: the king, the Godwinsons, the earls or the people? Write an introduction sentence and one PEE paragraph.</a:t>
            </a:r>
            <a:endParaRPr lang="en-US" sz="2600" dirty="0"/>
          </a:p>
          <a:p>
            <a:pPr algn="ctr" indent="0" marL="0">
              <a:buNone/>
            </a:pPr>
            <a:r>
              <a:rPr lang="en-US" sz="2400" dirty="0">
                <a:solidFill>
                  <a:srgbClr val="4A505C"/>
                </a:solidFill>
                <a:latin typeface="Calibri" pitchFamily="34" charset="0"/>
                <a:ea typeface="Calibri" pitchFamily="34" charset="-122"/>
                <a:cs typeface="Calibri" pitchFamily="34" charset="-120"/>
              </a:rPr>
              <a:t>Write in full sentences</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7A4A1E"/>
                </a:solidFill>
                <a:latin typeface="Cambria" pitchFamily="34" charset="0"/>
                <a:ea typeface="Cambria" pitchFamily="34" charset="-122"/>
                <a:cs typeface="Cambria" pitchFamily="34" charset="-120"/>
              </a:rPr>
              <a:t>Same task, three ways in: Who had the most power?</a:t>
            </a:r>
            <a:endParaRPr lang="en-US" sz="28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2 (on the last slide): Who had the most power?</a:t>
            </a:r>
            <a:endParaRPr lang="en-US" sz="2000" dirty="0"/>
          </a:p>
        </p:txBody>
      </p:sp>
      <p:sp>
        <p:nvSpPr>
          <p:cNvPr id="12" name="col-Support"/>
          <p:cNvSpPr/>
          <p:nvPr/>
        </p:nvSpPr>
        <p:spPr>
          <a:xfrm>
            <a:off x="548640" y="2395728"/>
            <a:ext cx="5602443" cy="3749040"/>
          </a:xfrm>
          <a:prstGeom prst="roundRect">
            <a:avLst>
              <a:gd name="adj" fmla="val 1463"/>
            </a:avLst>
          </a:prstGeom>
          <a:solidFill>
            <a:srgbClr val="F6F2EF"/>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4870923"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5328123"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Sentence 1: Anglo-Saxon England in 1066 was ruled by… The country was divided into…</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Sentence 2: In my opinion [the king / the Godwinsons / the earls / the people] had the most power.</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Sentence 3: One reason this group was the most powerful was… (pick one fact: land, money, thegns, the Witan).</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Sentence 4: This made them powerful because…</a:t>
            </a:r>
            <a:endParaRPr lang="en-US" sz="1800" dirty="0"/>
          </a:p>
        </p:txBody>
      </p:sp>
      <p:sp>
        <p:nvSpPr>
          <p:cNvPr id="17" name="col-Core"/>
          <p:cNvSpPr/>
          <p:nvPr/>
        </p:nvSpPr>
        <p:spPr>
          <a:xfrm>
            <a:off x="6425403" y="2395728"/>
            <a:ext cx="2471666" cy="3749040"/>
          </a:xfrm>
          <a:prstGeom prst="roundRect">
            <a:avLst>
              <a:gd name="adj" fmla="val 2220"/>
            </a:avLst>
          </a:prstGeom>
          <a:solidFill>
            <a:srgbClr val="E6DDD4"/>
          </a:solidFill>
          <a:ln/>
        </p:spPr>
      </p:sp>
      <p:sp>
        <p:nvSpPr>
          <p:cNvPr id="18" name="col-hex"/>
          <p:cNvSpPr/>
          <p:nvPr/>
        </p:nvSpPr>
        <p:spPr>
          <a:xfrm>
            <a:off x="6535131"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6535131"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7065483"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6562563"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623B18"/>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Pick one group and stick to it. Land, money and soldiers are the three kinds of power in this chapter.</a:t>
            </a:r>
            <a:endParaRPr lang="en-US" sz="1800" dirty="0"/>
          </a:p>
        </p:txBody>
      </p:sp>
      <p:sp>
        <p:nvSpPr>
          <p:cNvPr id="22" name="col-Stretch"/>
          <p:cNvSpPr/>
          <p:nvPr/>
        </p:nvSpPr>
        <p:spPr>
          <a:xfrm>
            <a:off x="9171389" y="2395728"/>
            <a:ext cx="2471666" cy="3749040"/>
          </a:xfrm>
          <a:prstGeom prst="roundRect">
            <a:avLst>
              <a:gd name="adj" fmla="val 2220"/>
            </a:avLst>
          </a:prstGeom>
          <a:solidFill>
            <a:srgbClr val="7A4A1E"/>
          </a:solidFill>
          <a:ln/>
        </p:spPr>
      </p:sp>
      <p:sp>
        <p:nvSpPr>
          <p:cNvPr id="23" name="col-hex"/>
          <p:cNvSpPr/>
          <p:nvPr/>
        </p:nvSpPr>
        <p:spPr>
          <a:xfrm>
            <a:off x="928111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928111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811469"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9308549"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Add a second paragraph that argues the opposite case, then a final sentence saying which argument is stronger and why.</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7A4A1E"/>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7A4A1E"/>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956052"/>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Why did the people of Northumbria rebel against Earl Tostig?</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He tried to make himself king in place of Edward</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He was a southerner who taxed them heavily, ruled strictly and failed to stop Scottish raids</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He was a Viking who refused to become a Christian</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He gave their land to Norman knights</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FAF8F6"/>
          </a:solidFill>
          <a:ln w="12700">
            <a:solidFill>
              <a:srgbClr val="C0AA95"/>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The Anglo-Saxon pyramid</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King  →  D  Chosen by the Witan; could promote or demote anyone below him</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Earls  →  E  Second most important people; ruled huge areas called earldoms</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Thegns  →  C  Local lords who owned hides of land and lived in manor houses</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Peasants  →  A  About 85 in every 100 people; rented small farms</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5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Enslaved people  →  B  About one in ten people; could be bought and sold like property</a:t>
            </a:r>
            <a:endParaRPr lang="en-US" sz="2000" dirty="0"/>
          </a:p>
        </p:txBody>
      </p:sp>
      <p:sp>
        <p:nvSpPr>
          <p:cNvPr id="10" name="why-panel"/>
          <p:cNvSpPr/>
          <p:nvPr/>
        </p:nvSpPr>
        <p:spPr>
          <a:xfrm>
            <a:off x="7223760" y="1389888"/>
            <a:ext cx="4419295" cy="4754880"/>
          </a:xfrm>
          <a:prstGeom prst="roundRect">
            <a:avLst>
              <a:gd name="adj" fmla="val 1035"/>
            </a:avLst>
          </a:prstGeom>
          <a:solidFill>
            <a:srgbClr val="F6F2EF"/>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king was at the top and chosen by the Witan; earls ruled earldoms; thegns owned hides; peasants were the largest group; enslaved people were treated as property at the bottom.</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Who had the most power?</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crit-head"/>
          <p:cNvSpPr txBox="1"/>
          <p:nvPr/>
        </p:nvSpPr>
        <p:spPr>
          <a:xfrm>
            <a:off x="548640" y="1389888"/>
            <a:ext cx="5486400" cy="502920"/>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Success criteria: tick what you did</a:t>
            </a:r>
            <a:endParaRPr lang="en-US" sz="1800" dirty="0"/>
          </a:p>
        </p:txBody>
      </p:sp>
      <p:sp>
        <p:nvSpPr>
          <p:cNvPr id="8" name="crit-box"/>
          <p:cNvSpPr/>
          <p:nvPr/>
        </p:nvSpPr>
        <p:spPr>
          <a:xfrm>
            <a:off x="548640" y="1984248"/>
            <a:ext cx="5486400" cy="1103630"/>
          </a:xfrm>
          <a:prstGeom prst="roundRect">
            <a:avLst>
              <a:gd name="adj" fmla="val 8285"/>
            </a:avLst>
          </a:prstGeom>
          <a:solidFill>
            <a:srgbClr val="F8F6F4"/>
          </a:solidFill>
          <a:ln/>
        </p:spPr>
      </p:sp>
      <p:sp>
        <p:nvSpPr>
          <p:cNvPr id="9" name="tickbox"/>
          <p:cNvSpPr/>
          <p:nvPr/>
        </p:nvSpPr>
        <p:spPr>
          <a:xfrm>
            <a:off x="713232" y="2389759"/>
            <a:ext cx="292608" cy="292608"/>
          </a:xfrm>
          <a:prstGeom prst="rect">
            <a:avLst/>
          </a:prstGeom>
          <a:solidFill>
            <a:srgbClr val="FFFFFF"/>
          </a:solidFill>
          <a:ln w="19050">
            <a:solidFill>
              <a:srgbClr val="7A4A1E"/>
            </a:solidFill>
            <a:prstDash val="solid"/>
          </a:ln>
        </p:spPr>
      </p:sp>
      <p:sp>
        <p:nvSpPr>
          <p:cNvPr id="10" name="crit"/>
          <p:cNvSpPr txBox="1"/>
          <p:nvPr/>
        </p:nvSpPr>
        <p:spPr>
          <a:xfrm>
            <a:off x="1143000" y="1984248"/>
            <a:ext cx="4709160" cy="1103630"/>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My introduction says who ruled England in 1066 and how the country was divided.</a:t>
            </a:r>
            <a:endParaRPr lang="en-US" sz="2000" dirty="0"/>
          </a:p>
        </p:txBody>
      </p:sp>
      <p:sp>
        <p:nvSpPr>
          <p:cNvPr id="11" name="crit-box"/>
          <p:cNvSpPr/>
          <p:nvPr/>
        </p:nvSpPr>
        <p:spPr>
          <a:xfrm>
            <a:off x="548640" y="3179318"/>
            <a:ext cx="5486400" cy="793750"/>
          </a:xfrm>
          <a:prstGeom prst="roundRect">
            <a:avLst>
              <a:gd name="adj" fmla="val 11520"/>
            </a:avLst>
          </a:prstGeom>
          <a:solidFill>
            <a:srgbClr val="F8F6F4"/>
          </a:solidFill>
          <a:ln/>
        </p:spPr>
      </p:sp>
      <p:sp>
        <p:nvSpPr>
          <p:cNvPr id="12" name="tickbox"/>
          <p:cNvSpPr/>
          <p:nvPr/>
        </p:nvSpPr>
        <p:spPr>
          <a:xfrm>
            <a:off x="713232" y="3429889"/>
            <a:ext cx="292608" cy="292608"/>
          </a:xfrm>
          <a:prstGeom prst="rect">
            <a:avLst/>
          </a:prstGeom>
          <a:solidFill>
            <a:srgbClr val="FFFFFF"/>
          </a:solidFill>
          <a:ln w="19050">
            <a:solidFill>
              <a:srgbClr val="7A4A1E"/>
            </a:solidFill>
            <a:prstDash val="solid"/>
          </a:ln>
        </p:spPr>
      </p:sp>
      <p:sp>
        <p:nvSpPr>
          <p:cNvPr id="13" name="crit"/>
          <p:cNvSpPr txBox="1"/>
          <p:nvPr/>
        </p:nvSpPr>
        <p:spPr>
          <a:xfrm>
            <a:off x="1143000" y="3179318"/>
            <a:ext cx="4709160" cy="793750"/>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I give my opinion clearly: in my opinion, X had the most power.</a:t>
            </a:r>
            <a:endParaRPr lang="en-US" sz="2000" dirty="0"/>
          </a:p>
        </p:txBody>
      </p:sp>
      <p:sp>
        <p:nvSpPr>
          <p:cNvPr id="14" name="crit-box"/>
          <p:cNvSpPr/>
          <p:nvPr/>
        </p:nvSpPr>
        <p:spPr>
          <a:xfrm>
            <a:off x="548640" y="4064508"/>
            <a:ext cx="5486400" cy="1103630"/>
          </a:xfrm>
          <a:prstGeom prst="roundRect">
            <a:avLst>
              <a:gd name="adj" fmla="val 8285"/>
            </a:avLst>
          </a:prstGeom>
          <a:solidFill>
            <a:srgbClr val="F8F6F4"/>
          </a:solidFill>
          <a:ln/>
        </p:spPr>
      </p:sp>
      <p:sp>
        <p:nvSpPr>
          <p:cNvPr id="15" name="tickbox"/>
          <p:cNvSpPr/>
          <p:nvPr/>
        </p:nvSpPr>
        <p:spPr>
          <a:xfrm>
            <a:off x="713232" y="4470019"/>
            <a:ext cx="292608" cy="292608"/>
          </a:xfrm>
          <a:prstGeom prst="rect">
            <a:avLst/>
          </a:prstGeom>
          <a:solidFill>
            <a:srgbClr val="FFFFFF"/>
          </a:solidFill>
          <a:ln w="19050">
            <a:solidFill>
              <a:srgbClr val="7A4A1E"/>
            </a:solidFill>
            <a:prstDash val="solid"/>
          </a:ln>
        </p:spPr>
      </p:sp>
      <p:sp>
        <p:nvSpPr>
          <p:cNvPr id="16" name="crit"/>
          <p:cNvSpPr txBox="1"/>
          <p:nvPr/>
        </p:nvSpPr>
        <p:spPr>
          <a:xfrm>
            <a:off x="1143000" y="4064508"/>
            <a:ext cx="4709160" cy="1103630"/>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I give one reason with evidence from the chapter (land, money, soldiers, the Witan).</a:t>
            </a:r>
            <a:endParaRPr lang="en-US" sz="2000" dirty="0"/>
          </a:p>
        </p:txBody>
      </p:sp>
      <p:sp>
        <p:nvSpPr>
          <p:cNvPr id="17" name="crit-box"/>
          <p:cNvSpPr/>
          <p:nvPr/>
        </p:nvSpPr>
        <p:spPr>
          <a:xfrm>
            <a:off x="548640" y="5259578"/>
            <a:ext cx="5486400" cy="793750"/>
          </a:xfrm>
          <a:prstGeom prst="roundRect">
            <a:avLst>
              <a:gd name="adj" fmla="val 11520"/>
            </a:avLst>
          </a:prstGeom>
          <a:solidFill>
            <a:srgbClr val="F8F6F4"/>
          </a:solidFill>
          <a:ln/>
        </p:spPr>
      </p:sp>
      <p:sp>
        <p:nvSpPr>
          <p:cNvPr id="18" name="tickbox"/>
          <p:cNvSpPr/>
          <p:nvPr/>
        </p:nvSpPr>
        <p:spPr>
          <a:xfrm>
            <a:off x="713232" y="5510149"/>
            <a:ext cx="292608" cy="292608"/>
          </a:xfrm>
          <a:prstGeom prst="rect">
            <a:avLst/>
          </a:prstGeom>
          <a:solidFill>
            <a:srgbClr val="FFFFFF"/>
          </a:solidFill>
          <a:ln w="19050">
            <a:solidFill>
              <a:srgbClr val="7A4A1E"/>
            </a:solidFill>
            <a:prstDash val="solid"/>
          </a:ln>
        </p:spPr>
      </p:sp>
      <p:sp>
        <p:nvSpPr>
          <p:cNvPr id="19" name="crit"/>
          <p:cNvSpPr txBox="1"/>
          <p:nvPr/>
        </p:nvSpPr>
        <p:spPr>
          <a:xfrm>
            <a:off x="1143000" y="5259578"/>
            <a:ext cx="4709160" cy="793750"/>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I explain why that made them powerful, using the word because.</a:t>
            </a:r>
            <a:endParaRPr lang="en-US" sz="2000" dirty="0"/>
          </a:p>
        </p:txBody>
      </p:sp>
      <p:sp>
        <p:nvSpPr>
          <p:cNvPr id="20" name="model-panel"/>
          <p:cNvSpPr/>
          <p:nvPr/>
        </p:nvSpPr>
        <p:spPr>
          <a:xfrm>
            <a:off x="6309360" y="1389888"/>
            <a:ext cx="5333695" cy="4754880"/>
          </a:xfrm>
          <a:prstGeom prst="roundRect">
            <a:avLst>
              <a:gd name="adj" fmla="val 962"/>
            </a:avLst>
          </a:prstGeom>
          <a:solidFill>
            <a:srgbClr val="F9F4EC"/>
          </a:solidFill>
          <a:ln w="19050">
            <a:solidFill>
              <a:srgbClr val="B8862B"/>
            </a:solidFill>
            <a:prstDash val="solid"/>
          </a:ln>
        </p:spPr>
      </p:sp>
      <p:sp>
        <p:nvSpPr>
          <p:cNvPr id="21" name="model-tab"/>
          <p:cNvSpPr/>
          <p:nvPr/>
        </p:nvSpPr>
        <p:spPr>
          <a:xfrm>
            <a:off x="6492240" y="1554480"/>
            <a:ext cx="201168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Model answer</a:t>
            </a:r>
            <a:endParaRPr lang="en-US" sz="1800" dirty="0"/>
          </a:p>
        </p:txBody>
      </p:sp>
      <p:sp>
        <p:nvSpPr>
          <p:cNvPr id="22" name="model"/>
          <p:cNvSpPr txBox="1"/>
          <p:nvPr/>
        </p:nvSpPr>
        <p:spPr>
          <a:xfrm>
            <a:off x="6537960" y="2167128"/>
            <a:ext cx="4876495" cy="384048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Anglo-Saxon England in 1066 was ruled by King Edward the Confessor, and the country was divided into earldoms ruled by earls. In my opinion the Godwinsons had the most power. One reason the Godwinsons were the most powerful was that they held four of the great earldoms and owned almost as much land as the king. This made them powerful because land brought money and a large force of thegns to fight for them, while Edward was a religious man rather than a warrior and relied on the Witan and the earls to rule.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Why did the people of Northumbria rebel against Earl Tostig?</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B   He was a southerner who taxed them heavily, ruled strictly and failed to stop Scottish raids</a:t>
            </a:r>
            <a:endParaRPr lang="en-US" sz="1800" dirty="0"/>
          </a:p>
        </p:txBody>
      </p:sp>
      <p:sp>
        <p:nvSpPr>
          <p:cNvPr id="10" name="why-panel"/>
          <p:cNvSpPr/>
          <p:nvPr/>
        </p:nvSpPr>
        <p:spPr>
          <a:xfrm>
            <a:off x="7223760" y="1389888"/>
            <a:ext cx="4419295" cy="4754880"/>
          </a:xfrm>
          <a:prstGeom prst="roundRect">
            <a:avLst>
              <a:gd name="adj" fmla="val 1035"/>
            </a:avLst>
          </a:prstGeom>
          <a:solidFill>
            <a:srgbClr val="F6F2EF"/>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Northumbria had a Viking past and did not trust a southern earl. Tostig made it worse with heavy taxes, strict rule and his failure to avenge Scottish raids, so the people rose against him and Edward banished him.</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Ad Astra history">
  <a:themeElements>
    <a:clrScheme name="Ad Astra history">
      <a:dk1>
        <a:srgbClr val="1E2229"/>
      </a:dk1>
      <a:lt1>
        <a:srgbClr val="FFFFFF"/>
      </a:lt1>
      <a:dk2>
        <a:srgbClr val="623B18"/>
      </a:dk2>
      <a:lt2>
        <a:srgbClr val="F6F2EF"/>
      </a:lt2>
      <a:accent1>
        <a:srgbClr val="7A4A1E"/>
      </a:accent1>
      <a:accent2>
        <a:srgbClr val="B8862B"/>
      </a:accent2>
      <a:accent3>
        <a:srgbClr val="AF9278"/>
      </a:accent3>
      <a:accent4>
        <a:srgbClr val="815E1E"/>
      </a:accent4>
      <a:accent5>
        <a:srgbClr val="4A505C"/>
      </a:accent5>
      <a:accent6>
        <a:srgbClr val="DEC69B"/>
      </a:accent6>
      <a:hlink>
        <a:srgbClr val="7A4A1E"/>
      </a:hlink>
      <a:folHlink>
        <a:srgbClr val="553415"/>
      </a:folHlink>
    </a:clrScheme>
    <a:fontScheme name="Ad Astra histor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William's Control of England · Chapter 1: England before 1066</dc:title>
  <dc:subject>History · Year 7</dc:subject>
  <dc:creator>Dr Vitor Merissi de Carvalho</dc:creator>
  <cp:lastModifiedBy>Dr Vitor Merissi de Carvalho</cp:lastModifiedBy>
  <cp:revision>1</cp:revision>
  <dcterms:created xsi:type="dcterms:W3CDTF">2026-10-19T06:08:07Z</dcterms:created>
  <dcterms:modified xsi:type="dcterms:W3CDTF">2026-10-19T06:08:07Z</dcterms:modified>
</cp:coreProperties>
</file>