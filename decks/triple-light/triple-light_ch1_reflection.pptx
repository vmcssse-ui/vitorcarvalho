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796d69e-ead5-496c-ddbe-a48d50a50710}">
          <p14:sldIdLst>
            <p14:sldId id="256"/>
          </p14:sldIdLst>
        </p14:section>
        <p14:section name="Gate" id="{a76e6e16-612a-8e87-5c3e-f4bafbe1eb47}">
          <p14:sldIdLst>
            <p14:sldId id="257"/>
            <p14:sldId id="258"/>
          </p14:sldIdLst>
        </p14:section>
        <p14:section name="Pre-teach" id="{f086103e-2df9-e6b3-77e3-454771224e45}">
          <p14:sldIdLst>
            <p14:sldId id="259"/>
            <p14:sldId id="260"/>
          </p14:sldIdLst>
        </p14:section>
        <p14:section name="Read-along" id="{e8f31340-9f4c-97c0-fb65-31d8fb8f7b9d}">
          <p14:sldIdLst>
            <p14:sldId id="261"/>
            <p14:sldId id="262"/>
          </p14:sldIdLst>
        </p14:section>
        <p14:section name="Teach" id="{74e8680d-678c-f06c-a42c-786e4399d655}">
          <p14:sldIdLst>
            <p14:sldId id="263"/>
            <p14:sldId id="264"/>
            <p14:sldId id="265"/>
            <p14:sldId id="266"/>
            <p14:sldId id="267"/>
          </p14:sldIdLst>
        </p14:section>
        <p14:section name="Routes" id="{b699d34b-703e-426a-9554-50a5875d26c7}">
          <p14:sldIdLst>
            <p14:sldId id="268"/>
            <p14:sldId id="269"/>
            <p14:sldId id="270"/>
          </p14:sldIdLst>
        </p14:section>
        <p14:section name="Close" id="{3e0fc1af-a502-aded-14cb-4cb9dbed0c54}">
          <p14:sldIdLst>
            <p14:sldId id="271"/>
          </p14:sldIdLst>
        </p14:section>
        <p14:section name="Answers" id="{e17bb3ad-bc3c-9cec-1443-9d8bf479b96b}">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Reflection and the plane mirror. The law of reflection, how to draw it, the image a flat mirror makes, and why a mirror gives an image but a wall does not.
This deck covers the department's lesson: 1 (P14.1 Reflection of light: How is light reflected by a plane mirror, and why do smooth and rough surfaces reflect it differently?).
Read the big question aloud: "How does a flat mirror, a glass block or a curved lens change the path of light, and how do we use that to make the images we see?"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a ray diagram of reflection, what is the normal?  →  D   A line at right angles to the mirror at the point where the ray hits
2. A ray hits a plane mirror with an angle of incidence of 35°. What is the angle of reflection, in degrees?  →  35 °
3. Reflection from a rough surface that scatters light in many directions is called ___ reflection.  →  diffuse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A line at right angles to the mirror at the point where the ray hits. The normal is drawn at 90° to the surface where the ray meets it. Both angles are measured from the normal.
2. 35 °. The law of reflection: the angle of reflection equals the angle of incidence, so it is 35°. Exact.
3. diffuse. Diffuse reflection is scattering from a rough surface. Specular reflection is from a smooth surface, in one direction.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normal: a line at right angles to the surface where the ray hits. Example: "Draw the normal first, then measure every angle from it."
• angle of incidence: the angle between the incoming ray and the normal. Example: "The angle of incidence was 40°, measured from the normal."
• angle of reflection: the angle between the reflected ray and the normal. Example: "The angle of reflection is always equal to the angle of incidence."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virtual image: an image the rays only seem to come from; it cannot go on a screen. Example: "Your face in the mirror is a virtual image behind the glass."
• specular reflection: reflection from a smooth surface, in one direction. Example: "A still lake gives specular reflection, so you see the trees in it."
• diffuse reflection: reflection from a rough surface, scattered in many directions. Example: "Paper gives diffuse reflection, so it looks the same from every side."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Light travels in straight lines called rays.
2. When a ray hits a mirror, it bounces off.
3. This is called reflection.
4. The normal is a line at right angles to the mirror.
5. We measure angles from the normal, not from the mirror.
6. The angle of incidence is between the incoming ray and the normal.
7. The angle of reflection is between the reflected ray and the normal.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These two angles are always equal.
9. A mirror makes an image that seems to be behind the glass.
10. This is a virtual image, so you cannot put it on a screen.
11. A smooth surface reflects light in one direction, so you see a clear image.
12. A rough surface scatters light in many directions, so there is no image.
13. That is why you see yourself in a mirror but not in a brick wall.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law of reflection. Say it in your own words, then check understanding with a quick question: ask a pupil from the pre-teach group first, since they met these words and ideas before the lesson. Pupils try to recall before you re-explain.
A ray diagram shows the path of light as straight lines with arrows. When a ray meets a plane (flat) mirror, draw the normal first: a dotted line at right angles to the mirror surface at the point where the ray hits. Every angle in reflection is measured from this normal, never from the mirror itself.
The angle of incidence, i, is the angle between the incident ray and the normal. The angle of reflection, r, is the angle between the reflected ray and the normal. The law of reflection says that the angle of incidence equals the angle of reflection: i = r.
Reflection does not change the wave itself. The speed, frequency and wavelength of the light are the same before and after it reflects, because the light stays in the same medium, the air.
Worked example — model it step by step, thinking aloud: A ray of light hits a plane mirror at 40° to the surface of the mirror. Find the angle of incidence, the angle of reflection, and the angle between the incident ray and the reflected ray. (1) The angle given is measured from the mirror, so convert it to the normal: angle of incidence = 90° − 40° = 50°. (2) Use the law of reflection: the angle of reflection equals the angle of incidence, so it is also 50°. (3) The two rays sit either side of the normal, so the angle between them = 50° + 50° = 100°. Answer: Angle of incidence 50°, angle of reflection 50°; the two rays are 100° apart..
Tip: If a question gives the angle between the ray and the mirror surface, subtract it from 90° to find the angle of incidence.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law of reflection. Say it in your own words, then check understanding with a quick question: ask a pupil from the pre-teach group first, since they met these words and ideas before the lesson. Pupils try to recall before you re-explain.
A ray diagram shows the path of light as straight lines with arrows. When a ray meets a plane (flat) mirror, draw the normal first: a dotted line at right angles to the mirror surface at the point where the ray hits. Every angle in reflection is measured from this normal, never from the mirror itself.
The angle of incidence, i, is the angle between the incident ray and the normal. The angle of reflection, r, is the angle between the reflected ray and the normal. The law of reflection says that the angle of incidence equals the angle of reflection: i = r.
Reflection does not change the wave itself. The speed, frequency and wavelength of the light are the same before and after it reflects, because the light stays in the same medium, the air.
Worked example — model it step by step, thinking aloud: A ray of light hits a plane mirror at 40° to the surface of the mirror. Find the angle of incidence, the angle of reflection, and the angle between the incident ray and the reflected ray. (1) The angle given is measured from the mirror, so convert it to the normal: angle of incidence = 90° − 40° = 50°. (2) Use the law of reflection: the angle of reflection equals the angle of incidence, so it is also 50°. (3) The two rays sit either side of the normal, so the angle between them = 50° + 50° = 100°. Answer: Angle of incidence 50°, angle of reflection 50°; the two rays are 100° apart..
Tip: If a question gives the angle between the ray and the mirror surface, subtract it from 90° to find the angle of incidence.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image in a plane mirror. Say it in your own words, then check understanding with a quick question: ask a pupil from the pre-teach group first, since they met these words and ideas before the lesson. Pupils try to recall before you re-explain.
Look at yourself in a mirror and the image seems to be behind the glass. Light from your face reflects off the mirror into your eye. Your brain assumes the rays travelled in straight lines, so it places the image where the rays appear to come from. No light actually reaches that point behind the mirror, so it is a virtual image.
The image in a plane mirror is the same size as the object and the same distance behind the mirror as the object is in front. It is upright, and it is laterally inverted: left and right are swapped, but it is not upside down. That is why writing looks back to front in a mirror.
A real image is different: the rays actually meet there, so it can be caught on a screen, like the picture on a cinema screen. You will meet real images again with lenses in Chapter 4.
Tip: Virtual: the rays only appear to come from it. Real: the rays really meet there, and a screen could catch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Specular and diffuse reflection. Say it in your own words, then check understanding with a quick question: ask a pupil from the pre-teach group first, since they met these words and ideas before the lesson. Pupils try to recall before you re-explain.
Every surface obeys the law of reflection, but a mirror and a sheet of paper look very different. A mirror is smooth, so every ray in a beam meets the surface at the same angle and reflects in the same direction. This is specular reflection, and it is what makes a clear image.
Paper, cloth, skin and brick are rough on a tiny scale. Neighbouring rays meet bits of surface that face different ways, so they reflect at different angles and scatter in many directions. This is diffuse reflection. Each ray still obeys the law, but the beam is broken up, so there is no image.
Diffuse reflection is why you can see most objects from any direction: they scatter light from the room towards your eyes wherever you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Required practical: reflection by different surfaces. Say it in your own words, then check understanding with a quick question: ask a pupil from the pre-teach group first, since they met these words and ideas before the lesson. Pupils try to recall before you re-explain.
Stand a plane mirror upright on a sheet of paper and draw along its reflecting face. Use a ray box with a single slit to shine a narrow ray at the mirror. Mark the incident and reflected rays with pencil dots, remove the mirror, and join the dots with a ruler. Draw the normal where the ray met the mirror and measure i and r with a protractor.
Repeat for several angles of incidence, for example 20°, 40° and 60°. Each time the angle of reflection should come out the same as the angle of incidence, within a degree or two of measuring error. Then replace the mirror with other surfaces: white paper, a sheet of acrylic, a piece of card. A smooth, shiny surface gives one clear reflected ray; a matt surface gives a faint spread of light with no single ray.
Sources of error: a wide ray makes its centre hard to judge, so use a narrow slit; dots far apart give a more accurate line than dots close together; and draw the normal with a set square so it really is at 90° to the surface.
Tip: A 'describe how you would investigate' question wants the method in order, the measurements you take, and one way of making the results more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Angles from the surface.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ray of light strikes a plane mirror at 25° to the surface of the mirror. What is the angle of reflection, in degrees?
Support — work through the steps with the group: (1) Draw the mirror as a line and the normal as a dotted line at 90° to it. (2) The ray is 25° from the mirror, so it is 90° − 25° from the normal. That is the angle of incidence. (3) Use the law of reflection: angle of reflection = angle of incidence. (4) Write the answer in degrees.
Parallel worked example for Support (model it, do not give the task answer): A ray hits a plane mirror at 30° to the mirror surface. What is the angle of reflection? From the normal: 90° − 30° = 60°, so the angle of incidence is 60°.; The angle of reflection equals it: 60°.. Answer: 60°.
Core — reveal the hint only on request: Angles are measured from the normal. 25° is measured from the surface. What is 90° − 25°?
Stretch — no help; when finished: The mirror is now turned so the ray meets it at 10° to the surface instead. Explain what happens to the angle of reflection, and sketch both situations on one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Angles from the surface.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ray of light strikes a plane mirror at 25° to the surface of the mirror. What is the angle of reflection, in degrees?
Support — work through the steps with the group: (1) Draw the mirror as a line and the normal as a dotted line at 90° to it. (2) The ray is 25° from the mirror, so it is 90° − 25° from the normal. That is the angle of incidence. (3) Use the law of reflection: angle of reflection = angle of incidence. (4) Write the answer in degrees.
Parallel worked example for Support (model it, do not give the task answer): A ray hits a plane mirror at 30° to the mirror surface. What is the angle of reflection? From the normal: 90° − 30° = 60°, so the angle of incidence is 60°.; The angle of reflection equals it: 60°.. Answer: 60°.
Core — reveal the hint only on request: Angles are measured from the normal. 25° is measured from the surface. What is 90° − 25°?
Stretch — no help; when finished: The mirror is now turned so the ray meets it at 10° to the surface instead. Explain what happens to the angle of reflection, and sketch both situations on one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Where is the image?.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candle stands 1.2 m in front of a plane mirror. How far behind the mirror is its image, in metres?
Support — work through the steps with the group: (1) Recall the plane mirror rule: image distance behind = object distance in front. (2) Find the object distance in the question. (3) Write the same number as the image distance, with its unit.
Parallel worked example for Support (model it, do not give the task answer): A torch is 50 cm in front of a plane mirror. How far behind the mirror is its image? The object is 50 cm in front.; The image is the same distance behind: 50 cm.. Answer: 50 cm behind the mirror.
Core — reveal the hint only on request: Same distance behind as in front. No doubling, no halving.
Stretch — no help; when finished: The candle is moved 0.3 m closer to the mirror. Work out the new distance between the candle and its image, and explain why the image also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a ray diagram of reflection, what is the normal?
Answer: C   A line at right angles to the mirror at the point where the ray hits. The normal is drawn at 90° to the surface where the ray meets it. Both angles are measured from the normal.
Source of this question: gate item 1 re-asked (options rotated) — this chapter has no third quick-check module.
The ebook also holds task 3, "Smooth or rough?",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Angles from the surface. Reveal the answer; pupils mark their own work in a different colour, then read the "why" together. Same destination for every lane, so one answer serves the whole class.
Answer: 65 °
Why: Angles of incidence and reflection are measured from the normal. A ray 25° from the surface is 90° − 25° = 65° from the normal, and the reflected ray makes the same 65° with the normal.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Where is the image?. Reveal the answer; pupils mark their own work in a different colour, then read the "why" together. Same destination for every lane, so one answer serves the whole class.
Answer: 1.2 m
Why: A plane mirror forms a virtual image the same distance behind the mirror as the object is in front, the same size, upright and laterally inverted.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C   A line at right angles to the mirror at the point where the ray hits
Why: The normal is drawn at 90° to the surface where the ray meets it. Both angles are measured from the normal.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Light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Light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8CD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Physics (Triple Science)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Light · AQA 8463</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Reflection and the plane mirror</a:t>
            </a:r>
            <a:endParaRPr lang="en-US" sz="4000" dirty="0"/>
          </a:p>
        </p:txBody>
      </p:sp>
      <p:sp>
        <p:nvSpPr>
          <p:cNvPr id="11" name="lessons-card"/>
          <p:cNvSpPr/>
          <p:nvPr/>
        </p:nvSpPr>
        <p:spPr>
          <a:xfrm>
            <a:off x="548640" y="4069588"/>
            <a:ext cx="5287975" cy="980440"/>
          </a:xfrm>
          <a:prstGeom prst="roundRect">
            <a:avLst>
              <a:gd name="adj" fmla="val 7461"/>
            </a:avLst>
          </a:prstGeom>
          <a:solidFill>
            <a:srgbClr val="DEE1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P14.1 Reflection of light</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Triple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EE1E9"/>
          </a:solidFill>
          <a:ln w="12700">
            <a:solidFill>
              <a:srgbClr val="9CA5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a flat mirror, a glass block or a curved lens change the path of light, and how do we use that to make the images we see?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In a ray diagram of reflection, what is the normal?</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line drawn along the surface of the mirror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reflected ray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incoming ray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line at right angles to the mirror at the point where the ray hits</a:t>
            </a:r>
            <a:endParaRPr lang="en-US" sz="1800" dirty="0"/>
          </a:p>
        </p:txBody>
      </p:sp>
      <p:sp>
        <p:nvSpPr>
          <p:cNvPr id="12"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3" name="card-hex"/>
          <p:cNvSpPr/>
          <p:nvPr/>
        </p:nvSpPr>
        <p:spPr>
          <a:xfrm>
            <a:off x="4521098" y="1572768"/>
            <a:ext cx="640080" cy="554309"/>
          </a:xfrm>
          <a:prstGeom prst="hexagon">
            <a:avLst/>
          </a:prstGeom>
          <a:solidFill>
            <a:srgbClr val="24366B"/>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ray hits a plane mirror with an angle of incidence of 35°. What is the angle of reflection, in degrees?</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a:t>
            </a:r>
            <a:endParaRPr lang="en-US" sz="2400" dirty="0"/>
          </a:p>
        </p:txBody>
      </p:sp>
      <p:sp>
        <p:nvSpPr>
          <p:cNvPr id="17"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18" name="card-hex"/>
          <p:cNvSpPr/>
          <p:nvPr/>
        </p:nvSpPr>
        <p:spPr>
          <a:xfrm>
            <a:off x="8310677" y="1572768"/>
            <a:ext cx="640080" cy="554309"/>
          </a:xfrm>
          <a:prstGeom prst="hexagon">
            <a:avLst/>
          </a:prstGeom>
          <a:solidFill>
            <a:srgbClr val="24366B"/>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Reflection from a rough surface that scatters light in many directions is called ___ reflection.</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diffuse  ·  specular  ·  total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ADBBF"/>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 line at right angles to the mirror at the point where the ray hits</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normal is drawn at 90° to the surface where the ray meets it. Both angles are measured from the normal.</a:t>
            </a:r>
            <a:endParaRPr lang="en-US" sz="1800" dirty="0"/>
          </a:p>
        </p:txBody>
      </p:sp>
      <p:sp>
        <p:nvSpPr>
          <p:cNvPr id="14"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5" name="card-hex"/>
          <p:cNvSpPr/>
          <p:nvPr/>
        </p:nvSpPr>
        <p:spPr>
          <a:xfrm>
            <a:off x="4521098" y="1572768"/>
            <a:ext cx="640080" cy="554309"/>
          </a:xfrm>
          <a:prstGeom prst="hexagon">
            <a:avLst/>
          </a:prstGeom>
          <a:solidFill>
            <a:srgbClr val="24366B"/>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35 °</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ray hits a plane mirror with an angle of incidence of 35°. What is the angle of reflection, in degrees?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The law of reflection: the angle of reflection equals the angle of incidence, so it is 35°. Exact.</a:t>
            </a:r>
            <a:endParaRPr lang="en-US" sz="2000" dirty="0"/>
          </a:p>
        </p:txBody>
      </p:sp>
      <p:sp>
        <p:nvSpPr>
          <p:cNvPr id="21"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22" name="card-hex"/>
          <p:cNvSpPr/>
          <p:nvPr/>
        </p:nvSpPr>
        <p:spPr>
          <a:xfrm>
            <a:off x="8310677" y="1572768"/>
            <a:ext cx="640080" cy="554309"/>
          </a:xfrm>
          <a:prstGeom prst="hexagon">
            <a:avLst/>
          </a:prstGeom>
          <a:solidFill>
            <a:srgbClr val="24366B"/>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diffuse</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Reflection from a rough surface that scatters light in many directions is called ___ reflection.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Diffuse reflection is scattering from a rough surface. Specular reflection is from a smooth surface, in one direction.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normal</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line at right angles to the surface where the ray hits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Draw the normal first, then measure every angle from it.</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angle of incidence</a:t>
            </a:r>
            <a:endParaRPr lang="en-US" sz="2600" dirty="0"/>
          </a:p>
        </p:txBody>
      </p:sp>
      <p:sp>
        <p:nvSpPr>
          <p:cNvPr id="17" name="word-rule"/>
          <p:cNvSpPr/>
          <p:nvPr/>
        </p:nvSpPr>
        <p:spPr>
          <a:xfrm>
            <a:off x="4521098" y="2558288"/>
            <a:ext cx="3149498" cy="0"/>
          </a:xfrm>
          <a:prstGeom prst="line">
            <a:avLst/>
          </a:prstGeom>
          <a:ln w="12700">
            <a:solidFill>
              <a:srgbClr val="9CA5BC"/>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angle between the incoming ray and the normal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angle of incidence was 40°, measured from the normal.</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angle of reflection</a:t>
            </a:r>
            <a:endParaRPr lang="en-US" sz="2600" dirty="0"/>
          </a:p>
        </p:txBody>
      </p:sp>
      <p:sp>
        <p:nvSpPr>
          <p:cNvPr id="23" name="word-rule"/>
          <p:cNvSpPr/>
          <p:nvPr/>
        </p:nvSpPr>
        <p:spPr>
          <a:xfrm>
            <a:off x="8310677" y="2558288"/>
            <a:ext cx="3149498" cy="0"/>
          </a:xfrm>
          <a:prstGeom prst="line">
            <a:avLst/>
          </a:prstGeom>
          <a:ln w="12700">
            <a:solidFill>
              <a:srgbClr val="9CA5BC"/>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angle between the reflected ray and the normal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angle of reflection is always equal to the angle of incidence.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virtual image</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image the rays only seem to come from; it cannot go on a screen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Your face in the mirror is a virtual image behind the glass.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specular reflection</a:t>
            </a:r>
            <a:endParaRPr lang="en-US" sz="2600" dirty="0"/>
          </a:p>
        </p:txBody>
      </p:sp>
      <p:sp>
        <p:nvSpPr>
          <p:cNvPr id="17" name="word-rule"/>
          <p:cNvSpPr/>
          <p:nvPr/>
        </p:nvSpPr>
        <p:spPr>
          <a:xfrm>
            <a:off x="4521098" y="2558288"/>
            <a:ext cx="3149498" cy="0"/>
          </a:xfrm>
          <a:prstGeom prst="line">
            <a:avLst/>
          </a:prstGeom>
          <a:ln w="12700">
            <a:solidFill>
              <a:srgbClr val="9CA5BC"/>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reflection from a smooth surface, in one direction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still lake gives specular reflection, so you see the trees in it.</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diffuse reflection</a:t>
            </a:r>
            <a:endParaRPr lang="en-US" sz="2600" dirty="0"/>
          </a:p>
        </p:txBody>
      </p:sp>
      <p:sp>
        <p:nvSpPr>
          <p:cNvPr id="23" name="word-rule"/>
          <p:cNvSpPr/>
          <p:nvPr/>
        </p:nvSpPr>
        <p:spPr>
          <a:xfrm>
            <a:off x="8310677" y="2558288"/>
            <a:ext cx="3149498" cy="0"/>
          </a:xfrm>
          <a:prstGeom prst="line">
            <a:avLst/>
          </a:prstGeom>
          <a:ln w="12700">
            <a:solidFill>
              <a:srgbClr val="9CA5BC"/>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reflection from a rough surface, scattered in many directions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Paper gives diffuse reflection, so it looks the same from every side.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Light travels in straight lines called rays.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When a ray hits a mirror, it bounces off.</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is called reflection.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normal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line at right angles to the mirror.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 measure angles from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normal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not from the mirror.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angle of incidence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between the incoming ray and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normal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angle of reflection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between the reflected ray and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normal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These two angles are always equal.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mirror makes an image that seems to be behind the glass.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is 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virtual image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so you cannot put it on a screen.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smooth surface reflects light in one direction, so you see a clear image.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rough surface scatters light in many directions, so there is no image.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That is why you see yourself in a mirror but not in a brick wall.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law of reflection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question gives the angle between the ray and the mirror surface, subtract it from 90° to find the angle of incidence.</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 ray diagram shows the path of light as straight lines with arrows.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angle of incidence, i, is the angle between the incident ray and the normal.</a:t>
            </a:r>
            <a:endParaRPr lang="en-US" sz="20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Reflection does not change the wave itself. The speed, frequency and wavelength of the light are the same before and after it reflects, because the light stays in the same medium, the air.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Worked example: The law of reflection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332484"/>
          </a:xfrm>
          <a:prstGeom prst="roundRect">
            <a:avLst>
              <a:gd name="adj" fmla="val 6862"/>
            </a:avLst>
          </a:prstGeom>
          <a:solidFill>
            <a:srgbClr val="DEE1E9"/>
          </a:solidFill>
          <a:ln/>
        </p:spPr>
      </p:sp>
      <p:sp>
        <p:nvSpPr>
          <p:cNvPr id="8" name="worked-q"/>
          <p:cNvSpPr txBox="1"/>
          <p:nvPr/>
        </p:nvSpPr>
        <p:spPr>
          <a:xfrm>
            <a:off x="731520" y="1481328"/>
            <a:ext cx="10728655"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ray of light hits a plane mirror at 40° to the surface of the mirror. Find the angle of incidence, the angle of reflection, and the angle between the incident ray and the reflected ray.</a:t>
            </a:r>
            <a:endParaRPr lang="en-US" sz="2200" dirty="0"/>
          </a:p>
        </p:txBody>
      </p:sp>
      <p:sp>
        <p:nvSpPr>
          <p:cNvPr id="9" name="step-box"/>
          <p:cNvSpPr/>
          <p:nvPr/>
        </p:nvSpPr>
        <p:spPr>
          <a:xfrm>
            <a:off x="548640" y="2996692"/>
            <a:ext cx="3423818" cy="1974088"/>
          </a:xfrm>
          <a:prstGeom prst="roundRect">
            <a:avLst>
              <a:gd name="adj" fmla="val 3706"/>
            </a:avLst>
          </a:prstGeom>
          <a:solidFill>
            <a:srgbClr val="FFFFFF"/>
          </a:solidFill>
          <a:ln w="15875">
            <a:solidFill>
              <a:srgbClr val="8790AE"/>
            </a:solidFill>
            <a:prstDash val="solid"/>
          </a:ln>
        </p:spPr>
      </p:sp>
      <p:sp>
        <p:nvSpPr>
          <p:cNvPr id="10" name="step-hex"/>
          <p:cNvSpPr/>
          <p:nvPr/>
        </p:nvSpPr>
        <p:spPr>
          <a:xfrm>
            <a:off x="685800" y="3106420"/>
            <a:ext cx="530352" cy="459285"/>
          </a:xfrm>
          <a:prstGeom prst="hexagon">
            <a:avLst/>
          </a:prstGeom>
          <a:solidFill>
            <a:srgbClr val="24366B"/>
          </a:solidFill>
          <a:ln/>
        </p:spPr>
      </p:sp>
      <p:sp>
        <p:nvSpPr>
          <p:cNvPr id="11" name="step-hex-label"/>
          <p:cNvSpPr txBox="1"/>
          <p:nvPr/>
        </p:nvSpPr>
        <p:spPr>
          <a:xfrm>
            <a:off x="685800"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591052"/>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angle given is measured from the mirror, so convert it to the normal: angle of incidence = 90° − 40° = 50°.</a:t>
            </a:r>
            <a:endParaRPr lang="en-US" sz="1800" dirty="0"/>
          </a:p>
        </p:txBody>
      </p:sp>
      <p:sp>
        <p:nvSpPr>
          <p:cNvPr id="13" name="arrow"/>
          <p:cNvSpPr/>
          <p:nvPr/>
        </p:nvSpPr>
        <p:spPr>
          <a:xfrm>
            <a:off x="4045610" y="3846576"/>
            <a:ext cx="274320" cy="274320"/>
          </a:xfrm>
          <a:prstGeom prst="rightArrow">
            <a:avLst/>
          </a:prstGeom>
          <a:solidFill>
            <a:srgbClr val="B8862B"/>
          </a:solidFill>
          <a:ln/>
        </p:spPr>
      </p:sp>
      <p:sp>
        <p:nvSpPr>
          <p:cNvPr id="14" name="step-box"/>
          <p:cNvSpPr/>
          <p:nvPr/>
        </p:nvSpPr>
        <p:spPr>
          <a:xfrm>
            <a:off x="4383938" y="2996692"/>
            <a:ext cx="3423818" cy="1974088"/>
          </a:xfrm>
          <a:prstGeom prst="roundRect">
            <a:avLst>
              <a:gd name="adj" fmla="val 3706"/>
            </a:avLst>
          </a:prstGeom>
          <a:solidFill>
            <a:srgbClr val="FFFFFF"/>
          </a:solidFill>
          <a:ln w="15875">
            <a:solidFill>
              <a:srgbClr val="8790AE"/>
            </a:solidFill>
            <a:prstDash val="solid"/>
          </a:ln>
        </p:spPr>
      </p:sp>
      <p:sp>
        <p:nvSpPr>
          <p:cNvPr id="15" name="step-hex"/>
          <p:cNvSpPr/>
          <p:nvPr/>
        </p:nvSpPr>
        <p:spPr>
          <a:xfrm>
            <a:off x="4521098" y="3106420"/>
            <a:ext cx="530352" cy="459285"/>
          </a:xfrm>
          <a:prstGeom prst="hexagon">
            <a:avLst/>
          </a:prstGeom>
          <a:solidFill>
            <a:srgbClr val="24366B"/>
          </a:solidFill>
          <a:ln/>
        </p:spPr>
      </p:sp>
      <p:sp>
        <p:nvSpPr>
          <p:cNvPr id="16" name="step-hex-label"/>
          <p:cNvSpPr txBox="1"/>
          <p:nvPr/>
        </p:nvSpPr>
        <p:spPr>
          <a:xfrm>
            <a:off x="4521098"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591052"/>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Use the law of reflection: the angle of reflection equals the angle of incidence, so it is also 50°.</a:t>
            </a:r>
            <a:endParaRPr lang="en-US" sz="1800" dirty="0"/>
          </a:p>
        </p:txBody>
      </p:sp>
      <p:sp>
        <p:nvSpPr>
          <p:cNvPr id="18" name="arrow"/>
          <p:cNvSpPr/>
          <p:nvPr/>
        </p:nvSpPr>
        <p:spPr>
          <a:xfrm>
            <a:off x="7880909" y="3846576"/>
            <a:ext cx="274320" cy="274320"/>
          </a:xfrm>
          <a:prstGeom prst="rightArrow">
            <a:avLst/>
          </a:prstGeom>
          <a:solidFill>
            <a:srgbClr val="B8862B"/>
          </a:solidFill>
          <a:ln/>
        </p:spPr>
      </p:sp>
      <p:sp>
        <p:nvSpPr>
          <p:cNvPr id="19" name="step-box"/>
          <p:cNvSpPr/>
          <p:nvPr/>
        </p:nvSpPr>
        <p:spPr>
          <a:xfrm>
            <a:off x="8219237" y="2996692"/>
            <a:ext cx="3423818" cy="1974088"/>
          </a:xfrm>
          <a:prstGeom prst="roundRect">
            <a:avLst>
              <a:gd name="adj" fmla="val 3706"/>
            </a:avLst>
          </a:prstGeom>
          <a:solidFill>
            <a:srgbClr val="FFFFFF"/>
          </a:solidFill>
          <a:ln w="15875">
            <a:solidFill>
              <a:srgbClr val="8790AE"/>
            </a:solidFill>
            <a:prstDash val="solid"/>
          </a:ln>
        </p:spPr>
      </p:sp>
      <p:sp>
        <p:nvSpPr>
          <p:cNvPr id="20" name="step-hex"/>
          <p:cNvSpPr/>
          <p:nvPr/>
        </p:nvSpPr>
        <p:spPr>
          <a:xfrm>
            <a:off x="8356397" y="3106420"/>
            <a:ext cx="530352" cy="459285"/>
          </a:xfrm>
          <a:prstGeom prst="hexagon">
            <a:avLst/>
          </a:prstGeom>
          <a:solidFill>
            <a:srgbClr val="24366B"/>
          </a:solidFill>
          <a:ln/>
        </p:spPr>
      </p:sp>
      <p:sp>
        <p:nvSpPr>
          <p:cNvPr id="21" name="step-hex-label"/>
          <p:cNvSpPr txBox="1"/>
          <p:nvPr/>
        </p:nvSpPr>
        <p:spPr>
          <a:xfrm>
            <a:off x="8356397" y="3106420"/>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591052"/>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two rays sit either side of the normal, so the angle between them = 50° + 50° = 100°.</a:t>
            </a:r>
            <a:endParaRPr lang="en-US" sz="1800" dirty="0"/>
          </a:p>
        </p:txBody>
      </p:sp>
      <p:sp>
        <p:nvSpPr>
          <p:cNvPr id="23" name="worked-answer"/>
          <p:cNvSpPr/>
          <p:nvPr/>
        </p:nvSpPr>
        <p:spPr>
          <a:xfrm>
            <a:off x="1463040" y="5592572"/>
            <a:ext cx="92656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Angle of incidence 50°, angle of reflection 50°; the two rays are 100° apart.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image in a plane mirror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Virtual: the rays only appear to come from it. Real: the rays really meet there, and a screen could catch it.</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Look at yourself in a mirror and the image seems to be behind the glass.</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image in a plane mirror is the same size as the object and the same distance behind the mirror as the object is in front.</a:t>
            </a:r>
            <a:endParaRPr lang="en-US" sz="24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real image is different: the rays actually meet there, so it can be caught on a screen, like the picture on a cinema screen.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Specular and diffuse reflection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DEE1E9"/>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Every surface obeys the law of reflection, but a mirror and a sheet of paper look very different.</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3EADB"/>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Paper, cloth, skin and brick are rough on a tiny scale.</a:t>
            </a:r>
            <a:endParaRPr lang="en-US" sz="2400" dirty="0"/>
          </a:p>
        </p:txBody>
      </p:sp>
      <p:sp>
        <p:nvSpPr>
          <p:cNvPr id="15" name="point-card"/>
          <p:cNvSpPr/>
          <p:nvPr/>
        </p:nvSpPr>
        <p:spPr>
          <a:xfrm>
            <a:off x="8127797" y="1389888"/>
            <a:ext cx="3515258" cy="4754880"/>
          </a:xfrm>
          <a:prstGeom prst="roundRect">
            <a:avLst>
              <a:gd name="adj" fmla="val 1561"/>
            </a:avLst>
          </a:prstGeom>
          <a:solidFill>
            <a:srgbClr val="DEE1E9"/>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Diffuse reflection is why you can see most objects from any direction: they scatter light from the room towards your eyes wherever you stand.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Required practical: reflection by different surfaces</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'describe how you would investigate' question wants the method in order, the measurements you take, and one way of making the results more accurate.</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Stand a plane mirror upright on a sheet of paper and draw along its reflecting face.</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Repeat for several angles of incidence, for example 20°, 40° and 60°.</a:t>
            </a:r>
            <a:endParaRPr lang="en-US" sz="18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Sources of error: a wide ray makes its centre hard to judge, so use a narrow slit; dots far apart give a more accurate line than dots close together; and draw the normal with a set square so it really is at 90° to the surface.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Angles from the surface</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ray of light strikes a plane mirror at 25° to the surface of the mirror. What is the angle of reflection, in degrees?</a:t>
            </a:r>
            <a:endParaRPr lang="en-US" sz="2600" dirty="0"/>
          </a:p>
          <a:p>
            <a:pPr algn="ctr" indent="0" marL="0">
              <a:buNone/>
            </a:pPr>
            <a:r>
              <a:rPr lang="en-US" sz="2400" b="1" dirty="0">
                <a:solidFill>
                  <a:srgbClr val="24366B"/>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Same task, three ways in: Angles from the surface</a:t>
            </a:r>
            <a:endParaRPr lang="en-US" sz="30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ray of light strikes a plane mirror at 25° to the surface of the mirror. What is the angle of reflection, in degrees?</a:t>
            </a:r>
            <a:endParaRPr lang="en-US" sz="2000" dirty="0"/>
          </a:p>
        </p:txBody>
      </p:sp>
      <p:sp>
        <p:nvSpPr>
          <p:cNvPr id="12" name="col-Support"/>
          <p:cNvSpPr/>
          <p:nvPr/>
        </p:nvSpPr>
        <p:spPr>
          <a:xfrm>
            <a:off x="548640" y="2593848"/>
            <a:ext cx="4667802" cy="3550920"/>
          </a:xfrm>
          <a:prstGeom prst="roundRect">
            <a:avLst>
              <a:gd name="adj" fmla="val 1545"/>
            </a:avLst>
          </a:prstGeom>
          <a:solidFill>
            <a:srgbClr val="DEE1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Draw the mirror as a line and the normal as a dotted line at 90° to it.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ray is 25° from the mirror, so it is 90° − 25° from the normal. That is the angle of incidence.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Use the law of reflection: angle of reflection = angle of incidence.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answer in degrees.</a:t>
            </a:r>
            <a:endParaRPr lang="en-US" sz="1800" dirty="0"/>
          </a:p>
        </p:txBody>
      </p:sp>
      <p:sp>
        <p:nvSpPr>
          <p:cNvPr id="17" name="col-Core"/>
          <p:cNvSpPr/>
          <p:nvPr/>
        </p:nvSpPr>
        <p:spPr>
          <a:xfrm>
            <a:off x="5490762" y="2593848"/>
            <a:ext cx="2938987" cy="3550920"/>
          </a:xfrm>
          <a:prstGeom prst="roundRect">
            <a:avLst>
              <a:gd name="adj" fmla="val 1867"/>
            </a:avLst>
          </a:prstGeom>
          <a:solidFill>
            <a:srgbClr val="C4C9D7"/>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Angles are measured from the normal. 25° is measured from the surface. What is 90° − 25°?</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24366B"/>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mirror is now turned so the ray meets it at 10° to the surface instead. Explain what happens to the angle of reflection, and sketch both situations on one diagram.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Same task, three ways in: Where is the image?</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candle stands 1.2 m in front of a plane mirror. How far behind the mirror is its image, in metres?</a:t>
            </a:r>
            <a:endParaRPr lang="en-US" sz="2000" dirty="0"/>
          </a:p>
          <a:p>
            <a:pPr algn="ctr" indent="0" marL="0">
              <a:buNone/>
            </a:pPr>
            <a:r>
              <a:rPr lang="en-US" sz="1800" b="1" dirty="0">
                <a:solidFill>
                  <a:srgbClr val="24366B"/>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m</a:t>
            </a:r>
            <a:endParaRPr lang="en-US" sz="2000" dirty="0"/>
          </a:p>
        </p:txBody>
      </p:sp>
      <p:sp>
        <p:nvSpPr>
          <p:cNvPr id="12" name="col-Support"/>
          <p:cNvSpPr/>
          <p:nvPr/>
        </p:nvSpPr>
        <p:spPr>
          <a:xfrm>
            <a:off x="548640" y="2948940"/>
            <a:ext cx="4667802" cy="3195828"/>
          </a:xfrm>
          <a:prstGeom prst="roundRect">
            <a:avLst>
              <a:gd name="adj" fmla="val 1717"/>
            </a:avLst>
          </a:prstGeom>
          <a:solidFill>
            <a:srgbClr val="DEE1E9"/>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Recall the plane mirror rule: image distance behind = object distance in front.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object distance in the question.</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same number as the image distance, with its unit.</a:t>
            </a:r>
            <a:endParaRPr lang="en-US" sz="1800" dirty="0"/>
          </a:p>
        </p:txBody>
      </p:sp>
      <p:sp>
        <p:nvSpPr>
          <p:cNvPr id="17" name="col-Core"/>
          <p:cNvSpPr/>
          <p:nvPr/>
        </p:nvSpPr>
        <p:spPr>
          <a:xfrm>
            <a:off x="5490762" y="2948940"/>
            <a:ext cx="2938987" cy="3195828"/>
          </a:xfrm>
          <a:prstGeom prst="roundRect">
            <a:avLst>
              <a:gd name="adj" fmla="val 1867"/>
            </a:avLst>
          </a:prstGeom>
          <a:solidFill>
            <a:srgbClr val="C4C9D7"/>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Same distance behind as in front. No doubling, no halving.</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24366B"/>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candle is moved 0.3 m closer to the mirror. Work out the new distance between the candle and its image, and explain why the image also moves.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a ray diagram of reflection, what is the normal?</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reflected ray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incoming ray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line at right angles to the mirror at the point where the ray hits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line drawn along the surface of the mirror</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5E7ED"/>
          </a:solidFill>
          <a:ln w="12700">
            <a:solidFill>
              <a:srgbClr val="8790AE"/>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Angles from the surface</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ray of light strikes a plane mirror at 25° to the surface of the mirror. What is the angle of reflection, in degrees?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65 °</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Angles of incidence and reflection are measured from the normal. A ray 25° from the surface is 90° − 25° = 65° from the normal, and the reflected ray makes the same 65° with the normal.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Where is the image?</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candle stands 1.2 m in front of a plane mirror. How far behind the mirror is its image, in metres?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1.2 m</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plane mirror forms a virtual image the same distance behind the mirror as the object is in front, the same size, upright and laterally inverted.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a ray diagram of reflection, what is the normal?</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A line at right angles to the mirror at the point where the ray hits</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normal is drawn at 90° to the surface where the ray meets it. Both angles are measured from the normal.</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DEE1E9"/>
      </a:lt2>
      <a:accent1>
        <a:srgbClr val="24366B"/>
      </a:accent1>
      <a:accent2>
        <a:srgbClr val="B8862B"/>
      </a:accent2>
      <a:accent3>
        <a:srgbClr val="7C86A6"/>
      </a:accent3>
      <a:accent4>
        <a:srgbClr val="815E1E"/>
      </a:accent4>
      <a:accent5>
        <a:srgbClr val="4A505C"/>
      </a:accent5>
      <a:accent6>
        <a:srgbClr val="D8BC8A"/>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Light · Chapter 1: Reflection and the plane mirror</dc:title>
  <dc:subject>Physics (Triple Science) · Year 11</dc:subject>
  <dc:creator>Dr Vitor Merissi de Carvalho</dc:creator>
  <cp:lastModifiedBy>Dr Vitor Merissi de Carvalho</cp:lastModifiedBy>
  <cp:revision>1</cp:revision>
  <dcterms:created xsi:type="dcterms:W3CDTF">2026-10-19T16:23:27Z</dcterms:created>
  <dcterms:modified xsi:type="dcterms:W3CDTF">2026-10-19T16:23:27Z</dcterms:modified>
</cp:coreProperties>
</file>