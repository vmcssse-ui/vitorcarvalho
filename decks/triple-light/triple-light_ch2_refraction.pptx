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404bd4-4c2d-494f-af93-93208555004a}">
          <p14:sldIdLst>
            <p14:sldId id="256"/>
          </p14:sldIdLst>
        </p14:section>
        <p14:section name="Gate" id="{5a91bd5a-dc72-8862-e294-c16a0ca2bb5f}">
          <p14:sldIdLst>
            <p14:sldId id="257"/>
            <p14:sldId id="258"/>
          </p14:sldIdLst>
        </p14:section>
        <p14:section name="Pre-teach" id="{17055a60-3a11-d81b-6283-83da18fcf7a5}">
          <p14:sldIdLst>
            <p14:sldId id="259"/>
            <p14:sldId id="260"/>
          </p14:sldIdLst>
        </p14:section>
        <p14:section name="Read-along" id="{2385aa58-6754-7829-b002-f6aae3ae2ad9}">
          <p14:sldIdLst>
            <p14:sldId id="261"/>
            <p14:sldId id="262"/>
          </p14:sldIdLst>
        </p14:section>
        <p14:section name="Teach" id="{7f3ef9a0-83d9-a107-bce5-70fbbeac26c5}">
          <p14:sldIdLst>
            <p14:sldId id="263"/>
            <p14:sldId id="264"/>
            <p14:sldId id="265"/>
            <p14:sldId id="266"/>
            <p14:sldId id="267"/>
          </p14:sldIdLst>
        </p14:section>
        <p14:section name="Routes" id="{b9370986-511e-8550-a58d-c698f5474e10}">
          <p14:sldIdLst>
            <p14:sldId id="268"/>
            <p14:sldId id="269"/>
            <p14:sldId id="270"/>
            <p14:sldId id="271"/>
          </p14:sldIdLst>
        </p14:section>
        <p14:section name="Close" id="{51680278-b252-7564-9178-a56c5c811154}">
          <p14:sldIdLst>
            <p14:sldId id="272"/>
          </p14:sldIdLst>
        </p14:section>
        <p14:section name="Answers" id="{d4b3790c-49ec-7ece-8d92-31a2a2de60f0}">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Refraction: light crossing a boundary. Why light bends when it enters glass, which way it bends, how wave fronts explain it, and how to measure it with a glass block.
This deck covers the department's lesson: 2 (P14.2 Refraction of light: Why does light change direction when it crosses from air into glass, and how can you investigate it?).
Read the big question aloud: "How does a flat mirror, a glass block or a curved lens change the path of light, and how do we use that to make the images we see?"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refraction?  →  A   A change in direction of a wave as it crosses a boundary between two media
2. When a ray of light passes from air into glass at an angle, it slows down and bends ___ the normal.  →  towards
3. Which quantity does NOT change when light passes from air into glass?  →  A   Frequency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change in direction of a wave as it crosses a boundary between two media. Refraction is the change in direction when a wave crosses a boundary, caused by the change in speed.
2. towards. Air to glass: the light slows down and bends towards the normal, so the angle of refraction is smaller than the angle of incidence.
3. A   Frequency. Frequency is fixed by the source. Speed and wavelength both change, and the direction changes unless the ray is along the normal.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refraction: the change in direction of a wave when it crosses into a different material. Example: "Refraction makes a straw in a glass of water look bent."
• boundary: the surface where two materials meet. Example: "The ray changes direction at the boundary between the air and the glass."
• medium: a material that light travels through. Example: "Glass is a denser medium than air, so light travels more slowly in it."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angle of refraction: the angle between the refracted ray and the normal, inside the second material. Example: "The angle of refraction in the glass was smaller than the angle of incidence."
• wave front: a line joining the crests of neighbouring waves. Example: "Each wave front turns as one end of it slows down in the glass."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Light travels at different speeds in different materials.
2. It is fastest in air and slower in water, glass or Perspex.
3. A material that light travels through is called a medium.
4. The surface where two media meet is called a boundary.
5. When light crosses a boundary at an angle, it changes direction.
6. This bending is called refraction.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Going from air into glass, the ray slows down and bends towards the normal.
8. Going from glass into air, the ray speeds up and bends away from the normal.
9. A ray that travels along the normal does not bend at all.
10. The frequency of the light stays the same.
11. Its speed and its wavelength both change.
12. Refraction is why a swimming pool looks shallower than it really is.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Crossing a boundary. Say it in your own words, then check understanding with a quick question: ask a pupil from the pre-teach group first, since they met these words and ideas before the lesson. Pupils try to recall before you re-explain.
Refraction is the change in direction of a wave when it crosses the boundary from one medium into another. It happens because the wave changes speed. Light travels at about 300 000 km/s in air but at only about 200 000 km/s in glass.
When a ray goes from air into glass at an angle, it slows down and bends towards the normal: the angle of refraction is smaller than the angle of incidence. When the ray leaves the glass and goes back into air, it speeds up and bends away from the normal: the angle of refraction is bigger than the angle of incidence.
A ray that hits the boundary along the normal (angle of incidence 0°) still changes speed but does not change direction. Only rays that arrive at an angle are bent.
Worked example — model it step by step, thinking aloud: A ray enters a parallel-sided glass block with an angle of incidence of 30°. Inside the glass the angle of refraction is measured as 19°. The ray then reaches the far face, which is parallel to the first. At what angle to the normal does it leave the block, and how is it travelling compared with the original ray? (1) At the first face the ray bent towards the normal: 19° is less than 30°, as expected for air to glass. (2) Inside the block the ray meets the second face at 19° to its normal, because the two faces are parallel. (3) At the second face it goes from glass to air, so it bends away from the normal by the same amount it bent in. (4) It leaves at 30° to the normal, parallel to the incident ray but shifted sideways. Answer: It leaves at 30° to the normal, parallel to the original ray..
Tip: Towards the normal going in (slower), away from the normal coming out (faster). Draw the normal before you draw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Crossing a boundary. Say it in your own words, then check understanding with a quick question: ask a pupil from the pre-teach group first, since they met these words and ideas before the lesson. Pupils try to recall before you re-explain.
Refraction is the change in direction of a wave when it crosses the boundary from one medium into another. It happens because the wave changes speed. Light travels at about 300 000 km/s in air but at only about 200 000 km/s in glass.
When a ray goes from air into glass at an angle, it slows down and bends towards the normal: the angle of refraction is smaller than the angle of incidence. When the ray leaves the glass and goes back into air, it speeds up and bends away from the normal: the angle of refraction is bigger than the angle of incidence.
A ray that hits the boundary along the normal (angle of incidence 0°) still changes speed but does not change direction. Only rays that arrive at an angle are bent.
Worked example — model it step by step, thinking aloud: A ray enters a parallel-sided glass block with an angle of incidence of 30°. Inside the glass the angle of refraction is measured as 19°. The ray then reaches the far face, which is parallel to the first. At what angle to the normal does it leave the block, and how is it travelling compared with the original ray? (1) At the first face the ray bent towards the normal: 19° is less than 30°, as expected for air to glass. (2) Inside the block the ray meets the second face at 19° to its normal, because the two faces are parallel. (3) At the second face it goes from glass to air, so it bends away from the normal by the same amount it bent in. (4) It leaves at 30° to the normal, parallel to the incident ray but shifted sideways. Answer: It leaves at 30° to the normal, parallel to the original ray..
Tip: Towards the normal going in (slower), away from the normal coming out (faster). Draw the normal before you draw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Explaining refraction with wave fronts (Higher). Say it in your own words, then check understanding with a quick question: ask a pupil from the pre-teach group first, since they met these words and ideas before the lesson. Pupils try to recall before you re-explain.
Think of a beam of light as a set of wave fronts: lines joining the crests, at right angles to the direction of travel, like a row of people marching side by side.
When the row meets the glass at an angle, one end reaches the boundary first and slows down while the other end is still in air, moving fast. The fast end swings round towards the slow end, so the whole row turns towards the normal. Once every part is in the glass they all move at the new, slower speed and travel in a straight line again.
The frequency of the wave does not change at the boundary, because wave fronts arrive at the same rate they leave. The speed does change, so, using wave speed = frequency × wavelength, the wavelength changes too: in glass the wave fronts are closer together.
Tip: Frequency is fixed by the source, so it never changes at a boundary. Speed and wavelength change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refraction in a glass block. Say it in your own words, then check understanding with a quick question: ask a pupil from the pre-teach group first, since they met these words and ideas before the lesson. Pupils try to recall before you re-explain.
Put the glass (or Perspex) block in the middle of a sheet of paper and draw round it. Take the block away and draw a normal at right angles to one long side, about halfway along. Use a protractor to draw an incident ray at 30° to the normal.
Replace the block exactly on its outline. Shine a narrow ray from the ray box along the incident ray you drew, and mark where the light leaves the far side with two pencil dots. Remove the block, join the dots to draw the emergent ray, and join the point where the ray entered the block to the point where it left, to draw the refracted ray inside it.
Draw the normal at the exit point and measure the angle of refraction inside the block and the angle of the emergent ray. Repeat for an angle of incidence of 50°, and another angle if you have time. Then swap the glass block for a Perspex block, or a rectangular tray of water, to compare different substances.
Tip: Two dots far apart on the emergent ray give a more accurate line than one dot close to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Dispersion, and why a pool looks shallow. Say it in your own words, then check understanding with a quick question: ask a pupil from the pre-teach group first, since they met these words and ideas before the lesson. Pupils try to recall before you re-explain.
White light is a mixture of all the colours of the spectrum. In glass, violet light travels slightly more slowly than red light, so violet is refracted the most and red the least. A triangular prism refracts the light twice, in at one face and out at another, so the colours spread out into a spectrum. This spreading is called dispersion.
Refraction also plays tricks on your eyes. Light from a coin at the bottom of a pool bends away from the normal as it leaves the water. Your brain assumes the light travelled in a straight line, so it places the coin higher up: the pool looks shallower than it is. The fishing example in your lesson is the same idea: aim where the fish seems to be and you will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Out of the glass.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of light travels from inside a glass block out into the air, meeting the boundary at an angle. What happens to it?
Support — work through the steps with the group: (1) Decide the direction: this ray is going from glass (slow) into air (fast). (2) Faster means the ray bends away from the normal. (3) Check it is the opposite of air to glass, which is slower and towards the normal. (4) Pick the option that has both parts right: speed and direction.
Parallel worked example for Support (model it, do not give the task answer): A ray goes from air into water at an angle. What happens to its speed and its direction? Water is denser than air, so the light slows down.; Slowing down means it bends towards the normal.. Answer: It slows down and bends towards the normal..
Core — reveal the hint only on request: Into glass: slower, towards. Out of glass: the reverse of both.
Stretch — no help; when finished: Use the wave front model to explain why the ray bends away from the normal as it leaves the glass. Which end of each wave front speeds up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Out of the glass.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of light travels from inside a glass block out into the air, meeting the boundary at an angle. What happens to it?
Support — work through the steps with the group: (1) Decide the direction: this ray is going from glass (slow) into air (fast). (2) Faster means the ray bends away from the normal. (3) Check it is the opposite of air to glass, which is slower and towards the normal. (4) Pick the option that has both parts right: speed and direction.
Parallel worked example for Support (model it, do not give the task answer): A ray goes from air into water at an angle. What happens to its speed and its direction? Water is denser than air, so the light slows down.; Slowing down means it bends towards the normal.. Answer: It slows down and bends towards the normal..
Core — reveal the hint only on request: Into glass: slower, towards. Out of glass: the reverse of both.
Stretch — no help; when finished: Use the wave front model to explain why the ray bends away from the normal as it leaves the glass. Which end of each wave front speeds up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Through a parallel-sided block.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enters one face of a parallel-sided Perspex block with an angle of incidence of 40°. It passes through and leaves by the opposite, parallel face. What angle does the emergent ray make with the normal, in degrees?
Support — work through the steps with the group: (1) At the first face the ray bends towards the normal by some amount. (2) The two faces are parallel, so inside the block the ray meets the second face at the same angle it had after the first bend. (3) At the second face it bends away from the normal by exactly the same amount. (4) So it comes out at the angle it went in.
Parallel worked example for Support (model it, do not give the task answer): A ray enters a parallel-sided glass block with an angle of incidence of 55°. At what angle to the normal does it leave the far face? Bends towards the normal going in.; Bends away by the same amount coming out.; Leaves at the original angle.. Answer: 55°.
Core — reveal the hint only on request: In and out are mirror images of each other. Whatever bend happened at the first face is undone at the second.
Stretch — no help; when finished: The ray comes out parallel to where it went in, but not along the same line. Sketch the block and explain why the emergent ray is shifted sideways, and what would make the shift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Through a parallel-sided block.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enters one face of a parallel-sided Perspex block with an angle of incidence of 40°. It passes through and leaves by the opposite, parallel face. What angle does the emergent ray make with the normal, in degrees?
Support — work through the steps with the group: (1) At the first face the ray bends towards the normal by some amount. (2) The two faces are parallel, so inside the block the ray meets the second face at the same angle it had after the first bend. (3) At the second face it bends away from the normal by exactly the same amount. (4) So it comes out at the angle it went in.
Parallel worked example for Support (model it, do not give the task answer): A ray enters a parallel-sided glass block with an angle of incidence of 55°. At what angle to the normal does it leave the far face? Bends towards the normal going in.; Bends away by the same amount coming out.; Leaves at the original angle.. Answer: 55°.
Core — reveal the hint only on request: In and out are mirror images of each other. Whatever bend happened at the first face is undone at the second.
Stretch — no help; when finished: The ray comes out parallel to where it went in, but not along the same line. Sketch the block and explain why the emergent ray is shifted sideways, and what would make the shift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refraction?
Answer: D   A change in direction of a wave as it crosses a boundary between two media. Refraction is the change in direction when a wave crosses a boundary, caused by the change in speed.
Source of this question: gate item 1 re-asked (options rotated) — this chapter has no third quick-check module.
The ebook also holds task 3, "The refraction practical, step by step",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Out of the glass. Reveal the answer; pupils mark their own work in a different colour, then read the "why" together. Same destination for every lane, so one answer serves the whole class.
Answer: A   It speeds up and bends away from the normal
Why: Leaving glass for air the light speeds up, so it bends away from the normal and the angle of refraction is bigger than the angle of incidence. It is the exact reverse of entering the glass.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Through a parallel-sided block. Reveal the answer; pupils mark their own work in a different colour, then read the "why" together. Same destination for every lane, so one answer serves the whole class.
Answer: 40 °
Why: The bend towards the normal at the first face is reversed at the parallel second face, so the emergent ray is at 40° to the normal and parallel to the incident ray, displaced sideways.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change in direction of a wave as it crosses a boundary between two media
Why: Refraction is the change in direction when a wave crosses a boundary, caused by the change in speed.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Light · AQA 8463</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Refraction: light crossing a boundary</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EE1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P14.2 Refraction of light</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flat mirror, a glass block or a curved lens change the path of light, and how do we use that to make the images we see?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refraction?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change in direction of a wave as it crosses a boundary between two media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wave bouncing back from a surface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wave spreading out as it passes through a gap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wave being absorbed by a material</a:t>
            </a:r>
            <a:endParaRPr lang="en-US" sz="18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When a ray of light passes from air into glass at an angle, it slows down and bends ___ the normal.</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towards  ·  away from  ·  along</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quantity does NOT change when light passes from air into glass?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Frequency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Speed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Wavelength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Direction, if it arrives at an angle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ADBBF"/>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change in direction of a wave as it crosses a boundary between two media</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refraction?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Refraction is the change in direction when a wave crosses a boundary, caused by the change in speed.</a:t>
            </a:r>
            <a:endParaRPr lang="en-US" sz="20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towards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When a ray of light passes from air into glass at an angle, it slows down and bends ___ the normal.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Air to glass: the light slows down and bends towards the normal, so the angle of refraction is smaller than the angle of incidence.</a:t>
            </a:r>
            <a:endParaRPr lang="en-US" sz="18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Frequency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quantity does NOT change when light passes from air into glass?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Frequency is fixed by the source. Speed and wavelength both change, and the direction changes unless the ray is along the normal.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refraction</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change in direction of a wave when it crosses into a different material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Refraction makes a straw in a glass of water look bent.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boundary</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surface where two materials meet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ray changes direction at the boundary between the air and the glass.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medium</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material that light travels through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Glass is a denser medium than air, so light travels more slowly in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angle of refraction</a:t>
            </a:r>
            <a:endParaRPr lang="en-US" sz="2600" dirty="0"/>
          </a:p>
        </p:txBody>
      </p:sp>
      <p:sp>
        <p:nvSpPr>
          <p:cNvPr id="11" name="word-rule"/>
          <p:cNvSpPr/>
          <p:nvPr/>
        </p:nvSpPr>
        <p:spPr>
          <a:xfrm>
            <a:off x="731520" y="2129028"/>
            <a:ext cx="5044288" cy="0"/>
          </a:xfrm>
          <a:prstGeom prst="line">
            <a:avLst/>
          </a:prstGeom>
          <a:ln w="12700">
            <a:solidFill>
              <a:srgbClr val="9CA5BC"/>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angle between the refracted ray and the normal, inside the second material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angle of refraction in the glass was smaller than the angle of incidence.</a:t>
            </a:r>
            <a:endParaRPr lang="en-US" sz="2200" dirty="0"/>
          </a:p>
        </p:txBody>
      </p:sp>
      <p:sp>
        <p:nvSpPr>
          <p:cNvPr id="13" name="word-card"/>
          <p:cNvSpPr/>
          <p:nvPr/>
        </p:nvSpPr>
        <p:spPr>
          <a:xfrm>
            <a:off x="6233008" y="1389888"/>
            <a:ext cx="5410048" cy="4754880"/>
          </a:xfrm>
          <a:prstGeom prst="roundRect">
            <a:avLst>
              <a:gd name="adj" fmla="val 1154"/>
            </a:avLst>
          </a:prstGeom>
          <a:solidFill>
            <a:srgbClr val="E3E5EC"/>
          </a:solidFill>
          <a:ln w="12700">
            <a:solidFill>
              <a:srgbClr val="9CA5BC"/>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wave front</a:t>
            </a:r>
            <a:endParaRPr lang="en-US" sz="2600" dirty="0"/>
          </a:p>
        </p:txBody>
      </p:sp>
      <p:sp>
        <p:nvSpPr>
          <p:cNvPr id="17" name="word-rule"/>
          <p:cNvSpPr/>
          <p:nvPr/>
        </p:nvSpPr>
        <p:spPr>
          <a:xfrm>
            <a:off x="6415888" y="2129028"/>
            <a:ext cx="5044288" cy="0"/>
          </a:xfrm>
          <a:prstGeom prst="line">
            <a:avLst/>
          </a:prstGeom>
          <a:ln w="12700">
            <a:solidFill>
              <a:srgbClr val="9CA5BC"/>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line joining the crests of neighbouring waves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wave front turns as one end of it slows down in the glass.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Light travels at different speeds in different materials.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fastest in air and slower in water, glass or Perspex.</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material that light travels through is called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medium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surface where two media meet is called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boundary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light crosses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boundary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an angle, it changes direction.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bending is called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refraction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Going from air into glass, the ray slows down and bends towards the normal.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Going from glass into air, the ray speeds up and bends away from the normal.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ray that travels along the normal does not bend at all.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frequency of the light stays the same.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Its speed and its wavelength both change.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Refraction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why a swimming pool looks shallower than it really is.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Crossing a boundary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Towards the normal going in (slower), away from the normal coming out (faster). Draw the normal before you draw anything else.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Refraction is the change in direction of a wave when it crosses the boundary from one medium into another.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a ray goes from air into glass at an angle, it slows down and bends towards the normal: the angle of refraction is smaller than the angle of incidence.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ray that hits the boundary along the normal (angle of incidence 0°) still changes speed but does not change direction.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Crossing a boundary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549400"/>
          </a:xfrm>
          <a:prstGeom prst="roundRect">
            <a:avLst>
              <a:gd name="adj" fmla="val 5902"/>
            </a:avLst>
          </a:prstGeom>
          <a:solidFill>
            <a:srgbClr val="DEE1E9"/>
          </a:solidFill>
          <a:ln/>
        </p:spPr>
      </p:sp>
      <p:sp>
        <p:nvSpPr>
          <p:cNvPr id="8" name="worked-q"/>
          <p:cNvSpPr txBox="1"/>
          <p:nvPr/>
        </p:nvSpPr>
        <p:spPr>
          <a:xfrm>
            <a:off x="731520" y="1481328"/>
            <a:ext cx="10728655" cy="136652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ray enters a parallel-sided glass block with an angle of incidence of 30°. Inside the glass the angle of refraction is measured as 19°. The ray then reaches the far face, which is parallel to the first. At what angle to the normal does it leave the block, and how is it travelling compared with the original ray?</a:t>
            </a:r>
            <a:endParaRPr lang="en-US" sz="2000" dirty="0"/>
          </a:p>
        </p:txBody>
      </p:sp>
      <p:sp>
        <p:nvSpPr>
          <p:cNvPr id="9" name="step-box"/>
          <p:cNvSpPr/>
          <p:nvPr/>
        </p:nvSpPr>
        <p:spPr>
          <a:xfrm>
            <a:off x="548640" y="3122168"/>
            <a:ext cx="11094415" cy="444906"/>
          </a:xfrm>
          <a:prstGeom prst="roundRect">
            <a:avLst>
              <a:gd name="adj" fmla="val 16442"/>
            </a:avLst>
          </a:prstGeom>
          <a:solidFill>
            <a:srgbClr val="FFFFFF"/>
          </a:solidFill>
          <a:ln w="15875">
            <a:solidFill>
              <a:srgbClr val="8790AE"/>
            </a:solidFill>
            <a:prstDash val="solid"/>
          </a:ln>
        </p:spPr>
      </p:sp>
      <p:sp>
        <p:nvSpPr>
          <p:cNvPr id="10" name="step-hex"/>
          <p:cNvSpPr/>
          <p:nvPr/>
        </p:nvSpPr>
        <p:spPr>
          <a:xfrm>
            <a:off x="685800" y="3146654"/>
            <a:ext cx="457200" cy="395935"/>
          </a:xfrm>
          <a:prstGeom prst="hexagon">
            <a:avLst/>
          </a:prstGeom>
          <a:solidFill>
            <a:srgbClr val="24366B"/>
          </a:solidFill>
          <a:ln/>
        </p:spPr>
      </p:sp>
      <p:sp>
        <p:nvSpPr>
          <p:cNvPr id="11" name="step-hex-label"/>
          <p:cNvSpPr txBox="1"/>
          <p:nvPr/>
        </p:nvSpPr>
        <p:spPr>
          <a:xfrm>
            <a:off x="685800" y="314665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3122168"/>
            <a:ext cx="10180015" cy="4449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 the first face the ray bent towards the normal: 19° is less than 30°, as expected for air to glass.</a:t>
            </a:r>
            <a:endParaRPr lang="en-US" sz="1800" dirty="0"/>
          </a:p>
        </p:txBody>
      </p:sp>
      <p:sp>
        <p:nvSpPr>
          <p:cNvPr id="13" name="step-box"/>
          <p:cNvSpPr/>
          <p:nvPr/>
        </p:nvSpPr>
        <p:spPr>
          <a:xfrm>
            <a:off x="548640" y="3640226"/>
            <a:ext cx="11094415" cy="444906"/>
          </a:xfrm>
          <a:prstGeom prst="roundRect">
            <a:avLst>
              <a:gd name="adj" fmla="val 16442"/>
            </a:avLst>
          </a:prstGeom>
          <a:solidFill>
            <a:srgbClr val="FFFFFF"/>
          </a:solidFill>
          <a:ln w="15875">
            <a:solidFill>
              <a:srgbClr val="8790AE"/>
            </a:solidFill>
            <a:prstDash val="solid"/>
          </a:ln>
        </p:spPr>
      </p:sp>
      <p:sp>
        <p:nvSpPr>
          <p:cNvPr id="14" name="step-hex"/>
          <p:cNvSpPr/>
          <p:nvPr/>
        </p:nvSpPr>
        <p:spPr>
          <a:xfrm>
            <a:off x="685800" y="3664712"/>
            <a:ext cx="457200" cy="395935"/>
          </a:xfrm>
          <a:prstGeom prst="hexagon">
            <a:avLst/>
          </a:prstGeom>
          <a:solidFill>
            <a:srgbClr val="24366B"/>
          </a:solidFill>
          <a:ln/>
        </p:spPr>
      </p:sp>
      <p:sp>
        <p:nvSpPr>
          <p:cNvPr id="15" name="step-hex-label"/>
          <p:cNvSpPr txBox="1"/>
          <p:nvPr/>
        </p:nvSpPr>
        <p:spPr>
          <a:xfrm>
            <a:off x="685800" y="36647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640226"/>
            <a:ext cx="10180015" cy="4449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Inside the block the ray meets the second face at 19° to its normal, because the two faces are parallel.</a:t>
            </a:r>
            <a:endParaRPr lang="en-US" sz="1800" dirty="0"/>
          </a:p>
        </p:txBody>
      </p:sp>
      <p:sp>
        <p:nvSpPr>
          <p:cNvPr id="17" name="step-box"/>
          <p:cNvSpPr/>
          <p:nvPr/>
        </p:nvSpPr>
        <p:spPr>
          <a:xfrm>
            <a:off x="548640" y="4158285"/>
            <a:ext cx="11094415" cy="709066"/>
          </a:xfrm>
          <a:prstGeom prst="roundRect">
            <a:avLst>
              <a:gd name="adj" fmla="val 10317"/>
            </a:avLst>
          </a:prstGeom>
          <a:solidFill>
            <a:srgbClr val="FFFFFF"/>
          </a:solidFill>
          <a:ln w="15875">
            <a:solidFill>
              <a:srgbClr val="8790AE"/>
            </a:solidFill>
            <a:prstDash val="solid"/>
          </a:ln>
        </p:spPr>
      </p:sp>
      <p:sp>
        <p:nvSpPr>
          <p:cNvPr id="18" name="step-hex"/>
          <p:cNvSpPr/>
          <p:nvPr/>
        </p:nvSpPr>
        <p:spPr>
          <a:xfrm>
            <a:off x="685800" y="4314850"/>
            <a:ext cx="457200" cy="395935"/>
          </a:xfrm>
          <a:prstGeom prst="hexagon">
            <a:avLst/>
          </a:prstGeom>
          <a:solidFill>
            <a:srgbClr val="24366B"/>
          </a:solidFill>
          <a:ln/>
        </p:spPr>
      </p:sp>
      <p:sp>
        <p:nvSpPr>
          <p:cNvPr id="19" name="step-hex-label"/>
          <p:cNvSpPr txBox="1"/>
          <p:nvPr/>
        </p:nvSpPr>
        <p:spPr>
          <a:xfrm>
            <a:off x="685800" y="431485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158285"/>
            <a:ext cx="10180015" cy="70906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 the second face it goes from glass to air, so it bends away from the normal by the same amount it bent in.</a:t>
            </a:r>
            <a:endParaRPr lang="en-US" sz="1800" dirty="0"/>
          </a:p>
        </p:txBody>
      </p:sp>
      <p:sp>
        <p:nvSpPr>
          <p:cNvPr id="21" name="step-box"/>
          <p:cNvSpPr/>
          <p:nvPr/>
        </p:nvSpPr>
        <p:spPr>
          <a:xfrm>
            <a:off x="548640" y="4940503"/>
            <a:ext cx="11094415" cy="444906"/>
          </a:xfrm>
          <a:prstGeom prst="roundRect">
            <a:avLst>
              <a:gd name="adj" fmla="val 16442"/>
            </a:avLst>
          </a:prstGeom>
          <a:solidFill>
            <a:srgbClr val="FFFFFF"/>
          </a:solidFill>
          <a:ln w="15875">
            <a:solidFill>
              <a:srgbClr val="8790AE"/>
            </a:solidFill>
            <a:prstDash val="solid"/>
          </a:ln>
        </p:spPr>
      </p:sp>
      <p:sp>
        <p:nvSpPr>
          <p:cNvPr id="22" name="step-hex"/>
          <p:cNvSpPr/>
          <p:nvPr/>
        </p:nvSpPr>
        <p:spPr>
          <a:xfrm>
            <a:off x="685800" y="4964989"/>
            <a:ext cx="457200" cy="395935"/>
          </a:xfrm>
          <a:prstGeom prst="hexagon">
            <a:avLst/>
          </a:prstGeom>
          <a:solidFill>
            <a:srgbClr val="24366B"/>
          </a:solidFill>
          <a:ln/>
        </p:spPr>
      </p:sp>
      <p:sp>
        <p:nvSpPr>
          <p:cNvPr id="23" name="step-hex-label"/>
          <p:cNvSpPr txBox="1"/>
          <p:nvPr/>
        </p:nvSpPr>
        <p:spPr>
          <a:xfrm>
            <a:off x="685800" y="496498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940503"/>
            <a:ext cx="10180015" cy="4449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It leaves at 30° to the normal, parallel to the incident ray but shifted sideways.</a:t>
            </a:r>
            <a:endParaRPr lang="en-US" sz="1800" dirty="0"/>
          </a:p>
        </p:txBody>
      </p:sp>
      <p:sp>
        <p:nvSpPr>
          <p:cNvPr id="25" name="worked-answer"/>
          <p:cNvSpPr/>
          <p:nvPr/>
        </p:nvSpPr>
        <p:spPr>
          <a:xfrm>
            <a:off x="548640" y="5568290"/>
            <a:ext cx="11094415" cy="552196"/>
          </a:xfrm>
          <a:prstGeom prst="roundRect">
            <a:avLst>
              <a:gd name="adj" fmla="val 2483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It leaves at 30° to the normal, parallel to the original ray.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Explaining refraction with wave fronts (Higher)</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Frequency is fixed by the source, so it never changes at a boundary. Speed and wavelength change together.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Think of a beam of light as a set of wave fronts: lines joining the crests, at right angles to the direction of travel, like a row of people marching side by side.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the row meets the glass at an angle, one end reaches the boundary first and slows down while the other end is still in air, moving fast.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frequency of the wave does not change at the boundary, because wave fronts arrive at the same rate they leave.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Required practical: refraction in a glass block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dots far apart on the emergent ray give a more accurate line than one dot close to the block.</a:t>
            </a:r>
            <a:endParaRPr lang="en-US" sz="1800" dirty="0"/>
          </a:p>
        </p:txBody>
      </p:sp>
      <p:sp>
        <p:nvSpPr>
          <p:cNvPr id="11" name="point-card"/>
          <p:cNvSpPr/>
          <p:nvPr/>
        </p:nvSpPr>
        <p:spPr>
          <a:xfrm>
            <a:off x="548640" y="1389888"/>
            <a:ext cx="3515258" cy="3964940"/>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Put the glass (or Perspex) block in the middle of a sheet of paper and draw round it.</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Replace the block exactly on its outline. Shine a narrow ray from the ray box along the incident ray you drew, and mark where the light leaves the far side with two pencil dots.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Draw the normal at the exit point and measure the angle of refraction inside the block and the angle of the emergent ray.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Dispersion, and why a pool looks shallow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5410048" cy="4754880"/>
          </a:xfrm>
          <a:prstGeom prst="roundRect">
            <a:avLst>
              <a:gd name="adj" fmla="val 1154"/>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White light is a mixture of all the colours of the spectrum.</a:t>
            </a:r>
            <a:endParaRPr lang="en-US" sz="2400" dirty="0"/>
          </a:p>
        </p:txBody>
      </p:sp>
      <p:sp>
        <p:nvSpPr>
          <p:cNvPr id="11" name="point-card"/>
          <p:cNvSpPr/>
          <p:nvPr/>
        </p:nvSpPr>
        <p:spPr>
          <a:xfrm>
            <a:off x="6233008" y="1389888"/>
            <a:ext cx="5410048" cy="4754880"/>
          </a:xfrm>
          <a:prstGeom prst="roundRect">
            <a:avLst>
              <a:gd name="adj" fmla="val 1154"/>
            </a:avLst>
          </a:prstGeom>
          <a:solidFill>
            <a:srgbClr val="F3EADB"/>
          </a:solidFill>
          <a:ln/>
        </p:spPr>
      </p:sp>
      <p:sp>
        <p:nvSpPr>
          <p:cNvPr id="12" name="point-hex"/>
          <p:cNvSpPr/>
          <p:nvPr/>
        </p:nvSpPr>
        <p:spPr>
          <a:xfrm>
            <a:off x="6415888" y="1572768"/>
            <a:ext cx="685800" cy="593903"/>
          </a:xfrm>
          <a:prstGeom prst="hexagon">
            <a:avLst/>
          </a:prstGeom>
          <a:solidFill>
            <a:srgbClr val="B8862B"/>
          </a:solidFill>
          <a:ln/>
        </p:spPr>
      </p:sp>
      <p:sp>
        <p:nvSpPr>
          <p:cNvPr id="13"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6415888"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Refraction also plays tricks on your eyes. Light from a coin at the bottom of a pool bends away from the normal as it leaves the water.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Out of the glass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ray of light travels from inside a glass block out into the air, meeting the boundary at an angle. What happens to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speeds up and bends away from the normal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slows down and bends towards the normal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speeds up and bends towards the normal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carries straight on with no change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Same task, three ways in: Out of the glass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ray of light travels from inside a glass block out into the air, meeting the boundary at an angle. What happens to it?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the direction: this ray is going from glass (slow) into air (fast).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Faster means the ray bends away from the normal.</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is the opposite of air to glass, which is slower and towards the normal.</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that has both parts right: speed and direction.</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Into glass: slower, towards. Out of glass: the reverse of both.</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Use the wave front model to explain why the ray bends away from the normal as it leaves the glass. Which end of each wave front speeds up first?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Through a parallel-sided block</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ray enters one face of a parallel-sided Perspex block with an angle of incidence of 40°. It passes through and leaves by the opposite, parallel face. What angle does the emergent ray make with the normal, in degrees?</a:t>
            </a:r>
            <a:endParaRPr lang="en-US" sz="2600" dirty="0"/>
          </a:p>
          <a:p>
            <a:pPr algn="ctr" indent="0" marL="0">
              <a:buNone/>
            </a:pPr>
            <a:r>
              <a:rPr lang="en-US" sz="2400" b="1" dirty="0">
                <a:solidFill>
                  <a:srgbClr val="24366B"/>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Through a parallel-sided block</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Through a parallel-sided block</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At the first face the ray bends towards the normal by some amount.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two faces are parallel, so inside the block the ray meets the second face at the same angle it had after the first bend.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At the second face it bends away from the normal by exactly the same amount.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it comes out at the angle it went in.</a:t>
            </a:r>
            <a:endParaRPr lang="en-US" sz="18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In and out are mirror images of each other. Whatever bend happened at the first face is undone at the second.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ray comes out parallel to where it went in, but not along the same line. Sketch the block and explain why the emergent ray is shifted sideways, and what would make the shift bigger.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refraction?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wave bouncing back from a surface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wave spreading out as it passes through a gap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wave being absorbed by a material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change in direction of a wave as it crosses a boundary between two media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Out of the glass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ray of light travels from inside a glass block out into the air, meeting the boundary at an angle. What happens to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It speeds up and bends away from the normal</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Leaving glass for air the light speeds up, so it bends away from the normal and the angle of refraction is bigger than the angle of incidence. It is the exact reverse of entering the glass.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Through a parallel-sided block</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ray enters one face of a parallel-sided Perspex block with an angle of incidence of 40°. It passes through and leaves by the opposite, parallel face. What angle does the emergent ray make with the normal, in degrees?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bend towards the normal at the first face is reversed at the parallel second face, so the emergent ray is at 40° to the normal and parallel to the incident ray, displaced sideways.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refraction?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change in direction of a wave as it crosses a boundary between two media</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Refraction is the change in direction when a wave crosses a boundary, caused by the change in speed.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 Chapter 2: Refraction: light crossing a boundary</dc:title>
  <dc:subject>Physics (Triple Science) · Year 11</dc:subject>
  <dc:creator>Dr Vitor Merissi de Carvalho</dc:creator>
  <cp:lastModifiedBy>Dr Vitor Merissi de Carvalho</cp:lastModifiedBy>
  <cp:revision>1</cp:revision>
  <dcterms:created xsi:type="dcterms:W3CDTF">2026-10-18T17:47:17Z</dcterms:created>
  <dcterms:modified xsi:type="dcterms:W3CDTF">2026-10-18T17:47:17Z</dcterms:modified>
</cp:coreProperties>
</file>