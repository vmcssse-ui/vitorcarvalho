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44cc442-40cf-42bd-39a8-50a845e43851}">
          <p14:sldIdLst>
            <p14:sldId id="256"/>
          </p14:sldIdLst>
        </p14:section>
        <p14:section name="Gate" id="{1217cc31-c85d-551d-ac6c-bcfe7bd6e9ae}">
          <p14:sldIdLst>
            <p14:sldId id="257"/>
            <p14:sldId id="258"/>
          </p14:sldIdLst>
        </p14:section>
        <p14:section name="Pre-teach" id="{f45e5097-7f83-bdfb-709d-6ff2df2e02ed}">
          <p14:sldIdLst>
            <p14:sldId id="259"/>
            <p14:sldId id="260"/>
          </p14:sldIdLst>
        </p14:section>
        <p14:section name="Read-along" id="{6c096768-0cfb-800c-da71-291ac8765287}">
          <p14:sldIdLst>
            <p14:sldId id="261"/>
            <p14:sldId id="262"/>
          </p14:sldIdLst>
        </p14:section>
        <p14:section name="Teach" id="{9c9180d2-7d4b-0556-b854-c95a1355a04f}">
          <p14:sldIdLst>
            <p14:sldId id="263"/>
            <p14:sldId id="264"/>
            <p14:sldId id="265"/>
            <p14:sldId id="266"/>
            <p14:sldId id="267"/>
          </p14:sldIdLst>
        </p14:section>
        <p14:section name="Routes" id="{f234d07f-314e-4d0e-b51d-1b5ea198cb3c}">
          <p14:sldIdLst>
            <p14:sldId id="268"/>
            <p14:sldId id="269"/>
            <p14:sldId id="270"/>
            <p14:sldId id="271"/>
          </p14:sldIdLst>
        </p14:section>
        <p14:section name="Close" id="{b8794a9c-f346-ce8f-6e87-75f810e1a013}">
          <p14:sldIdLst>
            <p14:sldId id="272"/>
          </p14:sldIdLst>
        </p14:section>
        <p14:section name="Answers" id="{44e08862-4df8-028f-8606-40fd464852c9}">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of 6: Lenses and ray diagrams. What convex and concave lenses do to light, when the image is real or virtual, how to draw the ray diagram, and lenses in cameras and magnifying glasses.
This deck covers the department's lessons: 4 (P14.4 Lenses: What do convex and concave lenses do to light, and how is magnification calculated?); 5 (P14.5 Using lenses: How does a ray diagram show the image a lens makes, in a camera and in a magnifying glass?).
Read the big question aloud: "How does a flat mirror, a glass block or a curved lens change the path of light, and how do we use that to make the images we see?"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does a convex lens do to rays of light that arrive parallel to its axis?  →  A   Brings them together at the principal focus
2. The distance from the centre of a lens to its principal focus is called the ___.  →  focal length
3. What kind of image does a concave lens form?  →  D   Always a virtual image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Brings them together at the principal focus. A convex (converging) lens refracts parallel rays so that they meet at the principal focus.
2. focal length. Focal length is the distance from the lens to the principal focus. It is marked the same on both sides in a ray diagram.
3. D   Always a virtual image. A concave lens diverges the rays, so they never meet after the lens. The image is always virtual, upright and smaller.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convex lens: a lens that is thicker in the middle and brings rays together. Example: "A magnifying glass is a convex lens."
• concave lens: a lens that is thinner in the middle and spreads rays out. Example: "Glasses for short sight use a concave lens."
• principal focus: the point where parallel rays meet after a convex lens. Example: "Sunlight through a convex lens makes a bright spot at the principal focus."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focal length: the distance from the centre of the lens to the principal focus. Example: "A fat lens has a short focal length."
• real image: an image where the rays really meet, so it can go on a screen. Example: "A camera makes a real image on its sensor."
• ray diagram: a scale drawing that uses two rays to find the image. Example: "The ray diagram showed the image was upside down."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 lens is a curved piece of glass or plastic.
2. It forms an image by refracting light.
3. A convex lens is thicker in the middle.
4. It brings parallel rays together at one point.
5. This point is called the principal focus.
6. The distance from the lens to the principal focus is the focal length.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A concave lens is thinner in the middle.
8. It spreads parallel rays out, as if they came from the principal focus.
9. A convex lens can make a real image, which can be caught on a screen.
10. If the object is very close to a convex lens, the image is virtual and magnified.
11. A concave lens always makes a virtual image.
12. A ray diagram shows where the image is and what it is like.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Two kinds of lens. Say it in your own words, then check understanding with a quick question: ask a pupil from the pre-teach group first, since they met these words and ideas before the lesson. Pupils try to recall before you re-explain.
A lens works by refraction. Light bends towards the normal as it enters the glass and away from the normal as it leaves, and because the surfaces are curved, different parts of the lens bend the light by different amounts.
A convex (converging) lens is thicker in the middle than at the edges. Rays arriving parallel to the axis are brought together, or converge, at a single point called the principal focus, F. The distance from the centre of the lens to F is the focal length. A fat, strongly curved lens has a short focal length.
A concave (diverging) lens is thinner in the middle. Parallel rays spread out, or diverge, after passing through it, as if they had come from a principal focus on the incoming side. In diagrams a convex lens is drawn as a line with outward arrowheads at each end, and a concave lens as a line with inward arrowheads; the principal focus is marked at the same distance on both sides.
Tip: ConVEX: thick in the middle, conVERGES. ConCAVE: thin in the middle, like a cave, dIVERGES.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Real or virtual? The lens rules. Say it in your own words, then check understanding with a quick question: ask a pupil from the pre-teach group first, since they met these words and ideas before the lesson. Pupils try to recall before you re-explain.
Where the image forms, and what it is like, depends on where the object is compared with the principal focus. For a convex lens: if the object is further from the lens than F, the rays that pass through the lens really do meet on the other side and form a real image. It is inverted (upside down) and it can be caught on a screen. In a camera the object is far away and the real image is much smaller than the object; if the object is between F and 2F, the real image is larger, which is how a projector works.
If the object is nearer to the lens than F, the rays leaving the lens are still spreading out, so they never meet. Your eye traces them back and sees a virtual image on the same side as the object: upright, magnified, and impossible to put on a screen. This is how a magnifying glass works.
A concave lens always makes a virtual image, whatever the object distance: upright, smaller than the object, and on the same side of the lens as the object.
Worked example — model it step by step, thinking aloud: An object is placed 15 cm from a convex lens that has a focal length of 10 cm. Is the image real or virtual, and which way up is it? (1) Compare the object distance with the focal length: the object is further from the lens than the principal focus. (2) For a convex lens, an object beyond F means the refracted rays really meet on the far side. (3) So the image is real, and real images from a convex lens are inverted. Answer: A real, inverted image, which could be caught on a screen..
Tip: Convex lens: object beyond F gives real and inverted; object inside F gives virtual, upright and magnified. Concave lens: always virtual.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Real or virtual? The lens rules. Say it in your own words, then check understanding with a quick question: ask a pupil from the pre-teach group first, since they met these words and ideas before the lesson. Pupils try to recall before you re-explain.
Where the image forms, and what it is like, depends on where the object is compared with the principal focus. For a convex lens: if the object is further from the lens than F, the rays that pass through the lens really do meet on the other side and form a real image. It is inverted (upside down) and it can be caught on a screen. In a camera the object is far away and the real image is much smaller than the object; if the object is between F and 2F, the real image is larger, which is how a projector works.
If the object is nearer to the lens than F, the rays leaving the lens are still spreading out, so they never meet. Your eye traces them back and sees a virtual image on the same side as the object: upright, magnified, and impossible to put on a screen. This is how a magnifying glass works.
A concave lens always makes a virtual image, whatever the object distance: upright, smaller than the object, and on the same side of the lens as the object.
Worked example — model it step by step, thinking aloud: An object is placed 15 cm from a convex lens that has a focal length of 10 cm. Is the image real or virtual, and which way up is it? (1) Compare the object distance with the focal length: the object is further from the lens than the principal focus. (2) For a convex lens, an object beyond F means the refracted rays really meet on the far side. (3) So the image is real, and real images from a convex lens are inverted. Answer: A real, inverted image, which could be caught on a screen..
Tip: Convex lens: object beyond F gives real and inverted; object inside F gives virtual, upright and magnified. Concave lens: always virtual.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Drawing a ray diagram. Say it in your own words, then check understanding with a quick question: ask a pupil from the pre-teach group first, since they met these words and ideas before the lesson. Pupils try to recall before you re-explain.
A ray diagram finds the image using two special rays from the top of the object. Draw the principal axis, a vertical line for the lens, and mark F on both sides at the focal length. Draw the object as an upright arrow standing on the axis.
Ray 1 leaves the top of the object parallel to the axis; at the lens it refracts and passes through F on the far side. Ray 2 passes through the centre of the lens and carries straight on without bending. Where the two rays cross is the top of the image; draw the image arrow from the axis to that point. If the object is beyond F the rays cross on the far side (real, inverted). If the object is inside F the rays diverge: extend them backwards with dotted lines until they meet on the object's side (virtual, upright).
For a concave lens, Ray 1 leaves the lens as if it came from F on the incoming side (extend it back with a dotted line), and Ray 2 again goes straight through the centre. The dotted ray and the straight ray meet on the object's side: a virtual, upright, smaller image.
Tip: Use a ruler and a sharp pencil. Dotted lines for rays that are traced back, solid for rays that really travel.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Lenses at work. Say it in your own words, then check understanding with a quick question: ask a pupil from the pre-teach group first, since they met these words and ideas before the lesson. Pupils try to recall before you re-explain.
A camera uses a convex lens to form a real, inverted, diminished image of a distant scene on the sensor or film. Moving the lens forwards or backwards changes where the image lands, so that it is sharp. Your eye does the same job with its own convex lens, forming a real, inverted image on the retina that your brain turns the right way up.
A magnifying glass is a convex lens held close to a small object, inside its focal length, so the image is virtual, upright and magnified. Microscopes and telescopes combine lenses to magnify further.
Your lessons also look at glasses. A short-sighted eye focuses light before it reaches the retina, so a concave lens is used to spread the rays slightly first. A long-sighted eye focuses too late, so a convex lens helps to bring the rays together. The eye itself is not examined on AQA 8463, but the lens rules behind it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Inside the focal length.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small beetle is placed closer to a convex lens than its principal focus. Which describes the image?
Support — work through the steps with the group: (1) Where is the object: beyond F or inside F? Here, inside F. (2) Inside F, the rays leaving a convex lens spread out and never meet. (3) Your eye traces them back to a virtual image on the object's side. (4) That image is upright and bigger than the object: the magnifying glass.
Parallel worked example for Support (model it, do not give the task answer): A tree far away is viewed through a convex lens. Describe the image. The tree is far beyond F.; The rays meet on the far side: a real image.; Real images from a convex lens are inverted, and a distant object gives a small one.. Answer: Real, inverted and smaller than the tree..
Core — reveal the hint only on request: Inside F is the magnifying-glass case.
Stretch — no help; when finished: Draw the ray diagram for this case, using dotted lines where you trace the rays back, and explain why the image appears on the same side of the lens as the beetle.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Inside the focal length.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small beetle is placed closer to a convex lens than its principal focus. Which describes the image?
Support — work through the steps with the group: (1) Where is the object: beyond F or inside F? Here, inside F. (2) Inside F, the rays leaving a convex lens spread out and never meet. (3) Your eye traces them back to a virtual image on the object's side. (4) That image is upright and bigger than the object: the magnifying glass.
Parallel worked example for Support (model it, do not give the task answer): A tree far away is viewed through a convex lens. Describe the image. The tree is far beyond F.; The rays meet on the far side: a real image.; Real images from a convex lens are inverted, and a distant object gives a small one.. Answer: Real, inverted and smaller than the tree..
Core — reveal the hint only on request: Inside F is the magnifying-glass case.
Stretch — no help; when finished: Draw the ray diagram for this case, using dotted lines where you trace the rays back, and explain why the image appears on the same side of the lens as the beetle.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image, which device?.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use of a lens to the image it forms.
Support — work through the steps with the group: (1) Concave lens: always virtual, upright, smaller. Match that one first. (2) Convex with object inside F: virtual, upright, magnified (the magnifying glass). (3) Convex with object beyond F: real and inverted. Far away gives small; between F and 2F gives large. (4) Real goes with inverted; virtual goes with upright.
Parallel worked example for Support (model it, do not give the task answer): Which image does the eye form on the retina, and is it like a camera or a magnifying glass? The eye's lens is convex and the object is well beyond F.; So the image is real and inverted, and smaller.; That is the camera case.. Answer: Real, inverted and smaller: like a camera..
Core — reveal the hint only on request: Real pairs with inverted; virtual pairs with upright. Then decide bigger or smaller.
Stretch — no help; when finished: Explain why a camera can record its image on a sensor but a magnifying glass cannot project its image onto a piece of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image, which device?.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use of a lens to the image it forms.
Support — work through the steps with the group: (1) Concave lens: always virtual, upright, smaller. Match that one first. (2) Convex with object inside F: virtual, upright, magnified (the magnifying glass). (3) Convex with object beyond F: real and inverted. Far away gives small; between F and 2F gives large. (4) Real goes with inverted; virtual goes with upright.
Parallel worked example for Support (model it, do not give the task answer): Which image does the eye form on the retina, and is it like a camera or a magnifying glass? The eye's lens is convex and the object is well beyond F.; So the image is real and inverted, and smaller.; That is the camera case.. Answer: Real, inverted and smaller: like a camera..
Core — reveal the hint only on request: Real pairs with inverted; virtual pairs with upright. Then decide bigger or smaller.
Stretch — no help; when finished: Explain why a camera can record its image on a sensor but a magnifying glass cannot project its image onto a piece of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does a convex lens do to rays of light that arrive parallel to its axis?
Answer: D   Brings them together at the principal focus. A convex (converging) lens refracts parallel rays so that they meet at the principal focus.
Source of this question: gate item 1 re-asked (options rotated) — this chapter has no third quick-check module.
The ebook also holds task 3, "Build the ray diagram",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Inside the focal length. Reveal the answer; pupils mark their own work in a different colour, then read the "why" together. Same destination for every lane, so one answer serves the whole class.
Answer: A   Virtual, upright and magnified
Why: With the object inside the focal length of a convex lens the refracted rays diverge, so the image is virtual, on the same side as the object, upright and magnified.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image, which device?. Reveal the answer; pupils mark their own work in a different colour, then read the "why" together. Same destination for every lane, so one answer serves the whole class.
Answer: Camera: convex lens, object far away  →  C  Real, inverted and smaller than the object; Magnifying glass: convex lens, object inside F  →  D  Virtual, upright and larger than the object; Concave lens, any object distance  →  B  Virtual, upright and smaller than the object; Projector: convex lens, object between F and 2F  →  A  Real, inverted and larger than the object
Why: Camera: real, inverted, diminished. Magnifying glass: virtual, upright, magnified. Concave lens: virtual, upright, diminished. Projector: real, inverted, magnified. Real images are always inverted; virtual ones upright.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Brings them together at the principal focus
Why: A convex (converging) lens refracts parallel rays so that they meet at the principal focus.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Light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Light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4366B"/>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8CD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4366B"/>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4</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4366B"/>
                </a:solidFill>
                <a:latin typeface="Calibri" pitchFamily="34" charset="0"/>
                <a:ea typeface="Calibri" pitchFamily="34" charset="-122"/>
                <a:cs typeface="Calibri" pitchFamily="34" charset="-120"/>
              </a:rPr>
              <a:t>Physics (Triple Science)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4/6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Light · AQA 8463</a:t>
            </a:r>
            <a:endParaRPr lang="en-US" sz="1800" dirty="0"/>
          </a:p>
        </p:txBody>
      </p:sp>
      <p:sp>
        <p:nvSpPr>
          <p:cNvPr id="10" name="deck-title"/>
          <p:cNvSpPr txBox="1"/>
          <p:nvPr/>
        </p:nvSpPr>
        <p:spPr>
          <a:xfrm>
            <a:off x="548640" y="221919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Lenses and ray diagrams</a:t>
            </a:r>
            <a:endParaRPr lang="en-US" sz="4000" dirty="0"/>
          </a:p>
        </p:txBody>
      </p:sp>
      <p:sp>
        <p:nvSpPr>
          <p:cNvPr id="11" name="lessons-card"/>
          <p:cNvSpPr/>
          <p:nvPr/>
        </p:nvSpPr>
        <p:spPr>
          <a:xfrm>
            <a:off x="548640" y="3895598"/>
            <a:ext cx="5287975" cy="1328420"/>
          </a:xfrm>
          <a:prstGeom prst="roundRect">
            <a:avLst>
              <a:gd name="adj" fmla="val 5507"/>
            </a:avLst>
          </a:prstGeom>
          <a:solidFill>
            <a:srgbClr val="DEE1E9"/>
          </a:solidFill>
          <a:ln/>
        </p:spPr>
      </p:sp>
      <p:sp>
        <p:nvSpPr>
          <p:cNvPr id="12" name="lessons"/>
          <p:cNvSpPr txBox="1"/>
          <p:nvPr/>
        </p:nvSpPr>
        <p:spPr>
          <a:xfrm>
            <a:off x="685800" y="3987038"/>
            <a:ext cx="5013655" cy="11455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4366B"/>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P14.4 Lenses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P14.5 Using lenses</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Physics (Triple Science),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DEE1E9"/>
          </a:solidFill>
          <a:ln w="12700">
            <a:solidFill>
              <a:srgbClr val="9CA5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a flat mirror, a glass block or a curved lens change the path of light, and how do we use that to make the images we see?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490712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What does a convex lens do to rays of light that arrive parallel to its axis?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Brings them together at the principal focus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Lets them pass through without changing direction</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Spreads them out as if they came from the principal focus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Reflects them back the way they came</a:t>
            </a:r>
            <a:endParaRPr lang="en-US" sz="2000" dirty="0"/>
          </a:p>
        </p:txBody>
      </p:sp>
      <p:sp>
        <p:nvSpPr>
          <p:cNvPr id="12" name="card"/>
          <p:cNvSpPr/>
          <p:nvPr/>
        </p:nvSpPr>
        <p:spPr>
          <a:xfrm>
            <a:off x="6095848" y="1389888"/>
            <a:ext cx="2636444" cy="4754880"/>
          </a:xfrm>
          <a:prstGeom prst="roundRect">
            <a:avLst>
              <a:gd name="adj" fmla="val 2081"/>
            </a:avLst>
          </a:prstGeom>
          <a:solidFill>
            <a:srgbClr val="E5E7ED"/>
          </a:solidFill>
          <a:ln w="12700">
            <a:solidFill>
              <a:srgbClr val="A7AFC4"/>
            </a:solidFill>
            <a:prstDash val="solid"/>
          </a:ln>
        </p:spPr>
      </p:sp>
      <p:sp>
        <p:nvSpPr>
          <p:cNvPr id="13" name="card-hex"/>
          <p:cNvSpPr/>
          <p:nvPr/>
        </p:nvSpPr>
        <p:spPr>
          <a:xfrm>
            <a:off x="6278728" y="1572768"/>
            <a:ext cx="640080" cy="554309"/>
          </a:xfrm>
          <a:prstGeom prst="hexagon">
            <a:avLst/>
          </a:prstGeom>
          <a:solidFill>
            <a:srgbClr val="24366B"/>
          </a:solidFill>
          <a:ln/>
        </p:spPr>
      </p:sp>
      <p:sp>
        <p:nvSpPr>
          <p:cNvPr id="14"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278728"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The distance from the centre of a lens to its principal focus is called the ___.</a:t>
            </a:r>
            <a:endParaRPr lang="en-US" sz="2200" dirty="0"/>
          </a:p>
          <a:p>
            <a:pPr algn="l" indent="0" marL="0">
              <a:buNone/>
            </a:pPr>
            <a:r>
              <a:rPr lang="en-US" sz="2200" b="1" dirty="0">
                <a:solidFill>
                  <a:srgbClr val="24366B"/>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focal length  ·  optical axis  ·  object distance</a:t>
            </a:r>
            <a:endParaRPr lang="en-US" sz="2200" dirty="0"/>
          </a:p>
        </p:txBody>
      </p:sp>
      <p:sp>
        <p:nvSpPr>
          <p:cNvPr id="17" name="card"/>
          <p:cNvSpPr/>
          <p:nvPr/>
        </p:nvSpPr>
        <p:spPr>
          <a:xfrm>
            <a:off x="9006611" y="1389888"/>
            <a:ext cx="2636444" cy="4754880"/>
          </a:xfrm>
          <a:prstGeom prst="roundRect">
            <a:avLst>
              <a:gd name="adj" fmla="val 2081"/>
            </a:avLst>
          </a:prstGeom>
          <a:solidFill>
            <a:srgbClr val="E5E7ED"/>
          </a:solidFill>
          <a:ln w="12700">
            <a:solidFill>
              <a:srgbClr val="A7AFC4"/>
            </a:solidFill>
            <a:prstDash val="solid"/>
          </a:ln>
        </p:spPr>
      </p:sp>
      <p:sp>
        <p:nvSpPr>
          <p:cNvPr id="18" name="card-hex"/>
          <p:cNvSpPr/>
          <p:nvPr/>
        </p:nvSpPr>
        <p:spPr>
          <a:xfrm>
            <a:off x="9189491" y="1572768"/>
            <a:ext cx="640080" cy="554309"/>
          </a:xfrm>
          <a:prstGeom prst="hexagon">
            <a:avLst/>
          </a:prstGeom>
          <a:solidFill>
            <a:srgbClr val="24366B"/>
          </a:solidFill>
          <a:ln/>
        </p:spPr>
      </p:sp>
      <p:sp>
        <p:nvSpPr>
          <p:cNvPr id="19"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9189491"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What kind of image does a concave lens form?</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real image if the object is far away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Always a real image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 real image if the object is close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Always a virtual image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272888" cy="4754880"/>
          </a:xfrm>
          <a:prstGeom prst="roundRect">
            <a:avLst>
              <a:gd name="adj" fmla="val 1154"/>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26704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4907128" cy="955040"/>
          </a:xfrm>
          <a:prstGeom prst="roundRect">
            <a:avLst>
              <a:gd name="adj" fmla="val 11489"/>
            </a:avLst>
          </a:prstGeom>
          <a:solidFill>
            <a:srgbClr val="EADBBF"/>
          </a:solidFill>
          <a:ln w="19050">
            <a:solidFill>
              <a:srgbClr val="B8862B"/>
            </a:solidFill>
            <a:prstDash val="solid"/>
          </a:ln>
        </p:spPr>
      </p:sp>
      <p:sp>
        <p:nvSpPr>
          <p:cNvPr id="12" name="answer"/>
          <p:cNvSpPr txBox="1"/>
          <p:nvPr/>
        </p:nvSpPr>
        <p:spPr>
          <a:xfrm>
            <a:off x="822960" y="2428829"/>
            <a:ext cx="472424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Brings them together at the principal focus</a:t>
            </a:r>
            <a:endParaRPr lang="en-US" sz="2200" dirty="0"/>
          </a:p>
        </p:txBody>
      </p:sp>
      <p:sp>
        <p:nvSpPr>
          <p:cNvPr id="13" name="card-body"/>
          <p:cNvSpPr txBox="1"/>
          <p:nvPr/>
        </p:nvSpPr>
        <p:spPr>
          <a:xfrm>
            <a:off x="731520" y="3493597"/>
            <a:ext cx="4907128"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What does a convex lens do to rays of light that arrive parallel to its axis?</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A convex (converging) lens refracts parallel rays so that they meet at the principal focus.</a:t>
            </a:r>
            <a:endParaRPr lang="en-US" sz="2200" dirty="0"/>
          </a:p>
        </p:txBody>
      </p:sp>
      <p:sp>
        <p:nvSpPr>
          <p:cNvPr id="14" name="card"/>
          <p:cNvSpPr/>
          <p:nvPr/>
        </p:nvSpPr>
        <p:spPr>
          <a:xfrm>
            <a:off x="6095848" y="1389888"/>
            <a:ext cx="2636444" cy="4754880"/>
          </a:xfrm>
          <a:prstGeom prst="roundRect">
            <a:avLst>
              <a:gd name="adj" fmla="val 2081"/>
            </a:avLst>
          </a:prstGeom>
          <a:solidFill>
            <a:srgbClr val="E5E7ED"/>
          </a:solidFill>
          <a:ln w="12700">
            <a:solidFill>
              <a:srgbClr val="A7AFC4"/>
            </a:solidFill>
            <a:prstDash val="solid"/>
          </a:ln>
        </p:spPr>
      </p:sp>
      <p:sp>
        <p:nvSpPr>
          <p:cNvPr id="15" name="card-hex"/>
          <p:cNvSpPr/>
          <p:nvPr/>
        </p:nvSpPr>
        <p:spPr>
          <a:xfrm>
            <a:off x="6278728" y="1572768"/>
            <a:ext cx="640080" cy="554309"/>
          </a:xfrm>
          <a:prstGeom prst="hexagon">
            <a:avLst/>
          </a:prstGeom>
          <a:solidFill>
            <a:srgbClr val="24366B"/>
          </a:solidFill>
          <a:ln/>
        </p:spPr>
      </p:sp>
      <p:sp>
        <p:nvSpPr>
          <p:cNvPr id="16" name="card-hex-label"/>
          <p:cNvSpPr txBox="1"/>
          <p:nvPr/>
        </p:nvSpPr>
        <p:spPr>
          <a:xfrm>
            <a:off x="627872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7010248"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6278728" y="2355677"/>
            <a:ext cx="2270684"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6370168"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focal length</a:t>
            </a:r>
            <a:endParaRPr lang="en-US" sz="2200" dirty="0"/>
          </a:p>
        </p:txBody>
      </p:sp>
      <p:sp>
        <p:nvSpPr>
          <p:cNvPr id="20" name="card-body"/>
          <p:cNvSpPr txBox="1"/>
          <p:nvPr/>
        </p:nvSpPr>
        <p:spPr>
          <a:xfrm>
            <a:off x="6278728" y="3152729"/>
            <a:ext cx="2270684"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Focal length is the distance from the lens to the principal focus. It is marked the same on both sides in a ray diagram.</a:t>
            </a:r>
            <a:endParaRPr lang="en-US" sz="1800" dirty="0"/>
          </a:p>
        </p:txBody>
      </p:sp>
      <p:sp>
        <p:nvSpPr>
          <p:cNvPr id="21" name="card"/>
          <p:cNvSpPr/>
          <p:nvPr/>
        </p:nvSpPr>
        <p:spPr>
          <a:xfrm>
            <a:off x="9006611" y="1389888"/>
            <a:ext cx="2636444" cy="4754880"/>
          </a:xfrm>
          <a:prstGeom prst="roundRect">
            <a:avLst>
              <a:gd name="adj" fmla="val 2081"/>
            </a:avLst>
          </a:prstGeom>
          <a:solidFill>
            <a:srgbClr val="E5E7ED"/>
          </a:solidFill>
          <a:ln w="12700">
            <a:solidFill>
              <a:srgbClr val="A7AFC4"/>
            </a:solidFill>
            <a:prstDash val="solid"/>
          </a:ln>
        </p:spPr>
      </p:sp>
      <p:sp>
        <p:nvSpPr>
          <p:cNvPr id="22" name="card-hex"/>
          <p:cNvSpPr/>
          <p:nvPr/>
        </p:nvSpPr>
        <p:spPr>
          <a:xfrm>
            <a:off x="9189491" y="1572768"/>
            <a:ext cx="640080" cy="554309"/>
          </a:xfrm>
          <a:prstGeom prst="hexagon">
            <a:avLst/>
          </a:prstGeom>
          <a:solidFill>
            <a:srgbClr val="24366B"/>
          </a:solidFill>
          <a:ln/>
        </p:spPr>
      </p:sp>
      <p:sp>
        <p:nvSpPr>
          <p:cNvPr id="23" name="card-hex-label"/>
          <p:cNvSpPr txBox="1"/>
          <p:nvPr/>
        </p:nvSpPr>
        <p:spPr>
          <a:xfrm>
            <a:off x="9189491"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921011"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9189491" y="2355677"/>
            <a:ext cx="2270684" cy="955040"/>
          </a:xfrm>
          <a:prstGeom prst="roundRect">
            <a:avLst>
              <a:gd name="adj" fmla="val 11489"/>
            </a:avLst>
          </a:prstGeom>
          <a:solidFill>
            <a:srgbClr val="EADBBF"/>
          </a:solidFill>
          <a:ln w="19050">
            <a:solidFill>
              <a:srgbClr val="B8862B"/>
            </a:solidFill>
            <a:prstDash val="solid"/>
          </a:ln>
        </p:spPr>
      </p:sp>
      <p:sp>
        <p:nvSpPr>
          <p:cNvPr id="26" name="answer"/>
          <p:cNvSpPr txBox="1"/>
          <p:nvPr/>
        </p:nvSpPr>
        <p:spPr>
          <a:xfrm>
            <a:off x="9280931" y="2428829"/>
            <a:ext cx="2087804"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Always a virtual image</a:t>
            </a:r>
            <a:endParaRPr lang="en-US" sz="2200" dirty="0"/>
          </a:p>
        </p:txBody>
      </p:sp>
      <p:sp>
        <p:nvSpPr>
          <p:cNvPr id="27" name="card-body"/>
          <p:cNvSpPr txBox="1"/>
          <p:nvPr/>
        </p:nvSpPr>
        <p:spPr>
          <a:xfrm>
            <a:off x="9189491" y="3493597"/>
            <a:ext cx="2270684" cy="2514011"/>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 concave lens diverges the rays, so they never meet after the lens. The image is always virtual, upright and smaller.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3E5EC"/>
          </a:solidFill>
          <a:ln w="12700">
            <a:solidFill>
              <a:srgbClr val="9CA5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convex lens</a:t>
            </a:r>
            <a:endParaRPr lang="en-US" sz="2600" dirty="0"/>
          </a:p>
        </p:txBody>
      </p:sp>
      <p:sp>
        <p:nvSpPr>
          <p:cNvPr id="11" name="word-rule"/>
          <p:cNvSpPr/>
          <p:nvPr/>
        </p:nvSpPr>
        <p:spPr>
          <a:xfrm>
            <a:off x="731520" y="2129028"/>
            <a:ext cx="3149498" cy="0"/>
          </a:xfrm>
          <a:prstGeom prst="line">
            <a:avLst/>
          </a:prstGeom>
          <a:ln w="12700">
            <a:solidFill>
              <a:srgbClr val="9CA5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lens that is thicker in the middle and brings rays together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magnifying glass is a convex lens.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3E5EC"/>
          </a:solidFill>
          <a:ln w="12700">
            <a:solidFill>
              <a:srgbClr val="9CA5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concave lens</a:t>
            </a:r>
            <a:endParaRPr lang="en-US" sz="2600" dirty="0"/>
          </a:p>
        </p:txBody>
      </p:sp>
      <p:sp>
        <p:nvSpPr>
          <p:cNvPr id="17" name="word-rule"/>
          <p:cNvSpPr/>
          <p:nvPr/>
        </p:nvSpPr>
        <p:spPr>
          <a:xfrm>
            <a:off x="4521098" y="2129028"/>
            <a:ext cx="3149498" cy="0"/>
          </a:xfrm>
          <a:prstGeom prst="line">
            <a:avLst/>
          </a:prstGeom>
          <a:ln w="12700">
            <a:solidFill>
              <a:srgbClr val="9CA5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lens that is thinner in the middle and spreads rays out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Glasses for short sight use a concave lens.</a:t>
            </a:r>
            <a:endParaRPr lang="en-US" sz="2200" dirty="0"/>
          </a:p>
        </p:txBody>
      </p:sp>
      <p:sp>
        <p:nvSpPr>
          <p:cNvPr id="19" name="word-card"/>
          <p:cNvSpPr/>
          <p:nvPr/>
        </p:nvSpPr>
        <p:spPr>
          <a:xfrm>
            <a:off x="8127797" y="1389888"/>
            <a:ext cx="3515258" cy="4754880"/>
          </a:xfrm>
          <a:prstGeom prst="roundRect">
            <a:avLst>
              <a:gd name="adj" fmla="val 1561"/>
            </a:avLst>
          </a:prstGeom>
          <a:solidFill>
            <a:srgbClr val="E3E5EC"/>
          </a:solidFill>
          <a:ln w="12700">
            <a:solidFill>
              <a:srgbClr val="9CA5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principal focus</a:t>
            </a:r>
            <a:endParaRPr lang="en-US" sz="2600" dirty="0"/>
          </a:p>
        </p:txBody>
      </p:sp>
      <p:sp>
        <p:nvSpPr>
          <p:cNvPr id="23" name="word-rule"/>
          <p:cNvSpPr/>
          <p:nvPr/>
        </p:nvSpPr>
        <p:spPr>
          <a:xfrm>
            <a:off x="8310677" y="2129028"/>
            <a:ext cx="3149498" cy="0"/>
          </a:xfrm>
          <a:prstGeom prst="line">
            <a:avLst/>
          </a:prstGeom>
          <a:ln w="12700">
            <a:solidFill>
              <a:srgbClr val="9CA5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point where parallel rays meet after a convex lens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Sunlight through a convex lens makes a bright spot at the principal focus.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3E5EC"/>
          </a:solidFill>
          <a:ln w="12700">
            <a:solidFill>
              <a:srgbClr val="9CA5BC"/>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focal length</a:t>
            </a:r>
            <a:endParaRPr lang="en-US" sz="2600" dirty="0"/>
          </a:p>
        </p:txBody>
      </p:sp>
      <p:sp>
        <p:nvSpPr>
          <p:cNvPr id="11" name="word-rule"/>
          <p:cNvSpPr/>
          <p:nvPr/>
        </p:nvSpPr>
        <p:spPr>
          <a:xfrm>
            <a:off x="731520" y="2129028"/>
            <a:ext cx="3149498" cy="0"/>
          </a:xfrm>
          <a:prstGeom prst="line">
            <a:avLst/>
          </a:prstGeom>
          <a:ln w="12700">
            <a:solidFill>
              <a:srgbClr val="9CA5BC"/>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distance from the centre of the lens to the principal focus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fat lens has a short focal length.</a:t>
            </a:r>
            <a:endParaRPr lang="en-US" sz="2200" dirty="0"/>
          </a:p>
        </p:txBody>
      </p:sp>
      <p:sp>
        <p:nvSpPr>
          <p:cNvPr id="13" name="word-card"/>
          <p:cNvSpPr/>
          <p:nvPr/>
        </p:nvSpPr>
        <p:spPr>
          <a:xfrm>
            <a:off x="4338218" y="1389888"/>
            <a:ext cx="3515258" cy="4754880"/>
          </a:xfrm>
          <a:prstGeom prst="roundRect">
            <a:avLst>
              <a:gd name="adj" fmla="val 1561"/>
            </a:avLst>
          </a:prstGeom>
          <a:solidFill>
            <a:srgbClr val="E3E5EC"/>
          </a:solidFill>
          <a:ln w="12700">
            <a:solidFill>
              <a:srgbClr val="9CA5BC"/>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real image</a:t>
            </a:r>
            <a:endParaRPr lang="en-US" sz="2600" dirty="0"/>
          </a:p>
        </p:txBody>
      </p:sp>
      <p:sp>
        <p:nvSpPr>
          <p:cNvPr id="17" name="word-rule"/>
          <p:cNvSpPr/>
          <p:nvPr/>
        </p:nvSpPr>
        <p:spPr>
          <a:xfrm>
            <a:off x="4521098" y="2129028"/>
            <a:ext cx="3149498" cy="0"/>
          </a:xfrm>
          <a:prstGeom prst="line">
            <a:avLst/>
          </a:prstGeom>
          <a:ln w="12700">
            <a:solidFill>
              <a:srgbClr val="9CA5BC"/>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an image where the rays really meet, so it can go on a screen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camera makes a real image on its sensor.</a:t>
            </a:r>
            <a:endParaRPr lang="en-US" sz="2200" dirty="0"/>
          </a:p>
        </p:txBody>
      </p:sp>
      <p:sp>
        <p:nvSpPr>
          <p:cNvPr id="19" name="word-card"/>
          <p:cNvSpPr/>
          <p:nvPr/>
        </p:nvSpPr>
        <p:spPr>
          <a:xfrm>
            <a:off x="8127797" y="1389888"/>
            <a:ext cx="3515258" cy="4754880"/>
          </a:xfrm>
          <a:prstGeom prst="roundRect">
            <a:avLst>
              <a:gd name="adj" fmla="val 1561"/>
            </a:avLst>
          </a:prstGeom>
          <a:solidFill>
            <a:srgbClr val="E3E5EC"/>
          </a:solidFill>
          <a:ln w="12700">
            <a:solidFill>
              <a:srgbClr val="9CA5BC"/>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ray diagram</a:t>
            </a:r>
            <a:endParaRPr lang="en-US" sz="2600" dirty="0"/>
          </a:p>
        </p:txBody>
      </p:sp>
      <p:sp>
        <p:nvSpPr>
          <p:cNvPr id="23" name="word-rule"/>
          <p:cNvSpPr/>
          <p:nvPr/>
        </p:nvSpPr>
        <p:spPr>
          <a:xfrm>
            <a:off x="8310677" y="2129028"/>
            <a:ext cx="3149498" cy="0"/>
          </a:xfrm>
          <a:prstGeom prst="line">
            <a:avLst/>
          </a:prstGeom>
          <a:ln w="12700">
            <a:solidFill>
              <a:srgbClr val="9CA5BC"/>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scale drawing that uses two rays to find the image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ray diagram showed the image was upside down.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lens is a curved piece of glass or plastic.</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forms an image by refracting light.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convex lens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thicker in the middle.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brings parallel rays together at one point.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point is called 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principal focus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distance from the lens to 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principal focus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focal length</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concave lens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thinner in the middle.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It spreads parallel rays out, as if they came from 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principal focus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convex lens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can make 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real image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which can be caught on a screen.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If the object is very close to 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convex lens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the image is virtual and magnified.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concave lens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always makes a virtual image.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ray diagram</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shows where the image is and what it is like.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Two kinds of lens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1E7D5"/>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ConVEX: thick in the middle, conVERGES. ConCAVE: thin in the middle, like a cave, dIVERGES.</a:t>
            </a:r>
            <a:endParaRPr lang="en-US" sz="1800" dirty="0"/>
          </a:p>
        </p:txBody>
      </p:sp>
      <p:sp>
        <p:nvSpPr>
          <p:cNvPr id="11" name="point-card"/>
          <p:cNvSpPr/>
          <p:nvPr/>
        </p:nvSpPr>
        <p:spPr>
          <a:xfrm>
            <a:off x="548640" y="1389888"/>
            <a:ext cx="3515258" cy="3964940"/>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lens works by refraction. Light bends towards the normal as it enters the glass and away from the normal as it leaves, and because the surfaces are curved, different parts of the lens bend the light by different amounts.</a:t>
            </a:r>
            <a:endParaRPr lang="en-US" sz="1800" dirty="0"/>
          </a:p>
        </p:txBody>
      </p:sp>
      <p:sp>
        <p:nvSpPr>
          <p:cNvPr id="15" name="point-card"/>
          <p:cNvSpPr/>
          <p:nvPr/>
        </p:nvSpPr>
        <p:spPr>
          <a:xfrm>
            <a:off x="4338218" y="1389888"/>
            <a:ext cx="3515258" cy="3964940"/>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convex (converging) lens is thicker in the middle than at the edges.</a:t>
            </a:r>
            <a:endParaRPr lang="en-US" sz="1800" dirty="0"/>
          </a:p>
        </p:txBody>
      </p:sp>
      <p:sp>
        <p:nvSpPr>
          <p:cNvPr id="19" name="point-card"/>
          <p:cNvSpPr/>
          <p:nvPr/>
        </p:nvSpPr>
        <p:spPr>
          <a:xfrm>
            <a:off x="8127797" y="1389888"/>
            <a:ext cx="3515258" cy="3964940"/>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concave (diverging) lens is thinner in the middle. Parallel rays spread out, or diverge, after passing through it, as if they had come from a principal focus on the incoming side.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Real or virtual? The lens rules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Convex lens: object beyond F gives real and inverted; object inside F gives virtual, upright and magnified. Concave lens: always virtual.</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Where the image forms, and what it is like, depends on where the object is compared with the principal focus.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If the object is nearer to the lens than F, the rays leaving the lens are still spreading out, so they never meet.</a:t>
            </a:r>
            <a:endParaRPr lang="en-US" sz="22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concave lens always makes a virtual image, whatever the object distance: upright, smaller than the object, and on the same side of the lens as the object.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4366B"/>
                </a:solidFill>
                <a:latin typeface="Cambria" pitchFamily="34" charset="0"/>
                <a:ea typeface="Cambria" pitchFamily="34" charset="-122"/>
                <a:cs typeface="Cambria" pitchFamily="34" charset="-120"/>
              </a:rPr>
              <a:t>Worked example: Real or virtual? The lens rules</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DEE1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An object is placed 15 cm from a convex lens that has a focal length of 10 cm. Is the image real or virtual, and which way up is it?</a:t>
            </a:r>
            <a:endParaRPr lang="en-US" sz="2200" dirty="0"/>
          </a:p>
        </p:txBody>
      </p:sp>
      <p:sp>
        <p:nvSpPr>
          <p:cNvPr id="9" name="step-box"/>
          <p:cNvSpPr/>
          <p:nvPr/>
        </p:nvSpPr>
        <p:spPr>
          <a:xfrm>
            <a:off x="548640" y="2655824"/>
            <a:ext cx="3423818" cy="1974088"/>
          </a:xfrm>
          <a:prstGeom prst="roundRect">
            <a:avLst>
              <a:gd name="adj" fmla="val 3706"/>
            </a:avLst>
          </a:prstGeom>
          <a:solidFill>
            <a:srgbClr val="FFFFFF"/>
          </a:solidFill>
          <a:ln w="15875">
            <a:solidFill>
              <a:srgbClr val="8790AE"/>
            </a:solidFill>
            <a:prstDash val="solid"/>
          </a:ln>
        </p:spPr>
      </p:sp>
      <p:sp>
        <p:nvSpPr>
          <p:cNvPr id="10" name="step-hex"/>
          <p:cNvSpPr/>
          <p:nvPr/>
        </p:nvSpPr>
        <p:spPr>
          <a:xfrm>
            <a:off x="685800" y="2765552"/>
            <a:ext cx="530352" cy="459285"/>
          </a:xfrm>
          <a:prstGeom prst="hexagon">
            <a:avLst/>
          </a:prstGeom>
          <a:solidFill>
            <a:srgbClr val="24366B"/>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Compare the object distance with the focal length: the object is further from the lens than the principal focus.</a:t>
            </a:r>
            <a:endParaRPr lang="en-US" sz="1800" dirty="0"/>
          </a:p>
        </p:txBody>
      </p:sp>
      <p:sp>
        <p:nvSpPr>
          <p:cNvPr id="13" name="arrow"/>
          <p:cNvSpPr/>
          <p:nvPr/>
        </p:nvSpPr>
        <p:spPr>
          <a:xfrm>
            <a:off x="4045610" y="3505708"/>
            <a:ext cx="274320" cy="274320"/>
          </a:xfrm>
          <a:prstGeom prst="rightArrow">
            <a:avLst/>
          </a:prstGeom>
          <a:solidFill>
            <a:srgbClr val="B8862B"/>
          </a:solidFill>
          <a:ln/>
        </p:spPr>
      </p:sp>
      <p:sp>
        <p:nvSpPr>
          <p:cNvPr id="14" name="step-box"/>
          <p:cNvSpPr/>
          <p:nvPr/>
        </p:nvSpPr>
        <p:spPr>
          <a:xfrm>
            <a:off x="4383938" y="2655824"/>
            <a:ext cx="3423818" cy="1974088"/>
          </a:xfrm>
          <a:prstGeom prst="roundRect">
            <a:avLst>
              <a:gd name="adj" fmla="val 3706"/>
            </a:avLst>
          </a:prstGeom>
          <a:solidFill>
            <a:srgbClr val="FFFFFF"/>
          </a:solidFill>
          <a:ln w="15875">
            <a:solidFill>
              <a:srgbClr val="8790AE"/>
            </a:solidFill>
            <a:prstDash val="solid"/>
          </a:ln>
        </p:spPr>
      </p:sp>
      <p:sp>
        <p:nvSpPr>
          <p:cNvPr id="15" name="step-hex"/>
          <p:cNvSpPr/>
          <p:nvPr/>
        </p:nvSpPr>
        <p:spPr>
          <a:xfrm>
            <a:off x="4521098" y="2765552"/>
            <a:ext cx="530352" cy="459285"/>
          </a:xfrm>
          <a:prstGeom prst="hexagon">
            <a:avLst/>
          </a:prstGeom>
          <a:solidFill>
            <a:srgbClr val="24366B"/>
          </a:solidFill>
          <a:ln/>
        </p:spPr>
      </p:sp>
      <p:sp>
        <p:nvSpPr>
          <p:cNvPr id="16" name="step-hex-label"/>
          <p:cNvSpPr txBox="1"/>
          <p:nvPr/>
        </p:nvSpPr>
        <p:spPr>
          <a:xfrm>
            <a:off x="452109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4521098"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For a convex lens, an object beyond F means the refracted rays really meet on the far side.</a:t>
            </a:r>
            <a:endParaRPr lang="en-US" sz="1800" dirty="0"/>
          </a:p>
        </p:txBody>
      </p:sp>
      <p:sp>
        <p:nvSpPr>
          <p:cNvPr id="18" name="arrow"/>
          <p:cNvSpPr/>
          <p:nvPr/>
        </p:nvSpPr>
        <p:spPr>
          <a:xfrm>
            <a:off x="7880909" y="3505708"/>
            <a:ext cx="274320" cy="274320"/>
          </a:xfrm>
          <a:prstGeom prst="rightArrow">
            <a:avLst/>
          </a:prstGeom>
          <a:solidFill>
            <a:srgbClr val="B8862B"/>
          </a:solidFill>
          <a:ln/>
        </p:spPr>
      </p:sp>
      <p:sp>
        <p:nvSpPr>
          <p:cNvPr id="19" name="step-box"/>
          <p:cNvSpPr/>
          <p:nvPr/>
        </p:nvSpPr>
        <p:spPr>
          <a:xfrm>
            <a:off x="8219237" y="2655824"/>
            <a:ext cx="3423818" cy="1974088"/>
          </a:xfrm>
          <a:prstGeom prst="roundRect">
            <a:avLst>
              <a:gd name="adj" fmla="val 3706"/>
            </a:avLst>
          </a:prstGeom>
          <a:solidFill>
            <a:srgbClr val="FFFFFF"/>
          </a:solidFill>
          <a:ln w="15875">
            <a:solidFill>
              <a:srgbClr val="8790AE"/>
            </a:solidFill>
            <a:prstDash val="solid"/>
          </a:ln>
        </p:spPr>
      </p:sp>
      <p:sp>
        <p:nvSpPr>
          <p:cNvPr id="20" name="step-hex"/>
          <p:cNvSpPr/>
          <p:nvPr/>
        </p:nvSpPr>
        <p:spPr>
          <a:xfrm>
            <a:off x="8356397" y="2765552"/>
            <a:ext cx="530352" cy="459285"/>
          </a:xfrm>
          <a:prstGeom prst="hexagon">
            <a:avLst/>
          </a:prstGeom>
          <a:solidFill>
            <a:srgbClr val="24366B"/>
          </a:solidFill>
          <a:ln/>
        </p:spPr>
      </p:sp>
      <p:sp>
        <p:nvSpPr>
          <p:cNvPr id="21" name="step-hex-label"/>
          <p:cNvSpPr txBox="1"/>
          <p:nvPr/>
        </p:nvSpPr>
        <p:spPr>
          <a:xfrm>
            <a:off x="8356397"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8356397" y="3250184"/>
            <a:ext cx="314949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So the image is real, and real images from a convex lens are inverted.</a:t>
            </a:r>
            <a:endParaRPr lang="en-US" sz="1800" dirty="0"/>
          </a:p>
        </p:txBody>
      </p:sp>
      <p:sp>
        <p:nvSpPr>
          <p:cNvPr id="23" name="worked-answer"/>
          <p:cNvSpPr/>
          <p:nvPr/>
        </p:nvSpPr>
        <p:spPr>
          <a:xfrm>
            <a:off x="1463040" y="5592572"/>
            <a:ext cx="92656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A real, inverted image, which could be caught on a screen.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Drawing a ray diagram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Use a ruler and a sharp pencil. Dotted lines for rays that are traced back, solid for rays that really travel.</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 ray diagram finds the image using two special rays from the top of the object.</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Ray 1 leaves the top of the object parallel to the axis; at the lens it refracts and passes through F on the far side.</a:t>
            </a:r>
            <a:endParaRPr lang="en-US" sz="20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For a concave lens, Ray 1 leaves the lens as if it came from F on the incoming side (extend it back with a dotted line), and Ray 2 again goes straight through the centre.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Lenses at work</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point-card"/>
          <p:cNvSpPr/>
          <p:nvPr/>
        </p:nvSpPr>
        <p:spPr>
          <a:xfrm>
            <a:off x="548640" y="1389888"/>
            <a:ext cx="3515258" cy="4754880"/>
          </a:xfrm>
          <a:prstGeom prst="roundRect">
            <a:avLst>
              <a:gd name="adj" fmla="val 1561"/>
            </a:avLst>
          </a:prstGeom>
          <a:solidFill>
            <a:srgbClr val="DEE1E9"/>
          </a:solidFill>
          <a:ln/>
        </p:spPr>
      </p:sp>
      <p:sp>
        <p:nvSpPr>
          <p:cNvPr id="8" name="point-hex"/>
          <p:cNvSpPr/>
          <p:nvPr/>
        </p:nvSpPr>
        <p:spPr>
          <a:xfrm>
            <a:off x="731520" y="1572768"/>
            <a:ext cx="685800" cy="593903"/>
          </a:xfrm>
          <a:prstGeom prst="hexagon">
            <a:avLst/>
          </a:prstGeom>
          <a:solidFill>
            <a:srgbClr val="24366B"/>
          </a:solidFill>
          <a:ln/>
        </p:spPr>
      </p:sp>
      <p:sp>
        <p:nvSpPr>
          <p:cNvPr id="9"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point"/>
          <p:cNvSpPr txBox="1"/>
          <p:nvPr/>
        </p:nvSpPr>
        <p:spPr>
          <a:xfrm>
            <a:off x="731520"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camera uses a convex lens to form a real, inverted, diminished image of a distant scene on the sensor or film.</a:t>
            </a:r>
            <a:endParaRPr lang="en-US" sz="2400" dirty="0"/>
          </a:p>
        </p:txBody>
      </p:sp>
      <p:sp>
        <p:nvSpPr>
          <p:cNvPr id="11" name="point-card"/>
          <p:cNvSpPr/>
          <p:nvPr/>
        </p:nvSpPr>
        <p:spPr>
          <a:xfrm>
            <a:off x="4338218" y="1389888"/>
            <a:ext cx="3515258" cy="4754880"/>
          </a:xfrm>
          <a:prstGeom prst="roundRect">
            <a:avLst>
              <a:gd name="adj" fmla="val 1561"/>
            </a:avLst>
          </a:prstGeom>
          <a:solidFill>
            <a:srgbClr val="F3EADB"/>
          </a:solidFill>
          <a:ln/>
        </p:spPr>
      </p:sp>
      <p:sp>
        <p:nvSpPr>
          <p:cNvPr id="12" name="point-hex"/>
          <p:cNvSpPr/>
          <p:nvPr/>
        </p:nvSpPr>
        <p:spPr>
          <a:xfrm>
            <a:off x="4521098" y="1572768"/>
            <a:ext cx="685800" cy="593903"/>
          </a:xfrm>
          <a:prstGeom prst="hexagon">
            <a:avLst/>
          </a:prstGeom>
          <a:solidFill>
            <a:srgbClr val="B8862B"/>
          </a:solidFill>
          <a:ln/>
        </p:spPr>
      </p:sp>
      <p:sp>
        <p:nvSpPr>
          <p:cNvPr id="13"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4" name="point"/>
          <p:cNvSpPr txBox="1"/>
          <p:nvPr/>
        </p:nvSpPr>
        <p:spPr>
          <a:xfrm>
            <a:off x="4521098"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magnifying glass is a convex lens held close to a small object, inside its focal length, so the image is virtual, upright and magnified.</a:t>
            </a:r>
            <a:endParaRPr lang="en-US" sz="2400" dirty="0"/>
          </a:p>
        </p:txBody>
      </p:sp>
      <p:sp>
        <p:nvSpPr>
          <p:cNvPr id="15" name="point-card"/>
          <p:cNvSpPr/>
          <p:nvPr/>
        </p:nvSpPr>
        <p:spPr>
          <a:xfrm>
            <a:off x="8127797" y="1389888"/>
            <a:ext cx="3515258" cy="4754880"/>
          </a:xfrm>
          <a:prstGeom prst="roundRect">
            <a:avLst>
              <a:gd name="adj" fmla="val 1561"/>
            </a:avLst>
          </a:prstGeom>
          <a:solidFill>
            <a:srgbClr val="DEE1E9"/>
          </a:solidFill>
          <a:ln/>
        </p:spPr>
      </p:sp>
      <p:sp>
        <p:nvSpPr>
          <p:cNvPr id="16" name="point-hex"/>
          <p:cNvSpPr/>
          <p:nvPr/>
        </p:nvSpPr>
        <p:spPr>
          <a:xfrm>
            <a:off x="8310677" y="1572768"/>
            <a:ext cx="685800" cy="593903"/>
          </a:xfrm>
          <a:prstGeom prst="hexagon">
            <a:avLst/>
          </a:prstGeom>
          <a:solidFill>
            <a:srgbClr val="24366B"/>
          </a:solidFill>
          <a:ln/>
        </p:spPr>
      </p:sp>
      <p:sp>
        <p:nvSpPr>
          <p:cNvPr id="17"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8" name="point"/>
          <p:cNvSpPr txBox="1"/>
          <p:nvPr/>
        </p:nvSpPr>
        <p:spPr>
          <a:xfrm>
            <a:off x="8310677" y="2350008"/>
            <a:ext cx="3149498" cy="365760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lessons also look at glasses. A short-sighted eye focuses light before it reaches the retina, so a concave lens is used to spread the rays slightly first.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Inside the focal length</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small beetle is placed closer to a convex lens than its principal focus. Which describes the image?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Virtual, upright and magnified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Virtual, upright and smaller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Real, inverted and smaller</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Real, inverted and magnified</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4366B"/>
                </a:solidFill>
                <a:latin typeface="Cambria" pitchFamily="34" charset="0"/>
                <a:ea typeface="Cambria" pitchFamily="34" charset="-122"/>
                <a:cs typeface="Cambria" pitchFamily="34" charset="-120"/>
              </a:rPr>
              <a:t>Same task, three ways in: Inside the focal length</a:t>
            </a:r>
            <a:endParaRPr lang="en-US" sz="30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29640"/>
          </a:xfrm>
          <a:prstGeom prst="roundRect">
            <a:avLst>
              <a:gd name="adj" fmla="val 9836"/>
            </a:avLst>
          </a:prstGeom>
          <a:solidFill>
            <a:srgbClr val="FFFFFF"/>
          </a:solidFill>
          <a:ln w="31750">
            <a:solidFill>
              <a:srgbClr val="B8862B"/>
            </a:solidFill>
            <a:prstDash val="solid"/>
          </a:ln>
        </p:spPr>
      </p:sp>
      <p:sp>
        <p:nvSpPr>
          <p:cNvPr id="8" name="task-hex"/>
          <p:cNvSpPr/>
          <p:nvPr/>
        </p:nvSpPr>
        <p:spPr>
          <a:xfrm>
            <a:off x="777240" y="1537960"/>
            <a:ext cx="731520" cy="633496"/>
          </a:xfrm>
          <a:prstGeom prst="hexagon">
            <a:avLst/>
          </a:prstGeom>
          <a:solidFill>
            <a:srgbClr val="B8862B"/>
          </a:solidFill>
          <a:ln/>
        </p:spPr>
      </p:sp>
      <p:sp>
        <p:nvSpPr>
          <p:cNvPr id="9" name="task-hex-label"/>
          <p:cNvSpPr txBox="1"/>
          <p:nvPr/>
        </p:nvSpPr>
        <p:spPr>
          <a:xfrm>
            <a:off x="777240" y="153796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8038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4676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small beetle is placed closer to a convex lens than its principal focus. Which describes the image?</a:t>
            </a:r>
            <a:endParaRPr lang="en-US" sz="2000" dirty="0"/>
          </a:p>
        </p:txBody>
      </p:sp>
      <p:sp>
        <p:nvSpPr>
          <p:cNvPr id="12" name="col-Support"/>
          <p:cNvSpPr/>
          <p:nvPr/>
        </p:nvSpPr>
        <p:spPr>
          <a:xfrm>
            <a:off x="548640" y="2593848"/>
            <a:ext cx="4667802" cy="3550920"/>
          </a:xfrm>
          <a:prstGeom prst="roundRect">
            <a:avLst>
              <a:gd name="adj" fmla="val 1545"/>
            </a:avLst>
          </a:prstGeom>
          <a:solidFill>
            <a:srgbClr val="DEE1E9"/>
          </a:solidFill>
          <a:ln/>
        </p:spPr>
      </p:sp>
      <p:sp>
        <p:nvSpPr>
          <p:cNvPr id="13" name="col-hex"/>
          <p:cNvSpPr/>
          <p:nvPr/>
        </p:nvSpPr>
        <p:spPr>
          <a:xfrm>
            <a:off x="658368" y="266700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3042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33928"/>
            <a:ext cx="4393482" cy="280111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Where is the object: beyond F or inside F? Here, inside F.</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Inside F, the rays leaving a convex lens spread out and never meet.</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Your eye traces them back to a virtual image on the object's side.</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That image is upright and bigger than the object: the magnifying glass.</a:t>
            </a:r>
            <a:endParaRPr lang="en-US" sz="1800" dirty="0"/>
          </a:p>
        </p:txBody>
      </p:sp>
      <p:sp>
        <p:nvSpPr>
          <p:cNvPr id="17" name="col-Core"/>
          <p:cNvSpPr/>
          <p:nvPr/>
        </p:nvSpPr>
        <p:spPr>
          <a:xfrm>
            <a:off x="5490762" y="2593848"/>
            <a:ext cx="2938987" cy="3550920"/>
          </a:xfrm>
          <a:prstGeom prst="roundRect">
            <a:avLst>
              <a:gd name="adj" fmla="val 1867"/>
            </a:avLst>
          </a:prstGeom>
          <a:solidFill>
            <a:srgbClr val="C4C9D7"/>
          </a:solidFill>
          <a:ln/>
        </p:spPr>
      </p:sp>
      <p:sp>
        <p:nvSpPr>
          <p:cNvPr id="18" name="col-hex"/>
          <p:cNvSpPr/>
          <p:nvPr/>
        </p:nvSpPr>
        <p:spPr>
          <a:xfrm>
            <a:off x="5600490" y="266700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Inside F is the magnifying-glass case.</a:t>
            </a:r>
            <a:endParaRPr lang="en-US" sz="1800" dirty="0"/>
          </a:p>
        </p:txBody>
      </p:sp>
      <p:sp>
        <p:nvSpPr>
          <p:cNvPr id="22" name="col-Stretch"/>
          <p:cNvSpPr/>
          <p:nvPr/>
        </p:nvSpPr>
        <p:spPr>
          <a:xfrm>
            <a:off x="8704069" y="2593848"/>
            <a:ext cx="2938987" cy="3550920"/>
          </a:xfrm>
          <a:prstGeom prst="roundRect">
            <a:avLst>
              <a:gd name="adj" fmla="val 1867"/>
            </a:avLst>
          </a:prstGeom>
          <a:solidFill>
            <a:srgbClr val="24366B"/>
          </a:solidFill>
          <a:ln/>
        </p:spPr>
      </p:sp>
      <p:sp>
        <p:nvSpPr>
          <p:cNvPr id="23" name="col-hex"/>
          <p:cNvSpPr/>
          <p:nvPr/>
        </p:nvSpPr>
        <p:spPr>
          <a:xfrm>
            <a:off x="8813797" y="266700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6700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3042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33928"/>
            <a:ext cx="2664667" cy="280111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Draw the ray diagram for this case, using dotted lines where you trace the rays back, and explain why the image appears on the same side of the lens as the beetle.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Which image, which device?</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use of a lens to the image it forms.</a:t>
            </a:r>
            <a:endParaRPr lang="en-US" sz="2400" dirty="0"/>
          </a:p>
        </p:txBody>
      </p:sp>
      <p:sp>
        <p:nvSpPr>
          <p:cNvPr id="11" name="match-card"/>
          <p:cNvSpPr/>
          <p:nvPr/>
        </p:nvSpPr>
        <p:spPr>
          <a:xfrm>
            <a:off x="777240" y="2468331"/>
            <a:ext cx="5135728" cy="587639"/>
          </a:xfrm>
          <a:prstGeom prst="roundRect">
            <a:avLst>
              <a:gd name="adj" fmla="val 12448"/>
            </a:avLst>
          </a:prstGeom>
          <a:solidFill>
            <a:srgbClr val="E3E5EC"/>
          </a:solidFill>
          <a:ln/>
        </p:spPr>
      </p:sp>
      <p:sp>
        <p:nvSpPr>
          <p:cNvPr id="12" name="match-hex"/>
          <p:cNvSpPr/>
          <p:nvPr/>
        </p:nvSpPr>
        <p:spPr>
          <a:xfrm>
            <a:off x="850392" y="2595858"/>
            <a:ext cx="384048" cy="332586"/>
          </a:xfrm>
          <a:prstGeom prst="hexagon">
            <a:avLst/>
          </a:prstGeom>
          <a:solidFill>
            <a:srgbClr val="24366B"/>
          </a:solidFill>
          <a:ln/>
        </p:spPr>
      </p:sp>
      <p:sp>
        <p:nvSpPr>
          <p:cNvPr id="13" name="match-hex-label"/>
          <p:cNvSpPr txBox="1"/>
          <p:nvPr/>
        </p:nvSpPr>
        <p:spPr>
          <a:xfrm>
            <a:off x="850392" y="259585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4541368" cy="58763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Camera: convex lens, object far away</a:t>
            </a:r>
            <a:endParaRPr lang="en-US" sz="2000" dirty="0"/>
          </a:p>
        </p:txBody>
      </p:sp>
      <p:sp>
        <p:nvSpPr>
          <p:cNvPr id="15" name="match-card"/>
          <p:cNvSpPr/>
          <p:nvPr/>
        </p:nvSpPr>
        <p:spPr>
          <a:xfrm>
            <a:off x="6278728" y="2468331"/>
            <a:ext cx="5135728" cy="587639"/>
          </a:xfrm>
          <a:prstGeom prst="roundRect">
            <a:avLst>
              <a:gd name="adj" fmla="val 12448"/>
            </a:avLst>
          </a:prstGeom>
          <a:solidFill>
            <a:srgbClr val="F3EADB"/>
          </a:solidFill>
          <a:ln/>
        </p:spPr>
      </p:sp>
      <p:sp>
        <p:nvSpPr>
          <p:cNvPr id="16" name="match-hex"/>
          <p:cNvSpPr/>
          <p:nvPr/>
        </p:nvSpPr>
        <p:spPr>
          <a:xfrm>
            <a:off x="6351880" y="2595858"/>
            <a:ext cx="384048" cy="332586"/>
          </a:xfrm>
          <a:prstGeom prst="hexagon">
            <a:avLst/>
          </a:prstGeom>
          <a:solidFill>
            <a:srgbClr val="B8862B"/>
          </a:solidFill>
          <a:ln/>
        </p:spPr>
      </p:sp>
      <p:sp>
        <p:nvSpPr>
          <p:cNvPr id="17" name="match-hex-label"/>
          <p:cNvSpPr txBox="1"/>
          <p:nvPr/>
        </p:nvSpPr>
        <p:spPr>
          <a:xfrm>
            <a:off x="6351880" y="259585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6799936" y="2468331"/>
            <a:ext cx="4541368" cy="58763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Real, inverted and larger than the object</a:t>
            </a:r>
            <a:endParaRPr lang="en-US" sz="2000" dirty="0"/>
          </a:p>
        </p:txBody>
      </p:sp>
      <p:sp>
        <p:nvSpPr>
          <p:cNvPr id="19" name="match-card"/>
          <p:cNvSpPr/>
          <p:nvPr/>
        </p:nvSpPr>
        <p:spPr>
          <a:xfrm>
            <a:off x="777240" y="3147411"/>
            <a:ext cx="5135728" cy="877199"/>
          </a:xfrm>
          <a:prstGeom prst="roundRect">
            <a:avLst>
              <a:gd name="adj" fmla="val 8339"/>
            </a:avLst>
          </a:prstGeom>
          <a:solidFill>
            <a:srgbClr val="E3E5EC"/>
          </a:solidFill>
          <a:ln/>
        </p:spPr>
      </p:sp>
      <p:sp>
        <p:nvSpPr>
          <p:cNvPr id="20" name="match-hex"/>
          <p:cNvSpPr/>
          <p:nvPr/>
        </p:nvSpPr>
        <p:spPr>
          <a:xfrm>
            <a:off x="850392" y="3419717"/>
            <a:ext cx="384048" cy="332586"/>
          </a:xfrm>
          <a:prstGeom prst="hexagon">
            <a:avLst/>
          </a:prstGeom>
          <a:solidFill>
            <a:srgbClr val="24366B"/>
          </a:solidFill>
          <a:ln/>
        </p:spPr>
      </p:sp>
      <p:sp>
        <p:nvSpPr>
          <p:cNvPr id="21" name="match-hex-label"/>
          <p:cNvSpPr txBox="1"/>
          <p:nvPr/>
        </p:nvSpPr>
        <p:spPr>
          <a:xfrm>
            <a:off x="850392" y="34197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147411"/>
            <a:ext cx="4541368"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Magnifying glass: convex lens, object inside F</a:t>
            </a:r>
            <a:endParaRPr lang="en-US" sz="2000" dirty="0"/>
          </a:p>
        </p:txBody>
      </p:sp>
      <p:sp>
        <p:nvSpPr>
          <p:cNvPr id="23" name="match-card"/>
          <p:cNvSpPr/>
          <p:nvPr/>
        </p:nvSpPr>
        <p:spPr>
          <a:xfrm>
            <a:off x="6278728" y="3147411"/>
            <a:ext cx="5135728" cy="877199"/>
          </a:xfrm>
          <a:prstGeom prst="roundRect">
            <a:avLst>
              <a:gd name="adj" fmla="val 8339"/>
            </a:avLst>
          </a:prstGeom>
          <a:solidFill>
            <a:srgbClr val="F3EADB"/>
          </a:solidFill>
          <a:ln/>
        </p:spPr>
      </p:sp>
      <p:sp>
        <p:nvSpPr>
          <p:cNvPr id="24" name="match-hex"/>
          <p:cNvSpPr/>
          <p:nvPr/>
        </p:nvSpPr>
        <p:spPr>
          <a:xfrm>
            <a:off x="6351880" y="3419717"/>
            <a:ext cx="384048" cy="332586"/>
          </a:xfrm>
          <a:prstGeom prst="hexagon">
            <a:avLst/>
          </a:prstGeom>
          <a:solidFill>
            <a:srgbClr val="B8862B"/>
          </a:solidFill>
          <a:ln/>
        </p:spPr>
      </p:sp>
      <p:sp>
        <p:nvSpPr>
          <p:cNvPr id="25" name="match-hex-label"/>
          <p:cNvSpPr txBox="1"/>
          <p:nvPr/>
        </p:nvSpPr>
        <p:spPr>
          <a:xfrm>
            <a:off x="6351880" y="341971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6799936" y="3147411"/>
            <a:ext cx="4541368"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Virtual, upright and smaller than the object</a:t>
            </a:r>
            <a:endParaRPr lang="en-US" sz="2000" dirty="0"/>
          </a:p>
        </p:txBody>
      </p:sp>
      <p:sp>
        <p:nvSpPr>
          <p:cNvPr id="27" name="match-card"/>
          <p:cNvSpPr/>
          <p:nvPr/>
        </p:nvSpPr>
        <p:spPr>
          <a:xfrm>
            <a:off x="777240" y="4116050"/>
            <a:ext cx="5135728" cy="877199"/>
          </a:xfrm>
          <a:prstGeom prst="roundRect">
            <a:avLst>
              <a:gd name="adj" fmla="val 8339"/>
            </a:avLst>
          </a:prstGeom>
          <a:solidFill>
            <a:srgbClr val="E3E5EC"/>
          </a:solidFill>
          <a:ln/>
        </p:spPr>
      </p:sp>
      <p:sp>
        <p:nvSpPr>
          <p:cNvPr id="28" name="match-hex"/>
          <p:cNvSpPr/>
          <p:nvPr/>
        </p:nvSpPr>
        <p:spPr>
          <a:xfrm>
            <a:off x="850392" y="4388356"/>
            <a:ext cx="384048" cy="332586"/>
          </a:xfrm>
          <a:prstGeom prst="hexagon">
            <a:avLst/>
          </a:prstGeom>
          <a:solidFill>
            <a:srgbClr val="24366B"/>
          </a:solidFill>
          <a:ln/>
        </p:spPr>
      </p:sp>
      <p:sp>
        <p:nvSpPr>
          <p:cNvPr id="29" name="match-hex-label"/>
          <p:cNvSpPr txBox="1"/>
          <p:nvPr/>
        </p:nvSpPr>
        <p:spPr>
          <a:xfrm>
            <a:off x="850392" y="438835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116050"/>
            <a:ext cx="4541368"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Concave lens, any object distance</a:t>
            </a:r>
            <a:endParaRPr lang="en-US" sz="2000" dirty="0"/>
          </a:p>
        </p:txBody>
      </p:sp>
      <p:sp>
        <p:nvSpPr>
          <p:cNvPr id="31" name="match-card"/>
          <p:cNvSpPr/>
          <p:nvPr/>
        </p:nvSpPr>
        <p:spPr>
          <a:xfrm>
            <a:off x="6278728" y="4116050"/>
            <a:ext cx="5135728" cy="877199"/>
          </a:xfrm>
          <a:prstGeom prst="roundRect">
            <a:avLst>
              <a:gd name="adj" fmla="val 8339"/>
            </a:avLst>
          </a:prstGeom>
          <a:solidFill>
            <a:srgbClr val="F3EADB"/>
          </a:solidFill>
          <a:ln/>
        </p:spPr>
      </p:sp>
      <p:sp>
        <p:nvSpPr>
          <p:cNvPr id="32" name="match-hex"/>
          <p:cNvSpPr/>
          <p:nvPr/>
        </p:nvSpPr>
        <p:spPr>
          <a:xfrm>
            <a:off x="6351880" y="4388356"/>
            <a:ext cx="384048" cy="332586"/>
          </a:xfrm>
          <a:prstGeom prst="hexagon">
            <a:avLst/>
          </a:prstGeom>
          <a:solidFill>
            <a:srgbClr val="B8862B"/>
          </a:solidFill>
          <a:ln/>
        </p:spPr>
      </p:sp>
      <p:sp>
        <p:nvSpPr>
          <p:cNvPr id="33" name="match-hex-label"/>
          <p:cNvSpPr txBox="1"/>
          <p:nvPr/>
        </p:nvSpPr>
        <p:spPr>
          <a:xfrm>
            <a:off x="6351880" y="438835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6799936" y="4116050"/>
            <a:ext cx="4541368"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Real, inverted and smaller than the object</a:t>
            </a:r>
            <a:endParaRPr lang="en-US" sz="2000" dirty="0"/>
          </a:p>
        </p:txBody>
      </p:sp>
      <p:sp>
        <p:nvSpPr>
          <p:cNvPr id="35" name="match-card"/>
          <p:cNvSpPr/>
          <p:nvPr/>
        </p:nvSpPr>
        <p:spPr>
          <a:xfrm>
            <a:off x="777240" y="5084689"/>
            <a:ext cx="5135728" cy="877199"/>
          </a:xfrm>
          <a:prstGeom prst="roundRect">
            <a:avLst>
              <a:gd name="adj" fmla="val 8339"/>
            </a:avLst>
          </a:prstGeom>
          <a:solidFill>
            <a:srgbClr val="E3E5EC"/>
          </a:solidFill>
          <a:ln/>
        </p:spPr>
      </p:sp>
      <p:sp>
        <p:nvSpPr>
          <p:cNvPr id="36" name="match-hex"/>
          <p:cNvSpPr/>
          <p:nvPr/>
        </p:nvSpPr>
        <p:spPr>
          <a:xfrm>
            <a:off x="850392" y="5356996"/>
            <a:ext cx="384048" cy="332586"/>
          </a:xfrm>
          <a:prstGeom prst="hexagon">
            <a:avLst/>
          </a:prstGeom>
          <a:solidFill>
            <a:srgbClr val="24366B"/>
          </a:solidFill>
          <a:ln/>
        </p:spPr>
      </p:sp>
      <p:sp>
        <p:nvSpPr>
          <p:cNvPr id="37" name="match-hex-label"/>
          <p:cNvSpPr txBox="1"/>
          <p:nvPr/>
        </p:nvSpPr>
        <p:spPr>
          <a:xfrm>
            <a:off x="850392" y="535699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084689"/>
            <a:ext cx="4541368"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Projector: convex lens, object between F and 2F</a:t>
            </a:r>
            <a:endParaRPr lang="en-US" sz="2000" dirty="0"/>
          </a:p>
        </p:txBody>
      </p:sp>
      <p:sp>
        <p:nvSpPr>
          <p:cNvPr id="39" name="match-card"/>
          <p:cNvSpPr/>
          <p:nvPr/>
        </p:nvSpPr>
        <p:spPr>
          <a:xfrm>
            <a:off x="6278728" y="5084689"/>
            <a:ext cx="5135728" cy="877199"/>
          </a:xfrm>
          <a:prstGeom prst="roundRect">
            <a:avLst>
              <a:gd name="adj" fmla="val 8339"/>
            </a:avLst>
          </a:prstGeom>
          <a:solidFill>
            <a:srgbClr val="F3EADB"/>
          </a:solidFill>
          <a:ln/>
        </p:spPr>
      </p:sp>
      <p:sp>
        <p:nvSpPr>
          <p:cNvPr id="40" name="match-hex"/>
          <p:cNvSpPr/>
          <p:nvPr/>
        </p:nvSpPr>
        <p:spPr>
          <a:xfrm>
            <a:off x="6351880" y="5356996"/>
            <a:ext cx="384048" cy="332586"/>
          </a:xfrm>
          <a:prstGeom prst="hexagon">
            <a:avLst/>
          </a:prstGeom>
          <a:solidFill>
            <a:srgbClr val="B8862B"/>
          </a:solidFill>
          <a:ln/>
        </p:spPr>
      </p:sp>
      <p:sp>
        <p:nvSpPr>
          <p:cNvPr id="41" name="match-hex-label"/>
          <p:cNvSpPr txBox="1"/>
          <p:nvPr/>
        </p:nvSpPr>
        <p:spPr>
          <a:xfrm>
            <a:off x="6351880" y="535699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6799936" y="5084689"/>
            <a:ext cx="4541368" cy="87719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Virtual, upright and larger than the object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Same task, three ways in: Which image, which device?</a:t>
            </a:r>
            <a:endParaRPr lang="en-US" sz="26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Which image, which device?</a:t>
            </a:r>
            <a:endParaRPr lang="en-US" sz="2000" dirty="0"/>
          </a:p>
        </p:txBody>
      </p:sp>
      <p:sp>
        <p:nvSpPr>
          <p:cNvPr id="12" name="col-Support"/>
          <p:cNvSpPr/>
          <p:nvPr/>
        </p:nvSpPr>
        <p:spPr>
          <a:xfrm>
            <a:off x="548640" y="2395728"/>
            <a:ext cx="4667802" cy="3749040"/>
          </a:xfrm>
          <a:prstGeom prst="roundRect">
            <a:avLst>
              <a:gd name="adj" fmla="val 1463"/>
            </a:avLst>
          </a:prstGeom>
          <a:solidFill>
            <a:srgbClr val="DEE1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Concave lens: always virtual, upright, smaller. Match that one first.</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Convex with object inside F: virtual, upright, magnified (the magnifying glass).</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Convex with object beyond F: real and inverted. Far away gives small; between F and 2F gives large.</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Real goes with inverted; virtual goes with upright.</a:t>
            </a:r>
            <a:endParaRPr lang="en-US" sz="1800" dirty="0"/>
          </a:p>
        </p:txBody>
      </p:sp>
      <p:sp>
        <p:nvSpPr>
          <p:cNvPr id="17" name="col-Core"/>
          <p:cNvSpPr/>
          <p:nvPr/>
        </p:nvSpPr>
        <p:spPr>
          <a:xfrm>
            <a:off x="5490762" y="2395728"/>
            <a:ext cx="2938987" cy="3749040"/>
          </a:xfrm>
          <a:prstGeom prst="roundRect">
            <a:avLst>
              <a:gd name="adj" fmla="val 1867"/>
            </a:avLst>
          </a:prstGeom>
          <a:solidFill>
            <a:srgbClr val="C4C9D7"/>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Real pairs with inverted; virtual pairs with upright. Then decide bigger or smaller.</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24366B"/>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a camera can record its image on a sensor but a magnifying glass cannot project its image onto a piece of paper.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4366B"/>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4366B"/>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does a convex lens do to rays of light that arrive parallel to its axis?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Lets them pass through without changing direction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Spreads them out as if they came from the principal focus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Reflects them back the way they came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Brings them together at the principal focus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5E7ED"/>
          </a:solidFill>
          <a:ln w="12700">
            <a:solidFill>
              <a:srgbClr val="8790AE"/>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Inside the focal length</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small beetle is placed closer to a convex lens than its principal focus. Which describes the image?</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Virtual, upright and magnified</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With the object inside the focal length of a convex lens the refracted rays diverge, so the image is virtual, on the same side as the object, upright and magnified.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Which image, which device?</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Camera: convex lens, object far away  →  C  Real, inverted and smaller than the object</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Magnifying glass: convex lens, object inside F  →  D  Virtual, upright and larger than the object</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Concave lens, any object distance  →  B  Virtual, upright and smaller than the object</a:t>
            </a:r>
            <a:endParaRPr lang="en-US" sz="2200" dirty="0"/>
          </a:p>
          <a:p>
            <a:pPr algn="l" indent="0" marL="0">
              <a:spcAft>
                <a:spcPts val="1000"/>
              </a:spcAft>
              <a:buNone/>
            </a:pPr>
            <a:r>
              <a:rPr lang="en-US" sz="22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200" dirty="0">
                <a:solidFill>
                  <a:srgbClr val="1E2229"/>
                </a:solidFill>
                <a:latin typeface="Calibri" pitchFamily="34" charset="0"/>
                <a:ea typeface="Calibri" pitchFamily="34" charset="-122"/>
                <a:cs typeface="Calibri" pitchFamily="34" charset="-120"/>
              </a:rPr>
              <a:t>Projector: convex lens, object between F and 2F  →  A  Real, inverted and larger than the object</a:t>
            </a:r>
            <a:endParaRPr lang="en-US" sz="22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Camera: real, inverted, diminished. Magnifying glass: virtual, upright, magnified. Concave lens: virtual, upright, diminished. Projector: real, inverted, magnified. Real images are always inverted; virtual ones upright.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does a convex lens do to rays of light that arrive parallel to its axis?</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Brings them together at the principal focus</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convex (converging) lens refracts parallel rays so that they meet at the principal focus.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triple">
  <a:themeElements>
    <a:clrScheme name="Ad Astra triple">
      <a:dk1>
        <a:srgbClr val="1E2229"/>
      </a:dk1>
      <a:lt1>
        <a:srgbClr val="FFFFFF"/>
      </a:lt1>
      <a:dk2>
        <a:srgbClr val="1D2B56"/>
      </a:dk2>
      <a:lt2>
        <a:srgbClr val="DEE1E9"/>
      </a:lt2>
      <a:accent1>
        <a:srgbClr val="24366B"/>
      </a:accent1>
      <a:accent2>
        <a:srgbClr val="B8862B"/>
      </a:accent2>
      <a:accent3>
        <a:srgbClr val="7C86A6"/>
      </a:accent3>
      <a:accent4>
        <a:srgbClr val="815E1E"/>
      </a:accent4>
      <a:accent5>
        <a:srgbClr val="4A505C"/>
      </a:accent5>
      <a:accent6>
        <a:srgbClr val="D8BC8A"/>
      </a:accent6>
      <a:hlink>
        <a:srgbClr val="24366B"/>
      </a:hlink>
      <a:folHlink>
        <a:srgbClr val="19264B"/>
      </a:folHlink>
    </a:clrScheme>
    <a:fontScheme name="Ad Astra tri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Light · Chapter 4: Lenses and ray diagrams</dc:title>
  <dc:subject>Physics (Triple Science) · Year 11</dc:subject>
  <dc:creator>Dr Vitor Merissi de Carvalho</dc:creator>
  <cp:lastModifiedBy>Dr Vitor Merissi de Carvalho</cp:lastModifiedBy>
  <cp:revision>1</cp:revision>
  <dcterms:created xsi:type="dcterms:W3CDTF">2026-10-19T16:23:28Z</dcterms:created>
  <dcterms:modified xsi:type="dcterms:W3CDTF">2026-10-19T16:23:28Z</dcterms:modified>
</cp:coreProperties>
</file>