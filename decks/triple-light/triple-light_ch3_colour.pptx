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6d7a5b0-8f32-b5df-d3f6-ee928f7d949a}">
          <p14:sldIdLst>
            <p14:sldId id="256"/>
          </p14:sldIdLst>
        </p14:section>
        <p14:section name="Gate" id="{ea5ab6fb-2fe7-fdaa-12d9-c680a6d4dbc0}">
          <p14:sldIdLst>
            <p14:sldId id="257"/>
            <p14:sldId id="258"/>
          </p14:sldIdLst>
        </p14:section>
        <p14:section name="Pre-teach" id="{f1b1a7ce-9c4d-e86e-02b0-06b67f2b5420}">
          <p14:sldIdLst>
            <p14:sldId id="259"/>
            <p14:sldId id="260"/>
          </p14:sldIdLst>
        </p14:section>
        <p14:section name="Read-along" id="{52a7a62e-0291-abb7-c4ec-34781a7eb901}">
          <p14:sldIdLst>
            <p14:sldId id="261"/>
            <p14:sldId id="262"/>
          </p14:sldIdLst>
        </p14:section>
        <p14:section name="Teach" id="{40ea41c1-6831-19e5-997e-2e8db3523487}">
          <p14:sldIdLst>
            <p14:sldId id="263"/>
            <p14:sldId id="264"/>
            <p14:sldId id="265"/>
            <p14:sldId id="266"/>
            <p14:sldId id="267"/>
          </p14:sldIdLst>
        </p14:section>
        <p14:section name="Routes" id="{7de62490-176e-3be0-e386-c176515bab8b}">
          <p14:sldIdLst>
            <p14:sldId id="268"/>
            <p14:sldId id="269"/>
            <p14:sldId id="270"/>
          </p14:sldIdLst>
        </p14:section>
        <p14:section name="Close" id="{9b6abc03-ff82-f355-6210-565bf61e7887}">
          <p14:sldIdLst>
            <p14:sldId id="271"/>
          </p14:sldIdLst>
        </p14:section>
        <p14:section name="Answers" id="{7bcc4f5a-6e67-445f-2870-ab4a1240a1a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Visible light and colour. The spectrum, why a red jumper is red, what it looks like in blue light, how filters work, and transparent, translucent and opaque.
This deck covers the department's lesson: 3 (P14.3 Light and colour: Why do objects look different colours in different light, and what does a colour filter do?).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colour of visible light has the longest wavelength?  →  D   Red
2. In white light a blue book looks blue because it reflects blue light and ___ the other colours.  →  absorbs
3. What does a green filter do to white light?  →  C   Transmits green light and absorbs the other colours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Red. Wavelength decreases from red (about 700 nm) to violet (about 400 nm) across the visible spectrum.
2. absorbs. The colour of an opaque object is the colour it reflects. The wavelengths that are not reflected are absorbed.
3. C   Transmits green light and absorbs the other colours. A filter works by absorbing some wavelengths and transmitting others. A green filter lets green through and absorbs the rest.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spectrum: the range of colours that white light is made of. Example: "A prism splits white light into a spectrum from red to violet."
• wavelength: the length of one complete wave; each colour has its own. Example: "Red light has a longer wavelength than blue light."
• absorb: to take in light so it does not come back out. Example: "A black car absorbs all the colours of light."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transmit: to let light pass through. Example: "A red filter transmits red light and absorbs the rest."
• filter: coloured material that lets its own colour through and absorbs the others. Example: "The stage light had a blue filter in front of it."
• opaque: does not let any light through. Example: "A wooden door is opaque, so it casts a shadow."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White light is a mixture of all the colours of the rainbow.
2. A prism can split it into a spectrum: red, orange, yellow, green, blue, indigo, violet.
3. Each colour has its own wavelength.
4. Red light has the longest wavelength and violet the shortest.
5. Objects do not make their own colour.
6. A red jumper reflects red light and absorbs the other colours.
7. A white object reflects all the colours.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black object absorbs all the colours.
9. In blue light, a red jumper looks black, because there is no red light to reflect.
10. A colour filter lets its own colour through and absorbs the rest.
11. Transparent materials let light pass straight through.
12. Translucent materials let light through but scatter it.
13. Opaque materials do not let light through at all.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visible spectrum. Say it in your own words, then check understanding with a quick question: ask a pupil from the pre-teach group first, since they met these words and ideas before the lesson. Pupils try to recall before you re-explain.
Visible light is the part of the electromagnetic spectrum that our eyes detect. Each colour has its own narrow band of wavelength and frequency. Red light has the longest wavelength, about 700 nm, and the lowest frequency; violet has the shortest wavelength, about 400 nm, and the highest frequency. One nanometre (nm) is a millionth of a millimetre.
White light contains all the colours mixed together, and a prism separates them by dispersion (Chapter 2). The three primary colours of light are red, green and blue. Mixing two of them gives the secondary colours: red and green make yellow, green and blue make cyan, red and blue make magenta. All three together make white.
Tip: In science the primary colours are red, green and blue: coloured light adding together. The red, yellow and blue of the art room are paints, which take colours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objects have colour. Say it in your own words, then check understanding with a quick question: ask a pupil from the pre-teach group first, since they met these words and ideas before the lesson. Pupils try to recall before you re-explain.
An opaque object has colour because of which wavelengths it reflects. A red bus reflects red light strongly and absorbs the other colours. A white wall reflects all wavelengths equally; a black car absorbs all of them, which is one reason it gets so hot in the sun. The pigments in a surface decide which wavelengths it absorbs.
Change the light and you change what the object can reflect. In red light a red bus still looks red, because red light is there to be reflected. In blue light there is no red to reflect: the bus absorbs the blue and looks black. A white wall takes on the colour of whatever light falls on it.
An object can reflect more than one colour. Something that reflects red and blue but absorbs green looks magenta in white light. Reasoning from 'reflects' and 'absorbs' to the colour you see is exactly what the exam asks you to do.
Worked example — model it step by step, thinking aloud: A T-shirt reflects green light and blue light and absorbs red light. What colour does it look in white light? What colour does it look in red light? (1) White light contains red, green and blue. The shirt absorbs the red and reflects the green and the blue. (2) Green and blue together make cyan, so in white light the shirt looks cyan. (3) Red light contains only red. The shirt absorbs red and has nothing to reflect. (4) So in red light the shirt looks black. Answer: Cyan in white light; black in red light..
Tip: Ask two questions every time: which colours arrive, and which of those does the surface reflect? Whatever it reflects is the colour you see; nothing reflected means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objects have colour. Say it in your own words, then check understanding with a quick question: ask a pupil from the pre-teach group first, since they met these words and ideas before the lesson. Pupils try to recall before you re-explain.
An opaque object has colour because of which wavelengths it reflects. A red bus reflects red light strongly and absorbs the other colours. A white wall reflects all wavelengths equally; a black car absorbs all of them, which is one reason it gets so hot in the sun. The pigments in a surface decide which wavelengths it absorbs.
Change the light and you change what the object can reflect. In red light a red bus still looks red, because red light is there to be reflected. In blue light there is no red to reflect: the bus absorbs the blue and looks black. A white wall takes on the colour of whatever light falls on it.
An object can reflect more than one colour. Something that reflects red and blue but absorbs green looks magenta in white light. Reasoning from 'reflects' and 'absorbs' to the colour you see is exactly what the exam asks you to do.
Worked example — model it step by step, thinking aloud: A T-shirt reflects green light and blue light and absorbs red light. What colour does it look in white light? What colour does it look in red light? (1) White light contains red, green and blue. The shirt absorbs the red and reflects the green and the blue. (2) Green and blue together make cyan, so in white light the shirt looks cyan. (3) Red light contains only red. The shirt absorbs red and has nothing to reflect. (4) So in red light the shirt looks black. Answer: Cyan in white light; black in red light..
Tip: Ask two questions every time: which colours arrive, and which of those does the surface reflect? Whatever it reflects is the colour you see; nothing reflected means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colour filters work. Say it in your own words, then check understanding with a quick question: ask a pupil from the pre-teach group first, since they met these words and ideas before the lesson. Pupils try to recall before you re-explain.
A colour filter is a sheet of coloured transparent material. A red filter transmits (lets through) the red part of the light and absorbs all the other wavelengths. So white light through a red filter comes out red, and a stage lamp with a green filter in front of it gives green light.
Put two different primary filters together and almost no light gets through. A red filter passes only red; a green filter then absorbs that red and has no green to pass. The result is black. A magenta filter (which passes red and blue) followed by a red filter passes red, because red can get through both.
A filter does not add colour to light. It takes colours away by absorbing them; what you see is whatever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Transparent, translucent, opaque. Say it in your own words, then check understanding with a quick question: ask a pupil from the pre-teach group first, since they met these words and ideas before the lesson. Pupils try to recall before you re-explain.
Materials sort into three groups by what they do to light. Transparent materials, such as clear glass, water and Perspex, transmit light with almost no scattering, so you see a clear picture through them. A small amount of light is always absorbed, which is why very thick glass looks slightly green or grey.
Translucent materials, such as frosted glass, tracing paper and thin plastic, let light through but scatter it at the surface or inside, so shapes beyond them look blurred. Opaque materials, such as wood, metal and brick, transmit no light: they absorb some of it and reflect the rest, and they cast sharp shadows.
Whether an object is transparent, translucent or opaque is about transmission. Its colour is about which wavelengths it reflects or transmits.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Coloured object, coloured light.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red jumper is lit only by blue light. What colour does it look?
Support — work through the steps with the group: (1) Which colours arrive? Only blue. (2) Which colours can a red jumper reflect? Only red. (3) Is red arriving? No. So nothing is reflected; the blue is absorbed. (4) Nothing reflected means black.
Parallel worked example for Support (model it, do not give the task answer): A green leaf is lit only by red light. What colour does it look? Only red arrives.; A green leaf reflects only green and absorbs red.; Nothing is reflected.. Answer: Black.
Core — reveal the hint only on request: An object can only reflect colours that are actually shining on it.
Stretch — no help; when finished: Predict what the same red jumper looks like under a magenta light (red and blue mixed), and explain why the answer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reflects and absorbs to colour.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Each object is in white light. Match what it does to the colours with the colour it appears.
Support — work through the steps with the group: (1) Ignore what is absorbed: only reflected light reaches your eye. (2) One primary reflected: that primary colour. (3) Two primaries reflected: a secondary colour (red + green = yellow, green + blue = cyan, red + blue = magenta). (4) All three reflected: white. None reflected: black.
Parallel worked example for Support (model it, do not give the task answer): A bag reflects red and blue light and absorbs green. What colour is it in white light? Reflected: red and blue.; Red + blue = magenta.. Answer: Magenta.
Core — reveal the hint only on request: Add up only the reflected primaries. Two primaries make a secondary colour.
Stretch — no help; when finished: The yellow object (reflects red and green) is now lit by cyan light (green and blue). Work out and explain the colour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reflects and absorbs to colour.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Each object is in white light. Match what it does to the colours with the colour it appears.
Support — work through the steps with the group: (1) Ignore what is absorbed: only reflected light reaches your eye. (2) One primary reflected: that primary colour. (3) Two primaries reflected: a secondary colour (red + green = yellow, green + blue = cyan, red + blue = magenta). (4) All three reflected: white. None reflected: black.
Parallel worked example for Support (model it, do not give the task answer): A bag reflects red and blue light and absorbs green. What colour is it in white light? Reflected: red and blue.; Red + blue = magenta.. Answer: Magenta.
Core — reveal the hint only on request: Add up only the reflected primaries. Two primaries make a secondary colour.
Stretch — no help; when finished: The yellow object (reflects red and green) is now lit by cyan light (green and blue). Work out and explain the colour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colour of visible light has the longest wavelength?
Answer: C   Red. Wavelength decreases from red (about 700 nm) to violet (about 400 nm) across the visible spectrum.
Source of this question: gate item 1 re-asked (options rotated) — this chapter has no third quick-check module.
The ebook also holds task 3, "Stage lights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Coloured object, coloured light. Reveal the answer; pupils mark their own work in a different colour, then read the "why" together. Same destination for every lane, so one answer serves the whole class.
Answer: D   Black
Why: A red jumper reflects red and absorbs other colours. In blue light there is no red to reflect, so it absorbs the blue and appears black.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reflects and absorbs to colour. Reveal the answer; pupils mark their own work in a different colour, then read the "why" together. Same destination for every lane, so one answer serves the whole class.
Answer: Reflects red and green, absorbs blue  →  C  Yellow; Reflects green and blue, absorbs red  →  A  Cyan; Reflects red, green and blue  →  B  White; Absorbs red, green and blue  →  D  Black; Reflects only green, absorbs the rest  →  E  Green
Why: The colour you see is the mix of the colours reflected: red + green = yellow, green + blue = cyan, all three = white, none = black, one primary alone = that primary.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Red
Why: Wavelength decreases from red (about 700 nm) to violet (about 400 nm) across the visible spectrum.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Visible light and colour</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P14.3 Light and colour</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colour of visible light has the longest wavelength?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Blue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Violet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Green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Red</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white light a blue book looks blue because it reflects blue light and ___ the other colours.</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absorbs  ·  transmits  ·  reflects</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a green filter do to white light?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Adds green to the white light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Absorbs green light and transmits the rest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Transmits green light and absorbs the other colours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Reflects green light back towards the lamp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Red</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colour of visible light has the longest wavelength?</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Wavelength decreases from red (about 700 nm) to violet (about 400 nm) across the visible spectrum.</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absorbs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white light a blue book looks blue because it reflects blue light and ___ the other colours.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colour of an opaque object is the colour it reflects. The wavelengths that are not reflected are absorbed.</a:t>
            </a:r>
            <a:endParaRPr lang="en-US" sz="18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ADBBF"/>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Transmits green light and absorbs the other colours</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filter works by absorbing some wavelengths and transmitting others. A green filter lets green through and absorbs the rest.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spectrum</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range of colours that white light is made of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prism splits white light into a spectrum from red to violet.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wavelength</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length of one complete wave; each colour has its 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Red light has a longer wavelength than blue light.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absorb</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take in light so it does not come back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black car absorbs all the colours of light.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transmit</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let light pass through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red filter transmits red light and absorbs the rest.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filter</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coloured material that lets its own colour through and absorbs the others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stage light had a blue filter in front of it.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opaque</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does not let any light through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wooden door is opaque, so it casts a shadow.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White light is a mixture of all the colours of the rainbow.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prism can split it into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spectrum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red, orange, yellow, green, blue, indigo, violet.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colour has its own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wavelength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Red light has the longest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wavelength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violet the shortest.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Objects do not make their own colour.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red jumper reflects red light and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absorbs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other colours.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white object reflects all the colours.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black object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absorbs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all the colours.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blue light, a red jumper looks black, because there is no red light to reflect.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colour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filter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lets its own colour through and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absorbs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rest.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Transparent materials let light pass straight through.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Translucent materials let light through but scatter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Opaque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materials do not let light through at 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visible spectrum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science the primary colours are red, green and blue: coloured light adding together. The red, yellow and blue of the art room are paints, which take colours away.</a:t>
            </a:r>
            <a:endParaRPr lang="en-US" sz="1800" dirty="0"/>
          </a:p>
        </p:txBody>
      </p:sp>
      <p:sp>
        <p:nvSpPr>
          <p:cNvPr id="11" name="point-card"/>
          <p:cNvSpPr/>
          <p:nvPr/>
        </p:nvSpPr>
        <p:spPr>
          <a:xfrm>
            <a:off x="548640" y="1389888"/>
            <a:ext cx="5410048" cy="3686048"/>
          </a:xfrm>
          <a:prstGeom prst="roundRect">
            <a:avLst>
              <a:gd name="adj" fmla="val 1488"/>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Visible light is the part of the electromagnetic spectrum that our eyes detect.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White light contains all the colours mixed together, and a prism separates them by dispersion (Chapter 2).</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Why objects have colour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Ask two questions every time: which colours arrive, and which of those does the surface reflect? Whatever it reflects is the colour you see; nothing reflected means black.</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opaque object has colour because of which wavelengths it reflects.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Change the light and you change what the object can reflect.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object can reflect more than one colour. Something that reflects red and blue but absorbs green looks magenta in white light.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Why objects have colour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T-shirt reflects green light and blue light and absorbs red light. What colour does it look in white light? What colour does it look in red light?</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White light contains red, green and blue. The shirt absorbs the red and reflects the green and the blue.</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8790AE"/>
            </a:solidFill>
            <a:prstDash val="solid"/>
          </a:ln>
        </p:spPr>
      </p:sp>
      <p:sp>
        <p:nvSpPr>
          <p:cNvPr id="15" name="step-hex"/>
          <p:cNvSpPr/>
          <p:nvPr/>
        </p:nvSpPr>
        <p:spPr>
          <a:xfrm>
            <a:off x="3562274" y="2765552"/>
            <a:ext cx="530352" cy="459285"/>
          </a:xfrm>
          <a:prstGeom prst="hexagon">
            <a:avLst/>
          </a:prstGeom>
          <a:solidFill>
            <a:srgbClr val="24366B"/>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Green and blue together make cyan, so in white light the shirt looks cyan.</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8790AE"/>
            </a:solidFill>
            <a:prstDash val="solid"/>
          </a:ln>
        </p:spPr>
      </p:sp>
      <p:sp>
        <p:nvSpPr>
          <p:cNvPr id="20" name="step-hex"/>
          <p:cNvSpPr/>
          <p:nvPr/>
        </p:nvSpPr>
        <p:spPr>
          <a:xfrm>
            <a:off x="6438748" y="2765552"/>
            <a:ext cx="530352" cy="459285"/>
          </a:xfrm>
          <a:prstGeom prst="hexagon">
            <a:avLst/>
          </a:prstGeom>
          <a:solidFill>
            <a:srgbClr val="24366B"/>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Red light contains only red. The shirt absorbs red and has nothing to reflect.</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8790AE"/>
            </a:solidFill>
            <a:prstDash val="solid"/>
          </a:ln>
        </p:spPr>
      </p:sp>
      <p:sp>
        <p:nvSpPr>
          <p:cNvPr id="25" name="step-hex"/>
          <p:cNvSpPr/>
          <p:nvPr/>
        </p:nvSpPr>
        <p:spPr>
          <a:xfrm>
            <a:off x="9315221" y="2765552"/>
            <a:ext cx="530352" cy="459285"/>
          </a:xfrm>
          <a:prstGeom prst="hexagon">
            <a:avLst/>
          </a:prstGeom>
          <a:solidFill>
            <a:srgbClr val="24366B"/>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in red light the shirt looks black.</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Cyan in white light; black in red light.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How colour filters work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colour filter is a sheet of coloured transparent material.</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two different primary filters together and almost no light gets through.</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filter does not add colour to light. It takes colours away by absorbing them; what you see is whatever is left.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Transparent, translucent, opaque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Materials sort into three groups by what they do to light.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Translucent materials, such as frosted glass, tracing paper and thin plastic, let light through but scatter it at the surface or inside, so shapes beyond them look blurred.</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Whether an object is transparent, translucent or opaque is about transmission.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Coloured object, coloured light</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red jumper is lit only by blue light. What colour does it look?</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Magenta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Blue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Red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Black</a:t>
            </a:r>
            <a:endParaRPr lang="en-US" sz="2000" dirty="0"/>
          </a:p>
        </p:txBody>
      </p:sp>
      <p:sp>
        <p:nvSpPr>
          <p:cNvPr id="12" name="col-Support"/>
          <p:cNvSpPr/>
          <p:nvPr/>
        </p:nvSpPr>
        <p:spPr>
          <a:xfrm>
            <a:off x="548640" y="2639060"/>
            <a:ext cx="4667802" cy="3505708"/>
          </a:xfrm>
          <a:prstGeom prst="roundRect">
            <a:avLst>
              <a:gd name="adj" fmla="val 1565"/>
            </a:avLst>
          </a:prstGeom>
          <a:solidFill>
            <a:srgbClr val="DEE1E9"/>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4393482"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Which colours arrive? Only blue.</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Which colours can a red jumper reflect? Only red.</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Is red arriving? No. So nothing is reflected; the blue is absorbed.</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Nothing reflected means black.</a:t>
            </a:r>
            <a:endParaRPr lang="en-US" sz="2200" dirty="0"/>
          </a:p>
        </p:txBody>
      </p:sp>
      <p:sp>
        <p:nvSpPr>
          <p:cNvPr id="17" name="col-Core"/>
          <p:cNvSpPr/>
          <p:nvPr/>
        </p:nvSpPr>
        <p:spPr>
          <a:xfrm>
            <a:off x="5490762" y="2639060"/>
            <a:ext cx="2938987" cy="3505708"/>
          </a:xfrm>
          <a:prstGeom prst="roundRect">
            <a:avLst>
              <a:gd name="adj" fmla="val 1867"/>
            </a:avLst>
          </a:prstGeom>
          <a:solidFill>
            <a:srgbClr val="C4C9D7"/>
          </a:solidFill>
          <a:ln/>
        </p:spPr>
      </p:sp>
      <p:sp>
        <p:nvSpPr>
          <p:cNvPr id="18" name="col-hex"/>
          <p:cNvSpPr/>
          <p:nvPr/>
        </p:nvSpPr>
        <p:spPr>
          <a:xfrm>
            <a:off x="5600490"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79140"/>
            <a:ext cx="2664667" cy="2755900"/>
          </a:xfrm>
          <a:prstGeom prst="rect">
            <a:avLst/>
          </a:prstGeom>
          <a:noFill/>
          <a:ln/>
        </p:spPr>
        <p:txBody>
          <a:bodyPr wrap="square" lIns="63500" tIns="63500" rIns="63500" bIns="63500" rtlCol="0" anchor="t"/>
          <a:lstStyle/>
          <a:p>
            <a:pPr algn="l" indent="0" marL="0">
              <a:buNone/>
            </a:pPr>
            <a:r>
              <a:rPr lang="en-US" sz="2200" b="1" dirty="0">
                <a:solidFill>
                  <a:srgbClr val="1D2B56"/>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An object can only reflect colours that are actually shining on it.</a:t>
            </a:r>
            <a:endParaRPr lang="en-US" sz="2200" dirty="0"/>
          </a:p>
        </p:txBody>
      </p:sp>
      <p:sp>
        <p:nvSpPr>
          <p:cNvPr id="22" name="col-Stretch"/>
          <p:cNvSpPr/>
          <p:nvPr/>
        </p:nvSpPr>
        <p:spPr>
          <a:xfrm>
            <a:off x="8704069" y="2639060"/>
            <a:ext cx="2938987" cy="3505708"/>
          </a:xfrm>
          <a:prstGeom prst="roundRect">
            <a:avLst>
              <a:gd name="adj" fmla="val 1867"/>
            </a:avLst>
          </a:prstGeom>
          <a:solidFill>
            <a:srgbClr val="24366B"/>
          </a:solidFill>
          <a:ln/>
        </p:spPr>
      </p:sp>
      <p:sp>
        <p:nvSpPr>
          <p:cNvPr id="23" name="col-hex"/>
          <p:cNvSpPr/>
          <p:nvPr/>
        </p:nvSpPr>
        <p:spPr>
          <a:xfrm>
            <a:off x="8813797"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7563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79140"/>
            <a:ext cx="2664667"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Predict what the same red jumper looks like under a magenta light (red and blue mixed), and explain why the answer is different.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From reflects and absorbs to colour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Each object is in white light. Match what it does to the colours with the colour it appears.</a:t>
            </a:r>
            <a:endParaRPr lang="en-US" sz="2400" dirty="0"/>
          </a:p>
        </p:txBody>
      </p:sp>
      <p:sp>
        <p:nvSpPr>
          <p:cNvPr id="11" name="match-card"/>
          <p:cNvSpPr/>
          <p:nvPr/>
        </p:nvSpPr>
        <p:spPr>
          <a:xfrm>
            <a:off x="777240" y="2672080"/>
            <a:ext cx="5135728" cy="584810"/>
          </a:xfrm>
          <a:prstGeom prst="roundRect">
            <a:avLst>
              <a:gd name="adj" fmla="val 12509"/>
            </a:avLst>
          </a:prstGeom>
          <a:solidFill>
            <a:srgbClr val="E3E5EC"/>
          </a:solidFill>
          <a:ln/>
        </p:spPr>
      </p:sp>
      <p:sp>
        <p:nvSpPr>
          <p:cNvPr id="12" name="match-hex"/>
          <p:cNvSpPr/>
          <p:nvPr/>
        </p:nvSpPr>
        <p:spPr>
          <a:xfrm>
            <a:off x="850392" y="2798192"/>
            <a:ext cx="384048" cy="332586"/>
          </a:xfrm>
          <a:prstGeom prst="hexagon">
            <a:avLst/>
          </a:prstGeom>
          <a:solidFill>
            <a:srgbClr val="24366B"/>
          </a:solidFill>
          <a:ln/>
        </p:spPr>
      </p:sp>
      <p:sp>
        <p:nvSpPr>
          <p:cNvPr id="13" name="match-hex-label"/>
          <p:cNvSpPr txBox="1"/>
          <p:nvPr/>
        </p:nvSpPr>
        <p:spPr>
          <a:xfrm>
            <a:off x="850392" y="27981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Reflects red and green, absorbs blue</a:t>
            </a:r>
            <a:endParaRPr lang="en-US" sz="2200" dirty="0"/>
          </a:p>
        </p:txBody>
      </p:sp>
      <p:sp>
        <p:nvSpPr>
          <p:cNvPr id="15" name="match-card"/>
          <p:cNvSpPr/>
          <p:nvPr/>
        </p:nvSpPr>
        <p:spPr>
          <a:xfrm>
            <a:off x="6278728" y="2672080"/>
            <a:ext cx="5135728" cy="584810"/>
          </a:xfrm>
          <a:prstGeom prst="roundRect">
            <a:avLst>
              <a:gd name="adj" fmla="val 12509"/>
            </a:avLst>
          </a:prstGeom>
          <a:solidFill>
            <a:srgbClr val="F3EADB"/>
          </a:solidFill>
          <a:ln/>
        </p:spPr>
      </p:sp>
      <p:sp>
        <p:nvSpPr>
          <p:cNvPr id="16" name="match-hex"/>
          <p:cNvSpPr/>
          <p:nvPr/>
        </p:nvSpPr>
        <p:spPr>
          <a:xfrm>
            <a:off x="6351880" y="2798192"/>
            <a:ext cx="384048" cy="332586"/>
          </a:xfrm>
          <a:prstGeom prst="hexagon">
            <a:avLst/>
          </a:prstGeom>
          <a:solidFill>
            <a:srgbClr val="B8862B"/>
          </a:solidFill>
          <a:ln/>
        </p:spPr>
      </p:sp>
      <p:sp>
        <p:nvSpPr>
          <p:cNvPr id="17" name="match-hex-label"/>
          <p:cNvSpPr txBox="1"/>
          <p:nvPr/>
        </p:nvSpPr>
        <p:spPr>
          <a:xfrm>
            <a:off x="6351880" y="27981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Cyan</a:t>
            </a:r>
            <a:endParaRPr lang="en-US" sz="2200" dirty="0"/>
          </a:p>
        </p:txBody>
      </p:sp>
      <p:sp>
        <p:nvSpPr>
          <p:cNvPr id="19" name="match-card"/>
          <p:cNvSpPr/>
          <p:nvPr/>
        </p:nvSpPr>
        <p:spPr>
          <a:xfrm>
            <a:off x="777240" y="3348330"/>
            <a:ext cx="5135728" cy="584810"/>
          </a:xfrm>
          <a:prstGeom prst="roundRect">
            <a:avLst>
              <a:gd name="adj" fmla="val 12509"/>
            </a:avLst>
          </a:prstGeom>
          <a:solidFill>
            <a:srgbClr val="E3E5EC"/>
          </a:solidFill>
          <a:ln/>
        </p:spPr>
      </p:sp>
      <p:sp>
        <p:nvSpPr>
          <p:cNvPr id="20" name="match-hex"/>
          <p:cNvSpPr/>
          <p:nvPr/>
        </p:nvSpPr>
        <p:spPr>
          <a:xfrm>
            <a:off x="850392" y="3474442"/>
            <a:ext cx="384048" cy="332586"/>
          </a:xfrm>
          <a:prstGeom prst="hexagon">
            <a:avLst/>
          </a:prstGeom>
          <a:solidFill>
            <a:srgbClr val="24366B"/>
          </a:solidFill>
          <a:ln/>
        </p:spPr>
      </p:sp>
      <p:sp>
        <p:nvSpPr>
          <p:cNvPr id="21" name="match-hex-label"/>
          <p:cNvSpPr txBox="1"/>
          <p:nvPr/>
        </p:nvSpPr>
        <p:spPr>
          <a:xfrm>
            <a:off x="850392" y="3474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48330"/>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Reflects green and blue, absorbs red</a:t>
            </a:r>
            <a:endParaRPr lang="en-US" sz="2200" dirty="0"/>
          </a:p>
        </p:txBody>
      </p:sp>
      <p:sp>
        <p:nvSpPr>
          <p:cNvPr id="23" name="match-card"/>
          <p:cNvSpPr/>
          <p:nvPr/>
        </p:nvSpPr>
        <p:spPr>
          <a:xfrm>
            <a:off x="6278728" y="3348330"/>
            <a:ext cx="5135728" cy="584810"/>
          </a:xfrm>
          <a:prstGeom prst="roundRect">
            <a:avLst>
              <a:gd name="adj" fmla="val 12509"/>
            </a:avLst>
          </a:prstGeom>
          <a:solidFill>
            <a:srgbClr val="F3EADB"/>
          </a:solidFill>
          <a:ln/>
        </p:spPr>
      </p:sp>
      <p:sp>
        <p:nvSpPr>
          <p:cNvPr id="24" name="match-hex"/>
          <p:cNvSpPr/>
          <p:nvPr/>
        </p:nvSpPr>
        <p:spPr>
          <a:xfrm>
            <a:off x="6351880" y="3474442"/>
            <a:ext cx="384048" cy="332586"/>
          </a:xfrm>
          <a:prstGeom prst="hexagon">
            <a:avLst/>
          </a:prstGeom>
          <a:solidFill>
            <a:srgbClr val="B8862B"/>
          </a:solidFill>
          <a:ln/>
        </p:spPr>
      </p:sp>
      <p:sp>
        <p:nvSpPr>
          <p:cNvPr id="25" name="match-hex-label"/>
          <p:cNvSpPr txBox="1"/>
          <p:nvPr/>
        </p:nvSpPr>
        <p:spPr>
          <a:xfrm>
            <a:off x="6351880" y="3474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48330"/>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White</a:t>
            </a:r>
            <a:endParaRPr lang="en-US" sz="2200" dirty="0"/>
          </a:p>
        </p:txBody>
      </p:sp>
      <p:sp>
        <p:nvSpPr>
          <p:cNvPr id="27" name="match-card"/>
          <p:cNvSpPr/>
          <p:nvPr/>
        </p:nvSpPr>
        <p:spPr>
          <a:xfrm>
            <a:off x="777240" y="4024579"/>
            <a:ext cx="5135728" cy="584810"/>
          </a:xfrm>
          <a:prstGeom prst="roundRect">
            <a:avLst>
              <a:gd name="adj" fmla="val 12509"/>
            </a:avLst>
          </a:prstGeom>
          <a:solidFill>
            <a:srgbClr val="E3E5EC"/>
          </a:solidFill>
          <a:ln/>
        </p:spPr>
      </p:sp>
      <p:sp>
        <p:nvSpPr>
          <p:cNvPr id="28" name="match-hex"/>
          <p:cNvSpPr/>
          <p:nvPr/>
        </p:nvSpPr>
        <p:spPr>
          <a:xfrm>
            <a:off x="850392" y="4150691"/>
            <a:ext cx="384048" cy="332586"/>
          </a:xfrm>
          <a:prstGeom prst="hexagon">
            <a:avLst/>
          </a:prstGeom>
          <a:solidFill>
            <a:srgbClr val="24366B"/>
          </a:solidFill>
          <a:ln/>
        </p:spPr>
      </p:sp>
      <p:sp>
        <p:nvSpPr>
          <p:cNvPr id="29"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24579"/>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Reflects red, green and blue</a:t>
            </a:r>
            <a:endParaRPr lang="en-US" sz="2200" dirty="0"/>
          </a:p>
        </p:txBody>
      </p:sp>
      <p:sp>
        <p:nvSpPr>
          <p:cNvPr id="31" name="match-card"/>
          <p:cNvSpPr/>
          <p:nvPr/>
        </p:nvSpPr>
        <p:spPr>
          <a:xfrm>
            <a:off x="6278728" y="4024579"/>
            <a:ext cx="5135728" cy="584810"/>
          </a:xfrm>
          <a:prstGeom prst="roundRect">
            <a:avLst>
              <a:gd name="adj" fmla="val 12509"/>
            </a:avLst>
          </a:prstGeom>
          <a:solidFill>
            <a:srgbClr val="F3EADB"/>
          </a:solidFill>
          <a:ln/>
        </p:spPr>
      </p:sp>
      <p:sp>
        <p:nvSpPr>
          <p:cNvPr id="32" name="match-hex"/>
          <p:cNvSpPr/>
          <p:nvPr/>
        </p:nvSpPr>
        <p:spPr>
          <a:xfrm>
            <a:off x="6351880" y="4150691"/>
            <a:ext cx="384048" cy="332586"/>
          </a:xfrm>
          <a:prstGeom prst="hexagon">
            <a:avLst/>
          </a:prstGeom>
          <a:solidFill>
            <a:srgbClr val="B8862B"/>
          </a:solidFill>
          <a:ln/>
        </p:spPr>
      </p:sp>
      <p:sp>
        <p:nvSpPr>
          <p:cNvPr id="33" name="match-hex-label"/>
          <p:cNvSpPr txBox="1"/>
          <p:nvPr/>
        </p:nvSpPr>
        <p:spPr>
          <a:xfrm>
            <a:off x="6351880"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024579"/>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Yellow</a:t>
            </a:r>
            <a:endParaRPr lang="en-US" sz="2200" dirty="0"/>
          </a:p>
        </p:txBody>
      </p:sp>
      <p:sp>
        <p:nvSpPr>
          <p:cNvPr id="35" name="match-card"/>
          <p:cNvSpPr/>
          <p:nvPr/>
        </p:nvSpPr>
        <p:spPr>
          <a:xfrm>
            <a:off x="777240" y="4700829"/>
            <a:ext cx="5135728" cy="584810"/>
          </a:xfrm>
          <a:prstGeom prst="roundRect">
            <a:avLst>
              <a:gd name="adj" fmla="val 12509"/>
            </a:avLst>
          </a:prstGeom>
          <a:solidFill>
            <a:srgbClr val="E3E5EC"/>
          </a:solidFill>
          <a:ln/>
        </p:spPr>
      </p:sp>
      <p:sp>
        <p:nvSpPr>
          <p:cNvPr id="36" name="match-hex"/>
          <p:cNvSpPr/>
          <p:nvPr/>
        </p:nvSpPr>
        <p:spPr>
          <a:xfrm>
            <a:off x="850392" y="4826941"/>
            <a:ext cx="384048" cy="332586"/>
          </a:xfrm>
          <a:prstGeom prst="hexagon">
            <a:avLst/>
          </a:prstGeom>
          <a:solidFill>
            <a:srgbClr val="24366B"/>
          </a:solidFill>
          <a:ln/>
        </p:spPr>
      </p:sp>
      <p:sp>
        <p:nvSpPr>
          <p:cNvPr id="37" name="match-hex-label"/>
          <p:cNvSpPr txBox="1"/>
          <p:nvPr/>
        </p:nvSpPr>
        <p:spPr>
          <a:xfrm>
            <a:off x="850392" y="482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00829"/>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Absorbs red, green and blue</a:t>
            </a:r>
            <a:endParaRPr lang="en-US" sz="2200" dirty="0"/>
          </a:p>
        </p:txBody>
      </p:sp>
      <p:sp>
        <p:nvSpPr>
          <p:cNvPr id="39" name="match-card"/>
          <p:cNvSpPr/>
          <p:nvPr/>
        </p:nvSpPr>
        <p:spPr>
          <a:xfrm>
            <a:off x="6278728" y="4700829"/>
            <a:ext cx="5135728" cy="584810"/>
          </a:xfrm>
          <a:prstGeom prst="roundRect">
            <a:avLst>
              <a:gd name="adj" fmla="val 12509"/>
            </a:avLst>
          </a:prstGeom>
          <a:solidFill>
            <a:srgbClr val="F3EADB"/>
          </a:solidFill>
          <a:ln/>
        </p:spPr>
      </p:sp>
      <p:sp>
        <p:nvSpPr>
          <p:cNvPr id="40" name="match-hex"/>
          <p:cNvSpPr/>
          <p:nvPr/>
        </p:nvSpPr>
        <p:spPr>
          <a:xfrm>
            <a:off x="6351880" y="4826941"/>
            <a:ext cx="384048" cy="332586"/>
          </a:xfrm>
          <a:prstGeom prst="hexagon">
            <a:avLst/>
          </a:prstGeom>
          <a:solidFill>
            <a:srgbClr val="B8862B"/>
          </a:solidFill>
          <a:ln/>
        </p:spPr>
      </p:sp>
      <p:sp>
        <p:nvSpPr>
          <p:cNvPr id="41" name="match-hex-label"/>
          <p:cNvSpPr txBox="1"/>
          <p:nvPr/>
        </p:nvSpPr>
        <p:spPr>
          <a:xfrm>
            <a:off x="6351880" y="482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700829"/>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Black</a:t>
            </a:r>
            <a:endParaRPr lang="en-US" sz="2200" dirty="0"/>
          </a:p>
        </p:txBody>
      </p:sp>
      <p:sp>
        <p:nvSpPr>
          <p:cNvPr id="43" name="match-card"/>
          <p:cNvSpPr/>
          <p:nvPr/>
        </p:nvSpPr>
        <p:spPr>
          <a:xfrm>
            <a:off x="777240" y="5377078"/>
            <a:ext cx="5135728" cy="584810"/>
          </a:xfrm>
          <a:prstGeom prst="roundRect">
            <a:avLst>
              <a:gd name="adj" fmla="val 12509"/>
            </a:avLst>
          </a:prstGeom>
          <a:solidFill>
            <a:srgbClr val="E3E5EC"/>
          </a:solidFill>
          <a:ln/>
        </p:spPr>
      </p:sp>
      <p:sp>
        <p:nvSpPr>
          <p:cNvPr id="44" name="match-hex"/>
          <p:cNvSpPr/>
          <p:nvPr/>
        </p:nvSpPr>
        <p:spPr>
          <a:xfrm>
            <a:off x="850392" y="5503190"/>
            <a:ext cx="384048" cy="332586"/>
          </a:xfrm>
          <a:prstGeom prst="hexagon">
            <a:avLst/>
          </a:prstGeom>
          <a:solidFill>
            <a:srgbClr val="24366B"/>
          </a:solidFill>
          <a:ln/>
        </p:spPr>
      </p:sp>
      <p:sp>
        <p:nvSpPr>
          <p:cNvPr id="45" name="match-hex-label"/>
          <p:cNvSpPr txBox="1"/>
          <p:nvPr/>
        </p:nvSpPr>
        <p:spPr>
          <a:xfrm>
            <a:off x="850392" y="55031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77078"/>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Reflects only green, absorbs the rest</a:t>
            </a:r>
            <a:endParaRPr lang="en-US" sz="2200" dirty="0"/>
          </a:p>
        </p:txBody>
      </p:sp>
      <p:sp>
        <p:nvSpPr>
          <p:cNvPr id="47" name="match-card"/>
          <p:cNvSpPr/>
          <p:nvPr/>
        </p:nvSpPr>
        <p:spPr>
          <a:xfrm>
            <a:off x="6278728" y="5377078"/>
            <a:ext cx="5135728" cy="584810"/>
          </a:xfrm>
          <a:prstGeom prst="roundRect">
            <a:avLst>
              <a:gd name="adj" fmla="val 12509"/>
            </a:avLst>
          </a:prstGeom>
          <a:solidFill>
            <a:srgbClr val="F3EADB"/>
          </a:solidFill>
          <a:ln/>
        </p:spPr>
      </p:sp>
      <p:sp>
        <p:nvSpPr>
          <p:cNvPr id="48" name="match-hex"/>
          <p:cNvSpPr/>
          <p:nvPr/>
        </p:nvSpPr>
        <p:spPr>
          <a:xfrm>
            <a:off x="6351880" y="5503190"/>
            <a:ext cx="384048" cy="332586"/>
          </a:xfrm>
          <a:prstGeom prst="hexagon">
            <a:avLst/>
          </a:prstGeom>
          <a:solidFill>
            <a:srgbClr val="B8862B"/>
          </a:solidFill>
          <a:ln/>
        </p:spPr>
      </p:sp>
      <p:sp>
        <p:nvSpPr>
          <p:cNvPr id="49" name="match-hex-label"/>
          <p:cNvSpPr txBox="1"/>
          <p:nvPr/>
        </p:nvSpPr>
        <p:spPr>
          <a:xfrm>
            <a:off x="6351880" y="55031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377078"/>
            <a:ext cx="4541368"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Green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From reflects and absorbs to colour</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From reflects and absorbs to colour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Ignore what is absorbed: only reflected light reaches your eye.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primary reflected: that primary colour.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primaries reflected: a secondary colour (red + green = yellow, green + blue = cyan, red + blue = magenta).</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All three reflected: white. None reflected: black.</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Add up only the reflected primaries. Two primaries make a secondary colour.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yellow object (reflects red and green) is now lit by cyan light (green and blue). Work out and explain the colour it appears.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colour of visible light has the longest wavelength?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Violet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Green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Blue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Coloured object, coloured light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red jumper is lit only by blue light. What colour does it look?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Black</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red jumper reflects red and absorbs other colours. In blue light there is no red to reflect, so it absorbs the blue and appears black.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From reflects and absorbs to colour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Reflects red and green, absorbs blue  →  C  Yellow</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Reflects green and blue, absorbs red  →  A  Cyan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Reflects red, green and blue  →  B  White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Absorbs red, green and blue  →  D  Black</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Reflects only green, absorbs the rest  →  E  Green</a:t>
            </a:r>
            <a:endParaRPr lang="en-US" sz="24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colour you see is the mix of the colours reflected: red + green = yellow, green + blue = cyan, all three = white, none = black, one primary alone = that primary.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colour of visible light has the longest wavelength?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Red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Wavelength decreases from red (about 700 nm) to violet (about 400 nm) across the visible spectrum.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3: Visible light and colour</dc:title>
  <dc:subject>Physics (Triple Science) · Year 11</dc:subject>
  <dc:creator>Dr Vitor Merissi de Carvalho</dc:creator>
  <cp:lastModifiedBy>Dr Vitor Merissi de Carvalho</cp:lastModifiedBy>
  <cp:revision>1</cp:revision>
  <dcterms:created xsi:type="dcterms:W3CDTF">2026-10-19T06:08:17Z</dcterms:created>
  <dcterms:modified xsi:type="dcterms:W3CDTF">2026-10-19T06:08:17Z</dcterms:modified>
</cp:coreProperties>
</file>