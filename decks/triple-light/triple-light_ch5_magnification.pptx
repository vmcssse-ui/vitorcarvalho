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6e092ba-130c-19e7-605e-f5b25056a7e4}">
          <p14:sldIdLst>
            <p14:sldId id="256"/>
          </p14:sldIdLst>
        </p14:section>
        <p14:section name="Gate" id="{cc8c5b5f-7d60-d91b-eecb-c98c6fa24cc2}">
          <p14:sldIdLst>
            <p14:sldId id="257"/>
            <p14:sldId id="258"/>
          </p14:sldIdLst>
        </p14:section>
        <p14:section name="Pre-teach" id="{562d7c73-cdf0-27c8-b497-d993a429cd0a}">
          <p14:sldIdLst>
            <p14:sldId id="259"/>
            <p14:sldId id="260"/>
          </p14:sldIdLst>
        </p14:section>
        <p14:section name="Read-along" id="{adccfe05-d1ae-5b6e-cf86-a653e3ea389d}">
          <p14:sldIdLst>
            <p14:sldId id="261"/>
            <p14:sldId id="262"/>
          </p14:sldIdLst>
        </p14:section>
        <p14:section name="Teach" id="{1d3ec25b-c4cf-0b74-a5bc-6f24021cf3dc}">
          <p14:sldIdLst>
            <p14:sldId id="263"/>
            <p14:sldId id="264"/>
            <p14:sldId id="265"/>
            <p14:sldId id="266"/>
          </p14:sldIdLst>
        </p14:section>
        <p14:section name="Routes" id="{50222f27-2331-e9f8-d8b1-0b3ff3f983da}">
          <p14:sldIdLst>
            <p14:sldId id="267"/>
            <p14:sldId id="268"/>
            <p14:sldId id="269"/>
          </p14:sldIdLst>
        </p14:section>
        <p14:section name="Close" id="{54e65119-44c0-5fc0-a35a-29528200162a}">
          <p14:sldIdLst>
            <p14:sldId id="270"/>
          </p14:sldIdLst>
        </p14:section>
        <p14:section name="Answers" id="{6e312f87-dd16-64be-ea08-9ebe5eca3b23}">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Magnification. The equation, its units (none), converting mm and cm, rearranging it, and the lens practical where you measure it.
This deck covers the department's lesson: 4 (P14.4 Lenses: What do convex and concave lenses do to light, and how is magnification calculated?).
Read the big question aloud: "How does a flat mirror, a glass block or a curved lens change the path of light, and how do we use that to make the images we see?"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image of an insect is 6 cm tall. The insect itself is 2 cm tall. Calculate the magnification.  →  3
2. What is the unit of magnification?  →  B   It has no units
3. Magnification = image height ÷ ___ height.  →  object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3. Magnification = image height ÷ object height = 6 ÷ 2 = 3. No units. Exact.
2. B   It has no units. Magnification is a ratio of two lengths, so the units cancel.
3. object. Magnification = image height ÷ object height.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magnification: how many times bigger the image is than the object. Example: "A magnification of 3 means the image is three times as tall as the object."
• image height: how tall the image is. Example: "She measured the image height on the screen with a ruler."
• object height: how tall the real object is. Example: "The object height of the crosswires was 3 cm."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ratio: one quantity divided by another, so the units cancel. Example: "Magnification is a ratio, so it has no units."
• magnified: bigger than the object. Example: "A magnifying glass gives a magnified image."
• diminished: smaller than the object. Example: "A camera gives a diminished image on its sensor."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Magnification tells you how many times bigger the image is than the object.
2. Magnification = image height ÷ object height.
3. If the image is 6 cm tall and the object is 2 cm tall, the magnification is 3.
4. Magnification is a ratio, so it has no units.
5. Measure both heights in the same unit, such as cm or mm.
6. A magnification bigger than 1 means the image is larger than the object.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We say the image is magnified.
8. A magnification smaller than 1 means the image is smaller than the object.
9. We say the image is diminished.
10. A camera makes a diminished image.
11. A magnifying glass makes a magnified image.
12. You can rearrange the equation to find the object height or the image height.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magnification equation. Say it in your own words, then check understanding with a quick question: ask a pupil from the pre-teach group first, since they met these words and ideas before the lesson. Pupils try to recall before you re-explain.
Magnification compares the size of the image with the size of the object: magnification = image height ÷ object height. On the AQA equation sheet it is written with image height on top. Magnification is a ratio, one length divided by another, so the units cancel and the answer has no units.
The two heights must be in the same unit before you divide. If the image is in centimetres and the object in millimetres, convert one of them first: there are 10 mm in 1 cm, so 4 mm is 0.4 cm.
A magnification greater than 1 means the image is bigger than the object (magnified); less than 1 means it is smaller (diminished); exactly 1 means the same size, as in a plane mirror.
Worked example — model it step by step, thinking aloud: In the lens practical a pupil measures the image of the crosswires as 7.5 cm tall. The crosswires themselves are 3 cm tall. Calculate the magnification. (1) Write the equation: magnification = image height ÷ object height. (2) Both heights are in cm, so no conversion is needed. (3) Magnification = 7.5 ÷ 3 = 2.5. (4) No units: magnification is a ratio. Answer: 2.5 (no units).
Tip: Write the unit next to each height before you divide. If they differ, convert first. Never write a unit after the magnification.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magnification equation. Say it in your own words, then check understanding with a quick question: ask a pupil from the pre-teach group first, since they met these words and ideas before the lesson. Pupils try to recall before you re-explain.
Magnification compares the size of the image with the size of the object: magnification = image height ÷ object height. On the AQA equation sheet it is written with image height on top. Magnification is a ratio, one length divided by another, so the units cancel and the answer has no units.
The two heights must be in the same unit before you divide. If the image is in centimetres and the object in millimetres, convert one of them first: there are 10 mm in 1 cm, so 4 mm is 0.4 cm.
A magnification greater than 1 means the image is bigger than the object (magnified); less than 1 means it is smaller (diminished); exactly 1 means the same size, as in a plane mirror.
Worked example — model it step by step, thinking aloud: In the lens practical a pupil measures the image of the crosswires as 7.5 cm tall. The crosswires themselves are 3 cm tall. Calculate the magnification. (1) Write the equation: magnification = image height ÷ object height. (2) Both heights are in cm, so no conversion is needed. (3) Magnification = 7.5 ÷ 3 = 2.5. (4) No units: magnification is a ratio. Answer: 2.5 (no units).
Tip: Write the unit next to each height before you divide. If they differ, convert first. Never write a unit after the magnification.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Rearranging the equation. Say it in your own words, then check understanding with a quick question: ask a pupil from the pre-teach group first, since they met these words and ideas before the lesson. Pupils try to recall before you re-explain.
Sometimes you know the magnification and one height. Rearrange: image height = magnification × object height, and object height = image height ÷ magnification. Use the triangle: image height on top, magnification and object height underneath.
Check that your answer makes sense. A magnifying glass with magnification 5 must give an image 5 times taller than the object, so if your 'object' comes out bigger than the image, the equation is upside down.
Worked example — model it step by step, thinking aloud: A projector gives a magnification of 40. The image of a slide on the screen is 1.2 m tall. How tall is the picture on the slide, in centimetres? (1) Object height = image height ÷ magnification. (2) Convert to cm first: 1.2 m is 120 cm. (3) Object height = 120 ÷ 40 = 3 cm. Answer: 3 cm.
Tip: Cover the quantity you want on the triangle: what is left tells you whether to multiply or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Investigating a convex lens. Say it in your own words, then check understanding with a quick question: ask a pupil from the pre-teach group first, since they met these words and ideas before the lesson. Pupils try to recall before you re-explain.
Set up a metre rule with a lamp and crosswires (the object) at one end. Put the convex lens at the 10 cm mark, so the object distance is 10 cm, and move a white screen along the rule until the image of the crosswires is sharp.
Measure the height of the object and the height of its image, using the grid on the screen, and record the image distance from the lens to the screen. Move the lens to the 20 cm, 30 cm, 40 cm, 50 cm and 60 cm marks and repeat. Calculate the magnification for each object distance.
You should find that the image is real and inverted, and that as the object distance increases the image gets smaller and the magnification falls. When the object is inside the focal length, no sharp image can be found on the screen at all, because the image is virtual.
Tip: Your table needs five columns: object distance, image distance, object height, image height, magnification. Only the last column has no unit in its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Mixed units.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Through a magnifying glass, the image of an ant is 4.8 cm tall. The ant itself is 4 mm tall. Calculate the magnification.
Support — work through the steps with the group: (1) Write both heights with their units: image 4.8 cm, object 4 mm. (2) They differ, so convert: 10 mm = 1 cm, so 4 mm = 0.4 cm. (3) Magnification = image height ÷ object height = 4.8 ÷ 0.4. (4) Write the answer with no units.
Parallel worked example for Support (model it, do not give the task answer): The image of a seed is 3.5 cm long and the seed is 5 mm long. Calculate the magnification. Convert: 5 mm = 0.5 cm.; Magnification = 3.5 ÷ 0.5 = 7.; No units.. Answer: 7.
Core — reveal the hint only on request: Same units first. 10 mm in a cm.
Stretch — no help; when finished: Explain why you would get the same magnification if you converted the other way, turning 4.8 cm into millimetres instead, and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Finding the object.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convex lens gives a magnification of 6. The image is 15 cm tall. Calculate the height of the object, in cm.
Support — work through the steps with the group: (1) Cover 'object height' on the triangle: image height is over magnification, so divide. (2) Object height = image height ÷ magnification. (3) Put the numbers in and divide. (4) The object is a length, so give the unit: cm.
Parallel worked example for Support (model it, do not give the task answer): A lens gives a magnification of 5. The image is 12 cm tall. How tall is the object? Object height = image height ÷ magnification.; 12 ÷ 5 = 2.4 cm.. Answer: 2.4 cm.
Core — reveal the hint only on request: The image is 6 times taller than the object, so the object is the image divided by 6.
Stretch — no help; when finished: Explain why the object height has a unit (cm) but the magnification you were given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Finding the object.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convex lens gives a magnification of 6. The image is 15 cm tall. Calculate the height of the object, in cm.
Support — work through the steps with the group: (1) Cover 'object height' on the triangle: image height is over magnification, so divide. (2) Object height = image height ÷ magnification. (3) Put the numbers in and divide. (4) The object is a length, so give the unit: cm.
Parallel worked example for Support (model it, do not give the task answer): A lens gives a magnification of 5. The image is 12 cm tall. How tall is the object? Object height = image height ÷ magnification.; 12 ÷ 5 = 2.4 cm.. Answer: 2.4 cm.
Core — reveal the hint only on request: The image is 6 times taller than the object, so the object is the image divided by 6.
Stretch — no help; when finished: Explain why the object height has a unit (cm) but the magnification you were given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camera lens forms an image of a person who is 1.8 m tall. The image on the sensor is 3.6 cm tall. Calculate the magnification.
Answer: 0.02. 1.8 m = 180 cm. Magnification = 3.6 ÷ 180 = 0.02, less than 1 because the camera forms a diminished image.
Source of this question: module 3 task ("Smaller than the object")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Mixed units. Reveal the answer; pupils mark their own work in a different colour, then read the "why" together. Same destination for every lane, so one answer serves the whole class.
Answer: 12
Why: 4 mm = 0.4 cm. Magnification = 4.8 ÷ 0.4 = 12. A magnification has no units because it is a length divided by a length in the same unit.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Finding the object. Reveal the answer; pupils mark their own work in a different colour, then read the "why" together. Same destination for every lane, so one answer serves the whole class.
Answer: 2.5 cm
Why: Rearranging magnification = image height ÷ object height gives object height = image height ÷ magnification = 15 ÷ 6 = 2.5 cm.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0.02
Why: 1.8 m = 180 cm. Magnification = 3.6 ÷ 180 = 0.02, less than 1 because the camera forms a diminished image.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Light · AQA 8463</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Magnification</a:t>
            </a:r>
            <a:endParaRPr lang="en-US" sz="4000" dirty="0"/>
          </a:p>
        </p:txBody>
      </p:sp>
      <p:sp>
        <p:nvSpPr>
          <p:cNvPr id="11" name="lessons-card"/>
          <p:cNvSpPr/>
          <p:nvPr/>
        </p:nvSpPr>
        <p:spPr>
          <a:xfrm>
            <a:off x="548640" y="3739388"/>
            <a:ext cx="5287975" cy="980440"/>
          </a:xfrm>
          <a:prstGeom prst="roundRect">
            <a:avLst>
              <a:gd name="adj" fmla="val 7461"/>
            </a:avLst>
          </a:prstGeom>
          <a:solidFill>
            <a:srgbClr val="DEE1E9"/>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P14.4 Lenses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flat mirror, a glass block or a curved lens change the path of light, and how do we use that to make the images we see?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image of an insect is 6 cm tall. The insect itself is 2 cm tall. Calculate the magnification.</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unit of magnification?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has no units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cm</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Magnification = image height ÷ ___ height.</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object  ·  lens  ·  focal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image of an insect is 6 cm tall. The insect itself is 2 cm tall. Calculate the magnification.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Magnification = image height ÷ object height = 6 ÷ 2 = 3. No units. Exact.</a:t>
            </a:r>
            <a:endParaRPr lang="en-US" sz="22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It has no units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unit of magnification?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Magnification is a ratio of two lengths, so the units cancel.</a:t>
            </a:r>
            <a:endParaRPr lang="en-US" sz="22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object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Magnification = image height ÷ ___ height.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Magnification = image height ÷ object height.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magnification</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many times bigger the image is than the object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magnification of 3 means the image is three times as tall as the object.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image height</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tall the image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She measured the image height on the screen with a ruler.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object height</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tall the real object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object height of the crosswires was 3 cm.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ratio</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quantity divided by another, so the units cancel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Magnification is a ratio, so it has no units.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magnified</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bigger than the object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magnifying glass gives a magnified image.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diminished</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smaller than the object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camera gives a diminished image on its sensor.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tells you how many times bigger the image is than the object.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image height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object height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If the image is 6 cm tall and the object is 2 cm tall, the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3.</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ratio</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so it has no units.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Measure both heights in the same unit, such as cm or mm.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bigger than 1 means the image is larger than the object.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say the image is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magnified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smaller than 1 means the image is smaller than the object.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say the image is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diminished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camera makes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diminished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image.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magnifying glass makes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magnified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image.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can rearrange the equation to find the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object height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or the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image height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magnification equation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the unit next to each height before you divide. If they differ, convert first. Never write a unit after the magnification.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Magnification compares the size of the image with the size of the object: magnification = image height ÷ object height.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two heights must be in the same unit before you divide.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magnification greater than 1 means the image is bigger than the object (magnified); less than 1 means it is smaller (diminished); exactly 1 means the same size, as in a plane mirror.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The magnification equation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EE1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the lens practical a pupil measures the image of the crosswires as 7.5 cm tall. The crosswires themselves are 3 cm tall. Calculate the magnification.</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magnification = image height ÷ object height.</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8790AE"/>
            </a:solidFill>
            <a:prstDash val="solid"/>
          </a:ln>
        </p:spPr>
      </p:sp>
      <p:sp>
        <p:nvSpPr>
          <p:cNvPr id="15" name="step-hex"/>
          <p:cNvSpPr/>
          <p:nvPr/>
        </p:nvSpPr>
        <p:spPr>
          <a:xfrm>
            <a:off x="3562274" y="2765552"/>
            <a:ext cx="530352" cy="459285"/>
          </a:xfrm>
          <a:prstGeom prst="hexagon">
            <a:avLst/>
          </a:prstGeom>
          <a:solidFill>
            <a:srgbClr val="24366B"/>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Both heights are in cm, so no conversion is needed.</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8790AE"/>
            </a:solidFill>
            <a:prstDash val="solid"/>
          </a:ln>
        </p:spPr>
      </p:sp>
      <p:sp>
        <p:nvSpPr>
          <p:cNvPr id="20" name="step-hex"/>
          <p:cNvSpPr/>
          <p:nvPr/>
        </p:nvSpPr>
        <p:spPr>
          <a:xfrm>
            <a:off x="6438748" y="2765552"/>
            <a:ext cx="530352" cy="459285"/>
          </a:xfrm>
          <a:prstGeom prst="hexagon">
            <a:avLst/>
          </a:prstGeom>
          <a:solidFill>
            <a:srgbClr val="24366B"/>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Magnification = 7.5 ÷ 3 = 2.5.</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8790AE"/>
            </a:solidFill>
            <a:prstDash val="solid"/>
          </a:ln>
        </p:spPr>
      </p:sp>
      <p:sp>
        <p:nvSpPr>
          <p:cNvPr id="25" name="step-hex"/>
          <p:cNvSpPr/>
          <p:nvPr/>
        </p:nvSpPr>
        <p:spPr>
          <a:xfrm>
            <a:off x="9315221" y="2765552"/>
            <a:ext cx="530352" cy="459285"/>
          </a:xfrm>
          <a:prstGeom prst="hexagon">
            <a:avLst/>
          </a:prstGeom>
          <a:solidFill>
            <a:srgbClr val="24366B"/>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 units: magnification is a ratio.</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2.5 (no units)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Rearranging the equation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1E7D5"/>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Cover the quantity you want on the triangle: what is left tells you whether to multiply or divide.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790AE"/>
            </a:solidFill>
            <a:prstDash val="solid"/>
          </a:ln>
        </p:spPr>
      </p:sp>
      <p:sp>
        <p:nvSpPr>
          <p:cNvPr id="12" name="worked-tab"/>
          <p:cNvSpPr/>
          <p:nvPr/>
        </p:nvSpPr>
        <p:spPr>
          <a:xfrm>
            <a:off x="6126480" y="1499616"/>
            <a:ext cx="2377440" cy="457200"/>
          </a:xfrm>
          <a:prstGeom prst="roundRect">
            <a:avLst>
              <a:gd name="adj" fmla="val 40000"/>
            </a:avLst>
          </a:prstGeom>
          <a:solidFill>
            <a:srgbClr val="24366B"/>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projector gives a magnification of 40. The image of a slide on the screen is 1.2 m tall. How tall is the picture on the slide, in centimetres?</a:t>
            </a:r>
            <a:endParaRPr lang="en-US" sz="1800" dirty="0"/>
          </a:p>
        </p:txBody>
      </p:sp>
      <p:sp>
        <p:nvSpPr>
          <p:cNvPr id="14" name="step-box"/>
          <p:cNvSpPr/>
          <p:nvPr/>
        </p:nvSpPr>
        <p:spPr>
          <a:xfrm>
            <a:off x="6126480" y="3167380"/>
            <a:ext cx="5379415" cy="566928"/>
          </a:xfrm>
          <a:prstGeom prst="roundRect">
            <a:avLst>
              <a:gd name="adj" fmla="val 16129"/>
            </a:avLst>
          </a:prstGeom>
          <a:solidFill>
            <a:srgbClr val="DEE1E9"/>
          </a:solidFill>
          <a:ln/>
        </p:spPr>
      </p:sp>
      <p:sp>
        <p:nvSpPr>
          <p:cNvPr id="15" name="step-hex"/>
          <p:cNvSpPr/>
          <p:nvPr/>
        </p:nvSpPr>
        <p:spPr>
          <a:xfrm>
            <a:off x="6217920" y="3268714"/>
            <a:ext cx="420624" cy="364260"/>
          </a:xfrm>
          <a:prstGeom prst="hexagon">
            <a:avLst/>
          </a:prstGeom>
          <a:solidFill>
            <a:srgbClr val="24366B"/>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Object height = image height ÷ magnification.</a:t>
            </a:r>
            <a:endParaRPr lang="en-US" sz="1800" dirty="0"/>
          </a:p>
        </p:txBody>
      </p:sp>
      <p:sp>
        <p:nvSpPr>
          <p:cNvPr id="18" name="step-box"/>
          <p:cNvSpPr/>
          <p:nvPr/>
        </p:nvSpPr>
        <p:spPr>
          <a:xfrm>
            <a:off x="6126480" y="3825748"/>
            <a:ext cx="5379415" cy="566928"/>
          </a:xfrm>
          <a:prstGeom prst="roundRect">
            <a:avLst>
              <a:gd name="adj" fmla="val 16129"/>
            </a:avLst>
          </a:prstGeom>
          <a:solidFill>
            <a:srgbClr val="DEE1E9"/>
          </a:solidFill>
          <a:ln/>
        </p:spPr>
      </p:sp>
      <p:sp>
        <p:nvSpPr>
          <p:cNvPr id="19" name="step-hex"/>
          <p:cNvSpPr/>
          <p:nvPr/>
        </p:nvSpPr>
        <p:spPr>
          <a:xfrm>
            <a:off x="6217920" y="3927082"/>
            <a:ext cx="420624" cy="364260"/>
          </a:xfrm>
          <a:prstGeom prst="hexagon">
            <a:avLst/>
          </a:prstGeom>
          <a:solidFill>
            <a:srgbClr val="24366B"/>
          </a:solidFill>
          <a:ln/>
        </p:spPr>
      </p:sp>
      <p:sp>
        <p:nvSpPr>
          <p:cNvPr id="20" name="step-hex-label"/>
          <p:cNvSpPr txBox="1"/>
          <p:nvPr/>
        </p:nvSpPr>
        <p:spPr>
          <a:xfrm>
            <a:off x="6217920" y="39270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Convert to cm first: 1.2 m is 120 cm.</a:t>
            </a:r>
            <a:endParaRPr lang="en-US" sz="1800" dirty="0"/>
          </a:p>
        </p:txBody>
      </p:sp>
      <p:sp>
        <p:nvSpPr>
          <p:cNvPr id="22" name="step-box"/>
          <p:cNvSpPr/>
          <p:nvPr/>
        </p:nvSpPr>
        <p:spPr>
          <a:xfrm>
            <a:off x="6126480" y="4484116"/>
            <a:ext cx="5379415" cy="566928"/>
          </a:xfrm>
          <a:prstGeom prst="roundRect">
            <a:avLst>
              <a:gd name="adj" fmla="val 16129"/>
            </a:avLst>
          </a:prstGeom>
          <a:solidFill>
            <a:srgbClr val="DEE1E9"/>
          </a:solidFill>
          <a:ln/>
        </p:spPr>
      </p:sp>
      <p:sp>
        <p:nvSpPr>
          <p:cNvPr id="23" name="step-hex"/>
          <p:cNvSpPr/>
          <p:nvPr/>
        </p:nvSpPr>
        <p:spPr>
          <a:xfrm>
            <a:off x="6217920" y="4585450"/>
            <a:ext cx="420624" cy="364260"/>
          </a:xfrm>
          <a:prstGeom prst="hexagon">
            <a:avLst/>
          </a:prstGeom>
          <a:solidFill>
            <a:srgbClr val="24366B"/>
          </a:solidFill>
          <a:ln/>
        </p:spPr>
      </p:sp>
      <p:sp>
        <p:nvSpPr>
          <p:cNvPr id="24" name="step-hex-label"/>
          <p:cNvSpPr txBox="1"/>
          <p:nvPr/>
        </p:nvSpPr>
        <p:spPr>
          <a:xfrm>
            <a:off x="6217920" y="45854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841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Object height = 120 ÷ 40 = 3 cm.</a:t>
            </a:r>
            <a:endParaRPr lang="en-US" sz="1800" dirty="0"/>
          </a:p>
        </p:txBody>
      </p:sp>
      <p:sp>
        <p:nvSpPr>
          <p:cNvPr id="26" name="worked-answer"/>
          <p:cNvSpPr/>
          <p:nvPr/>
        </p:nvSpPr>
        <p:spPr>
          <a:xfrm>
            <a:off x="6126480" y="5188204"/>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 cm</a:t>
            </a:r>
            <a:endParaRPr lang="en-US" sz="1800" dirty="0"/>
          </a:p>
        </p:txBody>
      </p:sp>
      <p:sp>
        <p:nvSpPr>
          <p:cNvPr id="27" name="bullet-card"/>
          <p:cNvSpPr/>
          <p:nvPr/>
        </p:nvSpPr>
        <p:spPr>
          <a:xfrm>
            <a:off x="548640" y="1389888"/>
            <a:ext cx="5074920" cy="1490980"/>
          </a:xfrm>
          <a:prstGeom prst="roundRect">
            <a:avLst>
              <a:gd name="adj" fmla="val 4906"/>
            </a:avLst>
          </a:prstGeom>
          <a:solidFill>
            <a:srgbClr val="E3E5EC"/>
          </a:solidFill>
          <a:ln/>
        </p:spPr>
      </p:sp>
      <p:sp>
        <p:nvSpPr>
          <p:cNvPr id="28" name="bullet-hex"/>
          <p:cNvSpPr/>
          <p:nvPr/>
        </p:nvSpPr>
        <p:spPr>
          <a:xfrm>
            <a:off x="676656" y="1969085"/>
            <a:ext cx="384048" cy="332586"/>
          </a:xfrm>
          <a:prstGeom prst="hexagon">
            <a:avLst/>
          </a:prstGeom>
          <a:solidFill>
            <a:srgbClr val="24366B"/>
          </a:solidFill>
          <a:ln/>
        </p:spPr>
      </p:sp>
      <p:sp>
        <p:nvSpPr>
          <p:cNvPr id="29" name="bullet"/>
          <p:cNvSpPr txBox="1"/>
          <p:nvPr/>
        </p:nvSpPr>
        <p:spPr>
          <a:xfrm>
            <a:off x="1143000" y="1389888"/>
            <a:ext cx="4389120" cy="14909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Sometimes you know the magnification and one height. Rearrange: image height = magnification × object height, and object height = image height ÷ magnification.</a:t>
            </a:r>
            <a:endParaRPr lang="en-US" sz="1800" dirty="0"/>
          </a:p>
        </p:txBody>
      </p:sp>
      <p:sp>
        <p:nvSpPr>
          <p:cNvPr id="30" name="bullet-card"/>
          <p:cNvSpPr/>
          <p:nvPr/>
        </p:nvSpPr>
        <p:spPr>
          <a:xfrm>
            <a:off x="548640" y="3027172"/>
            <a:ext cx="5074920" cy="1769872"/>
          </a:xfrm>
          <a:prstGeom prst="roundRect">
            <a:avLst>
              <a:gd name="adj" fmla="val 4133"/>
            </a:avLst>
          </a:prstGeom>
          <a:solidFill>
            <a:srgbClr val="E3E5EC"/>
          </a:solidFill>
          <a:ln/>
        </p:spPr>
      </p:sp>
      <p:sp>
        <p:nvSpPr>
          <p:cNvPr id="31" name="bullet-hex"/>
          <p:cNvSpPr/>
          <p:nvPr/>
        </p:nvSpPr>
        <p:spPr>
          <a:xfrm>
            <a:off x="676656" y="3745815"/>
            <a:ext cx="384048" cy="332586"/>
          </a:xfrm>
          <a:prstGeom prst="hexagon">
            <a:avLst/>
          </a:prstGeom>
          <a:solidFill>
            <a:srgbClr val="B8862B"/>
          </a:solidFill>
          <a:ln/>
        </p:spPr>
      </p:sp>
      <p:sp>
        <p:nvSpPr>
          <p:cNvPr id="32" name="bullet"/>
          <p:cNvSpPr txBox="1"/>
          <p:nvPr/>
        </p:nvSpPr>
        <p:spPr>
          <a:xfrm>
            <a:off x="1143000" y="3027172"/>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that your answer makes sense. A magnifying glass with magnification 5 must give an image 5 times taller than the object, so if your 'object' comes out bigger than the image, the equation is upside down.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Investigating a convex lens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table needs five columns: object distance, image distance, object height, image height, magnification. Only the last column has no unit in its heading.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Set up a metre rule with a lamp and crosswires (the object) at one end.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Measure the height of the object and the height of its image, using the grid on the screen, and record the image distance from the lens to the screen.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 should find that the image is real and inverted, and that as the object distance increases the image gets smaller and the magnification falls.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Same task, three ways in: Mixed units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Through a magnifying glass, the image of an ant is 4.8 cm tall. The ant itself is 4 mm tall. Calculate the magnification.</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948940"/>
            <a:ext cx="4667802" cy="3195828"/>
          </a:xfrm>
          <a:prstGeom prst="roundRect">
            <a:avLst>
              <a:gd name="adj" fmla="val 1717"/>
            </a:avLst>
          </a:prstGeom>
          <a:solidFill>
            <a:srgbClr val="DEE1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both heights with their units: image 4.8 cm, object 4 mm.</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differ, so convert: 10 mm = 1 cm, so 4 mm = 0.4 cm.</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Magnification = image height ÷ object height = 4.8 ÷ 0.4.</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answer with no units.</a:t>
            </a:r>
            <a:endParaRPr lang="en-US" sz="1800" dirty="0"/>
          </a:p>
        </p:txBody>
      </p:sp>
      <p:sp>
        <p:nvSpPr>
          <p:cNvPr id="17" name="col-Core"/>
          <p:cNvSpPr/>
          <p:nvPr/>
        </p:nvSpPr>
        <p:spPr>
          <a:xfrm>
            <a:off x="5490762" y="2948940"/>
            <a:ext cx="2938987" cy="3195828"/>
          </a:xfrm>
          <a:prstGeom prst="roundRect">
            <a:avLst>
              <a:gd name="adj" fmla="val 1867"/>
            </a:avLst>
          </a:prstGeom>
          <a:solidFill>
            <a:srgbClr val="C4C9D7"/>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Same units first. 10 mm in a cm.</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4366B"/>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you would get the same magnification if you converted the other way, turning 4.8 cm into millimetres instead, and show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Finding the object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convex lens gives a magnification of 6. The image is 15 cm tall. Calculate the height of the object, in cm.</a:t>
            </a:r>
            <a:endParaRPr lang="en-US" sz="2600" dirty="0"/>
          </a:p>
          <a:p>
            <a:pPr algn="ctr" indent="0" marL="0">
              <a:buNone/>
            </a:pPr>
            <a:r>
              <a:rPr lang="en-US" sz="2400" b="1" dirty="0">
                <a:solidFill>
                  <a:srgbClr val="24366B"/>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cm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Same task, three ways in: Finding the object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convex lens gives a magnification of 6. The image is 15 cm tall. Calculate the height of the object, in cm.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Cover 'object height' on the triangle: image height is over magnification, so divide.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Object height = image height ÷ magnification.</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numbers in and divide.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object is a length, so give the unit: cm.</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image is 6 times taller than the object, so the object is the image divided by 6.</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object height has a unit (cm) but the magnification you were given does 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camera lens forms an image of a person who is 1.8 m tall. The image on the sensor is 3.6 cm tall. Calculate the magnification.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Mixed units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Through a magnifying glass, the image of an ant is 4.8 cm tall. The ant itself is 4 mm tall. Calculate the magnification.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12</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4 mm = 0.4 cm. Magnification = 4.8 ÷ 0.4 = 12. A magnification has no units because it is a length divided by a length in the same unit.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Finding the object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convex lens gives a magnification of 6. The image is 15 cm tall. Calculate the height of the object, in cm.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Rearranging magnification = image height ÷ object height gives object height = image height ÷ magnification = 15 ÷ 6 = 2.5 cm.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camera lens forms an image of a person who is 1.8 m tall. The image on the sensor is 3.6 cm tall. Calculate the magnification.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0.02</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1.8 m = 180 cm. Magnification = 3.6 ÷ 180 = 0.02, less than 1 because the camera forms a diminished image.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 Chapter 5: Magnification</dc:title>
  <dc:subject>Physics (Triple Science) · Year 11</dc:subject>
  <dc:creator>Dr Vitor Merissi de Carvalho</dc:creator>
  <cp:lastModifiedBy>Dr Vitor Merissi de Carvalho</cp:lastModifiedBy>
  <cp:revision>1</cp:revision>
  <dcterms:created xsi:type="dcterms:W3CDTF">2026-10-19T06:08:17Z</dcterms:created>
  <dcterms:modified xsi:type="dcterms:W3CDTF">2026-10-19T06:08:17Z</dcterms:modified>
</cp:coreProperties>
</file>