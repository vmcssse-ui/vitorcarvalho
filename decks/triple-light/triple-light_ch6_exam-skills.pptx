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44530a8-82fa-f49e-08c1-c84ffa6a0314}">
          <p14:sldIdLst>
            <p14:sldId id="256"/>
          </p14:sldIdLst>
        </p14:section>
        <p14:section name="Gate" id="{3c220d7a-5413-a5b3-9fb3-64c6b09c3edf}">
          <p14:sldIdLst>
            <p14:sldId id="257"/>
            <p14:sldId id="258"/>
          </p14:sldIdLst>
        </p14:section>
        <p14:section name="Pre-teach" id="{24e70816-ac24-ff8b-e06b-3b8deae85baf}">
          <p14:sldIdLst>
            <p14:sldId id="259"/>
          </p14:sldIdLst>
        </p14:section>
        <p14:section name="Read-along" id="{8f456574-4162-501a-63cb-0eb80ffb93f7}">
          <p14:sldIdLst>
            <p14:sldId id="260"/>
            <p14:sldId id="261"/>
          </p14:sldIdLst>
        </p14:section>
        <p14:section name="Teach" id="{5a1ed630-1cb9-62a7-00d6-cce7c86b2fda}">
          <p14:sldIdLst>
            <p14:sldId id="262"/>
            <p14:sldId id="263"/>
            <p14:sldId id="264"/>
            <p14:sldId id="265"/>
          </p14:sldIdLst>
        </p14:section>
        <p14:section name="Routes" id="{7baf0b81-4f0b-8705-9303-b36bcc935fb4}">
          <p14:sldIdLst>
            <p14:sldId id="266"/>
            <p14:sldId id="267"/>
            <p14:sldId id="268"/>
          </p14:sldIdLst>
        </p14:section>
        <p14:section name="Close" id="{a700608b-6e24-58b4-6ad0-f3ea9b468f15}">
          <p14:sldIdLst>
            <p14:sldId id="269"/>
          </p14:sldIdLst>
        </p14:section>
        <p14:section name="Answers" id="{072b6dc0-3c9f-d150-9816-e9d7a885adda}">
          <p14:sldIdLst>
            <p14:sldId id="270"/>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Exam skills: ray diagrams and 6-mark answers. How to draw diagrams the examiner can credit, read the command word, plan, and write the 6-mark answers this unit asks for.
This deck covers the department's lessons: 1 (P14.1 Reflection of light: How is light reflected by a plane mirror, and why do smooth and rough surfaces reflect it differently?); 2 (P14.2 Refraction of light: Why does light change direction when it crosses from air into glass, and how can you investigate it?); 3 (P14.3 Light and colour: Why do objects look different colours in different light, and what does a colour filter do?); 4 (P14.4 Lenses: What do convex and concave lenses do to light, and how is magnification calculated?); 5 (P14.5 Using lenses: How does a ray diagram show the image a lens makes, in a camera and in a magnifying glass?).
Read the big question aloud: "How does a flat mirror, a glass block or a curved lens change the path of light, and how do we use that to make the images we see?"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a ray diagram, how should the normal be drawn?  →  A   As a dotted line at right angles to the surface where the ray hits
2. The command word ___ asks you to give reasons, linked with because and so.  →  explain
3. A pupil writes the answer to a magnification calculation as '2.5 cm'. What is wrong?  →  C   Magnification is a ratio and has no units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As a dotted line at right angles to the surface where the ray hits. The normal is a construction line at 90° to the surface at the point of incidence, drawn dotted. Every angle is measured from it.
2. explain. 'Explain' asks why. 'Describe' asks what happens; 'state' asks for a short fact.
3. C   Magnification is a ratio and has no units. Magnification is image height ÷ object height. The units cancel, so it has none.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command word: the word that tells you what kind of answer to give. Example: "The command word 'explain' means you must give reasons."
• describe: say what happens or what you do, in order. Example: "Describe how you would measure the angle of refraction."
• explain: give reasons, linked with because and so. Example: "Explain why the red flag looks black in blue light."
• labelled diagram: a drawing with the key parts named. Example: "A labelled diagram showed the normal and both angles."
• method: the steps of a practical, in order. Example: "Her method listed every step of the glass block practical."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Light questions often ask you to draw as well as write.
2. Use a ruler and a sharp pencil for every ray.
3. Put an arrow on each ray to show which way the light travels.
4. Draw the normal as a dotted line at right angles to the surface.
5. Label the angle of incidence and the angle of reflection or refraction.
6. In a lens diagram, mark the principal focus on both sides.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Read the command word before you write.
8. Describe means say what happens, in order.
9. Explain means give reasons, using because and so.
10. Six-mark answers are marked on the whole answer, not word by word.
11. Plan the key words first, then write them in full sentences.
12. Check that every number has a unit, except magnification.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Drawing marks: ray diagrams the examiner can follow. Say it in your own words, then check understanding with a quick question: ask a pupil from the pre-teach group first, since they met these words and ideas before the lesson. Pupils try to recall before you re-explain.
Ray diagrams earn marks for specific features, so give the examiner each one clearly. For reflection: a straight incident ray and reflected ray drawn with a ruler, arrows on both, a dotted normal at right angles to the surface, and angles that look equal and are labelled i and r.
For refraction into a block: the ray bends towards the normal at the first face and away from the normal at the second, and leaves parallel to the incident ray. For a convex lens: two rays from the top of the object, one parallel to the axis then through F, one straight through the centre, with the image drawn where they cross, and dotted lines for any ray that is traced back.
Common lost marks: freehand wavy rays; no arrows; angles measured from the surface instead of the normal; the normal missing; the image arrow not drawn; a magnification written with a unit.
Tip: Dotted: the normal, or a ray traced backwards. Solid: a ray that really travels.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Command words and planning. Say it in your own words, then check understanding with a quick question: ask a pupil from the pre-teach group first, since they met these words and ideas before the lesson. Pupils try to recall before you re-explain.
Describe wants what happens, in order: describe how to carry out the refraction practical. Explain wants reasons: explain why a red object looks black in blue light. Compare wants similarities and differences side by side: compare the images formed by a camera and a magnifying glass.
Plan before you write. Jot the key words down the margin in the order you will use them, then turn each into a full sentence. Link reasons with because and so, and use the unit's words exactly: normal, angle of incidence, refract, absorb, transmit, principal focus, virtual.
Worked example — model it step by step, thinking aloud: Plan an answer to: 'Explain why a white shirt looks red under a red stage light, and why green trousers look black.' (6 marks) (1) Command word: explain, so every point needs a because or a so. (2) Plan, the light: red filter transmits red only, absorbs the rest. (3) Plan, the shirt: white reflects all colours that arrive; only red arrives; so red. (4) Plan, the trousers: green reflects only green; no green arrives; red absorbed; so black. (5) Write it up in that order, using transmit, reflect and absorb. Answer: A six-point plan: filter transmits red; white reflects whatever arrives; so red; green reflects only green; none arrives and red is absorbed; so black..
Tip: For 'compare', use 'both' for similarities and 'whereas' or 'however' for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Command words and planning. Say it in your own words, then check understanding with a quick question: ask a pupil from the pre-teach group first, since they met these words and ideas before the lesson. Pupils try to recall before you re-explain.
Describe wants what happens, in order: describe how to carry out the refraction practical. Explain wants reasons: explain why a red object looks black in blue light. Compare wants similarities and differences side by side: compare the images formed by a camera and a magnifying glass.
Plan before you write. Jot the key words down the margin in the order you will use them, then turn each into a full sentence. Link reasons with because and so, and use the unit's words exactly: normal, angle of incidence, refract, absorb, transmit, principal focus, virtual.
Worked example — model it step by step, thinking aloud: Plan an answer to: 'Explain why a white shirt looks red under a red stage light, and why green trousers look black.' (6 marks) (1) Command word: explain, so every point needs a because or a so. (2) Plan, the light: red filter transmits red only, absorbs the rest. (3) Plan, the shirt: white reflects all colours that arrive; only red arrives; so red. (4) Plan, the trousers: green reflects only green; no green arrives; red absorbed; so black. (5) Write it up in that order, using transmit, reflect and absorb. Answer: A six-point plan: filter transmits red; white reflects whatever arrives; so red; green reflects only green; none arrives and red is absorbed; so black..
Tip: For 'compare', use 'both' for similarities and 'whereas' or 'however' for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Levels of response: how 6-markers are marked. Say it in your own words, then check understanding with a quick question: ask a pupil from the pre-teach group first, since they met these words and ideas before the lesson. Pupils try to recall before you re-explain.
The examiner reads the whole answer and places it in a level. The top level is detailed, accurate, logically ordered and uses the key words correctly. The middle level has most of the physics but with gaps or a muddled order. The bottom level is a few correct points with no reasoning joining them.
A short, accurate, well-ordered answer beats a long muddled one. Finish by checking: command word answered? Key words used? Every step linked? A unit on every length, and none on the magnification?
Tip: Count your points before you write: a 6-marker usually needs six linked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Describe the refraction practical (6 marks).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how you would investigate the refraction of light by a rectangular glass block, including how you would make your results accurate. (6 marks)
Support — work through the steps with the group: (1) Set-up: draw round the block, remove it, draw the normal. (2) Rays: draw the incident ray at 30°, replace the block, shine the ray, mark the exit with two dots. (3) Drawing: remove the block, draw the emergent and refracted rays, draw the exit normal. (4) Measuring and accuracy: protractor, repeat at 50°, narrow slit, sharp pencil, dots far apart.
Parallel worked example for Support (model it, do not give the task answer): Describe how you would measure the angle of reflection from a plane mirror. (3 marks) Draw along the mirror, shine a narrow ray at it and mark both rays with dots.; Remove the mirror, draw the rays and the normal at the point of incidence.; Measure the angle between the reflected ray and the normal with a protractor.. Answer: Mark the mirror line and both rays, remove the mirror, draw the rays and the normal, then measure the reflected ray's angle from the normal with a protractor..
Core — reveal the hint only on request: Four blocks: set up, shine and mark, remove and draw, measure and improve.
Stretch — no help; when finished: Add one sentence on how you would use the same method to compare glass with Perspex, and what you would keep the same for a fair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Describe the refraction practical (6 marks).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Describe how you would investigate the refraction of light by a rectangular glass block, including how you would make your results accurate. (6 marks)
Support — work through the steps with the group: (1) Set-up: draw round the block, remove it, draw the normal. (2) Rays: draw the incident ray at 30°, replace the block, shine the ray, mark the exit with two dots. (3) Drawing: remove the block, draw the emergent and refracted rays, draw the exit normal. (4) Measuring and accuracy: protractor, repeat at 50°, narrow slit, sharp pencil, dots far apart.
Parallel worked example for Support (model it, do not give the task answer): Describe how you would measure the angle of reflection from a plane mirror. (3 marks) Draw along the mirror, shine a narrow ray at it and mark both rays with dots.; Remove the mirror, draw the rays and the normal at the point of incidence.; Measure the angle between the reflected ray and the normal with a protractor.. Answer: Mark the mirror line and both rays, remove the mirror, draw the rays and the normal, then measure the reflected ray's angle from the normal with a protractor..
Core — reveal the hint only on request: Four blocks: set up, shine and mark, remove and draw, measure and improve.
Stretch — no help; when finished: Add one sentence on how you would use the same method to compare glass with Perspex, and what you would keep the same for a fair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Explain the magnifying glass (6 marks).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magnifying glass is a convex lens. Explain, with reference to the principal focus, how it forms the image you see, and describe that image. (6 marks)
Support — work through the steps with the group: (1) Where is the object? Inside F. (2) What does the lens do? Refracts the light, but the rays still diverge. (3) What does the eye do? Traces them back to a point on the object's side. (4) Describe the image: virtual, upright, magnified; no screen can catch it.
Parallel worked example for Support (model it, do not give the task answer): Explain why a camera can form its image on a sensor. (3 marks) The object is far beyond the principal focus.; The convex lens refracts the rays so they really meet on the far side.; Where they meet is a real image, so a sensor there records it.. Answer: The object is beyond F, the lens brings the rays together so they actually meet, and that real image can be recorded on a sensor placed where they meet..
Core — reveal the hint only on request: Inside F, rays diverge, eye traces back, virtual upright magnified.
Stretch — no help; when finished: Add a sentence on what changes if the object is moved to beyond the principal focus, and why you would then need a screen to see the image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In a ray diagram, how should the normal be drawn?
Answer: D   As a dotted line at right angles to the surface where the ray hits. The normal is a construction line at 90° to the surface at the point of incidence, drawn dotted. Every angle is measured from it.
Source of this question: gate item 1 re-asked (options rotated) — this chapter has no third quick-check module.
The ebook also holds task 3, "Compare mirror and paper (6 marks)",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Describe the refraction practical (6 marks). Reveal the answer; pupils mark their own work in a different colour, then read the "why" together. Same destination for every lane, so one answer serves the whole class.
Answer: Draw round the block on paper, remove it and draw a normal at right angles to one side; Draw an incident ray at a chosen angle to the normal (e.g. 30°) and replace the block on its outline; Shine a narrow ray from a ray box along the incident ray and mark the emergent ray with two dots; Remove the block, draw the emergent ray and the refracted ray inside the block, draw the normal at the exit point; Measure the angle of incidence and the angle of refraction with a protractor and repeat for other angles (e.g. 50°); Accuracy: narrow slit, sharp pencil, dots far apart, normal drawn with a set square, repeat readings
Why: A top answer gives the steps in order (outline, normal, incident ray, block, shine, mark, remove, draw, measure, repeat) and names specific accuracy improvements, not just 'be careful'.
Model answer: Place the rectangular block in the middle of a sheet of paper and draw round it. Remove the block and use a set square to draw a normal at right angles to one long side. With a protractor, draw an incident ray at 30° to the normal, then put the block back exactly on its outline. Using a ray box with a narrow slit, shine the ray along the incident line and mark two pencil dots, far apart, on the ray where it comes out of the far side. Remove the block, join the dots to draw the emergent ray, and join the entry and exit points to draw the refracted ray inside the block. Draw a normal at the exit point and measure the angle of incidence and the angle of refraction with a protractor. Repeat for an angle of incidence of 50° and other angles, and repeat each reading to check it. A narrow slit, a sharp pencil and widely spaced dots make the lines and angles more accurate.
Success criteria: Draw round the block on paper, remove it and draw a normal at right angles to one side; Draw an incident ray at a chosen angle to the normal (e.g. 30°) and replace the block on its outline; Shine a narrow ray from a ray box along the incident ray and mark the emergent ray with two dots; Remove the block, draw the emergent ray and the refracted ray inside the block, draw the normal at the exit point; Measure the angle of incidence and the angle of refraction with a protractor and repeat for other angles (e.g. 50°); Accuracy: narrow slit, sharp pencil, dots far apart, normal drawn with a set square, repeat readings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Describe the refraction practical (6 marks). Reveal the answer; pupils mark their own work in a different colour, then read the "why" together. Same destination for every lane, so one answer serves the whole class.
Answer: Draw round the block on paper, remove it and draw a normal at right angles to one side; Draw an incident ray at a chosen angle to the normal (e.g. 30°) and replace the block on its outline; Shine a narrow ray from a ray box along the incident ray and mark the emergent ray with two dots; Remove the block, draw the emergent ray and the refracted ray inside the block, draw the normal at the exit point; Measure the angle of incidence and the angle of refraction with a protractor and repeat for other angles (e.g. 50°); Accuracy: narrow slit, sharp pencil, dots far apart, normal drawn with a set square, repeat readings
Why: A top answer gives the steps in order (outline, normal, incident ray, block, shine, mark, remove, draw, measure, repeat) and names specific accuracy improvements, not just 'be careful'.
Model answer: Place the rectangular block in the middle of a sheet of paper and draw round it. Remove the block and use a set square to draw a normal at right angles to one long side. With a protractor, draw an incident ray at 30° to the normal, then put the block back exactly on its outline. Using a ray box with a narrow slit, shine the ray along the incident line and mark two pencil dots, far apart, on the ray where it comes out of the far side. Remove the block, join the dots to draw the emergent ray, and join the entry and exit points to draw the refracted ray inside the block. Draw a normal at the exit point and measure the angle of incidence and the angle of refraction with a protractor. Repeat for an angle of incidence of 50° and other angles, and repeat each reading to check it. A narrow slit, a sharp pencil and widely spaced dots make the lines and angles more accurate.
Success criteria: Draw round the block on paper, remove it and draw a normal at right angles to one side; Draw an incident ray at a chosen angle to the normal (e.g. 30°) and replace the block on its outline; Shine a narrow ray from a ray box along the incident ray and mark the emergent ray with two dots; Remove the block, draw the emergent ray and the refracted ray inside the block, draw the normal at the exit point; Measure the angle of incidence and the angle of refraction with a protractor and repeat for other angles (e.g. 50°); Accuracy: narrow slit, sharp pencil, dots far apart, normal drawn with a set square, repeat readings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Explain the magnifying glass (6 marks). Reveal the answer; pupils mark their own work in a different colour, then read the "why" together. Same destination for every lane, so one answer serves the whole class.
Answer: States that the object is placed closer to the lens than the principal focus (inside the focal length); States that the lens refracts the light from the object; Explains that the rays leaving the lens still diverge, so they never meet; Explains that the eye traces the rays back to where they appear to come from, on the same side as the object; Describes the image as virtual, upright and magnified; States that the image cannot be formed on a screen because the rays do not actually meet there
Why: The physics chain is: object inside F, refraction, rays diverge, traced back by the eye, virtual image on the object's side, upright and magnified, not catchable on a screen.
Model answer: The object is held closer to the convex lens than its principal focus. The lens refracts the light from the object, but because the object is inside the focal length the rays leaving the lens are still spreading out, so they never meet on the far side. The eye traces these diverging rays back in straight lines to the point they appear to come from, which is on the same side of the lens as the object. The image is therefore virtual: no light actually reaches it, so it cannot be caught on a screen. It is upright and magnified, larger than the object.
Success criteria: States that the object is placed closer to the lens than the principal focus (inside the focal length); States that the lens refracts the light from the object; Explains that the rays leaving the lens still diverge, so they never meet; Explains that the eye traces the rays back to where they appear to come from, on the same side as the object; Describes the image as virtual, upright and magnified; States that the image cannot be formed on a screen because the rays do not actually meet there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Explain the magnifying glass (6 marks). Reveal the answer; pupils mark their own work in a different colour, then read the "why" together. Same destination for every lane, so one answer serves the whole class.
Answer: States that the object is placed closer to the lens than the principal focus (inside the focal length); States that the lens refracts the light from the object; Explains that the rays leaving the lens still diverge, so they never meet; Explains that the eye traces the rays back to where they appear to come from, on the same side as the object; Describes the image as virtual, upright and magnified; States that the image cannot be formed on a screen because the rays do not actually meet there
Why: The physics chain is: object inside F, refraction, rays diverge, traced back by the eye, virtual image on the object's side, upright and magnified, not catchable on a screen.
Model answer: The object is held closer to the convex lens than its principal focus. The lens refracts the light from the object, but because the object is inside the focal length the rays leaving the lens are still spreading out, so they never meet on the far side. The eye traces these diverging rays back in straight lines to the point they appear to come from, which is on the same side of the lens as the object. The image is therefore virtual: no light actually reaches it, so it cannot be caught on a screen. It is upright and magnified, larger than the object.
Success criteria: States that the object is placed closer to the lens than the principal focus (inside the focal length); States that the lens refracts the light from the object; Explains that the rays leaving the lens still diverge, so they never meet; Explains that the eye traces the rays back to where they appear to come from, on the same side as the object; Describes the image as virtual, upright and magnified; States that the image cannot be formed on a screen because the rays do not actually meet there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As a dotted line at right angles to the surface where the ray hits
Why: The normal is a construction line at 90° to the surface at the point of incidence, drawn dotted. Every angle is measured from it.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Light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Light · AQA 8463</a:t>
            </a:r>
            <a:endParaRPr lang="en-US" sz="1800" dirty="0"/>
          </a:p>
        </p:txBody>
      </p:sp>
      <p:sp>
        <p:nvSpPr>
          <p:cNvPr id="10" name="deck-title"/>
          <p:cNvSpPr txBox="1"/>
          <p:nvPr/>
        </p:nvSpPr>
        <p:spPr>
          <a:xfrm>
            <a:off x="548640" y="182930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Exam skills: ray diagrams and 6-mark answers</a:t>
            </a:r>
            <a:endParaRPr lang="en-US" sz="3200" dirty="0"/>
          </a:p>
        </p:txBody>
      </p:sp>
      <p:sp>
        <p:nvSpPr>
          <p:cNvPr id="11" name="lessons-card"/>
          <p:cNvSpPr/>
          <p:nvPr/>
        </p:nvSpPr>
        <p:spPr>
          <a:xfrm>
            <a:off x="548640" y="3241548"/>
            <a:ext cx="5287975" cy="2372360"/>
          </a:xfrm>
          <a:prstGeom prst="roundRect">
            <a:avLst>
              <a:gd name="adj" fmla="val 3084"/>
            </a:avLst>
          </a:prstGeom>
          <a:solidFill>
            <a:srgbClr val="DEE1E9"/>
          </a:solidFill>
          <a:ln/>
        </p:spPr>
      </p:sp>
      <p:sp>
        <p:nvSpPr>
          <p:cNvPr id="12" name="lessons"/>
          <p:cNvSpPr txBox="1"/>
          <p:nvPr/>
        </p:nvSpPr>
        <p:spPr>
          <a:xfrm>
            <a:off x="685800" y="3332988"/>
            <a:ext cx="5013655" cy="21894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P14.1 Reflection of light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P14.2 Refraction of light</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3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P14.3 Light and colour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P14.4 Lenses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5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P14.5 Using lenses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does a flat mirror, a glass block or a curved lens change the path of light, and how do we use that to make the images we see?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a ray diagram, how should the normal be drawn?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 a dotted line at right angles to the surface where the ray hits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It is not needed if the angles are labelled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 a solid line along the surface</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As a curved line through the lens</a:t>
            </a:r>
            <a:endParaRPr lang="en-US" sz="1800" dirty="0"/>
          </a:p>
        </p:txBody>
      </p:sp>
      <p:sp>
        <p:nvSpPr>
          <p:cNvPr id="12" name="card"/>
          <p:cNvSpPr/>
          <p:nvPr/>
        </p:nvSpPr>
        <p:spPr>
          <a:xfrm>
            <a:off x="4777626" y="1389888"/>
            <a:ext cx="2636444" cy="4754880"/>
          </a:xfrm>
          <a:prstGeom prst="roundRect">
            <a:avLst>
              <a:gd name="adj" fmla="val 2081"/>
            </a:avLst>
          </a:prstGeom>
          <a:solidFill>
            <a:srgbClr val="E5E7ED"/>
          </a:solidFill>
          <a:ln w="12700">
            <a:solidFill>
              <a:srgbClr val="A7AFC4"/>
            </a:solidFill>
            <a:prstDash val="solid"/>
          </a:ln>
        </p:spPr>
      </p:sp>
      <p:sp>
        <p:nvSpPr>
          <p:cNvPr id="13" name="card-hex"/>
          <p:cNvSpPr/>
          <p:nvPr/>
        </p:nvSpPr>
        <p:spPr>
          <a:xfrm>
            <a:off x="4960506" y="1572768"/>
            <a:ext cx="640080" cy="554309"/>
          </a:xfrm>
          <a:prstGeom prst="hexagon">
            <a:avLst/>
          </a:prstGeom>
          <a:solidFill>
            <a:srgbClr val="24366B"/>
          </a:solidFill>
          <a:ln/>
        </p:spPr>
      </p:sp>
      <p:sp>
        <p:nvSpPr>
          <p:cNvPr id="14"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4960506" y="2355677"/>
            <a:ext cx="2270684"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command word ___ asks you to give reasons, linked with because and so.</a:t>
            </a:r>
            <a:endParaRPr lang="en-US" sz="2200" dirty="0"/>
          </a:p>
          <a:p>
            <a:pPr algn="l" indent="0" marL="0">
              <a:buNone/>
            </a:pPr>
            <a:r>
              <a:rPr lang="en-US" sz="2200" b="1" dirty="0">
                <a:solidFill>
                  <a:srgbClr val="24366B"/>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explain  ·  describe  ·  state</a:t>
            </a:r>
            <a:endParaRPr lang="en-US" sz="2200" dirty="0"/>
          </a:p>
        </p:txBody>
      </p:sp>
      <p:sp>
        <p:nvSpPr>
          <p:cNvPr id="17" name="card"/>
          <p:cNvSpPr/>
          <p:nvPr/>
        </p:nvSpPr>
        <p:spPr>
          <a:xfrm>
            <a:off x="7688389" y="1389888"/>
            <a:ext cx="3954666" cy="4754880"/>
          </a:xfrm>
          <a:prstGeom prst="roundRect">
            <a:avLst>
              <a:gd name="adj" fmla="val 1387"/>
            </a:avLst>
          </a:prstGeom>
          <a:solidFill>
            <a:srgbClr val="E5E7ED"/>
          </a:solidFill>
          <a:ln w="12700">
            <a:solidFill>
              <a:srgbClr val="A7AFC4"/>
            </a:solidFill>
            <a:prstDash val="solid"/>
          </a:ln>
        </p:spPr>
      </p:sp>
      <p:sp>
        <p:nvSpPr>
          <p:cNvPr id="18" name="card-hex"/>
          <p:cNvSpPr/>
          <p:nvPr/>
        </p:nvSpPr>
        <p:spPr>
          <a:xfrm>
            <a:off x="7871269" y="1572768"/>
            <a:ext cx="640080" cy="554309"/>
          </a:xfrm>
          <a:prstGeom prst="hexagon">
            <a:avLst/>
          </a:prstGeom>
          <a:solidFill>
            <a:srgbClr val="24366B"/>
          </a:solidFill>
          <a:ln/>
        </p:spPr>
      </p:sp>
      <p:sp>
        <p:nvSpPr>
          <p:cNvPr id="19"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21" name="card-body"/>
          <p:cNvSpPr txBox="1"/>
          <p:nvPr/>
        </p:nvSpPr>
        <p:spPr>
          <a:xfrm>
            <a:off x="7871269" y="2355677"/>
            <a:ext cx="3588906"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A pupil writes the answer to a magnification calculation as '2.5 cm'. What is wrong?</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answer should be in metres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answer should be in millimetres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Magnification is a ratio and has no units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Magnification must be a whole number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954666" cy="4754880"/>
          </a:xfrm>
          <a:prstGeom prst="roundRect">
            <a:avLst>
              <a:gd name="adj" fmla="val 1387"/>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588906" cy="1295908"/>
          </a:xfrm>
          <a:prstGeom prst="roundRect">
            <a:avLst>
              <a:gd name="adj" fmla="val 8467"/>
            </a:avLst>
          </a:prstGeom>
          <a:solidFill>
            <a:srgbClr val="EADBBF"/>
          </a:solidFill>
          <a:ln w="19050">
            <a:solidFill>
              <a:srgbClr val="B8862B"/>
            </a:solidFill>
            <a:prstDash val="solid"/>
          </a:ln>
        </p:spPr>
      </p:sp>
      <p:sp>
        <p:nvSpPr>
          <p:cNvPr id="12" name="answer"/>
          <p:cNvSpPr txBox="1"/>
          <p:nvPr/>
        </p:nvSpPr>
        <p:spPr>
          <a:xfrm>
            <a:off x="822960" y="2428829"/>
            <a:ext cx="3406026"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As a dotted line at right angles to the surface where the ray hits</a:t>
            </a:r>
            <a:endParaRPr lang="en-US" sz="2200" dirty="0"/>
          </a:p>
        </p:txBody>
      </p:sp>
      <p:sp>
        <p:nvSpPr>
          <p:cNvPr id="13" name="card-body"/>
          <p:cNvSpPr txBox="1"/>
          <p:nvPr/>
        </p:nvSpPr>
        <p:spPr>
          <a:xfrm>
            <a:off x="731520" y="3834465"/>
            <a:ext cx="3588906"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a ray diagram, how should the normal be drawn?</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normal is a construction line at 90° to the surface at the point of incidence, drawn dotted. Every angle is measured from it.</a:t>
            </a:r>
            <a:endParaRPr lang="en-US" sz="1800" dirty="0"/>
          </a:p>
        </p:txBody>
      </p:sp>
      <p:sp>
        <p:nvSpPr>
          <p:cNvPr id="14" name="card"/>
          <p:cNvSpPr/>
          <p:nvPr/>
        </p:nvSpPr>
        <p:spPr>
          <a:xfrm>
            <a:off x="4777626" y="1389888"/>
            <a:ext cx="2636444" cy="4754880"/>
          </a:xfrm>
          <a:prstGeom prst="roundRect">
            <a:avLst>
              <a:gd name="adj" fmla="val 2081"/>
            </a:avLst>
          </a:prstGeom>
          <a:solidFill>
            <a:srgbClr val="E5E7ED"/>
          </a:solidFill>
          <a:ln w="12700">
            <a:solidFill>
              <a:srgbClr val="A7AFC4"/>
            </a:solidFill>
            <a:prstDash val="solid"/>
          </a:ln>
        </p:spPr>
      </p:sp>
      <p:sp>
        <p:nvSpPr>
          <p:cNvPr id="15" name="card-hex"/>
          <p:cNvSpPr/>
          <p:nvPr/>
        </p:nvSpPr>
        <p:spPr>
          <a:xfrm>
            <a:off x="4960506" y="1572768"/>
            <a:ext cx="640080" cy="554309"/>
          </a:xfrm>
          <a:prstGeom prst="hexagon">
            <a:avLst/>
          </a:prstGeom>
          <a:solidFill>
            <a:srgbClr val="24366B"/>
          </a:solidFill>
          <a:ln/>
        </p:spPr>
      </p:sp>
      <p:sp>
        <p:nvSpPr>
          <p:cNvPr id="16" name="card-hex-label"/>
          <p:cNvSpPr txBox="1"/>
          <p:nvPr/>
        </p:nvSpPr>
        <p:spPr>
          <a:xfrm>
            <a:off x="4960506"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692026" y="1572768"/>
            <a:ext cx="1630604"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960506" y="2355677"/>
            <a:ext cx="2270684"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5051946" y="2428829"/>
            <a:ext cx="2087804"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a:t>
            </a:r>
            <a:endParaRPr lang="en-US" sz="2200" dirty="0"/>
          </a:p>
        </p:txBody>
      </p:sp>
      <p:sp>
        <p:nvSpPr>
          <p:cNvPr id="20" name="card-body"/>
          <p:cNvSpPr txBox="1"/>
          <p:nvPr/>
        </p:nvSpPr>
        <p:spPr>
          <a:xfrm>
            <a:off x="4960506" y="3152729"/>
            <a:ext cx="2270684"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command word ___ asks you to give reasons, linked with because and so.</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'Explain' asks why. 'Describe' asks what happens; 'state' asks for a short fact.</a:t>
            </a:r>
            <a:endParaRPr lang="en-US" sz="1800" dirty="0"/>
          </a:p>
        </p:txBody>
      </p:sp>
      <p:sp>
        <p:nvSpPr>
          <p:cNvPr id="21" name="card"/>
          <p:cNvSpPr/>
          <p:nvPr/>
        </p:nvSpPr>
        <p:spPr>
          <a:xfrm>
            <a:off x="7688389" y="1389888"/>
            <a:ext cx="3954666" cy="4754880"/>
          </a:xfrm>
          <a:prstGeom prst="roundRect">
            <a:avLst>
              <a:gd name="adj" fmla="val 1387"/>
            </a:avLst>
          </a:prstGeom>
          <a:solidFill>
            <a:srgbClr val="E5E7ED"/>
          </a:solidFill>
          <a:ln w="12700">
            <a:solidFill>
              <a:srgbClr val="A7AFC4"/>
            </a:solidFill>
            <a:prstDash val="solid"/>
          </a:ln>
        </p:spPr>
      </p:sp>
      <p:sp>
        <p:nvSpPr>
          <p:cNvPr id="22" name="card-hex"/>
          <p:cNvSpPr/>
          <p:nvPr/>
        </p:nvSpPr>
        <p:spPr>
          <a:xfrm>
            <a:off x="7871269" y="1572768"/>
            <a:ext cx="640080" cy="554309"/>
          </a:xfrm>
          <a:prstGeom prst="hexagon">
            <a:avLst/>
          </a:prstGeom>
          <a:solidFill>
            <a:srgbClr val="24366B"/>
          </a:solidFill>
          <a:ln/>
        </p:spPr>
      </p:sp>
      <p:sp>
        <p:nvSpPr>
          <p:cNvPr id="23" name="card-hex-label"/>
          <p:cNvSpPr txBox="1"/>
          <p:nvPr/>
        </p:nvSpPr>
        <p:spPr>
          <a:xfrm>
            <a:off x="7871269"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8602789" y="1572768"/>
            <a:ext cx="2948826"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7871269" y="2355677"/>
            <a:ext cx="3588906" cy="955040"/>
          </a:xfrm>
          <a:prstGeom prst="roundRect">
            <a:avLst>
              <a:gd name="adj" fmla="val 11489"/>
            </a:avLst>
          </a:prstGeom>
          <a:solidFill>
            <a:srgbClr val="EADBBF"/>
          </a:solidFill>
          <a:ln w="19050">
            <a:solidFill>
              <a:srgbClr val="B8862B"/>
            </a:solidFill>
            <a:prstDash val="solid"/>
          </a:ln>
        </p:spPr>
      </p:sp>
      <p:sp>
        <p:nvSpPr>
          <p:cNvPr id="26" name="answer"/>
          <p:cNvSpPr txBox="1"/>
          <p:nvPr/>
        </p:nvSpPr>
        <p:spPr>
          <a:xfrm>
            <a:off x="7962709" y="2428829"/>
            <a:ext cx="3406026"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Magnification is a ratio and has no units</a:t>
            </a:r>
            <a:endParaRPr lang="en-US" sz="2200" dirty="0"/>
          </a:p>
        </p:txBody>
      </p:sp>
      <p:sp>
        <p:nvSpPr>
          <p:cNvPr id="27" name="card-body"/>
          <p:cNvSpPr txBox="1"/>
          <p:nvPr/>
        </p:nvSpPr>
        <p:spPr>
          <a:xfrm>
            <a:off x="7871269" y="3493597"/>
            <a:ext cx="3588906" cy="2514011"/>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pupil writes the answer to a magnification calculation as '2.5 cm'. What is wrong?</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Magnification is image height ÷ object height. The units cancel, so it has none.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4366B"/>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86384"/>
          </a:xfrm>
          <a:prstGeom prst="roundRect">
            <a:avLst>
              <a:gd name="adj" fmla="val 6977"/>
            </a:avLst>
          </a:prstGeom>
          <a:solidFill>
            <a:srgbClr val="E3E5EC"/>
          </a:solidFill>
          <a:ln/>
        </p:spPr>
      </p:sp>
      <p:sp>
        <p:nvSpPr>
          <p:cNvPr id="12" name="kw-hex"/>
          <p:cNvSpPr/>
          <p:nvPr/>
        </p:nvSpPr>
        <p:spPr>
          <a:xfrm>
            <a:off x="658368" y="2135261"/>
            <a:ext cx="411480" cy="356342"/>
          </a:xfrm>
          <a:prstGeom prst="hexagon">
            <a:avLst/>
          </a:prstGeom>
          <a:solidFill>
            <a:srgbClr val="24366B"/>
          </a:solidFill>
          <a:ln/>
        </p:spPr>
      </p:sp>
      <p:sp>
        <p:nvSpPr>
          <p:cNvPr id="13" name="kw-cell"/>
          <p:cNvSpPr txBox="1"/>
          <p:nvPr/>
        </p:nvSpPr>
        <p:spPr>
          <a:xfrm>
            <a:off x="1143000" y="1920240"/>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command word</a:t>
            </a:r>
            <a:endParaRPr lang="en-US" sz="2000" dirty="0"/>
          </a:p>
        </p:txBody>
      </p:sp>
      <p:sp>
        <p:nvSpPr>
          <p:cNvPr id="14" name="kw-cell"/>
          <p:cNvSpPr txBox="1"/>
          <p:nvPr/>
        </p:nvSpPr>
        <p:spPr>
          <a:xfrm>
            <a:off x="3657600" y="1920240"/>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word that tells you what kind of answer to give</a:t>
            </a:r>
            <a:endParaRPr lang="en-US" sz="1800" dirty="0"/>
          </a:p>
        </p:txBody>
      </p:sp>
      <p:sp>
        <p:nvSpPr>
          <p:cNvPr id="15" name="kw-cell"/>
          <p:cNvSpPr txBox="1"/>
          <p:nvPr/>
        </p:nvSpPr>
        <p:spPr>
          <a:xfrm>
            <a:off x="7315200" y="1920240"/>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command word 'explain' means you must give reasons.</a:t>
            </a:r>
            <a:endParaRPr lang="en-US" sz="1800" dirty="0"/>
          </a:p>
        </p:txBody>
      </p:sp>
      <p:sp>
        <p:nvSpPr>
          <p:cNvPr id="16" name="kw-row"/>
          <p:cNvSpPr/>
          <p:nvPr/>
        </p:nvSpPr>
        <p:spPr>
          <a:xfrm>
            <a:off x="548640" y="2779776"/>
            <a:ext cx="11094415" cy="786384"/>
          </a:xfrm>
          <a:prstGeom prst="roundRect">
            <a:avLst>
              <a:gd name="adj" fmla="val 6977"/>
            </a:avLst>
          </a:prstGeom>
          <a:solidFill>
            <a:srgbClr val="F3EADB"/>
          </a:solidFill>
          <a:ln/>
        </p:spPr>
      </p:sp>
      <p:sp>
        <p:nvSpPr>
          <p:cNvPr id="17" name="kw-hex"/>
          <p:cNvSpPr/>
          <p:nvPr/>
        </p:nvSpPr>
        <p:spPr>
          <a:xfrm>
            <a:off x="658368" y="2994797"/>
            <a:ext cx="411480" cy="356342"/>
          </a:xfrm>
          <a:prstGeom prst="hexagon">
            <a:avLst/>
          </a:prstGeom>
          <a:solidFill>
            <a:srgbClr val="B8862B"/>
          </a:solidFill>
          <a:ln/>
        </p:spPr>
      </p:sp>
      <p:sp>
        <p:nvSpPr>
          <p:cNvPr id="18" name="kw-cell"/>
          <p:cNvSpPr txBox="1"/>
          <p:nvPr/>
        </p:nvSpPr>
        <p:spPr>
          <a:xfrm>
            <a:off x="1143000" y="2779776"/>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describe</a:t>
            </a:r>
            <a:endParaRPr lang="en-US" sz="2000" dirty="0"/>
          </a:p>
        </p:txBody>
      </p:sp>
      <p:sp>
        <p:nvSpPr>
          <p:cNvPr id="19" name="kw-cell"/>
          <p:cNvSpPr txBox="1"/>
          <p:nvPr/>
        </p:nvSpPr>
        <p:spPr>
          <a:xfrm>
            <a:off x="3657600" y="2779776"/>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say what happens or what you do, in order</a:t>
            </a:r>
            <a:endParaRPr lang="en-US" sz="1800" dirty="0"/>
          </a:p>
        </p:txBody>
      </p:sp>
      <p:sp>
        <p:nvSpPr>
          <p:cNvPr id="20" name="kw-cell"/>
          <p:cNvSpPr txBox="1"/>
          <p:nvPr/>
        </p:nvSpPr>
        <p:spPr>
          <a:xfrm>
            <a:off x="7315200" y="2779776"/>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Describe how you would measure the angle of refraction.</a:t>
            </a:r>
            <a:endParaRPr lang="en-US" sz="1800" dirty="0"/>
          </a:p>
        </p:txBody>
      </p:sp>
      <p:sp>
        <p:nvSpPr>
          <p:cNvPr id="21" name="kw-row"/>
          <p:cNvSpPr/>
          <p:nvPr/>
        </p:nvSpPr>
        <p:spPr>
          <a:xfrm>
            <a:off x="548640" y="3639312"/>
            <a:ext cx="11094415" cy="786384"/>
          </a:xfrm>
          <a:prstGeom prst="roundRect">
            <a:avLst>
              <a:gd name="adj" fmla="val 6977"/>
            </a:avLst>
          </a:prstGeom>
          <a:solidFill>
            <a:srgbClr val="E3E5EC"/>
          </a:solidFill>
          <a:ln/>
        </p:spPr>
      </p:sp>
      <p:sp>
        <p:nvSpPr>
          <p:cNvPr id="22" name="kw-hex"/>
          <p:cNvSpPr/>
          <p:nvPr/>
        </p:nvSpPr>
        <p:spPr>
          <a:xfrm>
            <a:off x="658368" y="3854333"/>
            <a:ext cx="411480" cy="356342"/>
          </a:xfrm>
          <a:prstGeom prst="hexagon">
            <a:avLst/>
          </a:prstGeom>
          <a:solidFill>
            <a:srgbClr val="24366B"/>
          </a:solidFill>
          <a:ln/>
        </p:spPr>
      </p:sp>
      <p:sp>
        <p:nvSpPr>
          <p:cNvPr id="23" name="kw-cell"/>
          <p:cNvSpPr txBox="1"/>
          <p:nvPr/>
        </p:nvSpPr>
        <p:spPr>
          <a:xfrm>
            <a:off x="1143000" y="3639312"/>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explain</a:t>
            </a:r>
            <a:endParaRPr lang="en-US" sz="2000" dirty="0"/>
          </a:p>
        </p:txBody>
      </p:sp>
      <p:sp>
        <p:nvSpPr>
          <p:cNvPr id="24" name="kw-cell"/>
          <p:cNvSpPr txBox="1"/>
          <p:nvPr/>
        </p:nvSpPr>
        <p:spPr>
          <a:xfrm>
            <a:off x="3657600" y="3639312"/>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reasons, linked with because and so</a:t>
            </a:r>
            <a:endParaRPr lang="en-US" sz="1800" dirty="0"/>
          </a:p>
        </p:txBody>
      </p:sp>
      <p:sp>
        <p:nvSpPr>
          <p:cNvPr id="25" name="kw-cell"/>
          <p:cNvSpPr txBox="1"/>
          <p:nvPr/>
        </p:nvSpPr>
        <p:spPr>
          <a:xfrm>
            <a:off x="7315200" y="3639312"/>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Explain why the red flag looks black in blue light.</a:t>
            </a:r>
            <a:endParaRPr lang="en-US" sz="1800" dirty="0"/>
          </a:p>
        </p:txBody>
      </p:sp>
      <p:sp>
        <p:nvSpPr>
          <p:cNvPr id="26" name="kw-row"/>
          <p:cNvSpPr/>
          <p:nvPr/>
        </p:nvSpPr>
        <p:spPr>
          <a:xfrm>
            <a:off x="548640" y="4498848"/>
            <a:ext cx="11094415" cy="786384"/>
          </a:xfrm>
          <a:prstGeom prst="roundRect">
            <a:avLst>
              <a:gd name="adj" fmla="val 6977"/>
            </a:avLst>
          </a:prstGeom>
          <a:solidFill>
            <a:srgbClr val="F3EADB"/>
          </a:solidFill>
          <a:ln/>
        </p:spPr>
      </p:sp>
      <p:sp>
        <p:nvSpPr>
          <p:cNvPr id="27" name="kw-hex"/>
          <p:cNvSpPr/>
          <p:nvPr/>
        </p:nvSpPr>
        <p:spPr>
          <a:xfrm>
            <a:off x="658368" y="4713869"/>
            <a:ext cx="411480" cy="356342"/>
          </a:xfrm>
          <a:prstGeom prst="hexagon">
            <a:avLst/>
          </a:prstGeom>
          <a:solidFill>
            <a:srgbClr val="B8862B"/>
          </a:solidFill>
          <a:ln/>
        </p:spPr>
      </p:sp>
      <p:sp>
        <p:nvSpPr>
          <p:cNvPr id="28" name="kw-cell"/>
          <p:cNvSpPr txBox="1"/>
          <p:nvPr/>
        </p:nvSpPr>
        <p:spPr>
          <a:xfrm>
            <a:off x="1143000" y="4498848"/>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labelled diagram</a:t>
            </a:r>
            <a:endParaRPr lang="en-US" sz="2000" dirty="0"/>
          </a:p>
        </p:txBody>
      </p:sp>
      <p:sp>
        <p:nvSpPr>
          <p:cNvPr id="29" name="kw-cell"/>
          <p:cNvSpPr txBox="1"/>
          <p:nvPr/>
        </p:nvSpPr>
        <p:spPr>
          <a:xfrm>
            <a:off x="3657600" y="4498848"/>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drawing with the key parts named</a:t>
            </a:r>
            <a:endParaRPr lang="en-US" sz="1800" dirty="0"/>
          </a:p>
        </p:txBody>
      </p:sp>
      <p:sp>
        <p:nvSpPr>
          <p:cNvPr id="30" name="kw-cell"/>
          <p:cNvSpPr txBox="1"/>
          <p:nvPr/>
        </p:nvSpPr>
        <p:spPr>
          <a:xfrm>
            <a:off x="7315200" y="4498848"/>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labelled diagram showed the normal and both angles.</a:t>
            </a:r>
            <a:endParaRPr lang="en-US" sz="1800" dirty="0"/>
          </a:p>
        </p:txBody>
      </p:sp>
      <p:sp>
        <p:nvSpPr>
          <p:cNvPr id="31" name="kw-row"/>
          <p:cNvSpPr/>
          <p:nvPr/>
        </p:nvSpPr>
        <p:spPr>
          <a:xfrm>
            <a:off x="548640" y="5358384"/>
            <a:ext cx="11094415" cy="786384"/>
          </a:xfrm>
          <a:prstGeom prst="roundRect">
            <a:avLst>
              <a:gd name="adj" fmla="val 6977"/>
            </a:avLst>
          </a:prstGeom>
          <a:solidFill>
            <a:srgbClr val="E3E5EC"/>
          </a:solidFill>
          <a:ln/>
        </p:spPr>
      </p:sp>
      <p:sp>
        <p:nvSpPr>
          <p:cNvPr id="32" name="kw-hex"/>
          <p:cNvSpPr/>
          <p:nvPr/>
        </p:nvSpPr>
        <p:spPr>
          <a:xfrm>
            <a:off x="658368" y="5573405"/>
            <a:ext cx="411480" cy="356342"/>
          </a:xfrm>
          <a:prstGeom prst="hexagon">
            <a:avLst/>
          </a:prstGeom>
          <a:solidFill>
            <a:srgbClr val="24366B"/>
          </a:solidFill>
          <a:ln/>
        </p:spPr>
      </p:sp>
      <p:sp>
        <p:nvSpPr>
          <p:cNvPr id="33" name="kw-cell"/>
          <p:cNvSpPr txBox="1"/>
          <p:nvPr/>
        </p:nvSpPr>
        <p:spPr>
          <a:xfrm>
            <a:off x="1143000" y="5358384"/>
            <a:ext cx="2331720" cy="786384"/>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method</a:t>
            </a:r>
            <a:endParaRPr lang="en-US" sz="2000" dirty="0"/>
          </a:p>
        </p:txBody>
      </p:sp>
      <p:sp>
        <p:nvSpPr>
          <p:cNvPr id="34" name="kw-cell"/>
          <p:cNvSpPr txBox="1"/>
          <p:nvPr/>
        </p:nvSpPr>
        <p:spPr>
          <a:xfrm>
            <a:off x="3657600" y="5358384"/>
            <a:ext cx="3474720"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steps of a practical, in order</a:t>
            </a:r>
            <a:endParaRPr lang="en-US" sz="1800" dirty="0"/>
          </a:p>
        </p:txBody>
      </p:sp>
      <p:sp>
        <p:nvSpPr>
          <p:cNvPr id="35" name="kw-cell"/>
          <p:cNvSpPr txBox="1"/>
          <p:nvPr/>
        </p:nvSpPr>
        <p:spPr>
          <a:xfrm>
            <a:off x="7315200" y="5358384"/>
            <a:ext cx="4236415" cy="786384"/>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Her method listed every step of the glass block practical.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Light questions often ask you to draw as well as write.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Use a ruler and a sharp pencil for every ray.</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Put an arrow on each ray to show which way the light travels.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Draw the normal as a dotted line at right angles to the surface.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Label the angle of incidence and the angle of reflection or refraction.</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In a lens diagram, mark the principal focus on both sides.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Read the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command word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before you write.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Describe</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means say what happens, in order.</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b="1" dirty="0">
                <a:solidFill>
                  <a:srgbClr val="24366B"/>
                </a:solidFill>
                <a:latin typeface="Calibri" pitchFamily="34" charset="0"/>
                <a:ea typeface="Calibri" pitchFamily="34" charset="-122"/>
                <a:cs typeface="Calibri" pitchFamily="34" charset="-120"/>
              </a:rPr>
              <a:t>Explain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means give reasons, using because and so.</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Six-mark answers are marked on the whole answer, not word by word.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Plan the key words first, then write them in full sentences.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Check that every number has a unit, except magnification.</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Drawing marks: ray diagrams the examiner can follow</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Dotted: the normal, or a ray traced backwards. Solid: a ray that really travels.</a:t>
            </a:r>
            <a:endParaRPr lang="en-US" sz="1800" dirty="0"/>
          </a:p>
        </p:txBody>
      </p:sp>
      <p:sp>
        <p:nvSpPr>
          <p:cNvPr id="11" name="point-card"/>
          <p:cNvSpPr/>
          <p:nvPr/>
        </p:nvSpPr>
        <p:spPr>
          <a:xfrm>
            <a:off x="548640" y="1389888"/>
            <a:ext cx="3515258" cy="3964940"/>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Ray diagrams earn marks for specific features, so give the examiner each one clearly.</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For refraction into a block: the ray bends towards the normal at the first face and away from the normal at the second, and leaves parallel to the incident ray.</a:t>
            </a:r>
            <a:endParaRPr lang="en-US" sz="2000" dirty="0"/>
          </a:p>
        </p:txBody>
      </p:sp>
      <p:sp>
        <p:nvSpPr>
          <p:cNvPr id="19" name="point-card"/>
          <p:cNvSpPr/>
          <p:nvPr/>
        </p:nvSpPr>
        <p:spPr>
          <a:xfrm>
            <a:off x="8127797" y="1389888"/>
            <a:ext cx="3515258" cy="3964940"/>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Common lost marks: freehand wavy rays; no arrows; angles measured from the surface instead of the normal; the normal missing; the image arrow not drawn; a magnification written with a unit.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Command words and planning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'compare', use 'both' for similarities and 'whereas' or 'however' for differences.</a:t>
            </a:r>
            <a:endParaRPr lang="en-US" sz="1800" dirty="0"/>
          </a:p>
        </p:txBody>
      </p:sp>
      <p:sp>
        <p:nvSpPr>
          <p:cNvPr id="11" name="point-card"/>
          <p:cNvSpPr/>
          <p:nvPr/>
        </p:nvSpPr>
        <p:spPr>
          <a:xfrm>
            <a:off x="548640" y="1389888"/>
            <a:ext cx="5410048" cy="3964940"/>
          </a:xfrm>
          <a:prstGeom prst="roundRect">
            <a:avLst>
              <a:gd name="adj" fmla="val 1384"/>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Describe wants what happens, in order: describe how to carry out the refraction practical.</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Plan before you write. Jot the key words down the margin in the order you will use them, then turn each into a full sentence.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Worked example: Command words and planning</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DEE1E9"/>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Plan an answer to: 'Explain why a white shirt looks red under a red stage light, and why green trousers look black.' (6 marks)</a:t>
            </a:r>
            <a:endParaRPr lang="en-US" sz="2000" dirty="0"/>
          </a:p>
        </p:txBody>
      </p:sp>
      <p:sp>
        <p:nvSpPr>
          <p:cNvPr id="9" name="step-box"/>
          <p:cNvSpPr/>
          <p:nvPr/>
        </p:nvSpPr>
        <p:spPr>
          <a:xfrm>
            <a:off x="548640" y="2502408"/>
            <a:ext cx="11094415" cy="459401"/>
          </a:xfrm>
          <a:prstGeom prst="roundRect">
            <a:avLst>
              <a:gd name="adj" fmla="val 15923"/>
            </a:avLst>
          </a:prstGeom>
          <a:solidFill>
            <a:srgbClr val="FFFFFF"/>
          </a:solidFill>
          <a:ln w="15875">
            <a:solidFill>
              <a:srgbClr val="8790AE"/>
            </a:solidFill>
            <a:prstDash val="solid"/>
          </a:ln>
        </p:spPr>
      </p:sp>
      <p:sp>
        <p:nvSpPr>
          <p:cNvPr id="10" name="step-hex"/>
          <p:cNvSpPr/>
          <p:nvPr/>
        </p:nvSpPr>
        <p:spPr>
          <a:xfrm>
            <a:off x="685800" y="2534141"/>
            <a:ext cx="457200" cy="395935"/>
          </a:xfrm>
          <a:prstGeom prst="hexagon">
            <a:avLst/>
          </a:prstGeom>
          <a:solidFill>
            <a:srgbClr val="24366B"/>
          </a:solidFill>
          <a:ln/>
        </p:spPr>
      </p:sp>
      <p:sp>
        <p:nvSpPr>
          <p:cNvPr id="11" name="step-hex-label"/>
          <p:cNvSpPr txBox="1"/>
          <p:nvPr/>
        </p:nvSpPr>
        <p:spPr>
          <a:xfrm>
            <a:off x="685800" y="253414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4594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Command word: explain, so every point needs a because or a so.</a:t>
            </a:r>
            <a:endParaRPr lang="en-US" sz="1800" dirty="0"/>
          </a:p>
        </p:txBody>
      </p:sp>
      <p:sp>
        <p:nvSpPr>
          <p:cNvPr id="13" name="step-box"/>
          <p:cNvSpPr/>
          <p:nvPr/>
        </p:nvSpPr>
        <p:spPr>
          <a:xfrm>
            <a:off x="548640" y="3034961"/>
            <a:ext cx="11094415" cy="459401"/>
          </a:xfrm>
          <a:prstGeom prst="roundRect">
            <a:avLst>
              <a:gd name="adj" fmla="val 15923"/>
            </a:avLst>
          </a:prstGeom>
          <a:solidFill>
            <a:srgbClr val="FFFFFF"/>
          </a:solidFill>
          <a:ln w="15875">
            <a:solidFill>
              <a:srgbClr val="8790AE"/>
            </a:solidFill>
            <a:prstDash val="solid"/>
          </a:ln>
        </p:spPr>
      </p:sp>
      <p:sp>
        <p:nvSpPr>
          <p:cNvPr id="14" name="step-hex"/>
          <p:cNvSpPr/>
          <p:nvPr/>
        </p:nvSpPr>
        <p:spPr>
          <a:xfrm>
            <a:off x="685800" y="3066694"/>
            <a:ext cx="457200" cy="395935"/>
          </a:xfrm>
          <a:prstGeom prst="hexagon">
            <a:avLst/>
          </a:prstGeom>
          <a:solidFill>
            <a:srgbClr val="24366B"/>
          </a:solidFill>
          <a:ln/>
        </p:spPr>
      </p:sp>
      <p:sp>
        <p:nvSpPr>
          <p:cNvPr id="15" name="step-hex-label"/>
          <p:cNvSpPr txBox="1"/>
          <p:nvPr/>
        </p:nvSpPr>
        <p:spPr>
          <a:xfrm>
            <a:off x="685800" y="306669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034961"/>
            <a:ext cx="10180015" cy="4594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Plan, the light: red filter transmits red only, absorbs the rest.</a:t>
            </a:r>
            <a:endParaRPr lang="en-US" sz="1800" dirty="0"/>
          </a:p>
        </p:txBody>
      </p:sp>
      <p:sp>
        <p:nvSpPr>
          <p:cNvPr id="17" name="step-box"/>
          <p:cNvSpPr/>
          <p:nvPr/>
        </p:nvSpPr>
        <p:spPr>
          <a:xfrm>
            <a:off x="548640" y="3567515"/>
            <a:ext cx="11094415" cy="459401"/>
          </a:xfrm>
          <a:prstGeom prst="roundRect">
            <a:avLst>
              <a:gd name="adj" fmla="val 15923"/>
            </a:avLst>
          </a:prstGeom>
          <a:solidFill>
            <a:srgbClr val="FFFFFF"/>
          </a:solidFill>
          <a:ln w="15875">
            <a:solidFill>
              <a:srgbClr val="8790AE"/>
            </a:solidFill>
            <a:prstDash val="solid"/>
          </a:ln>
        </p:spPr>
      </p:sp>
      <p:sp>
        <p:nvSpPr>
          <p:cNvPr id="18" name="step-hex"/>
          <p:cNvSpPr/>
          <p:nvPr/>
        </p:nvSpPr>
        <p:spPr>
          <a:xfrm>
            <a:off x="685800" y="3599248"/>
            <a:ext cx="457200" cy="395935"/>
          </a:xfrm>
          <a:prstGeom prst="hexagon">
            <a:avLst/>
          </a:prstGeom>
          <a:solidFill>
            <a:srgbClr val="24366B"/>
          </a:solidFill>
          <a:ln/>
        </p:spPr>
      </p:sp>
      <p:sp>
        <p:nvSpPr>
          <p:cNvPr id="19" name="step-hex-label"/>
          <p:cNvSpPr txBox="1"/>
          <p:nvPr/>
        </p:nvSpPr>
        <p:spPr>
          <a:xfrm>
            <a:off x="685800" y="359924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567515"/>
            <a:ext cx="10180015" cy="4594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Plan, the shirt: white reflects all colours that arrive; only red arrives; so red.</a:t>
            </a:r>
            <a:endParaRPr lang="en-US" sz="1800" dirty="0"/>
          </a:p>
        </p:txBody>
      </p:sp>
      <p:sp>
        <p:nvSpPr>
          <p:cNvPr id="21" name="step-box"/>
          <p:cNvSpPr/>
          <p:nvPr/>
        </p:nvSpPr>
        <p:spPr>
          <a:xfrm>
            <a:off x="548640" y="4100068"/>
            <a:ext cx="11094415" cy="459401"/>
          </a:xfrm>
          <a:prstGeom prst="roundRect">
            <a:avLst>
              <a:gd name="adj" fmla="val 15923"/>
            </a:avLst>
          </a:prstGeom>
          <a:solidFill>
            <a:srgbClr val="FFFFFF"/>
          </a:solidFill>
          <a:ln w="15875">
            <a:solidFill>
              <a:srgbClr val="8790AE"/>
            </a:solidFill>
            <a:prstDash val="solid"/>
          </a:ln>
        </p:spPr>
      </p:sp>
      <p:sp>
        <p:nvSpPr>
          <p:cNvPr id="22" name="step-hex"/>
          <p:cNvSpPr/>
          <p:nvPr/>
        </p:nvSpPr>
        <p:spPr>
          <a:xfrm>
            <a:off x="685800" y="4131801"/>
            <a:ext cx="457200" cy="395935"/>
          </a:xfrm>
          <a:prstGeom prst="hexagon">
            <a:avLst/>
          </a:prstGeom>
          <a:solidFill>
            <a:srgbClr val="24366B"/>
          </a:solidFill>
          <a:ln/>
        </p:spPr>
      </p:sp>
      <p:sp>
        <p:nvSpPr>
          <p:cNvPr id="23" name="step-hex-label"/>
          <p:cNvSpPr txBox="1"/>
          <p:nvPr/>
        </p:nvSpPr>
        <p:spPr>
          <a:xfrm>
            <a:off x="685800" y="413180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100068"/>
            <a:ext cx="10180015" cy="4594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Plan, the trousers: green reflects only green; no green arrives; red absorbed; so black.</a:t>
            </a:r>
            <a:endParaRPr lang="en-US" sz="1800" dirty="0"/>
          </a:p>
        </p:txBody>
      </p:sp>
      <p:sp>
        <p:nvSpPr>
          <p:cNvPr id="25" name="step-box"/>
          <p:cNvSpPr/>
          <p:nvPr/>
        </p:nvSpPr>
        <p:spPr>
          <a:xfrm>
            <a:off x="548640" y="4632621"/>
            <a:ext cx="11094415" cy="459401"/>
          </a:xfrm>
          <a:prstGeom prst="roundRect">
            <a:avLst>
              <a:gd name="adj" fmla="val 15923"/>
            </a:avLst>
          </a:prstGeom>
          <a:solidFill>
            <a:srgbClr val="FFFFFF"/>
          </a:solidFill>
          <a:ln w="15875">
            <a:solidFill>
              <a:srgbClr val="8790AE"/>
            </a:solidFill>
            <a:prstDash val="solid"/>
          </a:ln>
        </p:spPr>
      </p:sp>
      <p:sp>
        <p:nvSpPr>
          <p:cNvPr id="26" name="step-hex"/>
          <p:cNvSpPr/>
          <p:nvPr/>
        </p:nvSpPr>
        <p:spPr>
          <a:xfrm>
            <a:off x="685800" y="4664354"/>
            <a:ext cx="457200" cy="395935"/>
          </a:xfrm>
          <a:prstGeom prst="hexagon">
            <a:avLst/>
          </a:prstGeom>
          <a:solidFill>
            <a:srgbClr val="24366B"/>
          </a:solidFill>
          <a:ln/>
        </p:spPr>
      </p:sp>
      <p:sp>
        <p:nvSpPr>
          <p:cNvPr id="27" name="step-hex-label"/>
          <p:cNvSpPr txBox="1"/>
          <p:nvPr/>
        </p:nvSpPr>
        <p:spPr>
          <a:xfrm>
            <a:off x="685800" y="466435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8" name="step"/>
          <p:cNvSpPr txBox="1"/>
          <p:nvPr/>
        </p:nvSpPr>
        <p:spPr>
          <a:xfrm>
            <a:off x="1280160" y="4632621"/>
            <a:ext cx="10180015" cy="4594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it up in that order, using transmit, reflect and absorb.</a:t>
            </a:r>
            <a:endParaRPr lang="en-US" sz="1800" dirty="0"/>
          </a:p>
        </p:txBody>
      </p:sp>
      <p:sp>
        <p:nvSpPr>
          <p:cNvPr id="29" name="worked-answer"/>
          <p:cNvSpPr/>
          <p:nvPr/>
        </p:nvSpPr>
        <p:spPr>
          <a:xfrm>
            <a:off x="548640" y="5274903"/>
            <a:ext cx="11094415" cy="831088"/>
          </a:xfrm>
          <a:prstGeom prst="roundRect">
            <a:avLst>
              <a:gd name="adj" fmla="val 16504"/>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 six-point plan: filter transmits red; white reflects whatever arrives; so red; green reflects only green; none arrives and red is absorbed; so black.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Levels of response: how 6-markers are marked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Count your points before you write: a 6-marker usually needs six linked statements.</a:t>
            </a:r>
            <a:endParaRPr lang="en-US" sz="1800" dirty="0"/>
          </a:p>
        </p:txBody>
      </p:sp>
      <p:sp>
        <p:nvSpPr>
          <p:cNvPr id="11" name="point-card"/>
          <p:cNvSpPr/>
          <p:nvPr/>
        </p:nvSpPr>
        <p:spPr>
          <a:xfrm>
            <a:off x="548640" y="1389888"/>
            <a:ext cx="5410048" cy="3964940"/>
          </a:xfrm>
          <a:prstGeom prst="roundRect">
            <a:avLst>
              <a:gd name="adj" fmla="val 1384"/>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examiner reads the whole answer and places it in a level.</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3EADB"/>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short, accurate, well-ordered answer beats a long muddled one.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The task: Describe the refraction practical (6 marks)</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Describe how you would investigate the refraction of light by a rectangular glass block, including how you would make your results accurate. (6 marks)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6 marks · 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Describe the refraction practical (6 marks)</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Describe the refraction practical (6 marks)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Set-up: draw round the block, remove it, draw the normal.</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Rays: draw the incident ray at 30°, replace the block, shine the ray, mark the exit with two dots.</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Drawing: remove the block, draw the emergent and refracted rays, draw the exit normal.</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Measuring and accuracy: protractor, repeat at 50°, narrow slit, sharp pencil, dots far apart.</a:t>
            </a:r>
            <a:endParaRPr lang="en-US" sz="1800" dirty="0"/>
          </a:p>
        </p:txBody>
      </p:sp>
      <p:sp>
        <p:nvSpPr>
          <p:cNvPr id="17" name="col-Core"/>
          <p:cNvSpPr/>
          <p:nvPr/>
        </p:nvSpPr>
        <p:spPr>
          <a:xfrm>
            <a:off x="6425403" y="2395728"/>
            <a:ext cx="2471666" cy="3749040"/>
          </a:xfrm>
          <a:prstGeom prst="roundRect">
            <a:avLst>
              <a:gd name="adj" fmla="val 2220"/>
            </a:avLst>
          </a:prstGeom>
          <a:solidFill>
            <a:srgbClr val="C4C9D7"/>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Four blocks: set up, shine and mark, remove and draw, measure and improve.</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24366B"/>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one sentence on how you would use the same method to compare glass with Perspex, and what you would keep the same for a fair comparison.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Same task, three ways in: Explain the magnifying glass (6 marks)</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magnifying glass is a convex lens. Explain, with reference to the principal focus, how it forms the image you see, and describe that image. (6 marks)</a:t>
            </a:r>
            <a:endParaRPr lang="en-US" sz="2000" dirty="0"/>
          </a:p>
          <a:p>
            <a:pPr algn="ctr" indent="0" marL="0">
              <a:buNone/>
            </a:pPr>
            <a:r>
              <a:rPr lang="en-US" sz="1800" dirty="0">
                <a:solidFill>
                  <a:srgbClr val="4A505C"/>
                </a:solidFill>
                <a:latin typeface="Calibri" pitchFamily="34" charset="0"/>
                <a:ea typeface="Calibri" pitchFamily="34" charset="-122"/>
                <a:cs typeface="Calibri" pitchFamily="34" charset="-120"/>
              </a:rPr>
              <a:t>6 marks · Write in full sentences</a:t>
            </a:r>
            <a:endParaRPr lang="en-US" sz="2000" dirty="0"/>
          </a:p>
        </p:txBody>
      </p:sp>
      <p:sp>
        <p:nvSpPr>
          <p:cNvPr id="12" name="col-Support"/>
          <p:cNvSpPr/>
          <p:nvPr/>
        </p:nvSpPr>
        <p:spPr>
          <a:xfrm>
            <a:off x="548640" y="2948940"/>
            <a:ext cx="4667802" cy="3195828"/>
          </a:xfrm>
          <a:prstGeom prst="roundRect">
            <a:avLst>
              <a:gd name="adj" fmla="val 1717"/>
            </a:avLst>
          </a:prstGeom>
          <a:solidFill>
            <a:srgbClr val="DEE1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Where is the object? Inside F.</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does the lens do? Refracts the light, but the rays still diverge.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What does the eye do? Traces them back to a point on the object's side.</a:t>
            </a:r>
            <a:endParaRPr lang="en-US" sz="1800" dirty="0"/>
          </a:p>
          <a:p>
            <a:pPr algn="l" indent="0" marL="0">
              <a:spcAft>
                <a:spcPts val="600"/>
              </a:spcAft>
              <a:buNone/>
            </a:pPr>
            <a:r>
              <a:rPr lang="en-US" sz="18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Describe the image: virtual, upright, magnified; no screen can catch it.</a:t>
            </a:r>
            <a:endParaRPr lang="en-US" sz="1800" dirty="0"/>
          </a:p>
        </p:txBody>
      </p:sp>
      <p:sp>
        <p:nvSpPr>
          <p:cNvPr id="17" name="col-Core"/>
          <p:cNvSpPr/>
          <p:nvPr/>
        </p:nvSpPr>
        <p:spPr>
          <a:xfrm>
            <a:off x="5490762" y="2948940"/>
            <a:ext cx="2938987" cy="3195828"/>
          </a:xfrm>
          <a:prstGeom prst="roundRect">
            <a:avLst>
              <a:gd name="adj" fmla="val 1867"/>
            </a:avLst>
          </a:prstGeom>
          <a:solidFill>
            <a:srgbClr val="C4C9D7"/>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1D2B56"/>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Inside F, rays diverge, eye traces back, virtual upright magnified.</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4366B"/>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Add a sentence on what changes if the object is moved to beyond the principal focus, and why you would then need a screen to see the image clearly.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584196"/>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In a ray diagram, how should the normal be drawn?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It is not needed if the angles are labelled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As a solid line along the surface</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As a curved line through the lens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As a dotted line at right angles to the surface where the ray hits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Answers: Describe the refraction practical (6 marks)</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526119"/>
          </a:xfrm>
          <a:prstGeom prst="roundRect">
            <a:avLst>
              <a:gd name="adj" fmla="val 17380"/>
            </a:avLst>
          </a:prstGeom>
          <a:solidFill>
            <a:srgbClr val="E3E5EC"/>
          </a:solidFill>
          <a:ln/>
        </p:spPr>
      </p:sp>
      <p:sp>
        <p:nvSpPr>
          <p:cNvPr id="9" name="tickbox"/>
          <p:cNvSpPr/>
          <p:nvPr/>
        </p:nvSpPr>
        <p:spPr>
          <a:xfrm>
            <a:off x="713232" y="2101003"/>
            <a:ext cx="292608" cy="292608"/>
          </a:xfrm>
          <a:prstGeom prst="rect">
            <a:avLst/>
          </a:prstGeom>
          <a:solidFill>
            <a:srgbClr val="FFFFFF"/>
          </a:solidFill>
          <a:ln w="19050">
            <a:solidFill>
              <a:srgbClr val="24366B"/>
            </a:solidFill>
            <a:prstDash val="solid"/>
          </a:ln>
        </p:spPr>
      </p:sp>
      <p:sp>
        <p:nvSpPr>
          <p:cNvPr id="10" name="crit"/>
          <p:cNvSpPr txBox="1"/>
          <p:nvPr/>
        </p:nvSpPr>
        <p:spPr>
          <a:xfrm>
            <a:off x="1143000" y="1984248"/>
            <a:ext cx="10317175" cy="5261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Draw round the block on paper, remove it and draw a normal at right angles to one side</a:t>
            </a:r>
            <a:endParaRPr lang="en-US" sz="1800" dirty="0"/>
          </a:p>
        </p:txBody>
      </p:sp>
      <p:sp>
        <p:nvSpPr>
          <p:cNvPr id="11" name="crit-box"/>
          <p:cNvSpPr/>
          <p:nvPr/>
        </p:nvSpPr>
        <p:spPr>
          <a:xfrm>
            <a:off x="548640" y="2601807"/>
            <a:ext cx="11094415" cy="526119"/>
          </a:xfrm>
          <a:prstGeom prst="roundRect">
            <a:avLst>
              <a:gd name="adj" fmla="val 17380"/>
            </a:avLst>
          </a:prstGeom>
          <a:solidFill>
            <a:srgbClr val="E3E5EC"/>
          </a:solidFill>
          <a:ln/>
        </p:spPr>
      </p:sp>
      <p:sp>
        <p:nvSpPr>
          <p:cNvPr id="12" name="tickbox"/>
          <p:cNvSpPr/>
          <p:nvPr/>
        </p:nvSpPr>
        <p:spPr>
          <a:xfrm>
            <a:off x="713232" y="2718562"/>
            <a:ext cx="292608" cy="292608"/>
          </a:xfrm>
          <a:prstGeom prst="rect">
            <a:avLst/>
          </a:prstGeom>
          <a:solidFill>
            <a:srgbClr val="FFFFFF"/>
          </a:solidFill>
          <a:ln w="19050">
            <a:solidFill>
              <a:srgbClr val="24366B"/>
            </a:solidFill>
            <a:prstDash val="solid"/>
          </a:ln>
        </p:spPr>
      </p:sp>
      <p:sp>
        <p:nvSpPr>
          <p:cNvPr id="13" name="crit"/>
          <p:cNvSpPr txBox="1"/>
          <p:nvPr/>
        </p:nvSpPr>
        <p:spPr>
          <a:xfrm>
            <a:off x="1143000" y="2601807"/>
            <a:ext cx="10317175" cy="5261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Draw an incident ray at a chosen angle to the normal (e.g. 30°) and replace the block on its outline</a:t>
            </a:r>
            <a:endParaRPr lang="en-US" sz="1800" dirty="0"/>
          </a:p>
        </p:txBody>
      </p:sp>
      <p:sp>
        <p:nvSpPr>
          <p:cNvPr id="14" name="crit-box"/>
          <p:cNvSpPr/>
          <p:nvPr/>
        </p:nvSpPr>
        <p:spPr>
          <a:xfrm>
            <a:off x="548640" y="3219365"/>
            <a:ext cx="11094415" cy="526119"/>
          </a:xfrm>
          <a:prstGeom prst="roundRect">
            <a:avLst>
              <a:gd name="adj" fmla="val 17380"/>
            </a:avLst>
          </a:prstGeom>
          <a:solidFill>
            <a:srgbClr val="E3E5EC"/>
          </a:solidFill>
          <a:ln/>
        </p:spPr>
      </p:sp>
      <p:sp>
        <p:nvSpPr>
          <p:cNvPr id="15" name="tickbox"/>
          <p:cNvSpPr/>
          <p:nvPr/>
        </p:nvSpPr>
        <p:spPr>
          <a:xfrm>
            <a:off x="713232" y="3336121"/>
            <a:ext cx="292608" cy="292608"/>
          </a:xfrm>
          <a:prstGeom prst="rect">
            <a:avLst/>
          </a:prstGeom>
          <a:solidFill>
            <a:srgbClr val="FFFFFF"/>
          </a:solidFill>
          <a:ln w="19050">
            <a:solidFill>
              <a:srgbClr val="24366B"/>
            </a:solidFill>
            <a:prstDash val="solid"/>
          </a:ln>
        </p:spPr>
      </p:sp>
      <p:sp>
        <p:nvSpPr>
          <p:cNvPr id="16" name="crit"/>
          <p:cNvSpPr txBox="1"/>
          <p:nvPr/>
        </p:nvSpPr>
        <p:spPr>
          <a:xfrm>
            <a:off x="1143000" y="3219365"/>
            <a:ext cx="10317175" cy="5261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Shine a narrow ray from a ray box along the incident ray and mark the emergent ray with two dots</a:t>
            </a:r>
            <a:endParaRPr lang="en-US" sz="1800" dirty="0"/>
          </a:p>
        </p:txBody>
      </p:sp>
      <p:sp>
        <p:nvSpPr>
          <p:cNvPr id="17" name="crit-box"/>
          <p:cNvSpPr/>
          <p:nvPr/>
        </p:nvSpPr>
        <p:spPr>
          <a:xfrm>
            <a:off x="548640" y="3836924"/>
            <a:ext cx="11094415" cy="753703"/>
          </a:xfrm>
          <a:prstGeom prst="roundRect">
            <a:avLst>
              <a:gd name="adj" fmla="val 12132"/>
            </a:avLst>
          </a:prstGeom>
          <a:solidFill>
            <a:srgbClr val="E3E5EC"/>
          </a:solidFill>
          <a:ln/>
        </p:spPr>
      </p:sp>
      <p:sp>
        <p:nvSpPr>
          <p:cNvPr id="18" name="tickbox"/>
          <p:cNvSpPr/>
          <p:nvPr/>
        </p:nvSpPr>
        <p:spPr>
          <a:xfrm>
            <a:off x="713232" y="4067471"/>
            <a:ext cx="292608" cy="292608"/>
          </a:xfrm>
          <a:prstGeom prst="rect">
            <a:avLst/>
          </a:prstGeom>
          <a:solidFill>
            <a:srgbClr val="FFFFFF"/>
          </a:solidFill>
          <a:ln w="19050">
            <a:solidFill>
              <a:srgbClr val="24366B"/>
            </a:solidFill>
            <a:prstDash val="solid"/>
          </a:ln>
        </p:spPr>
      </p:sp>
      <p:sp>
        <p:nvSpPr>
          <p:cNvPr id="19" name="crit"/>
          <p:cNvSpPr txBox="1"/>
          <p:nvPr/>
        </p:nvSpPr>
        <p:spPr>
          <a:xfrm>
            <a:off x="1143000" y="3836924"/>
            <a:ext cx="10317175" cy="75370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Remove the block, draw the emergent ray and the refracted ray inside the block, draw the normal at the exit point</a:t>
            </a:r>
            <a:endParaRPr lang="en-US" sz="1800" dirty="0"/>
          </a:p>
        </p:txBody>
      </p:sp>
      <p:sp>
        <p:nvSpPr>
          <p:cNvPr id="20" name="crit-box"/>
          <p:cNvSpPr/>
          <p:nvPr/>
        </p:nvSpPr>
        <p:spPr>
          <a:xfrm>
            <a:off x="548640" y="4682067"/>
            <a:ext cx="11094415" cy="753703"/>
          </a:xfrm>
          <a:prstGeom prst="roundRect">
            <a:avLst>
              <a:gd name="adj" fmla="val 12132"/>
            </a:avLst>
          </a:prstGeom>
          <a:solidFill>
            <a:srgbClr val="E3E5EC"/>
          </a:solidFill>
          <a:ln/>
        </p:spPr>
      </p:sp>
      <p:sp>
        <p:nvSpPr>
          <p:cNvPr id="21" name="tickbox"/>
          <p:cNvSpPr/>
          <p:nvPr/>
        </p:nvSpPr>
        <p:spPr>
          <a:xfrm>
            <a:off x="713232" y="4912614"/>
            <a:ext cx="292608" cy="292608"/>
          </a:xfrm>
          <a:prstGeom prst="rect">
            <a:avLst/>
          </a:prstGeom>
          <a:solidFill>
            <a:srgbClr val="FFFFFF"/>
          </a:solidFill>
          <a:ln w="19050">
            <a:solidFill>
              <a:srgbClr val="24366B"/>
            </a:solidFill>
            <a:prstDash val="solid"/>
          </a:ln>
        </p:spPr>
      </p:sp>
      <p:sp>
        <p:nvSpPr>
          <p:cNvPr id="22" name="crit"/>
          <p:cNvSpPr txBox="1"/>
          <p:nvPr/>
        </p:nvSpPr>
        <p:spPr>
          <a:xfrm>
            <a:off x="1143000" y="4682067"/>
            <a:ext cx="10317175" cy="75370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Measure the angle of incidence and the angle of refraction with a protractor and repeat for other angles (e.g. 50°)</a:t>
            </a:r>
            <a:endParaRPr lang="en-US" sz="1800" dirty="0"/>
          </a:p>
        </p:txBody>
      </p:sp>
      <p:sp>
        <p:nvSpPr>
          <p:cNvPr id="23" name="crit-box"/>
          <p:cNvSpPr/>
          <p:nvPr/>
        </p:nvSpPr>
        <p:spPr>
          <a:xfrm>
            <a:off x="548640" y="5527209"/>
            <a:ext cx="11094415" cy="526119"/>
          </a:xfrm>
          <a:prstGeom prst="roundRect">
            <a:avLst>
              <a:gd name="adj" fmla="val 17380"/>
            </a:avLst>
          </a:prstGeom>
          <a:solidFill>
            <a:srgbClr val="E3E5EC"/>
          </a:solidFill>
          <a:ln/>
        </p:spPr>
      </p:sp>
      <p:sp>
        <p:nvSpPr>
          <p:cNvPr id="24" name="tickbox"/>
          <p:cNvSpPr/>
          <p:nvPr/>
        </p:nvSpPr>
        <p:spPr>
          <a:xfrm>
            <a:off x="713232" y="5643965"/>
            <a:ext cx="292608" cy="292608"/>
          </a:xfrm>
          <a:prstGeom prst="rect">
            <a:avLst/>
          </a:prstGeom>
          <a:solidFill>
            <a:srgbClr val="FFFFFF"/>
          </a:solidFill>
          <a:ln w="19050">
            <a:solidFill>
              <a:srgbClr val="24366B"/>
            </a:solidFill>
            <a:prstDash val="solid"/>
          </a:ln>
        </p:spPr>
      </p:sp>
      <p:sp>
        <p:nvSpPr>
          <p:cNvPr id="25" name="crit"/>
          <p:cNvSpPr txBox="1"/>
          <p:nvPr/>
        </p:nvSpPr>
        <p:spPr>
          <a:xfrm>
            <a:off x="1143000" y="5527209"/>
            <a:ext cx="10317175" cy="52611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Accuracy: narrow slit, sharp pencil, dots far apart, normal drawn with a set square, repeat readings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24366B"/>
                </a:solidFill>
                <a:latin typeface="Cambria" pitchFamily="34" charset="0"/>
                <a:ea typeface="Cambria" pitchFamily="34" charset="-122"/>
                <a:cs typeface="Cambria" pitchFamily="34" charset="-120"/>
              </a:rPr>
              <a:t>Model answer: Describe the refraction practical (6 marks)</a:t>
            </a:r>
            <a:endParaRPr lang="en-US" sz="24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3EADB"/>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Place the rectangular block in the middle of a sheet of paper and draw round it. Remove the block and use a set square to draw a normal at right angles to one long side. With a protractor, draw an incident ray at 30° to the normal, then put the block back exactly on its outline. Using a ray box with a narrow slit, shine the ray along the incident line and mark two pencil dots, far apart, on the ray where it comes out of the far side. Remove the block, join the dots to draw the emergent ray, and join the entry and exit points to draw the refracted ray inside the block. Draw a normal at the exit point and measure the angle of incidence and the angle of refraction with a protractor. Repeat for an angle of incidence of 50° and other angles, and repeat each reading to check it. A narrow slit, a sharp pencil and widely spaced dots make the lines and angles more accurate.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24366B"/>
                </a:solidFill>
                <a:latin typeface="Cambria" pitchFamily="34" charset="0"/>
                <a:ea typeface="Cambria" pitchFamily="34" charset="-122"/>
                <a:cs typeface="Cambria" pitchFamily="34" charset="-120"/>
              </a:rPr>
              <a:t>Answers: Explain the magnifying glass (6 marks)</a:t>
            </a:r>
            <a:endParaRPr lang="en-US" sz="30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564049"/>
          </a:xfrm>
          <a:prstGeom prst="roundRect">
            <a:avLst>
              <a:gd name="adj" fmla="val 16211"/>
            </a:avLst>
          </a:prstGeom>
          <a:solidFill>
            <a:srgbClr val="E3E5EC"/>
          </a:solidFill>
          <a:ln/>
        </p:spPr>
      </p:sp>
      <p:sp>
        <p:nvSpPr>
          <p:cNvPr id="9" name="tickbox"/>
          <p:cNvSpPr/>
          <p:nvPr/>
        </p:nvSpPr>
        <p:spPr>
          <a:xfrm>
            <a:off x="713232" y="2119969"/>
            <a:ext cx="292608" cy="292608"/>
          </a:xfrm>
          <a:prstGeom prst="rect">
            <a:avLst/>
          </a:prstGeom>
          <a:solidFill>
            <a:srgbClr val="FFFFFF"/>
          </a:solidFill>
          <a:ln w="19050">
            <a:solidFill>
              <a:srgbClr val="24366B"/>
            </a:solidFill>
            <a:prstDash val="solid"/>
          </a:ln>
        </p:spPr>
      </p:sp>
      <p:sp>
        <p:nvSpPr>
          <p:cNvPr id="10" name="crit"/>
          <p:cNvSpPr txBox="1"/>
          <p:nvPr/>
        </p:nvSpPr>
        <p:spPr>
          <a:xfrm>
            <a:off x="1143000" y="1984248"/>
            <a:ext cx="10317175" cy="56404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States that the object is placed closer to the lens than the principal focus (inside the focal length)</a:t>
            </a:r>
            <a:endParaRPr lang="en-US" sz="1800" dirty="0"/>
          </a:p>
        </p:txBody>
      </p:sp>
      <p:sp>
        <p:nvSpPr>
          <p:cNvPr id="11" name="crit-box"/>
          <p:cNvSpPr/>
          <p:nvPr/>
        </p:nvSpPr>
        <p:spPr>
          <a:xfrm>
            <a:off x="548640" y="2639737"/>
            <a:ext cx="11094415" cy="564049"/>
          </a:xfrm>
          <a:prstGeom prst="roundRect">
            <a:avLst>
              <a:gd name="adj" fmla="val 16211"/>
            </a:avLst>
          </a:prstGeom>
          <a:solidFill>
            <a:srgbClr val="E3E5EC"/>
          </a:solidFill>
          <a:ln/>
        </p:spPr>
      </p:sp>
      <p:sp>
        <p:nvSpPr>
          <p:cNvPr id="12" name="tickbox"/>
          <p:cNvSpPr/>
          <p:nvPr/>
        </p:nvSpPr>
        <p:spPr>
          <a:xfrm>
            <a:off x="713232" y="2775458"/>
            <a:ext cx="292608" cy="292608"/>
          </a:xfrm>
          <a:prstGeom prst="rect">
            <a:avLst/>
          </a:prstGeom>
          <a:solidFill>
            <a:srgbClr val="FFFFFF"/>
          </a:solidFill>
          <a:ln w="19050">
            <a:solidFill>
              <a:srgbClr val="24366B"/>
            </a:solidFill>
            <a:prstDash val="solid"/>
          </a:ln>
        </p:spPr>
      </p:sp>
      <p:sp>
        <p:nvSpPr>
          <p:cNvPr id="13" name="crit"/>
          <p:cNvSpPr txBox="1"/>
          <p:nvPr/>
        </p:nvSpPr>
        <p:spPr>
          <a:xfrm>
            <a:off x="1143000" y="2639737"/>
            <a:ext cx="10317175" cy="56404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States that the lens refracts the light from the object</a:t>
            </a:r>
            <a:endParaRPr lang="en-US" sz="1800" dirty="0"/>
          </a:p>
        </p:txBody>
      </p:sp>
      <p:sp>
        <p:nvSpPr>
          <p:cNvPr id="14" name="crit-box"/>
          <p:cNvSpPr/>
          <p:nvPr/>
        </p:nvSpPr>
        <p:spPr>
          <a:xfrm>
            <a:off x="548640" y="3295227"/>
            <a:ext cx="11094415" cy="564049"/>
          </a:xfrm>
          <a:prstGeom prst="roundRect">
            <a:avLst>
              <a:gd name="adj" fmla="val 16211"/>
            </a:avLst>
          </a:prstGeom>
          <a:solidFill>
            <a:srgbClr val="E3E5EC"/>
          </a:solidFill>
          <a:ln/>
        </p:spPr>
      </p:sp>
      <p:sp>
        <p:nvSpPr>
          <p:cNvPr id="15" name="tickbox"/>
          <p:cNvSpPr/>
          <p:nvPr/>
        </p:nvSpPr>
        <p:spPr>
          <a:xfrm>
            <a:off x="713232" y="3430947"/>
            <a:ext cx="292608" cy="292608"/>
          </a:xfrm>
          <a:prstGeom prst="rect">
            <a:avLst/>
          </a:prstGeom>
          <a:solidFill>
            <a:srgbClr val="FFFFFF"/>
          </a:solidFill>
          <a:ln w="19050">
            <a:solidFill>
              <a:srgbClr val="24366B"/>
            </a:solidFill>
            <a:prstDash val="solid"/>
          </a:ln>
        </p:spPr>
      </p:sp>
      <p:sp>
        <p:nvSpPr>
          <p:cNvPr id="16" name="crit"/>
          <p:cNvSpPr txBox="1"/>
          <p:nvPr/>
        </p:nvSpPr>
        <p:spPr>
          <a:xfrm>
            <a:off x="1143000" y="3295227"/>
            <a:ext cx="10317175" cy="56404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Explains that the rays leaving the lens still diverge, so they never meet</a:t>
            </a:r>
            <a:endParaRPr lang="en-US" sz="1800" dirty="0"/>
          </a:p>
        </p:txBody>
      </p:sp>
      <p:sp>
        <p:nvSpPr>
          <p:cNvPr id="17" name="crit-box"/>
          <p:cNvSpPr/>
          <p:nvPr/>
        </p:nvSpPr>
        <p:spPr>
          <a:xfrm>
            <a:off x="548640" y="3950716"/>
            <a:ext cx="11094415" cy="791633"/>
          </a:xfrm>
          <a:prstGeom prst="roundRect">
            <a:avLst>
              <a:gd name="adj" fmla="val 11551"/>
            </a:avLst>
          </a:prstGeom>
          <a:solidFill>
            <a:srgbClr val="E3E5EC"/>
          </a:solidFill>
          <a:ln/>
        </p:spPr>
      </p:sp>
      <p:sp>
        <p:nvSpPr>
          <p:cNvPr id="18" name="tickbox"/>
          <p:cNvSpPr/>
          <p:nvPr/>
        </p:nvSpPr>
        <p:spPr>
          <a:xfrm>
            <a:off x="713232" y="4200229"/>
            <a:ext cx="292608" cy="292608"/>
          </a:xfrm>
          <a:prstGeom prst="rect">
            <a:avLst/>
          </a:prstGeom>
          <a:solidFill>
            <a:srgbClr val="FFFFFF"/>
          </a:solidFill>
          <a:ln w="19050">
            <a:solidFill>
              <a:srgbClr val="24366B"/>
            </a:solidFill>
            <a:prstDash val="solid"/>
          </a:ln>
        </p:spPr>
      </p:sp>
      <p:sp>
        <p:nvSpPr>
          <p:cNvPr id="19" name="crit"/>
          <p:cNvSpPr txBox="1"/>
          <p:nvPr/>
        </p:nvSpPr>
        <p:spPr>
          <a:xfrm>
            <a:off x="1143000" y="3950716"/>
            <a:ext cx="10317175" cy="79163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Explains that the eye traces the rays back to where they appear to come from, on the same side as the object</a:t>
            </a:r>
            <a:endParaRPr lang="en-US" sz="1800" dirty="0"/>
          </a:p>
        </p:txBody>
      </p:sp>
      <p:sp>
        <p:nvSpPr>
          <p:cNvPr id="20" name="crit-box"/>
          <p:cNvSpPr/>
          <p:nvPr/>
        </p:nvSpPr>
        <p:spPr>
          <a:xfrm>
            <a:off x="548640" y="4833789"/>
            <a:ext cx="11094415" cy="564049"/>
          </a:xfrm>
          <a:prstGeom prst="roundRect">
            <a:avLst>
              <a:gd name="adj" fmla="val 16211"/>
            </a:avLst>
          </a:prstGeom>
          <a:solidFill>
            <a:srgbClr val="E3E5EC"/>
          </a:solidFill>
          <a:ln/>
        </p:spPr>
      </p:sp>
      <p:sp>
        <p:nvSpPr>
          <p:cNvPr id="21" name="tickbox"/>
          <p:cNvSpPr/>
          <p:nvPr/>
        </p:nvSpPr>
        <p:spPr>
          <a:xfrm>
            <a:off x="713232" y="4969510"/>
            <a:ext cx="292608" cy="292608"/>
          </a:xfrm>
          <a:prstGeom prst="rect">
            <a:avLst/>
          </a:prstGeom>
          <a:solidFill>
            <a:srgbClr val="FFFFFF"/>
          </a:solidFill>
          <a:ln w="19050">
            <a:solidFill>
              <a:srgbClr val="24366B"/>
            </a:solidFill>
            <a:prstDash val="solid"/>
          </a:ln>
        </p:spPr>
      </p:sp>
      <p:sp>
        <p:nvSpPr>
          <p:cNvPr id="22" name="crit"/>
          <p:cNvSpPr txBox="1"/>
          <p:nvPr/>
        </p:nvSpPr>
        <p:spPr>
          <a:xfrm>
            <a:off x="1143000" y="4833789"/>
            <a:ext cx="10317175" cy="56404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Describes the image as virtual, upright and magnified</a:t>
            </a:r>
            <a:endParaRPr lang="en-US" sz="1800" dirty="0"/>
          </a:p>
        </p:txBody>
      </p:sp>
      <p:sp>
        <p:nvSpPr>
          <p:cNvPr id="23" name="crit-box"/>
          <p:cNvSpPr/>
          <p:nvPr/>
        </p:nvSpPr>
        <p:spPr>
          <a:xfrm>
            <a:off x="548640" y="5489279"/>
            <a:ext cx="11094415" cy="564049"/>
          </a:xfrm>
          <a:prstGeom prst="roundRect">
            <a:avLst>
              <a:gd name="adj" fmla="val 16211"/>
            </a:avLst>
          </a:prstGeom>
          <a:solidFill>
            <a:srgbClr val="E3E5EC"/>
          </a:solidFill>
          <a:ln/>
        </p:spPr>
      </p:sp>
      <p:sp>
        <p:nvSpPr>
          <p:cNvPr id="24" name="tickbox"/>
          <p:cNvSpPr/>
          <p:nvPr/>
        </p:nvSpPr>
        <p:spPr>
          <a:xfrm>
            <a:off x="713232" y="5624999"/>
            <a:ext cx="292608" cy="292608"/>
          </a:xfrm>
          <a:prstGeom prst="rect">
            <a:avLst/>
          </a:prstGeom>
          <a:solidFill>
            <a:srgbClr val="FFFFFF"/>
          </a:solidFill>
          <a:ln w="19050">
            <a:solidFill>
              <a:srgbClr val="24366B"/>
            </a:solidFill>
            <a:prstDash val="solid"/>
          </a:ln>
        </p:spPr>
      </p:sp>
      <p:sp>
        <p:nvSpPr>
          <p:cNvPr id="25" name="crit"/>
          <p:cNvSpPr txBox="1"/>
          <p:nvPr/>
        </p:nvSpPr>
        <p:spPr>
          <a:xfrm>
            <a:off x="1143000" y="5489279"/>
            <a:ext cx="10317175" cy="56404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States that the image cannot be formed on a screen because the rays do not actually meet there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Model answer: Explain the magnifying glass (6 marks)</a:t>
            </a:r>
            <a:endParaRPr lang="en-US" sz="26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3EADB"/>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object is held closer to the convex lens than its principal focus. The lens refracts the light from the object, but because the object is inside the focal length the rays leaving the lens are still spreading out, so they never meet on the far side. The eye traces these diverging rays back in straight lines to the point they appear to come from, which is on the same side of the lens as the object. The image is therefore virtual: no light actually reaches it, so it cannot be caught on a screen. It is upright and magnified, larger than the object.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 ray diagram, how should the normal be drawn?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As a dotted line at right angles to the surface where the ray hits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normal is a construction line at 90° to the surface at the point of incidence, drawn dotted. Every angle is measured from it.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 · Chapter 6: Exam skills: ray diagrams and 6-mark answers</dc:title>
  <dc:subject>Physics (Triple Science) · Year 11</dc:subject>
  <dc:creator>Dr Vitor Merissi de Carvalho</dc:creator>
  <cp:lastModifiedBy>Dr Vitor Merissi de Carvalho</cp:lastModifiedBy>
  <cp:revision>1</cp:revision>
  <dcterms:created xsi:type="dcterms:W3CDTF">2026-10-19T16:23:28Z</dcterms:created>
  <dcterms:modified xsi:type="dcterms:W3CDTF">2026-10-19T16:23:28Z</dcterms:modified>
</cp:coreProperties>
</file>