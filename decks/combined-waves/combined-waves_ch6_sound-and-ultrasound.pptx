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14058e0-db57-185e-d177-b6b2b56d8575}">
          <p14:sldIdLst>
            <p14:sldId id="256"/>
          </p14:sldIdLst>
        </p14:section>
        <p14:section name="Gate" id="{2bfae88a-c99b-ece3-3bd7-627fc30b7705}">
          <p14:sldIdLst>
            <p14:sldId id="257"/>
            <p14:sldId id="258"/>
          </p14:sldIdLst>
        </p14:section>
        <p14:section name="Pre-teach" id="{5091dee1-e4b4-b4d8-d18c-4dad884bfe70}">
          <p14:sldIdLst>
            <p14:sldId id="259"/>
          </p14:sldIdLst>
        </p14:section>
        <p14:section name="Read-along" id="{dcce7e30-dba2-fdcd-d6ef-7e94412ce7d6}">
          <p14:sldIdLst>
            <p14:sldId id="260"/>
            <p14:sldId id="261"/>
          </p14:sldIdLst>
        </p14:section>
        <p14:section name="Teach" id="{87b43c1b-f2b0-e8b0-61f3-96ee8eb93388}">
          <p14:sldIdLst>
            <p14:sldId id="262"/>
            <p14:sldId id="263"/>
            <p14:sldId id="264"/>
            <p14:sldId id="265"/>
            <p14:sldId id="266"/>
          </p14:sldIdLst>
        </p14:section>
        <p14:section name="Routes" id="{97fed1bc-510f-1973-b7f5-56b6ef0c14eb}">
          <p14:sldIdLst>
            <p14:sldId id="267"/>
            <p14:sldId id="268"/>
            <p14:sldId id="269"/>
            <p14:sldId id="270"/>
          </p14:sldIdLst>
        </p14:section>
        <p14:section name="Close" id="{0d9453a2-d414-a2ba-a3cf-f38a733ea2a7}">
          <p14:sldIdLst>
            <p14:sldId id="271"/>
          </p14:sldIdLst>
        </p14:section>
        <p14:section name="Answers" id="{f5b8d016-30f7-1cb9-4fde-86d11360a66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Hearing, ultrasound and seismic waves (Physics only, Higher). This chapter gives you pitch and loudness, the range of human hearing, how reflected sound measures distances and makes images, and what earthquake waves tell us about the Earth. It is examined in the separate Physics GCSE only.
This deck covers the department's lessons: 5 (P12.5 Sound Waves (H): What decides the pitch and loudness of a sound, and how do we hear? (Physics only)); 6 (P12.6 The uses of ultrasound (H): How are reflected ultrasound waves used to measure distances and make images? (Physics only)).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Sound with a frequency above 20 000 Hz is called ___.  →  ultrasound
2. Which change makes a sound louder?  →  A   a larger amplitude
3. A ship's echo sounder sends a pulse towards the seabed. The echo returns after 0.20 s. Sound travels through water at 1500 m/s. Calculate the depth of the water in metres.  →  150 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ultrasound. Ultrasound is sound above the upper limit of human hearing, 20 000 Hz (20 kHz).
2. A   a larger amplitude. Loudness depends on amplitude: a bigger amplitude carries more energy and sounds louder.
3. 150 m. Depth = ½ × speed × time = ½ × 1500 × 0.20 = 150 m (exact).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pitch: how high or low a note sounds; it depends on frequency. Example: "A whistle has a high pitch and a drum has a low pitch."
• loudness: how loud a sound is; it depends on amplitude. Example: "Turning up the volume increases the loudness."
• ultrasound: sound too high-pitched for humans to hear, above 20 000 Hz. Example: "The scanner uses ultrasound to make a picture of the baby."
• echo sounding: finding a depth or distance by timing a reflected pulse of sound. Example: "The ship used echo sounding to measure the depth of the sea."
• seismic wave: a wave made by an earthquake that travels through the Earth. Example: "Seismic waves were detected on the other side of the world."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high note has a high pitch.
2. Pitch depends on frequency: more waves each second means a higher note.
3. Loudness depends on amplitude: a bigger amplitude means a louder sound.
4. Humans hear sounds from about 20 Hz up to 20 000 Hz.
5. Sound above 20 000 Hz is called ultrasound.
6. We cannot hear it, but bats and dolphins can.
7. Ultrasound reflects from a boundary between two different materials.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ship sends a pulse of sound down to the seabed and times the echo.
9. Half the time, times the speed, gives the depth.
10. Doctors use ultrasound to make images of a baby before it is born.
11. Engineers use it to find cracks inside metal.
12. Earthquakes send seismic waves through the Earth.
13. Studying these waves tells us what is deep inside the planet.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Pitch, loudness and the range of hearing (Physics only). Say it in your own words, then check understanding with a quick question: ask a pupil from the pre-teach group first, since they met these words and ideas before the lesson. Pupils try to recall before you re-explain.
A microphone connected to an oscilloscope turns a sound into a trace on a screen. Although sound is longitudinal, the trace is drawn as a transverse-looking wave of displacement against time, which makes it easy to read. The pitch of a sound depends on its frequency: more waves on the screen in the same time means a higher frequency and a higher-pitched note. The loudness depends on its amplitude: a taller trace means a bigger amplitude, more energy, and a louder sound. Amplitude and frequency are independent: you can change one without changing the other.
Human hearing covers frequencies from about 20 Hz to 20 000 Hz (20 kHz). Sounds above 20 kHz are called ultrasound; sounds below 20 Hz are called infrasound. Other animals have different ranges: bats and dolphins hear well above 20 kHz, and elephants use infrasound. The range of human hearing is limited because sound waves have to make the solid parts of the ear vibrate, and the conversion of sound waves to vibrations of solids only works well over a limited range of frequencies.
Sound reaches the ear and makes the eardrum vibrate. The vibrations pass through three small bones to the cochlea, which turns them into electrical signals that travel along a nerve to the brain.
Worked example — model it step by step, thinking aloud: An oscilloscope trace of a sound shows 4 complete waves in a time of 0.01 s. Calculate the frequency of the sound, and say whether a human could hear it. (1) Frequency = number of waves ÷ time. (2) f = 4 ÷ 0.01 = 400 Hz. (3) 400 Hz is between 20 Hz and 20 000 Hz, so it is within human hearing. Answer: 400 Hz; yes, it is well inside the human hearing range.
Tip: Pitch = frequency. Loudness = amplitude. Hearing: 20 Hz to 20 kHz.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Echoes and echo sounding (Physics only). Say it in your own words, then check understanding with a quick question: ask a pupil from the pre-teach group first, since they met these words and ideas before the lesson. Pupils try to recall before you re-explain.
An echo is a reflection of sound from a hard surface. The reflected sound arrives after the original because it has travelled further. Echo sounding uses this: a ship sends a pulse of ultrasound down through the water, the pulse reflects from the seabed, and a receiver on the ship detects the echo. The time between sending and receiving is measured.
The pulse has travelled down to the seabed and back up again, so the distance it covers is twice the depth. Depth = ½ × speed × time, where the speed is the speed of sound in water, about 1500 m/s. The same method is used to find shoals of fish, map the seabed and, by bats and dolphins, to find food in the dark.
Ultrasound is used rather than audible sound because a short pulse of high-frequency sound gives a sharper echo and a more precise measurement, and because it can be aimed in a narrow beam.
Worked example — model it step by step, thinking aloud: A ship sends a pulse of ultrasound towards the seabed. The echo returns after 0.60 s. The speed of sound in water is 1500 m/s. Calculate the depth of the water. (1) The pulse travels down and back, so the depth is half the total distance. (2) Depth = ½ × speed × time. (3) Depth = ½ × 1500 × 0.60 = 450 m. Answer: 450 m.
Tip: Down and back: halve it. Depth = ½ × speed ×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Ultrasound in medicine and industry (Physics only). Say it in your own words, then check understanding with a quick question: ask a pupil from the pre-teach group first, since they met these words and ideas before the lesson. Pupils try to recall before you re-explain.
When a pulse of ultrasound reaches a boundary between two different materials, part of it is reflected and part is transmitted. How much is reflected depends on how different the two materials are: very little at a boundary between two similar soft tissues, a great deal at a boundary between soft tissue and bone, and almost all at a boundary between soft tissue and air.
A medical scanner sends pulses into the body through a hand-held probe and detects the reflections from each boundary. The time each echo takes gives the distance to the boundary, and a computer builds up an image from thousands of echoes. Ultrasound is used to scan unborn babies because it is non-ionising, so unlike X-rays it does not damage cells.
Engineers use the same idea to find cracks inside metal. A pulse sent into a metal block reflects from the far surface, but if there is a crack inside, an extra echo comes back sooner. Depth to the crack = ½ × speed of sound in the metal × time for the extra echo. Railway rails, aircraft parts and pipe welds are checked this way without cutting them open.
Worked example — model it step by step, thinking aloud: Ultrasound travels through a steel block at 5000 m/s. An echo from a crack returns after 0.000008 s (8 microseconds). How deep is the crack? (1) The pulse goes down to the crack and back, so halve the total distance. (2) Depth = ½ × speed × time. (3) Depth = ½ × 5000 × 0.000008 = 0.02 m. (4) 0.02 m = 20 mm. Answer: 0.02 m, which is 20 mm.
Tip: A crack gives an early echo. Non-ionising means safer than X-rays.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Ultrasound in medicine and industry (Physics only). Say it in your own words, then check understanding with a quick question: ask a pupil from the pre-teach group first, since they met these words and ideas before the lesson. Pupils try to recall before you re-explain.
When a pulse of ultrasound reaches a boundary between two different materials, part of it is reflected and part is transmitted. How much is reflected depends on how different the two materials are: very little at a boundary between two similar soft tissues, a great deal at a boundary between soft tissue and bone, and almost all at a boundary between soft tissue and air.
A medical scanner sends pulses into the body through a hand-held probe and detects the reflections from each boundary. The time each echo takes gives the distance to the boundary, and a computer builds up an image from thousands of echoes. Ultrasound is used to scan unborn babies because it is non-ionising, so unlike X-rays it does not damage cells.
Engineers use the same idea to find cracks inside metal. A pulse sent into a metal block reflects from the far surface, but if there is a crack inside, an extra echo comes back sooner. Depth to the crack = ½ × speed of sound in the metal × time for the extra echo. Railway rails, aircraft parts and pipe welds are checked this way without cutting them open.
Worked example — model it step by step, thinking aloud: Ultrasound travels through a steel block at 5000 m/s. An echo from a crack returns after 0.000008 s (8 microseconds). How deep is the crack? (1) The pulse goes down to the crack and back, so halve the total distance. (2) Depth = ½ × speed × time. (3) Depth = ½ × 5000 × 0.000008 = 0.02 m. (4) 0.02 m = 20 mm. Answer: 0.02 m, which is 20 mm.
Tip: A crack gives an early echo. Non-ionising means safer than X-rays.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Seismic waves and the inside of the Earth (Physics only). Say it in your own words, then check understanding with a quick question: ask a pupil from the pre-teach group first, since they met these words and ideas before the lesson. Pupils try to recall before you re-explain.
An earthquake sends seismic waves through the Earth. P-waves are longitudinal; they travel through solids and liquids, and are the first to arrive. S-waves are transverse; they travel through solids only, and arrive later because they are slower. Both are detected by seismometers at stations around the world.
Studying where the waves arrive tells us about the Earth's interior. S-waves are not detected on the far side of the Earth from an earthquake: this S-wave shadow zone shows that the outer core is liquid, because transverse waves cannot travel through a liquid. P-waves are refracted as they pass into and out of the core, because their speed changes at the boundaries, and this leaves a P-wave shadow zone too. Weak P-waves detected inside the shadow zone show that there is a solid inner core that refracts them.
Seismic waves also bend gradually as they pass through the mantle, because their speed changes with depth. The pattern of arrival times and the sizes of the shadow zones let scientists work out the size of the core and the state of each layer, even though no one can go there.
Tip: S for solid only: S-waves stop at the liquid outer core. P passes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echo sounding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echo sounding in the order they happen.
Support — work through the steps with the group: (1) Nothing can be measured until a pulse has been sent, so sending comes first. (2) Follow the pulse: down, reflect, back up, detected. (3) Only then can the time be measured and the depth calculated.
Parallel worked example for Support (model it, do not give the task answer): Put in order the steps of hearing an echo from a wall: the clap is heard at the wall and reflected; you clap; you hear the echo; the sound travels back to you. You clap first.; The sound reaches the wall and is reflected.; It travels back.; You hear it.. Answer: You clap; the sound reaches the wall and is reflected; it travels back to you; you hear the echo..
Core — reveal the hint only on request: Send, travel and reflect, detect, time, calculate.
Stretch — no help; when finished: Explain why the depth would be wrong if the ship used the speed of sound in air (330 m/s) in its calculation, and say whether the answer would be too big or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echo sounding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echo sounding in the order they happen.
Support — work through the steps with the group: (1) Nothing can be measured until a pulse has been sent, so sending comes first. (2) Follow the pulse: down, reflect, back up, detected. (3) Only then can the time be measured and the depth calculated.
Parallel worked example for Support (model it, do not give the task answer): Put in order the steps of hearing an echo from a wall: the clap is heard at the wall and reflected; you clap; you hear the echo; the sound travels back to you. You clap first.; The sound reaches the wall and is reflected.; It travels back.; You hear it.. Answer: You clap; the sound reaches the wall and is reflected; it travels back to you; you hear the echo..
Core — reveal the hint only on request: Send, travel and reflect, detect, time, calculate.
Stretch — no help; when finished: Explain why the depth would be wrong if the ship used the speed of sound in air (330 m/s) in its calculation, and say whether the answer would be too big or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Depth of a crack.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engineer tests a metal rail with ultrasound. Sound travels through the metal at 4000 m/s. An echo from a crack returns after 0.00001 s (10 microseconds). Calculate the depth of the crack below the surface, in millimetres.
Support — work through the steps with the group: (1) Depth = ½ × speed × time (the pulse goes to the crack and back). (2) Multiply, keeping track of the zeros, to get the depth in metres. (3) Change metres to millimetres: × 1000.
Parallel worked example for Support (model it, do not give the task answer): Ultrasound travels through an aluminium block at 6000 m/s. An echo from a flaw returns after 0.000005 s. Calculate the depth of the flaw in millimetres. Depth = ½ × 6000 × 0.000005 = 0.015 m.; 0.015 m × 1000 = 15 mm.. Answer: 15 mm.
Core — reveal the hint only on request: Half of speed × time gives metres; the question wants millimetres.
Stretch — no help; when finished: A second echo, from the far surface of the rail, returns after 0.00008 s. Calculate the thickness of the rail and explain why the crack echo arrives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Depth of a crack.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engineer tests a metal rail with ultrasound. Sound travels through the metal at 4000 m/s. An echo from a crack returns after 0.00001 s (10 microseconds). Calculate the depth of the crack below the surface, in millimetres.
Support — work through the steps with the group: (1) Depth = ½ × speed × time (the pulse goes to the crack and back). (2) Multiply, keeping track of the zeros, to get the depth in metres. (3) Change metres to millimetres: × 1000.
Parallel worked example for Support (model it, do not give the task answer): Ultrasound travels through an aluminium block at 6000 m/s. An echo from a flaw returns after 0.000005 s. Calculate the depth of the flaw in millimetres. Depth = ½ × 6000 × 0.000005 = 0.015 m.; 0.015 m × 1000 = 15 mm.. Answer: 15 mm.
Core — reveal the hint only on request: Half of speed × time gives metres; the question wants millimetres.
Stretch — no help; when finished: A second echo, from the far surface of the rail, returns after 0.00008 s. Calculate the thickness of the rail and explain why the crack echo arrives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Sound with a frequency above 20 000 Hz is called ___.
Answer: Sound with a frequency above 20 000 Hz is called ultrasound.. Ultrasound is sound above the upper limit of human hearing, 20 000 Hz (20 kHz).
Source of this question: gate item 1 re-asked (options rotated) — this chapter has no third quick-check module.
The ebook also holds task 3, "What seismic waves tell us",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echo sounding works. Reveal the answer; pupils mark their own work in a different colour, then read the "why" together. Same destination for every lane, so one answer serves the whole class.
Answer: A transmitter on the ship sends a short pulse of ultrasound down into the water.  (B); The pulse travels down through the water and is reflected from the seabed.  (A); The reflected pulse (the echo) is detected by a receiver on the ship.  (D); The time between sending the pulse and detecting the echo is measured.  (C); Depth = ½ × speed of sound in water × time gives the depth of the water.  (E)
Why: Send the pulse, let it reflect from the seabed, detect the echo, measure the time, then use depth = ½ × speed × time.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Depth of a crack. Reveal the answer; pupils mark their own work in a different colour, then read the "why" together. Same destination for every lane, so one answer serves the whole class.
Answer: 20 mm
Why: ½ × 4000 × 0.00001 = 0.02 m, which is 20 mm below the surface.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Sound with a frequency above 20 000 Hz is called ultrasound.
Why: Ultrasound is sound above the upper limit of human hearing, 20 000 Hz (20 kHz).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Hearing, ultrasound and seismic waves (Physics only, Higher)</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DDE9E9"/>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P12.5 Sound Waves (H)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P12.6 The uses of ultrasound (H)</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Sound with a frequency above 20 000 Hz is called ___.</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ultrasound  ·  infrasound  ·  an echo</a:t>
            </a:r>
            <a:endParaRPr lang="en-US" sz="2400" dirty="0"/>
          </a:p>
        </p:txBody>
      </p:sp>
      <p:sp>
        <p:nvSpPr>
          <p:cNvPr id="12"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change makes a sound louder?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larger amplitude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higher frequency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shorter wavelength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longer period</a:t>
            </a:r>
            <a:endParaRPr lang="en-US" sz="2400" dirty="0"/>
          </a:p>
        </p:txBody>
      </p:sp>
      <p:sp>
        <p:nvSpPr>
          <p:cNvPr id="17"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ship's echo sounder sends a pulse towards the seabed. The echo returns after 0.20 s. Sound travels through water at 1500 m/s. Calculate the depth of the water in metres.</a:t>
            </a:r>
            <a:endParaRPr lang="en-US" sz="2200" dirty="0"/>
          </a:p>
          <a:p>
            <a:pPr algn="l" indent="0" marL="0">
              <a:buNone/>
            </a:pPr>
            <a:r>
              <a:rPr lang="en-US" sz="2200" b="1" dirty="0">
                <a:solidFill>
                  <a:srgbClr val="1F6F6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ultrasound</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Sound with a frequency above 20 000 Hz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Ultrasound is sound above the upper limit of human hearing, 20 000 Hz (20 kHz).</a:t>
            </a:r>
            <a:endParaRPr lang="en-US" sz="2200" dirty="0"/>
          </a:p>
        </p:txBody>
      </p:sp>
      <p:sp>
        <p:nvSpPr>
          <p:cNvPr id="14"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larger amplitude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change makes a sound louder?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Loudness depends on amplitude: a bigger amplitude carries more energy and sounds louder.</a:t>
            </a:r>
            <a:endParaRPr lang="en-US" sz="2200" dirty="0"/>
          </a:p>
        </p:txBody>
      </p:sp>
      <p:sp>
        <p:nvSpPr>
          <p:cNvPr id="21"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150 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ship's echo sounder sends a pulse towards the seabed. The echo returns after 0.20 s. Sound travels through water at 1500 m/s. Calculate the depth of the water in metres.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Depth = ½ × speed × time = ½ × 1500 × 0.20 = 150 m (exact).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2ECEC"/>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pitch</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high or low a note sounds; it depends on frequency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whistle has a high pitch and a drum has a low pitch.</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loudness</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loud a sound is; it depends on amplitude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Turning up the volume increases the loudness.</a:t>
            </a:r>
            <a:endParaRPr lang="en-US" sz="1800" dirty="0"/>
          </a:p>
        </p:txBody>
      </p:sp>
      <p:sp>
        <p:nvSpPr>
          <p:cNvPr id="21" name="kw-row"/>
          <p:cNvSpPr/>
          <p:nvPr/>
        </p:nvSpPr>
        <p:spPr>
          <a:xfrm>
            <a:off x="548640" y="3639312"/>
            <a:ext cx="11094415" cy="786384"/>
          </a:xfrm>
          <a:prstGeom prst="roundRect">
            <a:avLst>
              <a:gd name="adj" fmla="val 6977"/>
            </a:avLst>
          </a:prstGeom>
          <a:solidFill>
            <a:srgbClr val="E2ECEC"/>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ultrasound</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sound too high-pitched for humans to hear, above 20 000 Hz</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scanner uses ultrasound to make a picture of the baby.</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echo sounding</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finding a depth or distance by timing a reflected pulse of sound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ship used echo sounding to measure the depth of the sea.</a:t>
            </a:r>
            <a:endParaRPr lang="en-US" sz="1800" dirty="0"/>
          </a:p>
        </p:txBody>
      </p:sp>
      <p:sp>
        <p:nvSpPr>
          <p:cNvPr id="31" name="kw-row"/>
          <p:cNvSpPr/>
          <p:nvPr/>
        </p:nvSpPr>
        <p:spPr>
          <a:xfrm>
            <a:off x="548640" y="5358384"/>
            <a:ext cx="11094415" cy="786384"/>
          </a:xfrm>
          <a:prstGeom prst="roundRect">
            <a:avLst>
              <a:gd name="adj" fmla="val 6977"/>
            </a:avLst>
          </a:prstGeom>
          <a:solidFill>
            <a:srgbClr val="E2ECEC"/>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seismic wave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wave made by an earthquake that travels through the Earth</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Seismic waves were detected on the other side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high note has a high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pitch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Pitch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depends on frequency: more waves each second means a higher note.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Loudness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depends on amplitude: a bigger amplitude means a louder sound.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Humans hear sounds from about 20 Hz up to 20 000 Hz.</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Sound above 20 000 Hz is called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ultrasound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cannot hear it, but bats and dolphins can.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Ultrasound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reflects from a boundary between two different materials.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ship sends a pulse of sound down to the seabed and times the echo.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Half the time, times the speed, gives the depth.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Doctors use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ultrasound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make images of a baby before it is born.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Engineers use it to find cracks inside metal.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Earthquakes send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seismic waves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through the Earth.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Studying these waves tells us what is deep inside the planet.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Pitch, loudness and the range of hearing (Physics only)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Pitch = frequency. Loudness = amplitude. Hearing: 20 Hz to 20 kHz.</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An oscilloscope trace of a sound shows 4 complete waves in a time of 0.01 s. Calculate the frequency of the sound, and say whether a human could hear it.</a:t>
            </a:r>
            <a:endParaRPr lang="en-US" sz="1800" dirty="0"/>
          </a:p>
        </p:txBody>
      </p:sp>
      <p:sp>
        <p:nvSpPr>
          <p:cNvPr id="14" name="step-box"/>
          <p:cNvSpPr/>
          <p:nvPr/>
        </p:nvSpPr>
        <p:spPr>
          <a:xfrm>
            <a:off x="6126480" y="3167380"/>
            <a:ext cx="5379415" cy="523748"/>
          </a:xfrm>
          <a:prstGeom prst="roundRect">
            <a:avLst>
              <a:gd name="adj" fmla="val 17459"/>
            </a:avLst>
          </a:prstGeom>
          <a:solidFill>
            <a:srgbClr val="DDE9E9"/>
          </a:solidFill>
          <a:ln/>
        </p:spPr>
      </p:sp>
      <p:sp>
        <p:nvSpPr>
          <p:cNvPr id="15" name="step-hex"/>
          <p:cNvSpPr/>
          <p:nvPr/>
        </p:nvSpPr>
        <p:spPr>
          <a:xfrm>
            <a:off x="6217920" y="3247124"/>
            <a:ext cx="420624" cy="364260"/>
          </a:xfrm>
          <a:prstGeom prst="hexagon">
            <a:avLst/>
          </a:prstGeom>
          <a:solidFill>
            <a:srgbClr val="1F6F6A"/>
          </a:solidFill>
          <a:ln/>
        </p:spPr>
      </p:sp>
      <p:sp>
        <p:nvSpPr>
          <p:cNvPr id="16" name="step-hex-label"/>
          <p:cNvSpPr txBox="1"/>
          <p:nvPr/>
        </p:nvSpPr>
        <p:spPr>
          <a:xfrm>
            <a:off x="6217920" y="324712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Frequency = number of waves ÷ time.</a:t>
            </a:r>
            <a:endParaRPr lang="en-US" sz="1800" dirty="0"/>
          </a:p>
        </p:txBody>
      </p:sp>
      <p:sp>
        <p:nvSpPr>
          <p:cNvPr id="18" name="step-box"/>
          <p:cNvSpPr/>
          <p:nvPr/>
        </p:nvSpPr>
        <p:spPr>
          <a:xfrm>
            <a:off x="6126480" y="3782568"/>
            <a:ext cx="5379415" cy="523748"/>
          </a:xfrm>
          <a:prstGeom prst="roundRect">
            <a:avLst>
              <a:gd name="adj" fmla="val 17459"/>
            </a:avLst>
          </a:prstGeom>
          <a:solidFill>
            <a:srgbClr val="DDE9E9"/>
          </a:solidFill>
          <a:ln/>
        </p:spPr>
      </p:sp>
      <p:sp>
        <p:nvSpPr>
          <p:cNvPr id="19" name="step-hex"/>
          <p:cNvSpPr/>
          <p:nvPr/>
        </p:nvSpPr>
        <p:spPr>
          <a:xfrm>
            <a:off x="6217920" y="3862312"/>
            <a:ext cx="420624" cy="364260"/>
          </a:xfrm>
          <a:prstGeom prst="hexagon">
            <a:avLst/>
          </a:prstGeom>
          <a:solidFill>
            <a:srgbClr val="1F6F6A"/>
          </a:solidFill>
          <a:ln/>
        </p:spPr>
      </p:sp>
      <p:sp>
        <p:nvSpPr>
          <p:cNvPr id="20" name="step-hex-label"/>
          <p:cNvSpPr txBox="1"/>
          <p:nvPr/>
        </p:nvSpPr>
        <p:spPr>
          <a:xfrm>
            <a:off x="6217920" y="386231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82568"/>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 = 4 ÷ 0.01 = 400 Hz.</a:t>
            </a:r>
            <a:endParaRPr lang="en-US" sz="1800" dirty="0"/>
          </a:p>
        </p:txBody>
      </p:sp>
      <p:sp>
        <p:nvSpPr>
          <p:cNvPr id="22" name="step-box"/>
          <p:cNvSpPr/>
          <p:nvPr/>
        </p:nvSpPr>
        <p:spPr>
          <a:xfrm>
            <a:off x="6126480" y="4397756"/>
            <a:ext cx="5379415" cy="751332"/>
          </a:xfrm>
          <a:prstGeom prst="roundRect">
            <a:avLst>
              <a:gd name="adj" fmla="val 12170"/>
            </a:avLst>
          </a:prstGeom>
          <a:solidFill>
            <a:srgbClr val="DDE9E9"/>
          </a:solidFill>
          <a:ln/>
        </p:spPr>
      </p:sp>
      <p:sp>
        <p:nvSpPr>
          <p:cNvPr id="23" name="step-hex"/>
          <p:cNvSpPr/>
          <p:nvPr/>
        </p:nvSpPr>
        <p:spPr>
          <a:xfrm>
            <a:off x="6217920" y="4591292"/>
            <a:ext cx="420624" cy="364260"/>
          </a:xfrm>
          <a:prstGeom prst="hexagon">
            <a:avLst/>
          </a:prstGeom>
          <a:solidFill>
            <a:srgbClr val="1F6F6A"/>
          </a:solidFill>
          <a:ln/>
        </p:spPr>
      </p:sp>
      <p:sp>
        <p:nvSpPr>
          <p:cNvPr id="24" name="step-hex-label"/>
          <p:cNvSpPr txBox="1"/>
          <p:nvPr/>
        </p:nvSpPr>
        <p:spPr>
          <a:xfrm>
            <a:off x="6217920" y="459129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97756"/>
            <a:ext cx="4739335" cy="7513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400 Hz is between 20 Hz and 20 000 Hz, so it is within human hearing.</a:t>
            </a:r>
            <a:endParaRPr lang="en-US" sz="1800" dirty="0"/>
          </a:p>
        </p:txBody>
      </p:sp>
      <p:sp>
        <p:nvSpPr>
          <p:cNvPr id="26" name="worked-answer"/>
          <p:cNvSpPr/>
          <p:nvPr/>
        </p:nvSpPr>
        <p:spPr>
          <a:xfrm>
            <a:off x="6126480" y="5286248"/>
            <a:ext cx="53794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400 Hz; yes, it is well inside the human hearing range</a:t>
            </a:r>
            <a:endParaRPr lang="en-US" sz="1800" dirty="0"/>
          </a:p>
        </p:txBody>
      </p:sp>
      <p:sp>
        <p:nvSpPr>
          <p:cNvPr id="27" name="bullet-card"/>
          <p:cNvSpPr/>
          <p:nvPr/>
        </p:nvSpPr>
        <p:spPr>
          <a:xfrm>
            <a:off x="548640" y="1389888"/>
            <a:ext cx="5074920" cy="852255"/>
          </a:xfrm>
          <a:prstGeom prst="roundRect">
            <a:avLst>
              <a:gd name="adj" fmla="val 8583"/>
            </a:avLst>
          </a:prstGeom>
          <a:solidFill>
            <a:srgbClr val="E2ECEC"/>
          </a:solidFill>
          <a:ln/>
        </p:spPr>
      </p:sp>
      <p:sp>
        <p:nvSpPr>
          <p:cNvPr id="28" name="bullet-hex"/>
          <p:cNvSpPr/>
          <p:nvPr/>
        </p:nvSpPr>
        <p:spPr>
          <a:xfrm>
            <a:off x="676656" y="1649723"/>
            <a:ext cx="384048" cy="332586"/>
          </a:xfrm>
          <a:prstGeom prst="hexagon">
            <a:avLst/>
          </a:prstGeom>
          <a:solidFill>
            <a:srgbClr val="1F6F6A"/>
          </a:solidFill>
          <a:ln/>
        </p:spPr>
      </p:sp>
      <p:sp>
        <p:nvSpPr>
          <p:cNvPr id="29"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microphone connected to an oscilloscope turns a sound into a trace on a screen.</a:t>
            </a:r>
            <a:endParaRPr lang="en-US" sz="1800" dirty="0"/>
          </a:p>
        </p:txBody>
      </p:sp>
      <p:sp>
        <p:nvSpPr>
          <p:cNvPr id="30" name="bullet-card"/>
          <p:cNvSpPr/>
          <p:nvPr/>
        </p:nvSpPr>
        <p:spPr>
          <a:xfrm>
            <a:off x="548640" y="2388447"/>
            <a:ext cx="5074920" cy="852255"/>
          </a:xfrm>
          <a:prstGeom prst="roundRect">
            <a:avLst>
              <a:gd name="adj" fmla="val 8583"/>
            </a:avLst>
          </a:prstGeom>
          <a:solidFill>
            <a:srgbClr val="E2ECEC"/>
          </a:solidFill>
          <a:ln/>
        </p:spPr>
      </p:sp>
      <p:sp>
        <p:nvSpPr>
          <p:cNvPr id="31" name="bullet-hex"/>
          <p:cNvSpPr/>
          <p:nvPr/>
        </p:nvSpPr>
        <p:spPr>
          <a:xfrm>
            <a:off x="676656" y="2648281"/>
            <a:ext cx="384048" cy="332586"/>
          </a:xfrm>
          <a:prstGeom prst="hexagon">
            <a:avLst/>
          </a:prstGeom>
          <a:solidFill>
            <a:srgbClr val="B8862B"/>
          </a:solidFill>
          <a:ln/>
        </p:spPr>
      </p:sp>
      <p:sp>
        <p:nvSpPr>
          <p:cNvPr id="32" name="bullet"/>
          <p:cNvSpPr txBox="1"/>
          <p:nvPr/>
        </p:nvSpPr>
        <p:spPr>
          <a:xfrm>
            <a:off x="1143000" y="2388447"/>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Human hearing covers frequencies from about 20 Hz to 20 000 Hz (20 kHz).</a:t>
            </a:r>
            <a:endParaRPr lang="en-US" sz="1800" dirty="0"/>
          </a:p>
        </p:txBody>
      </p:sp>
      <p:sp>
        <p:nvSpPr>
          <p:cNvPr id="33" name="bullet-card"/>
          <p:cNvSpPr/>
          <p:nvPr/>
        </p:nvSpPr>
        <p:spPr>
          <a:xfrm>
            <a:off x="548640" y="3387005"/>
            <a:ext cx="5074920" cy="1688931"/>
          </a:xfrm>
          <a:prstGeom prst="roundRect">
            <a:avLst>
              <a:gd name="adj" fmla="val 4331"/>
            </a:avLst>
          </a:prstGeom>
          <a:solidFill>
            <a:srgbClr val="E2ECEC"/>
          </a:solidFill>
          <a:ln/>
        </p:spPr>
      </p:sp>
      <p:sp>
        <p:nvSpPr>
          <p:cNvPr id="34" name="bullet-hex"/>
          <p:cNvSpPr/>
          <p:nvPr/>
        </p:nvSpPr>
        <p:spPr>
          <a:xfrm>
            <a:off x="676656" y="4065178"/>
            <a:ext cx="384048" cy="332586"/>
          </a:xfrm>
          <a:prstGeom prst="hexagon">
            <a:avLst/>
          </a:prstGeom>
          <a:solidFill>
            <a:srgbClr val="1F6F6A"/>
          </a:solidFill>
          <a:ln/>
        </p:spPr>
      </p:sp>
      <p:sp>
        <p:nvSpPr>
          <p:cNvPr id="35" name="bullet"/>
          <p:cNvSpPr txBox="1"/>
          <p:nvPr/>
        </p:nvSpPr>
        <p:spPr>
          <a:xfrm>
            <a:off x="1143000" y="3387005"/>
            <a:ext cx="4389120" cy="168893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Sound reaches the ear and makes the eardrum vibrate. The vibrations pass through three small bones to the cochlea, which turns them into electrical signals that travel along a nerve to the brain.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Echoes and echo sounding (Physics only)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Down and back: halve it. Depth = ½ × speed × time.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ship sends a pulse of ultrasound towards the seabed. The echo returns after 0.60 s. The speed of sound in water is 1500 m/s. Calculate the depth of the water.</a:t>
            </a:r>
            <a:endParaRPr lang="en-US" sz="1800" dirty="0"/>
          </a:p>
        </p:txBody>
      </p:sp>
      <p:sp>
        <p:nvSpPr>
          <p:cNvPr id="14" name="step-box"/>
          <p:cNvSpPr/>
          <p:nvPr/>
        </p:nvSpPr>
        <p:spPr>
          <a:xfrm>
            <a:off x="6126480" y="3446272"/>
            <a:ext cx="5379415" cy="751332"/>
          </a:xfrm>
          <a:prstGeom prst="roundRect">
            <a:avLst>
              <a:gd name="adj" fmla="val 12170"/>
            </a:avLst>
          </a:prstGeom>
          <a:solidFill>
            <a:srgbClr val="DDE9E9"/>
          </a:solidFill>
          <a:ln/>
        </p:spPr>
      </p:sp>
      <p:sp>
        <p:nvSpPr>
          <p:cNvPr id="15" name="step-hex"/>
          <p:cNvSpPr/>
          <p:nvPr/>
        </p:nvSpPr>
        <p:spPr>
          <a:xfrm>
            <a:off x="6217920" y="3639808"/>
            <a:ext cx="420624" cy="364260"/>
          </a:xfrm>
          <a:prstGeom prst="hexagon">
            <a:avLst/>
          </a:prstGeom>
          <a:solidFill>
            <a:srgbClr val="1F6F6A"/>
          </a:solidFill>
          <a:ln/>
        </p:spPr>
      </p:sp>
      <p:sp>
        <p:nvSpPr>
          <p:cNvPr id="16" name="step-hex-label"/>
          <p:cNvSpPr txBox="1"/>
          <p:nvPr/>
        </p:nvSpPr>
        <p:spPr>
          <a:xfrm>
            <a:off x="6217920" y="363980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7513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pulse travels down and back, so the depth is half the total distance.</a:t>
            </a:r>
            <a:endParaRPr lang="en-US" sz="1800" dirty="0"/>
          </a:p>
        </p:txBody>
      </p:sp>
      <p:sp>
        <p:nvSpPr>
          <p:cNvPr id="18" name="step-box"/>
          <p:cNvSpPr/>
          <p:nvPr/>
        </p:nvSpPr>
        <p:spPr>
          <a:xfrm>
            <a:off x="6126480" y="4289044"/>
            <a:ext cx="5379415" cy="523748"/>
          </a:xfrm>
          <a:prstGeom prst="roundRect">
            <a:avLst>
              <a:gd name="adj" fmla="val 17459"/>
            </a:avLst>
          </a:prstGeom>
          <a:solidFill>
            <a:srgbClr val="DDE9E9"/>
          </a:solidFill>
          <a:ln/>
        </p:spPr>
      </p:sp>
      <p:sp>
        <p:nvSpPr>
          <p:cNvPr id="19" name="step-hex"/>
          <p:cNvSpPr/>
          <p:nvPr/>
        </p:nvSpPr>
        <p:spPr>
          <a:xfrm>
            <a:off x="6217920" y="4368788"/>
            <a:ext cx="420624" cy="364260"/>
          </a:xfrm>
          <a:prstGeom prst="hexagon">
            <a:avLst/>
          </a:prstGeom>
          <a:solidFill>
            <a:srgbClr val="1F6F6A"/>
          </a:solidFill>
          <a:ln/>
        </p:spPr>
      </p:sp>
      <p:sp>
        <p:nvSpPr>
          <p:cNvPr id="20" name="step-hex-label"/>
          <p:cNvSpPr txBox="1"/>
          <p:nvPr/>
        </p:nvSpPr>
        <p:spPr>
          <a:xfrm>
            <a:off x="6217920" y="436878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289044"/>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Depth = ½ × speed × time.</a:t>
            </a:r>
            <a:endParaRPr lang="en-US" sz="1800" dirty="0"/>
          </a:p>
        </p:txBody>
      </p:sp>
      <p:sp>
        <p:nvSpPr>
          <p:cNvPr id="22" name="step-box"/>
          <p:cNvSpPr/>
          <p:nvPr/>
        </p:nvSpPr>
        <p:spPr>
          <a:xfrm>
            <a:off x="6126480" y="4904232"/>
            <a:ext cx="5379415" cy="523748"/>
          </a:xfrm>
          <a:prstGeom prst="roundRect">
            <a:avLst>
              <a:gd name="adj" fmla="val 17459"/>
            </a:avLst>
          </a:prstGeom>
          <a:solidFill>
            <a:srgbClr val="DDE9E9"/>
          </a:solidFill>
          <a:ln/>
        </p:spPr>
      </p:sp>
      <p:sp>
        <p:nvSpPr>
          <p:cNvPr id="23" name="step-hex"/>
          <p:cNvSpPr/>
          <p:nvPr/>
        </p:nvSpPr>
        <p:spPr>
          <a:xfrm>
            <a:off x="6217920" y="4983976"/>
            <a:ext cx="420624" cy="364260"/>
          </a:xfrm>
          <a:prstGeom prst="hexagon">
            <a:avLst/>
          </a:prstGeom>
          <a:solidFill>
            <a:srgbClr val="1F6F6A"/>
          </a:solidFill>
          <a:ln/>
        </p:spPr>
      </p:sp>
      <p:sp>
        <p:nvSpPr>
          <p:cNvPr id="24" name="step-hex-label"/>
          <p:cNvSpPr txBox="1"/>
          <p:nvPr/>
        </p:nvSpPr>
        <p:spPr>
          <a:xfrm>
            <a:off x="6217920" y="498397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904232"/>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Depth = ½ × 1500 × 0.60 = 450 m.</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450 m</a:t>
            </a:r>
            <a:endParaRPr lang="en-US" sz="1800" dirty="0"/>
          </a:p>
        </p:txBody>
      </p:sp>
      <p:sp>
        <p:nvSpPr>
          <p:cNvPr id="27" name="bullet-card"/>
          <p:cNvSpPr/>
          <p:nvPr/>
        </p:nvSpPr>
        <p:spPr>
          <a:xfrm>
            <a:off x="548640" y="1389888"/>
            <a:ext cx="5074920" cy="759291"/>
          </a:xfrm>
          <a:prstGeom prst="roundRect">
            <a:avLst>
              <a:gd name="adj" fmla="val 9634"/>
            </a:avLst>
          </a:prstGeom>
          <a:solidFill>
            <a:srgbClr val="E2ECEC"/>
          </a:solidFill>
          <a:ln/>
        </p:spPr>
      </p:sp>
      <p:sp>
        <p:nvSpPr>
          <p:cNvPr id="28" name="bullet-hex"/>
          <p:cNvSpPr/>
          <p:nvPr/>
        </p:nvSpPr>
        <p:spPr>
          <a:xfrm>
            <a:off x="676656" y="1603241"/>
            <a:ext cx="384048" cy="332586"/>
          </a:xfrm>
          <a:prstGeom prst="hexagon">
            <a:avLst/>
          </a:prstGeom>
          <a:solidFill>
            <a:srgbClr val="1F6F6A"/>
          </a:solidFill>
          <a:ln/>
        </p:spPr>
      </p:sp>
      <p:sp>
        <p:nvSpPr>
          <p:cNvPr id="29"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echo is a reflection of sound from a hard surface.</a:t>
            </a:r>
            <a:endParaRPr lang="en-US" sz="1800" dirty="0"/>
          </a:p>
        </p:txBody>
      </p:sp>
      <p:sp>
        <p:nvSpPr>
          <p:cNvPr id="30" name="bullet-card"/>
          <p:cNvSpPr/>
          <p:nvPr/>
        </p:nvSpPr>
        <p:spPr>
          <a:xfrm>
            <a:off x="548640" y="2295483"/>
            <a:ext cx="5074920" cy="1038183"/>
          </a:xfrm>
          <a:prstGeom prst="roundRect">
            <a:avLst>
              <a:gd name="adj" fmla="val 7046"/>
            </a:avLst>
          </a:prstGeom>
          <a:solidFill>
            <a:srgbClr val="E2ECEC"/>
          </a:solidFill>
          <a:ln/>
        </p:spPr>
      </p:sp>
      <p:sp>
        <p:nvSpPr>
          <p:cNvPr id="31" name="bullet-hex"/>
          <p:cNvSpPr/>
          <p:nvPr/>
        </p:nvSpPr>
        <p:spPr>
          <a:xfrm>
            <a:off x="676656" y="2648281"/>
            <a:ext cx="384048" cy="332586"/>
          </a:xfrm>
          <a:prstGeom prst="hexagon">
            <a:avLst/>
          </a:prstGeom>
          <a:solidFill>
            <a:srgbClr val="B8862B"/>
          </a:solidFill>
          <a:ln/>
        </p:spPr>
      </p:sp>
      <p:sp>
        <p:nvSpPr>
          <p:cNvPr id="32" name="bullet"/>
          <p:cNvSpPr txBox="1"/>
          <p:nvPr/>
        </p:nvSpPr>
        <p:spPr>
          <a:xfrm>
            <a:off x="1143000" y="2295483"/>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pulse has travelled down to the seabed and back up again, so the distance it covers is twice the depth.</a:t>
            </a:r>
            <a:endParaRPr lang="en-US" sz="1800" dirty="0"/>
          </a:p>
        </p:txBody>
      </p:sp>
      <p:sp>
        <p:nvSpPr>
          <p:cNvPr id="33" name="bullet-card"/>
          <p:cNvSpPr/>
          <p:nvPr/>
        </p:nvSpPr>
        <p:spPr>
          <a:xfrm>
            <a:off x="548640" y="3479969"/>
            <a:ext cx="5074920" cy="1595967"/>
          </a:xfrm>
          <a:prstGeom prst="roundRect">
            <a:avLst>
              <a:gd name="adj" fmla="val 4584"/>
            </a:avLst>
          </a:prstGeom>
          <a:solidFill>
            <a:srgbClr val="E2ECEC"/>
          </a:solidFill>
          <a:ln/>
        </p:spPr>
      </p:sp>
      <p:sp>
        <p:nvSpPr>
          <p:cNvPr id="34" name="bullet-hex"/>
          <p:cNvSpPr/>
          <p:nvPr/>
        </p:nvSpPr>
        <p:spPr>
          <a:xfrm>
            <a:off x="676656" y="4111660"/>
            <a:ext cx="384048" cy="332586"/>
          </a:xfrm>
          <a:prstGeom prst="hexagon">
            <a:avLst/>
          </a:prstGeom>
          <a:solidFill>
            <a:srgbClr val="1F6F6A"/>
          </a:solidFill>
          <a:ln/>
        </p:spPr>
      </p:sp>
      <p:sp>
        <p:nvSpPr>
          <p:cNvPr id="35" name="bullet"/>
          <p:cNvSpPr txBox="1"/>
          <p:nvPr/>
        </p:nvSpPr>
        <p:spPr>
          <a:xfrm>
            <a:off x="1143000" y="3479969"/>
            <a:ext cx="4389120"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Ultrasound is used rather than audible sound because a short pulse of high-frequency sound gives a sharper echo and a more precise measurement, and because it can be aimed in a narrow beam.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Ultrasound in medicine and industry (Physics only)</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crack gives an early echo. Non-ionising means safer than X-rays.</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 pulse of ultrasound reaches a boundary between two different materials, part of it is reflected and part is transmitted.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medical scanner sends pulses into the body through a hand-held probe and detects the reflections from each boundary.</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Engineers use the same idea to find cracks inside metal.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Ultrasound in medicine and industry (Physics only)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DE9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Ultrasound travels through a steel block at 5000 m/s. An echo from a crack returns after 0.000008 s (8 microseconds). How deep is the crack?</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pulse goes down to the crack and back, so halve the total distance.</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Depth = ½ × speed × time.</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Depth = ½ × 5000 × 0.000008 = 0.02 m.</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0.02 m = 20 mm.</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0.02 m, which is 20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Seismic waves and the inside of the Earth (Physics only)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 for solid only: S-waves stop at the liquid outer core. P passes through.</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earthquake sends seismic waves through the Earth. P-waves are longitudinal; they travel through solids and liquids, and are the first to arrive.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Studying where the waves arrive tells us about the Earth's interior.</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Seismic waves also bend gradually as they pass through the mantle, because their speed changes with depth.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How echo sounding works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steps of echo sounding in the order they happen.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pulse travels down through the water and is reflected from the seabed.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transmitter on the ship sends a short pulse of ultrasound down into the water.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time between sending the pulse and detecting the echo is measured.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reflected pulse (the echo) is detected by a receiver on the ship.</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Depth = ½ × speed of sound in water × time gives the depth of the water.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How echo sounding works</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steps of echo sounding in the order they happen.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DDE9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Nothing can be measured until a pulse has been sent, so sending comes first.</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Follow the pulse: down, reflect, back up, detected.</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Only then can the time be measured and the depth calculated.</a:t>
            </a:r>
            <a:endParaRPr lang="en-US" sz="2000" dirty="0"/>
          </a:p>
        </p:txBody>
      </p:sp>
      <p:sp>
        <p:nvSpPr>
          <p:cNvPr id="17" name="col-Core"/>
          <p:cNvSpPr/>
          <p:nvPr/>
        </p:nvSpPr>
        <p:spPr>
          <a:xfrm>
            <a:off x="4338218" y="2578608"/>
            <a:ext cx="3515258" cy="3566160"/>
          </a:xfrm>
          <a:prstGeom prst="roundRect">
            <a:avLst>
              <a:gd name="adj" fmla="val 1561"/>
            </a:avLst>
          </a:prstGeom>
          <a:solidFill>
            <a:srgbClr val="C3D8D7"/>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Send, travel and reflect, detect, time, calculate.</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depth would be wrong if the ship used the speed of sound in air (330 m/s) in its calculation, and say whether the answer would be too big or too small.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Depth of a crack</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An engineer tests a metal rail with ultrasound. Sound travels through the metal at 4000 m/s. An echo from a crack returns after 0.00001 s (10 microseconds). Calculate the depth of the crack below the surface, in millimetres.</a:t>
            </a:r>
            <a:endParaRPr lang="en-US" sz="2600" dirty="0"/>
          </a:p>
          <a:p>
            <a:pPr algn="ctr" indent="0" marL="0">
              <a:buNone/>
            </a:pPr>
            <a:r>
              <a:rPr lang="en-US" sz="2400" b="1" dirty="0">
                <a:solidFill>
                  <a:srgbClr val="1F6F6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Depth of a crack</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An engineer tests a metal rail with ultrasound. Sound travels through the metal at 4000 m/s. An echo from a crack returns after 0.00001 s (10 microseconds). Calculate the depth of the crack below the surface, in millimetres.</a:t>
            </a:r>
            <a:endParaRPr lang="en-US" sz="2000" dirty="0"/>
          </a:p>
        </p:txBody>
      </p:sp>
      <p:sp>
        <p:nvSpPr>
          <p:cNvPr id="12" name="col-Support"/>
          <p:cNvSpPr/>
          <p:nvPr/>
        </p:nvSpPr>
        <p:spPr>
          <a:xfrm>
            <a:off x="548640" y="3213608"/>
            <a:ext cx="4667802" cy="2931160"/>
          </a:xfrm>
          <a:prstGeom prst="roundRect">
            <a:avLst>
              <a:gd name="adj" fmla="val 1872"/>
            </a:avLst>
          </a:prstGeom>
          <a:solidFill>
            <a:srgbClr val="DDE9E9"/>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4393482"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Depth = ½ × speed × time (the pulse goes to the crack and back).</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keeping track of the zeros, to get the depth in metres.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metres to millimetres: × 1000.</a:t>
            </a:r>
            <a:endParaRPr lang="en-US" sz="1800" dirty="0"/>
          </a:p>
        </p:txBody>
      </p:sp>
      <p:sp>
        <p:nvSpPr>
          <p:cNvPr id="17" name="col-Core"/>
          <p:cNvSpPr/>
          <p:nvPr/>
        </p:nvSpPr>
        <p:spPr>
          <a:xfrm>
            <a:off x="5490762" y="3213608"/>
            <a:ext cx="2938987" cy="2931160"/>
          </a:xfrm>
          <a:prstGeom prst="roundRect">
            <a:avLst>
              <a:gd name="adj" fmla="val 1872"/>
            </a:avLst>
          </a:prstGeom>
          <a:solidFill>
            <a:srgbClr val="C3D8D7"/>
          </a:solidFill>
          <a:ln/>
        </p:spPr>
      </p:sp>
      <p:sp>
        <p:nvSpPr>
          <p:cNvPr id="18" name="col-hex"/>
          <p:cNvSpPr/>
          <p:nvPr/>
        </p:nvSpPr>
        <p:spPr>
          <a:xfrm>
            <a:off x="5600490"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50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53688"/>
            <a:ext cx="2664667" cy="2181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Half of speed × time gives metres; the question wants millimetres.</a:t>
            </a:r>
            <a:endParaRPr lang="en-US" sz="1800" dirty="0"/>
          </a:p>
        </p:txBody>
      </p:sp>
      <p:sp>
        <p:nvSpPr>
          <p:cNvPr id="22" name="col-Stretch"/>
          <p:cNvSpPr/>
          <p:nvPr/>
        </p:nvSpPr>
        <p:spPr>
          <a:xfrm>
            <a:off x="8704069" y="3213608"/>
            <a:ext cx="2938987" cy="2931160"/>
          </a:xfrm>
          <a:prstGeom prst="roundRect">
            <a:avLst>
              <a:gd name="adj" fmla="val 1872"/>
            </a:avLst>
          </a:prstGeom>
          <a:solidFill>
            <a:srgbClr val="1F6F6A"/>
          </a:solidFill>
          <a:ln/>
        </p:spPr>
      </p:sp>
      <p:sp>
        <p:nvSpPr>
          <p:cNvPr id="23" name="col-hex"/>
          <p:cNvSpPr/>
          <p:nvPr/>
        </p:nvSpPr>
        <p:spPr>
          <a:xfrm>
            <a:off x="8813797" y="3286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50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53688"/>
            <a:ext cx="2664667" cy="2181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second echo, from the far surface of the rail, returns after 0.00008 s. Calculate the thickness of the rail and explain why the crack echo arrives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9921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Sound with a frequency above 20 000 Hz is called ___.</a:t>
            </a:r>
            <a:endParaRPr lang="en-US" sz="2400" dirty="0"/>
          </a:p>
          <a:p>
            <a:pPr algn="l" indent="0" marL="0">
              <a:buNone/>
            </a:pPr>
            <a:r>
              <a:rPr lang="en-US" sz="2200" b="1" dirty="0">
                <a:solidFill>
                  <a:srgbClr val="1F6F6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ultrasound   ·   infrasound   ·   an echo</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How echo sounding works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transmitter on the ship sends a short pulse of ultrasound down into the water.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pulse travels down through the water and is reflected from the seabed.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reflected pulse (the echo) is detected by a receiver on the ship.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time between sending the pulse and detecting the echo is measured.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Depth = ½ × speed of sound in water × time gives the depth of the water.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Send the pulse, let it reflect from the seabed, detect the echo, measure the time, then use depth = ½ × speed ×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Depth of a crack</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An engineer tests a metal rail with ultrasound. Sound travels through the metal at 4000 m/s. An echo from a crack returns after 0.00001 s (10 microseconds). Calculate the depth of the crack below the surface, in millimetres.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 mm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½ × 4000 × 0.00001 = 0.02 m, which is 20 mm below the surface.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Sound with a frequency above 20 000 Hz is called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Sound with a frequency above 20 000 Hz is called ultrasound.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Ultrasound is sound above the upper limit of human hearing, 20 000 Hz (20 kHz).</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6: Hearing, ultrasound and seismic waves (Physics only, Higher)</dc:title>
  <dc:subject>Physics (Combined Science) · Year 11</dc:subject>
  <dc:creator>Dr Vitor Merissi de Carvalho</dc:creator>
  <cp:lastModifiedBy>Dr Vitor Merissi de Carvalho</cp:lastModifiedBy>
  <cp:revision>1</cp:revision>
  <dcterms:created xsi:type="dcterms:W3CDTF">2026-10-18T17:47:17Z</dcterms:created>
  <dcterms:modified xsi:type="dcterms:W3CDTF">2026-10-18T17:47:17Z</dcterms:modified>
</cp:coreProperties>
</file>