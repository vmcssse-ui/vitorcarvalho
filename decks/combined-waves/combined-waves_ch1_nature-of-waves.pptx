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19a0f12-c307-f9ac-7df5-d805bd04e4d5}">
          <p14:sldIdLst>
            <p14:sldId id="256"/>
          </p14:sldIdLst>
        </p14:section>
        <p14:section name="Gate" id="{90019cad-b17e-ef50-ea7a-823d3e4fc3a6}">
          <p14:sldIdLst>
            <p14:sldId id="257"/>
            <p14:sldId id="258"/>
          </p14:sldIdLst>
        </p14:section>
        <p14:section name="Pre-teach" id="{690f4a34-fa53-9d19-2c2b-d1768911afb7}">
          <p14:sldIdLst>
            <p14:sldId id="259"/>
          </p14:sldIdLst>
        </p14:section>
        <p14:section name="Read-along" id="{46efb834-5464-1036-fb1c-5a264167ae22}">
          <p14:sldIdLst>
            <p14:sldId id="260"/>
            <p14:sldId id="261"/>
          </p14:sldIdLst>
        </p14:section>
        <p14:section name="Teach" id="{b41a377f-f7cf-6b63-8f8a-8d92ee7fa89e}">
          <p14:sldIdLst>
            <p14:sldId id="262"/>
            <p14:sldId id="263"/>
            <p14:sldId id="264"/>
            <p14:sldId id="265"/>
            <p14:sldId id="266"/>
          </p14:sldIdLst>
        </p14:section>
        <p14:section name="Routes" id="{a2671b5f-e862-c43a-407b-9c19b609e794}">
          <p14:sldIdLst>
            <p14:sldId id="267"/>
            <p14:sldId id="268"/>
            <p14:sldId id="269"/>
          </p14:sldIdLst>
        </p14:section>
        <p14:section name="Close" id="{3f2f4cb5-1a27-5ab1-015c-28bb2c37cb5e}">
          <p14:sldIdLst>
            <p14:sldId id="270"/>
          </p14:sldIdLst>
        </p14:section>
        <p14:section name="Answers" id="{adaf98d9-1d80-ccf0-00ef-50d818bc659c}">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What is a wave?. This chapter gives you the two kinds of wave, what they carry, and the difference between a wave that needs a material and one that does not.
This deck covers the department's lesson: 1 (P12.1 The nature of waves: What is a wave, and how are transverse and longitudinal waves different?).
Read the big question aloud: "How do waves carry energy from place to place, and how do we measure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a transverse wave, the vibrations are ___ to the direction of energy transfer.  →  at right angles
2. Which of these is a longitudinal wave?  →  B   a sound wave
3. What does a wave transfer from one place to another?  →  C   energy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at right angles. Transverse means across: the vibrations are at right angles (perpendicular) to the direction the wave travels.
2. B   a sound wave. Sound is longitudinal: the air vibrates backwards and forwards along the direction the sound travels, making compressions and rarefactions.
3. C   energy. A wave transfers energy (and information) without transferring matter. The material vibrates on the spot.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wave: a vibration that carries energy from place to place. Example: "A wave carried the energy of the splash to the edge of the pond."
• vibration: a quick movement backwards and forwards, or up and down. Example: "You can feel the vibration of a drum skin after you hit it."
• transverse: vibrating at right angles to the way the wave travels. Example: "Ripples on water are transverse waves."
• longitudinal: vibrating along the same line as the way the wave travels. Example: "Sound is a longitudinal wave."
• medium: the material a wave travels through. Example: "Air is the medium that carries sound to your ears."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Drop a stone into a pond and ripples spread out.
2. The ripples are waves.
3. A leaf on the water bobs up and down as a ripple passes.
4. But the leaf does not travel across the pond with the ripple.
5. Waves carry energy from place to place, not the water itself.
6. In a transverse wave, the vibrations are at right angles to the way the wave travels.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Ripples on water and light are transverse waves.
8. In a longitudinal wave, the vibrations are along the same line as the wave travels.
9. Sound is a longitudinal wave.
10. Sound needs a material to travel through, such as air, water or metal.
11. We call this material the medium.
12. Light does not need a medium, so it can cross empty space from the Sun.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Waves transfer energy, not matter. Say it in your own words, then check understanding with a quick question: ask a pupil from the pre-teach group first, since they met these words and ideas before the lesson. Pupils try to recall before you re-explain.
Watch a duck on a pond when a boat goes past. The ripples make the duck bob up and down, but when the ripples have gone the duck is still in the same place. The water did not travel across the pond; the wave did. A wave is a vibration that transfers energy (and sometimes information) from one place to another without transferring matter.
The same is true of a crowd doing a wave round a stadium. Each person stands up and sits down on the spot, yet the wave travels all the way round. In a wave, the parts of the material vibrate about a fixed rest position, and it is the disturbance that moves along, passing its energy from one part to the next.
All waves can be described by the same set of words and the same equation, whether they are ripples, sound, light or the waves from an earthquake. That is why this topic matters: learn it once and you can use it everywhere.
Worked example — model it step by step, thinking aloud: A cork floats on a pond. A ripple passes. Describe the motion of the cork and explain why it does not end up at the far side of the pond. (1) Identify what is moving: the cork is on the water, so it moves with the water at that point. (2) The water at one point vibrates up and down about its rest position as the ripple passes. (3) So the cork bobs up and down and returns to where it started. (4) The ripple carries energy across the pond, not water, so nothing carries the cork across. Answer: The cork bobs up and down on the spot. The wave transfers energy, not water, so the cork is not carried along..
Tip: Waves carry energy, not stuff. The duck stays where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Waves transfer energy, not matter. Say it in your own words, then check understanding with a quick question: ask a pupil from the pre-teach group first, since they met these words and ideas before the lesson. Pupils try to recall before you re-explain.
Watch a duck on a pond when a boat goes past. The ripples make the duck bob up and down, but when the ripples have gone the duck is still in the same place. The water did not travel across the pond; the wave did. A wave is a vibration that transfers energy (and sometimes information) from one place to another without transferring matter.
The same is true of a crowd doing a wave round a stadium. Each person stands up and sits down on the spot, yet the wave travels all the way round. In a wave, the parts of the material vibrate about a fixed rest position, and it is the disturbance that moves along, passing its energy from one part to the next.
All waves can be described by the same set of words and the same equation, whether they are ripples, sound, light or the waves from an earthquake. That is why this topic matters: learn it once and you can use it everywhere.
Worked example — model it step by step, thinking aloud: A cork floats on a pond. A ripple passes. Describe the motion of the cork and explain why it does not end up at the far side of the pond. (1) Identify what is moving: the cork is on the water, so it moves with the water at that point. (2) The water at one point vibrates up and down about its rest position as the ripple passes. (3) So the cork bobs up and down and returns to where it started. (4) The ripple carries energy across the pond, not water, so nothing carries the cork across. Answer: The cork bobs up and down on the spot. The wave transfers energy, not water, so the cork is not carried along..
Tip: Waves carry energy, not stuff. The duck stays where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Transverse waves. Say it in your own words, then check understanding with a quick question: ask a pupil from the pre-teach group first, since they met these words and ideas before the lesson. Pupils try to recall before you re-explain.
Hold one end of a long spring or rope with a friend holding the other end, and flick your hand up and down. A hump travels along to your friend, but each coil of the spring only moves up and down. The coils vibrate at right angles (perpendicular) to the direction the wave travels. This is a transverse wave.
The high points of a transverse wave are called crests (or peaks) and the low points are called troughs. Ripples on water, waves on a rope and all light and radio waves are transverse waves. So are the S-waves of an earthquake.
On a diagram, a transverse wave is drawn as a smooth up-and-down curve. The direction of energy transfer is along the wave, and the vibration is across it.
Tip: Transverse: the vibration is across the direction of travel. Think of the T in transverse as a right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Longitudinal waves. Say it in your own words, then check understanding with a quick question: ask a pupil from the pre-teach group first, since they met these words and ideas before the lesson. Pupils try to recall before you re-explain.
Now push and pull the same spring along its length. A squashed-up section travels along the spring, but each coil only moves backwards and forwards along the spring. The coils vibrate parallel to the direction the wave travels. This is a longitudinal wave.
The squashed-up sections, where the coils are closer together, are called compressions. The stretched-out sections, where the coils are further apart, are called rarefactions. Sound is a longitudinal wave: a loudspeaker cone moves backwards and forwards and sends compressions and rarefactions through the air. The P-waves of an earthquake are longitudinal too.
When you are asked to describe a longitudinal wave, say two things: the vibrations are parallel to the direction of energy transfer, and the wave is made of compressions and rarefactions.
Tip: Longitudinal: the vibration is along the direction of travel. Sound is the example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Mechanical and electromagnetic waves. Say it in your own words, then check understanding with a quick question: ask a pupil from the pre-teach group first, since they met these words and ideas before the lesson. Pupils try to recall before you re-explain.
Sound, water waves and waves on a spring are mechanical waves. They need a medium, a material to travel through, because it is the particles of the medium that vibrate and pass the energy on. In a vacuum there are no particles, so a mechanical wave cannot travel. That is why, if the air is pumped out of a jar with a ringing bell inside, the bell falls silent while you can still see it shaking.
Light, radio waves and microwaves are electromagnetic waves. They do not need a medium: they can travel through a vacuum, which is how light reaches us from the Sun across empty space. All electromagnetic waves are transverse, and in a vacuum they all travel at the same speed, 300 000 000 m/s.
So there are two ways to sort waves: by how they vibrate (transverse or longitudinal) and by whether they need a medium (mechanical or electromagnetic). Sound is longitudinal and mechanical; light is transverse and electromagnetic; a water wave is transverse and mechanical.
Tip: No particles, no sound. Light does not care: it crosses empty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Transverse or longitudinal?.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pupil holds one end of a long spring that lies along the floor and pushes and pulls it along its length. What type of wave travels along the spring, and why?
Support — work through the steps with the group: (1) Find the direction the wave travels (along the spring, through the air, through the rock). (2) Find the direction of the vibration: is it along that same line, or across it? (3) Along the same line = parallel = longitudinal. Across it = at right angles = transverse.
Parallel worked example for Support (model it, do not give the task answer): A pupil flicks the end of a rope up and down. The hump travels along the rope. What type of wave is it, and why? The wave travels along the rope.; The rope moves up and down, across the direction of travel.; Across = at right angles = transverse.. Answer: Transverse, because the vibration is at right angles to the direction the wave travels..
Core — reveal the hint only on request: Compare the direction of the vibration with the direction the wave travels.
Stretch — no help; when finished: A sound wave is often drawn as an up-and-down curve on an oscilloscope screen. Explain why the drawing looks transverse even though sound is longitudinal, and what the curve's height actually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Transverse or longitudinal?.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pupil holds one end of a long spring that lies along the floor and pushes and pulls it along its length. What type of wave travels along the spring, and why?
Support — work through the steps with the group: (1) Find the direction the wave travels (along the spring, through the air, through the rock). (2) Find the direction of the vibration: is it along that same line, or across it? (3) Along the same line = parallel = longitudinal. Across it = at right angles = transverse.
Parallel worked example for Support (model it, do not give the task answer): A pupil flicks the end of a rope up and down. The hump travels along the rope. What type of wave is it, and why? The wave travels along the rope.; The rope moves up and down, across the direction of travel.; Across = at right angles = transverse.. Answer: Transverse, because the vibration is at right angles to the direction the wave travels..
Core — reveal the hint only on request: Compare the direction of the vibration with the direction the wave travels.
Stretch — no help; when finished: A sound wave is often drawn as an up-and-down curve on an oscilloscope screen. Explain why the drawing looks transverse even though sound is longitudinal, and what the curve's height actually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does the duck stay put?.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duck floats on a lake. Waves pass under it, but it stays in the same place. Explain what the water is doing and what the wave is transferring.
Support — work through the steps with the group: (1) Describe the movement of the water at one point as a wave passes (up, then down, back to where it was). (2) Say what that means for the duck. (3) Finish with the key idea: the wave transfers energy, not matter.
Parallel worked example for Support (model it, do not give the task answer): A crowd at a stadium does a wave. Explain what each person does and what travels round the stadium. Each person stands up and sits down on the spot.; Nobody moves round the stadium.; The pattern of standing up, and the energy of the movement, travels round.. Answer: Each person vibrates up and down on the spot; what travels round is the disturbance (the wave), not the people..
Core — reveal the hint only on request: Four marks: what the water does, what that means for the duck, what the wave transfers, and what it does not transfer.
Stretch — no help; when finished: A surfer, unlike the duck, does travel towards the beach. Suggest why a breaking wave near the shore behaves differently from the waves passing under the duck.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a transverse wave, the vibrations are ___ to the direction of energy transfer.
Answer: In a transverse wave, the vibrations are at right angles to the direction of energy transfer.. Transverse means across: the vibrations are at right angles (perpendicular) to the direction the wave travels.
Source of this question: gate item 1 re-asked (options rotated) — this chapter has no third quick-check module.
The ebook also holds task 3, "Match the wave words",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Transverse or longitudinal?. Reveal the answer; pupils mark their own work in a different colour, then read the "why" together. Same destination for every lane, so one answer serves the whole class.
Answer: D   longitudinal, because the coils vibrate parallel to the direction the wave travels
Why: The vibration (backwards and forwards along the spring) is parallel to the direction the wave travels, so the wave is longitudinal.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does the duck stay put?. Reveal the answer; pupils mark their own work in a different colour, then read the "why" together. Same destination for every lane, so one answer serves the whole class.
Answer: The water at any point moves up and down about its rest position as the wave passes.; The water (and so the duck) returns to where it started after each wave; it is not carried along.; The wave transfers energy from one place to another.; The wave does not transfer matter (the water itself).
Why: The water vibrates up and down about its rest position and returns to it, so the duck is not carried along; the wave transfers energy, not matter.
Model answer: As each wave passes, the water under the duck moves up and then down again, vibrating about its rest position. The water is not carried along with the wave, so the duck rises and falls but stays where it is. What travels across the lake is the disturbance: the wave transfers energy from one place to another without transferring the water itself.
Success criteria: The water at any point moves up and down about its rest position as the wave passes.; The water (and so the duck) returns to where it started after each wave; it is not carried along.; The wave transfers energy from one place to another.; The wave does not transfer matter (the water itself).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In a transverse wave, the vibrations are at right angles to the direction of energy transfer.
Why: Transverse means across: the vibrations are at right angles (perpendicular) to the direction the wave travels.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AD2D1"/>
          </a:solidFill>
          <a:ln w="12700">
            <a:solidFill>
              <a:srgbClr val="BAD2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(Combined Science) · Year 11 · Wave Properties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AD2D1"/>
          </a:solidFill>
          <a:ln w="12700">
            <a:solidFill>
              <a:srgbClr val="BAD2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(Combined Science) · Year 11 · Wave Properties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7DB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Physics (Combined Science)</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11 · 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Wave Properties · AQA 8464</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What is a wave?</a:t>
            </a:r>
            <a:endParaRPr lang="en-US" sz="4000" dirty="0"/>
          </a:p>
        </p:txBody>
      </p:sp>
      <p:sp>
        <p:nvSpPr>
          <p:cNvPr id="11" name="lessons-card"/>
          <p:cNvSpPr/>
          <p:nvPr/>
        </p:nvSpPr>
        <p:spPr>
          <a:xfrm>
            <a:off x="548640" y="3739388"/>
            <a:ext cx="5287975" cy="980440"/>
          </a:xfrm>
          <a:prstGeom prst="roundRect">
            <a:avLst>
              <a:gd name="adj" fmla="val 7461"/>
            </a:avLst>
          </a:prstGeom>
          <a:solidFill>
            <a:srgbClr val="DDE9E9"/>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P12.1 The nature of waves</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Combined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DE9E9"/>
          </a:solidFill>
          <a:ln w="12700">
            <a:solidFill>
              <a:srgbClr val="9ABE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do waves carry energy from place to place, and how do we measure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4EEED"/>
          </a:solidFill>
          <a:ln w="12700">
            <a:solidFill>
              <a:srgbClr val="A5C5C3"/>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a transverse wave, the vibrations are ___ to the direction of energy transfer.</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at right angles  ·  parallel  ·  opposite</a:t>
            </a:r>
            <a:endParaRPr lang="en-US" sz="2400" dirty="0"/>
          </a:p>
        </p:txBody>
      </p:sp>
      <p:sp>
        <p:nvSpPr>
          <p:cNvPr id="12" name="card"/>
          <p:cNvSpPr/>
          <p:nvPr/>
        </p:nvSpPr>
        <p:spPr>
          <a:xfrm>
            <a:off x="4338218" y="1389888"/>
            <a:ext cx="3515258" cy="4754880"/>
          </a:xfrm>
          <a:prstGeom prst="roundRect">
            <a:avLst>
              <a:gd name="adj" fmla="val 1561"/>
            </a:avLst>
          </a:prstGeom>
          <a:solidFill>
            <a:srgbClr val="E4EEED"/>
          </a:solidFill>
          <a:ln w="12700">
            <a:solidFill>
              <a:srgbClr val="A5C5C3"/>
            </a:solidFill>
            <a:prstDash val="solid"/>
          </a:ln>
        </p:spPr>
      </p:sp>
      <p:sp>
        <p:nvSpPr>
          <p:cNvPr id="13" name="card-hex"/>
          <p:cNvSpPr/>
          <p:nvPr/>
        </p:nvSpPr>
        <p:spPr>
          <a:xfrm>
            <a:off x="4521098" y="1572768"/>
            <a:ext cx="640080" cy="554309"/>
          </a:xfrm>
          <a:prstGeom prst="hexagon">
            <a:avLst/>
          </a:prstGeom>
          <a:solidFill>
            <a:srgbClr val="1F6F6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a longitudinal wave?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ripple on a pond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sound wave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wave on a shaken rope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light wave</a:t>
            </a:r>
            <a:endParaRPr lang="en-US" sz="2400" dirty="0"/>
          </a:p>
        </p:txBody>
      </p:sp>
      <p:sp>
        <p:nvSpPr>
          <p:cNvPr id="17" name="card"/>
          <p:cNvSpPr/>
          <p:nvPr/>
        </p:nvSpPr>
        <p:spPr>
          <a:xfrm>
            <a:off x="8127797" y="1389888"/>
            <a:ext cx="3515258" cy="4754880"/>
          </a:xfrm>
          <a:prstGeom prst="roundRect">
            <a:avLst>
              <a:gd name="adj" fmla="val 1561"/>
            </a:avLst>
          </a:prstGeom>
          <a:solidFill>
            <a:srgbClr val="E4EEED"/>
          </a:solidFill>
          <a:ln w="12700">
            <a:solidFill>
              <a:srgbClr val="A5C5C3"/>
            </a:solidFill>
            <a:prstDash val="solid"/>
          </a:ln>
        </p:spPr>
      </p:sp>
      <p:sp>
        <p:nvSpPr>
          <p:cNvPr id="18" name="card-hex"/>
          <p:cNvSpPr/>
          <p:nvPr/>
        </p:nvSpPr>
        <p:spPr>
          <a:xfrm>
            <a:off x="8310677" y="1572768"/>
            <a:ext cx="640080" cy="554309"/>
          </a:xfrm>
          <a:prstGeom prst="hexagon">
            <a:avLst/>
          </a:prstGeom>
          <a:solidFill>
            <a:srgbClr val="1F6F6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does a wave transfer from one place to another?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water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particles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energy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matter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4EEED"/>
          </a:solidFill>
          <a:ln w="12700">
            <a:solidFill>
              <a:srgbClr val="A5C5C3"/>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ADBBF"/>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at right angles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a transverse wave, the vibrations are ___ to the direction of energy transfer.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Transverse means across: the vibrations are at right angles (perpendicular) to the direction the wave travels.</a:t>
            </a:r>
            <a:endParaRPr lang="en-US" sz="2000" dirty="0"/>
          </a:p>
        </p:txBody>
      </p:sp>
      <p:sp>
        <p:nvSpPr>
          <p:cNvPr id="14" name="card"/>
          <p:cNvSpPr/>
          <p:nvPr/>
        </p:nvSpPr>
        <p:spPr>
          <a:xfrm>
            <a:off x="4338218" y="1389888"/>
            <a:ext cx="3515258" cy="4754880"/>
          </a:xfrm>
          <a:prstGeom prst="roundRect">
            <a:avLst>
              <a:gd name="adj" fmla="val 1561"/>
            </a:avLst>
          </a:prstGeom>
          <a:solidFill>
            <a:srgbClr val="E4EEED"/>
          </a:solidFill>
          <a:ln w="12700">
            <a:solidFill>
              <a:srgbClr val="A5C5C3"/>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a sound wave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 longitudinal wave?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Sound is longitudinal: the air vibrates backwards and forwards along the direction the sound travels, making compressions and rarefactions.</a:t>
            </a:r>
            <a:endParaRPr lang="en-US" sz="2000" dirty="0"/>
          </a:p>
        </p:txBody>
      </p:sp>
      <p:sp>
        <p:nvSpPr>
          <p:cNvPr id="21" name="card"/>
          <p:cNvSpPr/>
          <p:nvPr/>
        </p:nvSpPr>
        <p:spPr>
          <a:xfrm>
            <a:off x="8127797" y="1389888"/>
            <a:ext cx="3515258" cy="4754880"/>
          </a:xfrm>
          <a:prstGeom prst="roundRect">
            <a:avLst>
              <a:gd name="adj" fmla="val 1561"/>
            </a:avLst>
          </a:prstGeom>
          <a:solidFill>
            <a:srgbClr val="E4EEED"/>
          </a:solidFill>
          <a:ln w="12700">
            <a:solidFill>
              <a:srgbClr val="A5C5C3"/>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energy</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does a wave transfer from one place to another?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wave transfers energy (and information) without transferring matter. The material vibrates on the spot.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1F6F6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E2ECEC"/>
          </a:solidFill>
          <a:ln/>
        </p:spPr>
      </p:sp>
      <p:sp>
        <p:nvSpPr>
          <p:cNvPr id="12" name="kw-hex"/>
          <p:cNvSpPr/>
          <p:nvPr/>
        </p:nvSpPr>
        <p:spPr>
          <a:xfrm>
            <a:off x="658368" y="2135261"/>
            <a:ext cx="411480" cy="356342"/>
          </a:xfrm>
          <a:prstGeom prst="hexagon">
            <a:avLst/>
          </a:prstGeom>
          <a:solidFill>
            <a:srgbClr val="1F6F6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wave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vibration that carries energy from place to place</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wave carried the energy of the splash to the edge of the pond.</a:t>
            </a:r>
            <a:endParaRPr lang="en-US" sz="1800" dirty="0"/>
          </a:p>
        </p:txBody>
      </p:sp>
      <p:sp>
        <p:nvSpPr>
          <p:cNvPr id="16" name="kw-row"/>
          <p:cNvSpPr/>
          <p:nvPr/>
        </p:nvSpPr>
        <p:spPr>
          <a:xfrm>
            <a:off x="548640" y="2779776"/>
            <a:ext cx="11094415" cy="786384"/>
          </a:xfrm>
          <a:prstGeom prst="roundRect">
            <a:avLst>
              <a:gd name="adj" fmla="val 6977"/>
            </a:avLst>
          </a:prstGeom>
          <a:solidFill>
            <a:srgbClr val="F3EADB"/>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vibration</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quick movement backwards and forwards, or up and down</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You can feel the vibration of a drum skin after you hit it.</a:t>
            </a:r>
            <a:endParaRPr lang="en-US" sz="1800" dirty="0"/>
          </a:p>
        </p:txBody>
      </p:sp>
      <p:sp>
        <p:nvSpPr>
          <p:cNvPr id="21" name="kw-row"/>
          <p:cNvSpPr/>
          <p:nvPr/>
        </p:nvSpPr>
        <p:spPr>
          <a:xfrm>
            <a:off x="548640" y="3639312"/>
            <a:ext cx="11094415" cy="786384"/>
          </a:xfrm>
          <a:prstGeom prst="roundRect">
            <a:avLst>
              <a:gd name="adj" fmla="val 6977"/>
            </a:avLst>
          </a:prstGeom>
          <a:solidFill>
            <a:srgbClr val="E2ECEC"/>
          </a:solidFill>
          <a:ln/>
        </p:spPr>
      </p:sp>
      <p:sp>
        <p:nvSpPr>
          <p:cNvPr id="22" name="kw-hex"/>
          <p:cNvSpPr/>
          <p:nvPr/>
        </p:nvSpPr>
        <p:spPr>
          <a:xfrm>
            <a:off x="658368" y="3854333"/>
            <a:ext cx="411480" cy="356342"/>
          </a:xfrm>
          <a:prstGeom prst="hexagon">
            <a:avLst/>
          </a:prstGeom>
          <a:solidFill>
            <a:srgbClr val="1F6F6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transverse</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vibrating at right angles to the way the wave travels</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Ripples on water are transverse waves.</a:t>
            </a:r>
            <a:endParaRPr lang="en-US" sz="1800" dirty="0"/>
          </a:p>
        </p:txBody>
      </p:sp>
      <p:sp>
        <p:nvSpPr>
          <p:cNvPr id="26" name="kw-row"/>
          <p:cNvSpPr/>
          <p:nvPr/>
        </p:nvSpPr>
        <p:spPr>
          <a:xfrm>
            <a:off x="548640" y="4498848"/>
            <a:ext cx="11094415" cy="786384"/>
          </a:xfrm>
          <a:prstGeom prst="roundRect">
            <a:avLst>
              <a:gd name="adj" fmla="val 6977"/>
            </a:avLst>
          </a:prstGeom>
          <a:solidFill>
            <a:srgbClr val="F3EADB"/>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longitudinal</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vibrating along the same line as the way the wave travels</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Sound is a longitudinal wave.</a:t>
            </a:r>
            <a:endParaRPr lang="en-US" sz="1800" dirty="0"/>
          </a:p>
        </p:txBody>
      </p:sp>
      <p:sp>
        <p:nvSpPr>
          <p:cNvPr id="31" name="kw-row"/>
          <p:cNvSpPr/>
          <p:nvPr/>
        </p:nvSpPr>
        <p:spPr>
          <a:xfrm>
            <a:off x="548640" y="5358384"/>
            <a:ext cx="11094415" cy="786384"/>
          </a:xfrm>
          <a:prstGeom prst="roundRect">
            <a:avLst>
              <a:gd name="adj" fmla="val 6977"/>
            </a:avLst>
          </a:prstGeom>
          <a:solidFill>
            <a:srgbClr val="E2ECEC"/>
          </a:solidFill>
          <a:ln/>
        </p:spPr>
      </p:sp>
      <p:sp>
        <p:nvSpPr>
          <p:cNvPr id="32" name="kw-hex"/>
          <p:cNvSpPr/>
          <p:nvPr/>
        </p:nvSpPr>
        <p:spPr>
          <a:xfrm>
            <a:off x="658368" y="5573405"/>
            <a:ext cx="411480" cy="356342"/>
          </a:xfrm>
          <a:prstGeom prst="hexagon">
            <a:avLst/>
          </a:prstGeom>
          <a:solidFill>
            <a:srgbClr val="1F6F6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medium</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material a wave travels through</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Air is the medium that carries sound to your 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4EEED"/>
          </a:solidFill>
          <a:ln w="12700">
            <a:solidFill>
              <a:srgbClr val="B1CD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Drop a stone into a pond and ripples spread out.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ripples are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waves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leaf on the water bobs up and down as a ripple passes.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But the leaf does not travel across the pond with the ripple.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Waves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carry energy from place to place, not the water itself.</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a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transverse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wave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vibrations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are at right angles to the way 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wave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travels.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4EEED"/>
          </a:solidFill>
          <a:ln w="12700">
            <a:solidFill>
              <a:srgbClr val="B1CD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Ripples on water and light are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transverse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waves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a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longitudinal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wave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vibrations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are along the same line as 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wave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travels.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Sound is a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longitudinal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wave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Sound needs a material to travel through, such as air, water or metal.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We call this material 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medium</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Light does not need a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medium</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so it can cross empty space from the Sun.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Waves transfer energy, not matter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Waves carry energy, not stuff. The duck stays where it is.</a:t>
            </a:r>
            <a:endParaRPr lang="en-US" sz="1800" dirty="0"/>
          </a:p>
        </p:txBody>
      </p:sp>
      <p:sp>
        <p:nvSpPr>
          <p:cNvPr id="11" name="point-card"/>
          <p:cNvSpPr/>
          <p:nvPr/>
        </p:nvSpPr>
        <p:spPr>
          <a:xfrm>
            <a:off x="548640" y="1389888"/>
            <a:ext cx="3515258" cy="3964940"/>
          </a:xfrm>
          <a:prstGeom prst="roundRect">
            <a:avLst>
              <a:gd name="adj" fmla="val 1561"/>
            </a:avLst>
          </a:prstGeom>
          <a:solidFill>
            <a:srgbClr val="DDE9E9"/>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Watch a duck on a pond when a boat goes past.</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same is true of a crowd doing a wave round a stadium.</a:t>
            </a:r>
            <a:endParaRPr lang="en-US" sz="2200" dirty="0"/>
          </a:p>
        </p:txBody>
      </p:sp>
      <p:sp>
        <p:nvSpPr>
          <p:cNvPr id="19" name="point-card"/>
          <p:cNvSpPr/>
          <p:nvPr/>
        </p:nvSpPr>
        <p:spPr>
          <a:xfrm>
            <a:off x="8127797" y="1389888"/>
            <a:ext cx="3515258" cy="3964940"/>
          </a:xfrm>
          <a:prstGeom prst="roundRect">
            <a:avLst>
              <a:gd name="adj" fmla="val 1561"/>
            </a:avLst>
          </a:prstGeom>
          <a:solidFill>
            <a:srgbClr val="DDE9E9"/>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All waves can be described by the same set of words and the same equation, whether they are ripples, sound, light or the waves from an earthquake.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1F6F6A"/>
                </a:solidFill>
                <a:latin typeface="Cambria" pitchFamily="34" charset="0"/>
                <a:ea typeface="Cambria" pitchFamily="34" charset="-122"/>
                <a:cs typeface="Cambria" pitchFamily="34" charset="-120"/>
              </a:rPr>
              <a:t>Worked example: Waves transfer energy, not matter</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DDE9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cork floats on a pond. A ripple passes. Describe the motion of the cork and explain why it does not end up at the far side of the pond.</a:t>
            </a:r>
            <a:endParaRPr lang="en-US" sz="2200" dirty="0"/>
          </a:p>
        </p:txBody>
      </p:sp>
      <p:sp>
        <p:nvSpPr>
          <p:cNvPr id="9" name="step-box"/>
          <p:cNvSpPr/>
          <p:nvPr/>
        </p:nvSpPr>
        <p:spPr>
          <a:xfrm>
            <a:off x="548640" y="2655824"/>
            <a:ext cx="2464994" cy="2252980"/>
          </a:xfrm>
          <a:prstGeom prst="roundRect">
            <a:avLst>
              <a:gd name="adj" fmla="val 3247"/>
            </a:avLst>
          </a:prstGeom>
          <a:solidFill>
            <a:srgbClr val="FFFFFF"/>
          </a:solidFill>
          <a:ln w="15875">
            <a:solidFill>
              <a:srgbClr val="84B0AD"/>
            </a:solidFill>
            <a:prstDash val="solid"/>
          </a:ln>
        </p:spPr>
      </p:sp>
      <p:sp>
        <p:nvSpPr>
          <p:cNvPr id="10" name="step-hex"/>
          <p:cNvSpPr/>
          <p:nvPr/>
        </p:nvSpPr>
        <p:spPr>
          <a:xfrm>
            <a:off x="685800" y="2765552"/>
            <a:ext cx="530352" cy="459285"/>
          </a:xfrm>
          <a:prstGeom prst="hexagon">
            <a:avLst/>
          </a:prstGeom>
          <a:solidFill>
            <a:srgbClr val="1F6F6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Identify what is moving: the cork is on the water, so it moves with the water at that point.</a:t>
            </a:r>
            <a:endParaRPr lang="en-US" sz="1800" dirty="0"/>
          </a:p>
        </p:txBody>
      </p:sp>
      <p:sp>
        <p:nvSpPr>
          <p:cNvPr id="13" name="arrow"/>
          <p:cNvSpPr/>
          <p:nvPr/>
        </p:nvSpPr>
        <p:spPr>
          <a:xfrm>
            <a:off x="3086786" y="3645154"/>
            <a:ext cx="274320" cy="274320"/>
          </a:xfrm>
          <a:prstGeom prst="rightArrow">
            <a:avLst/>
          </a:prstGeom>
          <a:solidFill>
            <a:srgbClr val="B8862B"/>
          </a:solidFill>
          <a:ln/>
        </p:spPr>
      </p:sp>
      <p:sp>
        <p:nvSpPr>
          <p:cNvPr id="14" name="step-box"/>
          <p:cNvSpPr/>
          <p:nvPr/>
        </p:nvSpPr>
        <p:spPr>
          <a:xfrm>
            <a:off x="3425114" y="2655824"/>
            <a:ext cx="2464994" cy="2252980"/>
          </a:xfrm>
          <a:prstGeom prst="roundRect">
            <a:avLst>
              <a:gd name="adj" fmla="val 3247"/>
            </a:avLst>
          </a:prstGeom>
          <a:solidFill>
            <a:srgbClr val="FFFFFF"/>
          </a:solidFill>
          <a:ln w="15875">
            <a:solidFill>
              <a:srgbClr val="84B0AD"/>
            </a:solidFill>
            <a:prstDash val="solid"/>
          </a:ln>
        </p:spPr>
      </p:sp>
      <p:sp>
        <p:nvSpPr>
          <p:cNvPr id="15" name="step-hex"/>
          <p:cNvSpPr/>
          <p:nvPr/>
        </p:nvSpPr>
        <p:spPr>
          <a:xfrm>
            <a:off x="3562274" y="2765552"/>
            <a:ext cx="530352" cy="459285"/>
          </a:xfrm>
          <a:prstGeom prst="hexagon">
            <a:avLst/>
          </a:prstGeom>
          <a:solidFill>
            <a:srgbClr val="1F6F6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water at one point vibrates up and down about its rest position as the ripple passes.</a:t>
            </a:r>
            <a:endParaRPr lang="en-US" sz="1800" dirty="0"/>
          </a:p>
        </p:txBody>
      </p:sp>
      <p:sp>
        <p:nvSpPr>
          <p:cNvPr id="18" name="arrow"/>
          <p:cNvSpPr/>
          <p:nvPr/>
        </p:nvSpPr>
        <p:spPr>
          <a:xfrm>
            <a:off x="5963260" y="3645154"/>
            <a:ext cx="274320" cy="274320"/>
          </a:xfrm>
          <a:prstGeom prst="rightArrow">
            <a:avLst/>
          </a:prstGeom>
          <a:solidFill>
            <a:srgbClr val="B8862B"/>
          </a:solidFill>
          <a:ln/>
        </p:spPr>
      </p:sp>
      <p:sp>
        <p:nvSpPr>
          <p:cNvPr id="19" name="step-box"/>
          <p:cNvSpPr/>
          <p:nvPr/>
        </p:nvSpPr>
        <p:spPr>
          <a:xfrm>
            <a:off x="6301588" y="2655824"/>
            <a:ext cx="2464994" cy="2252980"/>
          </a:xfrm>
          <a:prstGeom prst="roundRect">
            <a:avLst>
              <a:gd name="adj" fmla="val 3247"/>
            </a:avLst>
          </a:prstGeom>
          <a:solidFill>
            <a:srgbClr val="FFFFFF"/>
          </a:solidFill>
          <a:ln w="15875">
            <a:solidFill>
              <a:srgbClr val="84B0AD"/>
            </a:solidFill>
            <a:prstDash val="solid"/>
          </a:ln>
        </p:spPr>
      </p:sp>
      <p:sp>
        <p:nvSpPr>
          <p:cNvPr id="20" name="step-hex"/>
          <p:cNvSpPr/>
          <p:nvPr/>
        </p:nvSpPr>
        <p:spPr>
          <a:xfrm>
            <a:off x="6438748" y="2765552"/>
            <a:ext cx="530352" cy="459285"/>
          </a:xfrm>
          <a:prstGeom prst="hexagon">
            <a:avLst/>
          </a:prstGeom>
          <a:solidFill>
            <a:srgbClr val="1F6F6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 the cork bobs up and down and returns to where it started.</a:t>
            </a:r>
            <a:endParaRPr lang="en-US" sz="1800" dirty="0"/>
          </a:p>
        </p:txBody>
      </p:sp>
      <p:sp>
        <p:nvSpPr>
          <p:cNvPr id="23" name="arrow"/>
          <p:cNvSpPr/>
          <p:nvPr/>
        </p:nvSpPr>
        <p:spPr>
          <a:xfrm>
            <a:off x="8839733" y="3645154"/>
            <a:ext cx="274320" cy="274320"/>
          </a:xfrm>
          <a:prstGeom prst="rightArrow">
            <a:avLst/>
          </a:prstGeom>
          <a:solidFill>
            <a:srgbClr val="B8862B"/>
          </a:solidFill>
          <a:ln/>
        </p:spPr>
      </p:sp>
      <p:sp>
        <p:nvSpPr>
          <p:cNvPr id="24" name="step-box"/>
          <p:cNvSpPr/>
          <p:nvPr/>
        </p:nvSpPr>
        <p:spPr>
          <a:xfrm>
            <a:off x="9178061" y="2655824"/>
            <a:ext cx="2464994" cy="2252980"/>
          </a:xfrm>
          <a:prstGeom prst="roundRect">
            <a:avLst>
              <a:gd name="adj" fmla="val 3247"/>
            </a:avLst>
          </a:prstGeom>
          <a:solidFill>
            <a:srgbClr val="FFFFFF"/>
          </a:solidFill>
          <a:ln w="15875">
            <a:solidFill>
              <a:srgbClr val="84B0AD"/>
            </a:solidFill>
            <a:prstDash val="solid"/>
          </a:ln>
        </p:spPr>
      </p:sp>
      <p:sp>
        <p:nvSpPr>
          <p:cNvPr id="25" name="step-hex"/>
          <p:cNvSpPr/>
          <p:nvPr/>
        </p:nvSpPr>
        <p:spPr>
          <a:xfrm>
            <a:off x="9315221" y="2765552"/>
            <a:ext cx="530352" cy="459285"/>
          </a:xfrm>
          <a:prstGeom prst="hexagon">
            <a:avLst/>
          </a:prstGeom>
          <a:solidFill>
            <a:srgbClr val="1F6F6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ripple carries energy across the pond, not water, so nothing carries the cork across.</a:t>
            </a:r>
            <a:endParaRPr lang="en-US" sz="1800" dirty="0"/>
          </a:p>
        </p:txBody>
      </p:sp>
      <p:sp>
        <p:nvSpPr>
          <p:cNvPr id="28" name="worked-answer"/>
          <p:cNvSpPr/>
          <p:nvPr/>
        </p:nvSpPr>
        <p:spPr>
          <a:xfrm>
            <a:off x="1463040" y="5313680"/>
            <a:ext cx="9265615" cy="831088"/>
          </a:xfrm>
          <a:prstGeom prst="roundRect">
            <a:avLst>
              <a:gd name="adj" fmla="val 22005"/>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cork bobs up and down on the spot. The wave transfers energy, not water, so the cork is not carried along.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Transverse waves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Transverse: the vibration is across the direction of travel. Think of the T in transverse as a right angle.</a:t>
            </a:r>
            <a:endParaRPr lang="en-US" sz="1800" dirty="0"/>
          </a:p>
        </p:txBody>
      </p:sp>
      <p:sp>
        <p:nvSpPr>
          <p:cNvPr id="11" name="point-card"/>
          <p:cNvSpPr/>
          <p:nvPr/>
        </p:nvSpPr>
        <p:spPr>
          <a:xfrm>
            <a:off x="548640" y="1389888"/>
            <a:ext cx="3515258" cy="3686048"/>
          </a:xfrm>
          <a:prstGeom prst="roundRect">
            <a:avLst>
              <a:gd name="adj" fmla="val 1561"/>
            </a:avLst>
          </a:prstGeom>
          <a:solidFill>
            <a:srgbClr val="DDE9E9"/>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Hold one end of a long spring or rope with a friend holding the other end, and flick your hand up and down.</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high points of a transverse wave are called crests (or peaks) and the low points are called troughs.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DDE9E9"/>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 a diagram, a transverse wave is drawn as a smooth up-and-down curve.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Longitudinal waves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Longitudinal: the vibration is along the direction of travel. Sound is the example to remember.</a:t>
            </a:r>
            <a:endParaRPr lang="en-US" sz="1800" dirty="0"/>
          </a:p>
        </p:txBody>
      </p:sp>
      <p:sp>
        <p:nvSpPr>
          <p:cNvPr id="11" name="point-card"/>
          <p:cNvSpPr/>
          <p:nvPr/>
        </p:nvSpPr>
        <p:spPr>
          <a:xfrm>
            <a:off x="548640" y="1389888"/>
            <a:ext cx="3515258" cy="3964940"/>
          </a:xfrm>
          <a:prstGeom prst="roundRect">
            <a:avLst>
              <a:gd name="adj" fmla="val 1561"/>
            </a:avLst>
          </a:prstGeom>
          <a:solidFill>
            <a:srgbClr val="DDE9E9"/>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Now push and pull the same spring along its length.</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squashed-up sections, where the coils are closer together, are called compressions.</a:t>
            </a:r>
            <a:endParaRPr lang="en-US" sz="2200" dirty="0"/>
          </a:p>
        </p:txBody>
      </p:sp>
      <p:sp>
        <p:nvSpPr>
          <p:cNvPr id="19" name="point-card"/>
          <p:cNvSpPr/>
          <p:nvPr/>
        </p:nvSpPr>
        <p:spPr>
          <a:xfrm>
            <a:off x="8127797" y="1389888"/>
            <a:ext cx="3515258" cy="3964940"/>
          </a:xfrm>
          <a:prstGeom prst="roundRect">
            <a:avLst>
              <a:gd name="adj" fmla="val 1561"/>
            </a:avLst>
          </a:prstGeom>
          <a:solidFill>
            <a:srgbClr val="DDE9E9"/>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When you are asked to describe a longitudinal wave, say two things: the vibrations are parallel to the direction of energy transfer, and the wave is made of compressions and rarefactions.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Mechanical and electromagnetic waves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No particles, no sound. Light does not care: it crosses empty space.</a:t>
            </a:r>
            <a:endParaRPr lang="en-US" sz="1800" dirty="0"/>
          </a:p>
        </p:txBody>
      </p:sp>
      <p:sp>
        <p:nvSpPr>
          <p:cNvPr id="11" name="point-card"/>
          <p:cNvSpPr/>
          <p:nvPr/>
        </p:nvSpPr>
        <p:spPr>
          <a:xfrm>
            <a:off x="548640" y="1389888"/>
            <a:ext cx="3515258" cy="3964940"/>
          </a:xfrm>
          <a:prstGeom prst="roundRect">
            <a:avLst>
              <a:gd name="adj" fmla="val 1561"/>
            </a:avLst>
          </a:prstGeom>
          <a:solidFill>
            <a:srgbClr val="DDE9E9"/>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Sound, water waves and waves on a spring are mechanical waves.</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Light, radio waves and microwaves are electromagnetic waves. They do not need a medium: they can travel through a vacuum, which is how light reaches us from the Sun across empty space.</a:t>
            </a:r>
            <a:endParaRPr lang="en-US" sz="1800" dirty="0"/>
          </a:p>
        </p:txBody>
      </p:sp>
      <p:sp>
        <p:nvSpPr>
          <p:cNvPr id="19" name="point-card"/>
          <p:cNvSpPr/>
          <p:nvPr/>
        </p:nvSpPr>
        <p:spPr>
          <a:xfrm>
            <a:off x="8127797" y="1389888"/>
            <a:ext cx="3515258" cy="3964940"/>
          </a:xfrm>
          <a:prstGeom prst="roundRect">
            <a:avLst>
              <a:gd name="adj" fmla="val 1561"/>
            </a:avLst>
          </a:prstGeom>
          <a:solidFill>
            <a:srgbClr val="DDE9E9"/>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 there are two ways to sort waves: by how they vibrate (transverse or longitudinal) and by whether they need a medium (mechanical or electromagnetic).</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Transverse or longitudinal?</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pupil holds one end of a long spring that lies along the floor and pushes and pulls it along its length. What type of wave travels along the spring, and why?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transverse, because the coils vibrate at right angles to the direction the wave travels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transverse, because the wave travels along the spring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longitudinal, because the coils travel all the way along the spring with the wave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longitudinal, because the coils vibrate parallel to the direction the wave travels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1F6F6A"/>
                </a:solidFill>
                <a:latin typeface="Cambria" pitchFamily="34" charset="0"/>
                <a:ea typeface="Cambria" pitchFamily="34" charset="-122"/>
                <a:cs typeface="Cambria" pitchFamily="34" charset="-120"/>
              </a:rPr>
              <a:t>Same task, three ways in: Transverse or longitudinal?</a:t>
            </a:r>
            <a:endParaRPr lang="en-US" sz="28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Transverse or longitudinal?</a:t>
            </a:r>
            <a:endParaRPr lang="en-US" sz="2000" dirty="0"/>
          </a:p>
        </p:txBody>
      </p:sp>
      <p:sp>
        <p:nvSpPr>
          <p:cNvPr id="12" name="col-Support"/>
          <p:cNvSpPr/>
          <p:nvPr/>
        </p:nvSpPr>
        <p:spPr>
          <a:xfrm>
            <a:off x="548640" y="2395728"/>
            <a:ext cx="4667802" cy="3749040"/>
          </a:xfrm>
          <a:prstGeom prst="roundRect">
            <a:avLst>
              <a:gd name="adj" fmla="val 1463"/>
            </a:avLst>
          </a:prstGeom>
          <a:solidFill>
            <a:srgbClr val="DDE9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direction the wave travels (along the spring, through the air, through the rock).</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direction of the vibration: is it along that same line, or across it?</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Along the same line = parallel = longitudinal. Across it = at right angles = transverse.</a:t>
            </a:r>
            <a:endParaRPr lang="en-US" sz="1800" dirty="0"/>
          </a:p>
        </p:txBody>
      </p:sp>
      <p:sp>
        <p:nvSpPr>
          <p:cNvPr id="17" name="col-Core"/>
          <p:cNvSpPr/>
          <p:nvPr/>
        </p:nvSpPr>
        <p:spPr>
          <a:xfrm>
            <a:off x="5490762" y="2395728"/>
            <a:ext cx="2938987" cy="3749040"/>
          </a:xfrm>
          <a:prstGeom prst="roundRect">
            <a:avLst>
              <a:gd name="adj" fmla="val 1867"/>
            </a:avLst>
          </a:prstGeom>
          <a:solidFill>
            <a:srgbClr val="C3D8D7"/>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Compare the direction of the vibration with the direction the wave travels.</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1F6F6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 sound wave is often drawn as an up-and-down curve on an oscilloscope screen. Explain why the drawing looks transverse even though sound is longitudinal, and what the curve's height actually shows.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Same task, three ways in: Why does the duck stay put?</a:t>
            </a:r>
            <a:endParaRPr lang="en-US" sz="26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duck floats on a lake. Waves pass under it, but it stays in the same place. Explain what the water is doing and what the wave is transferring.</a:t>
            </a:r>
            <a:endParaRPr lang="en-US" sz="2000" dirty="0"/>
          </a:p>
          <a:p>
            <a:pPr algn="ctr" indent="0" marL="0">
              <a:buNone/>
            </a:pPr>
            <a:r>
              <a:rPr lang="en-US" sz="1800" dirty="0">
                <a:solidFill>
                  <a:srgbClr val="4A505C"/>
                </a:solidFill>
                <a:latin typeface="Calibri" pitchFamily="34" charset="0"/>
                <a:ea typeface="Calibri" pitchFamily="34" charset="-122"/>
                <a:cs typeface="Calibri" pitchFamily="34" charset="-120"/>
              </a:rPr>
              <a:t>4 marks · Write in full sentences</a:t>
            </a:r>
            <a:endParaRPr lang="en-US" sz="2000" dirty="0"/>
          </a:p>
        </p:txBody>
      </p:sp>
      <p:sp>
        <p:nvSpPr>
          <p:cNvPr id="12" name="col-Support"/>
          <p:cNvSpPr/>
          <p:nvPr/>
        </p:nvSpPr>
        <p:spPr>
          <a:xfrm>
            <a:off x="548640" y="2948940"/>
            <a:ext cx="4667802" cy="3195828"/>
          </a:xfrm>
          <a:prstGeom prst="roundRect">
            <a:avLst>
              <a:gd name="adj" fmla="val 1717"/>
            </a:avLst>
          </a:prstGeom>
          <a:solidFill>
            <a:srgbClr val="DDE9E9"/>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Describe the movement of the water at one point as a wave passes (up, then down, back to where it was).</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Say what that means for the duck.</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Finish with the key idea: the wave transfers energy, not matter.</a:t>
            </a:r>
            <a:endParaRPr lang="en-US" sz="1800" dirty="0"/>
          </a:p>
        </p:txBody>
      </p:sp>
      <p:sp>
        <p:nvSpPr>
          <p:cNvPr id="17" name="col-Core"/>
          <p:cNvSpPr/>
          <p:nvPr/>
        </p:nvSpPr>
        <p:spPr>
          <a:xfrm>
            <a:off x="5490762" y="2948940"/>
            <a:ext cx="2938987" cy="3195828"/>
          </a:xfrm>
          <a:prstGeom prst="roundRect">
            <a:avLst>
              <a:gd name="adj" fmla="val 1867"/>
            </a:avLst>
          </a:prstGeom>
          <a:solidFill>
            <a:srgbClr val="C3D8D7"/>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Four marks: what the water does, what that means for the duck, what the wave transfers, and what it does not transfer.</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1F6F6A"/>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 surfer, unlike the duck, does travel towards the beach. Suggest why a breaking wave near the shore behaves differently from the waves passing under the duck.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36398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a transverse wave, the vibrations are ___ to the direction of energy transfer.</a:t>
            </a:r>
            <a:endParaRPr lang="en-US" sz="2400" dirty="0"/>
          </a:p>
          <a:p>
            <a:pPr algn="l" indent="0" marL="0">
              <a:buNone/>
            </a:pPr>
            <a:r>
              <a:rPr lang="en-US" sz="2200" b="1" dirty="0">
                <a:solidFill>
                  <a:srgbClr val="1F6F6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at right angles   ·   parallel   ·   opposite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4EEED"/>
          </a:solidFill>
          <a:ln w="12700">
            <a:solidFill>
              <a:srgbClr val="84B0AD"/>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Transverse or longitudinal?</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pupil holds one end of a long spring that lies along the floor and pushes and pulls it along its length. What type of wave travels along the spring, and why?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longitudinal, because the coils vibrate parallel to the direction the wave travels</a:t>
            </a:r>
            <a:endParaRPr lang="en-US" sz="1800" dirty="0"/>
          </a:p>
        </p:txBody>
      </p:sp>
      <p:sp>
        <p:nvSpPr>
          <p:cNvPr id="10" name="why-panel"/>
          <p:cNvSpPr/>
          <p:nvPr/>
        </p:nvSpPr>
        <p:spPr>
          <a:xfrm>
            <a:off x="7223760" y="1389888"/>
            <a:ext cx="4419295" cy="4754880"/>
          </a:xfrm>
          <a:prstGeom prst="roundRect">
            <a:avLst>
              <a:gd name="adj" fmla="val 1035"/>
            </a:avLst>
          </a:prstGeom>
          <a:solidFill>
            <a:srgbClr val="DDE9E9"/>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vibration (backwards and forwards along the spring) is parallel to the direction the wave travels, so the wave is longitudinal.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Why does the duck stay put?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5486400" cy="50292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5486400" cy="1103630"/>
          </a:xfrm>
          <a:prstGeom prst="roundRect">
            <a:avLst>
              <a:gd name="adj" fmla="val 8285"/>
            </a:avLst>
          </a:prstGeom>
          <a:solidFill>
            <a:srgbClr val="E2ECEC"/>
          </a:solidFill>
          <a:ln/>
        </p:spPr>
      </p:sp>
      <p:sp>
        <p:nvSpPr>
          <p:cNvPr id="9" name="tickbox"/>
          <p:cNvSpPr/>
          <p:nvPr/>
        </p:nvSpPr>
        <p:spPr>
          <a:xfrm>
            <a:off x="713232" y="2389759"/>
            <a:ext cx="292608" cy="292608"/>
          </a:xfrm>
          <a:prstGeom prst="rect">
            <a:avLst/>
          </a:prstGeom>
          <a:solidFill>
            <a:srgbClr val="FFFFFF"/>
          </a:solidFill>
          <a:ln w="19050">
            <a:solidFill>
              <a:srgbClr val="1F6F6A"/>
            </a:solidFill>
            <a:prstDash val="solid"/>
          </a:ln>
        </p:spPr>
      </p:sp>
      <p:sp>
        <p:nvSpPr>
          <p:cNvPr id="10" name="crit"/>
          <p:cNvSpPr txBox="1"/>
          <p:nvPr/>
        </p:nvSpPr>
        <p:spPr>
          <a:xfrm>
            <a:off x="1143000" y="1984248"/>
            <a:ext cx="4709160" cy="110363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water at any point moves up and down about its rest position as the wave passes.</a:t>
            </a:r>
            <a:endParaRPr lang="en-US" sz="2000" dirty="0"/>
          </a:p>
        </p:txBody>
      </p:sp>
      <p:sp>
        <p:nvSpPr>
          <p:cNvPr id="11" name="crit-box"/>
          <p:cNvSpPr/>
          <p:nvPr/>
        </p:nvSpPr>
        <p:spPr>
          <a:xfrm>
            <a:off x="548640" y="3179318"/>
            <a:ext cx="5486400" cy="1103630"/>
          </a:xfrm>
          <a:prstGeom prst="roundRect">
            <a:avLst>
              <a:gd name="adj" fmla="val 8285"/>
            </a:avLst>
          </a:prstGeom>
          <a:solidFill>
            <a:srgbClr val="E2ECEC"/>
          </a:solidFill>
          <a:ln/>
        </p:spPr>
      </p:sp>
      <p:sp>
        <p:nvSpPr>
          <p:cNvPr id="12" name="tickbox"/>
          <p:cNvSpPr/>
          <p:nvPr/>
        </p:nvSpPr>
        <p:spPr>
          <a:xfrm>
            <a:off x="713232" y="3584829"/>
            <a:ext cx="292608" cy="292608"/>
          </a:xfrm>
          <a:prstGeom prst="rect">
            <a:avLst/>
          </a:prstGeom>
          <a:solidFill>
            <a:srgbClr val="FFFFFF"/>
          </a:solidFill>
          <a:ln w="19050">
            <a:solidFill>
              <a:srgbClr val="1F6F6A"/>
            </a:solidFill>
            <a:prstDash val="solid"/>
          </a:ln>
        </p:spPr>
      </p:sp>
      <p:sp>
        <p:nvSpPr>
          <p:cNvPr id="13" name="crit"/>
          <p:cNvSpPr txBox="1"/>
          <p:nvPr/>
        </p:nvSpPr>
        <p:spPr>
          <a:xfrm>
            <a:off x="1143000" y="3179318"/>
            <a:ext cx="4709160" cy="110363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water (and so the duck) returns to where it started after each wave; it is not carried along.</a:t>
            </a:r>
            <a:endParaRPr lang="en-US" sz="2000" dirty="0"/>
          </a:p>
        </p:txBody>
      </p:sp>
      <p:sp>
        <p:nvSpPr>
          <p:cNvPr id="14" name="crit-box"/>
          <p:cNvSpPr/>
          <p:nvPr/>
        </p:nvSpPr>
        <p:spPr>
          <a:xfrm>
            <a:off x="548640" y="4374388"/>
            <a:ext cx="5486400" cy="793750"/>
          </a:xfrm>
          <a:prstGeom prst="roundRect">
            <a:avLst>
              <a:gd name="adj" fmla="val 11520"/>
            </a:avLst>
          </a:prstGeom>
          <a:solidFill>
            <a:srgbClr val="E2ECEC"/>
          </a:solidFill>
          <a:ln/>
        </p:spPr>
      </p:sp>
      <p:sp>
        <p:nvSpPr>
          <p:cNvPr id="15" name="tickbox"/>
          <p:cNvSpPr/>
          <p:nvPr/>
        </p:nvSpPr>
        <p:spPr>
          <a:xfrm>
            <a:off x="713232" y="4624959"/>
            <a:ext cx="292608" cy="292608"/>
          </a:xfrm>
          <a:prstGeom prst="rect">
            <a:avLst/>
          </a:prstGeom>
          <a:solidFill>
            <a:srgbClr val="FFFFFF"/>
          </a:solidFill>
          <a:ln w="19050">
            <a:solidFill>
              <a:srgbClr val="1F6F6A"/>
            </a:solidFill>
            <a:prstDash val="solid"/>
          </a:ln>
        </p:spPr>
      </p:sp>
      <p:sp>
        <p:nvSpPr>
          <p:cNvPr id="16" name="crit"/>
          <p:cNvSpPr txBox="1"/>
          <p:nvPr/>
        </p:nvSpPr>
        <p:spPr>
          <a:xfrm>
            <a:off x="1143000" y="4374388"/>
            <a:ext cx="4709160" cy="79375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wave transfers energy from one place to another.</a:t>
            </a:r>
            <a:endParaRPr lang="en-US" sz="2000" dirty="0"/>
          </a:p>
        </p:txBody>
      </p:sp>
      <p:sp>
        <p:nvSpPr>
          <p:cNvPr id="17" name="crit-box"/>
          <p:cNvSpPr/>
          <p:nvPr/>
        </p:nvSpPr>
        <p:spPr>
          <a:xfrm>
            <a:off x="548640" y="5259578"/>
            <a:ext cx="5486400" cy="793750"/>
          </a:xfrm>
          <a:prstGeom prst="roundRect">
            <a:avLst>
              <a:gd name="adj" fmla="val 11520"/>
            </a:avLst>
          </a:prstGeom>
          <a:solidFill>
            <a:srgbClr val="E2ECEC"/>
          </a:solidFill>
          <a:ln/>
        </p:spPr>
      </p:sp>
      <p:sp>
        <p:nvSpPr>
          <p:cNvPr id="18" name="tickbox"/>
          <p:cNvSpPr/>
          <p:nvPr/>
        </p:nvSpPr>
        <p:spPr>
          <a:xfrm>
            <a:off x="713232" y="5510149"/>
            <a:ext cx="292608" cy="292608"/>
          </a:xfrm>
          <a:prstGeom prst="rect">
            <a:avLst/>
          </a:prstGeom>
          <a:solidFill>
            <a:srgbClr val="FFFFFF"/>
          </a:solidFill>
          <a:ln w="19050">
            <a:solidFill>
              <a:srgbClr val="1F6F6A"/>
            </a:solidFill>
            <a:prstDash val="solid"/>
          </a:ln>
        </p:spPr>
      </p:sp>
      <p:sp>
        <p:nvSpPr>
          <p:cNvPr id="19" name="crit"/>
          <p:cNvSpPr txBox="1"/>
          <p:nvPr/>
        </p:nvSpPr>
        <p:spPr>
          <a:xfrm>
            <a:off x="1143000" y="5259578"/>
            <a:ext cx="4709160" cy="79375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wave does not transfer matter (the water itself).</a:t>
            </a:r>
            <a:endParaRPr lang="en-US" sz="2000" dirty="0"/>
          </a:p>
        </p:txBody>
      </p:sp>
      <p:sp>
        <p:nvSpPr>
          <p:cNvPr id="20" name="model-panel"/>
          <p:cNvSpPr/>
          <p:nvPr/>
        </p:nvSpPr>
        <p:spPr>
          <a:xfrm>
            <a:off x="6309360" y="1389888"/>
            <a:ext cx="5333695" cy="4754880"/>
          </a:xfrm>
          <a:prstGeom prst="roundRect">
            <a:avLst>
              <a:gd name="adj" fmla="val 962"/>
            </a:avLst>
          </a:prstGeom>
          <a:solidFill>
            <a:srgbClr val="F3EADB"/>
          </a:solidFill>
          <a:ln w="19050">
            <a:solidFill>
              <a:srgbClr val="B8862B"/>
            </a:solidFill>
            <a:prstDash val="solid"/>
          </a:ln>
        </p:spPr>
      </p:sp>
      <p:sp>
        <p:nvSpPr>
          <p:cNvPr id="21" name="model-tab"/>
          <p:cNvSpPr/>
          <p:nvPr/>
        </p:nvSpPr>
        <p:spPr>
          <a:xfrm>
            <a:off x="649224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22" name="model"/>
          <p:cNvSpPr txBox="1"/>
          <p:nvPr/>
        </p:nvSpPr>
        <p:spPr>
          <a:xfrm>
            <a:off x="6537960" y="2167128"/>
            <a:ext cx="487649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As each wave passes, the water under the duck moves up and then down again, vibrating about its rest position. The water is not carried along with the wave, so the duck rises and falls but stays where it is. What travels across the lake is the disturbance: the wave transfers energy from one place to another without transferring the water itself.</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a transverse wave, the vibrations are ___ to the direction of energy transfer.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In a transverse wave, the vibrations are at right angles to the direction of energy transfer.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DDE9E9"/>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Transverse means across: the vibrations are at right angles (perpendicular) to the direction the wave travels.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DDE9E9"/>
      </a:lt2>
      <a:accent1>
        <a:srgbClr val="1F6F6A"/>
      </a:accent1>
      <a:accent2>
        <a:srgbClr val="B8862B"/>
      </a:accent2>
      <a:accent3>
        <a:srgbClr val="79A9A6"/>
      </a:accent3>
      <a:accent4>
        <a:srgbClr val="815E1E"/>
      </a:accent4>
      <a:accent5>
        <a:srgbClr val="4A505C"/>
      </a:accent5>
      <a:accent6>
        <a:srgbClr val="D8BC8A"/>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Wave Properties · Chapter 1: What is a wave?</dc:title>
  <dc:subject>Physics (Combined Science) · Year 11</dc:subject>
  <dc:creator>Dr Vitor Merissi de Carvalho</dc:creator>
  <cp:lastModifiedBy>Dr Vitor Merissi de Carvalho</cp:lastModifiedBy>
  <cp:revision>1</cp:revision>
  <dcterms:created xsi:type="dcterms:W3CDTF">2026-10-19T06:07:21Z</dcterms:created>
  <dcterms:modified xsi:type="dcterms:W3CDTF">2026-10-19T06:07:21Z</dcterms:modified>
</cp:coreProperties>
</file>