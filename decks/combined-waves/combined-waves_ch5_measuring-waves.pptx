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2c1ca1b-f913-d8cd-aa88-c34a03461100}">
          <p14:sldIdLst>
            <p14:sldId id="256"/>
          </p14:sldIdLst>
        </p14:section>
        <p14:section name="Gate" id="{4d440b4a-ab54-dcef-afd6-e9906bcf224e}">
          <p14:sldIdLst>
            <p14:sldId id="257"/>
            <p14:sldId id="258"/>
            <p14:sldId id="259"/>
          </p14:sldIdLst>
        </p14:section>
        <p14:section name="Pre-teach" id="{869b80cf-a755-9f9c-71f5-28b3673eedf6}">
          <p14:sldIdLst>
            <p14:sldId id="260"/>
          </p14:sldIdLst>
        </p14:section>
        <p14:section name="Read-along" id="{c1ce43e9-de62-321b-e0b3-1d85a5d43608}">
          <p14:sldIdLst>
            <p14:sldId id="261"/>
            <p14:sldId id="262"/>
          </p14:sldIdLst>
        </p14:section>
        <p14:section name="Teach" id="{e7d5c654-7ae4-5772-0ea1-405c88544af2}">
          <p14:sldIdLst>
            <p14:sldId id="263"/>
            <p14:sldId id="264"/>
            <p14:sldId id="265"/>
            <p14:sldId id="266"/>
            <p14:sldId id="267"/>
          </p14:sldIdLst>
        </p14:section>
        <p14:section name="Routes" id="{244bda7f-4c20-4966-c393-6754706da1f9}">
          <p14:sldIdLst>
            <p14:sldId id="268"/>
            <p14:sldId id="269"/>
          </p14:sldIdLst>
        </p14:section>
        <p14:section name="Close" id="{6bf58026-554d-5b93-ab9f-7f823bd8e64f}">
          <p14:sldIdLst>
            <p14:sldId id="270"/>
          </p14:sldIdLst>
        </p14:section>
        <p14:section name="Answers" id="{fa6a2fdc-4b2e-9416-00e9-4d198e992650}">
          <p14:sldIdLst>
            <p14:sldId id="271"/>
            <p14:sldId id="272"/>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5 of 6: Sound, and measuring waves: the required practical. This chapter gives you sound as a wave, and the required practical: measuring the frequency, wavelength and speed of waves in a ripple tank and on a string.
This deck covers the department's lesson: 4 (P12.4 More about waves: How does sound travel, and how can we measure the speed of a wave?).
Read the big question aloud: "How do waves carry energy from place to place, and how do we measure them?" We come back to it at the exit ticket.
Before this lesson the pre-teach group has heard the read-along and met the key words; today they lead the reading. Lesson shape: do now (recall before any help), key words, read-along, teach, then the same task three ways in (Support, Core, Stretch), exit ticket, answers. Every pupil works towards the same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can sound not travel through a vacuum?  →  A   There are no particles to pass the vibration on.
2. In the ripple tank practical, which is the best way to measure the wavelength?  →  A   Measure the distance across several waves on the screen and divide by the number of waves.
3. A vibrating string forms 3 loops across a length of 0.9 m. Calculate the wavelength in metres.  →  0.6 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 retrieval. Silent, no notes, no help: recall comes before any support. Give about four minutes.
1. Why can sound not travel through a vacuum?  →  A   There are no particles to pass the vibration on.
2. In the ripple tank practical, which is the best way to measure the wavelength?  →  A   Measure the distance across several waves on the screen and divide by the number of waves.
3. A vibrating string forms 3 loops across a length of 0.9 m. Calculate the wavelength in metres.  →  0.6 m
Circulate: who gets 3/3 (Stretch route), 2/3 (Core), 0–1 (Support)? Use this to route pupils later in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pupils mark their own in a different colour, then hands up for 3/3, 2/3, 1/3.
1. A   There are no particles to pass the vibration on.. Sound is a mechanical wave: it is carried by particles passing the vibration on. A vacuum has no particles.
2. A   Measure the distance across several waves on the screen and divide by the number of waves.. Measuring across many waves on the screen (or a photograph of it) and dividing is accurate and does not disturb the water. Counting waves gives frequency; timing a wave gives speed.
3. 0.6 m. Loop length = 0.9 ÷ 3 = 0.3 m; each loop is half a wavelength, so λ = 2 × 0.3 = 0.6 m (exact).
Say the route each score points to: 3/3 Stretch, 2/3 Core, 0–1 Support. Pupils may choose to move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Ask the pre-teach group first: they met these words before the lesson, so they give the meaning before anyone else.
For each word: say it, pupils repeat it, read the meaning, then read the example sentence together.
• ripple tank: a shallow tray of water used to study waves. Example: "We watched the ripples cross the ripple tank."
• dipper: the bar or ball that bobs in the water to make ripples. Example: "The motor made the dipper bob up and down."
• vibration generator: a machine that shakes a string up and down at a set frequency. Example: "The vibration generator made the string form three loops."
• echo: a reflected sound that you hear after the original sound. Example: "We heard the echo of the clap come back from the wall."
• loop: one section of a vibrating string between two still points. Example: "Each loop on the string was half a wavelength long."
Recall before help: cover the meanings and ask pupils to define one word from memory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1–7 of 13:
1. Sound is made when something vibrates.
2. A loudspeaker cone moves back and forth and pushes the air.
3. The push travels through the air as a longitudinal wave.
4. When it reaches your ear, your eardrum vibrates.
5. Sound cannot travel through empty space, because there are no particles to pass it on.
6. In the lab we study waves in a ripple tank.
7. A dipper bobs up and down and makes ripples in shallow water.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together; pupils who were pre-taught lead. The pre-teach group heard this passage (with highlighted audio in the ebook) before the lesson, so invite them to read each sentence aloud first; everyone else follows with a finger, then echo-reads it.
Key words are in bold: pause on each and ask for its meaning.
Sentences 8–13 of 13:
8. A lamp above the tank casts a shadow of the ripples on a screen below.
9. We count the waves to find the frequency.
10. We measure across several waves on the screen to find the wavelength.
11. We can also shake a string with a vibration generator.
12. The string forms still loops, and each loop is half a wavelength.
13. Then wave speed = frequency × wavelength.
In the ebook the audio highlights each sentence as it is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Sound is a longitudinal wave (speed in solids: Physics only). Say it in your own words, then check understanding with a quick question: ask a pupil from the pre-teach group first, since they met these words and ideas before the lesson. Pupils try to recall before you re-explain.
A loudspeaker cone moves forwards and squashes the air in front of it, making a compression; then it moves back and leaves the air spread out, making a rarefaction. These compressions and rarefactions travel outwards as a longitudinal wave. When they reach your ear they make your eardrum vibrate, and that is how you hear.
Sound is a mechanical wave, so it needs a medium. The particles of the medium pass the vibration on to their neighbours. In a vacuum there are no particles, so there is no sound: a bell ringing inside a jar goes quiet as the air is pumped out, although you can still see it moving. Sound travels through air at about 330 m/s.
For the separate Physics GCSE only: sound also travels through liquids and solids, and faster in them than in air, because the particles are closer together and pass the vibration on more quickly. That is why you can hear through a wall, or under water.
Tip: Sound needs particles. No particles, no sound.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waves in a ripple tank. Say it in your own words, then check understanding with a quick question: ask a pupil from the pre-teach group first, since they met these words and ideas before the lesson. Pupils try to recall before you re-explain.
A ripple tank is a shallow glass-bottomed tray of water. A lamp above it shines through the water onto a screen or white paper below, so the ripples show up as bright and dark lines that are easy to see and measure. A wooden bar (the dipper) just touching the water is driven up and down by a small motor or a signal generator, making straight waves.
To find the frequency, count the number of waves passing a mark on the screen in 10 s, then divide by 10. If the dipper is driven by a signal generator, you can read the frequency from its dial instead. To find the wavelength, measure the distance across several waves on the screen with a ruler, or photograph the pattern with a ruler alongside it, then divide by the number of waves. Measuring across many waves, and repeating, makes the result more accurate.
Then calculate the wave speed with v = f λ, remembering to change centimetres to metres. A second method is to time one wave crossing the tank: wave speed = distance ÷ time. Keep the water depth the same throughout, because changing the depth changes the speed.
Worked example — model it step by step, thinking aloud: The dipper makes 5 waves every second. On the screen, 10 wavelengths measure 24 cm. Calculate the wave speed. (1) Frequency: f = 5 Hz. (2) Wavelength: 24 cm ÷ 10 = 2.4 cm, and 2.4 cm = 0.024 m. (3) Write the equation: v = f λ. (4) Substitute and calculate: v = 5 × 0.024 = 0.12 m/s. Answer: 0.12 m/s.
Tip: Measure across ten waves and divide by ten. Change cm to m before you use v = f 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waves in a ripple tank. Say it in your own words, then check understanding with a quick question: ask a pupil from the pre-teach group first, since they met these words and ideas before the lesson. Pupils try to recall before you re-explain.
A ripple tank is a shallow glass-bottomed tray of water. A lamp above it shines through the water onto a screen or white paper below, so the ripples show up as bright and dark lines that are easy to see and measure. A wooden bar (the dipper) just touching the water is driven up and down by a small motor or a signal generator, making straight waves.
To find the frequency, count the number of waves passing a mark on the screen in 10 s, then divide by 10. If the dipper is driven by a signal generator, you can read the frequency from its dial instead. To find the wavelength, measure the distance across several waves on the screen with a ruler, or photograph the pattern with a ruler alongside it, then divide by the number of waves. Measuring across many waves, and repeating, makes the result more accurate.
Then calculate the wave speed with v = f λ, remembering to change centimetres to metres. A second method is to time one wave crossing the tank: wave speed = distance ÷ time. Keep the water depth the same throughout, because changing the depth changes the speed.
Worked example — model it step by step, thinking aloud: The dipper makes 5 waves every second. On the screen, 10 wavelengths measure 24 cm. Calculate the wave speed. (1) Frequency: f = 5 Hz. (2) Wavelength: 24 cm ÷ 10 = 2.4 cm, and 2.4 cm = 0.024 m. (3) Write the equation: v = f λ. (4) Substitute and calculate: v = 5 × 0.024 = 0.12 m/s. Answer: 0.12 m/s.
Tip: Measure across ten waves and divide by ten. Change cm to m before you use v = f λ.</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Required practical: waves on a string. Say it in your own words, then check understanding with a quick question: ask a pupil from the pre-teach group first, since they met these words and ideas before the lesson. Pupils try to recall before you re-explain.
Stretch a string from a vibration generator over a pulley, with masses hanging on the end to keep it taut. Connect the generator to a signal generator and switch on. Adjust the frequency until the string settles into a clear pattern of loops, with still points (nodes) between them. The loops are easiest to see when the string vibrates with a large amplitude.
Measure the total length of several loops with a metre ruler and divide by the number of loops to find the length of one loop. Each loop is half a wavelength, so the wavelength is twice the loop length. Read the frequency from the signal generator, then calculate the wave speed with v = f λ.
Measuring several loops at once, rather than one, reduces the error in your wavelength. Repeating at a different frequency should give the same speed, because the speed of the wave depends on the string and how tightly it is stretched, not on the frequency.
Worked example — model it step by step, thinking aloud: A string vibrates at 40 Hz and forms 4 loops across a length of 1.2 m. Calculate the wave speed. (1) Loop length: 1.2 ÷ 4 = 0.3 m. (2) Each loop is half a wavelength, so λ = 2 × 0.3 = 0.6 m. (3) Write the equation: v = f λ. (4) Substitute and calculate: v = 40 × 0.6 = 24 m/s. Answer: 24 m/s.
Tip: One loop = half a wavelength. Two loops = one wavelength.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 Measuring the speed of sound in air. Say it in your own words, then check understanding with a quick question: ask a pupil from the pre-teach group first, since they met these words and ideas before the lesson. Pupils try to recall before you re-explain.
Stand a measured distance from a large flat wall and clap. The sound travels to the wall, is reflected, and comes back as an echo. Because the echo has travelled to the wall and back, the distance it covers is twice your distance from the wall. Measure the time between the clap and the echo, then speed = distance travelled ÷ time = 2 × distance to wall ÷ time.
The time for one echo is very short, so timing it with a stopwatch is unreliable. Instead, clap in a steady rhythm so that each clap lands exactly on the echo of the one before, and time 20 claps. The time for one clap-to-echo is then the total time ÷ 20. Alternatively, use two microphones a measured distance apart connected to a data logger, and record the time the sound takes to pass from one to the other.
Repeat the measurements and take an average. You should find a speed of about 330 m/s in air.
Worked example — model it step by step, thinking aloud: A pupil stands 66 m from a wall. The echo of a clap returns 0.40 s after the clap. Calculate the speed of sound. (1) Distance travelled by the sound = there and back = 2 × 66 = 132 m. (2) Speed = distance ÷ time. (3) Speed = 132 ÷ 0.40 = 330 m/s. Answer: 330 m/s.
Tip: An echo travels there and back: double the distance to the wall.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1: Wave speed from the ripple tank.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In a ripple tank the dipper makes 6 waves every second. On the screen, 8 wavelengths measure 20 cm. Calculate the wave speed in metres per second.
Support — work through the steps with the group: (1) Frequency: waves per second is already in hertz. (2) Wavelength: divide the measured length by the number of waves, then change cm to m (÷ 100). (3) v = f λ: multiply and write the unit m/s.
Parallel worked example for Support (model it, do not give the task answer): A dipper makes 4 waves every second. On the screen, 5 wavelengths measure 15 cm. Calculate the wave speed. f = 4 Hz.; λ = 15 ÷ 5 = 3 cm = 0.03 m.; v = f λ = 4 × 0.03 = 0.12 m/s.. Answer: 0.12 m/s.
Core — reveal the hint only on request: Find one wavelength in metres before you multiply.
Stretch — no help; when finished: The dipper is sped up to 12 waves a second with the water depth unchanged. Predict the new wavelength and explain why the wave speed does not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 2: Speed of sound from an echo. Same task, three ways in: one destination for everyone; only the scaffold changes. Pupils take the lane their do-now score pointed to (3/3 Stretch, 2/3 Core, 0–1 Support) and may move up at any time.
Start the pre-teach group first: they know the words and the passage, so set them going on the task before you turn to the rest. Recall before help: every pupil tries from memory before opening a lane.
The task: A pupil stands 85 m from a wall and claps. The echo returns 0.50 s after the clap. Calculate the speed of sound in metres per second.
Support — work through the steps with the group: (1) Work out the distance the sound travels: to the wall and back, so double it. (2) Speed = distance ÷ time. (3) Write the unit m/s.
Parallel worked example for Support (model it, do not give the task answer): A pupil stands 99 m from a wall. The echo returns 0.60 s after the clap. Calculate the speed of sound. Distance there and back = 2 × 99 = 198 m.; Speed = 198 ÷ 0.60.; Speed = 330 m/s.. Answer: 330 m/s.
Core — reveal the hint only on request: How far does the sound travel before you hear the echo? Not 85 m.
Stretch — no help; when finished: Explain why timing 20 clap-echo gaps and dividing by 20 gives a more accurate speed than timing one, and name one other source of error in this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 individual, silent, on a slip or mini-whiteboard. Recall before help: no notes, no lanes, no hints. Collect before pupils leave.
Question: Why can sound not travel through a vacuum?
Answer: D   There are no particles to pass the vibration on.. Sound is a mechanical wave: it is carried by particles passing the vibration on. A vacuum has no particles.
Source of this question: gate item 1 re-asked (options rotated) — this chapter has no third quick-check module.
The ebook also holds task 3, "Plan the ripple tank practical", for homework or the next lesson's do now.
Sort the slips: correct → ready to move on; incorrect → start next lesson in the pre-teach group, with the read-along and the Support lane. Same destination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1: Wave speed from the ripple tank. Reveal the answer; pupils mark their own work in a different colour, then read the "why" together. Same destination for every lane, so one answer serves the whole class.
Answer: 0.15 m/s
Why: λ = 20 ÷ 8 = 2.5 cm = 0.025 m; v = 6 × 0.025 = 0.15 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task 2: Speed of sound from an echo. Reveal the answer; pupils mark their own work in a different colour, then read the "why" together. Same destination for every lane, so one answer serves the whole class.
Answer: 340 m/s
Why: The echo travels 2 × 85 = 170 m in 0.50 s, so the speed is 170 ÷ 0.50 = 340 m/s.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 exit ticket: Exit ticket. Reveal the answer; pupils mark their own work in a different colour, then read the "why" together. Same destination for every lane, so one answer serves the whole class.
Answer: D   There are no particles to pass the vibration on.
Why: Sound is a mechanical wave: it is carried by particles passing the vibration on. A vacuum has no particles.
Ask a Support pupil to explain one step, and a Stretch pupil to share their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STRA_TITLE">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ASTRA_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6400800"/>
            <a:ext cx="12191695" cy="457200"/>
          </a:xfrm>
          <a:prstGeom prst="rect">
            <a:avLst/>
          </a:prstGeom>
          <a:solidFill>
            <a:srgbClr val="BAD2D1"/>
          </a:solidFill>
          <a:ln w="12700">
            <a:solidFill>
              <a:srgbClr val="BAD2D1"/>
            </a:solidFill>
            <a:prstDash val="solid"/>
          </a:ln>
        </p:spPr>
      </p:sp>
      <p:pic>
        <p:nvPicPr>
          <p:cNvPr id="3" name="Image 0" descr="Edu.AI hexagon motif">    </p:cNvPr>
          <p:cNvPicPr>
            <a:picLocks noChangeAspect="1"/>
          </p:cNvPicPr>
          <p:nvPr/>
        </p:nvPicPr>
        <p:blipFill>
          <a:blip r:embed="rId1"/>
          <a:stretch>
            <a:fillRect/>
          </a:stretch>
        </p:blipFill>
        <p:spPr>
          <a:xfrm>
            <a:off x="164592" y="6437376"/>
            <a:ext cx="438912" cy="384048"/>
          </a:xfrm>
          <a:prstGeom prst="rect">
            <a:avLst/>
          </a:prstGeom>
        </p:spPr>
      </p:pic>
      <p:sp>
        <p:nvSpPr>
          <p:cNvPr id="4" name="Text 1"/>
          <p:cNvSpPr/>
          <p:nvPr/>
        </p:nvSpPr>
        <p:spPr>
          <a:xfrm>
            <a:off x="713232" y="6446520"/>
            <a:ext cx="8138160" cy="365760"/>
          </a:xfrm>
          <a:prstGeom prst="rect">
            <a:avLst/>
          </a:prstGeom>
          <a:noFill/>
          <a:ln/>
        </p:spPr>
        <p:txBody>
          <a:bodyPr wrap="square" lIns="0" tIns="0" rIns="0" bIns="0" rtlCol="0" anchor="ctr"/>
          <a:lstStyle/>
          <a:p>
            <a:pPr indent="0" marL="0">
              <a:buNone/>
            </a:pPr>
            <a:r>
              <a:rPr lang="en-US" sz="1000" dirty="0">
                <a:solidFill>
                  <a:srgbClr val="4A505C"/>
                </a:solidFill>
                <a:latin typeface="Calibri" pitchFamily="34" charset="0"/>
                <a:ea typeface="Calibri" pitchFamily="34" charset="-122"/>
                <a:cs typeface="Calibri" pitchFamily="34" charset="-120"/>
              </a:rPr>
              <a:t>Physics (Combined Science) · Year 11 · Wave Properties · Ad Astra pilot exemplar — awaiting department review</a:t>
            </a:r>
            <a:endParaRPr lang="en-US" sz="1000" dirty="0"/>
          </a:p>
        </p:txBody>
      </p:sp>
      <p:sp>
        <p:nvSpPr>
          <p:cNvPr id="5" name="Text 2"/>
          <p:cNvSpPr/>
          <p:nvPr/>
        </p:nvSpPr>
        <p:spPr>
          <a:xfrm>
            <a:off x="8915400" y="6446520"/>
            <a:ext cx="2011680" cy="365760"/>
          </a:xfrm>
          <a:prstGeom prst="rect">
            <a:avLst/>
          </a:prstGeom>
          <a:noFill/>
          <a:ln/>
        </p:spPr>
        <p:txBody>
          <a:bodyPr wrap="square" lIns="0" tIns="0" rIns="0" bIns="0" rtlCol="0" anchor="ctr"/>
          <a:lstStyle/>
          <a:p>
            <a:pPr algn="r" indent="0" marL="0">
              <a:buNone/>
            </a:pPr>
            <a:r>
              <a:rPr lang="en-US" sz="1000" dirty="0">
                <a:solidFill>
                  <a:srgbClr val="4A505C"/>
                </a:solidFill>
                <a:latin typeface="Calibri" pitchFamily="34" charset="0"/>
                <a:ea typeface="Calibri" pitchFamily="34" charset="-122"/>
                <a:cs typeface="Calibri" pitchFamily="34" charset="-120"/>
              </a:rPr>
              <a:t>© 2026 Edu.Ai SV Digital</a:t>
            </a:r>
            <a:endParaRPr lang="en-US" sz="1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band-hue"/>
          <p:cNvSpPr/>
          <p:nvPr/>
        </p:nvSpPr>
        <p:spPr>
          <a:xfrm>
            <a:off x="0" y="5989320"/>
            <a:ext cx="12191695" cy="164592"/>
          </a:xfrm>
          <a:prstGeom prst="rect">
            <a:avLst/>
          </a:prstGeom>
          <a:solidFill>
            <a:srgbClr val="1F6F6A"/>
          </a:solidFill>
          <a:ln/>
        </p:spPr>
      </p:sp>
      <p:sp>
        <p:nvSpPr>
          <p:cNvPr id="4" name="band-gold"/>
          <p:cNvSpPr/>
          <p:nvPr/>
        </p:nvSpPr>
        <p:spPr>
          <a:xfrm>
            <a:off x="0" y="6208776"/>
            <a:ext cx="12191695" cy="64008"/>
          </a:xfrm>
          <a:prstGeom prst="rect">
            <a:avLst/>
          </a:prstGeom>
          <a:solidFill>
            <a:srgbClr val="B8862B"/>
          </a:solidFill>
          <a:ln/>
        </p:spPr>
      </p:sp>
      <p:sp>
        <p:nvSpPr>
          <p:cNvPr id="5" name="hex-deco1"/>
          <p:cNvSpPr/>
          <p:nvPr/>
        </p:nvSpPr>
        <p:spPr>
          <a:xfrm>
            <a:off x="1373886" y="276195"/>
            <a:ext cx="525780" cy="455325"/>
          </a:xfrm>
          <a:prstGeom prst="hexagon">
            <a:avLst/>
          </a:prstGeom>
          <a:solidFill>
            <a:srgbClr val="C7DBDA"/>
          </a:solidFill>
          <a:ln/>
        </p:spPr>
      </p:sp>
      <p:sp>
        <p:nvSpPr>
          <p:cNvPr id="6" name="hex-deco2"/>
          <p:cNvSpPr/>
          <p:nvPr/>
        </p:nvSpPr>
        <p:spPr>
          <a:xfrm>
            <a:off x="1373886" y="1168557"/>
            <a:ext cx="525780" cy="455325"/>
          </a:xfrm>
          <a:prstGeom prst="hexagon">
            <a:avLst/>
          </a:prstGeom>
          <a:ln w="19050">
            <a:solidFill>
              <a:srgbClr val="B8862B"/>
            </a:solidFill>
            <a:prstDash val="solid"/>
          </a:ln>
        </p:spPr>
      </p:sp>
      <p:sp>
        <p:nvSpPr>
          <p:cNvPr id="7" name="hex-chapter"/>
          <p:cNvSpPr/>
          <p:nvPr/>
        </p:nvSpPr>
        <p:spPr>
          <a:xfrm>
            <a:off x="548640" y="457200"/>
            <a:ext cx="1051560" cy="910651"/>
          </a:xfrm>
          <a:prstGeom prst="hexagon">
            <a:avLst/>
          </a:prstGeom>
          <a:solidFill>
            <a:srgbClr val="1F6F6A"/>
          </a:solidFill>
          <a:ln/>
        </p:spPr>
      </p:sp>
      <p:sp>
        <p:nvSpPr>
          <p:cNvPr id="8" name="hex-chapter-label"/>
          <p:cNvSpPr txBox="1"/>
          <p:nvPr/>
        </p:nvSpPr>
        <p:spPr>
          <a:xfrm>
            <a:off x="548640" y="457200"/>
            <a:ext cx="1051560" cy="910651"/>
          </a:xfrm>
          <a:prstGeom prst="rect">
            <a:avLst/>
          </a:prstGeom>
          <a:noFill/>
          <a:ln/>
        </p:spPr>
        <p:txBody>
          <a:bodyPr wrap="square" lIns="0" tIns="0" rIns="0" bIns="0" rtlCol="0" anchor="ctr"/>
          <a:lstStyle/>
          <a:p>
            <a:pPr algn="ctr" indent="0" marL="0">
              <a:buNone/>
            </a:pPr>
            <a:r>
              <a:rPr lang="en-US" sz="4000" b="1" dirty="0">
                <a:solidFill>
                  <a:srgbClr val="FFFFFF"/>
                </a:solidFill>
                <a:latin typeface="Cambria" pitchFamily="34" charset="0"/>
                <a:ea typeface="Cambria" pitchFamily="34" charset="-122"/>
                <a:cs typeface="Cambria" pitchFamily="34" charset="-120"/>
              </a:rPr>
              <a:t>5</a:t>
            </a:r>
            <a:endParaRPr lang="en-US" sz="4000" dirty="0"/>
          </a:p>
        </p:txBody>
      </p:sp>
      <p:sp>
        <p:nvSpPr>
          <p:cNvPr id="9" name="kicker"/>
          <p:cNvSpPr txBox="1"/>
          <p:nvPr/>
        </p:nvSpPr>
        <p:spPr>
          <a:xfrm>
            <a:off x="2331720" y="256032"/>
            <a:ext cx="3504895" cy="1298448"/>
          </a:xfrm>
          <a:prstGeom prst="rect">
            <a:avLst/>
          </a:prstGeom>
          <a:noFill/>
          <a:ln/>
        </p:spPr>
        <p:txBody>
          <a:bodyPr wrap="square" lIns="63500" tIns="63500" rIns="63500" bIns="63500" rtlCol="0" anchor="ctr"/>
          <a:lstStyle/>
          <a:p>
            <a:pPr algn="l" indent="0" marL="0">
              <a:spcAft>
                <a:spcPts val="200"/>
              </a:spcAft>
              <a:buNone/>
            </a:pPr>
            <a:r>
              <a:rPr lang="en-US" sz="1800" b="1" dirty="0">
                <a:solidFill>
                  <a:srgbClr val="1F6F6A"/>
                </a:solidFill>
                <a:latin typeface="Calibri" pitchFamily="34" charset="0"/>
                <a:ea typeface="Calibri" pitchFamily="34" charset="-122"/>
                <a:cs typeface="Calibri" pitchFamily="34" charset="-120"/>
              </a:rPr>
              <a:t>Physics (Combined Science)</a:t>
            </a:r>
            <a:endParaRPr lang="en-US" sz="1800" dirty="0"/>
          </a:p>
          <a:p>
            <a:pPr algn="l" indent="0" marL="0">
              <a:spcAft>
                <a:spcPts val="200"/>
              </a:spcAft>
              <a:buNone/>
            </a:pPr>
            <a:r>
              <a:rPr lang="en-US" sz="1800" b="1" dirty="0">
                <a:solidFill>
                  <a:srgbClr val="936B22"/>
                </a:solidFill>
                <a:latin typeface="Calibri" pitchFamily="34" charset="0"/>
                <a:ea typeface="Calibri" pitchFamily="34" charset="-122"/>
                <a:cs typeface="Calibri" pitchFamily="34" charset="-120"/>
              </a:rPr>
              <a:t>Year 11 · Chapter 5/6</a:t>
            </a:r>
            <a:endParaRPr lang="en-US" sz="1800" dirty="0"/>
          </a:p>
          <a:p>
            <a:pPr algn="l" indent="0" marL="0">
              <a:buNone/>
            </a:pPr>
            <a:r>
              <a:rPr lang="en-US" sz="1800" dirty="0">
                <a:solidFill>
                  <a:srgbClr val="4A505C"/>
                </a:solidFill>
                <a:latin typeface="Calibri" pitchFamily="34" charset="0"/>
                <a:ea typeface="Calibri" pitchFamily="34" charset="-122"/>
                <a:cs typeface="Calibri" pitchFamily="34" charset="-120"/>
              </a:rPr>
              <a:t>Wave Properties · AQA 8464</a:t>
            </a:r>
            <a:endParaRPr lang="en-US" sz="1800" dirty="0"/>
          </a:p>
        </p:txBody>
      </p:sp>
      <p:sp>
        <p:nvSpPr>
          <p:cNvPr id="10" name="deck-title"/>
          <p:cNvSpPr txBox="1"/>
          <p:nvPr/>
        </p:nvSpPr>
        <p:spPr>
          <a:xfrm>
            <a:off x="548640" y="2591308"/>
            <a:ext cx="5287975" cy="1051560"/>
          </a:xfrm>
          <a:prstGeom prst="rect">
            <a:avLst/>
          </a:prstGeom>
          <a:noFill/>
          <a:ln/>
        </p:spPr>
        <p:txBody>
          <a:bodyPr wrap="square" lIns="63500" tIns="63500" rIns="63500" bIns="63500" rtlCol="0" anchor="t"/>
          <a:lstStyle/>
          <a:p>
            <a:pPr algn="l" indent="0" marL="0">
              <a:buNone/>
            </a:pPr>
            <a:r>
              <a:rPr lang="en-US" sz="2800" b="1" dirty="0">
                <a:solidFill>
                  <a:srgbClr val="1E2229"/>
                </a:solidFill>
                <a:latin typeface="Cambria" pitchFamily="34" charset="0"/>
                <a:ea typeface="Cambria" pitchFamily="34" charset="-122"/>
                <a:cs typeface="Cambria" pitchFamily="34" charset="-120"/>
              </a:rPr>
              <a:t>Sound, and measuring waves: the required practical</a:t>
            </a:r>
            <a:endParaRPr lang="en-US" sz="2800" dirty="0"/>
          </a:p>
        </p:txBody>
      </p:sp>
      <p:sp>
        <p:nvSpPr>
          <p:cNvPr id="11" name="lessons-card"/>
          <p:cNvSpPr/>
          <p:nvPr/>
        </p:nvSpPr>
        <p:spPr>
          <a:xfrm>
            <a:off x="548640" y="3871468"/>
            <a:ext cx="5287975" cy="980440"/>
          </a:xfrm>
          <a:prstGeom prst="roundRect">
            <a:avLst>
              <a:gd name="adj" fmla="val 7461"/>
            </a:avLst>
          </a:prstGeom>
          <a:solidFill>
            <a:srgbClr val="DDE9E9"/>
          </a:solidFill>
          <a:ln/>
        </p:spPr>
      </p:sp>
      <p:sp>
        <p:nvSpPr>
          <p:cNvPr id="12" name="lessons"/>
          <p:cNvSpPr txBox="1"/>
          <p:nvPr/>
        </p:nvSpPr>
        <p:spPr>
          <a:xfrm>
            <a:off x="685800" y="3962908"/>
            <a:ext cx="5013655" cy="797560"/>
          </a:xfrm>
          <a:prstGeom prst="rect">
            <a:avLst/>
          </a:prstGeom>
          <a:noFill/>
          <a:ln/>
        </p:spPr>
        <p:txBody>
          <a:bodyPr wrap="square" lIns="63500" tIns="63500" rIns="63500" bIns="63500" rtlCol="0" anchor="t"/>
          <a:lstStyle/>
          <a:p>
            <a:pPr algn="l" indent="0" marL="0">
              <a:spcAft>
                <a:spcPts val="400"/>
              </a:spcAft>
              <a:buNone/>
            </a:pPr>
            <a:r>
              <a:rPr lang="en-US" sz="2000" b="1" dirty="0">
                <a:solidFill>
                  <a:srgbClr val="1F6F6A"/>
                </a:solidFill>
                <a:latin typeface="Calibri" pitchFamily="34" charset="0"/>
                <a:ea typeface="Calibri" pitchFamily="34" charset="-122"/>
                <a:cs typeface="Calibri" pitchFamily="34" charset="-120"/>
              </a:rPr>
              <a:t>Lessons covered</a:t>
            </a:r>
            <a:endParaRPr lang="en-US" sz="2000" dirty="0"/>
          </a:p>
          <a:p>
            <a:pPr algn="l" indent="0" marL="0">
              <a:spcAft>
                <a:spcPts val="300"/>
              </a:spcAft>
              <a:buNone/>
            </a:pPr>
            <a:r>
              <a:rPr lang="en-US" sz="2000" b="1" dirty="0">
                <a:solidFill>
                  <a:srgbClr val="9C7225"/>
                </a:solidFill>
                <a:latin typeface="Calibri" pitchFamily="34" charset="0"/>
                <a:ea typeface="Calibri" pitchFamily="34" charset="-122"/>
                <a:cs typeface="Calibri" pitchFamily="34" charset="-120"/>
              </a:rPr>
              <a:t>4  </a:t>
            </a:r>
            <a:pPr algn="l" indent="0" marL="0">
              <a:spcAft>
                <a:spcPts val="300"/>
              </a:spcAft>
              <a:buNone/>
            </a:pPr>
            <a:r>
              <a:rPr lang="en-US" sz="2000" dirty="0">
                <a:solidFill>
                  <a:srgbClr val="1E2229"/>
                </a:solidFill>
                <a:latin typeface="Calibri" pitchFamily="34" charset="0"/>
                <a:ea typeface="Calibri" pitchFamily="34" charset="-122"/>
                <a:cs typeface="Calibri" pitchFamily="34" charset="-120"/>
              </a:rPr>
              <a:t>P12.4 More about waves</a:t>
            </a:r>
            <a:endParaRPr lang="en-US" sz="2000" dirty="0"/>
          </a:p>
        </p:txBody>
      </p:sp>
      <p:sp>
        <p:nvSpPr>
          <p:cNvPr id="13" name="plate-frame"/>
          <p:cNvSpPr/>
          <p:nvPr/>
        </p:nvSpPr>
        <p:spPr>
          <a:xfrm>
            <a:off x="6248095" y="411480"/>
            <a:ext cx="5394960" cy="3130677"/>
          </a:xfrm>
          <a:prstGeom prst="rect">
            <a:avLst/>
          </a:prstGeom>
          <a:solidFill>
            <a:srgbClr val="EFE3CE"/>
          </a:solidFill>
          <a:ln w="19050">
            <a:solidFill>
              <a:srgbClr val="B8862B"/>
            </a:solidFill>
            <a:prstDash val="solid"/>
          </a:ln>
          <a:effectLst>
            <a:outerShdw sx="100000" sy="100000" kx="0" ky="0" algn="bl" rotWithShape="0" blurRad="76200" dist="25400" dir="5400000">
              <a:srgbClr val="000000">
                <a:alpha val="12000"/>
              </a:srgbClr>
            </a:outerShdw>
          </a:effectLst>
        </p:spPr>
      </p:sp>
      <p:pic>
        <p:nvPicPr>
          <p:cNvPr id="14" name="plate" descr="Ad Astra engraved plate for Physics (Combined Science), Year 11">    </p:cNvPr>
          <p:cNvPicPr>
            <a:picLocks noChangeAspect="1"/>
          </p:cNvPicPr>
          <p:nvPr/>
        </p:nvPicPr>
        <p:blipFill>
          <a:blip r:embed="rId1"/>
          <a:stretch>
            <a:fillRect/>
          </a:stretch>
        </p:blipFill>
        <p:spPr>
          <a:xfrm>
            <a:off x="6357823" y="521208"/>
            <a:ext cx="5175504" cy="2911221"/>
          </a:xfrm>
          <a:prstGeom prst="rect">
            <a:avLst/>
          </a:prstGeom>
        </p:spPr>
      </p:pic>
      <p:sp>
        <p:nvSpPr>
          <p:cNvPr id="15" name="plate-inner"/>
          <p:cNvSpPr/>
          <p:nvPr/>
        </p:nvSpPr>
        <p:spPr>
          <a:xfrm>
            <a:off x="6357823" y="521208"/>
            <a:ext cx="5175504" cy="2911221"/>
          </a:xfrm>
          <a:prstGeom prst="rect">
            <a:avLst/>
          </a:prstGeom>
          <a:ln w="9525">
            <a:solidFill>
              <a:srgbClr val="B8862B"/>
            </a:solidFill>
            <a:prstDash val="solid"/>
          </a:ln>
        </p:spPr>
      </p:sp>
      <p:sp>
        <p:nvSpPr>
          <p:cNvPr id="16" name="stud0"/>
          <p:cNvSpPr/>
          <p:nvPr/>
        </p:nvSpPr>
        <p:spPr>
          <a:xfrm>
            <a:off x="6138367" y="316456"/>
            <a:ext cx="219456" cy="190049"/>
          </a:xfrm>
          <a:prstGeom prst="hexagon">
            <a:avLst/>
          </a:prstGeom>
          <a:solidFill>
            <a:srgbClr val="B8862B"/>
          </a:solidFill>
          <a:ln w="12700">
            <a:solidFill>
              <a:srgbClr val="FFFFFF"/>
            </a:solidFill>
            <a:prstDash val="solid"/>
          </a:ln>
        </p:spPr>
      </p:sp>
      <p:sp>
        <p:nvSpPr>
          <p:cNvPr id="17" name="stud1"/>
          <p:cNvSpPr/>
          <p:nvPr/>
        </p:nvSpPr>
        <p:spPr>
          <a:xfrm>
            <a:off x="11533327" y="316456"/>
            <a:ext cx="219456" cy="190049"/>
          </a:xfrm>
          <a:prstGeom prst="hexagon">
            <a:avLst/>
          </a:prstGeom>
          <a:solidFill>
            <a:srgbClr val="B8862B"/>
          </a:solidFill>
          <a:ln w="12700">
            <a:solidFill>
              <a:srgbClr val="FFFFFF"/>
            </a:solidFill>
            <a:prstDash val="solid"/>
          </a:ln>
        </p:spPr>
      </p:sp>
      <p:sp>
        <p:nvSpPr>
          <p:cNvPr id="18" name="stud2"/>
          <p:cNvSpPr/>
          <p:nvPr/>
        </p:nvSpPr>
        <p:spPr>
          <a:xfrm>
            <a:off x="6138367" y="3447133"/>
            <a:ext cx="219456" cy="190049"/>
          </a:xfrm>
          <a:prstGeom prst="hexagon">
            <a:avLst/>
          </a:prstGeom>
          <a:solidFill>
            <a:srgbClr val="B8862B"/>
          </a:solidFill>
          <a:ln w="12700">
            <a:solidFill>
              <a:srgbClr val="FFFFFF"/>
            </a:solidFill>
            <a:prstDash val="solid"/>
          </a:ln>
        </p:spPr>
      </p:sp>
      <p:sp>
        <p:nvSpPr>
          <p:cNvPr id="19" name="stud3"/>
          <p:cNvSpPr/>
          <p:nvPr/>
        </p:nvSpPr>
        <p:spPr>
          <a:xfrm>
            <a:off x="11533327" y="3447133"/>
            <a:ext cx="219456" cy="190049"/>
          </a:xfrm>
          <a:prstGeom prst="hexagon">
            <a:avLst/>
          </a:prstGeom>
          <a:solidFill>
            <a:srgbClr val="B8862B"/>
          </a:solidFill>
          <a:ln w="12700">
            <a:solidFill>
              <a:srgbClr val="FFFFFF"/>
            </a:solidFill>
            <a:prstDash val="solid"/>
          </a:ln>
        </p:spPr>
      </p:sp>
      <p:sp>
        <p:nvSpPr>
          <p:cNvPr id="20" name="bq-card"/>
          <p:cNvSpPr/>
          <p:nvPr/>
        </p:nvSpPr>
        <p:spPr>
          <a:xfrm>
            <a:off x="6248095" y="3816477"/>
            <a:ext cx="5394960" cy="2053971"/>
          </a:xfrm>
          <a:prstGeom prst="roundRect">
            <a:avLst>
              <a:gd name="adj" fmla="val 3561"/>
            </a:avLst>
          </a:prstGeom>
          <a:solidFill>
            <a:srgbClr val="DDE9E9"/>
          </a:solidFill>
          <a:ln w="12700">
            <a:solidFill>
              <a:srgbClr val="9ABEBC"/>
            </a:solidFill>
            <a:prstDash val="solid"/>
          </a:ln>
        </p:spPr>
      </p:sp>
      <p:sp>
        <p:nvSpPr>
          <p:cNvPr id="21" name="bq-hex"/>
          <p:cNvSpPr/>
          <p:nvPr/>
        </p:nvSpPr>
        <p:spPr>
          <a:xfrm>
            <a:off x="6412687" y="3999357"/>
            <a:ext cx="621792" cy="538472"/>
          </a:xfrm>
          <a:prstGeom prst="hexagon">
            <a:avLst/>
          </a:prstGeom>
          <a:solidFill>
            <a:srgbClr val="B8862B"/>
          </a:solidFill>
          <a:ln/>
        </p:spPr>
      </p:sp>
      <p:sp>
        <p:nvSpPr>
          <p:cNvPr id="22" name="bq-hex-label"/>
          <p:cNvSpPr txBox="1"/>
          <p:nvPr/>
        </p:nvSpPr>
        <p:spPr>
          <a:xfrm>
            <a:off x="6412687" y="3999357"/>
            <a:ext cx="621792" cy="538472"/>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a:t>
            </a:r>
            <a:endParaRPr lang="en-US" sz="2600" dirty="0"/>
          </a:p>
        </p:txBody>
      </p:sp>
      <p:sp>
        <p:nvSpPr>
          <p:cNvPr id="23" name="bq"/>
          <p:cNvSpPr txBox="1"/>
          <p:nvPr/>
        </p:nvSpPr>
        <p:spPr>
          <a:xfrm>
            <a:off x="7144207" y="3907917"/>
            <a:ext cx="4389120" cy="1871091"/>
          </a:xfrm>
          <a:prstGeom prst="rect">
            <a:avLst/>
          </a:prstGeom>
          <a:noFill/>
          <a:ln/>
        </p:spPr>
        <p:txBody>
          <a:bodyPr wrap="square" lIns="63500" tIns="63500" rIns="63500" bIns="63500" rtlCol="0" anchor="ctr"/>
          <a:lstStyle/>
          <a:p>
            <a:pPr algn="l" indent="0" marL="0">
              <a:spcAft>
                <a:spcPts val="400"/>
              </a:spcAft>
              <a:buNone/>
            </a:pPr>
            <a:r>
              <a:rPr lang="en-US" sz="1800" b="1" dirty="0">
                <a:solidFill>
                  <a:srgbClr val="1F6F6A"/>
                </a:solidFill>
                <a:latin typeface="Calibri" pitchFamily="34" charset="0"/>
                <a:ea typeface="Calibri" pitchFamily="34" charset="-122"/>
                <a:cs typeface="Calibri" pitchFamily="34" charset="-120"/>
              </a:rPr>
              <a:t>Big question</a:t>
            </a:r>
            <a:endParaRPr lang="en-US" sz="1800" dirty="0"/>
          </a:p>
          <a:p>
            <a:pPr algn="l" indent="0" marL="0">
              <a:buNone/>
            </a:pPr>
            <a:r>
              <a:rPr lang="en-US" sz="2400" i="1" dirty="0">
                <a:solidFill>
                  <a:srgbClr val="1E2229"/>
                </a:solidFill>
                <a:latin typeface="Cambria" pitchFamily="34" charset="0"/>
                <a:ea typeface="Cambria" pitchFamily="34" charset="-122"/>
                <a:cs typeface="Cambria" pitchFamily="34" charset="-120"/>
              </a:rPr>
              <a:t>How do waves carry energy from place to place, and how do we measure them?</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5410048" cy="4754880"/>
          </a:xfrm>
          <a:prstGeom prst="roundRect">
            <a:avLst>
              <a:gd name="adj" fmla="val 1154"/>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1" name="card-body"/>
          <p:cNvSpPr txBox="1"/>
          <p:nvPr/>
        </p:nvSpPr>
        <p:spPr>
          <a:xfrm>
            <a:off x="731520"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2200" b="1" dirty="0">
                <a:solidFill>
                  <a:srgbClr val="1E2229"/>
                </a:solidFill>
                <a:latin typeface="Calibri" pitchFamily="34" charset="0"/>
                <a:ea typeface="Calibri" pitchFamily="34" charset="-122"/>
                <a:cs typeface="Calibri" pitchFamily="34" charset="-120"/>
              </a:rPr>
              <a:t>Why can sound not travel through a vacuum?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There are no particles to pass the vibration on.</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Sound travels too slowly to cross a vacuum.</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A vacuum absorbs all the sound energy.</a:t>
            </a:r>
            <a:endParaRPr lang="en-US" sz="2200" dirty="0"/>
          </a:p>
          <a:p>
            <a:pPr algn="l" indent="0" marL="0">
              <a:spcAft>
                <a:spcPts val="2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200"/>
              </a:spcAft>
              <a:buNone/>
            </a:pPr>
            <a:r>
              <a:rPr lang="en-US" sz="2200" dirty="0">
                <a:solidFill>
                  <a:srgbClr val="1E2229"/>
                </a:solidFill>
                <a:latin typeface="Calibri" pitchFamily="34" charset="0"/>
                <a:ea typeface="Calibri" pitchFamily="34" charset="-122"/>
                <a:cs typeface="Calibri" pitchFamily="34" charset="-120"/>
              </a:rPr>
              <a:t>Sound is an electromagnetic wave and needs air.</a:t>
            </a:r>
            <a:endParaRPr lang="en-US" sz="2200" dirty="0"/>
          </a:p>
        </p:txBody>
      </p:sp>
      <p:sp>
        <p:nvSpPr>
          <p:cNvPr id="12" name="card"/>
          <p:cNvSpPr/>
          <p:nvPr/>
        </p:nvSpPr>
        <p:spPr>
          <a:xfrm>
            <a:off x="6233008" y="1389888"/>
            <a:ext cx="5410048" cy="4754880"/>
          </a:xfrm>
          <a:prstGeom prst="roundRect">
            <a:avLst>
              <a:gd name="adj" fmla="val 1154"/>
            </a:avLst>
          </a:prstGeom>
          <a:solidFill>
            <a:srgbClr val="E4EEED"/>
          </a:solidFill>
          <a:ln w="12700">
            <a:solidFill>
              <a:srgbClr val="A5C5C3"/>
            </a:solidFill>
            <a:prstDash val="solid"/>
          </a:ln>
        </p:spPr>
      </p:sp>
      <p:sp>
        <p:nvSpPr>
          <p:cNvPr id="13" name="card-hex"/>
          <p:cNvSpPr/>
          <p:nvPr/>
        </p:nvSpPr>
        <p:spPr>
          <a:xfrm>
            <a:off x="6415888" y="1572768"/>
            <a:ext cx="640080" cy="554309"/>
          </a:xfrm>
          <a:prstGeom prst="hexagon">
            <a:avLst/>
          </a:prstGeom>
          <a:solidFill>
            <a:srgbClr val="1F6F6A"/>
          </a:solidFill>
          <a:ln/>
        </p:spPr>
      </p:sp>
      <p:sp>
        <p:nvSpPr>
          <p:cNvPr id="14" name="card-hex-label"/>
          <p:cNvSpPr txBox="1"/>
          <p:nvPr/>
        </p:nvSpPr>
        <p:spPr>
          <a:xfrm>
            <a:off x="641588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5" name="card-label"/>
          <p:cNvSpPr txBox="1"/>
          <p:nvPr/>
        </p:nvSpPr>
        <p:spPr>
          <a:xfrm>
            <a:off x="7147408" y="1572768"/>
            <a:ext cx="440420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Choose one</a:t>
            </a:r>
            <a:endParaRPr lang="en-US" sz="1800" dirty="0"/>
          </a:p>
        </p:txBody>
      </p:sp>
      <p:sp>
        <p:nvSpPr>
          <p:cNvPr id="16" name="card-body"/>
          <p:cNvSpPr txBox="1"/>
          <p:nvPr/>
        </p:nvSpPr>
        <p:spPr>
          <a:xfrm>
            <a:off x="6415888" y="2355677"/>
            <a:ext cx="5044288" cy="3651931"/>
          </a:xfrm>
          <a:prstGeom prst="rect">
            <a:avLst/>
          </a:prstGeom>
          <a:noFill/>
          <a:ln/>
        </p:spPr>
        <p:txBody>
          <a:bodyPr wrap="square" lIns="63500" tIns="63500" rIns="63500" bIns="63500" rtlCol="0" anchor="t"/>
          <a:lstStyle/>
          <a:p>
            <a:pPr algn="l" indent="0" marL="0">
              <a:spcAft>
                <a:spcPts val="1000"/>
              </a:spcAft>
              <a:buNone/>
            </a:pPr>
            <a:r>
              <a:rPr lang="en-US" sz="1800" b="1" dirty="0">
                <a:solidFill>
                  <a:srgbClr val="1E2229"/>
                </a:solidFill>
                <a:latin typeface="Calibri" pitchFamily="34" charset="0"/>
                <a:ea typeface="Calibri" pitchFamily="34" charset="-122"/>
                <a:cs typeface="Calibri" pitchFamily="34" charset="-120"/>
              </a:rPr>
              <a:t>In the ripple tank practical, which is the best way to measure the wavelength?</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Measure the distance across several waves on the screen and divide by the number of waves.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Measure one wave with a ruler held in the water.</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Count the waves passing a point in 10 seconds.</a:t>
            </a:r>
            <a:endParaRPr lang="en-US" sz="1800" dirty="0"/>
          </a:p>
          <a:p>
            <a:pPr algn="l" indent="0" marL="0">
              <a:spcAft>
                <a:spcPts val="600"/>
              </a:spcAft>
              <a:buNone/>
            </a:pPr>
            <a:r>
              <a:rPr lang="en-US" sz="18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Time one wave crossing the tank.</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Do now: three from memory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11094415" cy="4754880"/>
          </a:xfrm>
          <a:prstGeom prst="roundRect">
            <a:avLst>
              <a:gd name="adj" fmla="val 1154"/>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0" name="card-label"/>
          <p:cNvSpPr txBox="1"/>
          <p:nvPr/>
        </p:nvSpPr>
        <p:spPr>
          <a:xfrm>
            <a:off x="1463040" y="1572768"/>
            <a:ext cx="10088575"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Work it out</a:t>
            </a:r>
            <a:endParaRPr lang="en-US" sz="1800" dirty="0"/>
          </a:p>
        </p:txBody>
      </p:sp>
      <p:sp>
        <p:nvSpPr>
          <p:cNvPr id="11" name="card-body"/>
          <p:cNvSpPr txBox="1"/>
          <p:nvPr/>
        </p:nvSpPr>
        <p:spPr>
          <a:xfrm>
            <a:off x="731520" y="2355677"/>
            <a:ext cx="10728655" cy="3651931"/>
          </a:xfrm>
          <a:prstGeom prst="rect">
            <a:avLst/>
          </a:prstGeom>
          <a:noFill/>
          <a:ln/>
        </p:spPr>
        <p:txBody>
          <a:bodyPr wrap="square" lIns="63500" tIns="63500" rIns="63500" bIns="63500" rtlCol="0" anchor="t"/>
          <a:lstStyle/>
          <a:p>
            <a:pPr algn="l" indent="0" marL="0">
              <a:spcAft>
                <a:spcPts val="1000"/>
              </a:spcAft>
              <a:buNone/>
            </a:pPr>
            <a:r>
              <a:rPr lang="en-US" sz="2400" b="1" dirty="0">
                <a:solidFill>
                  <a:srgbClr val="1E2229"/>
                </a:solidFill>
                <a:latin typeface="Calibri" pitchFamily="34" charset="0"/>
                <a:ea typeface="Calibri" pitchFamily="34" charset="-122"/>
                <a:cs typeface="Calibri" pitchFamily="34" charset="-120"/>
              </a:rPr>
              <a:t>A vibrating string forms 3 loops across a length of 0.9 m. Calculate the wavelength in metres.</a:t>
            </a:r>
            <a:endParaRPr lang="en-US" sz="2400" dirty="0"/>
          </a:p>
          <a:p>
            <a:pPr algn="l" indent="0" marL="0">
              <a:buNone/>
            </a:pPr>
            <a:r>
              <a:rPr lang="en-US" sz="2400" b="1" dirty="0">
                <a:solidFill>
                  <a:srgbClr val="1F6F6A"/>
                </a:solidFill>
                <a:latin typeface="Calibri" pitchFamily="34" charset="0"/>
                <a:ea typeface="Calibri" pitchFamily="34" charset="-122"/>
                <a:cs typeface="Calibri" pitchFamily="34" charset="-120"/>
              </a:rPr>
              <a:t>Answer:  </a:t>
            </a:r>
            <a:pPr algn="l" indent="0" marL="0">
              <a:buNone/>
            </a:pPr>
            <a:r>
              <a:rPr lang="en-US" sz="2400" dirty="0">
                <a:solidFill>
                  <a:srgbClr val="1E2229"/>
                </a:solidFill>
                <a:latin typeface="Calibri" pitchFamily="34" charset="0"/>
                <a:ea typeface="Calibri" pitchFamily="34" charset="-122"/>
                <a:cs typeface="Calibri" pitchFamily="34" charset="-120"/>
              </a:rPr>
              <a:t>________ m</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Gate</a:t>
            </a:r>
            <a:endParaRPr lang="en-US" sz="1800" dirty="0"/>
          </a:p>
        </p:txBody>
      </p:sp>
      <p:sp>
        <p:nvSpPr>
          <p:cNvPr id="7" name="card"/>
          <p:cNvSpPr/>
          <p:nvPr/>
        </p:nvSpPr>
        <p:spPr>
          <a:xfrm>
            <a:off x="548640" y="1389888"/>
            <a:ext cx="3515258" cy="4754880"/>
          </a:xfrm>
          <a:prstGeom prst="roundRect">
            <a:avLst>
              <a:gd name="adj" fmla="val 1561"/>
            </a:avLst>
          </a:prstGeom>
          <a:solidFill>
            <a:srgbClr val="E4EEED"/>
          </a:solidFill>
          <a:ln w="12700">
            <a:solidFill>
              <a:srgbClr val="A5C5C3"/>
            </a:solidFill>
            <a:prstDash val="solid"/>
          </a:ln>
        </p:spPr>
      </p:sp>
      <p:sp>
        <p:nvSpPr>
          <p:cNvPr id="8" name="card-hex"/>
          <p:cNvSpPr/>
          <p:nvPr/>
        </p:nvSpPr>
        <p:spPr>
          <a:xfrm>
            <a:off x="731520" y="1572768"/>
            <a:ext cx="640080" cy="554309"/>
          </a:xfrm>
          <a:prstGeom prst="hexagon">
            <a:avLst/>
          </a:prstGeom>
          <a:solidFill>
            <a:srgbClr val="1F6F6A"/>
          </a:solidFill>
          <a:ln/>
        </p:spPr>
      </p:sp>
      <p:sp>
        <p:nvSpPr>
          <p:cNvPr id="9" name="card-hex-label"/>
          <p:cNvSpPr txBox="1"/>
          <p:nvPr/>
        </p:nvSpPr>
        <p:spPr>
          <a:xfrm>
            <a:off x="731520"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card-label"/>
          <p:cNvSpPr txBox="1"/>
          <p:nvPr/>
        </p:nvSpPr>
        <p:spPr>
          <a:xfrm>
            <a:off x="1463040"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1" name="answer-chip"/>
          <p:cNvSpPr/>
          <p:nvPr/>
        </p:nvSpPr>
        <p:spPr>
          <a:xfrm>
            <a:off x="731520" y="2355677"/>
            <a:ext cx="3149498" cy="1295908"/>
          </a:xfrm>
          <a:prstGeom prst="roundRect">
            <a:avLst>
              <a:gd name="adj" fmla="val 8467"/>
            </a:avLst>
          </a:prstGeom>
          <a:solidFill>
            <a:srgbClr val="EADBBF"/>
          </a:solidFill>
          <a:ln w="19050">
            <a:solidFill>
              <a:srgbClr val="B8862B"/>
            </a:solidFill>
            <a:prstDash val="solid"/>
          </a:ln>
        </p:spPr>
      </p:sp>
      <p:sp>
        <p:nvSpPr>
          <p:cNvPr id="12" name="answer"/>
          <p:cNvSpPr txBox="1"/>
          <p:nvPr/>
        </p:nvSpPr>
        <p:spPr>
          <a:xfrm>
            <a:off x="822960" y="2428829"/>
            <a:ext cx="2966618" cy="1149604"/>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There are no particles to pass the vibration on.</a:t>
            </a:r>
            <a:endParaRPr lang="en-US" sz="2200" dirty="0"/>
          </a:p>
        </p:txBody>
      </p:sp>
      <p:sp>
        <p:nvSpPr>
          <p:cNvPr id="13" name="card-body"/>
          <p:cNvSpPr txBox="1"/>
          <p:nvPr/>
        </p:nvSpPr>
        <p:spPr>
          <a:xfrm>
            <a:off x="731520" y="3834465"/>
            <a:ext cx="3149498" cy="2173143"/>
          </a:xfrm>
          <a:prstGeom prst="rect">
            <a:avLst/>
          </a:prstGeom>
          <a:noFill/>
          <a:ln/>
        </p:spPr>
        <p:txBody>
          <a:bodyPr wrap="square" lIns="63500" tIns="63500" rIns="63500" bIns="63500" rtlCol="0" anchor="t"/>
          <a:lstStyle/>
          <a:p>
            <a:pPr algn="l" indent="0" marL="0">
              <a:spcAft>
                <a:spcPts val="1000"/>
              </a:spcAft>
              <a:buNone/>
            </a:pPr>
            <a:r>
              <a:rPr lang="en-US" sz="1800" dirty="0">
                <a:solidFill>
                  <a:srgbClr val="4A505C"/>
                </a:solidFill>
                <a:latin typeface="Calibri" pitchFamily="34" charset="0"/>
                <a:ea typeface="Calibri" pitchFamily="34" charset="-122"/>
                <a:cs typeface="Calibri" pitchFamily="34" charset="-120"/>
              </a:rPr>
              <a:t>Why can sound not travel through a vacuum?</a:t>
            </a:r>
            <a:endParaRPr lang="en-US" sz="1800" dirty="0"/>
          </a:p>
          <a:p>
            <a:pPr algn="l" indent="0" marL="0">
              <a:buNone/>
            </a:pPr>
            <a:r>
              <a:rPr lang="en-US" sz="1800" i="1" dirty="0">
                <a:solidFill>
                  <a:srgbClr val="1E2229"/>
                </a:solidFill>
                <a:latin typeface="Calibri" pitchFamily="34" charset="0"/>
                <a:ea typeface="Calibri" pitchFamily="34" charset="-122"/>
                <a:cs typeface="Calibri" pitchFamily="34" charset="-120"/>
              </a:rPr>
              <a:t>Sound is a mechanical wave: it is carried by particles passing the vibration on. A vacuum has no particles.</a:t>
            </a:r>
            <a:endParaRPr lang="en-US" sz="1800" dirty="0"/>
          </a:p>
        </p:txBody>
      </p:sp>
      <p:sp>
        <p:nvSpPr>
          <p:cNvPr id="14" name="card"/>
          <p:cNvSpPr/>
          <p:nvPr/>
        </p:nvSpPr>
        <p:spPr>
          <a:xfrm>
            <a:off x="4338218" y="1389888"/>
            <a:ext cx="3515258" cy="4754880"/>
          </a:xfrm>
          <a:prstGeom prst="roundRect">
            <a:avLst>
              <a:gd name="adj" fmla="val 1561"/>
            </a:avLst>
          </a:prstGeom>
          <a:solidFill>
            <a:srgbClr val="E4EEED"/>
          </a:solidFill>
          <a:ln w="12700">
            <a:solidFill>
              <a:srgbClr val="A5C5C3"/>
            </a:solidFill>
            <a:prstDash val="solid"/>
          </a:ln>
        </p:spPr>
      </p:sp>
      <p:sp>
        <p:nvSpPr>
          <p:cNvPr id="15" name="card-hex"/>
          <p:cNvSpPr/>
          <p:nvPr/>
        </p:nvSpPr>
        <p:spPr>
          <a:xfrm>
            <a:off x="4521098" y="1572768"/>
            <a:ext cx="640080" cy="554309"/>
          </a:xfrm>
          <a:prstGeom prst="hexagon">
            <a:avLst/>
          </a:prstGeom>
          <a:solidFill>
            <a:srgbClr val="1F6F6A"/>
          </a:solidFill>
          <a:ln/>
        </p:spPr>
      </p:sp>
      <p:sp>
        <p:nvSpPr>
          <p:cNvPr id="16" name="card-hex-label"/>
          <p:cNvSpPr txBox="1"/>
          <p:nvPr/>
        </p:nvSpPr>
        <p:spPr>
          <a:xfrm>
            <a:off x="4521098"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7" name="card-label"/>
          <p:cNvSpPr txBox="1"/>
          <p:nvPr/>
        </p:nvSpPr>
        <p:spPr>
          <a:xfrm>
            <a:off x="5252618"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18" name="answer-chip"/>
          <p:cNvSpPr/>
          <p:nvPr/>
        </p:nvSpPr>
        <p:spPr>
          <a:xfrm>
            <a:off x="4521098" y="2355677"/>
            <a:ext cx="3149498" cy="1977644"/>
          </a:xfrm>
          <a:prstGeom prst="roundRect">
            <a:avLst>
              <a:gd name="adj" fmla="val 5548"/>
            </a:avLst>
          </a:prstGeom>
          <a:solidFill>
            <a:srgbClr val="EADBBF"/>
          </a:solidFill>
          <a:ln w="19050">
            <a:solidFill>
              <a:srgbClr val="B8862B"/>
            </a:solidFill>
            <a:prstDash val="solid"/>
          </a:ln>
        </p:spPr>
      </p:sp>
      <p:sp>
        <p:nvSpPr>
          <p:cNvPr id="19" name="answer"/>
          <p:cNvSpPr txBox="1"/>
          <p:nvPr/>
        </p:nvSpPr>
        <p:spPr>
          <a:xfrm>
            <a:off x="4612538" y="2428829"/>
            <a:ext cx="2966618" cy="1831340"/>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A   Measure the distance across several waves on the screen and divide by the number of waves.</a:t>
            </a:r>
            <a:endParaRPr lang="en-US" sz="2200" dirty="0"/>
          </a:p>
        </p:txBody>
      </p:sp>
      <p:sp>
        <p:nvSpPr>
          <p:cNvPr id="20" name="card-body"/>
          <p:cNvSpPr txBox="1"/>
          <p:nvPr/>
        </p:nvSpPr>
        <p:spPr>
          <a:xfrm>
            <a:off x="4521098" y="4516201"/>
            <a:ext cx="3149498" cy="1491407"/>
          </a:xfrm>
          <a:prstGeom prst="rect">
            <a:avLst/>
          </a:prstGeom>
          <a:noFill/>
          <a:ln/>
        </p:spPr>
        <p:txBody>
          <a:bodyPr wrap="square" lIns="63500" tIns="63500" rIns="63500" bIns="63500" rtlCol="0" anchor="t"/>
          <a:lstStyle/>
          <a:p>
            <a:pPr algn="l" indent="0" marL="0">
              <a:buNone/>
            </a:pPr>
            <a:r>
              <a:rPr lang="en-US" sz="1800" i="1" dirty="0">
                <a:solidFill>
                  <a:srgbClr val="1E2229"/>
                </a:solidFill>
                <a:latin typeface="Calibri" pitchFamily="34" charset="0"/>
                <a:ea typeface="Calibri" pitchFamily="34" charset="-122"/>
                <a:cs typeface="Calibri" pitchFamily="34" charset="-120"/>
              </a:rPr>
              <a:t>Measuring across many waves on the screen (or a photograph of it) and dividing is accurate and does not disturb the…</a:t>
            </a:r>
            <a:endParaRPr lang="en-US" sz="1800" dirty="0"/>
          </a:p>
        </p:txBody>
      </p:sp>
      <p:sp>
        <p:nvSpPr>
          <p:cNvPr id="21" name="card"/>
          <p:cNvSpPr/>
          <p:nvPr/>
        </p:nvSpPr>
        <p:spPr>
          <a:xfrm>
            <a:off x="8127797" y="1389888"/>
            <a:ext cx="3515258" cy="4754880"/>
          </a:xfrm>
          <a:prstGeom prst="roundRect">
            <a:avLst>
              <a:gd name="adj" fmla="val 1561"/>
            </a:avLst>
          </a:prstGeom>
          <a:solidFill>
            <a:srgbClr val="E4EEED"/>
          </a:solidFill>
          <a:ln w="12700">
            <a:solidFill>
              <a:srgbClr val="A5C5C3"/>
            </a:solidFill>
            <a:prstDash val="solid"/>
          </a:ln>
        </p:spPr>
      </p:sp>
      <p:sp>
        <p:nvSpPr>
          <p:cNvPr id="22" name="card-hex"/>
          <p:cNvSpPr/>
          <p:nvPr/>
        </p:nvSpPr>
        <p:spPr>
          <a:xfrm>
            <a:off x="8310677" y="1572768"/>
            <a:ext cx="640080" cy="554309"/>
          </a:xfrm>
          <a:prstGeom prst="hexagon">
            <a:avLst/>
          </a:prstGeom>
          <a:solidFill>
            <a:srgbClr val="1F6F6A"/>
          </a:solidFill>
          <a:ln/>
        </p:spPr>
      </p:sp>
      <p:sp>
        <p:nvSpPr>
          <p:cNvPr id="23" name="card-hex-label"/>
          <p:cNvSpPr txBox="1"/>
          <p:nvPr/>
        </p:nvSpPr>
        <p:spPr>
          <a:xfrm>
            <a:off x="8310677" y="1572768"/>
            <a:ext cx="640080" cy="554309"/>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4" name="card-label"/>
          <p:cNvSpPr txBox="1"/>
          <p:nvPr/>
        </p:nvSpPr>
        <p:spPr>
          <a:xfrm>
            <a:off x="9042197" y="1572768"/>
            <a:ext cx="2509418" cy="566928"/>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Answer</a:t>
            </a:r>
            <a:endParaRPr lang="en-US" sz="1800" dirty="0"/>
          </a:p>
        </p:txBody>
      </p:sp>
      <p:sp>
        <p:nvSpPr>
          <p:cNvPr id="25" name="answer-chip"/>
          <p:cNvSpPr/>
          <p:nvPr/>
        </p:nvSpPr>
        <p:spPr>
          <a:xfrm>
            <a:off x="8310677" y="2355677"/>
            <a:ext cx="3149498" cy="614172"/>
          </a:xfrm>
          <a:prstGeom prst="roundRect">
            <a:avLst>
              <a:gd name="adj" fmla="val 17866"/>
            </a:avLst>
          </a:prstGeom>
          <a:solidFill>
            <a:srgbClr val="EADBBF"/>
          </a:solidFill>
          <a:ln w="19050">
            <a:solidFill>
              <a:srgbClr val="B8862B"/>
            </a:solidFill>
            <a:prstDash val="solid"/>
          </a:ln>
        </p:spPr>
      </p:sp>
      <p:sp>
        <p:nvSpPr>
          <p:cNvPr id="26" name="answer"/>
          <p:cNvSpPr txBox="1"/>
          <p:nvPr/>
        </p:nvSpPr>
        <p:spPr>
          <a:xfrm>
            <a:off x="8402117" y="2428829"/>
            <a:ext cx="2966618" cy="467868"/>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0.6 m</a:t>
            </a:r>
            <a:endParaRPr lang="en-US" sz="2200" dirty="0"/>
          </a:p>
        </p:txBody>
      </p:sp>
      <p:sp>
        <p:nvSpPr>
          <p:cNvPr id="27" name="card-body"/>
          <p:cNvSpPr txBox="1"/>
          <p:nvPr/>
        </p:nvSpPr>
        <p:spPr>
          <a:xfrm>
            <a:off x="8310677" y="3152729"/>
            <a:ext cx="3149498" cy="2854879"/>
          </a:xfrm>
          <a:prstGeom prst="rect">
            <a:avLst/>
          </a:prstGeom>
          <a:noFill/>
          <a:ln/>
        </p:spPr>
        <p:txBody>
          <a:bodyPr wrap="square" lIns="63500" tIns="63500" rIns="63500" bIns="63500" rtlCol="0" anchor="t"/>
          <a:lstStyle/>
          <a:p>
            <a:pPr algn="l" indent="0" marL="0">
              <a:spcAft>
                <a:spcPts val="1000"/>
              </a:spcAft>
              <a:buNone/>
            </a:pPr>
            <a:r>
              <a:rPr lang="en-US" sz="2000" dirty="0">
                <a:solidFill>
                  <a:srgbClr val="4A505C"/>
                </a:solidFill>
                <a:latin typeface="Calibri" pitchFamily="34" charset="0"/>
                <a:ea typeface="Calibri" pitchFamily="34" charset="-122"/>
                <a:cs typeface="Calibri" pitchFamily="34" charset="-120"/>
              </a:rPr>
              <a:t>A vibrating string forms 3 loops across a length of 0.9 m. Calculate the wavelength in metres.</a:t>
            </a:r>
            <a:endParaRPr lang="en-US" sz="2000" dirty="0"/>
          </a:p>
          <a:p>
            <a:pPr algn="l" indent="0" marL="0">
              <a:buNone/>
            </a:pPr>
            <a:r>
              <a:rPr lang="en-US" sz="2000" i="1" dirty="0">
                <a:solidFill>
                  <a:srgbClr val="1E2229"/>
                </a:solidFill>
                <a:latin typeface="Calibri" pitchFamily="34" charset="0"/>
                <a:ea typeface="Calibri" pitchFamily="34" charset="-122"/>
                <a:cs typeface="Calibri" pitchFamily="34" charset="-120"/>
              </a:rPr>
              <a:t>Loop length = 0.9 ÷ 3 = 0.3 m; each loop is half a wavelength, so λ = 2 × 0.3 = 0.6 m (exact).</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Key words</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kw-head"/>
          <p:cNvSpPr/>
          <p:nvPr/>
        </p:nvSpPr>
        <p:spPr>
          <a:xfrm>
            <a:off x="548640" y="1389888"/>
            <a:ext cx="11094415" cy="457200"/>
          </a:xfrm>
          <a:prstGeom prst="roundRect">
            <a:avLst>
              <a:gd name="adj" fmla="val 16000"/>
            </a:avLst>
          </a:prstGeom>
          <a:solidFill>
            <a:srgbClr val="1F6F6A"/>
          </a:solidFill>
          <a:ln/>
        </p:spPr>
      </p:sp>
      <p:sp>
        <p:nvSpPr>
          <p:cNvPr id="8" name="kw-headtext"/>
          <p:cNvSpPr txBox="1"/>
          <p:nvPr/>
        </p:nvSpPr>
        <p:spPr>
          <a:xfrm>
            <a:off x="1143000" y="1389888"/>
            <a:ext cx="2331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Word</a:t>
            </a:r>
            <a:endParaRPr lang="en-US" sz="1800" dirty="0"/>
          </a:p>
        </p:txBody>
      </p:sp>
      <p:sp>
        <p:nvSpPr>
          <p:cNvPr id="9" name="kw-headtext"/>
          <p:cNvSpPr txBox="1"/>
          <p:nvPr/>
        </p:nvSpPr>
        <p:spPr>
          <a:xfrm>
            <a:off x="3657600" y="1389888"/>
            <a:ext cx="3474720"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What it means</a:t>
            </a:r>
            <a:endParaRPr lang="en-US" sz="1800" dirty="0"/>
          </a:p>
        </p:txBody>
      </p:sp>
      <p:sp>
        <p:nvSpPr>
          <p:cNvPr id="10" name="kw-headtext"/>
          <p:cNvSpPr txBox="1"/>
          <p:nvPr/>
        </p:nvSpPr>
        <p:spPr>
          <a:xfrm>
            <a:off x="7315200" y="1389888"/>
            <a:ext cx="4236415" cy="457200"/>
          </a:xfrm>
          <a:prstGeom prst="rect">
            <a:avLst/>
          </a:prstGeom>
          <a:no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In a sentence</a:t>
            </a:r>
            <a:endParaRPr lang="en-US" sz="1800" dirty="0"/>
          </a:p>
        </p:txBody>
      </p:sp>
      <p:sp>
        <p:nvSpPr>
          <p:cNvPr id="11" name="kw-row"/>
          <p:cNvSpPr/>
          <p:nvPr/>
        </p:nvSpPr>
        <p:spPr>
          <a:xfrm>
            <a:off x="548640" y="1920240"/>
            <a:ext cx="11094415" cy="765861"/>
          </a:xfrm>
          <a:prstGeom prst="roundRect">
            <a:avLst>
              <a:gd name="adj" fmla="val 7164"/>
            </a:avLst>
          </a:prstGeom>
          <a:solidFill>
            <a:srgbClr val="E2ECEC"/>
          </a:solidFill>
          <a:ln/>
        </p:spPr>
      </p:sp>
      <p:sp>
        <p:nvSpPr>
          <p:cNvPr id="12" name="kw-hex"/>
          <p:cNvSpPr/>
          <p:nvPr/>
        </p:nvSpPr>
        <p:spPr>
          <a:xfrm>
            <a:off x="658368" y="2125000"/>
            <a:ext cx="411480" cy="356342"/>
          </a:xfrm>
          <a:prstGeom prst="hexagon">
            <a:avLst/>
          </a:prstGeom>
          <a:solidFill>
            <a:srgbClr val="1F6F6A"/>
          </a:solidFill>
          <a:ln/>
        </p:spPr>
      </p:sp>
      <p:sp>
        <p:nvSpPr>
          <p:cNvPr id="13" name="kw-cell"/>
          <p:cNvSpPr txBox="1"/>
          <p:nvPr/>
        </p:nvSpPr>
        <p:spPr>
          <a:xfrm>
            <a:off x="1143000" y="1920240"/>
            <a:ext cx="2331720" cy="76586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ripple tank</a:t>
            </a:r>
            <a:endParaRPr lang="en-US" sz="2000" dirty="0"/>
          </a:p>
        </p:txBody>
      </p:sp>
      <p:sp>
        <p:nvSpPr>
          <p:cNvPr id="14" name="kw-cell"/>
          <p:cNvSpPr txBox="1"/>
          <p:nvPr/>
        </p:nvSpPr>
        <p:spPr>
          <a:xfrm>
            <a:off x="3657600" y="1920240"/>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shallow tray of water used to study waves</a:t>
            </a:r>
            <a:endParaRPr lang="en-US" sz="1800" dirty="0"/>
          </a:p>
        </p:txBody>
      </p:sp>
      <p:sp>
        <p:nvSpPr>
          <p:cNvPr id="15" name="kw-cell"/>
          <p:cNvSpPr txBox="1"/>
          <p:nvPr/>
        </p:nvSpPr>
        <p:spPr>
          <a:xfrm>
            <a:off x="7315200" y="1920240"/>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We watched the ripples cross the ripple tank.</a:t>
            </a:r>
            <a:endParaRPr lang="en-US" sz="1800" dirty="0"/>
          </a:p>
        </p:txBody>
      </p:sp>
      <p:sp>
        <p:nvSpPr>
          <p:cNvPr id="16" name="kw-row"/>
          <p:cNvSpPr/>
          <p:nvPr/>
        </p:nvSpPr>
        <p:spPr>
          <a:xfrm>
            <a:off x="548640" y="2759253"/>
            <a:ext cx="11094415" cy="765861"/>
          </a:xfrm>
          <a:prstGeom prst="roundRect">
            <a:avLst>
              <a:gd name="adj" fmla="val 7164"/>
            </a:avLst>
          </a:prstGeom>
          <a:solidFill>
            <a:srgbClr val="F3EADB"/>
          </a:solidFill>
          <a:ln/>
        </p:spPr>
      </p:sp>
      <p:sp>
        <p:nvSpPr>
          <p:cNvPr id="17" name="kw-hex"/>
          <p:cNvSpPr/>
          <p:nvPr/>
        </p:nvSpPr>
        <p:spPr>
          <a:xfrm>
            <a:off x="658368" y="2964012"/>
            <a:ext cx="411480" cy="356342"/>
          </a:xfrm>
          <a:prstGeom prst="hexagon">
            <a:avLst/>
          </a:prstGeom>
          <a:solidFill>
            <a:srgbClr val="B8862B"/>
          </a:solidFill>
          <a:ln/>
        </p:spPr>
      </p:sp>
      <p:sp>
        <p:nvSpPr>
          <p:cNvPr id="18" name="kw-cell"/>
          <p:cNvSpPr txBox="1"/>
          <p:nvPr/>
        </p:nvSpPr>
        <p:spPr>
          <a:xfrm>
            <a:off x="1143000" y="2759253"/>
            <a:ext cx="2331720" cy="76586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dipper</a:t>
            </a:r>
            <a:endParaRPr lang="en-US" sz="2000" dirty="0"/>
          </a:p>
        </p:txBody>
      </p:sp>
      <p:sp>
        <p:nvSpPr>
          <p:cNvPr id="19" name="kw-cell"/>
          <p:cNvSpPr txBox="1"/>
          <p:nvPr/>
        </p:nvSpPr>
        <p:spPr>
          <a:xfrm>
            <a:off x="3657600" y="2759253"/>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the bar or ball that bobs in the water to make ripples</a:t>
            </a:r>
            <a:endParaRPr lang="en-US" sz="1800" dirty="0"/>
          </a:p>
        </p:txBody>
      </p:sp>
      <p:sp>
        <p:nvSpPr>
          <p:cNvPr id="20" name="kw-cell"/>
          <p:cNvSpPr txBox="1"/>
          <p:nvPr/>
        </p:nvSpPr>
        <p:spPr>
          <a:xfrm>
            <a:off x="7315200" y="2759253"/>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motor made the dipper bob up and down.</a:t>
            </a:r>
            <a:endParaRPr lang="en-US" sz="1800" dirty="0"/>
          </a:p>
        </p:txBody>
      </p:sp>
      <p:sp>
        <p:nvSpPr>
          <p:cNvPr id="21" name="kw-row"/>
          <p:cNvSpPr/>
          <p:nvPr/>
        </p:nvSpPr>
        <p:spPr>
          <a:xfrm>
            <a:off x="548640" y="3598266"/>
            <a:ext cx="11094415" cy="868477"/>
          </a:xfrm>
          <a:prstGeom prst="roundRect">
            <a:avLst>
              <a:gd name="adj" fmla="val 6317"/>
            </a:avLst>
          </a:prstGeom>
          <a:solidFill>
            <a:srgbClr val="E2ECEC"/>
          </a:solidFill>
          <a:ln/>
        </p:spPr>
      </p:sp>
      <p:sp>
        <p:nvSpPr>
          <p:cNvPr id="22" name="kw-hex"/>
          <p:cNvSpPr/>
          <p:nvPr/>
        </p:nvSpPr>
        <p:spPr>
          <a:xfrm>
            <a:off x="658368" y="3854333"/>
            <a:ext cx="411480" cy="356342"/>
          </a:xfrm>
          <a:prstGeom prst="hexagon">
            <a:avLst/>
          </a:prstGeom>
          <a:solidFill>
            <a:srgbClr val="1F6F6A"/>
          </a:solidFill>
          <a:ln/>
        </p:spPr>
      </p:sp>
      <p:sp>
        <p:nvSpPr>
          <p:cNvPr id="23" name="kw-cell"/>
          <p:cNvSpPr txBox="1"/>
          <p:nvPr/>
        </p:nvSpPr>
        <p:spPr>
          <a:xfrm>
            <a:off x="1143000" y="3598266"/>
            <a:ext cx="2331720" cy="868477"/>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vibration generator</a:t>
            </a:r>
            <a:endParaRPr lang="en-US" sz="2000" dirty="0"/>
          </a:p>
        </p:txBody>
      </p:sp>
      <p:sp>
        <p:nvSpPr>
          <p:cNvPr id="24" name="kw-cell"/>
          <p:cNvSpPr txBox="1"/>
          <p:nvPr/>
        </p:nvSpPr>
        <p:spPr>
          <a:xfrm>
            <a:off x="3657600" y="3598266"/>
            <a:ext cx="3474720" cy="86847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machine that shakes a string up and down at a set frequency</a:t>
            </a:r>
            <a:endParaRPr lang="en-US" sz="1800" dirty="0"/>
          </a:p>
        </p:txBody>
      </p:sp>
      <p:sp>
        <p:nvSpPr>
          <p:cNvPr id="25" name="kw-cell"/>
          <p:cNvSpPr txBox="1"/>
          <p:nvPr/>
        </p:nvSpPr>
        <p:spPr>
          <a:xfrm>
            <a:off x="7315200" y="3598266"/>
            <a:ext cx="4236415" cy="868477"/>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The vibration generator made the string form three loops.</a:t>
            </a:r>
            <a:endParaRPr lang="en-US" sz="1800" dirty="0"/>
          </a:p>
        </p:txBody>
      </p:sp>
      <p:sp>
        <p:nvSpPr>
          <p:cNvPr id="26" name="kw-row"/>
          <p:cNvSpPr/>
          <p:nvPr/>
        </p:nvSpPr>
        <p:spPr>
          <a:xfrm>
            <a:off x="548640" y="4539894"/>
            <a:ext cx="11094415" cy="765861"/>
          </a:xfrm>
          <a:prstGeom prst="roundRect">
            <a:avLst>
              <a:gd name="adj" fmla="val 7164"/>
            </a:avLst>
          </a:prstGeom>
          <a:solidFill>
            <a:srgbClr val="F3EADB"/>
          </a:solidFill>
          <a:ln/>
        </p:spPr>
      </p:sp>
      <p:sp>
        <p:nvSpPr>
          <p:cNvPr id="27" name="kw-hex"/>
          <p:cNvSpPr/>
          <p:nvPr/>
        </p:nvSpPr>
        <p:spPr>
          <a:xfrm>
            <a:off x="658368" y="4744654"/>
            <a:ext cx="411480" cy="356342"/>
          </a:xfrm>
          <a:prstGeom prst="hexagon">
            <a:avLst/>
          </a:prstGeom>
          <a:solidFill>
            <a:srgbClr val="B8862B"/>
          </a:solidFill>
          <a:ln/>
        </p:spPr>
      </p:sp>
      <p:sp>
        <p:nvSpPr>
          <p:cNvPr id="28" name="kw-cell"/>
          <p:cNvSpPr txBox="1"/>
          <p:nvPr/>
        </p:nvSpPr>
        <p:spPr>
          <a:xfrm>
            <a:off x="1143000" y="4539894"/>
            <a:ext cx="2331720" cy="76586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echo</a:t>
            </a:r>
            <a:endParaRPr lang="en-US" sz="2000" dirty="0"/>
          </a:p>
        </p:txBody>
      </p:sp>
      <p:sp>
        <p:nvSpPr>
          <p:cNvPr id="29" name="kw-cell"/>
          <p:cNvSpPr txBox="1"/>
          <p:nvPr/>
        </p:nvSpPr>
        <p:spPr>
          <a:xfrm>
            <a:off x="3657600" y="4539894"/>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a reflected sound that you hear after the original sound</a:t>
            </a:r>
            <a:endParaRPr lang="en-US" sz="1800" dirty="0"/>
          </a:p>
        </p:txBody>
      </p:sp>
      <p:sp>
        <p:nvSpPr>
          <p:cNvPr id="30" name="kw-cell"/>
          <p:cNvSpPr txBox="1"/>
          <p:nvPr/>
        </p:nvSpPr>
        <p:spPr>
          <a:xfrm>
            <a:off x="7315200" y="4539894"/>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We heard the echo of the clap come back from the wall.</a:t>
            </a:r>
            <a:endParaRPr lang="en-US" sz="1800" dirty="0"/>
          </a:p>
        </p:txBody>
      </p:sp>
      <p:sp>
        <p:nvSpPr>
          <p:cNvPr id="31" name="kw-row"/>
          <p:cNvSpPr/>
          <p:nvPr/>
        </p:nvSpPr>
        <p:spPr>
          <a:xfrm>
            <a:off x="548640" y="5378907"/>
            <a:ext cx="11094415" cy="765861"/>
          </a:xfrm>
          <a:prstGeom prst="roundRect">
            <a:avLst>
              <a:gd name="adj" fmla="val 7164"/>
            </a:avLst>
          </a:prstGeom>
          <a:solidFill>
            <a:srgbClr val="E2ECEC"/>
          </a:solidFill>
          <a:ln/>
        </p:spPr>
      </p:sp>
      <p:sp>
        <p:nvSpPr>
          <p:cNvPr id="32" name="kw-hex"/>
          <p:cNvSpPr/>
          <p:nvPr/>
        </p:nvSpPr>
        <p:spPr>
          <a:xfrm>
            <a:off x="658368" y="5583667"/>
            <a:ext cx="411480" cy="356342"/>
          </a:xfrm>
          <a:prstGeom prst="hexagon">
            <a:avLst/>
          </a:prstGeom>
          <a:solidFill>
            <a:srgbClr val="1F6F6A"/>
          </a:solidFill>
          <a:ln/>
        </p:spPr>
      </p:sp>
      <p:sp>
        <p:nvSpPr>
          <p:cNvPr id="33" name="kw-cell"/>
          <p:cNvSpPr txBox="1"/>
          <p:nvPr/>
        </p:nvSpPr>
        <p:spPr>
          <a:xfrm>
            <a:off x="1143000" y="5378907"/>
            <a:ext cx="2331720" cy="765861"/>
          </a:xfrm>
          <a:prstGeom prst="rect">
            <a:avLst/>
          </a:prstGeom>
          <a:noFill/>
          <a:ln/>
        </p:spPr>
        <p:txBody>
          <a:bodyPr wrap="square" lIns="63500" tIns="63500" rIns="63500" bIns="63500" rtlCol="0" anchor="ctr"/>
          <a:lstStyle/>
          <a:p>
            <a:pPr algn="l" indent="0" marL="0">
              <a:buNone/>
            </a:pPr>
            <a:r>
              <a:rPr lang="en-US" sz="2000" b="1" dirty="0">
                <a:solidFill>
                  <a:srgbClr val="1F6F6A"/>
                </a:solidFill>
                <a:latin typeface="Cambria" pitchFamily="34" charset="0"/>
                <a:ea typeface="Cambria" pitchFamily="34" charset="-122"/>
                <a:cs typeface="Cambria" pitchFamily="34" charset="-120"/>
              </a:rPr>
              <a:t>loop</a:t>
            </a:r>
            <a:endParaRPr lang="en-US" sz="2000" dirty="0"/>
          </a:p>
        </p:txBody>
      </p:sp>
      <p:sp>
        <p:nvSpPr>
          <p:cNvPr id="34" name="kw-cell"/>
          <p:cNvSpPr txBox="1"/>
          <p:nvPr/>
        </p:nvSpPr>
        <p:spPr>
          <a:xfrm>
            <a:off x="3657600" y="5378907"/>
            <a:ext cx="3474720" cy="76586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one section of a vibrating string between two still points</a:t>
            </a:r>
            <a:endParaRPr lang="en-US" sz="1800" dirty="0"/>
          </a:p>
        </p:txBody>
      </p:sp>
      <p:sp>
        <p:nvSpPr>
          <p:cNvPr id="35" name="kw-cell"/>
          <p:cNvSpPr txBox="1"/>
          <p:nvPr/>
        </p:nvSpPr>
        <p:spPr>
          <a:xfrm>
            <a:off x="7315200" y="5378907"/>
            <a:ext cx="4236415" cy="765861"/>
          </a:xfrm>
          <a:prstGeom prst="rect">
            <a:avLst/>
          </a:prstGeom>
          <a:noFill/>
          <a:ln/>
        </p:spPr>
        <p:txBody>
          <a:bodyPr wrap="square" lIns="63500" tIns="63500" rIns="63500" bIns="63500" rtlCol="0" anchor="ctr"/>
          <a:lstStyle/>
          <a:p>
            <a:pPr algn="l" indent="0" marL="0">
              <a:buNone/>
            </a:pPr>
            <a:r>
              <a:rPr lang="en-US" sz="1800" i="1" dirty="0">
                <a:solidFill>
                  <a:srgbClr val="4A505C"/>
                </a:solidFill>
                <a:latin typeface="Calibri" pitchFamily="34" charset="0"/>
                <a:ea typeface="Calibri" pitchFamily="34" charset="-122"/>
                <a:cs typeface="Calibri" pitchFamily="34" charset="-120"/>
              </a:rPr>
              <a:t>Each loop on the string was half a wavelength long.</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(1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Sound is made when something vibrates.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loudspeaker cone moves back and forth and pushes the air.</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push travels through the air as a longitudinal wave.</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4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When it reaches your ear, your eardrum vibrates.</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5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Sound cannot travel through empty space, because there are no particles to pass it on.</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6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In the lab we study waves in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ripple tank</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7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dipper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bobs up and down and makes ripples in shallow water.</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Read-along (2 of 2)</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Pre-teach</a:t>
            </a:r>
            <a:endParaRPr lang="en-US" sz="1800" dirty="0"/>
          </a:p>
        </p:txBody>
      </p:sp>
      <p:sp>
        <p:nvSpPr>
          <p:cNvPr id="7" name="ra-side"/>
          <p:cNvSpPr/>
          <p:nvPr/>
        </p:nvSpPr>
        <p:spPr>
          <a:xfrm>
            <a:off x="548640" y="1389888"/>
            <a:ext cx="1874520" cy="4754880"/>
          </a:xfrm>
          <a:prstGeom prst="roundRect">
            <a:avLst>
              <a:gd name="adj" fmla="val 3902"/>
            </a:avLst>
          </a:prstGeom>
          <a:solidFill>
            <a:srgbClr val="1F6F6A"/>
          </a:solidFill>
          <a:ln/>
        </p:spPr>
      </p:sp>
      <p:sp>
        <p:nvSpPr>
          <p:cNvPr id="8" name="ra-hex"/>
          <p:cNvSpPr/>
          <p:nvPr/>
        </p:nvSpPr>
        <p:spPr>
          <a:xfrm>
            <a:off x="914400" y="1709928"/>
            <a:ext cx="1143000" cy="989838"/>
          </a:xfrm>
          <a:prstGeom prst="hexagon">
            <a:avLst/>
          </a:prstGeom>
          <a:solidFill>
            <a:srgbClr val="B8862B"/>
          </a:solidFill>
          <a:ln/>
        </p:spPr>
      </p:sp>
      <p:sp>
        <p:nvSpPr>
          <p:cNvPr id="9" name="ra-hex-label"/>
          <p:cNvSpPr txBox="1"/>
          <p:nvPr/>
        </p:nvSpPr>
        <p:spPr>
          <a:xfrm>
            <a:off x="914400" y="1709928"/>
            <a:ext cx="1143000" cy="989838"/>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Read</a:t>
            </a:r>
            <a:endParaRPr lang="en-US" sz="2400" dirty="0"/>
          </a:p>
        </p:txBody>
      </p:sp>
      <p:sp>
        <p:nvSpPr>
          <p:cNvPr id="10" name="ra-note"/>
          <p:cNvSpPr txBox="1"/>
          <p:nvPr/>
        </p:nvSpPr>
        <p:spPr>
          <a:xfrm>
            <a:off x="640080" y="2898648"/>
            <a:ext cx="1691640" cy="2194560"/>
          </a:xfrm>
          <a:prstGeom prst="rect">
            <a:avLst/>
          </a:prstGeom>
          <a:noFill/>
          <a:ln/>
        </p:spPr>
        <p:txBody>
          <a:bodyPr wrap="square" lIns="63500" tIns="63500" rIns="63500" bIns="63500" rtlCol="0" anchor="t"/>
          <a:lstStyle/>
          <a:p>
            <a:pPr algn="ctr" indent="0" marL="0">
              <a:spcAft>
                <a:spcPts val="800"/>
              </a:spcAft>
              <a:buNone/>
            </a:pPr>
            <a:r>
              <a:rPr lang="en-US" sz="1800" b="1" dirty="0">
                <a:solidFill>
                  <a:srgbClr val="FFFFFF"/>
                </a:solidFill>
                <a:latin typeface="Calibri" pitchFamily="34" charset="0"/>
                <a:ea typeface="Calibri" pitchFamily="34" charset="-122"/>
                <a:cs typeface="Calibri" pitchFamily="34" charset="-120"/>
              </a:rPr>
              <a:t>Read together;</a:t>
            </a:r>
            <a:endParaRPr lang="en-US" sz="1800" dirty="0"/>
          </a:p>
          <a:p>
            <a:pPr algn="ctr" indent="0" marL="0">
              <a:buNone/>
            </a:pPr>
            <a:r>
              <a:rPr lang="en-US" sz="1800" dirty="0">
                <a:solidFill>
                  <a:srgbClr val="FFFFFF"/>
                </a:solidFill>
                <a:latin typeface="Calibri" pitchFamily="34" charset="0"/>
                <a:ea typeface="Calibri" pitchFamily="34" charset="-122"/>
                <a:cs typeface="Calibri" pitchFamily="34" charset="-120"/>
              </a:rPr>
              <a:t>pupils who were pre-taught lead</a:t>
            </a:r>
            <a:endParaRPr lang="en-US" sz="1800" dirty="0"/>
          </a:p>
        </p:txBody>
      </p:sp>
      <p:sp>
        <p:nvSpPr>
          <p:cNvPr id="11" name="ra-panel"/>
          <p:cNvSpPr/>
          <p:nvPr/>
        </p:nvSpPr>
        <p:spPr>
          <a:xfrm>
            <a:off x="2697480" y="1389888"/>
            <a:ext cx="8945575" cy="4754880"/>
          </a:xfrm>
          <a:prstGeom prst="roundRect">
            <a:avLst>
              <a:gd name="adj" fmla="val 769"/>
            </a:avLst>
          </a:prstGeom>
          <a:solidFill>
            <a:srgbClr val="E4EEED"/>
          </a:solidFill>
          <a:ln w="12700">
            <a:solidFill>
              <a:srgbClr val="B1CDCB"/>
            </a:solidFill>
            <a:prstDash val="solid"/>
          </a:ln>
        </p:spPr>
      </p:sp>
      <p:sp>
        <p:nvSpPr>
          <p:cNvPr id="12" name="passage"/>
          <p:cNvSpPr txBox="1"/>
          <p:nvPr/>
        </p:nvSpPr>
        <p:spPr>
          <a:xfrm>
            <a:off x="2880360" y="1527048"/>
            <a:ext cx="8579815" cy="4480560"/>
          </a:xfrm>
          <a:prstGeom prst="rect">
            <a:avLst/>
          </a:prstGeom>
          <a:noFill/>
          <a:ln/>
        </p:spPr>
        <p:txBody>
          <a:bodyPr wrap="square" lIns="63500" tIns="63500" rIns="63500" bIns="63500" rtlCol="0" anchor="t"/>
          <a:lstStyle/>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8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 lamp above the tank casts a shadow of the ripples on a screen below.</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9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count the waves to find the frequency.</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10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measure across several waves on the screen to find the wavelength.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11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We can also shake a string with a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vibration generator</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12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 string forms still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loops</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and each </a:t>
            </a:r>
            <a:pPr algn="l" indent="0" marL="0">
              <a:spcAft>
                <a:spcPts val="600"/>
              </a:spcAft>
              <a:buNone/>
            </a:pPr>
            <a:r>
              <a:rPr lang="en-US" sz="2400" b="1" dirty="0">
                <a:solidFill>
                  <a:srgbClr val="1F6F6A"/>
                </a:solidFill>
                <a:latin typeface="Calibri" pitchFamily="34" charset="0"/>
                <a:ea typeface="Calibri" pitchFamily="34" charset="-122"/>
                <a:cs typeface="Calibri" pitchFamily="34" charset="-120"/>
              </a:rPr>
              <a:t>loop</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 is half a wavelength.</a:t>
            </a:r>
            <a:endParaRPr lang="en-US" sz="2400" dirty="0"/>
          </a:p>
          <a:p>
            <a:pPr algn="l" indent="0" marL="0">
              <a:spcAft>
                <a:spcPts val="600"/>
              </a:spcAft>
              <a:buNone/>
            </a:pPr>
            <a:r>
              <a:rPr lang="en-US" sz="2400" b="1" dirty="0">
                <a:solidFill>
                  <a:srgbClr val="B8862B"/>
                </a:solidFill>
                <a:latin typeface="Calibri" pitchFamily="34" charset="0"/>
                <a:ea typeface="Calibri" pitchFamily="34" charset="-122"/>
                <a:cs typeface="Calibri" pitchFamily="34" charset="-120"/>
              </a:rPr>
              <a:t>13  </a:t>
            </a:r>
            <a:pPr algn="l" indent="0" marL="0">
              <a:spcAft>
                <a:spcPts val="600"/>
              </a:spcAft>
              <a:buNone/>
            </a:pPr>
            <a:r>
              <a:rPr lang="en-US" sz="2400" dirty="0">
                <a:solidFill>
                  <a:srgbClr val="1E2229"/>
                </a:solidFill>
                <a:latin typeface="Calibri" pitchFamily="34" charset="0"/>
                <a:ea typeface="Calibri" pitchFamily="34" charset="-122"/>
                <a:cs typeface="Calibri" pitchFamily="34" charset="-120"/>
              </a:rPr>
              <a:t>Then wave speed = frequency × wavelength.</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Sound is a longitudinal wave (speed in solids: Physics only)</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Sound needs particles. No particles, no sound.</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A loudspeaker cone moves forwards and squashes the air in front of it, making a compression; then it moves back and leaves the air spread out, making a rarefaction.</a:t>
            </a:r>
            <a:endParaRPr lang="en-US" sz="20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Sound is a mechanical wave, so it needs a medium.</a:t>
            </a:r>
            <a:endParaRPr lang="en-US" sz="20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000" dirty="0">
                <a:solidFill>
                  <a:srgbClr val="1E2229"/>
                </a:solidFill>
                <a:latin typeface="Calibri" pitchFamily="34" charset="0"/>
                <a:ea typeface="Calibri" pitchFamily="34" charset="-122"/>
                <a:cs typeface="Calibri" pitchFamily="34" charset="-120"/>
              </a:rPr>
              <a:t>For the separate Physics GCSE only: sound also travels through liquids and solids, and faster in them than in air, because the particles are closer together and pass the vibration on more quickly.</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Required practical: waves in a ripple tank</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629148"/>
            <a:ext cx="11094415" cy="515620"/>
          </a:xfrm>
          <a:prstGeom prst="roundRect">
            <a:avLst>
              <a:gd name="adj" fmla="val 26601"/>
            </a:avLst>
          </a:prstGeom>
          <a:solidFill>
            <a:srgbClr val="F1E7D5"/>
          </a:solidFill>
          <a:ln w="15875">
            <a:solidFill>
              <a:srgbClr val="B8862B"/>
            </a:solidFill>
            <a:prstDash val="solid"/>
          </a:ln>
        </p:spPr>
      </p:sp>
      <p:sp>
        <p:nvSpPr>
          <p:cNvPr id="8" name="tip-hex"/>
          <p:cNvSpPr/>
          <p:nvPr/>
        </p:nvSpPr>
        <p:spPr>
          <a:xfrm>
            <a:off x="685800" y="5688990"/>
            <a:ext cx="457200" cy="395935"/>
          </a:xfrm>
          <a:prstGeom prst="hexagon">
            <a:avLst/>
          </a:prstGeom>
          <a:solidFill>
            <a:srgbClr val="B8862B"/>
          </a:solidFill>
          <a:ln/>
        </p:spPr>
      </p:sp>
      <p:sp>
        <p:nvSpPr>
          <p:cNvPr id="9" name="tip-hex-label"/>
          <p:cNvSpPr txBox="1"/>
          <p:nvPr/>
        </p:nvSpPr>
        <p:spPr>
          <a:xfrm>
            <a:off x="685800" y="5688990"/>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684012"/>
            <a:ext cx="10225735" cy="405892"/>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Measure across ten waves and divide by ten. Change cm to m before you use v = f λ.</a:t>
            </a:r>
            <a:endParaRPr lang="en-US" sz="1800" dirty="0"/>
          </a:p>
        </p:txBody>
      </p:sp>
      <p:sp>
        <p:nvSpPr>
          <p:cNvPr id="11" name="point-card"/>
          <p:cNvSpPr/>
          <p:nvPr/>
        </p:nvSpPr>
        <p:spPr>
          <a:xfrm>
            <a:off x="548640" y="1389888"/>
            <a:ext cx="3515258" cy="3964940"/>
          </a:xfrm>
          <a:prstGeom prst="roundRect">
            <a:avLst>
              <a:gd name="adj" fmla="val 1561"/>
            </a:avLst>
          </a:prstGeom>
          <a:solidFill>
            <a:srgbClr val="DDE9E9"/>
          </a:solidFill>
          <a:ln/>
        </p:spPr>
      </p:sp>
      <p:sp>
        <p:nvSpPr>
          <p:cNvPr id="12" name="point-hex"/>
          <p:cNvSpPr/>
          <p:nvPr/>
        </p:nvSpPr>
        <p:spPr>
          <a:xfrm>
            <a:off x="731520" y="1572768"/>
            <a:ext cx="685800" cy="593903"/>
          </a:xfrm>
          <a:prstGeom prst="hexagon">
            <a:avLst/>
          </a:prstGeom>
          <a:solidFill>
            <a:srgbClr val="1F6F6A"/>
          </a:solidFill>
          <a:ln/>
        </p:spPr>
      </p:sp>
      <p:sp>
        <p:nvSpPr>
          <p:cNvPr id="13" name="point-hex-label"/>
          <p:cNvSpPr txBox="1"/>
          <p:nvPr/>
        </p:nvSpPr>
        <p:spPr>
          <a:xfrm>
            <a:off x="731520"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4" name="point"/>
          <p:cNvSpPr txBox="1"/>
          <p:nvPr/>
        </p:nvSpPr>
        <p:spPr>
          <a:xfrm>
            <a:off x="731520"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A ripple tank is a shallow glass-bottomed tray of water.</a:t>
            </a:r>
            <a:endParaRPr lang="en-US" sz="2400" dirty="0"/>
          </a:p>
        </p:txBody>
      </p:sp>
      <p:sp>
        <p:nvSpPr>
          <p:cNvPr id="15" name="point-card"/>
          <p:cNvSpPr/>
          <p:nvPr/>
        </p:nvSpPr>
        <p:spPr>
          <a:xfrm>
            <a:off x="4338218" y="1389888"/>
            <a:ext cx="3515258" cy="3964940"/>
          </a:xfrm>
          <a:prstGeom prst="roundRect">
            <a:avLst>
              <a:gd name="adj" fmla="val 1561"/>
            </a:avLst>
          </a:prstGeom>
          <a:solidFill>
            <a:srgbClr val="F3EADB"/>
          </a:solidFill>
          <a:ln/>
        </p:spPr>
      </p:sp>
      <p:sp>
        <p:nvSpPr>
          <p:cNvPr id="16" name="point-hex"/>
          <p:cNvSpPr/>
          <p:nvPr/>
        </p:nvSpPr>
        <p:spPr>
          <a:xfrm>
            <a:off x="4521098" y="1572768"/>
            <a:ext cx="685800" cy="593903"/>
          </a:xfrm>
          <a:prstGeom prst="hexagon">
            <a:avLst/>
          </a:prstGeom>
          <a:solidFill>
            <a:srgbClr val="B8862B"/>
          </a:solidFill>
          <a:ln/>
        </p:spPr>
      </p:sp>
      <p:sp>
        <p:nvSpPr>
          <p:cNvPr id="17" name="point-hex-label"/>
          <p:cNvSpPr txBox="1"/>
          <p:nvPr/>
        </p:nvSpPr>
        <p:spPr>
          <a:xfrm>
            <a:off x="4521098"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8" name="point"/>
          <p:cNvSpPr txBox="1"/>
          <p:nvPr/>
        </p:nvSpPr>
        <p:spPr>
          <a:xfrm>
            <a:off x="4521098"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To find the frequency, count the number of waves passing a mark on the screen in 10 s, then divide by 10.</a:t>
            </a:r>
            <a:endParaRPr lang="en-US" sz="2400" dirty="0"/>
          </a:p>
        </p:txBody>
      </p:sp>
      <p:sp>
        <p:nvSpPr>
          <p:cNvPr id="19" name="point-card"/>
          <p:cNvSpPr/>
          <p:nvPr/>
        </p:nvSpPr>
        <p:spPr>
          <a:xfrm>
            <a:off x="8127797" y="1389888"/>
            <a:ext cx="3515258" cy="3964940"/>
          </a:xfrm>
          <a:prstGeom prst="roundRect">
            <a:avLst>
              <a:gd name="adj" fmla="val 1561"/>
            </a:avLst>
          </a:prstGeom>
          <a:solidFill>
            <a:srgbClr val="DDE9E9"/>
          </a:solidFill>
          <a:ln/>
        </p:spPr>
      </p:sp>
      <p:sp>
        <p:nvSpPr>
          <p:cNvPr id="20" name="point-hex"/>
          <p:cNvSpPr/>
          <p:nvPr/>
        </p:nvSpPr>
        <p:spPr>
          <a:xfrm>
            <a:off x="8310677" y="1572768"/>
            <a:ext cx="685800" cy="593903"/>
          </a:xfrm>
          <a:prstGeom prst="hexagon">
            <a:avLst/>
          </a:prstGeom>
          <a:solidFill>
            <a:srgbClr val="1F6F6A"/>
          </a:solidFill>
          <a:ln/>
        </p:spPr>
      </p:sp>
      <p:sp>
        <p:nvSpPr>
          <p:cNvPr id="21" name="point-hex-label"/>
          <p:cNvSpPr txBox="1"/>
          <p:nvPr/>
        </p:nvSpPr>
        <p:spPr>
          <a:xfrm>
            <a:off x="8310677" y="1572768"/>
            <a:ext cx="685800" cy="593903"/>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22" name="point"/>
          <p:cNvSpPr txBox="1"/>
          <p:nvPr/>
        </p:nvSpPr>
        <p:spPr>
          <a:xfrm>
            <a:off x="8310677" y="2350008"/>
            <a:ext cx="3149498" cy="286766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Then calculate the wave speed with v = f λ, remembering to change centimetres to metres.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Worked example: Required practical: waves in a ripple tank</a:t>
            </a:r>
            <a:endParaRPr lang="en-US" sz="24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wq-band"/>
          <p:cNvSpPr/>
          <p:nvPr/>
        </p:nvSpPr>
        <p:spPr>
          <a:xfrm>
            <a:off x="548640" y="1389888"/>
            <a:ext cx="11094415" cy="991616"/>
          </a:xfrm>
          <a:prstGeom prst="roundRect">
            <a:avLst>
              <a:gd name="adj" fmla="val 9221"/>
            </a:avLst>
          </a:prstGeom>
          <a:solidFill>
            <a:srgbClr val="DDE9E9"/>
          </a:solidFill>
          <a:ln/>
        </p:spPr>
      </p:sp>
      <p:sp>
        <p:nvSpPr>
          <p:cNvPr id="8" name="worked-q"/>
          <p:cNvSpPr txBox="1"/>
          <p:nvPr/>
        </p:nvSpPr>
        <p:spPr>
          <a:xfrm>
            <a:off x="731520" y="1481328"/>
            <a:ext cx="10728655" cy="808736"/>
          </a:xfrm>
          <a:prstGeom prst="rect">
            <a:avLst/>
          </a:prstGeom>
          <a:noFill/>
          <a:ln/>
        </p:spPr>
        <p:txBody>
          <a:bodyPr wrap="square" lIns="63500" tIns="63500" rIns="63500" bIns="63500" rtlCol="0" anchor="ctr"/>
          <a:lstStyle/>
          <a:p>
            <a:pPr algn="l" indent="0" marL="0">
              <a:buNone/>
            </a:pPr>
            <a:r>
              <a:rPr lang="en-US" sz="2200" b="1" dirty="0">
                <a:solidFill>
                  <a:srgbClr val="1E2229"/>
                </a:solidFill>
                <a:latin typeface="Calibri" pitchFamily="34" charset="0"/>
                <a:ea typeface="Calibri" pitchFamily="34" charset="-122"/>
                <a:cs typeface="Calibri" pitchFamily="34" charset="-120"/>
              </a:rPr>
              <a:t>The dipper makes 5 waves every second. On the screen, 10 wavelengths measure 24 cm. Calculate the wave speed.</a:t>
            </a:r>
            <a:endParaRPr lang="en-US" sz="2200" dirty="0"/>
          </a:p>
        </p:txBody>
      </p:sp>
      <p:sp>
        <p:nvSpPr>
          <p:cNvPr id="9" name="step-box"/>
          <p:cNvSpPr/>
          <p:nvPr/>
        </p:nvSpPr>
        <p:spPr>
          <a:xfrm>
            <a:off x="548640" y="2655824"/>
            <a:ext cx="2464994" cy="1695196"/>
          </a:xfrm>
          <a:prstGeom prst="roundRect">
            <a:avLst>
              <a:gd name="adj" fmla="val 4315"/>
            </a:avLst>
          </a:prstGeom>
          <a:solidFill>
            <a:srgbClr val="FFFFFF"/>
          </a:solidFill>
          <a:ln w="15875">
            <a:solidFill>
              <a:srgbClr val="84B0AD"/>
            </a:solidFill>
            <a:prstDash val="solid"/>
          </a:ln>
        </p:spPr>
      </p:sp>
      <p:sp>
        <p:nvSpPr>
          <p:cNvPr id="10" name="step-hex"/>
          <p:cNvSpPr/>
          <p:nvPr/>
        </p:nvSpPr>
        <p:spPr>
          <a:xfrm>
            <a:off x="685800" y="2765552"/>
            <a:ext cx="530352" cy="459285"/>
          </a:xfrm>
          <a:prstGeom prst="hexagon">
            <a:avLst/>
          </a:prstGeom>
          <a:solidFill>
            <a:srgbClr val="1F6F6A"/>
          </a:solidFill>
          <a:ln/>
        </p:spPr>
      </p:sp>
      <p:sp>
        <p:nvSpPr>
          <p:cNvPr id="11" name="step-hex-label"/>
          <p:cNvSpPr txBox="1"/>
          <p:nvPr/>
        </p:nvSpPr>
        <p:spPr>
          <a:xfrm>
            <a:off x="685800"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12" name="step"/>
          <p:cNvSpPr txBox="1"/>
          <p:nvPr/>
        </p:nvSpPr>
        <p:spPr>
          <a:xfrm>
            <a:off x="685800"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Frequency: f = 5 Hz.</a:t>
            </a:r>
            <a:endParaRPr lang="en-US" sz="1800" dirty="0"/>
          </a:p>
        </p:txBody>
      </p:sp>
      <p:sp>
        <p:nvSpPr>
          <p:cNvPr id="13" name="arrow"/>
          <p:cNvSpPr/>
          <p:nvPr/>
        </p:nvSpPr>
        <p:spPr>
          <a:xfrm>
            <a:off x="3086786" y="3366262"/>
            <a:ext cx="274320" cy="274320"/>
          </a:xfrm>
          <a:prstGeom prst="rightArrow">
            <a:avLst/>
          </a:prstGeom>
          <a:solidFill>
            <a:srgbClr val="B8862B"/>
          </a:solidFill>
          <a:ln/>
        </p:spPr>
      </p:sp>
      <p:sp>
        <p:nvSpPr>
          <p:cNvPr id="14" name="step-box"/>
          <p:cNvSpPr/>
          <p:nvPr/>
        </p:nvSpPr>
        <p:spPr>
          <a:xfrm>
            <a:off x="3425114" y="2655824"/>
            <a:ext cx="2464994" cy="1695196"/>
          </a:xfrm>
          <a:prstGeom prst="roundRect">
            <a:avLst>
              <a:gd name="adj" fmla="val 4315"/>
            </a:avLst>
          </a:prstGeom>
          <a:solidFill>
            <a:srgbClr val="FFFFFF"/>
          </a:solidFill>
          <a:ln w="15875">
            <a:solidFill>
              <a:srgbClr val="84B0AD"/>
            </a:solidFill>
            <a:prstDash val="solid"/>
          </a:ln>
        </p:spPr>
      </p:sp>
      <p:sp>
        <p:nvSpPr>
          <p:cNvPr id="15" name="step-hex"/>
          <p:cNvSpPr/>
          <p:nvPr/>
        </p:nvSpPr>
        <p:spPr>
          <a:xfrm>
            <a:off x="3562274" y="2765552"/>
            <a:ext cx="530352" cy="459285"/>
          </a:xfrm>
          <a:prstGeom prst="hexagon">
            <a:avLst/>
          </a:prstGeom>
          <a:solidFill>
            <a:srgbClr val="1F6F6A"/>
          </a:solidFill>
          <a:ln/>
        </p:spPr>
      </p:sp>
      <p:sp>
        <p:nvSpPr>
          <p:cNvPr id="16" name="step-hex-label"/>
          <p:cNvSpPr txBox="1"/>
          <p:nvPr/>
        </p:nvSpPr>
        <p:spPr>
          <a:xfrm>
            <a:off x="3562274"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7" name="step"/>
          <p:cNvSpPr txBox="1"/>
          <p:nvPr/>
        </p:nvSpPr>
        <p:spPr>
          <a:xfrm>
            <a:off x="3562274"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Wavelength: 24 cm ÷ 10 = 2.4 cm, and 2.4 cm = 0.024 m.</a:t>
            </a:r>
            <a:endParaRPr lang="en-US" sz="1800" dirty="0"/>
          </a:p>
        </p:txBody>
      </p:sp>
      <p:sp>
        <p:nvSpPr>
          <p:cNvPr id="18" name="arrow"/>
          <p:cNvSpPr/>
          <p:nvPr/>
        </p:nvSpPr>
        <p:spPr>
          <a:xfrm>
            <a:off x="5963260" y="3366262"/>
            <a:ext cx="274320" cy="274320"/>
          </a:xfrm>
          <a:prstGeom prst="rightArrow">
            <a:avLst/>
          </a:prstGeom>
          <a:solidFill>
            <a:srgbClr val="B8862B"/>
          </a:solidFill>
          <a:ln/>
        </p:spPr>
      </p:sp>
      <p:sp>
        <p:nvSpPr>
          <p:cNvPr id="19" name="step-box"/>
          <p:cNvSpPr/>
          <p:nvPr/>
        </p:nvSpPr>
        <p:spPr>
          <a:xfrm>
            <a:off x="6301588" y="2655824"/>
            <a:ext cx="2464994" cy="1695196"/>
          </a:xfrm>
          <a:prstGeom prst="roundRect">
            <a:avLst>
              <a:gd name="adj" fmla="val 4315"/>
            </a:avLst>
          </a:prstGeom>
          <a:solidFill>
            <a:srgbClr val="FFFFFF"/>
          </a:solidFill>
          <a:ln w="15875">
            <a:solidFill>
              <a:srgbClr val="84B0AD"/>
            </a:solidFill>
            <a:prstDash val="solid"/>
          </a:ln>
        </p:spPr>
      </p:sp>
      <p:sp>
        <p:nvSpPr>
          <p:cNvPr id="20" name="step-hex"/>
          <p:cNvSpPr/>
          <p:nvPr/>
        </p:nvSpPr>
        <p:spPr>
          <a:xfrm>
            <a:off x="6438748" y="2765552"/>
            <a:ext cx="530352" cy="459285"/>
          </a:xfrm>
          <a:prstGeom prst="hexagon">
            <a:avLst/>
          </a:prstGeom>
          <a:solidFill>
            <a:srgbClr val="1F6F6A"/>
          </a:solidFill>
          <a:ln/>
        </p:spPr>
      </p:sp>
      <p:sp>
        <p:nvSpPr>
          <p:cNvPr id="21" name="step-hex-label"/>
          <p:cNvSpPr txBox="1"/>
          <p:nvPr/>
        </p:nvSpPr>
        <p:spPr>
          <a:xfrm>
            <a:off x="6438748"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tep"/>
          <p:cNvSpPr txBox="1"/>
          <p:nvPr/>
        </p:nvSpPr>
        <p:spPr>
          <a:xfrm>
            <a:off x="6438748"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 = f λ.</a:t>
            </a:r>
            <a:endParaRPr lang="en-US" sz="1800" dirty="0"/>
          </a:p>
        </p:txBody>
      </p:sp>
      <p:sp>
        <p:nvSpPr>
          <p:cNvPr id="23" name="arrow"/>
          <p:cNvSpPr/>
          <p:nvPr/>
        </p:nvSpPr>
        <p:spPr>
          <a:xfrm>
            <a:off x="8839733" y="3366262"/>
            <a:ext cx="274320" cy="274320"/>
          </a:xfrm>
          <a:prstGeom prst="rightArrow">
            <a:avLst/>
          </a:prstGeom>
          <a:solidFill>
            <a:srgbClr val="B8862B"/>
          </a:solidFill>
          <a:ln/>
        </p:spPr>
      </p:sp>
      <p:sp>
        <p:nvSpPr>
          <p:cNvPr id="24" name="step-box"/>
          <p:cNvSpPr/>
          <p:nvPr/>
        </p:nvSpPr>
        <p:spPr>
          <a:xfrm>
            <a:off x="9178061" y="2655824"/>
            <a:ext cx="2464994" cy="1695196"/>
          </a:xfrm>
          <a:prstGeom prst="roundRect">
            <a:avLst>
              <a:gd name="adj" fmla="val 4315"/>
            </a:avLst>
          </a:prstGeom>
          <a:solidFill>
            <a:srgbClr val="FFFFFF"/>
          </a:solidFill>
          <a:ln w="15875">
            <a:solidFill>
              <a:srgbClr val="84B0AD"/>
            </a:solidFill>
            <a:prstDash val="solid"/>
          </a:ln>
        </p:spPr>
      </p:sp>
      <p:sp>
        <p:nvSpPr>
          <p:cNvPr id="25" name="step-hex"/>
          <p:cNvSpPr/>
          <p:nvPr/>
        </p:nvSpPr>
        <p:spPr>
          <a:xfrm>
            <a:off x="9315221" y="2765552"/>
            <a:ext cx="530352" cy="459285"/>
          </a:xfrm>
          <a:prstGeom prst="hexagon">
            <a:avLst/>
          </a:prstGeom>
          <a:solidFill>
            <a:srgbClr val="1F6F6A"/>
          </a:solidFill>
          <a:ln/>
        </p:spPr>
      </p:sp>
      <p:sp>
        <p:nvSpPr>
          <p:cNvPr id="26" name="step-hex-label"/>
          <p:cNvSpPr txBox="1"/>
          <p:nvPr/>
        </p:nvSpPr>
        <p:spPr>
          <a:xfrm>
            <a:off x="9315221" y="2765552"/>
            <a:ext cx="530352" cy="45928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27" name="step"/>
          <p:cNvSpPr txBox="1"/>
          <p:nvPr/>
        </p:nvSpPr>
        <p:spPr>
          <a:xfrm>
            <a:off x="9315221" y="3250184"/>
            <a:ext cx="2190674" cy="1009396"/>
          </a:xfrm>
          <a:prstGeom prst="rect">
            <a:avLst/>
          </a:prstGeom>
          <a:noFill/>
          <a:ln/>
        </p:spPr>
        <p:txBody>
          <a:bodyPr wrap="square" lIns="63500" tIns="63500" rIns="63500" bIns="63500" rtlCol="0" anchor="t"/>
          <a:lstStyle/>
          <a:p>
            <a:pPr algn="l" indent="0" marL="0">
              <a:buNone/>
            </a:pPr>
            <a:r>
              <a:rPr lang="en-US" sz="1800" dirty="0">
                <a:solidFill>
                  <a:srgbClr val="1E2229"/>
                </a:solidFill>
                <a:latin typeface="Calibri" pitchFamily="34" charset="0"/>
                <a:ea typeface="Calibri" pitchFamily="34" charset="-122"/>
                <a:cs typeface="Calibri" pitchFamily="34" charset="-120"/>
              </a:rPr>
              <a:t>Substitute and calculate: v = 5 × 0.024 = 0.12 m/s.</a:t>
            </a:r>
            <a:endParaRPr lang="en-US" sz="1800" dirty="0"/>
          </a:p>
        </p:txBody>
      </p:sp>
      <p:sp>
        <p:nvSpPr>
          <p:cNvPr id="28" name="worked-answer"/>
          <p:cNvSpPr/>
          <p:nvPr/>
        </p:nvSpPr>
        <p:spPr>
          <a:xfrm>
            <a:off x="1463040" y="5592572"/>
            <a:ext cx="92656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Answer  </a:t>
            </a:r>
            <a:pPr algn="ctr" indent="0" marL="0">
              <a:buNone/>
            </a:pPr>
            <a:r>
              <a:rPr lang="en-US" sz="1800" b="1" dirty="0">
                <a:solidFill>
                  <a:srgbClr val="1E2229"/>
                </a:solidFill>
                <a:latin typeface="Calibri" pitchFamily="34" charset="0"/>
                <a:ea typeface="Calibri" pitchFamily="34" charset="-122"/>
                <a:cs typeface="Calibri" pitchFamily="34" charset="-120"/>
              </a:rPr>
              <a:t>0.12 m/s</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Required practical: waves on a string</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One loop = half a wavelength. Two loops = one wavelength.</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684784"/>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string vibrates at 40 Hz and forms 4 loops across a length of 1.2 m. Calculate the wave speed.</a:t>
            </a:r>
            <a:endParaRPr lang="en-US" sz="1800" dirty="0"/>
          </a:p>
        </p:txBody>
      </p:sp>
      <p:sp>
        <p:nvSpPr>
          <p:cNvPr id="14" name="step-box"/>
          <p:cNvSpPr/>
          <p:nvPr/>
        </p:nvSpPr>
        <p:spPr>
          <a:xfrm>
            <a:off x="6126480" y="2888488"/>
            <a:ext cx="5379415" cy="509397"/>
          </a:xfrm>
          <a:prstGeom prst="roundRect">
            <a:avLst>
              <a:gd name="adj" fmla="val 17951"/>
            </a:avLst>
          </a:prstGeom>
          <a:solidFill>
            <a:srgbClr val="DDE9E9"/>
          </a:solidFill>
          <a:ln/>
        </p:spPr>
      </p:sp>
      <p:sp>
        <p:nvSpPr>
          <p:cNvPr id="15" name="step-hex"/>
          <p:cNvSpPr/>
          <p:nvPr/>
        </p:nvSpPr>
        <p:spPr>
          <a:xfrm>
            <a:off x="6217920" y="2961056"/>
            <a:ext cx="420624" cy="364260"/>
          </a:xfrm>
          <a:prstGeom prst="hexagon">
            <a:avLst/>
          </a:prstGeom>
          <a:solidFill>
            <a:srgbClr val="1F6F6A"/>
          </a:solidFill>
          <a:ln/>
        </p:spPr>
      </p:sp>
      <p:sp>
        <p:nvSpPr>
          <p:cNvPr id="16" name="step-hex-label"/>
          <p:cNvSpPr txBox="1"/>
          <p:nvPr/>
        </p:nvSpPr>
        <p:spPr>
          <a:xfrm>
            <a:off x="6217920" y="296105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2888488"/>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Loop length: 1.2 ÷ 4 = 0.3 m.</a:t>
            </a:r>
            <a:endParaRPr lang="en-US" sz="1800" dirty="0"/>
          </a:p>
        </p:txBody>
      </p:sp>
      <p:sp>
        <p:nvSpPr>
          <p:cNvPr id="18" name="step-box"/>
          <p:cNvSpPr/>
          <p:nvPr/>
        </p:nvSpPr>
        <p:spPr>
          <a:xfrm>
            <a:off x="6126480" y="3489325"/>
            <a:ext cx="5379415" cy="736981"/>
          </a:xfrm>
          <a:prstGeom prst="roundRect">
            <a:avLst>
              <a:gd name="adj" fmla="val 12407"/>
            </a:avLst>
          </a:prstGeom>
          <a:solidFill>
            <a:srgbClr val="DDE9E9"/>
          </a:solidFill>
          <a:ln/>
        </p:spPr>
      </p:sp>
      <p:sp>
        <p:nvSpPr>
          <p:cNvPr id="19" name="step-hex"/>
          <p:cNvSpPr/>
          <p:nvPr/>
        </p:nvSpPr>
        <p:spPr>
          <a:xfrm>
            <a:off x="6217920" y="3675685"/>
            <a:ext cx="420624" cy="364260"/>
          </a:xfrm>
          <a:prstGeom prst="hexagon">
            <a:avLst/>
          </a:prstGeom>
          <a:solidFill>
            <a:srgbClr val="1F6F6A"/>
          </a:solidFill>
          <a:ln/>
        </p:spPr>
      </p:sp>
      <p:sp>
        <p:nvSpPr>
          <p:cNvPr id="20" name="step-hex-label"/>
          <p:cNvSpPr txBox="1"/>
          <p:nvPr/>
        </p:nvSpPr>
        <p:spPr>
          <a:xfrm>
            <a:off x="6217920" y="3675685"/>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3489325"/>
            <a:ext cx="4739335" cy="736981"/>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Each loop is half a wavelength, so λ = 2 × 0.3 = 0.6 m.</a:t>
            </a:r>
            <a:endParaRPr lang="en-US" sz="1800" dirty="0"/>
          </a:p>
        </p:txBody>
      </p:sp>
      <p:sp>
        <p:nvSpPr>
          <p:cNvPr id="22" name="step-box"/>
          <p:cNvSpPr/>
          <p:nvPr/>
        </p:nvSpPr>
        <p:spPr>
          <a:xfrm>
            <a:off x="6126480" y="4317746"/>
            <a:ext cx="5379415" cy="509397"/>
          </a:xfrm>
          <a:prstGeom prst="roundRect">
            <a:avLst>
              <a:gd name="adj" fmla="val 17951"/>
            </a:avLst>
          </a:prstGeom>
          <a:solidFill>
            <a:srgbClr val="DDE9E9"/>
          </a:solidFill>
          <a:ln/>
        </p:spPr>
      </p:sp>
      <p:sp>
        <p:nvSpPr>
          <p:cNvPr id="23" name="step-hex"/>
          <p:cNvSpPr/>
          <p:nvPr/>
        </p:nvSpPr>
        <p:spPr>
          <a:xfrm>
            <a:off x="6217920" y="4390314"/>
            <a:ext cx="420624" cy="364260"/>
          </a:xfrm>
          <a:prstGeom prst="hexagon">
            <a:avLst/>
          </a:prstGeom>
          <a:solidFill>
            <a:srgbClr val="1F6F6A"/>
          </a:solidFill>
          <a:ln/>
        </p:spPr>
      </p:sp>
      <p:sp>
        <p:nvSpPr>
          <p:cNvPr id="24" name="step-hex-label"/>
          <p:cNvSpPr txBox="1"/>
          <p:nvPr/>
        </p:nvSpPr>
        <p:spPr>
          <a:xfrm>
            <a:off x="6217920" y="439031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317746"/>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Write the equation: v = f λ.</a:t>
            </a:r>
            <a:endParaRPr lang="en-US" sz="1800" dirty="0"/>
          </a:p>
        </p:txBody>
      </p:sp>
      <p:sp>
        <p:nvSpPr>
          <p:cNvPr id="26" name="step-box"/>
          <p:cNvSpPr/>
          <p:nvPr/>
        </p:nvSpPr>
        <p:spPr>
          <a:xfrm>
            <a:off x="6126480" y="4918583"/>
            <a:ext cx="5379415" cy="509397"/>
          </a:xfrm>
          <a:prstGeom prst="roundRect">
            <a:avLst>
              <a:gd name="adj" fmla="val 17951"/>
            </a:avLst>
          </a:prstGeom>
          <a:solidFill>
            <a:srgbClr val="DDE9E9"/>
          </a:solidFill>
          <a:ln/>
        </p:spPr>
      </p:sp>
      <p:sp>
        <p:nvSpPr>
          <p:cNvPr id="27" name="step-hex"/>
          <p:cNvSpPr/>
          <p:nvPr/>
        </p:nvSpPr>
        <p:spPr>
          <a:xfrm>
            <a:off x="6217920" y="4991151"/>
            <a:ext cx="420624" cy="364260"/>
          </a:xfrm>
          <a:prstGeom prst="hexagon">
            <a:avLst/>
          </a:prstGeom>
          <a:solidFill>
            <a:srgbClr val="1F6F6A"/>
          </a:solidFill>
          <a:ln/>
        </p:spPr>
      </p:sp>
      <p:sp>
        <p:nvSpPr>
          <p:cNvPr id="28" name="step-hex-label"/>
          <p:cNvSpPr txBox="1"/>
          <p:nvPr/>
        </p:nvSpPr>
        <p:spPr>
          <a:xfrm>
            <a:off x="6217920" y="4991151"/>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4</a:t>
            </a:r>
            <a:endParaRPr lang="en-US" sz="1800" dirty="0"/>
          </a:p>
        </p:txBody>
      </p:sp>
      <p:sp>
        <p:nvSpPr>
          <p:cNvPr id="29" name="step"/>
          <p:cNvSpPr txBox="1"/>
          <p:nvPr/>
        </p:nvSpPr>
        <p:spPr>
          <a:xfrm>
            <a:off x="6766560" y="4918583"/>
            <a:ext cx="4739335" cy="509397"/>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Substitute and calculate: v = 40 × 0.6 = 24 m/s.</a:t>
            </a:r>
            <a:endParaRPr lang="en-US" sz="1800" dirty="0"/>
          </a:p>
        </p:txBody>
      </p:sp>
      <p:sp>
        <p:nvSpPr>
          <p:cNvPr id="30" name="worked-answer"/>
          <p:cNvSpPr/>
          <p:nvPr/>
        </p:nvSpPr>
        <p:spPr>
          <a:xfrm>
            <a:off x="6126480" y="5565140"/>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24 m/s</a:t>
            </a:r>
            <a:endParaRPr lang="en-US" sz="1800" dirty="0"/>
          </a:p>
        </p:txBody>
      </p:sp>
      <p:sp>
        <p:nvSpPr>
          <p:cNvPr id="31" name="bullet-card"/>
          <p:cNvSpPr/>
          <p:nvPr/>
        </p:nvSpPr>
        <p:spPr>
          <a:xfrm>
            <a:off x="548640" y="1389888"/>
            <a:ext cx="5074920" cy="1038183"/>
          </a:xfrm>
          <a:prstGeom prst="roundRect">
            <a:avLst>
              <a:gd name="adj" fmla="val 7046"/>
            </a:avLst>
          </a:prstGeom>
          <a:solidFill>
            <a:srgbClr val="E2ECEC"/>
          </a:solidFill>
          <a:ln/>
        </p:spPr>
      </p:sp>
      <p:sp>
        <p:nvSpPr>
          <p:cNvPr id="32" name="bullet-hex"/>
          <p:cNvSpPr/>
          <p:nvPr/>
        </p:nvSpPr>
        <p:spPr>
          <a:xfrm>
            <a:off x="676656" y="1742687"/>
            <a:ext cx="384048" cy="332586"/>
          </a:xfrm>
          <a:prstGeom prst="hexagon">
            <a:avLst/>
          </a:prstGeom>
          <a:solidFill>
            <a:srgbClr val="1F6F6A"/>
          </a:solidFill>
          <a:ln/>
        </p:spPr>
      </p:sp>
      <p:sp>
        <p:nvSpPr>
          <p:cNvPr id="33" name="bullet"/>
          <p:cNvSpPr txBox="1"/>
          <p:nvPr/>
        </p:nvSpPr>
        <p:spPr>
          <a:xfrm>
            <a:off x="1143000" y="1389888"/>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Stretch a string from a vibration generator over a pulley, with masses hanging on the end to keep it taut.</a:t>
            </a:r>
            <a:endParaRPr lang="en-US" sz="1800" dirty="0"/>
          </a:p>
        </p:txBody>
      </p:sp>
      <p:sp>
        <p:nvSpPr>
          <p:cNvPr id="34" name="bullet-card"/>
          <p:cNvSpPr/>
          <p:nvPr/>
        </p:nvSpPr>
        <p:spPr>
          <a:xfrm>
            <a:off x="548640" y="2574375"/>
            <a:ext cx="5074920" cy="1317075"/>
          </a:xfrm>
          <a:prstGeom prst="roundRect">
            <a:avLst>
              <a:gd name="adj" fmla="val 5554"/>
            </a:avLst>
          </a:prstGeom>
          <a:solidFill>
            <a:srgbClr val="E2ECEC"/>
          </a:solidFill>
          <a:ln/>
        </p:spPr>
      </p:sp>
      <p:sp>
        <p:nvSpPr>
          <p:cNvPr id="35" name="bullet-hex"/>
          <p:cNvSpPr/>
          <p:nvPr/>
        </p:nvSpPr>
        <p:spPr>
          <a:xfrm>
            <a:off x="676656" y="3066619"/>
            <a:ext cx="384048" cy="332586"/>
          </a:xfrm>
          <a:prstGeom prst="hexagon">
            <a:avLst/>
          </a:prstGeom>
          <a:solidFill>
            <a:srgbClr val="B8862B"/>
          </a:solidFill>
          <a:ln/>
        </p:spPr>
      </p:sp>
      <p:sp>
        <p:nvSpPr>
          <p:cNvPr id="36" name="bullet"/>
          <p:cNvSpPr txBox="1"/>
          <p:nvPr/>
        </p:nvSpPr>
        <p:spPr>
          <a:xfrm>
            <a:off x="1143000" y="2574375"/>
            <a:ext cx="4389120" cy="1317075"/>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Measure the total length of several loops with a metre ruler and divide by the number of loops to find the length of one loop.</a:t>
            </a:r>
            <a:endParaRPr lang="en-US" sz="1800" dirty="0"/>
          </a:p>
        </p:txBody>
      </p:sp>
      <p:sp>
        <p:nvSpPr>
          <p:cNvPr id="37" name="bullet-card"/>
          <p:cNvSpPr/>
          <p:nvPr/>
        </p:nvSpPr>
        <p:spPr>
          <a:xfrm>
            <a:off x="548640" y="4037753"/>
            <a:ext cx="5074920" cy="1038183"/>
          </a:xfrm>
          <a:prstGeom prst="roundRect">
            <a:avLst>
              <a:gd name="adj" fmla="val 7046"/>
            </a:avLst>
          </a:prstGeom>
          <a:solidFill>
            <a:srgbClr val="E2ECEC"/>
          </a:solidFill>
          <a:ln/>
        </p:spPr>
      </p:sp>
      <p:sp>
        <p:nvSpPr>
          <p:cNvPr id="38" name="bullet-hex"/>
          <p:cNvSpPr/>
          <p:nvPr/>
        </p:nvSpPr>
        <p:spPr>
          <a:xfrm>
            <a:off x="676656" y="4390552"/>
            <a:ext cx="384048" cy="332586"/>
          </a:xfrm>
          <a:prstGeom prst="hexagon">
            <a:avLst/>
          </a:prstGeom>
          <a:solidFill>
            <a:srgbClr val="1F6F6A"/>
          </a:solidFill>
          <a:ln/>
        </p:spPr>
      </p:sp>
      <p:sp>
        <p:nvSpPr>
          <p:cNvPr id="39" name="bullet"/>
          <p:cNvSpPr txBox="1"/>
          <p:nvPr/>
        </p:nvSpPr>
        <p:spPr>
          <a:xfrm>
            <a:off x="1143000" y="4037753"/>
            <a:ext cx="4389120" cy="1038183"/>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Measuring several loops at once, rather than one, reduces the error in your wavelength.</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Measuring the speed of sound in air</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Teach</a:t>
            </a:r>
            <a:endParaRPr lang="en-US" sz="1800" dirty="0"/>
          </a:p>
        </p:txBody>
      </p:sp>
      <p:sp>
        <p:nvSpPr>
          <p:cNvPr id="7" name="tip-box"/>
          <p:cNvSpPr/>
          <p:nvPr/>
        </p:nvSpPr>
        <p:spPr>
          <a:xfrm>
            <a:off x="548640" y="5350256"/>
            <a:ext cx="5074920" cy="794512"/>
          </a:xfrm>
          <a:prstGeom prst="roundRect">
            <a:avLst>
              <a:gd name="adj" fmla="val 17263"/>
            </a:avLst>
          </a:prstGeom>
          <a:solidFill>
            <a:srgbClr val="F1E7D5"/>
          </a:solidFill>
          <a:ln w="15875">
            <a:solidFill>
              <a:srgbClr val="B8862B"/>
            </a:solidFill>
            <a:prstDash val="solid"/>
          </a:ln>
        </p:spPr>
      </p:sp>
      <p:sp>
        <p:nvSpPr>
          <p:cNvPr id="8" name="tip-hex"/>
          <p:cNvSpPr/>
          <p:nvPr/>
        </p:nvSpPr>
        <p:spPr>
          <a:xfrm>
            <a:off x="685800" y="5549544"/>
            <a:ext cx="457200" cy="395935"/>
          </a:xfrm>
          <a:prstGeom prst="hexagon">
            <a:avLst/>
          </a:prstGeom>
          <a:solidFill>
            <a:srgbClr val="B8862B"/>
          </a:solidFill>
          <a:ln/>
        </p:spPr>
      </p:sp>
      <p:sp>
        <p:nvSpPr>
          <p:cNvPr id="9" name="tip-hex-label"/>
          <p:cNvSpPr txBox="1"/>
          <p:nvPr/>
        </p:nvSpPr>
        <p:spPr>
          <a:xfrm>
            <a:off x="685800" y="5549544"/>
            <a:ext cx="457200" cy="395935"/>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0" name="tip"/>
          <p:cNvSpPr txBox="1"/>
          <p:nvPr/>
        </p:nvSpPr>
        <p:spPr>
          <a:xfrm>
            <a:off x="1280160" y="5405120"/>
            <a:ext cx="4206240" cy="684784"/>
          </a:xfrm>
          <a:prstGeom prst="rect">
            <a:avLst/>
          </a:prstGeom>
          <a:no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Tip  </a:t>
            </a:r>
            <a:pPr algn="l" indent="0" marL="0">
              <a:buNone/>
            </a:pPr>
            <a:r>
              <a:rPr lang="en-US" sz="1800" dirty="0">
                <a:solidFill>
                  <a:srgbClr val="1E2229"/>
                </a:solidFill>
                <a:latin typeface="Calibri" pitchFamily="34" charset="0"/>
                <a:ea typeface="Calibri" pitchFamily="34" charset="-122"/>
                <a:cs typeface="Calibri" pitchFamily="34" charset="-120"/>
              </a:rPr>
              <a:t>An echo travels there and back: double the distance to the wall.</a:t>
            </a:r>
            <a:endParaRPr lang="en-US" sz="1800" dirty="0"/>
          </a:p>
        </p:txBody>
      </p:sp>
      <p:sp>
        <p:nvSpPr>
          <p:cNvPr id="11" name="worked-panel"/>
          <p:cNvSpPr/>
          <p:nvPr/>
        </p:nvSpPr>
        <p:spPr>
          <a:xfrm>
            <a:off x="5989320" y="1389888"/>
            <a:ext cx="5653735" cy="4754880"/>
          </a:xfrm>
          <a:prstGeom prst="roundRect">
            <a:avLst>
              <a:gd name="adj" fmla="val 962"/>
            </a:avLst>
          </a:prstGeom>
          <a:solidFill>
            <a:srgbClr val="FFFFFF"/>
          </a:solidFill>
          <a:ln w="15875">
            <a:solidFill>
              <a:srgbClr val="84B0AD"/>
            </a:solidFill>
            <a:prstDash val="solid"/>
          </a:ln>
        </p:spPr>
      </p:sp>
      <p:sp>
        <p:nvSpPr>
          <p:cNvPr id="12" name="worked-tab"/>
          <p:cNvSpPr/>
          <p:nvPr/>
        </p:nvSpPr>
        <p:spPr>
          <a:xfrm>
            <a:off x="6126480" y="1499616"/>
            <a:ext cx="2377440" cy="457200"/>
          </a:xfrm>
          <a:prstGeom prst="roundRect">
            <a:avLst>
              <a:gd name="adj" fmla="val 40000"/>
            </a:avLst>
          </a:prstGeom>
          <a:solidFill>
            <a:srgbClr val="1F6F6A"/>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Worked example</a:t>
            </a:r>
            <a:endParaRPr lang="en-US" sz="1800" dirty="0"/>
          </a:p>
        </p:txBody>
      </p:sp>
      <p:sp>
        <p:nvSpPr>
          <p:cNvPr id="13" name="worked-q"/>
          <p:cNvSpPr txBox="1"/>
          <p:nvPr/>
        </p:nvSpPr>
        <p:spPr>
          <a:xfrm>
            <a:off x="6126480" y="2066544"/>
            <a:ext cx="5379415" cy="963676"/>
          </a:xfrm>
          <a:prstGeom prst="rect">
            <a:avLst/>
          </a:prstGeom>
          <a:noFill/>
          <a:ln/>
        </p:spPr>
        <p:txBody>
          <a:bodyPr wrap="square" lIns="63500" tIns="63500" rIns="63500" bIns="63500" rtlCol="0" anchor="t"/>
          <a:lstStyle/>
          <a:p>
            <a:pPr algn="l" indent="0" marL="0">
              <a:buNone/>
            </a:pPr>
            <a:r>
              <a:rPr lang="en-US" sz="1800" b="1" dirty="0">
                <a:solidFill>
                  <a:srgbClr val="1E2229"/>
                </a:solidFill>
                <a:latin typeface="Calibri" pitchFamily="34" charset="0"/>
                <a:ea typeface="Calibri" pitchFamily="34" charset="-122"/>
                <a:cs typeface="Calibri" pitchFamily="34" charset="-120"/>
              </a:rPr>
              <a:t>A pupil stands 66 m from a wall. The echo of a clap returns 0.40 s after the clap. Calculate the speed of sound.</a:t>
            </a:r>
            <a:endParaRPr lang="en-US" sz="1800" dirty="0"/>
          </a:p>
        </p:txBody>
      </p:sp>
      <p:sp>
        <p:nvSpPr>
          <p:cNvPr id="14" name="step-box"/>
          <p:cNvSpPr/>
          <p:nvPr/>
        </p:nvSpPr>
        <p:spPr>
          <a:xfrm>
            <a:off x="6126480" y="3167380"/>
            <a:ext cx="5379415" cy="794512"/>
          </a:xfrm>
          <a:prstGeom prst="roundRect">
            <a:avLst>
              <a:gd name="adj" fmla="val 11509"/>
            </a:avLst>
          </a:prstGeom>
          <a:solidFill>
            <a:srgbClr val="DDE9E9"/>
          </a:solidFill>
          <a:ln/>
        </p:spPr>
      </p:sp>
      <p:sp>
        <p:nvSpPr>
          <p:cNvPr id="15" name="step-hex"/>
          <p:cNvSpPr/>
          <p:nvPr/>
        </p:nvSpPr>
        <p:spPr>
          <a:xfrm>
            <a:off x="6217920" y="3382506"/>
            <a:ext cx="420624" cy="364260"/>
          </a:xfrm>
          <a:prstGeom prst="hexagon">
            <a:avLst/>
          </a:prstGeom>
          <a:solidFill>
            <a:srgbClr val="1F6F6A"/>
          </a:solidFill>
          <a:ln/>
        </p:spPr>
      </p:sp>
      <p:sp>
        <p:nvSpPr>
          <p:cNvPr id="16" name="step-hex-label"/>
          <p:cNvSpPr txBox="1"/>
          <p:nvPr/>
        </p:nvSpPr>
        <p:spPr>
          <a:xfrm>
            <a:off x="6217920" y="338250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7" name="step"/>
          <p:cNvSpPr txBox="1"/>
          <p:nvPr/>
        </p:nvSpPr>
        <p:spPr>
          <a:xfrm>
            <a:off x="6766560" y="3167380"/>
            <a:ext cx="4739335" cy="794512"/>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Distance travelled by the sound = there and back = 2 × 66 = 132 m.</a:t>
            </a:r>
            <a:endParaRPr lang="en-US" sz="1800" dirty="0"/>
          </a:p>
        </p:txBody>
      </p:sp>
      <p:sp>
        <p:nvSpPr>
          <p:cNvPr id="18" name="step-box"/>
          <p:cNvSpPr/>
          <p:nvPr/>
        </p:nvSpPr>
        <p:spPr>
          <a:xfrm>
            <a:off x="6126480" y="4053332"/>
            <a:ext cx="5379415" cy="566928"/>
          </a:xfrm>
          <a:prstGeom prst="roundRect">
            <a:avLst>
              <a:gd name="adj" fmla="val 16129"/>
            </a:avLst>
          </a:prstGeom>
          <a:solidFill>
            <a:srgbClr val="DDE9E9"/>
          </a:solidFill>
          <a:ln/>
        </p:spPr>
      </p:sp>
      <p:sp>
        <p:nvSpPr>
          <p:cNvPr id="19" name="step-hex"/>
          <p:cNvSpPr/>
          <p:nvPr/>
        </p:nvSpPr>
        <p:spPr>
          <a:xfrm>
            <a:off x="6217920" y="4154666"/>
            <a:ext cx="420624" cy="364260"/>
          </a:xfrm>
          <a:prstGeom prst="hexagon">
            <a:avLst/>
          </a:prstGeom>
          <a:solidFill>
            <a:srgbClr val="1F6F6A"/>
          </a:solidFill>
          <a:ln/>
        </p:spPr>
      </p:sp>
      <p:sp>
        <p:nvSpPr>
          <p:cNvPr id="20" name="step-hex-label"/>
          <p:cNvSpPr txBox="1"/>
          <p:nvPr/>
        </p:nvSpPr>
        <p:spPr>
          <a:xfrm>
            <a:off x="6217920" y="4154666"/>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1" name="step"/>
          <p:cNvSpPr txBox="1"/>
          <p:nvPr/>
        </p:nvSpPr>
        <p:spPr>
          <a:xfrm>
            <a:off x="6766560" y="4053332"/>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 distance ÷ time.</a:t>
            </a:r>
            <a:endParaRPr lang="en-US" sz="1800" dirty="0"/>
          </a:p>
        </p:txBody>
      </p:sp>
      <p:sp>
        <p:nvSpPr>
          <p:cNvPr id="22" name="step-box"/>
          <p:cNvSpPr/>
          <p:nvPr/>
        </p:nvSpPr>
        <p:spPr>
          <a:xfrm>
            <a:off x="6126480" y="4711700"/>
            <a:ext cx="5379415" cy="566928"/>
          </a:xfrm>
          <a:prstGeom prst="roundRect">
            <a:avLst>
              <a:gd name="adj" fmla="val 16129"/>
            </a:avLst>
          </a:prstGeom>
          <a:solidFill>
            <a:srgbClr val="DDE9E9"/>
          </a:solidFill>
          <a:ln/>
        </p:spPr>
      </p:sp>
      <p:sp>
        <p:nvSpPr>
          <p:cNvPr id="23" name="step-hex"/>
          <p:cNvSpPr/>
          <p:nvPr/>
        </p:nvSpPr>
        <p:spPr>
          <a:xfrm>
            <a:off x="6217920" y="4813034"/>
            <a:ext cx="420624" cy="364260"/>
          </a:xfrm>
          <a:prstGeom prst="hexagon">
            <a:avLst/>
          </a:prstGeom>
          <a:solidFill>
            <a:srgbClr val="1F6F6A"/>
          </a:solidFill>
          <a:ln/>
        </p:spPr>
      </p:sp>
      <p:sp>
        <p:nvSpPr>
          <p:cNvPr id="24" name="step-hex-label"/>
          <p:cNvSpPr txBox="1"/>
          <p:nvPr/>
        </p:nvSpPr>
        <p:spPr>
          <a:xfrm>
            <a:off x="6217920" y="4813034"/>
            <a:ext cx="420624" cy="36426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step"/>
          <p:cNvSpPr txBox="1"/>
          <p:nvPr/>
        </p:nvSpPr>
        <p:spPr>
          <a:xfrm>
            <a:off x="6766560" y="4711700"/>
            <a:ext cx="4739335" cy="566928"/>
          </a:xfrm>
          <a:prstGeom prst="rect">
            <a:avLst/>
          </a:prstGeom>
          <a:noFill/>
          <a:ln/>
        </p:spPr>
        <p:txBody>
          <a:bodyPr wrap="square" lIns="63500" tIns="63500" rIns="63500" bIns="63500" rtlCol="0" anchor="ctr"/>
          <a:lstStyle/>
          <a:p>
            <a:pPr algn="l" indent="0" marL="0">
              <a:buNone/>
            </a:pPr>
            <a:r>
              <a:rPr lang="en-US" sz="1800" dirty="0">
                <a:solidFill>
                  <a:srgbClr val="1E2229"/>
                </a:solidFill>
                <a:latin typeface="Calibri" pitchFamily="34" charset="0"/>
                <a:ea typeface="Calibri" pitchFamily="34" charset="-122"/>
                <a:cs typeface="Calibri" pitchFamily="34" charset="-120"/>
              </a:rPr>
              <a:t>Speed = 132 ÷ 0.40 = 330 m/s.</a:t>
            </a:r>
            <a:endParaRPr lang="en-US" sz="1800" dirty="0"/>
          </a:p>
        </p:txBody>
      </p:sp>
      <p:sp>
        <p:nvSpPr>
          <p:cNvPr id="26" name="worked-answer"/>
          <p:cNvSpPr/>
          <p:nvPr/>
        </p:nvSpPr>
        <p:spPr>
          <a:xfrm>
            <a:off x="6126480" y="5415788"/>
            <a:ext cx="5379415" cy="552196"/>
          </a:xfrm>
          <a:prstGeom prst="roundRect">
            <a:avLst>
              <a:gd name="adj" fmla="val 33119"/>
            </a:avLst>
          </a:prstGeom>
          <a:solidFill>
            <a:srgbClr val="EADBBF"/>
          </a:solidFill>
          <a:ln w="19050">
            <a:solidFill>
              <a:srgbClr val="B8862B"/>
            </a:solidFill>
          </a:ln>
        </p:spPr>
        <p:txBody>
          <a:bodyPr wrap="square" lIns="63500" tIns="63500" rIns="63500" bIns="63500" rtlCol="0" anchor="ctr"/>
          <a:lstStyle/>
          <a:p>
            <a:pPr algn="l" indent="0" marL="0">
              <a:buNone/>
            </a:pPr>
            <a:r>
              <a:rPr lang="en-US" sz="1800" b="1" dirty="0">
                <a:solidFill>
                  <a:srgbClr val="815E1E"/>
                </a:solidFill>
                <a:latin typeface="Calibri" pitchFamily="34" charset="0"/>
                <a:ea typeface="Calibri" pitchFamily="34" charset="-122"/>
                <a:cs typeface="Calibri" pitchFamily="34" charset="-120"/>
              </a:rPr>
              <a:t>Answer  </a:t>
            </a:r>
            <a:pPr algn="l" indent="0" marL="0">
              <a:buNone/>
            </a:pPr>
            <a:r>
              <a:rPr lang="en-US" sz="1800" b="1" dirty="0">
                <a:solidFill>
                  <a:srgbClr val="1E2229"/>
                </a:solidFill>
                <a:latin typeface="Calibri" pitchFamily="34" charset="0"/>
                <a:ea typeface="Calibri" pitchFamily="34" charset="-122"/>
                <a:cs typeface="Calibri" pitchFamily="34" charset="-120"/>
              </a:rPr>
              <a:t>330 m/s</a:t>
            </a:r>
            <a:endParaRPr lang="en-US" sz="1800" dirty="0"/>
          </a:p>
        </p:txBody>
      </p:sp>
      <p:sp>
        <p:nvSpPr>
          <p:cNvPr id="27" name="bullet-card"/>
          <p:cNvSpPr/>
          <p:nvPr/>
        </p:nvSpPr>
        <p:spPr>
          <a:xfrm>
            <a:off x="548640" y="1389888"/>
            <a:ext cx="5074920" cy="903901"/>
          </a:xfrm>
          <a:prstGeom prst="roundRect">
            <a:avLst>
              <a:gd name="adj" fmla="val 8093"/>
            </a:avLst>
          </a:prstGeom>
          <a:solidFill>
            <a:srgbClr val="E2ECEC"/>
          </a:solidFill>
          <a:ln/>
        </p:spPr>
      </p:sp>
      <p:sp>
        <p:nvSpPr>
          <p:cNvPr id="28" name="bullet-hex"/>
          <p:cNvSpPr/>
          <p:nvPr/>
        </p:nvSpPr>
        <p:spPr>
          <a:xfrm>
            <a:off x="676656" y="1675546"/>
            <a:ext cx="384048" cy="332586"/>
          </a:xfrm>
          <a:prstGeom prst="hexagon">
            <a:avLst/>
          </a:prstGeom>
          <a:solidFill>
            <a:srgbClr val="1F6F6A"/>
          </a:solidFill>
          <a:ln/>
        </p:spPr>
      </p:sp>
      <p:sp>
        <p:nvSpPr>
          <p:cNvPr id="29" name="bullet"/>
          <p:cNvSpPr txBox="1"/>
          <p:nvPr/>
        </p:nvSpPr>
        <p:spPr>
          <a:xfrm>
            <a:off x="1143000" y="1389888"/>
            <a:ext cx="4389120" cy="903901"/>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Stand a measured distance from a large flat wall and clap.</a:t>
            </a:r>
            <a:endParaRPr lang="en-US" sz="2200" dirty="0"/>
          </a:p>
        </p:txBody>
      </p:sp>
      <p:sp>
        <p:nvSpPr>
          <p:cNvPr id="30" name="bullet-card"/>
          <p:cNvSpPr/>
          <p:nvPr/>
        </p:nvSpPr>
        <p:spPr>
          <a:xfrm>
            <a:off x="548640" y="2440093"/>
            <a:ext cx="5074920" cy="1244769"/>
          </a:xfrm>
          <a:prstGeom prst="roundRect">
            <a:avLst>
              <a:gd name="adj" fmla="val 5877"/>
            </a:avLst>
          </a:prstGeom>
          <a:solidFill>
            <a:srgbClr val="E2ECEC"/>
          </a:solidFill>
          <a:ln/>
        </p:spPr>
      </p:sp>
      <p:sp>
        <p:nvSpPr>
          <p:cNvPr id="31" name="bullet-hex"/>
          <p:cNvSpPr/>
          <p:nvPr/>
        </p:nvSpPr>
        <p:spPr>
          <a:xfrm>
            <a:off x="676656" y="2896185"/>
            <a:ext cx="384048" cy="332586"/>
          </a:xfrm>
          <a:prstGeom prst="hexagon">
            <a:avLst/>
          </a:prstGeom>
          <a:solidFill>
            <a:srgbClr val="B8862B"/>
          </a:solidFill>
          <a:ln/>
        </p:spPr>
      </p:sp>
      <p:sp>
        <p:nvSpPr>
          <p:cNvPr id="32" name="bullet"/>
          <p:cNvSpPr txBox="1"/>
          <p:nvPr/>
        </p:nvSpPr>
        <p:spPr>
          <a:xfrm>
            <a:off x="1143000" y="2440093"/>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The time for one echo is very short, so timing it with a stopwatch is unreliable.</a:t>
            </a:r>
            <a:endParaRPr lang="en-US" sz="2200" dirty="0"/>
          </a:p>
        </p:txBody>
      </p:sp>
      <p:sp>
        <p:nvSpPr>
          <p:cNvPr id="33" name="bullet-card"/>
          <p:cNvSpPr/>
          <p:nvPr/>
        </p:nvSpPr>
        <p:spPr>
          <a:xfrm>
            <a:off x="548640" y="3831167"/>
            <a:ext cx="5074920" cy="1244769"/>
          </a:xfrm>
          <a:prstGeom prst="roundRect">
            <a:avLst>
              <a:gd name="adj" fmla="val 5877"/>
            </a:avLst>
          </a:prstGeom>
          <a:solidFill>
            <a:srgbClr val="E2ECEC"/>
          </a:solidFill>
          <a:ln/>
        </p:spPr>
      </p:sp>
      <p:sp>
        <p:nvSpPr>
          <p:cNvPr id="34" name="bullet-hex"/>
          <p:cNvSpPr/>
          <p:nvPr/>
        </p:nvSpPr>
        <p:spPr>
          <a:xfrm>
            <a:off x="676656" y="4287259"/>
            <a:ext cx="384048" cy="332586"/>
          </a:xfrm>
          <a:prstGeom prst="hexagon">
            <a:avLst/>
          </a:prstGeom>
          <a:solidFill>
            <a:srgbClr val="1F6F6A"/>
          </a:solidFill>
          <a:ln/>
        </p:spPr>
      </p:sp>
      <p:sp>
        <p:nvSpPr>
          <p:cNvPr id="35" name="bullet"/>
          <p:cNvSpPr txBox="1"/>
          <p:nvPr/>
        </p:nvSpPr>
        <p:spPr>
          <a:xfrm>
            <a:off x="1143000" y="3831167"/>
            <a:ext cx="4389120" cy="1244769"/>
          </a:xfrm>
          <a:prstGeom prst="rect">
            <a:avLst/>
          </a:prstGeom>
          <a:noFill/>
          <a:ln/>
        </p:spPr>
        <p:txBody>
          <a:bodyPr wrap="square" lIns="63500" tIns="63500" rIns="63500" bIns="63500" rtlCol="0" anchor="ctr"/>
          <a:lstStyle/>
          <a:p>
            <a:pPr algn="l" indent="0" marL="0">
              <a:buNone/>
            </a:pPr>
            <a:r>
              <a:rPr lang="en-US" sz="2200" dirty="0">
                <a:solidFill>
                  <a:srgbClr val="1E2229"/>
                </a:solidFill>
                <a:latin typeface="Calibri" pitchFamily="34" charset="0"/>
                <a:ea typeface="Calibri" pitchFamily="34" charset="-122"/>
                <a:cs typeface="Calibri" pitchFamily="34" charset="-120"/>
              </a:rPr>
              <a:t>Repeat the measurements and take an average. You should find a speed of about 330 m/s in air.</a:t>
            </a:r>
            <a:endParaRPr lang="en-US" sz="22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400" b="1" dirty="0">
                <a:solidFill>
                  <a:srgbClr val="1F6F6A"/>
                </a:solidFill>
                <a:latin typeface="Cambria" pitchFamily="34" charset="0"/>
                <a:ea typeface="Cambria" pitchFamily="34" charset="-122"/>
                <a:cs typeface="Cambria" pitchFamily="34" charset="-120"/>
              </a:rPr>
              <a:t>Same task, three ways in: Wave speed from the ripple tank</a:t>
            </a:r>
            <a:endParaRPr lang="en-US" sz="24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594612"/>
          </a:xfrm>
          <a:prstGeom prst="roundRect">
            <a:avLst>
              <a:gd name="adj" fmla="val 5734"/>
            </a:avLst>
          </a:prstGeom>
          <a:solidFill>
            <a:srgbClr val="FFFFFF"/>
          </a:solidFill>
          <a:ln w="31750">
            <a:solidFill>
              <a:srgbClr val="B8862B"/>
            </a:solidFill>
            <a:prstDash val="solid"/>
          </a:ln>
        </p:spPr>
      </p:sp>
      <p:sp>
        <p:nvSpPr>
          <p:cNvPr id="8" name="task-hex"/>
          <p:cNvSpPr/>
          <p:nvPr/>
        </p:nvSpPr>
        <p:spPr>
          <a:xfrm>
            <a:off x="777240" y="1870446"/>
            <a:ext cx="731520" cy="633496"/>
          </a:xfrm>
          <a:prstGeom prst="hexagon">
            <a:avLst/>
          </a:prstGeom>
          <a:solidFill>
            <a:srgbClr val="B8862B"/>
          </a:solidFill>
          <a:ln/>
        </p:spPr>
      </p:sp>
      <p:sp>
        <p:nvSpPr>
          <p:cNvPr id="9" name="task-hex-label"/>
          <p:cNvSpPr txBox="1"/>
          <p:nvPr/>
        </p:nvSpPr>
        <p:spPr>
          <a:xfrm>
            <a:off x="777240" y="187044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10" name="task-everyone"/>
          <p:cNvSpPr txBox="1"/>
          <p:nvPr/>
        </p:nvSpPr>
        <p:spPr>
          <a:xfrm>
            <a:off x="10362895" y="191287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41173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In a ripple tank the dipper makes 6 waves every second. On the screen, 8 wavelengths measure 20 cm. Calculate the wave speed in metres per second.</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m/s</a:t>
            </a:r>
            <a:endParaRPr lang="en-US" sz="2000" dirty="0"/>
          </a:p>
        </p:txBody>
      </p:sp>
      <p:sp>
        <p:nvSpPr>
          <p:cNvPr id="12" name="col-Support"/>
          <p:cNvSpPr/>
          <p:nvPr/>
        </p:nvSpPr>
        <p:spPr>
          <a:xfrm>
            <a:off x="548640" y="3258820"/>
            <a:ext cx="4667802" cy="2885948"/>
          </a:xfrm>
          <a:prstGeom prst="roundRect">
            <a:avLst>
              <a:gd name="adj" fmla="val 1901"/>
            </a:avLst>
          </a:prstGeom>
          <a:solidFill>
            <a:srgbClr val="DDE9E9"/>
          </a:solidFill>
          <a:ln/>
        </p:spPr>
      </p:sp>
      <p:sp>
        <p:nvSpPr>
          <p:cNvPr id="13" name="col-hex"/>
          <p:cNvSpPr/>
          <p:nvPr/>
        </p:nvSpPr>
        <p:spPr>
          <a:xfrm>
            <a:off x="658368" y="333197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3295396"/>
            <a:ext cx="3936282"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898900"/>
            <a:ext cx="4393482" cy="2136140"/>
          </a:xfrm>
          <a:prstGeom prst="rect">
            <a:avLst/>
          </a:prstGeom>
          <a:noFill/>
          <a:ln/>
        </p:spPr>
        <p:txBody>
          <a:bodyPr wrap="square" lIns="63500" tIns="63500" rIns="63500" bIns="63500" rtlCol="0" anchor="t"/>
          <a:lstStyle/>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Frequency: waves per second is already in hertz.</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Wavelength: divide the measured length by the number of waves, then change cm to m (÷ 100).</a:t>
            </a:r>
            <a:endParaRPr lang="en-US" sz="1800" dirty="0"/>
          </a:p>
          <a:p>
            <a:pPr algn="l" indent="0" marL="0">
              <a:spcAft>
                <a:spcPts val="600"/>
              </a:spcAft>
              <a:buNone/>
            </a:pPr>
            <a:r>
              <a:rPr lang="en-US" sz="18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1800" dirty="0">
                <a:solidFill>
                  <a:srgbClr val="1E2229"/>
                </a:solidFill>
                <a:latin typeface="Calibri" pitchFamily="34" charset="0"/>
                <a:ea typeface="Calibri" pitchFamily="34" charset="-122"/>
                <a:cs typeface="Calibri" pitchFamily="34" charset="-120"/>
              </a:rPr>
              <a:t>v = f λ: multiply and write the unit m/s.</a:t>
            </a:r>
            <a:endParaRPr lang="en-US" sz="1800" dirty="0"/>
          </a:p>
        </p:txBody>
      </p:sp>
      <p:sp>
        <p:nvSpPr>
          <p:cNvPr id="17" name="col-Core"/>
          <p:cNvSpPr/>
          <p:nvPr/>
        </p:nvSpPr>
        <p:spPr>
          <a:xfrm>
            <a:off x="5490762" y="3258820"/>
            <a:ext cx="2938987" cy="2885948"/>
          </a:xfrm>
          <a:prstGeom prst="roundRect">
            <a:avLst>
              <a:gd name="adj" fmla="val 1901"/>
            </a:avLst>
          </a:prstGeom>
          <a:solidFill>
            <a:srgbClr val="C3D8D7"/>
          </a:solidFill>
          <a:ln/>
        </p:spPr>
      </p:sp>
      <p:sp>
        <p:nvSpPr>
          <p:cNvPr id="18" name="col-hex"/>
          <p:cNvSpPr/>
          <p:nvPr/>
        </p:nvSpPr>
        <p:spPr>
          <a:xfrm>
            <a:off x="5600490" y="333197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5600490"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6130842"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5627922"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195955"/>
                </a:solidFill>
                <a:latin typeface="Calibri" pitchFamily="34" charset="0"/>
                <a:ea typeface="Calibri" pitchFamily="34" charset="-122"/>
                <a:cs typeface="Calibri" pitchFamily="34" charset="-120"/>
              </a:rPr>
              <a:t>Hint:  </a:t>
            </a:r>
            <a:pPr algn="l" indent="0" marL="0">
              <a:buNone/>
            </a:pPr>
            <a:r>
              <a:rPr lang="en-US" sz="1800" dirty="0">
                <a:solidFill>
                  <a:srgbClr val="1E2229"/>
                </a:solidFill>
                <a:latin typeface="Calibri" pitchFamily="34" charset="0"/>
                <a:ea typeface="Calibri" pitchFamily="34" charset="-122"/>
                <a:cs typeface="Calibri" pitchFamily="34" charset="-120"/>
              </a:rPr>
              <a:t>Find one wavelength in metres before you multiply.</a:t>
            </a:r>
            <a:endParaRPr lang="en-US" sz="1800" dirty="0"/>
          </a:p>
        </p:txBody>
      </p:sp>
      <p:sp>
        <p:nvSpPr>
          <p:cNvPr id="22" name="col-Stretch"/>
          <p:cNvSpPr/>
          <p:nvPr/>
        </p:nvSpPr>
        <p:spPr>
          <a:xfrm>
            <a:off x="8704069" y="3258820"/>
            <a:ext cx="2938987" cy="2885948"/>
          </a:xfrm>
          <a:prstGeom prst="roundRect">
            <a:avLst>
              <a:gd name="adj" fmla="val 1901"/>
            </a:avLst>
          </a:prstGeom>
          <a:solidFill>
            <a:srgbClr val="1F6F6A"/>
          </a:solidFill>
          <a:ln/>
        </p:spPr>
      </p:sp>
      <p:sp>
        <p:nvSpPr>
          <p:cNvPr id="23" name="col-hex"/>
          <p:cNvSpPr/>
          <p:nvPr/>
        </p:nvSpPr>
        <p:spPr>
          <a:xfrm>
            <a:off x="8813797" y="333197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813797" y="333197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9344149" y="3295396"/>
            <a:ext cx="2207467"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841229" y="3898900"/>
            <a:ext cx="2664667" cy="2136140"/>
          </a:xfrm>
          <a:prstGeom prst="rect">
            <a:avLst/>
          </a:prstGeom>
          <a:noFill/>
          <a:ln/>
        </p:spPr>
        <p:txBody>
          <a:bodyPr wrap="square" lIns="63500" tIns="63500" rIns="63500" bIns="63500" rtlCol="0" anchor="t"/>
          <a:lstStyle/>
          <a:p>
            <a:pPr algn="l" indent="0" marL="0">
              <a:buNone/>
            </a:pPr>
            <a:r>
              <a:rPr lang="en-US" sz="1800" b="1" dirty="0">
                <a:solidFill>
                  <a:srgbClr val="D4B680"/>
                </a:solidFill>
                <a:latin typeface="Calibri" pitchFamily="34" charset="0"/>
                <a:ea typeface="Calibri" pitchFamily="34" charset="-122"/>
                <a:cs typeface="Calibri" pitchFamily="34" charset="-120"/>
              </a:rPr>
              <a:t>Then:  </a:t>
            </a:r>
            <a:pPr algn="l" indent="0" marL="0">
              <a:buNone/>
            </a:pPr>
            <a:r>
              <a:rPr lang="en-US" sz="1800" dirty="0">
                <a:solidFill>
                  <a:srgbClr val="FFFFFF"/>
                </a:solidFill>
                <a:latin typeface="Calibri" pitchFamily="34" charset="0"/>
                <a:ea typeface="Calibri" pitchFamily="34" charset="-122"/>
                <a:cs typeface="Calibri" pitchFamily="34" charset="-120"/>
              </a:rPr>
              <a:t>The dipper is sped up to 12 waves a second with the water depth unchanged. Predict the new wavelength and explain why the wave speed does not change.</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2600" b="1" dirty="0">
                <a:solidFill>
                  <a:srgbClr val="1F6F6A"/>
                </a:solidFill>
                <a:latin typeface="Cambria" pitchFamily="34" charset="0"/>
                <a:ea typeface="Cambria" pitchFamily="34" charset="-122"/>
                <a:cs typeface="Cambria" pitchFamily="34" charset="-120"/>
              </a:rPr>
              <a:t>Same task, three ways in: Speed of sound from an echo</a:t>
            </a:r>
            <a:endParaRPr lang="en-US" sz="26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Routes</a:t>
            </a:r>
            <a:endParaRPr lang="en-US" sz="1800" dirty="0"/>
          </a:p>
        </p:txBody>
      </p:sp>
      <p:sp>
        <p:nvSpPr>
          <p:cNvPr id="7" name="task-box"/>
          <p:cNvSpPr/>
          <p:nvPr/>
        </p:nvSpPr>
        <p:spPr>
          <a:xfrm>
            <a:off x="548640" y="1389888"/>
            <a:ext cx="11094415" cy="1284732"/>
          </a:xfrm>
          <a:prstGeom prst="roundRect">
            <a:avLst>
              <a:gd name="adj" fmla="val 7117"/>
            </a:avLst>
          </a:prstGeom>
          <a:solidFill>
            <a:srgbClr val="FFFFFF"/>
          </a:solidFill>
          <a:ln w="31750">
            <a:solidFill>
              <a:srgbClr val="B8862B"/>
            </a:solidFill>
            <a:prstDash val="solid"/>
          </a:ln>
        </p:spPr>
      </p:sp>
      <p:sp>
        <p:nvSpPr>
          <p:cNvPr id="8" name="task-hex"/>
          <p:cNvSpPr/>
          <p:nvPr/>
        </p:nvSpPr>
        <p:spPr>
          <a:xfrm>
            <a:off x="777240" y="1715506"/>
            <a:ext cx="731520" cy="633496"/>
          </a:xfrm>
          <a:prstGeom prst="hexagon">
            <a:avLst/>
          </a:prstGeom>
          <a:solidFill>
            <a:srgbClr val="B8862B"/>
          </a:solidFill>
          <a:ln/>
        </p:spPr>
      </p:sp>
      <p:sp>
        <p:nvSpPr>
          <p:cNvPr id="9" name="task-hex-label"/>
          <p:cNvSpPr txBox="1"/>
          <p:nvPr/>
        </p:nvSpPr>
        <p:spPr>
          <a:xfrm>
            <a:off x="777240" y="1715506"/>
            <a:ext cx="731520" cy="633496"/>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0" name="task-everyone"/>
          <p:cNvSpPr txBox="1"/>
          <p:nvPr/>
        </p:nvSpPr>
        <p:spPr>
          <a:xfrm>
            <a:off x="10362895" y="1757934"/>
            <a:ext cx="1188720" cy="548640"/>
          </a:xfrm>
          <a:prstGeom prst="rect">
            <a:avLst/>
          </a:prstGeom>
          <a:noFill/>
          <a:ln/>
        </p:spPr>
        <p:txBody>
          <a:bodyPr wrap="square" lIns="63500" tIns="63500" rIns="63500" bIns="63500" rtlCol="0" anchor="ctr"/>
          <a:lstStyle/>
          <a:p>
            <a:pPr algn="ctr" indent="0" marL="0">
              <a:buNone/>
            </a:pPr>
            <a:r>
              <a:rPr lang="en-US" sz="1800" b="1" dirty="0">
                <a:solidFill>
                  <a:srgbClr val="815E1E"/>
                </a:solidFill>
                <a:latin typeface="Calibri" pitchFamily="34" charset="0"/>
                <a:ea typeface="Calibri" pitchFamily="34" charset="-122"/>
                <a:cs typeface="Calibri" pitchFamily="34" charset="-120"/>
              </a:rPr>
              <a:t>Everyone</a:t>
            </a:r>
            <a:endParaRPr lang="en-US" sz="1800" dirty="0"/>
          </a:p>
        </p:txBody>
      </p:sp>
      <p:sp>
        <p:nvSpPr>
          <p:cNvPr id="11" name="task"/>
          <p:cNvSpPr txBox="1"/>
          <p:nvPr/>
        </p:nvSpPr>
        <p:spPr>
          <a:xfrm>
            <a:off x="1645920" y="1481328"/>
            <a:ext cx="8579815" cy="1101852"/>
          </a:xfrm>
          <a:prstGeom prst="rect">
            <a:avLst/>
          </a:prstGeom>
          <a:noFill/>
          <a:ln/>
        </p:spPr>
        <p:txBody>
          <a:bodyPr wrap="square" lIns="63500" tIns="63500" rIns="63500" bIns="63500" rtlCol="0" anchor="ctr"/>
          <a:lstStyle/>
          <a:p>
            <a:pPr algn="ctr" indent="0" marL="0">
              <a:spcAft>
                <a:spcPts val="600"/>
              </a:spcAft>
              <a:buNone/>
            </a:pPr>
            <a:r>
              <a:rPr lang="en-US" sz="2000" b="1" dirty="0">
                <a:solidFill>
                  <a:srgbClr val="1E2229"/>
                </a:solidFill>
                <a:latin typeface="Calibri" pitchFamily="34" charset="0"/>
                <a:ea typeface="Calibri" pitchFamily="34" charset="-122"/>
                <a:cs typeface="Calibri" pitchFamily="34" charset="-120"/>
              </a:rPr>
              <a:t>A pupil stands 85 m from a wall and claps. The echo returns 0.50 s after the clap. Calculate the speed of sound in metres per second.</a:t>
            </a:r>
            <a:endParaRPr lang="en-US" sz="2000" dirty="0"/>
          </a:p>
          <a:p>
            <a:pPr algn="ctr" indent="0" marL="0">
              <a:buNone/>
            </a:pPr>
            <a:r>
              <a:rPr lang="en-US" sz="1800" b="1" dirty="0">
                <a:solidFill>
                  <a:srgbClr val="1F6F6A"/>
                </a:solidFill>
                <a:latin typeface="Calibri" pitchFamily="34" charset="0"/>
                <a:ea typeface="Calibri" pitchFamily="34" charset="-122"/>
                <a:cs typeface="Calibri" pitchFamily="34" charset="-120"/>
              </a:rPr>
              <a:t>Answer:  </a:t>
            </a:r>
            <a:pPr algn="ctr" indent="0" marL="0">
              <a:buNone/>
            </a:pPr>
            <a:r>
              <a:rPr lang="en-US" sz="1800" dirty="0">
                <a:solidFill>
                  <a:srgbClr val="1E2229"/>
                </a:solidFill>
                <a:latin typeface="Calibri" pitchFamily="34" charset="0"/>
                <a:ea typeface="Calibri" pitchFamily="34" charset="-122"/>
                <a:cs typeface="Calibri" pitchFamily="34" charset="-120"/>
              </a:rPr>
              <a:t>__________ m/s</a:t>
            </a:r>
            <a:endParaRPr lang="en-US" sz="2000" dirty="0"/>
          </a:p>
        </p:txBody>
      </p:sp>
      <p:sp>
        <p:nvSpPr>
          <p:cNvPr id="12" name="col-Support"/>
          <p:cNvSpPr/>
          <p:nvPr/>
        </p:nvSpPr>
        <p:spPr>
          <a:xfrm>
            <a:off x="548640" y="2948940"/>
            <a:ext cx="3515258" cy="3195828"/>
          </a:xfrm>
          <a:prstGeom prst="roundRect">
            <a:avLst>
              <a:gd name="adj" fmla="val 1717"/>
            </a:avLst>
          </a:prstGeom>
          <a:solidFill>
            <a:srgbClr val="DDE9E9"/>
          </a:solidFill>
          <a:ln/>
        </p:spPr>
      </p:sp>
      <p:sp>
        <p:nvSpPr>
          <p:cNvPr id="13" name="col-hex"/>
          <p:cNvSpPr/>
          <p:nvPr/>
        </p:nvSpPr>
        <p:spPr>
          <a:xfrm>
            <a:off x="658368" y="3022092"/>
            <a:ext cx="475488" cy="411773"/>
          </a:xfrm>
          <a:prstGeom prst="hexagon">
            <a:avLst/>
          </a:prstGeom>
          <a:solidFill>
            <a:srgbClr val="B8862B"/>
          </a:solidFill>
          <a:ln w="12700">
            <a:solidFill>
              <a:srgbClr val="FFFFFF"/>
            </a:solidFill>
            <a:prstDash val="solid"/>
          </a:ln>
        </p:spPr>
      </p:sp>
      <p:sp>
        <p:nvSpPr>
          <p:cNvPr id="14" name="col-hex-label"/>
          <p:cNvSpPr txBox="1"/>
          <p:nvPr/>
        </p:nvSpPr>
        <p:spPr>
          <a:xfrm>
            <a:off x="658368"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1</a:t>
            </a:r>
            <a:endParaRPr lang="en-US" sz="1800" dirty="0"/>
          </a:p>
        </p:txBody>
      </p:sp>
      <p:sp>
        <p:nvSpPr>
          <p:cNvPr id="15" name="col-head"/>
          <p:cNvSpPr txBox="1"/>
          <p:nvPr/>
        </p:nvSpPr>
        <p:spPr>
          <a:xfrm>
            <a:off x="1188720"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Support</a:t>
            </a:r>
            <a:endParaRPr lang="en-US" sz="2000" dirty="0"/>
          </a:p>
        </p:txBody>
      </p:sp>
      <p:sp>
        <p:nvSpPr>
          <p:cNvPr id="16" name="col-body"/>
          <p:cNvSpPr txBox="1"/>
          <p:nvPr/>
        </p:nvSpPr>
        <p:spPr>
          <a:xfrm>
            <a:off x="685800" y="3589020"/>
            <a:ext cx="3240938" cy="2446020"/>
          </a:xfrm>
          <a:prstGeom prst="rect">
            <a:avLst/>
          </a:prstGeom>
          <a:noFill/>
          <a:ln/>
        </p:spPr>
        <p:txBody>
          <a:bodyPr wrap="square" lIns="63500" tIns="63500" rIns="63500" bIns="63500" rtlCol="0" anchor="t"/>
          <a:lstStyle/>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1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Work out the distance the sound travels: to the wall and back, so double it.</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2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Speed = distance ÷ time.</a:t>
            </a:r>
            <a:endParaRPr lang="en-US" sz="2000" dirty="0"/>
          </a:p>
          <a:p>
            <a:pPr algn="l" indent="0" marL="0">
              <a:spcAft>
                <a:spcPts val="600"/>
              </a:spcAft>
              <a:buNone/>
            </a:pPr>
            <a:r>
              <a:rPr lang="en-US" sz="2000" b="1" dirty="0">
                <a:solidFill>
                  <a:srgbClr val="1F6F6A"/>
                </a:solidFill>
                <a:latin typeface="Calibri" pitchFamily="34" charset="0"/>
                <a:ea typeface="Calibri" pitchFamily="34" charset="-122"/>
                <a:cs typeface="Calibri" pitchFamily="34" charset="-120"/>
              </a:rPr>
              <a:t>3  </a:t>
            </a:r>
            <a:pPr algn="l" indent="0" marL="0">
              <a:spcAft>
                <a:spcPts val="600"/>
              </a:spcAft>
              <a:buNone/>
            </a:pPr>
            <a:r>
              <a:rPr lang="en-US" sz="2000" dirty="0">
                <a:solidFill>
                  <a:srgbClr val="1E2229"/>
                </a:solidFill>
                <a:latin typeface="Calibri" pitchFamily="34" charset="0"/>
                <a:ea typeface="Calibri" pitchFamily="34" charset="-122"/>
                <a:cs typeface="Calibri" pitchFamily="34" charset="-120"/>
              </a:rPr>
              <a:t>Write the unit m/s.</a:t>
            </a:r>
            <a:endParaRPr lang="en-US" sz="2000" dirty="0"/>
          </a:p>
        </p:txBody>
      </p:sp>
      <p:sp>
        <p:nvSpPr>
          <p:cNvPr id="17" name="col-Core"/>
          <p:cNvSpPr/>
          <p:nvPr/>
        </p:nvSpPr>
        <p:spPr>
          <a:xfrm>
            <a:off x="4338218" y="2948940"/>
            <a:ext cx="3515258" cy="3195828"/>
          </a:xfrm>
          <a:prstGeom prst="roundRect">
            <a:avLst>
              <a:gd name="adj" fmla="val 1717"/>
            </a:avLst>
          </a:prstGeom>
          <a:solidFill>
            <a:srgbClr val="C3D8D7"/>
          </a:solidFill>
          <a:ln/>
        </p:spPr>
      </p:sp>
      <p:sp>
        <p:nvSpPr>
          <p:cNvPr id="18" name="col-hex"/>
          <p:cNvSpPr/>
          <p:nvPr/>
        </p:nvSpPr>
        <p:spPr>
          <a:xfrm>
            <a:off x="4447946" y="3022092"/>
            <a:ext cx="475488" cy="411773"/>
          </a:xfrm>
          <a:prstGeom prst="hexagon">
            <a:avLst/>
          </a:prstGeom>
          <a:solidFill>
            <a:srgbClr val="B8862B"/>
          </a:solidFill>
          <a:ln w="12700">
            <a:solidFill>
              <a:srgbClr val="FFFFFF"/>
            </a:solidFill>
            <a:prstDash val="solid"/>
          </a:ln>
        </p:spPr>
      </p:sp>
      <p:sp>
        <p:nvSpPr>
          <p:cNvPr id="19" name="col-hex-label"/>
          <p:cNvSpPr txBox="1"/>
          <p:nvPr/>
        </p:nvSpPr>
        <p:spPr>
          <a:xfrm>
            <a:off x="4447946"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2</a:t>
            </a:r>
            <a:endParaRPr lang="en-US" sz="1800" dirty="0"/>
          </a:p>
        </p:txBody>
      </p:sp>
      <p:sp>
        <p:nvSpPr>
          <p:cNvPr id="20" name="col-head"/>
          <p:cNvSpPr txBox="1"/>
          <p:nvPr/>
        </p:nvSpPr>
        <p:spPr>
          <a:xfrm>
            <a:off x="4978298"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164E4A"/>
                </a:solidFill>
                <a:latin typeface="Calibri" pitchFamily="34" charset="0"/>
                <a:ea typeface="Calibri" pitchFamily="34" charset="-122"/>
                <a:cs typeface="Calibri" pitchFamily="34" charset="-120"/>
              </a:rPr>
              <a:t>Core</a:t>
            </a:r>
            <a:endParaRPr lang="en-US" sz="2000" dirty="0"/>
          </a:p>
        </p:txBody>
      </p:sp>
      <p:sp>
        <p:nvSpPr>
          <p:cNvPr id="21" name="col-body"/>
          <p:cNvSpPr txBox="1"/>
          <p:nvPr/>
        </p:nvSpPr>
        <p:spPr>
          <a:xfrm>
            <a:off x="4475378"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195955"/>
                </a:solidFill>
                <a:latin typeface="Calibri" pitchFamily="34" charset="0"/>
                <a:ea typeface="Calibri" pitchFamily="34" charset="-122"/>
                <a:cs typeface="Calibri" pitchFamily="34" charset="-120"/>
              </a:rPr>
              <a:t>Hint:  </a:t>
            </a:r>
            <a:pPr algn="l" indent="0" marL="0">
              <a:buNone/>
            </a:pPr>
            <a:r>
              <a:rPr lang="en-US" sz="2000" dirty="0">
                <a:solidFill>
                  <a:srgbClr val="1E2229"/>
                </a:solidFill>
                <a:latin typeface="Calibri" pitchFamily="34" charset="0"/>
                <a:ea typeface="Calibri" pitchFamily="34" charset="-122"/>
                <a:cs typeface="Calibri" pitchFamily="34" charset="-120"/>
              </a:rPr>
              <a:t>How far does the sound travel before you hear the echo? Not 85 m.</a:t>
            </a:r>
            <a:endParaRPr lang="en-US" sz="2000" dirty="0"/>
          </a:p>
        </p:txBody>
      </p:sp>
      <p:sp>
        <p:nvSpPr>
          <p:cNvPr id="22" name="col-Stretch"/>
          <p:cNvSpPr/>
          <p:nvPr/>
        </p:nvSpPr>
        <p:spPr>
          <a:xfrm>
            <a:off x="8127797" y="2948940"/>
            <a:ext cx="3515258" cy="3195828"/>
          </a:xfrm>
          <a:prstGeom prst="roundRect">
            <a:avLst>
              <a:gd name="adj" fmla="val 1717"/>
            </a:avLst>
          </a:prstGeom>
          <a:solidFill>
            <a:srgbClr val="1F6F6A"/>
          </a:solidFill>
          <a:ln/>
        </p:spPr>
      </p:sp>
      <p:sp>
        <p:nvSpPr>
          <p:cNvPr id="23" name="col-hex"/>
          <p:cNvSpPr/>
          <p:nvPr/>
        </p:nvSpPr>
        <p:spPr>
          <a:xfrm>
            <a:off x="8237525" y="3022092"/>
            <a:ext cx="475488" cy="411773"/>
          </a:xfrm>
          <a:prstGeom prst="hexagon">
            <a:avLst/>
          </a:prstGeom>
          <a:solidFill>
            <a:srgbClr val="B8862B"/>
          </a:solidFill>
          <a:ln w="12700">
            <a:solidFill>
              <a:srgbClr val="FFFFFF"/>
            </a:solidFill>
            <a:prstDash val="solid"/>
          </a:ln>
        </p:spPr>
      </p:sp>
      <p:sp>
        <p:nvSpPr>
          <p:cNvPr id="24" name="col-hex-label"/>
          <p:cNvSpPr txBox="1"/>
          <p:nvPr/>
        </p:nvSpPr>
        <p:spPr>
          <a:xfrm>
            <a:off x="8237525" y="3022092"/>
            <a:ext cx="475488" cy="41177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3</a:t>
            </a:r>
            <a:endParaRPr lang="en-US" sz="1800" dirty="0"/>
          </a:p>
        </p:txBody>
      </p:sp>
      <p:sp>
        <p:nvSpPr>
          <p:cNvPr id="25" name="col-head"/>
          <p:cNvSpPr txBox="1"/>
          <p:nvPr/>
        </p:nvSpPr>
        <p:spPr>
          <a:xfrm>
            <a:off x="8767877" y="2985516"/>
            <a:ext cx="2783738" cy="566928"/>
          </a:xfrm>
          <a:prstGeom prst="rect">
            <a:avLst/>
          </a:prstGeom>
          <a:noFill/>
          <a:ln/>
        </p:spPr>
        <p:txBody>
          <a:bodyPr wrap="square" lIns="63500" tIns="63500" rIns="63500" bIns="63500" rtlCol="0" anchor="ctr"/>
          <a:lstStyle/>
          <a:p>
            <a:pPr algn="l" indent="0" marL="0">
              <a:buNone/>
            </a:pPr>
            <a:r>
              <a:rPr lang="en-US" sz="2000" b="1" dirty="0">
                <a:solidFill>
                  <a:srgbClr val="FFFFFF"/>
                </a:solidFill>
                <a:latin typeface="Calibri" pitchFamily="34" charset="0"/>
                <a:ea typeface="Calibri" pitchFamily="34" charset="-122"/>
                <a:cs typeface="Calibri" pitchFamily="34" charset="-120"/>
              </a:rPr>
              <a:t>Stretch</a:t>
            </a:r>
            <a:endParaRPr lang="en-US" sz="2000" dirty="0"/>
          </a:p>
        </p:txBody>
      </p:sp>
      <p:sp>
        <p:nvSpPr>
          <p:cNvPr id="26" name="col-body"/>
          <p:cNvSpPr txBox="1"/>
          <p:nvPr/>
        </p:nvSpPr>
        <p:spPr>
          <a:xfrm>
            <a:off x="8264957" y="3589020"/>
            <a:ext cx="3240938" cy="2446020"/>
          </a:xfrm>
          <a:prstGeom prst="rect">
            <a:avLst/>
          </a:prstGeom>
          <a:noFill/>
          <a:ln/>
        </p:spPr>
        <p:txBody>
          <a:bodyPr wrap="square" lIns="63500" tIns="63500" rIns="63500" bIns="63500" rtlCol="0" anchor="t"/>
          <a:lstStyle/>
          <a:p>
            <a:pPr algn="l" indent="0" marL="0">
              <a:buNone/>
            </a:pPr>
            <a:r>
              <a:rPr lang="en-US" sz="2000" b="1" dirty="0">
                <a:solidFill>
                  <a:srgbClr val="D4B680"/>
                </a:solidFill>
                <a:latin typeface="Calibri" pitchFamily="34" charset="0"/>
                <a:ea typeface="Calibri" pitchFamily="34" charset="-122"/>
                <a:cs typeface="Calibri" pitchFamily="34" charset="-120"/>
              </a:rPr>
              <a:t>Then:  </a:t>
            </a:r>
            <a:pPr algn="l" indent="0" marL="0">
              <a:buNone/>
            </a:pPr>
            <a:r>
              <a:rPr lang="en-US" sz="2000" dirty="0">
                <a:solidFill>
                  <a:srgbClr val="FFFFFF"/>
                </a:solidFill>
                <a:latin typeface="Calibri" pitchFamily="34" charset="0"/>
                <a:ea typeface="Calibri" pitchFamily="34" charset="-122"/>
                <a:cs typeface="Calibri" pitchFamily="34" charset="-120"/>
              </a:rPr>
              <a:t>Explain why timing 20 clap-echo gaps and dividing by 20 gives a more accurate speed than timing one, and name one other source of error in this method.</a:t>
            </a:r>
            <a:endParaRPr lang="en-US" sz="20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Exit ticket</a:t>
            </a:r>
            <a:endParaRPr lang="en-US" sz="3200" dirty="0"/>
          </a:p>
        </p:txBody>
      </p:sp>
      <p:sp>
        <p:nvSpPr>
          <p:cNvPr id="4" name="chip-hex"/>
          <p:cNvSpPr/>
          <p:nvPr/>
        </p:nvSpPr>
        <p:spPr>
          <a:xfrm>
            <a:off x="9677095" y="531760"/>
            <a:ext cx="566928" cy="490960"/>
          </a:xfrm>
          <a:prstGeom prst="hexagon">
            <a:avLst/>
          </a:prstGeom>
          <a:solidFill>
            <a:srgbClr val="B8862B"/>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8A6520"/>
                </a:solidFill>
                <a:latin typeface="Calibri" pitchFamily="34" charset="0"/>
                <a:ea typeface="Calibri" pitchFamily="34" charset="-122"/>
                <a:cs typeface="Calibri" pitchFamily="34" charset="-120"/>
              </a:rPr>
              <a:t>Exit</a:t>
            </a:r>
            <a:endParaRPr lang="en-US" sz="1800" dirty="0"/>
          </a:p>
        </p:txBody>
      </p:sp>
      <p:sp>
        <p:nvSpPr>
          <p:cNvPr id="7" name="exit-card"/>
          <p:cNvSpPr/>
          <p:nvPr/>
        </p:nvSpPr>
        <p:spPr>
          <a:xfrm>
            <a:off x="1645920" y="1389888"/>
            <a:ext cx="8899855" cy="4754880"/>
          </a:xfrm>
          <a:prstGeom prst="roundRect">
            <a:avLst>
              <a:gd name="adj" fmla="val 962"/>
            </a:avLst>
          </a:prstGeom>
          <a:solidFill>
            <a:srgbClr val="FFFFFF"/>
          </a:solidFill>
          <a:ln w="31750">
            <a:solidFill>
              <a:srgbClr val="1F6F6A"/>
            </a:solidFill>
            <a:prstDash val="solid"/>
          </a:ln>
          <a:effectLst>
            <a:outerShdw sx="100000" sy="100000" kx="0" ky="0" algn="bl" rotWithShape="0" blurRad="76200" dist="25400" dir="5400000">
              <a:srgbClr val="000000">
                <a:alpha val="12000"/>
              </a:srgbClr>
            </a:outerShdw>
          </a:effectLst>
        </p:spPr>
      </p:sp>
      <p:sp>
        <p:nvSpPr>
          <p:cNvPr id="8" name="exit-hex"/>
          <p:cNvSpPr/>
          <p:nvPr/>
        </p:nvSpPr>
        <p:spPr>
          <a:xfrm>
            <a:off x="1143000" y="1618488"/>
            <a:ext cx="1005840" cy="871057"/>
          </a:xfrm>
          <a:prstGeom prst="hexagon">
            <a:avLst/>
          </a:prstGeom>
          <a:solidFill>
            <a:srgbClr val="1F6F6A"/>
          </a:solidFill>
          <a:ln w="25400">
            <a:solidFill>
              <a:srgbClr val="B8862B"/>
            </a:solidFill>
            <a:prstDash val="solid"/>
          </a:ln>
        </p:spPr>
      </p:sp>
      <p:sp>
        <p:nvSpPr>
          <p:cNvPr id="9" name="exit-hex-label"/>
          <p:cNvSpPr txBox="1"/>
          <p:nvPr/>
        </p:nvSpPr>
        <p:spPr>
          <a:xfrm>
            <a:off x="1143000" y="1618488"/>
            <a:ext cx="1005840" cy="871057"/>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Exit</a:t>
            </a:r>
            <a:endParaRPr lang="en-US" sz="2000" dirty="0"/>
          </a:p>
        </p:txBody>
      </p:sp>
      <p:sp>
        <p:nvSpPr>
          <p:cNvPr id="10" name="exit-q"/>
          <p:cNvSpPr txBox="1"/>
          <p:nvPr/>
        </p:nvSpPr>
        <p:spPr>
          <a:xfrm>
            <a:off x="2286000" y="1664208"/>
            <a:ext cx="7802575" cy="2243328"/>
          </a:xfrm>
          <a:prstGeom prst="rect">
            <a:avLst/>
          </a:prstGeom>
          <a:noFill/>
          <a:ln/>
        </p:spPr>
        <p:txBody>
          <a:bodyPr wrap="square" lIns="63500" tIns="63500" rIns="63500" bIns="63500" rtlCol="0" anchor="t"/>
          <a:lstStyle/>
          <a:p>
            <a:pPr algn="l" indent="0" marL="0">
              <a:spcAft>
                <a:spcPts val="1200"/>
              </a:spcAft>
              <a:buNone/>
            </a:pPr>
            <a:r>
              <a:rPr lang="en-US" sz="2400" b="1" dirty="0">
                <a:solidFill>
                  <a:srgbClr val="1E2229"/>
                </a:solidFill>
                <a:latin typeface="Calibri" pitchFamily="34" charset="0"/>
                <a:ea typeface="Calibri" pitchFamily="34" charset="-122"/>
                <a:cs typeface="Calibri" pitchFamily="34" charset="-120"/>
              </a:rPr>
              <a:t>Why can sound not travel through a vacuum?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A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Sound travels too slowly to cross a vacuum.</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B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A vacuum absorbs all the sound energy.</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C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Sound is an electromagnetic wave and needs air.</a:t>
            </a:r>
            <a:endParaRPr lang="en-US" sz="2400" dirty="0"/>
          </a:p>
          <a:p>
            <a:pPr algn="l" indent="0" marL="0">
              <a:spcAft>
                <a:spcPts val="600"/>
              </a:spcAft>
              <a:buNone/>
            </a:pPr>
            <a:r>
              <a:rPr lang="en-US" sz="2200" b="1" dirty="0">
                <a:solidFill>
                  <a:srgbClr val="B8862B"/>
                </a:solidFill>
                <a:latin typeface="Calibri" pitchFamily="34" charset="0"/>
                <a:ea typeface="Calibri" pitchFamily="34" charset="-122"/>
                <a:cs typeface="Calibri" pitchFamily="34" charset="-120"/>
              </a:rPr>
              <a:t>D   </a:t>
            </a:r>
            <a:pPr algn="l" indent="0" marL="0">
              <a:spcAft>
                <a:spcPts val="600"/>
              </a:spcAft>
              <a:buNone/>
            </a:pPr>
            <a:r>
              <a:rPr lang="en-US" sz="2200" dirty="0">
                <a:solidFill>
                  <a:srgbClr val="1E2229"/>
                </a:solidFill>
                <a:latin typeface="Calibri" pitchFamily="34" charset="0"/>
                <a:ea typeface="Calibri" pitchFamily="34" charset="-122"/>
                <a:cs typeface="Calibri" pitchFamily="34" charset="-120"/>
              </a:rPr>
              <a:t>There are no particles to pass the vibration on.</a:t>
            </a:r>
            <a:endParaRPr lang="en-US" sz="2400" dirty="0"/>
          </a:p>
        </p:txBody>
      </p:sp>
      <p:sp>
        <p:nvSpPr>
          <p:cNvPr id="11" name="exit-answer-box"/>
          <p:cNvSpPr/>
          <p:nvPr/>
        </p:nvSpPr>
        <p:spPr>
          <a:xfrm>
            <a:off x="2286000" y="5047488"/>
            <a:ext cx="7619695" cy="822960"/>
          </a:xfrm>
          <a:prstGeom prst="roundRect">
            <a:avLst>
              <a:gd name="adj" fmla="val 11111"/>
            </a:avLst>
          </a:prstGeom>
          <a:solidFill>
            <a:srgbClr val="E4EEED"/>
          </a:solidFill>
          <a:ln w="12700">
            <a:solidFill>
              <a:srgbClr val="84B0AD"/>
            </a:solidFill>
            <a:prstDash val="solid"/>
          </a:ln>
        </p:spPr>
      </p:sp>
      <p:sp>
        <p:nvSpPr>
          <p:cNvPr id="12" name="exit-answer-label"/>
          <p:cNvSpPr txBox="1"/>
          <p:nvPr/>
        </p:nvSpPr>
        <p:spPr>
          <a:xfrm>
            <a:off x="2423160" y="5047488"/>
            <a:ext cx="2926080" cy="822960"/>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My answer:</a:t>
            </a:r>
            <a:endParaRPr lang="en-US" sz="18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Wave speed from the ripple tank</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In a ripple tank the dipper makes 6 waves every second. On the screen, 8 wavelengths measure 20 cm. Calculate the wave speed in metres per second.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0.15 m/s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λ = 20 ÷ 8 = 2.5 cm = 0.025 m; v = 6 × 0.025 = 0.15 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Speed of sound from an echo</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A pupil stands 85 m from a wall and claps. The echo returns 0.50 s after the clap. Calculate the speed of sound in metres per second.</a:t>
            </a:r>
            <a:endParaRPr lang="en-US" sz="1800" dirty="0"/>
          </a:p>
          <a:p>
            <a:pPr algn="l" indent="0" marL="0">
              <a:buNone/>
            </a:pPr>
            <a:r>
              <a:rPr lang="en-US" sz="4400" b="1" dirty="0">
                <a:solidFill>
                  <a:srgbClr val="1E2229"/>
                </a:solidFill>
                <a:latin typeface="Cambria" pitchFamily="34" charset="0"/>
                <a:ea typeface="Cambria" pitchFamily="34" charset="-122"/>
                <a:cs typeface="Cambria" pitchFamily="34" charset="-120"/>
              </a:rPr>
              <a:t>340 m/s</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The echo travels 2 × 85 = 170 m in 0.50 s, so the speed is 170 ÷ 0.50 = 340 m/s.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itle"/>
          <p:cNvSpPr txBox="1"/>
          <p:nvPr/>
        </p:nvSpPr>
        <p:spPr>
          <a:xfrm>
            <a:off x="548640" y="292608"/>
            <a:ext cx="9052560" cy="969264"/>
          </a:xfrm>
          <a:prstGeom prst="rect">
            <a:avLst/>
          </a:prstGeom>
          <a:noFill/>
          <a:ln/>
        </p:spPr>
        <p:txBody>
          <a:bodyPr wrap="square" lIns="63500" tIns="63500" rIns="63500" bIns="63500" rtlCol="0" anchor="ctr"/>
          <a:lstStyle/>
          <a:p>
            <a:pPr algn="l" indent="0" marL="0">
              <a:buNone/>
            </a:pPr>
            <a:r>
              <a:rPr lang="en-US" sz="3200" b="1" dirty="0">
                <a:solidFill>
                  <a:srgbClr val="1F6F6A"/>
                </a:solidFill>
                <a:latin typeface="Cambria" pitchFamily="34" charset="0"/>
                <a:ea typeface="Cambria" pitchFamily="34" charset="-122"/>
                <a:cs typeface="Cambria" pitchFamily="34" charset="-120"/>
              </a:rPr>
              <a:t>Answers: Exit ticket</a:t>
            </a:r>
            <a:endParaRPr lang="en-US" sz="3200" dirty="0"/>
          </a:p>
        </p:txBody>
      </p:sp>
      <p:sp>
        <p:nvSpPr>
          <p:cNvPr id="4" name="chip-hex"/>
          <p:cNvSpPr/>
          <p:nvPr/>
        </p:nvSpPr>
        <p:spPr>
          <a:xfrm>
            <a:off x="9677095" y="531760"/>
            <a:ext cx="566928" cy="490960"/>
          </a:xfrm>
          <a:prstGeom prst="hexagon">
            <a:avLst/>
          </a:prstGeom>
          <a:solidFill>
            <a:srgbClr val="1F6F6A"/>
          </a:solidFill>
          <a:ln/>
        </p:spPr>
      </p:sp>
      <p:sp>
        <p:nvSpPr>
          <p:cNvPr id="5" name="chip-hex-label"/>
          <p:cNvSpPr txBox="1"/>
          <p:nvPr/>
        </p:nvSpPr>
        <p:spPr>
          <a:xfrm>
            <a:off x="9677095" y="531760"/>
            <a:ext cx="566928" cy="490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6" name="chip-label"/>
          <p:cNvSpPr txBox="1"/>
          <p:nvPr/>
        </p:nvSpPr>
        <p:spPr>
          <a:xfrm>
            <a:off x="10317175" y="292608"/>
            <a:ext cx="1325880" cy="969264"/>
          </a:xfrm>
          <a:prstGeom prst="rect">
            <a:avLst/>
          </a:prstGeom>
          <a:noFill/>
          <a:ln/>
        </p:spPr>
        <p:txBody>
          <a:bodyPr wrap="square" lIns="63500" tIns="63500" rIns="63500" bIns="63500" rtlCol="0" anchor="ctr"/>
          <a:lstStyle/>
          <a:p>
            <a:pPr algn="l" indent="0" marL="0">
              <a:buNone/>
            </a:pPr>
            <a:r>
              <a:rPr lang="en-US" sz="1800" b="1" dirty="0">
                <a:solidFill>
                  <a:srgbClr val="1F6F6A"/>
                </a:solidFill>
                <a:latin typeface="Calibri" pitchFamily="34" charset="0"/>
                <a:ea typeface="Calibri" pitchFamily="34" charset="-122"/>
                <a:cs typeface="Calibri" pitchFamily="34" charset="-120"/>
              </a:rPr>
              <a:t>Check</a:t>
            </a:r>
            <a:endParaRPr lang="en-US" sz="1800" dirty="0"/>
          </a:p>
        </p:txBody>
      </p:sp>
      <p:sp>
        <p:nvSpPr>
          <p:cNvPr id="7" name="ans-panel"/>
          <p:cNvSpPr/>
          <p:nvPr/>
        </p:nvSpPr>
        <p:spPr>
          <a:xfrm>
            <a:off x="548640" y="1389888"/>
            <a:ext cx="6400800" cy="4754880"/>
          </a:xfrm>
          <a:prstGeom prst="roundRect">
            <a:avLst>
              <a:gd name="adj" fmla="val 962"/>
            </a:avLst>
          </a:prstGeom>
          <a:solidFill>
            <a:srgbClr val="F3EADB"/>
          </a:solidFill>
          <a:ln w="19050">
            <a:solidFill>
              <a:srgbClr val="B8862B"/>
            </a:solidFill>
            <a:prstDash val="solid"/>
          </a:ln>
        </p:spPr>
      </p:sp>
      <p:sp>
        <p:nvSpPr>
          <p:cNvPr id="8" name="ans-tab"/>
          <p:cNvSpPr/>
          <p:nvPr/>
        </p:nvSpPr>
        <p:spPr>
          <a:xfrm>
            <a:off x="731520" y="1554480"/>
            <a:ext cx="1463040" cy="457200"/>
          </a:xfrm>
          <a:prstGeom prst="roundRect">
            <a:avLst>
              <a:gd name="adj" fmla="val 40000"/>
            </a:avLst>
          </a:prstGeom>
          <a:solidFill>
            <a:srgbClr val="9C7225"/>
          </a:solidFill>
          <a:ln/>
        </p:spPr>
        <p:txBody>
          <a:bodyPr wrap="square" lIns="63500" tIns="63500" rIns="63500" bIns="63500" rtlCol="0" anchor="ctr"/>
          <a:lstStyle/>
          <a:p>
            <a:pPr algn="l" indent="0" marL="0">
              <a:buNone/>
            </a:pPr>
            <a:r>
              <a:rPr lang="en-US" sz="1800" b="1" dirty="0">
                <a:solidFill>
                  <a:srgbClr val="FFFFFF"/>
                </a:solidFill>
                <a:latin typeface="Calibri" pitchFamily="34" charset="0"/>
                <a:ea typeface="Calibri" pitchFamily="34" charset="-122"/>
                <a:cs typeface="Calibri" pitchFamily="34" charset="-120"/>
              </a:rPr>
              <a:t>Answer</a:t>
            </a:r>
            <a:endParaRPr lang="en-US" sz="1800" dirty="0"/>
          </a:p>
        </p:txBody>
      </p:sp>
      <p:sp>
        <p:nvSpPr>
          <p:cNvPr id="9" name="ans"/>
          <p:cNvSpPr txBox="1"/>
          <p:nvPr/>
        </p:nvSpPr>
        <p:spPr>
          <a:xfrm>
            <a:off x="777240" y="2167128"/>
            <a:ext cx="5943600" cy="3840480"/>
          </a:xfrm>
          <a:prstGeom prst="rect">
            <a:avLst/>
          </a:prstGeom>
          <a:noFill/>
          <a:ln/>
        </p:spPr>
        <p:txBody>
          <a:bodyPr wrap="square" lIns="63500" tIns="63500" rIns="63500" bIns="63500" rtlCol="0" anchor="ctr"/>
          <a:lstStyle/>
          <a:p>
            <a:pPr algn="l" indent="0" marL="0">
              <a:spcAft>
                <a:spcPts val="1400"/>
              </a:spcAft>
              <a:buNone/>
            </a:pPr>
            <a:r>
              <a:rPr lang="en-US" sz="1800" dirty="0">
                <a:solidFill>
                  <a:srgbClr val="4A505C"/>
                </a:solidFill>
                <a:latin typeface="Calibri" pitchFamily="34" charset="0"/>
                <a:ea typeface="Calibri" pitchFamily="34" charset="-122"/>
                <a:cs typeface="Calibri" pitchFamily="34" charset="-120"/>
              </a:rPr>
              <a:t>Why can sound not travel through a vacuum?</a:t>
            </a:r>
            <a:endParaRPr lang="en-US" sz="1800" dirty="0"/>
          </a:p>
          <a:p>
            <a:pPr algn="l" indent="0" marL="0">
              <a:buNone/>
            </a:pPr>
            <a:r>
              <a:rPr lang="en-US" sz="3200" b="1" dirty="0">
                <a:solidFill>
                  <a:srgbClr val="1E2229"/>
                </a:solidFill>
                <a:latin typeface="Cambria" pitchFamily="34" charset="0"/>
                <a:ea typeface="Cambria" pitchFamily="34" charset="-122"/>
                <a:cs typeface="Cambria" pitchFamily="34" charset="-120"/>
              </a:rPr>
              <a:t>D   There are no particles to pass the vibration on.</a:t>
            </a:r>
            <a:endParaRPr lang="en-US" sz="1800" dirty="0"/>
          </a:p>
        </p:txBody>
      </p:sp>
      <p:sp>
        <p:nvSpPr>
          <p:cNvPr id="10" name="why-panel"/>
          <p:cNvSpPr/>
          <p:nvPr/>
        </p:nvSpPr>
        <p:spPr>
          <a:xfrm>
            <a:off x="7223760" y="1389888"/>
            <a:ext cx="4419295" cy="4754880"/>
          </a:xfrm>
          <a:prstGeom prst="roundRect">
            <a:avLst>
              <a:gd name="adj" fmla="val 1035"/>
            </a:avLst>
          </a:prstGeom>
          <a:solidFill>
            <a:srgbClr val="DDE9E9"/>
          </a:solidFill>
          <a:ln/>
        </p:spPr>
      </p:sp>
      <p:sp>
        <p:nvSpPr>
          <p:cNvPr id="11" name="why-hex"/>
          <p:cNvSpPr/>
          <p:nvPr/>
        </p:nvSpPr>
        <p:spPr>
          <a:xfrm>
            <a:off x="7406640" y="1572768"/>
            <a:ext cx="685800" cy="593903"/>
          </a:xfrm>
          <a:prstGeom prst="hexagon">
            <a:avLst/>
          </a:prstGeom>
          <a:solidFill>
            <a:srgbClr val="1F6F6A"/>
          </a:solidFill>
          <a:ln/>
        </p:spPr>
      </p:sp>
      <p:sp>
        <p:nvSpPr>
          <p:cNvPr id="12" name="why-hex-label"/>
          <p:cNvSpPr txBox="1"/>
          <p:nvPr/>
        </p:nvSpPr>
        <p:spPr>
          <a:xfrm>
            <a:off x="7406640" y="1572768"/>
            <a:ext cx="685800" cy="593903"/>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Why</a:t>
            </a:r>
            <a:endParaRPr lang="en-US" sz="1800" dirty="0"/>
          </a:p>
        </p:txBody>
      </p:sp>
      <p:sp>
        <p:nvSpPr>
          <p:cNvPr id="13" name="why"/>
          <p:cNvSpPr txBox="1"/>
          <p:nvPr/>
        </p:nvSpPr>
        <p:spPr>
          <a:xfrm>
            <a:off x="7406640" y="2304288"/>
            <a:ext cx="4053535" cy="3703320"/>
          </a:xfrm>
          <a:prstGeom prst="rect">
            <a:avLst/>
          </a:prstGeom>
          <a:noFill/>
          <a:ln/>
        </p:spPr>
        <p:txBody>
          <a:bodyPr wrap="square" lIns="63500" tIns="63500" rIns="63500" bIns="63500" rtlCol="0" anchor="t"/>
          <a:lstStyle/>
          <a:p>
            <a:pPr algn="l" indent="0" marL="0">
              <a:buNone/>
            </a:pPr>
            <a:r>
              <a:rPr lang="en-US" sz="2400" dirty="0">
                <a:solidFill>
                  <a:srgbClr val="1E2229"/>
                </a:solidFill>
                <a:latin typeface="Calibri" pitchFamily="34" charset="0"/>
                <a:ea typeface="Calibri" pitchFamily="34" charset="-122"/>
                <a:cs typeface="Calibri" pitchFamily="34" charset="-120"/>
              </a:rPr>
              <a:t>Sound is a mechanical wave: it is carried by particles passing the vibration on. A vacuum has no particles.</a:t>
            </a:r>
            <a:endParaRPr lang="en-US" sz="2400" dirty="0"/>
          </a:p>
        </p:txBody>
      </p:sp>
      <p:sp>
        <p:nvSpPr>
          <p:cNvPr id="25" name="Slide Number Placeholder 0"/>
          <p:cNvSpPr>
            <a:spLocks noGrp="1"/>
          </p:cNvSpPr>
          <p:nvPr>
            <p:ph type="sldNum" sz="quarter" idx="4294967295"/>
          </p:nvPr>
        </p:nvSpPr>
        <p:spPr>
          <a:xfrm>
            <a:off x="11018520" y="6446520"/>
            <a:ext cx="640080" cy="365760"/>
          </a:xfrm>
          <a:prstGeom prst="rect">
            <a:avLst/>
          </a:prstGeom>
          <a:extLst>
            <a:ext uri="{C572A759-6A51-4108-AA02-DFA0A04FC94B}">
              <ma14:wrappingTextBoxFlag xmlns:ma14="http://schemas.microsoft.com/office/mac/drawingml/2011/main" val="0"/>
            </a:ext>
          </a:extLst>
        </p:spPr>
        <p:txBody>
          <a:bodyPr lIns="0" tIns="0" rIns="0" bIns="0" anchor="ctr"/>
          <a:lstStyle>
            <a:lvl1pPr>
              <a:defRPr sz="1000">
                <a:solidFill>
                  <a:srgbClr val="1C645F"/>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d Astra combined">
  <a:themeElements>
    <a:clrScheme name="Ad Astra combined">
      <a:dk1>
        <a:srgbClr val="1E2229"/>
      </a:dk1>
      <a:lt1>
        <a:srgbClr val="FFFFFF"/>
      </a:lt1>
      <a:dk2>
        <a:srgbClr val="195955"/>
      </a:dk2>
      <a:lt2>
        <a:srgbClr val="DDE9E9"/>
      </a:lt2>
      <a:accent1>
        <a:srgbClr val="1F6F6A"/>
      </a:accent1>
      <a:accent2>
        <a:srgbClr val="B8862B"/>
      </a:accent2>
      <a:accent3>
        <a:srgbClr val="79A9A6"/>
      </a:accent3>
      <a:accent4>
        <a:srgbClr val="815E1E"/>
      </a:accent4>
      <a:accent5>
        <a:srgbClr val="4A505C"/>
      </a:accent5>
      <a:accent6>
        <a:srgbClr val="D8BC8A"/>
      </a:accent6>
      <a:hlink>
        <a:srgbClr val="1F6F6A"/>
      </a:hlink>
      <a:folHlink>
        <a:srgbClr val="164E4A"/>
      </a:folHlink>
    </a:clrScheme>
    <a:fontScheme name="Ad Astra combined">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Edu.Ai SV Digital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Wave Properties · Chapter 5: Sound, and measuring waves: the required practical</dc:title>
  <dc:subject>Physics (Combined Science) · Year 11</dc:subject>
  <dc:creator>Dr Vitor Merissi de Carvalho</dc:creator>
  <cp:lastModifiedBy>Dr Vitor Merissi de Carvalho</cp:lastModifiedBy>
  <cp:revision>1</cp:revision>
  <dcterms:created xsi:type="dcterms:W3CDTF">2026-10-18T17:47:16Z</dcterms:created>
  <dcterms:modified xsi:type="dcterms:W3CDTF">2026-10-18T17:47:16Z</dcterms:modified>
</cp:coreProperties>
</file>