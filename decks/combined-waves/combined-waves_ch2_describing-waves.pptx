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fe2bf0f-7d5d-b7d3-ccd4-50bb9e5cbcc5}">
          <p14:sldIdLst>
            <p14:sldId id="256"/>
          </p14:sldIdLst>
        </p14:section>
        <p14:section name="Gate" id="{40befc1c-aca0-195d-23df-18c7bd5fff3e}">
          <p14:sldIdLst>
            <p14:sldId id="257"/>
            <p14:sldId id="258"/>
          </p14:sldIdLst>
        </p14:section>
        <p14:section name="Pre-teach" id="{da7220f7-c5f7-829e-911e-fda73e3e7407}">
          <p14:sldIdLst>
            <p14:sldId id="259"/>
            <p14:sldId id="260"/>
          </p14:sldIdLst>
        </p14:section>
        <p14:section name="Read-along" id="{77a366a0-7d49-155c-f2bd-2d25552c8bbb}">
          <p14:sldIdLst>
            <p14:sldId id="261"/>
            <p14:sldId id="262"/>
          </p14:sldIdLst>
        </p14:section>
        <p14:section name="Teach" id="{d8b62cce-f30c-8721-e93c-3cd123ab6b84}">
          <p14:sldIdLst>
            <p14:sldId id="263"/>
            <p14:sldId id="264"/>
            <p14:sldId id="265"/>
          </p14:sldIdLst>
        </p14:section>
        <p14:section name="Routes" id="{be253f0b-c8d1-f902-a02f-a3853546e9ae}">
          <p14:sldIdLst>
            <p14:sldId id="266"/>
            <p14:sldId id="267"/>
          </p14:sldIdLst>
        </p14:section>
        <p14:section name="Close" id="{1f6eff5c-f0d3-a563-0860-77f11b6dd3b5}">
          <p14:sldIdLst>
            <p14:sldId id="268"/>
          </p14:sldIdLst>
        </p14:section>
        <p14:section name="Answers" id="{8cbcd198-57ca-7b6e-a932-d008544c3382}">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Describing a wave: amplitude, wavelength, frequency and period. This chapter gives you the four measurements that describe any wave, their units, and the link between period and frequency.
This deck covers the department's lesson: 2 (P12.2 The properties of waves: How do we describe a wave, and how are its speed, frequency and wavelength linked?).
Read the big question aloud: "How do waves carry energy from place to place, and how do we measure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wave has a frequency of 20 Hz. Calculate its period in seconds.  →  0.05 s
2. Which distance is the amplitude of a wave?  →  D   from the rest position to the top of a crest
3. What is the unit of frequency?  →  A   hertz (Hz)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0.05 s. T = 1 ÷ f = 1 ÷ 20 = 0.05 s (exact).
2. D   from the rest position to the top of a crest. Amplitude is the maximum displacement from the rest position: rest position to crest (or to trough).
3. A   hertz (Hz). Frequency is measured in hertz, Hz, meaning waves per second.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amplitude: the height of a wave above its rest position. Example: "The amplitude of the ripple was only one centimetre."
• wavelength: the distance from one crest to the next crest. Example: "The wavelength of the sea waves was about ten metres."
• crest: the highest point of a wave. Example: "The surfer waited on the crest of the wave."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frequency: the number of waves that pass a point each second. Example: "The frequency of the ripples was two waves per second."
• period: the time for one whole wave to pass a point. Example: "The period of the swing was two seconds."
• hertz: the unit of frequency, written Hz. Example: "A frequency of five hertz means five waves every second."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Look at a wave drawn on paper.
2. The highest points are the crests and the lowest points are the troughs.
3. The flat line through the middle is the rest position.
4. The amplitude is the height of a crest above the rest position.
5. The wavelength is the distance from one crest to the next crest.
6. We measure wavelength in metres.
7. Now imagine the waves passing a post.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 frequency is the number of waves that pass the post each second.
9. We measure frequency in hertz, written Hz.
10. Two waves every second is a frequency of 2 Hz.
11. The period is the time for one whole wave to pass the post.
12. We measure period in seconds.
13. If two waves pass each second, each one takes half a second.
14. So the period is 1 divided by the frequency.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Amplitude and wavelength. Say it in your own words, then check understanding with a quick question: ask a pupil from the pre-teach group first, since they met these words and ideas before the lesson. Pupils try to recall before you re-explain.
Draw a transverse wave as a smooth curve. The line through the middle, where the surface would be if there were no wave, is the rest position (or undisturbed position). The amplitude is the maximum displacement of a point on the wave from the rest position: the height of a crest above the line, or the depth of a trough below it. It is not the distance from a crest to a trough; that is twice the amplitude.
The wavelength is the distance from a point on one wave to the same point on the next wave: crest to crest, or trough to trough. For a longitudinal wave it is the distance from one compression to the next. The symbol for wavelength is the Greek letter lambda, λ, and it is measured in metres (m).
A diagram often shows several waves in a row. To find the wavelength, measure the whole length of the row and divide by the number of complete waves in it. That is more accurate than measuring one wave on its own.
Worked example — model it step by step, thinking aloud: A diagram shows 3 complete waves fitting into a length of 6 m. The vertical distance from the top of a crest to the bottom of a trough is 0.8 m. Find the wavelength and the amplitude. (1) Wavelength: 3 complete waves fit in 6 m, so λ = 6 ÷ 3 = 2 m. (2) Crest to trough is twice the amplitude. (3) Amplitude = 0.8 ÷ 2 = 0.4 m. Answer: Wavelength 2 m; amplitude 0.4 m.
Tip: Amplitude: rest position to crest. Wavelength: crest to crest.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Frequency. Say it in your own words, then check understanding with a quick question: ask a pupil from the pre-teach group first, since they met these words and ideas before the lesson. Pupils try to recall before you re-explain.
Stand by a post in the water and count the crests that pass it. The frequency is the number of complete waves passing a point each second. It is measured in hertz (Hz): 1 Hz means one wave per second, 2 Hz means two waves per second, and 0.5 Hz means one wave every two seconds.
Frequencies can be large. A kilohertz (kHz) is a thousand hertz: 1 kHz = 1000 Hz. A megahertz (MHz) is a million hertz: 1 MHz = 1 000 000 Hz. Sound you can hear ranges from about 20 Hz to 20 kHz; radio stations broadcast at tens or hundreds of megahertz.
The frequency of a wave is set by whatever makes it: the dipper in a ripple tank, the loudspeaker cone, the shaking hand. When the wave moves into a different material, its frequency does not change, because the source has not changed.
Worked example — model it step by step, thinking aloud: A pupil counts 12 complete waves passing a post in 4 s. Calculate the frequency. (1) Frequency = number of waves ÷ time taken. (2) f = 12 ÷ 4. (3) f = 3 Hz: three waves pass the post every second. Answer: 3 Hz.
Tip: Hertz = waves per second. Count the waves, divide by the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Period, and the link with frequency: T = 1 ÷ f. Say it in your own words, then check understanding with a quick question: ask a pupil from the pre-teach group first, since they met these words and ideas before the lesson. Pupils try to recall before you re-explain.
The period of a wave is the time taken for one complete wave to pass a point. Its symbol is T and it is measured in seconds (s). Period and frequency are two ways of describing the same thing: if 4 waves pass each second, each wave takes a quarter of a second. So period = 1 ÷ frequency, or T = 1 ÷ f, and the other way round, f = 1 ÷ T.
A high frequency means a short period, and a low frequency means a long period. A 50 Hz mains hum has a period of 0.02 s; a sea wave with a period of 10 s has a frequency of 0.1 Hz.
A displacement–time graph shows how one point moves as time passes: the distance along the time axis between one crest and the next is the period. A displacement–distance graph is a snapshot of the whole wave at one instant: the distance between crests is the wavelength. Check the label on the horizontal axis before you read either.
Worked example — model it step by step, thinking aloud: A loudspeaker vibrates at a frequency of 50 Hz. Calculate the period of the sound wave. (1) Write the equation: T = 1 ÷ f. (2) Substitute: T = 1 ÷ 50. (3) Calculate and add the unit: T = 0.02 s. Answer: 0.02 s.
Tip: Period is in seconds, frequency in hertz. T = 1 ÷ f. Horizontal axis says time? You are reading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Wavelength from a diagram.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diagram shows 4 complete waves fitting across a length of 10 m. Calculate the wavelength in metres.
Support — work through the steps with the group: (1) Count the complete waves (crest to crest counts as one). (2) Divide the whole length by the number of waves. (3) Write the unit, m.
Parallel worked example for Support (model it, do not give the task answer): A diagram shows 5 complete waves across a length of 20 m. Calculate the wavelength. 5 waves share 20 m.; λ = 20 ÷ 5.; λ = 4 m.. Answer: 4 m.
Core — reveal the hint only on request: The 10 m is shared equally by the 4 waves.
Stretch — no help; when finished: On the same diagram the crest-to-trough height is 0.6 m. State the amplitude, and explain why measuring across four waves gives a more accurate wavelength than measuring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Period from frequency.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loudspeaker cone vibrates 250 times each second, so the frequency of the sound is 250 Hz. Calculate the period of the wave in seconds.
Support — work through the steps with the group: (1) Write T = 1 ÷ f. (2) Divide 1 by the frequency in hertz. (3) Write the unit, s.
Parallel worked example for Support (model it, do not give the task answer): A wave has a frequency of 100 Hz. Calculate its period. T = 1 ÷ f.; T = 1 ÷ 100.; T = 0.01 s.. Answer: 0.01 s.
Core — reveal the hint only on request: Period and frequency are each 1 divided by the other.
Stretch — no help; when finished: The frequency is doubled to 500 Hz. Without calculating from scratch, state the new period and explain why doubling the frequency halves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buoy at sea bobs up and down once every 2.5 s, so the period of the waves is 2.5 s. Calculate the frequency of the waves in hertz.
Answer: 0.4 Hz. f = 1 ÷ T = 1 ÷ 2.5 = 0.4 Hz: four tenths of a wave each second, or one wave every 2.5 s.
Source of this question: module 3 task ("Frequency from period")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Wavelength from a diagram. Reveal the answer; pupils mark their own work in a different colour, then read the "why" together. Same destination for every lane, so one answer serves the whole class.
Answer: 2.5 m
Why: Four equal waves share 10 m, so one wavelength is 10 ÷ 4 = 2.5 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Period from frequency. Reveal the answer; pupils mark their own work in a different colour, then read the "why" together. Same destination for every lane, so one answer serves the whole class.
Answer: 0.004 s
Why: T = 1 ÷ f = 1 ÷ 250 = 0.004 s: each wave takes four thousandths of a second.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0.4 Hz
Why: f = 1 ÷ T = 1 ÷ 2.5 = 0.4 Hz: four tenths of a wave each second, or one wave every 2.5 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7DB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Physics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11 · 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Wave Properties · AQA 8464</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Describing a wave: amplitude, wavelength, frequency and period</a:t>
            </a:r>
            <a:endParaRPr lang="en-US" sz="2800" dirty="0"/>
          </a:p>
        </p:txBody>
      </p:sp>
      <p:sp>
        <p:nvSpPr>
          <p:cNvPr id="11" name="lessons-card"/>
          <p:cNvSpPr/>
          <p:nvPr/>
        </p:nvSpPr>
        <p:spPr>
          <a:xfrm>
            <a:off x="548640" y="4102608"/>
            <a:ext cx="5287975" cy="980440"/>
          </a:xfrm>
          <a:prstGeom prst="roundRect">
            <a:avLst>
              <a:gd name="adj" fmla="val 7461"/>
            </a:avLst>
          </a:prstGeom>
          <a:solidFill>
            <a:srgbClr val="DDE9E9"/>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P12.2 The properties of waves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Combined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DE9E9"/>
          </a:solidFill>
          <a:ln w="12700">
            <a:solidFill>
              <a:srgbClr val="9ABE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waves carry energy from place to place, and how do we measure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wave has a frequency of 20 Hz. Calculate its period in seconds.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s</a:t>
            </a:r>
            <a:endParaRPr lang="en-US" sz="2400" dirty="0"/>
          </a:p>
        </p:txBody>
      </p:sp>
      <p:sp>
        <p:nvSpPr>
          <p:cNvPr id="12"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distance is the amplitude of a wave?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from one crest to the next crest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from one compression to the next compression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from the top of a crest to the bottom of the next trough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from the rest position to the top of a crest</a:t>
            </a:r>
            <a:endParaRPr lang="en-US" sz="1800" dirty="0"/>
          </a:p>
        </p:txBody>
      </p:sp>
      <p:sp>
        <p:nvSpPr>
          <p:cNvPr id="17"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unit of frequency?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hertz (Hz)</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second (s)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metre per second (m/s)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metre (m)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0.05 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wave has a frequency of 20 Hz. Calculate its period in seconds.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 = 1 ÷ f = 1 ÷ 20 = 0.05 s (exact).</a:t>
            </a:r>
            <a:endParaRPr lang="en-US" sz="2200" dirty="0"/>
          </a:p>
        </p:txBody>
      </p:sp>
      <p:sp>
        <p:nvSpPr>
          <p:cNvPr id="14"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ADBBF"/>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from the rest position to the top of a crest</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distance is the amplitude of a wave?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Amplitude is the maximum displacement from the rest position: rest position to crest (or to trough).</a:t>
            </a:r>
            <a:endParaRPr lang="en-US" sz="2000" dirty="0"/>
          </a:p>
        </p:txBody>
      </p:sp>
      <p:sp>
        <p:nvSpPr>
          <p:cNvPr id="21"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hertz (Hz)</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unit of frequency?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Frequency is measured in hertz, Hz, meaning waves per second.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2ECEC"/>
          </a:solidFill>
          <a:ln w="12700">
            <a:solidFill>
              <a:srgbClr val="9ABE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amplitude</a:t>
            </a:r>
            <a:endParaRPr lang="en-US" sz="2600" dirty="0"/>
          </a:p>
        </p:txBody>
      </p:sp>
      <p:sp>
        <p:nvSpPr>
          <p:cNvPr id="11" name="word-rule"/>
          <p:cNvSpPr/>
          <p:nvPr/>
        </p:nvSpPr>
        <p:spPr>
          <a:xfrm>
            <a:off x="731520" y="2129028"/>
            <a:ext cx="3149498" cy="0"/>
          </a:xfrm>
          <a:prstGeom prst="line">
            <a:avLst/>
          </a:prstGeom>
          <a:ln w="12700">
            <a:solidFill>
              <a:srgbClr val="9ABE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height of a wave above its rest position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amplitude of the ripple was only one centimetre.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2ECEC"/>
          </a:solidFill>
          <a:ln w="12700">
            <a:solidFill>
              <a:srgbClr val="9ABE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wavelength</a:t>
            </a:r>
            <a:endParaRPr lang="en-US" sz="2600" dirty="0"/>
          </a:p>
        </p:txBody>
      </p:sp>
      <p:sp>
        <p:nvSpPr>
          <p:cNvPr id="17" name="word-rule"/>
          <p:cNvSpPr/>
          <p:nvPr/>
        </p:nvSpPr>
        <p:spPr>
          <a:xfrm>
            <a:off x="4521098" y="2129028"/>
            <a:ext cx="3149498" cy="0"/>
          </a:xfrm>
          <a:prstGeom prst="line">
            <a:avLst/>
          </a:prstGeom>
          <a:ln w="12700">
            <a:solidFill>
              <a:srgbClr val="9ABE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distance from one crest to the next crest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wavelength of the sea waves was about ten metres.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2ECEC"/>
          </a:solidFill>
          <a:ln w="12700">
            <a:solidFill>
              <a:srgbClr val="9ABE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crest</a:t>
            </a:r>
            <a:endParaRPr lang="en-US" sz="2600" dirty="0"/>
          </a:p>
        </p:txBody>
      </p:sp>
      <p:sp>
        <p:nvSpPr>
          <p:cNvPr id="23" name="word-rule"/>
          <p:cNvSpPr/>
          <p:nvPr/>
        </p:nvSpPr>
        <p:spPr>
          <a:xfrm>
            <a:off x="8310677" y="2129028"/>
            <a:ext cx="3149498" cy="0"/>
          </a:xfrm>
          <a:prstGeom prst="line">
            <a:avLst/>
          </a:prstGeom>
          <a:ln w="12700">
            <a:solidFill>
              <a:srgbClr val="9ABE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highest point of a wave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surfer waited on the crest of the wave.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2ECEC"/>
          </a:solidFill>
          <a:ln w="12700">
            <a:solidFill>
              <a:srgbClr val="9ABE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frequency</a:t>
            </a:r>
            <a:endParaRPr lang="en-US" sz="2600" dirty="0"/>
          </a:p>
        </p:txBody>
      </p:sp>
      <p:sp>
        <p:nvSpPr>
          <p:cNvPr id="11" name="word-rule"/>
          <p:cNvSpPr/>
          <p:nvPr/>
        </p:nvSpPr>
        <p:spPr>
          <a:xfrm>
            <a:off x="731520" y="2129028"/>
            <a:ext cx="3149498" cy="0"/>
          </a:xfrm>
          <a:prstGeom prst="line">
            <a:avLst/>
          </a:prstGeom>
          <a:ln w="12700">
            <a:solidFill>
              <a:srgbClr val="9ABE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 of waves that pass a point each second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frequency of the ripples was two waves per second.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E2ECEC"/>
          </a:solidFill>
          <a:ln w="12700">
            <a:solidFill>
              <a:srgbClr val="9ABE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period</a:t>
            </a:r>
            <a:endParaRPr lang="en-US" sz="2600" dirty="0"/>
          </a:p>
        </p:txBody>
      </p:sp>
      <p:sp>
        <p:nvSpPr>
          <p:cNvPr id="17" name="word-rule"/>
          <p:cNvSpPr/>
          <p:nvPr/>
        </p:nvSpPr>
        <p:spPr>
          <a:xfrm>
            <a:off x="4521098" y="2129028"/>
            <a:ext cx="3149498" cy="0"/>
          </a:xfrm>
          <a:prstGeom prst="line">
            <a:avLst/>
          </a:prstGeom>
          <a:ln w="12700">
            <a:solidFill>
              <a:srgbClr val="9ABE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time for one whole wave to pass a point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period of the swing was two seconds.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2ECEC"/>
          </a:solidFill>
          <a:ln w="12700">
            <a:solidFill>
              <a:srgbClr val="9ABE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hertz</a:t>
            </a:r>
            <a:endParaRPr lang="en-US" sz="2600" dirty="0"/>
          </a:p>
        </p:txBody>
      </p:sp>
      <p:sp>
        <p:nvSpPr>
          <p:cNvPr id="23" name="word-rule"/>
          <p:cNvSpPr/>
          <p:nvPr/>
        </p:nvSpPr>
        <p:spPr>
          <a:xfrm>
            <a:off x="8310677" y="2129028"/>
            <a:ext cx="3149498" cy="0"/>
          </a:xfrm>
          <a:prstGeom prst="line">
            <a:avLst/>
          </a:prstGeom>
          <a:ln w="12700">
            <a:solidFill>
              <a:srgbClr val="9ABE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unit of frequency, written Hz</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frequency of five hertz means five waves every second.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Look at a wave drawn on paper.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highest points are 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crests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the lowest points are the troughs.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flat line through the middle is the rest position.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amplitude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height of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crest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above the rest position.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wavelength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distance from one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crest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the next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crest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measure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wavelength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metres.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Now imagine the waves passing a post.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frequency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number of waves that pass the post each second.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measure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frequency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hertz</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written Hz.</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Two waves every second is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frequency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2 Hz.</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period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time for one whole wave to pass the post.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measure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period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seconds.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two waves pass each second, each one takes half a second.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period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1 divided by the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frequency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Amplitude and wavelength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Amplitude: rest position to crest. Wavelength: crest to crest.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1242568"/>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diagram shows 3 complete waves fitting into a length of 6 m. The vertical distance from the top of a crest to the bottom of a trough is 0.8 m. Find the wavelength and the amplitude.</a:t>
            </a:r>
            <a:endParaRPr lang="en-US" sz="1800" dirty="0"/>
          </a:p>
        </p:txBody>
      </p:sp>
      <p:sp>
        <p:nvSpPr>
          <p:cNvPr id="14" name="step-box"/>
          <p:cNvSpPr/>
          <p:nvPr/>
        </p:nvSpPr>
        <p:spPr>
          <a:xfrm>
            <a:off x="6126480" y="3446272"/>
            <a:ext cx="5379415" cy="751332"/>
          </a:xfrm>
          <a:prstGeom prst="roundRect">
            <a:avLst>
              <a:gd name="adj" fmla="val 12170"/>
            </a:avLst>
          </a:prstGeom>
          <a:solidFill>
            <a:srgbClr val="DDE9E9"/>
          </a:solidFill>
          <a:ln/>
        </p:spPr>
      </p:sp>
      <p:sp>
        <p:nvSpPr>
          <p:cNvPr id="15" name="step-hex"/>
          <p:cNvSpPr/>
          <p:nvPr/>
        </p:nvSpPr>
        <p:spPr>
          <a:xfrm>
            <a:off x="6217920" y="3639808"/>
            <a:ext cx="420624" cy="364260"/>
          </a:xfrm>
          <a:prstGeom prst="hexagon">
            <a:avLst/>
          </a:prstGeom>
          <a:solidFill>
            <a:srgbClr val="1F6F6A"/>
          </a:solidFill>
          <a:ln/>
        </p:spPr>
      </p:sp>
      <p:sp>
        <p:nvSpPr>
          <p:cNvPr id="16" name="step-hex-label"/>
          <p:cNvSpPr txBox="1"/>
          <p:nvPr/>
        </p:nvSpPr>
        <p:spPr>
          <a:xfrm>
            <a:off x="6217920" y="363980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446272"/>
            <a:ext cx="4739335" cy="75133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Wavelength: 3 complete waves fit in 6 m, so λ = 6 ÷ 3 = 2 m.</a:t>
            </a:r>
            <a:endParaRPr lang="en-US" sz="1800" dirty="0"/>
          </a:p>
        </p:txBody>
      </p:sp>
      <p:sp>
        <p:nvSpPr>
          <p:cNvPr id="18" name="step-box"/>
          <p:cNvSpPr/>
          <p:nvPr/>
        </p:nvSpPr>
        <p:spPr>
          <a:xfrm>
            <a:off x="6126480" y="4289044"/>
            <a:ext cx="5379415" cy="523748"/>
          </a:xfrm>
          <a:prstGeom prst="roundRect">
            <a:avLst>
              <a:gd name="adj" fmla="val 17459"/>
            </a:avLst>
          </a:prstGeom>
          <a:solidFill>
            <a:srgbClr val="DDE9E9"/>
          </a:solidFill>
          <a:ln/>
        </p:spPr>
      </p:sp>
      <p:sp>
        <p:nvSpPr>
          <p:cNvPr id="19" name="step-hex"/>
          <p:cNvSpPr/>
          <p:nvPr/>
        </p:nvSpPr>
        <p:spPr>
          <a:xfrm>
            <a:off x="6217920" y="4368788"/>
            <a:ext cx="420624" cy="364260"/>
          </a:xfrm>
          <a:prstGeom prst="hexagon">
            <a:avLst/>
          </a:prstGeom>
          <a:solidFill>
            <a:srgbClr val="1F6F6A"/>
          </a:solidFill>
          <a:ln/>
        </p:spPr>
      </p:sp>
      <p:sp>
        <p:nvSpPr>
          <p:cNvPr id="20" name="step-hex-label"/>
          <p:cNvSpPr txBox="1"/>
          <p:nvPr/>
        </p:nvSpPr>
        <p:spPr>
          <a:xfrm>
            <a:off x="6217920" y="436878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289044"/>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Crest to trough is twice the amplitude.</a:t>
            </a:r>
            <a:endParaRPr lang="en-US" sz="1800" dirty="0"/>
          </a:p>
        </p:txBody>
      </p:sp>
      <p:sp>
        <p:nvSpPr>
          <p:cNvPr id="22" name="step-box"/>
          <p:cNvSpPr/>
          <p:nvPr/>
        </p:nvSpPr>
        <p:spPr>
          <a:xfrm>
            <a:off x="6126480" y="4904232"/>
            <a:ext cx="5379415" cy="523748"/>
          </a:xfrm>
          <a:prstGeom prst="roundRect">
            <a:avLst>
              <a:gd name="adj" fmla="val 17459"/>
            </a:avLst>
          </a:prstGeom>
          <a:solidFill>
            <a:srgbClr val="DDE9E9"/>
          </a:solidFill>
          <a:ln/>
        </p:spPr>
      </p:sp>
      <p:sp>
        <p:nvSpPr>
          <p:cNvPr id="23" name="step-hex"/>
          <p:cNvSpPr/>
          <p:nvPr/>
        </p:nvSpPr>
        <p:spPr>
          <a:xfrm>
            <a:off x="6217920" y="4983976"/>
            <a:ext cx="420624" cy="364260"/>
          </a:xfrm>
          <a:prstGeom prst="hexagon">
            <a:avLst/>
          </a:prstGeom>
          <a:solidFill>
            <a:srgbClr val="1F6F6A"/>
          </a:solidFill>
          <a:ln/>
        </p:spPr>
      </p:sp>
      <p:sp>
        <p:nvSpPr>
          <p:cNvPr id="24" name="step-hex-label"/>
          <p:cNvSpPr txBox="1"/>
          <p:nvPr/>
        </p:nvSpPr>
        <p:spPr>
          <a:xfrm>
            <a:off x="6217920" y="498397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904232"/>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Amplitude = 0.8 ÷ 2 = 0.4 m.</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Wavelength 2 m; amplitude 0.4 m</a:t>
            </a:r>
            <a:endParaRPr lang="en-US" sz="1800" dirty="0"/>
          </a:p>
        </p:txBody>
      </p:sp>
      <p:sp>
        <p:nvSpPr>
          <p:cNvPr id="27" name="bullet-card"/>
          <p:cNvSpPr/>
          <p:nvPr/>
        </p:nvSpPr>
        <p:spPr>
          <a:xfrm>
            <a:off x="548640" y="1389888"/>
            <a:ext cx="5074920" cy="1940306"/>
          </a:xfrm>
          <a:prstGeom prst="roundRect">
            <a:avLst>
              <a:gd name="adj" fmla="val 3770"/>
            </a:avLst>
          </a:prstGeom>
          <a:solidFill>
            <a:srgbClr val="E2ECEC"/>
          </a:solidFill>
          <a:ln/>
        </p:spPr>
      </p:sp>
      <p:sp>
        <p:nvSpPr>
          <p:cNvPr id="28" name="bullet-hex"/>
          <p:cNvSpPr/>
          <p:nvPr/>
        </p:nvSpPr>
        <p:spPr>
          <a:xfrm>
            <a:off x="676656" y="2193748"/>
            <a:ext cx="384048" cy="332586"/>
          </a:xfrm>
          <a:prstGeom prst="hexagon">
            <a:avLst/>
          </a:prstGeom>
          <a:solidFill>
            <a:srgbClr val="1F6F6A"/>
          </a:solidFill>
          <a:ln/>
        </p:spPr>
      </p:sp>
      <p:sp>
        <p:nvSpPr>
          <p:cNvPr id="29" name="bullet"/>
          <p:cNvSpPr txBox="1"/>
          <p:nvPr/>
        </p:nvSpPr>
        <p:spPr>
          <a:xfrm>
            <a:off x="1143000" y="1389888"/>
            <a:ext cx="4389120" cy="194030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Draw a transverse wave as a smooth curve. The line through the middle, where the surface would be if there were no wave, is the rest position (or undisturbed position).</a:t>
            </a:r>
            <a:endParaRPr lang="en-US" sz="2200" dirty="0"/>
          </a:p>
        </p:txBody>
      </p:sp>
      <p:sp>
        <p:nvSpPr>
          <p:cNvPr id="30" name="bullet-card"/>
          <p:cNvSpPr/>
          <p:nvPr/>
        </p:nvSpPr>
        <p:spPr>
          <a:xfrm>
            <a:off x="548640" y="3476498"/>
            <a:ext cx="5074920" cy="1599438"/>
          </a:xfrm>
          <a:prstGeom prst="roundRect">
            <a:avLst>
              <a:gd name="adj" fmla="val 4574"/>
            </a:avLst>
          </a:prstGeom>
          <a:solidFill>
            <a:srgbClr val="E2ECEC"/>
          </a:solidFill>
          <a:ln/>
        </p:spPr>
      </p:sp>
      <p:sp>
        <p:nvSpPr>
          <p:cNvPr id="31" name="bullet-hex"/>
          <p:cNvSpPr/>
          <p:nvPr/>
        </p:nvSpPr>
        <p:spPr>
          <a:xfrm>
            <a:off x="676656" y="4109924"/>
            <a:ext cx="384048" cy="332586"/>
          </a:xfrm>
          <a:prstGeom prst="hexagon">
            <a:avLst/>
          </a:prstGeom>
          <a:solidFill>
            <a:srgbClr val="B8862B"/>
          </a:solidFill>
          <a:ln/>
        </p:spPr>
      </p:sp>
      <p:sp>
        <p:nvSpPr>
          <p:cNvPr id="32" name="bullet"/>
          <p:cNvSpPr txBox="1"/>
          <p:nvPr/>
        </p:nvSpPr>
        <p:spPr>
          <a:xfrm>
            <a:off x="1143000" y="3476498"/>
            <a:ext cx="4389120" cy="15994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wavelength is the distance from a point on one wave to the same point on the next wave: crest to crest, or trough to trough.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Frequency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Hertz = waves per second. Count the waves, divide by the seconds.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pupil counts 12 complete waves passing a post in 4 s. Calculate the frequency.</a:t>
            </a:r>
            <a:endParaRPr lang="en-US" sz="1800" dirty="0"/>
          </a:p>
        </p:txBody>
      </p:sp>
      <p:sp>
        <p:nvSpPr>
          <p:cNvPr id="14" name="step-box"/>
          <p:cNvSpPr/>
          <p:nvPr/>
        </p:nvSpPr>
        <p:spPr>
          <a:xfrm>
            <a:off x="6126480" y="2888488"/>
            <a:ext cx="5379415" cy="566928"/>
          </a:xfrm>
          <a:prstGeom prst="roundRect">
            <a:avLst>
              <a:gd name="adj" fmla="val 16129"/>
            </a:avLst>
          </a:prstGeom>
          <a:solidFill>
            <a:srgbClr val="DDE9E9"/>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Frequency = number of waves ÷ time taken.</a:t>
            </a:r>
            <a:endParaRPr lang="en-US" sz="1800" dirty="0"/>
          </a:p>
        </p:txBody>
      </p:sp>
      <p:sp>
        <p:nvSpPr>
          <p:cNvPr id="18" name="step-box"/>
          <p:cNvSpPr/>
          <p:nvPr/>
        </p:nvSpPr>
        <p:spPr>
          <a:xfrm>
            <a:off x="6126480" y="3546856"/>
            <a:ext cx="5379415" cy="566928"/>
          </a:xfrm>
          <a:prstGeom prst="roundRect">
            <a:avLst>
              <a:gd name="adj" fmla="val 16129"/>
            </a:avLst>
          </a:prstGeom>
          <a:solidFill>
            <a:srgbClr val="DDE9E9"/>
          </a:solidFill>
          <a:ln/>
        </p:spPr>
      </p:sp>
      <p:sp>
        <p:nvSpPr>
          <p:cNvPr id="19" name="step-hex"/>
          <p:cNvSpPr/>
          <p:nvPr/>
        </p:nvSpPr>
        <p:spPr>
          <a:xfrm>
            <a:off x="6217920" y="3648190"/>
            <a:ext cx="420624" cy="364260"/>
          </a:xfrm>
          <a:prstGeom prst="hexagon">
            <a:avLst/>
          </a:prstGeom>
          <a:solidFill>
            <a:srgbClr val="1F6F6A"/>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 = 12 ÷ 4.</a:t>
            </a:r>
            <a:endParaRPr lang="en-US" sz="1800" dirty="0"/>
          </a:p>
        </p:txBody>
      </p:sp>
      <p:sp>
        <p:nvSpPr>
          <p:cNvPr id="22" name="step-box"/>
          <p:cNvSpPr/>
          <p:nvPr/>
        </p:nvSpPr>
        <p:spPr>
          <a:xfrm>
            <a:off x="6126480" y="4205224"/>
            <a:ext cx="5379415" cy="794512"/>
          </a:xfrm>
          <a:prstGeom prst="roundRect">
            <a:avLst>
              <a:gd name="adj" fmla="val 11509"/>
            </a:avLst>
          </a:prstGeom>
          <a:solidFill>
            <a:srgbClr val="DDE9E9"/>
          </a:solidFill>
          <a:ln/>
        </p:spPr>
      </p:sp>
      <p:sp>
        <p:nvSpPr>
          <p:cNvPr id="23" name="step-hex"/>
          <p:cNvSpPr/>
          <p:nvPr/>
        </p:nvSpPr>
        <p:spPr>
          <a:xfrm>
            <a:off x="6217920" y="4420350"/>
            <a:ext cx="420624" cy="364260"/>
          </a:xfrm>
          <a:prstGeom prst="hexagon">
            <a:avLst/>
          </a:prstGeom>
          <a:solidFill>
            <a:srgbClr val="1F6F6A"/>
          </a:solidFill>
          <a:ln/>
        </p:spPr>
      </p:sp>
      <p:sp>
        <p:nvSpPr>
          <p:cNvPr id="24" name="step-hex-label"/>
          <p:cNvSpPr txBox="1"/>
          <p:nvPr/>
        </p:nvSpPr>
        <p:spPr>
          <a:xfrm>
            <a:off x="6217920" y="44203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 = 3 Hz: three waves pass the post every second.</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 Hz</a:t>
            </a:r>
            <a:endParaRPr lang="en-US" sz="1800" dirty="0"/>
          </a:p>
        </p:txBody>
      </p:sp>
      <p:sp>
        <p:nvSpPr>
          <p:cNvPr id="27" name="bullet-card"/>
          <p:cNvSpPr/>
          <p:nvPr/>
        </p:nvSpPr>
        <p:spPr>
          <a:xfrm>
            <a:off x="548640" y="1389888"/>
            <a:ext cx="5074920" cy="821267"/>
          </a:xfrm>
          <a:prstGeom prst="roundRect">
            <a:avLst>
              <a:gd name="adj" fmla="val 8907"/>
            </a:avLst>
          </a:prstGeom>
          <a:solidFill>
            <a:srgbClr val="E2ECEC"/>
          </a:solidFill>
          <a:ln/>
        </p:spPr>
      </p:sp>
      <p:sp>
        <p:nvSpPr>
          <p:cNvPr id="28" name="bullet-hex"/>
          <p:cNvSpPr/>
          <p:nvPr/>
        </p:nvSpPr>
        <p:spPr>
          <a:xfrm>
            <a:off x="676656" y="1634229"/>
            <a:ext cx="384048" cy="332586"/>
          </a:xfrm>
          <a:prstGeom prst="hexagon">
            <a:avLst/>
          </a:prstGeom>
          <a:solidFill>
            <a:srgbClr val="1F6F6A"/>
          </a:solidFill>
          <a:ln/>
        </p:spPr>
      </p:sp>
      <p:sp>
        <p:nvSpPr>
          <p:cNvPr id="29" name="bullet"/>
          <p:cNvSpPr txBox="1"/>
          <p:nvPr/>
        </p:nvSpPr>
        <p:spPr>
          <a:xfrm>
            <a:off x="1143000" y="1389888"/>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Stand by a post in the water and count the crests that pass it.</a:t>
            </a:r>
            <a:endParaRPr lang="en-US" sz="2000" dirty="0"/>
          </a:p>
        </p:txBody>
      </p:sp>
      <p:sp>
        <p:nvSpPr>
          <p:cNvPr id="30" name="bullet-card"/>
          <p:cNvSpPr/>
          <p:nvPr/>
        </p:nvSpPr>
        <p:spPr>
          <a:xfrm>
            <a:off x="548640" y="2357459"/>
            <a:ext cx="5074920" cy="1131147"/>
          </a:xfrm>
          <a:prstGeom prst="roundRect">
            <a:avLst>
              <a:gd name="adj" fmla="val 6467"/>
            </a:avLst>
          </a:prstGeom>
          <a:solidFill>
            <a:srgbClr val="E2ECEC"/>
          </a:solidFill>
          <a:ln/>
        </p:spPr>
      </p:sp>
      <p:sp>
        <p:nvSpPr>
          <p:cNvPr id="31" name="bullet-hex"/>
          <p:cNvSpPr/>
          <p:nvPr/>
        </p:nvSpPr>
        <p:spPr>
          <a:xfrm>
            <a:off x="676656" y="2756739"/>
            <a:ext cx="384048" cy="332586"/>
          </a:xfrm>
          <a:prstGeom prst="hexagon">
            <a:avLst/>
          </a:prstGeom>
          <a:solidFill>
            <a:srgbClr val="B8862B"/>
          </a:solidFill>
          <a:ln/>
        </p:spPr>
      </p:sp>
      <p:sp>
        <p:nvSpPr>
          <p:cNvPr id="32" name="bullet"/>
          <p:cNvSpPr txBox="1"/>
          <p:nvPr/>
        </p:nvSpPr>
        <p:spPr>
          <a:xfrm>
            <a:off x="1143000" y="235745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Frequencies can be large. A kilohertz (kHz) is a thousand hertz: 1 kHz = 1000 Hz.</a:t>
            </a:r>
            <a:endParaRPr lang="en-US" sz="2000" dirty="0"/>
          </a:p>
        </p:txBody>
      </p:sp>
      <p:sp>
        <p:nvSpPr>
          <p:cNvPr id="33" name="bullet-card"/>
          <p:cNvSpPr/>
          <p:nvPr/>
        </p:nvSpPr>
        <p:spPr>
          <a:xfrm>
            <a:off x="548640" y="3634909"/>
            <a:ext cx="5074920" cy="1441027"/>
          </a:xfrm>
          <a:prstGeom prst="roundRect">
            <a:avLst>
              <a:gd name="adj" fmla="val 5076"/>
            </a:avLst>
          </a:prstGeom>
          <a:solidFill>
            <a:srgbClr val="E2ECEC"/>
          </a:solidFill>
          <a:ln/>
        </p:spPr>
      </p:sp>
      <p:sp>
        <p:nvSpPr>
          <p:cNvPr id="34" name="bullet-hex"/>
          <p:cNvSpPr/>
          <p:nvPr/>
        </p:nvSpPr>
        <p:spPr>
          <a:xfrm>
            <a:off x="676656" y="4189130"/>
            <a:ext cx="384048" cy="332586"/>
          </a:xfrm>
          <a:prstGeom prst="hexagon">
            <a:avLst/>
          </a:prstGeom>
          <a:solidFill>
            <a:srgbClr val="1F6F6A"/>
          </a:solidFill>
          <a:ln/>
        </p:spPr>
      </p:sp>
      <p:sp>
        <p:nvSpPr>
          <p:cNvPr id="35" name="bullet"/>
          <p:cNvSpPr txBox="1"/>
          <p:nvPr/>
        </p:nvSpPr>
        <p:spPr>
          <a:xfrm>
            <a:off x="1143000" y="3634909"/>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frequency of a wave is set by whatever makes it: the dipper in a ripple tank, the loudspeaker cone, the shaking hand.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Period, and the link with frequency: T = 1 ÷ f</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1E7D5"/>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Period is in seconds, frequency in hertz. T = 1 ÷ f. Horizontal axis says time? You are reading a period.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loudspeaker vibrates at a frequency of 50 Hz. Calculate the period of the sound wave.</a:t>
            </a:r>
            <a:endParaRPr lang="en-US" sz="1800" dirty="0"/>
          </a:p>
        </p:txBody>
      </p:sp>
      <p:sp>
        <p:nvSpPr>
          <p:cNvPr id="14" name="step-box"/>
          <p:cNvSpPr/>
          <p:nvPr/>
        </p:nvSpPr>
        <p:spPr>
          <a:xfrm>
            <a:off x="6126480" y="2888488"/>
            <a:ext cx="5379415" cy="566928"/>
          </a:xfrm>
          <a:prstGeom prst="roundRect">
            <a:avLst>
              <a:gd name="adj" fmla="val 16129"/>
            </a:avLst>
          </a:prstGeom>
          <a:solidFill>
            <a:srgbClr val="DDE9E9"/>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T = 1 ÷ f.</a:t>
            </a:r>
            <a:endParaRPr lang="en-US" sz="1800" dirty="0"/>
          </a:p>
        </p:txBody>
      </p:sp>
      <p:sp>
        <p:nvSpPr>
          <p:cNvPr id="18" name="step-box"/>
          <p:cNvSpPr/>
          <p:nvPr/>
        </p:nvSpPr>
        <p:spPr>
          <a:xfrm>
            <a:off x="6126480" y="3546856"/>
            <a:ext cx="5379415" cy="566928"/>
          </a:xfrm>
          <a:prstGeom prst="roundRect">
            <a:avLst>
              <a:gd name="adj" fmla="val 16129"/>
            </a:avLst>
          </a:prstGeom>
          <a:solidFill>
            <a:srgbClr val="DDE9E9"/>
          </a:solidFill>
          <a:ln/>
        </p:spPr>
      </p:sp>
      <p:sp>
        <p:nvSpPr>
          <p:cNvPr id="19" name="step-hex"/>
          <p:cNvSpPr/>
          <p:nvPr/>
        </p:nvSpPr>
        <p:spPr>
          <a:xfrm>
            <a:off x="6217920" y="3648190"/>
            <a:ext cx="420624" cy="364260"/>
          </a:xfrm>
          <a:prstGeom prst="hexagon">
            <a:avLst/>
          </a:prstGeom>
          <a:solidFill>
            <a:srgbClr val="1F6F6A"/>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T = 1 ÷ 50.</a:t>
            </a:r>
            <a:endParaRPr lang="en-US" sz="1800" dirty="0"/>
          </a:p>
        </p:txBody>
      </p:sp>
      <p:sp>
        <p:nvSpPr>
          <p:cNvPr id="22" name="step-box"/>
          <p:cNvSpPr/>
          <p:nvPr/>
        </p:nvSpPr>
        <p:spPr>
          <a:xfrm>
            <a:off x="6126480" y="4205224"/>
            <a:ext cx="5379415" cy="566928"/>
          </a:xfrm>
          <a:prstGeom prst="roundRect">
            <a:avLst>
              <a:gd name="adj" fmla="val 16129"/>
            </a:avLst>
          </a:prstGeom>
          <a:solidFill>
            <a:srgbClr val="DDE9E9"/>
          </a:solidFill>
          <a:ln/>
        </p:spPr>
      </p:sp>
      <p:sp>
        <p:nvSpPr>
          <p:cNvPr id="23" name="step-hex"/>
          <p:cNvSpPr/>
          <p:nvPr/>
        </p:nvSpPr>
        <p:spPr>
          <a:xfrm>
            <a:off x="6217920" y="4306558"/>
            <a:ext cx="420624" cy="364260"/>
          </a:xfrm>
          <a:prstGeom prst="hexagon">
            <a:avLst/>
          </a:prstGeom>
          <a:solidFill>
            <a:srgbClr val="1F6F6A"/>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T = 0.02 s.</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0.02 s</a:t>
            </a:r>
            <a:endParaRPr lang="en-US" sz="1800" dirty="0"/>
          </a:p>
        </p:txBody>
      </p:sp>
      <p:sp>
        <p:nvSpPr>
          <p:cNvPr id="27" name="bullet-card"/>
          <p:cNvSpPr/>
          <p:nvPr/>
        </p:nvSpPr>
        <p:spPr>
          <a:xfrm>
            <a:off x="548640" y="1389888"/>
            <a:ext cx="5074920" cy="852255"/>
          </a:xfrm>
          <a:prstGeom prst="roundRect">
            <a:avLst>
              <a:gd name="adj" fmla="val 8583"/>
            </a:avLst>
          </a:prstGeom>
          <a:solidFill>
            <a:srgbClr val="E2ECEC"/>
          </a:solidFill>
          <a:ln/>
        </p:spPr>
      </p:sp>
      <p:sp>
        <p:nvSpPr>
          <p:cNvPr id="28" name="bullet-hex"/>
          <p:cNvSpPr/>
          <p:nvPr/>
        </p:nvSpPr>
        <p:spPr>
          <a:xfrm>
            <a:off x="676656" y="1649723"/>
            <a:ext cx="384048" cy="332586"/>
          </a:xfrm>
          <a:prstGeom prst="hexagon">
            <a:avLst/>
          </a:prstGeom>
          <a:solidFill>
            <a:srgbClr val="1F6F6A"/>
          </a:solidFill>
          <a:ln/>
        </p:spPr>
      </p:sp>
      <p:sp>
        <p:nvSpPr>
          <p:cNvPr id="29" name="bullet"/>
          <p:cNvSpPr txBox="1"/>
          <p:nvPr/>
        </p:nvSpPr>
        <p:spPr>
          <a:xfrm>
            <a:off x="1143000" y="1389888"/>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period of a wave is the time taken for one complete wave to pass a point.</a:t>
            </a:r>
            <a:endParaRPr lang="en-US" sz="1800" dirty="0"/>
          </a:p>
        </p:txBody>
      </p:sp>
      <p:sp>
        <p:nvSpPr>
          <p:cNvPr id="30" name="bullet-card"/>
          <p:cNvSpPr/>
          <p:nvPr/>
        </p:nvSpPr>
        <p:spPr>
          <a:xfrm>
            <a:off x="548640" y="2388447"/>
            <a:ext cx="5074920" cy="852255"/>
          </a:xfrm>
          <a:prstGeom prst="roundRect">
            <a:avLst>
              <a:gd name="adj" fmla="val 8583"/>
            </a:avLst>
          </a:prstGeom>
          <a:solidFill>
            <a:srgbClr val="E2ECEC"/>
          </a:solidFill>
          <a:ln/>
        </p:spPr>
      </p:sp>
      <p:sp>
        <p:nvSpPr>
          <p:cNvPr id="31" name="bullet-hex"/>
          <p:cNvSpPr/>
          <p:nvPr/>
        </p:nvSpPr>
        <p:spPr>
          <a:xfrm>
            <a:off x="676656" y="2648281"/>
            <a:ext cx="384048" cy="332586"/>
          </a:xfrm>
          <a:prstGeom prst="hexagon">
            <a:avLst/>
          </a:prstGeom>
          <a:solidFill>
            <a:srgbClr val="B8862B"/>
          </a:solidFill>
          <a:ln/>
        </p:spPr>
      </p:sp>
      <p:sp>
        <p:nvSpPr>
          <p:cNvPr id="32" name="bullet"/>
          <p:cNvSpPr txBox="1"/>
          <p:nvPr/>
        </p:nvSpPr>
        <p:spPr>
          <a:xfrm>
            <a:off x="1143000" y="2388447"/>
            <a:ext cx="4389120"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high frequency means a short period, and a low frequency means a long period.</a:t>
            </a:r>
            <a:endParaRPr lang="en-US" sz="1800" dirty="0"/>
          </a:p>
        </p:txBody>
      </p:sp>
      <p:sp>
        <p:nvSpPr>
          <p:cNvPr id="33" name="bullet-card"/>
          <p:cNvSpPr/>
          <p:nvPr/>
        </p:nvSpPr>
        <p:spPr>
          <a:xfrm>
            <a:off x="548640" y="3387005"/>
            <a:ext cx="5074920" cy="1410039"/>
          </a:xfrm>
          <a:prstGeom prst="roundRect">
            <a:avLst>
              <a:gd name="adj" fmla="val 5188"/>
            </a:avLst>
          </a:prstGeom>
          <a:solidFill>
            <a:srgbClr val="E2ECEC"/>
          </a:solidFill>
          <a:ln/>
        </p:spPr>
      </p:sp>
      <p:sp>
        <p:nvSpPr>
          <p:cNvPr id="34" name="bullet-hex"/>
          <p:cNvSpPr/>
          <p:nvPr/>
        </p:nvSpPr>
        <p:spPr>
          <a:xfrm>
            <a:off x="676656" y="3925732"/>
            <a:ext cx="384048" cy="332586"/>
          </a:xfrm>
          <a:prstGeom prst="hexagon">
            <a:avLst/>
          </a:prstGeom>
          <a:solidFill>
            <a:srgbClr val="1F6F6A"/>
          </a:solidFill>
          <a:ln/>
        </p:spPr>
      </p:sp>
      <p:sp>
        <p:nvSpPr>
          <p:cNvPr id="35" name="bullet"/>
          <p:cNvSpPr txBox="1"/>
          <p:nvPr/>
        </p:nvSpPr>
        <p:spPr>
          <a:xfrm>
            <a:off x="1143000" y="3387005"/>
            <a:ext cx="4389120" cy="141003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displacement–time graph shows how one point moves as time passes: the distance along the time axis between one crest and the next is the period.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Same task, three ways in: Wavelength from a diagram</a:t>
            </a:r>
            <a:endParaRPr lang="en-US" sz="26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diagram shows 4 complete waves fitting across a length of 10 m. Calculate the wavelength in metres.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a:t>
            </a:r>
            <a:endParaRPr lang="en-US" sz="2000" dirty="0"/>
          </a:p>
        </p:txBody>
      </p:sp>
      <p:sp>
        <p:nvSpPr>
          <p:cNvPr id="12" name="col-Support"/>
          <p:cNvSpPr/>
          <p:nvPr/>
        </p:nvSpPr>
        <p:spPr>
          <a:xfrm>
            <a:off x="548640" y="2948940"/>
            <a:ext cx="3515258" cy="3195828"/>
          </a:xfrm>
          <a:prstGeom prst="roundRect">
            <a:avLst>
              <a:gd name="adj" fmla="val 1717"/>
            </a:avLst>
          </a:prstGeom>
          <a:solidFill>
            <a:srgbClr val="DDE9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Count the complete waves (crest to crest counts as one).</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Divide the whole length by the number of waves.</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Write the unit, m.</a:t>
            </a:r>
            <a:endParaRPr lang="en-US" sz="2000" dirty="0"/>
          </a:p>
        </p:txBody>
      </p:sp>
      <p:sp>
        <p:nvSpPr>
          <p:cNvPr id="17" name="col-Core"/>
          <p:cNvSpPr/>
          <p:nvPr/>
        </p:nvSpPr>
        <p:spPr>
          <a:xfrm>
            <a:off x="4338218" y="2948940"/>
            <a:ext cx="3515258" cy="3195828"/>
          </a:xfrm>
          <a:prstGeom prst="roundRect">
            <a:avLst>
              <a:gd name="adj" fmla="val 1717"/>
            </a:avLst>
          </a:prstGeom>
          <a:solidFill>
            <a:srgbClr val="C3D8D7"/>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The 10 m is shared equally by the 4 waves.</a:t>
            </a:r>
            <a:endParaRPr lang="en-US" sz="20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On the same diagram the crest-to-trough height is 0.6 m. State the amplitude, and explain why measuring across four waves gives a more accurate wavelength than measuring one.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Same task, three ways in: Period from frequency</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loudspeaker cone vibrates 250 times each second, so the frequency of the sound is 250 Hz. Calculate the period of the wave in seconds.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DDE9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Write T = 1 ÷ f.</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Divide 1 by the frequency in hertz.</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Write the unit, s.</a:t>
            </a:r>
            <a:endParaRPr lang="en-US" sz="2000" dirty="0"/>
          </a:p>
        </p:txBody>
      </p:sp>
      <p:sp>
        <p:nvSpPr>
          <p:cNvPr id="17" name="col-Core"/>
          <p:cNvSpPr/>
          <p:nvPr/>
        </p:nvSpPr>
        <p:spPr>
          <a:xfrm>
            <a:off x="4338218" y="2948940"/>
            <a:ext cx="3515258" cy="3195828"/>
          </a:xfrm>
          <a:prstGeom prst="roundRect">
            <a:avLst>
              <a:gd name="adj" fmla="val 1717"/>
            </a:avLst>
          </a:prstGeom>
          <a:solidFill>
            <a:srgbClr val="C3D8D7"/>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Period and frequency are each 1 divided by the other.</a:t>
            </a:r>
            <a:endParaRPr lang="en-US" sz="20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The frequency is doubled to 500 Hz. Without calculating from scratch, state the new period and explain why doubling the frequency halves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buoy at sea bobs up and down once every 2.5 s, so the period of the waves is 2.5 s. Calculate the frequency of the waves in hertz.</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4EEED"/>
          </a:solidFill>
          <a:ln w="12700">
            <a:solidFill>
              <a:srgbClr val="84B0A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(Hz):</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Wavelength from a diagram</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diagram shows 4 complete waves fitting across a length of 10 m. Calculate the wavelength in 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Four equal waves share 10 m, so one wavelength is 10 ÷ 4 = 2.5 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Period from frequency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loudspeaker cone vibrates 250 times each second, so the frequency of the sound is 250 Hz. Calculate the period of the wave in seconds.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0.004 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 = 1 ÷ f = 1 ÷ 250 = 0.004 s: each wave takes four thousandths of a second.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buoy at sea bobs up and down once every 2.5 s, so the period of the waves is 2.5 s. Calculate the frequency of the waves in hertz.</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0.4 Hz</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 = 1 ÷ T = 1 ÷ 2.5 = 0.4 Hz: four tenths of a wave each second, or one wave every 2.5 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DDE9E9"/>
      </a:lt2>
      <a:accent1>
        <a:srgbClr val="1F6F6A"/>
      </a:accent1>
      <a:accent2>
        <a:srgbClr val="B8862B"/>
      </a:accent2>
      <a:accent3>
        <a:srgbClr val="79A9A6"/>
      </a:accent3>
      <a:accent4>
        <a:srgbClr val="815E1E"/>
      </a:accent4>
      <a:accent5>
        <a:srgbClr val="4A505C"/>
      </a:accent5>
      <a:accent6>
        <a:srgbClr val="D8BC8A"/>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 Properties · Chapter 2: Describing a wave: amplitude, wavelength, frequency and period</dc:title>
  <dc:subject>Physics (Combined Science) · Year 11</dc:subject>
  <dc:creator>Dr Vitor Merissi de Carvalho</dc:creator>
  <cp:lastModifiedBy>Dr Vitor Merissi de Carvalho</cp:lastModifiedBy>
  <cp:revision>1</cp:revision>
  <dcterms:created xsi:type="dcterms:W3CDTF">2026-10-19T16:22:31Z</dcterms:created>
  <dcterms:modified xsi:type="dcterms:W3CDTF">2026-10-19T16:22:31Z</dcterms:modified>
</cp:coreProperties>
</file>