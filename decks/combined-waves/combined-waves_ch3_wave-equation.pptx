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7ebbe01-7ffd-4cce-17a1-8eaf7274d5cb}">
          <p14:sldIdLst>
            <p14:sldId id="256"/>
          </p14:sldIdLst>
        </p14:section>
        <p14:section name="Gate" id="{ddf7ee7a-6703-778e-eb2f-23de742f53a5}">
          <p14:sldIdLst>
            <p14:sldId id="257"/>
            <p14:sldId id="258"/>
          </p14:sldIdLst>
        </p14:section>
        <p14:section name="Pre-teach" id="{9860cc71-16d9-7d56-386a-ac2c0dff0df2}">
          <p14:sldIdLst>
            <p14:sldId id="259"/>
          </p14:sldIdLst>
        </p14:section>
        <p14:section name="Read-along" id="{a2b94188-fbd0-1038-ef6e-3fc9ef9f465a}">
          <p14:sldIdLst>
            <p14:sldId id="260"/>
            <p14:sldId id="261"/>
          </p14:sldIdLst>
        </p14:section>
        <p14:section name="Teach" id="{58d9e6ad-c08d-0037-adcc-9600d5e559dc}">
          <p14:sldIdLst>
            <p14:sldId id="262"/>
            <p14:sldId id="263"/>
            <p14:sldId id="264"/>
          </p14:sldIdLst>
        </p14:section>
        <p14:section name="Routes" id="{5ba68760-e455-4116-9183-80ebaf671aee}">
          <p14:sldIdLst>
            <p14:sldId id="265"/>
            <p14:sldId id="266"/>
          </p14:sldIdLst>
        </p14:section>
        <p14:section name="Close" id="{15ce2a6b-9223-a4d9-00ce-d48f03fe3f25}">
          <p14:sldIdLst>
            <p14:sldId id="267"/>
          </p14:sldIdLst>
        </p14:section>
        <p14:section name="Answers" id="{ab3d7d24-05ba-605f-8c9c-ad8c12950eb4}">
          <p14:sldIdLst>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wave equation: v = f λ. This chapter gives you the equation that links wave speed, frequency and wavelength, how to rearrange it, and how to handle kilohertz, megahertz and centimetres.
This deck covers the department's lesson: 2 (P12.2 The properties of waves: How do we describe a wave, and how are its speed, frequency and wavelength linked?).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A wave has a frequency of 5 Hz and a wavelength of 2 m. Calculate its speed in metres per second.  →  10 m/s
2. Which equation is the wave equation?  →  A   wave speed = frequency × wavelength
3. 1 kHz is the same as ___ Hz.  →  1000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10 m/s. v = f λ = 5 × 2 = 10 m/s. Whole-number data, so a whole-number answer.
2. A   wave speed = frequency × wavelength. v = f λ: wave speed equals frequency multiplied by wavelength.
3. 1000. Kilo means a thousand: 1 kHz = 1000 Hz.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wave speed: how far a wave travels each second. Example: "The wave speed of the ripples was ten centimetres per second."
• equation: a rule written with symbols that links quantities together. Example: "The wave equation links speed, frequency and wavelength."
• kilohertz: one thousand hertz, written kHz. Example: "A bat squeaks at about forty kilohertz."
• rearrange: to change an equation round so it gives you a different quantity. Example: "Rearrange the equation to make wavelength the subject."
• convert: to change a measurement into different units. Example: "Convert the wavelength from centimetres to metres first."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How fast does a wave travel?
2. Wave speed is the distance a wave moves each second.
3. We measure it in metres per second, written m/s.
4. Each second, a wave moves forward by one wavelength for every wave made.
5. So wave speed equals frequency times wavelength.
6. We write this as v = f λ.
7. The symbol λ is a Greek letter called lambda.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It stands for wavelength.
9. Before you use the equation, check the units.
10. Frequency must be in hertz and wavelength in metres.
11. One kilohertz is one thousand hertz.
12. One centimetre is one hundredth of a metre.
13. Light and radio waves travel at 300 000 000 m/s through empty space.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Wave speed and the equation v = f λ. Say it in your own words, then check understanding with a quick question: ask a pupil from the pre-teach group first, since they met these words and ideas before the lesson. Pupils try to recall before you re-explain.
Wave speed is the speed at which the energy is transferred, or the speed at which a crest moves along. It is measured in metres per second (m/s). Think about why it depends on frequency and wavelength: if a source makes f waves every second, and each wave is λ metres long, then in one second the front of the wave train has moved f × λ metres.
So wave speed = frequency × wavelength, written v = f λ, with v in metres per second (m/s), f in hertz (Hz) and λ in metres (m). This one equation works for every kind of wave: ripples, sound, light and radio.
All electromagnetic waves travel through a vacuum at the same speed, 300 000 000 m/s. Sound in air travels at about 330 m/s. Ripples in a tank travel at a few centimetres per second. The equation is the same each time; only the numbers change.
Worked example — model it step by step, thinking aloud: Ripples on a pond have a frequency of 0.5 Hz and a wavelength of 0.12 m. Calculate the wave speed. (1) Write the equation: v = f λ. (2) Check the units: 0.5 Hz and 0.12 m are already in hertz and metres. (3) Substitute: v = 0.5 × 0.12. (4) Calculate and add the unit: v = 0.06 m/s. Answer: 0.06 m/s.
Tip: Write v = f λ first, every time. Then substitute with units, then calculate.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Rearranging: finding frequency or wavelength. Say it in your own words, then check understanding with a quick question: ask a pupil from the pre-teach group first, since they met these words and ideas before the lesson. Pupils try to recall before you re-explain.
Often you know the speed and one of the other two quantities. Rearrange v = f λ. To find the frequency, divide the speed by the wavelength: f = v ÷ λ. To find the wavelength, divide the speed by the frequency: λ = v ÷ f.
A quick check that you have divided the right way up: a high frequency goes with a short wavelength, because the speed is fixed by the material. Sound travelling at 330 m/s has a wavelength of 3.3 m at 100 Hz but only 0.33 m at 1000 Hz.
Worked example — model it step by step, thinking aloud: A sound wave travels through air at 330 m/s. Its frequency is 150 Hz. Calculate its wavelength. (1) Write the equation: v = f λ, so λ = v ÷ f. (2) Substitute: λ = 330 ÷ 150. (3) Calculate and add the unit: λ = 2.2 m. Answer: 2.2 m.
Tip: Cover the letter you want in v = f λ. Covering f or λ leaves v over the other one: divide.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Units: kHz, MHz and cm. Say it in your own words, then check understanding with a quick question: ask a pupil from the pre-teach group first, since they met these words and ideas before the lesson. Pupils try to recall before you re-explain.
The equation only works when the frequency is in hertz and the wavelength is in metres. Questions often give you kilohertz, megahertz or centimetres, so convert first. 1 kHz = 1000 Hz, so multiply a frequency in kHz by 1000. 1 MHz = 1 000 000 Hz, so multiply a frequency in MHz by 1 000 000. 1 cm = 0.01 m, so divide a length in cm by 100.
Write the conversion down as a step of your working, for example 40 kHz = 40 000 Hz. If you convert in your head and slip, the examiner cannot give you the method mark.
Large speeds are easier to handle in standard form: 300 000 000 m/s is 3 × 10⁸ m/s. Your calculator will take either; make sure you type the right number of zeros.
Worked example — model it step by step, thinking aloud: A radio station broadcasts at 100 MHz. Radio waves travel at 300 000 000 m/s. Calculate the wavelength. (1) Convert the frequency: 100 MHz = 100 000 000 Hz. (2) Write the equation: λ = v ÷ f. (3) Substitute: λ = 300 000 000 ÷ 100 000 000. (4) Calculate and add the unit: λ = 3 m. Answer: 3 m.
Tip: kHz: × 1000. MHz: × 1 000 000. cm: ÷ 100. Convert first, then substitute.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Wavelength of a sound.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flute plays a note of frequency 660 Hz. Sound travels through the air at 330 m/s. Calculate the wavelength of the sound in metres.
Support — work through the steps with the group: (1) Write v = f λ and rearrange: λ = v ÷ f. (2) Divide the speed by the frequency. (3) Write the unit, m.
Parallel worked example for Support (model it, do not give the task answer): A note of frequency 165 Hz travels through air at 330 m/s. Calculate its wavelength. λ = v ÷ f.; λ = 330 ÷ 165.; λ = 2 m.. Answer: 2 m.
Core — reveal the hint only on request: Cover λ in v = f λ: you are left with v over f.
Stretch — no help; when finished: The flute then plays a note one octave higher, at 1320 Hz. State its wavelength without a full calculation and explain your reasoning.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Wavelength of a radio wave.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radio station broadcasts at a frequency of 200 MHz. Radio waves travel at 300 000 000 m/s. Calculate the wavelength in metres.
Support — work through the steps with the group: (1) Convert the frequency: multiply MHz by 1 000 000 to get Hz. (2) Write λ = v ÷ f. (3) Divide the speed by the frequency in hertz and write the unit, m.
Parallel worked example for Support (model it, do not give the task answer): A transmitter works at 150 MHz. Radio waves travel at 300 000 000 m/s. Calculate the wavelength. 150 MHz = 150 000 000 Hz.; λ = v ÷ f = 300 000 000 ÷ 150 000 000.; λ = 2 m.. Answer: 2 m.
Core — reveal the hint only on request: Mega means a million. Write the frequency out in full before you divide.
Stretch — no help; when finished: A different station at 100 MHz has a wavelength of 3 m. Use the two results to explain, in words, how wavelength changes when frequency doubles.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bat's call has a frequency of 40 kHz and a wavelength in air of 0.85 cm. Calculate the speed of the sound in metres per second.
Answer: 340 m/s. After converting, v = 40 000 × 0.0085 = 340 m/s, the speed of sound in air.
Source of this question: module 3 task ("Speed of a bat's call")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Wavelength of a sound. Reveal the answer; pupils mark their own work in a different colour, then read the "why" together. Same destination for every lane, so one answer serves the whole class.
Answer: 0.5 m
Why: λ = v ÷ f = 330 ÷ 660 = 0.5 m: a high note has a short wavelength.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Wavelength of a radio wave. Reveal the answer; pupils mark their own work in a different colour, then read the "why" together. Same destination for every lane, so one answer serves the whole class.
Answer: 1.5 m
Why: 200 MHz = 200 000 000 Hz; λ = 300 000 000 ÷ 200 000 000 = 1.5 m.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340 m/s
Why: After converting, v = 40 000 × 0.0085 = 340 m/s, the speed of sound in air.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wave equation: v = f λ</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DE9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P12.2 The properties of waves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wave has a frequency of 5 Hz and a wavelength of 2 m. Calculate its speed in metres per second.</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m/s</a:t>
            </a:r>
            <a:endParaRPr lang="en-US" sz="2400" dirty="0"/>
          </a:p>
        </p:txBody>
      </p:sp>
      <p:sp>
        <p:nvSpPr>
          <p:cNvPr id="12"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3" name="card-hex"/>
          <p:cNvSpPr/>
          <p:nvPr/>
        </p:nvSpPr>
        <p:spPr>
          <a:xfrm>
            <a:off x="4521098" y="1572768"/>
            <a:ext cx="640080" cy="554309"/>
          </a:xfrm>
          <a:prstGeom prst="hexagon">
            <a:avLst/>
          </a:prstGeom>
          <a:solidFill>
            <a:srgbClr val="1F6F6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Which equation is the wave equation?</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 speed = frequency × wavelength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 speed = frequency ÷ wavelength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 speed = wavelength ÷ frequency</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 speed = frequency + wavelength</a:t>
            </a:r>
            <a:endParaRPr lang="en-US" sz="1800" dirty="0"/>
          </a:p>
        </p:txBody>
      </p:sp>
      <p:sp>
        <p:nvSpPr>
          <p:cNvPr id="17"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18" name="card-hex"/>
          <p:cNvSpPr/>
          <p:nvPr/>
        </p:nvSpPr>
        <p:spPr>
          <a:xfrm>
            <a:off x="8310677" y="1572768"/>
            <a:ext cx="640080" cy="554309"/>
          </a:xfrm>
          <a:prstGeom prst="hexagon">
            <a:avLst/>
          </a:prstGeom>
          <a:solidFill>
            <a:srgbClr val="1F6F6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1 kHz is the same as ___ Hz.</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1000  ·  100  ·  1 000 000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ADBBF"/>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 m/s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wave has a frequency of 5 Hz and a wavelength of 2 m. Calculate its speed in metres per second.</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 = f λ = 5 × 2 = 10 m/s. Whole-number data, so a whole-number answer.</a:t>
            </a:r>
            <a:endParaRPr lang="en-US" sz="2000" dirty="0"/>
          </a:p>
        </p:txBody>
      </p:sp>
      <p:sp>
        <p:nvSpPr>
          <p:cNvPr id="14"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295908"/>
          </a:xfrm>
          <a:prstGeom prst="roundRect">
            <a:avLst>
              <a:gd name="adj" fmla="val 8467"/>
            </a:avLst>
          </a:prstGeom>
          <a:solidFill>
            <a:srgbClr val="EADBBF"/>
          </a:solidFill>
          <a:ln w="19050">
            <a:solidFill>
              <a:srgbClr val="B8862B"/>
            </a:solidFill>
            <a:prstDash val="solid"/>
          </a:ln>
        </p:spPr>
      </p:sp>
      <p:sp>
        <p:nvSpPr>
          <p:cNvPr id="19" name="answer"/>
          <p:cNvSpPr txBox="1"/>
          <p:nvPr/>
        </p:nvSpPr>
        <p:spPr>
          <a:xfrm>
            <a:off x="4612538"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wave speed = frequency × wavelength</a:t>
            </a:r>
            <a:endParaRPr lang="en-US" sz="2200" dirty="0"/>
          </a:p>
        </p:txBody>
      </p:sp>
      <p:sp>
        <p:nvSpPr>
          <p:cNvPr id="20" name="card-body"/>
          <p:cNvSpPr txBox="1"/>
          <p:nvPr/>
        </p:nvSpPr>
        <p:spPr>
          <a:xfrm>
            <a:off x="4521098"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equation is the wave equation?</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v = f λ: wave speed equals frequency multiplied by wavelength.</a:t>
            </a:r>
            <a:endParaRPr lang="en-US" sz="2000" dirty="0"/>
          </a:p>
        </p:txBody>
      </p:sp>
      <p:sp>
        <p:nvSpPr>
          <p:cNvPr id="21"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1000</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1 kHz is the same as ___ Hz.</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Kilo means a thousand: 1 kHz = 1000 Hz.</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831901"/>
          </a:xfrm>
          <a:prstGeom prst="roundRect">
            <a:avLst>
              <a:gd name="adj" fmla="val 6595"/>
            </a:avLst>
          </a:prstGeom>
          <a:solidFill>
            <a:srgbClr val="E2ECEC"/>
          </a:solidFill>
          <a:ln/>
        </p:spPr>
      </p:sp>
      <p:sp>
        <p:nvSpPr>
          <p:cNvPr id="12" name="kw-hex"/>
          <p:cNvSpPr/>
          <p:nvPr/>
        </p:nvSpPr>
        <p:spPr>
          <a:xfrm>
            <a:off x="658368" y="2158020"/>
            <a:ext cx="411480" cy="356342"/>
          </a:xfrm>
          <a:prstGeom prst="hexagon">
            <a:avLst/>
          </a:prstGeom>
          <a:solidFill>
            <a:srgbClr val="1F6F6A"/>
          </a:solidFill>
          <a:ln/>
        </p:spPr>
      </p:sp>
      <p:sp>
        <p:nvSpPr>
          <p:cNvPr id="13" name="kw-cell"/>
          <p:cNvSpPr txBox="1"/>
          <p:nvPr/>
        </p:nvSpPr>
        <p:spPr>
          <a:xfrm>
            <a:off x="1143000" y="1920240"/>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wave speed</a:t>
            </a:r>
            <a:endParaRPr lang="en-US" sz="2000" dirty="0"/>
          </a:p>
        </p:txBody>
      </p:sp>
      <p:sp>
        <p:nvSpPr>
          <p:cNvPr id="14" name="kw-cell"/>
          <p:cNvSpPr txBox="1"/>
          <p:nvPr/>
        </p:nvSpPr>
        <p:spPr>
          <a:xfrm>
            <a:off x="3657600" y="1920240"/>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how far a wave travels each second</a:t>
            </a:r>
            <a:endParaRPr lang="en-US" sz="1800" dirty="0"/>
          </a:p>
        </p:txBody>
      </p:sp>
      <p:sp>
        <p:nvSpPr>
          <p:cNvPr id="15" name="kw-cell"/>
          <p:cNvSpPr txBox="1"/>
          <p:nvPr/>
        </p:nvSpPr>
        <p:spPr>
          <a:xfrm>
            <a:off x="7315200" y="1920240"/>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wave speed of the ripples was ten centimetres per second.</a:t>
            </a:r>
            <a:endParaRPr lang="en-US" sz="1800" dirty="0"/>
          </a:p>
        </p:txBody>
      </p:sp>
      <p:sp>
        <p:nvSpPr>
          <p:cNvPr id="16" name="kw-row"/>
          <p:cNvSpPr/>
          <p:nvPr/>
        </p:nvSpPr>
        <p:spPr>
          <a:xfrm>
            <a:off x="548640" y="2825293"/>
            <a:ext cx="11094415" cy="831901"/>
          </a:xfrm>
          <a:prstGeom prst="roundRect">
            <a:avLst>
              <a:gd name="adj" fmla="val 6595"/>
            </a:avLst>
          </a:prstGeom>
          <a:solidFill>
            <a:srgbClr val="F3EADB"/>
          </a:solidFill>
          <a:ln/>
        </p:spPr>
      </p:sp>
      <p:sp>
        <p:nvSpPr>
          <p:cNvPr id="17" name="kw-hex"/>
          <p:cNvSpPr/>
          <p:nvPr/>
        </p:nvSpPr>
        <p:spPr>
          <a:xfrm>
            <a:off x="658368" y="3063072"/>
            <a:ext cx="411480" cy="356342"/>
          </a:xfrm>
          <a:prstGeom prst="hexagon">
            <a:avLst/>
          </a:prstGeom>
          <a:solidFill>
            <a:srgbClr val="B8862B"/>
          </a:solidFill>
          <a:ln/>
        </p:spPr>
      </p:sp>
      <p:sp>
        <p:nvSpPr>
          <p:cNvPr id="18" name="kw-cell"/>
          <p:cNvSpPr txBox="1"/>
          <p:nvPr/>
        </p:nvSpPr>
        <p:spPr>
          <a:xfrm>
            <a:off x="1143000" y="2825293"/>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equation</a:t>
            </a:r>
            <a:endParaRPr lang="en-US" sz="2000" dirty="0"/>
          </a:p>
        </p:txBody>
      </p:sp>
      <p:sp>
        <p:nvSpPr>
          <p:cNvPr id="19" name="kw-cell"/>
          <p:cNvSpPr txBox="1"/>
          <p:nvPr/>
        </p:nvSpPr>
        <p:spPr>
          <a:xfrm>
            <a:off x="3657600" y="2825293"/>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rule written with symbols that links quantities together</a:t>
            </a:r>
            <a:endParaRPr lang="en-US" sz="1800" dirty="0"/>
          </a:p>
        </p:txBody>
      </p:sp>
      <p:sp>
        <p:nvSpPr>
          <p:cNvPr id="20" name="kw-cell"/>
          <p:cNvSpPr txBox="1"/>
          <p:nvPr/>
        </p:nvSpPr>
        <p:spPr>
          <a:xfrm>
            <a:off x="7315200" y="2825293"/>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wave equation links speed, frequency and wavelength.</a:t>
            </a:r>
            <a:endParaRPr lang="en-US" sz="1800" dirty="0"/>
          </a:p>
        </p:txBody>
      </p:sp>
      <p:sp>
        <p:nvSpPr>
          <p:cNvPr id="21" name="kw-row"/>
          <p:cNvSpPr/>
          <p:nvPr/>
        </p:nvSpPr>
        <p:spPr>
          <a:xfrm>
            <a:off x="548640" y="3730346"/>
            <a:ext cx="11094415" cy="604317"/>
          </a:xfrm>
          <a:prstGeom prst="roundRect">
            <a:avLst>
              <a:gd name="adj" fmla="val 9079"/>
            </a:avLst>
          </a:prstGeom>
          <a:solidFill>
            <a:srgbClr val="E2ECEC"/>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730346"/>
            <a:ext cx="2331720" cy="604317"/>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kilohertz</a:t>
            </a:r>
            <a:endParaRPr lang="en-US" sz="2000" dirty="0"/>
          </a:p>
        </p:txBody>
      </p:sp>
      <p:sp>
        <p:nvSpPr>
          <p:cNvPr id="24" name="kw-cell"/>
          <p:cNvSpPr txBox="1"/>
          <p:nvPr/>
        </p:nvSpPr>
        <p:spPr>
          <a:xfrm>
            <a:off x="3657600" y="3730346"/>
            <a:ext cx="3474720" cy="60431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thousand hertz, written kHz</a:t>
            </a:r>
            <a:endParaRPr lang="en-US" sz="1800" dirty="0"/>
          </a:p>
        </p:txBody>
      </p:sp>
      <p:sp>
        <p:nvSpPr>
          <p:cNvPr id="25" name="kw-cell"/>
          <p:cNvSpPr txBox="1"/>
          <p:nvPr/>
        </p:nvSpPr>
        <p:spPr>
          <a:xfrm>
            <a:off x="7315200" y="3730346"/>
            <a:ext cx="4236415" cy="60431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bat squeaks at about forty kilohertz.</a:t>
            </a:r>
            <a:endParaRPr lang="en-US" sz="1800" dirty="0"/>
          </a:p>
        </p:txBody>
      </p:sp>
      <p:sp>
        <p:nvSpPr>
          <p:cNvPr id="26" name="kw-row"/>
          <p:cNvSpPr/>
          <p:nvPr/>
        </p:nvSpPr>
        <p:spPr>
          <a:xfrm>
            <a:off x="548640" y="4407814"/>
            <a:ext cx="11094415" cy="831901"/>
          </a:xfrm>
          <a:prstGeom prst="roundRect">
            <a:avLst>
              <a:gd name="adj" fmla="val 6595"/>
            </a:avLst>
          </a:prstGeom>
          <a:solidFill>
            <a:srgbClr val="F3EADB"/>
          </a:solidFill>
          <a:ln/>
        </p:spPr>
      </p:sp>
      <p:sp>
        <p:nvSpPr>
          <p:cNvPr id="27" name="kw-hex"/>
          <p:cNvSpPr/>
          <p:nvPr/>
        </p:nvSpPr>
        <p:spPr>
          <a:xfrm>
            <a:off x="658368" y="4645594"/>
            <a:ext cx="411480" cy="356342"/>
          </a:xfrm>
          <a:prstGeom prst="hexagon">
            <a:avLst/>
          </a:prstGeom>
          <a:solidFill>
            <a:srgbClr val="B8862B"/>
          </a:solidFill>
          <a:ln/>
        </p:spPr>
      </p:sp>
      <p:sp>
        <p:nvSpPr>
          <p:cNvPr id="28" name="kw-cell"/>
          <p:cNvSpPr txBox="1"/>
          <p:nvPr/>
        </p:nvSpPr>
        <p:spPr>
          <a:xfrm>
            <a:off x="1143000" y="4407814"/>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rearrange</a:t>
            </a:r>
            <a:endParaRPr lang="en-US" sz="2000" dirty="0"/>
          </a:p>
        </p:txBody>
      </p:sp>
      <p:sp>
        <p:nvSpPr>
          <p:cNvPr id="29" name="kw-cell"/>
          <p:cNvSpPr txBox="1"/>
          <p:nvPr/>
        </p:nvSpPr>
        <p:spPr>
          <a:xfrm>
            <a:off x="3657600" y="4407814"/>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change an equation round so it gives you a different quantity</a:t>
            </a:r>
            <a:endParaRPr lang="en-US" sz="1800" dirty="0"/>
          </a:p>
        </p:txBody>
      </p:sp>
      <p:sp>
        <p:nvSpPr>
          <p:cNvPr id="30" name="kw-cell"/>
          <p:cNvSpPr txBox="1"/>
          <p:nvPr/>
        </p:nvSpPr>
        <p:spPr>
          <a:xfrm>
            <a:off x="7315200" y="4407814"/>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Rearrange the equation to make wavelength the subject.</a:t>
            </a:r>
            <a:endParaRPr lang="en-US" sz="1800" dirty="0"/>
          </a:p>
        </p:txBody>
      </p:sp>
      <p:sp>
        <p:nvSpPr>
          <p:cNvPr id="31" name="kw-row"/>
          <p:cNvSpPr/>
          <p:nvPr/>
        </p:nvSpPr>
        <p:spPr>
          <a:xfrm>
            <a:off x="548640" y="5312867"/>
            <a:ext cx="11094415" cy="831901"/>
          </a:xfrm>
          <a:prstGeom prst="roundRect">
            <a:avLst>
              <a:gd name="adj" fmla="val 6595"/>
            </a:avLst>
          </a:prstGeom>
          <a:solidFill>
            <a:srgbClr val="E2ECEC"/>
          </a:solidFill>
          <a:ln/>
        </p:spPr>
      </p:sp>
      <p:sp>
        <p:nvSpPr>
          <p:cNvPr id="32" name="kw-hex"/>
          <p:cNvSpPr/>
          <p:nvPr/>
        </p:nvSpPr>
        <p:spPr>
          <a:xfrm>
            <a:off x="658368" y="5550647"/>
            <a:ext cx="411480" cy="356342"/>
          </a:xfrm>
          <a:prstGeom prst="hexagon">
            <a:avLst/>
          </a:prstGeom>
          <a:solidFill>
            <a:srgbClr val="1F6F6A"/>
          </a:solidFill>
          <a:ln/>
        </p:spPr>
      </p:sp>
      <p:sp>
        <p:nvSpPr>
          <p:cNvPr id="33" name="kw-cell"/>
          <p:cNvSpPr txBox="1"/>
          <p:nvPr/>
        </p:nvSpPr>
        <p:spPr>
          <a:xfrm>
            <a:off x="1143000" y="5312867"/>
            <a:ext cx="2331720" cy="83190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convert</a:t>
            </a:r>
            <a:endParaRPr lang="en-US" sz="2000" dirty="0"/>
          </a:p>
        </p:txBody>
      </p:sp>
      <p:sp>
        <p:nvSpPr>
          <p:cNvPr id="34" name="kw-cell"/>
          <p:cNvSpPr txBox="1"/>
          <p:nvPr/>
        </p:nvSpPr>
        <p:spPr>
          <a:xfrm>
            <a:off x="3657600" y="5312867"/>
            <a:ext cx="3474720" cy="83190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to change a measurement into different units</a:t>
            </a:r>
            <a:endParaRPr lang="en-US" sz="1800" dirty="0"/>
          </a:p>
        </p:txBody>
      </p:sp>
      <p:sp>
        <p:nvSpPr>
          <p:cNvPr id="35" name="kw-cell"/>
          <p:cNvSpPr txBox="1"/>
          <p:nvPr/>
        </p:nvSpPr>
        <p:spPr>
          <a:xfrm>
            <a:off x="7315200" y="5312867"/>
            <a:ext cx="4236415" cy="83190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Convert the wavelength from centimetres to metres first.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How fast does a wave travel?</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 speed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the distance a wave moves each second.</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measure it in metres per second, written m/s.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Each second, a wave moves forward by one wavelength for every wave made.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So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wave speed</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equals frequency times wavelength.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We write this as v = f λ.</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The symbol λ is a Greek letter called lambda.</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It stands for wavelength.</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Before you use the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equation</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check the units.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Frequency must be in hertz and wavelength in metres.</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a:t>
            </a:r>
            <a:pPr algn="l" indent="0" marL="0">
              <a:spcAft>
                <a:spcPts val="600"/>
              </a:spcAft>
              <a:buNone/>
            </a:pPr>
            <a:r>
              <a:rPr lang="en-US" sz="2600" b="1" dirty="0">
                <a:solidFill>
                  <a:srgbClr val="1F6F6A"/>
                </a:solidFill>
                <a:latin typeface="Calibri" pitchFamily="34" charset="0"/>
                <a:ea typeface="Calibri" pitchFamily="34" charset="-122"/>
                <a:cs typeface="Calibri" pitchFamily="34" charset="-120"/>
              </a:rPr>
              <a:t>kilohertz</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 is one thousand hertz.</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One centimetre is one hundredth of a metre.</a:t>
            </a:r>
            <a:endParaRPr lang="en-US" sz="2600" dirty="0"/>
          </a:p>
          <a:p>
            <a:pPr algn="l" indent="0" marL="0">
              <a:spcAft>
                <a:spcPts val="600"/>
              </a:spcAft>
              <a:buNone/>
            </a:pPr>
            <a:r>
              <a:rPr lang="en-US" sz="26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600" dirty="0">
                <a:solidFill>
                  <a:srgbClr val="1E2229"/>
                </a:solidFill>
                <a:latin typeface="Calibri" pitchFamily="34" charset="0"/>
                <a:ea typeface="Calibri" pitchFamily="34" charset="-122"/>
                <a:cs typeface="Calibri" pitchFamily="34" charset="-120"/>
              </a:rPr>
              <a:t>Light and radio waves travel at 300 000 000 m/s through empty space.</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Wave speed and the equation v = f λ</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Write v = f λ first, every time. Then substitute with units, then calculate.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Ripples on a pond have a frequency of 0.5 Hz and a wavelength of 0.12 m. Calculate the wave speed.</a:t>
            </a:r>
            <a:endParaRPr lang="en-US" sz="1800" dirty="0"/>
          </a:p>
        </p:txBody>
      </p:sp>
      <p:sp>
        <p:nvSpPr>
          <p:cNvPr id="14" name="step-box"/>
          <p:cNvSpPr/>
          <p:nvPr/>
        </p:nvSpPr>
        <p:spPr>
          <a:xfrm>
            <a:off x="6126480" y="2888488"/>
            <a:ext cx="5379415" cy="509397"/>
          </a:xfrm>
          <a:prstGeom prst="roundRect">
            <a:avLst>
              <a:gd name="adj" fmla="val 17951"/>
            </a:avLst>
          </a:prstGeom>
          <a:solidFill>
            <a:srgbClr val="DDE9E9"/>
          </a:solidFill>
          <a:ln/>
        </p:spPr>
      </p:sp>
      <p:sp>
        <p:nvSpPr>
          <p:cNvPr id="15" name="step-hex"/>
          <p:cNvSpPr/>
          <p:nvPr/>
        </p:nvSpPr>
        <p:spPr>
          <a:xfrm>
            <a:off x="6217920" y="2961056"/>
            <a:ext cx="420624" cy="364260"/>
          </a:xfrm>
          <a:prstGeom prst="hexagon">
            <a:avLst/>
          </a:prstGeom>
          <a:solidFill>
            <a:srgbClr val="1F6F6A"/>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f λ.</a:t>
            </a:r>
            <a:endParaRPr lang="en-US" sz="1800" dirty="0"/>
          </a:p>
        </p:txBody>
      </p:sp>
      <p:sp>
        <p:nvSpPr>
          <p:cNvPr id="18" name="step-box"/>
          <p:cNvSpPr/>
          <p:nvPr/>
        </p:nvSpPr>
        <p:spPr>
          <a:xfrm>
            <a:off x="6126480" y="3489325"/>
            <a:ext cx="5379415" cy="736981"/>
          </a:xfrm>
          <a:prstGeom prst="roundRect">
            <a:avLst>
              <a:gd name="adj" fmla="val 12407"/>
            </a:avLst>
          </a:prstGeom>
          <a:solidFill>
            <a:srgbClr val="DDE9E9"/>
          </a:solidFill>
          <a:ln/>
        </p:spPr>
      </p:sp>
      <p:sp>
        <p:nvSpPr>
          <p:cNvPr id="19" name="step-hex"/>
          <p:cNvSpPr/>
          <p:nvPr/>
        </p:nvSpPr>
        <p:spPr>
          <a:xfrm>
            <a:off x="6217920" y="3675685"/>
            <a:ext cx="420624" cy="364260"/>
          </a:xfrm>
          <a:prstGeom prst="hexagon">
            <a:avLst/>
          </a:prstGeom>
          <a:solidFill>
            <a:srgbClr val="1F6F6A"/>
          </a:solidFill>
          <a:ln/>
        </p:spPr>
      </p:sp>
      <p:sp>
        <p:nvSpPr>
          <p:cNvPr id="20" name="step-hex-label"/>
          <p:cNvSpPr txBox="1"/>
          <p:nvPr/>
        </p:nvSpPr>
        <p:spPr>
          <a:xfrm>
            <a:off x="6217920" y="367568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units: 0.5 Hz and 0.12 m are already in hertz and metres.</a:t>
            </a:r>
            <a:endParaRPr lang="en-US" sz="1800" dirty="0"/>
          </a:p>
        </p:txBody>
      </p:sp>
      <p:sp>
        <p:nvSpPr>
          <p:cNvPr id="22" name="step-box"/>
          <p:cNvSpPr/>
          <p:nvPr/>
        </p:nvSpPr>
        <p:spPr>
          <a:xfrm>
            <a:off x="6126480" y="4317746"/>
            <a:ext cx="5379415" cy="509397"/>
          </a:xfrm>
          <a:prstGeom prst="roundRect">
            <a:avLst>
              <a:gd name="adj" fmla="val 17951"/>
            </a:avLst>
          </a:prstGeom>
          <a:solidFill>
            <a:srgbClr val="DDE9E9"/>
          </a:solidFill>
          <a:ln/>
        </p:spPr>
      </p:sp>
      <p:sp>
        <p:nvSpPr>
          <p:cNvPr id="23" name="step-hex"/>
          <p:cNvSpPr/>
          <p:nvPr/>
        </p:nvSpPr>
        <p:spPr>
          <a:xfrm>
            <a:off x="6217920" y="4390314"/>
            <a:ext cx="420624" cy="364260"/>
          </a:xfrm>
          <a:prstGeom prst="hexagon">
            <a:avLst/>
          </a:prstGeom>
          <a:solidFill>
            <a:srgbClr val="1F6F6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v = 0.5 × 0.12.</a:t>
            </a:r>
            <a:endParaRPr lang="en-US" sz="1800" dirty="0"/>
          </a:p>
        </p:txBody>
      </p:sp>
      <p:sp>
        <p:nvSpPr>
          <p:cNvPr id="26" name="step-box"/>
          <p:cNvSpPr/>
          <p:nvPr/>
        </p:nvSpPr>
        <p:spPr>
          <a:xfrm>
            <a:off x="6126480" y="4918583"/>
            <a:ext cx="5379415" cy="509397"/>
          </a:xfrm>
          <a:prstGeom prst="roundRect">
            <a:avLst>
              <a:gd name="adj" fmla="val 17951"/>
            </a:avLst>
          </a:prstGeom>
          <a:solidFill>
            <a:srgbClr val="DDE9E9"/>
          </a:solidFill>
          <a:ln/>
        </p:spPr>
      </p:sp>
      <p:sp>
        <p:nvSpPr>
          <p:cNvPr id="27" name="step-hex"/>
          <p:cNvSpPr/>
          <p:nvPr/>
        </p:nvSpPr>
        <p:spPr>
          <a:xfrm>
            <a:off x="6217920" y="4991151"/>
            <a:ext cx="420624" cy="364260"/>
          </a:xfrm>
          <a:prstGeom prst="hexagon">
            <a:avLst/>
          </a:prstGeom>
          <a:solidFill>
            <a:srgbClr val="1F6F6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v = 0.06 m/s.</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0.06 m/s</a:t>
            </a:r>
            <a:endParaRPr lang="en-US" sz="1800" dirty="0"/>
          </a:p>
        </p:txBody>
      </p:sp>
      <p:sp>
        <p:nvSpPr>
          <p:cNvPr id="31" name="bullet-card"/>
          <p:cNvSpPr/>
          <p:nvPr/>
        </p:nvSpPr>
        <p:spPr>
          <a:xfrm>
            <a:off x="548640" y="1389888"/>
            <a:ext cx="5074920" cy="1131147"/>
          </a:xfrm>
          <a:prstGeom prst="roundRect">
            <a:avLst>
              <a:gd name="adj" fmla="val 6467"/>
            </a:avLst>
          </a:prstGeom>
          <a:solidFill>
            <a:srgbClr val="E2ECEC"/>
          </a:solidFill>
          <a:ln/>
        </p:spPr>
      </p:sp>
      <p:sp>
        <p:nvSpPr>
          <p:cNvPr id="32" name="bullet-hex"/>
          <p:cNvSpPr/>
          <p:nvPr/>
        </p:nvSpPr>
        <p:spPr>
          <a:xfrm>
            <a:off x="676656" y="1789169"/>
            <a:ext cx="384048" cy="332586"/>
          </a:xfrm>
          <a:prstGeom prst="hexagon">
            <a:avLst/>
          </a:prstGeom>
          <a:solidFill>
            <a:srgbClr val="1F6F6A"/>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Wave speed is the speed at which the energy is transferred, or the speed at which a crest moves along.</a:t>
            </a:r>
            <a:endParaRPr lang="en-US" sz="1800" dirty="0"/>
          </a:p>
        </p:txBody>
      </p:sp>
      <p:sp>
        <p:nvSpPr>
          <p:cNvPr id="34" name="bullet-card"/>
          <p:cNvSpPr/>
          <p:nvPr/>
        </p:nvSpPr>
        <p:spPr>
          <a:xfrm>
            <a:off x="548640" y="2667339"/>
            <a:ext cx="5074920" cy="1131147"/>
          </a:xfrm>
          <a:prstGeom prst="roundRect">
            <a:avLst>
              <a:gd name="adj" fmla="val 6467"/>
            </a:avLst>
          </a:prstGeom>
          <a:solidFill>
            <a:srgbClr val="E2ECEC"/>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wave speed = frequency × wavelength, written v = f λ, with v in metres per second (m/s), f in hertz (Hz) and λ in metres (m).</a:t>
            </a:r>
            <a:endParaRPr lang="en-US" sz="1800" dirty="0"/>
          </a:p>
        </p:txBody>
      </p:sp>
      <p:sp>
        <p:nvSpPr>
          <p:cNvPr id="37" name="bullet-card"/>
          <p:cNvSpPr/>
          <p:nvPr/>
        </p:nvSpPr>
        <p:spPr>
          <a:xfrm>
            <a:off x="548640" y="3944789"/>
            <a:ext cx="5074920" cy="1131147"/>
          </a:xfrm>
          <a:prstGeom prst="roundRect">
            <a:avLst>
              <a:gd name="adj" fmla="val 6467"/>
            </a:avLst>
          </a:prstGeom>
          <a:solidFill>
            <a:srgbClr val="E2ECEC"/>
          </a:solidFill>
          <a:ln/>
        </p:spPr>
      </p:sp>
      <p:sp>
        <p:nvSpPr>
          <p:cNvPr id="38" name="bullet-hex"/>
          <p:cNvSpPr/>
          <p:nvPr/>
        </p:nvSpPr>
        <p:spPr>
          <a:xfrm>
            <a:off x="676656" y="4344070"/>
            <a:ext cx="384048" cy="332586"/>
          </a:xfrm>
          <a:prstGeom prst="hexagon">
            <a:avLst/>
          </a:prstGeom>
          <a:solidFill>
            <a:srgbClr val="1F6F6A"/>
          </a:solidFill>
          <a:ln/>
        </p:spPr>
      </p:sp>
      <p:sp>
        <p:nvSpPr>
          <p:cNvPr id="39"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All electromagnetic waves travel through a vacuum at the same speed, 300 000 000 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Rearranging: finding frequency or wavelength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1E7D5"/>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Cover the letter you want in v = f λ. Covering f or λ leaves v over the other one: divide.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sound wave travels through air at 330 m/s. Its frequency is 150 Hz. Calculate its wavelength.</a:t>
            </a:r>
            <a:endParaRPr lang="en-US" sz="1800" dirty="0"/>
          </a:p>
        </p:txBody>
      </p:sp>
      <p:sp>
        <p:nvSpPr>
          <p:cNvPr id="14" name="step-box"/>
          <p:cNvSpPr/>
          <p:nvPr/>
        </p:nvSpPr>
        <p:spPr>
          <a:xfrm>
            <a:off x="6126480" y="2888488"/>
            <a:ext cx="5379415" cy="566928"/>
          </a:xfrm>
          <a:prstGeom prst="roundRect">
            <a:avLst>
              <a:gd name="adj" fmla="val 16129"/>
            </a:avLst>
          </a:prstGeom>
          <a:solidFill>
            <a:srgbClr val="DDE9E9"/>
          </a:solidFill>
          <a:ln/>
        </p:spPr>
      </p:sp>
      <p:sp>
        <p:nvSpPr>
          <p:cNvPr id="15" name="step-hex"/>
          <p:cNvSpPr/>
          <p:nvPr/>
        </p:nvSpPr>
        <p:spPr>
          <a:xfrm>
            <a:off x="6217920" y="2989822"/>
            <a:ext cx="420624" cy="364260"/>
          </a:xfrm>
          <a:prstGeom prst="hexagon">
            <a:avLst/>
          </a:prstGeom>
          <a:solidFill>
            <a:srgbClr val="1F6F6A"/>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f λ, so λ = v ÷ f.</a:t>
            </a:r>
            <a:endParaRPr lang="en-US" sz="1800" dirty="0"/>
          </a:p>
        </p:txBody>
      </p:sp>
      <p:sp>
        <p:nvSpPr>
          <p:cNvPr id="18" name="step-box"/>
          <p:cNvSpPr/>
          <p:nvPr/>
        </p:nvSpPr>
        <p:spPr>
          <a:xfrm>
            <a:off x="6126480" y="3546856"/>
            <a:ext cx="5379415" cy="566928"/>
          </a:xfrm>
          <a:prstGeom prst="roundRect">
            <a:avLst>
              <a:gd name="adj" fmla="val 16129"/>
            </a:avLst>
          </a:prstGeom>
          <a:solidFill>
            <a:srgbClr val="DDE9E9"/>
          </a:solidFill>
          <a:ln/>
        </p:spPr>
      </p:sp>
      <p:sp>
        <p:nvSpPr>
          <p:cNvPr id="19" name="step-hex"/>
          <p:cNvSpPr/>
          <p:nvPr/>
        </p:nvSpPr>
        <p:spPr>
          <a:xfrm>
            <a:off x="6217920" y="3648190"/>
            <a:ext cx="420624" cy="364260"/>
          </a:xfrm>
          <a:prstGeom prst="hexagon">
            <a:avLst/>
          </a:prstGeom>
          <a:solidFill>
            <a:srgbClr val="1F6F6A"/>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λ = 330 ÷ 150.</a:t>
            </a:r>
            <a:endParaRPr lang="en-US" sz="1800" dirty="0"/>
          </a:p>
        </p:txBody>
      </p:sp>
      <p:sp>
        <p:nvSpPr>
          <p:cNvPr id="22" name="step-box"/>
          <p:cNvSpPr/>
          <p:nvPr/>
        </p:nvSpPr>
        <p:spPr>
          <a:xfrm>
            <a:off x="6126480" y="4205224"/>
            <a:ext cx="5379415" cy="566928"/>
          </a:xfrm>
          <a:prstGeom prst="roundRect">
            <a:avLst>
              <a:gd name="adj" fmla="val 16129"/>
            </a:avLst>
          </a:prstGeom>
          <a:solidFill>
            <a:srgbClr val="DDE9E9"/>
          </a:solidFill>
          <a:ln/>
        </p:spPr>
      </p:sp>
      <p:sp>
        <p:nvSpPr>
          <p:cNvPr id="23" name="step-hex"/>
          <p:cNvSpPr/>
          <p:nvPr/>
        </p:nvSpPr>
        <p:spPr>
          <a:xfrm>
            <a:off x="6217920" y="4306558"/>
            <a:ext cx="420624" cy="364260"/>
          </a:xfrm>
          <a:prstGeom prst="hexagon">
            <a:avLst/>
          </a:prstGeom>
          <a:solidFill>
            <a:srgbClr val="1F6F6A"/>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λ = 2.2 m.</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2.2 m</a:t>
            </a:r>
            <a:endParaRPr lang="en-US" sz="1800" dirty="0"/>
          </a:p>
        </p:txBody>
      </p:sp>
      <p:sp>
        <p:nvSpPr>
          <p:cNvPr id="27" name="bullet-card"/>
          <p:cNvSpPr/>
          <p:nvPr/>
        </p:nvSpPr>
        <p:spPr>
          <a:xfrm>
            <a:off x="548640" y="1389888"/>
            <a:ext cx="5074920" cy="1119124"/>
          </a:xfrm>
          <a:prstGeom prst="roundRect">
            <a:avLst>
              <a:gd name="adj" fmla="val 6537"/>
            </a:avLst>
          </a:prstGeom>
          <a:solidFill>
            <a:srgbClr val="E2ECEC"/>
          </a:solidFill>
          <a:ln/>
        </p:spPr>
      </p:sp>
      <p:sp>
        <p:nvSpPr>
          <p:cNvPr id="28" name="bullet-hex"/>
          <p:cNvSpPr/>
          <p:nvPr/>
        </p:nvSpPr>
        <p:spPr>
          <a:xfrm>
            <a:off x="676656" y="1783157"/>
            <a:ext cx="384048" cy="332586"/>
          </a:xfrm>
          <a:prstGeom prst="hexagon">
            <a:avLst/>
          </a:prstGeom>
          <a:solidFill>
            <a:srgbClr val="1F6F6A"/>
          </a:solidFill>
          <a:ln/>
        </p:spPr>
      </p:sp>
      <p:sp>
        <p:nvSpPr>
          <p:cNvPr id="29" name="bullet"/>
          <p:cNvSpPr txBox="1"/>
          <p:nvPr/>
        </p:nvSpPr>
        <p:spPr>
          <a:xfrm>
            <a:off x="1143000" y="1389888"/>
            <a:ext cx="4389120" cy="1119124"/>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Often you know the speed and one of the other two quantities.</a:t>
            </a:r>
            <a:endParaRPr lang="en-US" sz="2200" dirty="0"/>
          </a:p>
        </p:txBody>
      </p:sp>
      <p:sp>
        <p:nvSpPr>
          <p:cNvPr id="30" name="bullet-card"/>
          <p:cNvSpPr/>
          <p:nvPr/>
        </p:nvSpPr>
        <p:spPr>
          <a:xfrm>
            <a:off x="548640" y="2655316"/>
            <a:ext cx="5074920" cy="2141728"/>
          </a:xfrm>
          <a:prstGeom prst="roundRect">
            <a:avLst>
              <a:gd name="adj" fmla="val 3416"/>
            </a:avLst>
          </a:prstGeom>
          <a:solidFill>
            <a:srgbClr val="E2ECEC"/>
          </a:solidFill>
          <a:ln/>
        </p:spPr>
      </p:sp>
      <p:sp>
        <p:nvSpPr>
          <p:cNvPr id="31" name="bullet-hex"/>
          <p:cNvSpPr/>
          <p:nvPr/>
        </p:nvSpPr>
        <p:spPr>
          <a:xfrm>
            <a:off x="676656" y="3559887"/>
            <a:ext cx="384048" cy="332586"/>
          </a:xfrm>
          <a:prstGeom prst="hexagon">
            <a:avLst/>
          </a:prstGeom>
          <a:solidFill>
            <a:srgbClr val="B8862B"/>
          </a:solidFill>
          <a:ln/>
        </p:spPr>
      </p:sp>
      <p:sp>
        <p:nvSpPr>
          <p:cNvPr id="32" name="bullet"/>
          <p:cNvSpPr txBox="1"/>
          <p:nvPr/>
        </p:nvSpPr>
        <p:spPr>
          <a:xfrm>
            <a:off x="1143000" y="2655316"/>
            <a:ext cx="4389120" cy="214172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quick check that you have divided the right way up: a high frequency goes with a short wavelength, because the speed is fixed by the material.</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Units: kHz, MHz and cm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kHz: × 1000. MHz: × 1 000 000. cm: ÷ 100. Convert first, then substitute.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radio station broadcasts at 100 MHz. Radio waves travel at 300 000 000 m/s. Calculate the wavelength.</a:t>
            </a:r>
            <a:endParaRPr lang="en-US" sz="1800" dirty="0"/>
          </a:p>
        </p:txBody>
      </p:sp>
      <p:sp>
        <p:nvSpPr>
          <p:cNvPr id="14" name="step-box"/>
          <p:cNvSpPr/>
          <p:nvPr/>
        </p:nvSpPr>
        <p:spPr>
          <a:xfrm>
            <a:off x="6126480" y="2888488"/>
            <a:ext cx="5379415" cy="736981"/>
          </a:xfrm>
          <a:prstGeom prst="roundRect">
            <a:avLst>
              <a:gd name="adj" fmla="val 12407"/>
            </a:avLst>
          </a:prstGeom>
          <a:solidFill>
            <a:srgbClr val="DDE9E9"/>
          </a:solidFill>
          <a:ln/>
        </p:spPr>
      </p:sp>
      <p:sp>
        <p:nvSpPr>
          <p:cNvPr id="15" name="step-hex"/>
          <p:cNvSpPr/>
          <p:nvPr/>
        </p:nvSpPr>
        <p:spPr>
          <a:xfrm>
            <a:off x="6217920" y="3074848"/>
            <a:ext cx="420624" cy="364260"/>
          </a:xfrm>
          <a:prstGeom prst="hexagon">
            <a:avLst/>
          </a:prstGeom>
          <a:solidFill>
            <a:srgbClr val="1F6F6A"/>
          </a:solidFill>
          <a:ln/>
        </p:spPr>
      </p:sp>
      <p:sp>
        <p:nvSpPr>
          <p:cNvPr id="16" name="step-hex-label"/>
          <p:cNvSpPr txBox="1"/>
          <p:nvPr/>
        </p:nvSpPr>
        <p:spPr>
          <a:xfrm>
            <a:off x="6217920" y="307484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Convert the frequency: 100 MHz = 100 000 000 Hz.</a:t>
            </a:r>
            <a:endParaRPr lang="en-US" sz="1800" dirty="0"/>
          </a:p>
        </p:txBody>
      </p:sp>
      <p:sp>
        <p:nvSpPr>
          <p:cNvPr id="18" name="step-box"/>
          <p:cNvSpPr/>
          <p:nvPr/>
        </p:nvSpPr>
        <p:spPr>
          <a:xfrm>
            <a:off x="6126480" y="3716909"/>
            <a:ext cx="5379415" cy="509397"/>
          </a:xfrm>
          <a:prstGeom prst="roundRect">
            <a:avLst>
              <a:gd name="adj" fmla="val 17951"/>
            </a:avLst>
          </a:prstGeom>
          <a:solidFill>
            <a:srgbClr val="DDE9E9"/>
          </a:solidFill>
          <a:ln/>
        </p:spPr>
      </p:sp>
      <p:sp>
        <p:nvSpPr>
          <p:cNvPr id="19" name="step-hex"/>
          <p:cNvSpPr/>
          <p:nvPr/>
        </p:nvSpPr>
        <p:spPr>
          <a:xfrm>
            <a:off x="6217920" y="3789477"/>
            <a:ext cx="420624" cy="364260"/>
          </a:xfrm>
          <a:prstGeom prst="hexagon">
            <a:avLst/>
          </a:prstGeom>
          <a:solidFill>
            <a:srgbClr val="1F6F6A"/>
          </a:solidFill>
          <a:ln/>
        </p:spPr>
      </p:sp>
      <p:sp>
        <p:nvSpPr>
          <p:cNvPr id="20" name="step-hex-label"/>
          <p:cNvSpPr txBox="1"/>
          <p:nvPr/>
        </p:nvSpPr>
        <p:spPr>
          <a:xfrm>
            <a:off x="6217920" y="3789477"/>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16909"/>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λ = v ÷ f.</a:t>
            </a:r>
            <a:endParaRPr lang="en-US" sz="1800" dirty="0"/>
          </a:p>
        </p:txBody>
      </p:sp>
      <p:sp>
        <p:nvSpPr>
          <p:cNvPr id="22" name="step-box"/>
          <p:cNvSpPr/>
          <p:nvPr/>
        </p:nvSpPr>
        <p:spPr>
          <a:xfrm>
            <a:off x="6126480" y="4317746"/>
            <a:ext cx="5379415" cy="509397"/>
          </a:xfrm>
          <a:prstGeom prst="roundRect">
            <a:avLst>
              <a:gd name="adj" fmla="val 17951"/>
            </a:avLst>
          </a:prstGeom>
          <a:solidFill>
            <a:srgbClr val="DDE9E9"/>
          </a:solidFill>
          <a:ln/>
        </p:spPr>
      </p:sp>
      <p:sp>
        <p:nvSpPr>
          <p:cNvPr id="23" name="step-hex"/>
          <p:cNvSpPr/>
          <p:nvPr/>
        </p:nvSpPr>
        <p:spPr>
          <a:xfrm>
            <a:off x="6217920" y="4390314"/>
            <a:ext cx="420624" cy="364260"/>
          </a:xfrm>
          <a:prstGeom prst="hexagon">
            <a:avLst/>
          </a:prstGeom>
          <a:solidFill>
            <a:srgbClr val="1F6F6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λ = 300 000 000 ÷ 100 000 000.</a:t>
            </a:r>
            <a:endParaRPr lang="en-US" sz="1800" dirty="0"/>
          </a:p>
        </p:txBody>
      </p:sp>
      <p:sp>
        <p:nvSpPr>
          <p:cNvPr id="26" name="step-box"/>
          <p:cNvSpPr/>
          <p:nvPr/>
        </p:nvSpPr>
        <p:spPr>
          <a:xfrm>
            <a:off x="6126480" y="4918583"/>
            <a:ext cx="5379415" cy="509397"/>
          </a:xfrm>
          <a:prstGeom prst="roundRect">
            <a:avLst>
              <a:gd name="adj" fmla="val 17951"/>
            </a:avLst>
          </a:prstGeom>
          <a:solidFill>
            <a:srgbClr val="DDE9E9"/>
          </a:solidFill>
          <a:ln/>
        </p:spPr>
      </p:sp>
      <p:sp>
        <p:nvSpPr>
          <p:cNvPr id="27" name="step-hex"/>
          <p:cNvSpPr/>
          <p:nvPr/>
        </p:nvSpPr>
        <p:spPr>
          <a:xfrm>
            <a:off x="6217920" y="4991151"/>
            <a:ext cx="420624" cy="364260"/>
          </a:xfrm>
          <a:prstGeom prst="hexagon">
            <a:avLst/>
          </a:prstGeom>
          <a:solidFill>
            <a:srgbClr val="1F6F6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Calculate and add the unit: λ = 3 m.</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m</a:t>
            </a:r>
            <a:endParaRPr lang="en-US" sz="1800" dirty="0"/>
          </a:p>
        </p:txBody>
      </p:sp>
      <p:sp>
        <p:nvSpPr>
          <p:cNvPr id="31" name="bullet-card"/>
          <p:cNvSpPr/>
          <p:nvPr/>
        </p:nvSpPr>
        <p:spPr>
          <a:xfrm>
            <a:off x="548640" y="1389888"/>
            <a:ext cx="5074920" cy="1131147"/>
          </a:xfrm>
          <a:prstGeom prst="roundRect">
            <a:avLst>
              <a:gd name="adj" fmla="val 6467"/>
            </a:avLst>
          </a:prstGeom>
          <a:solidFill>
            <a:srgbClr val="E2ECEC"/>
          </a:solidFill>
          <a:ln/>
        </p:spPr>
      </p:sp>
      <p:sp>
        <p:nvSpPr>
          <p:cNvPr id="32" name="bullet-hex"/>
          <p:cNvSpPr/>
          <p:nvPr/>
        </p:nvSpPr>
        <p:spPr>
          <a:xfrm>
            <a:off x="676656" y="1789169"/>
            <a:ext cx="384048" cy="332586"/>
          </a:xfrm>
          <a:prstGeom prst="hexagon">
            <a:avLst/>
          </a:prstGeom>
          <a:solidFill>
            <a:srgbClr val="1F6F6A"/>
          </a:solidFill>
          <a:ln/>
        </p:spPr>
      </p:sp>
      <p:sp>
        <p:nvSpPr>
          <p:cNvPr id="33" name="bullet"/>
          <p:cNvSpPr txBox="1"/>
          <p:nvPr/>
        </p:nvSpPr>
        <p:spPr>
          <a:xfrm>
            <a:off x="1143000" y="1389888"/>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equation only works when the frequency is in hertz and the wavelength is in metres.</a:t>
            </a:r>
            <a:endParaRPr lang="en-US" sz="2000" dirty="0"/>
          </a:p>
        </p:txBody>
      </p:sp>
      <p:sp>
        <p:nvSpPr>
          <p:cNvPr id="34" name="bullet-card"/>
          <p:cNvSpPr/>
          <p:nvPr/>
        </p:nvSpPr>
        <p:spPr>
          <a:xfrm>
            <a:off x="548640" y="2667339"/>
            <a:ext cx="5074920" cy="1131147"/>
          </a:xfrm>
          <a:prstGeom prst="roundRect">
            <a:avLst>
              <a:gd name="adj" fmla="val 6467"/>
            </a:avLst>
          </a:prstGeom>
          <a:solidFill>
            <a:srgbClr val="E2ECEC"/>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66733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Write the conversion down as a step of your working, for example 40 kHz = 40 000 Hz.</a:t>
            </a:r>
            <a:endParaRPr lang="en-US" sz="2000" dirty="0"/>
          </a:p>
        </p:txBody>
      </p:sp>
      <p:sp>
        <p:nvSpPr>
          <p:cNvPr id="37" name="bullet-card"/>
          <p:cNvSpPr/>
          <p:nvPr/>
        </p:nvSpPr>
        <p:spPr>
          <a:xfrm>
            <a:off x="548640" y="3944789"/>
            <a:ext cx="5074920" cy="1131147"/>
          </a:xfrm>
          <a:prstGeom prst="roundRect">
            <a:avLst>
              <a:gd name="adj" fmla="val 6467"/>
            </a:avLst>
          </a:prstGeom>
          <a:solidFill>
            <a:srgbClr val="E2ECEC"/>
          </a:solidFill>
          <a:ln/>
        </p:spPr>
      </p:sp>
      <p:sp>
        <p:nvSpPr>
          <p:cNvPr id="38" name="bullet-hex"/>
          <p:cNvSpPr/>
          <p:nvPr/>
        </p:nvSpPr>
        <p:spPr>
          <a:xfrm>
            <a:off x="676656" y="4344070"/>
            <a:ext cx="384048" cy="332586"/>
          </a:xfrm>
          <a:prstGeom prst="hexagon">
            <a:avLst/>
          </a:prstGeom>
          <a:solidFill>
            <a:srgbClr val="1F6F6A"/>
          </a:solidFill>
          <a:ln/>
        </p:spPr>
      </p:sp>
      <p:sp>
        <p:nvSpPr>
          <p:cNvPr id="39" name="bullet"/>
          <p:cNvSpPr txBox="1"/>
          <p:nvPr/>
        </p:nvSpPr>
        <p:spPr>
          <a:xfrm>
            <a:off x="1143000" y="3944789"/>
            <a:ext cx="4389120" cy="1131147"/>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Large speeds are easier to handle in standard form: 300 000 000 m/s is 3 × 10⁸ m/s.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1F6F6A"/>
                </a:solidFill>
                <a:latin typeface="Cambria" pitchFamily="34" charset="0"/>
                <a:ea typeface="Cambria" pitchFamily="34" charset="-122"/>
                <a:cs typeface="Cambria" pitchFamily="34" charset="-120"/>
              </a:rPr>
              <a:t>Same task, three ways in: Wavelength of a sound</a:t>
            </a:r>
            <a:endParaRPr lang="en-US" sz="30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flute plays a note of frequency 660 Hz. Sound travels through the air at 330 m/s. Calculate the wavelength of the sound in metres.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v = f λ and rearrange: λ = v ÷ f.</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Divide the speed by the frequency.</a:t>
            </a:r>
            <a:endParaRPr lang="en-US" sz="2200" dirty="0"/>
          </a:p>
          <a:p>
            <a:pPr algn="l" indent="0" marL="0">
              <a:spcAft>
                <a:spcPts val="600"/>
              </a:spcAft>
              <a:buNone/>
            </a:pPr>
            <a:r>
              <a:rPr lang="en-US" sz="22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unit, m.</a:t>
            </a:r>
            <a:endParaRPr lang="en-US" sz="2200" dirty="0"/>
          </a:p>
        </p:txBody>
      </p:sp>
      <p:sp>
        <p:nvSpPr>
          <p:cNvPr id="17" name="col-Core"/>
          <p:cNvSpPr/>
          <p:nvPr/>
        </p:nvSpPr>
        <p:spPr>
          <a:xfrm>
            <a:off x="4338218" y="2948940"/>
            <a:ext cx="3515258" cy="3195828"/>
          </a:xfrm>
          <a:prstGeom prst="roundRect">
            <a:avLst>
              <a:gd name="adj" fmla="val 1717"/>
            </a:avLst>
          </a:prstGeom>
          <a:solidFill>
            <a:srgbClr val="C3D8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95955"/>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Cover λ in v = f λ: you are left with v over f.</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The flute then plays a note one octave higher, at 1320 Hz. State its wavelength without a full calculation and explain your reasoning.</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1F6F6A"/>
                </a:solidFill>
                <a:latin typeface="Cambria" pitchFamily="34" charset="0"/>
                <a:ea typeface="Cambria" pitchFamily="34" charset="-122"/>
                <a:cs typeface="Cambria" pitchFamily="34" charset="-120"/>
              </a:rPr>
              <a:t>Same task, three ways in: Wavelength of a radio wave</a:t>
            </a:r>
            <a:endParaRPr lang="en-US" sz="28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radio station broadcasts at a frequency of 200 MHz. Radio waves travel at 300 000 000 m/s. Calculate the wavelength in metres.</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Convert the frequency: multiply MHz by 1 000 000 to get Hz.</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Write λ = v ÷ f.</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speed by the frequency in hertz and write the unit, m.</a:t>
            </a:r>
            <a:endParaRPr lang="en-US" sz="1800" dirty="0"/>
          </a:p>
        </p:txBody>
      </p:sp>
      <p:sp>
        <p:nvSpPr>
          <p:cNvPr id="17" name="col-Core"/>
          <p:cNvSpPr/>
          <p:nvPr/>
        </p:nvSpPr>
        <p:spPr>
          <a:xfrm>
            <a:off x="4338218" y="2948940"/>
            <a:ext cx="3515258" cy="3195828"/>
          </a:xfrm>
          <a:prstGeom prst="roundRect">
            <a:avLst>
              <a:gd name="adj" fmla="val 1717"/>
            </a:avLst>
          </a:prstGeom>
          <a:solidFill>
            <a:srgbClr val="C3D8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Mega means a million. Write the frequency out in full before you divide.</a:t>
            </a:r>
            <a:endParaRPr lang="en-US" sz="18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different station at 100 MHz has a wavelength of 3 m. Use the two results to explain, in words, how wavelength changes when frequency doubles.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bat's call has a frequency of 40 kHz and a wavelength in air of 0.85 cm. Calculate the speed of the sound in metres per second.</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 (m/s):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Wavelength of a sound</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flute plays a note of frequency 660 Hz. Sound travels through the air at 330 m/s. Calculate the wavelength of the sound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0.5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λ = v ÷ f = 330 ÷ 660 = 0.5 m: a high note has a short wavelength.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Wavelength of a radio wave</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radio station broadcasts at a frequency of 200 MHz. Radio waves travel at 300 000 000 m/s. Calculate the wavelength in metres.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1.5 m</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200 MHz = 200 000 000 Hz; λ = 300 000 000 ÷ 200 000 000 = 1.5 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bat's call has a frequency of 40 kHz and a wavelength in air of 0.85 cm. Calculate the speed of the sound in metres per second.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340 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After converting, v = 40 000 × 0.0085 = 340 m/s, the speed of sound in air.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3: The wave equation: v = f λ</dc:title>
  <dc:subject>Physics (Combined Science) · Year 11</dc:subject>
  <dc:creator>Dr Vitor Merissi de Carvalho</dc:creator>
  <cp:lastModifiedBy>Dr Vitor Merissi de Carvalho</cp:lastModifiedBy>
  <cp:revision>1</cp:revision>
  <dcterms:created xsi:type="dcterms:W3CDTF">2026-10-18T17:47:16Z</dcterms:created>
  <dcterms:modified xsi:type="dcterms:W3CDTF">2026-10-18T17:47:16Z</dcterms:modified>
</cp:coreProperties>
</file>