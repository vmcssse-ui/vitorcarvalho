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9c59bb-5cd4-5642-416a-f03a6cd318f8}">
          <p14:sldIdLst>
            <p14:sldId id="256"/>
          </p14:sldIdLst>
        </p14:section>
        <p14:section name="Gate" id="{2ed50817-ece7-4309-1ed3-657af6b43f30}">
          <p14:sldIdLst>
            <p14:sldId id="257"/>
            <p14:sldId id="258"/>
          </p14:sldIdLst>
        </p14:section>
        <p14:section name="Pre-teach" id="{f1813daf-07b7-fa7d-1fc1-08f1e966c1fb}">
          <p14:sldIdLst>
            <p14:sldId id="259"/>
          </p14:sldIdLst>
        </p14:section>
        <p14:section name="Read-along" id="{0ef83e5e-a2f1-deb5-5578-2dbeb38fc2fd}">
          <p14:sldIdLst>
            <p14:sldId id="260"/>
            <p14:sldId id="261"/>
          </p14:sldIdLst>
        </p14:section>
        <p14:section name="Teach" id="{5291bf1c-7682-cd29-eae6-e9f1f9763a05}">
          <p14:sldIdLst>
            <p14:sldId id="262"/>
            <p14:sldId id="263"/>
            <p14:sldId id="264"/>
            <p14:sldId id="265"/>
            <p14:sldId id="266"/>
            <p14:sldId id="267"/>
          </p14:sldIdLst>
        </p14:section>
        <p14:section name="Routes" id="{7eb6e1d4-eb2c-5d36-f3ee-03deb84cfa57}">
          <p14:sldIdLst>
            <p14:sldId id="268"/>
            <p14:sldId id="269"/>
            <p14:sldId id="270"/>
            <p14:sldId id="271"/>
          </p14:sldIdLst>
        </p14:section>
        <p14:section name="Close" id="{c0c4b676-4883-2cdc-6532-79b9e5f30277}">
          <p14:sldIdLst>
            <p14:sldId id="272"/>
          </p14:sldIdLst>
        </p14:section>
        <p14:section name="Answers" id="{507f9998-1634-4a0a-7e93-13367b7e5e42}">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Waves at a boundary: reflection and refraction. This chapter gives you the three things that can happen when a wave meets a new material, the rule for reflection, and why a wave bends when its speed changes.
This deck covers the department's lesson: 3 (P12.3 Reflection and refraction: What happens to a wave when it meets a boundary between two materials?).
Read the big question aloud: "How do waves carry energy from place to place, and how do we measure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When a wave is reflected from a barrier, which one of these changes?  →  A   its direction
2. The angle of incidence is ___ the angle of reflection.  →  equal to
3. Water waves slow down as they pass from deep water into shallow water. What happens to their wavelength and frequency?  →  A   wavelength decreases; frequency stays the same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its direction. Reflection changes only the direction of travel. The wave stays in the same material, so its speed, wavelength and frequency are unchanged.
2. equal to. The law of reflection: angle of incidence = angle of reflection, both measured from the normal.
3. A   wavelength decreases; frequency stays the same. Frequency is fixed by the source. With v = f λ and a smaller v, λ must be smaller: the wavefronts bunch up.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boundary: the surface where one material meets another. Example: "Light slows down as it crosses the boundary from air into glass."
• reflection: a wave bouncing back off a surface. Example: "You see your face by reflection in a mirror."
• refraction: a wave changing direction when its speed changes at a boundary. Example: "Refraction makes a straw in a glass of water look bent."
• normal: a line drawn at right angles to a surface. Example: "Measure the angle between the ray and the normal."
• absorb: to take in the wave's energy so that the material warms up. Example: "Dark curtains absorb most of the light that falls on them."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wave often meets a new material.
2. The surface where the two materials meet is called a boundary.
3. Three things can happen there.
4. The wave can bounce back, which is reflection.
5. The wave can pass through, which is transmission.
6. Or the material can soak up the energy, which is absorption.
7. When a wave is reflected, it leaves at the same angle it arrived.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We measure the angles from a line called the normal.
9. The normal is at right angles to the surface.
10. When a wave crosses into a new material, its speed changes.
11. If it crosses at an angle, it also changes direction.
12. This bending is called refraction.
13. The frequency of the wave stays the same, but the wavelength changes.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things that can happen at a boundary. Say it in your own words, then check understanding with a quick question: ask a pupil from the pre-teach group first, since they met these words and ideas before the lesson. Pupils try to recall before you re-explain.
A boundary is the surface where one material (medium) meets another: air and glass, air and water, water and the seabed. When a wave arrives at a boundary, some or all of it may be reflected, bouncing back into the first material. Some may be transmitted, passing on into the second material. And some may be absorbed, its energy taken in by the material, which warms up.
What happens depends on the wave and the materials. Light is mostly transmitted by clear glass but mostly absorbed by dark glass. Microwaves are reflected by metal but pass through paper and plastic. A smooth hard wall reflects sound well, which is why you hear an echo from it; soft curtains absorb sound.
The wave arriving at the boundary is called the incident wave (or incident ray, when we draw its direction as a straight line). The wave that bounces back is the reflected wave, and the wave that goes through is the transmitted wave. When we talk about a ray, we mean a line showing the direction the wave travels.
Tip: Reflected, transmitted, absorbed. Three verbs for every boundary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Reflection: the law of reflection (ray diagrams: Physics only). Say it in your own words, then check understanding with a quick question: ask a pupil from the pre-teach group first, since they met these words and ideas before the lesson. Pupils try to recall before you re-explain.
In a ripple tank, straight waves hitting a straight barrier bounce off at the same angle they arrived. The same rule holds for light at a mirror and sound at a wall. To describe the angles, draw the normal: a line at right angles (90°) to the surface at the point where the ray meets it. The angle of incidence is the angle between the incident ray and the normal; the angle of reflection is the angle between the reflected ray and the normal.
The law of reflection says that the angle of incidence equals the angle of reflection. Both angles are measured from the normal, not from the surface. A ray that arrives along the normal, straight at the surface, is reflected straight back along the same line.
When a wave is reflected, its direction changes, but its speed, wavelength and frequency do not. It is still in the same material, so there is no reason for any of them to change. Drawing ray diagrams for reflection, and the glass-block practical that goes with them, are needed only for the separate Physics GCSE (8463); Combined Science pupils need the idea that waves can be reflected, transmitted or absorbed.
Worked example — model it step by step, thinking aloud: A ray of light hits a plane mirror at an angle of incidence of 35°. State the angle of reflection and describe where it is measured from. (1) The law of reflection: angle of incidence = angle of reflection. (2) So the angle of reflection is 35°. (3) Both angles are measured between the ray and the normal, the line at 90° to the mirror. Answer: 35°, measured between the reflected ray and the normal.
Tip: Angles from the normal, never from the surface. i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Reflection: the law of reflection (ray diagrams: Physics only). Say it in your own words, then check understanding with a quick question: ask a pupil from the pre-teach group first, since they met these words and ideas before the lesson. Pupils try to recall before you re-explain.
In a ripple tank, straight waves hitting a straight barrier bounce off at the same angle they arrived. The same rule holds for light at a mirror and sound at a wall. To describe the angles, draw the normal: a line at right angles (90°) to the surface at the point where the ray meets it. The angle of incidence is the angle between the incident ray and the normal; the angle of reflection is the angle between the reflected ray and the normal.
The law of reflection says that the angle of incidence equals the angle of reflection. Both angles are measured from the normal, not from the surface. A ray that arrives along the normal, straight at the surface, is reflected straight back along the same line.
When a wave is reflected, its direction changes, but its speed, wavelength and frequency do not. It is still in the same material, so there is no reason for any of them to change. Drawing ray diagrams for reflection, and the glass-block practical that goes with them, are needed only for the separate Physics GCSE (8463); Combined Science pupils need the idea that waves can be reflected, transmitted or absorbed.
Worked example — model it step by step, thinking aloud: A ray of light hits a plane mirror at an angle of incidence of 35°. State the angle of reflection and describe where it is measured from. (1) The law of reflection: angle of incidence = angle of reflection. (2) So the angle of reflection is 35°. (3) Both angles are measured between the ray and the normal, the line at 90° to the mirror. Answer: 35°, measured between the reflected ray and the normal.
Tip: Angles from the normal, never from the surface. i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Refraction: a change of speed makes a change of direction. Say it in your own words, then check understanding with a quick question: ask a pupil from the pre-teach group first, since they met these words and ideas before the lesson. Pupils try to recall before you re-explain.
When a wave crosses a boundary into a material where it travels at a different speed, it is refracted. In a ripple tank, a flat sheet of plastic makes the water shallower, and waves travel more slowly in shallow water. Light travels more slowly in glass or water than in air. In each case, if the wave meets the boundary at an angle, it changes direction. A wave that meets the boundary along the normal slows down but does not change direction.
Two things stay the same and two things change. The frequency does not change: the waves are still being made at the same rate by the same source. The speed changes, so by v = f λ the wavelength must change too. Slower waves have shorter wavelengths, so the wavefronts (the lines drawn along each crest) bunch closer together in the slower material.
Which way does it bend? Think of a wavefront arriving at an angle. One end of the wavefront reaches the slower material first and slows down, while the other end is still moving fast. The fast end catches up, so the wavefront swings round and the direction changes. Going from fast to slow (air into glass), the ray bends towards the normal. Going from slow to fast (glass into air), it bends away from the normal.
Worked example — model it step by step, thinking aloud: In a ripple tank, waves of frequency 4 Hz have a wavelength of 5 cm in the deep water. In the shallow water they travel at half the speed. Calculate their wavelength in the shallow water, and state their frequency there. (1) Deep water: 5 cm = 0.05 m, so v = f λ = 4 × 0.05 = 0.2 m/s. (2) Shallow water: speed halves, so v = 0.1 m/s. (3) Frequency does not change at a boundary, so f is still 4 Hz. (4) λ = v ÷ f = 0.1 ÷ 4 = 0.025 m, which is 2.5 cm: half the deep-water wavelength. Answer: 2.5 cm (0.025 m); the frequency is still 4 Hz.
Tip: At a boundary: frequency same, speed changes, so wavelength changes. Slower =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Refraction: a change of speed makes a change of direction. Say it in your own words, then check understanding with a quick question: ask a pupil from the pre-teach group first, since they met these words and ideas before the lesson. Pupils try to recall before you re-explain.
When a wave crosses a boundary into a material where it travels at a different speed, it is refracted. In a ripple tank, a flat sheet of plastic makes the water shallower, and waves travel more slowly in shallow water. Light travels more slowly in glass or water than in air. In each case, if the wave meets the boundary at an angle, it changes direction. A wave that meets the boundary along the normal slows down but does not change direction.
Two things stay the same and two things change. The frequency does not change: the waves are still being made at the same rate by the same source. The speed changes, so by v = f λ the wavelength must change too. Slower waves have shorter wavelengths, so the wavefronts (the lines drawn along each crest) bunch closer together in the slower material.
Which way does it bend? Think of a wavefront arriving at an angle. One end of the wavefront reaches the slower material first and slows down, while the other end is still moving fast. The fast end catches up, so the wavefront swings round and the direction changes. Going from fast to slow (air into glass), the ray bends towards the normal. Going from slow to fast (glass into air), it bends away from the normal.
Worked example — model it step by step, thinking aloud: In a ripple tank, waves of frequency 4 Hz have a wavelength of 5 cm in the deep water. In the shallow water they travel at half the speed. Calculate their wavelength in the shallow water, and state their frequency there. (1) Deep water: 5 cm = 0.05 m, so v = f λ = 4 × 0.05 = 0.2 m/s. (2) Shallow water: speed halves, so v = 0.1 m/s. (3) Frequency does not change at a boundary, so f is still 4 Hz. (4) λ = v ÷ f = 0.1 ÷ 4 = 0.025 m, which is 2.5 cm: half the deep-water wavelength. Answer: 2.5 cm (0.025 m); the frequency is still 4 Hz.
Tip: At a boundary: frequency same, speed changes, so wavelength changes. Slower =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Investigating refraction with a glass block (Physics only). Say it in your own words, then check understanding with a quick question: ask a pupil from the pre-teach group first, since they met these words and ideas before the lesson. Pupils try to recall before you re-explain.
Place a rectangular glass block on paper and draw round it. Shine a narrow ray from a ray box into one long side at an angle, and mark where the ray enters and where it leaves. Remove the block and join the marks to show the ray's path through the glass. Draw the normal at the point where the ray entered, then measure the angle of incidence and the angle of refraction with a protractor.
Repeat for angles of incidence from 10° to 70° in 10° steps. Use the narrowest ray you can: a wide ray makes it hard to judge where its centre is, so the angles are less certain. You should find the angle of refraction is smaller than the angle of incidence, because the light bends towards the normal as it slows down in the glass, and that the ray leaving the far side is parallel to the ray that went in.
This practical is a required practical for the separate Physics GCSE (8463) only. It is included here because the department teaches it in this lesson; for Combined Science the ideas of refraction return in the electromagnetic waves topic.
Tip: Narrow ray, sharp pencil, angles from the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way does it bend?.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of light travelling through air enters a glass block at an angle to the normal. Light travels more slowly in glass than in air. What happens to the ray at the boundary?
Support — work through the steps with the group: (1) Decide whether the wave is going into a faster or a slower material. (2) Faster to slower: it slows down and bends towards the normal. (3) Check it arrives at an angle to the normal; along the normal there is no bending at all.
Parallel worked example for Support (model it, do not give the task answer): A ray of light inside a glass block reaches the far side and passes out into the air at an angle to the normal. What happens? Glass to air is slow to fast, so the ray speeds up.; Speeding up at an angle bends it away from the normal.. Answer: It speeds up and bends away from the normal..
Core — reveal the hint only on request: Towards the normal when it slows down; away from the normal when it speeds up.
Stretch — no help; when finished: Use a sketch of wavefronts to explain why the ray bends towards the normal when it slows down. Your sketch should show the wavefronts closer together in the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way does it bend?.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of light travelling through air enters a glass block at an angle to the normal. Light travels more slowly in glass than in air. What happens to the ray at the boundary?
Support — work through the steps with the group: (1) Decide whether the wave is going into a faster or a slower material. (2) Faster to slower: it slows down and bends towards the normal. (3) Check it arrives at an angle to the normal; along the normal there is no bending at all.
Parallel worked example for Support (model it, do not give the task answer): A ray of light inside a glass block reaches the far side and passes out into the air at an angle to the normal. What happens? Glass to air is slow to fast, so the ray speeds up.; Speeding up at an angle bends it away from the normal.. Answer: It speeds up and bends away from the normal..
Core — reveal the hint only on request: Towards the normal when it slows down; away from the normal when it speeds up.
Stretch — no help; when finished: Use a sketch of wavefronts to explain why the ray bends towards the normal when it slows down. Your sketch should show the wavefronts closer together in the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Explain refraction with wavefronts.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Water waves cross at an angle from deep water into shallow water, where they travel more slowly. Using the idea of wavefronts, explain why the waves change direction. (Higher tier)
Support — work through the steps with the group: (1) Start with the change in speed, and what it does to the wavelength (frequency fixed, so use v = f λ). (2) Describe what happens to the two ends of one wavefront that arrives at an angle. (3) Finish with the result: the wavefront turns, so the direction changes.
Parallel worked example for Support (model it, do not give the task answer): Explain why a ray of light crossing from air into glass along the normal does not change direction, even though it slows down. The whole wavefront reaches the glass at the same moment.; So every part of it slows down together.; No part gets ahead, so the wavefront does not turn.. Answer: Along the normal every part of the wavefront slows at the same time, so it is not turned; the wave slows and its wavelength shortens, but its direction is unchanged..
Core — reveal the hint only on request: Four marks: speed, wavelength, one end slows first, wavefront turns.
Stretch — no help; when finished: Explain what happens when the waves pass back from the shallow water into deep water at an angle, and why the wavefronts return to their original spacing.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Explain refraction with wavefronts.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Water waves cross at an angle from deep water into shallow water, where they travel more slowly. Using the idea of wavefronts, explain why the waves change direction. (Higher tier)
Support — work through the steps with the group: (1) Start with the change in speed, and what it does to the wavelength (frequency fixed, so use v = f λ). (2) Describe what happens to the two ends of one wavefront that arrives at an angle. (3) Finish with the result: the wavefront turns, so the direction changes.
Parallel worked example for Support (model it, do not give the task answer): Explain why a ray of light crossing from air into glass along the normal does not change direction, even though it slows down. The whole wavefront reaches the glass at the same moment.; So every part of it slows down together.; No part gets ahead, so the wavefront does not turn.. Answer: Along the normal every part of the wavefront slows at the same time, so it is not turned; the wave slows and its wavelength shortens, but its direction is unchanged..
Core — reveal the hint only on request: Four marks: speed, wavelength, one end slows first, wavefront turns.
Stretch — no help; when finished: Explain what happens when the waves pass back from the shallow water into deep water at an angle, and why the wavefronts return to their original spacing.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loudspeaker on a boat makes a sound of frequency 500 Hz. The sound travels through the air at 330 m/s and then passes into the sea water, where it travels at 1500 m/s. Calculate the wavelength of the sound in the water, in metres.
Answer: 3 m. The frequency stays at 500 Hz; the speed in water is 1500 m/s, so λ = 1500 ÷ 500 = 3 m, longer than the 0.66 m in air.
Source of this question: module 3 task ("Wavelength after a boundary")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way does it bend?. Reveal the answer; pupils mark their own work in a different colour, then read the "why" together. Same destination for every lane, so one answer serves the whole class.
Answer: A   It slows down and bends towards the normal.
Why: Air to glass is fast to slow. The ray slows down and, because it arrived at an angle, bends towards the normal.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Explain refraction with wavefronts. Reveal the answer; pupils mark their own work in a different colour, then read the "why" together. Same destination for every lane, so one answer serves the whole class.
Answer: The waves travel more slowly in the shallow water.; The frequency stays the same, so the wavelength becomes shorter and the wavefronts are closer together.; One end of each wavefront reaches the shallow water first and slows down while the other end is still travelling fast.; So the wavefront swings round and the direction of travel changes (bending towards the normal); a wavefront arriving parallel to the boundary would not change direction.
Why: Slower speed; same frequency so shorter wavelength; one end of the wavefront slows first; the wavefront turns and the direction changes.
Model answer: The waves travel more slowly in the shallow water. Their frequency does not change, because the same source is making them, so by v = f λ their wavelength becomes shorter and the wavefronts are closer together. Because the waves arrive at an angle, one end of each wavefront reaches the shallow water first and slows down while the other end is still moving at the faster speed. The fast end gains on the slow end, so the wavefront turns and the waves change direction, bending towards the normal. If the wavefronts arrived parallel to the boundary, both ends would slow at the same moment and there would be no change of direction.
Success criteria: The waves travel more slowly in the shallow water.; The frequency stays the same, so the wavelength becomes shorter and the wavefronts are closer together.; One end of each wavefront reaches the shallow water first and slows down while the other end is still travelling fast.; So the wavefront swings round and the direction of travel changes (bending towards the normal); a wavefront arriving parallel to the boundary would not change direction.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Explain refraction with wavefronts. Reveal the answer; pupils mark their own work in a different colour, then read the "why" together. Same destination for every lane, so one answer serves the whole class.
Answer: The waves travel more slowly in the shallow water.; The frequency stays the same, so the wavelength becomes shorter and the wavefronts are closer together.; One end of each wavefront reaches the shallow water first and slows down while the other end is still travelling fast.; So the wavefront swings round and the direction of travel changes (bending towards the normal); a wavefront arriving parallel to the boundary would not change direction.
Why: Slower speed; same frequency so shorter wavelength; one end of the wavefront slows first; the wavefront turns and the direction changes.
Model answer: The waves travel more slowly in the shallow water. Their frequency does not change, because the same source is making them, so by v = f λ their wavelength becomes shorter and the wavefronts are closer together. Because the waves arrive at an angle, one end of each wavefront reaches the shallow water first and slows down while the other end is still moving at the faster speed. The fast end gains on the slow end, so the wavefront turns and the waves change direction, bending towards the normal. If the wavefronts arrived parallel to the boundary, both ends would slow at the same moment and there would be no change of direction.
Success criteria: The waves travel more slowly in the shallow water.; The frequency stays the same, so the wavelength becomes shorter and the wavefronts are closer together.; One end of each wavefront reaches the shallow water first and slows down while the other end is still travelling fast.; So the wavefront swings round and the direction of travel changes (bending towards the normal); a wavefront arriving parallel to the boundary would not change direction.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 m
Why: The frequency stays at 500 Hz; the speed in water is 1500 m/s, so λ = 1500 ÷ 500 = 3 m, longer than the 0.66 m in air.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7DB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Physics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11 · 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Wave Properties · AQA 8464</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Waves at a boundary: reflection and refraction</a:t>
            </a:r>
            <a:endParaRPr lang="en-US" sz="3200" dirty="0"/>
          </a:p>
        </p:txBody>
      </p:sp>
      <p:sp>
        <p:nvSpPr>
          <p:cNvPr id="11" name="lessons-card"/>
          <p:cNvSpPr/>
          <p:nvPr/>
        </p:nvSpPr>
        <p:spPr>
          <a:xfrm>
            <a:off x="548640" y="3937508"/>
            <a:ext cx="5287975" cy="980440"/>
          </a:xfrm>
          <a:prstGeom prst="roundRect">
            <a:avLst>
              <a:gd name="adj" fmla="val 7461"/>
            </a:avLst>
          </a:prstGeom>
          <a:solidFill>
            <a:srgbClr val="DDE9E9"/>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P12.3 Reflection and refraction</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Combined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DE9E9"/>
          </a:solidFill>
          <a:ln w="12700">
            <a:solidFill>
              <a:srgbClr val="9ABE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waves carry energy from place to place, and how do we measure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When a wave is reflected from a barrier, which one of these changes?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its direction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its speed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its wavelength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its frequency</a:t>
            </a:r>
            <a:endParaRPr lang="en-US" sz="2200" dirty="0"/>
          </a:p>
        </p:txBody>
      </p:sp>
      <p:sp>
        <p:nvSpPr>
          <p:cNvPr id="12" name="card"/>
          <p:cNvSpPr/>
          <p:nvPr/>
        </p:nvSpPr>
        <p:spPr>
          <a:xfrm>
            <a:off x="3459404" y="1389888"/>
            <a:ext cx="2636444" cy="4754880"/>
          </a:xfrm>
          <a:prstGeom prst="roundRect">
            <a:avLst>
              <a:gd name="adj" fmla="val 2081"/>
            </a:avLst>
          </a:prstGeom>
          <a:solidFill>
            <a:srgbClr val="E4EEED"/>
          </a:solidFill>
          <a:ln w="12700">
            <a:solidFill>
              <a:srgbClr val="A5C5C3"/>
            </a:solidFill>
            <a:prstDash val="solid"/>
          </a:ln>
        </p:spPr>
      </p:sp>
      <p:sp>
        <p:nvSpPr>
          <p:cNvPr id="13" name="card-hex"/>
          <p:cNvSpPr/>
          <p:nvPr/>
        </p:nvSpPr>
        <p:spPr>
          <a:xfrm>
            <a:off x="3642284" y="1572768"/>
            <a:ext cx="640080" cy="554309"/>
          </a:xfrm>
          <a:prstGeom prst="hexagon">
            <a:avLst/>
          </a:prstGeom>
          <a:solidFill>
            <a:srgbClr val="1F6F6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angle of incidence is ___ the angle of reflection.</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equal to  ·  twice  ·  half</a:t>
            </a:r>
            <a:endParaRPr lang="en-US" sz="2400" dirty="0"/>
          </a:p>
        </p:txBody>
      </p:sp>
      <p:sp>
        <p:nvSpPr>
          <p:cNvPr id="17" name="card"/>
          <p:cNvSpPr/>
          <p:nvPr/>
        </p:nvSpPr>
        <p:spPr>
          <a:xfrm>
            <a:off x="6370168" y="1389888"/>
            <a:ext cx="5272888" cy="4754880"/>
          </a:xfrm>
          <a:prstGeom prst="roundRect">
            <a:avLst>
              <a:gd name="adj" fmla="val 1154"/>
            </a:avLst>
          </a:prstGeom>
          <a:solidFill>
            <a:srgbClr val="E4EEED"/>
          </a:solidFill>
          <a:ln w="12700">
            <a:solidFill>
              <a:srgbClr val="A5C5C3"/>
            </a:solidFill>
            <a:prstDash val="solid"/>
          </a:ln>
        </p:spPr>
      </p:sp>
      <p:sp>
        <p:nvSpPr>
          <p:cNvPr id="18" name="card-hex"/>
          <p:cNvSpPr/>
          <p:nvPr/>
        </p:nvSpPr>
        <p:spPr>
          <a:xfrm>
            <a:off x="6553048" y="1572768"/>
            <a:ext cx="640080" cy="554309"/>
          </a:xfrm>
          <a:prstGeom prst="hexagon">
            <a:avLst/>
          </a:prstGeom>
          <a:solidFill>
            <a:srgbClr val="1F6F6A"/>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Water waves slow down as they pass from deep water into shallow water. What happens to their wavelength and frequency?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wavelength decreases; frequency stays the same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wavelength increases; frequency stays the same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wavelength stays the same; frequency decreases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both wavelength and frequency decrease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its direction</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Reflection changes only the direction of travel. The wave stays in the same material, so its speed, wavelength and frequency are unchanged.</a:t>
            </a:r>
            <a:endParaRPr lang="en-US" sz="1800" dirty="0"/>
          </a:p>
        </p:txBody>
      </p:sp>
      <p:sp>
        <p:nvSpPr>
          <p:cNvPr id="14" name="card"/>
          <p:cNvSpPr/>
          <p:nvPr/>
        </p:nvSpPr>
        <p:spPr>
          <a:xfrm>
            <a:off x="3459404" y="1389888"/>
            <a:ext cx="2636444" cy="4754880"/>
          </a:xfrm>
          <a:prstGeom prst="roundRect">
            <a:avLst>
              <a:gd name="adj" fmla="val 2081"/>
            </a:avLst>
          </a:prstGeom>
          <a:solidFill>
            <a:srgbClr val="E4EEED"/>
          </a:solidFill>
          <a:ln w="12700">
            <a:solidFill>
              <a:srgbClr val="A5C5C3"/>
            </a:solidFill>
            <a:prstDash val="solid"/>
          </a:ln>
        </p:spPr>
      </p:sp>
      <p:sp>
        <p:nvSpPr>
          <p:cNvPr id="15" name="card-hex"/>
          <p:cNvSpPr/>
          <p:nvPr/>
        </p:nvSpPr>
        <p:spPr>
          <a:xfrm>
            <a:off x="3642284" y="1572768"/>
            <a:ext cx="640080" cy="554309"/>
          </a:xfrm>
          <a:prstGeom prst="hexagon">
            <a:avLst/>
          </a:prstGeom>
          <a:solidFill>
            <a:srgbClr val="1F6F6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equal to</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angle of incidence is ___ the angle of reflection.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law of reflection: angle of incidence = angle of reflection, both measured from the normal.</a:t>
            </a:r>
            <a:endParaRPr lang="en-US" sz="1800" dirty="0"/>
          </a:p>
        </p:txBody>
      </p:sp>
      <p:sp>
        <p:nvSpPr>
          <p:cNvPr id="21" name="card"/>
          <p:cNvSpPr/>
          <p:nvPr/>
        </p:nvSpPr>
        <p:spPr>
          <a:xfrm>
            <a:off x="6370168" y="1389888"/>
            <a:ext cx="5272888" cy="4754880"/>
          </a:xfrm>
          <a:prstGeom prst="roundRect">
            <a:avLst>
              <a:gd name="adj" fmla="val 1154"/>
            </a:avLst>
          </a:prstGeom>
          <a:solidFill>
            <a:srgbClr val="E4EEED"/>
          </a:solidFill>
          <a:ln w="12700">
            <a:solidFill>
              <a:srgbClr val="A5C5C3"/>
            </a:solidFill>
            <a:prstDash val="solid"/>
          </a:ln>
        </p:spPr>
      </p:sp>
      <p:sp>
        <p:nvSpPr>
          <p:cNvPr id="22" name="card-hex"/>
          <p:cNvSpPr/>
          <p:nvPr/>
        </p:nvSpPr>
        <p:spPr>
          <a:xfrm>
            <a:off x="6553048" y="1572768"/>
            <a:ext cx="640080" cy="554309"/>
          </a:xfrm>
          <a:prstGeom prst="hexagon">
            <a:avLst/>
          </a:prstGeom>
          <a:solidFill>
            <a:srgbClr val="1F6F6A"/>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ADBBF"/>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wavelength decreases; frequency stays the same</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Water waves slow down as they pass from deep water into shallow water. What happens to their wavelength and frequency?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Frequency is fixed by the source. With v = f λ and a smaller v, λ must be smaller: the wavefronts bunch up.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2ECEC"/>
          </a:solidFill>
          <a:ln/>
        </p:spPr>
      </p:sp>
      <p:sp>
        <p:nvSpPr>
          <p:cNvPr id="12" name="kw-hex"/>
          <p:cNvSpPr/>
          <p:nvPr/>
        </p:nvSpPr>
        <p:spPr>
          <a:xfrm>
            <a:off x="658368" y="2135261"/>
            <a:ext cx="411480" cy="356342"/>
          </a:xfrm>
          <a:prstGeom prst="hexagon">
            <a:avLst/>
          </a:prstGeom>
          <a:solidFill>
            <a:srgbClr val="1F6F6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boundary</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surface where one material meets another</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Light slows down as it crosses the boundary from air into glass.</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reflection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wave bouncing back off a surface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 see your face by reflection in a mirror.</a:t>
            </a:r>
            <a:endParaRPr lang="en-US" sz="1800" dirty="0"/>
          </a:p>
        </p:txBody>
      </p:sp>
      <p:sp>
        <p:nvSpPr>
          <p:cNvPr id="21" name="kw-row"/>
          <p:cNvSpPr/>
          <p:nvPr/>
        </p:nvSpPr>
        <p:spPr>
          <a:xfrm>
            <a:off x="548640" y="3639312"/>
            <a:ext cx="11094415" cy="786384"/>
          </a:xfrm>
          <a:prstGeom prst="roundRect">
            <a:avLst>
              <a:gd name="adj" fmla="val 6977"/>
            </a:avLst>
          </a:prstGeom>
          <a:solidFill>
            <a:srgbClr val="E2ECEC"/>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refraction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wave changing direction when its speed changes at a boundary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Refraction makes a straw in a glass of water look bent.</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normal</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line drawn at right angles to a surface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Measure the angle between the ray and the normal.</a:t>
            </a:r>
            <a:endParaRPr lang="en-US" sz="1800" dirty="0"/>
          </a:p>
        </p:txBody>
      </p:sp>
      <p:sp>
        <p:nvSpPr>
          <p:cNvPr id="31" name="kw-row"/>
          <p:cNvSpPr/>
          <p:nvPr/>
        </p:nvSpPr>
        <p:spPr>
          <a:xfrm>
            <a:off x="548640" y="5358384"/>
            <a:ext cx="11094415" cy="786384"/>
          </a:xfrm>
          <a:prstGeom prst="roundRect">
            <a:avLst>
              <a:gd name="adj" fmla="val 6977"/>
            </a:avLst>
          </a:prstGeom>
          <a:solidFill>
            <a:srgbClr val="E2ECEC"/>
          </a:solidFill>
          <a:ln/>
        </p:spPr>
      </p:sp>
      <p:sp>
        <p:nvSpPr>
          <p:cNvPr id="32" name="kw-hex"/>
          <p:cNvSpPr/>
          <p:nvPr/>
        </p:nvSpPr>
        <p:spPr>
          <a:xfrm>
            <a:off x="658368" y="5573405"/>
            <a:ext cx="411480" cy="356342"/>
          </a:xfrm>
          <a:prstGeom prst="hexagon">
            <a:avLst/>
          </a:prstGeom>
          <a:solidFill>
            <a:srgbClr val="1F6F6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absorb</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take in the wave's energy so that the material warms up</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Dark curtains absorb most of the light that falls on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wave often meets a new material.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surface where the two materials meet is called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boundary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Three things can happen there.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wave can bounce back, which is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reflection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wave can pass through, which is transmission.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Or the material can soak up the energy, which is absorption.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 wave is reflected, it leaves at the same angle it arrived.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measure the angles from a line called 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normal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normal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at right angles to the surface.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 wave crosses into a new material, its speed changes.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it crosses at an angle, it also changes direction.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bending is called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refraction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frequency of the wave stays the same, but the wavelength changes.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Three things that can happen at a boundary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Reflected, transmitted, absorbed. Three verbs for every boundary question.</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boundary is the surface where one material (medium) meets another: air and glass, air and water, water and the seabed.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happens depends on the wave and the materials. Light is mostly transmitted by clear glass but mostly absorbed by dark glass.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wave arriving at the boundary is called the incident wave (or incident ray, when we draw its direction as a straight line).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Reflection: the law of reflection (ray diagrams: Physics only)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Angles from the normal, never from the surface. i = r.</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 ripple tank, straight waves hitting a straight barrier bounce off at the same angle they arrived.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law of reflection says that the angle of incidence equals the angle of reflection.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a wave is reflected, its direction changes, but its speed, wavelength and frequency do not.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Worked example: Reflection: the law of reflection (ray diagrams: Physics only)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DE9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ray of light hits a plane mirror at an angle of incidence of 35°. State the angle of reflection and describe where it is measured from.</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law of reflection: angle of incidence = angle of reflection.</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84B0AD"/>
            </a:solidFill>
            <a:prstDash val="solid"/>
          </a:ln>
        </p:spPr>
      </p:sp>
      <p:sp>
        <p:nvSpPr>
          <p:cNvPr id="15" name="step-hex"/>
          <p:cNvSpPr/>
          <p:nvPr/>
        </p:nvSpPr>
        <p:spPr>
          <a:xfrm>
            <a:off x="4521098" y="2765552"/>
            <a:ext cx="530352" cy="459285"/>
          </a:xfrm>
          <a:prstGeom prst="hexagon">
            <a:avLst/>
          </a:prstGeom>
          <a:solidFill>
            <a:srgbClr val="1F6F6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 angle of reflection is 35°.</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84B0AD"/>
            </a:solidFill>
            <a:prstDash val="solid"/>
          </a:ln>
        </p:spPr>
      </p:sp>
      <p:sp>
        <p:nvSpPr>
          <p:cNvPr id="20" name="step-hex"/>
          <p:cNvSpPr/>
          <p:nvPr/>
        </p:nvSpPr>
        <p:spPr>
          <a:xfrm>
            <a:off x="8356397" y="2765552"/>
            <a:ext cx="530352" cy="459285"/>
          </a:xfrm>
          <a:prstGeom prst="hexagon">
            <a:avLst/>
          </a:prstGeom>
          <a:solidFill>
            <a:srgbClr val="1F6F6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Both angles are measured between the ray and the normal, the line at 90° to the mirror.</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35°, measured between the reflected ray and the normal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Refraction: a change of speed makes a change of direction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At a boundary: frequency same, speed changes, so wavelength changes. Slower = shorter.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a wave crosses a boundary into a material where it travels at a different speed, it is refracted.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things stay the same and two things change. The frequency does not change: the waves are still being made at the same rate by the same source.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Which way does it bend? Think of a wavefront arriving at an angle.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Worked example: Refraction: a change of speed makes a change of direction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DDE9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a ripple tank, waves of frequency 4 Hz have a wavelength of 5 cm in the deep water. In the shallow water they travel at half the speed. Calculate their wavelength in the shallow water, and state their frequency there.</a:t>
            </a:r>
            <a:endParaRPr lang="en-US" sz="2200" dirty="0"/>
          </a:p>
        </p:txBody>
      </p:sp>
      <p:sp>
        <p:nvSpPr>
          <p:cNvPr id="9" name="step-box"/>
          <p:cNvSpPr/>
          <p:nvPr/>
        </p:nvSpPr>
        <p:spPr>
          <a:xfrm>
            <a:off x="548640" y="2996692"/>
            <a:ext cx="2464994" cy="2252980"/>
          </a:xfrm>
          <a:prstGeom prst="roundRect">
            <a:avLst>
              <a:gd name="adj" fmla="val 3247"/>
            </a:avLst>
          </a:prstGeom>
          <a:solidFill>
            <a:srgbClr val="FFFFFF"/>
          </a:solidFill>
          <a:ln w="15875">
            <a:solidFill>
              <a:srgbClr val="84B0AD"/>
            </a:solidFill>
            <a:prstDash val="solid"/>
          </a:ln>
        </p:spPr>
      </p:sp>
      <p:sp>
        <p:nvSpPr>
          <p:cNvPr id="10" name="step-hex"/>
          <p:cNvSpPr/>
          <p:nvPr/>
        </p:nvSpPr>
        <p:spPr>
          <a:xfrm>
            <a:off x="685800" y="3106420"/>
            <a:ext cx="530352" cy="459285"/>
          </a:xfrm>
          <a:prstGeom prst="hexagon">
            <a:avLst/>
          </a:prstGeom>
          <a:solidFill>
            <a:srgbClr val="1F6F6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Deep water: 5 cm = 0.05 m, so v = f λ = 4 × 0.05 = 0.2 m/s.</a:t>
            </a:r>
            <a:endParaRPr lang="en-US" sz="1800" dirty="0"/>
          </a:p>
        </p:txBody>
      </p:sp>
      <p:sp>
        <p:nvSpPr>
          <p:cNvPr id="13" name="arrow"/>
          <p:cNvSpPr/>
          <p:nvPr/>
        </p:nvSpPr>
        <p:spPr>
          <a:xfrm>
            <a:off x="3086786" y="3986022"/>
            <a:ext cx="274320" cy="274320"/>
          </a:xfrm>
          <a:prstGeom prst="rightArrow">
            <a:avLst/>
          </a:prstGeom>
          <a:solidFill>
            <a:srgbClr val="B8862B"/>
          </a:solidFill>
          <a:ln/>
        </p:spPr>
      </p:sp>
      <p:sp>
        <p:nvSpPr>
          <p:cNvPr id="14" name="step-box"/>
          <p:cNvSpPr/>
          <p:nvPr/>
        </p:nvSpPr>
        <p:spPr>
          <a:xfrm>
            <a:off x="3425114" y="2996692"/>
            <a:ext cx="2464994" cy="2252980"/>
          </a:xfrm>
          <a:prstGeom prst="roundRect">
            <a:avLst>
              <a:gd name="adj" fmla="val 3247"/>
            </a:avLst>
          </a:prstGeom>
          <a:solidFill>
            <a:srgbClr val="FFFFFF"/>
          </a:solidFill>
          <a:ln w="15875">
            <a:solidFill>
              <a:srgbClr val="84B0AD"/>
            </a:solidFill>
            <a:prstDash val="solid"/>
          </a:ln>
        </p:spPr>
      </p:sp>
      <p:sp>
        <p:nvSpPr>
          <p:cNvPr id="15" name="step-hex"/>
          <p:cNvSpPr/>
          <p:nvPr/>
        </p:nvSpPr>
        <p:spPr>
          <a:xfrm>
            <a:off x="3562274" y="3106420"/>
            <a:ext cx="530352" cy="459285"/>
          </a:xfrm>
          <a:prstGeom prst="hexagon">
            <a:avLst/>
          </a:prstGeom>
          <a:solidFill>
            <a:srgbClr val="1F6F6A"/>
          </a:solidFill>
          <a:ln/>
        </p:spPr>
      </p:sp>
      <p:sp>
        <p:nvSpPr>
          <p:cNvPr id="16" name="step-hex-label"/>
          <p:cNvSpPr txBox="1"/>
          <p:nvPr/>
        </p:nvSpPr>
        <p:spPr>
          <a:xfrm>
            <a:off x="3562274"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Shallow water: speed halves, so v = 0.1 m/s.</a:t>
            </a:r>
            <a:endParaRPr lang="en-US" sz="1800" dirty="0"/>
          </a:p>
        </p:txBody>
      </p:sp>
      <p:sp>
        <p:nvSpPr>
          <p:cNvPr id="18" name="arrow"/>
          <p:cNvSpPr/>
          <p:nvPr/>
        </p:nvSpPr>
        <p:spPr>
          <a:xfrm>
            <a:off x="5963260" y="3986022"/>
            <a:ext cx="274320" cy="274320"/>
          </a:xfrm>
          <a:prstGeom prst="rightArrow">
            <a:avLst/>
          </a:prstGeom>
          <a:solidFill>
            <a:srgbClr val="B8862B"/>
          </a:solidFill>
          <a:ln/>
        </p:spPr>
      </p:sp>
      <p:sp>
        <p:nvSpPr>
          <p:cNvPr id="19" name="step-box"/>
          <p:cNvSpPr/>
          <p:nvPr/>
        </p:nvSpPr>
        <p:spPr>
          <a:xfrm>
            <a:off x="6301588" y="2996692"/>
            <a:ext cx="2464994" cy="2252980"/>
          </a:xfrm>
          <a:prstGeom prst="roundRect">
            <a:avLst>
              <a:gd name="adj" fmla="val 3247"/>
            </a:avLst>
          </a:prstGeom>
          <a:solidFill>
            <a:srgbClr val="FFFFFF"/>
          </a:solidFill>
          <a:ln w="15875">
            <a:solidFill>
              <a:srgbClr val="84B0AD"/>
            </a:solidFill>
            <a:prstDash val="solid"/>
          </a:ln>
        </p:spPr>
      </p:sp>
      <p:sp>
        <p:nvSpPr>
          <p:cNvPr id="20" name="step-hex"/>
          <p:cNvSpPr/>
          <p:nvPr/>
        </p:nvSpPr>
        <p:spPr>
          <a:xfrm>
            <a:off x="6438748" y="3106420"/>
            <a:ext cx="530352" cy="459285"/>
          </a:xfrm>
          <a:prstGeom prst="hexagon">
            <a:avLst/>
          </a:prstGeom>
          <a:solidFill>
            <a:srgbClr val="1F6F6A"/>
          </a:solidFill>
          <a:ln/>
        </p:spPr>
      </p:sp>
      <p:sp>
        <p:nvSpPr>
          <p:cNvPr id="21"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Frequency does not change at a boundary, so f is still 4 Hz.</a:t>
            </a:r>
            <a:endParaRPr lang="en-US" sz="1800" dirty="0"/>
          </a:p>
        </p:txBody>
      </p:sp>
      <p:sp>
        <p:nvSpPr>
          <p:cNvPr id="23" name="arrow"/>
          <p:cNvSpPr/>
          <p:nvPr/>
        </p:nvSpPr>
        <p:spPr>
          <a:xfrm>
            <a:off x="8839733" y="3986022"/>
            <a:ext cx="274320" cy="274320"/>
          </a:xfrm>
          <a:prstGeom prst="rightArrow">
            <a:avLst/>
          </a:prstGeom>
          <a:solidFill>
            <a:srgbClr val="B8862B"/>
          </a:solidFill>
          <a:ln/>
        </p:spPr>
      </p:sp>
      <p:sp>
        <p:nvSpPr>
          <p:cNvPr id="24" name="step-box"/>
          <p:cNvSpPr/>
          <p:nvPr/>
        </p:nvSpPr>
        <p:spPr>
          <a:xfrm>
            <a:off x="9178061" y="2996692"/>
            <a:ext cx="2464994" cy="2252980"/>
          </a:xfrm>
          <a:prstGeom prst="roundRect">
            <a:avLst>
              <a:gd name="adj" fmla="val 3247"/>
            </a:avLst>
          </a:prstGeom>
          <a:solidFill>
            <a:srgbClr val="FFFFFF"/>
          </a:solidFill>
          <a:ln w="15875">
            <a:solidFill>
              <a:srgbClr val="84B0AD"/>
            </a:solidFill>
            <a:prstDash val="solid"/>
          </a:ln>
        </p:spPr>
      </p:sp>
      <p:sp>
        <p:nvSpPr>
          <p:cNvPr id="25" name="step-hex"/>
          <p:cNvSpPr/>
          <p:nvPr/>
        </p:nvSpPr>
        <p:spPr>
          <a:xfrm>
            <a:off x="9315221" y="3106420"/>
            <a:ext cx="530352" cy="459285"/>
          </a:xfrm>
          <a:prstGeom prst="hexagon">
            <a:avLst/>
          </a:prstGeom>
          <a:solidFill>
            <a:srgbClr val="1F6F6A"/>
          </a:solidFill>
          <a:ln/>
        </p:spPr>
      </p:sp>
      <p:sp>
        <p:nvSpPr>
          <p:cNvPr id="26" name="step-hex-label"/>
          <p:cNvSpPr txBox="1"/>
          <p:nvPr/>
        </p:nvSpPr>
        <p:spPr>
          <a:xfrm>
            <a:off x="9315221"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λ = v ÷ f = 0.1 ÷ 4 = 0.025 m, which is 2.5 cm: half the deep-water wavelength.</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2.5 cm (0.025 m); the frequency is still 4 Hz</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Investigating refraction with a glass block (Physics only)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Narrow ray, sharp pencil, angles from the normal.</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Place a rectangular glass block on paper and draw round it.</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Repeat for angles of incidence from 10° to 70° in 10° steps.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practical is a required practical for the separate Physics GCSE (8463) only.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Which way does it bend?</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ray of light travelling through air enters a glass block at an angle to the normal. Light travels more slowly in glass than in air. What happens to the ray at the boundary?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slows down and bends towards the normal.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speeds up and bends away from the normal.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slows down but does not change direction.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speeds up and bends towards the normal.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Which way does it bend?</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ray of light travelling through air enters a glass block at an angle to the normal. Light travels more slowly in glass than in air. What happens to the ray at the boundary?</a:t>
            </a:r>
            <a:endParaRPr lang="en-US" sz="2000" dirty="0"/>
          </a:p>
        </p:txBody>
      </p:sp>
      <p:sp>
        <p:nvSpPr>
          <p:cNvPr id="12" name="col-Support"/>
          <p:cNvSpPr/>
          <p:nvPr/>
        </p:nvSpPr>
        <p:spPr>
          <a:xfrm>
            <a:off x="548640" y="2903728"/>
            <a:ext cx="4667802" cy="3241040"/>
          </a:xfrm>
          <a:prstGeom prst="roundRect">
            <a:avLst>
              <a:gd name="adj" fmla="val 1693"/>
            </a:avLst>
          </a:prstGeom>
          <a:solidFill>
            <a:srgbClr val="DDE9E9"/>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whether the wave is going into a faster or a slower material.</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Faster to slower: it slows down and bends towards the normal.</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arrives at an angle to the normal; along the normal there is no bending at all.</a:t>
            </a:r>
            <a:endParaRPr lang="en-US" sz="1800" dirty="0"/>
          </a:p>
        </p:txBody>
      </p:sp>
      <p:sp>
        <p:nvSpPr>
          <p:cNvPr id="17" name="col-Core"/>
          <p:cNvSpPr/>
          <p:nvPr/>
        </p:nvSpPr>
        <p:spPr>
          <a:xfrm>
            <a:off x="5490762" y="2903728"/>
            <a:ext cx="2938987" cy="3241040"/>
          </a:xfrm>
          <a:prstGeom prst="roundRect">
            <a:avLst>
              <a:gd name="adj" fmla="val 1867"/>
            </a:avLst>
          </a:prstGeom>
          <a:solidFill>
            <a:srgbClr val="C3D8D7"/>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Towards the normal when it slows down; away from the normal when it speeds up.</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1F6F6A"/>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Use a sketch of wavefronts to explain why the ray bends towards the normal when it slows down. Your sketch should show the wavefronts closer together in the glass.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Explain refraction with wavefronts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Water waves cross at an angle from deep water into shallow water, where they travel more slowly. Using the idea of wavefronts, explain why the waves change direction. (Higher tier)</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4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Explain refraction with wavefronts</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Water waves cross at an angle from deep water into shallow water, where they travel more slowly. Using the idea of wavefronts, explain why the waves change direction. (Higher tier)</a:t>
            </a:r>
            <a:endParaRPr lang="en-US" sz="2000" dirty="0"/>
          </a:p>
        </p:txBody>
      </p:sp>
      <p:sp>
        <p:nvSpPr>
          <p:cNvPr id="12" name="col-Support"/>
          <p:cNvSpPr/>
          <p:nvPr/>
        </p:nvSpPr>
        <p:spPr>
          <a:xfrm>
            <a:off x="548640" y="2903728"/>
            <a:ext cx="4667802" cy="3241040"/>
          </a:xfrm>
          <a:prstGeom prst="roundRect">
            <a:avLst>
              <a:gd name="adj" fmla="val 1693"/>
            </a:avLst>
          </a:prstGeom>
          <a:solidFill>
            <a:srgbClr val="DDE9E9"/>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change in speed, and what it does to the wavelength (frequency fixed, so use v = f λ).</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Describe what happens to the two ends of one wavefront that arrives at an angle.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with the result: the wavefront turns, so the direction changes.</a:t>
            </a:r>
            <a:endParaRPr lang="en-US" sz="1800" dirty="0"/>
          </a:p>
        </p:txBody>
      </p:sp>
      <p:sp>
        <p:nvSpPr>
          <p:cNvPr id="17" name="col-Core"/>
          <p:cNvSpPr/>
          <p:nvPr/>
        </p:nvSpPr>
        <p:spPr>
          <a:xfrm>
            <a:off x="5490762" y="2903728"/>
            <a:ext cx="2938987" cy="3241040"/>
          </a:xfrm>
          <a:prstGeom prst="roundRect">
            <a:avLst>
              <a:gd name="adj" fmla="val 1867"/>
            </a:avLst>
          </a:prstGeom>
          <a:solidFill>
            <a:srgbClr val="C3D8D7"/>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marks: speed, wavelength, one end slows first, wavefront turns.</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1F6F6A"/>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happens when the waves pass back from the shallow water into deep water at an angle, and why the wavefronts return to their original spacing.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9862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loudspeaker on a boat makes a sound of frequency 500 Hz. The sound travels through the air at 330 m/s and then passes into the sea water, where it travels at 1500 m/s. Calculate the wavelength of the sound in the water, in metres.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4EEED"/>
          </a:solidFill>
          <a:ln w="12700">
            <a:solidFill>
              <a:srgbClr val="84B0A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Which way does it bend?</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ray of light travelling through air enters a glass block at an angle to the normal. Light travels more slowly in glass than in air. What happens to the ray at the boundary?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It slows down and bends towards the normal.</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Air to glass is fast to slow. The ray slows down and, because it arrived at an angle, bends towards the normal.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Explain refraction with wavefronts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07822"/>
          </a:xfrm>
          <a:prstGeom prst="roundRect">
            <a:avLst>
              <a:gd name="adj" fmla="val 15044"/>
            </a:avLst>
          </a:prstGeom>
          <a:solidFill>
            <a:srgbClr val="E2ECEC"/>
          </a:solidFill>
          <a:ln/>
        </p:spPr>
      </p:sp>
      <p:sp>
        <p:nvSpPr>
          <p:cNvPr id="9" name="tickbox"/>
          <p:cNvSpPr/>
          <p:nvPr/>
        </p:nvSpPr>
        <p:spPr>
          <a:xfrm>
            <a:off x="713232" y="2141855"/>
            <a:ext cx="292608" cy="292608"/>
          </a:xfrm>
          <a:prstGeom prst="rect">
            <a:avLst/>
          </a:prstGeom>
          <a:solidFill>
            <a:srgbClr val="FFFFFF"/>
          </a:solidFill>
          <a:ln w="19050">
            <a:solidFill>
              <a:srgbClr val="1F6F6A"/>
            </a:solidFill>
            <a:prstDash val="solid"/>
          </a:ln>
        </p:spPr>
      </p:sp>
      <p:sp>
        <p:nvSpPr>
          <p:cNvPr id="10" name="crit"/>
          <p:cNvSpPr txBox="1"/>
          <p:nvPr/>
        </p:nvSpPr>
        <p:spPr>
          <a:xfrm>
            <a:off x="1143000" y="1984248"/>
            <a:ext cx="10317175" cy="60782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waves travel more slowly in the shallow water.</a:t>
            </a:r>
            <a:endParaRPr lang="en-US" sz="2200" dirty="0"/>
          </a:p>
        </p:txBody>
      </p:sp>
      <p:sp>
        <p:nvSpPr>
          <p:cNvPr id="11" name="crit-box"/>
          <p:cNvSpPr/>
          <p:nvPr/>
        </p:nvSpPr>
        <p:spPr>
          <a:xfrm>
            <a:off x="548640" y="2683510"/>
            <a:ext cx="11094415" cy="948690"/>
          </a:xfrm>
          <a:prstGeom prst="roundRect">
            <a:avLst>
              <a:gd name="adj" fmla="val 9639"/>
            </a:avLst>
          </a:prstGeom>
          <a:solidFill>
            <a:srgbClr val="E2ECEC"/>
          </a:solidFill>
          <a:ln/>
        </p:spPr>
      </p:sp>
      <p:sp>
        <p:nvSpPr>
          <p:cNvPr id="12" name="tickbox"/>
          <p:cNvSpPr/>
          <p:nvPr/>
        </p:nvSpPr>
        <p:spPr>
          <a:xfrm>
            <a:off x="713232" y="3011551"/>
            <a:ext cx="292608" cy="292608"/>
          </a:xfrm>
          <a:prstGeom prst="rect">
            <a:avLst/>
          </a:prstGeom>
          <a:solidFill>
            <a:srgbClr val="FFFFFF"/>
          </a:solidFill>
          <a:ln w="19050">
            <a:solidFill>
              <a:srgbClr val="1F6F6A"/>
            </a:solidFill>
            <a:prstDash val="solid"/>
          </a:ln>
        </p:spPr>
      </p:sp>
      <p:sp>
        <p:nvSpPr>
          <p:cNvPr id="13" name="crit"/>
          <p:cNvSpPr txBox="1"/>
          <p:nvPr/>
        </p:nvSpPr>
        <p:spPr>
          <a:xfrm>
            <a:off x="1143000" y="2683510"/>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frequency stays the same, so the wavelength becomes shorter and the wavefronts are closer together.</a:t>
            </a:r>
            <a:endParaRPr lang="en-US" sz="2200" dirty="0"/>
          </a:p>
        </p:txBody>
      </p:sp>
      <p:sp>
        <p:nvSpPr>
          <p:cNvPr id="14" name="crit-box"/>
          <p:cNvSpPr/>
          <p:nvPr/>
        </p:nvSpPr>
        <p:spPr>
          <a:xfrm>
            <a:off x="548640" y="3723640"/>
            <a:ext cx="11094415" cy="948690"/>
          </a:xfrm>
          <a:prstGeom prst="roundRect">
            <a:avLst>
              <a:gd name="adj" fmla="val 9639"/>
            </a:avLst>
          </a:prstGeom>
          <a:solidFill>
            <a:srgbClr val="E2ECEC"/>
          </a:solidFill>
          <a:ln/>
        </p:spPr>
      </p:sp>
      <p:sp>
        <p:nvSpPr>
          <p:cNvPr id="15" name="tickbox"/>
          <p:cNvSpPr/>
          <p:nvPr/>
        </p:nvSpPr>
        <p:spPr>
          <a:xfrm>
            <a:off x="713232" y="4051681"/>
            <a:ext cx="292608" cy="292608"/>
          </a:xfrm>
          <a:prstGeom prst="rect">
            <a:avLst/>
          </a:prstGeom>
          <a:solidFill>
            <a:srgbClr val="FFFFFF"/>
          </a:solidFill>
          <a:ln w="19050">
            <a:solidFill>
              <a:srgbClr val="1F6F6A"/>
            </a:solidFill>
            <a:prstDash val="solid"/>
          </a:ln>
        </p:spPr>
      </p:sp>
      <p:sp>
        <p:nvSpPr>
          <p:cNvPr id="16" name="crit"/>
          <p:cNvSpPr txBox="1"/>
          <p:nvPr/>
        </p:nvSpPr>
        <p:spPr>
          <a:xfrm>
            <a:off x="1143000" y="3723640"/>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One end of each wavefront reaches the shallow water first and slows down while the other end is still travelling fast.</a:t>
            </a:r>
            <a:endParaRPr lang="en-US" sz="2200" dirty="0"/>
          </a:p>
        </p:txBody>
      </p:sp>
      <p:sp>
        <p:nvSpPr>
          <p:cNvPr id="17" name="crit-box"/>
          <p:cNvSpPr/>
          <p:nvPr/>
        </p:nvSpPr>
        <p:spPr>
          <a:xfrm>
            <a:off x="548640" y="4763770"/>
            <a:ext cx="11094415" cy="1289558"/>
          </a:xfrm>
          <a:prstGeom prst="roundRect">
            <a:avLst>
              <a:gd name="adj" fmla="val 7091"/>
            </a:avLst>
          </a:prstGeom>
          <a:solidFill>
            <a:srgbClr val="E2ECEC"/>
          </a:solidFill>
          <a:ln/>
        </p:spPr>
      </p:sp>
      <p:sp>
        <p:nvSpPr>
          <p:cNvPr id="18" name="tickbox"/>
          <p:cNvSpPr/>
          <p:nvPr/>
        </p:nvSpPr>
        <p:spPr>
          <a:xfrm>
            <a:off x="713232" y="5262245"/>
            <a:ext cx="292608" cy="292608"/>
          </a:xfrm>
          <a:prstGeom prst="rect">
            <a:avLst/>
          </a:prstGeom>
          <a:solidFill>
            <a:srgbClr val="FFFFFF"/>
          </a:solidFill>
          <a:ln w="19050">
            <a:solidFill>
              <a:srgbClr val="1F6F6A"/>
            </a:solidFill>
            <a:prstDash val="solid"/>
          </a:ln>
        </p:spPr>
      </p:sp>
      <p:sp>
        <p:nvSpPr>
          <p:cNvPr id="19" name="crit"/>
          <p:cNvSpPr txBox="1"/>
          <p:nvPr/>
        </p:nvSpPr>
        <p:spPr>
          <a:xfrm>
            <a:off x="1143000" y="4763770"/>
            <a:ext cx="10317175"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 the wavefront swings round and the direction of travel changes (bending towards the normal); a wavefront arriving parallel to the boundary would not change direction.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Model answer: Explain refraction with wavefronts</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3EADB"/>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waves travel more slowly in the shallow water. Their frequency does not change, because the same source is making them, so by v = f λ their wavelength becomes shorter and the wavefronts are closer together. Because the waves arrive at an angle, one end of each wavefront reaches the shallow water first and slows down while the other end is still moving at the faster speed. The fast end gains on the slow end, so the wavefront turns and the waves change direction, bending towards the normal. If the wavefronts arrived parallel to the boundary, both ends would slow at the same moment and there would be no change of direction.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loudspeaker on a boat makes a sound of frequency 500 Hz. The sound travels through the air at 330 m/s and then passes into the sea water, where it travels at 1500 m/s. Calculate the wavelength of the sound in the water, in 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frequency stays at 500 Hz; the speed in water is 1500 m/s, so λ = 1500 ÷ 500 = 3 m, longer than the 0.66 m in air.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DDE9E9"/>
      </a:lt2>
      <a:accent1>
        <a:srgbClr val="1F6F6A"/>
      </a:accent1>
      <a:accent2>
        <a:srgbClr val="B8862B"/>
      </a:accent2>
      <a:accent3>
        <a:srgbClr val="79A9A6"/>
      </a:accent3>
      <a:accent4>
        <a:srgbClr val="815E1E"/>
      </a:accent4>
      <a:accent5>
        <a:srgbClr val="4A505C"/>
      </a:accent5>
      <a:accent6>
        <a:srgbClr val="D8BC8A"/>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 Properties · Chapter 4: Waves at a boundary: reflection and refraction</dc:title>
  <dc:subject>Physics (Combined Science) · Year 11</dc:subject>
  <dc:creator>Dr Vitor Merissi de Carvalho</dc:creator>
  <cp:lastModifiedBy>Dr Vitor Merissi de Carvalho</cp:lastModifiedBy>
  <cp:revision>1</cp:revision>
  <dcterms:created xsi:type="dcterms:W3CDTF">2026-10-18T17:47:16Z</dcterms:created>
  <dcterms:modified xsi:type="dcterms:W3CDTF">2026-10-18T17:47:16Z</dcterms:modified>
</cp:coreProperties>
</file>