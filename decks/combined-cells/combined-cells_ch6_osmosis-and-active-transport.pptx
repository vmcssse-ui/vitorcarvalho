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64c963-2df3-4784-8b6a-c7eb62793ded}">
          <p14:sldIdLst>
            <p14:sldId id="256"/>
          </p14:sldIdLst>
        </p14:section>
        <p14:section name="Gate" id="{088ffae7-96fc-decf-a354-9b8ae5956f3d}">
          <p14:sldIdLst>
            <p14:sldId id="257"/>
            <p14:sldId id="258"/>
          </p14:sldIdLst>
        </p14:section>
        <p14:section name="Pre-teach" id="{988b8766-3123-9ed0-a314-e2f4b7b6cf6e}">
          <p14:sldIdLst>
            <p14:sldId id="259"/>
            <p14:sldId id="260"/>
          </p14:sldIdLst>
        </p14:section>
        <p14:section name="Read-along" id="{cba88024-b01b-faa7-0efb-46c5d7c63a2a}">
          <p14:sldIdLst>
            <p14:sldId id="261"/>
            <p14:sldId id="262"/>
          </p14:sldIdLst>
        </p14:section>
        <p14:section name="Teach" id="{8a35d1f8-876e-7491-f9d8-8a48a459750c}">
          <p14:sldIdLst>
            <p14:sldId id="263"/>
            <p14:sldId id="264"/>
            <p14:sldId id="265"/>
            <p14:sldId id="266"/>
          </p14:sldIdLst>
        </p14:section>
        <p14:section name="Routes" id="{4727817e-d196-1d80-7c16-4985e10a7966}">
          <p14:sldIdLst>
            <p14:sldId id="267"/>
            <p14:sldId id="268"/>
            <p14:sldId id="269"/>
          </p14:sldIdLst>
        </p14:section>
        <p14:section name="Close" id="{de492708-8df8-4b5b-99d8-4248845cd5fa}">
          <p14:sldIdLst>
            <p14:sldId id="270"/>
          </p14:sldIdLst>
        </p14:section>
        <p14:section name="Answers" id="{86edb627-5acc-caed-1c4d-5a66ebef498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Osmosis and active transport. This chapter covers the two other ways substances move: water by osmosis, with the potato practical, and minerals by active transport.
This deck covers the department's lessons: 7 (Osmosis: What happens to animal and plant cells in dilute and concentrated solutions?); 8 (Active transport: How do cells move substances against a concentration gradient?).
Read the big question aloud: "What is a cell made of, and how does it get what it needs?"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osmosis, which substance moves across the partially permeable membrane?  →  D   water
2. Active transport needs ___ from respiration.  →  energy
3. A potato cylinder has a mass of 2.0 g at the start and 2.3 g at the end of the experiment. Calculate the percentage change in mass.  →  15 %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water. Osmosis is the movement of water, and only water, through a partially permeable membrane from a dilute to a concentrated solution.
2. energy. Active transport moves particles against the gradient, which cannot happen on its own; the energy comes from respiration, which is why root hair cells have many mitochondria.
3. 15 %. Change = 2.3 − 2.0 = 0.3 g; 0.3 ÷ 2.0 × 100 = 15 % (exact). A positive change: water moved in.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osmosis: the movement of water through a membrane from a weak solution to a strong one. Example: "Water entered the potato by osmosis."
• dilute: a weak solution, with lots of water and little dissolved in it. Example: "Pure water is the most dilute solution of all."
• concentrated: a strong solution, with a lot dissolved in it. Example: "The syrup was a very concentrated sugar solution."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partially permeable: letting some particles through but not others. Example: "The cell membrane is partially permeable: water passes, sugar does not."
• turgid: firm and swollen with water. Example: "The plant cells were turgid, so the leaf stood up straight."
• active transport: moving particles from low to high concentration using energy. Example: "Root hair cells take in minerals by active transport."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Osmosis is the movement of water.
2. Water moves across a partially permeable membrane.
3. This membrane lets water through but not big dissolved particles.
4. Water moves from a dilute solution to a concentrated solution.
5. A dilute solution has lots of water and little sugar or salt.
6. A concentrated solution has less water and more sugar or salt.
7. In pure water, an animal cell swells and may burst.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plant cell swells too, but its cell wall stops it bursting.
9. In a strong sugar solution, cells lose water and shrink.
10. Active transport is different.
11. It moves particles from a low concentration to a high concentration.
12. This needs energy from respiration.
13. Root hair cells use it to take in minerals from the soil.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Osmosis: water on the move. Say it in your own words, then check understanding with a quick question: ask a pupil from the pre-teach group first, since they met these words and ideas before the lesson. Pupils try to recall before you re-explain.
Osmosis is the diffusion of water from a dilute solution to a concentrated solution through a partially permeable membrane. A partially permeable membrane has tiny holes that let small water molecules through but hold back larger dissolved particles such as sugar. The cell membrane is one. Like diffusion, osmosis is passive: it needs no energy from the cell.
Think about the water. A dilute solution has a lot of water and only a little dissolved in it, so its water concentration is high. A concentrated solution has less water and more dissolved particles, so its water concentration is low. Water moves down its own concentration gradient, from where there is more water to where there is less: from dilute to concentrated.
Your department uses three words for solutions compared with the inside of a cell. A hypotonic solution is more dilute than the cell, so water moves in. A hypertonic solution is more concentrated than the cell, so water moves out. An isotonic solution has the same concentration as the cell, so there is no net movement of water.
Tip: Osmosis is WATER ONLY, through a membrane, from dilute to concentrated. If sugar or salt is moving, it is not osmosis.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Cells in different solutions. Say it in your own words, then check understanding with a quick question: ask a pupil from the pre-teach group first, since they met these words and ideas before the lesson. Pupils try to recall before you re-explain.
Put an animal cell in pure water or a very dilute solution and water moves in by osmosis. The cell swells. It has no cell wall to hold it, so if enough water enters the membrane splits and the cell bursts. Put the same cell in a concentrated solution and water moves out; the cell shrinks and its surface wrinkles. This is why the concentration of your blood is controlled so carefully.
A plant cell in a dilute solution also takes in water, and its vacuole swells and presses the cytoplasm against the cell wall. The strong cellulose wall stops the cell bursting; the cell becomes firm, or turgid, which is what holds leaves and stems up. In a concentrated solution a plant cell loses water, the vacuole shrinks and the cell goes soft, or flaccid. If it loses a lot of water, the membrane and cytoplasm pull away from the cell wall; the cell is plasmolysed and the plant wilts.
In an isotonic solution nothing visible happens to either kind of cell, because water moves in and out at the same rate.
Tip: Animal cell in pure water: bursts. Plant cell in pure water: turgid. The difference is the cell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osmosis in potato cylinders. Say it in your own words, then check understanding with a quick question: ask a pupil from the pre-teach group first, since they met these words and ideas before the lesson. Pupils try to recall before you re-explain.
In this practical you find how the concentration of a sugar solution affects the mass of plant tissue. Use a cork borer to cut cylinders of potato the same length and thickness; trim them and blot them dry with a paper towel. Measure and record the mass of each cylinder. Place one cylinder in each of several sugar solutions of different concentration, including distilled water, for the same length of time, for example overnight. Take the cylinders out, blot them the same way as before, and measure their mass again.
Blotting the same way each time matters: water on the outside of a cylinder adds to its mass without having entered the cells. Using cylinders cut with the same borer keeps the surface area the same. Safety: the cork borer and knife are sharp, so cut on a tile away from your hand; keep the electronic balance well away from spills.
Because the cylinders start at slightly different masses, you compare them using the percentage change in mass: percentage change = (final mass − starting mass) ÷ starting mass × 100. A positive value means the cylinder gained water from a dilute solution; a negative value means it lost water to a concentrated one. Plot percentage change against concentration. Where the line crosses zero, the solution has the same concentration as the potato cells.
Worked example — model it step by step, thinking aloud: A potato cylinder had a mass of 4.0 g at the start and 4.5 g after a night in distilled water. Calculate the percentage change in mass. (1) Find the change: 4.5 − 4.0 = 0.5 g (a gain). (2) Divide by the starting mass: 0.5 ÷ 4.0 = 0.125. (3) Multiply by 100 to make it a percentage: 12.5 %. Answer: +12.5 %.
Tip: Change ÷ START × 100. Divide by the starting mass, never the final mass, and keep the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Active transport: moving against the gradient. Say it in your own words, then check understanding with a quick question: ask a pupil from the pre-teach group first, since they met these words and ideas before the lesson. Pupils try to recall before you re-explain.
Sometimes a cell needs to take in a substance that is already more concentrated inside the cell than outside. Diffusion cannot do this, because the net movement would be outwards. Active transport moves particles from a more dilute solution to a more concentrated solution, against the concentration gradient. It is active because it needs energy from respiration; carrier proteins in the cell membrane use that energy to pump the particles across.
Plants need mineral ions such as nitrate and magnesium from the soil, but the soil water is very dilute and the root cells already contain more of these ions. Root hair cells take them in by active transport, which is why they have so many mitochondria. In your small intestine, after a meal the glucose in the gut diffuses into the blood; when its concentration in the gut falls below that of the blood, the last of it is absorbed by active transport, so none is wasted.
Three processes, then. Diffusion moves any particles down a gradient with no energy. Osmosis is diffusion of water only, through a partially permeable membrane, with no energy. Active transport moves particles up a gradient, needs energy from respiration, and uses carrier proteins.
Tip: Active transport: LOW to HIGH, AGAINST the gradient, needs ENERGY. Everything diffusion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Percentage change in mass.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potato cylinder has a mass of 6.0 g at the start. After a night in a concentrated sugar solution its mass is 5.4 g. Calculate the percentage change in mass.
Support — work through the steps with the group: (1) Change = final − start (keep the sign). (2) Divide the change by the START mass. (3) Multiply by 100 and add the % sign.
Parallel worked example for Support (model it, do not give the task answer): A potato cylinder goes from 5.0 g to 4.6 g. Calculate the percentage change in mass. Change = 4.6 − 5.0 = −0.4 g.; −0.4 ÷ 5.0 = −0.08.; −0.08 × 100 = −8 %.. Answer: −8 %.
Core — reveal the hint only on request: Final minus start, over start, times 100. Expect a minus sign: the cylinder lost water.
Stretch — no help; when finished: Explain, in terms of osmosis and water concentration, why this cylinder lost mass, and predict the sign of the change for a cylinder in distilled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Cell in pure water.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red blood cell is placed in pure water. What happens to it?
Support — work through the steps with the group: (1) Compare the two sides: pure water (very dilute) outside; cytoplasm (more concentrated) inside. (2) Water moves by osmosis from dilute to concentrated: into the cell. (3) An animal cell has no wall, so when it swells enough it bursts.
Parallel worked example for Support (model it, do not give the task answer): A plant cell is placed in pure water. What happens to it? Water moves in by osmosis, as for the animal cell.; The cell swells and becomes turgid.; The cellulose wall stops it bursting.. Answer: Water enters by osmosis; the cell becomes turgid but does not burst, because of its cell wall..
Core — reveal the hint only on request: Which side has more water? Water moves towards the other side. Then: wall or no wall?
Stretch — no help; when finished: Explain why a plant cell in the same pure water does not burst, and what would happen to each kind of cell in a concentrated salt solution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Cell in pure water.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red blood cell is placed in pure water. What happens to it?
Support — work through the steps with the group: (1) Compare the two sides: pure water (very dilute) outside; cytoplasm (more concentrated) inside. (2) Water moves by osmosis from dilute to concentrated: into the cell. (3) An animal cell has no wall, so when it swells enough it bursts.
Parallel worked example for Support (model it, do not give the task answer): A plant cell is placed in pure water. What happens to it? Water moves in by osmosis, as for the animal cell.; The cell swells and becomes turgid.; The cellulose wall stops it bursting.. Answer: Water enters by osmosis; the cell becomes turgid but does not burst, because of its cell wall..
Core — reveal the hint only on request: Which side has more water? Water moves towards the other side. Then: wall or no wall?
Stretch — no help; when finished: Explain why a plant cell in the same pure water does not burst, and what would happen to each kind of cell in a concentrated salt solution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osmosis, which substance moves across the partially permeable membrane?
Answer: C   water. Osmosis is the movement of water, and only water, through a partially permeable membrane from a dilute to a concentrated solution.
Source of this question: gate item 1 re-asked (options rotated) — this chapter has no third quick-check module.
The ebook also holds task 3, "Water and minerals into a root",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Percentage change in mass. Reveal the answer; pupils mark their own work in a different colour, then read the "why" together. Same destination for every lane, so one answer serves the whole class.
Answer: −10 %
Why: (5.4 − 6.0) ÷ 6.0 × 100 = −10 %. Negative because water left the cells by osmosis into the more concentrated solution.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Cell in pure water. Reveal the answer; pupils mark their own work in a different colour, then read the "why" together. Same destination for every lane, so one answer serves the whole class.
Answer: D   Water moves in by osmosis; the cell swells and bursts
Why: Water moves by osmosis from the dilute water into the more concentrated cell; an animal cell has no wall to stop it swelling, so it bursts.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water
Why: Osmosis is the movement of water, and only water, through a partially permeable membrane from a dilute to a concentrated solution.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Biology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Cell Biology · AQA 8464</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Osmosis and active transport</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2ECEC"/>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Osmosis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Active transport</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is a cell made of, and how does it get what it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osmosis, which substance moves across the partially permeable membrane?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salt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oxygen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sugar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water</a:t>
            </a:r>
            <a:endParaRPr lang="en-US" sz="22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Active transport needs ___ from respiration.</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energy  ·  water  ·  oxygen</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potato cylinder has a mass of 2.0 g at the start and 2.3 g at the end of the experiment. Calculate the percentage change in mass.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water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osmosis, which substance moves across the partially permeable membrane?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Osmosis is the movement of water, and only water, through a partially permeable membrane from a dilute to a concentrated solution.</a:t>
            </a:r>
            <a:endParaRPr lang="en-US" sz="18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energy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Active transport needs ___ from respiration.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Active transport moves particles against the gradient, which cannot happen on its own; the energy comes from respiration, which is why root hair cells have many mitochondria.</a:t>
            </a:r>
            <a:endParaRPr lang="en-US" sz="18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15 %</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potato cylinder has a mass of 2.0 g at the start and 2.3 g at the end of the experiment. Calculate the percentage change in mass.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Change = 2.3 − 2.0 = 0.3 g; 0.3 ÷ 2.0 × 100 = 15 % (exact). A positive change: water moved 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osmosis</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movement of water through a membrane from a weak solution to a strong 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Water entered the potato by osmosis.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dilute</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weak solution, with lots of water and little dissolved in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Pure water is the most dilute solution of all.</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concentrated</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strong solution, with a lot dissolved in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syrup was a very concentrated sugar solution.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partially permeable</a:t>
            </a:r>
            <a:endParaRPr lang="en-US" sz="2600" dirty="0"/>
          </a:p>
        </p:txBody>
      </p:sp>
      <p:sp>
        <p:nvSpPr>
          <p:cNvPr id="11" name="word-rule"/>
          <p:cNvSpPr/>
          <p:nvPr/>
        </p:nvSpPr>
        <p:spPr>
          <a:xfrm>
            <a:off x="731520" y="2558288"/>
            <a:ext cx="3149498" cy="0"/>
          </a:xfrm>
          <a:prstGeom prst="line">
            <a:avLst/>
          </a:prstGeom>
          <a:ln w="12700">
            <a:solidFill>
              <a:srgbClr val="9FC1BF"/>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letting some particles through but not others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cell membrane is partially permeable: water passes, sugar does not.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turgid</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firm and swollen with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plant cells were turgid, so the leaf stood up straight.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active transport</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moving particles from low to high concentration using energy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Root hair cells take in minerals by active transport.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Osmosis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movement of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moves across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partially permeable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membrane.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membrane lets water through but not big dissolved particles.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moves from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dilute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solution to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concentrated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solution.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dilute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solution has lots of water and little sugar or salt.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concentrated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solution has less water and more sugar or salt.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pure water, an animal cell swells and may burst.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plant cell swells too, but its cell wall stops it bursting.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 strong sugar solution, cells lose water and shrink.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Active transport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different.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moves particles from a low concentration to a high concentration.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needs energy from respiration.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Root hair cells use it to take in minerals from the soil.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Osmosis: water on the move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Osmosis is WATER ONLY, through a membrane, from dilute to concentrated. If sugar or salt is moving, it is not osmosis.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Osmosis is the diffusion of water from a dilute solution to a concentrated solution through a partially permeable membrane.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Think about the water. A dilute solution has a lot of water and only a little dissolved in it, so its water concentration is high.</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department uses three words for solutions compared with the inside of a cell.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Cells in different solutions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Animal cell in pure water: bursts. Plant cell in pure water: turgid. The difference is the cell wall.</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Put an animal cell in pure water or a very dilute solution and water moves in by osmosis.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plant cell in a dilute solution also takes in water, and its vacuole swells and presses the cytoplasm against the cell wall.</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an isotonic solution nothing visible happens to either kind of cell, because water moves in and out at the same rate.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Required practical: osmosis in potato cylinders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Change ÷ START × 100. Divide by the starting mass, never the final mass, and keep the sign.</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potato cylinder had a mass of 4.0 g at the start and 4.5 g after a night in distilled water. Calculate the percentage change in mass.</a:t>
            </a:r>
            <a:endParaRPr lang="en-US" sz="1800" dirty="0"/>
          </a:p>
        </p:txBody>
      </p:sp>
      <p:sp>
        <p:nvSpPr>
          <p:cNvPr id="14" name="step-box"/>
          <p:cNvSpPr/>
          <p:nvPr/>
        </p:nvSpPr>
        <p:spPr>
          <a:xfrm>
            <a:off x="6126480" y="3167380"/>
            <a:ext cx="5379415" cy="566928"/>
          </a:xfrm>
          <a:prstGeom prst="roundRect">
            <a:avLst>
              <a:gd name="adj" fmla="val 16129"/>
            </a:avLst>
          </a:prstGeom>
          <a:solidFill>
            <a:srgbClr val="E2ECEC"/>
          </a:solidFill>
          <a:ln/>
        </p:spPr>
      </p:sp>
      <p:sp>
        <p:nvSpPr>
          <p:cNvPr id="15" name="step-hex"/>
          <p:cNvSpPr/>
          <p:nvPr/>
        </p:nvSpPr>
        <p:spPr>
          <a:xfrm>
            <a:off x="6217920" y="3268714"/>
            <a:ext cx="420624" cy="364260"/>
          </a:xfrm>
          <a:prstGeom prst="hexagon">
            <a:avLst/>
          </a:prstGeom>
          <a:solidFill>
            <a:srgbClr val="1F6F6A"/>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change: 4.5 − 4.0 = 0.5 g (a gain).</a:t>
            </a:r>
            <a:endParaRPr lang="en-US" sz="1800" dirty="0"/>
          </a:p>
        </p:txBody>
      </p:sp>
      <p:sp>
        <p:nvSpPr>
          <p:cNvPr id="18" name="step-box"/>
          <p:cNvSpPr/>
          <p:nvPr/>
        </p:nvSpPr>
        <p:spPr>
          <a:xfrm>
            <a:off x="6126480" y="3825748"/>
            <a:ext cx="5379415" cy="566928"/>
          </a:xfrm>
          <a:prstGeom prst="roundRect">
            <a:avLst>
              <a:gd name="adj" fmla="val 16129"/>
            </a:avLst>
          </a:prstGeom>
          <a:solidFill>
            <a:srgbClr val="E2ECEC"/>
          </a:solidFill>
          <a:ln/>
        </p:spPr>
      </p:sp>
      <p:sp>
        <p:nvSpPr>
          <p:cNvPr id="19" name="step-hex"/>
          <p:cNvSpPr/>
          <p:nvPr/>
        </p:nvSpPr>
        <p:spPr>
          <a:xfrm>
            <a:off x="6217920" y="3927082"/>
            <a:ext cx="420624" cy="364260"/>
          </a:xfrm>
          <a:prstGeom prst="hexagon">
            <a:avLst/>
          </a:prstGeom>
          <a:solidFill>
            <a:srgbClr val="1F6F6A"/>
          </a:solidFill>
          <a:ln/>
        </p:spPr>
      </p:sp>
      <p:sp>
        <p:nvSpPr>
          <p:cNvPr id="20" name="step-hex-label"/>
          <p:cNvSpPr txBox="1"/>
          <p:nvPr/>
        </p:nvSpPr>
        <p:spPr>
          <a:xfrm>
            <a:off x="6217920" y="39270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Divide by the starting mass: 0.5 ÷ 4.0 = 0.125.</a:t>
            </a:r>
            <a:endParaRPr lang="en-US" sz="1800" dirty="0"/>
          </a:p>
        </p:txBody>
      </p:sp>
      <p:sp>
        <p:nvSpPr>
          <p:cNvPr id="22" name="step-box"/>
          <p:cNvSpPr/>
          <p:nvPr/>
        </p:nvSpPr>
        <p:spPr>
          <a:xfrm>
            <a:off x="6126480" y="4484116"/>
            <a:ext cx="5379415" cy="794512"/>
          </a:xfrm>
          <a:prstGeom prst="roundRect">
            <a:avLst>
              <a:gd name="adj" fmla="val 11509"/>
            </a:avLst>
          </a:prstGeom>
          <a:solidFill>
            <a:srgbClr val="E2ECEC"/>
          </a:solidFill>
          <a:ln/>
        </p:spPr>
      </p:sp>
      <p:sp>
        <p:nvSpPr>
          <p:cNvPr id="23" name="step-hex"/>
          <p:cNvSpPr/>
          <p:nvPr/>
        </p:nvSpPr>
        <p:spPr>
          <a:xfrm>
            <a:off x="6217920" y="4699242"/>
            <a:ext cx="420624" cy="364260"/>
          </a:xfrm>
          <a:prstGeom prst="hexagon">
            <a:avLst/>
          </a:prstGeom>
          <a:solidFill>
            <a:srgbClr val="1F6F6A"/>
          </a:solidFill>
          <a:ln/>
        </p:spPr>
      </p:sp>
      <p:sp>
        <p:nvSpPr>
          <p:cNvPr id="24" name="step-hex-label"/>
          <p:cNvSpPr txBox="1"/>
          <p:nvPr/>
        </p:nvSpPr>
        <p:spPr>
          <a:xfrm>
            <a:off x="6217920" y="46992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8411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by 100 to make it a percentage: 12.5 %.</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+12.5 %</a:t>
            </a:r>
            <a:endParaRPr lang="en-US" sz="1800" dirty="0"/>
          </a:p>
        </p:txBody>
      </p:sp>
      <p:sp>
        <p:nvSpPr>
          <p:cNvPr id="27" name="bullet-card"/>
          <p:cNvSpPr/>
          <p:nvPr/>
        </p:nvSpPr>
        <p:spPr>
          <a:xfrm>
            <a:off x="548640" y="1389888"/>
            <a:ext cx="5074920" cy="1459992"/>
          </a:xfrm>
          <a:prstGeom prst="roundRect">
            <a:avLst>
              <a:gd name="adj" fmla="val 5010"/>
            </a:avLst>
          </a:prstGeom>
          <a:solidFill>
            <a:srgbClr val="E6EFEF"/>
          </a:solidFill>
          <a:ln/>
        </p:spPr>
      </p:sp>
      <p:sp>
        <p:nvSpPr>
          <p:cNvPr id="28" name="bullet-hex"/>
          <p:cNvSpPr/>
          <p:nvPr/>
        </p:nvSpPr>
        <p:spPr>
          <a:xfrm>
            <a:off x="676656" y="1953591"/>
            <a:ext cx="384048" cy="332586"/>
          </a:xfrm>
          <a:prstGeom prst="hexagon">
            <a:avLst/>
          </a:prstGeom>
          <a:solidFill>
            <a:srgbClr val="1F6F6A"/>
          </a:solidFill>
          <a:ln/>
        </p:spPr>
      </p:sp>
      <p:sp>
        <p:nvSpPr>
          <p:cNvPr id="29" name="bullet"/>
          <p:cNvSpPr txBox="1"/>
          <p:nvPr/>
        </p:nvSpPr>
        <p:spPr>
          <a:xfrm>
            <a:off x="1143000" y="1389888"/>
            <a:ext cx="4389120" cy="14599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this practical you find how the concentration of a sugar solution affects the mass of plant tissue.</a:t>
            </a:r>
            <a:endParaRPr lang="en-US" sz="2200" dirty="0"/>
          </a:p>
        </p:txBody>
      </p:sp>
      <p:sp>
        <p:nvSpPr>
          <p:cNvPr id="30" name="bullet-card"/>
          <p:cNvSpPr/>
          <p:nvPr/>
        </p:nvSpPr>
        <p:spPr>
          <a:xfrm>
            <a:off x="548640" y="2996184"/>
            <a:ext cx="5074920" cy="1800860"/>
          </a:xfrm>
          <a:prstGeom prst="roundRect">
            <a:avLst>
              <a:gd name="adj" fmla="val 4062"/>
            </a:avLst>
          </a:prstGeom>
          <a:solidFill>
            <a:srgbClr val="E6EFEF"/>
          </a:solidFill>
          <a:ln/>
        </p:spPr>
      </p:sp>
      <p:sp>
        <p:nvSpPr>
          <p:cNvPr id="31" name="bullet-hex"/>
          <p:cNvSpPr/>
          <p:nvPr/>
        </p:nvSpPr>
        <p:spPr>
          <a:xfrm>
            <a:off x="676656" y="3730321"/>
            <a:ext cx="384048" cy="332586"/>
          </a:xfrm>
          <a:prstGeom prst="hexagon">
            <a:avLst/>
          </a:prstGeom>
          <a:solidFill>
            <a:srgbClr val="B8862B"/>
          </a:solidFill>
          <a:ln/>
        </p:spPr>
      </p:sp>
      <p:sp>
        <p:nvSpPr>
          <p:cNvPr id="32" name="bullet"/>
          <p:cNvSpPr txBox="1"/>
          <p:nvPr/>
        </p:nvSpPr>
        <p:spPr>
          <a:xfrm>
            <a:off x="1143000" y="2996184"/>
            <a:ext cx="4389120" cy="18008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Blotting the same way each time matters: water on the outside of a cylinder adds to its mass without having entered the cells.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Active transport: moving against the gradient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Active transport: LOW to HIGH, AGAINST the gradient, needs ENERGY. Everything diffusion is not.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Sometimes a cell needs to take in a substance that is already more concentrated inside the cell than outside.</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Plants need mineral ions such as nitrate and magnesium from the soil, but the soil water is very dilute and the root cells already contain more of these ions.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Three processes, then. Diffusion moves any particles down a gradient with no energy.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Percentage change in mass</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potato cylinder has a mass of 6.0 g at the start. After a night in a concentrated sugar solution its mass is 5.4 g. Calculate the percentage change in mass.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a:t>
            </a:r>
            <a:endParaRPr lang="en-US" sz="2000" dirty="0"/>
          </a:p>
        </p:txBody>
      </p:sp>
      <p:sp>
        <p:nvSpPr>
          <p:cNvPr id="12" name="col-Support"/>
          <p:cNvSpPr/>
          <p:nvPr/>
        </p:nvSpPr>
        <p:spPr>
          <a:xfrm>
            <a:off x="548640" y="3258820"/>
            <a:ext cx="3515258" cy="2885948"/>
          </a:xfrm>
          <a:prstGeom prst="roundRect">
            <a:avLst>
              <a:gd name="adj" fmla="val 1901"/>
            </a:avLst>
          </a:prstGeom>
          <a:solidFill>
            <a:srgbClr val="E2ECEC"/>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3240938"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Change = final − start (keep the sign).</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change by the START mass.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by 100 and add the % sign.</a:t>
            </a:r>
            <a:endParaRPr lang="en-US" sz="1800" dirty="0"/>
          </a:p>
        </p:txBody>
      </p:sp>
      <p:sp>
        <p:nvSpPr>
          <p:cNvPr id="17" name="col-Core"/>
          <p:cNvSpPr/>
          <p:nvPr/>
        </p:nvSpPr>
        <p:spPr>
          <a:xfrm>
            <a:off x="4338218" y="3258820"/>
            <a:ext cx="3515258" cy="2885948"/>
          </a:xfrm>
          <a:prstGeom prst="roundRect">
            <a:avLst>
              <a:gd name="adj" fmla="val 1901"/>
            </a:avLst>
          </a:prstGeom>
          <a:solidFill>
            <a:srgbClr val="C7DBDA"/>
          </a:solidFill>
          <a:ln/>
        </p:spPr>
      </p:sp>
      <p:sp>
        <p:nvSpPr>
          <p:cNvPr id="18" name="col-hex"/>
          <p:cNvSpPr/>
          <p:nvPr/>
        </p:nvSpPr>
        <p:spPr>
          <a:xfrm>
            <a:off x="4447946"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898900"/>
            <a:ext cx="3240938" cy="213614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Final minus start, over start, times 100. Expect a minus sign: the cylinder lost water.</a:t>
            </a:r>
            <a:endParaRPr lang="en-US" sz="1800" dirty="0"/>
          </a:p>
        </p:txBody>
      </p:sp>
      <p:sp>
        <p:nvSpPr>
          <p:cNvPr id="22" name="col-Stretch"/>
          <p:cNvSpPr/>
          <p:nvPr/>
        </p:nvSpPr>
        <p:spPr>
          <a:xfrm>
            <a:off x="8127797" y="3258820"/>
            <a:ext cx="3515258" cy="2885948"/>
          </a:xfrm>
          <a:prstGeom prst="roundRect">
            <a:avLst>
              <a:gd name="adj" fmla="val 1901"/>
            </a:avLst>
          </a:prstGeom>
          <a:solidFill>
            <a:srgbClr val="1F6F6A"/>
          </a:solidFill>
          <a:ln/>
        </p:spPr>
      </p:sp>
      <p:sp>
        <p:nvSpPr>
          <p:cNvPr id="23" name="col-hex"/>
          <p:cNvSpPr/>
          <p:nvPr/>
        </p:nvSpPr>
        <p:spPr>
          <a:xfrm>
            <a:off x="8237525"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898900"/>
            <a:ext cx="3240938"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in terms of osmosis and water concentration, why this cylinder lost mass, and predict the sign of the change for a cylinder in distilled water.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Cell in pure water</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red blood cell is placed in pure water. What happens to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moves in by active transport; the cell swells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moves out by osmosis; the cell shrinks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Nothing happens, because water cannot cross the membrane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moves in by osmosis; the cell swells and bursts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Cell in pure water</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red blood cell is placed in pure water. What happens to it?</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Compare the two sides: pure water (very dilute) outside; cytoplasm (more concentrated) inside.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Water moves by osmosis from dilute to concentrated: into the cell.</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animal cell has no wall, so when it swells enough it bursts.</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side has more water? Water moves towards the other side. Then: wall or no wall?</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plant cell in the same pure water does not burst, and what would happen to each kind of cell in a concentrated salt solution instead.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osmosis, which substance moves across the partially permeable membrane?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oxygen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sugar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water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salt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Percentage change in mass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potato cylinder has a mass of 6.0 g at the start. After a night in a concentrated sugar solution its mass is 5.4 g. Calculate the percentage change in mass.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(5.4 − 6.0) ÷ 6.0 × 100 = −10 %. Negative because water left the cells by osmosis into the more concentrated solution.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Cell in pure water</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red blood cell is placed in pure water. What happens to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Water moves in by osmosis; the cell swells and bursts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Water moves by osmosis from the dilute water into the more concentrated cell; an animal cell has no wall to stop it swelling, so it bursts.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osmosis, which substance moves across the partially permeable membrane?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water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Osmosis is the movement of water, and only water, through a partially permeable membrane from a dilute to a concentrated solution.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Biology · Chapter 6: Osmosis and active transport</dc:title>
  <dc:subject>Biology (Combined Science) · Year 10</dc:subject>
  <dc:creator>Dr Vitor Merissi de Carvalho</dc:creator>
  <cp:lastModifiedBy>Dr Vitor Merissi de Carvalho</cp:lastModifiedBy>
  <cp:revision>1</cp:revision>
  <dcterms:created xsi:type="dcterms:W3CDTF">2026-10-19T16:22:30Z</dcterms:created>
  <dcterms:modified xsi:type="dcterms:W3CDTF">2026-10-19T16:22:30Z</dcterms:modified>
</cp:coreProperties>
</file>