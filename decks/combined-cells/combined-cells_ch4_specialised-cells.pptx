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65dcad62-915d-5b57-f73e-649b255b9480}">
          <p14:sldIdLst>
            <p14:sldId id="256"/>
          </p14:sldIdLst>
        </p14:section>
        <p14:section name="Gate" id="{a54e15ac-a4aa-c8d7-9610-7bb437a6b206}">
          <p14:sldIdLst>
            <p14:sldId id="257"/>
            <p14:sldId id="258"/>
          </p14:sldIdLst>
        </p14:section>
        <p14:section name="Pre-teach" id="{ac12f20e-dc1b-8ead-0904-0cda4a9e1a93}">
          <p14:sldIdLst>
            <p14:sldId id="259"/>
            <p14:sldId id="260"/>
          </p14:sldIdLst>
        </p14:section>
        <p14:section name="Read-along" id="{bc865fcf-9579-bedc-4caf-0779c4aea29a}">
          <p14:sldIdLst>
            <p14:sldId id="261"/>
            <p14:sldId id="262"/>
          </p14:sldIdLst>
        </p14:section>
        <p14:section name="Teach" id="{8da8f60c-ee20-a859-664c-39fcbcda495d}">
          <p14:sldIdLst>
            <p14:sldId id="263"/>
            <p14:sldId id="264"/>
            <p14:sldId id="265"/>
            <p14:sldId id="266"/>
            <p14:sldId id="267"/>
          </p14:sldIdLst>
        </p14:section>
        <p14:section name="Routes" id="{177a5f15-f86b-b04d-b7ca-1f91d6f23757}">
          <p14:sldIdLst>
            <p14:sldId id="268"/>
            <p14:sldId id="269"/>
            <p14:sldId id="270"/>
            <p14:sldId id="271"/>
          </p14:sldIdLst>
        </p14:section>
        <p14:section name="Close" id="{3467c1e1-d660-9668-d765-eac4187ca8d4}">
          <p14:sldIdLst>
            <p14:sldId id="272"/>
          </p14:sldIdLst>
        </p14:section>
        <p14:section name="Answers" id="{db3e7ec2-ee86-9e34-ad64-e6cd078c46a2}">
          <p14:sldIdLst>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4 of 6: Specialised cells in animals and plants. This chapter shows how cells are shaped and equipped for one job each, in animals and in plants, and how to write an 'explain how it is adapted' answer.
This deck covers the department's lessons: 4 (Specialised animal cells: How are animal cells adapted to do a particular job?); 5 (Specialisation in plant cells: How are plant cells adapted to do a particular job?).
Read the big question aloud: "What is a cell made of, and how does it get what it needs?"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What is a specialised cell?  →  A   a cell with adaptations that suit it to a particular job
2. A sperm cell has a ___ so that it can swim to the egg.  →  tail
3. What do xylem cells carry?  →  A   water and dissolved mineral ions from the roots to the leaves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A   a cell with adaptations that suit it to a particular job. A specialised cell is adapted, in shape, size and organelles, to carry out one particular function.
2. tail. The sperm's long tail beats to move the cell towards the egg; its mitochondria release the energy for this.
3. A   water and dissolved mineral ions from the roots to the leaves. Xylem forms hollow tubes of dead cells, strengthened with lignin, that carry water and mineral ions upwards from the roots.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specialised: built to do one particular job. Example: "A red blood cell is specialised to carry oxygen."
• adapted: changed so that it suits its job. Example: "The root hair cell is adapted to take in water."
• differentiation: the way a cell changes to become specialised. Example: "Differentiation turns a young cell into a nerve cell or a muscle cell."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nerve cell: a long cell that carries electrical signals. Example: "A nerve cell can run from your spine to your toe."
• root hair cell: a root cell with a long hair that takes in water. Example: "Each root hair cell reaches between the grains of soil."
• xylem: tubes that carry water up a plant. Example: "Water travels up the stem in the xylem."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13:
1. Your body has many kinds of cell.
2. Each kind has a special job.
3. A specialised cell is shaped and built for its job.
4. This is called being adapted.
5. A sperm cell has a tail so it can swim to the egg.
6. A nerve cell is long and thin to carry signals around the body.
7. A muscle cell can shorten to make you move.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8–13 of 13:
8. Plants have specialised cells too.
9. A root hair cell has a long hair to take in water from the soil.
10. Xylem cells form hollow tubes that carry water up the plant.
11. Phloem cells carry sugar from the leaves to the rest of the plant.
12. As a cell grows, it changes to become specialised.
13. This change is called differentiation.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Specialised cells and differentiation. Say it in your own words, then check understanding with a quick question: ask a pupil from the pre-teach group first, since they met these words and ideas before the lesson. Pupils try to recall before you re-explain.
A specialised cell is one that is adapted to carry out a particular function. Its shape, its size and the organelles it contains all suit the job it does. A cell that needs a lot of energy has many mitochondria; a cell that makes a lot of protein has many ribosomes; a cell that absorbs things has a large surface area.
Cells become specialised through a process called differentiation. A young, unspecialised cell develops the structures it needs for its job and switches off the ones it does not. In animals, most cells differentiate early, as the embryo develops, and once specialised they usually stay that way: a mature nerve cell cannot turn into a muscle cell. In animals, cell division in adults is mostly for repair and replacement.
Plants are different. Many plant cells keep the ability to differentiate all through the plant's life, which is why a cutting from a stem can grow new roots.
Tip: Specialised = adapted to one job. Differentiation = the process of becoming specialised.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Specialised animal cells. Say it in your own words, then check understanding with a quick question: ask a pupil from the pre-teach group first, since they met these words and ideas before the lesson. Pupils try to recall before you re-explain.
A sperm cell's job is to reach and fertilise an egg cell. It has a long tail to swim, many mitochondria in the middle section to release the energy for swimming, a nucleus carrying the father's genetic information, and a tip (the acrosome) containing enzymes that digest a way into the egg. The egg cell is large and contains a food store in its cytoplasm for the new cell that forms after fertilisation.
A nerve cell, or neurone, carries electrical impulses from one part of the body to another. It is very long, so one cell can carry a signal a long way, it has branched connections at each end to link with other nerve cells, and a fatty layer called the myelin sheath insulates it so the impulse travels faster. A muscle cell contracts to move the body. It contains special protein filaments that slide over each other to shorten the cell, many mitochondria for the energy this needs, and a store of glycogen that can be broken down to glucose for respiration.
Two more examples are often taught. A red blood cell carries oxygen: it is packed with haemoglobin, which binds to oxygen, it has no nucleus so there is more room for haemoglobin, and its flattened shape gives a large surface area for oxygen to pass through. Ciliated cells line the airways; the tiny hairs on their surface, the cilia, sweep mucus with trapped dust and bacteria up and out of the lungs.
Tip: Every adaptation sentence has three parts: the feature, what it does, and the job it helps with. Tail → swims → reaches the egg.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Specialised plant cells. Say it in your own words, then check understanding with a quick question: ask a pupil from the pre-teach group first, since they met these words and ideas before the lesson. Pupils try to recall before you re-explain.
A root hair cell takes in water and dissolved mineral ions from the soil. Its long, thin hair pushes between soil particles and gives the cell a large surface area, its cell wall is thin so substances have a short distance to cross, and it has many mitochondria to release the energy needed to absorb mineral ions by active transport. Its large permanent vacuole helps keep water moving in by osmosis. Root hair cells have no chloroplasts: there is no light underground.
Xylem cells carry water and mineral ions from the roots up to the leaves. They join end to end to form hollow tubes; the cells are dead, with no cytoplasm, so water flows freely, and their walls are strengthened with rings or spirals of a tough substance called lignin so the tubes do not collapse. Phloem cells carry dissolved sugars made in the leaves to every part of the plant, up or down. Their end walls are perforated like a sieve (sieve plates) so the sugary solution flows through, and each is supported by a companion cell that provides energy.
A palisade cell is found in the upper part of a leaf. It is tall, packed with chloroplasts and arranged near the top surface where the light is strongest, so it carries out most of the leaf's photosynthesis.
Tip: Xylem: water, up, dead cells, lignin. Phloem: sugar, both ways, living cells, sieve plates.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Writing an 'explain how it is adapted' answer. Say it in your own words, then check understanding with a quick question: ask a pupil from the pre-teach group first, since they met these words and ideas before the lesson. Pupils try to recall before you re-explain.
Exam questions ask you to explain how a cell is adapted to its function. Naming a feature earns little on its own; the mark comes from linking the feature to what it does and to the job. Use the pattern: the cell has X, which does Y, so that it can Z.
Pick the adaptations that are specific to that cell. 'It has a nucleus' is true of almost every cell and earns nothing. 'It has many mitochondria to release energy for the tail to beat' is specific to the sperm cell and earns the mark.
Worked example — model it step by step, thinking aloud: A sperm cell has a tail, many mitochondria and an acrosome. Explain how two of these features suit the cell to its function. (1) Choose two features and state what each one does. (2) The tail beats, which pushes the cell along, so it can swim to the egg. (3) The many mitochondria release energy by respiration, so there is enough energy for the tail to keep beating. (4) Each sentence links feature → what it does → the job. Answer: The tail beats to swim towards the egg; the many mitochondria release the energy that swimming needs..
Tip: Feature → what it does → so that. Three links, one mark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Writing an 'explain how it is adapted' answer. Say it in your own words, then check understanding with a quick question: ask a pupil from the pre-teach group first, since they met these words and ideas before the lesson. Pupils try to recall before you re-explain.
Exam questions ask you to explain how a cell is adapted to its function. Naming a feature earns little on its own; the mark comes from linking the feature to what it does and to the job. Use the pattern: the cell has X, which does Y, so that it can Z.
Pick the adaptations that are specific to that cell. 'It has a nucleus' is true of almost every cell and earns nothing. 'It has many mitochondria to release energy for the tail to beat' is specific to the sperm cell and earns the mark.
Worked example — model it step by step, thinking aloud: A sperm cell has a tail, many mitochondria and an acrosome. Explain how two of these features suit the cell to its function. (1) Choose two features and state what each one does. (2) The tail beats, which pushes the cell along, so it can swim to the egg. (3) The many mitochondria release energy by respiration, so there is enough energy for the tail to keep beating. (4) Each sentence links feature → what it does → the job. Answer: The tail beats to swim towards the egg; the many mitochondria release the energy that swimming needs..
Tip: Feature → what it does → so that. Three links, one mark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Cell and adaptation.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specialised cell to one of its adaptations.
Support — work through the steps with the group: (1) Start with the job: what does each cell do? Carry signals, carry oxygen, absorb water, carry water, photosynthesise. (2) Match the job to the feature that helps it: signals need length; oxygen needs haemoglobin; absorbing needs surface area. (3) Carrying water up needs a strong hollow tube; photosynthesis needs chloroplasts and light.
Parallel worked example for Support (model it, do not give the task answer): Match: sperm cell; muscle cell; ciliated cell — to: protein filaments that slide to contract; tiny hairs that sweep mucus; a tail for swimming. Sperm cell = tail for swimming.; Muscle cell = filaments that slide to contract.; Ciliated cell = hairs that sweep mucus.. Answer: sperm → tail; muscle → sliding filaments; ciliated → hairs that sweep mucus.
Core — reveal the hint only on request: Think of each cell's job first, then ask which feature makes that job possible.
Stretch — no help; when finished: Both the root hair cell and the red blood cell are adapted for a large surface area. Explain what each one is absorbing and why surface area matters for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Cell and adaptation.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specialised cell to one of its adaptations.
Support — work through the steps with the group: (1) Start with the job: what does each cell do? Carry signals, carry oxygen, absorb water, carry water, photosynthesise. (2) Match the job to the feature that helps it: signals need length; oxygen needs haemoglobin; absorbing needs surface area. (3) Carrying water up needs a strong hollow tube; photosynthesis needs chloroplasts and light.
Parallel worked example for Support (model it, do not give the task answer): Match: sperm cell; muscle cell; ciliated cell — to: protein filaments that slide to contract; tiny hairs that sweep mucus; a tail for swimming. Sperm cell = tail for swimming.; Muscle cell = filaments that slide to contract.; Ciliated cell = hairs that sweep mucus.. Answer: sperm → tail; muscle → sliding filaments; ciliated → hairs that sweep mucus.
Core — reveal the hint only on request: Think of each cell's job first, then ask which feature makes that job possible.
Stretch — no help; when finished: Both the root hair cell and the red blood cell are adapted for a large surface area. Explain what each one is absorbing and why surface area matters for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Reading the mitochondria.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 sperm cell has many mitochondria. What does this tell you about its job?
Support — work through the steps with the group: (1) Remember what mitochondria do: aerobic respiration, which releases energy. (2) More of an organelle means more of its job is needed. (3) So many mitochondria means the cell needs a lot of energy.
Parallel worked example for Support (model it, do not give the task answer): A cell has many ribosomes. What does this tell you about its job? Ribosomes make proteins.; Many ribosomes means a lot of protein is being made.. Answer: The cell makes a lot of protein, for example a cell that produces enzymes..
Core — reveal the hint only on request: What happens inside a mitochondrion? Then ask: what does more of that mean?
Stretch — no help; when finished: For the sperm cell, the muscle cell and the root hair cell, say what each uses its energy for. Which one uses it for active transport?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Reading the mitochondria.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 sperm cell has many mitochondria. What does this tell you about its job?
Support — work through the steps with the group: (1) Remember what mitochondria do: aerobic respiration, which releases energy. (2) More of an organelle means more of its job is needed. (3) So many mitochondria means the cell needs a lot of energy.
Parallel worked example for Support (model it, do not give the task answer): A cell has many ribosomes. What does this tell you about its job? Ribosomes make proteins.; Many ribosomes means a lot of protein is being made.. Answer: The cell makes a lot of protein, for example a cell that produces enzymes..
Core — reveal the hint only on request: What happens inside a mitochondrion? Then ask: what does more of that mean?
Stretch — no help; when finished: For the sperm cell, the muscle cell and the root hair cell, say what each uses its energy for. Which one uses it for active transport?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What is a specialised cell?
Answer: D   a cell with adaptations that suit it to a particular job. A specialised cell is adapted, in shape, size and organelles, to carry out one particular function.
Source of this question: gate item 1 re-asked (options rotated) — this chapter has no third quick-check module.
The ebook also holds task 3, "Explain the root hair cell",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Cell and adaptation. Reveal the answer; pupils mark their own work in a different colour, then read the "why" together. Same destination for every lane, so one answer serves the whole class.
Answer: nerve cell  →  E  very long, with branched connections at each end; red blood cell  →  B  no nucleus, leaving more room for haemoglobin; root hair cell  →  A  long hair gives a large surface area for absorbing water; xylem cell  →  C  hollow tube strengthened with lignin; palisade cell  →  D  packed with chloroplasts, near the top of the leaf
Why: Nerve = long with connections; red blood cell = no nucleus, more haemoglobin; root hair = large surface area; xylem = lignin-strengthened hollow tube; palisade = chloroplasts near the light.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Reading the mitochondria. Reveal the answer; pupils mark their own work in a different colour, then read the "why" together. Same destination for every lane, so one answer serves the whole class.
Answer: A   It needs a lot of energy, transferred by respiration
Why: Mitochondria release energy by respiration; many of them means the cell's job needs a lot of energy.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D   a cell with adaptations that suit it to a particular job
Why: A specialised cell is adapted, in shape, size and organelles, to carry out one particular function.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C7DBDA"/>
          </a:solidFill>
          <a:ln w="12700">
            <a:solidFill>
              <a:srgbClr val="C7DBDA"/>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Biology (Combined Science) · Year 10 · Cell Biology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C7DBDA"/>
          </a:solidFill>
          <a:ln w="12700">
            <a:solidFill>
              <a:srgbClr val="C7DBDA"/>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Biology (Combined Science) · Year 10 · Cell Biology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1F6F6A"/>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CBDEDD"/>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1F6F6A"/>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4</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1F6F6A"/>
                </a:solidFill>
                <a:latin typeface="Calibri" pitchFamily="34" charset="0"/>
                <a:ea typeface="Calibri" pitchFamily="34" charset="-122"/>
                <a:cs typeface="Calibri" pitchFamily="34" charset="-120"/>
              </a:rPr>
              <a:t>Biology (Combined Science)</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Year 10 · Chapter 4/6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Cell Biology · AQA 8464</a:t>
            </a:r>
            <a:endParaRPr lang="en-US" sz="1800" dirty="0"/>
          </a:p>
        </p:txBody>
      </p:sp>
      <p:sp>
        <p:nvSpPr>
          <p:cNvPr id="10" name="deck-title"/>
          <p:cNvSpPr txBox="1"/>
          <p:nvPr/>
        </p:nvSpPr>
        <p:spPr>
          <a:xfrm>
            <a:off x="548640" y="2219198"/>
            <a:ext cx="5287975" cy="1447800"/>
          </a:xfrm>
          <a:prstGeom prst="rect">
            <a:avLst/>
          </a:prstGeom>
          <a:noFill/>
          <a:ln/>
        </p:spPr>
        <p:txBody>
          <a:bodyPr wrap="square" lIns="63500" tIns="63500" rIns="63500" bIns="63500" rtlCol="0" anchor="t"/>
          <a:lstStyle/>
          <a:p>
            <a:pPr algn="l" indent="0" marL="0">
              <a:buNone/>
            </a:pPr>
            <a:r>
              <a:rPr lang="en-US" sz="4000" b="1" dirty="0">
                <a:solidFill>
                  <a:srgbClr val="1E2229"/>
                </a:solidFill>
                <a:latin typeface="Cambria" pitchFamily="34" charset="0"/>
                <a:ea typeface="Cambria" pitchFamily="34" charset="-122"/>
                <a:cs typeface="Cambria" pitchFamily="34" charset="-120"/>
              </a:rPr>
              <a:t>Specialised cells in animals and plants</a:t>
            </a:r>
            <a:endParaRPr lang="en-US" sz="4000" dirty="0"/>
          </a:p>
        </p:txBody>
      </p:sp>
      <p:sp>
        <p:nvSpPr>
          <p:cNvPr id="11" name="lessons-card"/>
          <p:cNvSpPr/>
          <p:nvPr/>
        </p:nvSpPr>
        <p:spPr>
          <a:xfrm>
            <a:off x="548640" y="3895598"/>
            <a:ext cx="5287975" cy="1328420"/>
          </a:xfrm>
          <a:prstGeom prst="roundRect">
            <a:avLst>
              <a:gd name="adj" fmla="val 5507"/>
            </a:avLst>
          </a:prstGeom>
          <a:solidFill>
            <a:srgbClr val="E2ECEC"/>
          </a:solidFill>
          <a:ln/>
        </p:spPr>
      </p:sp>
      <p:sp>
        <p:nvSpPr>
          <p:cNvPr id="12" name="lessons"/>
          <p:cNvSpPr txBox="1"/>
          <p:nvPr/>
        </p:nvSpPr>
        <p:spPr>
          <a:xfrm>
            <a:off x="685800" y="3987038"/>
            <a:ext cx="5013655" cy="114554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1F6F6A"/>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4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Specialised animal cells</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5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Specialisation in plant cells</a:t>
            </a:r>
            <a:endParaRPr lang="en-US" sz="2000" dirty="0"/>
          </a:p>
        </p:txBody>
      </p:sp>
      <p:sp>
        <p:nvSpPr>
          <p:cNvPr id="13" name="plate-frame"/>
          <p:cNvSpPr/>
          <p:nvPr/>
        </p:nvSpPr>
        <p:spPr>
          <a:xfrm>
            <a:off x="6248095" y="411480"/>
            <a:ext cx="5394960" cy="3130677"/>
          </a:xfrm>
          <a:prstGeom prst="rect">
            <a:avLst/>
          </a:prstGeom>
          <a:solidFill>
            <a:srgbClr val="F0E6D2"/>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Biology (Combined Science), Year 10">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E2ECEC"/>
          </a:solidFill>
          <a:ln w="12700">
            <a:solidFill>
              <a:srgbClr val="9FC1BF"/>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1F6F6A"/>
                </a:solidFill>
                <a:latin typeface="Calibri" pitchFamily="34" charset="0"/>
                <a:ea typeface="Calibri" pitchFamily="34" charset="-122"/>
                <a:cs typeface="Calibri" pitchFamily="34" charset="-120"/>
              </a:rPr>
              <a:t>Big question</a:t>
            </a:r>
            <a:endParaRPr lang="en-US" sz="1800" dirty="0"/>
          </a:p>
          <a:p>
            <a:pPr algn="l" indent="0" marL="0">
              <a:buNone/>
            </a:pPr>
            <a:r>
              <a:rPr lang="en-US" sz="2400" i="1" dirty="0">
                <a:solidFill>
                  <a:srgbClr val="1E2229"/>
                </a:solidFill>
                <a:latin typeface="Cambria" pitchFamily="34" charset="0"/>
                <a:ea typeface="Cambria" pitchFamily="34" charset="-122"/>
                <a:cs typeface="Cambria" pitchFamily="34" charset="-120"/>
              </a:rPr>
              <a:t>What is a cell made of, and how does it get what it needs?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E9F1F0"/>
          </a:solidFill>
          <a:ln w="12700">
            <a:solidFill>
              <a:srgbClr val="AAC8C6"/>
            </a:solidFill>
            <a:prstDash val="solid"/>
          </a:ln>
        </p:spPr>
      </p:sp>
      <p:sp>
        <p:nvSpPr>
          <p:cNvPr id="8" name="card-hex"/>
          <p:cNvSpPr/>
          <p:nvPr/>
        </p:nvSpPr>
        <p:spPr>
          <a:xfrm>
            <a:off x="731520" y="1572768"/>
            <a:ext cx="640080" cy="554309"/>
          </a:xfrm>
          <a:prstGeom prst="hexagon">
            <a:avLst/>
          </a:prstGeom>
          <a:solidFill>
            <a:srgbClr val="1F6F6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000" b="1" dirty="0">
                <a:solidFill>
                  <a:srgbClr val="1E2229"/>
                </a:solidFill>
                <a:latin typeface="Calibri" pitchFamily="34" charset="0"/>
                <a:ea typeface="Calibri" pitchFamily="34" charset="-122"/>
                <a:cs typeface="Calibri" pitchFamily="34" charset="-120"/>
              </a:rPr>
              <a:t>What is a specialised cell?</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a cell with adaptations that suit it to a particular job</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a cell that has no nucleus</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a cell that is larger than other cells</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a cell found only in plants</a:t>
            </a:r>
            <a:endParaRPr lang="en-US" sz="2000" dirty="0"/>
          </a:p>
        </p:txBody>
      </p:sp>
      <p:sp>
        <p:nvSpPr>
          <p:cNvPr id="12" name="card"/>
          <p:cNvSpPr/>
          <p:nvPr/>
        </p:nvSpPr>
        <p:spPr>
          <a:xfrm>
            <a:off x="4338218" y="1389888"/>
            <a:ext cx="3515258" cy="4754880"/>
          </a:xfrm>
          <a:prstGeom prst="roundRect">
            <a:avLst>
              <a:gd name="adj" fmla="val 1561"/>
            </a:avLst>
          </a:prstGeom>
          <a:solidFill>
            <a:srgbClr val="E9F1F0"/>
          </a:solidFill>
          <a:ln w="12700">
            <a:solidFill>
              <a:srgbClr val="AAC8C6"/>
            </a:solidFill>
            <a:prstDash val="solid"/>
          </a:ln>
        </p:spPr>
      </p:sp>
      <p:sp>
        <p:nvSpPr>
          <p:cNvPr id="13" name="card-hex"/>
          <p:cNvSpPr/>
          <p:nvPr/>
        </p:nvSpPr>
        <p:spPr>
          <a:xfrm>
            <a:off x="4521098" y="1572768"/>
            <a:ext cx="640080" cy="554309"/>
          </a:xfrm>
          <a:prstGeom prst="hexagon">
            <a:avLst/>
          </a:prstGeom>
          <a:solidFill>
            <a:srgbClr val="1F6F6A"/>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Fill the gap</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A sperm cell has a ___ so that it can swim to the egg.</a:t>
            </a:r>
            <a:endParaRPr lang="en-US" sz="2400" dirty="0"/>
          </a:p>
          <a:p>
            <a:pPr algn="l" indent="0" marL="0">
              <a:buNone/>
            </a:pPr>
            <a:r>
              <a:rPr lang="en-US" sz="2400" b="1" dirty="0">
                <a:solidFill>
                  <a:srgbClr val="1F6F6A"/>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tail  ·  cilia  ·  wall</a:t>
            </a:r>
            <a:endParaRPr lang="en-US" sz="2400" dirty="0"/>
          </a:p>
        </p:txBody>
      </p:sp>
      <p:sp>
        <p:nvSpPr>
          <p:cNvPr id="17" name="card"/>
          <p:cNvSpPr/>
          <p:nvPr/>
        </p:nvSpPr>
        <p:spPr>
          <a:xfrm>
            <a:off x="8127797" y="1389888"/>
            <a:ext cx="3515258" cy="4754880"/>
          </a:xfrm>
          <a:prstGeom prst="roundRect">
            <a:avLst>
              <a:gd name="adj" fmla="val 1561"/>
            </a:avLst>
          </a:prstGeom>
          <a:solidFill>
            <a:srgbClr val="E9F1F0"/>
          </a:solidFill>
          <a:ln w="12700">
            <a:solidFill>
              <a:srgbClr val="AAC8C6"/>
            </a:solidFill>
            <a:prstDash val="solid"/>
          </a:ln>
        </p:spPr>
      </p:sp>
      <p:sp>
        <p:nvSpPr>
          <p:cNvPr id="18" name="card-hex"/>
          <p:cNvSpPr/>
          <p:nvPr/>
        </p:nvSpPr>
        <p:spPr>
          <a:xfrm>
            <a:off x="8310677" y="1572768"/>
            <a:ext cx="640080" cy="554309"/>
          </a:xfrm>
          <a:prstGeom prst="hexagon">
            <a:avLst/>
          </a:prstGeom>
          <a:solidFill>
            <a:srgbClr val="1F6F6A"/>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Choose one</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1E2229"/>
                </a:solidFill>
                <a:latin typeface="Calibri" pitchFamily="34" charset="0"/>
                <a:ea typeface="Calibri" pitchFamily="34" charset="-122"/>
                <a:cs typeface="Calibri" pitchFamily="34" charset="-120"/>
              </a:rPr>
              <a:t>What do xylem cells carry?</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water and dissolved mineral ions from the roots to the leaves</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dissolved sugars from the leaves to the rest of the plant</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oxygen from the leaves to the roots</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electrical impulses along the stem</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E9F1F0"/>
          </a:solidFill>
          <a:ln w="12700">
            <a:solidFill>
              <a:srgbClr val="AAC8C6"/>
            </a:solidFill>
            <a:prstDash val="solid"/>
          </a:ln>
        </p:spPr>
      </p:sp>
      <p:sp>
        <p:nvSpPr>
          <p:cNvPr id="8" name="card-hex"/>
          <p:cNvSpPr/>
          <p:nvPr/>
        </p:nvSpPr>
        <p:spPr>
          <a:xfrm>
            <a:off x="731520" y="1572768"/>
            <a:ext cx="640080" cy="554309"/>
          </a:xfrm>
          <a:prstGeom prst="hexagon">
            <a:avLst/>
          </a:prstGeom>
          <a:solidFill>
            <a:srgbClr val="1F6F6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1295908"/>
          </a:xfrm>
          <a:prstGeom prst="roundRect">
            <a:avLst>
              <a:gd name="adj" fmla="val 8467"/>
            </a:avLst>
          </a:prstGeom>
          <a:solidFill>
            <a:srgbClr val="EBDDC4"/>
          </a:solidFill>
          <a:ln w="19050">
            <a:solidFill>
              <a:srgbClr val="B8862B"/>
            </a:solidFill>
            <a:prstDash val="solid"/>
          </a:ln>
        </p:spPr>
      </p:sp>
      <p:sp>
        <p:nvSpPr>
          <p:cNvPr id="12" name="answer"/>
          <p:cNvSpPr txBox="1"/>
          <p:nvPr/>
        </p:nvSpPr>
        <p:spPr>
          <a:xfrm>
            <a:off x="822960" y="2428829"/>
            <a:ext cx="2966618" cy="1149604"/>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   a cell with adaptations that suit it to a particular job</a:t>
            </a:r>
            <a:endParaRPr lang="en-US" sz="2200" dirty="0"/>
          </a:p>
        </p:txBody>
      </p:sp>
      <p:sp>
        <p:nvSpPr>
          <p:cNvPr id="13" name="card-body"/>
          <p:cNvSpPr txBox="1"/>
          <p:nvPr/>
        </p:nvSpPr>
        <p:spPr>
          <a:xfrm>
            <a:off x="731520" y="3834465"/>
            <a:ext cx="3149498" cy="2173143"/>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What is a specialised cell?</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A specialised cell is adapted, in shape, size and organelles, to carry out one particular function.</a:t>
            </a:r>
            <a:endParaRPr lang="en-US" sz="2000" dirty="0"/>
          </a:p>
        </p:txBody>
      </p:sp>
      <p:sp>
        <p:nvSpPr>
          <p:cNvPr id="14" name="card"/>
          <p:cNvSpPr/>
          <p:nvPr/>
        </p:nvSpPr>
        <p:spPr>
          <a:xfrm>
            <a:off x="4338218" y="1389888"/>
            <a:ext cx="3515258" cy="4754880"/>
          </a:xfrm>
          <a:prstGeom prst="roundRect">
            <a:avLst>
              <a:gd name="adj" fmla="val 1561"/>
            </a:avLst>
          </a:prstGeom>
          <a:solidFill>
            <a:srgbClr val="E9F1F0"/>
          </a:solidFill>
          <a:ln w="12700">
            <a:solidFill>
              <a:srgbClr val="AAC8C6"/>
            </a:solidFill>
            <a:prstDash val="solid"/>
          </a:ln>
        </p:spPr>
      </p:sp>
      <p:sp>
        <p:nvSpPr>
          <p:cNvPr id="15" name="card-hex"/>
          <p:cNvSpPr/>
          <p:nvPr/>
        </p:nvSpPr>
        <p:spPr>
          <a:xfrm>
            <a:off x="4521098" y="1572768"/>
            <a:ext cx="640080" cy="554309"/>
          </a:xfrm>
          <a:prstGeom prst="hexagon">
            <a:avLst/>
          </a:prstGeom>
          <a:solidFill>
            <a:srgbClr val="1F6F6A"/>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BDDC4"/>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tail</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A sperm cell has a ___ so that it can swim to the egg.</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The sperm's long tail beats to move the cell towards the egg; its mitochondria release the energy for this.</a:t>
            </a:r>
            <a:endParaRPr lang="en-US" sz="2000" dirty="0"/>
          </a:p>
        </p:txBody>
      </p:sp>
      <p:sp>
        <p:nvSpPr>
          <p:cNvPr id="21" name="card"/>
          <p:cNvSpPr/>
          <p:nvPr/>
        </p:nvSpPr>
        <p:spPr>
          <a:xfrm>
            <a:off x="8127797" y="1389888"/>
            <a:ext cx="3515258" cy="4754880"/>
          </a:xfrm>
          <a:prstGeom prst="roundRect">
            <a:avLst>
              <a:gd name="adj" fmla="val 1561"/>
            </a:avLst>
          </a:prstGeom>
          <a:solidFill>
            <a:srgbClr val="E9F1F0"/>
          </a:solidFill>
          <a:ln w="12700">
            <a:solidFill>
              <a:srgbClr val="AAC8C6"/>
            </a:solidFill>
            <a:prstDash val="solid"/>
          </a:ln>
        </p:spPr>
      </p:sp>
      <p:sp>
        <p:nvSpPr>
          <p:cNvPr id="22" name="card-hex"/>
          <p:cNvSpPr/>
          <p:nvPr/>
        </p:nvSpPr>
        <p:spPr>
          <a:xfrm>
            <a:off x="8310677" y="1572768"/>
            <a:ext cx="640080" cy="554309"/>
          </a:xfrm>
          <a:prstGeom prst="hexagon">
            <a:avLst/>
          </a:prstGeom>
          <a:solidFill>
            <a:srgbClr val="1F6F6A"/>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1295908"/>
          </a:xfrm>
          <a:prstGeom prst="roundRect">
            <a:avLst>
              <a:gd name="adj" fmla="val 8467"/>
            </a:avLst>
          </a:prstGeom>
          <a:solidFill>
            <a:srgbClr val="EBDDC4"/>
          </a:solidFill>
          <a:ln w="19050">
            <a:solidFill>
              <a:srgbClr val="B8862B"/>
            </a:solidFill>
            <a:prstDash val="solid"/>
          </a:ln>
        </p:spPr>
      </p:sp>
      <p:sp>
        <p:nvSpPr>
          <p:cNvPr id="26" name="answer"/>
          <p:cNvSpPr txBox="1"/>
          <p:nvPr/>
        </p:nvSpPr>
        <p:spPr>
          <a:xfrm>
            <a:off x="8402117" y="2428829"/>
            <a:ext cx="2966618" cy="1149604"/>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   water and dissolved mineral ions from the roots to the leaves</a:t>
            </a:r>
            <a:endParaRPr lang="en-US" sz="2200" dirty="0"/>
          </a:p>
        </p:txBody>
      </p:sp>
      <p:sp>
        <p:nvSpPr>
          <p:cNvPr id="27" name="card-body"/>
          <p:cNvSpPr txBox="1"/>
          <p:nvPr/>
        </p:nvSpPr>
        <p:spPr>
          <a:xfrm>
            <a:off x="8310677" y="3834465"/>
            <a:ext cx="3149498" cy="2173143"/>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What do xylem cells carry?</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Xylem forms hollow tubes of dead cells, strengthened with lignin, that carry water and mineral ions upwards from the roots.</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E6EFEF"/>
          </a:solidFill>
          <a:ln w="12700">
            <a:solidFill>
              <a:srgbClr val="9FC1BF"/>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1F6F6A"/>
                </a:solidFill>
                <a:latin typeface="Cambria" pitchFamily="34" charset="0"/>
                <a:ea typeface="Cambria" pitchFamily="34" charset="-122"/>
                <a:cs typeface="Cambria" pitchFamily="34" charset="-120"/>
              </a:rPr>
              <a:t>specialised</a:t>
            </a:r>
            <a:endParaRPr lang="en-US" sz="2600" dirty="0"/>
          </a:p>
        </p:txBody>
      </p:sp>
      <p:sp>
        <p:nvSpPr>
          <p:cNvPr id="11" name="word-rule"/>
          <p:cNvSpPr/>
          <p:nvPr/>
        </p:nvSpPr>
        <p:spPr>
          <a:xfrm>
            <a:off x="731520" y="2129028"/>
            <a:ext cx="3149498" cy="0"/>
          </a:xfrm>
          <a:prstGeom prst="line">
            <a:avLst/>
          </a:prstGeom>
          <a:ln w="12700">
            <a:solidFill>
              <a:srgbClr val="9FC1BF"/>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built to do one particular job</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 red blood cell is specialised to carry oxygen.</a:t>
            </a:r>
            <a:endParaRPr lang="en-US" sz="2200" dirty="0"/>
          </a:p>
        </p:txBody>
      </p:sp>
      <p:sp>
        <p:nvSpPr>
          <p:cNvPr id="13" name="word-card"/>
          <p:cNvSpPr/>
          <p:nvPr/>
        </p:nvSpPr>
        <p:spPr>
          <a:xfrm>
            <a:off x="4338218" y="1389888"/>
            <a:ext cx="3515258" cy="4754880"/>
          </a:xfrm>
          <a:prstGeom prst="roundRect">
            <a:avLst>
              <a:gd name="adj" fmla="val 1561"/>
            </a:avLst>
          </a:prstGeom>
          <a:solidFill>
            <a:srgbClr val="E6EFEF"/>
          </a:solidFill>
          <a:ln w="12700">
            <a:solidFill>
              <a:srgbClr val="9FC1BF"/>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1F6F6A"/>
                </a:solidFill>
                <a:latin typeface="Cambria" pitchFamily="34" charset="0"/>
                <a:ea typeface="Cambria" pitchFamily="34" charset="-122"/>
                <a:cs typeface="Cambria" pitchFamily="34" charset="-120"/>
              </a:rPr>
              <a:t>adapted</a:t>
            </a:r>
            <a:endParaRPr lang="en-US" sz="2600" dirty="0"/>
          </a:p>
        </p:txBody>
      </p:sp>
      <p:sp>
        <p:nvSpPr>
          <p:cNvPr id="17" name="word-rule"/>
          <p:cNvSpPr/>
          <p:nvPr/>
        </p:nvSpPr>
        <p:spPr>
          <a:xfrm>
            <a:off x="4521098" y="2129028"/>
            <a:ext cx="3149498" cy="0"/>
          </a:xfrm>
          <a:prstGeom prst="line">
            <a:avLst/>
          </a:prstGeom>
          <a:ln w="12700">
            <a:solidFill>
              <a:srgbClr val="9FC1BF"/>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changed so that it suits its job</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root hair cell is adapted to take in water.</a:t>
            </a:r>
            <a:endParaRPr lang="en-US" sz="2200" dirty="0"/>
          </a:p>
        </p:txBody>
      </p:sp>
      <p:sp>
        <p:nvSpPr>
          <p:cNvPr id="19" name="word-card"/>
          <p:cNvSpPr/>
          <p:nvPr/>
        </p:nvSpPr>
        <p:spPr>
          <a:xfrm>
            <a:off x="8127797" y="1389888"/>
            <a:ext cx="3515258" cy="4754880"/>
          </a:xfrm>
          <a:prstGeom prst="roundRect">
            <a:avLst>
              <a:gd name="adj" fmla="val 1561"/>
            </a:avLst>
          </a:prstGeom>
          <a:solidFill>
            <a:srgbClr val="E6EFEF"/>
          </a:solidFill>
          <a:ln w="12700">
            <a:solidFill>
              <a:srgbClr val="9FC1BF"/>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1F6F6A"/>
                </a:solidFill>
                <a:latin typeface="Cambria" pitchFamily="34" charset="0"/>
                <a:ea typeface="Cambria" pitchFamily="34" charset="-122"/>
                <a:cs typeface="Cambria" pitchFamily="34" charset="-120"/>
              </a:rPr>
              <a:t>differentiation</a:t>
            </a:r>
            <a:endParaRPr lang="en-US" sz="2600" dirty="0"/>
          </a:p>
        </p:txBody>
      </p:sp>
      <p:sp>
        <p:nvSpPr>
          <p:cNvPr id="23" name="word-rule"/>
          <p:cNvSpPr/>
          <p:nvPr/>
        </p:nvSpPr>
        <p:spPr>
          <a:xfrm>
            <a:off x="8310677" y="2129028"/>
            <a:ext cx="3149498" cy="0"/>
          </a:xfrm>
          <a:prstGeom prst="line">
            <a:avLst/>
          </a:prstGeom>
          <a:ln w="12700">
            <a:solidFill>
              <a:srgbClr val="9FC1BF"/>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way a cell changes to become specialised</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Differentiation turns a young cell into a nerve cell or a muscle cell.</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E6EFEF"/>
          </a:solidFill>
          <a:ln w="12700">
            <a:solidFill>
              <a:srgbClr val="9FC1BF"/>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1F6F6A"/>
                </a:solidFill>
                <a:latin typeface="Cambria" pitchFamily="34" charset="0"/>
                <a:ea typeface="Cambria" pitchFamily="34" charset="-122"/>
                <a:cs typeface="Cambria" pitchFamily="34" charset="-120"/>
              </a:rPr>
              <a:t>nerve cell</a:t>
            </a:r>
            <a:endParaRPr lang="en-US" sz="2600" dirty="0"/>
          </a:p>
        </p:txBody>
      </p:sp>
      <p:sp>
        <p:nvSpPr>
          <p:cNvPr id="11" name="word-rule"/>
          <p:cNvSpPr/>
          <p:nvPr/>
        </p:nvSpPr>
        <p:spPr>
          <a:xfrm>
            <a:off x="731520" y="2129028"/>
            <a:ext cx="3149498" cy="0"/>
          </a:xfrm>
          <a:prstGeom prst="line">
            <a:avLst/>
          </a:prstGeom>
          <a:ln w="12700">
            <a:solidFill>
              <a:srgbClr val="9FC1BF"/>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long cell that carries electrical signals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 nerve cell can run from your spine to your toe.</a:t>
            </a:r>
            <a:endParaRPr lang="en-US" sz="2200" dirty="0"/>
          </a:p>
        </p:txBody>
      </p:sp>
      <p:sp>
        <p:nvSpPr>
          <p:cNvPr id="13" name="word-card"/>
          <p:cNvSpPr/>
          <p:nvPr/>
        </p:nvSpPr>
        <p:spPr>
          <a:xfrm>
            <a:off x="4338218" y="1389888"/>
            <a:ext cx="3515258" cy="4754880"/>
          </a:xfrm>
          <a:prstGeom prst="roundRect">
            <a:avLst>
              <a:gd name="adj" fmla="val 1561"/>
            </a:avLst>
          </a:prstGeom>
          <a:solidFill>
            <a:srgbClr val="E6EFEF"/>
          </a:solidFill>
          <a:ln w="12700">
            <a:solidFill>
              <a:srgbClr val="9FC1BF"/>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1F6F6A"/>
                </a:solidFill>
                <a:latin typeface="Cambria" pitchFamily="34" charset="0"/>
                <a:ea typeface="Cambria" pitchFamily="34" charset="-122"/>
                <a:cs typeface="Cambria" pitchFamily="34" charset="-120"/>
              </a:rPr>
              <a:t>root hair cell</a:t>
            </a:r>
            <a:endParaRPr lang="en-US" sz="2600" dirty="0"/>
          </a:p>
        </p:txBody>
      </p:sp>
      <p:sp>
        <p:nvSpPr>
          <p:cNvPr id="17" name="word-rule"/>
          <p:cNvSpPr/>
          <p:nvPr/>
        </p:nvSpPr>
        <p:spPr>
          <a:xfrm>
            <a:off x="4521098" y="2129028"/>
            <a:ext cx="3149498" cy="0"/>
          </a:xfrm>
          <a:prstGeom prst="line">
            <a:avLst/>
          </a:prstGeom>
          <a:ln w="12700">
            <a:solidFill>
              <a:srgbClr val="9FC1BF"/>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root cell with a long hair that takes in water</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Each root hair cell reaches between the grains of soil.</a:t>
            </a:r>
            <a:endParaRPr lang="en-US" sz="2200" dirty="0"/>
          </a:p>
        </p:txBody>
      </p:sp>
      <p:sp>
        <p:nvSpPr>
          <p:cNvPr id="19" name="word-card"/>
          <p:cNvSpPr/>
          <p:nvPr/>
        </p:nvSpPr>
        <p:spPr>
          <a:xfrm>
            <a:off x="8127797" y="1389888"/>
            <a:ext cx="3515258" cy="4754880"/>
          </a:xfrm>
          <a:prstGeom prst="roundRect">
            <a:avLst>
              <a:gd name="adj" fmla="val 1561"/>
            </a:avLst>
          </a:prstGeom>
          <a:solidFill>
            <a:srgbClr val="E6EFEF"/>
          </a:solidFill>
          <a:ln w="12700">
            <a:solidFill>
              <a:srgbClr val="9FC1BF"/>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1F6F6A"/>
                </a:solidFill>
                <a:latin typeface="Cambria" pitchFamily="34" charset="0"/>
                <a:ea typeface="Cambria" pitchFamily="34" charset="-122"/>
                <a:cs typeface="Cambria" pitchFamily="34" charset="-120"/>
              </a:rPr>
              <a:t>xylem</a:t>
            </a:r>
            <a:endParaRPr lang="en-US" sz="2600" dirty="0"/>
          </a:p>
        </p:txBody>
      </p:sp>
      <p:sp>
        <p:nvSpPr>
          <p:cNvPr id="23" name="word-rule"/>
          <p:cNvSpPr/>
          <p:nvPr/>
        </p:nvSpPr>
        <p:spPr>
          <a:xfrm>
            <a:off x="8310677" y="2129028"/>
            <a:ext cx="3149498" cy="0"/>
          </a:xfrm>
          <a:prstGeom prst="line">
            <a:avLst/>
          </a:prstGeom>
          <a:ln w="12700">
            <a:solidFill>
              <a:srgbClr val="9FC1BF"/>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tubes that carry water up a plant</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Water travels up the stem in the xylem.</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1F6F6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E9F1F0"/>
          </a:solidFill>
          <a:ln w="12700">
            <a:solidFill>
              <a:srgbClr val="B5CFCE"/>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Your body has many kinds of cell.</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Each kind has a special job.</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 </a:t>
            </a:r>
            <a:pPr algn="l" indent="0" marL="0">
              <a:spcAft>
                <a:spcPts val="600"/>
              </a:spcAft>
              <a:buNone/>
            </a:pPr>
            <a:r>
              <a:rPr lang="en-US" sz="2800" b="1" dirty="0">
                <a:solidFill>
                  <a:srgbClr val="1F6F6A"/>
                </a:solidFill>
                <a:latin typeface="Calibri" pitchFamily="34" charset="0"/>
                <a:ea typeface="Calibri" pitchFamily="34" charset="-122"/>
                <a:cs typeface="Calibri" pitchFamily="34" charset="-120"/>
              </a:rPr>
              <a:t>specialised</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cell is shaped and built for its job.</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This is called being </a:t>
            </a:r>
            <a:pPr algn="l" indent="0" marL="0">
              <a:spcAft>
                <a:spcPts val="600"/>
              </a:spcAft>
              <a:buNone/>
            </a:pPr>
            <a:r>
              <a:rPr lang="en-US" sz="2800" b="1" dirty="0">
                <a:solidFill>
                  <a:srgbClr val="1F6F6A"/>
                </a:solidFill>
                <a:latin typeface="Calibri" pitchFamily="34" charset="0"/>
                <a:ea typeface="Calibri" pitchFamily="34" charset="-122"/>
                <a:cs typeface="Calibri" pitchFamily="34" charset="-120"/>
              </a:rPr>
              <a:t>adapted</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 sperm cell has a tail so it can swim to the egg.</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 </a:t>
            </a:r>
            <a:pPr algn="l" indent="0" marL="0">
              <a:spcAft>
                <a:spcPts val="600"/>
              </a:spcAft>
              <a:buNone/>
            </a:pPr>
            <a:r>
              <a:rPr lang="en-US" sz="2800" b="1" dirty="0">
                <a:solidFill>
                  <a:srgbClr val="1F6F6A"/>
                </a:solidFill>
                <a:latin typeface="Calibri" pitchFamily="34" charset="0"/>
                <a:ea typeface="Calibri" pitchFamily="34" charset="-122"/>
                <a:cs typeface="Calibri" pitchFamily="34" charset="-120"/>
              </a:rPr>
              <a:t>nerve cell</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is long and thin to carry signals around the body.</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 muscle cell can shorten to make you move.</a:t>
            </a:r>
            <a:endParaRPr lang="en-US" sz="2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1F6F6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E9F1F0"/>
          </a:solidFill>
          <a:ln w="12700">
            <a:solidFill>
              <a:srgbClr val="B5CFCE"/>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Plants have </a:t>
            </a:r>
            <a:pPr algn="l" indent="0" marL="0">
              <a:spcAft>
                <a:spcPts val="600"/>
              </a:spcAft>
              <a:buNone/>
            </a:pPr>
            <a:r>
              <a:rPr lang="en-US" sz="2800" b="1" dirty="0">
                <a:solidFill>
                  <a:srgbClr val="1F6F6A"/>
                </a:solidFill>
                <a:latin typeface="Calibri" pitchFamily="34" charset="0"/>
                <a:ea typeface="Calibri" pitchFamily="34" charset="-122"/>
                <a:cs typeface="Calibri" pitchFamily="34" charset="-120"/>
              </a:rPr>
              <a:t>specialised</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cells too.</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 </a:t>
            </a:r>
            <a:pPr algn="l" indent="0" marL="0">
              <a:spcAft>
                <a:spcPts val="600"/>
              </a:spcAft>
              <a:buNone/>
            </a:pPr>
            <a:r>
              <a:rPr lang="en-US" sz="2800" b="1" dirty="0">
                <a:solidFill>
                  <a:srgbClr val="1F6F6A"/>
                </a:solidFill>
                <a:latin typeface="Calibri" pitchFamily="34" charset="0"/>
                <a:ea typeface="Calibri" pitchFamily="34" charset="-122"/>
                <a:cs typeface="Calibri" pitchFamily="34" charset="-120"/>
              </a:rPr>
              <a:t>root hair cell</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has a long hair to take in water from the soil.</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800" b="1" dirty="0">
                <a:solidFill>
                  <a:srgbClr val="1F6F6A"/>
                </a:solidFill>
                <a:latin typeface="Calibri" pitchFamily="34" charset="0"/>
                <a:ea typeface="Calibri" pitchFamily="34" charset="-122"/>
                <a:cs typeface="Calibri" pitchFamily="34" charset="-120"/>
              </a:rPr>
              <a:t>Xylem</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cells form hollow tubes that carry water up the plant.</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Phloem cells carry sugar from the leaves to the rest of the plant.</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As a cell grows, it changes to become </a:t>
            </a:r>
            <a:pPr algn="l" indent="0" marL="0">
              <a:spcAft>
                <a:spcPts val="600"/>
              </a:spcAft>
              <a:buNone/>
            </a:pPr>
            <a:r>
              <a:rPr lang="en-US" sz="2800" b="1" dirty="0">
                <a:solidFill>
                  <a:srgbClr val="1F6F6A"/>
                </a:solidFill>
                <a:latin typeface="Calibri" pitchFamily="34" charset="0"/>
                <a:ea typeface="Calibri" pitchFamily="34" charset="-122"/>
                <a:cs typeface="Calibri" pitchFamily="34" charset="-120"/>
              </a:rPr>
              <a:t>specialised</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This change is called </a:t>
            </a:r>
            <a:pPr algn="l" indent="0" marL="0">
              <a:spcAft>
                <a:spcPts val="600"/>
              </a:spcAft>
              <a:buNone/>
            </a:pPr>
            <a:r>
              <a:rPr lang="en-US" sz="2800" b="1" dirty="0">
                <a:solidFill>
                  <a:srgbClr val="1F6F6A"/>
                </a:solidFill>
                <a:latin typeface="Calibri" pitchFamily="34" charset="0"/>
                <a:ea typeface="Calibri" pitchFamily="34" charset="-122"/>
                <a:cs typeface="Calibri" pitchFamily="34" charset="-120"/>
              </a:rPr>
              <a:t>differentiation</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t>
            </a:r>
            <a:endParaRPr lang="en-US" sz="2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Specialised cells and differentiation</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2E9D9"/>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Specialised = adapted to one job. Differentiation = the process of becoming specialised.</a:t>
            </a:r>
            <a:endParaRPr lang="en-US" sz="1800" dirty="0"/>
          </a:p>
        </p:txBody>
      </p:sp>
      <p:sp>
        <p:nvSpPr>
          <p:cNvPr id="11" name="point-card"/>
          <p:cNvSpPr/>
          <p:nvPr/>
        </p:nvSpPr>
        <p:spPr>
          <a:xfrm>
            <a:off x="548640" y="1389888"/>
            <a:ext cx="3515258" cy="3964940"/>
          </a:xfrm>
          <a:prstGeom prst="roundRect">
            <a:avLst>
              <a:gd name="adj" fmla="val 1561"/>
            </a:avLst>
          </a:prstGeom>
          <a:solidFill>
            <a:srgbClr val="E2ECEC"/>
          </a:solidFill>
          <a:ln/>
        </p:spPr>
      </p:sp>
      <p:sp>
        <p:nvSpPr>
          <p:cNvPr id="12" name="point-hex"/>
          <p:cNvSpPr/>
          <p:nvPr/>
        </p:nvSpPr>
        <p:spPr>
          <a:xfrm>
            <a:off x="731520" y="1572768"/>
            <a:ext cx="685800" cy="593903"/>
          </a:xfrm>
          <a:prstGeom prst="hexagon">
            <a:avLst/>
          </a:prstGeom>
          <a:solidFill>
            <a:srgbClr val="1F6F6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86766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A specialised cell is one that is adapted to carry out a particular function.</a:t>
            </a:r>
            <a:endParaRPr lang="en-US" sz="2200" dirty="0"/>
          </a:p>
        </p:txBody>
      </p:sp>
      <p:sp>
        <p:nvSpPr>
          <p:cNvPr id="15" name="point-card"/>
          <p:cNvSpPr/>
          <p:nvPr/>
        </p:nvSpPr>
        <p:spPr>
          <a:xfrm>
            <a:off x="4338218" y="1389888"/>
            <a:ext cx="3515258" cy="3964940"/>
          </a:xfrm>
          <a:prstGeom prst="roundRect">
            <a:avLst>
              <a:gd name="adj" fmla="val 1561"/>
            </a:avLst>
          </a:prstGeom>
          <a:solidFill>
            <a:srgbClr val="F4EDDF"/>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86766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Cells become specialised through a process called differentiation. A young, unspecialised cell develops the structures it needs for its job and switches off the ones it does not.</a:t>
            </a:r>
            <a:endParaRPr lang="en-US" sz="2200" dirty="0"/>
          </a:p>
        </p:txBody>
      </p:sp>
      <p:sp>
        <p:nvSpPr>
          <p:cNvPr id="19" name="point-card"/>
          <p:cNvSpPr/>
          <p:nvPr/>
        </p:nvSpPr>
        <p:spPr>
          <a:xfrm>
            <a:off x="8127797" y="1389888"/>
            <a:ext cx="3515258" cy="3964940"/>
          </a:xfrm>
          <a:prstGeom prst="roundRect">
            <a:avLst>
              <a:gd name="adj" fmla="val 1561"/>
            </a:avLst>
          </a:prstGeom>
          <a:solidFill>
            <a:srgbClr val="E2ECEC"/>
          </a:solidFill>
          <a:ln/>
        </p:spPr>
      </p:sp>
      <p:sp>
        <p:nvSpPr>
          <p:cNvPr id="20" name="point-hex"/>
          <p:cNvSpPr/>
          <p:nvPr/>
        </p:nvSpPr>
        <p:spPr>
          <a:xfrm>
            <a:off x="8310677" y="1572768"/>
            <a:ext cx="685800" cy="593903"/>
          </a:xfrm>
          <a:prstGeom prst="hexagon">
            <a:avLst/>
          </a:prstGeom>
          <a:solidFill>
            <a:srgbClr val="1F6F6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86766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Plants are different. Many plant cells keep the ability to differentiate all through the plant's life, which is why a cutting from a stem can grow new roots.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Specialised animal cells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2E9D9"/>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Every adaptation sentence has three parts: the feature, what it does, and the job it helps with. Tail → swims → reaches the egg.</a:t>
            </a:r>
            <a:endParaRPr lang="en-US" sz="1800" dirty="0"/>
          </a:p>
        </p:txBody>
      </p:sp>
      <p:sp>
        <p:nvSpPr>
          <p:cNvPr id="11" name="bullet-card"/>
          <p:cNvSpPr/>
          <p:nvPr/>
        </p:nvSpPr>
        <p:spPr>
          <a:xfrm>
            <a:off x="548640" y="1389888"/>
            <a:ext cx="11094415" cy="742696"/>
          </a:xfrm>
          <a:prstGeom prst="roundRect">
            <a:avLst>
              <a:gd name="adj" fmla="val 9850"/>
            </a:avLst>
          </a:prstGeom>
          <a:solidFill>
            <a:srgbClr val="E6EFEF"/>
          </a:solidFill>
          <a:ln/>
        </p:spPr>
      </p:sp>
      <p:sp>
        <p:nvSpPr>
          <p:cNvPr id="12" name="bullet-hex"/>
          <p:cNvSpPr/>
          <p:nvPr/>
        </p:nvSpPr>
        <p:spPr>
          <a:xfrm>
            <a:off x="676656" y="1594943"/>
            <a:ext cx="384048" cy="332586"/>
          </a:xfrm>
          <a:prstGeom prst="hexagon">
            <a:avLst/>
          </a:prstGeom>
          <a:solidFill>
            <a:srgbClr val="1F6F6A"/>
          </a:solidFill>
          <a:ln/>
        </p:spPr>
      </p:sp>
      <p:sp>
        <p:nvSpPr>
          <p:cNvPr id="13" name="bullet"/>
          <p:cNvSpPr txBox="1"/>
          <p:nvPr/>
        </p:nvSpPr>
        <p:spPr>
          <a:xfrm>
            <a:off x="1143000" y="1389888"/>
            <a:ext cx="10408615" cy="742696"/>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 sperm cell's job is to reach and fertilise an egg cell.</a:t>
            </a:r>
            <a:endParaRPr lang="en-US" sz="2200" dirty="0"/>
          </a:p>
        </p:txBody>
      </p:sp>
      <p:sp>
        <p:nvSpPr>
          <p:cNvPr id="14" name="bullet-card"/>
          <p:cNvSpPr/>
          <p:nvPr/>
        </p:nvSpPr>
        <p:spPr>
          <a:xfrm>
            <a:off x="548640" y="2278888"/>
            <a:ext cx="11094415" cy="984504"/>
          </a:xfrm>
          <a:prstGeom prst="roundRect">
            <a:avLst>
              <a:gd name="adj" fmla="val 7430"/>
            </a:avLst>
          </a:prstGeom>
          <a:solidFill>
            <a:srgbClr val="E6EFEF"/>
          </a:solidFill>
          <a:ln/>
        </p:spPr>
      </p:sp>
      <p:sp>
        <p:nvSpPr>
          <p:cNvPr id="15" name="bullet-hex"/>
          <p:cNvSpPr/>
          <p:nvPr/>
        </p:nvSpPr>
        <p:spPr>
          <a:xfrm>
            <a:off x="676656" y="2604847"/>
            <a:ext cx="384048" cy="332586"/>
          </a:xfrm>
          <a:prstGeom prst="hexagon">
            <a:avLst/>
          </a:prstGeom>
          <a:solidFill>
            <a:srgbClr val="B8862B"/>
          </a:solidFill>
          <a:ln/>
        </p:spPr>
      </p:sp>
      <p:sp>
        <p:nvSpPr>
          <p:cNvPr id="16" name="bullet"/>
          <p:cNvSpPr txBox="1"/>
          <p:nvPr/>
        </p:nvSpPr>
        <p:spPr>
          <a:xfrm>
            <a:off x="1143000" y="2278888"/>
            <a:ext cx="10408615" cy="984504"/>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 nerve cell, or neurone, carries electrical impulses from one part of the body to another.</a:t>
            </a:r>
            <a:endParaRPr lang="en-US" sz="2200" dirty="0"/>
          </a:p>
        </p:txBody>
      </p:sp>
      <p:sp>
        <p:nvSpPr>
          <p:cNvPr id="17" name="bullet-card"/>
          <p:cNvSpPr/>
          <p:nvPr/>
        </p:nvSpPr>
        <p:spPr>
          <a:xfrm>
            <a:off x="548640" y="3409696"/>
            <a:ext cx="11094415" cy="1666240"/>
          </a:xfrm>
          <a:prstGeom prst="roundRect">
            <a:avLst>
              <a:gd name="adj" fmla="val 4390"/>
            </a:avLst>
          </a:prstGeom>
          <a:solidFill>
            <a:srgbClr val="E6EFEF"/>
          </a:solidFill>
          <a:ln/>
        </p:spPr>
      </p:sp>
      <p:sp>
        <p:nvSpPr>
          <p:cNvPr id="18" name="bullet-hex"/>
          <p:cNvSpPr/>
          <p:nvPr/>
        </p:nvSpPr>
        <p:spPr>
          <a:xfrm>
            <a:off x="676656" y="4076523"/>
            <a:ext cx="384048" cy="332586"/>
          </a:xfrm>
          <a:prstGeom prst="hexagon">
            <a:avLst/>
          </a:prstGeom>
          <a:solidFill>
            <a:srgbClr val="1F6F6A"/>
          </a:solidFill>
          <a:ln/>
        </p:spPr>
      </p:sp>
      <p:sp>
        <p:nvSpPr>
          <p:cNvPr id="19" name="bullet"/>
          <p:cNvSpPr txBox="1"/>
          <p:nvPr/>
        </p:nvSpPr>
        <p:spPr>
          <a:xfrm>
            <a:off x="1143000" y="3409696"/>
            <a:ext cx="10408615" cy="1666240"/>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Two more examples are often taught. A red blood cell carries oxygen: it is packed with haemoglobin, which binds to oxygen, it has no nucleus so there is more room for haemoglobin, and its flattened shape gives a large surface area for oxygen to pass through.</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Specialised plant cells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2E9D9"/>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Xylem: water, up, dead cells, lignin. Phloem: sugar, both ways, living cells, sieve plates.</a:t>
            </a:r>
            <a:endParaRPr lang="en-US" sz="1800" dirty="0"/>
          </a:p>
        </p:txBody>
      </p:sp>
      <p:sp>
        <p:nvSpPr>
          <p:cNvPr id="11" name="point-card"/>
          <p:cNvSpPr/>
          <p:nvPr/>
        </p:nvSpPr>
        <p:spPr>
          <a:xfrm>
            <a:off x="548640" y="1389888"/>
            <a:ext cx="3515258" cy="3964940"/>
          </a:xfrm>
          <a:prstGeom prst="roundRect">
            <a:avLst>
              <a:gd name="adj" fmla="val 1561"/>
            </a:avLst>
          </a:prstGeom>
          <a:solidFill>
            <a:srgbClr val="E2ECEC"/>
          </a:solidFill>
          <a:ln/>
        </p:spPr>
      </p:sp>
      <p:sp>
        <p:nvSpPr>
          <p:cNvPr id="12" name="point-hex"/>
          <p:cNvSpPr/>
          <p:nvPr/>
        </p:nvSpPr>
        <p:spPr>
          <a:xfrm>
            <a:off x="731520" y="1572768"/>
            <a:ext cx="685800" cy="593903"/>
          </a:xfrm>
          <a:prstGeom prst="hexagon">
            <a:avLst/>
          </a:prstGeom>
          <a:solidFill>
            <a:srgbClr val="1F6F6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 root hair cell takes in water and dissolved mineral ions from the soil.</a:t>
            </a:r>
            <a:endParaRPr lang="en-US" sz="2400" dirty="0"/>
          </a:p>
        </p:txBody>
      </p:sp>
      <p:sp>
        <p:nvSpPr>
          <p:cNvPr id="15" name="point-card"/>
          <p:cNvSpPr/>
          <p:nvPr/>
        </p:nvSpPr>
        <p:spPr>
          <a:xfrm>
            <a:off x="4338218" y="1389888"/>
            <a:ext cx="3515258" cy="3964940"/>
          </a:xfrm>
          <a:prstGeom prst="roundRect">
            <a:avLst>
              <a:gd name="adj" fmla="val 1561"/>
            </a:avLst>
          </a:prstGeom>
          <a:solidFill>
            <a:srgbClr val="F4EDDF"/>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Xylem cells carry water and mineral ions from the roots up to the leaves.</a:t>
            </a:r>
            <a:endParaRPr lang="en-US" sz="2400" dirty="0"/>
          </a:p>
        </p:txBody>
      </p:sp>
      <p:sp>
        <p:nvSpPr>
          <p:cNvPr id="19" name="point-card"/>
          <p:cNvSpPr/>
          <p:nvPr/>
        </p:nvSpPr>
        <p:spPr>
          <a:xfrm>
            <a:off x="8127797" y="1389888"/>
            <a:ext cx="3515258" cy="3964940"/>
          </a:xfrm>
          <a:prstGeom prst="roundRect">
            <a:avLst>
              <a:gd name="adj" fmla="val 1561"/>
            </a:avLst>
          </a:prstGeom>
          <a:solidFill>
            <a:srgbClr val="E2ECEC"/>
          </a:solidFill>
          <a:ln/>
        </p:spPr>
      </p:sp>
      <p:sp>
        <p:nvSpPr>
          <p:cNvPr id="20" name="point-hex"/>
          <p:cNvSpPr/>
          <p:nvPr/>
        </p:nvSpPr>
        <p:spPr>
          <a:xfrm>
            <a:off x="8310677" y="1572768"/>
            <a:ext cx="685800" cy="593903"/>
          </a:xfrm>
          <a:prstGeom prst="hexagon">
            <a:avLst/>
          </a:prstGeom>
          <a:solidFill>
            <a:srgbClr val="1F6F6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 palisade cell is found in the upper part of a leaf.</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Writing an 'explain how it is adapted' answer</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2E9D9"/>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Feature → what it does → so that. Three links, one mark each.</a:t>
            </a:r>
            <a:endParaRPr lang="en-US" sz="1800" dirty="0"/>
          </a:p>
        </p:txBody>
      </p:sp>
      <p:sp>
        <p:nvSpPr>
          <p:cNvPr id="11" name="point-card"/>
          <p:cNvSpPr/>
          <p:nvPr/>
        </p:nvSpPr>
        <p:spPr>
          <a:xfrm>
            <a:off x="548640" y="1389888"/>
            <a:ext cx="5410048" cy="3964940"/>
          </a:xfrm>
          <a:prstGeom prst="roundRect">
            <a:avLst>
              <a:gd name="adj" fmla="val 1384"/>
            </a:avLst>
          </a:prstGeom>
          <a:solidFill>
            <a:srgbClr val="E2ECEC"/>
          </a:solidFill>
          <a:ln/>
        </p:spPr>
      </p:sp>
      <p:sp>
        <p:nvSpPr>
          <p:cNvPr id="12" name="point-hex"/>
          <p:cNvSpPr/>
          <p:nvPr/>
        </p:nvSpPr>
        <p:spPr>
          <a:xfrm>
            <a:off x="731520" y="1572768"/>
            <a:ext cx="685800" cy="593903"/>
          </a:xfrm>
          <a:prstGeom prst="hexagon">
            <a:avLst/>
          </a:prstGeom>
          <a:solidFill>
            <a:srgbClr val="1F6F6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504428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Exam questions ask you to explain how a cell is adapted to its function.</a:t>
            </a:r>
            <a:endParaRPr lang="en-US" sz="2400" dirty="0"/>
          </a:p>
        </p:txBody>
      </p:sp>
      <p:sp>
        <p:nvSpPr>
          <p:cNvPr id="15" name="point-card"/>
          <p:cNvSpPr/>
          <p:nvPr/>
        </p:nvSpPr>
        <p:spPr>
          <a:xfrm>
            <a:off x="6233008" y="1389888"/>
            <a:ext cx="5410048" cy="3964940"/>
          </a:xfrm>
          <a:prstGeom prst="roundRect">
            <a:avLst>
              <a:gd name="adj" fmla="val 1384"/>
            </a:avLst>
          </a:prstGeom>
          <a:solidFill>
            <a:srgbClr val="F4EDDF"/>
          </a:solidFill>
          <a:ln/>
        </p:spPr>
      </p:sp>
      <p:sp>
        <p:nvSpPr>
          <p:cNvPr id="16" name="point-hex"/>
          <p:cNvSpPr/>
          <p:nvPr/>
        </p:nvSpPr>
        <p:spPr>
          <a:xfrm>
            <a:off x="6415888" y="1572768"/>
            <a:ext cx="685800" cy="593903"/>
          </a:xfrm>
          <a:prstGeom prst="hexagon">
            <a:avLst/>
          </a:prstGeom>
          <a:solidFill>
            <a:srgbClr val="B8862B"/>
          </a:solidFill>
          <a:ln/>
        </p:spPr>
      </p:sp>
      <p:sp>
        <p:nvSpPr>
          <p:cNvPr id="17" name="point-hex-label"/>
          <p:cNvSpPr txBox="1"/>
          <p:nvPr/>
        </p:nvSpPr>
        <p:spPr>
          <a:xfrm>
            <a:off x="641588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6415888" y="2350008"/>
            <a:ext cx="504428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Pick the adaptations that are specific to that cell. 'It has a nucleus' is true of almost every cell and earns nothing. 'It has many mitochondria to release energy for the tail to beat' is specific to the sperm cell and earns the mark.</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1F6F6A"/>
                </a:solidFill>
                <a:latin typeface="Cambria" pitchFamily="34" charset="0"/>
                <a:ea typeface="Cambria" pitchFamily="34" charset="-122"/>
                <a:cs typeface="Cambria" pitchFamily="34" charset="-120"/>
              </a:rPr>
              <a:t>Worked example: Writing an 'explain how it is adapted' answer</a:t>
            </a:r>
            <a:endParaRPr lang="en-US" sz="24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29640"/>
          </a:xfrm>
          <a:prstGeom prst="roundRect">
            <a:avLst>
              <a:gd name="adj" fmla="val 9836"/>
            </a:avLst>
          </a:prstGeom>
          <a:solidFill>
            <a:srgbClr val="E2ECEC"/>
          </a:solidFill>
          <a:ln/>
        </p:spPr>
      </p:sp>
      <p:sp>
        <p:nvSpPr>
          <p:cNvPr id="8" name="worked-q"/>
          <p:cNvSpPr txBox="1"/>
          <p:nvPr/>
        </p:nvSpPr>
        <p:spPr>
          <a:xfrm>
            <a:off x="731520" y="1481328"/>
            <a:ext cx="10728655" cy="746760"/>
          </a:xfrm>
          <a:prstGeom prst="rect">
            <a:avLst/>
          </a:prstGeom>
          <a:noFill/>
          <a:ln/>
        </p:spPr>
        <p:txBody>
          <a:bodyPr wrap="square" lIns="63500" tIns="63500" rIns="63500" bIns="63500" rtlCol="0" anchor="ctr"/>
          <a:lstStyle/>
          <a:p>
            <a:pPr algn="l" indent="0" marL="0">
              <a:buNone/>
            </a:pPr>
            <a:r>
              <a:rPr lang="en-US" sz="2000" b="1" dirty="0">
                <a:solidFill>
                  <a:srgbClr val="1E2229"/>
                </a:solidFill>
                <a:latin typeface="Calibri" pitchFamily="34" charset="0"/>
                <a:ea typeface="Calibri" pitchFamily="34" charset="-122"/>
                <a:cs typeface="Calibri" pitchFamily="34" charset="-120"/>
              </a:rPr>
              <a:t>A sperm cell has a tail, many mitochondria and an acrosome. Explain how two of these features suit the cell to its function.</a:t>
            </a:r>
            <a:endParaRPr lang="en-US" sz="2000" dirty="0"/>
          </a:p>
        </p:txBody>
      </p:sp>
      <p:sp>
        <p:nvSpPr>
          <p:cNvPr id="9" name="step-box"/>
          <p:cNvSpPr/>
          <p:nvPr/>
        </p:nvSpPr>
        <p:spPr>
          <a:xfrm>
            <a:off x="548640" y="2502408"/>
            <a:ext cx="11094415" cy="513080"/>
          </a:xfrm>
          <a:prstGeom prst="roundRect">
            <a:avLst>
              <a:gd name="adj" fmla="val 14257"/>
            </a:avLst>
          </a:prstGeom>
          <a:solidFill>
            <a:srgbClr val="FFFFFF"/>
          </a:solidFill>
          <a:ln w="15875">
            <a:solidFill>
              <a:srgbClr val="84B0AD"/>
            </a:solidFill>
            <a:prstDash val="solid"/>
          </a:ln>
        </p:spPr>
      </p:sp>
      <p:sp>
        <p:nvSpPr>
          <p:cNvPr id="10" name="step-hex"/>
          <p:cNvSpPr/>
          <p:nvPr/>
        </p:nvSpPr>
        <p:spPr>
          <a:xfrm>
            <a:off x="685800" y="2560980"/>
            <a:ext cx="457200" cy="395935"/>
          </a:xfrm>
          <a:prstGeom prst="hexagon">
            <a:avLst/>
          </a:prstGeom>
          <a:solidFill>
            <a:srgbClr val="1F6F6A"/>
          </a:solidFill>
          <a:ln/>
        </p:spPr>
      </p:sp>
      <p:sp>
        <p:nvSpPr>
          <p:cNvPr id="11" name="step-hex-label"/>
          <p:cNvSpPr txBox="1"/>
          <p:nvPr/>
        </p:nvSpPr>
        <p:spPr>
          <a:xfrm>
            <a:off x="685800" y="2560980"/>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2" name="step"/>
          <p:cNvSpPr txBox="1"/>
          <p:nvPr/>
        </p:nvSpPr>
        <p:spPr>
          <a:xfrm>
            <a:off x="1280160" y="2502408"/>
            <a:ext cx="10180015" cy="513080"/>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Choose two features and state what each one does.</a:t>
            </a:r>
            <a:endParaRPr lang="en-US" sz="1800" dirty="0"/>
          </a:p>
        </p:txBody>
      </p:sp>
      <p:sp>
        <p:nvSpPr>
          <p:cNvPr id="13" name="step-box"/>
          <p:cNvSpPr/>
          <p:nvPr/>
        </p:nvSpPr>
        <p:spPr>
          <a:xfrm>
            <a:off x="548640" y="3088640"/>
            <a:ext cx="11094415" cy="513080"/>
          </a:xfrm>
          <a:prstGeom prst="roundRect">
            <a:avLst>
              <a:gd name="adj" fmla="val 14257"/>
            </a:avLst>
          </a:prstGeom>
          <a:solidFill>
            <a:srgbClr val="FFFFFF"/>
          </a:solidFill>
          <a:ln w="15875">
            <a:solidFill>
              <a:srgbClr val="84B0AD"/>
            </a:solidFill>
            <a:prstDash val="solid"/>
          </a:ln>
        </p:spPr>
      </p:sp>
      <p:sp>
        <p:nvSpPr>
          <p:cNvPr id="14" name="step-hex"/>
          <p:cNvSpPr/>
          <p:nvPr/>
        </p:nvSpPr>
        <p:spPr>
          <a:xfrm>
            <a:off x="685800" y="3147212"/>
            <a:ext cx="457200" cy="395935"/>
          </a:xfrm>
          <a:prstGeom prst="hexagon">
            <a:avLst/>
          </a:prstGeom>
          <a:solidFill>
            <a:srgbClr val="1F6F6A"/>
          </a:solidFill>
          <a:ln/>
        </p:spPr>
      </p:sp>
      <p:sp>
        <p:nvSpPr>
          <p:cNvPr id="15" name="step-hex-label"/>
          <p:cNvSpPr txBox="1"/>
          <p:nvPr/>
        </p:nvSpPr>
        <p:spPr>
          <a:xfrm>
            <a:off x="685800" y="3147212"/>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step"/>
          <p:cNvSpPr txBox="1"/>
          <p:nvPr/>
        </p:nvSpPr>
        <p:spPr>
          <a:xfrm>
            <a:off x="1280160" y="3088640"/>
            <a:ext cx="10180015" cy="513080"/>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tail beats, which pushes the cell along, so it can swim to the egg.</a:t>
            </a:r>
            <a:endParaRPr lang="en-US" sz="1800" dirty="0"/>
          </a:p>
        </p:txBody>
      </p:sp>
      <p:sp>
        <p:nvSpPr>
          <p:cNvPr id="17" name="step-box"/>
          <p:cNvSpPr/>
          <p:nvPr/>
        </p:nvSpPr>
        <p:spPr>
          <a:xfrm>
            <a:off x="548640" y="3674872"/>
            <a:ext cx="11094415" cy="777240"/>
          </a:xfrm>
          <a:prstGeom prst="roundRect">
            <a:avLst>
              <a:gd name="adj" fmla="val 9412"/>
            </a:avLst>
          </a:prstGeom>
          <a:solidFill>
            <a:srgbClr val="FFFFFF"/>
          </a:solidFill>
          <a:ln w="15875">
            <a:solidFill>
              <a:srgbClr val="84B0AD"/>
            </a:solidFill>
            <a:prstDash val="solid"/>
          </a:ln>
        </p:spPr>
      </p:sp>
      <p:sp>
        <p:nvSpPr>
          <p:cNvPr id="18" name="step-hex"/>
          <p:cNvSpPr/>
          <p:nvPr/>
        </p:nvSpPr>
        <p:spPr>
          <a:xfrm>
            <a:off x="685800" y="3865524"/>
            <a:ext cx="457200" cy="395935"/>
          </a:xfrm>
          <a:prstGeom prst="hexagon">
            <a:avLst/>
          </a:prstGeom>
          <a:solidFill>
            <a:srgbClr val="1F6F6A"/>
          </a:solidFill>
          <a:ln/>
        </p:spPr>
      </p:sp>
      <p:sp>
        <p:nvSpPr>
          <p:cNvPr id="19" name="step-hex-label"/>
          <p:cNvSpPr txBox="1"/>
          <p:nvPr/>
        </p:nvSpPr>
        <p:spPr>
          <a:xfrm>
            <a:off x="685800" y="3865524"/>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0" name="step"/>
          <p:cNvSpPr txBox="1"/>
          <p:nvPr/>
        </p:nvSpPr>
        <p:spPr>
          <a:xfrm>
            <a:off x="1280160" y="3674872"/>
            <a:ext cx="10180015" cy="777240"/>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many mitochondria release energy by respiration, so there is enough energy for the tail to keep beating.</a:t>
            </a:r>
            <a:endParaRPr lang="en-US" sz="1800" dirty="0"/>
          </a:p>
        </p:txBody>
      </p:sp>
      <p:sp>
        <p:nvSpPr>
          <p:cNvPr id="21" name="step-box"/>
          <p:cNvSpPr/>
          <p:nvPr/>
        </p:nvSpPr>
        <p:spPr>
          <a:xfrm>
            <a:off x="548640" y="4525264"/>
            <a:ext cx="11094415" cy="513080"/>
          </a:xfrm>
          <a:prstGeom prst="roundRect">
            <a:avLst>
              <a:gd name="adj" fmla="val 14257"/>
            </a:avLst>
          </a:prstGeom>
          <a:solidFill>
            <a:srgbClr val="FFFFFF"/>
          </a:solidFill>
          <a:ln w="15875">
            <a:solidFill>
              <a:srgbClr val="84B0AD"/>
            </a:solidFill>
            <a:prstDash val="solid"/>
          </a:ln>
        </p:spPr>
      </p:sp>
      <p:sp>
        <p:nvSpPr>
          <p:cNvPr id="22" name="step-hex"/>
          <p:cNvSpPr/>
          <p:nvPr/>
        </p:nvSpPr>
        <p:spPr>
          <a:xfrm>
            <a:off x="685800" y="4583836"/>
            <a:ext cx="457200" cy="395935"/>
          </a:xfrm>
          <a:prstGeom prst="hexagon">
            <a:avLst/>
          </a:prstGeom>
          <a:solidFill>
            <a:srgbClr val="1F6F6A"/>
          </a:solidFill>
          <a:ln/>
        </p:spPr>
      </p:sp>
      <p:sp>
        <p:nvSpPr>
          <p:cNvPr id="23" name="step-hex-label"/>
          <p:cNvSpPr txBox="1"/>
          <p:nvPr/>
        </p:nvSpPr>
        <p:spPr>
          <a:xfrm>
            <a:off x="685800" y="4583836"/>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4" name="step"/>
          <p:cNvSpPr txBox="1"/>
          <p:nvPr/>
        </p:nvSpPr>
        <p:spPr>
          <a:xfrm>
            <a:off x="1280160" y="4525264"/>
            <a:ext cx="10180015" cy="513080"/>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Each sentence links feature → what it does → the job.</a:t>
            </a:r>
            <a:endParaRPr lang="en-US" sz="1800" dirty="0"/>
          </a:p>
        </p:txBody>
      </p:sp>
      <p:sp>
        <p:nvSpPr>
          <p:cNvPr id="25" name="worked-answer"/>
          <p:cNvSpPr/>
          <p:nvPr/>
        </p:nvSpPr>
        <p:spPr>
          <a:xfrm>
            <a:off x="548640" y="5221224"/>
            <a:ext cx="11094415" cy="831088"/>
          </a:xfrm>
          <a:prstGeom prst="roundRect">
            <a:avLst>
              <a:gd name="adj" fmla="val 16504"/>
            </a:avLst>
          </a:prstGeom>
          <a:solidFill>
            <a:srgbClr val="EBDDC4"/>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The tail beats to swim towards the egg; the many mitochondria release the energy that swimming needs.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The task: Cell and adaptation</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618488"/>
            <a:ext cx="8534095" cy="498856"/>
          </a:xfrm>
          <a:prstGeom prst="rect">
            <a:avLst/>
          </a:prstGeom>
          <a:noFill/>
          <a:ln/>
        </p:spPr>
        <p:txBody>
          <a:bodyPr wrap="square" lIns="63500" tIns="63500" rIns="63500" bIns="63500" rtlCol="0" anchor="t"/>
          <a:lstStyle/>
          <a:p>
            <a:pPr algn="ctr" indent="0" marL="0">
              <a:buNone/>
            </a:pPr>
            <a:r>
              <a:rPr lang="en-US" sz="2400" b="1" dirty="0">
                <a:solidFill>
                  <a:srgbClr val="1E2229"/>
                </a:solidFill>
                <a:latin typeface="Calibri" pitchFamily="34" charset="0"/>
                <a:ea typeface="Calibri" pitchFamily="34" charset="-122"/>
                <a:cs typeface="Calibri" pitchFamily="34" charset="-120"/>
              </a:rPr>
              <a:t>Match each specialised cell to one of its adaptations.</a:t>
            </a:r>
            <a:endParaRPr lang="en-US" sz="2400" dirty="0"/>
          </a:p>
        </p:txBody>
      </p:sp>
      <p:sp>
        <p:nvSpPr>
          <p:cNvPr id="11" name="match-card"/>
          <p:cNvSpPr/>
          <p:nvPr/>
        </p:nvSpPr>
        <p:spPr>
          <a:xfrm>
            <a:off x="777240" y="2468331"/>
            <a:ext cx="3081437" cy="898254"/>
          </a:xfrm>
          <a:prstGeom prst="roundRect">
            <a:avLst>
              <a:gd name="adj" fmla="val 8144"/>
            </a:avLst>
          </a:prstGeom>
          <a:solidFill>
            <a:srgbClr val="E6EFEF"/>
          </a:solidFill>
          <a:ln/>
        </p:spPr>
      </p:sp>
      <p:sp>
        <p:nvSpPr>
          <p:cNvPr id="12" name="match-hex"/>
          <p:cNvSpPr/>
          <p:nvPr/>
        </p:nvSpPr>
        <p:spPr>
          <a:xfrm>
            <a:off x="850392" y="2751165"/>
            <a:ext cx="384048" cy="332586"/>
          </a:xfrm>
          <a:prstGeom prst="hexagon">
            <a:avLst/>
          </a:prstGeom>
          <a:solidFill>
            <a:srgbClr val="1F6F6A"/>
          </a:solidFill>
          <a:ln/>
        </p:spPr>
      </p:sp>
      <p:sp>
        <p:nvSpPr>
          <p:cNvPr id="13" name="match-hex-label"/>
          <p:cNvSpPr txBox="1"/>
          <p:nvPr/>
        </p:nvSpPr>
        <p:spPr>
          <a:xfrm>
            <a:off x="850392" y="2751165"/>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468331"/>
            <a:ext cx="2487077" cy="898254"/>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nerve cell</a:t>
            </a:r>
            <a:endParaRPr lang="en-US" sz="2200" dirty="0"/>
          </a:p>
        </p:txBody>
      </p:sp>
      <p:sp>
        <p:nvSpPr>
          <p:cNvPr id="15" name="match-card"/>
          <p:cNvSpPr/>
          <p:nvPr/>
        </p:nvSpPr>
        <p:spPr>
          <a:xfrm>
            <a:off x="4224437" y="2468331"/>
            <a:ext cx="7190019" cy="898254"/>
          </a:xfrm>
          <a:prstGeom prst="roundRect">
            <a:avLst>
              <a:gd name="adj" fmla="val 8144"/>
            </a:avLst>
          </a:prstGeom>
          <a:solidFill>
            <a:srgbClr val="F4EDDF"/>
          </a:solidFill>
          <a:ln/>
        </p:spPr>
      </p:sp>
      <p:sp>
        <p:nvSpPr>
          <p:cNvPr id="16" name="match-hex"/>
          <p:cNvSpPr/>
          <p:nvPr/>
        </p:nvSpPr>
        <p:spPr>
          <a:xfrm>
            <a:off x="4297589" y="2751165"/>
            <a:ext cx="384048" cy="332586"/>
          </a:xfrm>
          <a:prstGeom prst="hexagon">
            <a:avLst/>
          </a:prstGeom>
          <a:solidFill>
            <a:srgbClr val="B8862B"/>
          </a:solidFill>
          <a:ln/>
        </p:spPr>
      </p:sp>
      <p:sp>
        <p:nvSpPr>
          <p:cNvPr id="17" name="match-hex-label"/>
          <p:cNvSpPr txBox="1"/>
          <p:nvPr/>
        </p:nvSpPr>
        <p:spPr>
          <a:xfrm>
            <a:off x="4297589" y="2751165"/>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4745645" y="2468331"/>
            <a:ext cx="6595659" cy="898254"/>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long hair gives a large surface area for absorbing water</a:t>
            </a:r>
            <a:endParaRPr lang="en-US" sz="2200" dirty="0"/>
          </a:p>
        </p:txBody>
      </p:sp>
      <p:sp>
        <p:nvSpPr>
          <p:cNvPr id="19" name="match-card"/>
          <p:cNvSpPr/>
          <p:nvPr/>
        </p:nvSpPr>
        <p:spPr>
          <a:xfrm>
            <a:off x="777240" y="3458025"/>
            <a:ext cx="3081437" cy="557386"/>
          </a:xfrm>
          <a:prstGeom prst="roundRect">
            <a:avLst>
              <a:gd name="adj" fmla="val 13124"/>
            </a:avLst>
          </a:prstGeom>
          <a:solidFill>
            <a:srgbClr val="E6EFEF"/>
          </a:solidFill>
          <a:ln/>
        </p:spPr>
      </p:sp>
      <p:sp>
        <p:nvSpPr>
          <p:cNvPr id="20" name="match-hex"/>
          <p:cNvSpPr/>
          <p:nvPr/>
        </p:nvSpPr>
        <p:spPr>
          <a:xfrm>
            <a:off x="850392" y="3570425"/>
            <a:ext cx="384048" cy="332586"/>
          </a:xfrm>
          <a:prstGeom prst="hexagon">
            <a:avLst/>
          </a:prstGeom>
          <a:solidFill>
            <a:srgbClr val="1F6F6A"/>
          </a:solidFill>
          <a:ln/>
        </p:spPr>
      </p:sp>
      <p:sp>
        <p:nvSpPr>
          <p:cNvPr id="21" name="match-hex-label"/>
          <p:cNvSpPr txBox="1"/>
          <p:nvPr/>
        </p:nvSpPr>
        <p:spPr>
          <a:xfrm>
            <a:off x="850392" y="3570425"/>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458025"/>
            <a:ext cx="2487077" cy="557386"/>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red blood cell</a:t>
            </a:r>
            <a:endParaRPr lang="en-US" sz="2200" dirty="0"/>
          </a:p>
        </p:txBody>
      </p:sp>
      <p:sp>
        <p:nvSpPr>
          <p:cNvPr id="23" name="match-card"/>
          <p:cNvSpPr/>
          <p:nvPr/>
        </p:nvSpPr>
        <p:spPr>
          <a:xfrm>
            <a:off x="4224437" y="3458025"/>
            <a:ext cx="7190019" cy="557386"/>
          </a:xfrm>
          <a:prstGeom prst="roundRect">
            <a:avLst>
              <a:gd name="adj" fmla="val 13124"/>
            </a:avLst>
          </a:prstGeom>
          <a:solidFill>
            <a:srgbClr val="F4EDDF"/>
          </a:solidFill>
          <a:ln/>
        </p:spPr>
      </p:sp>
      <p:sp>
        <p:nvSpPr>
          <p:cNvPr id="24" name="match-hex"/>
          <p:cNvSpPr/>
          <p:nvPr/>
        </p:nvSpPr>
        <p:spPr>
          <a:xfrm>
            <a:off x="4297589" y="3570425"/>
            <a:ext cx="384048" cy="332586"/>
          </a:xfrm>
          <a:prstGeom prst="hexagon">
            <a:avLst/>
          </a:prstGeom>
          <a:solidFill>
            <a:srgbClr val="B8862B"/>
          </a:solidFill>
          <a:ln/>
        </p:spPr>
      </p:sp>
      <p:sp>
        <p:nvSpPr>
          <p:cNvPr id="25" name="match-hex-label"/>
          <p:cNvSpPr txBox="1"/>
          <p:nvPr/>
        </p:nvSpPr>
        <p:spPr>
          <a:xfrm>
            <a:off x="4297589" y="3570425"/>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4745645" y="3458025"/>
            <a:ext cx="6595659" cy="557386"/>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no nucleus, leaving more room for haemoglobin</a:t>
            </a:r>
            <a:endParaRPr lang="en-US" sz="2200" dirty="0"/>
          </a:p>
        </p:txBody>
      </p:sp>
      <p:sp>
        <p:nvSpPr>
          <p:cNvPr id="27" name="match-card"/>
          <p:cNvSpPr/>
          <p:nvPr/>
        </p:nvSpPr>
        <p:spPr>
          <a:xfrm>
            <a:off x="777240" y="4106851"/>
            <a:ext cx="3081437" cy="557386"/>
          </a:xfrm>
          <a:prstGeom prst="roundRect">
            <a:avLst>
              <a:gd name="adj" fmla="val 13124"/>
            </a:avLst>
          </a:prstGeom>
          <a:solidFill>
            <a:srgbClr val="E6EFEF"/>
          </a:solidFill>
          <a:ln/>
        </p:spPr>
      </p:sp>
      <p:sp>
        <p:nvSpPr>
          <p:cNvPr id="28" name="match-hex"/>
          <p:cNvSpPr/>
          <p:nvPr/>
        </p:nvSpPr>
        <p:spPr>
          <a:xfrm>
            <a:off x="850392" y="4219251"/>
            <a:ext cx="384048" cy="332586"/>
          </a:xfrm>
          <a:prstGeom prst="hexagon">
            <a:avLst/>
          </a:prstGeom>
          <a:solidFill>
            <a:srgbClr val="1F6F6A"/>
          </a:solidFill>
          <a:ln/>
        </p:spPr>
      </p:sp>
      <p:sp>
        <p:nvSpPr>
          <p:cNvPr id="29" name="match-hex-label"/>
          <p:cNvSpPr txBox="1"/>
          <p:nvPr/>
        </p:nvSpPr>
        <p:spPr>
          <a:xfrm>
            <a:off x="850392" y="421925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0" name="match-text"/>
          <p:cNvSpPr txBox="1"/>
          <p:nvPr/>
        </p:nvSpPr>
        <p:spPr>
          <a:xfrm>
            <a:off x="1298448" y="4106851"/>
            <a:ext cx="2487077" cy="557386"/>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root hair cell</a:t>
            </a:r>
            <a:endParaRPr lang="en-US" sz="2200" dirty="0"/>
          </a:p>
        </p:txBody>
      </p:sp>
      <p:sp>
        <p:nvSpPr>
          <p:cNvPr id="31" name="match-card"/>
          <p:cNvSpPr/>
          <p:nvPr/>
        </p:nvSpPr>
        <p:spPr>
          <a:xfrm>
            <a:off x="4224437" y="4106851"/>
            <a:ext cx="7190019" cy="557386"/>
          </a:xfrm>
          <a:prstGeom prst="roundRect">
            <a:avLst>
              <a:gd name="adj" fmla="val 13124"/>
            </a:avLst>
          </a:prstGeom>
          <a:solidFill>
            <a:srgbClr val="F4EDDF"/>
          </a:solidFill>
          <a:ln/>
        </p:spPr>
      </p:sp>
      <p:sp>
        <p:nvSpPr>
          <p:cNvPr id="32" name="match-hex"/>
          <p:cNvSpPr/>
          <p:nvPr/>
        </p:nvSpPr>
        <p:spPr>
          <a:xfrm>
            <a:off x="4297589" y="4219251"/>
            <a:ext cx="384048" cy="332586"/>
          </a:xfrm>
          <a:prstGeom prst="hexagon">
            <a:avLst/>
          </a:prstGeom>
          <a:solidFill>
            <a:srgbClr val="B8862B"/>
          </a:solidFill>
          <a:ln/>
        </p:spPr>
      </p:sp>
      <p:sp>
        <p:nvSpPr>
          <p:cNvPr id="33" name="match-hex-label"/>
          <p:cNvSpPr txBox="1"/>
          <p:nvPr/>
        </p:nvSpPr>
        <p:spPr>
          <a:xfrm>
            <a:off x="4297589" y="421925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34" name="match-text"/>
          <p:cNvSpPr txBox="1"/>
          <p:nvPr/>
        </p:nvSpPr>
        <p:spPr>
          <a:xfrm>
            <a:off x="4745645" y="4106851"/>
            <a:ext cx="6595659" cy="557386"/>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hollow tube strengthened with lignin</a:t>
            </a:r>
            <a:endParaRPr lang="en-US" sz="2200" dirty="0"/>
          </a:p>
        </p:txBody>
      </p:sp>
      <p:sp>
        <p:nvSpPr>
          <p:cNvPr id="35" name="match-card"/>
          <p:cNvSpPr/>
          <p:nvPr/>
        </p:nvSpPr>
        <p:spPr>
          <a:xfrm>
            <a:off x="777240" y="4755677"/>
            <a:ext cx="3081437" cy="557386"/>
          </a:xfrm>
          <a:prstGeom prst="roundRect">
            <a:avLst>
              <a:gd name="adj" fmla="val 13124"/>
            </a:avLst>
          </a:prstGeom>
          <a:solidFill>
            <a:srgbClr val="E6EFEF"/>
          </a:solidFill>
          <a:ln/>
        </p:spPr>
      </p:sp>
      <p:sp>
        <p:nvSpPr>
          <p:cNvPr id="36" name="match-hex"/>
          <p:cNvSpPr/>
          <p:nvPr/>
        </p:nvSpPr>
        <p:spPr>
          <a:xfrm>
            <a:off x="850392" y="4868077"/>
            <a:ext cx="384048" cy="332586"/>
          </a:xfrm>
          <a:prstGeom prst="hexagon">
            <a:avLst/>
          </a:prstGeom>
          <a:solidFill>
            <a:srgbClr val="1F6F6A"/>
          </a:solidFill>
          <a:ln/>
        </p:spPr>
      </p:sp>
      <p:sp>
        <p:nvSpPr>
          <p:cNvPr id="37" name="match-hex-label"/>
          <p:cNvSpPr txBox="1"/>
          <p:nvPr/>
        </p:nvSpPr>
        <p:spPr>
          <a:xfrm>
            <a:off x="850392" y="486807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38" name="match-text"/>
          <p:cNvSpPr txBox="1"/>
          <p:nvPr/>
        </p:nvSpPr>
        <p:spPr>
          <a:xfrm>
            <a:off x="1298448" y="4755677"/>
            <a:ext cx="2487077" cy="557386"/>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xylem cell</a:t>
            </a:r>
            <a:endParaRPr lang="en-US" sz="2200" dirty="0"/>
          </a:p>
        </p:txBody>
      </p:sp>
      <p:sp>
        <p:nvSpPr>
          <p:cNvPr id="39" name="match-card"/>
          <p:cNvSpPr/>
          <p:nvPr/>
        </p:nvSpPr>
        <p:spPr>
          <a:xfrm>
            <a:off x="4224437" y="4755677"/>
            <a:ext cx="7190019" cy="557386"/>
          </a:xfrm>
          <a:prstGeom prst="roundRect">
            <a:avLst>
              <a:gd name="adj" fmla="val 13124"/>
            </a:avLst>
          </a:prstGeom>
          <a:solidFill>
            <a:srgbClr val="F4EDDF"/>
          </a:solidFill>
          <a:ln/>
        </p:spPr>
      </p:sp>
      <p:sp>
        <p:nvSpPr>
          <p:cNvPr id="40" name="match-hex"/>
          <p:cNvSpPr/>
          <p:nvPr/>
        </p:nvSpPr>
        <p:spPr>
          <a:xfrm>
            <a:off x="4297589" y="4868077"/>
            <a:ext cx="384048" cy="332586"/>
          </a:xfrm>
          <a:prstGeom prst="hexagon">
            <a:avLst/>
          </a:prstGeom>
          <a:solidFill>
            <a:srgbClr val="B8862B"/>
          </a:solidFill>
          <a:ln/>
        </p:spPr>
      </p:sp>
      <p:sp>
        <p:nvSpPr>
          <p:cNvPr id="41" name="match-hex-label"/>
          <p:cNvSpPr txBox="1"/>
          <p:nvPr/>
        </p:nvSpPr>
        <p:spPr>
          <a:xfrm>
            <a:off x="4297589" y="486807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42" name="match-text"/>
          <p:cNvSpPr txBox="1"/>
          <p:nvPr/>
        </p:nvSpPr>
        <p:spPr>
          <a:xfrm>
            <a:off x="4745645" y="4755677"/>
            <a:ext cx="6595659" cy="557386"/>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packed with chloroplasts, near the top of the leaf</a:t>
            </a:r>
            <a:endParaRPr lang="en-US" sz="2200" dirty="0"/>
          </a:p>
        </p:txBody>
      </p:sp>
      <p:sp>
        <p:nvSpPr>
          <p:cNvPr id="43" name="match-card"/>
          <p:cNvSpPr/>
          <p:nvPr/>
        </p:nvSpPr>
        <p:spPr>
          <a:xfrm>
            <a:off x="777240" y="5404502"/>
            <a:ext cx="3081437" cy="557386"/>
          </a:xfrm>
          <a:prstGeom prst="roundRect">
            <a:avLst>
              <a:gd name="adj" fmla="val 13124"/>
            </a:avLst>
          </a:prstGeom>
          <a:solidFill>
            <a:srgbClr val="E6EFEF"/>
          </a:solidFill>
          <a:ln/>
        </p:spPr>
      </p:sp>
      <p:sp>
        <p:nvSpPr>
          <p:cNvPr id="44" name="match-hex"/>
          <p:cNvSpPr/>
          <p:nvPr/>
        </p:nvSpPr>
        <p:spPr>
          <a:xfrm>
            <a:off x="850392" y="5516902"/>
            <a:ext cx="384048" cy="332586"/>
          </a:xfrm>
          <a:prstGeom prst="hexagon">
            <a:avLst/>
          </a:prstGeom>
          <a:solidFill>
            <a:srgbClr val="1F6F6A"/>
          </a:solidFill>
          <a:ln/>
        </p:spPr>
      </p:sp>
      <p:sp>
        <p:nvSpPr>
          <p:cNvPr id="45" name="match-hex-label"/>
          <p:cNvSpPr txBox="1"/>
          <p:nvPr/>
        </p:nvSpPr>
        <p:spPr>
          <a:xfrm>
            <a:off x="850392" y="551690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46" name="match-text"/>
          <p:cNvSpPr txBox="1"/>
          <p:nvPr/>
        </p:nvSpPr>
        <p:spPr>
          <a:xfrm>
            <a:off x="1298448" y="5404502"/>
            <a:ext cx="2487077" cy="557386"/>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palisade cell</a:t>
            </a:r>
            <a:endParaRPr lang="en-US" sz="2200" dirty="0"/>
          </a:p>
        </p:txBody>
      </p:sp>
      <p:sp>
        <p:nvSpPr>
          <p:cNvPr id="47" name="match-card"/>
          <p:cNvSpPr/>
          <p:nvPr/>
        </p:nvSpPr>
        <p:spPr>
          <a:xfrm>
            <a:off x="4224437" y="5404502"/>
            <a:ext cx="7190019" cy="557386"/>
          </a:xfrm>
          <a:prstGeom prst="roundRect">
            <a:avLst>
              <a:gd name="adj" fmla="val 13124"/>
            </a:avLst>
          </a:prstGeom>
          <a:solidFill>
            <a:srgbClr val="F4EDDF"/>
          </a:solidFill>
          <a:ln/>
        </p:spPr>
      </p:sp>
      <p:sp>
        <p:nvSpPr>
          <p:cNvPr id="48" name="match-hex"/>
          <p:cNvSpPr/>
          <p:nvPr/>
        </p:nvSpPr>
        <p:spPr>
          <a:xfrm>
            <a:off x="4297589" y="5516902"/>
            <a:ext cx="384048" cy="332586"/>
          </a:xfrm>
          <a:prstGeom prst="hexagon">
            <a:avLst/>
          </a:prstGeom>
          <a:solidFill>
            <a:srgbClr val="B8862B"/>
          </a:solidFill>
          <a:ln/>
        </p:spPr>
      </p:sp>
      <p:sp>
        <p:nvSpPr>
          <p:cNvPr id="49" name="match-hex-label"/>
          <p:cNvSpPr txBox="1"/>
          <p:nvPr/>
        </p:nvSpPr>
        <p:spPr>
          <a:xfrm>
            <a:off x="4297589" y="551690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E</a:t>
            </a:r>
            <a:endParaRPr lang="en-US" sz="1800" dirty="0"/>
          </a:p>
        </p:txBody>
      </p:sp>
      <p:sp>
        <p:nvSpPr>
          <p:cNvPr id="50" name="match-text"/>
          <p:cNvSpPr txBox="1"/>
          <p:nvPr/>
        </p:nvSpPr>
        <p:spPr>
          <a:xfrm>
            <a:off x="4745645" y="5404502"/>
            <a:ext cx="6595659" cy="557386"/>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very long, with branched connections at each end</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Same task, three ways in: Cell and adaptation</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1 (on the last slide): Cell and adaptation</a:t>
            </a:r>
            <a:endParaRPr lang="en-US" sz="2000" dirty="0"/>
          </a:p>
        </p:txBody>
      </p:sp>
      <p:sp>
        <p:nvSpPr>
          <p:cNvPr id="12" name="col-Support"/>
          <p:cNvSpPr/>
          <p:nvPr/>
        </p:nvSpPr>
        <p:spPr>
          <a:xfrm>
            <a:off x="548640" y="2395728"/>
            <a:ext cx="5602443" cy="3749040"/>
          </a:xfrm>
          <a:prstGeom prst="roundRect">
            <a:avLst>
              <a:gd name="adj" fmla="val 1463"/>
            </a:avLst>
          </a:prstGeom>
          <a:solidFill>
            <a:srgbClr val="E2ECEC"/>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4870923" cy="566928"/>
          </a:xfrm>
          <a:prstGeom prst="rect">
            <a:avLst/>
          </a:prstGeom>
          <a:noFill/>
          <a:ln/>
        </p:spPr>
        <p:txBody>
          <a:bodyPr wrap="square" lIns="63500" tIns="63500" rIns="63500" bIns="63500" rtlCol="0" anchor="ctr"/>
          <a:lstStyle/>
          <a:p>
            <a:pPr algn="l" indent="0" marL="0">
              <a:buNone/>
            </a:pPr>
            <a:r>
              <a:rPr lang="en-US" sz="2000" b="1" dirty="0">
                <a:solidFill>
                  <a:srgbClr val="164E4A"/>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5328123"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1F6F6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Start with the job: what does each cell do? Carry signals, carry oxygen, absorb water, carry water, photosynthesise.</a:t>
            </a:r>
            <a:endParaRPr lang="en-US" sz="1800" dirty="0"/>
          </a:p>
          <a:p>
            <a:pPr algn="l" indent="0" marL="0">
              <a:spcAft>
                <a:spcPts val="600"/>
              </a:spcAft>
              <a:buNone/>
            </a:pPr>
            <a:r>
              <a:rPr lang="en-US" sz="1800" b="1" dirty="0">
                <a:solidFill>
                  <a:srgbClr val="1F6F6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Match the job to the feature that helps it: signals need length; oxygen needs haemoglobin; absorbing needs surface area.</a:t>
            </a:r>
            <a:endParaRPr lang="en-US" sz="1800" dirty="0"/>
          </a:p>
          <a:p>
            <a:pPr algn="l" indent="0" marL="0">
              <a:spcAft>
                <a:spcPts val="600"/>
              </a:spcAft>
              <a:buNone/>
            </a:pPr>
            <a:r>
              <a:rPr lang="en-US" sz="1800" b="1" dirty="0">
                <a:solidFill>
                  <a:srgbClr val="1F6F6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Carrying water up needs a strong hollow tube; photosynthesis needs chloroplasts and light.</a:t>
            </a:r>
            <a:endParaRPr lang="en-US" sz="1800" dirty="0"/>
          </a:p>
        </p:txBody>
      </p:sp>
      <p:sp>
        <p:nvSpPr>
          <p:cNvPr id="17" name="col-Core"/>
          <p:cNvSpPr/>
          <p:nvPr/>
        </p:nvSpPr>
        <p:spPr>
          <a:xfrm>
            <a:off x="6425403" y="2395728"/>
            <a:ext cx="2471666" cy="3749040"/>
          </a:xfrm>
          <a:prstGeom prst="roundRect">
            <a:avLst>
              <a:gd name="adj" fmla="val 2220"/>
            </a:avLst>
          </a:prstGeom>
          <a:solidFill>
            <a:srgbClr val="C7DBDA"/>
          </a:solidFill>
          <a:ln/>
        </p:spPr>
      </p:sp>
      <p:sp>
        <p:nvSpPr>
          <p:cNvPr id="18" name="col-hex"/>
          <p:cNvSpPr/>
          <p:nvPr/>
        </p:nvSpPr>
        <p:spPr>
          <a:xfrm>
            <a:off x="6535131"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6535131"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7065483"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164E4A"/>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6562563"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195955"/>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Think of each cell's job first, then ask which feature makes that job possible.</a:t>
            </a:r>
            <a:endParaRPr lang="en-US" sz="1800" dirty="0"/>
          </a:p>
        </p:txBody>
      </p:sp>
      <p:sp>
        <p:nvSpPr>
          <p:cNvPr id="22" name="col-Stretch"/>
          <p:cNvSpPr/>
          <p:nvPr/>
        </p:nvSpPr>
        <p:spPr>
          <a:xfrm>
            <a:off x="9171389" y="2395728"/>
            <a:ext cx="2471666" cy="3749040"/>
          </a:xfrm>
          <a:prstGeom prst="roundRect">
            <a:avLst>
              <a:gd name="adj" fmla="val 2220"/>
            </a:avLst>
          </a:prstGeom>
          <a:solidFill>
            <a:srgbClr val="1F6F6A"/>
          </a:solidFill>
          <a:ln/>
        </p:spPr>
      </p:sp>
      <p:sp>
        <p:nvSpPr>
          <p:cNvPr id="23" name="col-hex"/>
          <p:cNvSpPr/>
          <p:nvPr/>
        </p:nvSpPr>
        <p:spPr>
          <a:xfrm>
            <a:off x="928111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928111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811469"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9308549"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Both the root hair cell and the red blood cell are adapted for a large surface area. Explain what each one is absorbing and why surface area matters for both.</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The task: Reading the mitochondria</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A sperm cell has many mitochondria. What does this tell you about its job?</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It needs a lot of energy, transferred by respiration</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It makes a lot of protein</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It stores a lot of water</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It needs to absorb a lot of light</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1F6F6A"/>
                </a:solidFill>
                <a:latin typeface="Cambria" pitchFamily="34" charset="0"/>
                <a:ea typeface="Cambria" pitchFamily="34" charset="-122"/>
                <a:cs typeface="Cambria" pitchFamily="34" charset="-120"/>
              </a:rPr>
              <a:t>Same task, three ways in: Reading the mitochondria</a:t>
            </a:r>
            <a:endParaRPr lang="en-US" sz="28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14400"/>
          </a:xfrm>
          <a:prstGeom prst="roundRect">
            <a:avLst>
              <a:gd name="adj" fmla="val 10000"/>
            </a:avLst>
          </a:prstGeom>
          <a:solidFill>
            <a:srgbClr val="FFFFFF"/>
          </a:solidFill>
          <a:ln w="31750">
            <a:solidFill>
              <a:srgbClr val="B8862B"/>
            </a:solidFill>
            <a:prstDash val="solid"/>
          </a:ln>
        </p:spPr>
      </p:sp>
      <p:sp>
        <p:nvSpPr>
          <p:cNvPr id="8" name="task-hex"/>
          <p:cNvSpPr/>
          <p:nvPr/>
        </p:nvSpPr>
        <p:spPr>
          <a:xfrm>
            <a:off x="777240" y="1530340"/>
            <a:ext cx="731520" cy="633496"/>
          </a:xfrm>
          <a:prstGeom prst="hexagon">
            <a:avLst/>
          </a:prstGeom>
          <a:solidFill>
            <a:srgbClr val="B8862B"/>
          </a:solidFill>
          <a:ln/>
        </p:spPr>
      </p:sp>
      <p:sp>
        <p:nvSpPr>
          <p:cNvPr id="9" name="task-hex-label"/>
          <p:cNvSpPr txBox="1"/>
          <p:nvPr/>
        </p:nvSpPr>
        <p:spPr>
          <a:xfrm>
            <a:off x="777240" y="153034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57276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3152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A sperm cell has many mitochondria. What does this tell you about its job?</a:t>
            </a:r>
            <a:endParaRPr lang="en-US" sz="2000" dirty="0"/>
          </a:p>
        </p:txBody>
      </p:sp>
      <p:sp>
        <p:nvSpPr>
          <p:cNvPr id="12" name="col-Support"/>
          <p:cNvSpPr/>
          <p:nvPr/>
        </p:nvSpPr>
        <p:spPr>
          <a:xfrm>
            <a:off x="548640" y="2578608"/>
            <a:ext cx="3515258" cy="3566160"/>
          </a:xfrm>
          <a:prstGeom prst="roundRect">
            <a:avLst>
              <a:gd name="adj" fmla="val 1561"/>
            </a:avLst>
          </a:prstGeom>
          <a:solidFill>
            <a:srgbClr val="E2ECEC"/>
          </a:solidFill>
          <a:ln/>
        </p:spPr>
      </p:sp>
      <p:sp>
        <p:nvSpPr>
          <p:cNvPr id="13" name="col-hex"/>
          <p:cNvSpPr/>
          <p:nvPr/>
        </p:nvSpPr>
        <p:spPr>
          <a:xfrm>
            <a:off x="658368" y="265176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15184"/>
            <a:ext cx="2783738" cy="566928"/>
          </a:xfrm>
          <a:prstGeom prst="rect">
            <a:avLst/>
          </a:prstGeom>
          <a:noFill/>
          <a:ln/>
        </p:spPr>
        <p:txBody>
          <a:bodyPr wrap="square" lIns="63500" tIns="63500" rIns="63500" bIns="63500" rtlCol="0" anchor="ctr"/>
          <a:lstStyle/>
          <a:p>
            <a:pPr algn="l" indent="0" marL="0">
              <a:buNone/>
            </a:pPr>
            <a:r>
              <a:rPr lang="en-US" sz="2000" b="1" dirty="0">
                <a:solidFill>
                  <a:srgbClr val="164E4A"/>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18688"/>
            <a:ext cx="3240938" cy="281635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1F6F6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Remember what mitochondria do: aerobic respiration, which releases energy.</a:t>
            </a:r>
            <a:endParaRPr lang="en-US" sz="1800" dirty="0"/>
          </a:p>
          <a:p>
            <a:pPr algn="l" indent="0" marL="0">
              <a:spcAft>
                <a:spcPts val="600"/>
              </a:spcAft>
              <a:buNone/>
            </a:pPr>
            <a:r>
              <a:rPr lang="en-US" sz="1800" b="1" dirty="0">
                <a:solidFill>
                  <a:srgbClr val="1F6F6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More of an organelle means more of its job is needed.</a:t>
            </a:r>
            <a:endParaRPr lang="en-US" sz="1800" dirty="0"/>
          </a:p>
          <a:p>
            <a:pPr algn="l" indent="0" marL="0">
              <a:spcAft>
                <a:spcPts val="600"/>
              </a:spcAft>
              <a:buNone/>
            </a:pPr>
            <a:r>
              <a:rPr lang="en-US" sz="1800" b="1" dirty="0">
                <a:solidFill>
                  <a:srgbClr val="1F6F6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So many mitochondria means the cell needs a lot of energy.</a:t>
            </a:r>
            <a:endParaRPr lang="en-US" sz="1800" dirty="0"/>
          </a:p>
        </p:txBody>
      </p:sp>
      <p:sp>
        <p:nvSpPr>
          <p:cNvPr id="17" name="col-Core"/>
          <p:cNvSpPr/>
          <p:nvPr/>
        </p:nvSpPr>
        <p:spPr>
          <a:xfrm>
            <a:off x="4338218" y="2578608"/>
            <a:ext cx="3515258" cy="3566160"/>
          </a:xfrm>
          <a:prstGeom prst="roundRect">
            <a:avLst>
              <a:gd name="adj" fmla="val 1561"/>
            </a:avLst>
          </a:prstGeom>
          <a:solidFill>
            <a:srgbClr val="C7DBDA"/>
          </a:solidFill>
          <a:ln/>
        </p:spPr>
      </p:sp>
      <p:sp>
        <p:nvSpPr>
          <p:cNvPr id="18" name="col-hex"/>
          <p:cNvSpPr/>
          <p:nvPr/>
        </p:nvSpPr>
        <p:spPr>
          <a:xfrm>
            <a:off x="4447946" y="265176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4447946"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4978298" y="2615184"/>
            <a:ext cx="2783738" cy="566928"/>
          </a:xfrm>
          <a:prstGeom prst="rect">
            <a:avLst/>
          </a:prstGeom>
          <a:noFill/>
          <a:ln/>
        </p:spPr>
        <p:txBody>
          <a:bodyPr wrap="square" lIns="63500" tIns="63500" rIns="63500" bIns="63500" rtlCol="0" anchor="ctr"/>
          <a:lstStyle/>
          <a:p>
            <a:pPr algn="l" indent="0" marL="0">
              <a:buNone/>
            </a:pPr>
            <a:r>
              <a:rPr lang="en-US" sz="2000" b="1" dirty="0">
                <a:solidFill>
                  <a:srgbClr val="164E4A"/>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4475378" y="3218688"/>
            <a:ext cx="3240938" cy="2816352"/>
          </a:xfrm>
          <a:prstGeom prst="rect">
            <a:avLst/>
          </a:prstGeom>
          <a:noFill/>
          <a:ln/>
        </p:spPr>
        <p:txBody>
          <a:bodyPr wrap="square" lIns="63500" tIns="63500" rIns="63500" bIns="63500" rtlCol="0" anchor="t"/>
          <a:lstStyle/>
          <a:p>
            <a:pPr algn="l" indent="0" marL="0">
              <a:buNone/>
            </a:pPr>
            <a:r>
              <a:rPr lang="en-US" sz="1800" b="1" dirty="0">
                <a:solidFill>
                  <a:srgbClr val="195955"/>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What happens inside a mitochondrion? Then ask: what does more of that mean?</a:t>
            </a:r>
            <a:endParaRPr lang="en-US" sz="1800" dirty="0"/>
          </a:p>
        </p:txBody>
      </p:sp>
      <p:sp>
        <p:nvSpPr>
          <p:cNvPr id="22" name="col-Stretch"/>
          <p:cNvSpPr/>
          <p:nvPr/>
        </p:nvSpPr>
        <p:spPr>
          <a:xfrm>
            <a:off x="8127797" y="2578608"/>
            <a:ext cx="3515258" cy="3566160"/>
          </a:xfrm>
          <a:prstGeom prst="roundRect">
            <a:avLst>
              <a:gd name="adj" fmla="val 1561"/>
            </a:avLst>
          </a:prstGeom>
          <a:solidFill>
            <a:srgbClr val="1F6F6A"/>
          </a:solidFill>
          <a:ln/>
        </p:spPr>
      </p:sp>
      <p:sp>
        <p:nvSpPr>
          <p:cNvPr id="23" name="col-hex"/>
          <p:cNvSpPr/>
          <p:nvPr/>
        </p:nvSpPr>
        <p:spPr>
          <a:xfrm>
            <a:off x="8237525" y="265176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237525"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8767877" y="2615184"/>
            <a:ext cx="2783738"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264957" y="3218688"/>
            <a:ext cx="3240938" cy="281635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For the sperm cell, the muscle cell and the root hair cell, say what each uses its energy for. Which one uses it for active transport?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1F6F6A"/>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1F6F6A"/>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243328"/>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What is a specialised cell?</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 cell that has no nucleus</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 cell that is larger than other cells</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 cell found only in plants</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 cell with adaptations that suit it to a particular job</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E9F1F0"/>
          </a:solidFill>
          <a:ln w="12700">
            <a:solidFill>
              <a:srgbClr val="88B3B0"/>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Answers: Cell and adaptation</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4EDDF"/>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nerve cell  →  E  very long, with branched connections at each end</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red blood cell  →  B  no nucleus, leaving more room for haemoglobin</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root hair cell  →  A  long hair gives a large surface area for absorbing water</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xylem cell  →  C  hollow tube strengthened with lignin</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5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palisade cell  →  D  packed with chloroplasts, near the top of the leaf</a:t>
            </a:r>
            <a:endParaRPr lang="en-US" sz="2000" dirty="0"/>
          </a:p>
        </p:txBody>
      </p:sp>
      <p:sp>
        <p:nvSpPr>
          <p:cNvPr id="10" name="why-panel"/>
          <p:cNvSpPr/>
          <p:nvPr/>
        </p:nvSpPr>
        <p:spPr>
          <a:xfrm>
            <a:off x="7223760" y="1389888"/>
            <a:ext cx="4419295" cy="4754880"/>
          </a:xfrm>
          <a:prstGeom prst="roundRect">
            <a:avLst>
              <a:gd name="adj" fmla="val 1035"/>
            </a:avLst>
          </a:prstGeom>
          <a:solidFill>
            <a:srgbClr val="E2ECEC"/>
          </a:solidFill>
          <a:ln/>
        </p:spPr>
      </p:sp>
      <p:sp>
        <p:nvSpPr>
          <p:cNvPr id="11" name="why-hex"/>
          <p:cNvSpPr/>
          <p:nvPr/>
        </p:nvSpPr>
        <p:spPr>
          <a:xfrm>
            <a:off x="7406640" y="1572768"/>
            <a:ext cx="685800" cy="593903"/>
          </a:xfrm>
          <a:prstGeom prst="hexagon">
            <a:avLst/>
          </a:prstGeom>
          <a:solidFill>
            <a:srgbClr val="1F6F6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Nerve = long with connections; red blood cell = no nucleus, more haemoglobin; root hair = large surface area; xylem = lignin-strengthened hollow tube; palisade = chloroplasts near the light.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Answers: Reading the mitochondria</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4EDDF"/>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A sperm cell has many mitochondria. What does this tell you about its job?</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A   It needs a lot of energy, transferred by respiration</a:t>
            </a:r>
            <a:endParaRPr lang="en-US" sz="1800" dirty="0"/>
          </a:p>
        </p:txBody>
      </p:sp>
      <p:sp>
        <p:nvSpPr>
          <p:cNvPr id="10" name="why-panel"/>
          <p:cNvSpPr/>
          <p:nvPr/>
        </p:nvSpPr>
        <p:spPr>
          <a:xfrm>
            <a:off x="7223760" y="1389888"/>
            <a:ext cx="4419295" cy="4754880"/>
          </a:xfrm>
          <a:prstGeom prst="roundRect">
            <a:avLst>
              <a:gd name="adj" fmla="val 1035"/>
            </a:avLst>
          </a:prstGeom>
          <a:solidFill>
            <a:srgbClr val="E2ECEC"/>
          </a:solidFill>
          <a:ln/>
        </p:spPr>
      </p:sp>
      <p:sp>
        <p:nvSpPr>
          <p:cNvPr id="11" name="why-hex"/>
          <p:cNvSpPr/>
          <p:nvPr/>
        </p:nvSpPr>
        <p:spPr>
          <a:xfrm>
            <a:off x="7406640" y="1572768"/>
            <a:ext cx="685800" cy="593903"/>
          </a:xfrm>
          <a:prstGeom prst="hexagon">
            <a:avLst/>
          </a:prstGeom>
          <a:solidFill>
            <a:srgbClr val="1F6F6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Mitochondria release energy by respiration; many of them means the cell's job needs a lot of energy.</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4EDDF"/>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What is a specialised cell?</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D   a cell with adaptations that suit it to a particular job</a:t>
            </a:r>
            <a:endParaRPr lang="en-US" sz="1800" dirty="0"/>
          </a:p>
        </p:txBody>
      </p:sp>
      <p:sp>
        <p:nvSpPr>
          <p:cNvPr id="10" name="why-panel"/>
          <p:cNvSpPr/>
          <p:nvPr/>
        </p:nvSpPr>
        <p:spPr>
          <a:xfrm>
            <a:off x="7223760" y="1389888"/>
            <a:ext cx="4419295" cy="4754880"/>
          </a:xfrm>
          <a:prstGeom prst="roundRect">
            <a:avLst>
              <a:gd name="adj" fmla="val 1035"/>
            </a:avLst>
          </a:prstGeom>
          <a:solidFill>
            <a:srgbClr val="E2ECEC"/>
          </a:solidFill>
          <a:ln/>
        </p:spPr>
      </p:sp>
      <p:sp>
        <p:nvSpPr>
          <p:cNvPr id="11" name="why-hex"/>
          <p:cNvSpPr/>
          <p:nvPr/>
        </p:nvSpPr>
        <p:spPr>
          <a:xfrm>
            <a:off x="7406640" y="1572768"/>
            <a:ext cx="685800" cy="593903"/>
          </a:xfrm>
          <a:prstGeom prst="hexagon">
            <a:avLst/>
          </a:prstGeom>
          <a:solidFill>
            <a:srgbClr val="1F6F6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 specialised cell is adapted, in shape, size and organelles, to carry out one particular function.</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Ad Astra combined">
  <a:themeElements>
    <a:clrScheme name="Ad Astra combined">
      <a:dk1>
        <a:srgbClr val="1E2229"/>
      </a:dk1>
      <a:lt1>
        <a:srgbClr val="FFFFFF"/>
      </a:lt1>
      <a:dk2>
        <a:srgbClr val="195955"/>
      </a:dk2>
      <a:lt2>
        <a:srgbClr val="E2ECEC"/>
      </a:lt2>
      <a:accent1>
        <a:srgbClr val="1F6F6A"/>
      </a:accent1>
      <a:accent2>
        <a:srgbClr val="B8862B"/>
      </a:accent2>
      <a:accent3>
        <a:srgbClr val="79A9A6"/>
      </a:accent3>
      <a:accent4>
        <a:srgbClr val="815E1E"/>
      </a:accent4>
      <a:accent5>
        <a:srgbClr val="4A505C"/>
      </a:accent5>
      <a:accent6>
        <a:srgbClr val="D9BF8F"/>
      </a:accent6>
      <a:hlink>
        <a:srgbClr val="1F6F6A"/>
      </a:hlink>
      <a:folHlink>
        <a:srgbClr val="164E4A"/>
      </a:folHlink>
    </a:clrScheme>
    <a:fontScheme name="Ad Astra combined">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Cell Biology · Chapter 4: Specialised cells in animals and plants</dc:title>
  <dc:subject>Biology (Combined Science) · Year 10</dc:subject>
  <dc:creator>Dr Vitor Merissi de Carvalho</dc:creator>
  <cp:lastModifiedBy>Dr Vitor Merissi de Carvalho</cp:lastModifiedBy>
  <cp:revision>1</cp:revision>
  <dcterms:created xsi:type="dcterms:W3CDTF">2026-10-18T17:47:14Z</dcterms:created>
  <dcterms:modified xsi:type="dcterms:W3CDTF">2026-10-18T17:47:14Z</dcterms:modified>
</cp:coreProperties>
</file>