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9a4f81-18eb-b4e2-46fa-7fe8f9a6519f}">
          <p14:sldIdLst>
            <p14:sldId id="256"/>
          </p14:sldIdLst>
        </p14:section>
        <p14:section name="Gate" id="{40d4653f-6790-198b-d516-b22db06364dc}">
          <p14:sldIdLst>
            <p14:sldId id="257"/>
            <p14:sldId id="258"/>
          </p14:sldIdLst>
        </p14:section>
        <p14:section name="Pre-teach" id="{e2864790-c755-5080-1bb3-7223f28ef8db}">
          <p14:sldIdLst>
            <p14:sldId id="259"/>
            <p14:sldId id="260"/>
          </p14:sldIdLst>
        </p14:section>
        <p14:section name="Read-along" id="{1d16da2b-3bda-61c8-f712-0633de49ae1f}">
          <p14:sldIdLst>
            <p14:sldId id="261"/>
            <p14:sldId id="262"/>
          </p14:sldIdLst>
        </p14:section>
        <p14:section name="Teach" id="{44a31ead-ab92-04e9-2244-99043f0d21d4}">
          <p14:sldIdLst>
            <p14:sldId id="263"/>
            <p14:sldId id="264"/>
            <p14:sldId id="265"/>
            <p14:sldId id="266"/>
            <p14:sldId id="267"/>
          </p14:sldIdLst>
        </p14:section>
        <p14:section name="Routes" id="{2bbd549f-691d-ea3b-d56e-640f819dbb29}">
          <p14:sldIdLst>
            <p14:sldId id="268"/>
            <p14:sldId id="269"/>
          </p14:sldIdLst>
        </p14:section>
        <p14:section name="Close" id="{8e23eb17-f913-8307-b5bb-eaa91e2ae52f}">
          <p14:sldIdLst>
            <p14:sldId id="270"/>
          </p14:sldIdLst>
        </p14:section>
        <p14:section name="Answers" id="{34c50ad7-29a9-c4f0-01d2-15424137381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Microscopes and magnification. This chapter gives you the tools for seeing cells: two kinds of microscope, the units cells are measured in, and the magnification equation.
This deck covers the department's lesson: 1 (Microscopes and magnification: How do we see cells, and how do we work out how big they really are?).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drawing of a cell is 30 mm wide. The real cell is 0.2 mm wide. Calculate the magnification of the drawing.  →  150 ×
2. How many micrometres are there in 1 mm?  →  A   1000 µm
3. Resolution is the ability to tell two points apart as ___ structures.  →  separate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150 ×. Magnification = image size ÷ real size = 30 ÷ 0.2 = ×150 (exact, both sizes already in mm).
2. A   1000 µm. 1 mm = 1000 µm. Micrometres are a thousand times smaller than millimetres, so there are a thousand of them in one millimetre.
3. separate. Resolution (resolving power) is about seeing two close points as two separate things. It is not the same as magnification.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microscope: an instrument that makes very small things look bigger. Example: "We used a microscope to look at cells from an onion."
• magnification: how many times bigger the image is than the real object. Example: "At a magnification of 400, the cell looked 400 times bigger than it really is."
• resolution: how much fine detail a microscope can show. Example: "An electron microscope has a higher resolution, so it shows more detail."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micrometre: a unit for measuring cells; a thousand of them make one millimetre. Example: "The cell was about fifty micrometres wide."
• electron microscope: a microscope that uses a beam of electrons instead of light. Example: "The electron microscope showed the tiny ribosomes inside the cell."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Cells are too small to see with your eyes alone.
2. A microscope makes a tiny object look much bigger.
3. How many times bigger it looks is called the magnification.
4. A light microscope uses light and glass lenses.
5. It can magnify a cell up to about two thousand times.
6. An electron microscope uses a beam of electrons instead of light.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It can magnify many thousands of times more.
8. It also shows much finer detail, which we call resolution.
9. Cells are measured in micrometres.
10. There are one thousand micrometres in one millimetre.
11. To find the magnification, divide the image size by the real size.
12. To find the real size, divide the image size by the magnification.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Light microscopes and electron microscopes. Say it in your own words, then check understanding with a quick question: ask a pupil from the pre-teach group first, since they met these words and ideas before the lesson. Pupils try to recall before you re-explain.
A light microscope shines light through a thin specimen on a glass slide and uses two lenses to make it look bigger. You look through the eyepiece lens; the objective lens sits just above the slide, which rests on the stage. The coarse focus knob moves the stage up and down quickly; the fine focus knob makes small changes so the image is sharp. Light microscopes were first used in the seventeenth century, and a good school microscope today magnifies up to about 400 times. The best light microscopes reach about 1500 to 2000 times.
Two words describe how good a microscope is. Magnification is how many times bigger the image is than the real object. Resolution, also called resolving power, is the ability to see two points that are very close together as two separate points. A light microscope cannot separate points closer than about 200 nanometres, however much you magnify, because of the way light behaves. Mitochondria and ribosomes are too small to be seen clearly.
An electron microscope uses a beam of electrons instead of light. Electrons give a far higher resolution and a magnification of up to about two million times. With it, scientists have seen the inside of mitochondria, the structure of ribosomes and the detail of the cell membrane, which has transformed how we understand cells. The cost is high: electron microscopes are very expensive, need a trained operator, are large, and the specimen must be dead and dried, because the beam travels through a vacuum.
Tip: Magnification = how big it looks. Resolution = how much detail you can see. More magnification without more resolution just gives you a bigger blur.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Units: millimetres, micrometres and nanometres. Say it in your own words, then check understanding with a quick question: ask a pupil from the pre-teach group first, since they met these words and ideas before the lesson. Pupils try to recall before you re-explain.
Cells are measured in units smaller than the millimetres on your ruler. There are 10 millimetres (mm) in a centimetre, 1000 micrometres (µm) in a millimetre, and 1000 nanometres (nm) in a micrometre. The symbol µ is the Greek letter mu, and µm is said as micrometre or micron.
To change millimetres into micrometres, multiply by 1000. To change micrometres back into millimetres, divide by 1000. A typical animal cell is between about 10 µm and 100 µm across; a bacterium is about 1 µm to 2 µm, roughly ten times smaller than an animal cell.
Before you use the magnification equation, put both sizes into the same unit. The commonest exam slip is to divide millimetres by micrometres and get an answer a thousand times too big or too small.
Worked example — model it step by step, thinking aloud: A cheek cell is 0.05 mm wide. Write its width in micrometres. (1) Remember the link: 1 mm = 1000 µm. (2) Going from millimetres to micrometres, multiply by 1000. (3) 0.05 × 1000 = 50 µm. Answer: 50 µm.
Tip: mm → µm: multiply by 1000. µm → mm: divide by 1000. Smaller unit, bigger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Calculating magnification. Say it in your own words, then check understanding with a quick question: ask a pupil from the pre-teach group first, since they met these words and ideas before the lesson. Pupils try to recall before you re-explain.
The magnification tells you how many times bigger the image is than the real object, so you divide the size of the image by the real size: magnification = image size ÷ real size. Real size is also called actual size.
Magnification has no unit. Write it with a multiplication sign in front, such as ×200, which means two hundred times bigger. Measure the image with a ruler, in millimetres, and make sure the real size is in millimetres too before you divide.
Draw the equation as a triangle if it helps: image size on top, magnification and real size underneath. Cover the one you want and the triangle shows you whether to multiply or divide.
Worked example — model it step by step, thinking aloud: A drawing of an onion cell is 20 mm long. The real cell is 0.1 mm long. Calculate the magnification of the drawing. (1) Write the equation: magnification = image size ÷ real size. (2) Check the units: both sizes are in millimetres, so no conversion is needed. (3) Substitute: magnification = 20 ÷ 0.1. (4) Calculate: magnification = ×200. Answer: ×200.
Tip: Image over real. The image is always the bigger number, so the magnification is always more than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Calculating magnification. Say it in your own words, then check understanding with a quick question: ask a pupil from the pre-teach group first, since they met these words and ideas before the lesson. Pupils try to recall before you re-explain.
The magnification tells you how many times bigger the image is than the real object, so you divide the size of the image by the real size: magnification = image size ÷ real size. Real size is also called actual size.
Magnification has no unit. Write it with a multiplication sign in front, such as ×200, which means two hundred times bigger. Measure the image with a ruler, in millimetres, and make sure the real size is in millimetres too before you divide.
Draw the equation as a triangle if it helps: image size on top, magnification and real size underneath. Cover the one you want and the triangle shows you whether to multiply or divide.
Worked example — model it step by step, thinking aloud: A drawing of an onion cell is 20 mm long. The real cell is 0.1 mm long. Calculate the magnification of the drawing. (1) Write the equation: magnification = image size ÷ real size. (2) Check the units: both sizes are in millimetres, so no conversion is needed. (3) Substitute: magnification = 20 ÷ 0.1. (4) Calculate: magnification = ×200. Answer: ×200.
Tip: Image over real. The image is always the bigger number, so the magnification is always more than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real size. Say it in your own words, then check understanding with a quick question: ask a pupil from the pre-teach group first, since they met these words and ideas before the lesson. Pupils try to recall before you re-explain.
Often you know how big a cell looks and the magnification, and you want its real size. Rearrange the equation: real size = image size ÷ magnification. The image size divided by how many times it has been magnified gives you the size it started with.
The answer comes out in the same unit as the image size. If you measured the image in millimetres, your real size is in millimetres. The question may then ask for it in micrometres, so multiply by 1000 at the end.
Always show your working: equation, numbers substituted, answer with its unit. Even if you slip on the arithmetic, a clear method earns marks.
Worked example — model it step by step, thinking aloud: Under the microscope at ×300, a plant cell appears 15 mm long. Calculate its real length in millimetres, then give it in micrometres. (1) Rearrange: real size = image size ÷ magnification. (2) Substitute: real size = 15 ÷ 300 = 0.05 mm. (3) Change to micrometres: 0.05 × 1000 = 50 µm. Answer: 0.05 mm, which is 50 µm.
Tip: Cover 'real size' in the triangle: image size over magnification, so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Calculate the magnification.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student draws a cheek cell 24 mm wide. The real cell is 0.06 mm wide. Calculate the magnification of the drawing.
Support — work through the steps with the group: (1) Write the equation: magnification = image size ÷ real size. (2) Check both sizes are in the same unit (here both are mm). (3) Divide the image size by the real size and write × in front of the answer.
Parallel worked example for Support (model it, do not give the task answer): A drawing of a cell is 18 mm long. The real cell is 0.09 mm long. Calculate the magnification. Magnification = image ÷ real.; Both in mm, so no conversion.; 18 ÷ 0.09 = ×200.. Answer: ×200.
Core — reveal the hint only on request: Image over real. Both numbers are already in millimetres.
Stretch — no help; when finished: The same student draws the same cell again, this time 36 mm wide. Without redoing the division from scratch, state the new magnification and explain how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real size in micrometres.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cell appears 36 mm long when viewed at a magnification of ×900. Calculate the real length of the cell in micrometres.
Support — work through the steps with the group: (1) Rearrange: real size = image size ÷ magnification. (2) Divide: the answer is in the same unit as the image (mm). (3) Change mm to µm by multiplying by 1000.
Parallel worked example for Support (model it, do not give the task answer): A cell looks 20 mm long at ×500. Find its real length in micrometres. Real size = 20 ÷ 500 = 0.04 mm.; 0.04 × 1000 = 40 µm.. Answer: 40 µm.
Core — reveal the hint only on request: Divide first to get millimetres, then multiply by 1000 for micrometres.
Stretch — no help; when finished: A bacterium is about 2 µm long. How many of them would fit end to end across this cell? Explain how the answer shows the difference in size between the two kinds of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drawing of a cell is 30 mm wide. The real cell is 0.2 mm wide. Calculate the magnification of the drawing.
Answer: 150 ×. Magnification = image size ÷ real size = 30 ÷ 0.2 = ×150 (exact, both sizes already in mm).
Source of this question: gate item 1 re-asked (options rotated) — this chapter has no third quick-check module.
The ebook also holds task 3, "Light or electron microscope?",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Calculate the magnification. Reveal the answer; pupils mark their own work in a different colour, then read the "why" together. Same destination for every lane, so one answer serves the whole class.
Answer: 400 ×
Why: Magnification = image size ÷ real size = 24 ÷ 0.06 = ×400.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real size in micrometres. Reveal the answer; pupils mark their own work in a different colour, then read the "why" together. Same destination for every lane, so one answer serves the whole class.
Answer: 40 µm
Why: 36 ÷ 900 = 0.04 mm. 1 mm = 1000 µm, so 0.04 mm = 40 µm.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150 ×
Why: Magnification = image size ÷ real size = 30 ÷ 0.2 = ×150 (exact, both sizes already in mm).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Microscopes and magnification</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Microscopes and magnification</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drawing of a cell is 30 mm wide. The real cell is 0.2 mm wide. Calculate the magnification of the drawing.</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micrometres are there in 1 mm?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1000 µm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100 µm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 µm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10 000 µm</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Resolution is the ability to tell two points apart as ___ structures.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separate  ·  magnified  ·  coloured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150 ×</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drawing of a cell is 30 mm wide. The real cell is 0.2 mm wide. Calculate the magnification of the drawing.</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Magnification = image size ÷ real size = 30 ÷ 0.2 = ×150 (exact, both sizes already in mm).</a:t>
            </a:r>
            <a:endParaRPr lang="en-US" sz="18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1000 µm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micrometres are there in 1 mm?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1 mm = 1000 µm. Micrometres are a thousand times smaller than millimetres, so there are a thousand of them in one millimetre.</a:t>
            </a:r>
            <a:endParaRPr lang="en-US" sz="20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separate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Resolution is the ability to tell two points apart as ___ structures.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Resolution (resolving power) is about seeing two close points as two separate things. It is not the same as magnification.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microscope</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instrument that makes very small things look bigger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used a microscope to look at cells from an onion.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magnification</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many times bigger the image is than the real object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a magnification of 400, the cell looked 400 times bigger than it really is.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resolution</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much fine detail a microscope can show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electron microscope has a higher resolution, so it shows more detail.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micrometre</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unit for measuring cells; a thousand of them make one millimetre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cell was about fifty micrometres wide.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electron microscope</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microscope that uses a beam of electrons instead of light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electron microscope showed the tiny ribosomes inside the cell.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Cells are too small to see with your eyes alone.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microscope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makes a tiny object look much bigger.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How many times bigger it looks is called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light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microscope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light and glass lenses.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can magnify a cell up to about two thousand times.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electron microscope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a beam of electrons instead of light.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can magnify many thousands of times more.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also shows much finer detail, which we call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resolution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Cells are measured in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micrometres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one thousand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micrometres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one millimetre.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 find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divide the image size by the real size.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 find the real size, divide the image size by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magnification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Light microscopes and electron microscopes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Magnification = how big it looks. Resolution = how much detail you can see. More magnification without more resolution just gives you a bigger blur.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light microscope shines light through a thin specimen on a glass slide and uses two lenses to make it look bigger.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Two words describe how good a microscope is. Magnification is how many times bigger the image is than the real object.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 electron microscope uses a beam of electrons instead of light.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Units: millimetres, micrometres and nanometres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mm → µm: multiply by 1000. µm → mm: divide by 1000. Smaller unit, bigger number.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cheek cell is 0.05 mm wide. Write its width in micrometres.</a:t>
            </a:r>
            <a:endParaRPr lang="en-US" sz="1800" dirty="0"/>
          </a:p>
        </p:txBody>
      </p:sp>
      <p:sp>
        <p:nvSpPr>
          <p:cNvPr id="14" name="step-box"/>
          <p:cNvSpPr/>
          <p:nvPr/>
        </p:nvSpPr>
        <p:spPr>
          <a:xfrm>
            <a:off x="6126480" y="2888488"/>
            <a:ext cx="5379415" cy="566928"/>
          </a:xfrm>
          <a:prstGeom prst="roundRect">
            <a:avLst>
              <a:gd name="adj" fmla="val 16129"/>
            </a:avLst>
          </a:prstGeom>
          <a:solidFill>
            <a:srgbClr val="E2ECEC"/>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Remember the link: 1 mm = 1000 µm.</a:t>
            </a:r>
            <a:endParaRPr lang="en-US" sz="1800" dirty="0"/>
          </a:p>
        </p:txBody>
      </p:sp>
      <p:sp>
        <p:nvSpPr>
          <p:cNvPr id="18" name="step-box"/>
          <p:cNvSpPr/>
          <p:nvPr/>
        </p:nvSpPr>
        <p:spPr>
          <a:xfrm>
            <a:off x="6126480" y="3546856"/>
            <a:ext cx="5379415" cy="794512"/>
          </a:xfrm>
          <a:prstGeom prst="roundRect">
            <a:avLst>
              <a:gd name="adj" fmla="val 11509"/>
            </a:avLst>
          </a:prstGeom>
          <a:solidFill>
            <a:srgbClr val="E2ECEC"/>
          </a:solidFill>
          <a:ln/>
        </p:spPr>
      </p:sp>
      <p:sp>
        <p:nvSpPr>
          <p:cNvPr id="19" name="step-hex"/>
          <p:cNvSpPr/>
          <p:nvPr/>
        </p:nvSpPr>
        <p:spPr>
          <a:xfrm>
            <a:off x="6217920" y="3761982"/>
            <a:ext cx="420624" cy="364260"/>
          </a:xfrm>
          <a:prstGeom prst="hexagon">
            <a:avLst/>
          </a:prstGeom>
          <a:solidFill>
            <a:srgbClr val="1F6F6A"/>
          </a:solidFill>
          <a:ln/>
        </p:spPr>
      </p:sp>
      <p:sp>
        <p:nvSpPr>
          <p:cNvPr id="20" name="step-hex-label"/>
          <p:cNvSpPr txBox="1"/>
          <p:nvPr/>
        </p:nvSpPr>
        <p:spPr>
          <a:xfrm>
            <a:off x="6217920" y="37619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Going from millimetres to micrometres, multiply by 1000.</a:t>
            </a:r>
            <a:endParaRPr lang="en-US" sz="1800" dirty="0"/>
          </a:p>
        </p:txBody>
      </p:sp>
      <p:sp>
        <p:nvSpPr>
          <p:cNvPr id="22" name="step-box"/>
          <p:cNvSpPr/>
          <p:nvPr/>
        </p:nvSpPr>
        <p:spPr>
          <a:xfrm>
            <a:off x="6126480" y="4432808"/>
            <a:ext cx="5379415" cy="566928"/>
          </a:xfrm>
          <a:prstGeom prst="roundRect">
            <a:avLst>
              <a:gd name="adj" fmla="val 16129"/>
            </a:avLst>
          </a:prstGeom>
          <a:solidFill>
            <a:srgbClr val="E2ECEC"/>
          </a:solidFill>
          <a:ln/>
        </p:spPr>
      </p:sp>
      <p:sp>
        <p:nvSpPr>
          <p:cNvPr id="23" name="step-hex"/>
          <p:cNvSpPr/>
          <p:nvPr/>
        </p:nvSpPr>
        <p:spPr>
          <a:xfrm>
            <a:off x="6217920" y="4534142"/>
            <a:ext cx="420624" cy="364260"/>
          </a:xfrm>
          <a:prstGeom prst="hexagon">
            <a:avLst/>
          </a:prstGeom>
          <a:solidFill>
            <a:srgbClr val="1F6F6A"/>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0.05 × 1000 = 50 µm.</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50 µm</a:t>
            </a:r>
            <a:endParaRPr lang="en-US" sz="1800" dirty="0"/>
          </a:p>
        </p:txBody>
      </p:sp>
      <p:sp>
        <p:nvSpPr>
          <p:cNvPr id="27" name="bullet-card"/>
          <p:cNvSpPr/>
          <p:nvPr/>
        </p:nvSpPr>
        <p:spPr>
          <a:xfrm>
            <a:off x="548640" y="1389888"/>
            <a:ext cx="5074920" cy="945219"/>
          </a:xfrm>
          <a:prstGeom prst="roundRect">
            <a:avLst>
              <a:gd name="adj" fmla="val 7739"/>
            </a:avLst>
          </a:prstGeom>
          <a:solidFill>
            <a:srgbClr val="E6EFEF"/>
          </a:solidFill>
          <a:ln/>
        </p:spPr>
      </p:sp>
      <p:sp>
        <p:nvSpPr>
          <p:cNvPr id="28" name="bullet-hex"/>
          <p:cNvSpPr/>
          <p:nvPr/>
        </p:nvSpPr>
        <p:spPr>
          <a:xfrm>
            <a:off x="676656" y="1696205"/>
            <a:ext cx="384048" cy="332586"/>
          </a:xfrm>
          <a:prstGeom prst="hexagon">
            <a:avLst/>
          </a:prstGeom>
          <a:solidFill>
            <a:srgbClr val="1F6F6A"/>
          </a:solidFill>
          <a:ln/>
        </p:spPr>
      </p:sp>
      <p:sp>
        <p:nvSpPr>
          <p:cNvPr id="29"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Cells are measured in units smaller than the millimetres on your ruler.</a:t>
            </a:r>
            <a:endParaRPr lang="en-US" sz="1800" dirty="0"/>
          </a:p>
        </p:txBody>
      </p:sp>
      <p:sp>
        <p:nvSpPr>
          <p:cNvPr id="30" name="bullet-card"/>
          <p:cNvSpPr/>
          <p:nvPr/>
        </p:nvSpPr>
        <p:spPr>
          <a:xfrm>
            <a:off x="548640" y="2481411"/>
            <a:ext cx="5074920" cy="1224111"/>
          </a:xfrm>
          <a:prstGeom prst="roundRect">
            <a:avLst>
              <a:gd name="adj" fmla="val 5976"/>
            </a:avLst>
          </a:prstGeom>
          <a:solidFill>
            <a:srgbClr val="E6EFEF"/>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481411"/>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change millimetres into micrometres, multiply by 1000. To change micrometres back into millimetres, divide by 1000.</a:t>
            </a:r>
            <a:endParaRPr lang="en-US" sz="1800" dirty="0"/>
          </a:p>
        </p:txBody>
      </p:sp>
      <p:sp>
        <p:nvSpPr>
          <p:cNvPr id="33" name="bullet-card"/>
          <p:cNvSpPr/>
          <p:nvPr/>
        </p:nvSpPr>
        <p:spPr>
          <a:xfrm>
            <a:off x="548640" y="3851825"/>
            <a:ext cx="5074920" cy="945219"/>
          </a:xfrm>
          <a:prstGeom prst="roundRect">
            <a:avLst>
              <a:gd name="adj" fmla="val 7739"/>
            </a:avLst>
          </a:prstGeom>
          <a:solidFill>
            <a:srgbClr val="E6EFEF"/>
          </a:solidFill>
          <a:ln/>
        </p:spPr>
      </p:sp>
      <p:sp>
        <p:nvSpPr>
          <p:cNvPr id="34" name="bullet-hex"/>
          <p:cNvSpPr/>
          <p:nvPr/>
        </p:nvSpPr>
        <p:spPr>
          <a:xfrm>
            <a:off x="676656" y="4158142"/>
            <a:ext cx="384048" cy="332586"/>
          </a:xfrm>
          <a:prstGeom prst="hexagon">
            <a:avLst/>
          </a:prstGeom>
          <a:solidFill>
            <a:srgbClr val="1F6F6A"/>
          </a:solidFill>
          <a:ln/>
        </p:spPr>
      </p:sp>
      <p:sp>
        <p:nvSpPr>
          <p:cNvPr id="35" name="bullet"/>
          <p:cNvSpPr txBox="1"/>
          <p:nvPr/>
        </p:nvSpPr>
        <p:spPr>
          <a:xfrm>
            <a:off x="1143000" y="3851825"/>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Before you use the magnification equation, put both sizes into the same unit.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Calculating magnification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Image over real. The image is always the bigger number, so the magnification is always more than 1.</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magnification tells you how many times bigger the image is than the real object, so you divide the size of the image by the real size: magnification = image size ÷ real size.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Magnification has no unit. Write it with a multiplication sign in front, such as ×200, which means two hundred times bigger.</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Draw the equation as a triangle if it helps: image size on top, magnification and real size underneath.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Calculating magnification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drawing of an onion cell is 20 mm long. The real cell is 0.1 mm long. Calculate the magnification of the drawing.</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magnification = image size ÷ real size.</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units: both sizes are in millimetres, so no conversion is needed.</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Substitute: magnification = 20 ÷ 0.1.</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Calculate: magnification = ×200.</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Finding the real size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Cover 'real size' in the triangle: image size over magnification, so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Under the microscope at ×300, a plant cell appears 15 mm long. Calculate its real length in millimetres, then give it in micrometres.</a:t>
            </a:r>
            <a:endParaRPr lang="en-US" sz="1800" dirty="0"/>
          </a:p>
        </p:txBody>
      </p:sp>
      <p:sp>
        <p:nvSpPr>
          <p:cNvPr id="14" name="step-box"/>
          <p:cNvSpPr/>
          <p:nvPr/>
        </p:nvSpPr>
        <p:spPr>
          <a:xfrm>
            <a:off x="6126480" y="3167380"/>
            <a:ext cx="5379415" cy="794512"/>
          </a:xfrm>
          <a:prstGeom prst="roundRect">
            <a:avLst>
              <a:gd name="adj" fmla="val 11509"/>
            </a:avLst>
          </a:prstGeom>
          <a:solidFill>
            <a:srgbClr val="E2ECEC"/>
          </a:solidFill>
          <a:ln/>
        </p:spPr>
      </p:sp>
      <p:sp>
        <p:nvSpPr>
          <p:cNvPr id="15" name="step-hex"/>
          <p:cNvSpPr/>
          <p:nvPr/>
        </p:nvSpPr>
        <p:spPr>
          <a:xfrm>
            <a:off x="6217920" y="3382506"/>
            <a:ext cx="420624" cy="364260"/>
          </a:xfrm>
          <a:prstGeom prst="hexagon">
            <a:avLst/>
          </a:prstGeom>
          <a:solidFill>
            <a:srgbClr val="1F6F6A"/>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Rearrange: real size = image size ÷ magnification.</a:t>
            </a:r>
            <a:endParaRPr lang="en-US" sz="1800" dirty="0"/>
          </a:p>
        </p:txBody>
      </p:sp>
      <p:sp>
        <p:nvSpPr>
          <p:cNvPr id="18" name="step-box"/>
          <p:cNvSpPr/>
          <p:nvPr/>
        </p:nvSpPr>
        <p:spPr>
          <a:xfrm>
            <a:off x="6126480" y="4053332"/>
            <a:ext cx="5379415" cy="566928"/>
          </a:xfrm>
          <a:prstGeom prst="roundRect">
            <a:avLst>
              <a:gd name="adj" fmla="val 16129"/>
            </a:avLst>
          </a:prstGeom>
          <a:solidFill>
            <a:srgbClr val="E2ECEC"/>
          </a:solidFill>
          <a:ln/>
        </p:spPr>
      </p:sp>
      <p:sp>
        <p:nvSpPr>
          <p:cNvPr id="19" name="step-hex"/>
          <p:cNvSpPr/>
          <p:nvPr/>
        </p:nvSpPr>
        <p:spPr>
          <a:xfrm>
            <a:off x="6217920" y="4154666"/>
            <a:ext cx="420624" cy="364260"/>
          </a:xfrm>
          <a:prstGeom prst="hexagon">
            <a:avLst/>
          </a:prstGeom>
          <a:solidFill>
            <a:srgbClr val="1F6F6A"/>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real size = 15 ÷ 300 = 0.05 mm.</a:t>
            </a:r>
            <a:endParaRPr lang="en-US" sz="1800" dirty="0"/>
          </a:p>
        </p:txBody>
      </p:sp>
      <p:sp>
        <p:nvSpPr>
          <p:cNvPr id="22" name="step-box"/>
          <p:cNvSpPr/>
          <p:nvPr/>
        </p:nvSpPr>
        <p:spPr>
          <a:xfrm>
            <a:off x="6126480" y="4711700"/>
            <a:ext cx="5379415" cy="566928"/>
          </a:xfrm>
          <a:prstGeom prst="roundRect">
            <a:avLst>
              <a:gd name="adj" fmla="val 16129"/>
            </a:avLst>
          </a:prstGeom>
          <a:solidFill>
            <a:srgbClr val="E2ECEC"/>
          </a:solidFill>
          <a:ln/>
        </p:spPr>
      </p:sp>
      <p:sp>
        <p:nvSpPr>
          <p:cNvPr id="23" name="step-hex"/>
          <p:cNvSpPr/>
          <p:nvPr/>
        </p:nvSpPr>
        <p:spPr>
          <a:xfrm>
            <a:off x="6217920" y="4813034"/>
            <a:ext cx="420624" cy="364260"/>
          </a:xfrm>
          <a:prstGeom prst="hexagon">
            <a:avLst/>
          </a:prstGeom>
          <a:solidFill>
            <a:srgbClr val="1F6F6A"/>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to micrometres: 0.05 × 1000 = 50 µm.</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0.05 mm, which is 50 µm</a:t>
            </a:r>
            <a:endParaRPr lang="en-US" sz="1800" dirty="0"/>
          </a:p>
        </p:txBody>
      </p:sp>
      <p:sp>
        <p:nvSpPr>
          <p:cNvPr id="27" name="bullet-card"/>
          <p:cNvSpPr/>
          <p:nvPr/>
        </p:nvSpPr>
        <p:spPr>
          <a:xfrm>
            <a:off x="548640" y="1389888"/>
            <a:ext cx="5074920" cy="1244769"/>
          </a:xfrm>
          <a:prstGeom prst="roundRect">
            <a:avLst>
              <a:gd name="adj" fmla="val 5877"/>
            </a:avLst>
          </a:prstGeom>
          <a:solidFill>
            <a:srgbClr val="E6EFEF"/>
          </a:solidFill>
          <a:ln/>
        </p:spPr>
      </p:sp>
      <p:sp>
        <p:nvSpPr>
          <p:cNvPr id="28" name="bullet-hex"/>
          <p:cNvSpPr/>
          <p:nvPr/>
        </p:nvSpPr>
        <p:spPr>
          <a:xfrm>
            <a:off x="676656" y="1845980"/>
            <a:ext cx="384048" cy="332586"/>
          </a:xfrm>
          <a:prstGeom prst="hexagon">
            <a:avLst/>
          </a:prstGeom>
          <a:solidFill>
            <a:srgbClr val="1F6F6A"/>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Often you know how big a cell looks and the magnification, and you want its real size.</a:t>
            </a:r>
            <a:endParaRPr lang="en-US" sz="2200" dirty="0"/>
          </a:p>
        </p:txBody>
      </p:sp>
      <p:sp>
        <p:nvSpPr>
          <p:cNvPr id="30" name="bullet-card"/>
          <p:cNvSpPr/>
          <p:nvPr/>
        </p:nvSpPr>
        <p:spPr>
          <a:xfrm>
            <a:off x="548640" y="2780961"/>
            <a:ext cx="5074920" cy="903901"/>
          </a:xfrm>
          <a:prstGeom prst="roundRect">
            <a:avLst>
              <a:gd name="adj" fmla="val 8093"/>
            </a:avLst>
          </a:prstGeom>
          <a:solidFill>
            <a:srgbClr val="E6EFEF"/>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780961"/>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answer comes out in the same unit as the image size.</a:t>
            </a:r>
            <a:endParaRPr lang="en-US" sz="2200" dirty="0"/>
          </a:p>
        </p:txBody>
      </p:sp>
      <p:sp>
        <p:nvSpPr>
          <p:cNvPr id="33" name="bullet-card"/>
          <p:cNvSpPr/>
          <p:nvPr/>
        </p:nvSpPr>
        <p:spPr>
          <a:xfrm>
            <a:off x="548640" y="3831167"/>
            <a:ext cx="5074920" cy="1244769"/>
          </a:xfrm>
          <a:prstGeom prst="roundRect">
            <a:avLst>
              <a:gd name="adj" fmla="val 5877"/>
            </a:avLst>
          </a:prstGeom>
          <a:solidFill>
            <a:srgbClr val="E6EFEF"/>
          </a:solidFill>
          <a:ln/>
        </p:spPr>
      </p:sp>
      <p:sp>
        <p:nvSpPr>
          <p:cNvPr id="34" name="bullet-hex"/>
          <p:cNvSpPr/>
          <p:nvPr/>
        </p:nvSpPr>
        <p:spPr>
          <a:xfrm>
            <a:off x="676656" y="4287259"/>
            <a:ext cx="384048" cy="332586"/>
          </a:xfrm>
          <a:prstGeom prst="hexagon">
            <a:avLst/>
          </a:prstGeom>
          <a:solidFill>
            <a:srgbClr val="1F6F6A"/>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Always show your working: equation, numbers substituted, answer with its unit.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Calculate the magnification</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student draws a cheek cell 24 mm wide. The real cell is 0.06 mm wide. Calculate the magnification of the drawing.</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equation: magnification = image size ÷ real size.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both sizes are in the same unit (here both are mm).</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image size by the real size and write × in front of the answer.</a:t>
            </a:r>
            <a:endParaRPr lang="en-US" sz="1800" dirty="0"/>
          </a:p>
        </p:txBody>
      </p:sp>
      <p:sp>
        <p:nvSpPr>
          <p:cNvPr id="17" name="col-Core"/>
          <p:cNvSpPr/>
          <p:nvPr/>
        </p:nvSpPr>
        <p:spPr>
          <a:xfrm>
            <a:off x="5490762" y="2948940"/>
            <a:ext cx="2938987" cy="3195828"/>
          </a:xfrm>
          <a:prstGeom prst="roundRect">
            <a:avLst>
              <a:gd name="adj" fmla="val 1867"/>
            </a:avLst>
          </a:prstGeom>
          <a:solidFill>
            <a:srgbClr val="C7DB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Image over real. Both numbers are already in millimetres.</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1F6F6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student draws the same cell again, this time 36 mm wide. Without redoing the division from scratch, state the new magnification and explain how you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Find the real size in micrometres</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cell appears 36 mm long when viewed at a magnification of ×900. Calculate the real length of the cell in micrometres.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µm</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Rearrange: real size = image size ÷ magnification.</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answer is in the same unit as the image (mm).</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mm to µm by multiplying by 1000.</a:t>
            </a:r>
            <a:endParaRPr lang="en-US" sz="1800" dirty="0"/>
          </a:p>
        </p:txBody>
      </p:sp>
      <p:sp>
        <p:nvSpPr>
          <p:cNvPr id="17" name="col-Core"/>
          <p:cNvSpPr/>
          <p:nvPr/>
        </p:nvSpPr>
        <p:spPr>
          <a:xfrm>
            <a:off x="4338218" y="2948940"/>
            <a:ext cx="3515258" cy="3195828"/>
          </a:xfrm>
          <a:prstGeom prst="roundRect">
            <a:avLst>
              <a:gd name="adj" fmla="val 1717"/>
            </a:avLst>
          </a:prstGeom>
          <a:solidFill>
            <a:srgbClr val="C7DB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Divide first to get millimetres, then multiply by 1000 for micrometres.</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bacterium is about 2 µm long. How many of them would fit end to end across this cell? Explain how the answer shows the difference in size between the two kinds of cell.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drawing of a cell is 30 mm wide. The real cell is 0.2 mm wide. Calculate the magnification of the drawing.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Calculate the magnification</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student draws a cheek cell 24 mm wide. The real cell is 0.06 mm wide. Calculate the magnification of the drawing.</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400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Magnification = image size ÷ real size = 24 ÷ 0.06 = ×400.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Find the real size in micrometres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cell appears 36 mm long when viewed at a magnification of ×900. Calculate the real length of the cell in micrometres.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40 µm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36 ÷ 900 = 0.04 mm. 1 mm = 1000 µm, so 0.04 mm = 40 µm.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drawing of a cell is 30 mm wide. The real cell is 0.2 mm wide. Calculate the magnification of the drawing.</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Magnification = image size ÷ real size = 30 ÷ 0.2 = ×150 (exact, both sizes already in mm).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1: Microscopes and magnification</dc:title>
  <dc:subject>Biology (Combined Science) · Year 10</dc:subject>
  <dc:creator>Dr Vitor Merissi de Carvalho</dc:creator>
  <cp:lastModifiedBy>Dr Vitor Merissi de Carvalho</cp:lastModifiedBy>
  <cp:revision>1</cp:revision>
  <dcterms:created xsi:type="dcterms:W3CDTF">2026-10-19T06:07:18Z</dcterms:created>
  <dcterms:modified xsi:type="dcterms:W3CDTF">2026-10-19T06:07:18Z</dcterms:modified>
</cp:coreProperties>
</file>