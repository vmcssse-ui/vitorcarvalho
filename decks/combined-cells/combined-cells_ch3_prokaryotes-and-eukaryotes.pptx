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dc768af-25ee-e2e2-8853-fbc9fdd07b75}">
          <p14:sldIdLst>
            <p14:sldId id="256"/>
          </p14:sldIdLst>
        </p14:section>
        <p14:section name="Gate" id="{3c0d4cda-c594-7d7b-51fc-edc2085e4ee9}">
          <p14:sldIdLst>
            <p14:sldId id="257"/>
            <p14:sldId id="258"/>
          </p14:sldIdLst>
        </p14:section>
        <p14:section name="Pre-teach" id="{4dd03100-1a9e-76f5-9933-b3a3684a7727}">
          <p14:sldIdLst>
            <p14:sldId id="259"/>
          </p14:sldIdLst>
        </p14:section>
        <p14:section name="Read-along" id="{accaa23b-62c0-afd9-30de-2f1e0b2149ac}">
          <p14:sldIdLst>
            <p14:sldId id="260"/>
            <p14:sldId id="261"/>
          </p14:sldIdLst>
        </p14:section>
        <p14:section name="Teach" id="{8418b2e4-4bb8-ee99-c397-ac3045a98b34}">
          <p14:sldIdLst>
            <p14:sldId id="262"/>
            <p14:sldId id="263"/>
            <p14:sldId id="264"/>
          </p14:sldIdLst>
        </p14:section>
        <p14:section name="Routes" id="{5d916221-b352-e6a6-957d-1295272fcd4c}">
          <p14:sldIdLst>
            <p14:sldId id="265"/>
            <p14:sldId id="266"/>
            <p14:sldId id="267"/>
          </p14:sldIdLst>
        </p14:section>
        <p14:section name="Close" id="{aa2d75f5-5562-a3e5-f4a2-ce8aef499392}">
          <p14:sldIdLst>
            <p14:sldId id="268"/>
          </p14:sldIdLst>
        </p14:section>
        <p14:section name="Answers" id="{5f812027-a3d2-1b02-2395-823b86b5f984}">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Eukaryotic and prokaryotic cells. This chapter compares the cells you have met so far with bacterial cells: what a bacterium has, what it lacks, and how much smaller it is.
This deck covers the department's lesson: 3 (Eukaryotic and prokaryotic cells: How is a bacterial cell different from an animal or plant cell?).
Read the big question aloud: "What is a cell made of, and how does it get what it needs?"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Where is the DNA in a prokaryotic cell?  →  C   free in the cytoplasm as a single loop
2. A ___ is a small ring of extra DNA found in a bacterial cell.  →  plasmid
3. Which of these is a prokaryote?  →  D   a bacterium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free in the cytoplasm as a single loop. Prokaryotes have no nucleus. Their main DNA is one large loop lying free in the cytoplasm, often with small plasmids as well.
2. plasmid. Plasmids are small rings of DNA, separate from the main loop, that can carry useful extra genes such as antibiotic resistance.
3. D   a bacterium. Bacteria are prokaryotes: single cells with no nucleus. Yeast is a fungus, and palisade and sperm cells are plant and animal cells; all three are eukaryotic.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bacteria: very small living things made of just one cell. Example: "Bacteria in yoghurt turn milk sour."
• prokaryote: a cell with no nucleus, such as a bacterium. Example: "A prokaryote keeps its DNA loose in the cytoplasm."
• eukaryote: a cell with a nucleus, such as an animal or plant cell. Example: "Every cell in your body is a eukaryote."
• plasmid: a small ring of extra DNA in a bacterium. Example: "A plasmid can carry a gene that protects the bacterium from an antibiotic."
• flagellum: a tail that some bacteria use to swim. Example: "The bacterium spun its flagellum to move towards food."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There are two main types of cell.
2. Animal and plant cells are eukaryotic cells.
3. Their DNA is kept inside a nucleus.
4. Bacteria are prokaryotic cells.
5. They are much smaller than animal and plant cells.
6. A bacterium has no nucleus.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Its DNA floats free in the cytoplasm as one big loop.
8. It may also have small rings of DNA called plasmids.
9. It has a cell membrane and a cell wall.
10. Some bacteria have a tail called a flagellum to swim with.
11. Some have a slime capsule to protect them.
12. Bacteria have no mitochondria and no chloroplasts.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kinds of cell. Say it in your own words, then check understanding with a quick question: ask a pupil from the pre-teach group first, since they met these words and ideas before the lesson. Pupils try to recall before you re-explain.
All living things are built from one of two kinds of cell. Eukaryotic cells have a nucleus that holds their DNA, and they contain organelles surrounded by membranes, such as mitochondria. Animals, plants, fungi (including yeast) and algae are all made of eukaryotic cells. Prokaryotic cells have no nucleus: their DNA lies free in the cytoplasm. Bacteria are prokaryotes. Each bacterium is a single prokaryotic cell.
Size is the other big difference. A typical animal cell is 10 µm to 100 µm across. A typical bacterium is 1 µm to 2 µm long, so bacteria are roughly ten to a hundred times smaller than the cells of your body. Scientists say they are one or two orders of magnitude smaller: each order of magnitude is a factor of ten.
Because they are so small, bacteria can only be seen as dots with a school microscope. Their internal structure was worked out with electron microscopes.
Worked example — model it step by step, thinking aloud: An animal cell is 20 µm across. A bacterium is 2 µm long. How many times bigger is the animal cell? (1) Both sizes are already in micrometres, so no conversion is needed. (2) Divide the larger size by the smaller: 20 ÷ 2. (3) The animal cell is 10 times bigger: one order of magnitude. Answer: 10 times bigger (one order of magnitude).
Tip: Pro-karyote = 'before the nucleus'. Eu-karyote = 'true nucleus'. Bacteria are prokaryotes.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Inside a bacterial cell. Say it in your own words, then check understanding with a quick question: ask a pupil from the pre-teach group first, since they met these words and ideas before the lesson. Pupils try to recall before you re-explain.
A bacterial cell has cytoplasm surrounded by a cell membrane, and outside that a cell wall. The bacterial cell wall is not made of cellulose like a plant's; it has its own chemistry, but it does the same job of supporting the cell and stopping it bursting. In the cytoplasm are ribosomes, so bacteria can make proteins, and the genetic material: a single large loop of DNA that is not inside a nucleus.
Many bacteria also carry one or more plasmids. A plasmid is a small ring of extra DNA with a few genes on it, which can give the bacterium a particular feature, such as resistance to an antibiotic. Plasmids can be passed from one bacterium to another.
Some bacteria have extra structures on the outside. A flagellum is a long, whip-like tail that rotates to push the cell along, so the bacterium can move towards food or away from harm. A slime capsule is a sticky outer coat that protects the cell from drying out and from being attacked, and helps it stick to surfaces such as teeth or the lining of the gut.
Tip: Bacteria have ribosomes but no mitochondria. They still respire: the reactions happen in the cytoplasm and across the membrane.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prokaryotes and eukaryotes. Say it in your own words, then check understanding with a quick question: ask a pupil from the pre-teach group first, since they met these words and ideas before the lesson. Pupils try to recall before you re-explain.
Both kinds of cell have cytoplasm, a cell membrane, ribosomes and DNA, and both can make proteins and release energy by respiration. The differences are in how the DNA is stored and in what else the cell contains.
In a eukaryotic cell, the DNA is in chromosomes inside a nucleus, which protects it, and the cell has membrane-bound organelles such as mitochondria, and in plants chloroplasts. In a prokaryotic cell, the DNA is a single loop free in the cytoplasm, there may be plasmids, and there is no nucleus, no mitochondria and no chloroplasts. Prokaryotes are far smaller.
A good exam answer about the differences names at least two: no nucleus (DNA free in the cytoplasm), plasmids, no mitochondria or chloroplasts, and the much smaller size. A cell wall is not a reliable difference, because plant and fungal cells have one too.
Tip: Two safe differences: where the DNA is (nucleus or free), and size (bacteria are much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Parts of a bacterium.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bacterial cell to its function.
Support — work through the steps with the group: (1) Anything with 'DNA' in it is the loop or the plasmid: the big loop carries most of the genes, the small ring carries extras. (2) Movement goes with the flagellum (the tail). (3) Slime is sticky and protective; the wall is for support.
Parallel worked example for Support (model it, do not give the task answer): Match: cell membrane; cytoplasm; ribosomes — to: where proteins are made; controls what enters and leaves; where most reactions happen. Membrane = controls what enters and leaves.; Cytoplasm = where most reactions happen.; Ribosomes = where proteins are made.. Answer: membrane → enters and leaves; cytoplasm → reactions; ribosomes → proteins.
Core — reveal the hint only on request: Two DNA parts (big loop, small ring), one moving part, one sticky coat, one supporting wall.
Stretch — no help; when finished: Explain how a plasmid carrying an antibiotic-resistance gene could make an infection harder to treat, and why it matters that plasmids can pass between bacteria.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Parts of a bacterium.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bacterial cell to its function.
Support — work through the steps with the group: (1) Anything with 'DNA' in it is the loop or the plasmid: the big loop carries most of the genes, the small ring carries extras. (2) Movement goes with the flagellum (the tail). (3) Slime is sticky and protective; the wall is for support.
Parallel worked example for Support (model it, do not give the task answer): Match: cell membrane; cytoplasm; ribosomes — to: where proteins are made; controls what enters and leaves; where most reactions happen. Membrane = controls what enters and leaves.; Cytoplasm = where most reactions happen.; Ribosomes = where proteins are made.. Answer: membrane → enters and leaves; cytoplasm → reactions; ribosomes → proteins.
Core — reveal the hint only on request: Two DNA parts (big loop, small ring), one moving part, one sticky coat, one supporting wall.
Stretch — no help; when finished: Explain how a plasmid carrying an antibiotic-resistance gene could make an infection harder to treat, and why it matters that plasmids can pass between bacteria.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big is a bacterium?.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bacterium is 2 µm long. In an electron micrograph it appears 50 mm long. Calculate the magnification of the micrograph.
Support — work through the steps with the group: (1) Convert the image size to micrometres: multiply mm by 1000. (2) Write magnification = image size ÷ real size. (3) Divide and write × in front of the answer.
Parallel worked example for Support (model it, do not give the task answer): A bacterium 4 µm long appears 20 mm long in a micrograph. Calculate the magnification. 20 mm = 20 × 1000 = 20 000 µm.; Magnification = 20 000 ÷ 4.; = ×5000.. Answer: ×5000.
Core — reveal the hint only on request: The two sizes are in different units. Make them the same before you divide.
Stretch — no help; when finished: Explain why a light microscope could not have produced this image, using the words resolution and magnification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Where is the DNA in a prokaryotic cell?
Answer: B   free in the cytoplasm as a single loop. Prokaryotes have no nucleus. Their main DNA is one large loop lying free in the cytoplasm, often with small plasmids as well.
Source of this question: gate item 1 re-asked (options rotated) — this chapter has no third quick-check module.
The ebook also holds task 3, "Built to survive",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Parts of a bacterium. Reveal the answer; pupils mark their own work in a different colour, then read the "why" together. Same destination for every lane, so one answer serves the whole class.
Answer: slime capsule  →  B  protects the cell and helps it stick to surfaces; flagellum  →  E  rotates to move the cell along; plasmid  →  D  small ring of DNA that can carry extra genes, such as antibiotic resistance; cell wall  →  C  supports the cell and stops it bursting; single loop of DNA  →  A  carries most of the genetic information, free in the cytoplasm
Why: Slime capsule = protection and sticking; flagellum = movement; plasmid = ring of extra genes; cell wall = support; DNA loop = the main genetic information, free in the cytoplasm.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big is a bacterium?. Reveal the answer; pupils mark their own work in a different colour, then read the "why" together. Same destination for every lane, so one answer serves the whole class.
Answer: 25 000 ×
Why: 50 mm = 50 000 µm; 50 000 ÷ 2 = ×25 000.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free in the cytoplasm as a single loop
Why: Prokaryotes have no nucleus. Their main DNA is one large loop lying free in the cytoplasm, often with small plasmids as well.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Biology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Cell Biology · AQA 8464</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Eukaryotic and prokaryotic cells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2EC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Eukaryotic and prokaryotic cells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is a cell made of, and how does it get what it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Where is the DNA in a prokaryotic cell?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inside a nucleus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inside the cell wall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free in the cytoplasm as a single loop</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inside the mitochondria</a:t>
            </a:r>
            <a:endParaRPr lang="en-US" sz="24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is a small ring of extra DNA found in a bacterial cell.</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plasmid  ·  flagellum  ·  ribosome</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prokaryote?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sperm cell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yeast cell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palisade cell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bacterium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free in the cytoplasm as a single loop</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Where is the DNA in a prokaryotic cell?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Prokaryotes have no nucleus. Their main DNA is one large loop lying free in the cytoplasm, often with small plasmids as well.</a:t>
            </a:r>
            <a:endParaRPr lang="en-US" sz="20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plasmid</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___ is a small ring of extra DNA found in a bacterial cell.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Plasmids are small rings of DNA, separate from the main loop, that can carry useful extra genes such as antibiotic resistance.</a:t>
            </a:r>
            <a:endParaRPr lang="en-US" sz="20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bacterium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prokaryote?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Bacteria are prokaryotes: single cells with no nucleus. Yeast is a fungus, and palisade and sperm cells are plant and animal cells; all three are eukaryotic.</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6EFEF"/>
          </a:solidFill>
          <a:ln/>
        </p:spPr>
      </p:sp>
      <p:sp>
        <p:nvSpPr>
          <p:cNvPr id="12" name="kw-hex"/>
          <p:cNvSpPr/>
          <p:nvPr/>
        </p:nvSpPr>
        <p:spPr>
          <a:xfrm>
            <a:off x="658368" y="2135261"/>
            <a:ext cx="411480" cy="356342"/>
          </a:xfrm>
          <a:prstGeom prst="hexagon">
            <a:avLst/>
          </a:prstGeom>
          <a:solidFill>
            <a:srgbClr val="1F6F6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bacteria</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very small living things made of just one cell</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Bacteria in yoghurt turn milk sour.</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prokaryote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cell with no nucleus, such as a bacterium</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prokaryote keeps its DNA loose in the cytoplasm.</a:t>
            </a:r>
            <a:endParaRPr lang="en-US" sz="1800" dirty="0"/>
          </a:p>
        </p:txBody>
      </p:sp>
      <p:sp>
        <p:nvSpPr>
          <p:cNvPr id="21" name="kw-row"/>
          <p:cNvSpPr/>
          <p:nvPr/>
        </p:nvSpPr>
        <p:spPr>
          <a:xfrm>
            <a:off x="548640" y="3639312"/>
            <a:ext cx="11094415" cy="786384"/>
          </a:xfrm>
          <a:prstGeom prst="roundRect">
            <a:avLst>
              <a:gd name="adj" fmla="val 6977"/>
            </a:avLst>
          </a:prstGeom>
          <a:solidFill>
            <a:srgbClr val="E6EFEF"/>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eukaryote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cell with a nucleus, such as an animal or plant cell</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Every cell in your body is a eukaryote.</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plasmid</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small ring of extra DNA in a bacterium</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plasmid can carry a gene that protects the bacterium from an antibiotic.</a:t>
            </a:r>
            <a:endParaRPr lang="en-US" sz="1800" dirty="0"/>
          </a:p>
        </p:txBody>
      </p:sp>
      <p:sp>
        <p:nvSpPr>
          <p:cNvPr id="31" name="kw-row"/>
          <p:cNvSpPr/>
          <p:nvPr/>
        </p:nvSpPr>
        <p:spPr>
          <a:xfrm>
            <a:off x="548640" y="5358384"/>
            <a:ext cx="11094415" cy="786384"/>
          </a:xfrm>
          <a:prstGeom prst="roundRect">
            <a:avLst>
              <a:gd name="adj" fmla="val 6977"/>
            </a:avLst>
          </a:prstGeom>
          <a:solidFill>
            <a:srgbClr val="E6EFEF"/>
          </a:solidFill>
          <a:ln/>
        </p:spPr>
      </p:sp>
      <p:sp>
        <p:nvSpPr>
          <p:cNvPr id="32" name="kw-hex"/>
          <p:cNvSpPr/>
          <p:nvPr/>
        </p:nvSpPr>
        <p:spPr>
          <a:xfrm>
            <a:off x="658368" y="5573405"/>
            <a:ext cx="411480" cy="356342"/>
          </a:xfrm>
          <a:prstGeom prst="hexagon">
            <a:avLst/>
          </a:prstGeom>
          <a:solidFill>
            <a:srgbClr val="1F6F6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flagellum</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tail that some bacteria use to swim</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bacterium spun its flagellum to move towards food.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two main types of cell.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Animal and plant cells are eukaryotic cells.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Their DNA is kept inside a nucleus.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Bacteria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prokaryotic cells.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are much smaller than animal and plant cells.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bacterium has no nucleus.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Its DNA floats free in the cytoplasm as one big loop.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may also have small rings of DNA called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plasmids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has a cell membrane and a cell wall.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bacteria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have a tail called a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flagellum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to swim with.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have a slime capsule to protect them.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Bacteria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have no mitochondria and no chloroplasts.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Two kinds of cell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Pro-karyote = 'before the nucleus'. Eu-karyote = 'true nucleus'. Bacteria are prokaryotes.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An animal cell is 20 µm across. A bacterium is 2 µm long. How many times bigger is the animal cell?</a:t>
            </a:r>
            <a:endParaRPr lang="en-US" sz="1800" dirty="0"/>
          </a:p>
        </p:txBody>
      </p:sp>
      <p:sp>
        <p:nvSpPr>
          <p:cNvPr id="14" name="step-box"/>
          <p:cNvSpPr/>
          <p:nvPr/>
        </p:nvSpPr>
        <p:spPr>
          <a:xfrm>
            <a:off x="6126480" y="2888488"/>
            <a:ext cx="5379415" cy="794512"/>
          </a:xfrm>
          <a:prstGeom prst="roundRect">
            <a:avLst>
              <a:gd name="adj" fmla="val 11509"/>
            </a:avLst>
          </a:prstGeom>
          <a:solidFill>
            <a:srgbClr val="E2ECEC"/>
          </a:solidFill>
          <a:ln/>
        </p:spPr>
      </p:sp>
      <p:sp>
        <p:nvSpPr>
          <p:cNvPr id="15" name="step-hex"/>
          <p:cNvSpPr/>
          <p:nvPr/>
        </p:nvSpPr>
        <p:spPr>
          <a:xfrm>
            <a:off x="6217920" y="3103614"/>
            <a:ext cx="420624" cy="364260"/>
          </a:xfrm>
          <a:prstGeom prst="hexagon">
            <a:avLst/>
          </a:prstGeom>
          <a:solidFill>
            <a:srgbClr val="1F6F6A"/>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Both sizes are already in micrometres, so no conversion is needed.</a:t>
            </a:r>
            <a:endParaRPr lang="en-US" sz="1800" dirty="0"/>
          </a:p>
        </p:txBody>
      </p:sp>
      <p:sp>
        <p:nvSpPr>
          <p:cNvPr id="18" name="step-box"/>
          <p:cNvSpPr/>
          <p:nvPr/>
        </p:nvSpPr>
        <p:spPr>
          <a:xfrm>
            <a:off x="6126480" y="3774440"/>
            <a:ext cx="5379415" cy="566928"/>
          </a:xfrm>
          <a:prstGeom prst="roundRect">
            <a:avLst>
              <a:gd name="adj" fmla="val 16129"/>
            </a:avLst>
          </a:prstGeom>
          <a:solidFill>
            <a:srgbClr val="E2ECEC"/>
          </a:solidFill>
          <a:ln/>
        </p:spPr>
      </p:sp>
      <p:sp>
        <p:nvSpPr>
          <p:cNvPr id="19" name="step-hex"/>
          <p:cNvSpPr/>
          <p:nvPr/>
        </p:nvSpPr>
        <p:spPr>
          <a:xfrm>
            <a:off x="6217920" y="3875774"/>
            <a:ext cx="420624" cy="364260"/>
          </a:xfrm>
          <a:prstGeom prst="hexagon">
            <a:avLst/>
          </a:prstGeom>
          <a:solidFill>
            <a:srgbClr val="1F6F6A"/>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Divide the larger size by the smaller: 20 ÷ 2.</a:t>
            </a:r>
            <a:endParaRPr lang="en-US" sz="1800" dirty="0"/>
          </a:p>
        </p:txBody>
      </p:sp>
      <p:sp>
        <p:nvSpPr>
          <p:cNvPr id="22" name="step-box"/>
          <p:cNvSpPr/>
          <p:nvPr/>
        </p:nvSpPr>
        <p:spPr>
          <a:xfrm>
            <a:off x="6126480" y="4432808"/>
            <a:ext cx="5379415" cy="794512"/>
          </a:xfrm>
          <a:prstGeom prst="roundRect">
            <a:avLst>
              <a:gd name="adj" fmla="val 11509"/>
            </a:avLst>
          </a:prstGeom>
          <a:solidFill>
            <a:srgbClr val="E2ECEC"/>
          </a:solidFill>
          <a:ln/>
        </p:spPr>
      </p:sp>
      <p:sp>
        <p:nvSpPr>
          <p:cNvPr id="23" name="step-hex"/>
          <p:cNvSpPr/>
          <p:nvPr/>
        </p:nvSpPr>
        <p:spPr>
          <a:xfrm>
            <a:off x="6217920" y="4647934"/>
            <a:ext cx="420624" cy="364260"/>
          </a:xfrm>
          <a:prstGeom prst="hexagon">
            <a:avLst/>
          </a:prstGeom>
          <a:solidFill>
            <a:srgbClr val="1F6F6A"/>
          </a:solidFill>
          <a:ln/>
        </p:spPr>
      </p:sp>
      <p:sp>
        <p:nvSpPr>
          <p:cNvPr id="24" name="step-hex-label"/>
          <p:cNvSpPr txBox="1"/>
          <p:nvPr/>
        </p:nvSpPr>
        <p:spPr>
          <a:xfrm>
            <a:off x="6217920" y="46479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animal cell is 10 times bigger: one order of magnitude.</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10 times bigger (one order of magnitude)</a:t>
            </a:r>
            <a:endParaRPr lang="en-US" sz="1800" dirty="0"/>
          </a:p>
        </p:txBody>
      </p:sp>
      <p:sp>
        <p:nvSpPr>
          <p:cNvPr id="27" name="bullet-card"/>
          <p:cNvSpPr/>
          <p:nvPr/>
        </p:nvSpPr>
        <p:spPr>
          <a:xfrm>
            <a:off x="548640" y="1389888"/>
            <a:ext cx="5074920" cy="810937"/>
          </a:xfrm>
          <a:prstGeom prst="roundRect">
            <a:avLst>
              <a:gd name="adj" fmla="val 9021"/>
            </a:avLst>
          </a:prstGeom>
          <a:solidFill>
            <a:srgbClr val="E6EFEF"/>
          </a:solidFill>
          <a:ln/>
        </p:spPr>
      </p:sp>
      <p:sp>
        <p:nvSpPr>
          <p:cNvPr id="28" name="bullet-hex"/>
          <p:cNvSpPr/>
          <p:nvPr/>
        </p:nvSpPr>
        <p:spPr>
          <a:xfrm>
            <a:off x="676656" y="1629064"/>
            <a:ext cx="384048" cy="332586"/>
          </a:xfrm>
          <a:prstGeom prst="hexagon">
            <a:avLst/>
          </a:prstGeom>
          <a:solidFill>
            <a:srgbClr val="1F6F6A"/>
          </a:solidFill>
          <a:ln/>
        </p:spPr>
      </p:sp>
      <p:sp>
        <p:nvSpPr>
          <p:cNvPr id="29"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All living things are built from one of two kinds of cell.</a:t>
            </a:r>
            <a:endParaRPr lang="en-US" sz="2200" dirty="0"/>
          </a:p>
        </p:txBody>
      </p:sp>
      <p:sp>
        <p:nvSpPr>
          <p:cNvPr id="30" name="bullet-card"/>
          <p:cNvSpPr/>
          <p:nvPr/>
        </p:nvSpPr>
        <p:spPr>
          <a:xfrm>
            <a:off x="548640" y="2347129"/>
            <a:ext cx="5074920" cy="1151805"/>
          </a:xfrm>
          <a:prstGeom prst="roundRect">
            <a:avLst>
              <a:gd name="adj" fmla="val 6351"/>
            </a:avLst>
          </a:prstGeom>
          <a:solidFill>
            <a:srgbClr val="E6EFEF"/>
          </a:solidFill>
          <a:ln/>
        </p:spPr>
      </p:sp>
      <p:sp>
        <p:nvSpPr>
          <p:cNvPr id="31" name="bullet-hex"/>
          <p:cNvSpPr/>
          <p:nvPr/>
        </p:nvSpPr>
        <p:spPr>
          <a:xfrm>
            <a:off x="676656" y="2756739"/>
            <a:ext cx="384048" cy="332586"/>
          </a:xfrm>
          <a:prstGeom prst="hexagon">
            <a:avLst/>
          </a:prstGeom>
          <a:solidFill>
            <a:srgbClr val="B8862B"/>
          </a:solidFill>
          <a:ln/>
        </p:spPr>
      </p:sp>
      <p:sp>
        <p:nvSpPr>
          <p:cNvPr id="32" name="bullet"/>
          <p:cNvSpPr txBox="1"/>
          <p:nvPr/>
        </p:nvSpPr>
        <p:spPr>
          <a:xfrm>
            <a:off x="1143000" y="234712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Size is the other big difference. A typical animal cell is 10 µm to 100 µm across.</a:t>
            </a:r>
            <a:endParaRPr lang="en-US" sz="2200" dirty="0"/>
          </a:p>
        </p:txBody>
      </p:sp>
      <p:sp>
        <p:nvSpPr>
          <p:cNvPr id="33" name="bullet-card"/>
          <p:cNvSpPr/>
          <p:nvPr/>
        </p:nvSpPr>
        <p:spPr>
          <a:xfrm>
            <a:off x="548640" y="3645239"/>
            <a:ext cx="5074920" cy="1151805"/>
          </a:xfrm>
          <a:prstGeom prst="roundRect">
            <a:avLst>
              <a:gd name="adj" fmla="val 6351"/>
            </a:avLst>
          </a:prstGeom>
          <a:solidFill>
            <a:srgbClr val="E6EFEF"/>
          </a:solidFill>
          <a:ln/>
        </p:spPr>
      </p:sp>
      <p:sp>
        <p:nvSpPr>
          <p:cNvPr id="34" name="bullet-hex"/>
          <p:cNvSpPr/>
          <p:nvPr/>
        </p:nvSpPr>
        <p:spPr>
          <a:xfrm>
            <a:off x="676656" y="4054849"/>
            <a:ext cx="384048" cy="332586"/>
          </a:xfrm>
          <a:prstGeom prst="hexagon">
            <a:avLst/>
          </a:prstGeom>
          <a:solidFill>
            <a:srgbClr val="1F6F6A"/>
          </a:solidFill>
          <a:ln/>
        </p:spPr>
      </p:sp>
      <p:sp>
        <p:nvSpPr>
          <p:cNvPr id="35" name="bullet"/>
          <p:cNvSpPr txBox="1"/>
          <p:nvPr/>
        </p:nvSpPr>
        <p:spPr>
          <a:xfrm>
            <a:off x="1143000" y="364523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Because they are so small, bacteria can only be seen as dots with a school microscope.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Inside a bacterial cell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Bacteria have ribosomes but no mitochondria. They still respire: the reactions happen in the cytoplasm and across the membrane.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bacterial cell has cytoplasm surrounded by a cell membrane, and outside that a cell wall.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Many bacteria also carry one or more plasmids. A plasmid is a small ring of extra DNA with a few genes on it, which can give the bacterium a particular feature, such as resistance to an antibiotic.</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Some bacteria have extra structures on the outside. A flagellum is a long, whip-like tail that rotates to push the cell along, so the bacterium can move towards food or away from harm.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Comparing prokaryotes and eukaryotes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safe differences: where the DNA is (nucleus or free), and size (bacteria are much smaller).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Both kinds of cell have cytoplasm, a cell membrane, ribosomes and DNA, and both can make proteins and release energy by respiration.</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 eukaryotic cell, the DNA is in chromosomes inside a nucleus, which protects it, and the cell has membrane-bound organelles such as mitochondria, and in plants chloroplasts.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good exam answer about the differences names at least two: no nucleus (DNA free in the cytoplasm), plasmids, no mitochondria or chloroplasts, and the much smaller size.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Parts of a bacterium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a bacterial cell to its function.</a:t>
            </a:r>
            <a:endParaRPr lang="en-US" sz="2400" dirty="0"/>
          </a:p>
        </p:txBody>
      </p:sp>
      <p:sp>
        <p:nvSpPr>
          <p:cNvPr id="11" name="match-card"/>
          <p:cNvSpPr/>
          <p:nvPr/>
        </p:nvSpPr>
        <p:spPr>
          <a:xfrm>
            <a:off x="777240" y="2468331"/>
            <a:ext cx="3081437" cy="799295"/>
          </a:xfrm>
          <a:prstGeom prst="roundRect">
            <a:avLst>
              <a:gd name="adj" fmla="val 9152"/>
            </a:avLst>
          </a:prstGeom>
          <a:solidFill>
            <a:srgbClr val="E6EFEF"/>
          </a:solidFill>
          <a:ln/>
        </p:spPr>
      </p:sp>
      <p:sp>
        <p:nvSpPr>
          <p:cNvPr id="12" name="match-hex"/>
          <p:cNvSpPr/>
          <p:nvPr/>
        </p:nvSpPr>
        <p:spPr>
          <a:xfrm>
            <a:off x="850392" y="2701686"/>
            <a:ext cx="384048" cy="332586"/>
          </a:xfrm>
          <a:prstGeom prst="hexagon">
            <a:avLst/>
          </a:prstGeom>
          <a:solidFill>
            <a:srgbClr val="1F6F6A"/>
          </a:solidFill>
          <a:ln/>
        </p:spPr>
      </p:sp>
      <p:sp>
        <p:nvSpPr>
          <p:cNvPr id="13" name="match-hex-label"/>
          <p:cNvSpPr txBox="1"/>
          <p:nvPr/>
        </p:nvSpPr>
        <p:spPr>
          <a:xfrm>
            <a:off x="850392" y="270168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slime capsule</a:t>
            </a:r>
            <a:endParaRPr lang="en-US" sz="2000" dirty="0"/>
          </a:p>
        </p:txBody>
      </p:sp>
      <p:sp>
        <p:nvSpPr>
          <p:cNvPr id="15" name="match-card"/>
          <p:cNvSpPr/>
          <p:nvPr/>
        </p:nvSpPr>
        <p:spPr>
          <a:xfrm>
            <a:off x="4224437" y="2468331"/>
            <a:ext cx="7190019" cy="799295"/>
          </a:xfrm>
          <a:prstGeom prst="roundRect">
            <a:avLst>
              <a:gd name="adj" fmla="val 9152"/>
            </a:avLst>
          </a:prstGeom>
          <a:solidFill>
            <a:srgbClr val="F4EDDF"/>
          </a:solidFill>
          <a:ln/>
        </p:spPr>
      </p:sp>
      <p:sp>
        <p:nvSpPr>
          <p:cNvPr id="16" name="match-hex"/>
          <p:cNvSpPr/>
          <p:nvPr/>
        </p:nvSpPr>
        <p:spPr>
          <a:xfrm>
            <a:off x="4297589" y="2701686"/>
            <a:ext cx="384048" cy="332586"/>
          </a:xfrm>
          <a:prstGeom prst="hexagon">
            <a:avLst/>
          </a:prstGeom>
          <a:solidFill>
            <a:srgbClr val="B8862B"/>
          </a:solidFill>
          <a:ln/>
        </p:spPr>
      </p:sp>
      <p:sp>
        <p:nvSpPr>
          <p:cNvPr id="17" name="match-hex-label"/>
          <p:cNvSpPr txBox="1"/>
          <p:nvPr/>
        </p:nvSpPr>
        <p:spPr>
          <a:xfrm>
            <a:off x="4297589" y="270168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carries most of the genetic information, free in the cytoplasm</a:t>
            </a:r>
            <a:endParaRPr lang="en-US" sz="2000" dirty="0"/>
          </a:p>
        </p:txBody>
      </p:sp>
      <p:sp>
        <p:nvSpPr>
          <p:cNvPr id="19" name="match-card"/>
          <p:cNvSpPr/>
          <p:nvPr/>
        </p:nvSpPr>
        <p:spPr>
          <a:xfrm>
            <a:off x="777240" y="3359067"/>
            <a:ext cx="3081437" cy="509735"/>
          </a:xfrm>
          <a:prstGeom prst="roundRect">
            <a:avLst>
              <a:gd name="adj" fmla="val 14351"/>
            </a:avLst>
          </a:prstGeom>
          <a:solidFill>
            <a:srgbClr val="E6EFEF"/>
          </a:solidFill>
          <a:ln/>
        </p:spPr>
      </p:sp>
      <p:sp>
        <p:nvSpPr>
          <p:cNvPr id="20" name="match-hex"/>
          <p:cNvSpPr/>
          <p:nvPr/>
        </p:nvSpPr>
        <p:spPr>
          <a:xfrm>
            <a:off x="850392" y="3447642"/>
            <a:ext cx="384048" cy="332586"/>
          </a:xfrm>
          <a:prstGeom prst="hexagon">
            <a:avLst/>
          </a:prstGeom>
          <a:solidFill>
            <a:srgbClr val="1F6F6A"/>
          </a:solidFill>
          <a:ln/>
        </p:spPr>
      </p:sp>
      <p:sp>
        <p:nvSpPr>
          <p:cNvPr id="21" name="match-hex-label"/>
          <p:cNvSpPr txBox="1"/>
          <p:nvPr/>
        </p:nvSpPr>
        <p:spPr>
          <a:xfrm>
            <a:off x="850392" y="34476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59067"/>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flagellum</a:t>
            </a:r>
            <a:endParaRPr lang="en-US" sz="2000" dirty="0"/>
          </a:p>
        </p:txBody>
      </p:sp>
      <p:sp>
        <p:nvSpPr>
          <p:cNvPr id="23" name="match-card"/>
          <p:cNvSpPr/>
          <p:nvPr/>
        </p:nvSpPr>
        <p:spPr>
          <a:xfrm>
            <a:off x="4224437" y="3359067"/>
            <a:ext cx="7190019" cy="509735"/>
          </a:xfrm>
          <a:prstGeom prst="roundRect">
            <a:avLst>
              <a:gd name="adj" fmla="val 14351"/>
            </a:avLst>
          </a:prstGeom>
          <a:solidFill>
            <a:srgbClr val="F4EDDF"/>
          </a:solidFill>
          <a:ln/>
        </p:spPr>
      </p:sp>
      <p:sp>
        <p:nvSpPr>
          <p:cNvPr id="24" name="match-hex"/>
          <p:cNvSpPr/>
          <p:nvPr/>
        </p:nvSpPr>
        <p:spPr>
          <a:xfrm>
            <a:off x="4297589" y="3447642"/>
            <a:ext cx="384048" cy="332586"/>
          </a:xfrm>
          <a:prstGeom prst="hexagon">
            <a:avLst/>
          </a:prstGeom>
          <a:solidFill>
            <a:srgbClr val="B8862B"/>
          </a:solidFill>
          <a:ln/>
        </p:spPr>
      </p:sp>
      <p:sp>
        <p:nvSpPr>
          <p:cNvPr id="25" name="match-hex-label"/>
          <p:cNvSpPr txBox="1"/>
          <p:nvPr/>
        </p:nvSpPr>
        <p:spPr>
          <a:xfrm>
            <a:off x="4297589" y="34476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59067"/>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protects the cell and helps it stick to surfaces</a:t>
            </a:r>
            <a:endParaRPr lang="en-US" sz="2000" dirty="0"/>
          </a:p>
        </p:txBody>
      </p:sp>
      <p:sp>
        <p:nvSpPr>
          <p:cNvPr id="27" name="match-card"/>
          <p:cNvSpPr/>
          <p:nvPr/>
        </p:nvSpPr>
        <p:spPr>
          <a:xfrm>
            <a:off x="777240" y="3960242"/>
            <a:ext cx="3081437" cy="509735"/>
          </a:xfrm>
          <a:prstGeom prst="roundRect">
            <a:avLst>
              <a:gd name="adj" fmla="val 14351"/>
            </a:avLst>
          </a:prstGeom>
          <a:solidFill>
            <a:srgbClr val="E6EFEF"/>
          </a:solidFill>
          <a:ln/>
        </p:spPr>
      </p:sp>
      <p:sp>
        <p:nvSpPr>
          <p:cNvPr id="28" name="match-hex"/>
          <p:cNvSpPr/>
          <p:nvPr/>
        </p:nvSpPr>
        <p:spPr>
          <a:xfrm>
            <a:off x="850392" y="4048817"/>
            <a:ext cx="384048" cy="332586"/>
          </a:xfrm>
          <a:prstGeom prst="hexagon">
            <a:avLst/>
          </a:prstGeom>
          <a:solidFill>
            <a:srgbClr val="1F6F6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0242"/>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plasmid</a:t>
            </a:r>
            <a:endParaRPr lang="en-US" sz="2000" dirty="0"/>
          </a:p>
        </p:txBody>
      </p:sp>
      <p:sp>
        <p:nvSpPr>
          <p:cNvPr id="31" name="match-card"/>
          <p:cNvSpPr/>
          <p:nvPr/>
        </p:nvSpPr>
        <p:spPr>
          <a:xfrm>
            <a:off x="4224437" y="3960242"/>
            <a:ext cx="7190019" cy="509735"/>
          </a:xfrm>
          <a:prstGeom prst="roundRect">
            <a:avLst>
              <a:gd name="adj" fmla="val 14351"/>
            </a:avLst>
          </a:prstGeom>
          <a:solidFill>
            <a:srgbClr val="F4EDDF"/>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60242"/>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supports the cell and stops it bursting</a:t>
            </a:r>
            <a:endParaRPr lang="en-US" sz="2000" dirty="0"/>
          </a:p>
        </p:txBody>
      </p:sp>
      <p:sp>
        <p:nvSpPr>
          <p:cNvPr id="35" name="match-card"/>
          <p:cNvSpPr/>
          <p:nvPr/>
        </p:nvSpPr>
        <p:spPr>
          <a:xfrm>
            <a:off x="777240" y="4561417"/>
            <a:ext cx="3081437" cy="799295"/>
          </a:xfrm>
          <a:prstGeom prst="roundRect">
            <a:avLst>
              <a:gd name="adj" fmla="val 9152"/>
            </a:avLst>
          </a:prstGeom>
          <a:solidFill>
            <a:srgbClr val="E6EFEF"/>
          </a:solidFill>
          <a:ln/>
        </p:spPr>
      </p:sp>
      <p:sp>
        <p:nvSpPr>
          <p:cNvPr id="36" name="match-hex"/>
          <p:cNvSpPr/>
          <p:nvPr/>
        </p:nvSpPr>
        <p:spPr>
          <a:xfrm>
            <a:off x="850392" y="4794772"/>
            <a:ext cx="384048" cy="332586"/>
          </a:xfrm>
          <a:prstGeom prst="hexagon">
            <a:avLst/>
          </a:prstGeom>
          <a:solidFill>
            <a:srgbClr val="1F6F6A"/>
          </a:solidFill>
          <a:ln/>
        </p:spPr>
      </p:sp>
      <p:sp>
        <p:nvSpPr>
          <p:cNvPr id="37" name="match-hex-label"/>
          <p:cNvSpPr txBox="1"/>
          <p:nvPr/>
        </p:nvSpPr>
        <p:spPr>
          <a:xfrm>
            <a:off x="850392"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141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cell wall</a:t>
            </a:r>
            <a:endParaRPr lang="en-US" sz="2000" dirty="0"/>
          </a:p>
        </p:txBody>
      </p:sp>
      <p:sp>
        <p:nvSpPr>
          <p:cNvPr id="39" name="match-card"/>
          <p:cNvSpPr/>
          <p:nvPr/>
        </p:nvSpPr>
        <p:spPr>
          <a:xfrm>
            <a:off x="4224437" y="4561417"/>
            <a:ext cx="7190019" cy="799295"/>
          </a:xfrm>
          <a:prstGeom prst="roundRect">
            <a:avLst>
              <a:gd name="adj" fmla="val 9152"/>
            </a:avLst>
          </a:prstGeom>
          <a:solidFill>
            <a:srgbClr val="F4EDDF"/>
          </a:solidFill>
          <a:ln/>
        </p:spPr>
      </p:sp>
      <p:sp>
        <p:nvSpPr>
          <p:cNvPr id="40" name="match-hex"/>
          <p:cNvSpPr/>
          <p:nvPr/>
        </p:nvSpPr>
        <p:spPr>
          <a:xfrm>
            <a:off x="4297589" y="4794772"/>
            <a:ext cx="384048" cy="332586"/>
          </a:xfrm>
          <a:prstGeom prst="hexagon">
            <a:avLst/>
          </a:prstGeom>
          <a:solidFill>
            <a:srgbClr val="B8862B"/>
          </a:solidFill>
          <a:ln/>
        </p:spPr>
      </p:sp>
      <p:sp>
        <p:nvSpPr>
          <p:cNvPr id="41" name="match-hex-label"/>
          <p:cNvSpPr txBox="1"/>
          <p:nvPr/>
        </p:nvSpPr>
        <p:spPr>
          <a:xfrm>
            <a:off x="4297589"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6141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small ring of DNA that can carry extra genes, such as antibiotic resistance</a:t>
            </a:r>
            <a:endParaRPr lang="en-US" sz="2000" dirty="0"/>
          </a:p>
        </p:txBody>
      </p:sp>
      <p:sp>
        <p:nvSpPr>
          <p:cNvPr id="43" name="match-card"/>
          <p:cNvSpPr/>
          <p:nvPr/>
        </p:nvSpPr>
        <p:spPr>
          <a:xfrm>
            <a:off x="777240" y="5452153"/>
            <a:ext cx="3081437" cy="509735"/>
          </a:xfrm>
          <a:prstGeom prst="roundRect">
            <a:avLst>
              <a:gd name="adj" fmla="val 14351"/>
            </a:avLst>
          </a:prstGeom>
          <a:solidFill>
            <a:srgbClr val="E6EFEF"/>
          </a:solidFill>
          <a:ln/>
        </p:spPr>
      </p:sp>
      <p:sp>
        <p:nvSpPr>
          <p:cNvPr id="44" name="match-hex"/>
          <p:cNvSpPr/>
          <p:nvPr/>
        </p:nvSpPr>
        <p:spPr>
          <a:xfrm>
            <a:off x="850392" y="5540728"/>
            <a:ext cx="384048" cy="332586"/>
          </a:xfrm>
          <a:prstGeom prst="hexagon">
            <a:avLst/>
          </a:prstGeom>
          <a:solidFill>
            <a:srgbClr val="1F6F6A"/>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single loop of DNA</a:t>
            </a:r>
            <a:endParaRPr lang="en-US" sz="2000" dirty="0"/>
          </a:p>
        </p:txBody>
      </p:sp>
      <p:sp>
        <p:nvSpPr>
          <p:cNvPr id="47" name="match-card"/>
          <p:cNvSpPr/>
          <p:nvPr/>
        </p:nvSpPr>
        <p:spPr>
          <a:xfrm>
            <a:off x="4224437" y="5452153"/>
            <a:ext cx="7190019" cy="509735"/>
          </a:xfrm>
          <a:prstGeom prst="roundRect">
            <a:avLst>
              <a:gd name="adj" fmla="val 14351"/>
            </a:avLst>
          </a:prstGeom>
          <a:solidFill>
            <a:srgbClr val="F4EDDF"/>
          </a:solidFill>
          <a:ln/>
        </p:spPr>
      </p:sp>
      <p:sp>
        <p:nvSpPr>
          <p:cNvPr id="48" name="match-hex"/>
          <p:cNvSpPr/>
          <p:nvPr/>
        </p:nvSpPr>
        <p:spPr>
          <a:xfrm>
            <a:off x="4297589" y="5540728"/>
            <a:ext cx="384048" cy="332586"/>
          </a:xfrm>
          <a:prstGeom prst="hexagon">
            <a:avLst/>
          </a:prstGeom>
          <a:solidFill>
            <a:srgbClr val="B8862B"/>
          </a:solidFill>
          <a:ln/>
        </p:spPr>
      </p:sp>
      <p:sp>
        <p:nvSpPr>
          <p:cNvPr id="49" name="match-hex-label"/>
          <p:cNvSpPr txBox="1"/>
          <p:nvPr/>
        </p:nvSpPr>
        <p:spPr>
          <a:xfrm>
            <a:off x="4297589"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52153"/>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rotates to move the cell along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Parts of a bacterium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part of a bacterial cell to its function.</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Anything with 'DNA' in it is the loop or the plasmid: the big loop carries most of the genes, the small ring carries extras.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Movement goes with the flagellum (the tail).</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Slime is sticky and protective; the wall is for support.</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DNA parts (big loop, small ring), one moving part, one sticky coat, one supporting wall.</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plasmid carrying an antibiotic-resistance gene could make an infection harder to treat, and why it matters that plasmids can pass between bacteria.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Same task, three ways in: How big is a bacterium?</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bacterium is 2 µm long. In an electron micrograph it appears 50 mm long. Calculate the magnification of the micrograph.</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Convert the image size to micrometres: multiply mm by 1000.</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magnification = image size ÷ real size.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and write × in front of the answer.</a:t>
            </a:r>
            <a:endParaRPr lang="en-US" sz="18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two sizes are in different units. Make them the same before you divide.</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light microscope could not have produced this image, using the words resolution and magnification correctly.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Where is the DNA in a prokaryotic cell?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inside the cell wall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free in the cytoplasm as a single loop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inside the mitochondria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inside a nucleus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Parts of a bacterium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slime capsule  →  B  protects the cell and helps it stick to surfaces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flagellum  →  E  rotates to move the cell along</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plasmid  →  D  small ring of DNA that can carry extra genes, such as antibiotic resistance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cell wall  →  C  supports the cell and stops it bursting</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single loop of DNA  →  A  carries most of the genetic information, free in the cytoplasm</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Slime capsule = protection and sticking; flagellum = movement; plasmid = ring of extra genes; cell wall = support; DNA loop = the main genetic information, free in the cytoplasm.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How big is a bacterium?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bacterium is 2 µm long. In an electron micrograph it appears 50 mm long. Calculate the magnification of the micrograph.</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25 000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50 mm = 50 000 µm; 50 000 ÷ 2 = ×25 000.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Where is the DNA in a prokaryotic cell?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free in the cytoplasm as a single loop</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Prokaryotes have no nucleus. Their main DNA is one large loop lying free in the cytoplasm, often with small plasmids as well.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Biology · Chapter 3: Eukaryotic and prokaryotic cells</dc:title>
  <dc:subject>Biology (Combined Science) · Year 10</dc:subject>
  <dc:creator>Dr Vitor Merissi de Carvalho</dc:creator>
  <cp:lastModifiedBy>Dr Vitor Merissi de Carvalho</cp:lastModifiedBy>
  <cp:revision>1</cp:revision>
  <dcterms:created xsi:type="dcterms:W3CDTF">2026-10-19T16:22:29Z</dcterms:created>
  <dcterms:modified xsi:type="dcterms:W3CDTF">2026-10-19T16:22:29Z</dcterms:modified>
</cp:coreProperties>
</file>