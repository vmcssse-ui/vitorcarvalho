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b1e09c6-0c64-fca5-470d-7b362f72cf52}">
          <p14:sldIdLst>
            <p14:sldId id="256"/>
          </p14:sldIdLst>
        </p14:section>
        <p14:section name="Gate" id="{b0893954-3faf-041b-a300-57dc4895e55a}">
          <p14:sldIdLst>
            <p14:sldId id="257"/>
            <p14:sldId id="258"/>
          </p14:sldIdLst>
        </p14:section>
        <p14:section name="Pre-teach" id="{c78eff48-720f-bf57-db51-1ea72e3e00dc}">
          <p14:sldIdLst>
            <p14:sldId id="259"/>
            <p14:sldId id="260"/>
          </p14:sldIdLst>
        </p14:section>
        <p14:section name="Read-along" id="{83635180-105c-0c97-927c-381a7aacaa55}">
          <p14:sldIdLst>
            <p14:sldId id="261"/>
            <p14:sldId id="262"/>
          </p14:sldIdLst>
        </p14:section>
        <p14:section name="Teach" id="{ce19bf26-304d-5f73-39e5-a3e0efe49676}">
          <p14:sldIdLst>
            <p14:sldId id="263"/>
            <p14:sldId id="264"/>
            <p14:sldId id="265"/>
            <p14:sldId id="266"/>
          </p14:sldIdLst>
        </p14:section>
        <p14:section name="Routes" id="{4c2ed05a-7a1b-abd8-430a-8a86369a405d}">
          <p14:sldIdLst>
            <p14:sldId id="267"/>
            <p14:sldId id="268"/>
            <p14:sldId id="269"/>
          </p14:sldIdLst>
        </p14:section>
        <p14:section name="Close" id="{600ad326-2692-48e5-a173-82b82f66432a}">
          <p14:sldIdLst>
            <p14:sldId id="270"/>
          </p14:sldIdLst>
        </p14:section>
        <p14:section name="Answers" id="{da7954ef-8829-1658-cda3-744cfe0f0e8d}">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Diffusion and surface area. This chapter explains how substances get into and out of cells by diffusion, what makes it faster or slower, and why cells are so small.
This deck covers the department's lesson: 6 (Diffusion: What is diffusion, and what makes it faster or slower?).
Read the big question aloud: "What is a cell made of, and how does it get what it needs?"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sentence describes diffusion?  →  D   the net movement of particles from a higher concentration to a lower concentration
2. A cube has sides of 3 cm. Calculate its total surface area in cm².  →  54 cm²
3. Increasing the temperature ___ the rate of diffusion.  →  increases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the net movement of particles from a higher concentration to a lower concentration. Diffusion is the net movement of particles down a concentration gradient, from high to low, and it needs no energy from the cell.
2. 54 cm². A cube has 6 faces, each 3 × 3 = 9 cm², so the total surface area is 6 × 9 = 54 cm² (exact).
3. increases. Warmer particles have more kinetic energy and move faster, so they spread out faster.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diffusion: the spreading out of particles from where there are many to where there are few. Example: "The smell of the perfume reached us by diffusion."
• particles: the tiny pieces that everything is made of. Example: "Particles in a gas move quickly in all directions."
• concentration: how much of something is packed into a space. Example: "The concentration of oxygen is higher in the lungs than in the blood."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concentration gradient: the difference in concentration between two places. Example: "A steep concentration gradient makes diffusion faster."
• net movement: the overall movement, after counting particles going both ways. Example: "The net movement of oxygen was into the cell."
• surface area: the total area of the outside of something. Example: "A large surface area lets more particles in at once."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Particles in gases and liquids are always moving.
2. They spread out from where there are many to where there are few.
3. This spreading out is called diffusion.
4. Diffusion needs no energy from the cell.
5. Oxygen and glucose diffuse into your cells.
6. Carbon dioxide and water diffuse out.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The bigger the difference in concentration, the faster the diffusion.
8. Warm particles move faster, so diffusion is faster when it is warm.
9. A short distance means faster diffusion.
10. A large surface area means faster diffusion.
11. Small cells have a large surface area for their volume.
12. That is one reason cells are so small.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diffusion is. Say it in your own words, then check understanding with a quick question: ask a pupil from the pre-teach group first, since they met these words and ideas before the lesson. Pupils try to recall before you re-explain.
Diffusion is the spreading out of the particles of a gas, or of any substance in solution, so that there is a net movement from an area of higher concentration to an area of lower concentration. The particles are moving randomly all the time; diffusion is simply the result of there being more of them in one place than another, so more drift away from the crowded place than drift back into it. Net movement means the overall movement once you have counted the particles going both ways.
Diffusion is a passive process: it needs no energy from the cell. You see it when a drop of ink spreads through water, when a tea bag colours a cup, or when a smell crosses a room.
Cells rely on diffusion to get what they need. Oxygen and glucose, needed for respiration, diffuse into cells from the blood. Carbon dioxide and other waste products, such as urea, diffuse out. In the lungs, oxygen diffuses from the air into the blood and carbon dioxide diffuses the other way.
Tip: Diffusion: HIGH to LOW, down the gradient, no energy needed. The word 'net' belongs in your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makes diffusion faster. Say it in your own words, then check understanding with a quick question: ask a pupil from the pre-teach group first, since they met these words and ideas before the lesson. Pupils try to recall before you re-explain.
Four factors affect the rate of diffusion. The first is the concentration gradient: the bigger the difference in concentration between the two places, the faster the net movement. Cells keep the gradient steep by using up what comes in; for example, respiration uses oxygen as fast as it arrives.
The second is temperature. Warmer particles have more kinetic energy and move faster, so they spread out faster. A crystal of purple potassium permanganate colours hot water much faster than cold water for this reason.
The third is the distance the particles must travel. The thinner the membrane or surface, the shorter the path and the faster the diffusion; the lining of the lungs is only one cell thick. The fourth is surface area. A larger surface gives more places for particles to cross at once, so the rate increases. The cells lining the small intestine have tiny folds called microvilli that multiply their surface area.
Tip: Gradient up, temperature up, surface area up: faster. Distance up: slower.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Surface area to volume ratio. Say it in your own words, then check understanding with a quick question: ask a pupil from the pre-teach group first, since they met these words and ideas before the lesson. Pupils try to recall before you re-explain.
Why are cells so small? The answer is surface area to volume ratio. Everything a cell needs must cross its surface, but everything it uses is spread through its volume. As an object gets bigger, its volume grows faster than its surface area, so each unit of volume has less surface to serve it.
Try it with cubes. A cube with sides of 1 cm has a surface area of 6 cm² (six faces of 1 cm²) and a volume of 1 cm³, so its surface area to volume ratio is 6 : 1. A cube with sides of 2 cm has a surface area of 24 cm² and a volume of 8 cm³: the ratio has fallen to 3 : 1. The bigger cube has only half as much surface for each cubic centimetre inside it.
A single cell is small enough that diffusion across its surface supplies all of it. A large organism, such as a person, has a tiny surface area to volume ratio, so diffusion through the skin could never supply the body. That is why large animals have exchange surfaces with huge areas, such as the lungs and the small intestine, and transport systems, such as the blood, to carry substances to every cell.
Worked example — model it step by step, thinking aloud: A cube has sides of 2 cm. Calculate its surface area to volume ratio. (1) Surface area: a cube has 6 faces, each 2 cm × 2 cm = 4 cm², so 6 × 4 = 24 cm². (2) Volume: 2 × 2 × 2 = 8 cm³. (3) Ratio = surface area ÷ volume = 24 ÷ 8 = 3, written 3 : 1. Answer: 3 : 1 (3 cm² of surface for every 1 cm³ of volume).
Tip: Bigger object, smaller ratio. To compare two objects, work out surface area ÷ volume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Explaining a rate in the exam. Say it in your own words, then check understanding with a quick question: ask a pupil from the pre-teach group first, since they met these words and ideas before the lesson. Pupils try to recall before you re-explain.
A six-mark question on diffusion asks you to explain how factors affect the rate. For each factor, write three things: what changes, what that does to the rate, and why, in terms of particles. For example: a higher temperature increases the rate, because the particles have more kinetic energy and move faster.
Avoid saying particles 'want' to move or 'know' where to go. Particles move randomly; the net movement is a result of the numbers, not a decision.
Tip: Factor → effect on rate → particle explanation. Three parts for each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Surface area to volume.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model cell is a cube with sides of 4 cm. Calculate its surface area to volume ratio. Give your answer as surface area ÷ volume.
Support — work through the steps with the group: (1) Surface area: area of one face (side × side), then × 6. (2) Volume: side × side × side. (3) Ratio: surface area ÷ volume.
Parallel worked example for Support (model it, do not give the task answer): A cube has sides of 3 cm. Calculate its surface area to volume ratio. Surface area = 6 × 3 × 3 = 54 cm².; Volume = 3 × 3 × 3 = 27 cm³.; Ratio = 54 ÷ 27 = 2, so 2 : 1.. Answer: 2 : 1.
Core — reveal the hint only on request: Six faces for the surface area; side cubed for the volume; then divide.
Stretch — no help; when finished: Compare your ratio with that of a 1 cm cube (6 : 1). Explain, using diffusion, why a cell the size of the 4 cm cube could not survive.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Slower or faster?.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change would make oxygen diffuse into a cell more slowly?
Support — work through the steps with the group: (1) List the four factors: gradient, temperature, distance, surface area. (2) Three of them speed diffusion up when they increase; only distance slows it. (3) Find the option that increases the distance.
Parallel worked example for Support (model it, do not give the task answer): Which would make carbon dioxide leave a cell faster: a thicker cell membrane, or a higher temperature? A thicker membrane is a longer distance to travel, so it slows diffusion.; A higher temperature gives the particles more kinetic energy, so they move faster.. Answer: A higher temperature: the particles move faster, so carbon dioxide leaves more quickly..
Core — reveal the hint only on request: Which of the four factors slows diffusion when it increases?
Stretch — no help; when finished: The lining of the lungs is one cell thick and is kept at body temperature with a constant blood supply. Explain how each of these three facts keeps oxygen diffusing quickly into the blood.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Slower or faster?.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change would make oxygen diffuse into a cell more slowly?
Support — work through the steps with the group: (1) List the four factors: gradient, temperature, distance, surface area. (2) Three of them speed diffusion up when they increase; only distance slows it. (3) Find the option that increases the distance.
Parallel worked example for Support (model it, do not give the task answer): Which would make carbon dioxide leave a cell faster: a thicker cell membrane, or a higher temperature? A thicker membrane is a longer distance to travel, so it slows diffusion.; A higher temperature gives the particles more kinetic energy, so they move faster.. Answer: A higher temperature: the particles move faster, so carbon dioxide leaves more quickly..
Core — reveal the hint only on request: Which of the four factors slows diffusion when it increases?
Stretch — no help; when finished: The lining of the lungs is one cell thick and is kept at body temperature with a constant blood supply. Explain how each of these three facts keeps oxygen diffusing quickly into the blood.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sentence describes diffusion?
Answer: C   the net movement of particles from a higher concentration to a lower concentration. Diffusion is the net movement of particles down a concentration gradient, from high to low, and it needs no energy from the cell.
Source of this question: gate item 1 re-asked (options rotated) — this chapter has no third quick-check module.
The ebook also holds task 3, "Three ways to speed it up",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Surface area to volume. Reveal the answer; pupils mark their own work in a different colour, then read the "why" together. Same destination for every lane, so one answer serves the whole class.
Answer: 1.5 : 1
Why: 96 cm² ÷ 64 cm³ = 1.5, so the ratio is 1.5 : 1, far lower than the 6 : 1 of a 1 cm cube.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Slower or faster?. Reveal the answer; pupils mark their own work in a different colour, then read the "why" together. Same destination for every lane, so one answer serves the whole class.
Answer: A   a thicker cell membrane
Why: Distance is the only factor that slows diffusion as it increases; a thicker membrane is a longer distance.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the net movement of particles from a higher concentration to a lower concentration
Why: Diffusion is the net movement of particles down a concentration gradient, from high to low, and it needs no energy from the cell.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(Combined Science) · Year 10 · Cell Biology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(Combined Science) · Year 10 · Cell Biology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BDE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Biology (Combined Science)</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10 · 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Cell Biology · AQA 8464</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Diffusion and surface area</a:t>
            </a:r>
            <a:endParaRPr lang="en-US" sz="4000" dirty="0"/>
          </a:p>
        </p:txBody>
      </p:sp>
      <p:sp>
        <p:nvSpPr>
          <p:cNvPr id="11" name="lessons-card"/>
          <p:cNvSpPr/>
          <p:nvPr/>
        </p:nvSpPr>
        <p:spPr>
          <a:xfrm>
            <a:off x="548640" y="4069588"/>
            <a:ext cx="5287975" cy="980440"/>
          </a:xfrm>
          <a:prstGeom prst="roundRect">
            <a:avLst>
              <a:gd name="adj" fmla="val 7461"/>
            </a:avLst>
          </a:prstGeom>
          <a:solidFill>
            <a:srgbClr val="E2ECEC"/>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Diffusion</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Biology (Combined Scienc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CEC"/>
          </a:solidFill>
          <a:ln w="12700">
            <a:solidFill>
              <a:srgbClr val="9FC1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is a cell made of, and how does it get what it needs?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sentence describes diffusion?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movement of water only, through a partially permeable membrane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movement of particles against a concentration gradient using energy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movement of particles from a lower concentration to a higher concentration without energy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net movement of particles from a higher concentration to a lower concentration</a:t>
            </a:r>
            <a:endParaRPr lang="en-US" sz="1800" dirty="0"/>
          </a:p>
        </p:txBody>
      </p:sp>
      <p:sp>
        <p:nvSpPr>
          <p:cNvPr id="12" name="card"/>
          <p:cNvSpPr/>
          <p:nvPr/>
        </p:nvSpPr>
        <p:spPr>
          <a:xfrm>
            <a:off x="6095848" y="1389888"/>
            <a:ext cx="2636444" cy="4754880"/>
          </a:xfrm>
          <a:prstGeom prst="roundRect">
            <a:avLst>
              <a:gd name="adj" fmla="val 2081"/>
            </a:avLst>
          </a:prstGeom>
          <a:solidFill>
            <a:srgbClr val="E9F1F0"/>
          </a:solidFill>
          <a:ln w="12700">
            <a:solidFill>
              <a:srgbClr val="AAC8C6"/>
            </a:solidFill>
            <a:prstDash val="solid"/>
          </a:ln>
        </p:spPr>
      </p:sp>
      <p:sp>
        <p:nvSpPr>
          <p:cNvPr id="13" name="card-hex"/>
          <p:cNvSpPr/>
          <p:nvPr/>
        </p:nvSpPr>
        <p:spPr>
          <a:xfrm>
            <a:off x="6278728" y="1572768"/>
            <a:ext cx="640080" cy="554309"/>
          </a:xfrm>
          <a:prstGeom prst="hexagon">
            <a:avLst/>
          </a:prstGeom>
          <a:solidFill>
            <a:srgbClr val="1F6F6A"/>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cube has sides of 3 cm. Calculate its total surface area in cm².</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cm²</a:t>
            </a:r>
            <a:endParaRPr lang="en-US" sz="2400" dirty="0"/>
          </a:p>
        </p:txBody>
      </p:sp>
      <p:sp>
        <p:nvSpPr>
          <p:cNvPr id="17" name="card"/>
          <p:cNvSpPr/>
          <p:nvPr/>
        </p:nvSpPr>
        <p:spPr>
          <a:xfrm>
            <a:off x="9006611" y="1389888"/>
            <a:ext cx="2636444" cy="4754880"/>
          </a:xfrm>
          <a:prstGeom prst="roundRect">
            <a:avLst>
              <a:gd name="adj" fmla="val 2081"/>
            </a:avLst>
          </a:prstGeom>
          <a:solidFill>
            <a:srgbClr val="E9F1F0"/>
          </a:solidFill>
          <a:ln w="12700">
            <a:solidFill>
              <a:srgbClr val="AAC8C6"/>
            </a:solidFill>
            <a:prstDash val="solid"/>
          </a:ln>
        </p:spPr>
      </p:sp>
      <p:sp>
        <p:nvSpPr>
          <p:cNvPr id="18" name="card-hex"/>
          <p:cNvSpPr/>
          <p:nvPr/>
        </p:nvSpPr>
        <p:spPr>
          <a:xfrm>
            <a:off x="9189491" y="1572768"/>
            <a:ext cx="640080" cy="554309"/>
          </a:xfrm>
          <a:prstGeom prst="hexagon">
            <a:avLst/>
          </a:prstGeom>
          <a:solidFill>
            <a:srgbClr val="1F6F6A"/>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Increasing the temperature ___ the rate of diffusion.</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increases  ·  decreases  ·  stops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1295908"/>
          </a:xfrm>
          <a:prstGeom prst="roundRect">
            <a:avLst>
              <a:gd name="adj" fmla="val 8467"/>
            </a:avLst>
          </a:prstGeom>
          <a:solidFill>
            <a:srgbClr val="EBDDC4"/>
          </a:solidFill>
          <a:ln w="19050">
            <a:solidFill>
              <a:srgbClr val="B8862B"/>
            </a:solidFill>
            <a:prstDash val="solid"/>
          </a:ln>
        </p:spPr>
      </p:sp>
      <p:sp>
        <p:nvSpPr>
          <p:cNvPr id="12" name="answer"/>
          <p:cNvSpPr txBox="1"/>
          <p:nvPr/>
        </p:nvSpPr>
        <p:spPr>
          <a:xfrm>
            <a:off x="822960"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 net movement of particles from a higher concentration to a lower concentration</a:t>
            </a:r>
            <a:endParaRPr lang="en-US" sz="2200" dirty="0"/>
          </a:p>
        </p:txBody>
      </p:sp>
      <p:sp>
        <p:nvSpPr>
          <p:cNvPr id="13" name="card-body"/>
          <p:cNvSpPr txBox="1"/>
          <p:nvPr/>
        </p:nvSpPr>
        <p:spPr>
          <a:xfrm>
            <a:off x="731520"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sentence describes diffusion?</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Diffusion is the net movement of particles down a concentration gradient, from high to low, and it needs no energy from the cell.</a:t>
            </a:r>
            <a:endParaRPr lang="en-US" sz="2200" dirty="0"/>
          </a:p>
        </p:txBody>
      </p:sp>
      <p:sp>
        <p:nvSpPr>
          <p:cNvPr id="14" name="card"/>
          <p:cNvSpPr/>
          <p:nvPr/>
        </p:nvSpPr>
        <p:spPr>
          <a:xfrm>
            <a:off x="6095848" y="1389888"/>
            <a:ext cx="2636444" cy="4754880"/>
          </a:xfrm>
          <a:prstGeom prst="roundRect">
            <a:avLst>
              <a:gd name="adj" fmla="val 2081"/>
            </a:avLst>
          </a:prstGeom>
          <a:solidFill>
            <a:srgbClr val="E9F1F0"/>
          </a:solidFill>
          <a:ln w="12700">
            <a:solidFill>
              <a:srgbClr val="AAC8C6"/>
            </a:solidFill>
            <a:prstDash val="solid"/>
          </a:ln>
        </p:spPr>
      </p:sp>
      <p:sp>
        <p:nvSpPr>
          <p:cNvPr id="15" name="card-hex"/>
          <p:cNvSpPr/>
          <p:nvPr/>
        </p:nvSpPr>
        <p:spPr>
          <a:xfrm>
            <a:off x="6278728" y="1572768"/>
            <a:ext cx="640080" cy="554309"/>
          </a:xfrm>
          <a:prstGeom prst="hexagon">
            <a:avLst/>
          </a:prstGeom>
          <a:solidFill>
            <a:srgbClr val="1F6F6A"/>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6370168"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54 cm²</a:t>
            </a:r>
            <a:endParaRPr lang="en-US" sz="2200" dirty="0"/>
          </a:p>
        </p:txBody>
      </p:sp>
      <p:sp>
        <p:nvSpPr>
          <p:cNvPr id="20" name="card-body"/>
          <p:cNvSpPr txBox="1"/>
          <p:nvPr/>
        </p:nvSpPr>
        <p:spPr>
          <a:xfrm>
            <a:off x="6278728"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cube has sides of 3 cm. Calculate its total surface area in cm².</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 cube has 6 faces, each 3 × 3 = 9 cm², so the total surface area is 6 × 9 = 54 cm² (exact).</a:t>
            </a:r>
            <a:endParaRPr lang="en-US" sz="1800" dirty="0"/>
          </a:p>
        </p:txBody>
      </p:sp>
      <p:sp>
        <p:nvSpPr>
          <p:cNvPr id="21" name="card"/>
          <p:cNvSpPr/>
          <p:nvPr/>
        </p:nvSpPr>
        <p:spPr>
          <a:xfrm>
            <a:off x="9006611" y="1389888"/>
            <a:ext cx="2636444" cy="4754880"/>
          </a:xfrm>
          <a:prstGeom prst="roundRect">
            <a:avLst>
              <a:gd name="adj" fmla="val 2081"/>
            </a:avLst>
          </a:prstGeom>
          <a:solidFill>
            <a:srgbClr val="E9F1F0"/>
          </a:solidFill>
          <a:ln w="12700">
            <a:solidFill>
              <a:srgbClr val="AAC8C6"/>
            </a:solidFill>
            <a:prstDash val="solid"/>
          </a:ln>
        </p:spPr>
      </p:sp>
      <p:sp>
        <p:nvSpPr>
          <p:cNvPr id="22" name="card-hex"/>
          <p:cNvSpPr/>
          <p:nvPr/>
        </p:nvSpPr>
        <p:spPr>
          <a:xfrm>
            <a:off x="9189491" y="1572768"/>
            <a:ext cx="640080" cy="554309"/>
          </a:xfrm>
          <a:prstGeom prst="hexagon">
            <a:avLst/>
          </a:prstGeom>
          <a:solidFill>
            <a:srgbClr val="1F6F6A"/>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increases</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Increasing the temperature ___ the rate of diffusion.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Warmer particles have more kinetic energy and move faster, so they spread out faster.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FEF"/>
          </a:solidFill>
          <a:ln w="12700">
            <a:solidFill>
              <a:srgbClr val="9FC1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diffusion</a:t>
            </a:r>
            <a:endParaRPr lang="en-US" sz="2600" dirty="0"/>
          </a:p>
        </p:txBody>
      </p:sp>
      <p:sp>
        <p:nvSpPr>
          <p:cNvPr id="11" name="word-rule"/>
          <p:cNvSpPr/>
          <p:nvPr/>
        </p:nvSpPr>
        <p:spPr>
          <a:xfrm>
            <a:off x="731520" y="2129028"/>
            <a:ext cx="3149498" cy="0"/>
          </a:xfrm>
          <a:prstGeom prst="line">
            <a:avLst/>
          </a:prstGeom>
          <a:ln w="12700">
            <a:solidFill>
              <a:srgbClr val="9FC1BF"/>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spreading out of particles from where there are many to where there are few</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smell of the perfume reached us by diffusion.</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FEF"/>
          </a:solidFill>
          <a:ln w="12700">
            <a:solidFill>
              <a:srgbClr val="9FC1BF"/>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particles</a:t>
            </a:r>
            <a:endParaRPr lang="en-US" sz="2600" dirty="0"/>
          </a:p>
        </p:txBody>
      </p:sp>
      <p:sp>
        <p:nvSpPr>
          <p:cNvPr id="17" name="word-rule"/>
          <p:cNvSpPr/>
          <p:nvPr/>
        </p:nvSpPr>
        <p:spPr>
          <a:xfrm>
            <a:off x="4521098" y="2129028"/>
            <a:ext cx="3149498" cy="0"/>
          </a:xfrm>
          <a:prstGeom prst="line">
            <a:avLst/>
          </a:prstGeom>
          <a:ln w="12700">
            <a:solidFill>
              <a:srgbClr val="9FC1BF"/>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tiny pieces that everything is made of</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Particles in a gas move quickly in all directions.</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FEF"/>
          </a:solidFill>
          <a:ln w="12700">
            <a:solidFill>
              <a:srgbClr val="9FC1BF"/>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concentration</a:t>
            </a:r>
            <a:endParaRPr lang="en-US" sz="2600" dirty="0"/>
          </a:p>
        </p:txBody>
      </p:sp>
      <p:sp>
        <p:nvSpPr>
          <p:cNvPr id="23" name="word-rule"/>
          <p:cNvSpPr/>
          <p:nvPr/>
        </p:nvSpPr>
        <p:spPr>
          <a:xfrm>
            <a:off x="8310677" y="2129028"/>
            <a:ext cx="3149498" cy="0"/>
          </a:xfrm>
          <a:prstGeom prst="line">
            <a:avLst/>
          </a:prstGeom>
          <a:ln w="12700">
            <a:solidFill>
              <a:srgbClr val="9FC1BF"/>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much of something is packed into a space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concentration of oxygen is higher in the lungs than in the blood.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FEF"/>
          </a:solidFill>
          <a:ln w="12700">
            <a:solidFill>
              <a:srgbClr val="9FC1BF"/>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concentration gradient</a:t>
            </a:r>
            <a:endParaRPr lang="en-US" sz="2600" dirty="0"/>
          </a:p>
        </p:txBody>
      </p:sp>
      <p:sp>
        <p:nvSpPr>
          <p:cNvPr id="11" name="word-rule"/>
          <p:cNvSpPr/>
          <p:nvPr/>
        </p:nvSpPr>
        <p:spPr>
          <a:xfrm>
            <a:off x="731520" y="2558288"/>
            <a:ext cx="3149498" cy="0"/>
          </a:xfrm>
          <a:prstGeom prst="line">
            <a:avLst/>
          </a:prstGeom>
          <a:ln w="12700">
            <a:solidFill>
              <a:srgbClr val="9FC1BF"/>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difference in concentration between two places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steep concentration gradient makes diffusion faster.</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FEF"/>
          </a:solidFill>
          <a:ln w="12700">
            <a:solidFill>
              <a:srgbClr val="9FC1BF"/>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net movement</a:t>
            </a:r>
            <a:endParaRPr lang="en-US" sz="2600" dirty="0"/>
          </a:p>
        </p:txBody>
      </p:sp>
      <p:sp>
        <p:nvSpPr>
          <p:cNvPr id="17" name="word-rule"/>
          <p:cNvSpPr/>
          <p:nvPr/>
        </p:nvSpPr>
        <p:spPr>
          <a:xfrm>
            <a:off x="4521098" y="2129028"/>
            <a:ext cx="3149498" cy="0"/>
          </a:xfrm>
          <a:prstGeom prst="line">
            <a:avLst/>
          </a:prstGeom>
          <a:ln w="12700">
            <a:solidFill>
              <a:srgbClr val="9FC1BF"/>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overall movement, after counting particles going both ways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net movement of oxygen was into the cell.</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FEF"/>
          </a:solidFill>
          <a:ln w="12700">
            <a:solidFill>
              <a:srgbClr val="9FC1BF"/>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surface area</a:t>
            </a:r>
            <a:endParaRPr lang="en-US" sz="2600" dirty="0"/>
          </a:p>
        </p:txBody>
      </p:sp>
      <p:sp>
        <p:nvSpPr>
          <p:cNvPr id="23" name="word-rule"/>
          <p:cNvSpPr/>
          <p:nvPr/>
        </p:nvSpPr>
        <p:spPr>
          <a:xfrm>
            <a:off x="8310677" y="2129028"/>
            <a:ext cx="3149498" cy="0"/>
          </a:xfrm>
          <a:prstGeom prst="line">
            <a:avLst/>
          </a:prstGeom>
          <a:ln w="12700">
            <a:solidFill>
              <a:srgbClr val="9FC1BF"/>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total area of the outside of something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large surface area lets more particles in at once.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Particles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in gases and liquids are always moving.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They spread out from where there are many to where there are few.</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This spreading out is called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diffusion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Diffusion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needs no energy from the cell.</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Oxygen and glucose diffuse into your cells.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Carbon dioxide and water diffuse out.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bigger the difference in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concentration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the faster the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diffusion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Warm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particles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move faster, so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diffusion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faster when it is warm.</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short distance means faster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diffusion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large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surface area</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means faster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diffusion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Small cells have a large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surface area</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for their volume.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That is one reason cells are so small.</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What diffusion is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Diffusion: HIGH to LOW, down the gradient, no energy needed. The word 'net' belongs in your definition.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Diffusion is the spreading out of the particles of a gas, or of any substance in solution, so that there is a net movement from an area of higher concentration to an area of lower concentration.</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Diffusion is a passive process: it needs no energy from the cell.</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Cells rely on diffusion to get what they need. Oxygen and glucose, needed for respiration, diffuse into cells from the blood.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What makes diffusion faster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Gradient up, temperature up, surface area up: faster. Distance up: slower.</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Four factors affect the rate of diffusion. The first is the concentration gradient: the bigger the difference in concentration between the two places, the faster the net movement.</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second is temperature. Warmer particles have more kinetic energy and move faster, so they spread out faster.</a:t>
            </a:r>
            <a:endParaRPr lang="en-US" sz="22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third is the distance the particles must travel. The thinner the membrane or surface, the shorter the path and the faster the diffusion; the lining of the lungs is only one cell thick.</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Surface area to volume ratio</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Bigger object, smaller ratio. To compare two objects, work out surface area ÷ volume for each.</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8B3B0"/>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cube has sides of 2 cm. Calculate its surface area to volume ratio.</a:t>
            </a:r>
            <a:endParaRPr lang="en-US" sz="1800" dirty="0"/>
          </a:p>
        </p:txBody>
      </p:sp>
      <p:sp>
        <p:nvSpPr>
          <p:cNvPr id="14" name="step-box"/>
          <p:cNvSpPr/>
          <p:nvPr/>
        </p:nvSpPr>
        <p:spPr>
          <a:xfrm>
            <a:off x="6126480" y="2888488"/>
            <a:ext cx="5379415" cy="768435"/>
          </a:xfrm>
          <a:prstGeom prst="roundRect">
            <a:avLst>
              <a:gd name="adj" fmla="val 11900"/>
            </a:avLst>
          </a:prstGeom>
          <a:solidFill>
            <a:srgbClr val="E2ECEC"/>
          </a:solidFill>
          <a:ln/>
        </p:spPr>
      </p:sp>
      <p:sp>
        <p:nvSpPr>
          <p:cNvPr id="15" name="step-hex"/>
          <p:cNvSpPr/>
          <p:nvPr/>
        </p:nvSpPr>
        <p:spPr>
          <a:xfrm>
            <a:off x="6217920" y="3090575"/>
            <a:ext cx="420624" cy="364260"/>
          </a:xfrm>
          <a:prstGeom prst="hexagon">
            <a:avLst/>
          </a:prstGeom>
          <a:solidFill>
            <a:srgbClr val="1F6F6A"/>
          </a:solidFill>
          <a:ln/>
        </p:spPr>
      </p:sp>
      <p:sp>
        <p:nvSpPr>
          <p:cNvPr id="16" name="step-hex-label"/>
          <p:cNvSpPr txBox="1"/>
          <p:nvPr/>
        </p:nvSpPr>
        <p:spPr>
          <a:xfrm>
            <a:off x="6217920" y="3090575"/>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6843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Surface area: a cube has 6 faces, each 2 cm × 2 cm = 4 cm², so 6 × 4 = 24 cm².</a:t>
            </a:r>
            <a:endParaRPr lang="en-US" sz="1800" dirty="0"/>
          </a:p>
        </p:txBody>
      </p:sp>
      <p:sp>
        <p:nvSpPr>
          <p:cNvPr id="18" name="step-box"/>
          <p:cNvSpPr/>
          <p:nvPr/>
        </p:nvSpPr>
        <p:spPr>
          <a:xfrm>
            <a:off x="6126480" y="3748363"/>
            <a:ext cx="5379415" cy="540851"/>
          </a:xfrm>
          <a:prstGeom prst="roundRect">
            <a:avLst>
              <a:gd name="adj" fmla="val 16907"/>
            </a:avLst>
          </a:prstGeom>
          <a:solidFill>
            <a:srgbClr val="E2ECEC"/>
          </a:solidFill>
          <a:ln/>
        </p:spPr>
      </p:sp>
      <p:sp>
        <p:nvSpPr>
          <p:cNvPr id="19" name="step-hex"/>
          <p:cNvSpPr/>
          <p:nvPr/>
        </p:nvSpPr>
        <p:spPr>
          <a:xfrm>
            <a:off x="6217920" y="3836658"/>
            <a:ext cx="420624" cy="364260"/>
          </a:xfrm>
          <a:prstGeom prst="hexagon">
            <a:avLst/>
          </a:prstGeom>
          <a:solidFill>
            <a:srgbClr val="1F6F6A"/>
          </a:solidFill>
          <a:ln/>
        </p:spPr>
      </p:sp>
      <p:sp>
        <p:nvSpPr>
          <p:cNvPr id="20" name="step-hex-label"/>
          <p:cNvSpPr txBox="1"/>
          <p:nvPr/>
        </p:nvSpPr>
        <p:spPr>
          <a:xfrm>
            <a:off x="6217920" y="38366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48363"/>
            <a:ext cx="4739335" cy="54085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Volume: 2 × 2 × 2 = 8 cm³.</a:t>
            </a:r>
            <a:endParaRPr lang="en-US" sz="1800" dirty="0"/>
          </a:p>
        </p:txBody>
      </p:sp>
      <p:sp>
        <p:nvSpPr>
          <p:cNvPr id="22" name="step-box"/>
          <p:cNvSpPr/>
          <p:nvPr/>
        </p:nvSpPr>
        <p:spPr>
          <a:xfrm>
            <a:off x="6126480" y="4380653"/>
            <a:ext cx="5379415" cy="768435"/>
          </a:xfrm>
          <a:prstGeom prst="roundRect">
            <a:avLst>
              <a:gd name="adj" fmla="val 11900"/>
            </a:avLst>
          </a:prstGeom>
          <a:solidFill>
            <a:srgbClr val="E2ECEC"/>
          </a:solidFill>
          <a:ln/>
        </p:spPr>
      </p:sp>
      <p:sp>
        <p:nvSpPr>
          <p:cNvPr id="23" name="step-hex"/>
          <p:cNvSpPr/>
          <p:nvPr/>
        </p:nvSpPr>
        <p:spPr>
          <a:xfrm>
            <a:off x="6217920" y="4582740"/>
            <a:ext cx="420624" cy="364260"/>
          </a:xfrm>
          <a:prstGeom prst="hexagon">
            <a:avLst/>
          </a:prstGeom>
          <a:solidFill>
            <a:srgbClr val="1F6F6A"/>
          </a:solidFill>
          <a:ln/>
        </p:spPr>
      </p:sp>
      <p:sp>
        <p:nvSpPr>
          <p:cNvPr id="24" name="step-hex-label"/>
          <p:cNvSpPr txBox="1"/>
          <p:nvPr/>
        </p:nvSpPr>
        <p:spPr>
          <a:xfrm>
            <a:off x="6217920" y="458274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380653"/>
            <a:ext cx="4739335" cy="76843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Ratio = surface area ÷ volume = 24 ÷ 8 = 3, written 3 : 1.</a:t>
            </a:r>
            <a:endParaRPr lang="en-US" sz="1800" dirty="0"/>
          </a:p>
        </p:txBody>
      </p:sp>
      <p:sp>
        <p:nvSpPr>
          <p:cNvPr id="26" name="worked-answer"/>
          <p:cNvSpPr/>
          <p:nvPr/>
        </p:nvSpPr>
        <p:spPr>
          <a:xfrm>
            <a:off x="6126480" y="5286248"/>
            <a:ext cx="5379415" cy="831088"/>
          </a:xfrm>
          <a:prstGeom prst="roundRect">
            <a:avLst>
              <a:gd name="adj" fmla="val 22005"/>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 : 1 (3 cm² of surface for every 1 cm³ of volume)</a:t>
            </a:r>
            <a:endParaRPr lang="en-US" sz="1800" dirty="0"/>
          </a:p>
        </p:txBody>
      </p:sp>
      <p:sp>
        <p:nvSpPr>
          <p:cNvPr id="27" name="bullet-card"/>
          <p:cNvSpPr/>
          <p:nvPr/>
        </p:nvSpPr>
        <p:spPr>
          <a:xfrm>
            <a:off x="548640" y="1389888"/>
            <a:ext cx="5074920" cy="852255"/>
          </a:xfrm>
          <a:prstGeom prst="roundRect">
            <a:avLst>
              <a:gd name="adj" fmla="val 8583"/>
            </a:avLst>
          </a:prstGeom>
          <a:solidFill>
            <a:srgbClr val="E6EFEF"/>
          </a:solidFill>
          <a:ln/>
        </p:spPr>
      </p:sp>
      <p:sp>
        <p:nvSpPr>
          <p:cNvPr id="28" name="bullet-hex"/>
          <p:cNvSpPr/>
          <p:nvPr/>
        </p:nvSpPr>
        <p:spPr>
          <a:xfrm>
            <a:off x="676656" y="1649723"/>
            <a:ext cx="384048" cy="332586"/>
          </a:xfrm>
          <a:prstGeom prst="hexagon">
            <a:avLst/>
          </a:prstGeom>
          <a:solidFill>
            <a:srgbClr val="1F6F6A"/>
          </a:solidFill>
          <a:ln/>
        </p:spPr>
      </p:sp>
      <p:sp>
        <p:nvSpPr>
          <p:cNvPr id="29" name="bullet"/>
          <p:cNvSpPr txBox="1"/>
          <p:nvPr/>
        </p:nvSpPr>
        <p:spPr>
          <a:xfrm>
            <a:off x="1143000" y="1389888"/>
            <a:ext cx="4389120" cy="85225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Why are cells so small? The answer is surface area to volume ratio.</a:t>
            </a:r>
            <a:endParaRPr lang="en-US" sz="1800" dirty="0"/>
          </a:p>
        </p:txBody>
      </p:sp>
      <p:sp>
        <p:nvSpPr>
          <p:cNvPr id="30" name="bullet-card"/>
          <p:cNvSpPr/>
          <p:nvPr/>
        </p:nvSpPr>
        <p:spPr>
          <a:xfrm>
            <a:off x="548640" y="2388447"/>
            <a:ext cx="5074920" cy="1410039"/>
          </a:xfrm>
          <a:prstGeom prst="roundRect">
            <a:avLst>
              <a:gd name="adj" fmla="val 5188"/>
            </a:avLst>
          </a:prstGeom>
          <a:solidFill>
            <a:srgbClr val="E6EFEF"/>
          </a:solidFill>
          <a:ln/>
        </p:spPr>
      </p:sp>
      <p:sp>
        <p:nvSpPr>
          <p:cNvPr id="31" name="bullet-hex"/>
          <p:cNvSpPr/>
          <p:nvPr/>
        </p:nvSpPr>
        <p:spPr>
          <a:xfrm>
            <a:off x="676656" y="2927173"/>
            <a:ext cx="384048" cy="332586"/>
          </a:xfrm>
          <a:prstGeom prst="hexagon">
            <a:avLst/>
          </a:prstGeom>
          <a:solidFill>
            <a:srgbClr val="B8862B"/>
          </a:solidFill>
          <a:ln/>
        </p:spPr>
      </p:sp>
      <p:sp>
        <p:nvSpPr>
          <p:cNvPr id="32" name="bullet"/>
          <p:cNvSpPr txBox="1"/>
          <p:nvPr/>
        </p:nvSpPr>
        <p:spPr>
          <a:xfrm>
            <a:off x="1143000" y="2388447"/>
            <a:ext cx="4389120" cy="141003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Try it with cubes. A cube with sides of 1 cm has a surface area of 6 cm² (six faces of 1 cm²) and a volume of 1 cm³, so its surface area to volume ratio is 6 : 1.</a:t>
            </a:r>
            <a:endParaRPr lang="en-US" sz="1800" dirty="0"/>
          </a:p>
        </p:txBody>
      </p:sp>
      <p:sp>
        <p:nvSpPr>
          <p:cNvPr id="33" name="bullet-card"/>
          <p:cNvSpPr/>
          <p:nvPr/>
        </p:nvSpPr>
        <p:spPr>
          <a:xfrm>
            <a:off x="548640" y="3944789"/>
            <a:ext cx="5074920" cy="852255"/>
          </a:xfrm>
          <a:prstGeom prst="roundRect">
            <a:avLst>
              <a:gd name="adj" fmla="val 8583"/>
            </a:avLst>
          </a:prstGeom>
          <a:solidFill>
            <a:srgbClr val="E6EFEF"/>
          </a:solidFill>
          <a:ln/>
        </p:spPr>
      </p:sp>
      <p:sp>
        <p:nvSpPr>
          <p:cNvPr id="34" name="bullet-hex"/>
          <p:cNvSpPr/>
          <p:nvPr/>
        </p:nvSpPr>
        <p:spPr>
          <a:xfrm>
            <a:off x="676656" y="4204624"/>
            <a:ext cx="384048" cy="332586"/>
          </a:xfrm>
          <a:prstGeom prst="hexagon">
            <a:avLst/>
          </a:prstGeom>
          <a:solidFill>
            <a:srgbClr val="1F6F6A"/>
          </a:solidFill>
          <a:ln/>
        </p:spPr>
      </p:sp>
      <p:sp>
        <p:nvSpPr>
          <p:cNvPr id="35" name="bullet"/>
          <p:cNvSpPr txBox="1"/>
          <p:nvPr/>
        </p:nvSpPr>
        <p:spPr>
          <a:xfrm>
            <a:off x="1143000" y="3944789"/>
            <a:ext cx="4389120" cy="85225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single cell is small enough that diffusion across its surface supplies all of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Explaining a rate in the exam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Factor → effect on rate → particle explanation. Three parts for each factor.</a:t>
            </a:r>
            <a:endParaRPr lang="en-US" sz="1800" dirty="0"/>
          </a:p>
        </p:txBody>
      </p:sp>
      <p:sp>
        <p:nvSpPr>
          <p:cNvPr id="11" name="point-card"/>
          <p:cNvSpPr/>
          <p:nvPr/>
        </p:nvSpPr>
        <p:spPr>
          <a:xfrm>
            <a:off x="548640" y="1389888"/>
            <a:ext cx="5410048" cy="3964940"/>
          </a:xfrm>
          <a:prstGeom prst="roundRect">
            <a:avLst>
              <a:gd name="adj" fmla="val 1384"/>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six-mark question on diffusion asks you to explain how factors affect the rate.</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Avoid saying particles 'want' to move or 'know' where to go.</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1F6F6A"/>
                </a:solidFill>
                <a:latin typeface="Cambria" pitchFamily="34" charset="0"/>
                <a:ea typeface="Cambria" pitchFamily="34" charset="-122"/>
                <a:cs typeface="Cambria" pitchFamily="34" charset="-120"/>
              </a:rPr>
              <a:t>Same task, three ways in: Surface area to volume</a:t>
            </a:r>
            <a:endParaRPr lang="en-US" sz="30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model cell is a cube with sides of 4 cm. Calculate its surface area to volume ratio. Give your answer as surface area ÷ volume.</a:t>
            </a:r>
            <a:endParaRPr lang="en-US" sz="2000" dirty="0"/>
          </a:p>
          <a:p>
            <a:pPr algn="ctr" indent="0" marL="0">
              <a:buNone/>
            </a:pPr>
            <a:r>
              <a:rPr lang="en-US" sz="1800" b="1" dirty="0">
                <a:solidFill>
                  <a:srgbClr val="1F6F6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 1</a:t>
            </a:r>
            <a:endParaRPr lang="en-US" sz="2000" dirty="0"/>
          </a:p>
        </p:txBody>
      </p:sp>
      <p:sp>
        <p:nvSpPr>
          <p:cNvPr id="12" name="col-Support"/>
          <p:cNvSpPr/>
          <p:nvPr/>
        </p:nvSpPr>
        <p:spPr>
          <a:xfrm>
            <a:off x="548640" y="2948940"/>
            <a:ext cx="3515258" cy="3195828"/>
          </a:xfrm>
          <a:prstGeom prst="roundRect">
            <a:avLst>
              <a:gd name="adj" fmla="val 1717"/>
            </a:avLst>
          </a:prstGeom>
          <a:solidFill>
            <a:srgbClr val="E2ECEC"/>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Surface area: area of one face (side × side), then × 6.</a:t>
            </a:r>
            <a:endParaRPr lang="en-US" sz="2000" dirty="0"/>
          </a:p>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Volume: side × side × side.</a:t>
            </a:r>
            <a:endParaRPr lang="en-US" sz="2000" dirty="0"/>
          </a:p>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Ratio: surface area ÷ volume.</a:t>
            </a:r>
            <a:endParaRPr lang="en-US" sz="2000" dirty="0"/>
          </a:p>
        </p:txBody>
      </p:sp>
      <p:sp>
        <p:nvSpPr>
          <p:cNvPr id="17" name="col-Core"/>
          <p:cNvSpPr/>
          <p:nvPr/>
        </p:nvSpPr>
        <p:spPr>
          <a:xfrm>
            <a:off x="4338218" y="2948940"/>
            <a:ext cx="3515258" cy="3195828"/>
          </a:xfrm>
          <a:prstGeom prst="roundRect">
            <a:avLst>
              <a:gd name="adj" fmla="val 1717"/>
            </a:avLst>
          </a:prstGeom>
          <a:solidFill>
            <a:srgbClr val="C7DBDA"/>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2000" b="1" dirty="0">
                <a:solidFill>
                  <a:srgbClr val="195955"/>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Six faces for the surface area; side cubed for the volume; then divide.</a:t>
            </a:r>
            <a:endParaRPr lang="en-US" sz="2000" dirty="0"/>
          </a:p>
        </p:txBody>
      </p:sp>
      <p:sp>
        <p:nvSpPr>
          <p:cNvPr id="22" name="col-Stretch"/>
          <p:cNvSpPr/>
          <p:nvPr/>
        </p:nvSpPr>
        <p:spPr>
          <a:xfrm>
            <a:off x="8127797" y="2948940"/>
            <a:ext cx="3515258" cy="3195828"/>
          </a:xfrm>
          <a:prstGeom prst="roundRect">
            <a:avLst>
              <a:gd name="adj" fmla="val 1717"/>
            </a:avLst>
          </a:prstGeom>
          <a:solidFill>
            <a:srgbClr val="1F6F6A"/>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Compare your ratio with that of a 1 cm cube (6 : 1). Explain, using diffusion, why a cell the size of the 4 cm cube could not survive.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Slower or faster?</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Which change would make oxygen diffuse into a cell more slowly?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thicker cell membrane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higher temperature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higher concentration of oxygen outside the cell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larger surface area of membrane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Same task, three ways in: Slower or faster?</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Which change would make oxygen diffuse into a cell more slowly?</a:t>
            </a:r>
            <a:endParaRPr lang="en-US" sz="2000" dirty="0"/>
          </a:p>
        </p:txBody>
      </p:sp>
      <p:sp>
        <p:nvSpPr>
          <p:cNvPr id="12" name="col-Support"/>
          <p:cNvSpPr/>
          <p:nvPr/>
        </p:nvSpPr>
        <p:spPr>
          <a:xfrm>
            <a:off x="548640" y="2578608"/>
            <a:ext cx="3515258" cy="3566160"/>
          </a:xfrm>
          <a:prstGeom prst="roundRect">
            <a:avLst>
              <a:gd name="adj" fmla="val 1561"/>
            </a:avLst>
          </a:prstGeom>
          <a:solidFill>
            <a:srgbClr val="E2EC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List the four factors: gradient, temperature, distance, surface area.</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Three of them speed diffusion up when they increase; only distance slows it.</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option that increases the distance.</a:t>
            </a:r>
            <a:endParaRPr lang="en-US" sz="1800" dirty="0"/>
          </a:p>
        </p:txBody>
      </p:sp>
      <p:sp>
        <p:nvSpPr>
          <p:cNvPr id="17" name="col-Core"/>
          <p:cNvSpPr/>
          <p:nvPr/>
        </p:nvSpPr>
        <p:spPr>
          <a:xfrm>
            <a:off x="4338218" y="2578608"/>
            <a:ext cx="3515258" cy="3566160"/>
          </a:xfrm>
          <a:prstGeom prst="roundRect">
            <a:avLst>
              <a:gd name="adj" fmla="val 1561"/>
            </a:avLst>
          </a:prstGeom>
          <a:solidFill>
            <a:srgbClr val="C7DBDA"/>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Which of the four factors slows diffusion when it increases?</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1F6F6A"/>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lining of the lungs is one cell thick and is kept at body temperature with a constant blood supply. Explain how each of these three facts keeps oxygen diffusing quickly into the blood.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491232"/>
          </a:xfrm>
          <a:prstGeom prst="rect">
            <a:avLst/>
          </a:prstGeom>
          <a:noFill/>
          <a:ln/>
        </p:spPr>
        <p:txBody>
          <a:bodyPr wrap="square" lIns="63500" tIns="63500" rIns="63500" bIns="63500" rtlCol="0" anchor="t"/>
          <a:lstStyle/>
          <a:p>
            <a:pPr algn="l" indent="0" marL="0">
              <a:spcAft>
                <a:spcPts val="1200"/>
              </a:spcAft>
              <a:buNone/>
            </a:pPr>
            <a:r>
              <a:rPr lang="en-US" sz="2000" b="1" dirty="0">
                <a:solidFill>
                  <a:srgbClr val="1E2229"/>
                </a:solidFill>
                <a:latin typeface="Calibri" pitchFamily="34" charset="0"/>
                <a:ea typeface="Calibri" pitchFamily="34" charset="-122"/>
                <a:cs typeface="Calibri" pitchFamily="34" charset="-120"/>
              </a:rPr>
              <a:t>Which sentence describes diffusion?</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movement of particles against a concentration gradient using energy</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movement of particles from a lower concentration to a higher concentration without energy</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net movement of particles from a higher concentration to a lower concentration</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movement of water only, through a partially permeable membrane</a:t>
            </a:r>
            <a:endParaRPr lang="en-US" sz="2000" dirty="0"/>
          </a:p>
        </p:txBody>
      </p:sp>
      <p:sp>
        <p:nvSpPr>
          <p:cNvPr id="11" name="exit-answer-box"/>
          <p:cNvSpPr/>
          <p:nvPr/>
        </p:nvSpPr>
        <p:spPr>
          <a:xfrm>
            <a:off x="2286000" y="5047488"/>
            <a:ext cx="7619695" cy="822960"/>
          </a:xfrm>
          <a:prstGeom prst="roundRect">
            <a:avLst>
              <a:gd name="adj" fmla="val 11111"/>
            </a:avLst>
          </a:prstGeom>
          <a:solidFill>
            <a:srgbClr val="E9F1F0"/>
          </a:solidFill>
          <a:ln w="12700">
            <a:solidFill>
              <a:srgbClr val="88B3B0"/>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Surface area to volume</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model cell is a cube with sides of 4 cm. Calculate its surface area to volume ratio. Give your answer as surface area ÷ volume.</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1.5 : 1</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96 cm² ÷ 64 cm³ = 1.5, so the ratio is 1.5 : 1, far lower than the 6 : 1 of a 1 cm cube.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Slower or faster?</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change would make oxygen diffuse into a cell more slowly?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a thicker cell membrane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Distance is the only factor that slows diffusion as it increases; a thicker membrane is a longer distance.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sentence describes diffusion?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the net movement of particles from a higher concentration to a lower concentration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Diffusion is the net movement of particles down a concentration gradient, from high to low, and it needs no energy from the cell.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E2ECEC"/>
      </a:lt2>
      <a:accent1>
        <a:srgbClr val="1F6F6A"/>
      </a:accent1>
      <a:accent2>
        <a:srgbClr val="B8862B"/>
      </a:accent2>
      <a:accent3>
        <a:srgbClr val="79A9A6"/>
      </a:accent3>
      <a:accent4>
        <a:srgbClr val="815E1E"/>
      </a:accent4>
      <a:accent5>
        <a:srgbClr val="4A505C"/>
      </a:accent5>
      <a:accent6>
        <a:srgbClr val="D9BF8F"/>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Cell Biology · Chapter 5: Diffusion and surface area</dc:title>
  <dc:subject>Biology (Combined Science) · Year 10</dc:subject>
  <dc:creator>Dr Vitor Merissi de Carvalho</dc:creator>
  <cp:lastModifiedBy>Dr Vitor Merissi de Carvalho</cp:lastModifiedBy>
  <cp:revision>1</cp:revision>
  <dcterms:created xsi:type="dcterms:W3CDTF">2026-10-19T16:22:30Z</dcterms:created>
  <dcterms:modified xsi:type="dcterms:W3CDTF">2026-10-19T16:22:30Z</dcterms:modified>
</cp:coreProperties>
</file>