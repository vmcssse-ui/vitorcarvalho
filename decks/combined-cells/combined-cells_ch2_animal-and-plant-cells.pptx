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2829ae8-8e30-1be1-6cfd-57329cd83341}">
          <p14:sldIdLst>
            <p14:sldId id="256"/>
          </p14:sldIdLst>
        </p14:section>
        <p14:section name="Gate" id="{861ec5e9-8bf5-ced5-f010-9725a971c010}">
          <p14:sldIdLst>
            <p14:sldId id="257"/>
            <p14:sldId id="258"/>
          </p14:sldIdLst>
        </p14:section>
        <p14:section name="Pre-teach" id="{21eb36c1-9405-76ec-3967-c46c3695c124}">
          <p14:sldIdLst>
            <p14:sldId id="259"/>
            <p14:sldId id="260"/>
          </p14:sldIdLst>
        </p14:section>
        <p14:section name="Read-along" id="{3929385c-5679-fc58-1d3c-1e167d26ff67}">
          <p14:sldIdLst>
            <p14:sldId id="261"/>
            <p14:sldId id="262"/>
          </p14:sldIdLst>
        </p14:section>
        <p14:section name="Teach" id="{edd28882-8b4f-921a-f4a8-867f60d1b052}">
          <p14:sldIdLst>
            <p14:sldId id="263"/>
            <p14:sldId id="264"/>
            <p14:sldId id="265"/>
            <p14:sldId id="266"/>
          </p14:sldIdLst>
        </p14:section>
        <p14:section name="Routes" id="{79bd2d59-efea-5318-f1e6-2b31f9e9672e}">
          <p14:sldIdLst>
            <p14:sldId id="267"/>
            <p14:sldId id="268"/>
            <p14:sldId id="269"/>
          </p14:sldIdLst>
        </p14:section>
        <p14:section name="Close" id="{0bfd5c31-afc5-23be-ca91-acd9361fdd49}">
          <p14:sldIdLst>
            <p14:sldId id="270"/>
          </p14:sldIdLst>
        </p14:section>
        <p14:section name="Answers" id="{f309cf8a-2f51-f7d2-5b68-8e0c9b0f9805}">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Animal and plant cells. This chapter names the parts of animal and plant cells, says what each part does, and takes you through the microscopy required practical.
This deck covers the department's lesson: 2 (Animal and plant cells: What are the parts of animal and plant cells, and what does each part do?).
Read the big question aloud: "What is a cell made of, and how does it get what it needs?"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part of a cell controls its activities and contains the DNA?  →  A   nucleus
2. Which of these structures is in a plant cell but not in an animal cell?  →  D   chloroplast
3. The cell wall of a plant cell is made of ___.  →  cellulose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nucleus. The nucleus controls the cell and holds the genetic material, DNA, in chromosomes.
2. D   chloroplast. Chloroplasts, the cell wall and the permanent vacuole are the three plant-only structures. Ribosomes, a nucleus and a cell membrane are in both.
3. cellulose. Plant cell walls are made of cellulose, a tough carbohydrate that gives the cell strength and shape.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cell: the smallest living part of a living thing. Example: "Your body is made of trillions of cells."
• nucleus: the part that controls the cell and holds the DNA. Example: "The nucleus was stained dark so we could see it."
• cytoplasm: the jelly inside the cell where chemical reactions happen. Example: "Most of the cell's reactions happen in the cytoplasm."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membrane: the thin skin around the cell that controls what goes in and out. Example: "Oxygen passes through the cell membrane into the cell."
• chloroplast: the green part of a plant cell where food is made. Example: "Leaf cells are packed with chloroplasts."
• vacuole: a space inside a plant cell filled with a watery liquid called sap. Example: "The vacuole keeps the plant cell firm."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Every living thing is made of cells.
2. A cell is the smallest living part of a body.
3. Animal cells and plant cells share some parts.
4. The nucleus controls the cell and holds the DNA.
5. The cytoplasm is a jelly where chemical reactions happen.
6. The cell membrane controls what goes in and out.
7. Mitochondria release energy from food by respiration.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Ribosomes make proteins.
9. Plant cells have three extra parts.
10. A cell wall made of cellulose gives the plant cell its shape and strength.
11. Chloroplasts hold green chlorophyll and make food by photosynthesis.
12. A permanent vacuole stores sap and keeps the cell firm.
13. We can see plant cells by looking at a thin piece of onion.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every animal and plant cell has. Say it in your own words, then check understanding with a quick question: ask a pupil from the pre-teach group first, since they met these words and ideas before the lesson. Pupils try to recall before you re-explain.
A cell is the smallest unit of life. Animal and plant cells are eukaryotic cells: they keep their DNA inside a nucleus and contain small structures with particular jobs, called organelles, which means little organs. Five parts are found in both animal and plant cells.
The nucleus controls the cell's activities and contains the genetic material, DNA, arranged in chromosomes. The cytoplasm is a jelly-like liquid in which most of the cell's chemical reactions take place. The cell membrane surrounds the cytoplasm and controls which substances enter and leave the cell.
Mitochondria are where aerobic respiration happens; they release the energy the cell needs from glucose. Cells that use a lot of energy, such as muscle cells, have many mitochondria. Ribosomes are tiny structures where proteins are made, by joining amino acids together. Ribosomes are so small that they can only be seen with an electron microscope.
Tip: Mitochondria RELEASE energy; they do not make it. Energy is transferred from the chemical store in glucose.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plant cells have as well. Say it in your own words, then check understanding with a quick question: ask a pupil from the pre-teach group first, since they met these words and ideas before the lesson. Pupils try to recall before you re-explain.
Plant cells, and the cells of algae, have three parts that animal cells never have. The cell wall is a tough layer outside the membrane, made of cellulose. It strengthens the cell, gives it a fixed shape and stops it bursting when it takes in water.
Chloroplasts are disc-shaped organelles containing the green pigment chlorophyll. Chlorophyll absorbs light, and the chloroplast uses that light to make glucose from carbon dioxide and water in photosynthesis. Only plant cells that receive light have chloroplasts: leaf cells are full of them, but root cells and the pale inner layers of an onion bulb have none.
The permanent vacuole is a large space in the middle of the cell filled with cell sap, a solution of sugars and salts. It pushes the cytoplasm against the wall and keeps the cell firm, or turgid, which helps the plant stay upright.
Worked example — model it step by step, thinking aloud: A student sees cells with a cell wall and a nucleus but no chloroplasts. Are they plant cells? Suggest where in the plant they came from. (1) A cell wall is found in plant (and algal) cells and never in animal cells, so these are plant cells. (2) Chloroplasts are only in cells that get light; roots and the inside of a bulb are in the dark. (3) So the cells are plant cells from a part that is not exposed to light, such as a root or an onion bulb. Answer: Yes, plant cells (they have a cell wall); from a root or the inside of a bulb, where there is no light for photosynthesis..
Tip: Cell wall, chloroplast, permanent vacuole: the three plant-only parts. Remember that not every plant cell has chloroplasts.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plant cells have as well. Say it in your own words, then check understanding with a quick question: ask a pupil from the pre-teach group first, since they met these words and ideas before the lesson. Pupils try to recall before you re-explain.
Plant cells, and the cells of algae, have three parts that animal cells never have. The cell wall is a tough layer outside the membrane, made of cellulose. It strengthens the cell, gives it a fixed shape and stops it bursting when it takes in water.
Chloroplasts are disc-shaped organelles containing the green pigment chlorophyll. Chlorophyll absorbs light, and the chloroplast uses that light to make glucose from carbon dioxide and water in photosynthesis. Only plant cells that receive light have chloroplasts: leaf cells are full of them, but root cells and the pale inner layers of an onion bulb have none.
The permanent vacuole is a large space in the middle of the cell filled with cell sap, a solution of sugars and salts. It pushes the cytoplasm against the wall and keeps the cell firm, or turgid, which helps the plant stay upright.
Worked example — model it step by step, thinking aloud: A student sees cells with a cell wall and a nucleus but no chloroplasts. Are they plant cells? Suggest where in the plant they came from. (1) A cell wall is found in plant (and algal) cells and never in animal cells, so these are plant cells. (2) Chloroplasts are only in cells that get light; roots and the inside of a bulb are in the dark. (3) So the cells are plant cells from a part that is not exposed to light, such as a root or an onion bulb. Answer: Yes, plant cells (they have a cell wall); from a root or the inside of a bulb, where there is no light for photosynthesis..
Tip: Cell wall, chloroplast, permanent vacuole: the three plant-only parts. Remember that not every plant cell has chloroplasts.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Required practical: looking at onion cells. Say it in your own words, then check understanding with a quick question: ask a pupil from the pre-teach group first, since they met these words and ideas before the lesson. Pupils try to recall before you re-explain.
In this practical you prepare a slide of plant cells and view them with a light microscope. Peel a thin, almost transparent layer from the inside of an onion with forceps and lay it flat on a microscope slide. Add a drop of iodine solution. Iodine is a stain: it colours the nucleus and cytoplasm so you can see them, because living cells are nearly see-through. Lower a coverslip gently at an angle with a mounted needle so that no air bubbles are trapped.
Put the slide on the stage and clip it in place. Start with the lowest-power objective lens, use the coarse focus to bring the cells into view, then the fine focus to sharpen them. Only then switch to a higher-power lens. Safety: iodine stains skin and clothes, so wear goggles and rinse any splashes; slides and coverslips are thin glass and break easily; keep the microscope away from the edge of the bench.
Record what you see as a scientific drawing: a sharp pencil, clear single lines, no shading, labels joined to the right part with ruled lines, and the magnification written underneath. You can also work out how big a cell appears at a given magnification using the equation from Chapter 1.
Worked example — model it step by step, thinking aloud: An onion cell is 0.1 mm long. The microscope is set to ×100. How long will the cell appear in the image? (1) Rearrange: image size = real size × magnification. (2) Substitute: image size = 0.1 × 100. (3) Calculate: image size = 10 mm. Answer: 10 mm.
Tip: Lowest-power lens first, coarse focus, then fine focus. Never wind the stage up while looking through a high-power lens: you can crack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part to its job.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 cell to its function.
Support — work through the steps with the group: (1) Start with the two you are surest of: the nucleus (control, DNA) and the chloroplast (green, light, photosynthesis). (2) Energy words (respiration, release energy) go with mitochondria. (3) Protein goes with ribosomes; 'in and out' goes with the membrane.
Parallel worked example for Support (model it, do not give the task answer): Match: cell wall; permanent vacuole; cytoplasm — to: where most chemical reactions happen; strengthens and supports the cell; filled with cell sap, keeps the cell turgid. Cell wall = strengthens and supports.; Permanent vacuole = cell sap, turgid.; Cytoplasm = where most chemical reactions happen.. Answer: cell wall → strengthens and supports; permanent vacuole → sap, turgid; cytoplasm → chemical reactions.
Core — reveal the hint only on request: Control, energy, protein, in-and-out, light: one word for each part.
Stretch — no help; when finished: A cell makes a very large amount of a protein hormone. Predict two organelles it will have in large numbers and explain each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part to its job.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part of a cell to its function.
Support — work through the steps with the group: (1) Start with the two you are surest of: the nucleus (control, DNA) and the chloroplast (green, light, photosynthesis). (2) Energy words (respiration, release energy) go with mitochondria. (3) Protein goes with ribosomes; 'in and out' goes with the membrane.
Parallel worked example for Support (model it, do not give the task answer): Match: cell wall; permanent vacuole; cytoplasm — to: where most chemical reactions happen; strengthens and supports the cell; filled with cell sap, keeps the cell turgid. Cell wall = strengthens and supports.; Permanent vacuole = cell sap, turgid.; Cytoplasm = where most chemical reactions happen.. Answer: cell wall → strengthens and supports; permanent vacuole → sap, turgid; cytoplasm → chemical reactions.
Core — reveal the hint only on request: Control, energy, protein, in-and-out, light: one word for each part.
Stretch — no help; when finished: A cell makes a very large amount of a protein hormone. Predict two organelles it will have in large numbers and explain each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Plant or animal?.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Under the microscope a student sees cells from the skin of an onion. Which structure do all plant cells have that no animal cell has?
Support — work through the steps with the group: (1) Cross off anything both kinds of cell have: nucleus, cytoplasm, cell membrane, mitochondria, ribosomes. (2) Of the plant-only parts, ask which one EVERY plant cell has, even in the dark. (3) Chloroplasts need light; the cell wall is always there.
Parallel worked example for Support (model it, do not give the task answer): A cell from a potato has a cell wall, a nucleus and no chloroplasts. Is it a plant cell or an animal cell? Give the reason. Animal cells never have a cell wall.; So a cell wall proves it is a plant cell.; No chloroplasts is normal for a potato: it grows underground, in the dark.. Answer: A plant cell, because it has a cell wall..
Core — reveal the hint only on request: Which plant-only part is still there when there is no light?
Stretch — no help; when finished: Explain why a plant cell with chloroplasts also needs mitochondria. What does each organelle do that the other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Put the steps for preparing and viewing an onion-cell slide in the correct order.
Answer: Peel a thin layer from the inside of an onion with forceps  (A); Lay the layer flat on a microscope slide  (D); Add a drop of iodine solution to stain the cells  (B); Lower a coverslip gently at an angle with a mounted needle  (C); Place the slide on the stage and focus with the lowest-power objective lens first  (E). Specimen on the slide, iodine to stain it, coverslip lowered at an angle to avoid air bubbles, then the stage and low power first.
Source of this question: module 3 task ("Make the slide")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the part to its job. Reveal the answer; pupils mark their own work in a different colour, then read the "why" together. Same destination for every lane, so one answer serves the whole class.
Answer: nucleus  →  D  controls the cell's activities and contains the DNA; mitochondria  →  B  where aerobic respiration releases energy; ribosomes  →  E  where proteins are made; cell membrane  →  A  controls which substances enter and leave the cell; chloroplast  →  C  absorbs light for photosynthesis
Why: Nucleus = control and DNA; mitochondria = respiration and energy; ribosomes = proteins; membrane = what enters and leaves; chloroplast = light for photosynthesis.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Plant or animal?. Reveal the answer; pupils mark their own work in a different colour, then read the "why" together. Same destination for every lane, so one answer serves the whole class.
Answer: D   cell wall
Why: The cell wall is the one structure found in every plant cell and never in an animal cell.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Peel a thin layer from the inside of an onion with forceps  (A); Lay the layer flat on a microscope slide  (D); Add a drop of iodine solution to stain the cells  (B); Lower a coverslip gently at an angle with a mounted needle  (C); Place the slide on the stage and focus with the lowest-power objective lens first  (E)
Why: Specimen on the slide, iodine to stain it, coverslip lowered at an angle to avoid air bubbles, then the stage and low power first.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Biology (Combined Science) · Year 10 · Cell Biology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Biology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Cell Biology · AQA 8464</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Animal and plant cells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E2EC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Animal and plant cells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Biolog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is a cell made of, and how does it get what it needs?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part of a cell controls its activities and contains the DNA?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nucleus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cell membrane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mitochondria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cytoplasm</a:t>
            </a:r>
            <a:endParaRPr lang="en-US" sz="24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structures is in a plant cell but not in an animal cell?</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nucleus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cell membrane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ribosome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chloroplast</a:t>
            </a:r>
            <a:endParaRPr lang="en-US" sz="24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cell wall of a plant cell is made of ___.</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cellulose  ·  chlorophyll  ·  protein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nucleus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part of a cell controls its activities and contains the DNA?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nucleus controls the cell and holds the genetic material, DNA, in chromosomes.</a:t>
            </a:r>
            <a:endParaRPr lang="en-US" sz="22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chloroplast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structures is in a plant cell but not in an animal cell?</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Chloroplasts, the cell wall and the permanent vacuole are the three plant-only structures. Ribosomes, a nucleus and a cell membrane are in both.</a:t>
            </a:r>
            <a:endParaRPr lang="en-US" sz="18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cellulose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cell wall of a plant cell is made of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Plant cell walls are made of cellulose, a tough carbohydrate that gives the cell strength and shape.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cell</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smallest living part of a living 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Your body is made of trillions of cells.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nucleus</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part that controls the cell and holds the DNA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nucleus was stained dark so we could see it.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cytoplasm</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jelly inside the cell where chemical reactions happen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Most of the cell's reactions happen in the cytoplasm.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membrane</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thin skin around the cell that controls what goes in and out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Oxygen passes through the cell membrane into the cell.</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chloroplast</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green part of a plant cell where food is made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Leaf cells are packed with chloroplasts.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vacuole</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space inside a plant cell filled with a watery liquid called sap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vacuole keeps the plant cell firm.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Every living thing is made of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smallest living part of a body.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Animal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plant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share some parts.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nucleus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controls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holds the DNA.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cytoplasm</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jelly where chemical reactions happen.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membrane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controls what goes in and out.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Mitochondria release energy from food by respiration.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Ribosomes make proteins.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Plant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have three extra parts.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wall made of cellulose gives the plant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its shape and strength.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Chloroplasts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hold green chlorophyll and make food by photosynthesis.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permanent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vacuole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stores sap and keeps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firm.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can see plant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cells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by looking at a thin piece of onion.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What every animal and plant cell has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Mitochondria RELEASE energy; they do not make it. Energy is transferred from the chemical store in glucose.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cell is the smallest unit of life. Animal and plant cells are eukaryotic cells: they keep their DNA inside a nucleus and contain small structures with particular jobs, called organelles, which means little organs.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nucleus controls the cell's activities and contains the genetic material, DNA, arranged in chromosomes.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Mitochondria are where aerobic respiration happens; they release the energy the cell needs from glucose.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What plant cells have as well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Cell wall, chloroplast, permanent vacuole: the three plant-only parts. Remember that not every plant cell has chloroplasts.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Plant cells, and the cells of algae, have three parts that animal cells never have.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Chloroplasts are disc-shaped organelles containing the green pigment chlorophyll. Chlorophyll absorbs light, and the chloroplast uses that light to make glucose from carbon dioxide and water in photosynthesis.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permanent vacuole is a large space in the middle of the cell filled with cell sap, a solution of sugars and salts.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Worked example: What plant cells have as well</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C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student sees cells with a cell wall and a nucleus but no chloroplasts. Are they plant cells? Suggest where in the plant they came from.</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cell wall is found in plant (and algal) cells and never in animal cells, so these are plant cells.</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84B0AD"/>
            </a:solidFill>
            <a:prstDash val="solid"/>
          </a:ln>
        </p:spPr>
      </p:sp>
      <p:sp>
        <p:nvSpPr>
          <p:cNvPr id="15" name="step-hex"/>
          <p:cNvSpPr/>
          <p:nvPr/>
        </p:nvSpPr>
        <p:spPr>
          <a:xfrm>
            <a:off x="4521098" y="2765552"/>
            <a:ext cx="530352" cy="459285"/>
          </a:xfrm>
          <a:prstGeom prst="hexagon">
            <a:avLst/>
          </a:prstGeom>
          <a:solidFill>
            <a:srgbClr val="1F6F6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Chloroplasts are only in cells that get light; roots and the inside of a bulb are in the dark.</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84B0AD"/>
            </a:solidFill>
            <a:prstDash val="solid"/>
          </a:ln>
        </p:spPr>
      </p:sp>
      <p:sp>
        <p:nvSpPr>
          <p:cNvPr id="20" name="step-hex"/>
          <p:cNvSpPr/>
          <p:nvPr/>
        </p:nvSpPr>
        <p:spPr>
          <a:xfrm>
            <a:off x="8356397" y="2765552"/>
            <a:ext cx="530352" cy="459285"/>
          </a:xfrm>
          <a:prstGeom prst="hexagon">
            <a:avLst/>
          </a:prstGeom>
          <a:solidFill>
            <a:srgbClr val="1F6F6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the cells are plant cells from a part that is not exposed to light, such as a root or an onion bulb.</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Yes, plant cells (they have a cell wall); from a root or the inside of a bulb, where there is no light for photosynthesis.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Required practical: looking at onion cells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2E9D9"/>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Lowest-power lens first, coarse focus, then fine focus. Never wind the stage up while looking through a high-power lens: you can crack the slide.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8B3B0"/>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An onion cell is 0.1 mm long. The microscope is set to ×100. How long will the cell appear in the image?</a:t>
            </a:r>
            <a:endParaRPr lang="en-US" sz="1800" dirty="0"/>
          </a:p>
        </p:txBody>
      </p:sp>
      <p:sp>
        <p:nvSpPr>
          <p:cNvPr id="14" name="step-box"/>
          <p:cNvSpPr/>
          <p:nvPr/>
        </p:nvSpPr>
        <p:spPr>
          <a:xfrm>
            <a:off x="6126480" y="2888488"/>
            <a:ext cx="5379415" cy="794512"/>
          </a:xfrm>
          <a:prstGeom prst="roundRect">
            <a:avLst>
              <a:gd name="adj" fmla="val 11509"/>
            </a:avLst>
          </a:prstGeom>
          <a:solidFill>
            <a:srgbClr val="E2ECEC"/>
          </a:solidFill>
          <a:ln/>
        </p:spPr>
      </p:sp>
      <p:sp>
        <p:nvSpPr>
          <p:cNvPr id="15" name="step-hex"/>
          <p:cNvSpPr/>
          <p:nvPr/>
        </p:nvSpPr>
        <p:spPr>
          <a:xfrm>
            <a:off x="6217920" y="3103614"/>
            <a:ext cx="420624" cy="364260"/>
          </a:xfrm>
          <a:prstGeom prst="hexagon">
            <a:avLst/>
          </a:prstGeom>
          <a:solidFill>
            <a:srgbClr val="1F6F6A"/>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Rearrange: image size = real size × magnification.</a:t>
            </a:r>
            <a:endParaRPr lang="en-US" sz="1800" dirty="0"/>
          </a:p>
        </p:txBody>
      </p:sp>
      <p:sp>
        <p:nvSpPr>
          <p:cNvPr id="18" name="step-box"/>
          <p:cNvSpPr/>
          <p:nvPr/>
        </p:nvSpPr>
        <p:spPr>
          <a:xfrm>
            <a:off x="6126480" y="3774440"/>
            <a:ext cx="5379415" cy="566928"/>
          </a:xfrm>
          <a:prstGeom prst="roundRect">
            <a:avLst>
              <a:gd name="adj" fmla="val 16129"/>
            </a:avLst>
          </a:prstGeom>
          <a:solidFill>
            <a:srgbClr val="E2ECEC"/>
          </a:solidFill>
          <a:ln/>
        </p:spPr>
      </p:sp>
      <p:sp>
        <p:nvSpPr>
          <p:cNvPr id="19" name="step-hex"/>
          <p:cNvSpPr/>
          <p:nvPr/>
        </p:nvSpPr>
        <p:spPr>
          <a:xfrm>
            <a:off x="6217920" y="3875774"/>
            <a:ext cx="420624" cy="364260"/>
          </a:xfrm>
          <a:prstGeom prst="hexagon">
            <a:avLst/>
          </a:prstGeom>
          <a:solidFill>
            <a:srgbClr val="1F6F6A"/>
          </a:solidFill>
          <a:ln/>
        </p:spPr>
      </p:sp>
      <p:sp>
        <p:nvSpPr>
          <p:cNvPr id="20" name="step-hex-label"/>
          <p:cNvSpPr txBox="1"/>
          <p:nvPr/>
        </p:nvSpPr>
        <p:spPr>
          <a:xfrm>
            <a:off x="6217920" y="38757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image size = 0.1 × 100.</a:t>
            </a:r>
            <a:endParaRPr lang="en-US" sz="1800" dirty="0"/>
          </a:p>
        </p:txBody>
      </p:sp>
      <p:sp>
        <p:nvSpPr>
          <p:cNvPr id="22" name="step-box"/>
          <p:cNvSpPr/>
          <p:nvPr/>
        </p:nvSpPr>
        <p:spPr>
          <a:xfrm>
            <a:off x="6126480" y="4432808"/>
            <a:ext cx="5379415" cy="566928"/>
          </a:xfrm>
          <a:prstGeom prst="roundRect">
            <a:avLst>
              <a:gd name="adj" fmla="val 16129"/>
            </a:avLst>
          </a:prstGeom>
          <a:solidFill>
            <a:srgbClr val="E2ECEC"/>
          </a:solidFill>
          <a:ln/>
        </p:spPr>
      </p:sp>
      <p:sp>
        <p:nvSpPr>
          <p:cNvPr id="23" name="step-hex"/>
          <p:cNvSpPr/>
          <p:nvPr/>
        </p:nvSpPr>
        <p:spPr>
          <a:xfrm>
            <a:off x="6217920" y="4534142"/>
            <a:ext cx="420624" cy="364260"/>
          </a:xfrm>
          <a:prstGeom prst="hexagon">
            <a:avLst/>
          </a:prstGeom>
          <a:solidFill>
            <a:srgbClr val="1F6F6A"/>
          </a:solidFill>
          <a:ln/>
        </p:spPr>
      </p:sp>
      <p:sp>
        <p:nvSpPr>
          <p:cNvPr id="24" name="step-hex-label"/>
          <p:cNvSpPr txBox="1"/>
          <p:nvPr/>
        </p:nvSpPr>
        <p:spPr>
          <a:xfrm>
            <a:off x="6217920" y="45341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4328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Calculate: image size = 10 mm.</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10 mm</a:t>
            </a:r>
            <a:endParaRPr lang="en-US" sz="1800" dirty="0"/>
          </a:p>
        </p:txBody>
      </p:sp>
      <p:sp>
        <p:nvSpPr>
          <p:cNvPr id="27" name="bullet-card"/>
          <p:cNvSpPr/>
          <p:nvPr/>
        </p:nvSpPr>
        <p:spPr>
          <a:xfrm>
            <a:off x="548640" y="1389888"/>
            <a:ext cx="5074920" cy="1661414"/>
          </a:xfrm>
          <a:prstGeom prst="roundRect">
            <a:avLst>
              <a:gd name="adj" fmla="val 4403"/>
            </a:avLst>
          </a:prstGeom>
          <a:solidFill>
            <a:srgbClr val="E6EFEF"/>
          </a:solidFill>
          <a:ln/>
        </p:spPr>
      </p:sp>
      <p:sp>
        <p:nvSpPr>
          <p:cNvPr id="28" name="bullet-hex"/>
          <p:cNvSpPr/>
          <p:nvPr/>
        </p:nvSpPr>
        <p:spPr>
          <a:xfrm>
            <a:off x="676656" y="2054302"/>
            <a:ext cx="384048" cy="332586"/>
          </a:xfrm>
          <a:prstGeom prst="hexagon">
            <a:avLst/>
          </a:prstGeom>
          <a:solidFill>
            <a:srgbClr val="1F6F6A"/>
          </a:solidFill>
          <a:ln/>
        </p:spPr>
      </p:sp>
      <p:sp>
        <p:nvSpPr>
          <p:cNvPr id="29" name="bullet"/>
          <p:cNvSpPr txBox="1"/>
          <p:nvPr/>
        </p:nvSpPr>
        <p:spPr>
          <a:xfrm>
            <a:off x="1143000" y="1389888"/>
            <a:ext cx="4389120" cy="166141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this practical you prepare a slide of plant cells and view them with a light microscope.</a:t>
            </a:r>
            <a:endParaRPr lang="en-US" sz="2200" dirty="0"/>
          </a:p>
        </p:txBody>
      </p:sp>
      <p:sp>
        <p:nvSpPr>
          <p:cNvPr id="30" name="bullet-card"/>
          <p:cNvSpPr/>
          <p:nvPr/>
        </p:nvSpPr>
        <p:spPr>
          <a:xfrm>
            <a:off x="548640" y="3197606"/>
            <a:ext cx="5074920" cy="1320546"/>
          </a:xfrm>
          <a:prstGeom prst="roundRect">
            <a:avLst>
              <a:gd name="adj" fmla="val 5540"/>
            </a:avLst>
          </a:prstGeom>
          <a:solidFill>
            <a:srgbClr val="E6EFEF"/>
          </a:solidFill>
          <a:ln/>
        </p:spPr>
      </p:sp>
      <p:sp>
        <p:nvSpPr>
          <p:cNvPr id="31" name="bullet-hex"/>
          <p:cNvSpPr/>
          <p:nvPr/>
        </p:nvSpPr>
        <p:spPr>
          <a:xfrm>
            <a:off x="676656" y="3691586"/>
            <a:ext cx="384048" cy="332586"/>
          </a:xfrm>
          <a:prstGeom prst="hexagon">
            <a:avLst/>
          </a:prstGeom>
          <a:solidFill>
            <a:srgbClr val="B8862B"/>
          </a:solidFill>
          <a:ln/>
        </p:spPr>
      </p:sp>
      <p:sp>
        <p:nvSpPr>
          <p:cNvPr id="32" name="bullet"/>
          <p:cNvSpPr txBox="1"/>
          <p:nvPr/>
        </p:nvSpPr>
        <p:spPr>
          <a:xfrm>
            <a:off x="1143000" y="3197606"/>
            <a:ext cx="4389120" cy="132054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Put the slide on the stage and clip it in place.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Match the part to its job</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part of a cell to its function.</a:t>
            </a:r>
            <a:endParaRPr lang="en-US" sz="2400" dirty="0"/>
          </a:p>
        </p:txBody>
      </p:sp>
      <p:sp>
        <p:nvSpPr>
          <p:cNvPr id="11" name="match-card"/>
          <p:cNvSpPr/>
          <p:nvPr/>
        </p:nvSpPr>
        <p:spPr>
          <a:xfrm>
            <a:off x="777240" y="2468331"/>
            <a:ext cx="3081437" cy="625559"/>
          </a:xfrm>
          <a:prstGeom prst="roundRect">
            <a:avLst>
              <a:gd name="adj" fmla="val 11694"/>
            </a:avLst>
          </a:prstGeom>
          <a:solidFill>
            <a:srgbClr val="E6EFEF"/>
          </a:solidFill>
          <a:ln/>
        </p:spPr>
      </p:sp>
      <p:sp>
        <p:nvSpPr>
          <p:cNvPr id="12" name="match-hex"/>
          <p:cNvSpPr/>
          <p:nvPr/>
        </p:nvSpPr>
        <p:spPr>
          <a:xfrm>
            <a:off x="850392" y="2614818"/>
            <a:ext cx="384048" cy="332586"/>
          </a:xfrm>
          <a:prstGeom prst="hexagon">
            <a:avLst/>
          </a:prstGeom>
          <a:solidFill>
            <a:srgbClr val="1F6F6A"/>
          </a:solidFill>
          <a:ln/>
        </p:spPr>
      </p:sp>
      <p:sp>
        <p:nvSpPr>
          <p:cNvPr id="13" name="match-hex-label"/>
          <p:cNvSpPr txBox="1"/>
          <p:nvPr/>
        </p:nvSpPr>
        <p:spPr>
          <a:xfrm>
            <a:off x="850392"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nucleus</a:t>
            </a:r>
            <a:endParaRPr lang="en-US" sz="2200" dirty="0"/>
          </a:p>
        </p:txBody>
      </p:sp>
      <p:sp>
        <p:nvSpPr>
          <p:cNvPr id="15" name="match-card"/>
          <p:cNvSpPr/>
          <p:nvPr/>
        </p:nvSpPr>
        <p:spPr>
          <a:xfrm>
            <a:off x="4224437" y="2468331"/>
            <a:ext cx="7190019" cy="625559"/>
          </a:xfrm>
          <a:prstGeom prst="roundRect">
            <a:avLst>
              <a:gd name="adj" fmla="val 11694"/>
            </a:avLst>
          </a:prstGeom>
          <a:solidFill>
            <a:srgbClr val="F4EDDF"/>
          </a:solidFill>
          <a:ln/>
        </p:spPr>
      </p:sp>
      <p:sp>
        <p:nvSpPr>
          <p:cNvPr id="16" name="match-hex"/>
          <p:cNvSpPr/>
          <p:nvPr/>
        </p:nvSpPr>
        <p:spPr>
          <a:xfrm>
            <a:off x="4297589" y="2614818"/>
            <a:ext cx="384048" cy="332586"/>
          </a:xfrm>
          <a:prstGeom prst="hexagon">
            <a:avLst/>
          </a:prstGeom>
          <a:solidFill>
            <a:srgbClr val="B8862B"/>
          </a:solidFill>
          <a:ln/>
        </p:spPr>
      </p:sp>
      <p:sp>
        <p:nvSpPr>
          <p:cNvPr id="17" name="match-hex-label"/>
          <p:cNvSpPr txBox="1"/>
          <p:nvPr/>
        </p:nvSpPr>
        <p:spPr>
          <a:xfrm>
            <a:off x="4297589" y="2614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controls which substances enter and leave the cell</a:t>
            </a:r>
            <a:endParaRPr lang="en-US" sz="2200" dirty="0"/>
          </a:p>
        </p:txBody>
      </p:sp>
      <p:sp>
        <p:nvSpPr>
          <p:cNvPr id="19" name="match-card"/>
          <p:cNvSpPr/>
          <p:nvPr/>
        </p:nvSpPr>
        <p:spPr>
          <a:xfrm>
            <a:off x="777240" y="3185331"/>
            <a:ext cx="3081437" cy="625559"/>
          </a:xfrm>
          <a:prstGeom prst="roundRect">
            <a:avLst>
              <a:gd name="adj" fmla="val 11694"/>
            </a:avLst>
          </a:prstGeom>
          <a:solidFill>
            <a:srgbClr val="E6EFEF"/>
          </a:solidFill>
          <a:ln/>
        </p:spPr>
      </p:sp>
      <p:sp>
        <p:nvSpPr>
          <p:cNvPr id="20" name="match-hex"/>
          <p:cNvSpPr/>
          <p:nvPr/>
        </p:nvSpPr>
        <p:spPr>
          <a:xfrm>
            <a:off x="850392" y="3331818"/>
            <a:ext cx="384048" cy="332586"/>
          </a:xfrm>
          <a:prstGeom prst="hexagon">
            <a:avLst/>
          </a:prstGeom>
          <a:solidFill>
            <a:srgbClr val="1F6F6A"/>
          </a:solidFill>
          <a:ln/>
        </p:spPr>
      </p:sp>
      <p:sp>
        <p:nvSpPr>
          <p:cNvPr id="21" name="match-hex-label"/>
          <p:cNvSpPr txBox="1"/>
          <p:nvPr/>
        </p:nvSpPr>
        <p:spPr>
          <a:xfrm>
            <a:off x="850392"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85331"/>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mitochondria</a:t>
            </a:r>
            <a:endParaRPr lang="en-US" sz="2200" dirty="0"/>
          </a:p>
        </p:txBody>
      </p:sp>
      <p:sp>
        <p:nvSpPr>
          <p:cNvPr id="23" name="match-card"/>
          <p:cNvSpPr/>
          <p:nvPr/>
        </p:nvSpPr>
        <p:spPr>
          <a:xfrm>
            <a:off x="4224437" y="3185331"/>
            <a:ext cx="7190019" cy="625559"/>
          </a:xfrm>
          <a:prstGeom prst="roundRect">
            <a:avLst>
              <a:gd name="adj" fmla="val 11694"/>
            </a:avLst>
          </a:prstGeom>
          <a:solidFill>
            <a:srgbClr val="F4EDDF"/>
          </a:solidFill>
          <a:ln/>
        </p:spPr>
      </p:sp>
      <p:sp>
        <p:nvSpPr>
          <p:cNvPr id="24" name="match-hex"/>
          <p:cNvSpPr/>
          <p:nvPr/>
        </p:nvSpPr>
        <p:spPr>
          <a:xfrm>
            <a:off x="4297589" y="3331818"/>
            <a:ext cx="384048" cy="332586"/>
          </a:xfrm>
          <a:prstGeom prst="hexagon">
            <a:avLst/>
          </a:prstGeom>
          <a:solidFill>
            <a:srgbClr val="B8862B"/>
          </a:solidFill>
          <a:ln/>
        </p:spPr>
      </p:sp>
      <p:sp>
        <p:nvSpPr>
          <p:cNvPr id="25" name="match-hex-label"/>
          <p:cNvSpPr txBox="1"/>
          <p:nvPr/>
        </p:nvSpPr>
        <p:spPr>
          <a:xfrm>
            <a:off x="4297589" y="33318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85331"/>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where aerobic respiration releases energy</a:t>
            </a:r>
            <a:endParaRPr lang="en-US" sz="2200" dirty="0"/>
          </a:p>
        </p:txBody>
      </p:sp>
      <p:sp>
        <p:nvSpPr>
          <p:cNvPr id="27" name="match-card"/>
          <p:cNvSpPr/>
          <p:nvPr/>
        </p:nvSpPr>
        <p:spPr>
          <a:xfrm>
            <a:off x="777240" y="3902330"/>
            <a:ext cx="3081437" cy="625559"/>
          </a:xfrm>
          <a:prstGeom prst="roundRect">
            <a:avLst>
              <a:gd name="adj" fmla="val 11694"/>
            </a:avLst>
          </a:prstGeom>
          <a:solidFill>
            <a:srgbClr val="E6EFEF"/>
          </a:solidFill>
          <a:ln/>
        </p:spPr>
      </p:sp>
      <p:sp>
        <p:nvSpPr>
          <p:cNvPr id="28" name="match-hex"/>
          <p:cNvSpPr/>
          <p:nvPr/>
        </p:nvSpPr>
        <p:spPr>
          <a:xfrm>
            <a:off x="850392" y="4048817"/>
            <a:ext cx="384048" cy="332586"/>
          </a:xfrm>
          <a:prstGeom prst="hexagon">
            <a:avLst/>
          </a:prstGeom>
          <a:solidFill>
            <a:srgbClr val="1F6F6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02330"/>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ribosomes</a:t>
            </a:r>
            <a:endParaRPr lang="en-US" sz="2200" dirty="0"/>
          </a:p>
        </p:txBody>
      </p:sp>
      <p:sp>
        <p:nvSpPr>
          <p:cNvPr id="31" name="match-card"/>
          <p:cNvSpPr/>
          <p:nvPr/>
        </p:nvSpPr>
        <p:spPr>
          <a:xfrm>
            <a:off x="4224437" y="3902330"/>
            <a:ext cx="7190019" cy="625559"/>
          </a:xfrm>
          <a:prstGeom prst="roundRect">
            <a:avLst>
              <a:gd name="adj" fmla="val 11694"/>
            </a:avLst>
          </a:prstGeom>
          <a:solidFill>
            <a:srgbClr val="F4EDDF"/>
          </a:solidFill>
          <a:ln/>
        </p:spPr>
      </p:sp>
      <p:sp>
        <p:nvSpPr>
          <p:cNvPr id="32" name="match-hex"/>
          <p:cNvSpPr/>
          <p:nvPr/>
        </p:nvSpPr>
        <p:spPr>
          <a:xfrm>
            <a:off x="4297589" y="4048817"/>
            <a:ext cx="384048" cy="332586"/>
          </a:xfrm>
          <a:prstGeom prst="hexagon">
            <a:avLst/>
          </a:prstGeom>
          <a:solidFill>
            <a:srgbClr val="B8862B"/>
          </a:solidFill>
          <a:ln/>
        </p:spPr>
      </p:sp>
      <p:sp>
        <p:nvSpPr>
          <p:cNvPr id="33"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02330"/>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absorbs light for photosynthesis</a:t>
            </a:r>
            <a:endParaRPr lang="en-US" sz="2200" dirty="0"/>
          </a:p>
        </p:txBody>
      </p:sp>
      <p:sp>
        <p:nvSpPr>
          <p:cNvPr id="35" name="match-card"/>
          <p:cNvSpPr/>
          <p:nvPr/>
        </p:nvSpPr>
        <p:spPr>
          <a:xfrm>
            <a:off x="777240" y="4619329"/>
            <a:ext cx="3081437" cy="625559"/>
          </a:xfrm>
          <a:prstGeom prst="roundRect">
            <a:avLst>
              <a:gd name="adj" fmla="val 11694"/>
            </a:avLst>
          </a:prstGeom>
          <a:solidFill>
            <a:srgbClr val="E6EFEF"/>
          </a:solidFill>
          <a:ln/>
        </p:spPr>
      </p:sp>
      <p:sp>
        <p:nvSpPr>
          <p:cNvPr id="36" name="match-hex"/>
          <p:cNvSpPr/>
          <p:nvPr/>
        </p:nvSpPr>
        <p:spPr>
          <a:xfrm>
            <a:off x="850392" y="4765816"/>
            <a:ext cx="384048" cy="332586"/>
          </a:xfrm>
          <a:prstGeom prst="hexagon">
            <a:avLst/>
          </a:prstGeom>
          <a:solidFill>
            <a:srgbClr val="1F6F6A"/>
          </a:solidFill>
          <a:ln/>
        </p:spPr>
      </p:sp>
      <p:sp>
        <p:nvSpPr>
          <p:cNvPr id="37" name="match-hex-label"/>
          <p:cNvSpPr txBox="1"/>
          <p:nvPr/>
        </p:nvSpPr>
        <p:spPr>
          <a:xfrm>
            <a:off x="850392"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619329"/>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cell membrane</a:t>
            </a:r>
            <a:endParaRPr lang="en-US" sz="2200" dirty="0"/>
          </a:p>
        </p:txBody>
      </p:sp>
      <p:sp>
        <p:nvSpPr>
          <p:cNvPr id="39" name="match-card"/>
          <p:cNvSpPr/>
          <p:nvPr/>
        </p:nvSpPr>
        <p:spPr>
          <a:xfrm>
            <a:off x="4224437" y="4619329"/>
            <a:ext cx="7190019" cy="625559"/>
          </a:xfrm>
          <a:prstGeom prst="roundRect">
            <a:avLst>
              <a:gd name="adj" fmla="val 11694"/>
            </a:avLst>
          </a:prstGeom>
          <a:solidFill>
            <a:srgbClr val="F4EDDF"/>
          </a:solidFill>
          <a:ln/>
        </p:spPr>
      </p:sp>
      <p:sp>
        <p:nvSpPr>
          <p:cNvPr id="40" name="match-hex"/>
          <p:cNvSpPr/>
          <p:nvPr/>
        </p:nvSpPr>
        <p:spPr>
          <a:xfrm>
            <a:off x="4297589" y="4765816"/>
            <a:ext cx="384048" cy="332586"/>
          </a:xfrm>
          <a:prstGeom prst="hexagon">
            <a:avLst/>
          </a:prstGeom>
          <a:solidFill>
            <a:srgbClr val="B8862B"/>
          </a:solidFill>
          <a:ln/>
        </p:spPr>
      </p:sp>
      <p:sp>
        <p:nvSpPr>
          <p:cNvPr id="41" name="match-hex-label"/>
          <p:cNvSpPr txBox="1"/>
          <p:nvPr/>
        </p:nvSpPr>
        <p:spPr>
          <a:xfrm>
            <a:off x="4297589" y="4765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619329"/>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controls the cell's activities and contains the DNA</a:t>
            </a:r>
            <a:endParaRPr lang="en-US" sz="2200" dirty="0"/>
          </a:p>
        </p:txBody>
      </p:sp>
      <p:sp>
        <p:nvSpPr>
          <p:cNvPr id="43" name="match-card"/>
          <p:cNvSpPr/>
          <p:nvPr/>
        </p:nvSpPr>
        <p:spPr>
          <a:xfrm>
            <a:off x="777240" y="5336329"/>
            <a:ext cx="3081437" cy="625559"/>
          </a:xfrm>
          <a:prstGeom prst="roundRect">
            <a:avLst>
              <a:gd name="adj" fmla="val 11694"/>
            </a:avLst>
          </a:prstGeom>
          <a:solidFill>
            <a:srgbClr val="E6EFEF"/>
          </a:solidFill>
          <a:ln/>
        </p:spPr>
      </p:sp>
      <p:sp>
        <p:nvSpPr>
          <p:cNvPr id="44" name="match-hex"/>
          <p:cNvSpPr/>
          <p:nvPr/>
        </p:nvSpPr>
        <p:spPr>
          <a:xfrm>
            <a:off x="850392" y="5482816"/>
            <a:ext cx="384048" cy="332586"/>
          </a:xfrm>
          <a:prstGeom prst="hexagon">
            <a:avLst/>
          </a:prstGeom>
          <a:solidFill>
            <a:srgbClr val="1F6F6A"/>
          </a:solidFill>
          <a:ln/>
        </p:spPr>
      </p:sp>
      <p:sp>
        <p:nvSpPr>
          <p:cNvPr id="45" name="match-hex-label"/>
          <p:cNvSpPr txBox="1"/>
          <p:nvPr/>
        </p:nvSpPr>
        <p:spPr>
          <a:xfrm>
            <a:off x="850392"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336329"/>
            <a:ext cx="2487077"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chloroplast</a:t>
            </a:r>
            <a:endParaRPr lang="en-US" sz="2200" dirty="0"/>
          </a:p>
        </p:txBody>
      </p:sp>
      <p:sp>
        <p:nvSpPr>
          <p:cNvPr id="47" name="match-card"/>
          <p:cNvSpPr/>
          <p:nvPr/>
        </p:nvSpPr>
        <p:spPr>
          <a:xfrm>
            <a:off x="4224437" y="5336329"/>
            <a:ext cx="7190019" cy="625559"/>
          </a:xfrm>
          <a:prstGeom prst="roundRect">
            <a:avLst>
              <a:gd name="adj" fmla="val 11694"/>
            </a:avLst>
          </a:prstGeom>
          <a:solidFill>
            <a:srgbClr val="F4EDDF"/>
          </a:solidFill>
          <a:ln/>
        </p:spPr>
      </p:sp>
      <p:sp>
        <p:nvSpPr>
          <p:cNvPr id="48" name="match-hex"/>
          <p:cNvSpPr/>
          <p:nvPr/>
        </p:nvSpPr>
        <p:spPr>
          <a:xfrm>
            <a:off x="4297589" y="5482816"/>
            <a:ext cx="384048" cy="332586"/>
          </a:xfrm>
          <a:prstGeom prst="hexagon">
            <a:avLst/>
          </a:prstGeom>
          <a:solidFill>
            <a:srgbClr val="B8862B"/>
          </a:solidFill>
          <a:ln/>
        </p:spPr>
      </p:sp>
      <p:sp>
        <p:nvSpPr>
          <p:cNvPr id="49" name="match-hex-label"/>
          <p:cNvSpPr txBox="1"/>
          <p:nvPr/>
        </p:nvSpPr>
        <p:spPr>
          <a:xfrm>
            <a:off x="4297589" y="54828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336329"/>
            <a:ext cx="6595659" cy="62555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where proteins are made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Same task, three ways in: Match the part to its job</a:t>
            </a:r>
            <a:endParaRPr lang="en-US" sz="30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part of a cell to its function.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Start with the two you are surest of: the nucleus (control, DNA) and the chloroplast (green, light, photosynthesis).</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Energy words (respiration, release energy) go with mitochondria.</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Protein goes with ribosomes; 'in and out' goes with the membrane.</a:t>
            </a:r>
            <a:endParaRPr lang="en-US" sz="2000" dirty="0"/>
          </a:p>
        </p:txBody>
      </p:sp>
      <p:sp>
        <p:nvSpPr>
          <p:cNvPr id="17" name="col-Core"/>
          <p:cNvSpPr/>
          <p:nvPr/>
        </p:nvSpPr>
        <p:spPr>
          <a:xfrm>
            <a:off x="5490762" y="2578608"/>
            <a:ext cx="2938987" cy="3566160"/>
          </a:xfrm>
          <a:prstGeom prst="roundRect">
            <a:avLst>
              <a:gd name="adj" fmla="val 1867"/>
            </a:avLst>
          </a:prstGeom>
          <a:solidFill>
            <a:srgbClr val="C7DB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195955"/>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Control, energy, protein, in-and-out, light: one word for each part.</a:t>
            </a:r>
            <a:endParaRPr lang="en-US" sz="2000" dirty="0"/>
          </a:p>
        </p:txBody>
      </p:sp>
      <p:sp>
        <p:nvSpPr>
          <p:cNvPr id="22" name="col-Stretch"/>
          <p:cNvSpPr/>
          <p:nvPr/>
        </p:nvSpPr>
        <p:spPr>
          <a:xfrm>
            <a:off x="8704069" y="2578608"/>
            <a:ext cx="2938987" cy="3566160"/>
          </a:xfrm>
          <a:prstGeom prst="roundRect">
            <a:avLst>
              <a:gd name="adj" fmla="val 1867"/>
            </a:avLst>
          </a:prstGeom>
          <a:solidFill>
            <a:srgbClr val="1F6F6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A cell makes a very large amount of a protein hormone. Predict two organelles it will have in large numbers and explain each choice.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Plant or animal?</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Under the microscope a student sees cells from the skin of an onion. Which structure do all plant cells have that no animal cell has?</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nucleus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cell membrane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chloroplast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cell wall</a:t>
            </a:r>
            <a:endParaRPr lang="en-US" sz="2000" dirty="0"/>
          </a:p>
        </p:txBody>
      </p:sp>
      <p:sp>
        <p:nvSpPr>
          <p:cNvPr id="12" name="col-Support"/>
          <p:cNvSpPr/>
          <p:nvPr/>
        </p:nvSpPr>
        <p:spPr>
          <a:xfrm>
            <a:off x="548640" y="2948940"/>
            <a:ext cx="4667802"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off anything both kinds of cell have: nucleus, cytoplasm, cell membrane, mitochondria, ribosomes.</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plant-only parts, ask which one EVERY plant cell has, even in the dark.</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Chloroplasts need light; the cell wall is always there.</a:t>
            </a:r>
            <a:endParaRPr lang="en-US" sz="1800" dirty="0"/>
          </a:p>
        </p:txBody>
      </p:sp>
      <p:sp>
        <p:nvSpPr>
          <p:cNvPr id="17" name="col-Core"/>
          <p:cNvSpPr/>
          <p:nvPr/>
        </p:nvSpPr>
        <p:spPr>
          <a:xfrm>
            <a:off x="5490762" y="2948940"/>
            <a:ext cx="2938987" cy="3195828"/>
          </a:xfrm>
          <a:prstGeom prst="roundRect">
            <a:avLst>
              <a:gd name="adj" fmla="val 1867"/>
            </a:avLst>
          </a:prstGeom>
          <a:solidFill>
            <a:srgbClr val="C7DBDA"/>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Which plant-only part is still there when there is no light?</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1F6F6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plant cell with chloroplasts also needs mitochondria. What does each organelle do that the other cannot?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12521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Put the steps for preparing and viewing an onion-cell slide in the correct order.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Peel a thin layer from the inside of an onion with forceps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Add a drop of iodine solution to stain the cells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Lower a coverslip gently at an angle with a mounted needle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Lay the layer flat on a microscope slide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E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Place the slide on the stage and focus with the lowest-power objective lens first</a:t>
            </a:r>
            <a:endParaRPr lang="en-US" sz="2200" dirty="0"/>
          </a:p>
        </p:txBody>
      </p:sp>
      <p:sp>
        <p:nvSpPr>
          <p:cNvPr id="11" name="exit-answer-box"/>
          <p:cNvSpPr/>
          <p:nvPr/>
        </p:nvSpPr>
        <p:spPr>
          <a:xfrm>
            <a:off x="2286000" y="5184648"/>
            <a:ext cx="7619695" cy="685800"/>
          </a:xfrm>
          <a:prstGeom prst="roundRect">
            <a:avLst>
              <a:gd name="adj" fmla="val 13333"/>
            </a:avLst>
          </a:prstGeom>
          <a:solidFill>
            <a:srgbClr val="E9F1F0"/>
          </a:solidFill>
          <a:ln w="12700">
            <a:solidFill>
              <a:srgbClr val="88B3B0"/>
            </a:solidFill>
            <a:prstDash val="solid"/>
          </a:ln>
        </p:spPr>
      </p:sp>
      <p:sp>
        <p:nvSpPr>
          <p:cNvPr id="12" name="exit-answer-label"/>
          <p:cNvSpPr txBox="1"/>
          <p:nvPr/>
        </p:nvSpPr>
        <p:spPr>
          <a:xfrm>
            <a:off x="2423160" y="5184648"/>
            <a:ext cx="2926080" cy="68580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Match the part to its job</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nucleus  →  D  controls the cell's activities and contains the DNA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mitochondria  →  B  where aerobic respiration releases energy</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ribosomes  →  E  where proteins are made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cell membrane  →  A  controls which substances enter and leave the cell</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chloroplast  →  C  absorbs light for photosynthesis</a:t>
            </a:r>
            <a:endParaRPr lang="en-US" sz="22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Nucleus = control and DNA; mitochondria = respiration and energy; ribosomes = proteins; membrane = what enters and leaves; chloroplast = light for photosynthesis.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Plant or animal?</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Under the microscope a student sees cells from the skin of an onion. Which structure do all plant cells have that no animal cell has?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cell wall</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cell wall is the one structure found in every plant cell and never in an animal cell.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Peel a thin layer from the inside of an onion with forceps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Lay the layer flat on a microscope slide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Add a drop of iodine solution to stain the cells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Lower a coverslip gently at an angle with a mounted needle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Place the slide on the stage and focus with the lowest-power objective lens first  (E)</a:t>
            </a:r>
            <a:endParaRPr lang="en-US" sz="22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Specimen on the slide, iodine to stain it, coverslip lowered at an angle to avoid air bubbles, then the stage and low power first.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 Biology · Chapter 2: Animal and plant cells</dc:title>
  <dc:subject>Biology (Combined Science) · Year 10</dc:subject>
  <dc:creator>Dr Vitor Merissi de Carvalho</dc:creator>
  <cp:lastModifiedBy>Dr Vitor Merissi de Carvalho</cp:lastModifiedBy>
  <cp:revision>1</cp:revision>
  <dcterms:created xsi:type="dcterms:W3CDTF">2026-10-19T06:07:18Z</dcterms:created>
  <dcterms:modified xsi:type="dcterms:W3CDTF">2026-10-19T06:07:18Z</dcterms:modified>
</cp:coreProperties>
</file>