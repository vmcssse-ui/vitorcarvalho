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74cc00c-f355-93a2-8ab1-32d74d74e92a}">
          <p14:sldIdLst>
            <p14:sldId id="256"/>
          </p14:sldIdLst>
        </p14:section>
        <p14:section name="Gate" id="{3a81c8ad-0fb4-2d8f-497e-c6f12e217cff}">
          <p14:sldIdLst>
            <p14:sldId id="257"/>
            <p14:sldId id="258"/>
          </p14:sldIdLst>
        </p14:section>
        <p14:section name="Pre-teach" id="{3819142d-ece9-59e7-ba72-7b0709a74297}">
          <p14:sldIdLst>
            <p14:sldId id="259"/>
            <p14:sldId id="260"/>
          </p14:sldIdLst>
        </p14:section>
        <p14:section name="Read-along" id="{580e8bb6-6f88-db97-9099-705567612380}">
          <p14:sldIdLst>
            <p14:sldId id="261"/>
            <p14:sldId id="262"/>
          </p14:sldIdLst>
        </p14:section>
        <p14:section name="Teach" id="{118ec214-f415-157d-fd60-2af8f6880ec5}">
          <p14:sldIdLst>
            <p14:sldId id="263"/>
            <p14:sldId id="264"/>
            <p14:sldId id="265"/>
            <p14:sldId id="266"/>
            <p14:sldId id="267"/>
            <p14:sldId id="268"/>
            <p14:sldId id="269"/>
          </p14:sldIdLst>
        </p14:section>
        <p14:section name="Routes" id="{ee702aaf-ef23-f231-ebe2-e8b10df4492e}">
          <p14:sldIdLst>
            <p14:sldId id="270"/>
            <p14:sldId id="271"/>
            <p14:sldId id="272"/>
            <p14:sldId id="273"/>
          </p14:sldIdLst>
        </p14:section>
        <p14:section name="Close" id="{9bdff8d3-9951-56e6-759e-c855a03aba8c}">
          <p14:sldIdLst>
            <p14:sldId id="274"/>
          </p14:sldIdLst>
        </p14:section>
        <p14:section name="Answers" id="{e98a08b8-f009-1590-430d-23d2ddc8e99e}">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Four kinds of plate boundary. What happens at constructive, destructive, conservative and collision boundaries, the hazards and landforms each makes, a named example of every one, and what the case-study table shows about margins and magnitude.
This deck covers the department's lessons: 4 (Different plate boundaries: landforms and examples: What happens at constructive, destructive, conservative and collision boundaries, and where is an example of each?); 5 (Tectonic plates, boundaries and processes: Which plates and boundaries lie under the earthquakes you have studied, and is magnitude linked to the type of margin?).
Read the big question aloud: "Why do tectonic hazards hurt some places far more than others, and how far can people reduce the risk?"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At which type of plate boundary is new crust created?  →  C   Constructive
2. At a destructive boundary the denser ___ plate is forced down into the mantle and destroyed.  →  oceanic
3. The Himalayas were formed by the Indo-Australian and Eurasian plates. What kind of boundary is this?  →  D   Collision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Constructive. At a constructive boundary the plates move apart and magma rises into the gap, cooling to form new crust along an ocean ridge.
2. oceanic. Oceanic plates are denser than continental plates, so when the two meet the oceanic plate is subducted and destroyed.
3. D   Collision. Two continental plates meet head on; neither can be subducted, so the crust is pushed up into fold mountains. The same boundary caused the Nepal earthquake of 2015.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subduction: one plate being forced down under another into the mantle. Example: "Subduction destroys the oceanic plate and makes volcanoes."
• magma: melted rock below the surface. Example: "Magma rises through the gap where two plates pull apart."
• ocean trench: a deep valley in the sea floor where a plate bends down. Example: "A deep ocean trench forms at the point of subduction."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fold mountains: mountains made by plates pushing the crust upwards. Example: "The Himalayas are fold mountains."
• fault: a crack in the crust where two blocks of rock slide past each other. Example: "San Francisco sits on the San Andreas Fault."
• ocean ridge: a long underwater mountain chain where new crust forms. Example: "The Mid-Atlantic Ridge runs through Iceland."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There are four kinds of plate boundary.
2. At a constructive boundary two plates move apart.
3. Magma rises into the gap and cools to make new crust.
4. The Mid-Atlantic Ridge runs through Iceland.
5. At a destructive boundary an oceanic plate meets a continental plate.
6. The denser oceanic plate is forced down and destroyed.
7. This makes volcanoes and earthquakes, like the Andes and Chile.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At a conservative boundary two plates slide past each other.
9. They lock, pressure builds, and then they jolt, causing an earthquake.
10. The San Andreas Fault in California is one.
11. At a collision boundary two continental plates meet head on.
12. They are pushed up into fold mountains like the Himalayas.
13. There are earthquakes but no volcanoes.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Constructive boundaries: plates moving apart. Say it in your own words, then check understanding with a quick question: ask a pupil from the pre-teach group first, since they met these words and ideas before the lesson. Pupils try to recall before you re-explain.
At a constructive boundary (you may also see it called a divergent boundary) two plates move away from each other, pulled apart by convection currents in the mantle. As they separate, magma rises out of the mantle and fills the gap. It cools to create new crust, so the boundary constructs new rock. Where the magma reaches the surface there are volcanic eruptions, usually gentle ones, and the small movements of the separating plates cause earthquakes, but these are generally very small.
Most constructive boundaries are between two oceanic plates, and the new crust builds an ocean ridge along the line of the boundary. The example to learn is the Mid-Atlantic Ridge, which runs the whole length of the Atlantic Ocean between the Eurasian and North American plates and rises above the sea in Iceland. Iceland is literally being made wider by this boundary.
In your progress check you were asked to explain the physical processes at a constructive margin for four marks. The chain is: plates move apart, magma rises into the gap, it cools to form new crust and volcanoes, and the ridge grows.
Tip: Constructive constructs. New crust, ocean ridge, volcanoes, small earthquakes, Mid-Atlantic Ridge and Iceland.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Destructive boundaries: one plate forced under another. Say it in your own words, then check understanding with a quick question: ask a pupil from the pre-teach group first, since they met these words and ideas before the lesson. Pupils try to recall before you re-explain.
A destructive boundary (also called convergent) forms where an oceanic plate and a continental plate move towards each other. The oceanic plate is denser, so when they meet it is forced underneath the continental plate and down into the mantle. This is subduction. As the plate sinks it is destroyed, melting back into molten rock, and a deep ocean trench forms along the line where it bends down.
Two hazards come from this one process. As the plates grind together, friction builds up and is released as earthquakes; these are the most powerful earthquakes on Earth. Because the melting plate is lighter than the mantle around it, magma rises through cracks in the crust to the surface and forms volcanoes. Over millions of years the volcanoes and the crumpling of the continental edge build fold mountains.
The example that runs through this unit is the boundary between the Nazca plate (oceanic) and the South American plate (continental). It created the Andes Mountains, and it caused the Chile earthquake of 2010, magnitude 8.8. Japan 2011 and Sumatra 2004 were also destructive-margin earthquakes.
Tip: Destructive destroys. The oceanic plate is subducted because it is denser. Both earthquakes and volcanoes, an ocean trench, fold mountains, the 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Conservative and collision boundaries. Say it in your own words, then check understanding with a quick question: ask a pupil from the pre-teach group first, since they met these words and ideas before the lesson. Pupils try to recall before you re-explain.
At a conservative boundary (transform boundary) two plates slide past each other, either in opposite directions or in the same direction at different speeds. Crust is neither created nor destroyed, so there are no volcanoes. But the movement is not smooth. Friction makes the plates lock together while they are still trying to move, so energy builds up. When it becomes too much, the plates jolt forward, releasing the energy as an earthquake. San Francisco sits on a boundary like this, the San Andreas Fault, where the North American and Pacific plates slide past each other.
At a collision boundary two continental plates meet head on. They are both the same density, so neither can be subducted and no crust is destroyed. Instead the plates are pushed upwards into fold mountains. There are no volcanoes, because there is no gap for magma to rise through, but there are powerful earthquakes. The Himalayas were created by the collision of the Indo-Australian plate with the Eurasian plate, and that boundary caused the Nepal earthquake of 2015.
Watch two traps. A collision boundary is not where two plates grind past one another; that is the conservative boundary. And new crust is made only where plates move apart, at a constructive boundary: a destructive boundary destroys crust, even though the volcanoes above it build new rock at the surface. Your homework answer sheet lists new rock under both margins, which is why the word crust matters in an answer.
Worked example — model it step by step, thinking aloud: Explain why there are earthquakes but no volcanoes at a conservative plate boundary. (2 marks) (1) Earthquakes first: the plates slide past each other, friction locks them, pressure builds and is released in a sudden jolt, which is the earthquake. (2) Volcanoes second: no crust is created or destroyed, so there is no gap for magma to rise through and no melting plate to supply it. (3) Two linked points, each with a because, earns both marks. Answer: The plates slide past each other and lock together through friction, so pressure builds until they jolt free and release it as an earthquake. No crust is made or destroyed at this boundary, so no magma rises and there are no volcanoes..
Tip: Two boundaries have no volcanoes: conservative (plates slide past) and collision (both plates continental). Both have earthquakes.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Conservative and collision boundaries. Say it in your own words, then check understanding with a quick question: ask a pupil from the pre-teach group first, since they met these words and ideas before the lesson. Pupils try to recall before you re-explain.
At a conservative boundary (transform boundary) two plates slide past each other, either in opposite directions or in the same direction at different speeds. Crust is neither created nor destroyed, so there are no volcanoes. But the movement is not smooth. Friction makes the plates lock together while they are still trying to move, so energy builds up. When it becomes too much, the plates jolt forward, releasing the energy as an earthquake. San Francisco sits on a boundary like this, the San Andreas Fault, where the North American and Pacific plates slide past each other.
At a collision boundary two continental plates meet head on. They are both the same density, so neither can be subducted and no crust is destroyed. Instead the plates are pushed upwards into fold mountains. There are no volcanoes, because there is no gap for magma to rise through, but there are powerful earthquakes. The Himalayas were created by the collision of the Indo-Australian plate with the Eurasian plate, and that boundary caused the Nepal earthquake of 2015.
Watch two traps. A collision boundary is not where two plates grind past one another; that is the conservative boundary. And new crust is made only where plates move apart, at a constructive boundary: a destructive boundary destroys crust, even though the volcanoes above it build new rock at the surface. Your homework answer sheet lists new rock under both margins, which is why the word crust matters in an answer.
Worked example — model it step by step, thinking aloud: Explain why there are earthquakes but no volcanoes at a conservative plate boundary. (2 marks) (1) Earthquakes first: the plates slide past each other, friction locks them, pressure builds and is released in a sudden jolt, which is the earthquake. (2) Volcanoes second: no crust is created or destroyed, so there is no gap for magma to rise through and no melting plate to supply it. (3) Two linked points, each with a because, earns both marks. Answer: The plates slide past each other and lock together through friction, so pressure builds until they jolt free and release it as an earthquake. No crust is made or destroyed at this boundary, so no magma rises and there are no volcanoes..
Tip: Two boundaries have no volcanoes: conservative (plates slide past) and collision (both plates continental). Both have earthquakes.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the case-study table. Say it in your own words, then check understanding with a quick question: ask a pupil from the pre-teach group first, since they met these words and ideas before the lesson. Pupils try to recall before you re-explain.
Your stretch task filled a table of seven earthquakes with their plate margins and magnitudes. The secure rows are these. Japan 2011: destructive, the Pacific plate subducting under the Eurasian plate, magnitude 9. Chile 2010: destructive, the Nazca plate subducting under the South American plate, 8.8. Sumatra 2004 (the Indian Ocean earthquake and tsunami): destructive, the Indian plate subducting under the Burma plate, 9.3. Nepal 2015: collision, the Indo-Australian and Eurasian plates, 7.9. San Francisco 1957, on the San Andreas Fault: conservative, the North American and Pacific plates moving past each other, 5.7. The table also lists Italy 2016 (6.2) and Haiti 2010 (7), both classed in your table as conservative margins.
Then the task asked you to comment on the correlation between margin type and magnitude. The pattern is clear: the three highest magnitudes, 9, 8.8 and 9.3, all happened at destructive margins, while the conservative-margin earthquakes were lower. The reason is the weight and force of a whole oceanic plate being dragged down against the continental plate, with enormous friction, so far more energy is stored and released. Remember, though, that magnitude is not the same as deaths: the deadliest earthquakes in your map task were not always the biggest.
Worked example — model it step by step, thinking aloud: Use the table to compare the mean magnitude of the three destructive-margin earthquakes (Japan 2011, 9; Chile 2010, 8.8; Sumatra 2004, 9.3) with the mean of the three conservative-margin earthquakes (Italy 2016, 6.2; Haiti 2010, 7; San Francisco 1957, 5.7). (1) Destructive: add the three magnitudes, 9 + 8.8 + 9.3 = 27.1, and divide by 3: 27.1 ÷ 3 = 9.03 (to 2 decimal places). (2) Conservative: 6.2 + 7 + 5.7 = 18.9, and 18.9 ÷ 3 = 6.3. (3) Compare: the destructive mean is 9.03 − 6.3 = 2.73 higher. Every destructive earthquake in the table is bigger than every conservative one. (4) Comment: higher magnitudes are associated with destructive margins, where a heavy oceanic plate is forced down with great friction. Answer: Destructive mean 9.03; conservative mean 6.3; the destructive margins average about 2.7 higher on the scale..
Tip: When a question says comment on the correlation, give the pattern, a figure from each side, and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the case-study table. Say it in your own words, then check understanding with a quick question: ask a pupil from the pre-teach group first, since they met these words and ideas before the lesson. Pupils try to recall before you re-explain.
Your stretch task filled a table of seven earthquakes with their plate margins and magnitudes. The secure rows are these. Japan 2011: destructive, the Pacific plate subducting under the Eurasian plate, magnitude 9. Chile 2010: destructive, the Nazca plate subducting under the South American plate, 8.8. Sumatra 2004 (the Indian Ocean earthquake and tsunami): destructive, the Indian plate subducting under the Burma plate, 9.3. Nepal 2015: collision, the Indo-Australian and Eurasian plates, 7.9. San Francisco 1957, on the San Andreas Fault: conservative, the North American and Pacific plates moving past each other, 5.7. The table also lists Italy 2016 (6.2) and Haiti 2010 (7), both classed in your table as conservative margins.
Then the task asked you to comment on the correlation between margin type and magnitude. The pattern is clear: the three highest magnitudes, 9, 8.8 and 9.3, all happened at destructive margins, while the conservative-margin earthquakes were lower. The reason is the weight and force of a whole oceanic plate being dragged down against the continental plate, with enormous friction, so far more energy is stored and released. Remember, though, that magnitude is not the same as deaths: the deadliest earthquakes in your map task were not always the biggest.
Worked example — model it step by step, thinking aloud: Use the table to compare the mean magnitude of the three destructive-margin earthquakes (Japan 2011, 9; Chile 2010, 8.8; Sumatra 2004, 9.3) with the mean of the three conservative-margin earthquakes (Italy 2016, 6.2; Haiti 2010, 7; San Francisco 1957, 5.7). (1) Destructive: add the three magnitudes, 9 + 8.8 + 9.3 = 27.1, and divide by 3: 27.1 ÷ 3 = 9.03 (to 2 decimal places). (2) Conservative: 6.2 + 7 + 5.7 = 18.9, and 18.9 ÷ 3 = 6.3. (3) Compare: the destructive mean is 9.03 − 6.3 = 2.73 higher. Every destructive earthquake in the table is bigger than every conservative one. (4) Comment: higher magnitudes are associated with destructive margins, where a heavy oceanic plate is forced down with great friction. Answer: Destructive mean 9.03; conservative mean 6.3; the destructive margins average about 2.7 higher on the scale..
Tip: When a question says comment on the correlation, give the pattern, a figure from each side, and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the case-study table. Say it in your own words, then check understanding with a quick question: ask a pupil from the pre-teach group first, since they met these words and ideas before the lesson. Pupils try to recall before you re-explain.
Your stretch task filled a table of seven earthquakes with their plate margins and magnitudes. The secure rows are these. Japan 2011: destructive, the Pacific plate subducting under the Eurasian plate, magnitude 9. Chile 2010: destructive, the Nazca plate subducting under the South American plate, 8.8. Sumatra 2004 (the Indian Ocean earthquake and tsunami): destructive, the Indian plate subducting under the Burma plate, 9.3. Nepal 2015: collision, the Indo-Australian and Eurasian plates, 7.9. San Francisco 1957, on the San Andreas Fault: conservative, the North American and Pacific plates moving past each other, 5.7. The table also lists Italy 2016 (6.2) and Haiti 2010 (7), both classed in your table as conservative margins.
Then the task asked you to comment on the correlation between margin type and magnitude. The pattern is clear: the three highest magnitudes, 9, 8.8 and 9.3, all happened at destructive margins, while the conservative-margin earthquakes were lower. The reason is the weight and force of a whole oceanic plate being dragged down against the continental plate, with enormous friction, so far more energy is stored and released. Remember, though, that magnitude is not the same as deaths: the deadliest earthquakes in your map task were not always the biggest.
Worked example — model it step by step, thinking aloud: Use the table to compare the mean magnitude of the three destructive-margin earthquakes (Japan 2011, 9; Chile 2010, 8.8; Sumatra 2004, 9.3) with the mean of the three conservative-margin earthquakes (Italy 2016, 6.2; Haiti 2010, 7; San Francisco 1957, 5.7). (1) Destructive: add the three magnitudes, 9 + 8.8 + 9.3 = 27.1, and divide by 3: 27.1 ÷ 3 = 9.03 (to 2 decimal places). (2) Conservative: 6.2 + 7 + 5.7 = 18.9, and 18.9 ÷ 3 = 6.3. (3) Compare: the destructive mean is 9.03 − 6.3 = 2.73 higher. Every destructive earthquake in the table is bigger than every conservative one. (4) Comment: higher magnitudes are associated with destructive margins, where a heavy oceanic plate is forced down with great friction. Answer: Destructive mean 9.03; conservative mean 6.3; the destructive margins average about 2.7 higher on the scale..
Tip: When a question says comment on the correlation, give the pattern, a figure from each side, and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that boundary.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plate boundary to its named example.
Support — work through the steps with the group: (1) A ridge is built by new crust, so the ridge goes with the boundary that constructs. (2) The Andes have volcanoes AND earthquakes, so an oceanic plate must be sinking there. (3) A fault where plates slide past each other with no volcanoes is the conservative boundary. (4) The highest mountains with no volcanoes are two continental plates colliding.
Parallel worked example for Support (model it, do not give the task answer): Match: Iceland, Japan. Choices: an island made by plates moving apart; islands made by an oceanic plate subducting. Iceland sits on the Mid-Atlantic Ridge, where plates move apart.; Japan sits above the Pacific plate subducting beneath it.. Answer: Iceland: made by plates moving apart. Japan: made by an oceanic plate subducting..
Core — reveal the hint only on request: Ridge, Andes, fault, Himalayas: new crust, subduction, sliding, head-on collision.
Stretch — no help; when finished: Explain why the Andes and the Himalayas are both fold mountains but only the Andes have volcanoes.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that boundary.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plate boundary to its named example.
Support — work through the steps with the group: (1) A ridge is built by new crust, so the ridge goes with the boundary that constructs. (2) The Andes have volcanoes AND earthquakes, so an oceanic plate must be sinking there. (3) A fault where plates slide past each other with no volcanoes is the conservative boundary. (4) The highest mountains with no volcanoes are two continental plates colliding.
Parallel worked example for Support (model it, do not give the task answer): Match: Iceland, Japan. Choices: an island made by plates moving apart; islands made by an oceanic plate subducting. Iceland sits on the Mid-Atlantic Ridge, where plates move apart.; Japan sits above the Pacific plate subducting beneath it.. Answer: Iceland: made by plates moving apart. Japan: made by an oceanic plate subducting..
Core — reveal the hint only on request: Ridge, Andes, fault, Himalayas: new crust, subduction, sliding, head-on collision.
Stretch — no help; when finished: Explain why the Andes and the Himalayas are both fold mountains but only the Andes have volcanoes.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Margins and magnitude.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three destructive-margin earthquakes in your table were Japan 2011 (magnitude 9), Chile 2010 (8.8) and Sumatra 2004 (9.3). What was their mean magnitude? Give your answer to 2 decimal places.
Support — work through the steps with the group: (1) Add the three magnitudes: 9 + 8.8 + 9.3. (2) 9 + 8.8 = 17.8, then 17.8 + 9.3 = 27.1. (3) Divide by the number of earthquakes, 3: 27.1 ÷ 3 = 9.033… (4) Round to 2 decimal places: 9.03.
Parallel worked example for Support (model it, do not give the task answer): Three earthquakes measured 6.2, 7 and 5.7. What is their mean magnitude, to 1 decimal place? Add: 6.2 + 7 + 5.7 = 18.9.; Divide by 3: 18.9 ÷ 3 = 6.3.. Answer: 6.3.
Core — reveal the hint only on request: Mean = total ÷ how many. Three earthquakes, so divide the total by 3.
Stretch — no help; when finished: Your lesson says higher magnitudes are associated with destructive margins. Use the table to argue whether three earthquakes are enough to prove a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Margins and magnitude.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three destructive-margin earthquakes in your table were Japan 2011 (magnitude 9), Chile 2010 (8.8) and Sumatra 2004 (9.3). What was their mean magnitude? Give your answer to 2 decimal places.
Support — work through the steps with the group: (1) Add the three magnitudes: 9 + 8.8 + 9.3. (2) 9 + 8.8 = 17.8, then 17.8 + 9.3 = 27.1. (3) Divide by the number of earthquakes, 3: 27.1 ÷ 3 = 9.033… (4) Round to 2 decimal places: 9.03.
Parallel worked example for Support (model it, do not give the task answer): Three earthquakes measured 6.2, 7 and 5.7. What is their mean magnitude, to 1 decimal place? Add: 6.2 + 7 + 5.7 = 18.9.; Divide by 3: 18.9 ÷ 3 = 6.3.. Answer: 6.3.
Core — reveal the hint only on request: Mean = total ÷ how many. Three earthquakes, so divide the total by 3.
Stretch — no help; when finished: Your lesson says higher magnitudes are associated with destructive margins. Use the table to argue whether three earthquakes are enough to prove a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At which type of plate boundary is new crust created?
Answer: B   Constructive. At a constructive boundary the plates move apart and magma rises into the gap, cooling to form new crust along an ocean ridge.
Source of this question: gate item 1 re-asked (options rotated) — this chapter has no third quick-check module.
The ebook also holds task 3, "Processes at a destructive margin",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Name that boundary. Reveal the answer; pupils mark their own work in a different colour, then read the "why" together. Same destination for every lane, so one answer serves the whole class.
Answer: Constructive  →  B  The Mid-Atlantic Ridge, which runs through Iceland; Destructive  →  C  The Andes, where the Nazca plate meets the South American plate; Conservative  →  A  The San Andreas Fault in California; Collision  →  D  The Himalayas, where the Indo-Australian plate meets the Eurasian plate
Why: Constructive: the Mid-Atlantic Ridge through Iceland. Destructive: the Andes, Nazca under South American. Conservative: the San Andreas Fault. Collision: the Himalayas, Indo-Australian against Eurasian.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Margins and magnitude. Reveal the answer; pupils mark their own work in a different colour, then read the "why" together. Same destination for every lane, so one answer serves the whole class.
Answer: 9.03
Why: (9 + 8.8 + 9.3) ÷ 3 = 27.1 ÷ 3 = 9.03. Destructive margins store the most energy because a whole oceanic plate is dragged down against the continental plate with huge friction.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Constructive
Why: At a constructive boundary the plates move apart and magma rises into the gap, cooling to form new crust along an ocean ridge.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The Challenge of Natural Hazards: Tectonic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The Challenge of Natural Hazards: Tectonic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FDA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Challenge of Natural Hazards: Tectonic Hazards · AQA 8035</a:t>
            </a:r>
            <a:endParaRPr lang="en-US" sz="1800" dirty="0"/>
          </a:p>
        </p:txBody>
      </p:sp>
      <p:sp>
        <p:nvSpPr>
          <p:cNvPr id="10" name="deck-title"/>
          <p:cNvSpPr txBox="1"/>
          <p:nvPr/>
        </p:nvSpPr>
        <p:spPr>
          <a:xfrm>
            <a:off x="548640" y="206425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Four kinds of plate boundary</a:t>
            </a:r>
            <a:endParaRPr lang="en-US" sz="4000" dirty="0"/>
          </a:p>
        </p:txBody>
      </p:sp>
      <p:sp>
        <p:nvSpPr>
          <p:cNvPr id="11" name="lessons-card"/>
          <p:cNvSpPr/>
          <p:nvPr/>
        </p:nvSpPr>
        <p:spPr>
          <a:xfrm>
            <a:off x="548640" y="3740658"/>
            <a:ext cx="5287975" cy="1638300"/>
          </a:xfrm>
          <a:prstGeom prst="roundRect">
            <a:avLst>
              <a:gd name="adj" fmla="val 4465"/>
            </a:avLst>
          </a:prstGeom>
          <a:solidFill>
            <a:srgbClr val="E2E9E4"/>
          </a:solidFill>
          <a:ln/>
        </p:spPr>
      </p:sp>
      <p:sp>
        <p:nvSpPr>
          <p:cNvPr id="12" name="lessons"/>
          <p:cNvSpPr txBox="1"/>
          <p:nvPr/>
        </p:nvSpPr>
        <p:spPr>
          <a:xfrm>
            <a:off x="685800" y="383209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Different plate boundaries: landforms and examples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Tectonic plates, boundaries and processes</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9E4"/>
          </a:solidFill>
          <a:ln w="12700">
            <a:solidFill>
              <a:srgbClr val="A9BCAE"/>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Why do tectonic hazards hurt some places far more than others, and how far can people reduce the risk?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At which type of plate boundary is new crust created?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Destructive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Conservative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Constructive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Collision</a:t>
            </a:r>
            <a:endParaRPr lang="en-US" sz="2400" dirty="0"/>
          </a:p>
        </p:txBody>
      </p:sp>
      <p:sp>
        <p:nvSpPr>
          <p:cNvPr id="12" name="card"/>
          <p:cNvSpPr/>
          <p:nvPr/>
        </p:nvSpPr>
        <p:spPr>
          <a:xfrm>
            <a:off x="4338218" y="1389888"/>
            <a:ext cx="3515258" cy="4754880"/>
          </a:xfrm>
          <a:prstGeom prst="roundRect">
            <a:avLst>
              <a:gd name="adj" fmla="val 1561"/>
            </a:avLst>
          </a:prstGeom>
          <a:solidFill>
            <a:srgbClr val="E8EDE9"/>
          </a:solidFill>
          <a:ln w="12700">
            <a:solidFill>
              <a:srgbClr val="B2C4B7"/>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At a destructive boundary the denser ___ plate is forced down into the mantle and destroyed.</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oceanic  ·  continental  ·  collision</a:t>
            </a:r>
            <a:endParaRPr lang="en-US" sz="2400" dirty="0"/>
          </a:p>
        </p:txBody>
      </p:sp>
      <p:sp>
        <p:nvSpPr>
          <p:cNvPr id="17" name="card"/>
          <p:cNvSpPr/>
          <p:nvPr/>
        </p:nvSpPr>
        <p:spPr>
          <a:xfrm>
            <a:off x="8127797" y="1389888"/>
            <a:ext cx="3515258" cy="4754880"/>
          </a:xfrm>
          <a:prstGeom prst="roundRect">
            <a:avLst>
              <a:gd name="adj" fmla="val 1561"/>
            </a:avLst>
          </a:prstGeom>
          <a:solidFill>
            <a:srgbClr val="E8EDE9"/>
          </a:solidFill>
          <a:ln w="12700">
            <a:solidFill>
              <a:srgbClr val="B2C4B7"/>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The Himalayas were formed by the Indo-Australian and Eurasian plates. What kind of boundary is this?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Constructive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Conservative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Destructive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Collision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ADBBF"/>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Constructive</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At which type of plate boundary is new crust created?</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At a constructive boundary the plates move apart and magma rises into the gap, cooling to form new crust along an ocean ridge.</a:t>
            </a:r>
            <a:endParaRPr lang="en-US" sz="2000" dirty="0"/>
          </a:p>
        </p:txBody>
      </p:sp>
      <p:sp>
        <p:nvSpPr>
          <p:cNvPr id="14" name="card"/>
          <p:cNvSpPr/>
          <p:nvPr/>
        </p:nvSpPr>
        <p:spPr>
          <a:xfrm>
            <a:off x="4338218" y="1389888"/>
            <a:ext cx="3515258" cy="4754880"/>
          </a:xfrm>
          <a:prstGeom prst="roundRect">
            <a:avLst>
              <a:gd name="adj" fmla="val 1561"/>
            </a:avLst>
          </a:prstGeom>
          <a:solidFill>
            <a:srgbClr val="E8EDE9"/>
          </a:solidFill>
          <a:ln w="12700">
            <a:solidFill>
              <a:srgbClr val="B2C4B7"/>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oceanic</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At a destructive boundary the denser ___ plate is forced down into the mantle and destroyed.</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Oceanic plates are denser than continental plates, so when the two meet the oceanic plate is subducted and destroyed.</a:t>
            </a:r>
            <a:endParaRPr lang="en-US" sz="1800" dirty="0"/>
          </a:p>
        </p:txBody>
      </p:sp>
      <p:sp>
        <p:nvSpPr>
          <p:cNvPr id="21" name="card"/>
          <p:cNvSpPr/>
          <p:nvPr/>
        </p:nvSpPr>
        <p:spPr>
          <a:xfrm>
            <a:off x="8127797" y="1389888"/>
            <a:ext cx="3515258" cy="4754880"/>
          </a:xfrm>
          <a:prstGeom prst="roundRect">
            <a:avLst>
              <a:gd name="adj" fmla="val 1561"/>
            </a:avLst>
          </a:prstGeom>
          <a:solidFill>
            <a:srgbClr val="E8EDE9"/>
          </a:solidFill>
          <a:ln w="12700">
            <a:solidFill>
              <a:srgbClr val="B2C4B7"/>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Collision</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Two continental plates meet head on; neither can be subducted, so the crust is pushed up into fold mountains. The same boundary caused the Nepal earthquake of 2015.</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subduction</a:t>
            </a:r>
            <a:endParaRPr lang="en-US" sz="2600" dirty="0"/>
          </a:p>
        </p:txBody>
      </p:sp>
      <p:sp>
        <p:nvSpPr>
          <p:cNvPr id="11" name="word-rule"/>
          <p:cNvSpPr/>
          <p:nvPr/>
        </p:nvSpPr>
        <p:spPr>
          <a:xfrm>
            <a:off x="731520" y="2129028"/>
            <a:ext cx="3149498" cy="0"/>
          </a:xfrm>
          <a:prstGeom prst="line">
            <a:avLst/>
          </a:prstGeom>
          <a:ln w="12700">
            <a:solidFill>
              <a:srgbClr val="A9BCAE"/>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one plate being forced down under another into the mantle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Subduction destroys the oceanic plate and makes volcanoes.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magma</a:t>
            </a:r>
            <a:endParaRPr lang="en-US" sz="2600" dirty="0"/>
          </a:p>
        </p:txBody>
      </p:sp>
      <p:sp>
        <p:nvSpPr>
          <p:cNvPr id="17" name="word-rule"/>
          <p:cNvSpPr/>
          <p:nvPr/>
        </p:nvSpPr>
        <p:spPr>
          <a:xfrm>
            <a:off x="4521098" y="2129028"/>
            <a:ext cx="3149498" cy="0"/>
          </a:xfrm>
          <a:prstGeom prst="line">
            <a:avLst/>
          </a:prstGeom>
          <a:ln w="12700">
            <a:solidFill>
              <a:srgbClr val="A9BCAE"/>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melted rock below the surface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Magma rises through the gap where two plates pull apart.</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ocean trench</a:t>
            </a:r>
            <a:endParaRPr lang="en-US" sz="2600" dirty="0"/>
          </a:p>
        </p:txBody>
      </p:sp>
      <p:sp>
        <p:nvSpPr>
          <p:cNvPr id="23" name="word-rule"/>
          <p:cNvSpPr/>
          <p:nvPr/>
        </p:nvSpPr>
        <p:spPr>
          <a:xfrm>
            <a:off x="8310677" y="2129028"/>
            <a:ext cx="3149498" cy="0"/>
          </a:xfrm>
          <a:prstGeom prst="line">
            <a:avLst/>
          </a:prstGeom>
          <a:ln w="12700">
            <a:solidFill>
              <a:srgbClr val="A9BCAE"/>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deep valley in the sea floor where a plate bends down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deep ocean trench forms at the point of subduction.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fold mountains</a:t>
            </a:r>
            <a:endParaRPr lang="en-US" sz="2600" dirty="0"/>
          </a:p>
        </p:txBody>
      </p:sp>
      <p:sp>
        <p:nvSpPr>
          <p:cNvPr id="11" name="word-rule"/>
          <p:cNvSpPr/>
          <p:nvPr/>
        </p:nvSpPr>
        <p:spPr>
          <a:xfrm>
            <a:off x="731520" y="2129028"/>
            <a:ext cx="3149498" cy="0"/>
          </a:xfrm>
          <a:prstGeom prst="line">
            <a:avLst/>
          </a:prstGeom>
          <a:ln w="12700">
            <a:solidFill>
              <a:srgbClr val="A9BCAE"/>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mountains made by plates pushing the crust upwards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Himalayas are fold mountains.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fault</a:t>
            </a:r>
            <a:endParaRPr lang="en-US" sz="2600" dirty="0"/>
          </a:p>
        </p:txBody>
      </p:sp>
      <p:sp>
        <p:nvSpPr>
          <p:cNvPr id="17" name="word-rule"/>
          <p:cNvSpPr/>
          <p:nvPr/>
        </p:nvSpPr>
        <p:spPr>
          <a:xfrm>
            <a:off x="4521098" y="2129028"/>
            <a:ext cx="3149498" cy="0"/>
          </a:xfrm>
          <a:prstGeom prst="line">
            <a:avLst/>
          </a:prstGeom>
          <a:ln w="12700">
            <a:solidFill>
              <a:srgbClr val="A9BCAE"/>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crack in the crust where two blocks of rock slide past each other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San Francisco sits on the San Andreas Fault.</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ocean ridge</a:t>
            </a:r>
            <a:endParaRPr lang="en-US" sz="2600" dirty="0"/>
          </a:p>
        </p:txBody>
      </p:sp>
      <p:sp>
        <p:nvSpPr>
          <p:cNvPr id="23" name="word-rule"/>
          <p:cNvSpPr/>
          <p:nvPr/>
        </p:nvSpPr>
        <p:spPr>
          <a:xfrm>
            <a:off x="8310677" y="2129028"/>
            <a:ext cx="3149498" cy="0"/>
          </a:xfrm>
          <a:prstGeom prst="line">
            <a:avLst/>
          </a:prstGeom>
          <a:ln w="12700">
            <a:solidFill>
              <a:srgbClr val="A9BCAE"/>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long underwater mountain chain where new crust forms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Mid-Atlantic Ridge runs through Iceland.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There are four kinds of plate boundary.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 constructive boundary two plates move apart.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Magma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rises into the gap and cools to make new crust.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Mid-Atlantic Ridge runs through Iceland.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 destructive boundary an oceanic plate meets a continental plate.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denser oceanic plate is forced down and destroyed.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makes volcanoes and earthquakes, like the Andes and Chile.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 conservative boundary two plates slide past each other.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lock, pressure builds, and then they jolt, causing an earthquake.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San Andreas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Fault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in California is one.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 collision boundary two continental plates meet head 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are pushed up into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fold mountains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like the Himalayas.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There are earthquakes but no volcanoes.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Constructive boundaries: plates moving apart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Constructive constructs. New crust, ocean ridge, volcanoes, small earthquakes, Mid-Atlantic Ridge and Iceland.</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At a constructive boundary (you may also see it called a divergent boundary) two plates move away from each other, pulled apart by convection currents in the mantle.</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Most constructive boundaries are between two oceanic plates, and the new crust builds an ocean ridge along the line of the boundary.</a:t>
            </a:r>
            <a:endParaRPr lang="en-US" sz="20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In your progress check you were asked to explain the physical processes at a constructive margin for four marks.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Destructive boundaries: one plate forced under another</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Destructive destroys. The oceanic plate is subducted because it is denser. Both earthquakes and volcanoes, an ocean trench, fold mountains, the Andes.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destructive boundary (also called convergent) forms where an oceanic plate and a continental plate move towards each other.</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Two hazards come from this one process. As the plates grind together, friction builds up and is released as earthquakes; these are the most powerful earthquakes on Earth.</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example that runs through this unit is the boundary between the Nazca plate (oceanic) and the South American plate (continental).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Conservative and collision boundaries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Two boundaries have no volcanoes: conservative (plates slide past) and collision (both plates continental). Both have earthquakes.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At a conservative boundary (transform boundary) two plates slide past each other, either in opposite directions or in the same direction at different speeds.</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At a collision boundary two continental plates meet head on.</a:t>
            </a:r>
            <a:endParaRPr lang="en-US" sz="20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Watch two traps. A collision boundary is not where two plates grind past one another; that is the conservative boundary.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Worked example: Conservative and collision boundaries</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E2E9E4"/>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why there are earthquakes but no volcanoes at a conservative plate boundary. (2 marks)</a:t>
            </a:r>
            <a:endParaRPr lang="en-US" sz="2000" dirty="0"/>
          </a:p>
        </p:txBody>
      </p:sp>
      <p:sp>
        <p:nvSpPr>
          <p:cNvPr id="9" name="step-box"/>
          <p:cNvSpPr/>
          <p:nvPr/>
        </p:nvSpPr>
        <p:spPr>
          <a:xfrm>
            <a:off x="548640" y="2192528"/>
            <a:ext cx="11094415" cy="865505"/>
          </a:xfrm>
          <a:prstGeom prst="roundRect">
            <a:avLst>
              <a:gd name="adj" fmla="val 8452"/>
            </a:avLst>
          </a:prstGeom>
          <a:solidFill>
            <a:srgbClr val="FFFFFF"/>
          </a:solidFill>
          <a:ln w="15875">
            <a:solidFill>
              <a:srgbClr val="95AE9B"/>
            </a:solidFill>
            <a:prstDash val="solid"/>
          </a:ln>
        </p:spPr>
      </p:sp>
      <p:sp>
        <p:nvSpPr>
          <p:cNvPr id="10" name="step-hex"/>
          <p:cNvSpPr/>
          <p:nvPr/>
        </p:nvSpPr>
        <p:spPr>
          <a:xfrm>
            <a:off x="685800" y="2427313"/>
            <a:ext cx="457200" cy="395935"/>
          </a:xfrm>
          <a:prstGeom prst="hexagon">
            <a:avLst/>
          </a:prstGeom>
          <a:solidFill>
            <a:srgbClr val="3F6B4A"/>
          </a:solidFill>
          <a:ln/>
        </p:spPr>
      </p:sp>
      <p:sp>
        <p:nvSpPr>
          <p:cNvPr id="11" name="step-hex-label"/>
          <p:cNvSpPr txBox="1"/>
          <p:nvPr/>
        </p:nvSpPr>
        <p:spPr>
          <a:xfrm>
            <a:off x="685800" y="2427313"/>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86550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Earthquakes first: the plates slide past each other, friction locks them, pressure builds and is released in a sudden jolt, which is the earthquake.</a:t>
            </a:r>
            <a:endParaRPr lang="en-US" sz="1800" dirty="0"/>
          </a:p>
        </p:txBody>
      </p:sp>
      <p:sp>
        <p:nvSpPr>
          <p:cNvPr id="13" name="step-box"/>
          <p:cNvSpPr/>
          <p:nvPr/>
        </p:nvSpPr>
        <p:spPr>
          <a:xfrm>
            <a:off x="548640" y="3131185"/>
            <a:ext cx="11094415" cy="865505"/>
          </a:xfrm>
          <a:prstGeom prst="roundRect">
            <a:avLst>
              <a:gd name="adj" fmla="val 8452"/>
            </a:avLst>
          </a:prstGeom>
          <a:solidFill>
            <a:srgbClr val="FFFFFF"/>
          </a:solidFill>
          <a:ln w="15875">
            <a:solidFill>
              <a:srgbClr val="95AE9B"/>
            </a:solidFill>
            <a:prstDash val="solid"/>
          </a:ln>
        </p:spPr>
      </p:sp>
      <p:sp>
        <p:nvSpPr>
          <p:cNvPr id="14" name="step-hex"/>
          <p:cNvSpPr/>
          <p:nvPr/>
        </p:nvSpPr>
        <p:spPr>
          <a:xfrm>
            <a:off x="685800" y="3365970"/>
            <a:ext cx="457200" cy="395935"/>
          </a:xfrm>
          <a:prstGeom prst="hexagon">
            <a:avLst/>
          </a:prstGeom>
          <a:solidFill>
            <a:srgbClr val="3F6B4A"/>
          </a:solidFill>
          <a:ln/>
        </p:spPr>
      </p:sp>
      <p:sp>
        <p:nvSpPr>
          <p:cNvPr id="15" name="step-hex-label"/>
          <p:cNvSpPr txBox="1"/>
          <p:nvPr/>
        </p:nvSpPr>
        <p:spPr>
          <a:xfrm>
            <a:off x="685800" y="336597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31185"/>
            <a:ext cx="10180015" cy="86550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Volcanoes second: no crust is created or destroyed, so there is no gap for magma to rise through and no melting plate to supply it.</a:t>
            </a:r>
            <a:endParaRPr lang="en-US" sz="1800" dirty="0"/>
          </a:p>
        </p:txBody>
      </p:sp>
      <p:sp>
        <p:nvSpPr>
          <p:cNvPr id="17" name="step-box"/>
          <p:cNvSpPr/>
          <p:nvPr/>
        </p:nvSpPr>
        <p:spPr>
          <a:xfrm>
            <a:off x="548640" y="4069842"/>
            <a:ext cx="11094415" cy="601345"/>
          </a:xfrm>
          <a:prstGeom prst="roundRect">
            <a:avLst>
              <a:gd name="adj" fmla="val 12165"/>
            </a:avLst>
          </a:prstGeom>
          <a:solidFill>
            <a:srgbClr val="FFFFFF"/>
          </a:solidFill>
          <a:ln w="15875">
            <a:solidFill>
              <a:srgbClr val="95AE9B"/>
            </a:solidFill>
            <a:prstDash val="solid"/>
          </a:ln>
        </p:spPr>
      </p:sp>
      <p:sp>
        <p:nvSpPr>
          <p:cNvPr id="18" name="step-hex"/>
          <p:cNvSpPr/>
          <p:nvPr/>
        </p:nvSpPr>
        <p:spPr>
          <a:xfrm>
            <a:off x="685800" y="4172547"/>
            <a:ext cx="457200" cy="395935"/>
          </a:xfrm>
          <a:prstGeom prst="hexagon">
            <a:avLst/>
          </a:prstGeom>
          <a:solidFill>
            <a:srgbClr val="3F6B4A"/>
          </a:solidFill>
          <a:ln/>
        </p:spPr>
      </p:sp>
      <p:sp>
        <p:nvSpPr>
          <p:cNvPr id="19" name="step-hex-label"/>
          <p:cNvSpPr txBox="1"/>
          <p:nvPr/>
        </p:nvSpPr>
        <p:spPr>
          <a:xfrm>
            <a:off x="685800" y="4172547"/>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4069842"/>
            <a:ext cx="10180015" cy="60134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Two linked points, each with a because, earns both marks.</a:t>
            </a:r>
            <a:endParaRPr lang="en-US" sz="1800" dirty="0"/>
          </a:p>
        </p:txBody>
      </p:sp>
      <p:sp>
        <p:nvSpPr>
          <p:cNvPr id="21" name="worked-answer"/>
          <p:cNvSpPr/>
          <p:nvPr/>
        </p:nvSpPr>
        <p:spPr>
          <a:xfrm>
            <a:off x="548640" y="4854067"/>
            <a:ext cx="11094415" cy="1109980"/>
          </a:xfrm>
          <a:prstGeom prst="roundRect">
            <a:avLst>
              <a:gd name="adj" fmla="val 12357"/>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The plates slide past each other and lock together through friction, so pressure builds until they jolt free and release it as an earthquake. No crust is made or destroyed at this boundary, so no magma rises and there are no volcanoes.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Reading the case-study table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a question says comment on the correlation, give the pattern, a figure from each side, and a reason.</a:t>
            </a:r>
            <a:endParaRPr lang="en-US" sz="1800" dirty="0"/>
          </a:p>
        </p:txBody>
      </p:sp>
      <p:sp>
        <p:nvSpPr>
          <p:cNvPr id="11" name="point-card"/>
          <p:cNvSpPr/>
          <p:nvPr/>
        </p:nvSpPr>
        <p:spPr>
          <a:xfrm>
            <a:off x="548640" y="1389888"/>
            <a:ext cx="5410048" cy="3686048"/>
          </a:xfrm>
          <a:prstGeom prst="roundRect">
            <a:avLst>
              <a:gd name="adj" fmla="val 1488"/>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stretch task filled a table of seven earthquakes with their plate margins and magnitudes.</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3EADB"/>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Then the task asked you to comment on the correlation between margin type and magnitude.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Worked example (1 of 2): Reading the case-study table</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673352"/>
          </a:xfrm>
          <a:prstGeom prst="roundRect">
            <a:avLst>
              <a:gd name="adj" fmla="val 5464"/>
            </a:avLst>
          </a:prstGeom>
          <a:solidFill>
            <a:srgbClr val="E2E9E4"/>
          </a:solidFill>
          <a:ln/>
        </p:spPr>
      </p:sp>
      <p:sp>
        <p:nvSpPr>
          <p:cNvPr id="8" name="worked-q"/>
          <p:cNvSpPr txBox="1"/>
          <p:nvPr/>
        </p:nvSpPr>
        <p:spPr>
          <a:xfrm>
            <a:off x="731520" y="1481328"/>
            <a:ext cx="10728655"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Use the table to compare the mean magnitude of the three destructive-margin earthquakes (Japan 2011, 9; Chile 2010, 8.8; Sumatra 2004, 9.3) with the mean of the three conservative-margin earthquakes (Italy 2016, 6.2; Haiti 2010, 7; San Francisco 1957, 5.7).</a:t>
            </a:r>
            <a:endParaRPr lang="en-US" sz="2200" dirty="0"/>
          </a:p>
        </p:txBody>
      </p:sp>
      <p:sp>
        <p:nvSpPr>
          <p:cNvPr id="9" name="step-box"/>
          <p:cNvSpPr/>
          <p:nvPr/>
        </p:nvSpPr>
        <p:spPr>
          <a:xfrm>
            <a:off x="548640" y="3337560"/>
            <a:ext cx="5341468" cy="1695196"/>
          </a:xfrm>
          <a:prstGeom prst="roundRect">
            <a:avLst>
              <a:gd name="adj" fmla="val 4315"/>
            </a:avLst>
          </a:prstGeom>
          <a:solidFill>
            <a:srgbClr val="FFFFFF"/>
          </a:solidFill>
          <a:ln w="15875">
            <a:solidFill>
              <a:srgbClr val="95AE9B"/>
            </a:solidFill>
            <a:prstDash val="solid"/>
          </a:ln>
        </p:spPr>
      </p:sp>
      <p:sp>
        <p:nvSpPr>
          <p:cNvPr id="10" name="step-hex"/>
          <p:cNvSpPr/>
          <p:nvPr/>
        </p:nvSpPr>
        <p:spPr>
          <a:xfrm>
            <a:off x="685800" y="3447288"/>
            <a:ext cx="530352" cy="459285"/>
          </a:xfrm>
          <a:prstGeom prst="hexagon">
            <a:avLst/>
          </a:prstGeom>
          <a:solidFill>
            <a:srgbClr val="3F6B4A"/>
          </a:solidFill>
          <a:ln/>
        </p:spPr>
      </p:sp>
      <p:sp>
        <p:nvSpPr>
          <p:cNvPr id="11" name="step-hex-label"/>
          <p:cNvSpPr txBox="1"/>
          <p:nvPr/>
        </p:nvSpPr>
        <p:spPr>
          <a:xfrm>
            <a:off x="685800" y="3447288"/>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931920"/>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Destructive: add the three magnitudes, 9 + 8.8 + 9.3 = 27.1, and divide by 3: 27.1 ÷ 3 = 9.03 (to 2 decimal places).</a:t>
            </a:r>
            <a:endParaRPr lang="en-US" sz="1800" dirty="0"/>
          </a:p>
        </p:txBody>
      </p:sp>
      <p:sp>
        <p:nvSpPr>
          <p:cNvPr id="13" name="arrow"/>
          <p:cNvSpPr/>
          <p:nvPr/>
        </p:nvSpPr>
        <p:spPr>
          <a:xfrm>
            <a:off x="5963260" y="4047998"/>
            <a:ext cx="274320" cy="274320"/>
          </a:xfrm>
          <a:prstGeom prst="rightArrow">
            <a:avLst/>
          </a:prstGeom>
          <a:solidFill>
            <a:srgbClr val="B8862B"/>
          </a:solidFill>
          <a:ln/>
        </p:spPr>
      </p:sp>
      <p:sp>
        <p:nvSpPr>
          <p:cNvPr id="14" name="step-box"/>
          <p:cNvSpPr/>
          <p:nvPr/>
        </p:nvSpPr>
        <p:spPr>
          <a:xfrm>
            <a:off x="6301588" y="3337560"/>
            <a:ext cx="5341468" cy="1695196"/>
          </a:xfrm>
          <a:prstGeom prst="roundRect">
            <a:avLst>
              <a:gd name="adj" fmla="val 4315"/>
            </a:avLst>
          </a:prstGeom>
          <a:solidFill>
            <a:srgbClr val="FFFFFF"/>
          </a:solidFill>
          <a:ln w="15875">
            <a:solidFill>
              <a:srgbClr val="95AE9B"/>
            </a:solidFill>
            <a:prstDash val="solid"/>
          </a:ln>
        </p:spPr>
      </p:sp>
      <p:sp>
        <p:nvSpPr>
          <p:cNvPr id="15" name="step-hex"/>
          <p:cNvSpPr/>
          <p:nvPr/>
        </p:nvSpPr>
        <p:spPr>
          <a:xfrm>
            <a:off x="6438748" y="3447288"/>
            <a:ext cx="530352" cy="459285"/>
          </a:xfrm>
          <a:prstGeom prst="hexagon">
            <a:avLst/>
          </a:prstGeom>
          <a:solidFill>
            <a:srgbClr val="3F6B4A"/>
          </a:solidFill>
          <a:ln/>
        </p:spPr>
      </p:sp>
      <p:sp>
        <p:nvSpPr>
          <p:cNvPr id="16" name="step-hex-label"/>
          <p:cNvSpPr txBox="1"/>
          <p:nvPr/>
        </p:nvSpPr>
        <p:spPr>
          <a:xfrm>
            <a:off x="6438748" y="3447288"/>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931920"/>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Conservative: 6.2 + 7 + 5.7 = 18.9, and 18.9 ÷ 3 = 6.3.</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Worked example (2 of 2): Reading the case-study table</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673352"/>
          </a:xfrm>
          <a:prstGeom prst="roundRect">
            <a:avLst>
              <a:gd name="adj" fmla="val 5464"/>
            </a:avLst>
          </a:prstGeom>
          <a:solidFill>
            <a:srgbClr val="E2E9E4"/>
          </a:solidFill>
          <a:ln/>
        </p:spPr>
      </p:sp>
      <p:sp>
        <p:nvSpPr>
          <p:cNvPr id="8" name="worked-q"/>
          <p:cNvSpPr txBox="1"/>
          <p:nvPr/>
        </p:nvSpPr>
        <p:spPr>
          <a:xfrm>
            <a:off x="731520" y="1481328"/>
            <a:ext cx="10728655"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Use the table to compare the mean magnitude of the three destructive-margin earthquakes (Japan 2011, 9; Chile 2010, 8.8; Sumatra 2004, 9.3) with the mean of the three conservative-margin earthquakes (Italy 2016, 6.2; Haiti 2010, 7; San Francisco 1957, 5.7).</a:t>
            </a:r>
            <a:endParaRPr lang="en-US" sz="2200" dirty="0"/>
          </a:p>
        </p:txBody>
      </p:sp>
      <p:sp>
        <p:nvSpPr>
          <p:cNvPr id="9" name="step-box"/>
          <p:cNvSpPr/>
          <p:nvPr/>
        </p:nvSpPr>
        <p:spPr>
          <a:xfrm>
            <a:off x="548640" y="3337560"/>
            <a:ext cx="5341468" cy="1695196"/>
          </a:xfrm>
          <a:prstGeom prst="roundRect">
            <a:avLst>
              <a:gd name="adj" fmla="val 4315"/>
            </a:avLst>
          </a:prstGeom>
          <a:solidFill>
            <a:srgbClr val="FFFFFF"/>
          </a:solidFill>
          <a:ln w="15875">
            <a:solidFill>
              <a:srgbClr val="95AE9B"/>
            </a:solidFill>
            <a:prstDash val="solid"/>
          </a:ln>
        </p:spPr>
      </p:sp>
      <p:sp>
        <p:nvSpPr>
          <p:cNvPr id="10" name="step-hex"/>
          <p:cNvSpPr/>
          <p:nvPr/>
        </p:nvSpPr>
        <p:spPr>
          <a:xfrm>
            <a:off x="685800" y="3447288"/>
            <a:ext cx="530352" cy="459285"/>
          </a:xfrm>
          <a:prstGeom prst="hexagon">
            <a:avLst/>
          </a:prstGeom>
          <a:solidFill>
            <a:srgbClr val="3F6B4A"/>
          </a:solidFill>
          <a:ln/>
        </p:spPr>
      </p:sp>
      <p:sp>
        <p:nvSpPr>
          <p:cNvPr id="11" name="step-hex-label"/>
          <p:cNvSpPr txBox="1"/>
          <p:nvPr/>
        </p:nvSpPr>
        <p:spPr>
          <a:xfrm>
            <a:off x="685800" y="3447288"/>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931920"/>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Compare: the destructive mean is 9.03 − 6.3 = 2.73 higher. Every destructive earthquake in the table is bigger than every conservative one.</a:t>
            </a:r>
            <a:endParaRPr lang="en-US" sz="1800" dirty="0"/>
          </a:p>
        </p:txBody>
      </p:sp>
      <p:sp>
        <p:nvSpPr>
          <p:cNvPr id="13" name="arrow"/>
          <p:cNvSpPr/>
          <p:nvPr/>
        </p:nvSpPr>
        <p:spPr>
          <a:xfrm>
            <a:off x="5963260" y="4047998"/>
            <a:ext cx="274320" cy="274320"/>
          </a:xfrm>
          <a:prstGeom prst="rightArrow">
            <a:avLst/>
          </a:prstGeom>
          <a:solidFill>
            <a:srgbClr val="B8862B"/>
          </a:solidFill>
          <a:ln/>
        </p:spPr>
      </p:sp>
      <p:sp>
        <p:nvSpPr>
          <p:cNvPr id="14" name="step-box"/>
          <p:cNvSpPr/>
          <p:nvPr/>
        </p:nvSpPr>
        <p:spPr>
          <a:xfrm>
            <a:off x="6301588" y="3337560"/>
            <a:ext cx="5341468" cy="1695196"/>
          </a:xfrm>
          <a:prstGeom prst="roundRect">
            <a:avLst>
              <a:gd name="adj" fmla="val 4315"/>
            </a:avLst>
          </a:prstGeom>
          <a:solidFill>
            <a:srgbClr val="FFFFFF"/>
          </a:solidFill>
          <a:ln w="15875">
            <a:solidFill>
              <a:srgbClr val="95AE9B"/>
            </a:solidFill>
            <a:prstDash val="solid"/>
          </a:ln>
        </p:spPr>
      </p:sp>
      <p:sp>
        <p:nvSpPr>
          <p:cNvPr id="15" name="step-hex"/>
          <p:cNvSpPr/>
          <p:nvPr/>
        </p:nvSpPr>
        <p:spPr>
          <a:xfrm>
            <a:off x="6438748" y="3447288"/>
            <a:ext cx="530352" cy="459285"/>
          </a:xfrm>
          <a:prstGeom prst="hexagon">
            <a:avLst/>
          </a:prstGeom>
          <a:solidFill>
            <a:srgbClr val="3F6B4A"/>
          </a:solidFill>
          <a:ln/>
        </p:spPr>
      </p:sp>
      <p:sp>
        <p:nvSpPr>
          <p:cNvPr id="16" name="step-hex-label"/>
          <p:cNvSpPr txBox="1"/>
          <p:nvPr/>
        </p:nvSpPr>
        <p:spPr>
          <a:xfrm>
            <a:off x="6438748" y="3447288"/>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931920"/>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Comment: higher magnitudes are associated with destructive margins, where a heavy oceanic plate is forced down with great friction.</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ADBBF"/>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Destructive mean 9.03; conservative mean 6.3; the destructive margins average about 2.7 higher on the scale.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Name that boundary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type of plate boundary to its named example.</a:t>
            </a:r>
            <a:endParaRPr lang="en-US" sz="2400" dirty="0"/>
          </a:p>
        </p:txBody>
      </p:sp>
      <p:sp>
        <p:nvSpPr>
          <p:cNvPr id="11" name="match-card"/>
          <p:cNvSpPr/>
          <p:nvPr/>
        </p:nvSpPr>
        <p:spPr>
          <a:xfrm>
            <a:off x="777240" y="2468331"/>
            <a:ext cx="3081437" cy="634375"/>
          </a:xfrm>
          <a:prstGeom prst="roundRect">
            <a:avLst>
              <a:gd name="adj" fmla="val 11531"/>
            </a:avLst>
          </a:prstGeom>
          <a:solidFill>
            <a:srgbClr val="E6ECE7"/>
          </a:solidFill>
          <a:ln/>
        </p:spPr>
      </p:sp>
      <p:sp>
        <p:nvSpPr>
          <p:cNvPr id="12" name="match-hex"/>
          <p:cNvSpPr/>
          <p:nvPr/>
        </p:nvSpPr>
        <p:spPr>
          <a:xfrm>
            <a:off x="850392" y="2619226"/>
            <a:ext cx="384048" cy="332586"/>
          </a:xfrm>
          <a:prstGeom prst="hexagon">
            <a:avLst/>
          </a:prstGeom>
          <a:solidFill>
            <a:srgbClr val="3F6B4A"/>
          </a:solidFill>
          <a:ln/>
        </p:spPr>
      </p:sp>
      <p:sp>
        <p:nvSpPr>
          <p:cNvPr id="13" name="match-hex-label"/>
          <p:cNvSpPr txBox="1"/>
          <p:nvPr/>
        </p:nvSpPr>
        <p:spPr>
          <a:xfrm>
            <a:off x="850392"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Constructive</a:t>
            </a:r>
            <a:endParaRPr lang="en-US" sz="2200" dirty="0"/>
          </a:p>
        </p:txBody>
      </p:sp>
      <p:sp>
        <p:nvSpPr>
          <p:cNvPr id="15" name="match-card"/>
          <p:cNvSpPr/>
          <p:nvPr/>
        </p:nvSpPr>
        <p:spPr>
          <a:xfrm>
            <a:off x="4224437" y="2468331"/>
            <a:ext cx="7190019" cy="634375"/>
          </a:xfrm>
          <a:prstGeom prst="roundRect">
            <a:avLst>
              <a:gd name="adj" fmla="val 11531"/>
            </a:avLst>
          </a:prstGeom>
          <a:solidFill>
            <a:srgbClr val="F3EADB"/>
          </a:solidFill>
          <a:ln/>
        </p:spPr>
      </p:sp>
      <p:sp>
        <p:nvSpPr>
          <p:cNvPr id="16" name="match-hex"/>
          <p:cNvSpPr/>
          <p:nvPr/>
        </p:nvSpPr>
        <p:spPr>
          <a:xfrm>
            <a:off x="4297589" y="2619226"/>
            <a:ext cx="384048" cy="332586"/>
          </a:xfrm>
          <a:prstGeom prst="hexagon">
            <a:avLst/>
          </a:prstGeom>
          <a:solidFill>
            <a:srgbClr val="B8862B"/>
          </a:solidFill>
          <a:ln/>
        </p:spPr>
      </p:sp>
      <p:sp>
        <p:nvSpPr>
          <p:cNvPr id="17" name="match-hex-label"/>
          <p:cNvSpPr txBox="1"/>
          <p:nvPr/>
        </p:nvSpPr>
        <p:spPr>
          <a:xfrm>
            <a:off x="4297589"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San Andreas Fault in California</a:t>
            </a:r>
            <a:endParaRPr lang="en-US" sz="2200" dirty="0"/>
          </a:p>
        </p:txBody>
      </p:sp>
      <p:sp>
        <p:nvSpPr>
          <p:cNvPr id="19" name="match-card"/>
          <p:cNvSpPr/>
          <p:nvPr/>
        </p:nvSpPr>
        <p:spPr>
          <a:xfrm>
            <a:off x="777240" y="3194147"/>
            <a:ext cx="3081437" cy="634375"/>
          </a:xfrm>
          <a:prstGeom prst="roundRect">
            <a:avLst>
              <a:gd name="adj" fmla="val 11531"/>
            </a:avLst>
          </a:prstGeom>
          <a:solidFill>
            <a:srgbClr val="E6ECE7"/>
          </a:solidFill>
          <a:ln/>
        </p:spPr>
      </p:sp>
      <p:sp>
        <p:nvSpPr>
          <p:cNvPr id="20" name="match-hex"/>
          <p:cNvSpPr/>
          <p:nvPr/>
        </p:nvSpPr>
        <p:spPr>
          <a:xfrm>
            <a:off x="850392" y="3345041"/>
            <a:ext cx="384048" cy="332586"/>
          </a:xfrm>
          <a:prstGeom prst="hexagon">
            <a:avLst/>
          </a:prstGeom>
          <a:solidFill>
            <a:srgbClr val="3F6B4A"/>
          </a:solidFill>
          <a:ln/>
        </p:spPr>
      </p:sp>
      <p:sp>
        <p:nvSpPr>
          <p:cNvPr id="21" name="match-hex-label"/>
          <p:cNvSpPr txBox="1"/>
          <p:nvPr/>
        </p:nvSpPr>
        <p:spPr>
          <a:xfrm>
            <a:off x="850392" y="33450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94147"/>
            <a:ext cx="2487077"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Destructive</a:t>
            </a:r>
            <a:endParaRPr lang="en-US" sz="2200" dirty="0"/>
          </a:p>
        </p:txBody>
      </p:sp>
      <p:sp>
        <p:nvSpPr>
          <p:cNvPr id="23" name="match-card"/>
          <p:cNvSpPr/>
          <p:nvPr/>
        </p:nvSpPr>
        <p:spPr>
          <a:xfrm>
            <a:off x="4224437" y="3194147"/>
            <a:ext cx="7190019" cy="634375"/>
          </a:xfrm>
          <a:prstGeom prst="roundRect">
            <a:avLst>
              <a:gd name="adj" fmla="val 11531"/>
            </a:avLst>
          </a:prstGeom>
          <a:solidFill>
            <a:srgbClr val="F3EADB"/>
          </a:solidFill>
          <a:ln/>
        </p:spPr>
      </p:sp>
      <p:sp>
        <p:nvSpPr>
          <p:cNvPr id="24" name="match-hex"/>
          <p:cNvSpPr/>
          <p:nvPr/>
        </p:nvSpPr>
        <p:spPr>
          <a:xfrm>
            <a:off x="4297589" y="3345041"/>
            <a:ext cx="384048" cy="332586"/>
          </a:xfrm>
          <a:prstGeom prst="hexagon">
            <a:avLst/>
          </a:prstGeom>
          <a:solidFill>
            <a:srgbClr val="B8862B"/>
          </a:solidFill>
          <a:ln/>
        </p:spPr>
      </p:sp>
      <p:sp>
        <p:nvSpPr>
          <p:cNvPr id="25" name="match-hex-label"/>
          <p:cNvSpPr txBox="1"/>
          <p:nvPr/>
        </p:nvSpPr>
        <p:spPr>
          <a:xfrm>
            <a:off x="4297589" y="33450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194147"/>
            <a:ext cx="6595659"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Mid-Atlantic Ridge, which runs through Iceland</a:t>
            </a:r>
            <a:endParaRPr lang="en-US" sz="2200" dirty="0"/>
          </a:p>
        </p:txBody>
      </p:sp>
      <p:sp>
        <p:nvSpPr>
          <p:cNvPr id="27" name="match-card"/>
          <p:cNvSpPr/>
          <p:nvPr/>
        </p:nvSpPr>
        <p:spPr>
          <a:xfrm>
            <a:off x="777240" y="3919962"/>
            <a:ext cx="3081437" cy="975243"/>
          </a:xfrm>
          <a:prstGeom prst="roundRect">
            <a:avLst>
              <a:gd name="adj" fmla="val 7501"/>
            </a:avLst>
          </a:prstGeom>
          <a:solidFill>
            <a:srgbClr val="E6ECE7"/>
          </a:solidFill>
          <a:ln/>
        </p:spPr>
      </p:sp>
      <p:sp>
        <p:nvSpPr>
          <p:cNvPr id="28" name="match-hex"/>
          <p:cNvSpPr/>
          <p:nvPr/>
        </p:nvSpPr>
        <p:spPr>
          <a:xfrm>
            <a:off x="850392" y="4241290"/>
            <a:ext cx="384048" cy="332586"/>
          </a:xfrm>
          <a:prstGeom prst="hexagon">
            <a:avLst/>
          </a:prstGeom>
          <a:solidFill>
            <a:srgbClr val="3F6B4A"/>
          </a:solidFill>
          <a:ln/>
        </p:spPr>
      </p:sp>
      <p:sp>
        <p:nvSpPr>
          <p:cNvPr id="29" name="match-hex-label"/>
          <p:cNvSpPr txBox="1"/>
          <p:nvPr/>
        </p:nvSpPr>
        <p:spPr>
          <a:xfrm>
            <a:off x="850392" y="424129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19962"/>
            <a:ext cx="2487077"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Conservative</a:t>
            </a:r>
            <a:endParaRPr lang="en-US" sz="2200" dirty="0"/>
          </a:p>
        </p:txBody>
      </p:sp>
      <p:sp>
        <p:nvSpPr>
          <p:cNvPr id="31" name="match-card"/>
          <p:cNvSpPr/>
          <p:nvPr/>
        </p:nvSpPr>
        <p:spPr>
          <a:xfrm>
            <a:off x="4224437" y="3919962"/>
            <a:ext cx="7190019" cy="975243"/>
          </a:xfrm>
          <a:prstGeom prst="roundRect">
            <a:avLst>
              <a:gd name="adj" fmla="val 7501"/>
            </a:avLst>
          </a:prstGeom>
          <a:solidFill>
            <a:srgbClr val="F3EADB"/>
          </a:solidFill>
          <a:ln/>
        </p:spPr>
      </p:sp>
      <p:sp>
        <p:nvSpPr>
          <p:cNvPr id="32" name="match-hex"/>
          <p:cNvSpPr/>
          <p:nvPr/>
        </p:nvSpPr>
        <p:spPr>
          <a:xfrm>
            <a:off x="4297589" y="4241290"/>
            <a:ext cx="384048" cy="332586"/>
          </a:xfrm>
          <a:prstGeom prst="hexagon">
            <a:avLst/>
          </a:prstGeom>
          <a:solidFill>
            <a:srgbClr val="B8862B"/>
          </a:solidFill>
          <a:ln/>
        </p:spPr>
      </p:sp>
      <p:sp>
        <p:nvSpPr>
          <p:cNvPr id="33" name="match-hex-label"/>
          <p:cNvSpPr txBox="1"/>
          <p:nvPr/>
        </p:nvSpPr>
        <p:spPr>
          <a:xfrm>
            <a:off x="4297589" y="424129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919962"/>
            <a:ext cx="6595659"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Andes, where the Nazca plate meets the South American plate</a:t>
            </a:r>
            <a:endParaRPr lang="en-US" sz="2200" dirty="0"/>
          </a:p>
        </p:txBody>
      </p:sp>
      <p:sp>
        <p:nvSpPr>
          <p:cNvPr id="35" name="match-card"/>
          <p:cNvSpPr/>
          <p:nvPr/>
        </p:nvSpPr>
        <p:spPr>
          <a:xfrm>
            <a:off x="777240" y="4986645"/>
            <a:ext cx="3081437" cy="975243"/>
          </a:xfrm>
          <a:prstGeom prst="roundRect">
            <a:avLst>
              <a:gd name="adj" fmla="val 7501"/>
            </a:avLst>
          </a:prstGeom>
          <a:solidFill>
            <a:srgbClr val="E6ECE7"/>
          </a:solidFill>
          <a:ln/>
        </p:spPr>
      </p:sp>
      <p:sp>
        <p:nvSpPr>
          <p:cNvPr id="36" name="match-hex"/>
          <p:cNvSpPr/>
          <p:nvPr/>
        </p:nvSpPr>
        <p:spPr>
          <a:xfrm>
            <a:off x="850392" y="5307974"/>
            <a:ext cx="384048" cy="332586"/>
          </a:xfrm>
          <a:prstGeom prst="hexagon">
            <a:avLst/>
          </a:prstGeom>
          <a:solidFill>
            <a:srgbClr val="3F6B4A"/>
          </a:solidFill>
          <a:ln/>
        </p:spPr>
      </p:sp>
      <p:sp>
        <p:nvSpPr>
          <p:cNvPr id="37" name="match-hex-label"/>
          <p:cNvSpPr txBox="1"/>
          <p:nvPr/>
        </p:nvSpPr>
        <p:spPr>
          <a:xfrm>
            <a:off x="850392" y="53079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986645"/>
            <a:ext cx="2487077"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Collision</a:t>
            </a:r>
            <a:endParaRPr lang="en-US" sz="2200" dirty="0"/>
          </a:p>
        </p:txBody>
      </p:sp>
      <p:sp>
        <p:nvSpPr>
          <p:cNvPr id="39" name="match-card"/>
          <p:cNvSpPr/>
          <p:nvPr/>
        </p:nvSpPr>
        <p:spPr>
          <a:xfrm>
            <a:off x="4224437" y="4986645"/>
            <a:ext cx="7190019" cy="975243"/>
          </a:xfrm>
          <a:prstGeom prst="roundRect">
            <a:avLst>
              <a:gd name="adj" fmla="val 7501"/>
            </a:avLst>
          </a:prstGeom>
          <a:solidFill>
            <a:srgbClr val="F3EADB"/>
          </a:solidFill>
          <a:ln/>
        </p:spPr>
      </p:sp>
      <p:sp>
        <p:nvSpPr>
          <p:cNvPr id="40" name="match-hex"/>
          <p:cNvSpPr/>
          <p:nvPr/>
        </p:nvSpPr>
        <p:spPr>
          <a:xfrm>
            <a:off x="4297589" y="5307974"/>
            <a:ext cx="384048" cy="332586"/>
          </a:xfrm>
          <a:prstGeom prst="hexagon">
            <a:avLst/>
          </a:prstGeom>
          <a:solidFill>
            <a:srgbClr val="B8862B"/>
          </a:solidFill>
          <a:ln/>
        </p:spPr>
      </p:sp>
      <p:sp>
        <p:nvSpPr>
          <p:cNvPr id="41" name="match-hex-label"/>
          <p:cNvSpPr txBox="1"/>
          <p:nvPr/>
        </p:nvSpPr>
        <p:spPr>
          <a:xfrm>
            <a:off x="4297589" y="53079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986645"/>
            <a:ext cx="6595659"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Himalayas, where the Indo-Australian plate meets the Eurasian plate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Name that boundary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Name that boundary</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2E9E4"/>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ridge is built by new crust, so the ridge goes with the boundary that constructs.</a:t>
            </a:r>
            <a:endParaRPr lang="en-US" sz="2000" dirty="0"/>
          </a:p>
          <a:p>
            <a:pPr algn="l" indent="0" marL="0">
              <a:spcAft>
                <a:spcPts val="600"/>
              </a:spcAft>
              <a:buNone/>
            </a:pPr>
            <a:r>
              <a:rPr lang="en-US" sz="20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Andes have volcanoes AND earthquakes, so an oceanic plate must be sinking there.</a:t>
            </a:r>
            <a:endParaRPr lang="en-US" sz="2000" dirty="0"/>
          </a:p>
          <a:p>
            <a:pPr algn="l" indent="0" marL="0">
              <a:spcAft>
                <a:spcPts val="600"/>
              </a:spcAft>
              <a:buNone/>
            </a:pPr>
            <a:r>
              <a:rPr lang="en-US" sz="20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fault where plates slide past each other with no volcanoes is the conservative boundary.</a:t>
            </a:r>
            <a:endParaRPr lang="en-US" sz="2000" dirty="0"/>
          </a:p>
          <a:p>
            <a:pPr algn="l" indent="0" marL="0">
              <a:spcAft>
                <a:spcPts val="600"/>
              </a:spcAft>
              <a:buNone/>
            </a:pPr>
            <a:r>
              <a:rPr lang="en-US" sz="20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highest mountains with no volcanoes are two continental plates colliding.</a:t>
            </a:r>
            <a:endParaRPr lang="en-US" sz="2000" dirty="0"/>
          </a:p>
        </p:txBody>
      </p:sp>
      <p:sp>
        <p:nvSpPr>
          <p:cNvPr id="17" name="col-Core"/>
          <p:cNvSpPr/>
          <p:nvPr/>
        </p:nvSpPr>
        <p:spPr>
          <a:xfrm>
            <a:off x="6425403" y="2395728"/>
            <a:ext cx="2471666" cy="3749040"/>
          </a:xfrm>
          <a:prstGeom prst="roundRect">
            <a:avLst>
              <a:gd name="adj" fmla="val 2220"/>
            </a:avLst>
          </a:prstGeom>
          <a:solidFill>
            <a:srgbClr val="CB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2000" b="1" dirty="0">
                <a:solidFill>
                  <a:srgbClr val="32563B"/>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Ridge, Andes, fault, Himalayas: new crust, subduction, sliding, head-on collision.</a:t>
            </a:r>
            <a:endParaRPr lang="en-US" sz="20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Explain why the Andes and the Himalayas are both fold mountains but only the Andes have volcanoes.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Margins and magnitude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The three destructive-margin earthquakes in your table were Japan 2011 (magnitude 9), Chile 2010 (8.8) and Sumatra 2004 (9.3). What was their mean magnitude? Give your answer to 2 decimal places.</a:t>
            </a:r>
            <a:endParaRPr lang="en-US" sz="2600" dirty="0"/>
          </a:p>
          <a:p>
            <a:pPr algn="ctr" indent="0" marL="0">
              <a:buNone/>
            </a:pPr>
            <a:r>
              <a:rPr lang="en-US" sz="2400" b="1" dirty="0">
                <a:solidFill>
                  <a:srgbClr val="3F6B4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Margins and magnitude</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The three destructive-margin earthquakes in your table were Japan 2011 (magnitude 9), Chile 2010 (8.8) and Sumatra 2004 (9.3). What was their mean magnitude? Give your answer to 2 decimal places.</a:t>
            </a:r>
            <a:endParaRPr lang="en-US" sz="2000" dirty="0"/>
          </a:p>
        </p:txBody>
      </p:sp>
      <p:sp>
        <p:nvSpPr>
          <p:cNvPr id="12" name="col-Support"/>
          <p:cNvSpPr/>
          <p:nvPr/>
        </p:nvSpPr>
        <p:spPr>
          <a:xfrm>
            <a:off x="548640" y="2903728"/>
            <a:ext cx="4667802" cy="3241040"/>
          </a:xfrm>
          <a:prstGeom prst="roundRect">
            <a:avLst>
              <a:gd name="adj" fmla="val 1693"/>
            </a:avLst>
          </a:prstGeom>
          <a:solidFill>
            <a:srgbClr val="E2E9E4"/>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40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43808"/>
            <a:ext cx="4393482" cy="2491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Add the three magnitudes: 9 + 8.8 + 9.3.</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9 + 8.8 = 17.8, then 17.8 + 9.3 = 27.1.</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Divide by the number of earthquakes, 3: 27.1 ÷ 3 = 9.033…</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Round to 2 decimal places: 9.03.</a:t>
            </a:r>
            <a:endParaRPr lang="en-US" sz="1800" dirty="0"/>
          </a:p>
        </p:txBody>
      </p:sp>
      <p:sp>
        <p:nvSpPr>
          <p:cNvPr id="17" name="col-Core"/>
          <p:cNvSpPr/>
          <p:nvPr/>
        </p:nvSpPr>
        <p:spPr>
          <a:xfrm>
            <a:off x="5490762" y="2903728"/>
            <a:ext cx="2938987" cy="3241040"/>
          </a:xfrm>
          <a:prstGeom prst="roundRect">
            <a:avLst>
              <a:gd name="adj" fmla="val 1867"/>
            </a:avLst>
          </a:prstGeom>
          <a:solidFill>
            <a:srgbClr val="CBD7CE"/>
          </a:solidFill>
          <a:ln/>
        </p:spPr>
      </p:sp>
      <p:sp>
        <p:nvSpPr>
          <p:cNvPr id="18" name="col-hex"/>
          <p:cNvSpPr/>
          <p:nvPr/>
        </p:nvSpPr>
        <p:spPr>
          <a:xfrm>
            <a:off x="5600490" y="2976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40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43808"/>
            <a:ext cx="2664667" cy="2491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Mean = total ÷ how many. Three earthquakes, so divide the total by 3.</a:t>
            </a:r>
            <a:endParaRPr lang="en-US" sz="1800" dirty="0"/>
          </a:p>
        </p:txBody>
      </p:sp>
      <p:sp>
        <p:nvSpPr>
          <p:cNvPr id="22" name="col-Stretch"/>
          <p:cNvSpPr/>
          <p:nvPr/>
        </p:nvSpPr>
        <p:spPr>
          <a:xfrm>
            <a:off x="8704069" y="2903728"/>
            <a:ext cx="2938987" cy="3241040"/>
          </a:xfrm>
          <a:prstGeom prst="roundRect">
            <a:avLst>
              <a:gd name="adj" fmla="val 1867"/>
            </a:avLst>
          </a:prstGeom>
          <a:solidFill>
            <a:srgbClr val="3F6B4A"/>
          </a:solidFill>
          <a:ln/>
        </p:spPr>
      </p:sp>
      <p:sp>
        <p:nvSpPr>
          <p:cNvPr id="23" name="col-hex"/>
          <p:cNvSpPr/>
          <p:nvPr/>
        </p:nvSpPr>
        <p:spPr>
          <a:xfrm>
            <a:off x="8813797" y="2976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40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43808"/>
            <a:ext cx="2664667" cy="2491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Your lesson says higher magnitudes are associated with destructive margins. Use the table to argue whether three earthquakes are enough to prove a correlation.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At which type of plate boundary is new crust created?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Conservative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Constructive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Collision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Destructive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8EDE9"/>
          </a:solidFill>
          <a:ln w="12700">
            <a:solidFill>
              <a:srgbClr val="95AE9B"/>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Name that boundary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Constructive  →  B  The Mid-Atlantic Ridge, which runs through Iceland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Destructive  →  C  The Andes, where the Nazca plate meets the South American plate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Conservative  →  A  The San Andreas Fault in California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Collision  →  D  The Himalayas, where the Indo-Australian plate meets the Eurasian plate</a:t>
            </a:r>
            <a:endParaRPr lang="en-US" sz="22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Constructive: the Mid-Atlantic Ridge through Iceland. Destructive: the Andes, Nazca under South American. Conservative: the San Andreas Fault. Collision: the Himalayas, Indo-Australian against Eurasian.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Margins and magnitude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three destructive-margin earthquakes in your table were Japan 2011 (magnitude 9), Chile 2010 (8.8) and Sumatra 2004 (9.3). What was their mean magnitude? Give your answer to 2 decimal places.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9.03</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(9 + 8.8 + 9.3) ÷ 3 = 27.1 ÷ 3 = 9.03. Destructive margins store the most energy because a whole oceanic plate is dragged down against the continental plate with huge friction.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At which type of plate boundary is new crust created?</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Constructive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At a constructive boundary the plates move apart and magma rises into the gap, cooling to form new crust along an ocean ridge.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2E9E4"/>
      </a:lt2>
      <a:accent1>
        <a:srgbClr val="3F6B4A"/>
      </a:accent1>
      <a:accent2>
        <a:srgbClr val="B8862B"/>
      </a:accent2>
      <a:accent3>
        <a:srgbClr val="8CA692"/>
      </a:accent3>
      <a:accent4>
        <a:srgbClr val="815E1E"/>
      </a:accent4>
      <a:accent5>
        <a:srgbClr val="4A505C"/>
      </a:accent5>
      <a:accent6>
        <a:srgbClr val="D8BC8A"/>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Challenge of Natural Hazards: Tectonic Hazards · Chapter 3: Four kinds of plate boundary</dc:title>
  <dc:subject>Geography · Year 11</dc:subject>
  <dc:creator>Dr Vitor Merissi de Carvalho</dc:creator>
  <cp:lastModifiedBy>Dr Vitor Merissi de Carvalho</cp:lastModifiedBy>
  <cp:revision>1</cp:revision>
  <dcterms:created xsi:type="dcterms:W3CDTF">2026-10-19T16:22:57Z</dcterms:created>
  <dcterms:modified xsi:type="dcterms:W3CDTF">2026-10-19T16:22:57Z</dcterms:modified>
</cp:coreProperties>
</file>