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5fca914-3013-8f4d-a322-1ca13dafad2e}">
          <p14:sldIdLst>
            <p14:sldId id="256"/>
          </p14:sldIdLst>
        </p14:section>
        <p14:section name="Gate" id="{6276a319-0b02-e5eb-1faa-a4fd3ccc7996}">
          <p14:sldIdLst>
            <p14:sldId id="257"/>
            <p14:sldId id="258"/>
          </p14:sldIdLst>
        </p14:section>
        <p14:section name="Pre-teach" id="{101022a9-e7f4-679b-4633-b0d17a60ebc9}">
          <p14:sldIdLst>
            <p14:sldId id="259"/>
            <p14:sldId id="260"/>
          </p14:sldIdLst>
        </p14:section>
        <p14:section name="Read-along" id="{071adeba-78ee-626c-16d4-527644b45948}">
          <p14:sldIdLst>
            <p14:sldId id="261"/>
            <p14:sldId id="262"/>
          </p14:sldIdLst>
        </p14:section>
        <p14:section name="Teach" id="{56054aaa-e598-f33d-0622-207cac273b48}">
          <p14:sldIdLst>
            <p14:sldId id="263"/>
            <p14:sldId id="264"/>
            <p14:sldId id="265"/>
            <p14:sldId id="266"/>
            <p14:sldId id="267"/>
            <p14:sldId id="268"/>
          </p14:sldIdLst>
        </p14:section>
        <p14:section name="Routes" id="{7cf6e0db-eeb0-c589-6f6a-0fba315b8eef}">
          <p14:sldIdLst>
            <p14:sldId id="269"/>
            <p14:sldId id="270"/>
            <p14:sldId id="271"/>
          </p14:sldIdLst>
        </p14:section>
        <p14:section name="Close" id="{d518cc6e-edbf-349a-3f99-5e628258fcf5}">
          <p14:sldIdLst>
            <p14:sldId id="272"/>
          </p14:sldIdLst>
        </p14:section>
        <p14:section name="Answers" id="{32ec935b-4660-6749-c429-9029050e400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Two earthquakes, two worlds: Chile 2010 and Nepal 2015. Primary and secondary effects, immediate and long-term responses, the two case studies the exam expects you to compare, and why a weaker earthquake killed far more people in the poorer country.
This deck covers the department's lessons: 7 (Effects of earthquakes: case studies Chile 2010 and Nepal 2015: What were the primary and secondary effects of the Chile and Nepal earthquakes, and which country is the HIC and which the LIC?); 8 (Responses to earthquakes and why the effects differed: Chile and Nepal: How did Chile and Nepal respond, and why was the lower-magnitude earthquake far deadlier?).
Read the big question aloud: "Why do tectonic hazards hurt some places far more than others, and how far can people reduce the risk?"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secondary effect of an earthquake?  →  C   An outbreak of cholera in the weeks after the shaking
2. Search and rescue, temporary shelters and medical supplies are examples of ___ responses.  →  immediate
3. What was the magnitude of the Chile 2010 earthquake on the Richter scale?  →  8.8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An outbreak of cholera in the weeks after the shaking. A cholera outbreak is caused by the primary effects (broken water supplies, crowded camps), so it is a secondary effect. The other three happen immediately, in the shaking: primary effects.
2. immediate. Immediate (short-term) responses are the help given just after the hazard to reduce its primary effects. Rebuilding homes and roads is a long-term response.
3. 8.8. Chile 2010 was magnitude 8.8, at the destructive margin where the Nazca plate subducts under the South American plate.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HIC: a high income country, a wealthy country such as Chile or Japan. Example: "Chile is an HIC with strong building standards."
• LIC: a low income country, a poor country such as Nepal. Example: "Nepal is an LIC that could not afford earthquake-proof buildings."
• case study: a real example you learn in detail to use in exam answers. Example: "Chile 2010 and Nepal 2015 are your two earthquake case studies."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effect: something the hazard does to people, property or the environment. Example: "Collapsed buildings were the worst effect in Nepal."
• response: the help given after a hazard to reduce its effects. Example: "Search and rescue is an immediate response."
• recovery: getting back to normal life after a hazard. Example: "Chile's recovery was quicker because it is wealthier."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Earthquake effects can be primary or secondary.
2. Primary effects happen immediately, like buildings collapsing.
3. Secondary effects are caused by the primary effects, like a tsunami or disease.
4. Responses are the help given after a hazard.
5. Immediate responses come straight away: search and rescue, shelters and medical supplies.
6. Long-term responses take months or years: rebuilding homes, roads and schools.
7. Chile is an HIC. Its earthquake in 2010 was magnitude 8.8.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About 500 people died and the damage cost 30 billion dollars.
9. Nepal is an LIC. Its earthquake in 2015 was magnitude 7.9.
10. About 9000 people died and the damage cost 5 billion dollars.
11. The weaker earthquake killed far more people.
12. Chile could afford strong buildings and planning. Nepal could not.
13. Wealth makes the biggest difference to how badly a country is hurt.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Primary and secondary effects. Say it in your own words, then check understanding with a quick question: ask a pupil from the pre-teach group first, since they met these words and ideas before the lesson. Pupils try to recall before you re-explain.
The effects of an earthquake are everything it does to people, property and the environment. Primary effects happen immediately, when the earthquake occurs: the ground shakes, buildings and bridges collapse, roads crack, people are killed and injured by falling masonry. Secondary effects are caused by the primary effects, and they follow afterwards: a tsunami set off by the shaking, landslides from loosened slopes, fires from broken gas pipes, liquefaction of soft ground, disease spreading in crowded camps, businesses and tourism losing income. As a rule, secondary effects make the earthquake last longer, and some of them, a tsunami above all, carry its damage far beyond the area that was shaken.
Geographers also sort effects into social (people: deaths, injuries, homelessness), economic (money: buildings, businesses, the cost of damage) and environmental (land and water: landslides, pollution, cracked ground). Your mind-map task used both sortings at once: primary social, primary economic, primary environmental, then the same three for secondary effects.
Your lesson gave four examples of where primary and secondary effects were each more significant. In Japan 2011 it was not the shaking but the secondary tsunami that did most of the killing, with almost 20,000 deaths along the east coast. In Haiti 2010 a cholera outbreak followed the earthquake, but most deaths came from collapsing buildings, a primary effect. In Christchurch, New Zealand, in 2011, 181 people died, most from collapsing buildings, yet the longer disruption came from the secondary effect of liquefaction, which killed no one but drove more than 70,000 people out of the city. At Kaikoura, New Zealand, only two people died, but landslides and a tsunami closed the coast road and railway for months, with a lasting economic impact.
Tip: Primary: in the moment, by the shaking. Secondary: afterwards, because of the primary effects. If you can put the word because before it, it is probably secondary.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Immediate and long-term responses. Say it in your own words, then check understanding with a quick question: ask a pupil from the pre-teach group first, since they met these words and ideas before the lesson. Pupils try to recall before you re-explain.
Responses are the help made available after a hazard to reduce its effects. Immediate (short-term) responses are the help given just after the hazard, aimed at the primary effects: search and rescue teams digging survivors out of rubble, temporary shelters for people whose homes have gone, medical supplies and field hospitals, food and clean water, restoring power and communications where possible.
Long-term responses are the help provided over weeks, months and years to recover from the losses, mostly the secondary effects: rebuilding damaged homes, factories, roads, schools and hospitals, restoring electricity and water supplies permanently, bringing businesses and tourism back, and often rebuilding to higher standards so that the next earthquake does less damage.
Your case-study worksheet had one row for each: location, causes, primary effects, secondary effects, immediate response, long-term response, for Chile and again for Nepal. The stretch task asked for the most important immediate and long-term response in your own opinion. There is no single right answer, but a strong one explains why: for example, search and rescue saves the most lives in the first days, while rebuilding to earthquake-proof standards saves the most lives in the long run.
Tip: Match the response to the effect: immediate responses tackle primary effects; long-term responses recover from secondary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Chile 2010 and Nepal 2015. Say it in your own words, then check understanding with a quick question: ask a pupil from the pre-teach group first, since they met these words and ideas before the lesson. Pupils try to recall before you re-explain.
Chile, on the west coast of South America, is a high income country (HIC). Its earthquake in 2010 was caused by the Nazca plate subducting under the South American plate at a destructive margin, and it measured 8.8 on the Richter scale, one of the most powerful earthquakes ever recorded. About 500 people died. The cost of the damage was around 30 billion US dollars. Chile lost power, water supply and communications too, but as the richer country it put them back faster and suffered fewer knock-on effects.
Nepal, in the Himalayas between India and China, is a low income country (LIC). Its earthquake in 2015 was caused by the collision of the Indo-Australian plate with the Eurasian plate, and it measured 7.9. About 9000 people died. The cost of the damage was around 5 billion US dollars. Nepal also lost power, water and communications, but many of its buildings were not earthquake-proof, there was little temporary housing to prevent homelessness, and recovery has taken far longer.
Set the two side by side and the lesson is stark. The Chile earthquake was 0.9 higher on the Richter scale, yet it killed about one eighteenth as many people. The damage bill was six times higher in Chile, because it costs far more to rebuild high-standard buildings. Magnitude did not decide the death toll; development did.
Worked example — model it step by step, thinking aloud: Chile 2010: magnitude 8.8, about 500 deaths, damage 30 billion dollars. Nepal 2015: magnitude 7.9, about 9000 deaths, damage 5 billion dollars. Compare the two earthquakes using figures. (1) Magnitude: 8.8 − 7.9 = 0.9. Chile's earthquake was 0.9 higher on the Richter scale, so it was the more powerful. (2) Deaths: 9000 ÷ 500 = 18. Eighteen times as many people died in Nepal as in Chile. (3) Cost: 30 ÷ 5 = 6. The damage in Chile cost six times as much as in Nepal, because its buildings were more expensive to replace. (4) Comment: the stronger earthquake caused fewer deaths but a higher bill. Wealth protected people in Chile; poverty exposed them in Nepal. Answer: Chile was 0.9 higher in magnitude; Nepal had 18 times the deaths; Chile had 6 times the damage cost..
Tip: For each case study learn four numbers: the year, the magnitude, the deaths and the cost. Then you can compare in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Chile 2010 and Nepal 2015. Say it in your own words, then check understanding with a quick question: ask a pupil from the pre-teach group first, since they met these words and ideas before the lesson. Pupils try to recall before you re-explain.
Chile, on the west coast of South America, is a high income country (HIC). Its earthquake in 2010 was caused by the Nazca plate subducting under the South American plate at a destructive margin, and it measured 8.8 on the Richter scale, one of the most powerful earthquakes ever recorded. About 500 people died. The cost of the damage was around 30 billion US dollars. Chile lost power, water supply and communications too, but as the richer country it put them back faster and suffered fewer knock-on effects.
Nepal, in the Himalayas between India and China, is a low income country (LIC). Its earthquake in 2015 was caused by the collision of the Indo-Australian plate with the Eurasian plate, and it measured 7.9. About 9000 people died. The cost of the damage was around 5 billion US dollars. Nepal also lost power, water and communications, but many of its buildings were not earthquake-proof, there was little temporary housing to prevent homelessness, and recovery has taken far longer.
Set the two side by side and the lesson is stark. The Chile earthquake was 0.9 higher on the Richter scale, yet it killed about one eighteenth as many people. The damage bill was six times higher in Chile, because it costs far more to rebuild high-standard buildings. Magnitude did not decide the death toll; development did.
Worked example — model it step by step, thinking aloud: Chile 2010: magnitude 8.8, about 500 deaths, damage 30 billion dollars. Nepal 2015: magnitude 7.9, about 9000 deaths, damage 5 billion dollars. Compare the two earthquakes using figures. (1) Magnitude: 8.8 − 7.9 = 0.9. Chile's earthquake was 0.9 higher on the Richter scale, so it was the more powerful. (2) Deaths: 9000 ÷ 500 = 18. Eighteen times as many people died in Nepal as in Chile. (3) Cost: 30 ÷ 5 = 6. The damage in Chile cost six times as much as in Nepal, because its buildings were more expensive to replace. (4) Comment: the stronger earthquake caused fewer deaths but a higher bill. Wealth protected people in Chile; poverty exposed them in Nepal. Answer: Chile was 0.9 higher in magnitude; Nepal had 18 times the deaths; Chile had 6 times the damage cost..
Tip: For each case study learn four numbers: the year, the magnitude, the deaths and the cost. Then you can compare in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Chile 2010 and Nepal 2015. Say it in your own words, then check understanding with a quick question: ask a pupil from the pre-teach group first, since they met these words and ideas before the lesson. Pupils try to recall before you re-explain.
Chile, on the west coast of South America, is a high income country (HIC). Its earthquake in 2010 was caused by the Nazca plate subducting under the South American plate at a destructive margin, and it measured 8.8 on the Richter scale, one of the most powerful earthquakes ever recorded. About 500 people died. The cost of the damage was around 30 billion US dollars. Chile lost power, water supply and communications too, but as the richer country it put them back faster and suffered fewer knock-on effects.
Nepal, in the Himalayas between India and China, is a low income country (LIC). Its earthquake in 2015 was caused by the collision of the Indo-Australian plate with the Eurasian plate, and it measured 7.9. About 9000 people died. The cost of the damage was around 5 billion US dollars. Nepal also lost power, water and communications, but many of its buildings were not earthquake-proof, there was little temporary housing to prevent homelessness, and recovery has taken far longer.
Set the two side by side and the lesson is stark. The Chile earthquake was 0.9 higher on the Richter scale, yet it killed about one eighteenth as many people. The damage bill was six times higher in Chile, because it costs far more to rebuild high-standard buildings. Magnitude did not decide the death toll; development did.
Worked example — model it step by step, thinking aloud: Chile 2010: magnitude 8.8, about 500 deaths, damage 30 billion dollars. Nepal 2015: magnitude 7.9, about 9000 deaths, damage 5 billion dollars. Compare the two earthquakes using figures. (1) Magnitude: 8.8 − 7.9 = 0.9. Chile's earthquake was 0.9 higher on the Richter scale, so it was the more powerful. (2) Deaths: 9000 ÷ 500 = 18. Eighteen times as many people died in Nepal as in Chile. (3) Cost: 30 ÷ 5 = 6. The damage in Chile cost six times as much as in Nepal, because its buildings were more expensive to replace. (4) Comment: the stronger earthquake caused fewer deaths but a higher bill. Wealth protected people in Chile; poverty exposed them in Nepal. Answer: Chile was 0.9 higher in magnitude; Nepal had 18 times the deaths; Chile had 6 times the damage cost..
Tip: For each case study learn four numbers: the year, the magnitude, the deaths and the cost. Then you can compare in every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the effects were so different. Say it in your own words, then check understanding with a quick question: ask a pupil from the pre-teach group first, since they met these words and ideas before the lesson. Pupils try to recall before you re-explain.
Nobody makes an earthquake happen: the shaking comes from processes in the crust that no one controls. It turns into a hazard only where people and property are in its way, so what decides the severity of the effects is where people live and how well they and their buildings are protected. The clearest link is with wealth. Earthquakes themselves rarely kill; collapsing buildings do. An HIC such as Chile can afford buildings with reinforced concrete columns and steel frames that stay standing, and can plan, prepare and protect, so it sees far fewer deaths. An LIC such as Nepal cannot afford to reinforce its buildings or to provide temporary housing, so the same shaking brings down homes and leaves people homeless.
Wealth also decides the speed of recovery. A country that already enjoyed a higher quality of life before the earthquake has the money, equipment and organisation to rebuild quickly, so secondary effects are fewer and shorter. A poorer country recovers slowly, and the secondary effects, homelessness, disease, lost income, stretch out for years.
Wealth is the biggest factor but not the only one. A densely populated area, or one close to the epicentre, will suffer more deaths if its buildings are not protected. A shallow focus does more damage than a deep one. And if a government is corrupt, so that money is not spent on planning, preparation and protection, even a rich country can suffer severe effects. Your nine-mark answer should say that wealth matters most, and then weigh the other factors against it.
Tip: The exam phrase is contrasting levels of wealth. Name the HIC and the LIC, give a figure for each, then add one other factor such as population density or distance from the epicentre.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a case study.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case-study heading to the example that belongs under it.
Support — work through the steps with the group: (1) Two headings are effects (what the earthquake does); two are responses (what people do about it). (2) An effect that happens in the shaking is primary; one caused by it afterwards is secondary. (3) A response in the first hours and days is immediate; one over months and years is long-term. (4) Look for time words in each example: as the ground shakes, hours later, following years.
Parallel worked example for Support (model it, do not give the task answer): Sort: a landslide blocks a mountain road two days after the earthquake; a field hospital treats the injured on the first night. Choices: secondary effect; immediate response. The landslide is caused by the shaking and comes later, so it is a secondary effect.; The field hospital is help on the first night, so it is an immediate response.. Answer: Landslide: secondary effect. Field hospital: immediate response..
Core — reveal the hint only on request: Effects are what happens; responses are what people do. Then ask: straight away, or later?
Stretch — no help; when finished: Explain why a long-term response such as rebuilding to higher standards is also a form of protection against the next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a case study.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case-study heading to the example that belongs under it.
Support — work through the steps with the group: (1) Two headings are effects (what the earthquake does); two are responses (what people do about it). (2) An effect that happens in the shaking is primary; one caused by it afterwards is secondary. (3) A response in the first hours and days is immediate; one over months and years is long-term. (4) Look for time words in each example: as the ground shakes, hours later, following years.
Parallel worked example for Support (model it, do not give the task answer): Sort: a landslide blocks a mountain road two days after the earthquake; a field hospital treats the injured on the first night. Choices: secondary effect; immediate response. The landslide is caused by the shaking and comes later, so it is a secondary effect.; The field hospital is help on the first night, so it is an immediate response.. Answer: Landslide: secondary effect. Field hospital: immediate response..
Core — reveal the hint only on request: Effects are what happens; responses are what people do. Then ask: straight away, or later?
Stretch — no help; when finished: Explain why a long-term response such as rebuilding to higher standards is also a form of protection against the next earthquake.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cost of the damage.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damage from the Chile 2010 earthquake cost about 30 billion US dollars; the damage in Nepal 2015 cost about 5 billion. How many billion dollars more did the damage cost in Chile than in Nepal?
Support — work through the steps with the group: (1) Write the larger cost first: 30 billion. (2) Subtract the smaller: 30 − 5. (3) 30 − 5 = 25. Keep the units: billion dollars. (4) Check it makes sense: Chile's bill should be much bigger, and 25 billion more is.
Parallel worked example for Support (model it, do not give the task answer): One earthquake caused 12 billion dollars of damage and another 4 billion. How many billion dollars more did the first cost? Larger minus smaller: 12 − 4.; 12 − 4 = 8 billion dollars.. Answer: 8 billion dollars.
Core — reveal the hint only on request: How many more means subtract. Larger cost minus smaller cost.
Stretch — no help; when finished: Explain why the cost of damage in dollars is a poor way to compare how badly two countries were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secondary effect of an earthquake?
Answer: B   An outbreak of cholera in the weeks after the shaking. A cholera outbreak is caused by the primary effects (broken water supplies, crowded camps), so it is a secondary effect. The other three happen immediately, in the shaking: primary effects.
Source of this question: gate item 1 re-asked (options rotated) — this chapter has no third quick-check module.
The ebook also holds task 3, "The weaker earthquake that killed more",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Sorting a case study. Reveal the answer; pupils mark their own work in a different colour, then read the "why" together. Same destination for every lane, so one answer serves the whole class.
Answer: Primary effect  →  A  Homes collapse as the ground shakes, killing and injuring people inside; Secondary effect  →  B  A tsunami set off by the shaking floods the coast hours later; Immediate response  →  D  Rescue teams search the rubble and set up temporary shelters; Long-term response  →  C  Homes, schools and roads are rebuilt to higher standards over the following years
Why: Primary effect: collapse in the shaking. Secondary effect: the tsunami caused by it. Immediate response: search, rescue and shelter. Long-term response: rebuilding over years.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cost of the damage. Reveal the answer; pupils mark their own work in a different colour, then read the "why" together. Same destination for every lane, so one answer serves the whole class.
Answer: 25 billion dollars
Why: 30 − 5 = 25 billion dollars. Chile's bill was higher because its buildings and infrastructure were worth more and cost more to replace; the human toll was far lower.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An outbreak of cholera in the weeks after the shaking
Why: A cholera outbreak is caused by the primary effects (broken water supplies, crowded camps), so it is a secondary effect. The other three happen immediately, in the shaking: primary effects.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Tectonic Hazards · AQA 8035</a:t>
            </a:r>
            <a:endParaRPr lang="en-US" sz="1800" dirty="0"/>
          </a:p>
        </p:txBody>
      </p:sp>
      <p:sp>
        <p:nvSpPr>
          <p:cNvPr id="10" name="deck-title"/>
          <p:cNvSpPr txBox="1"/>
          <p:nvPr/>
        </p:nvSpPr>
        <p:spPr>
          <a:xfrm>
            <a:off x="548640" y="210743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Two earthquakes, two worlds: Chile 2010 and Nepal 2015</a:t>
            </a:r>
            <a:endParaRPr lang="en-US" sz="2800" dirty="0"/>
          </a:p>
        </p:txBody>
      </p:sp>
      <p:sp>
        <p:nvSpPr>
          <p:cNvPr id="11" name="lessons-card"/>
          <p:cNvSpPr/>
          <p:nvPr/>
        </p:nvSpPr>
        <p:spPr>
          <a:xfrm>
            <a:off x="548640" y="3387598"/>
            <a:ext cx="5287975" cy="1948180"/>
          </a:xfrm>
          <a:prstGeom prst="roundRect">
            <a:avLst>
              <a:gd name="adj" fmla="val 3755"/>
            </a:avLst>
          </a:prstGeom>
          <a:solidFill>
            <a:srgbClr val="E2E9E4"/>
          </a:solidFill>
          <a:ln/>
        </p:spPr>
      </p:sp>
      <p:sp>
        <p:nvSpPr>
          <p:cNvPr id="12" name="lessons"/>
          <p:cNvSpPr txBox="1"/>
          <p:nvPr/>
        </p:nvSpPr>
        <p:spPr>
          <a:xfrm>
            <a:off x="685800" y="347903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Effects of earthquakes: case studies Chile 2010 and Nepal 2015</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Responses to earthquakes and why the effects differed: Chile and Nepal</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Why do tectonic hazards hurt some places far more than others, and how far can people reduce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secondary effect of an earthquake?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People injured by falling masonry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Buildings collapsing as the ground shakes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outbreak of cholera in the weeks after the shaking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Roads cracking during the earthquake</a:t>
            </a:r>
            <a:endParaRPr lang="en-US" sz="18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Search and rescue, temporary shelters and medical supplies are examples of ___ responses.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immediate  ·  long-term  ·  secondary</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was the magnitude of the Chile 2010 earthquake on the Richter scale?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An outbreak of cholera in the weeks after the shaking</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cholera outbreak is caused by the primary effects (broken water supplies, crowded camps), so it is a secondary effect. The other three happen immediately, in the shaking: primary effects.</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immediate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Immediate (short-term) responses are the help given just after the hazard to reduce its primary effects. Rebuilding homes and roads is a long-term response.</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8.8</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was the magnitude of the Chile 2010 earthquake on the Richter scale?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Chile 2010 was magnitude 8.8, at the destructive margin where the Nazca plate subducts under the South American plate.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HIC</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high income country, a wealthy country such as Chile or Japan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Chile is an HIC with strong building standards.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LIC</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low income country, a poor country such as Nepal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Nepal is an LIC that could not afford earthquake-proof buildings.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case study</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real example you learn in detail to use in exam answers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Chile 2010 and Nepal 2015 are your two earthquake case studies.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effect</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the hazard does to people, property or the environment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Collapsed buildings were the worst effect in Nepal.</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response</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help given after a hazard to reduce its effects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Search and rescue is an immediate response.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recovery</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getting back to normal life after a hazard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Chile's recovery was quicker because it is wealthier.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Earthquake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can be primary or secondary.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Primary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happen immediately, like buildings collapsing.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Secondary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caused by the primary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effects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like a tsunami or disease.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Responses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the help given after a hazard.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Immediate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responses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come straight away: search and rescue, shelters and medical supplies.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Long-term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responses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take months or years: rebuilding homes, roads and schools.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Chile is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Its earthquake in 2010 was magnitude 8.8.</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500 people died and the damage cost 30 billion dollars.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Nepal is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Its earthquake in 2015 was magnitude 7.9.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9000 people died and the damage cost 5 billion dollars.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weaker earthquake killed far more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Chile could afford strong buildings and planning. Nepal could not.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Wealth makes the biggest difference to how badly a country is hurt.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Primary and secondary effects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Primary: in the moment, by the shaking. Secondary: afterwards, because of the primary effects. If you can put the word because before it, it is probably secondary.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effects of an earthquake are everything it does to people, property and the environment.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Geographers also sort effects into social (people: deaths, injuries, homelessness), economic (money: buildings, businesses, the cost of damage) and environmental (land and water: landslides, pollution, cracked ground).</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gave four examples of where primary and secondary effects were each more significant.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Immediate and long-term responses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Match the response to the effect: immediate responses tackle primary effects; long-term responses recover from secondary effects.</a:t>
            </a:r>
            <a:endParaRPr lang="en-US" sz="1800" dirty="0"/>
          </a:p>
        </p:txBody>
      </p:sp>
      <p:sp>
        <p:nvSpPr>
          <p:cNvPr id="11" name="bullet-card"/>
          <p:cNvSpPr/>
          <p:nvPr/>
        </p:nvSpPr>
        <p:spPr>
          <a:xfrm>
            <a:off x="548640" y="1389888"/>
            <a:ext cx="11094415" cy="804672"/>
          </a:xfrm>
          <a:prstGeom prst="roundRect">
            <a:avLst>
              <a:gd name="adj" fmla="val 9091"/>
            </a:avLst>
          </a:prstGeom>
          <a:solidFill>
            <a:srgbClr val="E6ECE7"/>
          </a:solidFill>
          <a:ln/>
        </p:spPr>
      </p:sp>
      <p:sp>
        <p:nvSpPr>
          <p:cNvPr id="12" name="bullet-hex"/>
          <p:cNvSpPr/>
          <p:nvPr/>
        </p:nvSpPr>
        <p:spPr>
          <a:xfrm>
            <a:off x="676656" y="1625931"/>
            <a:ext cx="384048" cy="332586"/>
          </a:xfrm>
          <a:prstGeom prst="hexagon">
            <a:avLst/>
          </a:prstGeom>
          <a:solidFill>
            <a:srgbClr val="3F6B4A"/>
          </a:solidFill>
          <a:ln/>
        </p:spPr>
      </p:sp>
      <p:sp>
        <p:nvSpPr>
          <p:cNvPr id="13" name="bullet"/>
          <p:cNvSpPr txBox="1"/>
          <p:nvPr/>
        </p:nvSpPr>
        <p:spPr>
          <a:xfrm>
            <a:off x="1143000" y="1389888"/>
            <a:ext cx="10408615" cy="80467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Responses are the help made available after a hazard to reduce its effects.</a:t>
            </a:r>
            <a:endParaRPr lang="en-US" sz="2000" dirty="0"/>
          </a:p>
        </p:txBody>
      </p:sp>
      <p:sp>
        <p:nvSpPr>
          <p:cNvPr id="14" name="bullet-card"/>
          <p:cNvSpPr/>
          <p:nvPr/>
        </p:nvSpPr>
        <p:spPr>
          <a:xfrm>
            <a:off x="548640" y="2340864"/>
            <a:ext cx="11094415" cy="1604264"/>
          </a:xfrm>
          <a:prstGeom prst="roundRect">
            <a:avLst>
              <a:gd name="adj" fmla="val 4560"/>
            </a:avLst>
          </a:prstGeom>
          <a:solidFill>
            <a:srgbClr val="E6ECE7"/>
          </a:solidFill>
          <a:ln/>
        </p:spPr>
      </p:sp>
      <p:sp>
        <p:nvSpPr>
          <p:cNvPr id="15" name="bullet-hex"/>
          <p:cNvSpPr/>
          <p:nvPr/>
        </p:nvSpPr>
        <p:spPr>
          <a:xfrm>
            <a:off x="676656" y="2976703"/>
            <a:ext cx="384048" cy="332586"/>
          </a:xfrm>
          <a:prstGeom prst="hexagon">
            <a:avLst/>
          </a:prstGeom>
          <a:solidFill>
            <a:srgbClr val="B8862B"/>
          </a:solidFill>
          <a:ln/>
        </p:spPr>
      </p:sp>
      <p:sp>
        <p:nvSpPr>
          <p:cNvPr id="16" name="bullet"/>
          <p:cNvSpPr txBox="1"/>
          <p:nvPr/>
        </p:nvSpPr>
        <p:spPr>
          <a:xfrm>
            <a:off x="1143000" y="2340864"/>
            <a:ext cx="10408615" cy="160426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Long-term responses are the help provided over weeks, months and years to recover from the losses, mostly the secondary effects: rebuilding damaged homes, factories, roads, schools and hospitals, restoring electricity and water supplies permanently, bringing businesses and tourism back, and often rebuilding to higher standards so that the next earthquake does less damage.</a:t>
            </a:r>
            <a:endParaRPr lang="en-US" sz="2000" dirty="0"/>
          </a:p>
        </p:txBody>
      </p:sp>
      <p:sp>
        <p:nvSpPr>
          <p:cNvPr id="17" name="bullet-card"/>
          <p:cNvSpPr/>
          <p:nvPr/>
        </p:nvSpPr>
        <p:spPr>
          <a:xfrm>
            <a:off x="548640" y="4091432"/>
            <a:ext cx="11094415" cy="984504"/>
          </a:xfrm>
          <a:prstGeom prst="roundRect">
            <a:avLst>
              <a:gd name="adj" fmla="val 7430"/>
            </a:avLst>
          </a:prstGeom>
          <a:solidFill>
            <a:srgbClr val="E6ECE7"/>
          </a:solidFill>
          <a:ln/>
        </p:spPr>
      </p:sp>
      <p:sp>
        <p:nvSpPr>
          <p:cNvPr id="18" name="bullet-hex"/>
          <p:cNvSpPr/>
          <p:nvPr/>
        </p:nvSpPr>
        <p:spPr>
          <a:xfrm>
            <a:off x="676656" y="4417391"/>
            <a:ext cx="384048" cy="332586"/>
          </a:xfrm>
          <a:prstGeom prst="hexagon">
            <a:avLst/>
          </a:prstGeom>
          <a:solidFill>
            <a:srgbClr val="3F6B4A"/>
          </a:solidFill>
          <a:ln/>
        </p:spPr>
      </p:sp>
      <p:sp>
        <p:nvSpPr>
          <p:cNvPr id="19" name="bullet"/>
          <p:cNvSpPr txBox="1"/>
          <p:nvPr/>
        </p:nvSpPr>
        <p:spPr>
          <a:xfrm>
            <a:off x="1143000" y="4091432"/>
            <a:ext cx="10408615" cy="984504"/>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Your case-study worksheet had one row for each: location, causes, primary effects, secondary effects, immediate response, long-term response, for Chile and again for Nepal.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Chile 2010 and Nepal 2015</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each case study learn four numbers: the year, the magnitude, the deaths and the cost. Then you can compare in every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Chile, on the west coast of South America, is a high income country (HIC).</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Nepal, in the Himalayas between India and China, is a low income country (LIC).</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Set the two side by side and the lesson is stark.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(1 of 2): Chile 2010 and Nepal 2015</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2E9E4"/>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Chile 2010: magnitude 8.8, about 500 deaths, damage 30 billion dollars. Nepal 2015: magnitude 7.9, about 9000 deaths, damage 5 billion dollars. Compare the two earthquakes using figures.</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Magnitude: 8.8 − 7.9 = 0.9. Chile's earthquake was 0.9 higher on the Richter scale, so it was the more powerful.</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106420"/>
            <a:ext cx="530352" cy="459285"/>
          </a:xfrm>
          <a:prstGeom prst="hexagon">
            <a:avLst/>
          </a:prstGeom>
          <a:solidFill>
            <a:srgbClr val="3F6B4A"/>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Deaths: 9000 ÷ 500 = 18. Eighteen times as many people died in Nepal as in Chile.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(2 of 2): Chile 2010 and Nepal 2015</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E2E9E4"/>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Chile 2010: magnitude 8.8, about 500 deaths, damage 30 billion dollars. Nepal 2015: magnitude 7.9, about 9000 deaths, damage 5 billion dollars. Compare the two earthquakes using figures.</a:t>
            </a:r>
            <a:endParaRPr lang="en-US" sz="2200" dirty="0"/>
          </a:p>
        </p:txBody>
      </p:sp>
      <p:sp>
        <p:nvSpPr>
          <p:cNvPr id="9" name="step-box"/>
          <p:cNvSpPr/>
          <p:nvPr/>
        </p:nvSpPr>
        <p:spPr>
          <a:xfrm>
            <a:off x="548640" y="2996692"/>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106420"/>
            <a:ext cx="530352" cy="459285"/>
          </a:xfrm>
          <a:prstGeom prst="hexagon">
            <a:avLst/>
          </a:prstGeom>
          <a:solidFill>
            <a:srgbClr val="3F6B4A"/>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Cost: 30 ÷ 5 = 6. The damage in Chile cost six times as much as in Nepal, because its buildings were more expensive to replace.</a:t>
            </a:r>
            <a:endParaRPr lang="en-US" sz="1800" dirty="0"/>
          </a:p>
        </p:txBody>
      </p:sp>
      <p:sp>
        <p:nvSpPr>
          <p:cNvPr id="13" name="arrow"/>
          <p:cNvSpPr/>
          <p:nvPr/>
        </p:nvSpPr>
        <p:spPr>
          <a:xfrm>
            <a:off x="5963260" y="3707130"/>
            <a:ext cx="274320" cy="274320"/>
          </a:xfrm>
          <a:prstGeom prst="rightArrow">
            <a:avLst/>
          </a:prstGeom>
          <a:solidFill>
            <a:srgbClr val="B8862B"/>
          </a:solidFill>
          <a:ln/>
        </p:spPr>
      </p:sp>
      <p:sp>
        <p:nvSpPr>
          <p:cNvPr id="14" name="step-box"/>
          <p:cNvSpPr/>
          <p:nvPr/>
        </p:nvSpPr>
        <p:spPr>
          <a:xfrm>
            <a:off x="6301588" y="2996692"/>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106420"/>
            <a:ext cx="530352" cy="459285"/>
          </a:xfrm>
          <a:prstGeom prst="hexagon">
            <a:avLst/>
          </a:prstGeom>
          <a:solidFill>
            <a:srgbClr val="3F6B4A"/>
          </a:solidFill>
          <a:ln/>
        </p:spPr>
      </p:sp>
      <p:sp>
        <p:nvSpPr>
          <p:cNvPr id="16" name="step-hex-label"/>
          <p:cNvSpPr txBox="1"/>
          <p:nvPr/>
        </p:nvSpPr>
        <p:spPr>
          <a:xfrm>
            <a:off x="643874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591052"/>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Comment: the stronger earthquake caused fewer deaths but a higher bill. Wealth protected people in Chile; poverty exposed them in Nepal.</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Chile was 0.9 higher in magnitude; Nepal had 18 times the deaths; Chile had 6 times the damage cost.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the effects were so different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exam phrase is contrasting levels of wealth. Name the HIC and the LIC, give a figure for each, then add one other factor such as population density or distance from the epicentre.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Nobody makes an earthquake happen: the shaking comes from processes in the crust that no one controls.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Wealth also decides the speed of recovery. A country that already enjoyed a higher quality of life before the earthquake has the money, equipment and organisation to rebuild quickly, so secondary effects are fewer and shorter.</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Wealth is the biggest factor but not the only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Sorting a case study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case-study heading to the example that belongs under it.</a:t>
            </a:r>
            <a:endParaRPr lang="en-US" sz="2200" dirty="0"/>
          </a:p>
        </p:txBody>
      </p:sp>
      <p:sp>
        <p:nvSpPr>
          <p:cNvPr id="11" name="match-card"/>
          <p:cNvSpPr/>
          <p:nvPr/>
        </p:nvSpPr>
        <p:spPr>
          <a:xfrm>
            <a:off x="777240" y="2468331"/>
            <a:ext cx="3081437" cy="877199"/>
          </a:xfrm>
          <a:prstGeom prst="roundRect">
            <a:avLst>
              <a:gd name="adj" fmla="val 8339"/>
            </a:avLst>
          </a:prstGeom>
          <a:solidFill>
            <a:srgbClr val="E6ECE7"/>
          </a:solidFill>
          <a:ln/>
        </p:spPr>
      </p:sp>
      <p:sp>
        <p:nvSpPr>
          <p:cNvPr id="12" name="match-hex"/>
          <p:cNvSpPr/>
          <p:nvPr/>
        </p:nvSpPr>
        <p:spPr>
          <a:xfrm>
            <a:off x="850392" y="2740638"/>
            <a:ext cx="384048" cy="332586"/>
          </a:xfrm>
          <a:prstGeom prst="hexagon">
            <a:avLst/>
          </a:prstGeom>
          <a:solidFill>
            <a:srgbClr val="3F6B4A"/>
          </a:solidFill>
          <a:ln/>
        </p:spPr>
      </p:sp>
      <p:sp>
        <p:nvSpPr>
          <p:cNvPr id="13" name="match-hex-label"/>
          <p:cNvSpPr txBox="1"/>
          <p:nvPr/>
        </p:nvSpPr>
        <p:spPr>
          <a:xfrm>
            <a:off x="850392"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Primary effect</a:t>
            </a:r>
            <a:endParaRPr lang="en-US" sz="2000" dirty="0"/>
          </a:p>
        </p:txBody>
      </p:sp>
      <p:sp>
        <p:nvSpPr>
          <p:cNvPr id="15" name="match-card"/>
          <p:cNvSpPr/>
          <p:nvPr/>
        </p:nvSpPr>
        <p:spPr>
          <a:xfrm>
            <a:off x="4224437" y="2468331"/>
            <a:ext cx="7190019" cy="877199"/>
          </a:xfrm>
          <a:prstGeom prst="roundRect">
            <a:avLst>
              <a:gd name="adj" fmla="val 8339"/>
            </a:avLst>
          </a:prstGeom>
          <a:solidFill>
            <a:srgbClr val="F3EADB"/>
          </a:solidFill>
          <a:ln/>
        </p:spPr>
      </p:sp>
      <p:sp>
        <p:nvSpPr>
          <p:cNvPr id="16" name="match-hex"/>
          <p:cNvSpPr/>
          <p:nvPr/>
        </p:nvSpPr>
        <p:spPr>
          <a:xfrm>
            <a:off x="4297589" y="2740638"/>
            <a:ext cx="384048" cy="332586"/>
          </a:xfrm>
          <a:prstGeom prst="hexagon">
            <a:avLst/>
          </a:prstGeom>
          <a:solidFill>
            <a:srgbClr val="B8862B"/>
          </a:solidFill>
          <a:ln/>
        </p:spPr>
      </p:sp>
      <p:sp>
        <p:nvSpPr>
          <p:cNvPr id="17" name="match-hex-label"/>
          <p:cNvSpPr txBox="1"/>
          <p:nvPr/>
        </p:nvSpPr>
        <p:spPr>
          <a:xfrm>
            <a:off x="4297589" y="274063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Homes collapse as the ground shakes, killing and injuring people inside</a:t>
            </a:r>
            <a:endParaRPr lang="en-US" sz="2000" dirty="0"/>
          </a:p>
        </p:txBody>
      </p:sp>
      <p:sp>
        <p:nvSpPr>
          <p:cNvPr id="19" name="match-card"/>
          <p:cNvSpPr/>
          <p:nvPr/>
        </p:nvSpPr>
        <p:spPr>
          <a:xfrm>
            <a:off x="777240" y="3436971"/>
            <a:ext cx="3081437" cy="587639"/>
          </a:xfrm>
          <a:prstGeom prst="roundRect">
            <a:avLst>
              <a:gd name="adj" fmla="val 12448"/>
            </a:avLst>
          </a:prstGeom>
          <a:solidFill>
            <a:srgbClr val="E6ECE7"/>
          </a:solidFill>
          <a:ln/>
        </p:spPr>
      </p:sp>
      <p:sp>
        <p:nvSpPr>
          <p:cNvPr id="20" name="match-hex"/>
          <p:cNvSpPr/>
          <p:nvPr/>
        </p:nvSpPr>
        <p:spPr>
          <a:xfrm>
            <a:off x="850392" y="3564497"/>
            <a:ext cx="384048" cy="332586"/>
          </a:xfrm>
          <a:prstGeom prst="hexagon">
            <a:avLst/>
          </a:prstGeom>
          <a:solidFill>
            <a:srgbClr val="3F6B4A"/>
          </a:solidFill>
          <a:ln/>
        </p:spPr>
      </p:sp>
      <p:sp>
        <p:nvSpPr>
          <p:cNvPr id="21" name="match-hex-label"/>
          <p:cNvSpPr txBox="1"/>
          <p:nvPr/>
        </p:nvSpPr>
        <p:spPr>
          <a:xfrm>
            <a:off x="850392"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436971"/>
            <a:ext cx="2487077"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Secondary effect</a:t>
            </a:r>
            <a:endParaRPr lang="en-US" sz="2000" dirty="0"/>
          </a:p>
        </p:txBody>
      </p:sp>
      <p:sp>
        <p:nvSpPr>
          <p:cNvPr id="23" name="match-card"/>
          <p:cNvSpPr/>
          <p:nvPr/>
        </p:nvSpPr>
        <p:spPr>
          <a:xfrm>
            <a:off x="4224437" y="3436971"/>
            <a:ext cx="7190019" cy="587639"/>
          </a:xfrm>
          <a:prstGeom prst="roundRect">
            <a:avLst>
              <a:gd name="adj" fmla="val 12448"/>
            </a:avLst>
          </a:prstGeom>
          <a:solidFill>
            <a:srgbClr val="F3EADB"/>
          </a:solidFill>
          <a:ln/>
        </p:spPr>
      </p:sp>
      <p:sp>
        <p:nvSpPr>
          <p:cNvPr id="24" name="match-hex"/>
          <p:cNvSpPr/>
          <p:nvPr/>
        </p:nvSpPr>
        <p:spPr>
          <a:xfrm>
            <a:off x="4297589" y="3564497"/>
            <a:ext cx="384048" cy="332586"/>
          </a:xfrm>
          <a:prstGeom prst="hexagon">
            <a:avLst/>
          </a:prstGeom>
          <a:solidFill>
            <a:srgbClr val="B8862B"/>
          </a:solidFill>
          <a:ln/>
        </p:spPr>
      </p:sp>
      <p:sp>
        <p:nvSpPr>
          <p:cNvPr id="25" name="match-hex-label"/>
          <p:cNvSpPr txBox="1"/>
          <p:nvPr/>
        </p:nvSpPr>
        <p:spPr>
          <a:xfrm>
            <a:off x="4297589" y="35644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436971"/>
            <a:ext cx="6595659"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tsunami set off by the shaking floods the coast hours later</a:t>
            </a:r>
            <a:endParaRPr lang="en-US" sz="2000" dirty="0"/>
          </a:p>
        </p:txBody>
      </p:sp>
      <p:sp>
        <p:nvSpPr>
          <p:cNvPr id="27" name="match-card"/>
          <p:cNvSpPr/>
          <p:nvPr/>
        </p:nvSpPr>
        <p:spPr>
          <a:xfrm>
            <a:off x="777240" y="4116050"/>
            <a:ext cx="3081437" cy="877199"/>
          </a:xfrm>
          <a:prstGeom prst="roundRect">
            <a:avLst>
              <a:gd name="adj" fmla="val 8339"/>
            </a:avLst>
          </a:prstGeom>
          <a:solidFill>
            <a:srgbClr val="E6ECE7"/>
          </a:solidFill>
          <a:ln/>
        </p:spPr>
      </p:sp>
      <p:sp>
        <p:nvSpPr>
          <p:cNvPr id="28" name="match-hex"/>
          <p:cNvSpPr/>
          <p:nvPr/>
        </p:nvSpPr>
        <p:spPr>
          <a:xfrm>
            <a:off x="850392" y="4388356"/>
            <a:ext cx="384048" cy="332586"/>
          </a:xfrm>
          <a:prstGeom prst="hexagon">
            <a:avLst/>
          </a:prstGeom>
          <a:solidFill>
            <a:srgbClr val="3F6B4A"/>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Immediate response</a:t>
            </a:r>
            <a:endParaRPr lang="en-US" sz="2000" dirty="0"/>
          </a:p>
        </p:txBody>
      </p:sp>
      <p:sp>
        <p:nvSpPr>
          <p:cNvPr id="31" name="match-card"/>
          <p:cNvSpPr/>
          <p:nvPr/>
        </p:nvSpPr>
        <p:spPr>
          <a:xfrm>
            <a:off x="4224437" y="4116050"/>
            <a:ext cx="7190019" cy="877199"/>
          </a:xfrm>
          <a:prstGeom prst="roundRect">
            <a:avLst>
              <a:gd name="adj" fmla="val 8339"/>
            </a:avLst>
          </a:prstGeom>
          <a:solidFill>
            <a:srgbClr val="F3EADB"/>
          </a:solidFill>
          <a:ln/>
        </p:spPr>
      </p:sp>
      <p:sp>
        <p:nvSpPr>
          <p:cNvPr id="32" name="match-hex"/>
          <p:cNvSpPr/>
          <p:nvPr/>
        </p:nvSpPr>
        <p:spPr>
          <a:xfrm>
            <a:off x="4297589" y="4388356"/>
            <a:ext cx="384048" cy="332586"/>
          </a:xfrm>
          <a:prstGeom prst="hexagon">
            <a:avLst/>
          </a:prstGeom>
          <a:solidFill>
            <a:srgbClr val="B8862B"/>
          </a:solidFill>
          <a:ln/>
        </p:spPr>
      </p:sp>
      <p:sp>
        <p:nvSpPr>
          <p:cNvPr id="33" name="match-hex-label"/>
          <p:cNvSpPr txBox="1"/>
          <p:nvPr/>
        </p:nvSpPr>
        <p:spPr>
          <a:xfrm>
            <a:off x="4297589"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116050"/>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Homes, schools and roads are rebuilt to higher standards over the following years</a:t>
            </a:r>
            <a:endParaRPr lang="en-US" sz="2000" dirty="0"/>
          </a:p>
        </p:txBody>
      </p:sp>
      <p:sp>
        <p:nvSpPr>
          <p:cNvPr id="35" name="match-card"/>
          <p:cNvSpPr/>
          <p:nvPr/>
        </p:nvSpPr>
        <p:spPr>
          <a:xfrm>
            <a:off x="777240" y="5084689"/>
            <a:ext cx="3081437" cy="877199"/>
          </a:xfrm>
          <a:prstGeom prst="roundRect">
            <a:avLst>
              <a:gd name="adj" fmla="val 8339"/>
            </a:avLst>
          </a:prstGeom>
          <a:solidFill>
            <a:srgbClr val="E6ECE7"/>
          </a:solidFill>
          <a:ln/>
        </p:spPr>
      </p:sp>
      <p:sp>
        <p:nvSpPr>
          <p:cNvPr id="36" name="match-hex"/>
          <p:cNvSpPr/>
          <p:nvPr/>
        </p:nvSpPr>
        <p:spPr>
          <a:xfrm>
            <a:off x="850392" y="5356996"/>
            <a:ext cx="384048" cy="332586"/>
          </a:xfrm>
          <a:prstGeom prst="hexagon">
            <a:avLst/>
          </a:prstGeom>
          <a:solidFill>
            <a:srgbClr val="3F6B4A"/>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2487077"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Long-term response</a:t>
            </a:r>
            <a:endParaRPr lang="en-US" sz="2000" dirty="0"/>
          </a:p>
        </p:txBody>
      </p:sp>
      <p:sp>
        <p:nvSpPr>
          <p:cNvPr id="39" name="match-card"/>
          <p:cNvSpPr/>
          <p:nvPr/>
        </p:nvSpPr>
        <p:spPr>
          <a:xfrm>
            <a:off x="4224437" y="5084689"/>
            <a:ext cx="7190019" cy="877199"/>
          </a:xfrm>
          <a:prstGeom prst="roundRect">
            <a:avLst>
              <a:gd name="adj" fmla="val 8339"/>
            </a:avLst>
          </a:prstGeom>
          <a:solidFill>
            <a:srgbClr val="F3EADB"/>
          </a:solidFill>
          <a:ln/>
        </p:spPr>
      </p:sp>
      <p:sp>
        <p:nvSpPr>
          <p:cNvPr id="40" name="match-hex"/>
          <p:cNvSpPr/>
          <p:nvPr/>
        </p:nvSpPr>
        <p:spPr>
          <a:xfrm>
            <a:off x="4297589" y="5356996"/>
            <a:ext cx="384048" cy="332586"/>
          </a:xfrm>
          <a:prstGeom prst="hexagon">
            <a:avLst/>
          </a:prstGeom>
          <a:solidFill>
            <a:srgbClr val="B8862B"/>
          </a:solidFill>
          <a:ln/>
        </p:spPr>
      </p:sp>
      <p:sp>
        <p:nvSpPr>
          <p:cNvPr id="41" name="match-hex-label"/>
          <p:cNvSpPr txBox="1"/>
          <p:nvPr/>
        </p:nvSpPr>
        <p:spPr>
          <a:xfrm>
            <a:off x="4297589"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84689"/>
            <a:ext cx="6595659"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Rescue teams search the rubble and set up temporary shelters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Sorting a case study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Sorting a case study</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headings are effects (what the earthquake does); two are responses (what people do about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An effect that happens in the shaking is primary; one caused by it afterwards is secondary.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response in the first hours and days is immediate; one over months and years is long-term.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time words in each example: as the ground shakes, hours later, following years.</a:t>
            </a:r>
            <a:endParaRPr lang="en-US" sz="18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Effects are what happens; responses are what people do. Then ask: straight away, or later?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long-term response such as rebuilding to higher standards is also a form of protection against the next earthquake.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The cost of the damage</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The damage from the Chile 2010 earthquake cost about 30 billion US dollars; the damage in Nepal 2015 cost about 5 billion. How many billion dollars more did the damage cost in Chile than in Nepal?</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billion dollars</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2E9E4"/>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larger cost first: 30 billion.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smaller: 30 − 5.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30 − 5 = 25. Keep the units: billion dollars.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makes sense: Chile's bill should be much bigger, and 25 billion more is.</a:t>
            </a:r>
            <a:endParaRPr lang="en-US" sz="1800" dirty="0"/>
          </a:p>
        </p:txBody>
      </p:sp>
      <p:sp>
        <p:nvSpPr>
          <p:cNvPr id="17" name="col-Core"/>
          <p:cNvSpPr/>
          <p:nvPr/>
        </p:nvSpPr>
        <p:spPr>
          <a:xfrm>
            <a:off x="5490762" y="3258820"/>
            <a:ext cx="2938987" cy="2885948"/>
          </a:xfrm>
          <a:prstGeom prst="roundRect">
            <a:avLst>
              <a:gd name="adj" fmla="val 1901"/>
            </a:avLst>
          </a:prstGeom>
          <a:solidFill>
            <a:srgbClr val="CBD7CE"/>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more means subtract. Larger cost minus smaller cost.</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3F6B4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cost of damage in dollars is a poor way to compare how badly two countries were affected.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secondary effect of an earthquake?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Buildings collapsing as the ground shakes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 outbreak of cholera in the weeks after the shaking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Roads cracking during the earthquake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injured by falling masonry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Sorting a case study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Primary effect  →  A  Homes collapse as the ground shakes, killing and injuring people inside</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Secondary effect  →  B  A tsunami set off by the shaking floods the coast hours later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Immediate response  →  D  Rescue teams search the rubble and set up temporary shelters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Long-term response  →  C  Homes, schools and roads are rebuilt to higher standards over the following years</a:t>
            </a:r>
            <a:endParaRPr lang="en-US" sz="22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Primary effect: collapse in the shaking. Secondary effect: the tsunami caused by it. Immediate response: search, rescue and shelter. Long-term response: rebuilding over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cost of the damage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damage from the Chile 2010 earthquake cost about 30 billion US dollars; the damage in Nepal 2015 cost about 5 billion. How many billion dollars more did the damage cost in Chile than in Nepal?</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25 billion dollars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30 − 5 = 25 billion dollars. Chile's bill was higher because its buildings and infrastructure were worth more and cost more to replace; the human toll was far lower.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secondary effect of an earthquake?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An outbreak of cholera in the weeks after the shaking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cholera outbreak is caused by the primary effects (broken water supplies, crowded camps), so it is a secondary effect. The other three happen immediately, in the shaking: primary effects.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Tectonic Hazards · Chapter 5: Two earthquakes, two worlds: Chile 2010 and Nepal 2015</dc:title>
  <dc:subject>Geography · Year 11</dc:subject>
  <dc:creator>Dr Vitor Merissi de Carvalho</dc:creator>
  <cp:lastModifiedBy>Dr Vitor Merissi de Carvalho</cp:lastModifiedBy>
  <cp:revision>1</cp:revision>
  <dcterms:created xsi:type="dcterms:W3CDTF">2026-10-19T16:22:57Z</dcterms:created>
  <dcterms:modified xsi:type="dcterms:W3CDTF">2026-10-19T16:22:57Z</dcterms:modified>
</cp:coreProperties>
</file>