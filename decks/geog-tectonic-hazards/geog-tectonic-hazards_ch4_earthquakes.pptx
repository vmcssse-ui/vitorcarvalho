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7c635f-5a6b-d50e-135e-ac6426f1f6e8}">
          <p14:sldIdLst>
            <p14:sldId id="256"/>
          </p14:sldIdLst>
        </p14:section>
        <p14:section name="Gate" id="{aadeb2cc-472b-db12-416e-12c842e54e01}">
          <p14:sldIdLst>
            <p14:sldId id="257"/>
            <p14:sldId id="258"/>
          </p14:sldIdLst>
        </p14:section>
        <p14:section name="Pre-teach" id="{d9f7c145-c108-df48-5179-1fff2b41e010}">
          <p14:sldIdLst>
            <p14:sldId id="259"/>
            <p14:sldId id="260"/>
          </p14:sldIdLst>
        </p14:section>
        <p14:section name="Read-along" id="{18fc1d86-3ae0-40b4-2625-267cc6dc8677}">
          <p14:sldIdLst>
            <p14:sldId id="261"/>
            <p14:sldId id="262"/>
          </p14:sldIdLst>
        </p14:section>
        <p14:section name="Teach" id="{fd28be1b-bc34-dd77-7578-2780cfaac26e}">
          <p14:sldIdLst>
            <p14:sldId id="263"/>
            <p14:sldId id="264"/>
            <p14:sldId id="265"/>
            <p14:sldId id="266"/>
            <p14:sldId id="267"/>
          </p14:sldIdLst>
        </p14:section>
        <p14:section name="Routes" id="{2275c841-c8fb-599a-6f18-763f4f217307}">
          <p14:sldIdLst>
            <p14:sldId id="268"/>
            <p14:sldId id="269"/>
            <p14:sldId id="270"/>
            <p14:sldId id="271"/>
          </p14:sldIdLst>
        </p14:section>
        <p14:section name="Close" id="{c176b48a-05e9-ff71-80ba-a5df4fa20caa}">
          <p14:sldIdLst>
            <p14:sldId id="272"/>
          </p14:sldIdLst>
        </p14:section>
        <p14:section name="Answers" id="{3a5122b7-1ca1-7de4-9c66-f13b171a7bb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Earthquakes: what, where and why. What an earthquake is and what causes it, the difference between focus and epicentre, how seismometers and the Richter and Mercalli scales measure it, how tsunamis start, and why the biggest earthquakes are not always the deadliest.
This deck covers the department's lesson: 6 (Earthquakes: what, where and why; focus, epicentre and measuring: What causes an earthquake, where is its focus and epicentre, and how is it measured?).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epicentre of an earthquake?  →  B   The point on the surface directly above the focus
2. The Richter scale measures an earthquake's strength; the Mercalli scale measures its ___, the impact on people.  →  intensity
3. What was the magnitude of the Japan 2011 earthquake on the Richter scale, according to your case-study table?  →  9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point on the surface directly above the focus. The epicentre is the point on the surface directly above the focus, the place nearest the focus and so usually where the shaking is strongest.
2. intensity. Magnitude (strength) is measured on the Richter scale; intensity (the impact on people and buildings) is measured on the Mercalli scale.
3. 9. Japan 2011 was magnitude 9: the Pacific plate subducting under the Eurasian plate at a destructive margin, and the trigger for the Tohoku tsunami.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magnitude: how strong an earthquake is, measured on the Richter scale. Example: "The Chile earthquake had a magnitude of 8.8."
• Richter scale: the scale that measures the strength of an earthquake. Example: "Each step up the Richter scale is a much bigger earthquake."
• Mercalli scale: the scale that measures an earthquake's intensity, its impact on people and buildings. Example: "The Mercalli scale rates the damage people see."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seismometer: the instrument that records the shaking of the ground. Example: "A seismometer records the seismic waves as a seismogram."
• seismogram: the record of seismic waves drawn by a seismometer. Example: "Big spikes on a seismogram mean strong shaking."
• tsunami: a huge sea wave set off by an undersea earthquake. Example: "A tsunami can cross an ocean and flood a distant coast."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earthquake is the shaking of the Earth's crust.
2. It happens when the plates move.
3. Plates can lock together, so pressure builds up.
4. When the pressure is released, the ground shakes.
5. The focus is the point underground where the earthquake starts.
6. The epicentre is the point on the surface directly above the focus.
7. The shaking is usually felt most strongly at the epicentre.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seismometer records the shaking as a seismogram.
9. The Richter scale measures the strength, or magnitude, of an earthquake.
10. The Mercalli scale measures its intensity, the impact on people.
11. Smaller earthquakes called aftershocks follow the main one.
12. An undersea earthquake can set off a tsunami.
13. The biggest earthquakes are not always the deadliest.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causes an earthquake?. Say it in your own words, then check understanding with a quick question: ask a pupil from the pre-teach group first, since they met these words and ideas before the lesson. Pupils try to recall before you re-explain.
An earthquake is the shaking and vibration of the Earth's crust caused by the movement of the Earth's plates. The cause is pressure. Where two plates meet, their movement is not smooth: the rough edges lock together while the plates keep trying to move, so pressure builds up between the locked plates. Eventually the pressure is too great. The plates jerk free, the stored energy is released, and that sudden release is the earthquake.
Earthquakes can happen along any type of plate boundary, constructive, destructive, conservative or collision. Most are interplate, between tectonic plates, but some are intraplate, happening within a plate far from its edges. Earthquakes can also be caused by volcanic eruptions, by collapsing mines, by explosions and by the pressure of water held behind a reservoir dam, though these are small compared with the great plate-boundary earthquakes.
Put the chain of events in order and you have a four-mark explanation: plates meet at a margin; they try to move past each other but the movement is not smooth; they lock and pressure builds; the pressure is suddenly released in a jerky movement; that release of energy is the earthquake.
Tip: Cause of earthquakes in one line: pressure builds between locked plates and is suddenly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Focus and epicentre. Say it in your own words, then check understanding with a quick question: ask a pupil from the pre-teach group first, since they met these words and ideas before the lesson. Pupils try to recall before you re-explain.
An earthquake's focus is its central point, deep below the surface, where the rocks first move and the earthquake begins. Seismic waves spread out from the focus in all directions through the rock, like ripples from a stone dropped in a pond. The point on the surface directly above the focus is the epicentre. It is the place on the surface nearest to the focus, so it is where the greatest effects are usually felt.
Your stretch question showed a diagram with a town and a forest at different distances from the epicentre and asked where the earthquake would be felt most strongly. The answer is the place nearest the epicentre, because the seismic waves have travelled least far and lost least energy there. The second question asked about depth. If the focus is deeper in the crust, the waves have further to travel before they reach the surface, so they spread out and weaken; the shaking at the surface is less violent and the effects are smaller, though they may be felt over a wider area. A shallow focus under a city is the most dangerous combination.
Aftershocks are smaller earthquakes that follow the main, large one, as the rocks around the focus settle into their new positions. They can bring down buildings already weakened by the main shock, which is why rescuers work in danger for days afterwards.
Tip: Focus underground, epicentre on the surface above it. Nearest the epicentre and shallowest focus means the strongest shaking.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an earthquake. Say it in your own words, then check understanding with a quick question: ask a pupil from the pre-teach group first, since they met these words and ideas before the lesson. Pupils try to recall before you re-explain.
A seismometer, also called a seismograph, is the instrument that measures the shaking of the ground. The record it draws of the seismic waves is a seismogram: a line that jumps and spikes as the waves arrive, the bigger the spikes, the stronger the shaking. From seismograms at several stations, scientists work out the location of the focus and the size of the earthquake.
Two scales describe an earthquake, and they measure different things. The Richter scale measures the strength of the earthquake, its magnitude, from the energy released: Japan 2011 was magnitude 9, Chile 2010 was 8.8, Nepal 2015 was 7.9, San Francisco 1957 was 5.7. The Mercalli scale measures intensity, the impact on people and buildings, from what observers see and feel: dishes rattling at the low end, total destruction at the top. One earthquake has one magnitude but many intensities, higher near the epicentre and lower far away.
This is why magnitude alone does not tell you how many people will be hurt. A magnitude 7.9 earthquake under a city of poorly built homes can kill far more people than a magnitude 8.8 under well-built ones, as the Chile and Nepal case studies in the next chapter show.
Worked example — model it step by step, thinking aloud: The Sumatra 2004 earthquake had a magnitude of 9.3 and the San Francisco 1957 earthquake a magnitude of 5.7. How many points higher on the Richter scale was Sumatra, and does that mean it was about twice as strong? (1) Subtract: 9.3 − 5.7 = 3.6 points higher. (2) The Richter scale is not a simple count. Each whole step up the scale means roughly ten times more ground shaking, so 3.6 steps is thousands of times more shaking, not twice as much. (3) Write the comparison in geography words: Sumatra 2004 was 3.6 points higher on the Richter scale, a far more powerful earthquake, which is why it could set off an ocean-wide tsunami. Answer: 3.6 points higher; far more than twice as strong, because each step on the scale is about ten times more shaking..
Tip: Richter is for the earthquake (strength); Mercalli is for the people (intensity). R for rocks, M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an earthquake. Say it in your own words, then check understanding with a quick question: ask a pupil from the pre-teach group first, since they met these words and ideas before the lesson. Pupils try to recall before you re-explain.
A seismometer, also called a seismograph, is the instrument that measures the shaking of the ground. The record it draws of the seismic waves is a seismogram: a line that jumps and spikes as the waves arrive, the bigger the spikes, the stronger the shaking. From seismograms at several stations, scientists work out the location of the focus and the size of the earthquake.
Two scales describe an earthquake, and they measure different things. The Richter scale measures the strength of the earthquake, its magnitude, from the energy released: Japan 2011 was magnitude 9, Chile 2010 was 8.8, Nepal 2015 was 7.9, San Francisco 1957 was 5.7. The Mercalli scale measures intensity, the impact on people and buildings, from what observers see and feel: dishes rattling at the low end, total destruction at the top. One earthquake has one magnitude but many intensities, higher near the epicentre and lower far away.
This is why magnitude alone does not tell you how many people will be hurt. A magnitude 7.9 earthquake under a city of poorly built homes can kill far more people than a magnitude 8.8 under well-built ones, as the Chile and Nepal case studies in the next chapter show.
Worked example — model it step by step, thinking aloud: The Sumatra 2004 earthquake had a magnitude of 9.3 and the San Francisco 1957 earthquake a magnitude of 5.7. How many points higher on the Richter scale was Sumatra, and does that mean it was about twice as strong? (1) Subtract: 9.3 − 5.7 = 3.6 points higher. (2) The Richter scale is not a simple count. Each whole step up the scale means roughly ten times more ground shaking, so 3.6 steps is thousands of times more shaking, not twice as much. (3) Write the comparison in geography words: Sumatra 2004 was 3.6 points higher on the Richter scale, a far more powerful earthquake, which is why it could set off an ocean-wide tsunami. Answer: 3.6 points higher; far more than twice as strong, because each step on the scale is about ten times more shaking..
Tip: Richter is for the earthquake (strength); Mercalli is for the people (intensity). R for rocks, M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Tsunamis, and the biggest and the deadliest. Say it in your own words, then check understanding with a quick question: ask a pupil from the pre-teach group first, since they met these words and ideas before the lesson. Pupils try to recall before you re-explain.
A tsunami has three stages. First, an undersea earthquake, usually at a destructive margin, suddenly lifts or drops the sea floor and the water above it. Second, the wave propagates: it travels outwards across the ocean at great speed, low and almost unnoticed in deep water. Third, it arrives on a coast, where the shallowing sea floor slows the front of the wave and piles the water up into a wall that surges inland. Sumatra 2004 and Japan 2011 both caused devastating tsunamis.
Your map task pinned the biggest earthquakes ever recorded in yellow and the deadliest in red, with half-and-half pins for earthquakes that were both. The pins included Alaska 1964, Kamchatka 1952, the Andreanof Islands, Sumatra 2004, Chile 2010 and Great Tohoku (Japan) 2011 among the biggest, and Shaanxi 1556, Ningxia 1920, Kanto 1923, Tangshan 1976 and Haiti 2010 among the deadliest. The two lists do not match. The biggest earthquakes often strike under the ocean or in thinly populated places; the deadliest strike crowded cities with weak buildings.
Your homework plotted magnitude against deaths and asked whether there is a correlation. Expect a weak one at best. Magnitude matters, but so do the depth of the focus, the distance of towns from the epicentre, how many people live there, how well their buildings are made and how quickly help arrives. Those human factors are the heart of the next chapter.
Tip: A tsunami question wants the sequence: undersea earthquake, wave travels across the ocean, wave arrives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an earthquake happens.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that cause an earthquake in the correct order.
Support — work through the steps with the group: (1) Start with the plates meeting: nothing can happen until they are in contact. (2) Locking comes before pressure: the plates stick first, then the pressure grows. (3) Pressure has to build before it can be released. (4) The earthquake is the last thing: it is the effect of the release.
Parallel worked example for Support (model it, do not give the task answer): Put these stages of snapping a dry twig in order: the twig bends; you push both ends; it snaps with a crack; the bend gets tighter. You push first.; It bends, then bends more.; The snap is the release at the end.. Answer: You push both ends; the twig bends; the bend gets tighter; it snaps with a crack..
Core — reveal the hint only on request: Meet, lock, build, release, shake.
Stretch — no help; when finished: Explain why earthquakes at a conservative margin can be large even though no crust is created or destroyed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an earthquake happens.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that cause an earthquake in the correct order.
Support — work through the steps with the group: (1) Start with the plates meeting: nothing can happen until they are in contact. (2) Locking comes before pressure: the plates stick first, then the pressure grows. (3) Pressure has to build before it can be released. (4) The earthquake is the last thing: it is the effect of the release.
Parallel worked example for Support (model it, do not give the task answer): Put these stages of snapping a dry twig in order: the twig bends; you push both ends; it snaps with a crack; the bend gets tighter. You push first.; It bends, then bends more.; The snap is the release at the end.. Answer: You push both ends; the twig bends; the bend gets tighter; it snaps with a crack..
Core — reveal the hint only on request: Meet, lock, build, release, shake.
Stretch — no help; when finished: Explain why earthquakes at a conservative margin can be large even though no crust is created or destroyed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Earthquake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earthquake word to its meaning.
Support — work through the steps with the group: (1) Two of the words are places: one underground, one on the surface above it. (2) One word is a measurement of size. (3) One word is a thing that happens afterwards: after is in its name. (4) One word is a machine: the ending -meter means it measures.
Parallel worked example for Support (model it, do not give the task answer): Match: seismogram, Mercalli scale. Choices: the scale of an earthquake's intensity, its impact on people; the record of seismic waves drawn by a seismometer. A gram is a drawing or record, so the seismogram is the record.; The Mercalli scale rates impact on people.. Answer: Seismogram: the record of seismic waves. Mercalli scale: the scale of intensity, the impact on people..
Core — reveal the hint only on request: Where it starts, where it is felt most, how big, what follows, what measures.
Stretch — no help; when finished: Explain why an earthquake has one magnitude but many different intensities.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Earthquake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earthquake word to its meaning.
Support — work through the steps with the group: (1) Two of the words are places: one underground, one on the surface above it. (2) One word is a measurement of size. (3) One word is a thing that happens afterwards: after is in its name. (4) One word is a machine: the ending -meter means it measures.
Parallel worked example for Support (model it, do not give the task answer): Match: seismogram, Mercalli scale. Choices: the scale of an earthquake's intensity, its impact on people; the record of seismic waves drawn by a seismometer. A gram is a drawing or record, so the seismogram is the record.; The Mercalli scale rates impact on people.. Answer: Seismogram: the record of seismic waves. Mercalli scale: the scale of intensity, the impact on people..
Core — reveal the hint only on request: Where it starts, where it is felt most, how big, what follows, what measures.
Stretch — no help; when finished: Explain why an earthquake has one magnitude but many different intensities.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the epicentre of an earthquake?
Answer: A   The point on the surface directly above the focus. The epicentre is the point on the surface directly above the focus, the place nearest the focus and so usually where the shaking is strongest.
Source of this question: gate item 1 re-asked (options rotated) — this chapter has no third quick-check module.
The ebook also holds task 3, "Who feels it most?",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an earthquake happens. Reveal the answer; pupils mark their own work in a different colour, then read the "why" together. Same destination for every lane, so one answer serves the whole class.
Answer: Two plates meet at a plate margin and try to move past each other  (B); The movement is not smooth: the plates lock together  (E); Pressure builds up between the locked plates  (A); The pressure is suddenly released in a jerky movement  (C); The release of energy shakes the ground: this is the earthquake  (D)
Why: Plates meet and try to move; they lock; pressure builds; it is released in a sudden jerk; the energy released shakes the crust, which is the earthquake.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Earthquake words. Reveal the answer; pupils mark their own work in a different colour, then read the "why" together. Same destination for every lane, so one answer serves the whole class.
Answer: Focus  →  A  The point underground where the rocks first move and the earthquake starts; Epicentre  →  B  The point on the surface directly above the focus; Magnitude  →  D  How strong an earthquake is, measured on the Richter scale; Aftershock  →  C  A smaller earthquake that follows the main, large one; Seismometer  →  E  The instrument that records the shaking as a seismogram
Why: Focus: where the earthquake starts underground. Epicentre: the surface point above it. Magnitude: strength on the Richter scale. Aftershock: a smaller later earthquake. Seismometer: the recording instrument.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point on the surface directly above the focus
Why: The epicentre is the point on the surface directly above the focus, the place nearest the focus and so usually where the shaking is strongest.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Earthquakes: what, where and why</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E2E9E4"/>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Earthquakes: what, where and why; focus, epicentre and measuring</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the epicentre of an earthquake?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smaller earthquake after the main one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point on the surface directly above the focus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point deep underground where the earthquake starts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instrument that records the shaking</a:t>
            </a:r>
            <a:endParaRPr lang="en-US" sz="18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Richter scale measures an earthquake's strength; the Mercalli scale measures its ___, the impact on people.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intensity  ·  magnitude  ·  depth</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was the magnitude of the Japan 2011 earthquake on the Richter scale, according to your case-study table?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point on the surface directly above the focus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epicentre is the point on the surface directly above the focus, the place nearest the focus and so usually where the shaking is strongest.</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intensity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Richter scale measures an earthquake's strength; the Mercalli scale measures its ___, the impact on people.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Magnitude (strength) is measured on the Richter scale; intensity (the impact on people and buildings) is measured on the Mercalli scale.</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was the magnitude of the Japan 2011 earthquake on the Richter scale, according to your case-study table?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Japan 2011 was magnitude 9: the Pacific plate subducting under the Eurasian plate at a destructive margin, and the trigger for the Tohoku tsunami.</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magnitude</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strong an earthquake is, measured on the Richter scale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Chile earthquake had a magnitude of 8.8.</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Richter scale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scale that measures the strength of an earthquake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step up the Richter scale is a much bigger earthquake.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Mercalli scale</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scale that measures an earthquake's intensity, its impact on people and buildings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Mercalli scale rates the damage people see.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seismometer</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instrument that records the shaking of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seismometer records the seismic waves as a seismogram.</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seismogram</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record of seismic waves drawn by a seismometer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Big spikes on a seismogram mean strong shaking.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tsunami</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sea wave set off by an undersea earthquake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tsunami can cross an ocean and flood a distant coast.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earthquake is the shaking of the Earth's crust.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happens when the plates move.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Plates can lock together, so pressure builds up.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the pressure is released, the ground shakes.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focus is the point underground where the earthquake starts.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epicentre is the point on the surface directly above the focus.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shaking is usually felt most strongly at the epicentre.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seismometer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records the shaking as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seismogram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Richter 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measures the strength, or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magnitude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an earthquake.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Mercalli 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measures its intensity, the impact on people.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Smaller earthquakes called aftershocks follow the main 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undersea earthquake can set off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tsunami</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biggest earthquakes are not always the deadliest.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causes an earthquake?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Cause of earthquakes in one line: pressure builds between locked plates and is suddenly released.</a:t>
            </a:r>
            <a:endParaRPr lang="en-US" sz="1800" dirty="0"/>
          </a:p>
        </p:txBody>
      </p:sp>
      <p:sp>
        <p:nvSpPr>
          <p:cNvPr id="11" name="bullet-card"/>
          <p:cNvSpPr/>
          <p:nvPr/>
        </p:nvSpPr>
        <p:spPr>
          <a:xfrm>
            <a:off x="548640" y="1389888"/>
            <a:ext cx="11094415" cy="996865"/>
          </a:xfrm>
          <a:prstGeom prst="roundRect">
            <a:avLst>
              <a:gd name="adj" fmla="val 7338"/>
            </a:avLst>
          </a:prstGeom>
          <a:solidFill>
            <a:srgbClr val="E6ECE7"/>
          </a:solidFill>
          <a:ln/>
        </p:spPr>
      </p:sp>
      <p:sp>
        <p:nvSpPr>
          <p:cNvPr id="12" name="bullet-hex"/>
          <p:cNvSpPr/>
          <p:nvPr/>
        </p:nvSpPr>
        <p:spPr>
          <a:xfrm>
            <a:off x="676656" y="1722028"/>
            <a:ext cx="384048" cy="332586"/>
          </a:xfrm>
          <a:prstGeom prst="hexagon">
            <a:avLst/>
          </a:prstGeom>
          <a:solidFill>
            <a:srgbClr val="3F6B4A"/>
          </a:solidFill>
          <a:ln/>
        </p:spPr>
      </p:sp>
      <p:sp>
        <p:nvSpPr>
          <p:cNvPr id="13" name="bullet"/>
          <p:cNvSpPr txBox="1"/>
          <p:nvPr/>
        </p:nvSpPr>
        <p:spPr>
          <a:xfrm>
            <a:off x="1143000" y="1389888"/>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earthquake is the shaking and vibration of the Earth's crust caused by the movement of the Earth's plates.</a:t>
            </a:r>
            <a:endParaRPr lang="en-US" sz="2200" dirty="0"/>
          </a:p>
        </p:txBody>
      </p:sp>
      <p:sp>
        <p:nvSpPr>
          <p:cNvPr id="14" name="bullet-card"/>
          <p:cNvSpPr/>
          <p:nvPr/>
        </p:nvSpPr>
        <p:spPr>
          <a:xfrm>
            <a:off x="548640" y="2533057"/>
            <a:ext cx="11094415" cy="996865"/>
          </a:xfrm>
          <a:prstGeom prst="roundRect">
            <a:avLst>
              <a:gd name="adj" fmla="val 7338"/>
            </a:avLst>
          </a:prstGeom>
          <a:solidFill>
            <a:srgbClr val="E6ECE7"/>
          </a:solidFill>
          <a:ln/>
        </p:spPr>
      </p:sp>
      <p:sp>
        <p:nvSpPr>
          <p:cNvPr id="15" name="bullet-hex"/>
          <p:cNvSpPr/>
          <p:nvPr/>
        </p:nvSpPr>
        <p:spPr>
          <a:xfrm>
            <a:off x="676656" y="2865197"/>
            <a:ext cx="384048" cy="332586"/>
          </a:xfrm>
          <a:prstGeom prst="hexagon">
            <a:avLst/>
          </a:prstGeom>
          <a:solidFill>
            <a:srgbClr val="B8862B"/>
          </a:solidFill>
          <a:ln/>
        </p:spPr>
      </p:sp>
      <p:sp>
        <p:nvSpPr>
          <p:cNvPr id="16" name="bullet"/>
          <p:cNvSpPr txBox="1"/>
          <p:nvPr/>
        </p:nvSpPr>
        <p:spPr>
          <a:xfrm>
            <a:off x="1143000" y="2533057"/>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Earthquakes can happen along any type of plate boundary, constructive, destructive, conservative or collision.</a:t>
            </a:r>
            <a:endParaRPr lang="en-US" sz="2200" dirty="0"/>
          </a:p>
        </p:txBody>
      </p:sp>
      <p:sp>
        <p:nvSpPr>
          <p:cNvPr id="17" name="bullet-card"/>
          <p:cNvSpPr/>
          <p:nvPr/>
        </p:nvSpPr>
        <p:spPr>
          <a:xfrm>
            <a:off x="548640" y="3676227"/>
            <a:ext cx="11094415" cy="1678601"/>
          </a:xfrm>
          <a:prstGeom prst="roundRect">
            <a:avLst>
              <a:gd name="adj" fmla="val 4358"/>
            </a:avLst>
          </a:prstGeom>
          <a:solidFill>
            <a:srgbClr val="E6ECE7"/>
          </a:solidFill>
          <a:ln/>
        </p:spPr>
      </p:sp>
      <p:sp>
        <p:nvSpPr>
          <p:cNvPr id="18" name="bullet-hex"/>
          <p:cNvSpPr/>
          <p:nvPr/>
        </p:nvSpPr>
        <p:spPr>
          <a:xfrm>
            <a:off x="676656" y="4349235"/>
            <a:ext cx="384048" cy="332586"/>
          </a:xfrm>
          <a:prstGeom prst="hexagon">
            <a:avLst/>
          </a:prstGeom>
          <a:solidFill>
            <a:srgbClr val="3F6B4A"/>
          </a:solidFill>
          <a:ln/>
        </p:spPr>
      </p:sp>
      <p:sp>
        <p:nvSpPr>
          <p:cNvPr id="19" name="bullet"/>
          <p:cNvSpPr txBox="1"/>
          <p:nvPr/>
        </p:nvSpPr>
        <p:spPr>
          <a:xfrm>
            <a:off x="1143000" y="3676227"/>
            <a:ext cx="10408615" cy="16786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the chain of events in order and you have a four-mark explanation: plates meet at a margin; they try to move past each other but the movement is not smooth; they lock and pressure builds; the pressure is suddenly released in a jerky movement; that release of energy is the earthquake.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Focus and epicentre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Focus underground, epicentre on the surface above it. Nearest the epicentre and shallowest focus means the strongest shaking.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An earthquake's focus is its central point, deep below the surface, where the rocks first move and the earthquake begins.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stretch question showed a diagram with a town and a forest at different distances from the epicentre and asked where the earthquake would be felt most strongly.</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Aftershocks are smaller earthquakes that follow the main, large one, as the rocks around the focus settle into their new positions.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Measuring an earthquake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Richter is for the earthquake (strength); Mercalli is for the people (intensity). R for rocks, M for me.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seismometer, also called a seismograph, is the instrument that measures the shaking of the ground.</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scales describe an earthquake, and they measure different things.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why magnitude alone does not tell you how many people will be hurt.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Measuring an earthquake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E2E9E4"/>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The Sumatra 2004 earthquake had a magnitude of 9.3 and the San Francisco 1957 earthquake a magnitude of 5.7. How many points higher on the Richter scale was Sumatra, and does that mean it was about twice as strong?</a:t>
            </a:r>
            <a:endParaRPr lang="en-US" sz="2000" dirty="0"/>
          </a:p>
        </p:txBody>
      </p:sp>
      <p:sp>
        <p:nvSpPr>
          <p:cNvPr id="9" name="step-box"/>
          <p:cNvSpPr/>
          <p:nvPr/>
        </p:nvSpPr>
        <p:spPr>
          <a:xfrm>
            <a:off x="548640" y="2812288"/>
            <a:ext cx="11094415" cy="516128"/>
          </a:xfrm>
          <a:prstGeom prst="roundRect">
            <a:avLst>
              <a:gd name="adj" fmla="val 14173"/>
            </a:avLst>
          </a:prstGeom>
          <a:solidFill>
            <a:srgbClr val="FFFFFF"/>
          </a:solidFill>
          <a:ln w="15875">
            <a:solidFill>
              <a:srgbClr val="95AE9B"/>
            </a:solidFill>
            <a:prstDash val="solid"/>
          </a:ln>
        </p:spPr>
      </p:sp>
      <p:sp>
        <p:nvSpPr>
          <p:cNvPr id="10" name="step-hex"/>
          <p:cNvSpPr/>
          <p:nvPr/>
        </p:nvSpPr>
        <p:spPr>
          <a:xfrm>
            <a:off x="685800" y="2872384"/>
            <a:ext cx="457200" cy="395935"/>
          </a:xfrm>
          <a:prstGeom prst="hexagon">
            <a:avLst/>
          </a:prstGeom>
          <a:solidFill>
            <a:srgbClr val="3F6B4A"/>
          </a:solidFill>
          <a:ln/>
        </p:spPr>
      </p:sp>
      <p:sp>
        <p:nvSpPr>
          <p:cNvPr id="11" name="step-hex-label"/>
          <p:cNvSpPr txBox="1"/>
          <p:nvPr/>
        </p:nvSpPr>
        <p:spPr>
          <a:xfrm>
            <a:off x="685800" y="28723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161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9.3 − 5.7 = 3.6 points higher.</a:t>
            </a:r>
            <a:endParaRPr lang="en-US" sz="1800" dirty="0"/>
          </a:p>
        </p:txBody>
      </p:sp>
      <p:sp>
        <p:nvSpPr>
          <p:cNvPr id="13" name="step-box"/>
          <p:cNvSpPr/>
          <p:nvPr/>
        </p:nvSpPr>
        <p:spPr>
          <a:xfrm>
            <a:off x="548640" y="3401568"/>
            <a:ext cx="11094415" cy="780288"/>
          </a:xfrm>
          <a:prstGeom prst="roundRect">
            <a:avLst>
              <a:gd name="adj" fmla="val 9375"/>
            </a:avLst>
          </a:prstGeom>
          <a:solidFill>
            <a:srgbClr val="FFFFFF"/>
          </a:solidFill>
          <a:ln w="15875">
            <a:solidFill>
              <a:srgbClr val="95AE9B"/>
            </a:solidFill>
            <a:prstDash val="solid"/>
          </a:ln>
        </p:spPr>
      </p:sp>
      <p:sp>
        <p:nvSpPr>
          <p:cNvPr id="14" name="step-hex"/>
          <p:cNvSpPr/>
          <p:nvPr/>
        </p:nvSpPr>
        <p:spPr>
          <a:xfrm>
            <a:off x="685800" y="3593744"/>
            <a:ext cx="457200" cy="395935"/>
          </a:xfrm>
          <a:prstGeom prst="hexagon">
            <a:avLst/>
          </a:prstGeom>
          <a:solidFill>
            <a:srgbClr val="3F6B4A"/>
          </a:solidFill>
          <a:ln/>
        </p:spPr>
      </p:sp>
      <p:sp>
        <p:nvSpPr>
          <p:cNvPr id="15" name="step-hex-label"/>
          <p:cNvSpPr txBox="1"/>
          <p:nvPr/>
        </p:nvSpPr>
        <p:spPr>
          <a:xfrm>
            <a:off x="685800" y="3593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401568"/>
            <a:ext cx="10180015" cy="7802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Richter scale is not a simple count. Each whole step up the scale means roughly ten times more ground shaking, so 3.6 steps is thousands of times more shaking, not twice as much.</a:t>
            </a:r>
            <a:endParaRPr lang="en-US" sz="1800" dirty="0"/>
          </a:p>
        </p:txBody>
      </p:sp>
      <p:sp>
        <p:nvSpPr>
          <p:cNvPr id="17" name="step-box"/>
          <p:cNvSpPr/>
          <p:nvPr/>
        </p:nvSpPr>
        <p:spPr>
          <a:xfrm>
            <a:off x="548640" y="4255008"/>
            <a:ext cx="11094415" cy="780288"/>
          </a:xfrm>
          <a:prstGeom prst="roundRect">
            <a:avLst>
              <a:gd name="adj" fmla="val 9375"/>
            </a:avLst>
          </a:prstGeom>
          <a:solidFill>
            <a:srgbClr val="FFFFFF"/>
          </a:solidFill>
          <a:ln w="15875">
            <a:solidFill>
              <a:srgbClr val="95AE9B"/>
            </a:solidFill>
            <a:prstDash val="solid"/>
          </a:ln>
        </p:spPr>
      </p:sp>
      <p:sp>
        <p:nvSpPr>
          <p:cNvPr id="18" name="step-hex"/>
          <p:cNvSpPr/>
          <p:nvPr/>
        </p:nvSpPr>
        <p:spPr>
          <a:xfrm>
            <a:off x="685800" y="4447184"/>
            <a:ext cx="457200" cy="395935"/>
          </a:xfrm>
          <a:prstGeom prst="hexagon">
            <a:avLst/>
          </a:prstGeom>
          <a:solidFill>
            <a:srgbClr val="3F6B4A"/>
          </a:solidFill>
          <a:ln/>
        </p:spPr>
      </p:sp>
      <p:sp>
        <p:nvSpPr>
          <p:cNvPr id="19" name="step-hex-label"/>
          <p:cNvSpPr txBox="1"/>
          <p:nvPr/>
        </p:nvSpPr>
        <p:spPr>
          <a:xfrm>
            <a:off x="685800" y="44471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255008"/>
            <a:ext cx="10180015" cy="7802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comparison in geography words: Sumatra 2004 was 3.6 points higher on the Richter scale, a far more powerful earthquake, which is why it could set off an ocean-wide tsunami.</a:t>
            </a:r>
            <a:endParaRPr lang="en-US" sz="1800" dirty="0"/>
          </a:p>
        </p:txBody>
      </p:sp>
      <p:sp>
        <p:nvSpPr>
          <p:cNvPr id="21" name="worked-answer"/>
          <p:cNvSpPr/>
          <p:nvPr/>
        </p:nvSpPr>
        <p:spPr>
          <a:xfrm>
            <a:off x="548640" y="5218176"/>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3.6 points higher; far more than twice as strong, because each step on the scale is about ten times more shaking.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Tsunamis, and the biggest and the deadliest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tsunami question wants the sequence: undersea earthquake, wave travels across the ocean, wave arrives on the coast.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tsunami has three stages. First, an undersea earthquake, usually at a destructive margin, suddenly lifts or drops the sea floor and the water above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map task pinned the biggest earthquakes ever recorded in yellow and the deadliest in red, with half-and-half pins for earthquakes that were both.</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homework plotted magnitude against deaths and asked whether there is a correlation.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an earthquake happens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that cause an earthquake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Pressure builds up between the locked plates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Two plates meet at a plate margin and try to move past each other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pressure is suddenly released in a jerky movement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release of energy shakes the ground: this is the earthquake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movement is not smooth: the plates lock together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How an earthquake happens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that cause an earthquake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9E4"/>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plates meeting: nothing can happen until they are in contact.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Locking comes before pressure: the plates stick first, then the pressure grows.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Pressure has to build before it can be released.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earthquake is the last thing: it is the effect of the release.</a:t>
            </a:r>
            <a:endParaRPr lang="en-US" sz="1800" dirty="0"/>
          </a:p>
        </p:txBody>
      </p:sp>
      <p:sp>
        <p:nvSpPr>
          <p:cNvPr id="17" name="col-Core"/>
          <p:cNvSpPr/>
          <p:nvPr/>
        </p:nvSpPr>
        <p:spPr>
          <a:xfrm>
            <a:off x="5490762" y="2578608"/>
            <a:ext cx="2938987" cy="3566160"/>
          </a:xfrm>
          <a:prstGeom prst="roundRect">
            <a:avLst>
              <a:gd name="adj" fmla="val 1867"/>
            </a:avLst>
          </a:prstGeom>
          <a:solidFill>
            <a:srgbClr val="CB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Meet, lock, build, release, shake.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earthquakes at a conservative margin can be large even though no crust is created or destroyed there.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earthquake word to its meaning.</a:t>
            </a:r>
            <a:endParaRPr lang="en-US" sz="2400" dirty="0"/>
          </a:p>
        </p:txBody>
      </p:sp>
      <p:sp>
        <p:nvSpPr>
          <p:cNvPr id="11" name="match-card"/>
          <p:cNvSpPr/>
          <p:nvPr/>
        </p:nvSpPr>
        <p:spPr>
          <a:xfrm>
            <a:off x="777240" y="2468331"/>
            <a:ext cx="3081437" cy="857207"/>
          </a:xfrm>
          <a:prstGeom prst="roundRect">
            <a:avLst>
              <a:gd name="adj" fmla="val 8534"/>
            </a:avLst>
          </a:prstGeom>
          <a:solidFill>
            <a:srgbClr val="E6ECE7"/>
          </a:solidFill>
          <a:ln/>
        </p:spPr>
      </p:sp>
      <p:sp>
        <p:nvSpPr>
          <p:cNvPr id="12" name="match-hex"/>
          <p:cNvSpPr/>
          <p:nvPr/>
        </p:nvSpPr>
        <p:spPr>
          <a:xfrm>
            <a:off x="850392" y="2730642"/>
            <a:ext cx="384048" cy="332586"/>
          </a:xfrm>
          <a:prstGeom prst="hexagon">
            <a:avLst/>
          </a:prstGeom>
          <a:solidFill>
            <a:srgbClr val="3F6B4A"/>
          </a:solidFill>
          <a:ln/>
        </p:spPr>
      </p:sp>
      <p:sp>
        <p:nvSpPr>
          <p:cNvPr id="13" name="match-hex-label"/>
          <p:cNvSpPr txBox="1"/>
          <p:nvPr/>
        </p:nvSpPr>
        <p:spPr>
          <a:xfrm>
            <a:off x="850392" y="2730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Focus</a:t>
            </a:r>
            <a:endParaRPr lang="en-US" sz="2000" dirty="0"/>
          </a:p>
        </p:txBody>
      </p:sp>
      <p:sp>
        <p:nvSpPr>
          <p:cNvPr id="15" name="match-card"/>
          <p:cNvSpPr/>
          <p:nvPr/>
        </p:nvSpPr>
        <p:spPr>
          <a:xfrm>
            <a:off x="4224437" y="2468331"/>
            <a:ext cx="7190019" cy="857207"/>
          </a:xfrm>
          <a:prstGeom prst="roundRect">
            <a:avLst>
              <a:gd name="adj" fmla="val 8534"/>
            </a:avLst>
          </a:prstGeom>
          <a:solidFill>
            <a:srgbClr val="F3EADB"/>
          </a:solidFill>
          <a:ln/>
        </p:spPr>
      </p:sp>
      <p:sp>
        <p:nvSpPr>
          <p:cNvPr id="16" name="match-hex"/>
          <p:cNvSpPr/>
          <p:nvPr/>
        </p:nvSpPr>
        <p:spPr>
          <a:xfrm>
            <a:off x="4297589" y="2730642"/>
            <a:ext cx="384048" cy="332586"/>
          </a:xfrm>
          <a:prstGeom prst="hexagon">
            <a:avLst/>
          </a:prstGeom>
          <a:solidFill>
            <a:srgbClr val="B8862B"/>
          </a:solidFill>
          <a:ln/>
        </p:spPr>
      </p:sp>
      <p:sp>
        <p:nvSpPr>
          <p:cNvPr id="17" name="match-hex-label"/>
          <p:cNvSpPr txBox="1"/>
          <p:nvPr/>
        </p:nvSpPr>
        <p:spPr>
          <a:xfrm>
            <a:off x="4297589" y="27306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point underground where the rocks first move and the earthquake starts</a:t>
            </a:r>
            <a:endParaRPr lang="en-US" sz="2000" dirty="0"/>
          </a:p>
        </p:txBody>
      </p:sp>
      <p:sp>
        <p:nvSpPr>
          <p:cNvPr id="19" name="match-card"/>
          <p:cNvSpPr/>
          <p:nvPr/>
        </p:nvSpPr>
        <p:spPr>
          <a:xfrm>
            <a:off x="777240" y="3416979"/>
            <a:ext cx="3081437" cy="567647"/>
          </a:xfrm>
          <a:prstGeom prst="roundRect">
            <a:avLst>
              <a:gd name="adj" fmla="val 12887"/>
            </a:avLst>
          </a:prstGeom>
          <a:solidFill>
            <a:srgbClr val="E6ECE7"/>
          </a:solidFill>
          <a:ln/>
        </p:spPr>
      </p:sp>
      <p:sp>
        <p:nvSpPr>
          <p:cNvPr id="20" name="match-hex"/>
          <p:cNvSpPr/>
          <p:nvPr/>
        </p:nvSpPr>
        <p:spPr>
          <a:xfrm>
            <a:off x="850392" y="3534510"/>
            <a:ext cx="384048" cy="332586"/>
          </a:xfrm>
          <a:prstGeom prst="hexagon">
            <a:avLst/>
          </a:prstGeom>
          <a:solidFill>
            <a:srgbClr val="3F6B4A"/>
          </a:solidFill>
          <a:ln/>
        </p:spPr>
      </p:sp>
      <p:sp>
        <p:nvSpPr>
          <p:cNvPr id="21" name="match-hex-label"/>
          <p:cNvSpPr txBox="1"/>
          <p:nvPr/>
        </p:nvSpPr>
        <p:spPr>
          <a:xfrm>
            <a:off x="850392" y="353451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16979"/>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Epicentre</a:t>
            </a:r>
            <a:endParaRPr lang="en-US" sz="2000" dirty="0"/>
          </a:p>
        </p:txBody>
      </p:sp>
      <p:sp>
        <p:nvSpPr>
          <p:cNvPr id="23" name="match-card"/>
          <p:cNvSpPr/>
          <p:nvPr/>
        </p:nvSpPr>
        <p:spPr>
          <a:xfrm>
            <a:off x="4224437" y="3416979"/>
            <a:ext cx="7190019" cy="567647"/>
          </a:xfrm>
          <a:prstGeom prst="roundRect">
            <a:avLst>
              <a:gd name="adj" fmla="val 12887"/>
            </a:avLst>
          </a:prstGeom>
          <a:solidFill>
            <a:srgbClr val="F3EADB"/>
          </a:solidFill>
          <a:ln/>
        </p:spPr>
      </p:sp>
      <p:sp>
        <p:nvSpPr>
          <p:cNvPr id="24" name="match-hex"/>
          <p:cNvSpPr/>
          <p:nvPr/>
        </p:nvSpPr>
        <p:spPr>
          <a:xfrm>
            <a:off x="4297589" y="3534510"/>
            <a:ext cx="384048" cy="332586"/>
          </a:xfrm>
          <a:prstGeom prst="hexagon">
            <a:avLst/>
          </a:prstGeom>
          <a:solidFill>
            <a:srgbClr val="B8862B"/>
          </a:solidFill>
          <a:ln/>
        </p:spPr>
      </p:sp>
      <p:sp>
        <p:nvSpPr>
          <p:cNvPr id="25" name="match-hex-label"/>
          <p:cNvSpPr txBox="1"/>
          <p:nvPr/>
        </p:nvSpPr>
        <p:spPr>
          <a:xfrm>
            <a:off x="4297589" y="353451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16979"/>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point on the surface directly above the focus</a:t>
            </a:r>
            <a:endParaRPr lang="en-US" sz="2000" dirty="0"/>
          </a:p>
        </p:txBody>
      </p:sp>
      <p:sp>
        <p:nvSpPr>
          <p:cNvPr id="27" name="match-card"/>
          <p:cNvSpPr/>
          <p:nvPr/>
        </p:nvSpPr>
        <p:spPr>
          <a:xfrm>
            <a:off x="777240" y="4076066"/>
            <a:ext cx="3081437" cy="567647"/>
          </a:xfrm>
          <a:prstGeom prst="roundRect">
            <a:avLst>
              <a:gd name="adj" fmla="val 12887"/>
            </a:avLst>
          </a:prstGeom>
          <a:solidFill>
            <a:srgbClr val="E6ECE7"/>
          </a:solidFill>
          <a:ln/>
        </p:spPr>
      </p:sp>
      <p:sp>
        <p:nvSpPr>
          <p:cNvPr id="28" name="match-hex"/>
          <p:cNvSpPr/>
          <p:nvPr/>
        </p:nvSpPr>
        <p:spPr>
          <a:xfrm>
            <a:off x="850392" y="4193597"/>
            <a:ext cx="384048" cy="332586"/>
          </a:xfrm>
          <a:prstGeom prst="hexagon">
            <a:avLst/>
          </a:prstGeom>
          <a:solidFill>
            <a:srgbClr val="3F6B4A"/>
          </a:solidFill>
          <a:ln/>
        </p:spPr>
      </p:sp>
      <p:sp>
        <p:nvSpPr>
          <p:cNvPr id="29" name="match-hex-label"/>
          <p:cNvSpPr txBox="1"/>
          <p:nvPr/>
        </p:nvSpPr>
        <p:spPr>
          <a:xfrm>
            <a:off x="850392"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76066"/>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Magnitude</a:t>
            </a:r>
            <a:endParaRPr lang="en-US" sz="2000" dirty="0"/>
          </a:p>
        </p:txBody>
      </p:sp>
      <p:sp>
        <p:nvSpPr>
          <p:cNvPr id="31" name="match-card"/>
          <p:cNvSpPr/>
          <p:nvPr/>
        </p:nvSpPr>
        <p:spPr>
          <a:xfrm>
            <a:off x="4224437" y="4076066"/>
            <a:ext cx="7190019" cy="567647"/>
          </a:xfrm>
          <a:prstGeom prst="roundRect">
            <a:avLst>
              <a:gd name="adj" fmla="val 12887"/>
            </a:avLst>
          </a:prstGeom>
          <a:solidFill>
            <a:srgbClr val="F3EADB"/>
          </a:solidFill>
          <a:ln/>
        </p:spPr>
      </p:sp>
      <p:sp>
        <p:nvSpPr>
          <p:cNvPr id="32" name="match-hex"/>
          <p:cNvSpPr/>
          <p:nvPr/>
        </p:nvSpPr>
        <p:spPr>
          <a:xfrm>
            <a:off x="4297589" y="4193597"/>
            <a:ext cx="384048" cy="332586"/>
          </a:xfrm>
          <a:prstGeom prst="hexagon">
            <a:avLst/>
          </a:prstGeom>
          <a:solidFill>
            <a:srgbClr val="B8862B"/>
          </a:solidFill>
          <a:ln/>
        </p:spPr>
      </p:sp>
      <p:sp>
        <p:nvSpPr>
          <p:cNvPr id="33" name="match-hex-label"/>
          <p:cNvSpPr txBox="1"/>
          <p:nvPr/>
        </p:nvSpPr>
        <p:spPr>
          <a:xfrm>
            <a:off x="4297589" y="41935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076066"/>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smaller earthquake that follows the main, large one</a:t>
            </a:r>
            <a:endParaRPr lang="en-US" sz="2000" dirty="0"/>
          </a:p>
        </p:txBody>
      </p:sp>
      <p:sp>
        <p:nvSpPr>
          <p:cNvPr id="35" name="match-card"/>
          <p:cNvSpPr/>
          <p:nvPr/>
        </p:nvSpPr>
        <p:spPr>
          <a:xfrm>
            <a:off x="777240" y="4735153"/>
            <a:ext cx="3081437" cy="567647"/>
          </a:xfrm>
          <a:prstGeom prst="roundRect">
            <a:avLst>
              <a:gd name="adj" fmla="val 12887"/>
            </a:avLst>
          </a:prstGeom>
          <a:solidFill>
            <a:srgbClr val="E6ECE7"/>
          </a:solidFill>
          <a:ln/>
        </p:spPr>
      </p:sp>
      <p:sp>
        <p:nvSpPr>
          <p:cNvPr id="36" name="match-hex"/>
          <p:cNvSpPr/>
          <p:nvPr/>
        </p:nvSpPr>
        <p:spPr>
          <a:xfrm>
            <a:off x="850392" y="4852684"/>
            <a:ext cx="384048" cy="332586"/>
          </a:xfrm>
          <a:prstGeom prst="hexagon">
            <a:avLst/>
          </a:prstGeom>
          <a:solidFill>
            <a:srgbClr val="3F6B4A"/>
          </a:solidFill>
          <a:ln/>
        </p:spPr>
      </p:sp>
      <p:sp>
        <p:nvSpPr>
          <p:cNvPr id="37" name="match-hex-label"/>
          <p:cNvSpPr txBox="1"/>
          <p:nvPr/>
        </p:nvSpPr>
        <p:spPr>
          <a:xfrm>
            <a:off x="850392" y="48526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35153"/>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Aftershock</a:t>
            </a:r>
            <a:endParaRPr lang="en-US" sz="2000" dirty="0"/>
          </a:p>
        </p:txBody>
      </p:sp>
      <p:sp>
        <p:nvSpPr>
          <p:cNvPr id="39" name="match-card"/>
          <p:cNvSpPr/>
          <p:nvPr/>
        </p:nvSpPr>
        <p:spPr>
          <a:xfrm>
            <a:off x="4224437" y="4735153"/>
            <a:ext cx="7190019" cy="567647"/>
          </a:xfrm>
          <a:prstGeom prst="roundRect">
            <a:avLst>
              <a:gd name="adj" fmla="val 12887"/>
            </a:avLst>
          </a:prstGeom>
          <a:solidFill>
            <a:srgbClr val="F3EADB"/>
          </a:solidFill>
          <a:ln/>
        </p:spPr>
      </p:sp>
      <p:sp>
        <p:nvSpPr>
          <p:cNvPr id="40" name="match-hex"/>
          <p:cNvSpPr/>
          <p:nvPr/>
        </p:nvSpPr>
        <p:spPr>
          <a:xfrm>
            <a:off x="4297589" y="4852684"/>
            <a:ext cx="384048" cy="332586"/>
          </a:xfrm>
          <a:prstGeom prst="hexagon">
            <a:avLst/>
          </a:prstGeom>
          <a:solidFill>
            <a:srgbClr val="B8862B"/>
          </a:solidFill>
          <a:ln/>
        </p:spPr>
      </p:sp>
      <p:sp>
        <p:nvSpPr>
          <p:cNvPr id="41" name="match-hex-label"/>
          <p:cNvSpPr txBox="1"/>
          <p:nvPr/>
        </p:nvSpPr>
        <p:spPr>
          <a:xfrm>
            <a:off x="4297589" y="48526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735153"/>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How strong an earthquake is, measured on the Richter scale</a:t>
            </a:r>
            <a:endParaRPr lang="en-US" sz="2000" dirty="0"/>
          </a:p>
        </p:txBody>
      </p:sp>
      <p:sp>
        <p:nvSpPr>
          <p:cNvPr id="43" name="match-card"/>
          <p:cNvSpPr/>
          <p:nvPr/>
        </p:nvSpPr>
        <p:spPr>
          <a:xfrm>
            <a:off x="777240" y="5394241"/>
            <a:ext cx="3081437" cy="567647"/>
          </a:xfrm>
          <a:prstGeom prst="roundRect">
            <a:avLst>
              <a:gd name="adj" fmla="val 12887"/>
            </a:avLst>
          </a:prstGeom>
          <a:solidFill>
            <a:srgbClr val="E6ECE7"/>
          </a:solidFill>
          <a:ln/>
        </p:spPr>
      </p:sp>
      <p:sp>
        <p:nvSpPr>
          <p:cNvPr id="44" name="match-hex"/>
          <p:cNvSpPr/>
          <p:nvPr/>
        </p:nvSpPr>
        <p:spPr>
          <a:xfrm>
            <a:off x="850392" y="5511772"/>
            <a:ext cx="384048" cy="332586"/>
          </a:xfrm>
          <a:prstGeom prst="hexagon">
            <a:avLst/>
          </a:prstGeom>
          <a:solidFill>
            <a:srgbClr val="3F6B4A"/>
          </a:solidFill>
          <a:ln/>
        </p:spPr>
      </p:sp>
      <p:sp>
        <p:nvSpPr>
          <p:cNvPr id="45" name="match-hex-label"/>
          <p:cNvSpPr txBox="1"/>
          <p:nvPr/>
        </p:nvSpPr>
        <p:spPr>
          <a:xfrm>
            <a:off x="850392" y="5511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94241"/>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Seismometer</a:t>
            </a:r>
            <a:endParaRPr lang="en-US" sz="2000" dirty="0"/>
          </a:p>
        </p:txBody>
      </p:sp>
      <p:sp>
        <p:nvSpPr>
          <p:cNvPr id="47" name="match-card"/>
          <p:cNvSpPr/>
          <p:nvPr/>
        </p:nvSpPr>
        <p:spPr>
          <a:xfrm>
            <a:off x="4224437" y="5394241"/>
            <a:ext cx="7190019" cy="567647"/>
          </a:xfrm>
          <a:prstGeom prst="roundRect">
            <a:avLst>
              <a:gd name="adj" fmla="val 12887"/>
            </a:avLst>
          </a:prstGeom>
          <a:solidFill>
            <a:srgbClr val="F3EADB"/>
          </a:solidFill>
          <a:ln/>
        </p:spPr>
      </p:sp>
      <p:sp>
        <p:nvSpPr>
          <p:cNvPr id="48" name="match-hex"/>
          <p:cNvSpPr/>
          <p:nvPr/>
        </p:nvSpPr>
        <p:spPr>
          <a:xfrm>
            <a:off x="4297589" y="5511772"/>
            <a:ext cx="384048" cy="332586"/>
          </a:xfrm>
          <a:prstGeom prst="hexagon">
            <a:avLst/>
          </a:prstGeom>
          <a:solidFill>
            <a:srgbClr val="B8862B"/>
          </a:solidFill>
          <a:ln/>
        </p:spPr>
      </p:sp>
      <p:sp>
        <p:nvSpPr>
          <p:cNvPr id="49" name="match-hex-label"/>
          <p:cNvSpPr txBox="1"/>
          <p:nvPr/>
        </p:nvSpPr>
        <p:spPr>
          <a:xfrm>
            <a:off x="4297589" y="5511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94241"/>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instrument that records the shaking as a seismogram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earthquake word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9E4"/>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words are places: one underground, one on the surface above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word is a measurement of size.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word is a thing that happens afterwards: after is in its name.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word is a machine: the ending -meter means it measures.</a:t>
            </a:r>
            <a:endParaRPr lang="en-US" sz="1800" dirty="0"/>
          </a:p>
        </p:txBody>
      </p:sp>
      <p:sp>
        <p:nvSpPr>
          <p:cNvPr id="17" name="col-Core"/>
          <p:cNvSpPr/>
          <p:nvPr/>
        </p:nvSpPr>
        <p:spPr>
          <a:xfrm>
            <a:off x="5490762" y="2578608"/>
            <a:ext cx="2938987" cy="3566160"/>
          </a:xfrm>
          <a:prstGeom prst="roundRect">
            <a:avLst>
              <a:gd name="adj" fmla="val 1867"/>
            </a:avLst>
          </a:prstGeom>
          <a:solidFill>
            <a:srgbClr val="CB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it starts, where it is felt most, how big, what follows, what measures.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an earthquake has one magnitude but many different intensities.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the epicentre of an earthquake?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point on the surface directly above the focus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point deep underground where the earthquake starts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instrument that records the shaking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smaller earthquake after the main one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an earthquake happens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Two plates meet at a plate margin and try to move past each other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movement is not smooth: the plates lock together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Pressure builds up between the locked plates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pressure is suddenly released in a jerky movement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release of energy shakes the ground: this is the earthquake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Plates meet and try to move; they lock; pressure builds; it is released in a sudden jerk; the energy released shakes the crust, which is the earthquake.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Focus  →  A  The point underground where the rocks first move and the earthquake starts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Epicentre  →  B  The point on the surface directly above the focus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Magnitude  →  D  How strong an earthquake is, measured on the Richter scale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Aftershock  →  C  A smaller earthquake that follows the main, large one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Seismometer  →  E  The instrument that records the shaking as a seismogram</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Focus: where the earthquake starts underground. Epicentre: the surface point above it. Magnitude: strength on the Richter scale. Aftershock: a smaller later earthquake. Seismometer: the recording instrument.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the epicentre of an earthquake?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point on the surface directly above the focus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epicentre is the point on the surface directly above the focus, the place nearest the focus and so usually where the shaking is strongest.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4: Earthquakes: what, where and why</dc:title>
  <dc:subject>Geography · Year 11</dc:subject>
  <dc:creator>Dr Vitor Merissi de Carvalho</dc:creator>
  <cp:lastModifiedBy>Dr Vitor Merissi de Carvalho</cp:lastModifiedBy>
  <cp:revision>1</cp:revision>
  <dcterms:created xsi:type="dcterms:W3CDTF">2026-10-19T06:07:45Z</dcterms:created>
  <dcterms:modified xsi:type="dcterms:W3CDTF">2026-10-19T06:07:45Z</dcterms:modified>
</cp:coreProperties>
</file>