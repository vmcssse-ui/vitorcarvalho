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9b74ee9-8ab7-6b82-ca1b-8f3cdc3550c9}">
          <p14:sldIdLst>
            <p14:sldId id="256"/>
          </p14:sldIdLst>
        </p14:section>
        <p14:section name="Gate" id="{99ba5889-cfe7-35df-7edb-0c4350ab1a79}">
          <p14:sldIdLst>
            <p14:sldId id="257"/>
            <p14:sldId id="258"/>
            <p14:sldId id="259"/>
          </p14:sldIdLst>
        </p14:section>
        <p14:section name="Pre-teach" id="{f60a86dc-5876-de57-1bdd-9b3bdb17e633}">
          <p14:sldIdLst>
            <p14:sldId id="260"/>
            <p14:sldId id="261"/>
          </p14:sldIdLst>
        </p14:section>
        <p14:section name="Read-along" id="{8ff98408-1b3a-e403-2f57-0db12888130b}">
          <p14:sldIdLst>
            <p14:sldId id="262"/>
            <p14:sldId id="263"/>
          </p14:sldIdLst>
        </p14:section>
        <p14:section name="Teach" id="{6bd0e601-86f1-3b9c-026b-1ff5dbfd16dd}">
          <p14:sldIdLst>
            <p14:sldId id="264"/>
            <p14:sldId id="265"/>
            <p14:sldId id="266"/>
            <p14:sldId id="267"/>
            <p14:sldId id="268"/>
          </p14:sldIdLst>
        </p14:section>
        <p14:section name="Routes" id="{c7709895-16e1-45a8-2078-b6193cb3ff49}">
          <p14:sldIdLst>
            <p14:sldId id="269"/>
            <p14:sldId id="270"/>
            <p14:sldId id="271"/>
          </p14:sldIdLst>
        </p14:section>
        <p14:section name="Close" id="{726b4f96-b096-780b-ee89-76e87ff7bb6a}">
          <p14:sldIdLst>
            <p14:sldId id="272"/>
          </p14:sldIdLst>
        </p14:section>
        <p14:section name="Answers" id="{3a4746af-892b-f322-be20-d74f6f21f306}">
          <p14:sldIdLst>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Living with the risk, and reducing it. Why people choose to live beside volcanoes, what Rotorua's geysers taught you about geothermal energy, and how far prediction, protection, planning and monitoring (the 3Ps and M) can reduce the risk from earthquakes and volcanoes.
This deck covers the department's lessons: 9 (Living in the shadow of volcanoes: Vesuvius, Hawaii and Iceland: Why do people choose to live near volcanoes, and are the benefits worth the risks?); 10 (New Zealand geysers mystery: Rotorua: How do geysers form, why did Rotorua's Te Whakarewarewa geyser stop, and why did it spring back to life?); 11 (Reducing the risk from tectonic hazards: the 3Ps and M: How far can prediction, protection, planning and monitoring reduce the risk from earthquakes and volcanoes?).
Read the big question aloud: "Why do tectonic hazards hurt some places far more than others, and how far can people reduce the risk?"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were scientists able to predict the 2010 eruption of Eyjafjallajokull in Iceland?  →  B   By monitoring the increasing earthquakes under the volcano
2. On the slopes of Mount Etna, earth embankments and explosives have been used to divert ___ away from property.  →  lava flows
3. Iceland is volcanic because it sits on which plate boundary?  →  D   The constructive margin between the North American and Eurasian plates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How were scientists able to predict the 2010 eruption of Eyjafjallajokull in Iceland?  →  B   By monitoring the increasing earthquakes under the volcano
2. On the slopes of Mount Etna, earth embankments and explosives have been used to divert ___ away from property.  →  lava flows
3. Iceland is volcanic because it sits on which plate boundary?  →  D   The constructive margin between the North American and Eurasian plates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B   By monitoring the increasing earthquakes under the volcano. Volcanic prediction is based on monitoring. The earthquake events under Eyjafjallajokull increased and were closely watched, so scientists predicted the eruption before it happened in March and April 2010.
2. lava flows. Earth embankments and explosives can divert lava flows away from property; it was used on Mount Etna in Italy, though the power of an eruption can make protection impossible.
3. D   The constructive margin between the North American and Eurasian plates. Iceland lies on the Mid-Atlantic Ridge, a constructive margin where the North American and Eurasian plates pull apart and magma rises to form volcanoes; it is also helped by a hot spot.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fertile: good for growing crops. Example: "Volcanic ash makes the soil around Vesuvius fertile."
• geothermal: heat from inside the Earth. Example: "Iceland uses geothermal energy to make cheap electricity."
• hot spot: a place where very hot mantle rises under a plate, making volcanoes away from a boundary. Example: "Hawaii sits on a hot spot in the middle of the Pacific plate."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geyser: a spring that shoots hot water and steam into the air. Example: "Rotorua's geysers attract millions of tourists."
• hazard map: a map showing which areas a hazard is most likely to affect. Example: "A hazard map helps a town plan where to evacuate from."
• evacuation: moving people out of danger before a hazard strikes. Example: "Monitoring the volcano gave time for evacuation."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Millions of people live near volcanoes.
2. Volcanic ash makes the soil fertile, so farming is good.
3. Heat from underground gives cheap geothermal energy.
4. Volcanic rock makes strong building materials.
5. Volcanoes bring tourists and jobs.
6. In Rotorua, New Zealand, hot water from underground feeds geysers and hot pools.
7. People drilled too many wells and the geysers began to stop.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When drilling was controlled, a geyser came back to life.
9. The risk from tectonic hazards can be reduced in four ways.
10. Prediction means saying when and where a hazard will happen.
11. Protection means building so that people and property survive.
12. Planning means using hazard maps and practising what to do.
13. Monitoring means watching for warning signs.
14. Volcanoes can be predicted by monitoring; earthquakes still cannot.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Living in the shadow of volcanoes. Say it in your own words, then check understanding with a quick question: ask a pupil from the pre-teach group first, since they met these words and ideas before the lesson. Pupils try to recall before you re-explain.
Tomatoes grow on the slopes of Mount Vesuvius in Italy because the soil, made from volcanic ash, is so fertile. That one fact opens the question your class debated: why do people expose themselves to the risk of living near a volcano? The deck gives four benefits. Fertile soil for farming. Renewable and cheaper energy, because geothermal heat from underground can generate electricity. Durable construction materials from volcanic rock. And jobs from tourism, because people travel a long way to see a volcano.
Your case studies were Hawaii and Iceland, and they are volcanic for different reasons. Iceland sits on a constructive margin, the Mid-Atlantic Ridge, where the North American and Eurasian plates pull apart and magma rises between them. Hawaii sits in the middle of the Pacific plate, far from any boundary, above a hot spot where a plume of very hot mantle rises and burns through the plate. Both are also hot spots in the everyday sense: geothermal energy heats homes and pools and powers the electricity grid, and tourism brings in money.
The task asked whether you would rather live in Hawaii or Iceland, and to what extent a volcano is a blessing to each. Build your judgement from the benefits sorted into economic (energy, building materials, farming income, tourist jobs) and environmental (fertile soil, geothermal heat), set against the risks: eruptions, poisonous gases and the chance that the land you farm is buried in ash.
Tip: Learn the four benefits as a list: soil, energy, building materials, tourism. Then attach each to Hawaii or Iceland for a located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Rotorua geyser mystery. Say it in your own words, then check understanding with a quick question: ask a pupil from the pre-teach group first, since they met these words and ideas before the lesson. Pupils try to recall before you re-explain.
Rotorua, on the North Island of New Zealand, is famous for its geysers, its hot springs and hot pools, and the smell of sulphur. It attracts around 3 million visitors each year; its own population is about 68,000, of whom 35 % are Maori. For centuries Maori people have used these natural hot springs to heat their homes, cook, bathe, wash clothes and heal, and have tried to respect what the land offered. A geyser forms when rainwater sinks deep into the Earth and is heated far past boiling point. Hot water is lighter than cold water, so it rises; pressure builds in an underground reservoir, and when the superheated water is forced up a narrow vent it flashes to steam and erupts, like a pressure cooker letting go. Then the cycle begins again.
The mystery was Te Whakarewarewa, a geyser that had been dormant for 35 years and sprang back into life at 11:35 am on Saturday 12 October 2013. The cards solved it. In the 1950s electricity restrictions led people to drill their own bore holes to heat their homes; the wells were inefficient and wasted heat. Through the 1970s the geothermal field beneath Rotorua dropped, and the geysers and springs began to decline. Since 1991 extraction has been managed: communal systems in which 10 or more homes share a single well are now required. With less water taken out, pressure and water levels recovered, and the geyser returned.
The stretch question asked whether geothermal power is sustainable. The cards give both sides. A geothermal field can keep going as long as the water level and the pressure underground are kept up, and with less drilling the geysers and springs recover. But the fields are fragile, human pressure has been the biggest problem, and the gases that come with the heat, carbon dioxide and hydrogen sulphide, can build up to deadly levels in poorly ventilated pools and homes, especially where built-up areas stop them venting. Evaluate means discuss the good and the bad and make a judgement.
Worked example — model it step by step, thinking aloud: Rotorua has about 68,000 residents and attracts around 3 million visitors a year. Roughly how many visitors is that for every resident? (1) Write the division: visitors ÷ residents = 3,000,000 ÷ 68,000. (2) Simplify by cancelling three zeros from each: 3000 ÷ 68. (3) 3000 ÷ 68 ≈ 44.1, so about 44 visitors for every resident each year. (4) Comment: tourism on that scale is a major income, which is why protecting the geysers matters economically as well as environmentally. Answer: About 44 visitors per resident each year..
Tip: Geyser cycle in four words: seep, heat, pressure, erupt. The mystery's answer in four: drilling, decline, management,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Rotorua geyser mystery. Say it in your own words, then check understanding with a quick question: ask a pupil from the pre-teach group first, since they met these words and ideas before the lesson. Pupils try to recall before you re-explain.
Rotorua, on the North Island of New Zealand, is famous for its geysers, its hot springs and hot pools, and the smell of sulphur. It attracts around 3 million visitors each year; its own population is about 68,000, of whom 35 % are Maori. For centuries Maori people have used these natural hot springs to heat their homes, cook, bathe, wash clothes and heal, and have tried to respect what the land offered. A geyser forms when rainwater sinks deep into the Earth and is heated far past boiling point. Hot water is lighter than cold water, so it rises; pressure builds in an underground reservoir, and when the superheated water is forced up a narrow vent it flashes to steam and erupts, like a pressure cooker letting go. Then the cycle begins again.
The mystery was Te Whakarewarewa, a geyser that had been dormant for 35 years and sprang back into life at 11:35 am on Saturday 12 October 2013. The cards solved it. In the 1950s electricity restrictions led people to drill their own bore holes to heat their homes; the wells were inefficient and wasted heat. Through the 1970s the geothermal field beneath Rotorua dropped, and the geysers and springs began to decline. Since 1991 extraction has been managed: communal systems in which 10 or more homes share a single well are now required. With less water taken out, pressure and water levels recovered, and the geyser returned.
The stretch question asked whether geothermal power is sustainable. The cards give both sides. A geothermal field can keep going as long as the water level and the pressure underground are kept up, and with less drilling the geysers and springs recover. But the fields are fragile, human pressure has been the biggest problem, and the gases that come with the heat, carbon dioxide and hydrogen sulphide, can build up to deadly levels in poorly ventilated pools and homes, especially where built-up areas stop them venting. Evaluate means discuss the good and the bad and make a judgement.
Worked example — model it step by step, thinking aloud: Rotorua has about 68,000 residents and attracts around 3 million visitors a year. Roughly how many visitors is that for every resident? (1) Write the division: visitors ÷ residents = 3,000,000 ÷ 68,000. (2) Simplify by cancelling three zeros from each: 3000 ÷ 68. (3) 3000 ÷ 68 ≈ 44.1, so about 44 visitors for every resident each year. (4) Comment: tourism on that scale is a major income, which is why protecting the geysers matters economically as well as environmentally. Answer: About 44 visitors per resident each year..
Tip: Geyser cycle in four words: seep, heat, pressure, erupt. The mystery's answer in four: drilling, decline, management, recovery.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Reducing the risk from earthquakes: the 3Ps and M. Say it in your own words, then check understanding with a quick question: ask a pupil from the pre-teach group first, since they met these words and ideas before the lesson. Pupils try to recall before you re-explain.
There are four management strategies for reducing the risk from tectonic hazards: prediction, protection, planning and monitoring, which your class called the 3Ps and M. For earthquakes, prediction is inaccurate, because there are no clear warning signs that an earthquake is about to happen. What scientists can do is use the frequency of past earthquakes to identify areas at high risk: Istanbul in Turkey, for example, lies on the conservative margin between the Eurasian and Anatolian plates and is known to be at risk, even though no one can say when.
Protection means constructing buildings and bridges that withstand the ground shaking. In Chile, new buildings have reinforced concrete columns held inside a steel frame, which is one reason its 2010 earthquake killed so few. Tsunami walls can be built along coasts to stop the water surging inland. Planning uses maps of past earthquakes, with dates, so that the frequency of earthquakes in an area can be calculated and the most at-risk areas identified, and emergency plans and drills prepared for them.
Monitoring of earthquakes is still unreliable. Instruments can detect changes in water pressure, ground deformation and tremors, but scientists still cannot turn those warnings into a reliable forecast of when an earthquake will strike. So for earthquakes the weight falls on protection and planning: you cannot stop the shaking or know its date, but you can make sure the buildings stay up and people know what to do.
Tip: For earthquakes: prediction weak, monitoring unreliable, protection and planning strong. Give Istanbul for risk mapping and Chile for building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Reducing the risk from volcanoes. Say it in your own words, then check understanding with a quick question: ask a pupil from the pre-teach group first, since they met these words and ideas before the lesson. Pupils try to recall before you re-explain.
Volcanoes are different: their eruptions can be predicted, because prediction is based on monitoring, and volcanoes give warning signs. In 2010 the eruption of Eyjafjallajokull in Iceland was accurately predicted by scientists before it erupted in March and April, because the earthquakes under the volcano increased and were closely monitored. Volcanoes are monitored for signs of eruption in several ways: remote sensing from satellites, seismicity (the small earthquakes caused by rising magma), ground deformation as the volcano swells, and the release of gases into the atmosphere or dissolved in water.
Protection against volcanoes is harder than against earthquakes, because little can stand up to an eruption. Earth embankments and explosives have been used on the slopes of Mount Etna in Italy to steer lava flows away from property, but the power of an eruption can make it impossible to protect people and property. Planning therefore matters most. Hazard maps showing the areas an eruption is likely to affect are produced for volcanic regions, and they are used to plan, for example, the evacuation of the areas most at risk.
So how far can the 3Ps and M reduce the risk? For volcanoes, a long way: monitoring gives prediction, prediction gives time, and planning turns time into evacuation. For earthquakes, the strategies reduce the effects rather than the event: protection keeps buildings standing and planning gets help moving fast. Either way, they cost money, which is why, as the Chile and Nepal comparison showed, an HIC can reduce its risk far more than an LIC.
Tip: A nine-mark assess question on the 3Ps and M needs both hazards, at least one located example for each strategy, and a judgement that depends on the hazard and the country's wealth.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strategy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management strategy to its example from the lesson.
Support — work through the steps with the group: (1) Prediction is about saying where or when something will happen, so look for the example about risk and the future. (2) Protection is about buildings and structures that survive the hazard. (3) Planning is about maps and what people will do: evacuation routes and drills. (4) Monitoring is about measuring instruments and watching for warning signs.
Parallel worked example for Support (model it, do not give the task answer): Sort: a tsunami wall built along a coast; a school practising an earthquake drill. Choices: planning; protection. A wall is a structure that holds back the hazard, so it is protection.; A drill prepares people for what to do, so it is planning.. Answer: Tsunami wall: protection. Earthquake drill: planning..
Core — reveal the hint only on request: Future risk, strong structures, maps and evacuation, instruments watching.
Stretch — no help; when finished: Explain why monitoring leads to prediction for volcanoes but not for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Which strategy is this?.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management strategy to its example from the lesson.
Support — work through the steps with the group: (1) Prediction is about saying where or when something will happen, so look for the example about risk and the future. (2) Protection is about buildings and structures that survive the hazard. (3) Planning is about maps and what people will do: evacuation routes and drills. (4) Monitoring is about measuring instruments and watching for warning signs.
Parallel worked example for Support (model it, do not give the task answer): Sort: a tsunami wall built along a coast; a school practising an earthquake drill. Choices: planning; protection. A wall is a structure that holds back the hazard, so it is protection.; A drill prepares people for what to do, so it is planning.. Answer: Tsunami wall: protection. Earthquake drill: planning..
Core — reveal the hint only on request: Future risk, strong structures, maps and evacuation, instruments watching.
Stretch — no help; when finished: Explain why monitoring leads to prediction for volcanoes but not for earthquakes.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Rotorua by numbers.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Rotorua has a population of about 68,000 people, of whom 35 % are Maori. About how many Maori people live in Rotorua?
Support — work through the steps with the group: (1) Turn the percentage into a decimal: 35 % = 35 ÷ 100 = 0.35. (2) Multiply the whole population by the decimal: 68,000 × 0.35. (3) Break it up: 68,000 × 0.3 = 20,400 and 68,000 × 0.05 = 3,400. (4) Add: 20,400 + 3,400 = 23,800 people.
Parallel worked example for Support (model it, do not give the task answer): A town of 40,000 people has 15 % living in a flood-risk zone. How many people is that? 15 % = 0.15.; 40,000 × 0.15 = 6,000.. Answer: 6,000 people.
Core — reveal the hint only on request: Per cent means out of 100. Find 1 % of 68,000 first, then multiply by 35.
Stretch — no help; when finished: Explain why Maori knowledge of the geothermal field matters to the debate about whether Rotorua's geothermal energy is sustainable.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How were scientists able to predict the 2010 eruption of Eyjafjallajokull in Iceland?
Answer: A   By monitoring the increasing earthquakes under the volcano. Volcanic prediction is based on monitoring. The earthquake events under Eyjafjallajokull increased and were closely watched, so scientists predicted the eruption before it happened in March and April 2010.
Source of this question: gate item 1 re-asked (options rotated) — this chapter has no third quick-check module.
The ebook also holds task 3, "How far can the risk be reduced?",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Which strategy is this?. Reveal the answer; pupils mark their own work in a different colour, then read the "why" together. Same destination for every lane, so one answer serves the whole class.
Answer: Prediction  →  A  Using the frequency of past earthquakes to identify Istanbul as a high-risk city on the Eurasian and Anatolian plate margin; Protection  →  D  Building new homes in Chile with reinforced concrete columns held inside a steel frame; Planning  →  B  Producing hazard maps of volcanic regions and using them to plan the evacuation of the most at-risk areas; Monitoring  →  C  Measuring ground deformation, seismicity and gas release at a volcano for signs of an eruption
Why: Prediction: identifying Istanbul's risk from past frequency. Protection: Chile's reinforced buildings. Planning: hazard maps for evacuation. Monitoring: ground deformation, seismicity and gases at a volcano.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Rotorua by numbers. Reveal the answer; pupils mark their own work in a different colour, then read the "why" together. Same destination for every lane, so one answer serves the whole class.
Answer: 23 800 people
Why: 35 % of 68,000 = 0.35 × 68,000 = 23,800 people. Percent means out of 100, so divide by 100 and multiply by 35.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A   By monitoring the increasing earthquakes under the volcano
Why: Volcanic prediction is based on monitoring. The earthquake events under Eyjafjallajokull increased and were closely watched, so scientists predicted the eruption before it happened in March and April 2010.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3D1C7"/>
          </a:solidFill>
          <a:ln w="12700">
            <a:solidFill>
              <a:srgbClr val="C3D1C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11 · The Challenge of Natural Hazards: Tectonic Hazards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FDA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11</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Challenge of Natural Hazards: Tectonic Hazards · AQA 8035</a:t>
            </a:r>
            <a:endParaRPr lang="en-US" sz="1800" dirty="0"/>
          </a:p>
        </p:txBody>
      </p:sp>
      <p:sp>
        <p:nvSpPr>
          <p:cNvPr id="10" name="deck-title"/>
          <p:cNvSpPr txBox="1"/>
          <p:nvPr/>
        </p:nvSpPr>
        <p:spPr>
          <a:xfrm>
            <a:off x="548640" y="1735328"/>
            <a:ext cx="5287975" cy="14478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Living with the risk, and reducing it</a:t>
            </a:r>
            <a:endParaRPr lang="en-US" sz="4000" dirty="0"/>
          </a:p>
        </p:txBody>
      </p:sp>
      <p:sp>
        <p:nvSpPr>
          <p:cNvPr id="11" name="lessons-card"/>
          <p:cNvSpPr/>
          <p:nvPr/>
        </p:nvSpPr>
        <p:spPr>
          <a:xfrm>
            <a:off x="548640" y="3411728"/>
            <a:ext cx="5287975" cy="2296160"/>
          </a:xfrm>
          <a:prstGeom prst="roundRect">
            <a:avLst>
              <a:gd name="adj" fmla="val 3186"/>
            </a:avLst>
          </a:prstGeom>
          <a:solidFill>
            <a:srgbClr val="E2E9E4"/>
          </a:solidFill>
          <a:ln/>
        </p:spPr>
      </p:sp>
      <p:sp>
        <p:nvSpPr>
          <p:cNvPr id="12" name="lessons"/>
          <p:cNvSpPr txBox="1"/>
          <p:nvPr/>
        </p:nvSpPr>
        <p:spPr>
          <a:xfrm>
            <a:off x="685800" y="3503168"/>
            <a:ext cx="5013655" cy="211328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Living in the shadow of volcanoes: Vesuvius, Hawaii and Iceland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New Zealand geysers mystery: Rotorua</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Reducing the risk from tectonic hazards: the 3Ps and M</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2E9E4"/>
          </a:solidFill>
          <a:ln w="12700">
            <a:solidFill>
              <a:srgbClr val="A9BCAE"/>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200" i="1" dirty="0">
                <a:solidFill>
                  <a:srgbClr val="1E2229"/>
                </a:solidFill>
                <a:latin typeface="Cambria" pitchFamily="34" charset="0"/>
                <a:ea typeface="Cambria" pitchFamily="34" charset="-122"/>
                <a:cs typeface="Cambria" pitchFamily="34" charset="-120"/>
              </a:rPr>
              <a:t>Why do tectonic hazards hurt some places far more than others, and how far can people reduce the risk?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How were scientists able to predict the 2010 eruption of Eyjafjallajokull in Iceland?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using tsunami walls along the Icelandic coast</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monitoring the increasing earthquakes under the volcano</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measuring changes in sea temperature around Iceland</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By studying the frequency of past eruptions on a hazard map</a:t>
            </a:r>
            <a:endParaRPr lang="en-US" sz="1800" dirty="0"/>
          </a:p>
        </p:txBody>
      </p:sp>
      <p:sp>
        <p:nvSpPr>
          <p:cNvPr id="12" name="card"/>
          <p:cNvSpPr/>
          <p:nvPr/>
        </p:nvSpPr>
        <p:spPr>
          <a:xfrm>
            <a:off x="6233008" y="1389888"/>
            <a:ext cx="5410048" cy="4754880"/>
          </a:xfrm>
          <a:prstGeom prst="roundRect">
            <a:avLst>
              <a:gd name="adj" fmla="val 1154"/>
            </a:avLst>
          </a:prstGeom>
          <a:solidFill>
            <a:srgbClr val="E8EDE9"/>
          </a:solidFill>
          <a:ln w="12700">
            <a:solidFill>
              <a:srgbClr val="B2C4B7"/>
            </a:solidFill>
            <a:prstDash val="solid"/>
          </a:ln>
        </p:spPr>
      </p:sp>
      <p:sp>
        <p:nvSpPr>
          <p:cNvPr id="13" name="card-hex"/>
          <p:cNvSpPr/>
          <p:nvPr/>
        </p:nvSpPr>
        <p:spPr>
          <a:xfrm>
            <a:off x="6415888" y="1572768"/>
            <a:ext cx="640080" cy="554309"/>
          </a:xfrm>
          <a:prstGeom prst="hexagon">
            <a:avLst/>
          </a:prstGeom>
          <a:solidFill>
            <a:srgbClr val="3F6B4A"/>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On the slopes of Mount Etna, earth embankments and explosives have been used to divert ___ away from property.</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lava flows  ·  earthquakes  ·  tourists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Iceland is volcanic because it sits on which plate boundary?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destructive margin between the Nazca and South American plates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conservative margin between the North American and Pacific plates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collision margin between the Indo-Australian and Eurasian plates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constructive margin between the North American and Eurasian plates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8EDE9"/>
          </a:solidFill>
          <a:ln w="12700">
            <a:solidFill>
              <a:srgbClr val="B2C4B7"/>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B   By monitoring the increasing earthquakes under the volcano</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Volcanic prediction is based on monitoring. The earthquake events under Eyjafjallajokull increased and were closely watched, so scientists predicted the eruption before it happened in March and April…</a:t>
            </a:r>
            <a:endParaRPr lang="en-US" sz="1800" dirty="0"/>
          </a:p>
        </p:txBody>
      </p:sp>
      <p:sp>
        <p:nvSpPr>
          <p:cNvPr id="14" name="card"/>
          <p:cNvSpPr/>
          <p:nvPr/>
        </p:nvSpPr>
        <p:spPr>
          <a:xfrm>
            <a:off x="4338218" y="1389888"/>
            <a:ext cx="3515258" cy="4754880"/>
          </a:xfrm>
          <a:prstGeom prst="roundRect">
            <a:avLst>
              <a:gd name="adj" fmla="val 1561"/>
            </a:avLst>
          </a:prstGeom>
          <a:solidFill>
            <a:srgbClr val="E8EDE9"/>
          </a:solidFill>
          <a:ln w="12700">
            <a:solidFill>
              <a:srgbClr val="B2C4B7"/>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ADBBF"/>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lava flows</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Earth embankments and explosives can divert lava flows away from property; it was used on Mount Etna in Italy, though the power of an eruption can make protection impossible.</a:t>
            </a:r>
            <a:endParaRPr lang="en-US" sz="1800" dirty="0"/>
          </a:p>
        </p:txBody>
      </p:sp>
      <p:sp>
        <p:nvSpPr>
          <p:cNvPr id="21" name="card"/>
          <p:cNvSpPr/>
          <p:nvPr/>
        </p:nvSpPr>
        <p:spPr>
          <a:xfrm>
            <a:off x="8127797" y="1389888"/>
            <a:ext cx="3515258" cy="4754880"/>
          </a:xfrm>
          <a:prstGeom prst="roundRect">
            <a:avLst>
              <a:gd name="adj" fmla="val 1561"/>
            </a:avLst>
          </a:prstGeom>
          <a:solidFill>
            <a:srgbClr val="E8EDE9"/>
          </a:solidFill>
          <a:ln w="12700">
            <a:solidFill>
              <a:srgbClr val="B2C4B7"/>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636776"/>
          </a:xfrm>
          <a:prstGeom prst="roundRect">
            <a:avLst>
              <a:gd name="adj" fmla="val 6704"/>
            </a:avLst>
          </a:prstGeom>
          <a:solidFill>
            <a:srgbClr val="EADBBF"/>
          </a:solidFill>
          <a:ln w="19050">
            <a:solidFill>
              <a:srgbClr val="B8862B"/>
            </a:solidFill>
            <a:prstDash val="solid"/>
          </a:ln>
        </p:spPr>
      </p:sp>
      <p:sp>
        <p:nvSpPr>
          <p:cNvPr id="26" name="answer"/>
          <p:cNvSpPr txBox="1"/>
          <p:nvPr/>
        </p:nvSpPr>
        <p:spPr>
          <a:xfrm>
            <a:off x="8402117"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The constructive margin between the North American and Eurasian plates</a:t>
            </a:r>
            <a:endParaRPr lang="en-US" sz="2200" dirty="0"/>
          </a:p>
        </p:txBody>
      </p:sp>
      <p:sp>
        <p:nvSpPr>
          <p:cNvPr id="27" name="card-body"/>
          <p:cNvSpPr txBox="1"/>
          <p:nvPr/>
        </p:nvSpPr>
        <p:spPr>
          <a:xfrm>
            <a:off x="8310677"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Iceland lies on the Mid-Atlantic Ridge, a constructive margin where the North American and Eurasian plates pull apart and magma rises to form volcanoes; it is also helped by…</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fertile</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good for growing crops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Volcanic ash makes the soil around Vesuvius fertile.</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geothermal</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heat from inside the Earth</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Iceland uses geothermal energy to make cheap electricity.</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hot spot</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place where very hot mantle rises under a plate, making volcanoes away from a boundary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Hawaii sits on a hot spot in the middle of the Pacific plate.</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6ECE7"/>
          </a:solidFill>
          <a:ln w="12700">
            <a:solidFill>
              <a:srgbClr val="A9BCAE"/>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geyser</a:t>
            </a:r>
            <a:endParaRPr lang="en-US" sz="2600" dirty="0"/>
          </a:p>
        </p:txBody>
      </p:sp>
      <p:sp>
        <p:nvSpPr>
          <p:cNvPr id="11" name="word-rule"/>
          <p:cNvSpPr/>
          <p:nvPr/>
        </p:nvSpPr>
        <p:spPr>
          <a:xfrm>
            <a:off x="731520" y="2129028"/>
            <a:ext cx="3149498" cy="0"/>
          </a:xfrm>
          <a:prstGeom prst="line">
            <a:avLst/>
          </a:prstGeom>
          <a:ln w="12700">
            <a:solidFill>
              <a:srgbClr val="A9BCAE"/>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spring that shoots hot water and steam into the air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Rotorua's geysers attract millions of tourists.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6ECE7"/>
          </a:solidFill>
          <a:ln w="12700">
            <a:solidFill>
              <a:srgbClr val="A9BCAE"/>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hazard map</a:t>
            </a:r>
            <a:endParaRPr lang="en-US" sz="2600" dirty="0"/>
          </a:p>
        </p:txBody>
      </p:sp>
      <p:sp>
        <p:nvSpPr>
          <p:cNvPr id="17" name="word-rule"/>
          <p:cNvSpPr/>
          <p:nvPr/>
        </p:nvSpPr>
        <p:spPr>
          <a:xfrm>
            <a:off x="4521098" y="2129028"/>
            <a:ext cx="3149498" cy="0"/>
          </a:xfrm>
          <a:prstGeom prst="line">
            <a:avLst/>
          </a:prstGeom>
          <a:ln w="12700">
            <a:solidFill>
              <a:srgbClr val="A9BCAE"/>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map showing which areas a hazard is most likely to affect</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hazard map helps a town plan where to evacuate from.</a:t>
            </a:r>
            <a:endParaRPr lang="en-US" sz="2200" dirty="0"/>
          </a:p>
        </p:txBody>
      </p:sp>
      <p:sp>
        <p:nvSpPr>
          <p:cNvPr id="19" name="word-card"/>
          <p:cNvSpPr/>
          <p:nvPr/>
        </p:nvSpPr>
        <p:spPr>
          <a:xfrm>
            <a:off x="8127797" y="1389888"/>
            <a:ext cx="3515258" cy="4754880"/>
          </a:xfrm>
          <a:prstGeom prst="roundRect">
            <a:avLst>
              <a:gd name="adj" fmla="val 1561"/>
            </a:avLst>
          </a:prstGeom>
          <a:solidFill>
            <a:srgbClr val="E6ECE7"/>
          </a:solidFill>
          <a:ln w="12700">
            <a:solidFill>
              <a:srgbClr val="A9BCAE"/>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evacuation</a:t>
            </a:r>
            <a:endParaRPr lang="en-US" sz="2600" dirty="0"/>
          </a:p>
        </p:txBody>
      </p:sp>
      <p:sp>
        <p:nvSpPr>
          <p:cNvPr id="23" name="word-rule"/>
          <p:cNvSpPr/>
          <p:nvPr/>
        </p:nvSpPr>
        <p:spPr>
          <a:xfrm>
            <a:off x="8310677" y="2129028"/>
            <a:ext cx="3149498" cy="0"/>
          </a:xfrm>
          <a:prstGeom prst="line">
            <a:avLst/>
          </a:prstGeom>
          <a:ln w="12700">
            <a:solidFill>
              <a:srgbClr val="A9BCAE"/>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moving people out of danger before a hazard strikes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Monitoring the volcano gave time for evacuation.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Millions of people live near volcanoes.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ash makes the soil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fertile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so farming is good.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Heat from underground gives cheap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geothermal</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energy.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Volcanic rock makes strong building materials.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Volcanoes bring tourists and jobs.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Rotorua, New Zealand, hot water from underground feeds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geysers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hot pools.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drilled too many wells and the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geysers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began to stop.</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8EDE9"/>
          </a:solidFill>
          <a:ln w="12700">
            <a:solidFill>
              <a:srgbClr val="BCCBC0"/>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drilling was controlled, 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geyser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came back to life.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risk from tectonic hazards can be reduced in four ways.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Prediction means saying when and where a hazard will happen.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Protection means building so that people and property survive.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Planning means using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hazard maps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practising what to do.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Monitoring means watching for warning signs.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Volcanoes can be predicted by monitoring; earthquakes still cannot.</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Living in the shadow of volcanoes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benefits as a list: soil, energy, building materials, tourism. Then attach each to Hawaii or Iceland for a located answer.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Tomatoes grow on the slopes of Mount Vesuvius in Italy because the soil, made from volcanic ash, is so fertile.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case studies were Hawaii and Iceland, and they are volcanic for different reasons.</a:t>
            </a:r>
            <a:endParaRPr lang="en-US" sz="24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task asked whether you would rather live in Hawaii or Iceland, and to what extent a volcano is a blessing to each.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Rotorua geyser mystery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Geyser cycle in four words: seep, heat, pressure, erupt. The mystery's answer in four: drilling, decline, management, recovery.</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Rotorua, on the North Island of New Zealand, is famous for its geysers, its hot springs and hot pools, and the smell of sulphur.</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mystery was Te Whakarewarewa, a geyser that had been dormant for 35 years and sprang back into life at 11:35 am on Saturday 12 October 2013.</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stretch question asked whether geothermal power is sustainable. The cards give both sides.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The Rotorua geyser mystery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29640"/>
          </a:xfrm>
          <a:prstGeom prst="roundRect">
            <a:avLst>
              <a:gd name="adj" fmla="val 9836"/>
            </a:avLst>
          </a:prstGeom>
          <a:solidFill>
            <a:srgbClr val="E2E9E4"/>
          </a:solidFill>
          <a:ln/>
        </p:spPr>
      </p:sp>
      <p:sp>
        <p:nvSpPr>
          <p:cNvPr id="8" name="worked-q"/>
          <p:cNvSpPr txBox="1"/>
          <p:nvPr/>
        </p:nvSpPr>
        <p:spPr>
          <a:xfrm>
            <a:off x="731520" y="1481328"/>
            <a:ext cx="10728655" cy="74676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Rotorua has about 68,000 residents and attracts around 3 million visitors a year. Roughly how many visitors is that for every resident?</a:t>
            </a:r>
            <a:endParaRPr lang="en-US" sz="2000" dirty="0"/>
          </a:p>
        </p:txBody>
      </p:sp>
      <p:sp>
        <p:nvSpPr>
          <p:cNvPr id="9" name="step-box"/>
          <p:cNvSpPr/>
          <p:nvPr/>
        </p:nvSpPr>
        <p:spPr>
          <a:xfrm>
            <a:off x="548640" y="2502408"/>
            <a:ext cx="11094415" cy="568858"/>
          </a:xfrm>
          <a:prstGeom prst="roundRect">
            <a:avLst>
              <a:gd name="adj" fmla="val 12859"/>
            </a:avLst>
          </a:prstGeom>
          <a:solidFill>
            <a:srgbClr val="FFFFFF"/>
          </a:solidFill>
          <a:ln w="15875">
            <a:solidFill>
              <a:srgbClr val="95AE9B"/>
            </a:solidFill>
            <a:prstDash val="solid"/>
          </a:ln>
        </p:spPr>
      </p:sp>
      <p:sp>
        <p:nvSpPr>
          <p:cNvPr id="10" name="step-hex"/>
          <p:cNvSpPr/>
          <p:nvPr/>
        </p:nvSpPr>
        <p:spPr>
          <a:xfrm>
            <a:off x="685800" y="2588870"/>
            <a:ext cx="457200" cy="395935"/>
          </a:xfrm>
          <a:prstGeom prst="hexagon">
            <a:avLst/>
          </a:prstGeom>
          <a:solidFill>
            <a:srgbClr val="3F6B4A"/>
          </a:solidFill>
          <a:ln/>
        </p:spPr>
      </p:sp>
      <p:sp>
        <p:nvSpPr>
          <p:cNvPr id="11" name="step-hex-label"/>
          <p:cNvSpPr txBox="1"/>
          <p:nvPr/>
        </p:nvSpPr>
        <p:spPr>
          <a:xfrm>
            <a:off x="685800" y="258887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50240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division: visitors ÷ residents = 3,000,000 ÷ 68,000.</a:t>
            </a:r>
            <a:endParaRPr lang="en-US" sz="1800" dirty="0"/>
          </a:p>
        </p:txBody>
      </p:sp>
      <p:sp>
        <p:nvSpPr>
          <p:cNvPr id="13" name="step-box"/>
          <p:cNvSpPr/>
          <p:nvPr/>
        </p:nvSpPr>
        <p:spPr>
          <a:xfrm>
            <a:off x="548640" y="3144418"/>
            <a:ext cx="11094415" cy="568858"/>
          </a:xfrm>
          <a:prstGeom prst="roundRect">
            <a:avLst>
              <a:gd name="adj" fmla="val 12859"/>
            </a:avLst>
          </a:prstGeom>
          <a:solidFill>
            <a:srgbClr val="FFFFFF"/>
          </a:solidFill>
          <a:ln w="15875">
            <a:solidFill>
              <a:srgbClr val="95AE9B"/>
            </a:solidFill>
            <a:prstDash val="solid"/>
          </a:ln>
        </p:spPr>
      </p:sp>
      <p:sp>
        <p:nvSpPr>
          <p:cNvPr id="14" name="step-hex"/>
          <p:cNvSpPr/>
          <p:nvPr/>
        </p:nvSpPr>
        <p:spPr>
          <a:xfrm>
            <a:off x="685800" y="3230880"/>
            <a:ext cx="457200" cy="395935"/>
          </a:xfrm>
          <a:prstGeom prst="hexagon">
            <a:avLst/>
          </a:prstGeom>
          <a:solidFill>
            <a:srgbClr val="3F6B4A"/>
          </a:solidFill>
          <a:ln/>
        </p:spPr>
      </p:sp>
      <p:sp>
        <p:nvSpPr>
          <p:cNvPr id="15" name="step-hex-label"/>
          <p:cNvSpPr txBox="1"/>
          <p:nvPr/>
        </p:nvSpPr>
        <p:spPr>
          <a:xfrm>
            <a:off x="685800" y="323088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3144418"/>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Simplify by cancelling three zeros from each: 3000 ÷ 68.</a:t>
            </a:r>
            <a:endParaRPr lang="en-US" sz="1800" dirty="0"/>
          </a:p>
        </p:txBody>
      </p:sp>
      <p:sp>
        <p:nvSpPr>
          <p:cNvPr id="17" name="step-box"/>
          <p:cNvSpPr/>
          <p:nvPr/>
        </p:nvSpPr>
        <p:spPr>
          <a:xfrm>
            <a:off x="548640" y="3786429"/>
            <a:ext cx="11094415" cy="568858"/>
          </a:xfrm>
          <a:prstGeom prst="roundRect">
            <a:avLst>
              <a:gd name="adj" fmla="val 12859"/>
            </a:avLst>
          </a:prstGeom>
          <a:solidFill>
            <a:srgbClr val="FFFFFF"/>
          </a:solidFill>
          <a:ln w="15875">
            <a:solidFill>
              <a:srgbClr val="95AE9B"/>
            </a:solidFill>
            <a:prstDash val="solid"/>
          </a:ln>
        </p:spPr>
      </p:sp>
      <p:sp>
        <p:nvSpPr>
          <p:cNvPr id="18" name="step-hex"/>
          <p:cNvSpPr/>
          <p:nvPr/>
        </p:nvSpPr>
        <p:spPr>
          <a:xfrm>
            <a:off x="685800" y="3872890"/>
            <a:ext cx="457200" cy="395935"/>
          </a:xfrm>
          <a:prstGeom prst="hexagon">
            <a:avLst/>
          </a:prstGeom>
          <a:solidFill>
            <a:srgbClr val="3F6B4A"/>
          </a:solidFill>
          <a:ln/>
        </p:spPr>
      </p:sp>
      <p:sp>
        <p:nvSpPr>
          <p:cNvPr id="19" name="step-hex-label"/>
          <p:cNvSpPr txBox="1"/>
          <p:nvPr/>
        </p:nvSpPr>
        <p:spPr>
          <a:xfrm>
            <a:off x="685800" y="387289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786429"/>
            <a:ext cx="10180015" cy="56885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3000 ÷ 68 ≈ 44.1, so about 44 visitors for every resident each year.</a:t>
            </a:r>
            <a:endParaRPr lang="en-US" sz="1800" dirty="0"/>
          </a:p>
        </p:txBody>
      </p:sp>
      <p:sp>
        <p:nvSpPr>
          <p:cNvPr id="21" name="step-box"/>
          <p:cNvSpPr/>
          <p:nvPr/>
        </p:nvSpPr>
        <p:spPr>
          <a:xfrm>
            <a:off x="548640" y="4428439"/>
            <a:ext cx="11094415" cy="833018"/>
          </a:xfrm>
          <a:prstGeom prst="roundRect">
            <a:avLst>
              <a:gd name="adj" fmla="val 8782"/>
            </a:avLst>
          </a:prstGeom>
          <a:solidFill>
            <a:srgbClr val="FFFFFF"/>
          </a:solidFill>
          <a:ln w="15875">
            <a:solidFill>
              <a:srgbClr val="95AE9B"/>
            </a:solidFill>
            <a:prstDash val="solid"/>
          </a:ln>
        </p:spPr>
      </p:sp>
      <p:sp>
        <p:nvSpPr>
          <p:cNvPr id="22" name="step-hex"/>
          <p:cNvSpPr/>
          <p:nvPr/>
        </p:nvSpPr>
        <p:spPr>
          <a:xfrm>
            <a:off x="685800" y="4646981"/>
            <a:ext cx="457200" cy="395935"/>
          </a:xfrm>
          <a:prstGeom prst="hexagon">
            <a:avLst/>
          </a:prstGeom>
          <a:solidFill>
            <a:srgbClr val="3F6B4A"/>
          </a:solidFill>
          <a:ln/>
        </p:spPr>
      </p:sp>
      <p:sp>
        <p:nvSpPr>
          <p:cNvPr id="23" name="step-hex-label"/>
          <p:cNvSpPr txBox="1"/>
          <p:nvPr/>
        </p:nvSpPr>
        <p:spPr>
          <a:xfrm>
            <a:off x="685800" y="4646981"/>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428439"/>
            <a:ext cx="10180015" cy="83301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Comment: tourism on that scale is a major income, which is why protecting the geysers matters economically as well as environmentally.</a:t>
            </a:r>
            <a:endParaRPr lang="en-US" sz="1800" dirty="0"/>
          </a:p>
        </p:txBody>
      </p:sp>
      <p:sp>
        <p:nvSpPr>
          <p:cNvPr id="25" name="worked-answer"/>
          <p:cNvSpPr/>
          <p:nvPr/>
        </p:nvSpPr>
        <p:spPr>
          <a:xfrm>
            <a:off x="548640" y="5444338"/>
            <a:ext cx="11094415" cy="552196"/>
          </a:xfrm>
          <a:prstGeom prst="roundRect">
            <a:avLst>
              <a:gd name="adj" fmla="val 2483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About 44 visitors per resident each year.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Reducing the risk from earthquakes: the 3Ps and M</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For earthquakes: prediction weak, monitoring unreliable, protection and planning strong. Give Istanbul for risk mapping and Chile for building design.</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There are four management strategies for reducing the risk from tectonic hazards: prediction, protection, planning and monitoring, which your class called the 3Ps and M.</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Protection means constructing buildings and bridges that withstand the ground shaking.</a:t>
            </a:r>
            <a:endParaRPr lang="en-US" sz="18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Monitoring of earthquakes is still unreliable. Instruments can detect changes in water pressure, ground deformation and tremors, but scientists still cannot turn those warnings into a reliable forecast of when an earthquake will strike.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Reducing the risk from volcanoes</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nine-mark assess question on the 3Ps and M needs both hazards, at least one located example for each strategy, and a judgement that depends on the hazard and the country's wealth.</a:t>
            </a:r>
            <a:endParaRPr lang="en-US" sz="1800" dirty="0"/>
          </a:p>
        </p:txBody>
      </p:sp>
      <p:sp>
        <p:nvSpPr>
          <p:cNvPr id="11" name="point-card"/>
          <p:cNvSpPr/>
          <p:nvPr/>
        </p:nvSpPr>
        <p:spPr>
          <a:xfrm>
            <a:off x="548640" y="1389888"/>
            <a:ext cx="3515258" cy="3686048"/>
          </a:xfrm>
          <a:prstGeom prst="roundRect">
            <a:avLst>
              <a:gd name="adj" fmla="val 1561"/>
            </a:avLst>
          </a:prstGeom>
          <a:solidFill>
            <a:srgbClr val="E2E9E4"/>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Volcanoes are different: their eruptions can be predicted, because prediction is based on monitoring, and volcanoes give warning signs.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Protection against volcanoes is harder than against earthquakes, because little can stand up to an eruption.</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2E9E4"/>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So how far can the 3Ps and M reduce the risk?</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Which strategy is this?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management strategy to its example from the lesson.</a:t>
            </a:r>
            <a:endParaRPr lang="en-US" sz="2200" dirty="0"/>
          </a:p>
        </p:txBody>
      </p:sp>
      <p:sp>
        <p:nvSpPr>
          <p:cNvPr id="11" name="match-card"/>
          <p:cNvSpPr/>
          <p:nvPr/>
        </p:nvSpPr>
        <p:spPr>
          <a:xfrm>
            <a:off x="777240" y="2468331"/>
            <a:ext cx="3081437" cy="804809"/>
          </a:xfrm>
          <a:prstGeom prst="roundRect">
            <a:avLst>
              <a:gd name="adj" fmla="val 9089"/>
            </a:avLst>
          </a:prstGeom>
          <a:solidFill>
            <a:srgbClr val="E6ECE7"/>
          </a:solidFill>
          <a:ln/>
        </p:spPr>
      </p:sp>
      <p:sp>
        <p:nvSpPr>
          <p:cNvPr id="12" name="match-hex"/>
          <p:cNvSpPr/>
          <p:nvPr/>
        </p:nvSpPr>
        <p:spPr>
          <a:xfrm>
            <a:off x="850392" y="2704443"/>
            <a:ext cx="384048" cy="332586"/>
          </a:xfrm>
          <a:prstGeom prst="hexagon">
            <a:avLst/>
          </a:prstGeom>
          <a:solidFill>
            <a:srgbClr val="3F6B4A"/>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Prediction</a:t>
            </a:r>
            <a:endParaRPr lang="en-US" sz="1800" dirty="0"/>
          </a:p>
        </p:txBody>
      </p:sp>
      <p:sp>
        <p:nvSpPr>
          <p:cNvPr id="15" name="match-card"/>
          <p:cNvSpPr/>
          <p:nvPr/>
        </p:nvSpPr>
        <p:spPr>
          <a:xfrm>
            <a:off x="4224437" y="2468331"/>
            <a:ext cx="7190019" cy="804809"/>
          </a:xfrm>
          <a:prstGeom prst="roundRect">
            <a:avLst>
              <a:gd name="adj" fmla="val 9089"/>
            </a:avLst>
          </a:prstGeom>
          <a:solidFill>
            <a:srgbClr val="F3EADB"/>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Using the frequency of past earthquakes to identify Istanbul as a high-risk city on the Eurasian and Anatolian plate margin</a:t>
            </a:r>
            <a:endParaRPr lang="en-US" sz="1800" dirty="0"/>
          </a:p>
        </p:txBody>
      </p:sp>
      <p:sp>
        <p:nvSpPr>
          <p:cNvPr id="19" name="match-card"/>
          <p:cNvSpPr/>
          <p:nvPr/>
        </p:nvSpPr>
        <p:spPr>
          <a:xfrm>
            <a:off x="777240" y="3364581"/>
            <a:ext cx="3081437" cy="804809"/>
          </a:xfrm>
          <a:prstGeom prst="roundRect">
            <a:avLst>
              <a:gd name="adj" fmla="val 9089"/>
            </a:avLst>
          </a:prstGeom>
          <a:solidFill>
            <a:srgbClr val="E6ECE7"/>
          </a:solidFill>
          <a:ln/>
        </p:spPr>
      </p:sp>
      <p:sp>
        <p:nvSpPr>
          <p:cNvPr id="20" name="match-hex"/>
          <p:cNvSpPr/>
          <p:nvPr/>
        </p:nvSpPr>
        <p:spPr>
          <a:xfrm>
            <a:off x="850392" y="3600692"/>
            <a:ext cx="384048" cy="332586"/>
          </a:xfrm>
          <a:prstGeom prst="hexagon">
            <a:avLst/>
          </a:prstGeom>
          <a:solidFill>
            <a:srgbClr val="3F6B4A"/>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Protection</a:t>
            </a:r>
            <a:endParaRPr lang="en-US" sz="1800" dirty="0"/>
          </a:p>
        </p:txBody>
      </p:sp>
      <p:sp>
        <p:nvSpPr>
          <p:cNvPr id="23" name="match-card"/>
          <p:cNvSpPr/>
          <p:nvPr/>
        </p:nvSpPr>
        <p:spPr>
          <a:xfrm>
            <a:off x="4224437" y="3364581"/>
            <a:ext cx="7190019" cy="804809"/>
          </a:xfrm>
          <a:prstGeom prst="roundRect">
            <a:avLst>
              <a:gd name="adj" fmla="val 9089"/>
            </a:avLst>
          </a:prstGeom>
          <a:solidFill>
            <a:srgbClr val="F3EADB"/>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Producing hazard maps of volcanic regions and using them to plan the evacuation of the most at-risk areas</a:t>
            </a:r>
            <a:endParaRPr lang="en-US" sz="1800" dirty="0"/>
          </a:p>
        </p:txBody>
      </p:sp>
      <p:sp>
        <p:nvSpPr>
          <p:cNvPr id="27" name="match-card"/>
          <p:cNvSpPr/>
          <p:nvPr/>
        </p:nvSpPr>
        <p:spPr>
          <a:xfrm>
            <a:off x="777240" y="4260830"/>
            <a:ext cx="3081437" cy="804809"/>
          </a:xfrm>
          <a:prstGeom prst="roundRect">
            <a:avLst>
              <a:gd name="adj" fmla="val 9089"/>
            </a:avLst>
          </a:prstGeom>
          <a:solidFill>
            <a:srgbClr val="E6ECE7"/>
          </a:solidFill>
          <a:ln/>
        </p:spPr>
      </p:sp>
      <p:sp>
        <p:nvSpPr>
          <p:cNvPr id="28" name="match-hex"/>
          <p:cNvSpPr/>
          <p:nvPr/>
        </p:nvSpPr>
        <p:spPr>
          <a:xfrm>
            <a:off x="850392" y="4496941"/>
            <a:ext cx="384048" cy="332586"/>
          </a:xfrm>
          <a:prstGeom prst="hexagon">
            <a:avLst/>
          </a:prstGeom>
          <a:solidFill>
            <a:srgbClr val="3F6B4A"/>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Planning</a:t>
            </a:r>
            <a:endParaRPr lang="en-US" sz="1800" dirty="0"/>
          </a:p>
        </p:txBody>
      </p:sp>
      <p:sp>
        <p:nvSpPr>
          <p:cNvPr id="31" name="match-card"/>
          <p:cNvSpPr/>
          <p:nvPr/>
        </p:nvSpPr>
        <p:spPr>
          <a:xfrm>
            <a:off x="4224437" y="4260830"/>
            <a:ext cx="7190019" cy="804809"/>
          </a:xfrm>
          <a:prstGeom prst="roundRect">
            <a:avLst>
              <a:gd name="adj" fmla="val 9089"/>
            </a:avLst>
          </a:prstGeom>
          <a:solidFill>
            <a:srgbClr val="F3EADB"/>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Measuring ground deformation, seismicity and gas release at a volcano for signs of an eruption</a:t>
            </a:r>
            <a:endParaRPr lang="en-US" sz="1800" dirty="0"/>
          </a:p>
        </p:txBody>
      </p:sp>
      <p:sp>
        <p:nvSpPr>
          <p:cNvPr id="35" name="match-card"/>
          <p:cNvSpPr/>
          <p:nvPr/>
        </p:nvSpPr>
        <p:spPr>
          <a:xfrm>
            <a:off x="777240" y="5157079"/>
            <a:ext cx="3081437" cy="804809"/>
          </a:xfrm>
          <a:prstGeom prst="roundRect">
            <a:avLst>
              <a:gd name="adj" fmla="val 9089"/>
            </a:avLst>
          </a:prstGeom>
          <a:solidFill>
            <a:srgbClr val="E6ECE7"/>
          </a:solidFill>
          <a:ln/>
        </p:spPr>
      </p:sp>
      <p:sp>
        <p:nvSpPr>
          <p:cNvPr id="36" name="match-hex"/>
          <p:cNvSpPr/>
          <p:nvPr/>
        </p:nvSpPr>
        <p:spPr>
          <a:xfrm>
            <a:off x="850392" y="5393191"/>
            <a:ext cx="384048" cy="332586"/>
          </a:xfrm>
          <a:prstGeom prst="hexagon">
            <a:avLst/>
          </a:prstGeom>
          <a:solidFill>
            <a:srgbClr val="3F6B4A"/>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Monitoring</a:t>
            </a:r>
            <a:endParaRPr lang="en-US" sz="1800" dirty="0"/>
          </a:p>
        </p:txBody>
      </p:sp>
      <p:sp>
        <p:nvSpPr>
          <p:cNvPr id="39" name="match-card"/>
          <p:cNvSpPr/>
          <p:nvPr/>
        </p:nvSpPr>
        <p:spPr>
          <a:xfrm>
            <a:off x="4224437" y="5157079"/>
            <a:ext cx="7190019" cy="804809"/>
          </a:xfrm>
          <a:prstGeom prst="roundRect">
            <a:avLst>
              <a:gd name="adj" fmla="val 9089"/>
            </a:avLst>
          </a:prstGeom>
          <a:solidFill>
            <a:srgbClr val="F3EADB"/>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Building new homes in Chile with reinforced concrete columns held inside a steel frame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3F6B4A"/>
                </a:solidFill>
                <a:latin typeface="Cambria" pitchFamily="34" charset="0"/>
                <a:ea typeface="Cambria" pitchFamily="34" charset="-122"/>
                <a:cs typeface="Cambria" pitchFamily="34" charset="-120"/>
              </a:rPr>
              <a:t>Same task, three ways in: Which strategy is this?</a:t>
            </a:r>
            <a:endParaRPr lang="en-US" sz="30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1 (on the last slide): Which strategy is this?</a:t>
            </a:r>
            <a:endParaRPr lang="en-US" sz="2000" dirty="0"/>
          </a:p>
        </p:txBody>
      </p:sp>
      <p:sp>
        <p:nvSpPr>
          <p:cNvPr id="12" name="col-Support"/>
          <p:cNvSpPr/>
          <p:nvPr/>
        </p:nvSpPr>
        <p:spPr>
          <a:xfrm>
            <a:off x="548640" y="2395728"/>
            <a:ext cx="5602443" cy="3749040"/>
          </a:xfrm>
          <a:prstGeom prst="roundRect">
            <a:avLst>
              <a:gd name="adj" fmla="val 1463"/>
            </a:avLst>
          </a:prstGeom>
          <a:solidFill>
            <a:srgbClr val="E2E9E4"/>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Prediction is about saying where or when something will happen, so look for the example about risk and the future.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Protection is about buildings and structures that survive the hazard.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Planning is about maps and what people will do: evacuation routes and drills.</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Monitoring is about measuring instruments and watching for warning signs.</a:t>
            </a:r>
            <a:endParaRPr lang="en-US" sz="1800" dirty="0"/>
          </a:p>
        </p:txBody>
      </p:sp>
      <p:sp>
        <p:nvSpPr>
          <p:cNvPr id="17" name="col-Core"/>
          <p:cNvSpPr/>
          <p:nvPr/>
        </p:nvSpPr>
        <p:spPr>
          <a:xfrm>
            <a:off x="6425403" y="2395728"/>
            <a:ext cx="2471666" cy="3749040"/>
          </a:xfrm>
          <a:prstGeom prst="roundRect">
            <a:avLst>
              <a:gd name="adj" fmla="val 2220"/>
            </a:avLst>
          </a:prstGeom>
          <a:solidFill>
            <a:srgbClr val="CB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Future risk, strong structures, maps and evacuation, instruments watching.</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3F6B4A"/>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monitoring leads to prediction for volcanoes but not for earthquakes.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Rotorua by numbers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Rotorua has a population of about 68,000 people, of whom 35 % are Maori. About how many Maori people live in Rotorua?</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people</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2E9E4"/>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Turn the percentage into a decimal: 35 % = 35 ÷ 100 = 0.35.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the whole population by the decimal: 68,000 × 0.35.</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Break it up: 68,000 × 0.3 = 20,400 and 68,000 × 0.05 = 3,400.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Add: 20,400 + 3,400 = 23,800 people.</a:t>
            </a:r>
            <a:endParaRPr lang="en-US" sz="1800" dirty="0"/>
          </a:p>
        </p:txBody>
      </p:sp>
      <p:sp>
        <p:nvSpPr>
          <p:cNvPr id="17" name="col-Core"/>
          <p:cNvSpPr/>
          <p:nvPr/>
        </p:nvSpPr>
        <p:spPr>
          <a:xfrm>
            <a:off x="5490762" y="2948940"/>
            <a:ext cx="2938987" cy="3195828"/>
          </a:xfrm>
          <a:prstGeom prst="roundRect">
            <a:avLst>
              <a:gd name="adj" fmla="val 1867"/>
            </a:avLst>
          </a:prstGeom>
          <a:solidFill>
            <a:srgbClr val="CBD7CE"/>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Per cent means out of 100. Find 1 % of 68,000 first, then multiply by 35.</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why Maori knowledge of the geothermal field matters to the debate about whether Rotorua's geothermal energy is sustainable.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61518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How were scientists able to predict the 2010 eruption of Eyjafjallajokull in Iceland?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monitoring the increasing earthquakes under the volcano</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measuring changes in sea temperature around Iceland</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studying the frequency of past eruptions on a hazard map</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By using tsunami walls along the Icelandic coast</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8EDE9"/>
          </a:solidFill>
          <a:ln w="12700">
            <a:solidFill>
              <a:srgbClr val="95AE9B"/>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Which strategy is this?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Prediction  →  A  Using the frequency of past earthquakes to identify Istanbul as a high-risk city on the Eurasian and Anatolian plate margin</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Protection  →  D  Building new homes in Chile with reinforced concrete columns held inside a steel frame</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Planning  →  B  Producing hazard maps of volcanic regions and using them to plan the evacuation of the most at-risk areas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Monitoring  →  C  Measuring ground deformation, seismicity and gas release at a volcano for signs of an eruption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Prediction: identifying Istanbul's risk from past frequency. Protection: Chile's reinforced buildings. Planning: hazard maps for evacuation. Monitoring: ground deformation, seismicity and gases at a volcano.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Rotorua by numbers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Rotorua has a population of about 68,000 people, of whom 35 % are Maori. About how many Maori people live in Rotorua?</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23 800 people</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35 % of 68,000 = 0.35 × 68,000 = 23,800 people. Percent means out of 100, so divide by 100 and multiply by 35.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How were scientists able to predict the 2010 eruption of Eyjafjallajokull in Iceland?</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A   By monitoring the increasing earthquakes under the volcano</a:t>
            </a:r>
            <a:endParaRPr lang="en-US" sz="1800" dirty="0"/>
          </a:p>
        </p:txBody>
      </p:sp>
      <p:sp>
        <p:nvSpPr>
          <p:cNvPr id="10" name="why-panel"/>
          <p:cNvSpPr/>
          <p:nvPr/>
        </p:nvSpPr>
        <p:spPr>
          <a:xfrm>
            <a:off x="7223760" y="1389888"/>
            <a:ext cx="4419295" cy="4754880"/>
          </a:xfrm>
          <a:prstGeom prst="roundRect">
            <a:avLst>
              <a:gd name="adj" fmla="val 1035"/>
            </a:avLst>
          </a:prstGeom>
          <a:solidFill>
            <a:srgbClr val="E2E9E4"/>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Volcanic prediction is based on monitoring. The earthquake events under Eyjafjallajokull increased and were closely watched, so scientists predicted the eruption before it happened in March and April 2010.</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2E9E4"/>
      </a:lt2>
      <a:accent1>
        <a:srgbClr val="3F6B4A"/>
      </a:accent1>
      <a:accent2>
        <a:srgbClr val="B8862B"/>
      </a:accent2>
      <a:accent3>
        <a:srgbClr val="8CA692"/>
      </a:accent3>
      <a:accent4>
        <a:srgbClr val="815E1E"/>
      </a:accent4>
      <a:accent5>
        <a:srgbClr val="4A505C"/>
      </a:accent5>
      <a:accent6>
        <a:srgbClr val="D8BC8A"/>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Challenge of Natural Hazards: Tectonic Hazards · Chapter 6: Living with the risk, and reducing it</dc:title>
  <dc:subject>Geography · Year 11</dc:subject>
  <dc:creator>Dr Vitor Merissi de Carvalho</dc:creator>
  <cp:lastModifiedBy>Dr Vitor Merissi de Carvalho</cp:lastModifiedBy>
  <cp:revision>1</cp:revision>
  <dcterms:created xsi:type="dcterms:W3CDTF">2026-10-19T06:07:46Z</dcterms:created>
  <dcterms:modified xsi:type="dcterms:W3CDTF">2026-10-19T06:07:46Z</dcterms:modified>
</cp:coreProperties>
</file>