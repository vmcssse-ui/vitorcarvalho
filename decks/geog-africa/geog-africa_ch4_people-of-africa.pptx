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e11247f-bf74-8e08-97c9-0901802e64ac}">
          <p14:sldIdLst>
            <p14:sldId id="256"/>
          </p14:sldIdLst>
        </p14:section>
        <p14:section name="Gate" id="{663e1f88-0fd2-21a5-e7d9-40e30fefb074}">
          <p14:sldIdLst>
            <p14:sldId id="257"/>
            <p14:sldId id="258"/>
          </p14:sldIdLst>
        </p14:section>
        <p14:section name="Pre-teach" id="{9a9c77ad-acbd-f4ec-78a3-616044900c5c}">
          <p14:sldIdLst>
            <p14:sldId id="259"/>
          </p14:sldIdLst>
        </p14:section>
        <p14:section name="Read-along" id="{d2ba022c-53f8-3c81-7ec6-6cafb6d167d9}">
          <p14:sldIdLst>
            <p14:sldId id="260"/>
            <p14:sldId id="261"/>
          </p14:sldIdLst>
        </p14:section>
        <p14:section name="Teach" id="{a85db552-d27d-9c0c-e28c-0d6ab0e0738c}">
          <p14:sldIdLst>
            <p14:sldId id="262"/>
            <p14:sldId id="263"/>
            <p14:sldId id="264"/>
            <p14:sldId id="265"/>
          </p14:sldIdLst>
        </p14:section>
        <p14:section name="Routes" id="{baa3480e-0c5d-9234-7ffa-3788e121da9a}">
          <p14:sldIdLst>
            <p14:sldId id="266"/>
            <p14:sldId id="267"/>
            <p14:sldId id="268"/>
          </p14:sldIdLst>
        </p14:section>
        <p14:section name="Close" id="{f56b4de5-a2b3-a45e-867d-83603d9ca7d9}">
          <p14:sldIdLst>
            <p14:sldId id="269"/>
          </p14:sldIdLst>
        </p14:section>
        <p14:section name="Answers" id="{c1c5d758-489c-07d6-6b52-20a3c5f1bfb2}">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Where people live: the human geography of Africa. Countries and capitals, how population is spread across the continent and why, how to present one country to visitors, and some of the many peoples of Africa.
This deck covers the department's lessons: 5 (Human features of Africa: population distribution: Where do people live in Africa, and why are some places crowded and others almost empty?); 6 (The human geography of Africa: museum stall: What makes a country what it is, and how can you present one African country to visitors?); 10 (Tribes in Africa: Who are some of the peoples of Africa, and where does each live?).
Read the big question aloud: "What is Africa really like, and how have its physical geography, its people and its history shaped the continent today?"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city is the capital of Nigeria?  →  A   Abuja
2. Population ___ is the number of people living in each square kilometre.  →  density
3. Where is population density lowest in Africa?  →  B   In the Sahara Desert in the north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Abuja. Abuja is Nigeria's capital city. Lagos is its biggest city, but not the capital.
2. density. Density is people per km². Distribution is where people live; structure is the mix of ages and sexes.
3. B   In the Sahara Desert in the north. The Sahara, in Algeria, Libya, Mali and Niger, is too dry for farming, so very few people live there.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population: the people who live in a place. Example: "The population of Nigeria is the largest in Africa."
• population density: how many people live in each square kilometre. Example: "Population density is low in the Sahara Desert."
• population distribution: where people live and where they do not. Example: "The map shows an uneven population distribution."
• capital city: the city where a country's government is based. Example: "Abuja is the capital city of Nigeria."
• culture: the language, food, music, clothes and beliefs of a group of people. Example: "Each people of Africa has its own culture."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More than fifty countries make up Africa.
2. Each country has a capital city.
3. Abuja is the capital of Nigeria.
4. Kinshasa is the capital of the Democratic Republic of Congo.
5. Dodoma is the capital of Tanzania.
6. Population means the people who live in a place.
7. Population distribution is where people live.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Population density is how many people live in each square kilometre.
9. Few people live in the Sahara Desert, because it is so dry.
10. Many people live in West Africa, near the coast.
11. Africa's people belong to thousands of different groups.
12. Each group has its own language, food, music and way of life.
13. The Maasai live in Kenya and the Zulu live in South Africa.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Countries and capitals. Say it in your own words, then check understanding with a quick question: ask a pupil from the pre-teach group first, since they met these words and ideas before the lesson. Pupils try to recall before you re-explain.
Africa's fifty-plus countries range from giants such as Algeria, Sudan and the Democratic Republic of Congo to tiny states such as Gambia, Djibouti, Rwanda, Burundi, Togo, Benin, Lesotho and Eswatini (which older maps, including the one in your lesson, call Swaziland). Madagascar is a large island country off the south-east coast. Niger is a country to the north of Nigeria, and the River Niger flows through both: three different things with almost the same name.
Every country has a capital city, where its government is based. Abuja is the capital of Nigeria. Kinshasa is the capital and largest city of the Democratic Republic of Congo. Dodoma is the capital of Tanzania. Be careful with the famous cities: Johannesburg is the largest city in South Africa, nicknamed the city of gold, but it is not the capital, and Lagos is the biggest city in Nigeria but Abuja is the capital.
Your lesson asked you to name as many countries and capitals as you could, using the map on page 108 of your textbook, and to draw three flags. Learning the spellings matters: the keyword test included Ethiopia, Egypt, Morocco, Djibouti, Guinea, Madagascar, Johannesburg, Kinshasa and Abuja.
Tip: Capital does not mean biggest. Abuja, not Lagos; Dodoma, not the biggest Tanzanian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Population: distribution and density. Say it in your own words, then check understanding with a quick question: ask a pupil from the pre-teach group first, since they met these words and ideas before the lesson. Pupils try to recall before you re-explain.
Population is the number of people living in a place. Population distribution is the spread of people across an area: where people live, and where they do not. Population density is the number of people living in a particular area, normally given per square kilometre (km²). On a population density map, the darker the colour, the more people live there.
People are not spread evenly across Africa. Some places are densely populated and others are very sparsely populated. Population density is low in the deserts: the Sahara, in Algeria, Libya, Mali and Niger in north Africa, has very few people because it is so dry. The most densely populated areas are in west Africa, close to the seas and oceans: Nigeria, Ghana and Cameroon all border the Atlantic Ocean and have many people.
The reason is the link between physical and human geography. Where there is water, fertile land and a coast for trade and fishing, people can farm, work and travel, so many people live there. Where there is no water, as in a hot desert, few can. In your lesson you explained population density using exactly this link, with the physical features map and the biomes map from your textbook.
Worked example — model it step by step, thinking aloud: A region has 300 000 people and an area of 1500 km². What is its population density? (1) Population density is people divided by area. (2) Write the division: 300 000 ÷ 1500. (3) Simplify: 300 000 ÷ 1500 is the same as 3000 ÷ 15, which is 200. (4) Give the units: 200 people per km². Answer: 200 people per km².
Tip: Density is always people per km²: divide people by area, never the other way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Presenting a country: the museum stall. Say it in your own words, then check understanding with a quick question: ask a pupil from the pre-teach group first, since they met these words and ideas before the lesson. Pupils try to recall before you re-explain.
In the museum lesson, your class imagined that the British Museum's African archives had been destroyed by a burst pipe, and each group rebuilt one country's display. The seven countries were Sierra Leone, Kenya, South Africa, Nigeria, Egypt, Morocco and Ethiopia.
A good stall answers the questions a geographer asks about any country. Location: a geographical description of where it is, using compass directions, neighbours and coasts. Population: how many people, and the population structure, meaning whether most are young or old, male or female. Life expectancy: how long people live on average. Wealth: the country's GDP. Culture: famous attractions and unique ways of life. Resources and trade: the main exports. Conflicts: any issues the country faces.
The success criteria rewarded the same things any good geography does: information taken from real sources, in-depth understanding shown in an imaginative way, and a display that visitors could engage with. You will meet life expectancy and GDP again in the next chapter, where they become measures of development.
Tip: Describe a location with three things: the continent and compass direction, the neighbours, and the sea or ocean it touches.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peoples of Africa. Say it in your own words, then check understanding with a quick question: ask a pupil from the pre-teach group first, since they met these words and ideas before the lesson. Pupils try to recall before you re-explain.
Africa is so big that thousands of different groups of people live there, in different areas and countries, each with its own culture: language, clothing, food, music and dance, beliefs and ways of life. Your lesson used the word tribe for these groups; many geographers today prefer to say peoples or ethnic groups, because tribe can sound as if the groups are small or old-fashioned, when some number tens of millions of people.
The lesson named ten well-known peoples and the country each is mostly linked with: the Zulu and the Xhosa in South Africa, the Maasai and the Kalenjin in Kenya, the San in Botswana, the Yoruba in Nigeria, the Hausa in Niger (and Hausa is also one of the main languages of northern Nigeria), the Himba in Namibia, the Oromo in Ethiopia and the Chaga in Tanzania. Your research poster had to cover location, language, clothing, food, music, beliefs, links to other parts of the world, famous people and whether the group is growing or shrinking.
Remember the perceptions lesson. A man in Maasai dress working at a wildlife park in California is not evidence about Kenya, and a photograph of one people's traditional clothing tells you nothing about how most people in that country dress every day.
Tip: Learn the ten with a mnemonic, as the homework asked, but always pair each people with its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Working out population density.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country has 24 million people and an area of 240 000 km². What is its population density, in people per km²?
Support — work through the steps with the group: (1) Write 24 million as a number: 24 000 000. (2) Population density is people divided by area, so write 24 000 000 ÷ 240 000. (3) Cancel zeros: knock four zeros off each number to get 2400 ÷ 24. (4) 2400 ÷ 24 = 100. The answer is 100 people per km².
Parallel worked example for Support (model it, do not give the task answer): A city has 3 million people and an area of 1000 km². What is its population density? People divided by area: 3 000 000 ÷ 1000.; Knock three zeros off each: 3000 ÷ 1 = 3000.. Answer: 3000 people per km².
Core — reveal the hint only on request: People divided by area. Cancel the zeros before you divide.
Stretch — no help; when finished: A country with the same area has a density of 4 people per km². How many people live there, and what kind of landscape might explain such a low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is Africa's population so uneven?.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population density is low in the Sahara Desert but high on the coast of West Africa. Name two countries for each area.
Support — work through the steps with the group: (1) Sentence 1: say where density is low, with two country names. (2) Sentence 2: give the physical reason: a desert has almost no rain, so no farming. (3) Sentence 3: say where density is high, with two country names and the ocean they border. (4) Sentence 4: give the reasons: rain, fertile land, fishing and trade. (5) Last sentence: sum up with the word distribution.
Parallel worked example for Support (model it, do not give the task answer): In two sentences, explain why few people live high in a mountain range but many live in the river valley below it. Say what makes the mountains hard to live in.; Say what the valley offers.. Answer: High in the mountains it is cold, steep and hard to farm or build, so few people live there. The valley below has flat, fertile land and a river for water, so many people live there..
Core — reveal the hint only on request: Desert in the north: no water, so few people. Coast in the west: water, farmland and trade, so many people. Two countries each.
Stretch — no help; when finished: Explain one other place in Africa where you would expect high population density, using the physical features map, and justify your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is Africa's population so uneven?.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population density is low in the Sahara Desert but high on the coast of West Africa. Name two countries for each area.
Support — work through the steps with the group: (1) Sentence 1: say where density is low, with two country names. (2) Sentence 2: give the physical reason: a desert has almost no rain, so no farming. (3) Sentence 3: say where density is high, with two country names and the ocean they border. (4) Sentence 4: give the reasons: rain, fertile land, fishing and trade. (5) Last sentence: sum up with the word distribution.
Parallel worked example for Support (model it, do not give the task answer): In two sentences, explain why few people live high in a mountain range but many live in the river valley below it. Say what makes the mountains hard to live in.; Say what the valley offers.. Answer: High in the mountains it is cold, steep and hard to farm or build, so few people live there. The valley below has flat, fertile land and a river for water, so many people live there..
Core — reveal the hint only on request: Desert in the north: no water, so few people. Coast in the west: water, farmland and trade, so many people. Two countries each.
Stretch — no help; when finished: Explain one other place in Africa where you would expect high population density, using the physical features map, and justify your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city is the capital of Nigeria?
Answer: D   Abuja. Abuja is Nigeria's capital city. Lagos is its biggest city, but not the capital.
Source of this question: gate item 1 re-asked (options rotated) — this chapter has no third quick-check module.
The ebook also holds task 3, "Peoples and their countries",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Working out population density. Reveal the answer; pupils mark their own work in a different colour, then read the "why" together. Same destination for every lane, so one answer serves the whole class.
Answer: 100 people per km²
Why: Density is people per unit of area. 24 000 000 people ÷ 240 000 km² = 100 people living in each square kilometre, on average.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is Africa's population so uneven?. Reveal the answer; pupils mark their own work in a different colour, then read the "why" together. Same destination for every lane, so one answer serves the whole class.
Answer: Names two countries in the Sahara (from Algeria, Libya, Mali, Niger) and two on the West African coast (from Nigeria, Ghana, Cameroon); Gives a physical reason for low density in the desert, such as very little rain and no water for farming; Gives at least one reason for high density on the coast, such as water, fertile land, fishing or trade across the Atlantic; Uses compass directions and the words density and distribution correctly
Why: A strong answer names Algeria, Libya, Mali or Niger for the Sahara and Nigeria, Ghana or Cameroon for the coast, explains that lack of water keeps density low in the desert, and that rain, fertile land, fishing and trade make the Atlantic coast crowded.
Model answer: Population density is low in the north of Africa, in the Sahara Desert, which covers parts of Algeria, Libya, Mali and Niger. The desert receives almost no rain, so there is no water for crops or animals and very few people can live there. Population density is high in west Africa, close to the seas and oceans, in countries such as Nigeria, Ghana and Cameroon, which border the Atlantic Ocean. There is enough rain to farm, the land near the rivers is fertile, and the coast allows fishing and trade, so many people live there. The population distribution follows the water.
Success criteria: Names two countries in the Sahara (from Algeria, Libya, Mali, Niger) and two on the West African coast (from Nigeria, Ghana, Cameroon); Gives a physical reason for low density in the desert, such as very little rain and no water for farming; Gives at least one reason for high density on the coast, such as water, fertile land, fishing or trade across the Atlantic; Uses compass directions and the words density and distribution correctly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is Africa's population so uneven?. Reveal the answer; pupils mark their own work in a different colour, then read the "why" together. Same destination for every lane, so one answer serves the whole class.
Answer: Names two countries in the Sahara (from Algeria, Libya, Mali, Niger) and two on the West African coast (from Nigeria, Ghana, Cameroon); Gives a physical reason for low density in the desert, such as very little rain and no water for farming; Gives at least one reason for high density on the coast, such as water, fertile land, fishing or trade across the Atlantic; Uses compass directions and the words density and distribution correctly
Why: A strong answer names Algeria, Libya, Mali or Niger for the Sahara and Nigeria, Ghana or Cameroon for the coast, explains that lack of water keeps density low in the desert, and that rain, fertile land, fishing and trade make the Atlantic coast crowded.
Model answer: Population density is low in the north of Africa, in the Sahara Desert, which covers parts of Algeria, Libya, Mali and Niger. The desert receives almost no rain, so there is no water for crops or animals and very few people can live there. Population density is high in west Africa, close to the seas and oceans, in countries such as Nigeria, Ghana and Cameroon, which border the Atlantic Ocean. There is enough rain to farm, the land near the rivers is fertile, and the coast allows fishing and trade, so many people live there. The population distribution follows the water.
Success criteria: Names two countries in the Sahara (from Algeria, Libya, Mali, Niger) and two on the West African coast (from Nigeria, Ghana, Cameroon); Gives a physical reason for low density in the desert, such as very little rain and no water for farming; Gives at least one reason for high density on the coast, such as water, fertile land, fishing or trade across the Atlantic; Uses compass directions and the words density and distribution correctly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Abuja
Why: Abuja is Nigeria's capital city. Lagos is its biggest city, but not the capital.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Africa: A Continent, Not a Country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Africa: A Continent, Not a Country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Africa: A Continent, Not a Country · AQA KS3 → 8035</a:t>
            </a:r>
            <a:endParaRPr lang="en-US" sz="1800" dirty="0"/>
          </a:p>
        </p:txBody>
      </p:sp>
      <p:sp>
        <p:nvSpPr>
          <p:cNvPr id="10" name="deck-title"/>
          <p:cNvSpPr txBox="1"/>
          <p:nvPr/>
        </p:nvSpPr>
        <p:spPr>
          <a:xfrm>
            <a:off x="548640" y="193344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Where people live: the human geography of Africa</a:t>
            </a:r>
            <a:endParaRPr lang="en-US" sz="2800" dirty="0"/>
          </a:p>
        </p:txBody>
      </p:sp>
      <p:sp>
        <p:nvSpPr>
          <p:cNvPr id="11" name="lessons-card"/>
          <p:cNvSpPr/>
          <p:nvPr/>
        </p:nvSpPr>
        <p:spPr>
          <a:xfrm>
            <a:off x="548640" y="3213608"/>
            <a:ext cx="5287975" cy="2296160"/>
          </a:xfrm>
          <a:prstGeom prst="roundRect">
            <a:avLst>
              <a:gd name="adj" fmla="val 3186"/>
            </a:avLst>
          </a:prstGeom>
          <a:solidFill>
            <a:srgbClr val="F2F5F2"/>
          </a:solidFill>
          <a:ln/>
        </p:spPr>
      </p:sp>
      <p:sp>
        <p:nvSpPr>
          <p:cNvPr id="12" name="lessons"/>
          <p:cNvSpPr txBox="1"/>
          <p:nvPr/>
        </p:nvSpPr>
        <p:spPr>
          <a:xfrm>
            <a:off x="685800" y="3305048"/>
            <a:ext cx="5013655" cy="21132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Human features of Africa: population distribution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human geography of Africa: museum stall</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Tribes in Africa</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Africa really like, and how have its physical geography, its people and its history shaped the continent today?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city is the capital of Nigeria?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Abuja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Kinshasa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Lagos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Johannesburg</a:t>
            </a:r>
            <a:endParaRPr lang="en-US" sz="24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Population ___ is the number of people living in each square kilometre.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density  ·  distribution  ·  structure</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Where is population density lowest in Africa?</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 Ghana and Cameroon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In the Sahara Desert in the north</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Around Lagos in Nigeria</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On the coast of West Africa</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Abuja</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city is the capital of Nigeria?</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Abuja is Nigeria's capital city. Lagos is its biggest city, but not the capital.</a:t>
            </a:r>
            <a:endParaRPr lang="en-US" sz="22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density</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Population ___ is the number of people living in each square kilometre.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Density is people per km². Distribution is where people live; structure is the mix of ages and sexes.</a:t>
            </a:r>
            <a:endParaRPr lang="en-US" sz="20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FE4D0"/>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In the Sahara Desert in the north</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Where is population density lowest in Africa?</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Sahara, in Algeria, Libya, Mali and Niger, is too dry for farming, so very few people live there.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3F6B4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45338"/>
          </a:xfrm>
          <a:prstGeom prst="roundRect">
            <a:avLst>
              <a:gd name="adj" fmla="val 7361"/>
            </a:avLst>
          </a:prstGeom>
          <a:solidFill>
            <a:srgbClr val="F5F8F6"/>
          </a:solidFill>
          <a:ln/>
        </p:spPr>
      </p:sp>
      <p:sp>
        <p:nvSpPr>
          <p:cNvPr id="12" name="kw-hex"/>
          <p:cNvSpPr/>
          <p:nvPr/>
        </p:nvSpPr>
        <p:spPr>
          <a:xfrm>
            <a:off x="658368" y="2114738"/>
            <a:ext cx="411480" cy="356342"/>
          </a:xfrm>
          <a:prstGeom prst="hexagon">
            <a:avLst/>
          </a:prstGeom>
          <a:solidFill>
            <a:srgbClr val="3F6B4A"/>
          </a:solidFill>
          <a:ln/>
        </p:spPr>
      </p:sp>
      <p:sp>
        <p:nvSpPr>
          <p:cNvPr id="13" name="kw-cell"/>
          <p:cNvSpPr txBox="1"/>
          <p:nvPr/>
        </p:nvSpPr>
        <p:spPr>
          <a:xfrm>
            <a:off x="1143000" y="1920240"/>
            <a:ext cx="2331720" cy="745338"/>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population</a:t>
            </a:r>
            <a:endParaRPr lang="en-US" sz="2000" dirty="0"/>
          </a:p>
        </p:txBody>
      </p:sp>
      <p:sp>
        <p:nvSpPr>
          <p:cNvPr id="14" name="kw-cell"/>
          <p:cNvSpPr txBox="1"/>
          <p:nvPr/>
        </p:nvSpPr>
        <p:spPr>
          <a:xfrm>
            <a:off x="3657600" y="1920240"/>
            <a:ext cx="3474720" cy="74533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people who live in a place</a:t>
            </a:r>
            <a:endParaRPr lang="en-US" sz="1800" dirty="0"/>
          </a:p>
        </p:txBody>
      </p:sp>
      <p:sp>
        <p:nvSpPr>
          <p:cNvPr id="15" name="kw-cell"/>
          <p:cNvSpPr txBox="1"/>
          <p:nvPr/>
        </p:nvSpPr>
        <p:spPr>
          <a:xfrm>
            <a:off x="7315200" y="1920240"/>
            <a:ext cx="4236415" cy="74533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population of Nigeria is the largest in Africa.</a:t>
            </a:r>
            <a:endParaRPr lang="en-US" sz="1800" dirty="0"/>
          </a:p>
        </p:txBody>
      </p:sp>
      <p:sp>
        <p:nvSpPr>
          <p:cNvPr id="16" name="kw-row"/>
          <p:cNvSpPr/>
          <p:nvPr/>
        </p:nvSpPr>
        <p:spPr>
          <a:xfrm>
            <a:off x="548640" y="2738730"/>
            <a:ext cx="11094415" cy="847954"/>
          </a:xfrm>
          <a:prstGeom prst="roundRect">
            <a:avLst>
              <a:gd name="adj" fmla="val 6470"/>
            </a:avLst>
          </a:prstGeom>
          <a:solidFill>
            <a:srgbClr val="F9F4EC"/>
          </a:solidFill>
          <a:ln/>
        </p:spPr>
      </p:sp>
      <p:sp>
        <p:nvSpPr>
          <p:cNvPr id="17" name="kw-hex"/>
          <p:cNvSpPr/>
          <p:nvPr/>
        </p:nvSpPr>
        <p:spPr>
          <a:xfrm>
            <a:off x="658368" y="2984536"/>
            <a:ext cx="411480" cy="356342"/>
          </a:xfrm>
          <a:prstGeom prst="hexagon">
            <a:avLst/>
          </a:prstGeom>
          <a:solidFill>
            <a:srgbClr val="B8862B"/>
          </a:solidFill>
          <a:ln/>
        </p:spPr>
      </p:sp>
      <p:sp>
        <p:nvSpPr>
          <p:cNvPr id="18" name="kw-cell"/>
          <p:cNvSpPr txBox="1"/>
          <p:nvPr/>
        </p:nvSpPr>
        <p:spPr>
          <a:xfrm>
            <a:off x="1143000" y="2738730"/>
            <a:ext cx="2331720" cy="84795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population density</a:t>
            </a:r>
            <a:endParaRPr lang="en-US" sz="2000" dirty="0"/>
          </a:p>
        </p:txBody>
      </p:sp>
      <p:sp>
        <p:nvSpPr>
          <p:cNvPr id="19" name="kw-cell"/>
          <p:cNvSpPr txBox="1"/>
          <p:nvPr/>
        </p:nvSpPr>
        <p:spPr>
          <a:xfrm>
            <a:off x="3657600" y="2738730"/>
            <a:ext cx="3474720" cy="84795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many people live in each square kilometre</a:t>
            </a:r>
            <a:endParaRPr lang="en-US" sz="1800" dirty="0"/>
          </a:p>
        </p:txBody>
      </p:sp>
      <p:sp>
        <p:nvSpPr>
          <p:cNvPr id="20" name="kw-cell"/>
          <p:cNvSpPr txBox="1"/>
          <p:nvPr/>
        </p:nvSpPr>
        <p:spPr>
          <a:xfrm>
            <a:off x="7315200" y="2738730"/>
            <a:ext cx="4236415" cy="84795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Population density is low in the Sahara Desert.</a:t>
            </a:r>
            <a:endParaRPr lang="en-US" sz="1800" dirty="0"/>
          </a:p>
        </p:txBody>
      </p:sp>
      <p:sp>
        <p:nvSpPr>
          <p:cNvPr id="21" name="kw-row"/>
          <p:cNvSpPr/>
          <p:nvPr/>
        </p:nvSpPr>
        <p:spPr>
          <a:xfrm>
            <a:off x="548640" y="3659835"/>
            <a:ext cx="11094415" cy="847954"/>
          </a:xfrm>
          <a:prstGeom prst="roundRect">
            <a:avLst>
              <a:gd name="adj" fmla="val 6470"/>
            </a:avLst>
          </a:prstGeom>
          <a:solidFill>
            <a:srgbClr val="F5F8F6"/>
          </a:solidFill>
          <a:ln/>
        </p:spPr>
      </p:sp>
      <p:sp>
        <p:nvSpPr>
          <p:cNvPr id="22" name="kw-hex"/>
          <p:cNvSpPr/>
          <p:nvPr/>
        </p:nvSpPr>
        <p:spPr>
          <a:xfrm>
            <a:off x="658368" y="3905641"/>
            <a:ext cx="411480" cy="356342"/>
          </a:xfrm>
          <a:prstGeom prst="hexagon">
            <a:avLst/>
          </a:prstGeom>
          <a:solidFill>
            <a:srgbClr val="3F6B4A"/>
          </a:solidFill>
          <a:ln/>
        </p:spPr>
      </p:sp>
      <p:sp>
        <p:nvSpPr>
          <p:cNvPr id="23" name="kw-cell"/>
          <p:cNvSpPr txBox="1"/>
          <p:nvPr/>
        </p:nvSpPr>
        <p:spPr>
          <a:xfrm>
            <a:off x="1143000" y="3659835"/>
            <a:ext cx="2331720" cy="84795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population distribution</a:t>
            </a:r>
            <a:endParaRPr lang="en-US" sz="2000" dirty="0"/>
          </a:p>
        </p:txBody>
      </p:sp>
      <p:sp>
        <p:nvSpPr>
          <p:cNvPr id="24" name="kw-cell"/>
          <p:cNvSpPr txBox="1"/>
          <p:nvPr/>
        </p:nvSpPr>
        <p:spPr>
          <a:xfrm>
            <a:off x="3657600" y="3659835"/>
            <a:ext cx="3474720" cy="84795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where people live and where they do not</a:t>
            </a:r>
            <a:endParaRPr lang="en-US" sz="1800" dirty="0"/>
          </a:p>
        </p:txBody>
      </p:sp>
      <p:sp>
        <p:nvSpPr>
          <p:cNvPr id="25" name="kw-cell"/>
          <p:cNvSpPr txBox="1"/>
          <p:nvPr/>
        </p:nvSpPr>
        <p:spPr>
          <a:xfrm>
            <a:off x="7315200" y="3659835"/>
            <a:ext cx="4236415" cy="84795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map shows an uneven population distribution.</a:t>
            </a:r>
            <a:endParaRPr lang="en-US" sz="1800" dirty="0"/>
          </a:p>
        </p:txBody>
      </p:sp>
      <p:sp>
        <p:nvSpPr>
          <p:cNvPr id="26" name="kw-row"/>
          <p:cNvSpPr/>
          <p:nvPr/>
        </p:nvSpPr>
        <p:spPr>
          <a:xfrm>
            <a:off x="548640" y="4580941"/>
            <a:ext cx="11094415" cy="745338"/>
          </a:xfrm>
          <a:prstGeom prst="roundRect">
            <a:avLst>
              <a:gd name="adj" fmla="val 7361"/>
            </a:avLst>
          </a:prstGeom>
          <a:solidFill>
            <a:srgbClr val="F9F4EC"/>
          </a:solidFill>
          <a:ln/>
        </p:spPr>
      </p:sp>
      <p:sp>
        <p:nvSpPr>
          <p:cNvPr id="27" name="kw-hex"/>
          <p:cNvSpPr/>
          <p:nvPr/>
        </p:nvSpPr>
        <p:spPr>
          <a:xfrm>
            <a:off x="658368" y="4775439"/>
            <a:ext cx="411480" cy="356342"/>
          </a:xfrm>
          <a:prstGeom prst="hexagon">
            <a:avLst/>
          </a:prstGeom>
          <a:solidFill>
            <a:srgbClr val="B8862B"/>
          </a:solidFill>
          <a:ln/>
        </p:spPr>
      </p:sp>
      <p:sp>
        <p:nvSpPr>
          <p:cNvPr id="28" name="kw-cell"/>
          <p:cNvSpPr txBox="1"/>
          <p:nvPr/>
        </p:nvSpPr>
        <p:spPr>
          <a:xfrm>
            <a:off x="1143000" y="4580941"/>
            <a:ext cx="2331720" cy="745338"/>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capital city</a:t>
            </a:r>
            <a:endParaRPr lang="en-US" sz="2000" dirty="0"/>
          </a:p>
        </p:txBody>
      </p:sp>
      <p:sp>
        <p:nvSpPr>
          <p:cNvPr id="29" name="kw-cell"/>
          <p:cNvSpPr txBox="1"/>
          <p:nvPr/>
        </p:nvSpPr>
        <p:spPr>
          <a:xfrm>
            <a:off x="3657600" y="4580941"/>
            <a:ext cx="3474720" cy="74533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city where a country's government is based</a:t>
            </a:r>
            <a:endParaRPr lang="en-US" sz="1800" dirty="0"/>
          </a:p>
        </p:txBody>
      </p:sp>
      <p:sp>
        <p:nvSpPr>
          <p:cNvPr id="30" name="kw-cell"/>
          <p:cNvSpPr txBox="1"/>
          <p:nvPr/>
        </p:nvSpPr>
        <p:spPr>
          <a:xfrm>
            <a:off x="7315200" y="4580941"/>
            <a:ext cx="4236415" cy="74533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Abuja is the capital city of Nigeria.</a:t>
            </a:r>
            <a:endParaRPr lang="en-US" sz="1800" dirty="0"/>
          </a:p>
        </p:txBody>
      </p:sp>
      <p:sp>
        <p:nvSpPr>
          <p:cNvPr id="31" name="kw-row"/>
          <p:cNvSpPr/>
          <p:nvPr/>
        </p:nvSpPr>
        <p:spPr>
          <a:xfrm>
            <a:off x="548640" y="5399430"/>
            <a:ext cx="11094415" cy="745338"/>
          </a:xfrm>
          <a:prstGeom prst="roundRect">
            <a:avLst>
              <a:gd name="adj" fmla="val 7361"/>
            </a:avLst>
          </a:prstGeom>
          <a:solidFill>
            <a:srgbClr val="F5F8F6"/>
          </a:solidFill>
          <a:ln/>
        </p:spPr>
      </p:sp>
      <p:sp>
        <p:nvSpPr>
          <p:cNvPr id="32" name="kw-hex"/>
          <p:cNvSpPr/>
          <p:nvPr/>
        </p:nvSpPr>
        <p:spPr>
          <a:xfrm>
            <a:off x="658368" y="5593928"/>
            <a:ext cx="411480" cy="356342"/>
          </a:xfrm>
          <a:prstGeom prst="hexagon">
            <a:avLst/>
          </a:prstGeom>
          <a:solidFill>
            <a:srgbClr val="3F6B4A"/>
          </a:solidFill>
          <a:ln/>
        </p:spPr>
      </p:sp>
      <p:sp>
        <p:nvSpPr>
          <p:cNvPr id="33" name="kw-cell"/>
          <p:cNvSpPr txBox="1"/>
          <p:nvPr/>
        </p:nvSpPr>
        <p:spPr>
          <a:xfrm>
            <a:off x="1143000" y="5399430"/>
            <a:ext cx="2331720" cy="745338"/>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culture</a:t>
            </a:r>
            <a:endParaRPr lang="en-US" sz="2000" dirty="0"/>
          </a:p>
        </p:txBody>
      </p:sp>
      <p:sp>
        <p:nvSpPr>
          <p:cNvPr id="34" name="kw-cell"/>
          <p:cNvSpPr txBox="1"/>
          <p:nvPr/>
        </p:nvSpPr>
        <p:spPr>
          <a:xfrm>
            <a:off x="3657600" y="5399430"/>
            <a:ext cx="3474720" cy="74533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language, food, music, clothes and beliefs of a group of people</a:t>
            </a:r>
            <a:endParaRPr lang="en-US" sz="1800" dirty="0"/>
          </a:p>
        </p:txBody>
      </p:sp>
      <p:sp>
        <p:nvSpPr>
          <p:cNvPr id="35" name="kw-cell"/>
          <p:cNvSpPr txBox="1"/>
          <p:nvPr/>
        </p:nvSpPr>
        <p:spPr>
          <a:xfrm>
            <a:off x="7315200" y="5399430"/>
            <a:ext cx="4236415" cy="745338"/>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Each people of Africa has its own culture.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More than fifty countries make up Africa.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Each country has 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capital city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Abuja is the capital of Nigeria.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Kinshasa is the capital of the Democratic Republic of Congo.</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Dodoma is the capital of Tanzania.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Population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means the people who live in a place.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Population distribution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where people live.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Population density</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how many people live in each square kilometre.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Few people live in the Sahara Desert, because it is so dry.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Many people live in West Africa, near the coast.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Africa's people belong to thousands of different groups.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Each group has its own language, food, music and way of life.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Maasai live in Kenya and the Zulu live in South Africa.</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Countries and capitals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Capital does not mean biggest. Abuja, not Lagos; Dodoma, not the biggest Tanzanian city.</a:t>
            </a:r>
            <a:endParaRPr lang="en-US" sz="1800" dirty="0"/>
          </a:p>
        </p:txBody>
      </p:sp>
      <p:sp>
        <p:nvSpPr>
          <p:cNvPr id="11" name="bullet-card"/>
          <p:cNvSpPr/>
          <p:nvPr/>
        </p:nvSpPr>
        <p:spPr>
          <a:xfrm>
            <a:off x="548640" y="1389888"/>
            <a:ext cx="11094415" cy="1759204"/>
          </a:xfrm>
          <a:prstGeom prst="roundRect">
            <a:avLst>
              <a:gd name="adj" fmla="val 4158"/>
            </a:avLst>
          </a:prstGeom>
          <a:solidFill>
            <a:srgbClr val="F5F8F6"/>
          </a:solidFill>
          <a:ln/>
        </p:spPr>
      </p:sp>
      <p:sp>
        <p:nvSpPr>
          <p:cNvPr id="12" name="bullet-hex"/>
          <p:cNvSpPr/>
          <p:nvPr/>
        </p:nvSpPr>
        <p:spPr>
          <a:xfrm>
            <a:off x="676656" y="2103197"/>
            <a:ext cx="384048" cy="332586"/>
          </a:xfrm>
          <a:prstGeom prst="hexagon">
            <a:avLst/>
          </a:prstGeom>
          <a:solidFill>
            <a:srgbClr val="3F6B4A"/>
          </a:solidFill>
          <a:ln/>
        </p:spPr>
      </p:sp>
      <p:sp>
        <p:nvSpPr>
          <p:cNvPr id="13" name="bullet"/>
          <p:cNvSpPr txBox="1"/>
          <p:nvPr/>
        </p:nvSpPr>
        <p:spPr>
          <a:xfrm>
            <a:off x="1143000" y="1389888"/>
            <a:ext cx="10408615" cy="17592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Africa's fifty-plus countries range from giants such as Algeria, Sudan and the Democratic Republic of Congo to tiny states such as Gambia, Djibouti, Rwanda, Burundi, Togo, Benin, Lesotho and Eswatini (which older maps, including the one in your lesson, call Swaziland).</a:t>
            </a:r>
            <a:endParaRPr lang="en-US" sz="2200" dirty="0"/>
          </a:p>
        </p:txBody>
      </p:sp>
      <p:sp>
        <p:nvSpPr>
          <p:cNvPr id="14" name="bullet-card"/>
          <p:cNvSpPr/>
          <p:nvPr/>
        </p:nvSpPr>
        <p:spPr>
          <a:xfrm>
            <a:off x="548640" y="3295396"/>
            <a:ext cx="11094415" cy="835660"/>
          </a:xfrm>
          <a:prstGeom prst="roundRect">
            <a:avLst>
              <a:gd name="adj" fmla="val 8754"/>
            </a:avLst>
          </a:prstGeom>
          <a:solidFill>
            <a:srgbClr val="F5F8F6"/>
          </a:solidFill>
          <a:ln/>
        </p:spPr>
      </p:sp>
      <p:sp>
        <p:nvSpPr>
          <p:cNvPr id="15" name="bullet-hex"/>
          <p:cNvSpPr/>
          <p:nvPr/>
        </p:nvSpPr>
        <p:spPr>
          <a:xfrm>
            <a:off x="676656" y="3546933"/>
            <a:ext cx="384048" cy="332586"/>
          </a:xfrm>
          <a:prstGeom prst="hexagon">
            <a:avLst/>
          </a:prstGeom>
          <a:solidFill>
            <a:srgbClr val="B8862B"/>
          </a:solidFill>
          <a:ln/>
        </p:spPr>
      </p:sp>
      <p:sp>
        <p:nvSpPr>
          <p:cNvPr id="16" name="bullet"/>
          <p:cNvSpPr txBox="1"/>
          <p:nvPr/>
        </p:nvSpPr>
        <p:spPr>
          <a:xfrm>
            <a:off x="1143000" y="3295396"/>
            <a:ext cx="10408615" cy="8356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Every country has a capital city, where its government is based.</a:t>
            </a:r>
            <a:endParaRPr lang="en-US" sz="2200" dirty="0"/>
          </a:p>
        </p:txBody>
      </p:sp>
      <p:sp>
        <p:nvSpPr>
          <p:cNvPr id="17" name="bullet-card"/>
          <p:cNvSpPr/>
          <p:nvPr/>
        </p:nvSpPr>
        <p:spPr>
          <a:xfrm>
            <a:off x="548640" y="4277360"/>
            <a:ext cx="11094415" cy="1077468"/>
          </a:xfrm>
          <a:prstGeom prst="roundRect">
            <a:avLst>
              <a:gd name="adj" fmla="val 6789"/>
            </a:avLst>
          </a:prstGeom>
          <a:solidFill>
            <a:srgbClr val="F5F8F6"/>
          </a:solidFill>
          <a:ln/>
        </p:spPr>
      </p:sp>
      <p:sp>
        <p:nvSpPr>
          <p:cNvPr id="18" name="bullet-hex"/>
          <p:cNvSpPr/>
          <p:nvPr/>
        </p:nvSpPr>
        <p:spPr>
          <a:xfrm>
            <a:off x="676656" y="4649801"/>
            <a:ext cx="384048" cy="332586"/>
          </a:xfrm>
          <a:prstGeom prst="hexagon">
            <a:avLst/>
          </a:prstGeom>
          <a:solidFill>
            <a:srgbClr val="3F6B4A"/>
          </a:solidFill>
          <a:ln/>
        </p:spPr>
      </p:sp>
      <p:sp>
        <p:nvSpPr>
          <p:cNvPr id="19" name="bullet"/>
          <p:cNvSpPr txBox="1"/>
          <p:nvPr/>
        </p:nvSpPr>
        <p:spPr>
          <a:xfrm>
            <a:off x="1143000" y="4277360"/>
            <a:ext cx="10408615" cy="107746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 asked you to name as many countries and capitals as you could, using the map on page 108 of your textbook, and to draw three flags.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Population: distribution and density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Density is always people per km²: divide people by area, never the other way round.</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A5B9AA"/>
            </a:solidFill>
            <a:prstDash val="solid"/>
          </a:ln>
        </p:spPr>
      </p:sp>
      <p:sp>
        <p:nvSpPr>
          <p:cNvPr id="12" name="worked-tab"/>
          <p:cNvSpPr/>
          <p:nvPr/>
        </p:nvSpPr>
        <p:spPr>
          <a:xfrm>
            <a:off x="6126480" y="1499616"/>
            <a:ext cx="2377440" cy="457200"/>
          </a:xfrm>
          <a:prstGeom prst="roundRect">
            <a:avLst>
              <a:gd name="adj" fmla="val 40000"/>
            </a:avLst>
          </a:prstGeom>
          <a:solidFill>
            <a:srgbClr val="3F6B4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region has 300 000 people and an area of 1500 km². What is its population density?</a:t>
            </a:r>
            <a:endParaRPr lang="en-US" sz="1800" dirty="0"/>
          </a:p>
        </p:txBody>
      </p:sp>
      <p:sp>
        <p:nvSpPr>
          <p:cNvPr id="14" name="step-box"/>
          <p:cNvSpPr/>
          <p:nvPr/>
        </p:nvSpPr>
        <p:spPr>
          <a:xfrm>
            <a:off x="6126480" y="2888488"/>
            <a:ext cx="5379415" cy="509397"/>
          </a:xfrm>
          <a:prstGeom prst="roundRect">
            <a:avLst>
              <a:gd name="adj" fmla="val 17951"/>
            </a:avLst>
          </a:prstGeom>
          <a:solidFill>
            <a:srgbClr val="F2F5F2"/>
          </a:solidFill>
          <a:ln/>
        </p:spPr>
      </p:sp>
      <p:sp>
        <p:nvSpPr>
          <p:cNvPr id="15" name="step-hex"/>
          <p:cNvSpPr/>
          <p:nvPr/>
        </p:nvSpPr>
        <p:spPr>
          <a:xfrm>
            <a:off x="6217920" y="2961056"/>
            <a:ext cx="420624" cy="364260"/>
          </a:xfrm>
          <a:prstGeom prst="hexagon">
            <a:avLst/>
          </a:prstGeom>
          <a:solidFill>
            <a:srgbClr val="3F6B4A"/>
          </a:solidFill>
          <a:ln/>
        </p:spPr>
      </p:sp>
      <p:sp>
        <p:nvSpPr>
          <p:cNvPr id="16" name="step-hex-label"/>
          <p:cNvSpPr txBox="1"/>
          <p:nvPr/>
        </p:nvSpPr>
        <p:spPr>
          <a:xfrm>
            <a:off x="6217920" y="296105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Population density is people divided by area.</a:t>
            </a:r>
            <a:endParaRPr lang="en-US" sz="1800" dirty="0"/>
          </a:p>
        </p:txBody>
      </p:sp>
      <p:sp>
        <p:nvSpPr>
          <p:cNvPr id="18" name="step-box"/>
          <p:cNvSpPr/>
          <p:nvPr/>
        </p:nvSpPr>
        <p:spPr>
          <a:xfrm>
            <a:off x="6126480" y="3489325"/>
            <a:ext cx="5379415" cy="509397"/>
          </a:xfrm>
          <a:prstGeom prst="roundRect">
            <a:avLst>
              <a:gd name="adj" fmla="val 17951"/>
            </a:avLst>
          </a:prstGeom>
          <a:solidFill>
            <a:srgbClr val="F2F5F2"/>
          </a:solidFill>
          <a:ln/>
        </p:spPr>
      </p:sp>
      <p:sp>
        <p:nvSpPr>
          <p:cNvPr id="19" name="step-hex"/>
          <p:cNvSpPr/>
          <p:nvPr/>
        </p:nvSpPr>
        <p:spPr>
          <a:xfrm>
            <a:off x="6217920" y="3561893"/>
            <a:ext cx="420624" cy="364260"/>
          </a:xfrm>
          <a:prstGeom prst="hexagon">
            <a:avLst/>
          </a:prstGeom>
          <a:solidFill>
            <a:srgbClr val="3F6B4A"/>
          </a:solidFill>
          <a:ln/>
        </p:spPr>
      </p:sp>
      <p:sp>
        <p:nvSpPr>
          <p:cNvPr id="20" name="step-hex-label"/>
          <p:cNvSpPr txBox="1"/>
          <p:nvPr/>
        </p:nvSpPr>
        <p:spPr>
          <a:xfrm>
            <a:off x="6217920" y="3561893"/>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89325"/>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division: 300 000 ÷ 1500.</a:t>
            </a:r>
            <a:endParaRPr lang="en-US" sz="1800" dirty="0"/>
          </a:p>
        </p:txBody>
      </p:sp>
      <p:sp>
        <p:nvSpPr>
          <p:cNvPr id="22" name="step-box"/>
          <p:cNvSpPr/>
          <p:nvPr/>
        </p:nvSpPr>
        <p:spPr>
          <a:xfrm>
            <a:off x="6126480" y="4090162"/>
            <a:ext cx="5379415" cy="736981"/>
          </a:xfrm>
          <a:prstGeom prst="roundRect">
            <a:avLst>
              <a:gd name="adj" fmla="val 12407"/>
            </a:avLst>
          </a:prstGeom>
          <a:solidFill>
            <a:srgbClr val="F2F5F2"/>
          </a:solidFill>
          <a:ln/>
        </p:spPr>
      </p:sp>
      <p:sp>
        <p:nvSpPr>
          <p:cNvPr id="23" name="step-hex"/>
          <p:cNvSpPr/>
          <p:nvPr/>
        </p:nvSpPr>
        <p:spPr>
          <a:xfrm>
            <a:off x="6217920" y="4276522"/>
            <a:ext cx="420624" cy="364260"/>
          </a:xfrm>
          <a:prstGeom prst="hexagon">
            <a:avLst/>
          </a:prstGeom>
          <a:solidFill>
            <a:srgbClr val="3F6B4A"/>
          </a:solidFill>
          <a:ln/>
        </p:spPr>
      </p:sp>
      <p:sp>
        <p:nvSpPr>
          <p:cNvPr id="24" name="step-hex-label"/>
          <p:cNvSpPr txBox="1"/>
          <p:nvPr/>
        </p:nvSpPr>
        <p:spPr>
          <a:xfrm>
            <a:off x="6217920" y="42765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090162"/>
            <a:ext cx="4739335" cy="73698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Simplify: 300 000 ÷ 1500 is the same as 3000 ÷ 15, which is 200.</a:t>
            </a:r>
            <a:endParaRPr lang="en-US" sz="1800" dirty="0"/>
          </a:p>
        </p:txBody>
      </p:sp>
      <p:sp>
        <p:nvSpPr>
          <p:cNvPr id="26" name="step-box"/>
          <p:cNvSpPr/>
          <p:nvPr/>
        </p:nvSpPr>
        <p:spPr>
          <a:xfrm>
            <a:off x="6126480" y="4918583"/>
            <a:ext cx="5379415" cy="509397"/>
          </a:xfrm>
          <a:prstGeom prst="roundRect">
            <a:avLst>
              <a:gd name="adj" fmla="val 17951"/>
            </a:avLst>
          </a:prstGeom>
          <a:solidFill>
            <a:srgbClr val="F2F5F2"/>
          </a:solidFill>
          <a:ln/>
        </p:spPr>
      </p:sp>
      <p:sp>
        <p:nvSpPr>
          <p:cNvPr id="27" name="step-hex"/>
          <p:cNvSpPr/>
          <p:nvPr/>
        </p:nvSpPr>
        <p:spPr>
          <a:xfrm>
            <a:off x="6217920" y="4991151"/>
            <a:ext cx="420624" cy="364260"/>
          </a:xfrm>
          <a:prstGeom prst="hexagon">
            <a:avLst/>
          </a:prstGeom>
          <a:solidFill>
            <a:srgbClr val="3F6B4A"/>
          </a:solidFill>
          <a:ln/>
        </p:spPr>
      </p:sp>
      <p:sp>
        <p:nvSpPr>
          <p:cNvPr id="28" name="step-hex-label"/>
          <p:cNvSpPr txBox="1"/>
          <p:nvPr/>
        </p:nvSpPr>
        <p:spPr>
          <a:xfrm>
            <a:off x="6217920" y="4991151"/>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18583"/>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the units: 200 people per km².</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200 people per km²</a:t>
            </a:r>
            <a:endParaRPr lang="en-US" sz="1800" dirty="0"/>
          </a:p>
        </p:txBody>
      </p:sp>
      <p:sp>
        <p:nvSpPr>
          <p:cNvPr id="31" name="bullet-card"/>
          <p:cNvSpPr/>
          <p:nvPr/>
        </p:nvSpPr>
        <p:spPr>
          <a:xfrm>
            <a:off x="548640" y="1389888"/>
            <a:ext cx="5074920" cy="810937"/>
          </a:xfrm>
          <a:prstGeom prst="roundRect">
            <a:avLst>
              <a:gd name="adj" fmla="val 9021"/>
            </a:avLst>
          </a:prstGeom>
          <a:solidFill>
            <a:srgbClr val="F5F8F6"/>
          </a:solidFill>
          <a:ln/>
        </p:spPr>
      </p:sp>
      <p:sp>
        <p:nvSpPr>
          <p:cNvPr id="32" name="bullet-hex"/>
          <p:cNvSpPr/>
          <p:nvPr/>
        </p:nvSpPr>
        <p:spPr>
          <a:xfrm>
            <a:off x="676656" y="1629064"/>
            <a:ext cx="384048" cy="332586"/>
          </a:xfrm>
          <a:prstGeom prst="hexagon">
            <a:avLst/>
          </a:prstGeom>
          <a:solidFill>
            <a:srgbClr val="3F6B4A"/>
          </a:solidFill>
          <a:ln/>
        </p:spPr>
      </p:sp>
      <p:sp>
        <p:nvSpPr>
          <p:cNvPr id="33" name="bullet"/>
          <p:cNvSpPr txBox="1"/>
          <p:nvPr/>
        </p:nvSpPr>
        <p:spPr>
          <a:xfrm>
            <a:off x="1143000" y="1389888"/>
            <a:ext cx="4389120" cy="8109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Population is the number of people living in a place.</a:t>
            </a:r>
            <a:endParaRPr lang="en-US" sz="2200" dirty="0"/>
          </a:p>
        </p:txBody>
      </p:sp>
      <p:sp>
        <p:nvSpPr>
          <p:cNvPr id="34" name="bullet-card"/>
          <p:cNvSpPr/>
          <p:nvPr/>
        </p:nvSpPr>
        <p:spPr>
          <a:xfrm>
            <a:off x="548640" y="2347129"/>
            <a:ext cx="5074920" cy="1492673"/>
          </a:xfrm>
          <a:prstGeom prst="roundRect">
            <a:avLst>
              <a:gd name="adj" fmla="val 4901"/>
            </a:avLst>
          </a:prstGeom>
          <a:solidFill>
            <a:srgbClr val="F5F8F6"/>
          </a:solidFill>
          <a:ln/>
        </p:spPr>
      </p:sp>
      <p:sp>
        <p:nvSpPr>
          <p:cNvPr id="35" name="bullet-hex"/>
          <p:cNvSpPr/>
          <p:nvPr/>
        </p:nvSpPr>
        <p:spPr>
          <a:xfrm>
            <a:off x="676656" y="2927173"/>
            <a:ext cx="384048" cy="332586"/>
          </a:xfrm>
          <a:prstGeom prst="hexagon">
            <a:avLst/>
          </a:prstGeom>
          <a:solidFill>
            <a:srgbClr val="B8862B"/>
          </a:solidFill>
          <a:ln/>
        </p:spPr>
      </p:sp>
      <p:sp>
        <p:nvSpPr>
          <p:cNvPr id="36" name="bullet"/>
          <p:cNvSpPr txBox="1"/>
          <p:nvPr/>
        </p:nvSpPr>
        <p:spPr>
          <a:xfrm>
            <a:off x="1143000" y="2347129"/>
            <a:ext cx="4389120" cy="149267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People are not spread evenly across Africa. Some places are densely populated and others are very sparsely populated.</a:t>
            </a:r>
            <a:endParaRPr lang="en-US" sz="2200" dirty="0"/>
          </a:p>
        </p:txBody>
      </p:sp>
      <p:sp>
        <p:nvSpPr>
          <p:cNvPr id="37" name="bullet-card"/>
          <p:cNvSpPr/>
          <p:nvPr/>
        </p:nvSpPr>
        <p:spPr>
          <a:xfrm>
            <a:off x="548640" y="3986107"/>
            <a:ext cx="5074920" cy="810937"/>
          </a:xfrm>
          <a:prstGeom prst="roundRect">
            <a:avLst>
              <a:gd name="adj" fmla="val 9021"/>
            </a:avLst>
          </a:prstGeom>
          <a:solidFill>
            <a:srgbClr val="F5F8F6"/>
          </a:solidFill>
          <a:ln/>
        </p:spPr>
      </p:sp>
      <p:sp>
        <p:nvSpPr>
          <p:cNvPr id="38" name="bullet-hex"/>
          <p:cNvSpPr/>
          <p:nvPr/>
        </p:nvSpPr>
        <p:spPr>
          <a:xfrm>
            <a:off x="676656" y="4225283"/>
            <a:ext cx="384048" cy="332586"/>
          </a:xfrm>
          <a:prstGeom prst="hexagon">
            <a:avLst/>
          </a:prstGeom>
          <a:solidFill>
            <a:srgbClr val="3F6B4A"/>
          </a:solidFill>
          <a:ln/>
        </p:spPr>
      </p:sp>
      <p:sp>
        <p:nvSpPr>
          <p:cNvPr id="39" name="bullet"/>
          <p:cNvSpPr txBox="1"/>
          <p:nvPr/>
        </p:nvSpPr>
        <p:spPr>
          <a:xfrm>
            <a:off x="1143000" y="3986107"/>
            <a:ext cx="4389120" cy="8109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reason is the link between physical and human geography.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Presenting a country: the museum stall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a location with three things: the continent and compass direction, the neighbours, and the sea or ocean it touches.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the museum lesson, your class imagined that the British Museum's African archives had been destroyed by a burst pipe, and each group rebuilt one country's display.</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good stall answers the questions a geographer asks about any country.</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success criteria rewarded the same things any good geography does: information taken from real sources, in-depth understanding shown in an imaginative way, and a display that visitors could engage with.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peoples of Africa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ten with a mnemonic, as the homework asked, but always pair each people with its country.</a:t>
            </a:r>
            <a:endParaRPr lang="en-US" sz="1800" dirty="0"/>
          </a:p>
        </p:txBody>
      </p:sp>
      <p:sp>
        <p:nvSpPr>
          <p:cNvPr id="11" name="bullet-card"/>
          <p:cNvSpPr/>
          <p:nvPr/>
        </p:nvSpPr>
        <p:spPr>
          <a:xfrm>
            <a:off x="548640" y="1389888"/>
            <a:ext cx="11094415" cy="852255"/>
          </a:xfrm>
          <a:prstGeom prst="roundRect">
            <a:avLst>
              <a:gd name="adj" fmla="val 8583"/>
            </a:avLst>
          </a:prstGeom>
          <a:solidFill>
            <a:srgbClr val="F5F8F6"/>
          </a:solidFill>
          <a:ln/>
        </p:spPr>
      </p:sp>
      <p:sp>
        <p:nvSpPr>
          <p:cNvPr id="12" name="bullet-hex"/>
          <p:cNvSpPr/>
          <p:nvPr/>
        </p:nvSpPr>
        <p:spPr>
          <a:xfrm>
            <a:off x="676656" y="1649723"/>
            <a:ext cx="384048" cy="332586"/>
          </a:xfrm>
          <a:prstGeom prst="hexagon">
            <a:avLst/>
          </a:prstGeom>
          <a:solidFill>
            <a:srgbClr val="3F6B4A"/>
          </a:solidFill>
          <a:ln/>
        </p:spPr>
      </p:sp>
      <p:sp>
        <p:nvSpPr>
          <p:cNvPr id="13" name="bullet"/>
          <p:cNvSpPr txBox="1"/>
          <p:nvPr/>
        </p:nvSpPr>
        <p:spPr>
          <a:xfrm>
            <a:off x="1143000" y="1389888"/>
            <a:ext cx="10408615" cy="85225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Africa is so big that thousands of different groups of people live there, in different areas and countries, each with its own culture: language, clothing, food, music and dance, beliefs and ways of life.</a:t>
            </a:r>
            <a:endParaRPr lang="en-US" sz="1800" dirty="0"/>
          </a:p>
        </p:txBody>
      </p:sp>
      <p:sp>
        <p:nvSpPr>
          <p:cNvPr id="14" name="bullet-card"/>
          <p:cNvSpPr/>
          <p:nvPr/>
        </p:nvSpPr>
        <p:spPr>
          <a:xfrm>
            <a:off x="548640" y="2388447"/>
            <a:ext cx="11094415" cy="1410039"/>
          </a:xfrm>
          <a:prstGeom prst="roundRect">
            <a:avLst>
              <a:gd name="adj" fmla="val 5188"/>
            </a:avLst>
          </a:prstGeom>
          <a:solidFill>
            <a:srgbClr val="F5F8F6"/>
          </a:solidFill>
          <a:ln/>
        </p:spPr>
      </p:sp>
      <p:sp>
        <p:nvSpPr>
          <p:cNvPr id="15" name="bullet-hex"/>
          <p:cNvSpPr/>
          <p:nvPr/>
        </p:nvSpPr>
        <p:spPr>
          <a:xfrm>
            <a:off x="676656" y="2927173"/>
            <a:ext cx="384048" cy="332586"/>
          </a:xfrm>
          <a:prstGeom prst="hexagon">
            <a:avLst/>
          </a:prstGeom>
          <a:solidFill>
            <a:srgbClr val="B8862B"/>
          </a:solidFill>
          <a:ln/>
        </p:spPr>
      </p:sp>
      <p:sp>
        <p:nvSpPr>
          <p:cNvPr id="16" name="bullet"/>
          <p:cNvSpPr txBox="1"/>
          <p:nvPr/>
        </p:nvSpPr>
        <p:spPr>
          <a:xfrm>
            <a:off x="1143000" y="2388447"/>
            <a:ext cx="10408615" cy="141003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lesson named ten well-known peoples and the country each is mostly linked with: the Zulu and the Xhosa in South Africa, the Maasai and the Kalenjin in Kenya, the San in Botswana, the Yoruba in Nigeria, the Hausa in Niger (and Hausa is also one of the main languages of northern Nigeria), the Himba in Namibia, the Oromo in Ethiopia and the Chaga in Tanzania.</a:t>
            </a:r>
            <a:endParaRPr lang="en-US" sz="1800" dirty="0"/>
          </a:p>
        </p:txBody>
      </p:sp>
      <p:sp>
        <p:nvSpPr>
          <p:cNvPr id="17" name="bullet-card"/>
          <p:cNvSpPr/>
          <p:nvPr/>
        </p:nvSpPr>
        <p:spPr>
          <a:xfrm>
            <a:off x="548640" y="3944789"/>
            <a:ext cx="11094415" cy="1131147"/>
          </a:xfrm>
          <a:prstGeom prst="roundRect">
            <a:avLst>
              <a:gd name="adj" fmla="val 6467"/>
            </a:avLst>
          </a:prstGeom>
          <a:solidFill>
            <a:srgbClr val="F5F8F6"/>
          </a:solidFill>
          <a:ln/>
        </p:spPr>
      </p:sp>
      <p:sp>
        <p:nvSpPr>
          <p:cNvPr id="18" name="bullet-hex"/>
          <p:cNvSpPr/>
          <p:nvPr/>
        </p:nvSpPr>
        <p:spPr>
          <a:xfrm>
            <a:off x="676656" y="4344070"/>
            <a:ext cx="384048" cy="332586"/>
          </a:xfrm>
          <a:prstGeom prst="hexagon">
            <a:avLst/>
          </a:prstGeom>
          <a:solidFill>
            <a:srgbClr val="3F6B4A"/>
          </a:solidFill>
          <a:ln/>
        </p:spPr>
      </p:sp>
      <p:sp>
        <p:nvSpPr>
          <p:cNvPr id="19" name="bullet"/>
          <p:cNvSpPr txBox="1"/>
          <p:nvPr/>
        </p:nvSpPr>
        <p:spPr>
          <a:xfrm>
            <a:off x="1143000" y="3944789"/>
            <a:ext cx="10408615"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Remember the perceptions lesson. A man in Maasai dress working at a wildlife park in California is not evidence about Kenya, and a photograph of one people's traditional clothing tells you nothing about how most people in that country dress every 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Working out population density</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country has 24 million people and an area of 240 000 km². What is its population density, in people per km²?</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people per km²</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2F5F2"/>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24 million as a number: 24 000 000.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Population density is people divided by area, so write 24 000 000 ÷ 240 000.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Cancel zeros: knock four zeros off each number to get 2400 ÷ 24.</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2400 ÷ 24 = 100. The answer is 100 people per km².</a:t>
            </a:r>
            <a:endParaRPr lang="en-US" sz="1800" dirty="0"/>
          </a:p>
        </p:txBody>
      </p:sp>
      <p:sp>
        <p:nvSpPr>
          <p:cNvPr id="17" name="col-Core"/>
          <p:cNvSpPr/>
          <p:nvPr/>
        </p:nvSpPr>
        <p:spPr>
          <a:xfrm>
            <a:off x="5490762" y="2948940"/>
            <a:ext cx="2938987" cy="3195828"/>
          </a:xfrm>
          <a:prstGeom prst="roundRect">
            <a:avLst>
              <a:gd name="adj" fmla="val 1867"/>
            </a:avLst>
          </a:prstGeom>
          <a:solidFill>
            <a:srgbClr val="DBE3DD"/>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People divided by area. Cancel the zeros before you divide.</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3F6B4A"/>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country with the same area has a density of 4 people per km². How many people live there, and what kind of landscape might explain such a low figure?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The task: Why is Africa's population so uneven?</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why population density is low in the Sahara Desert but high on the coast of West Africa. Name two countries for each area.</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Why is Africa's population so uneven?</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Why is Africa's population so uneven?</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say where density is low, with two country names.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2: give the physical reason: a desert has almost no rain, so no farming.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3: say where density is high, with two country names and the ocean they border.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4: give the reasons: rain, fertile land, fishing and trade.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Last sentence: sum up with the word distribution.</a:t>
            </a:r>
            <a:endParaRPr lang="en-US" sz="1800" dirty="0"/>
          </a:p>
        </p:txBody>
      </p:sp>
      <p:sp>
        <p:nvSpPr>
          <p:cNvPr id="17" name="col-Core"/>
          <p:cNvSpPr/>
          <p:nvPr/>
        </p:nvSpPr>
        <p:spPr>
          <a:xfrm>
            <a:off x="6425403" y="2395728"/>
            <a:ext cx="2471666" cy="3749040"/>
          </a:xfrm>
          <a:prstGeom prst="roundRect">
            <a:avLst>
              <a:gd name="adj" fmla="val 2220"/>
            </a:avLst>
          </a:prstGeom>
          <a:solidFill>
            <a:srgbClr val="DBE3DD"/>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Desert in the north: no water, so few people. Coast in the west: water, farmland and trade, so many people. Two countries each.</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one other place in Africa where you would expect high population density, using the physical features map, and justify your choice.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city is the capital of Nigeria?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Kinshasa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Lagos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Johannesburg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Abuja</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Working out population density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country has 24 million people and an area of 240 000 km². What is its population density, in people per km²?</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100 people per km²</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Density is people per unit of area. 24 000 000 people ÷ 240 000 km² = 100 people living in each square kilometre, on average.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Answers: Why is Africa's population so uneven?</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1033907"/>
          </a:xfrm>
          <a:prstGeom prst="roundRect">
            <a:avLst>
              <a:gd name="adj" fmla="val 8844"/>
            </a:avLst>
          </a:prstGeom>
          <a:solidFill>
            <a:srgbClr val="F5F8F6"/>
          </a:solidFill>
          <a:ln/>
        </p:spPr>
      </p:sp>
      <p:sp>
        <p:nvSpPr>
          <p:cNvPr id="9" name="tickbox"/>
          <p:cNvSpPr/>
          <p:nvPr/>
        </p:nvSpPr>
        <p:spPr>
          <a:xfrm>
            <a:off x="713232" y="2354897"/>
            <a:ext cx="292608" cy="292608"/>
          </a:xfrm>
          <a:prstGeom prst="rect">
            <a:avLst/>
          </a:prstGeom>
          <a:solidFill>
            <a:srgbClr val="FFFFFF"/>
          </a:solidFill>
          <a:ln w="19050">
            <a:solidFill>
              <a:srgbClr val="3F6B4A"/>
            </a:solidFill>
            <a:prstDash val="solid"/>
          </a:ln>
        </p:spPr>
      </p:sp>
      <p:sp>
        <p:nvSpPr>
          <p:cNvPr id="10" name="crit"/>
          <p:cNvSpPr txBox="1"/>
          <p:nvPr/>
        </p:nvSpPr>
        <p:spPr>
          <a:xfrm>
            <a:off x="1143000" y="1984248"/>
            <a:ext cx="10317175" cy="103390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Names two countries in the Sahara (from Algeria, Libya, Mali, Niger) and two on the West African coast (from Nigeria, Ghana, Cameroon)</a:t>
            </a:r>
            <a:endParaRPr lang="en-US" sz="2200" dirty="0"/>
          </a:p>
        </p:txBody>
      </p:sp>
      <p:sp>
        <p:nvSpPr>
          <p:cNvPr id="11" name="crit-box"/>
          <p:cNvSpPr/>
          <p:nvPr/>
        </p:nvSpPr>
        <p:spPr>
          <a:xfrm>
            <a:off x="548640" y="3109595"/>
            <a:ext cx="11094415" cy="1033907"/>
          </a:xfrm>
          <a:prstGeom prst="roundRect">
            <a:avLst>
              <a:gd name="adj" fmla="val 8844"/>
            </a:avLst>
          </a:prstGeom>
          <a:solidFill>
            <a:srgbClr val="F5F8F6"/>
          </a:solidFill>
          <a:ln/>
        </p:spPr>
      </p:sp>
      <p:sp>
        <p:nvSpPr>
          <p:cNvPr id="12" name="tickbox"/>
          <p:cNvSpPr/>
          <p:nvPr/>
        </p:nvSpPr>
        <p:spPr>
          <a:xfrm>
            <a:off x="713232" y="3480244"/>
            <a:ext cx="292608" cy="292608"/>
          </a:xfrm>
          <a:prstGeom prst="rect">
            <a:avLst/>
          </a:prstGeom>
          <a:solidFill>
            <a:srgbClr val="FFFFFF"/>
          </a:solidFill>
          <a:ln w="19050">
            <a:solidFill>
              <a:srgbClr val="3F6B4A"/>
            </a:solidFill>
            <a:prstDash val="solid"/>
          </a:ln>
        </p:spPr>
      </p:sp>
      <p:sp>
        <p:nvSpPr>
          <p:cNvPr id="13" name="crit"/>
          <p:cNvSpPr txBox="1"/>
          <p:nvPr/>
        </p:nvSpPr>
        <p:spPr>
          <a:xfrm>
            <a:off x="1143000" y="3109595"/>
            <a:ext cx="10317175" cy="103390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Gives a physical reason for low density in the desert, such as very little rain and no water for farming</a:t>
            </a:r>
            <a:endParaRPr lang="en-US" sz="2200" dirty="0"/>
          </a:p>
        </p:txBody>
      </p:sp>
      <p:sp>
        <p:nvSpPr>
          <p:cNvPr id="14" name="crit-box"/>
          <p:cNvSpPr/>
          <p:nvPr/>
        </p:nvSpPr>
        <p:spPr>
          <a:xfrm>
            <a:off x="548640" y="4234942"/>
            <a:ext cx="11094415" cy="1033907"/>
          </a:xfrm>
          <a:prstGeom prst="roundRect">
            <a:avLst>
              <a:gd name="adj" fmla="val 8844"/>
            </a:avLst>
          </a:prstGeom>
          <a:solidFill>
            <a:srgbClr val="F5F8F6"/>
          </a:solidFill>
          <a:ln/>
        </p:spPr>
      </p:sp>
      <p:sp>
        <p:nvSpPr>
          <p:cNvPr id="15" name="tickbox"/>
          <p:cNvSpPr/>
          <p:nvPr/>
        </p:nvSpPr>
        <p:spPr>
          <a:xfrm>
            <a:off x="713232" y="4605591"/>
            <a:ext cx="292608" cy="292608"/>
          </a:xfrm>
          <a:prstGeom prst="rect">
            <a:avLst/>
          </a:prstGeom>
          <a:solidFill>
            <a:srgbClr val="FFFFFF"/>
          </a:solidFill>
          <a:ln w="19050">
            <a:solidFill>
              <a:srgbClr val="3F6B4A"/>
            </a:solidFill>
            <a:prstDash val="solid"/>
          </a:ln>
        </p:spPr>
      </p:sp>
      <p:sp>
        <p:nvSpPr>
          <p:cNvPr id="16" name="crit"/>
          <p:cNvSpPr txBox="1"/>
          <p:nvPr/>
        </p:nvSpPr>
        <p:spPr>
          <a:xfrm>
            <a:off x="1143000" y="4234942"/>
            <a:ext cx="10317175" cy="103390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Gives at least one reason for high density on the coast, such as water, fertile land, fishing or trade across the Atlantic</a:t>
            </a:r>
            <a:endParaRPr lang="en-US" sz="2200" dirty="0"/>
          </a:p>
        </p:txBody>
      </p:sp>
      <p:sp>
        <p:nvSpPr>
          <p:cNvPr id="17" name="crit-box"/>
          <p:cNvSpPr/>
          <p:nvPr/>
        </p:nvSpPr>
        <p:spPr>
          <a:xfrm>
            <a:off x="548640" y="5360289"/>
            <a:ext cx="11094415" cy="693039"/>
          </a:xfrm>
          <a:prstGeom prst="roundRect">
            <a:avLst>
              <a:gd name="adj" fmla="val 13194"/>
            </a:avLst>
          </a:prstGeom>
          <a:solidFill>
            <a:srgbClr val="F5F8F6"/>
          </a:solidFill>
          <a:ln/>
        </p:spPr>
      </p:sp>
      <p:sp>
        <p:nvSpPr>
          <p:cNvPr id="18" name="tickbox"/>
          <p:cNvSpPr/>
          <p:nvPr/>
        </p:nvSpPr>
        <p:spPr>
          <a:xfrm>
            <a:off x="713232" y="5560504"/>
            <a:ext cx="292608" cy="292608"/>
          </a:xfrm>
          <a:prstGeom prst="rect">
            <a:avLst/>
          </a:prstGeom>
          <a:solidFill>
            <a:srgbClr val="FFFFFF"/>
          </a:solidFill>
          <a:ln w="19050">
            <a:solidFill>
              <a:srgbClr val="3F6B4A"/>
            </a:solidFill>
            <a:prstDash val="solid"/>
          </a:ln>
        </p:spPr>
      </p:sp>
      <p:sp>
        <p:nvSpPr>
          <p:cNvPr id="19" name="crit"/>
          <p:cNvSpPr txBox="1"/>
          <p:nvPr/>
        </p:nvSpPr>
        <p:spPr>
          <a:xfrm>
            <a:off x="1143000" y="5360289"/>
            <a:ext cx="10317175" cy="69303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Uses compass directions and the words density and distribution correctly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Model answer: Why is Africa's population so uneven?</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9F4EC"/>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Population density is low in the north of Africa, in the Sahara Desert, which covers parts of Algeria, Libya, Mali and Niger. The desert receives almost no rain, so there is no water for crops or animals and very few people can live there. Population density is high in west Africa, close to the seas and oceans, in countries such as Nigeria, Ghana and Cameroon, which border the Atlantic Ocean. There is enough rain to farm, the land near the rivers is fertile, and the coast allows fishing and trade, so many people live there. The population distribution follows the water.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city is the capital of Nigeria?</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Abuja</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Abuja is Nigeria's capital city. Lagos is its biggest city, but not the capital.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Africa: A Continent, Not a Country · Chapter 4: Where people live: the human geography of Africa</dc:title>
  <dc:subject>Geography · Year 7</dc:subject>
  <dc:creator>Dr Vitor Merissi de Carvalho</dc:creator>
  <cp:lastModifiedBy>Dr Vitor Merissi de Carvalho</cp:lastModifiedBy>
  <cp:revision>1</cp:revision>
  <dcterms:created xsi:type="dcterms:W3CDTF">2026-10-19T06:07:33Z</dcterms:created>
  <dcterms:modified xsi:type="dcterms:W3CDTF">2026-10-19T06:07:33Z</dcterms:modified>
</cp:coreProperties>
</file>