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b6fc4fb-cc9b-8736-df0a-0d3aca38b6d4}">
          <p14:sldIdLst>
            <p14:sldId id="256"/>
          </p14:sldIdLst>
        </p14:section>
        <p14:section name="Gate" id="{fef5be72-925d-edf2-cb50-efb394d77ae0}">
          <p14:sldIdLst>
            <p14:sldId id="257"/>
            <p14:sldId id="258"/>
          </p14:sldIdLst>
        </p14:section>
        <p14:section name="Pre-teach" id="{5327fd8b-e177-c828-b5bd-e261417f0378}">
          <p14:sldIdLst>
            <p14:sldId id="259"/>
            <p14:sldId id="260"/>
          </p14:sldIdLst>
        </p14:section>
        <p14:section name="Read-along" id="{4ba52276-f808-a686-1974-8451d61fdea6}">
          <p14:sldIdLst>
            <p14:sldId id="261"/>
            <p14:sldId id="262"/>
          </p14:sldIdLst>
        </p14:section>
        <p14:section name="Teach" id="{74d609ee-bdba-c645-f139-ec17894c7360}">
          <p14:sldIdLst>
            <p14:sldId id="263"/>
            <p14:sldId id="264"/>
            <p14:sldId id="265"/>
            <p14:sldId id="266"/>
          </p14:sldIdLst>
        </p14:section>
        <p14:section name="Routes" id="{ad840b55-9212-2080-0609-fdc1b0a98721}">
          <p14:sldIdLst>
            <p14:sldId id="267"/>
            <p14:sldId id="268"/>
            <p14:sldId id="269"/>
            <p14:sldId id="270"/>
          </p14:sldIdLst>
        </p14:section>
        <p14:section name="Close" id="{76a4258c-a984-6eb1-7c1f-7341bf17ecce}">
          <p14:sldIdLst>
            <p14:sldId id="271"/>
          </p14:sldIdLst>
        </p14:section>
        <p14:section name="Answers" id="{55941404-495d-a169-5b5a-80c0452d3096}">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Africa's physical features. The great rivers, lakes, mountains and deserts of Africa, the seas around it, the lines of latitude that cross it, and the key words geographers use to describe them.
This deck covers the department's lesson: 3 (Physical features of Africa: Where are Africa's great rivers, lakes, mountains and deserts, and which lines of latitude cross the continent?).
Read the big question aloud: "What is Africa really like, and how have its physical geography, its people and its history shaped the continent today?"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Mount Kilimanjaro is the highest mountain in Africa. How high is it, in metres?  →  5896 m
2. Which is the biggest lake in Africa?  →  C   Lake Victoria
3. The Sahara is the largest ___ desert in the world.  →  hot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5896 m. The lesson's progress check gives Mount Kilimanjaro as 5896 m, in Tanzania.
2. C   Lake Victoria. Lake Victoria is Africa's biggest lake. Tanganyika and Nyasa are long and deep but smaller in area.
3. hot. The Sahara is the largest hot desert. The quiz in your lesson says it is not the largest desert of all, because the frozen polar lands are deserts too.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relief: the height and slope of the land. Example: "The relief of East Africa is high, with mountains and plateaus."
• desert: a large, dry area with sandy or rocky ground and few plants. Example: "The Sahara is a hot desert in North Africa."
• lake: a large area of water surrounded by land. Example: "Lake Victoria is the biggest lake in Africa."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Equator: the imaginary line around the middle of the Earth, at 0 degrees. Example: "The Equator crosses Africa, so the middle of the continent is hot."
• tropic: one of two imaginary lines, 23.5 degrees north and south of the Equator. Example: "The Tropic of Cancer runs through the Sahara."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Africa has some of the biggest physical features on Earth.
2. The River Nile flows north through Egypt to the Mediterranean Sea.
3. The River Zambezi flows past Zambia, Zimbabwe, Mozambique and Malawi.
4. Victoria Falls is on the Zambezi.
5. Lake Victoria is the biggest lake in Africa.
6. Lake Tanganyika and Lake Nyasa are long, deep lakes.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Sahara Desert covers much of North Africa.
8. It is the largest hot desert in the world.
9. Mount Kilimanjaro in Tanzania is Africa's highest mountain.
10. It is 5896 metres high and has ice on top.
11. The Equator crosses the middle of Africa.
12. The Tropic of Cancer crosses the north and the Tropic of Capricorn crosses the south.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Rivers and lakes. Say it in your own words, then check understanding with a quick question: ask a pupil from the pre-teach group first, since they met these words and ideas before the lesson. Pupils try to recall before you re-explain.
Africa's rivers are enormous. The River Nile flows north through Egypt to the Mediterranean Sea, and Ancient Egypt grew up along its banks. The River Niger loops through West Africa, passing through the countries of Niger and Nigeria. The River Congo drains the great forests of Central Africa. In the south, the River Zambezi flows past Zambia, Zimbabwe, Mozambique and Malawi, and plunges over Victoria Falls on the border between Zambia and Zimbabwe. Further south still are the River Limpopo and the River Orange.
The lakes of East Africa are among the largest in the world. Lake Victoria is the biggest lake in Africa. Lake Tanganyika and Lake Nyasa are long, narrow and very deep. In the south-west, the Okavango River spreads out into the Okavango Delta, a huge wetland that the lesson's spelling list calls one of the wonders of the world.
When you draw these on a map, name each one and get the direction right: the Nile flows north, towards the Mediterranean, not south. Use your textbook maps on pages 108 and 112 to check your work, as the lesson asked.
Worked example — model it step by step, thinking aloud: Write two sentences describing the physical landscape of Africa, using compass directions. (1) Start in the north: the north of Africa is mainly desert, the Sahara. (2) Say where the high land is: the highest mountains, including Kilimanjaro, are found towards the east and south. (3) Say where the lowlands are: along the coasts and in the river basins, such as the Congo and Niger. (4) Join the ideas into two clear sentences, each with a compass direction in it. Answer: The north of Africa is mainly hot desert, the Sahara, while the highest mountains, such as Kilimanjaro, are found towards the east and south. Lowlands lie along the coasts and in the great river basins of the Congo and the Niger..
Tip: A description with compass directions and named features scores; a description that only says big and hot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Rivers and lakes. Say it in your own words, then check understanding with a quick question: ask a pupil from the pre-teach group first, since they met these words and ideas before the lesson. Pupils try to recall before you re-explain.
Africa's rivers are enormous. The River Nile flows north through Egypt to the Mediterranean Sea, and Ancient Egypt grew up along its banks. The River Niger loops through West Africa, passing through the countries of Niger and Nigeria. The River Congo drains the great forests of Central Africa. In the south, the River Zambezi flows past Zambia, Zimbabwe, Mozambique and Malawi, and plunges over Victoria Falls on the border between Zambia and Zimbabwe. Further south still are the River Limpopo and the River Orange.
The lakes of East Africa are among the largest in the world. Lake Victoria is the biggest lake in Africa. Lake Tanganyika and Lake Nyasa are long, narrow and very deep. In the south-west, the Okavango River spreads out into the Okavango Delta, a huge wetland that the lesson's spelling list calls one of the wonders of the world.
When you draw these on a map, name each one and get the direction right: the Nile flows north, towards the Mediterranean, not south. Use your textbook maps on pages 108 and 112 to check your work, as the lesson asked.
Worked example — model it step by step, thinking aloud: Write two sentences describing the physical landscape of Africa, using compass directions. (1) Start in the north: the north of Africa is mainly desert, the Sahara. (2) Say where the high land is: the highest mountains, including Kilimanjaro, are found towards the east and south. (3) Say where the lowlands are: along the coasts and in the river basins, such as the Congo and Niger. (4) Join the ideas into two clear sentences, each with a compass direction in it. Answer: The north of Africa is mainly hot desert, the Sahara, while the highest mountains, such as Kilimanjaro, are found towards the east and south. Lowlands lie along the coasts and in the great river basins of the Congo and the Niger..
Tip: A description with compass directions and named features scores; a description that only says big and hot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Mountains, deserts and seas. Say it in your own words, then check understanding with a quick question: ask a pupil from the pre-teach group first, since they met these words and ideas before the lesson. Pupils try to recall before you re-explain.
Mount Kilimanjaro, in Tanzania, is the highest mountain in Africa at 5896 metres. Tanzania's capital city is Dodoma. Kilimanjaro stands close to the Equator, yet its summit is covered in ice. The reason is height: the higher you go, the colder the air becomes, so the top of the mountain is cold enough for snow to fall and glaciers to form, even in the tropics. The Atlas Mountains run along the north of the continent, near the Mediterranean coast.
The Sahara Desert covers most of North Africa. It is the largest hot desert in the world. Be careful with that word hot: the lesson's true-or-false quiz points out that the Sahara is not the largest desert of all, because the frozen polar lands count as deserts too. In the south-west lies a second, smaller desert, the Kalahari.
Water surrounds the continent. The Mediterranean Sea lies to the north, the Atlantic Ocean to the west and the Indian Ocean to the east. The Red Sea separates Africa from Asia, joined to the Mediterranean by the Suez Canal, and opens into the Gulf of Aden. The large island of Madagascar lies off the south-east coast.
Tip: Kilimanjaro has ice on top because of height, not because it is far from the Equator. Higher means colder.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Lines of latitude and key terms. Say it in your own words, then check understanding with a quick question: ask a pupil from the pre-teach group first, since they met these words and ideas before the lesson. Pupils try to recall before you re-explain.
Three important lines of latitude cross Africa. The Equator, at 0 degrees, runs through the middle of the continent. The Tropic of Cancer, at 23.5 degrees north, crosses the Sahara. The Tropic of Capricorn, at 23.5 degrees south, crosses southern Africa. Almost the whole continent lies between the two tropics, which is why so much of it is hot.
Your lesson asked you to match key terms to their meanings. Relief is the height and slope of the land. A gulf is a large bay that is an arm of an ocean or sea, like the Gulf of Aden. An island is land surrounded by water, like Madagascar. A desert is a large, dry region with little or no vegetation. A biome is a very large area with its own community of plants and animals, such as a desert or a tropical rainforest. Climate is the average temperature, rainfall and other weather of an area over many years.
Tip: Learn the tropics as a pair: Cancer in the north, Capricorn in the south, both 23.5 degrees from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Rivers and mountains: who is where?.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physical feature to its description.
Support — work through the steps with the group: (1) One of these is not a river. Find the mountain first. (2) Two rivers share their name with a country: Niger with Niger, and Zambezi with Zambia. Use the name as a clue. (3) Victoria Falls is in the south, so it belongs with the southern river. (4) The river left over is the one that flows north through Egypt.
Parallel worked example for Support (model it, do not give the task answer): Match: Lake Victoria, Sahara Desert. Choices: the largest hot desert in the world, in North Africa; the biggest lake in Africa, in East Africa. A lake is water; a desert is dry land.; The Sahara is in the north; Lake Victoria is in the east.. Answer: Lake Victoria: the biggest lake in Africa, in East Africa. Sahara Desert: the largest hot desert in the world, in North Africa..
Core — reveal the hint only on request: Use the names: Niger and Zambezi share letters with the countries they pass. Egypt gives away the Nile.
Stretch — no help; when finished: Explain why the names of the River Niger, the country Niger and the country Nigeria are so easily confused, and give one way to keep them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Rivers and mountains: who is where?.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physical feature to its description.
Support — work through the steps with the group: (1) One of these is not a river. Find the mountain first. (2) Two rivers share their name with a country: Niger with Niger, and Zambezi with Zambia. Use the name as a clue. (3) Victoria Falls is in the south, so it belongs with the southern river. (4) The river left over is the one that flows north through Egypt.
Parallel worked example for Support (model it, do not give the task answer): Match: Lake Victoria, Sahara Desert. Choices: the largest hot desert in the world, in North Africa; the biggest lake in Africa, in East Africa. A lake is water; a desert is dry land.; The Sahara is in the north; Lake Victoria is in the east.. Answer: Lake Victoria: the biggest lake in Africa, in East Africa. Sahara Desert: the largest hot desert in the world, in North Africa..
Core — reveal the hint only on request: Use the names: Niger and Zambezi share letters with the countries they pass. Egypt gives away the Nile.
Stretch — no help; when finished: Explain why the names of the River Niger, the country Niger and the country Nigeria are so easily confused, and give one way to keep them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North to south across Africa.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in order from north to south, as you would meet them travelling down a map of Africa.
Support — work through the steps with the group: (1) North is the top of the map. The sea on the north coast comes first. (2) The Equator is the middle line, at 0 degrees. (3) The Tropic of Cancer is north of the Equator, so it comes before it. (4) The Tropic of Capricorn is south of the Equator, so it comes last.
Parallel worked example for Support (model it, do not give the task answer): Put in order from north to south: Sahara Desert, Kalahari Desert, Atlas Mountains. The Atlas Mountains are near the Mediterranean coast, in the far north.; The Sahara is south of them, across North Africa.; The Kalahari is in the south-west.. Answer: Atlas Mountains, Sahara Desert, Kalahari Desert..
Core — reveal the hint only on request: Sea first, then north tropic, Equator, south tropic. Cancer is north; Capricorn is south.
Stretch — no help; when finished: Explain why almost all of Africa is hot, using the positions of the two tropics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North to south across Africa.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in order from north to south, as you would meet them travelling down a map of Africa.
Support — work through the steps with the group: (1) North is the top of the map. The sea on the north coast comes first. (2) The Equator is the middle line, at 0 degrees. (3) The Tropic of Cancer is north of the Equator, so it comes before it. (4) The Tropic of Capricorn is south of the Equator, so it comes last.
Parallel worked example for Support (model it, do not give the task answer): Put in order from north to south: Sahara Desert, Kalahari Desert, Atlas Mountains. The Atlas Mountains are near the Mediterranean coast, in the far north.; The Sahara is south of them, across North Africa.; The Kalahari is in the south-west.. Answer: Atlas Mountains, Sahara Desert, Kalahari Desert..
Core — reveal the hint only on request: Sea first, then north tropic, Equator, south tropic. Cancer is north; Capricorn is south.
Stretch — no help; when finished: Explain why almost all of Africa is hot, using the positions of the two tropics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Mount Kilimanjaro is the highest mountain in Africa. How high is it, in metres?
Answer: 5896 m. The lesson's progress check gives Mount Kilimanjaro as 5896 m, in Tanzania.
Source of this question: gate item 1 re-asked (options rotated) — this chapter has no third quick-check module.
The ebook also holds task 3, "Describe the physical landscape of Africa",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Rivers and mountains: who is where?. Reveal the answer; pupils mark their own work in a different colour, then read the "why" together. Same destination for every lane, so one answer serves the whole class.
Answer: River Zambezi  →  C  Flows past Zambia, Zimbabwe, Mozambique and Malawi, with Victoria Falls on it; River Nile  →  D  Flows north through Egypt to the Mediterranean Sea; River Niger  →  A  Passes through the countries of Niger and Nigeria in West Africa; Mount Kilimanjaro  →  B  Africa's highest mountain, in Tanzania, with ice on its summit
Why: The Zambezi flows past Zambia, Zimbabwe, Mozambique and Malawi and over Victoria Falls; the Nile flows north through Egypt to the Mediterranean; the Niger passes through Niger and Nigeria; Kilimanjaro is the highest mountain, in Tanzania.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North to south across Africa. Reveal the answer; pupils mark their own work in a different colour, then read the "why" together. Same destination for every lane, so one answer serves the whole class.
Answer: Mediterranean Sea, on Africa's north coast  (A); Tropic of Cancer, 23.5 degrees north  (C); Equator, 0 degrees  (D); Tropic of Capricorn, 23.5 degrees south  (B)
Why: Travelling south you cross the Mediterranean coast, then the Tropic of Cancer at 23.5 degrees north, then the Equator at 0 degrees, then the Tropic of Capricorn at 23.5 degrees south.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5896 m
Why: The lesson's progress check gives Mount Kilimanjaro as 5896 m, in Tanzania.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Africa: A Continent, Not a Country · AQA KS3 → 8035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Africa's physical features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F5F2"/>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Physical features of Africa</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Africa really like, and how have its physical geography, its people and its history shaped the continent today?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Mount Kilimanjaro is the highest mountain in Africa. How high is it, in metres?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is the biggest lake in Africa?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Lake Nyasa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Okavango Delta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Lake Victoria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Lake Tanganyika</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Sahara is the largest ___ desert in the world.</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hot  ·  cold  ·  wet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5896 m</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Mount Kilimanjaro is the highest mountain in Africa. How high is it, in metres?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lesson's progress check gives Mount Kilimanjaro as 5896 m, in Tanzania.</a:t>
            </a:r>
            <a:endParaRPr lang="en-US" sz="20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Lake Victoria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is the biggest lake in Africa?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Lake Victoria is Africa's biggest lake. Tanganyika and Nyasa are long and deep but smaller in area.</a:t>
            </a:r>
            <a:endParaRPr lang="en-US" sz="22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hot</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Sahara is the largest ___ desert in the world.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Sahara is the largest hot desert. The quiz in your lesson says it is not the largest desert of all, because the frozen polar lands are deserts too.</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relief</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height and slope of the 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relief of East Africa is high, with mountains and plateaus.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desert</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 dry area with sandy or rocky ground and few plants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Sahara is a hot desert in North Africa.</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lake</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 area of water surrounded by 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Lake Victoria is the biggest lake in Africa.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Equator</a:t>
            </a:r>
            <a:endParaRPr lang="en-US" sz="2600" dirty="0"/>
          </a:p>
        </p:txBody>
      </p:sp>
      <p:sp>
        <p:nvSpPr>
          <p:cNvPr id="11" name="word-rule"/>
          <p:cNvSpPr/>
          <p:nvPr/>
        </p:nvSpPr>
        <p:spPr>
          <a:xfrm>
            <a:off x="731520" y="2129028"/>
            <a:ext cx="5044288" cy="0"/>
          </a:xfrm>
          <a:prstGeom prst="line">
            <a:avLst/>
          </a:prstGeom>
          <a:ln w="12700">
            <a:solidFill>
              <a:srgbClr val="B8C8BC"/>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imaginary line around the middle of the Earth, at 0 degrees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Equator crosses Africa, so the middle of the continent is hot.</a:t>
            </a:r>
            <a:endParaRPr lang="en-US" sz="2200" dirty="0"/>
          </a:p>
        </p:txBody>
      </p:sp>
      <p:sp>
        <p:nvSpPr>
          <p:cNvPr id="13" name="word-card"/>
          <p:cNvSpPr/>
          <p:nvPr/>
        </p:nvSpPr>
        <p:spPr>
          <a:xfrm>
            <a:off x="6233008" y="1389888"/>
            <a:ext cx="5410048" cy="4754880"/>
          </a:xfrm>
          <a:prstGeom prst="roundRect">
            <a:avLst>
              <a:gd name="adj" fmla="val 1154"/>
            </a:avLst>
          </a:prstGeom>
          <a:solidFill>
            <a:srgbClr val="F5F8F6"/>
          </a:solidFill>
          <a:ln w="12700">
            <a:solidFill>
              <a:srgbClr val="B8C8BC"/>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tropic</a:t>
            </a:r>
            <a:endParaRPr lang="en-US" sz="2600" dirty="0"/>
          </a:p>
        </p:txBody>
      </p:sp>
      <p:sp>
        <p:nvSpPr>
          <p:cNvPr id="17" name="word-rule"/>
          <p:cNvSpPr/>
          <p:nvPr/>
        </p:nvSpPr>
        <p:spPr>
          <a:xfrm>
            <a:off x="6415888" y="2129028"/>
            <a:ext cx="5044288" cy="0"/>
          </a:xfrm>
          <a:prstGeom prst="line">
            <a:avLst/>
          </a:prstGeom>
          <a:ln w="12700">
            <a:solidFill>
              <a:srgbClr val="B8C8BC"/>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of two imaginary lines, 23.5 degrees north and south of the Equator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Tropic of Cancer runs through the Sahara.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Africa has some of the biggest physical features on Earth.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River Nile flows north through Egypt to the Mediterranean Sea.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River Zambezi flows past Zambia, Zimbabwe, Mozambique and Malawi.</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Victoria Falls is on the Zambezi.</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Lake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Victoria is the biggest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lake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 Africa.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Lake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Tanganyika and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Lake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Nyasa are long, deep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lakes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Sahara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Desert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covers much of North Africa.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the largest hot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desert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 the world.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Mount Kilimanjaro in Tanzania is Africa's highest mountain.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5896 metres high and has ice on top.</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Equator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crosses the middle of Africa.</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Tropic</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Cancer crosses the north and 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Tropic</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Capricorn crosses the south.</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Rivers and lakes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description with compass directions and named features scores; a description that only says big and hot does not.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Africa's rivers are enormous. The River Nile flows north through Egypt to the Mediterranean Sea, and Ancient Egypt grew up along its banks.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lakes of East Africa are among the largest in the world.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you draw these on a map, name each one and get the direction right: the Nile flows north, towards the Mediterranean, not south.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Rivers and lakes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Write two sentences describing the physical landscape of Africa, using compass directions.</a:t>
            </a:r>
            <a:endParaRPr lang="en-US" sz="2000" dirty="0"/>
          </a:p>
        </p:txBody>
      </p:sp>
      <p:sp>
        <p:nvSpPr>
          <p:cNvPr id="9" name="step-box"/>
          <p:cNvSpPr/>
          <p:nvPr/>
        </p:nvSpPr>
        <p:spPr>
          <a:xfrm>
            <a:off x="548640" y="2192528"/>
            <a:ext cx="11094415" cy="519278"/>
          </a:xfrm>
          <a:prstGeom prst="roundRect">
            <a:avLst>
              <a:gd name="adj" fmla="val 14087"/>
            </a:avLst>
          </a:prstGeom>
          <a:solidFill>
            <a:srgbClr val="FFFFFF"/>
          </a:solidFill>
          <a:ln w="15875">
            <a:solidFill>
              <a:srgbClr val="95AE9B"/>
            </a:solidFill>
            <a:prstDash val="solid"/>
          </a:ln>
        </p:spPr>
      </p:sp>
      <p:sp>
        <p:nvSpPr>
          <p:cNvPr id="10" name="step-hex"/>
          <p:cNvSpPr/>
          <p:nvPr/>
        </p:nvSpPr>
        <p:spPr>
          <a:xfrm>
            <a:off x="685800" y="2254199"/>
            <a:ext cx="457200" cy="395935"/>
          </a:xfrm>
          <a:prstGeom prst="hexagon">
            <a:avLst/>
          </a:prstGeom>
          <a:solidFill>
            <a:srgbClr val="3F6B4A"/>
          </a:solidFill>
          <a:ln/>
        </p:spPr>
      </p:sp>
      <p:sp>
        <p:nvSpPr>
          <p:cNvPr id="11" name="step-hex-label"/>
          <p:cNvSpPr txBox="1"/>
          <p:nvPr/>
        </p:nvSpPr>
        <p:spPr>
          <a:xfrm>
            <a:off x="685800" y="225419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in the north: the north of Africa is mainly desert, the Sahara.</a:t>
            </a:r>
            <a:endParaRPr lang="en-US" sz="1800" dirty="0"/>
          </a:p>
        </p:txBody>
      </p:sp>
      <p:sp>
        <p:nvSpPr>
          <p:cNvPr id="13" name="step-box"/>
          <p:cNvSpPr/>
          <p:nvPr/>
        </p:nvSpPr>
        <p:spPr>
          <a:xfrm>
            <a:off x="548640" y="2784958"/>
            <a:ext cx="11094415" cy="783438"/>
          </a:xfrm>
          <a:prstGeom prst="roundRect">
            <a:avLst>
              <a:gd name="adj" fmla="val 9337"/>
            </a:avLst>
          </a:prstGeom>
          <a:solidFill>
            <a:srgbClr val="FFFFFF"/>
          </a:solidFill>
          <a:ln w="15875">
            <a:solidFill>
              <a:srgbClr val="95AE9B"/>
            </a:solidFill>
            <a:prstDash val="solid"/>
          </a:ln>
        </p:spPr>
      </p:sp>
      <p:sp>
        <p:nvSpPr>
          <p:cNvPr id="14" name="step-hex"/>
          <p:cNvSpPr/>
          <p:nvPr/>
        </p:nvSpPr>
        <p:spPr>
          <a:xfrm>
            <a:off x="685800" y="2978709"/>
            <a:ext cx="457200" cy="395935"/>
          </a:xfrm>
          <a:prstGeom prst="hexagon">
            <a:avLst/>
          </a:prstGeom>
          <a:solidFill>
            <a:srgbClr val="3F6B4A"/>
          </a:solidFill>
          <a:ln/>
        </p:spPr>
      </p:sp>
      <p:sp>
        <p:nvSpPr>
          <p:cNvPr id="15" name="step-hex-label"/>
          <p:cNvSpPr txBox="1"/>
          <p:nvPr/>
        </p:nvSpPr>
        <p:spPr>
          <a:xfrm>
            <a:off x="685800" y="297870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84958"/>
            <a:ext cx="10180015" cy="7834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where the high land is: the highest mountains, including Kilimanjaro, are found towards the east and south.</a:t>
            </a:r>
            <a:endParaRPr lang="en-US" sz="1800" dirty="0"/>
          </a:p>
        </p:txBody>
      </p:sp>
      <p:sp>
        <p:nvSpPr>
          <p:cNvPr id="17" name="step-box"/>
          <p:cNvSpPr/>
          <p:nvPr/>
        </p:nvSpPr>
        <p:spPr>
          <a:xfrm>
            <a:off x="548640" y="3641547"/>
            <a:ext cx="11094415" cy="519278"/>
          </a:xfrm>
          <a:prstGeom prst="roundRect">
            <a:avLst>
              <a:gd name="adj" fmla="val 14087"/>
            </a:avLst>
          </a:prstGeom>
          <a:solidFill>
            <a:srgbClr val="FFFFFF"/>
          </a:solidFill>
          <a:ln w="15875">
            <a:solidFill>
              <a:srgbClr val="95AE9B"/>
            </a:solidFill>
            <a:prstDash val="solid"/>
          </a:ln>
        </p:spPr>
      </p:sp>
      <p:sp>
        <p:nvSpPr>
          <p:cNvPr id="18" name="step-hex"/>
          <p:cNvSpPr/>
          <p:nvPr/>
        </p:nvSpPr>
        <p:spPr>
          <a:xfrm>
            <a:off x="685800" y="3703218"/>
            <a:ext cx="457200" cy="395935"/>
          </a:xfrm>
          <a:prstGeom prst="hexagon">
            <a:avLst/>
          </a:prstGeom>
          <a:solidFill>
            <a:srgbClr val="3F6B4A"/>
          </a:solidFill>
          <a:ln/>
        </p:spPr>
      </p:sp>
      <p:sp>
        <p:nvSpPr>
          <p:cNvPr id="19" name="step-hex-label"/>
          <p:cNvSpPr txBox="1"/>
          <p:nvPr/>
        </p:nvSpPr>
        <p:spPr>
          <a:xfrm>
            <a:off x="685800" y="370321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154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where the lowlands are: along the coasts and in the river basins, such as the Congo and Niger.</a:t>
            </a:r>
            <a:endParaRPr lang="en-US" sz="1800" dirty="0"/>
          </a:p>
        </p:txBody>
      </p:sp>
      <p:sp>
        <p:nvSpPr>
          <p:cNvPr id="21" name="step-box"/>
          <p:cNvSpPr/>
          <p:nvPr/>
        </p:nvSpPr>
        <p:spPr>
          <a:xfrm>
            <a:off x="548640" y="4233977"/>
            <a:ext cx="11094415" cy="519278"/>
          </a:xfrm>
          <a:prstGeom prst="roundRect">
            <a:avLst>
              <a:gd name="adj" fmla="val 14087"/>
            </a:avLst>
          </a:prstGeom>
          <a:solidFill>
            <a:srgbClr val="FFFFFF"/>
          </a:solidFill>
          <a:ln w="15875">
            <a:solidFill>
              <a:srgbClr val="95AE9B"/>
            </a:solidFill>
            <a:prstDash val="solid"/>
          </a:ln>
        </p:spPr>
      </p:sp>
      <p:sp>
        <p:nvSpPr>
          <p:cNvPr id="22" name="step-hex"/>
          <p:cNvSpPr/>
          <p:nvPr/>
        </p:nvSpPr>
        <p:spPr>
          <a:xfrm>
            <a:off x="685800" y="4295648"/>
            <a:ext cx="457200" cy="395935"/>
          </a:xfrm>
          <a:prstGeom prst="hexagon">
            <a:avLst/>
          </a:prstGeom>
          <a:solidFill>
            <a:srgbClr val="3F6B4A"/>
          </a:solidFill>
          <a:ln/>
        </p:spPr>
      </p:sp>
      <p:sp>
        <p:nvSpPr>
          <p:cNvPr id="23" name="step-hex-label"/>
          <p:cNvSpPr txBox="1"/>
          <p:nvPr/>
        </p:nvSpPr>
        <p:spPr>
          <a:xfrm>
            <a:off x="685800" y="42956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3397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Join the ideas into two clear sentences, each with a compass direction in it.</a:t>
            </a:r>
            <a:endParaRPr lang="en-US" sz="1800" dirty="0"/>
          </a:p>
        </p:txBody>
      </p:sp>
      <p:sp>
        <p:nvSpPr>
          <p:cNvPr id="25" name="worked-answer"/>
          <p:cNvSpPr/>
          <p:nvPr/>
        </p:nvSpPr>
        <p:spPr>
          <a:xfrm>
            <a:off x="548640" y="4936134"/>
            <a:ext cx="11094415" cy="1109980"/>
          </a:xfrm>
          <a:prstGeom prst="roundRect">
            <a:avLst>
              <a:gd name="adj" fmla="val 12357"/>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north of Africa is mainly hot desert, the Sahara, while the highest mountains, such as Kilimanjaro, are found towards the east and south. Lowlands lie along the coasts and in the great river basins of the Congo and the Niger.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Mountains, deserts and seas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Kilimanjaro has ice on top because of height, not because it is far from the Equator. Higher means colder.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Mount Kilimanjaro, in Tanzania, is the highest mountain in Africa at 5896 metres.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Sahara Desert covers most of North Africa. It is the largest hot desert in the world.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Water surrounds the continent. The Mediterranean Sea lies to the north, the Atlantic Ocean to the west and the Indian Ocean to the east.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Lines of latitude and key terms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tropics as a pair: Cancer in the north, Capricorn in the south, both 23.5 degrees from the Equator.</a:t>
            </a:r>
            <a:endParaRPr lang="en-US" sz="1800" dirty="0"/>
          </a:p>
        </p:txBody>
      </p:sp>
      <p:sp>
        <p:nvSpPr>
          <p:cNvPr id="11" name="point-card"/>
          <p:cNvSpPr/>
          <p:nvPr/>
        </p:nvSpPr>
        <p:spPr>
          <a:xfrm>
            <a:off x="548640" y="1389888"/>
            <a:ext cx="5410048" cy="3686048"/>
          </a:xfrm>
          <a:prstGeom prst="roundRect">
            <a:avLst>
              <a:gd name="adj" fmla="val 1488"/>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Three important lines of latitude cross Africa. The Equator, at 0 degrees, runs through the middle of the continent.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asked you to match key terms to their meanings.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Rivers and mountains: who is where?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physical feature to its description.</a:t>
            </a:r>
            <a:endParaRPr lang="en-US" sz="2400" dirty="0"/>
          </a:p>
        </p:txBody>
      </p:sp>
      <p:sp>
        <p:nvSpPr>
          <p:cNvPr id="11" name="match-card"/>
          <p:cNvSpPr/>
          <p:nvPr/>
        </p:nvSpPr>
        <p:spPr>
          <a:xfrm>
            <a:off x="777240" y="2468331"/>
            <a:ext cx="3081437" cy="890026"/>
          </a:xfrm>
          <a:prstGeom prst="roundRect">
            <a:avLst>
              <a:gd name="adj" fmla="val 8219"/>
            </a:avLst>
          </a:prstGeom>
          <a:solidFill>
            <a:srgbClr val="F5F8F6"/>
          </a:solidFill>
          <a:ln/>
        </p:spPr>
      </p:sp>
      <p:sp>
        <p:nvSpPr>
          <p:cNvPr id="12" name="match-hex"/>
          <p:cNvSpPr/>
          <p:nvPr/>
        </p:nvSpPr>
        <p:spPr>
          <a:xfrm>
            <a:off x="850392" y="2747052"/>
            <a:ext cx="384048" cy="332586"/>
          </a:xfrm>
          <a:prstGeom prst="hexagon">
            <a:avLst/>
          </a:prstGeom>
          <a:solidFill>
            <a:srgbClr val="3F6B4A"/>
          </a:solidFill>
          <a:ln/>
        </p:spPr>
      </p:sp>
      <p:sp>
        <p:nvSpPr>
          <p:cNvPr id="13" name="match-hex-label"/>
          <p:cNvSpPr txBox="1"/>
          <p:nvPr/>
        </p:nvSpPr>
        <p:spPr>
          <a:xfrm>
            <a:off x="850392" y="27470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River Zambezi</a:t>
            </a:r>
            <a:endParaRPr lang="en-US" sz="2200" dirty="0"/>
          </a:p>
        </p:txBody>
      </p:sp>
      <p:sp>
        <p:nvSpPr>
          <p:cNvPr id="15" name="match-card"/>
          <p:cNvSpPr/>
          <p:nvPr/>
        </p:nvSpPr>
        <p:spPr>
          <a:xfrm>
            <a:off x="4224437" y="2468331"/>
            <a:ext cx="7190019" cy="890026"/>
          </a:xfrm>
          <a:prstGeom prst="roundRect">
            <a:avLst>
              <a:gd name="adj" fmla="val 8219"/>
            </a:avLst>
          </a:prstGeom>
          <a:solidFill>
            <a:srgbClr val="F9F4EC"/>
          </a:solidFill>
          <a:ln/>
        </p:spPr>
      </p:sp>
      <p:sp>
        <p:nvSpPr>
          <p:cNvPr id="16" name="match-hex"/>
          <p:cNvSpPr/>
          <p:nvPr/>
        </p:nvSpPr>
        <p:spPr>
          <a:xfrm>
            <a:off x="4297589" y="2747052"/>
            <a:ext cx="384048" cy="332586"/>
          </a:xfrm>
          <a:prstGeom prst="hexagon">
            <a:avLst/>
          </a:prstGeom>
          <a:solidFill>
            <a:srgbClr val="B8862B"/>
          </a:solidFill>
          <a:ln/>
        </p:spPr>
      </p:sp>
      <p:sp>
        <p:nvSpPr>
          <p:cNvPr id="17" name="match-hex-label"/>
          <p:cNvSpPr txBox="1"/>
          <p:nvPr/>
        </p:nvSpPr>
        <p:spPr>
          <a:xfrm>
            <a:off x="4297589" y="27470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Passes through the countries of Niger and Nigeria in West Africa</a:t>
            </a:r>
            <a:endParaRPr lang="en-US" sz="2200" dirty="0"/>
          </a:p>
        </p:txBody>
      </p:sp>
      <p:sp>
        <p:nvSpPr>
          <p:cNvPr id="19" name="match-card"/>
          <p:cNvSpPr/>
          <p:nvPr/>
        </p:nvSpPr>
        <p:spPr>
          <a:xfrm>
            <a:off x="777240" y="3449798"/>
            <a:ext cx="3081437" cy="890026"/>
          </a:xfrm>
          <a:prstGeom prst="roundRect">
            <a:avLst>
              <a:gd name="adj" fmla="val 8219"/>
            </a:avLst>
          </a:prstGeom>
          <a:solidFill>
            <a:srgbClr val="F5F8F6"/>
          </a:solidFill>
          <a:ln/>
        </p:spPr>
      </p:sp>
      <p:sp>
        <p:nvSpPr>
          <p:cNvPr id="20" name="match-hex"/>
          <p:cNvSpPr/>
          <p:nvPr/>
        </p:nvSpPr>
        <p:spPr>
          <a:xfrm>
            <a:off x="850392" y="3728518"/>
            <a:ext cx="384048" cy="332586"/>
          </a:xfrm>
          <a:prstGeom prst="hexagon">
            <a:avLst/>
          </a:prstGeom>
          <a:solidFill>
            <a:srgbClr val="3F6B4A"/>
          </a:solidFill>
          <a:ln/>
        </p:spPr>
      </p:sp>
      <p:sp>
        <p:nvSpPr>
          <p:cNvPr id="21" name="match-hex-label"/>
          <p:cNvSpPr txBox="1"/>
          <p:nvPr/>
        </p:nvSpPr>
        <p:spPr>
          <a:xfrm>
            <a:off x="850392" y="37285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49798"/>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River Nile</a:t>
            </a:r>
            <a:endParaRPr lang="en-US" sz="2200" dirty="0"/>
          </a:p>
        </p:txBody>
      </p:sp>
      <p:sp>
        <p:nvSpPr>
          <p:cNvPr id="23" name="match-card"/>
          <p:cNvSpPr/>
          <p:nvPr/>
        </p:nvSpPr>
        <p:spPr>
          <a:xfrm>
            <a:off x="4224437" y="3449798"/>
            <a:ext cx="7190019" cy="890026"/>
          </a:xfrm>
          <a:prstGeom prst="roundRect">
            <a:avLst>
              <a:gd name="adj" fmla="val 8219"/>
            </a:avLst>
          </a:prstGeom>
          <a:solidFill>
            <a:srgbClr val="F9F4EC"/>
          </a:solidFill>
          <a:ln/>
        </p:spPr>
      </p:sp>
      <p:sp>
        <p:nvSpPr>
          <p:cNvPr id="24" name="match-hex"/>
          <p:cNvSpPr/>
          <p:nvPr/>
        </p:nvSpPr>
        <p:spPr>
          <a:xfrm>
            <a:off x="4297589" y="3728518"/>
            <a:ext cx="384048" cy="332586"/>
          </a:xfrm>
          <a:prstGeom prst="hexagon">
            <a:avLst/>
          </a:prstGeom>
          <a:solidFill>
            <a:srgbClr val="B8862B"/>
          </a:solidFill>
          <a:ln/>
        </p:spPr>
      </p:sp>
      <p:sp>
        <p:nvSpPr>
          <p:cNvPr id="25" name="match-hex-label"/>
          <p:cNvSpPr txBox="1"/>
          <p:nvPr/>
        </p:nvSpPr>
        <p:spPr>
          <a:xfrm>
            <a:off x="4297589" y="37285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49798"/>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Africa's highest mountain, in Tanzania, with ice on its summit</a:t>
            </a:r>
            <a:endParaRPr lang="en-US" sz="2200" dirty="0"/>
          </a:p>
        </p:txBody>
      </p:sp>
      <p:sp>
        <p:nvSpPr>
          <p:cNvPr id="27" name="match-card"/>
          <p:cNvSpPr/>
          <p:nvPr/>
        </p:nvSpPr>
        <p:spPr>
          <a:xfrm>
            <a:off x="777240" y="4431264"/>
            <a:ext cx="3081437" cy="890026"/>
          </a:xfrm>
          <a:prstGeom prst="roundRect">
            <a:avLst>
              <a:gd name="adj" fmla="val 8219"/>
            </a:avLst>
          </a:prstGeom>
          <a:solidFill>
            <a:srgbClr val="F5F8F6"/>
          </a:solidFill>
          <a:ln/>
        </p:spPr>
      </p:sp>
      <p:sp>
        <p:nvSpPr>
          <p:cNvPr id="28" name="match-hex"/>
          <p:cNvSpPr/>
          <p:nvPr/>
        </p:nvSpPr>
        <p:spPr>
          <a:xfrm>
            <a:off x="850392" y="4709984"/>
            <a:ext cx="384048" cy="332586"/>
          </a:xfrm>
          <a:prstGeom prst="hexagon">
            <a:avLst/>
          </a:prstGeom>
          <a:solidFill>
            <a:srgbClr val="3F6B4A"/>
          </a:solidFill>
          <a:ln/>
        </p:spPr>
      </p:sp>
      <p:sp>
        <p:nvSpPr>
          <p:cNvPr id="29" name="match-hex-label"/>
          <p:cNvSpPr txBox="1"/>
          <p:nvPr/>
        </p:nvSpPr>
        <p:spPr>
          <a:xfrm>
            <a:off x="850392" y="470998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31264"/>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River Niger</a:t>
            </a:r>
            <a:endParaRPr lang="en-US" sz="2200" dirty="0"/>
          </a:p>
        </p:txBody>
      </p:sp>
      <p:sp>
        <p:nvSpPr>
          <p:cNvPr id="31" name="match-card"/>
          <p:cNvSpPr/>
          <p:nvPr/>
        </p:nvSpPr>
        <p:spPr>
          <a:xfrm>
            <a:off x="4224437" y="4431264"/>
            <a:ext cx="7190019" cy="890026"/>
          </a:xfrm>
          <a:prstGeom prst="roundRect">
            <a:avLst>
              <a:gd name="adj" fmla="val 8219"/>
            </a:avLst>
          </a:prstGeom>
          <a:solidFill>
            <a:srgbClr val="F9F4EC"/>
          </a:solidFill>
          <a:ln/>
        </p:spPr>
      </p:sp>
      <p:sp>
        <p:nvSpPr>
          <p:cNvPr id="32" name="match-hex"/>
          <p:cNvSpPr/>
          <p:nvPr/>
        </p:nvSpPr>
        <p:spPr>
          <a:xfrm>
            <a:off x="4297589" y="4709984"/>
            <a:ext cx="384048" cy="332586"/>
          </a:xfrm>
          <a:prstGeom prst="hexagon">
            <a:avLst/>
          </a:prstGeom>
          <a:solidFill>
            <a:srgbClr val="B8862B"/>
          </a:solidFill>
          <a:ln/>
        </p:spPr>
      </p:sp>
      <p:sp>
        <p:nvSpPr>
          <p:cNvPr id="33" name="match-hex-label"/>
          <p:cNvSpPr txBox="1"/>
          <p:nvPr/>
        </p:nvSpPr>
        <p:spPr>
          <a:xfrm>
            <a:off x="4297589" y="470998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431264"/>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Flows past Zambia, Zimbabwe, Mozambique and Malawi, with Victoria Falls on it</a:t>
            </a:r>
            <a:endParaRPr lang="en-US" sz="2200" dirty="0"/>
          </a:p>
        </p:txBody>
      </p:sp>
      <p:sp>
        <p:nvSpPr>
          <p:cNvPr id="35" name="match-card"/>
          <p:cNvSpPr/>
          <p:nvPr/>
        </p:nvSpPr>
        <p:spPr>
          <a:xfrm>
            <a:off x="777240" y="5412730"/>
            <a:ext cx="3081437" cy="549158"/>
          </a:xfrm>
          <a:prstGeom prst="roundRect">
            <a:avLst>
              <a:gd name="adj" fmla="val 13321"/>
            </a:avLst>
          </a:prstGeom>
          <a:solidFill>
            <a:srgbClr val="F5F8F6"/>
          </a:solidFill>
          <a:ln/>
        </p:spPr>
      </p:sp>
      <p:sp>
        <p:nvSpPr>
          <p:cNvPr id="36" name="match-hex"/>
          <p:cNvSpPr/>
          <p:nvPr/>
        </p:nvSpPr>
        <p:spPr>
          <a:xfrm>
            <a:off x="850392" y="5521016"/>
            <a:ext cx="384048" cy="332586"/>
          </a:xfrm>
          <a:prstGeom prst="hexagon">
            <a:avLst/>
          </a:prstGeom>
          <a:solidFill>
            <a:srgbClr val="3F6B4A"/>
          </a:solidFill>
          <a:ln/>
        </p:spPr>
      </p:sp>
      <p:sp>
        <p:nvSpPr>
          <p:cNvPr id="37" name="match-hex-label"/>
          <p:cNvSpPr txBox="1"/>
          <p:nvPr/>
        </p:nvSpPr>
        <p:spPr>
          <a:xfrm>
            <a:off x="850392" y="55210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412730"/>
            <a:ext cx="2487077"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Mount Kilimanjaro</a:t>
            </a:r>
            <a:endParaRPr lang="en-US" sz="2200" dirty="0"/>
          </a:p>
        </p:txBody>
      </p:sp>
      <p:sp>
        <p:nvSpPr>
          <p:cNvPr id="39" name="match-card"/>
          <p:cNvSpPr/>
          <p:nvPr/>
        </p:nvSpPr>
        <p:spPr>
          <a:xfrm>
            <a:off x="4224437" y="5412730"/>
            <a:ext cx="7190019" cy="549158"/>
          </a:xfrm>
          <a:prstGeom prst="roundRect">
            <a:avLst>
              <a:gd name="adj" fmla="val 13321"/>
            </a:avLst>
          </a:prstGeom>
          <a:solidFill>
            <a:srgbClr val="F9F4EC"/>
          </a:solidFill>
          <a:ln/>
        </p:spPr>
      </p:sp>
      <p:sp>
        <p:nvSpPr>
          <p:cNvPr id="40" name="match-hex"/>
          <p:cNvSpPr/>
          <p:nvPr/>
        </p:nvSpPr>
        <p:spPr>
          <a:xfrm>
            <a:off x="4297589" y="5521016"/>
            <a:ext cx="384048" cy="332586"/>
          </a:xfrm>
          <a:prstGeom prst="hexagon">
            <a:avLst/>
          </a:prstGeom>
          <a:solidFill>
            <a:srgbClr val="B8862B"/>
          </a:solidFill>
          <a:ln/>
        </p:spPr>
      </p:sp>
      <p:sp>
        <p:nvSpPr>
          <p:cNvPr id="41" name="match-hex-label"/>
          <p:cNvSpPr txBox="1"/>
          <p:nvPr/>
        </p:nvSpPr>
        <p:spPr>
          <a:xfrm>
            <a:off x="4297589" y="55210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412730"/>
            <a:ext cx="6595659"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Flows north through Egypt to the Mediterranean Sea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Rivers and mountains: who is where?</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Rivers and mountains: who is where?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of these is not a river. Find the mountain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rivers share their name with a country: Niger with Niger, and Zambezi with Zambia. Use the name as a clue.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Victoria Falls is in the south, so it belongs with the southern river.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river left over is the one that flows north through Egypt.</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Use the names: Niger and Zambezi share letters with the countries they pass. Egypt gives away the Nile.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names of the River Niger, the country Niger and the country Nigeria are so easily confused, and give one way to keep them apart.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North to south across Africa</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in order from north to south, as you would meet them travelling down a map of Africa.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Mediterranean Sea, on Africa's north coast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Tropic of Capricorn, 23.5 degrees south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Tropic of Cancer, 23.5 degrees north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Equator, 0 degrees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North to south across Africa</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in order from north to south, as you would meet them travelling down a map of Africa.</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F5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North is the top of the map. The sea on the north coast comes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Equator is the middle line, at 0 degrees.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Tropic of Cancer is north of the Equator, so it comes before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Tropic of Capricorn is south of the Equator, so it comes last.</a:t>
            </a:r>
            <a:endParaRPr lang="en-US" sz="1800" dirty="0"/>
          </a:p>
        </p:txBody>
      </p:sp>
      <p:sp>
        <p:nvSpPr>
          <p:cNvPr id="17" name="col-Core"/>
          <p:cNvSpPr/>
          <p:nvPr/>
        </p:nvSpPr>
        <p:spPr>
          <a:xfrm>
            <a:off x="5490762" y="2593848"/>
            <a:ext cx="2938987" cy="3550920"/>
          </a:xfrm>
          <a:prstGeom prst="roundRect">
            <a:avLst>
              <a:gd name="adj" fmla="val 1867"/>
            </a:avLst>
          </a:prstGeom>
          <a:solidFill>
            <a:srgbClr val="DBE3DD"/>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Sea first, then north tropic, Equator, south tropic. Cancer is north; Capricorn is south.</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almost all of Africa is hot, using the positions of the two tropics in your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Mount Kilimanjaro is the highest mountain in Africa. How high is it, in metres?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Answers: Rivers and mountains: who is where?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River Zambezi  →  C  Flows past Zambia, Zimbabwe, Mozambique and Malawi, with Victoria Falls on it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River Nile  →  D  Flows north through Egypt to the Mediterranean Sea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River Niger  →  A  Passes through the countries of Niger and Nigeria in West Africa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Mount Kilimanjaro  →  B  Africa's highest mountain, in Tanzania, with ice on its summit</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Zambezi flows past Zambia, Zimbabwe, Mozambique and Malawi and over Victoria Falls; the Nile flows north through Egypt to the Mediterranean; the Niger passes through Niger and Nigeria; Kilimanjaro is the highest mountain, in Tanzania.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North to south across Africa</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Mediterranean Sea, on Africa's north coast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Tropic of Cancer, 23.5 degrees north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Equator, 0 degrees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Tropic of Capricorn, 23.5 degrees south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Travelling south you cross the Mediterranean coast, then the Tropic of Cancer at 23.5 degrees north, then the Equator at 0 degrees, then the Tropic of Capricorn at 23.5 degrees south.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Mount Kilimanjaro is the highest mountain in Africa. How high is it, in 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5896 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lesson's progress check gives Mount Kilimanjaro as 5896 m, in Tanzania.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 Continent, Not a Country · Chapter 2: Africa's physical features</dc:title>
  <dc:subject>Geography · Year 7</dc:subject>
  <dc:creator>Dr Vitor Merissi de Carvalho</dc:creator>
  <cp:lastModifiedBy>Dr Vitor Merissi de Carvalho</cp:lastModifiedBy>
  <cp:revision>1</cp:revision>
  <dcterms:created xsi:type="dcterms:W3CDTF">2026-10-19T06:07:32Z</dcterms:created>
  <dcterms:modified xsi:type="dcterms:W3CDTF">2026-10-19T06:07:32Z</dcterms:modified>
</cp:coreProperties>
</file>